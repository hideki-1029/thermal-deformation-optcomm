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7"/>
  </p:notesMasterIdLst>
  <p:sldIdLst>
    <p:sldId id="263" r:id="rId2"/>
    <p:sldId id="257" r:id="rId3"/>
    <p:sldId id="282" r:id="rId4"/>
    <p:sldId id="324" r:id="rId5"/>
    <p:sldId id="325" r:id="rId6"/>
    <p:sldId id="266" r:id="rId7"/>
    <p:sldId id="277" r:id="rId8"/>
    <p:sldId id="283" r:id="rId9"/>
    <p:sldId id="268" r:id="rId10"/>
    <p:sldId id="269" r:id="rId11"/>
    <p:sldId id="275" r:id="rId12"/>
    <p:sldId id="271" r:id="rId13"/>
    <p:sldId id="321" r:id="rId14"/>
    <p:sldId id="273" r:id="rId15"/>
    <p:sldId id="285" r:id="rId16"/>
    <p:sldId id="322" r:id="rId17"/>
    <p:sldId id="326" r:id="rId18"/>
    <p:sldId id="327" r:id="rId19"/>
    <p:sldId id="328" r:id="rId20"/>
    <p:sldId id="338" r:id="rId21"/>
    <p:sldId id="297" r:id="rId22"/>
    <p:sldId id="299" r:id="rId23"/>
    <p:sldId id="303" r:id="rId24"/>
    <p:sldId id="304" r:id="rId25"/>
    <p:sldId id="329" r:id="rId26"/>
    <p:sldId id="341" r:id="rId27"/>
    <p:sldId id="330" r:id="rId28"/>
    <p:sldId id="331" r:id="rId29"/>
    <p:sldId id="309" r:id="rId30"/>
    <p:sldId id="294" r:id="rId31"/>
    <p:sldId id="339" r:id="rId32"/>
    <p:sldId id="340" r:id="rId33"/>
    <p:sldId id="311" r:id="rId34"/>
    <p:sldId id="298" r:id="rId35"/>
    <p:sldId id="301" r:id="rId36"/>
    <p:sldId id="302" r:id="rId37"/>
    <p:sldId id="313" r:id="rId38"/>
    <p:sldId id="332" r:id="rId39"/>
    <p:sldId id="286" r:id="rId40"/>
    <p:sldId id="333" r:id="rId41"/>
    <p:sldId id="310" r:id="rId42"/>
    <p:sldId id="334" r:id="rId43"/>
    <p:sldId id="335" r:id="rId44"/>
    <p:sldId id="336" r:id="rId45"/>
    <p:sldId id="337" r:id="rId46"/>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1484" autoAdjust="0"/>
  </p:normalViewPr>
  <p:slideViewPr>
    <p:cSldViewPr snapToGrid="0">
      <p:cViewPr varScale="1">
        <p:scale>
          <a:sx n="34" d="100"/>
          <a:sy n="34" d="100"/>
        </p:scale>
        <p:origin x="428" y="64"/>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名乗る。今日は5月の全体輪講で話した構想の続きで、解析と捕捉時間まで話す、とだけ言う。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冒頭で前回までの位置づけと今回のゴールを共有する。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捕捉が終わって相手光がセンサに乗れば残差でフィードバックできる。今日見るのはその前。熱は日照と発熱という運用条件に結びついているので、未知の外乱として全部掃かなくてもよい可能性がある。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5月に『軌道予測誤差も同じ帯域では』と指摘された点はその通りだった。だから本研究は観測から熱を分離する話ではない。TLEの不連続や射影の手順は裏。</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関連研究の詳細表は裏B8。ここでは、全部の誤差を消す研究ではない、と先に言っておく。</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dirty="0" err="1"/>
              <a:t>全体フロ</a:t>
            </a:r>
            <a:r>
              <a:rPr dirty="0"/>
              <a:t>ー。TD/</a:t>
            </a:r>
            <a:r>
              <a:rPr dirty="0" err="1"/>
              <a:t>Femapは高忠実度参照で、軌道上では軽量モデルのみを使う</a:t>
            </a:r>
            <a:r>
              <a:rPr dirty="0"/>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02: Thermo-structural analysis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姿勢は本体指向を想定し、通信中に太陽面が変わるケースは入れていない。太陽面はケースごとに固定。内部発熱の代表はPROP 25 W（PY）とPCDU 10 W（MY）。STT/LCTは通信時を想定して基本ON。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地上の解析である。食と日照で温度が軌道周期で呼吸する、という絵は次の観察で見せる。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ソフトを熱と構造で分けている。軌道上の補正器そのものではない。拘束条件の詳細は聞かれたら答える。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遠方では光軸が何度回ったかが指向誤差になる。並進は診断量として残しているが走査中心には足していない。代表節点の回転を機器姿勢の代理にしている。取付面全体の剛体フィットはまだやっていない。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IDは読まない。予測精度は21ケース、捕捉時間は標準的なCOLD・標準表面の14ケース、と後で分ける。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t>だから次のモデルは、太陽面を陽に持ち、軌道の中の時間変化とケース間の平均を分けないといけない。式はまだ出さない。MYは小さくPYは1 mrad級、とだけ。</a:t>
            </a:r>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03: Lightweight LOS model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5月に並べた候補のうち、温度差と運用フラグの組み合わせを採用した。取付点の温度時系列を足すと、温度差とほぼ同じ動きで係数が壊れた。その失敗は裏。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t>I_prop と I_pcdu はONなら1、OFFなら0。連続のワット数や、軌道の途中で電源が入る過渡はこの式では表していない。感度の値は他機へは再同定が必要。</a:t>
            </a: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名前は長いので、口頭では『未知の条件を1本外して当てる』でよい。同一の解析モデルの中での話である、とここで一度言う。</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標準のCOLDではおおむね3–7 µrad。悪いのはBlack（約13）、HOT（DCが数µrad残る）、PROP半電力（約16。ON/OFFフラグでは25 Wと12.5 Wを区別できない）。詳細は限界の枚と裏。</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半電力の例はこの枚に混ぜない（裏B6）。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DEE1-5294-D44C-968A-17CA41EB6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81D93-C321-E7F0-8820-F3DFEE575376}"/>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E3E0815A-2B11-1951-79A5-8BE2A8440E82}"/>
              </a:ext>
            </a:extLst>
          </p:cNvPr>
          <p:cNvSpPr>
            <a:spLocks noGrp="1"/>
          </p:cNvSpPr>
          <p:nvPr>
            <p:ph type="body" sz="quarter" idx="3"/>
          </p:nvPr>
        </p:nvSpPr>
        <p:spPr/>
        <p:txBody>
          <a:bodyPr/>
          <a:lstStyle/>
          <a:p>
            <a:r>
              <a:t>Section 03: Lightweight LOS model</a:t>
            </a:r>
          </a:p>
        </p:txBody>
      </p:sp>
      <p:sp>
        <p:nvSpPr>
          <p:cNvPr id="4" name="Slide Number Placeholder 3">
            <a:extLst>
              <a:ext uri="{FF2B5EF4-FFF2-40B4-BE49-F238E27FC236}">
                <a16:creationId xmlns:a16="http://schemas.microsoft.com/office/drawing/2014/main" id="{66FD8850-DC6F-DBD5-02B3-7B3D291FAD6D}"/>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122495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粗捕捉は通信ビームではなく、拡がったビーコンで掃く。検出半径150 µradは0.3 mrad級ビーコンの半角のオーダー。5月の2秒前後と、途中で一度出した100秒超は、どちらも今日の数字ではない。前者は仮想モデル、後者は通信ビーム級の密な掃引だった。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熱を引いたあとに残る床が、だいたいこの非熱の大きさになる。射影の座標の話は、聞かれたら裏の図で示す。</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これは熱モデル単体の能力。真値と同じ秒なのは、残差が検出円の中に入ったからで、波形が完全に一致したからではない。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手法の仕事は全誤差を消すことではない。平均5.45秒は熱が大きい面が引き上げた結果でもある。平均だけを引いた場合の新しい走査での秒は、まだ出していない。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5月に構想したAdaptiveの着地はここまで。光通信の初回捕捉は、前の周の同じ位相の残差が無いことが多い。60秒刻みの全点を使っており、実センサの疎な成功点だけではまだ見ていない。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0BB2-638D-EDF4-6149-BBE2851D0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F4A6F-47ED-540B-CC4A-89B9C5FD2C13}"/>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A12BF9D9-BC8D-63EC-738A-C1E5616CE634}"/>
              </a:ext>
            </a:extLst>
          </p:cNvPr>
          <p:cNvSpPr>
            <a:spLocks noGrp="1"/>
          </p:cNvSpPr>
          <p:nvPr>
            <p:ph type="body" sz="quarter" idx="3"/>
          </p:nvPr>
        </p:nvSpPr>
        <p:spPr/>
        <p:txBody>
          <a:bodyPr/>
          <a:lstStyle/>
          <a:p>
            <a:r>
              <a:t>Section 03: Lightweight LOS model</a:t>
            </a:r>
          </a:p>
        </p:txBody>
      </p:sp>
      <p:sp>
        <p:nvSpPr>
          <p:cNvPr id="4" name="Slide Number Placeholder 3">
            <a:extLst>
              <a:ext uri="{FF2B5EF4-FFF2-40B4-BE49-F238E27FC236}">
                <a16:creationId xmlns:a16="http://schemas.microsoft.com/office/drawing/2014/main" id="{27C1BA5F-FDC1-4C2F-0440-4E8C9610008F}"/>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1688805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他の衛星へは式の形を試し、係数は取り直す。Constant-bias only が未計算であることは、聞かれたら裏B7で答える。</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質疑へ。</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被覆や半電力を聞かれたときの枚。発熱の係数を太陽面に依らず共有している点は、まだ検証していないと正直に言う。</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聞かれたら、平均だけを引いた列は未計算だと答える。7月の静的バイアス補正の秒は、点間隔40 µrad・検出半径25 µradの旧走査のもので、今日の条件では比較にならない。</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何が新しいのかを聞かれたときの枚。予測するか、捕捉時間まで見るか、の2軸で置く。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5月に出たモデルの妥当性の問いへの答え。同じ解析の中の評価であることを認めた上で、地上試験で感度を確かめる筋を示す。</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姿勢の頻度を聞かれたときの枚。ケース内で太陽面を固定している前提を先に言い、変わる場合は別解析が要ると答える。</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5月に構想した適応補正がどこまで進んだかを聞かれたときの枚。本編Slide 21の数値の全文。</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旧い秒を聞かれたときの手元用。5月は2.43 s → 0.74 s・成功率97.5%で仮想バイアス。7月光RGは124.6 s と 156.9 → 59.6 s で、点間隔40 µrad・検出半径25 µradの密走査。8月16日のメモは12.1 s と 16.3 → 4.75 s で17ケース集計。いずれも走査条件かケース集合が今日と違う。</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23E69BD-F0A9-D945-85B5-A92D8C4A6243}"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9E95FB-2235-2F42-91D0-8B9F16BE7B80}"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Yu Gothic" panose="020B0400000000000000" pitchFamily="34" charset="-128"/>
                <a:ea typeface="Yu Gothic" panose="020B0400000000000000" pitchFamily="34" charset="-128"/>
              </a:defRPr>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B8ED544-ACEE-1142-A4DF-052F81DCAF13}"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A8DA76-1C10-5547-91CE-253BD16E32D7}"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C3E895-CCE5-A241-A85F-670DB4C916C8}"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F4C7F2-45E9-0742-99C2-D62F245DFEC9}"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579897-8C2A-CB44-93BE-9BFBC7559B74}"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D96E1F-697B-864D-A8BC-B9F203AEA5AC}"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33846FE-1092-FD42-9AC0-B69E5809E0EF}"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p>
            <a:fld id="{7A6230E5-DC19-8048-9011-93E4E558FEAD}"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7A6230E5-DC19-8048-9011-93E4E558FEAD}" type="datetime1">
              <a:rPr kumimoji="1" lang="ja-JP" altLang="en-US" smtClean="0"/>
              <a:t>2026/10/4</a:t>
            </a:fld>
            <a:endParaRPr kumimoji="1" lang="ja-JP" alt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defRPr>
            </a:lvl1p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mn-ea"/>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680.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a:xfrm>
            <a:off x="8151019" y="8084413"/>
            <a:ext cx="16173450" cy="2125436"/>
          </a:xfrm>
        </p:spPr>
        <p:txBody>
          <a:bodyPr wrap="square">
            <a:noAutofit/>
          </a:bodyPr>
          <a:lstStyle/>
          <a:p>
            <a:br>
              <a:rPr lang="ja-JP" altLang="en-US" sz="4000" b="0" dirty="0"/>
            </a:br>
            <a:r>
              <a:rPr lang="en-US" altLang="ja-JP" sz="4000" dirty="0"/>
              <a:t>Hierarchical Prediction and Feedforward Correction of Time-Varying Thermal Line-of-Sight Bias </a:t>
            </a:r>
            <a:br>
              <a:rPr lang="en-US" altLang="ja-JP" sz="4000" dirty="0"/>
            </a:br>
            <a:r>
              <a:rPr lang="en-US" altLang="ja-JP" sz="4000" dirty="0"/>
              <a:t>for Coarse Acquisition </a:t>
            </a:r>
            <a:br>
              <a:rPr lang="en-US" altLang="ja-JP" sz="4000" dirty="0"/>
            </a:br>
            <a:r>
              <a:rPr lang="en-US" altLang="ja-JP" sz="4000" dirty="0"/>
              <a:t>in Satellite Optical Communications</a:t>
            </a:r>
            <a:endParaRPr sz="4000" b="1" dirty="0">
              <a:solidFill>
                <a:srgbClr val="082B52"/>
              </a:solidFill>
              <a:latin typeface="Yu Gothic"/>
              <a:ea typeface="Yu Gothic"/>
            </a:endParaRPr>
          </a:p>
        </p:txBody>
      </p:sp>
      <p:sp>
        <p:nvSpPr>
          <p:cNvPr id="3" name="字幕 2">
            <a:extLst>
              <a:ext uri="{FF2B5EF4-FFF2-40B4-BE49-F238E27FC236}">
                <a16:creationId xmlns:a16="http://schemas.microsoft.com/office/drawing/2014/main" id="{31102AA9-45EB-C4FA-A1D0-A77A903D266F}"/>
              </a:ext>
            </a:extLst>
          </p:cNvPr>
          <p:cNvSpPr>
            <a:spLocks noGrp="1"/>
          </p:cNvSpPr>
          <p:nvPr>
            <p:ph type="subTitle" idx="1"/>
          </p:nvPr>
        </p:nvSpPr>
        <p:spPr>
          <a:xfrm>
            <a:off x="9674352" y="11955999"/>
            <a:ext cx="8562463" cy="730249"/>
          </a:xfrm>
        </p:spPr>
        <p:txBody>
          <a:bodyPr wrap="square">
            <a:normAutofit/>
          </a:bodyPr>
          <a:lstStyle/>
          <a:p>
            <a:pPr>
              <a:spcAft>
                <a:spcPts val="0"/>
              </a:spcAft>
            </a:pPr>
            <a:r>
              <a:rPr b="1" dirty="0">
                <a:solidFill>
                  <a:srgbClr val="232B34"/>
                </a:solidFill>
                <a:latin typeface="Yu Gothic"/>
                <a:ea typeface="Yu Gothic"/>
              </a:rPr>
              <a:t>Hideki Takamoto (Univ. of Tokyo)</a:t>
            </a:r>
          </a:p>
        </p:txBody>
      </p:sp>
      <p:sp>
        <p:nvSpPr>
          <p:cNvPr id="7" name="スライド番号プレースホルダー 6">
            <a:extLst>
              <a:ext uri="{FF2B5EF4-FFF2-40B4-BE49-F238E27FC236}">
                <a16:creationId xmlns:a16="http://schemas.microsoft.com/office/drawing/2014/main" id="{3FD1A49C-D906-D56C-8B01-F4742C0F4928}"/>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1</a:t>
            </a:r>
            <a:endParaRPr kumimoji="1" lang="ja-JP" altLang="en-US"/>
          </a:p>
        </p:txBody>
      </p:sp>
      <p:sp>
        <p:nvSpPr>
          <p:cNvPr id="9" name="TextBox 8"/>
          <p:cNvSpPr txBox="1"/>
          <p:nvPr/>
        </p:nvSpPr>
        <p:spPr>
          <a:xfrm>
            <a:off x="16285002" y="11787540"/>
            <a:ext cx="7132320" cy="898708"/>
          </a:xfrm>
          <a:prstGeom prst="rect">
            <a:avLst/>
          </a:prstGeom>
          <a:noFill/>
        </p:spPr>
        <p:txBody>
          <a:bodyPr wrap="square" lIns="45720" tIns="18288" rIns="45720" bIns="18288" anchor="t">
            <a:spAutoFit/>
          </a:bodyPr>
          <a:lstStyle/>
          <a:p>
            <a:pPr algn="r">
              <a:spcAft>
                <a:spcPts val="0"/>
              </a:spcAft>
            </a:pPr>
            <a:r>
              <a:rPr sz="2800" b="0" dirty="0">
                <a:solidFill>
                  <a:srgbClr val="666F79"/>
                </a:solidFill>
                <a:latin typeface="Yu Gothic"/>
                <a:ea typeface="Yu Gothic"/>
              </a:rPr>
              <a:t>ICSO 2026 paper submitted</a:t>
            </a:r>
            <a:endParaRPr lang="en-US" sz="2800" b="0" dirty="0">
              <a:solidFill>
                <a:srgbClr val="666F79"/>
              </a:solidFill>
              <a:latin typeface="Yu Gothic"/>
              <a:ea typeface="Yu Gothic"/>
            </a:endParaRPr>
          </a:p>
          <a:p>
            <a:pPr algn="r">
              <a:spcAft>
                <a:spcPts val="0"/>
              </a:spcAft>
            </a:pPr>
            <a:r>
              <a:rPr lang="en-US" sz="2800" dirty="0">
                <a:solidFill>
                  <a:srgbClr val="666F79"/>
                </a:solidFill>
                <a:latin typeface="Yu Gothic"/>
                <a:ea typeface="Yu Gothic"/>
              </a:rPr>
              <a:t>2026/10/15</a:t>
            </a:r>
            <a:endParaRPr lang="en-US" sz="2800" b="0" dirty="0">
              <a:solidFill>
                <a:srgbClr val="666F79"/>
              </a:solidFill>
              <a:latin typeface="Yu Gothic"/>
              <a:ea typeface="Yu Gothic"/>
            </a:endParaRPr>
          </a:p>
        </p:txBody>
      </p:sp>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lstStyle/>
          <a:p>
            <a:r>
              <a:rPr sz="2800" b="0">
                <a:solidFill>
                  <a:srgbClr val="FFFFFF"/>
                </a:solidFill>
                <a:latin typeface="Yu Gothic"/>
              </a:rPr>
              <a:t>01</a:t>
            </a: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lstStyle/>
          <a:p>
            <a:r>
              <a:rPr lang="ja-JP" altLang="en-US" sz="3200" b="1" dirty="0">
                <a:solidFill>
                  <a:srgbClr val="FFFFFF"/>
                </a:solidFill>
                <a:latin typeface="Yu Gothic"/>
              </a:rPr>
              <a:t>Background</a:t>
            </a:r>
            <a:endParaRPr sz="3200" b="1" dirty="0">
              <a:solidFill>
                <a:srgbClr val="FFFFFF"/>
              </a:solidFill>
              <a:latin typeface="Yu Gothic"/>
            </a:endParaRP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wrap="square"/>
          <a:lstStyle/>
          <a:p>
            <a:pPr>
              <a:spcAft>
                <a:spcPts val="0"/>
              </a:spcAft>
            </a:pPr>
            <a:r>
              <a:rPr sz="3200" b="1" dirty="0">
                <a:solidFill>
                  <a:srgbClr val="082B52"/>
                </a:solidFill>
                <a:latin typeface="Yu Gothic"/>
                <a:ea typeface="Yu Gothic"/>
              </a:rPr>
              <a:t>Before optical feedback is available, </a:t>
            </a:r>
            <a:br>
              <a:rPr lang="en-US" sz="3200" b="1" dirty="0">
                <a:solidFill>
                  <a:srgbClr val="082B52"/>
                </a:solidFill>
                <a:latin typeface="Yu Gothic"/>
                <a:ea typeface="Yu Gothic"/>
              </a:rPr>
            </a:br>
            <a:r>
              <a:rPr sz="3200" b="1" dirty="0">
                <a:solidFill>
                  <a:srgbClr val="082B52"/>
                </a:solidFill>
                <a:latin typeface="Yu Gothic"/>
                <a:ea typeface="Yu Gothic"/>
              </a:rPr>
              <a:t>scan-center offset determines coarse-acquisition search time</a:t>
            </a:r>
            <a:endParaRPr sz="3200" b="1" dirty="0">
              <a:solidFill>
                <a:srgbClr val="082B52"/>
              </a:solidFill>
              <a:latin typeface="Yu Gothic"/>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3</a:t>
            </a: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wrap="square"/>
          <a:lstStyle/>
          <a:p>
            <a:pPr>
              <a:spcAft>
                <a:spcPts val="0"/>
              </a:spcAft>
            </a:pPr>
            <a:r>
              <a:rPr sz="2000" b="0">
                <a:solidFill>
                  <a:srgbClr val="666F79"/>
                </a:solidFill>
                <a:latin typeface="Yu Gothic"/>
                <a:ea typeface="Yu Gothic"/>
              </a:rPr>
              <a:t>Background</a:t>
            </a: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886200"/>
            <a:ext cx="5943600" cy="594360"/>
          </a:xfrm>
          <a:prstGeom prst="rect">
            <a:avLst/>
          </a:prstGeom>
          <a:noFill/>
        </p:spPr>
        <p:txBody>
          <a:bodyPr wrap="none" lIns="36576" tIns="27432" rIns="36576" bIns="27432" anchor="t">
            <a:spAutoFit/>
          </a:bodyPr>
          <a:lstStyle/>
          <a:p>
            <a:pPr algn="ctr"/>
            <a:r>
              <a:rPr sz="2700" b="1">
                <a:solidFill>
                  <a:srgbClr val="1B74AA"/>
                </a:solidFill>
                <a:latin typeface="Yu Gothic"/>
              </a:rPr>
              <a:t>Before optical feedback</a:t>
            </a:r>
          </a:p>
        </p:txBody>
      </p:sp>
      <p:sp>
        <p:nvSpPr>
          <p:cNvPr id="8" name="TextBox 7"/>
          <p:cNvSpPr txBox="1"/>
          <p:nvPr/>
        </p:nvSpPr>
        <p:spPr>
          <a:xfrm>
            <a:off x="1463040" y="5074920"/>
            <a:ext cx="5760720" cy="1655838"/>
          </a:xfrm>
          <a:prstGeom prst="rect">
            <a:avLst/>
          </a:prstGeom>
          <a:noFill/>
        </p:spPr>
        <p:txBody>
          <a:bodyPr wrap="square" lIns="36576" tIns="27432" rIns="36576" bIns="27432" anchor="t">
            <a:spAutoFit/>
          </a:bodyPr>
          <a:lstStyle/>
          <a:p>
            <a:pPr algn="ctr">
              <a:spcAft>
                <a:spcPts val="0"/>
              </a:spcAft>
            </a:pPr>
            <a:r>
              <a:rPr sz="2600" b="0" dirty="0">
                <a:solidFill>
                  <a:srgbClr val="232B34"/>
                </a:solidFill>
                <a:latin typeface="Yu Gothic"/>
                <a:ea typeface="Yu Gothic"/>
              </a:rPr>
              <a:t>Search an uncertainty region including </a:t>
            </a:r>
            <a:r>
              <a:rPr lang="en-US" altLang="ja-JP" sz="2600" b="1" dirty="0">
                <a:solidFill>
                  <a:schemeClr val="accent6">
                    <a:lumMod val="75000"/>
                  </a:schemeClr>
                </a:solidFill>
                <a:latin typeface="Yu Gothic"/>
                <a:ea typeface="Yu Gothic"/>
              </a:rPr>
              <a:t>thermal LOS</a:t>
            </a:r>
            <a:r>
              <a:rPr lang="en-US" altLang="ja-JP" sz="2600" dirty="0">
                <a:solidFill>
                  <a:srgbClr val="232B34"/>
                </a:solidFill>
                <a:latin typeface="Yu Gothic"/>
                <a:ea typeface="Yu Gothic"/>
              </a:rPr>
              <a:t>, </a:t>
            </a:r>
            <a:r>
              <a:rPr sz="2600" b="0" dirty="0">
                <a:solidFill>
                  <a:srgbClr val="232B34"/>
                </a:solidFill>
                <a:latin typeface="Yu Gothic"/>
                <a:ea typeface="Yu Gothic"/>
              </a:rPr>
              <a:t>attitude</a:t>
            </a:r>
            <a:r>
              <a:rPr lang="en-US" sz="2600" b="0" dirty="0">
                <a:solidFill>
                  <a:srgbClr val="232B34"/>
                </a:solidFill>
                <a:latin typeface="Yu Gothic"/>
                <a:ea typeface="Yu Gothic"/>
              </a:rPr>
              <a:t>,</a:t>
            </a:r>
            <a:r>
              <a:rPr sz="2600" b="0" dirty="0">
                <a:solidFill>
                  <a:srgbClr val="232B34"/>
                </a:solidFill>
                <a:latin typeface="Yu Gothic"/>
                <a:ea typeface="Yu Gothic"/>
              </a:rPr>
              <a:t> and orbit</a:t>
            </a:r>
            <a:r>
              <a:rPr lang="en-US" sz="2600" b="0" dirty="0">
                <a:solidFill>
                  <a:srgbClr val="232B34"/>
                </a:solidFill>
                <a:latin typeface="Yu Gothic"/>
                <a:ea typeface="Yu Gothic"/>
              </a:rPr>
              <a:t> errors</a:t>
            </a:r>
            <a:endParaRPr sz="2600" b="0" dirty="0">
              <a:solidFill>
                <a:srgbClr val="232B34"/>
              </a:solidFill>
              <a:latin typeface="Yu Gothic"/>
              <a:ea typeface="Yu Gothic"/>
            </a:endParaRPr>
          </a:p>
          <a:p>
            <a:pPr algn="ctr">
              <a:spcAft>
                <a:spcPts val="0"/>
              </a:spcAft>
            </a:pPr>
            <a:endParaRPr sz="2600" b="0" dirty="0">
              <a:solidFill>
                <a:srgbClr val="232B34"/>
              </a:solidFill>
              <a:latin typeface="Yu Gothic"/>
              <a:ea typeface="Yu Gothic"/>
            </a:endParaRPr>
          </a:p>
        </p:txBody>
      </p:sp>
      <p:sp>
        <p:nvSpPr>
          <p:cNvPr id="10" name="Rounded Rectangle 9"/>
          <p:cNvSpPr/>
          <p:nvPr/>
        </p:nvSpPr>
        <p:spPr>
          <a:xfrm>
            <a:off x="8732519" y="3383280"/>
            <a:ext cx="6492240" cy="3200398"/>
          </a:xfrm>
          <a:prstGeom prst="roundRect">
            <a:avLst/>
          </a:prstGeom>
          <a:solidFill>
            <a:srgbClr val="F4F6F8"/>
          </a:solidFill>
          <a:ln w="2540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6840" y="3886200"/>
            <a:ext cx="5943600" cy="594360"/>
          </a:xfrm>
          <a:prstGeom prst="rect">
            <a:avLst/>
          </a:prstGeom>
          <a:noFill/>
        </p:spPr>
        <p:txBody>
          <a:bodyPr wrap="none" lIns="36576" tIns="27432" rIns="36576" bIns="27432" anchor="t">
            <a:spAutoFit/>
          </a:bodyPr>
          <a:lstStyle/>
          <a:p>
            <a:pPr algn="ctr"/>
            <a:r>
              <a:rPr sz="2700" b="1">
                <a:solidFill>
                  <a:srgbClr val="EC9427"/>
                </a:solidFill>
                <a:latin typeface="Yu Gothic"/>
              </a:rPr>
              <a:t>Illumination / eclipse / dissipation</a:t>
            </a:r>
          </a:p>
        </p:txBody>
      </p:sp>
      <p:sp>
        <p:nvSpPr>
          <p:cNvPr id="12" name="TextBox 11"/>
          <p:cNvSpPr txBox="1"/>
          <p:nvPr/>
        </p:nvSpPr>
        <p:spPr>
          <a:xfrm>
            <a:off x="8907641" y="4638382"/>
            <a:ext cx="6187721" cy="855619"/>
          </a:xfrm>
          <a:prstGeom prst="rect">
            <a:avLst/>
          </a:prstGeom>
          <a:noFill/>
        </p:spPr>
        <p:txBody>
          <a:bodyPr wrap="none" lIns="36576" tIns="27432" rIns="36576" bIns="27432" anchor="t">
            <a:spAutoFit/>
          </a:bodyPr>
          <a:lstStyle/>
          <a:p>
            <a:pPr algn="ctr"/>
            <a:r>
              <a:rPr sz="2600" b="0" dirty="0">
                <a:solidFill>
                  <a:srgbClr val="232B34"/>
                </a:solidFill>
                <a:latin typeface="Yu Gothic"/>
              </a:rPr>
              <a:t>Temperature field → </a:t>
            </a:r>
            <a:r>
              <a:rPr lang="en-US" sz="2600" b="0" dirty="0">
                <a:solidFill>
                  <a:srgbClr val="232B34"/>
                </a:solidFill>
                <a:latin typeface="Yu Gothic"/>
              </a:rPr>
              <a:t>thermal </a:t>
            </a:r>
            <a:r>
              <a:rPr sz="2600" b="0" dirty="0">
                <a:solidFill>
                  <a:srgbClr val="232B34"/>
                </a:solidFill>
                <a:latin typeface="Yu Gothic"/>
              </a:rPr>
              <a:t>expansion
→ </a:t>
            </a:r>
            <a:r>
              <a:rPr lang="ja-JP" altLang="en-US" sz="2600" dirty="0">
                <a:solidFill>
                  <a:srgbClr val="232B34"/>
                </a:solidFill>
                <a:latin typeface="Yu Gothic"/>
              </a:rPr>
              <a:t>spacecraft-bus distortion</a:t>
            </a:r>
            <a:endParaRPr sz="2600" b="0" dirty="0">
              <a:solidFill>
                <a:srgbClr val="232B34"/>
              </a:solidFill>
              <a:latin typeface="Yu Gothic"/>
            </a:endParaRPr>
          </a:p>
        </p:txBody>
      </p:sp>
      <p:sp>
        <p:nvSpPr>
          <p:cNvPr id="13" name="TextBox 12"/>
          <p:cNvSpPr txBox="1"/>
          <p:nvPr/>
        </p:nvSpPr>
        <p:spPr>
          <a:xfrm>
            <a:off x="8869680" y="5623560"/>
            <a:ext cx="6217920" cy="440120"/>
          </a:xfrm>
          <a:prstGeom prst="rect">
            <a:avLst/>
          </a:prstGeom>
          <a:noFill/>
        </p:spPr>
        <p:txBody>
          <a:bodyPr wrap="square" lIns="36576" tIns="27432" rIns="36576" bIns="27432" anchor="t">
            <a:spAutoFit/>
          </a:bodyPr>
          <a:lstStyle/>
          <a:p>
            <a:pPr algn="ctr">
              <a:spcAft>
                <a:spcPts val="0"/>
              </a:spcAft>
            </a:pPr>
            <a:r>
              <a:rPr sz="2500" b="1" dirty="0">
                <a:solidFill>
                  <a:schemeClr val="accent6">
                    <a:lumMod val="75000"/>
                  </a:schemeClr>
                </a:solidFill>
                <a:latin typeface="Yu Gothic"/>
                <a:ea typeface="Yu Gothic"/>
              </a:rPr>
              <a:t>Thermal LOS: 1</a:t>
            </a:r>
            <a:r>
              <a:rPr lang="en-US" sz="2500" b="1" dirty="0">
                <a:solidFill>
                  <a:schemeClr val="accent6">
                    <a:lumMod val="75000"/>
                  </a:schemeClr>
                </a:solidFill>
                <a:latin typeface="Yu Gothic"/>
                <a:ea typeface="Yu Gothic"/>
              </a:rPr>
              <a:t>0</a:t>
            </a:r>
            <a:r>
              <a:rPr sz="2500" b="1" dirty="0">
                <a:solidFill>
                  <a:schemeClr val="accent6">
                    <a:lumMod val="75000"/>
                  </a:schemeClr>
                </a:solidFill>
                <a:latin typeface="Yu Gothic"/>
                <a:ea typeface="Yu Gothic"/>
              </a:rPr>
              <a:t>0 µrad to 1 </a:t>
            </a:r>
            <a:r>
              <a:rPr sz="2500" b="1" dirty="0" err="1">
                <a:solidFill>
                  <a:schemeClr val="accent6">
                    <a:lumMod val="75000"/>
                  </a:schemeClr>
                </a:solidFill>
                <a:latin typeface="Yu Gothic"/>
                <a:ea typeface="Yu Gothic"/>
              </a:rPr>
              <a:t>mrad</a:t>
            </a:r>
            <a:endParaRPr sz="2900" b="1" dirty="0">
              <a:solidFill>
                <a:schemeClr val="accent6">
                  <a:lumMod val="75000"/>
                </a:schemeClr>
              </a:solidFill>
              <a:latin typeface="Yu Gothic"/>
            </a:endParaRPr>
          </a:p>
        </p:txBody>
      </p:sp>
      <p:sp>
        <p:nvSpPr>
          <p:cNvPr id="15" name="Rounded Rectangle 14"/>
          <p:cNvSpPr/>
          <p:nvPr/>
        </p:nvSpPr>
        <p:spPr>
          <a:xfrm>
            <a:off x="16367759" y="3383280"/>
            <a:ext cx="6492240" cy="3200395"/>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endParaRPr>
          </a:p>
        </p:txBody>
      </p:sp>
      <p:sp>
        <p:nvSpPr>
          <p:cNvPr id="16" name="TextBox 15"/>
          <p:cNvSpPr txBox="1"/>
          <p:nvPr/>
        </p:nvSpPr>
        <p:spPr>
          <a:xfrm>
            <a:off x="16733520" y="3886200"/>
            <a:ext cx="5760720" cy="886397"/>
          </a:xfrm>
          <a:prstGeom prst="rect">
            <a:avLst/>
          </a:prstGeom>
          <a:noFill/>
        </p:spPr>
        <p:txBody>
          <a:bodyPr wrap="square" lIns="36576" tIns="27432" rIns="36576" bIns="27432" anchor="t">
            <a:spAutoFit/>
          </a:bodyPr>
          <a:lstStyle/>
          <a:p>
            <a:pPr algn="ctr">
              <a:spcAft>
                <a:spcPts val="0"/>
              </a:spcAft>
            </a:pPr>
            <a:r>
              <a:rPr sz="2700" b="1" dirty="0">
                <a:solidFill>
                  <a:srgbClr val="FF0000"/>
                </a:solidFill>
                <a:latin typeface="Yu Gothic"/>
                <a:ea typeface="Yu Gothic"/>
              </a:rPr>
              <a:t>Pre-acquisition predictive correction</a:t>
            </a:r>
            <a:endParaRPr sz="2700" b="1" dirty="0">
              <a:solidFill>
                <a:srgbClr val="FF0000"/>
              </a:solidFill>
              <a:latin typeface="Yu Gothic"/>
            </a:endParaRPr>
          </a:p>
        </p:txBody>
      </p:sp>
      <p:sp>
        <p:nvSpPr>
          <p:cNvPr id="17" name="TextBox 16"/>
          <p:cNvSpPr txBox="1"/>
          <p:nvPr/>
        </p:nvSpPr>
        <p:spPr>
          <a:xfrm>
            <a:off x="16733519" y="5074920"/>
            <a:ext cx="5760720" cy="1255728"/>
          </a:xfrm>
          <a:prstGeom prst="rect">
            <a:avLst/>
          </a:prstGeom>
          <a:noFill/>
        </p:spPr>
        <p:txBody>
          <a:bodyPr wrap="square" lIns="36576" tIns="27432" rIns="36576" bIns="27432" anchor="t">
            <a:spAutoFit/>
          </a:bodyPr>
          <a:lstStyle/>
          <a:p>
            <a:pPr algn="ctr">
              <a:spcAft>
                <a:spcPts val="0"/>
              </a:spcAft>
            </a:pPr>
            <a:r>
              <a:rPr sz="2600" b="0" dirty="0">
                <a:solidFill>
                  <a:srgbClr val="232B34"/>
                </a:solidFill>
                <a:latin typeface="Yu Gothic"/>
                <a:ea typeface="Yu Gothic"/>
              </a:rPr>
              <a:t>Subtract </a:t>
            </a:r>
            <a:r>
              <a:rPr sz="2600" b="1" dirty="0">
                <a:solidFill>
                  <a:schemeClr val="accent6">
                    <a:lumMod val="75000"/>
                  </a:schemeClr>
                </a:solidFill>
                <a:latin typeface="Yu Gothic"/>
                <a:ea typeface="Yu Gothic"/>
              </a:rPr>
              <a:t>thermal LOS</a:t>
            </a:r>
            <a:r>
              <a:rPr sz="2600" b="0" dirty="0">
                <a:solidFill>
                  <a:srgbClr val="232B34"/>
                </a:solidFill>
                <a:latin typeface="Yu Gothic"/>
                <a:ea typeface="Yu Gothic"/>
              </a:rPr>
              <a:t> </a:t>
            </a:r>
            <a:endParaRPr lang="en-US" sz="2600" b="0" dirty="0">
              <a:solidFill>
                <a:srgbClr val="232B34"/>
              </a:solidFill>
              <a:latin typeface="Yu Gothic"/>
              <a:ea typeface="Yu Gothic"/>
            </a:endParaRPr>
          </a:p>
          <a:p>
            <a:pPr algn="ctr">
              <a:spcAft>
                <a:spcPts val="0"/>
              </a:spcAft>
            </a:pPr>
            <a:r>
              <a:rPr sz="2600" b="0" dirty="0">
                <a:solidFill>
                  <a:srgbClr val="232B34"/>
                </a:solidFill>
                <a:latin typeface="Yu Gothic"/>
                <a:ea typeface="Yu Gothic"/>
              </a:rPr>
              <a:t>from the scan center</a:t>
            </a:r>
          </a:p>
          <a:p>
            <a:pPr algn="ctr">
              <a:spcAft>
                <a:spcPts val="0"/>
              </a:spcAft>
            </a:pPr>
            <a:r>
              <a:rPr sz="2600" b="0" dirty="0" err="1">
                <a:solidFill>
                  <a:srgbClr val="232B34"/>
                </a:solidFill>
                <a:latin typeface="Yu Gothic"/>
                <a:ea typeface="Yu Gothic"/>
              </a:rPr>
              <a:t>to reduce search time</a:t>
            </a:r>
            <a:endParaRPr sz="2600" b="0" dirty="0">
              <a:solidFill>
                <a:srgbClr val="232B34"/>
              </a:solidFill>
              <a:latin typeface="Yu Gothic"/>
              <a:ea typeface="Yu Gothic"/>
            </a:endParaRPr>
          </a:p>
        </p:txBody>
      </p:sp>
      <p:sp>
        <p:nvSpPr>
          <p:cNvPr id="18" name="TextBox 17"/>
          <p:cNvSpPr txBox="1"/>
          <p:nvPr/>
        </p:nvSpPr>
        <p:spPr>
          <a:xfrm>
            <a:off x="3897207" y="12321036"/>
            <a:ext cx="16588003" cy="1009507"/>
          </a:xfrm>
          <a:prstGeom prst="rect">
            <a:avLst/>
          </a:prstGeom>
          <a:noFill/>
        </p:spPr>
        <p:txBody>
          <a:bodyPr wrap="none" lIns="36576" tIns="27432" rIns="36576" bIns="27432" anchor="t">
            <a:spAutoFit/>
          </a:bodyPr>
          <a:lstStyle/>
          <a:p>
            <a:pPr algn="ctr"/>
            <a:r>
              <a:rPr lang="ja-JP" altLang="en-US" sz="3100" dirty="0">
                <a:solidFill>
                  <a:srgbClr val="082B52"/>
                </a:solidFill>
                <a:latin typeface="Yu Gothic"/>
              </a:rPr>
              <a:t>Without modifying the spacecraft or LCT,</a:t>
            </a:r>
            <a:endParaRPr lang="en-US" altLang="ja-JP" sz="3100" dirty="0">
              <a:solidFill>
                <a:srgbClr val="082B52"/>
              </a:solidFill>
              <a:latin typeface="Yu Gothic"/>
            </a:endParaRPr>
          </a:p>
          <a:p>
            <a:pPr algn="ctr"/>
            <a:r>
              <a:rPr lang="ja-JP" altLang="en-US" sz="3100" dirty="0">
                <a:solidFill>
                  <a:srgbClr val="082B52"/>
                </a:solidFill>
                <a:latin typeface="Yu Gothic"/>
              </a:rPr>
              <a:t> </a:t>
            </a:r>
            <a:r>
              <a:rPr sz="3100" b="1" dirty="0" err="1">
                <a:solidFill>
                  <a:srgbClr val="082B52"/>
                </a:solidFill>
                <a:latin typeface="Yu Gothic"/>
              </a:rPr>
              <a:t>operationally remove only predictable thermal deformation from the initial LOS error.</a:t>
            </a:r>
            <a:endParaRPr lang="en-US" sz="3100" b="1" dirty="0">
              <a:solidFill>
                <a:srgbClr val="082B52"/>
              </a:solidFill>
              <a:latin typeface="Yu Gothic"/>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916232" y="7065665"/>
            <a:ext cx="5487986" cy="4615305"/>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238250" y="6893807"/>
            <a:ext cx="5985510" cy="5210337"/>
          </a:xfrm>
          <a:prstGeom prst="rect">
            <a:avLst/>
          </a:prstGeom>
        </p:spPr>
      </p:pic>
      <p:pic>
        <p:nvPicPr>
          <p:cNvPr id="24" name="図 23">
            <a:extLst>
              <a:ext uri="{FF2B5EF4-FFF2-40B4-BE49-F238E27FC236}">
                <a16:creationId xmlns:a16="http://schemas.microsoft.com/office/drawing/2014/main" id="{0A9CA252-8827-F5D6-2FFC-9FEB887111DE}"/>
              </a:ext>
            </a:extLst>
          </p:cNvPr>
          <p:cNvPicPr>
            <a:picLocks noChangeAspect="1"/>
          </p:cNvPicPr>
          <p:nvPr/>
        </p:nvPicPr>
        <p:blipFill>
          <a:blip r:embed="rId5"/>
          <a:stretch>
            <a:fillRect/>
          </a:stretch>
        </p:blipFill>
        <p:spPr>
          <a:xfrm>
            <a:off x="8912107" y="7164886"/>
            <a:ext cx="6056967" cy="3389179"/>
          </a:xfrm>
          <a:prstGeom prst="rect">
            <a:avLst/>
          </a:prstGeom>
        </p:spPr>
      </p:pic>
      <p:sp>
        <p:nvSpPr>
          <p:cNvPr id="19" name="矢印: 右 18">
            <a:extLst>
              <a:ext uri="{FF2B5EF4-FFF2-40B4-BE49-F238E27FC236}">
                <a16:creationId xmlns:a16="http://schemas.microsoft.com/office/drawing/2014/main" id="{ED170B76-4559-B87C-F49C-D7A69F01E9F7}"/>
              </a:ext>
            </a:extLst>
          </p:cNvPr>
          <p:cNvSpPr/>
          <p:nvPr/>
        </p:nvSpPr>
        <p:spPr>
          <a:xfrm>
            <a:off x="7863839" y="4638382"/>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右 22">
            <a:extLst>
              <a:ext uri="{FF2B5EF4-FFF2-40B4-BE49-F238E27FC236}">
                <a16:creationId xmlns:a16="http://schemas.microsoft.com/office/drawing/2014/main" id="{7CE29811-2011-943C-9089-640BA482954F}"/>
              </a:ext>
            </a:extLst>
          </p:cNvPr>
          <p:cNvSpPr/>
          <p:nvPr/>
        </p:nvSpPr>
        <p:spPr>
          <a:xfrm>
            <a:off x="15523349" y="4592657"/>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86194334-C0CE-4143-7C83-1CFACCCD738C}"/>
              </a:ext>
            </a:extLst>
          </p:cNvPr>
          <p:cNvSpPr txBox="1"/>
          <p:nvPr/>
        </p:nvSpPr>
        <p:spPr>
          <a:xfrm>
            <a:off x="18004154" y="2781300"/>
            <a:ext cx="3219450" cy="584775"/>
          </a:xfrm>
          <a:prstGeom prst="rect">
            <a:avLst/>
          </a:prstGeom>
          <a:noFill/>
        </p:spPr>
        <p:txBody>
          <a:bodyPr wrap="square" rtlCol="0">
            <a:spAutoFit/>
          </a:bodyPr>
          <a:lstStyle/>
          <a:p>
            <a:pPr algn="ctr"/>
            <a:r>
              <a:rPr kumimoji="1" lang="en-US" altLang="ja-JP" sz="3200" b="1" dirty="0">
                <a:solidFill>
                  <a:srgbClr val="FF0000"/>
                </a:solidFill>
              </a:rPr>
              <a:t>Our approach</a:t>
            </a:r>
            <a:endParaRPr kumimoji="1" lang="ja-JP" altLang="en-US" sz="3200" b="1" dirty="0">
              <a:solidFill>
                <a:srgbClr val="FF0000"/>
              </a:solidFill>
            </a:endParaRPr>
          </a:p>
        </p:txBody>
      </p:sp>
    </p:spTree>
    <p:extLst>
      <p:ext uri="{BB962C8B-B14F-4D97-AF65-F5344CB8AC3E}">
        <p14:creationId xmlns:p14="http://schemas.microsoft.com/office/powerpoint/2010/main" val="386717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4673"/>
            <a:ext cx="15910559" cy="652486"/>
          </a:xfrm>
          <a:prstGeom prst="rect">
            <a:avLst/>
          </a:prstGeom>
          <a:noFill/>
        </p:spPr>
        <p:txBody>
          <a:bodyPr wrap="square" lIns="45720" tIns="18288" rIns="45720" bIns="18288" anchor="ctr">
            <a:spAutoFit/>
          </a:bodyPr>
          <a:lstStyle/>
          <a:p>
            <a:pPr algn="l">
              <a:spcAft>
                <a:spcPts val="0"/>
              </a:spcAft>
            </a:pPr>
            <a:endParaRPr lang="en-US" sz="2000" b="0" dirty="0">
              <a:solidFill>
                <a:srgbClr val="666F79"/>
              </a:solidFill>
              <a:latin typeface="Yu Gothic"/>
              <a:ea typeface="Yu Gothic"/>
            </a:endParaRPr>
          </a:p>
          <a:p>
            <a:pPr algn="l">
              <a:spcAft>
                <a:spcPts val="0"/>
              </a:spcAft>
            </a:pPr>
            <a:r>
              <a:rPr sz="2000" b="0" dirty="0" err="1">
                <a:solidFill>
                  <a:srgbClr val="666F79"/>
                </a:solidFill>
                <a:latin typeface="Yu Gothic"/>
                <a:ea typeface="Yu Gothic"/>
              </a:rPr>
              <a:t>Background</a:t>
            </a:r>
            <a:endParaRPr sz="2000" b="0" dirty="0">
              <a:solidFill>
                <a:srgbClr val="666F79"/>
              </a:solidFill>
              <a:latin typeface="Yu Gothic"/>
              <a:ea typeface="Yu Gothic"/>
            </a:endParaRP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sz="3200" b="1" dirty="0">
                <a:solidFill>
                  <a:srgbClr val="082B52"/>
                </a:solidFill>
                <a:latin typeface="Yu Gothic"/>
                <a:ea typeface="Yu Gothic"/>
              </a:rPr>
              <a:t>Thermal </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 error</a:t>
            </a:r>
            <a:r>
              <a:rPr sz="3200" b="1" dirty="0">
                <a:solidFill>
                  <a:srgbClr val="082B52"/>
                </a:solidFill>
                <a:latin typeface="Yu Gothic"/>
                <a:ea typeface="Yu Gothic"/>
              </a:rPr>
              <a:t> can match or exceed orbit-prediction error</a:t>
            </a:r>
            <a:r>
              <a:rPr lang="ja-JP" altLang="en-US" sz="3200" b="1" dirty="0">
                <a:solidFill>
                  <a:srgbClr val="082B52"/>
                </a:solidFill>
                <a:latin typeface="Yu Gothic"/>
                <a:ea typeface="Yu Gothic"/>
              </a:rPr>
              <a:t>—</a:t>
            </a:r>
            <a:r>
              <a:rPr sz="3200" b="1" dirty="0" err="1">
                <a:solidFill>
                  <a:srgbClr val="082B52"/>
                </a:solidFill>
                <a:latin typeface="Yu Gothic"/>
                <a:ea typeface="Yu Gothic"/>
              </a:rPr>
              <a:t>and cannot be optically separated before acquisition</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4</a:t>
            </a:r>
          </a:p>
        </p:txBody>
      </p:sp>
      <p:graphicFrame>
        <p:nvGraphicFramePr>
          <p:cNvPr id="5" name="Table 4"/>
          <p:cNvGraphicFramePr>
            <a:graphicFrameLocks noGrp="1"/>
          </p:cNvGraphicFramePr>
          <p:nvPr>
            <p:extLst>
              <p:ext uri="{D42A27DB-BD31-4B8C-83A1-F6EECF244321}">
                <p14:modId xmlns:p14="http://schemas.microsoft.com/office/powerpoint/2010/main" val="411065855"/>
              </p:ext>
            </p:extLst>
          </p:nvPr>
        </p:nvGraphicFramePr>
        <p:xfrm>
          <a:off x="1463040" y="3200400"/>
          <a:ext cx="21396958" cy="5120635"/>
        </p:xfrm>
        <a:graphic>
          <a:graphicData uri="http://schemas.openxmlformats.org/drawingml/2006/table">
            <a:tbl>
              <a:tblPr firstRow="1" bandRow="1">
                <a:tableStyleId>{5C22544A-7EE6-4342-B048-85BDC9FD1C3A}</a:tableStyleId>
              </a:tblPr>
              <a:tblGrid>
                <a:gridCol w="7509510">
                  <a:extLst>
                    <a:ext uri="{9D8B030D-6E8A-4147-A177-3AD203B41FA5}">
                      <a16:colId xmlns:a16="http://schemas.microsoft.com/office/drawing/2014/main" val="20000"/>
                    </a:ext>
                  </a:extLst>
                </a:gridCol>
                <a:gridCol w="7349488">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1024127">
                <a:tc>
                  <a:txBody>
                    <a:bodyPr/>
                    <a:lstStyle/>
                    <a:p>
                      <a:pPr algn="l">
                        <a:spcAft>
                          <a:spcPts val="0"/>
                        </a:spcAft>
                      </a:pPr>
                      <a:r>
                        <a:rPr sz="2400" b="1">
                          <a:solidFill>
                            <a:srgbClr val="FFFFFF"/>
                          </a:solidFill>
                          <a:latin typeface="Yu Gothic"/>
                          <a:ea typeface="Yu Gothic"/>
                        </a:rPr>
                        <a:t>Error source</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Approximate magnitude</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Time variation</a:t>
                      </a:r>
                    </a:p>
                  </a:txBody>
                  <a:tcPr marL="128016" marR="128016" anchor="ctr">
                    <a:solidFill>
                      <a:srgbClr val="082B52"/>
                    </a:solidFill>
                  </a:tcPr>
                </a:tc>
                <a:extLst>
                  <a:ext uri="{0D108BD9-81ED-4DB2-BD59-A6C34878D82A}">
                    <a16:rowId xmlns:a16="http://schemas.microsoft.com/office/drawing/2014/main" val="10000"/>
                  </a:ext>
                </a:extLst>
              </a:tr>
              <a:tr h="1024127">
                <a:tc>
                  <a:txBody>
                    <a:bodyPr/>
                    <a:lstStyle/>
                    <a:p>
                      <a:pPr algn="l">
                        <a:spcAft>
                          <a:spcPts val="0"/>
                        </a:spcAft>
                      </a:pPr>
                      <a:r>
                        <a:rPr sz="2400" b="0" dirty="0" err="1">
                          <a:solidFill>
                            <a:srgbClr val="232B34"/>
                          </a:solidFill>
                          <a:latin typeface="Yu Gothic"/>
                          <a:ea typeface="Yu Gothic"/>
                        </a:rPr>
                        <a:t>Thermal LOS</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a:solidFill>
                            <a:srgbClr val="232B34"/>
                          </a:solidFill>
                          <a:latin typeface="Yu Gothic"/>
                          <a:ea typeface="Yu Gothic"/>
                        </a:rPr>
                        <a:t>150 µrad–1000 µrad (this analysis)</a:t>
                      </a: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Orbital period (~100 min in LEO)</a:t>
                      </a:r>
                    </a:p>
                  </a:txBody>
                  <a:tcPr marL="128016" marR="128016" anchor="ctr">
                    <a:solidFill>
                      <a:schemeClr val="accent6">
                        <a:lumMod val="20000"/>
                        <a:lumOff val="80000"/>
                      </a:schemeClr>
                    </a:solidFill>
                  </a:tcPr>
                </a:tc>
                <a:extLst>
                  <a:ext uri="{0D108BD9-81ED-4DB2-BD59-A6C34878D82A}">
                    <a16:rowId xmlns:a16="http://schemas.microsoft.com/office/drawing/2014/main" val="10001"/>
                  </a:ext>
                </a:extLst>
              </a:tr>
              <a:tr h="1024127">
                <a:tc>
                  <a:txBody>
                    <a:bodyPr/>
                    <a:lstStyle/>
                    <a:p>
                      <a:pPr algn="l">
                        <a:spcAft>
                          <a:spcPts val="0"/>
                        </a:spcAft>
                      </a:pPr>
                      <a:r>
                        <a:rPr sz="2400" b="0" dirty="0" err="1">
                          <a:solidFill>
                            <a:srgbClr val="232B34"/>
                          </a:solidFill>
                          <a:latin typeface="Yu Gothic"/>
                          <a:ea typeface="Yu Gothic"/>
                        </a:rPr>
                        <a:t>Orbit prediction</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Several hundred µrad (TLE propagation vs. precise GPS ephemeris)</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Orbital period (~100 min in LEO)</a:t>
                      </a:r>
                    </a:p>
                  </a:txBody>
                  <a:tcPr marL="128016" marR="128016" anchor="ctr">
                    <a:solidFill>
                      <a:schemeClr val="accent6">
                        <a:lumMod val="20000"/>
                        <a:lumOff val="80000"/>
                      </a:schemeClr>
                    </a:solidFill>
                  </a:tcPr>
                </a:tc>
                <a:extLst>
                  <a:ext uri="{0D108BD9-81ED-4DB2-BD59-A6C34878D82A}">
                    <a16:rowId xmlns:a16="http://schemas.microsoft.com/office/drawing/2014/main" val="10002"/>
                  </a:ext>
                </a:extLst>
              </a:tr>
              <a:tr h="1024127">
                <a:tc>
                  <a:txBody>
                    <a:bodyPr/>
                    <a:lstStyle/>
                    <a:p>
                      <a:pPr algn="l">
                        <a:spcAft>
                          <a:spcPts val="0"/>
                        </a:spcAft>
                      </a:pPr>
                      <a:r>
                        <a:rPr sz="2400" b="0">
                          <a:solidFill>
                            <a:srgbClr val="232B34"/>
                          </a:solidFill>
                          <a:latin typeface="Yu Gothic"/>
                          <a:ea typeface="Yu Gothic"/>
                        </a:rPr>
                        <a:t>Attitude and calibrated alignment</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Tens of 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 to broadband</a:t>
                      </a:r>
                    </a:p>
                  </a:txBody>
                  <a:tcPr marL="128016" marR="128016" anchor="ctr">
                    <a:solidFill>
                      <a:srgbClr val="EBF6FB"/>
                    </a:solidFill>
                  </a:tcPr>
                </a:tc>
                <a:extLst>
                  <a:ext uri="{0D108BD9-81ED-4DB2-BD59-A6C34878D82A}">
                    <a16:rowId xmlns:a16="http://schemas.microsoft.com/office/drawing/2014/main" val="10003"/>
                  </a:ext>
                </a:extLst>
              </a:tr>
              <a:tr h="1024127">
                <a:tc>
                  <a:txBody>
                    <a:bodyPr/>
                    <a:lstStyle/>
                    <a:p>
                      <a:pPr algn="l">
                        <a:spcAft>
                          <a:spcPts val="0"/>
                        </a:spcAft>
                      </a:pPr>
                      <a:r>
                        <a:rPr sz="2400" b="0">
                          <a:solidFill>
                            <a:srgbClr val="232B34"/>
                          </a:solidFill>
                          <a:latin typeface="Yu Gothic"/>
                          <a:ea typeface="Yu Gothic"/>
                        </a:rPr>
                        <a:t>Mechanical vibration</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Several to tens of µrad</a:t>
                      </a:r>
                    </a:p>
                  </a:txBody>
                  <a:tcPr marL="128016" marR="128016" anchor="ctr">
                    <a:solidFill>
                      <a:srgbClr val="F4F6F8"/>
                    </a:solidFill>
                  </a:tcPr>
                </a:tc>
                <a:tc>
                  <a:txBody>
                    <a:bodyPr/>
                    <a:lstStyle/>
                    <a:p>
                      <a:pPr algn="ctr">
                        <a:spcAft>
                          <a:spcPts val="0"/>
                        </a:spcAft>
                      </a:pPr>
                      <a:r>
                        <a:rPr sz="2400" b="0" dirty="0" err="1">
                          <a:solidFill>
                            <a:srgbClr val="232B34"/>
                          </a:solidFill>
                          <a:latin typeface="Yu Gothic"/>
                          <a:ea typeface="Yu Gothic"/>
                        </a:rPr>
                        <a:t>High frequency (post-acquisition fine tracking)</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458200"/>
            <a:ext cx="21396960" cy="344710"/>
          </a:xfrm>
          <a:prstGeom prst="rect">
            <a:avLst/>
          </a:prstGeom>
          <a:noFill/>
        </p:spPr>
        <p:txBody>
          <a:bodyPr wrap="square" lIns="45720" tIns="18288" rIns="45720" bIns="18288" anchor="t">
            <a:spAutoFit/>
          </a:bodyPr>
          <a:lstStyle/>
          <a:p>
            <a:pPr algn="l">
              <a:spcAft>
                <a:spcPts val="0"/>
              </a:spcAft>
            </a:pPr>
            <a:r>
              <a:rPr sz="2000" b="0" dirty="0">
                <a:solidFill>
                  <a:srgbClr val="666F79"/>
                </a:solidFill>
                <a:latin typeface="Yu Gothic"/>
                <a:ea typeface="Yu Gothic"/>
              </a:rPr>
              <a:t>* </a:t>
            </a:r>
            <a:r>
              <a:rPr sz="2000" b="0" dirty="0" err="1">
                <a:solidFill>
                  <a:srgbClr val="666F79"/>
                </a:solidFill>
                <a:latin typeface="Yu Gothic"/>
                <a:ea typeface="Yu Gothic"/>
              </a:rPr>
              <a:t>Thermal </a:t>
            </a:r>
            <a:r>
              <a:rPr lang="en-US" sz="2000" b="0" dirty="0" err="1">
                <a:solidFill>
                  <a:srgbClr val="666F79"/>
                </a:solidFill>
                <a:latin typeface="Yu Gothic"/>
                <a:ea typeface="Yu Gothic"/>
              </a:rPr>
              <a:t>LOS</a:t>
            </a:r>
            <a:r>
              <a:rPr lang="ja-JP" altLang="en-US" sz="2000" b="0" dirty="0">
                <a:solidFill>
                  <a:srgbClr val="666F79"/>
                </a:solidFill>
                <a:latin typeface="Yu Gothic"/>
                <a:ea typeface="Yu Gothic"/>
              </a:rPr>
              <a:t> and orbit-prediction error are from this analysis; </a:t>
            </a:r>
            <a:r>
              <a:rPr sz="2000" b="0" dirty="0" err="1">
                <a:solidFill>
                  <a:srgbClr val="666F79"/>
                </a:solidFill>
                <a:latin typeface="Yu Gothic"/>
                <a:ea typeface="Yu Gothic"/>
              </a:rPr>
              <a:t>other values are literature-based order-of-magnitude estimates.</a:t>
            </a:r>
          </a:p>
        </p:txBody>
      </p:sp>
      <p:sp>
        <p:nvSpPr>
          <p:cNvPr id="7" name="Rounded Rectangle 6"/>
          <p:cNvSpPr/>
          <p:nvPr/>
        </p:nvSpPr>
        <p:spPr>
          <a:xfrm>
            <a:off x="1463040" y="9418320"/>
            <a:ext cx="21396960" cy="3785616"/>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828800" y="9646920"/>
            <a:ext cx="20665440" cy="1185389"/>
          </a:xfrm>
          <a:prstGeom prst="rect">
            <a:avLst/>
          </a:prstGeom>
          <a:noFill/>
        </p:spPr>
        <p:txBody>
          <a:bodyPr wrap="square" lIns="45720" tIns="18288" rIns="45720" bIns="18288" anchor="t">
            <a:spAutoFit/>
          </a:bodyPr>
          <a:lstStyle/>
          <a:p>
            <a:pPr algn="ctr">
              <a:lnSpc>
                <a:spcPct val="120000"/>
              </a:lnSpc>
              <a:spcAft>
                <a:spcPts val="0"/>
              </a:spcAft>
            </a:pPr>
            <a:r>
              <a:rPr sz="3200" dirty="0" err="1">
                <a:solidFill>
                  <a:srgbClr val="082B52"/>
                </a:solidFill>
                <a:latin typeface="Yu Gothic"/>
                <a:ea typeface="Yu Gothic"/>
              </a:rPr>
              <a:t>Thermal LOS and orbit prediction share </a:t>
            </a:r>
            <a:r>
              <a:rPr lang="ja-JP" altLang="en-US" sz="3200" dirty="0">
                <a:solidFill>
                  <a:srgbClr val="082B52"/>
                </a:solidFill>
                <a:latin typeface="Yu Gothic"/>
                <a:ea typeface="Yu Gothic"/>
              </a:rPr>
              <a:t>similar</a:t>
            </a:r>
            <a:r>
              <a:rPr sz="3200" dirty="0" err="1">
                <a:solidFill>
                  <a:srgbClr val="082B52"/>
                </a:solidFill>
                <a:latin typeface="Yu Gothic"/>
                <a:ea typeface="Yu Gothic"/>
              </a:rPr>
              <a:t> orbital periods</a:t>
            </a:r>
            <a:endParaRPr sz="3200" dirty="0">
              <a:solidFill>
                <a:srgbClr val="082B52"/>
              </a:solidFill>
              <a:latin typeface="Yu Gothic"/>
              <a:ea typeface="Yu Gothic"/>
            </a:endParaRPr>
          </a:p>
          <a:p>
            <a:pPr algn="ctr">
              <a:lnSpc>
                <a:spcPct val="120000"/>
              </a:lnSpc>
              <a:spcAft>
                <a:spcPts val="0"/>
              </a:spcAft>
            </a:pPr>
            <a:r>
              <a:rPr sz="3200" dirty="0" err="1">
                <a:solidFill>
                  <a:srgbClr val="082B52"/>
                </a:solidFill>
                <a:latin typeface="Yu Gothic"/>
                <a:ea typeface="Yu Gothic"/>
              </a:rPr>
              <a:t>Frequency separation of post-acquisition residuals cannot isolate the thermal component</a:t>
            </a:r>
            <a:endParaRPr sz="3200" dirty="0">
              <a:solidFill>
                <a:srgbClr val="082B52"/>
              </a:solidFill>
              <a:latin typeface="Yu Gothic"/>
              <a:ea typeface="Yu Gothic"/>
            </a:endParaRPr>
          </a:p>
        </p:txBody>
      </p:sp>
      <p:sp>
        <p:nvSpPr>
          <p:cNvPr id="9" name="TextBox 8"/>
          <p:cNvSpPr txBox="1"/>
          <p:nvPr/>
        </p:nvSpPr>
        <p:spPr>
          <a:xfrm>
            <a:off x="1463040" y="11772900"/>
            <a:ext cx="21396960" cy="1021818"/>
          </a:xfrm>
          <a:prstGeom prst="rect">
            <a:avLst/>
          </a:prstGeom>
          <a:noFill/>
        </p:spPr>
        <p:txBody>
          <a:bodyPr wrap="square" lIns="45720" tIns="18288" rIns="45720" bIns="18288" anchor="t">
            <a:spAutoFit/>
          </a:bodyPr>
          <a:lstStyle/>
          <a:p>
            <a:pPr algn="ctr">
              <a:spcAft>
                <a:spcPts val="0"/>
              </a:spcAft>
            </a:pPr>
            <a:r>
              <a:rPr sz="3200" b="1" dirty="0" err="1">
                <a:latin typeface="Yu Gothic"/>
                <a:ea typeface="Yu Gothic"/>
              </a:rPr>
              <a:t>Do not </a:t>
            </a:r>
            <a:r>
              <a:rPr lang="ja-JP" altLang="en-US" sz="3200" b="1" dirty="0">
                <a:latin typeface="Yu Gothic"/>
                <a:ea typeface="Yu Gothic"/>
              </a:rPr>
              <a:t>separate thermal effects retrospectively</a:t>
            </a:r>
            <a:r>
              <a:rPr sz="3200" b="1" dirty="0" err="1">
                <a:latin typeface="Yu Gothic"/>
                <a:ea typeface="Yu Gothic"/>
              </a:rPr>
              <a:t> from observations</a:t>
            </a:r>
            <a:endParaRPr lang="en-US" sz="3200" b="1" dirty="0">
              <a:latin typeface="Yu Gothic"/>
              <a:ea typeface="Yu Gothic"/>
            </a:endParaRPr>
          </a:p>
          <a:p>
            <a:pPr algn="ctr">
              <a:spcAft>
                <a:spcPts val="0"/>
              </a:spcAft>
            </a:pPr>
            <a:r>
              <a:rPr sz="3200" b="1" dirty="0" err="1">
                <a:latin typeface="Yu Gothic"/>
                <a:ea typeface="Yu Gothic"/>
              </a:rPr>
              <a:t>Use temperature and operating state</a:t>
            </a:r>
            <a:r>
              <a:rPr lang="ja-JP" altLang="en-US" sz="3200" b="1" dirty="0">
                <a:latin typeface="Yu Gothic"/>
                <a:ea typeface="Yu Gothic"/>
              </a:rPr>
              <a:t> </a:t>
            </a:r>
            <a:r>
              <a:rPr sz="3200" b="1" dirty="0" err="1">
                <a:latin typeface="Yu Gothic"/>
                <a:ea typeface="Yu Gothic"/>
              </a:rPr>
              <a:t>to subtract them before acquisition</a:t>
            </a:r>
            <a:endParaRPr sz="3200" b="1" dirty="0">
              <a:latin typeface="Yu Gothic"/>
              <a:ea typeface="Yu Gothic"/>
            </a:endParaRPr>
          </a:p>
        </p:txBody>
      </p:sp>
      <p:sp>
        <p:nvSpPr>
          <p:cNvPr id="11" name="矢印: 右 10">
            <a:extLst>
              <a:ext uri="{FF2B5EF4-FFF2-40B4-BE49-F238E27FC236}">
                <a16:creationId xmlns:a16="http://schemas.microsoft.com/office/drawing/2014/main" id="{94240433-D79D-CFAB-63F5-3885639F5032}"/>
              </a:ext>
            </a:extLst>
          </p:cNvPr>
          <p:cNvSpPr/>
          <p:nvPr/>
        </p:nvSpPr>
        <p:spPr>
          <a:xfrm rot="5400000">
            <a:off x="11918047" y="11028683"/>
            <a:ext cx="685800" cy="5478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Background</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lang="ja-JP" altLang="en-US" sz="3200" b="1" dirty="0">
                <a:solidFill>
                  <a:srgbClr val="082B52"/>
                </a:solidFill>
                <a:latin typeface="Yu Gothic"/>
                <a:ea typeface="Yu Gothic"/>
              </a:rPr>
              <a:t>Prior work on thermal-deformation </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 error prediction and this study</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5</a:t>
            </a:r>
          </a:p>
        </p:txBody>
      </p:sp>
      <p:sp>
        <p:nvSpPr>
          <p:cNvPr id="8" name="TextBox 7"/>
          <p:cNvSpPr txBox="1"/>
          <p:nvPr/>
        </p:nvSpPr>
        <p:spPr>
          <a:xfrm>
            <a:off x="1536192" y="11721740"/>
            <a:ext cx="21396960" cy="898708"/>
          </a:xfrm>
          <a:prstGeom prst="rect">
            <a:avLst/>
          </a:prstGeom>
          <a:noFill/>
        </p:spPr>
        <p:txBody>
          <a:bodyPr wrap="square" lIns="45720" tIns="18288" rIns="45720" bIns="18288" anchor="t">
            <a:spAutoFit/>
          </a:bodyPr>
          <a:lstStyle/>
          <a:p>
            <a:pPr algn="ctr">
              <a:lnSpc>
                <a:spcPct val="100000"/>
              </a:lnSpc>
              <a:spcAft>
                <a:spcPts val="0"/>
              </a:spcAft>
            </a:pPr>
            <a:r>
              <a:rPr lang="ja-JP" altLang="ja-JP" sz="2800" b="1" dirty="0"/>
              <a:t>Optical communications reduce or assess thermal deformation; Earth observation predicts and corrects thermal LOS.</a:t>
            </a:r>
            <a:br>
              <a:rPr lang="ja-JP" altLang="ja-JP" sz="2800" dirty="0"/>
            </a:br>
            <a:r>
              <a:rPr lang="ja-JP" altLang="ja-JP" sz="2800" b="1" dirty="0"/>
              <a:t>This study connects spacecraft-bus STT–LCT relative LOS prediction to coarse-acquisition time.</a:t>
            </a:r>
            <a:endParaRPr lang="ja-JP" altLang="en-US" sz="2500" b="1" dirty="0">
              <a:solidFill>
                <a:srgbClr val="082B52"/>
              </a:solidFill>
              <a:latin typeface="Yu Gothic"/>
              <a:ea typeface="Yu Gothic"/>
            </a:endParaRPr>
          </a:p>
        </p:txBody>
      </p:sp>
      <p:graphicFrame>
        <p:nvGraphicFramePr>
          <p:cNvPr id="10" name="表 9">
            <a:extLst>
              <a:ext uri="{FF2B5EF4-FFF2-40B4-BE49-F238E27FC236}">
                <a16:creationId xmlns:a16="http://schemas.microsoft.com/office/drawing/2014/main" id="{A46055EF-9EAE-9D40-A161-EC7FBD1C0AFE}"/>
              </a:ext>
            </a:extLst>
          </p:cNvPr>
          <p:cNvGraphicFramePr>
            <a:graphicFrameLocks noGrp="1"/>
          </p:cNvGraphicFramePr>
          <p:nvPr>
            <p:extLst>
              <p:ext uri="{D42A27DB-BD31-4B8C-83A1-F6EECF244321}">
                <p14:modId xmlns:p14="http://schemas.microsoft.com/office/powerpoint/2010/main" val="2619788505"/>
              </p:ext>
            </p:extLst>
          </p:nvPr>
        </p:nvGraphicFramePr>
        <p:xfrm>
          <a:off x="2160290" y="3045590"/>
          <a:ext cx="20474920" cy="6989418"/>
        </p:xfrm>
        <a:graphic>
          <a:graphicData uri="http://schemas.openxmlformats.org/drawingml/2006/table">
            <a:tbl>
              <a:tblPr firstRow="1" bandRow="1">
                <a:tableStyleId>{5C22544A-7EE6-4342-B048-85BDC9FD1C3A}</a:tableStyleId>
              </a:tblPr>
              <a:tblGrid>
                <a:gridCol w="5118730">
                  <a:extLst>
                    <a:ext uri="{9D8B030D-6E8A-4147-A177-3AD203B41FA5}">
                      <a16:colId xmlns:a16="http://schemas.microsoft.com/office/drawing/2014/main" val="1548032301"/>
                    </a:ext>
                  </a:extLst>
                </a:gridCol>
                <a:gridCol w="5118730">
                  <a:extLst>
                    <a:ext uri="{9D8B030D-6E8A-4147-A177-3AD203B41FA5}">
                      <a16:colId xmlns:a16="http://schemas.microsoft.com/office/drawing/2014/main" val="2689480544"/>
                    </a:ext>
                  </a:extLst>
                </a:gridCol>
                <a:gridCol w="5118730">
                  <a:extLst>
                    <a:ext uri="{9D8B030D-6E8A-4147-A177-3AD203B41FA5}">
                      <a16:colId xmlns:a16="http://schemas.microsoft.com/office/drawing/2014/main" val="3075504841"/>
                    </a:ext>
                  </a:extLst>
                </a:gridCol>
                <a:gridCol w="5118730">
                  <a:extLst>
                    <a:ext uri="{9D8B030D-6E8A-4147-A177-3AD203B41FA5}">
                      <a16:colId xmlns:a16="http://schemas.microsoft.com/office/drawing/2014/main" val="39855268"/>
                    </a:ext>
                  </a:extLst>
                </a:gridCol>
              </a:tblGrid>
              <a:tr h="649290">
                <a:tc>
                  <a:txBody>
                    <a:bodyPr/>
                    <a:lstStyle/>
                    <a:p>
                      <a:pPr>
                        <a:buNone/>
                      </a:pPr>
                      <a:r>
                        <a:rPr lang="ja-JP" altLang="en-US" sz="2800" b="0" dirty="0">
                          <a:solidFill>
                            <a:schemeClr val="bg1"/>
                          </a:solidFill>
                        </a:rPr>
                        <a:t>Field</a:t>
                      </a:r>
                      <a:endParaRPr lang="ja-JP" sz="2800" b="0" dirty="0">
                        <a:solidFill>
                          <a:schemeClr val="bg1"/>
                        </a:solidFill>
                      </a:endParaRPr>
                    </a:p>
                  </a:txBody>
                  <a:tcPr anchor="ctr">
                    <a:solidFill>
                      <a:schemeClr val="tx1"/>
                    </a:solidFill>
                  </a:tcPr>
                </a:tc>
                <a:tc>
                  <a:txBody>
                    <a:bodyPr/>
                    <a:lstStyle/>
                    <a:p>
                      <a:pPr>
                        <a:buNone/>
                      </a:pPr>
                      <a:r>
                        <a:rPr lang="ja-JP" sz="2800" b="0" dirty="0">
                          <a:solidFill>
                            <a:schemeClr val="tx1"/>
                          </a:solidFill>
                        </a:rPr>
                        <a:t>Optical communications</a:t>
                      </a:r>
                    </a:p>
                  </a:txBody>
                  <a:tcPr anchor="ctr">
                    <a:solidFill>
                      <a:schemeClr val="bg1">
                        <a:lumMod val="95000"/>
                      </a:schemeClr>
                    </a:solidFill>
                  </a:tcPr>
                </a:tc>
                <a:tc>
                  <a:txBody>
                    <a:bodyPr/>
                    <a:lstStyle/>
                    <a:p>
                      <a:pPr>
                        <a:buNone/>
                      </a:pPr>
                      <a:r>
                        <a:rPr lang="ja-JP" sz="2800" b="0" dirty="0">
                          <a:solidFill>
                            <a:schemeClr val="tx1"/>
                          </a:solidFill>
                        </a:rPr>
                        <a:t>Earth observation / optics</a:t>
                      </a:r>
                    </a:p>
                  </a:txBody>
                  <a:tcPr anchor="ctr">
                    <a:solidFill>
                      <a:schemeClr val="bg1">
                        <a:lumMod val="85000"/>
                      </a:schemeClr>
                    </a:solidFill>
                  </a:tcPr>
                </a:tc>
                <a:tc>
                  <a:txBody>
                    <a:bodyPr/>
                    <a:lstStyle/>
                    <a:p>
                      <a:pPr>
                        <a:buNone/>
                      </a:pPr>
                      <a:r>
                        <a:rPr lang="ja-JP" sz="2800" b="0" dirty="0">
                          <a:solidFill>
                            <a:schemeClr val="tx1"/>
                          </a:solidFill>
                        </a:rPr>
                        <a:t>This study</a:t>
                      </a:r>
                    </a:p>
                  </a:txBody>
                  <a:tcPr anchor="ctr">
                    <a:solidFill>
                      <a:schemeClr val="accent6">
                        <a:lumMod val="20000"/>
                        <a:lumOff val="80000"/>
                      </a:schemeClr>
                    </a:solidFill>
                  </a:tcPr>
                </a:tc>
                <a:extLst>
                  <a:ext uri="{0D108BD9-81ED-4DB2-BD59-A6C34878D82A}">
                    <a16:rowId xmlns:a16="http://schemas.microsoft.com/office/drawing/2014/main" val="1866067178"/>
                  </a:ext>
                </a:extLst>
              </a:tr>
              <a:tr h="2253419">
                <a:tc>
                  <a:txBody>
                    <a:bodyPr/>
                    <a:lstStyle/>
                    <a:p>
                      <a:pPr>
                        <a:buNone/>
                      </a:pPr>
                      <a:r>
                        <a:rPr lang="ja-JP" sz="2800" b="0" dirty="0">
                          <a:solidFill>
                            <a:schemeClr val="bg1"/>
                          </a:solidFill>
                        </a:rPr>
                        <a:t>Approach to thermal deformation</a:t>
                      </a:r>
                    </a:p>
                  </a:txBody>
                  <a:tcPr anchor="ctr">
                    <a:solidFill>
                      <a:schemeClr val="tx1"/>
                    </a:solidFill>
                  </a:tcPr>
                </a:tc>
                <a:tc>
                  <a:txBody>
                    <a:bodyPr/>
                    <a:lstStyle/>
                    <a:p>
                      <a:pPr>
                        <a:buNone/>
                      </a:pPr>
                      <a:r>
                        <a:rPr lang="ja-JP" sz="2800" b="0" dirty="0">
                          <a:solidFill>
                            <a:schemeClr val="tx1"/>
                          </a:solidFill>
                        </a:rPr>
                        <a:t>Reduce thermal deformation through structure, materials, and equipment placement</a:t>
                      </a:r>
                      <a:br>
                        <a:rPr lang="ja-JP" sz="2800" b="0" dirty="0">
                          <a:solidFill>
                            <a:schemeClr val="tx1"/>
                          </a:solidFill>
                        </a:rPr>
                      </a:br>
                      <a:r>
                        <a:rPr lang="ja-JP" sz="2800" b="0" dirty="0">
                          <a:solidFill>
                            <a:schemeClr val="tx1"/>
                          </a:solidFill>
                        </a:rPr>
                        <a:t>Assess thermal pointing error by FEM</a:t>
                      </a:r>
                    </a:p>
                  </a:txBody>
                  <a:tcPr anchor="ctr">
                    <a:solidFill>
                      <a:schemeClr val="bg1">
                        <a:lumMod val="95000"/>
                      </a:schemeClr>
                    </a:solidFill>
                  </a:tcPr>
                </a:tc>
                <a:tc>
                  <a:txBody>
                    <a:bodyPr/>
                    <a:lstStyle/>
                    <a:p>
                      <a:pPr>
                        <a:buNone/>
                      </a:pPr>
                      <a:r>
                        <a:rPr lang="ja-JP" sz="2800" b="0" dirty="0">
                          <a:solidFill>
                            <a:schemeClr val="tx1"/>
                          </a:solidFill>
                        </a:rPr>
                        <a:t>Predict and correct LOS variation from temperature, orbital phase, and observation geometry</a:t>
                      </a:r>
                    </a:p>
                  </a:txBody>
                  <a:tcPr anchor="ctr">
                    <a:solidFill>
                      <a:schemeClr val="bg1">
                        <a:lumMod val="85000"/>
                      </a:schemeClr>
                    </a:solidFill>
                  </a:tcPr>
                </a:tc>
                <a:tc>
                  <a:txBody>
                    <a:bodyPr/>
                    <a:lstStyle/>
                    <a:p>
                      <a:pPr>
                        <a:buNone/>
                      </a:pPr>
                      <a:r>
                        <a:rPr lang="ja-JP" sz="2800" b="0" dirty="0">
                          <a:solidFill>
                            <a:schemeClr val="tx1"/>
                          </a:solidFill>
                        </a:rPr>
                        <a:t>Predict spacecraft-bus relative LOS from temperature and operating state</a:t>
                      </a:r>
                    </a:p>
                  </a:txBody>
                  <a:tcPr anchor="ctr">
                    <a:solidFill>
                      <a:schemeClr val="accent6">
                        <a:lumMod val="20000"/>
                        <a:lumOff val="80000"/>
                      </a:schemeClr>
                    </a:solidFill>
                  </a:tcPr>
                </a:tc>
                <a:extLst>
                  <a:ext uri="{0D108BD9-81ED-4DB2-BD59-A6C34878D82A}">
                    <a16:rowId xmlns:a16="http://schemas.microsoft.com/office/drawing/2014/main" val="2469285297"/>
                  </a:ext>
                </a:extLst>
              </a:tr>
              <a:tr h="1184000">
                <a:tc>
                  <a:txBody>
                    <a:bodyPr/>
                    <a:lstStyle/>
                    <a:p>
                      <a:pPr>
                        <a:buNone/>
                      </a:pPr>
                      <a:r>
                        <a:rPr lang="ja-JP" sz="2800" b="0" dirty="0">
                          <a:solidFill>
                            <a:schemeClr val="bg1"/>
                          </a:solidFill>
                        </a:rPr>
                        <a:t>Main target</a:t>
                      </a:r>
                    </a:p>
                  </a:txBody>
                  <a:tcPr anchor="ctr">
                    <a:solidFill>
                      <a:schemeClr val="tx1"/>
                    </a:solidFill>
                  </a:tcPr>
                </a:tc>
                <a:tc>
                  <a:txBody>
                    <a:bodyPr/>
                    <a:lstStyle/>
                    <a:p>
                      <a:pPr>
                        <a:buNone/>
                      </a:pPr>
                      <a:r>
                        <a:rPr lang="ja-JP" sz="2800" b="0" dirty="0">
                          <a:solidFill>
                            <a:schemeClr val="tx1"/>
                          </a:solidFill>
                        </a:rPr>
                        <a:t>Optical terminals / spacecraft structures</a:t>
                      </a:r>
                    </a:p>
                  </a:txBody>
                  <a:tcPr anchor="ctr">
                    <a:solidFill>
                      <a:schemeClr val="bg1">
                        <a:lumMod val="95000"/>
                      </a:schemeClr>
                    </a:solidFill>
                  </a:tcPr>
                </a:tc>
                <a:tc>
                  <a:txBody>
                    <a:bodyPr/>
                    <a:lstStyle/>
                    <a:p>
                      <a:pPr>
                        <a:buNone/>
                      </a:pPr>
                      <a:r>
                        <a:rPr lang="ja-JP" sz="2800" b="0" dirty="0">
                          <a:solidFill>
                            <a:schemeClr val="tx1"/>
                          </a:solidFill>
                        </a:rPr>
                        <a:t>Cameras / remote-sensing optical systems</a:t>
                      </a:r>
                    </a:p>
                  </a:txBody>
                  <a:tcPr anchor="ctr">
                    <a:solidFill>
                      <a:schemeClr val="bg1">
                        <a:lumMod val="85000"/>
                      </a:schemeClr>
                    </a:solidFill>
                  </a:tcPr>
                </a:tc>
                <a:tc>
                  <a:txBody>
                    <a:bodyPr/>
                    <a:lstStyle/>
                    <a:p>
                      <a:r>
                        <a:rPr lang="ja-JP" altLang="ja-JP" sz="2800" b="0" dirty="0"/>
                        <a:t>STT–LCT relative LOS across the spacecraft bus</a:t>
                      </a:r>
                    </a:p>
                  </a:txBody>
                  <a:tcPr anchor="ctr">
                    <a:solidFill>
                      <a:schemeClr val="accent6">
                        <a:lumMod val="20000"/>
                        <a:lumOff val="80000"/>
                      </a:schemeClr>
                    </a:solidFill>
                  </a:tcPr>
                </a:tc>
                <a:extLst>
                  <a:ext uri="{0D108BD9-81ED-4DB2-BD59-A6C34878D82A}">
                    <a16:rowId xmlns:a16="http://schemas.microsoft.com/office/drawing/2014/main" val="1300502729"/>
                  </a:ext>
                </a:extLst>
              </a:tr>
              <a:tr h="1184000">
                <a:tc>
                  <a:txBody>
                    <a:bodyPr/>
                    <a:lstStyle/>
                    <a:p>
                      <a:pPr>
                        <a:buNone/>
                      </a:pPr>
                      <a:r>
                        <a:rPr lang="ja-JP" sz="2800" b="0" dirty="0">
                          <a:solidFill>
                            <a:schemeClr val="bg1"/>
                          </a:solidFill>
                        </a:rPr>
                        <a:t>Evaluation metric</a:t>
                      </a:r>
                    </a:p>
                  </a:txBody>
                  <a:tcPr anchor="ctr">
                    <a:solidFill>
                      <a:schemeClr val="tx1"/>
                    </a:solidFill>
                  </a:tcPr>
                </a:tc>
                <a:tc>
                  <a:txBody>
                    <a:bodyPr/>
                    <a:lstStyle/>
                    <a:p>
                      <a:pPr>
                        <a:buNone/>
                      </a:pPr>
                      <a:r>
                        <a:rPr lang="ja-JP" sz="2800" b="0" dirty="0">
                          <a:solidFill>
                            <a:schemeClr val="tx1"/>
                          </a:solidFill>
                        </a:rPr>
                        <a:t>Thermal stability, pointing error, link establishment</a:t>
                      </a:r>
                    </a:p>
                  </a:txBody>
                  <a:tcPr anchor="ctr">
                    <a:solidFill>
                      <a:schemeClr val="bg1">
                        <a:lumMod val="95000"/>
                      </a:schemeClr>
                    </a:solidFill>
                  </a:tcPr>
                </a:tc>
                <a:tc>
                  <a:txBody>
                    <a:bodyPr/>
                    <a:lstStyle/>
                    <a:p>
                      <a:pPr>
                        <a:buNone/>
                      </a:pPr>
                      <a:r>
                        <a:rPr lang="ja-JP" sz="2800" b="0" dirty="0">
                          <a:solidFill>
                            <a:schemeClr val="tx1"/>
                          </a:solidFill>
                        </a:rPr>
                        <a:t>LOS prediction error, image-pointing accuracy</a:t>
                      </a:r>
                    </a:p>
                  </a:txBody>
                  <a:tcPr anchor="ctr">
                    <a:solidFill>
                      <a:schemeClr val="bg1">
                        <a:lumMod val="85000"/>
                      </a:schemeClr>
                    </a:solidFill>
                  </a:tcPr>
                </a:tc>
                <a:tc>
                  <a:txBody>
                    <a:bodyPr/>
                    <a:lstStyle/>
                    <a:p>
                      <a:pPr>
                        <a:buNone/>
                      </a:pPr>
                      <a:r>
                        <a:rPr lang="ja-JP" sz="2800" b="0" dirty="0">
                          <a:solidFill>
                            <a:schemeClr val="tx1"/>
                          </a:solidFill>
                        </a:rPr>
                        <a:t>Coarse-acquisition time and success rate</a:t>
                      </a:r>
                    </a:p>
                  </a:txBody>
                  <a:tcPr anchor="ctr">
                    <a:solidFill>
                      <a:schemeClr val="accent6">
                        <a:lumMod val="20000"/>
                        <a:lumOff val="80000"/>
                      </a:schemeClr>
                    </a:solidFill>
                  </a:tcPr>
                </a:tc>
                <a:extLst>
                  <a:ext uri="{0D108BD9-81ED-4DB2-BD59-A6C34878D82A}">
                    <a16:rowId xmlns:a16="http://schemas.microsoft.com/office/drawing/2014/main" val="788446176"/>
                  </a:ext>
                </a:extLst>
              </a:tr>
              <a:tr h="1718709">
                <a:tc>
                  <a:txBody>
                    <a:bodyPr/>
                    <a:lstStyle/>
                    <a:p>
                      <a:pPr>
                        <a:buNone/>
                      </a:pPr>
                      <a:r>
                        <a:rPr lang="ja-JP" sz="2800" b="0" dirty="0">
                          <a:solidFill>
                            <a:schemeClr val="bg1"/>
                          </a:solidFill>
                        </a:rPr>
                        <a:t>Remaining gap</a:t>
                      </a:r>
                    </a:p>
                  </a:txBody>
                  <a:tcPr anchor="ctr">
                    <a:solidFill>
                      <a:schemeClr val="tx1"/>
                    </a:solidFill>
                  </a:tcPr>
                </a:tc>
                <a:tc>
                  <a:txBody>
                    <a:bodyPr/>
                    <a:lstStyle/>
                    <a:p>
                      <a:pPr>
                        <a:buNone/>
                      </a:pPr>
                      <a:r>
                        <a:rPr lang="ja-JP" sz="2800" b="0" dirty="0">
                          <a:solidFill>
                            <a:schemeClr val="tx1"/>
                          </a:solidFill>
                        </a:rPr>
                        <a:t>Limited frameworks for </a:t>
                      </a:r>
                      <a:r>
                        <a:rPr lang="ja-JP" sz="2800" b="1" dirty="0">
                          <a:solidFill>
                            <a:schemeClr val="tx1"/>
                          </a:solidFill>
                        </a:rPr>
                        <a:t>predicting residual thermal LOS error during operations</a:t>
                      </a:r>
                    </a:p>
                  </a:txBody>
                  <a:tcPr anchor="ctr">
                    <a:solidFill>
                      <a:schemeClr val="bg1">
                        <a:lumMod val="95000"/>
                      </a:schemeClr>
                    </a:solidFill>
                  </a:tcPr>
                </a:tc>
                <a:tc>
                  <a:txBody>
                    <a:bodyPr/>
                    <a:lstStyle/>
                    <a:p>
                      <a:pPr>
                        <a:buNone/>
                      </a:pPr>
                      <a:r>
                        <a:rPr lang="ja-JP" altLang="en-US" sz="2800" b="0" dirty="0">
                          <a:solidFill>
                            <a:schemeClr val="tx1"/>
                          </a:solidFill>
                        </a:rPr>
                        <a:t>Not linked to </a:t>
                      </a:r>
                      <a:r>
                        <a:rPr lang="ja-JP" altLang="ja-JP" sz="2800" b="1" dirty="0">
                          <a:solidFill>
                            <a:schemeClr val="tx1"/>
                          </a:solidFill>
                        </a:rPr>
                        <a:t>spacecraft-bus LOS error or coarse-acquisition performance</a:t>
                      </a:r>
                    </a:p>
                  </a:txBody>
                  <a:tcPr anchor="ctr">
                    <a:solidFill>
                      <a:schemeClr val="bg1">
                        <a:lumMod val="85000"/>
                      </a:schemeClr>
                    </a:solidFill>
                  </a:tcPr>
                </a:tc>
                <a:tc>
                  <a:txBody>
                    <a:bodyPr/>
                    <a:lstStyle/>
                    <a:p>
                      <a:pPr>
                        <a:buNone/>
                      </a:pPr>
                      <a:r>
                        <a:rPr lang="ja-JP" sz="2800" b="0" dirty="0">
                          <a:solidFill>
                            <a:schemeClr val="tx1"/>
                          </a:solidFill>
                        </a:rPr>
                        <a:t>—</a:t>
                      </a:r>
                    </a:p>
                  </a:txBody>
                  <a:tcPr anchor="ctr">
                    <a:solidFill>
                      <a:schemeClr val="accent6">
                        <a:lumMod val="20000"/>
                        <a:lumOff val="80000"/>
                      </a:schemeClr>
                    </a:solidFill>
                  </a:tcPr>
                </a:tc>
                <a:extLst>
                  <a:ext uri="{0D108BD9-81ED-4DB2-BD59-A6C34878D82A}">
                    <a16:rowId xmlns:a16="http://schemas.microsoft.com/office/drawing/2014/main" val="3137187714"/>
                  </a:ext>
                </a:extLst>
              </a:tr>
            </a:tbl>
          </a:graphicData>
        </a:graphic>
      </p:graphicFrame>
      <p:sp>
        <p:nvSpPr>
          <p:cNvPr id="12" name="テキスト ボックス 11">
            <a:extLst>
              <a:ext uri="{FF2B5EF4-FFF2-40B4-BE49-F238E27FC236}">
                <a16:creationId xmlns:a16="http://schemas.microsoft.com/office/drawing/2014/main" id="{D62851C0-F2CB-95B5-2980-85533DC73702}"/>
              </a:ext>
            </a:extLst>
          </p:cNvPr>
          <p:cNvSpPr txBox="1"/>
          <p:nvPr/>
        </p:nvSpPr>
        <p:spPr>
          <a:xfrm>
            <a:off x="14268450" y="10176519"/>
            <a:ext cx="8500110" cy="923330"/>
          </a:xfrm>
          <a:prstGeom prst="rect">
            <a:avLst/>
          </a:prstGeom>
          <a:noFill/>
        </p:spPr>
        <p:txBody>
          <a:bodyPr wrap="square">
            <a:spAutoFit/>
          </a:bodyPr>
          <a:lstStyle/>
          <a:p>
            <a:pPr lvl="0"/>
            <a:r>
              <a:rPr lang="ja-JP" altLang="en-US" dirty="0"/>
              <a:t>References:</a:t>
            </a:r>
            <a:endParaRPr lang="en-US" altLang="ja-JP" dirty="0"/>
          </a:p>
          <a:p>
            <a:pPr marL="342900" lvl="0" indent="-342900">
              <a:buFont typeface="Arial" panose="020B0604020202020204" pitchFamily="34" charset="0"/>
              <a:buChar char="•"/>
            </a:pPr>
            <a:r>
              <a:rPr lang="ja-JP" altLang="ja-JP" dirty="0"/>
              <a:t>Optical comm.: Shi et al. 2023; Zhang et al. 2025</a:t>
            </a:r>
          </a:p>
          <a:p>
            <a:pPr marL="342900" lvl="0" indent="-342900">
              <a:buFont typeface="Arial" panose="020B0604020202020204" pitchFamily="34" charset="0"/>
              <a:buChar char="•"/>
            </a:pPr>
            <a:r>
              <a:rPr lang="ja-JP" altLang="ja-JP" dirty="0"/>
              <a:t>EO</a:t>
            </a:r>
            <a:r>
              <a:rPr lang="ja-JP" altLang="en-US" dirty="0"/>
              <a:t>/optics</a:t>
            </a:r>
            <a:r>
              <a:rPr lang="ja-JP" altLang="ja-JP" dirty="0"/>
              <a:t>: Li et al. 2025; Hu et al. 2022</a:t>
            </a:r>
            <a:r>
              <a:rPr lang="en-US" altLang="ja-JP" dirty="0"/>
              <a:t>; </a:t>
            </a:r>
            <a:r>
              <a:rPr lang="ja-JP" altLang="ja-JP" dirty="0"/>
              <a:t>Turella et al. 2019/2021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3" name="TextBox 2"/>
          <p:cNvSpPr txBox="1"/>
          <p:nvPr/>
        </p:nvSpPr>
        <p:spPr>
          <a:xfrm>
            <a:off x="1536192" y="1810512"/>
            <a:ext cx="14847141" cy="547842"/>
          </a:xfrm>
          <a:prstGeom prst="rect">
            <a:avLst/>
          </a:prstGeom>
          <a:noFill/>
        </p:spPr>
        <p:txBody>
          <a:bodyPr wrap="none" lIns="36576" tIns="27432" rIns="36576" bIns="27432" anchor="t">
            <a:spAutoFit/>
          </a:bodyPr>
          <a:lstStyle/>
          <a:p>
            <a:r>
              <a:rPr lang="ja-JP" altLang="en-US" sz="3200" b="1" dirty="0"/>
              <a:t>Research overview: from thermoelastic truth generation and model construction to evaluation</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6</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Orbit / attitude
heat &amp; coating</a:t>
            </a:r>
          </a:p>
        </p:txBody>
      </p: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840"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Thermal Desktop
temperature</a:t>
            </a: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4128" y="3172968"/>
            <a:ext cx="3297935" cy="1014984"/>
          </a:xfrm>
          <a:prstGeom prst="rect">
            <a:avLst/>
          </a:prstGeom>
          <a:noFill/>
        </p:spPr>
        <p:txBody>
          <a:bodyPr wrap="none" lIns="36576" tIns="27432" rIns="36576" bIns="27432" anchor="ctr">
            <a:spAutoFit/>
          </a:bodyPr>
          <a:lstStyle/>
          <a:p>
            <a:pPr algn="ctr"/>
            <a:r>
              <a:rPr sz="2100" b="1" dirty="0">
                <a:solidFill>
                  <a:srgbClr val="FFFFFF"/>
                </a:solidFill>
                <a:latin typeface="Yu Gothic"/>
              </a:rPr>
              <a:t>Femap / Nastran
rotation</a:t>
            </a: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72415"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STT–LCT
thermal LOS</a:t>
            </a: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300703"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Reduced-order
model</a:t>
            </a: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2899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PAT
scan center</a:t>
            </a: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3305520" cy="486287"/>
          </a:xfrm>
          <a:prstGeom prst="rect">
            <a:avLst/>
          </a:prstGeom>
          <a:noFill/>
        </p:spPr>
        <p:txBody>
          <a:bodyPr wrap="none" lIns="36576" tIns="27432" rIns="36576" bIns="27432" anchor="t">
            <a:spAutoFit/>
          </a:bodyPr>
          <a:lstStyle/>
          <a:p>
            <a:r>
              <a:rPr lang="ja-JP" altLang="en-US" sz="2800" b="1" dirty="0"/>
              <a:t>Ground model development</a:t>
            </a:r>
            <a:endParaRPr sz="2700" b="1" dirty="0">
              <a:solidFill>
                <a:srgbClr val="082B52"/>
              </a:solidFill>
              <a:latin typeface="Yu Gothic"/>
            </a:endParaRPr>
          </a:p>
        </p:txBody>
      </p:sp>
      <p:sp>
        <p:nvSpPr>
          <p:cNvPr id="24" name="TextBox 23"/>
          <p:cNvSpPr txBox="1"/>
          <p:nvPr/>
        </p:nvSpPr>
        <p:spPr>
          <a:xfrm>
            <a:off x="1595336" y="8560343"/>
            <a:ext cx="12825513" cy="2123658"/>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lang="ja-JP" altLang="ja-JP" sz="2800" dirty="0"/>
              <a:t>Input orbit, attitude, and thermal environment</a:t>
            </a:r>
            <a:endParaRPr lang="en-US" altLang="ja-JP" sz="2800" dirty="0"/>
          </a:p>
          <a:p>
            <a:pPr>
              <a:spcAft>
                <a:spcPts val="800"/>
              </a:spcAft>
            </a:pPr>
            <a:r>
              <a:rPr lang="en-US" altLang="ja-JP" sz="2800" b="1" dirty="0">
                <a:solidFill>
                  <a:srgbClr val="1B74AA"/>
                </a:solidFill>
                <a:latin typeface="Yu Gothic"/>
              </a:rPr>
              <a:t>• </a:t>
            </a:r>
            <a:r>
              <a:rPr lang="ja-JP" altLang="ja-JP" sz="2800" dirty="0"/>
              <a:t>Compute temperature fields and thermoelastic deformation with TD/Femap</a:t>
            </a:r>
            <a:endParaRPr lang="en-US" altLang="ja-JP" sz="2800" dirty="0"/>
          </a:p>
          <a:p>
            <a:pPr>
              <a:spcAft>
                <a:spcPts val="800"/>
              </a:spcAft>
            </a:pPr>
            <a:r>
              <a:rPr lang="en-US" altLang="ja-JP" sz="2800" b="1" dirty="0">
                <a:solidFill>
                  <a:srgbClr val="1B74AA"/>
                </a:solidFill>
                <a:latin typeface="Yu Gothic"/>
              </a:rPr>
              <a:t>• </a:t>
            </a:r>
            <a:r>
              <a:rPr lang="ja-JP" altLang="ja-JP" sz="2800" dirty="0"/>
              <a:t>Generate reference STT–LCT relative-LOS time series</a:t>
            </a:r>
            <a:endParaRPr lang="en-US" altLang="ja-JP" sz="2800" dirty="0"/>
          </a:p>
          <a:p>
            <a:pPr>
              <a:spcAft>
                <a:spcPts val="800"/>
              </a:spcAft>
            </a:pPr>
            <a:r>
              <a:rPr lang="en-US" altLang="ja-JP" sz="2800" b="1" dirty="0">
                <a:solidFill>
                  <a:srgbClr val="1B74AA"/>
                </a:solidFill>
                <a:latin typeface="Yu Gothic"/>
              </a:rPr>
              <a:t>• </a:t>
            </a:r>
            <a:r>
              <a:rPr lang="ja-JP" altLang="ja-JP" sz="2800" dirty="0"/>
              <a:t>Train and evaluate the reduced-order model</a:t>
            </a:r>
            <a:endParaRPr sz="2600" dirty="0">
              <a:solidFill>
                <a:srgbClr val="232B34"/>
              </a:solidFill>
              <a:latin typeface="Yu Gothic"/>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ja-JP" altLang="en-US" sz="2700" b="1" dirty="0">
                <a:solidFill>
                  <a:srgbClr val="1B74AA"/>
                </a:solidFill>
                <a:latin typeface="Yu Gothic"/>
              </a:rPr>
              <a:t>On-orbit correction</a:t>
            </a:r>
            <a:endParaRPr sz="2700" b="1" dirty="0">
              <a:solidFill>
                <a:srgbClr val="1B74AA"/>
              </a:solidFill>
              <a:latin typeface="Yu Gothic"/>
            </a:endParaRPr>
          </a:p>
        </p:txBody>
      </p:sp>
      <p:sp>
        <p:nvSpPr>
          <p:cNvPr id="27" name="TextBox 26"/>
          <p:cNvSpPr txBox="1"/>
          <p:nvPr/>
        </p:nvSpPr>
        <p:spPr>
          <a:xfrm>
            <a:off x="17225771" y="8446043"/>
            <a:ext cx="5806441" cy="2503249"/>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sz="2600" dirty="0" err="1">
                <a:solidFill>
                  <a:srgbClr val="232B34"/>
                </a:solidFill>
                <a:latin typeface="Yu Gothic"/>
              </a:rPr>
              <a:t>Temperature / operating state</a:t>
            </a:r>
            <a:endParaRPr sz="2600" dirty="0">
              <a:solidFill>
                <a:srgbClr val="232B34"/>
              </a:solidFill>
              <a:latin typeface="Yu Gothic"/>
            </a:endParaRPr>
          </a:p>
          <a:p>
            <a:pPr>
              <a:spcAft>
                <a:spcPts val="800"/>
              </a:spcAft>
            </a:pPr>
            <a:r>
              <a:rPr sz="2600" b="1" dirty="0">
                <a:solidFill>
                  <a:srgbClr val="1B74AA"/>
                </a:solidFill>
                <a:latin typeface="Yu Gothic"/>
              </a:rPr>
              <a:t>• </a:t>
            </a:r>
            <a:r>
              <a:rPr lang="ja-JP" altLang="en-US" sz="2600" dirty="0">
                <a:solidFill>
                  <a:srgbClr val="232B34"/>
                </a:solidFill>
                <a:latin typeface="Yu Gothic"/>
              </a:rPr>
              <a:t>Predict thermal LOS</a:t>
            </a:r>
            <a:endParaRPr lang="en-US" altLang="ja-JP" sz="2600" dirty="0">
              <a:solidFill>
                <a:srgbClr val="232B34"/>
              </a:solidFill>
              <a:latin typeface="Yu Gothic"/>
            </a:endParaRPr>
          </a:p>
          <a:p>
            <a:pPr>
              <a:spcAft>
                <a:spcPts val="800"/>
              </a:spcAft>
            </a:pPr>
            <a:r>
              <a:rPr lang="en-US" altLang="ja-JP" sz="2600" b="1" dirty="0">
                <a:solidFill>
                  <a:srgbClr val="1B74AA"/>
                </a:solidFill>
                <a:latin typeface="Yu Gothic"/>
              </a:rPr>
              <a:t>• </a:t>
            </a:r>
            <a:r>
              <a:rPr lang="en-US" sz="2600" dirty="0">
                <a:solidFill>
                  <a:srgbClr val="232B34"/>
                </a:solidFill>
                <a:latin typeface="Yu Gothic"/>
              </a:rPr>
              <a:t>Correct the scan center</a:t>
            </a:r>
            <a:endParaRPr lang="en-US" altLang="ja-JP" sz="2600" dirty="0">
              <a:solidFill>
                <a:srgbClr val="232B34"/>
              </a:solidFill>
              <a:latin typeface="Yu Gothic"/>
            </a:endParaRPr>
          </a:p>
          <a:p>
            <a:pPr>
              <a:spcAft>
                <a:spcPts val="800"/>
              </a:spcAft>
            </a:pPr>
            <a:r>
              <a:rPr lang="en-US" altLang="ja-JP" sz="2600" dirty="0">
                <a:solidFill>
                  <a:srgbClr val="1B74AA"/>
                </a:solidFill>
                <a:latin typeface="Yu Gothic"/>
              </a:rPr>
              <a:t>• </a:t>
            </a:r>
            <a:r>
              <a:rPr lang="ja-JP" altLang="en-US" sz="2600" dirty="0">
                <a:solidFill>
                  <a:srgbClr val="232B34"/>
                </a:solidFill>
                <a:latin typeface="Yu Gothic"/>
              </a:rPr>
              <a:t>Include nonthermal errors</a:t>
            </a:r>
            <a:endParaRPr sz="2600" dirty="0">
              <a:solidFill>
                <a:srgbClr val="232B34"/>
              </a:solidFill>
              <a:latin typeface="Yu Gothic"/>
            </a:endParaRPr>
          </a:p>
          <a:p>
            <a:pPr>
              <a:spcAft>
                <a:spcPts val="800"/>
              </a:spcAft>
            </a:pPr>
            <a:r>
              <a:rPr sz="2600" b="1" dirty="0">
                <a:solidFill>
                  <a:srgbClr val="1B74AA"/>
                </a:solidFill>
                <a:latin typeface="Yu Gothic"/>
              </a:rPr>
              <a:t>• </a:t>
            </a:r>
            <a:r>
              <a:rPr sz="2600" dirty="0" err="1">
                <a:solidFill>
                  <a:srgbClr val="232B34"/>
                </a:solidFill>
                <a:latin typeface="Yu Gothic"/>
              </a:rPr>
              <a:t>Residual update</a:t>
            </a:r>
            <a:endParaRPr sz="2600" dirty="0">
              <a:solidFill>
                <a:srgbClr val="232B34"/>
              </a:solidFill>
              <a:latin typeface="Yu Gothic"/>
            </a:endParaRPr>
          </a:p>
        </p:txBody>
      </p:sp>
      <p:sp>
        <p:nvSpPr>
          <p:cNvPr id="28" name="TextBox 27"/>
          <p:cNvSpPr txBox="1"/>
          <p:nvPr/>
        </p:nvSpPr>
        <p:spPr>
          <a:xfrm>
            <a:off x="3052664" y="11835849"/>
            <a:ext cx="19931675" cy="1040285"/>
          </a:xfrm>
          <a:prstGeom prst="rect">
            <a:avLst/>
          </a:prstGeom>
          <a:noFill/>
        </p:spPr>
        <p:txBody>
          <a:bodyPr wrap="none" lIns="36576" tIns="27432" rIns="36576" bIns="27432" anchor="t">
            <a:spAutoFit/>
          </a:bodyPr>
          <a:lstStyle/>
          <a:p>
            <a:r>
              <a:rPr lang="en-US" altLang="ja-JP" sz="3200" b="1" dirty="0">
                <a:solidFill>
                  <a:srgbClr val="1B74AA"/>
                </a:solidFill>
                <a:latin typeface="Yu Gothic"/>
              </a:rPr>
              <a:t>• </a:t>
            </a:r>
            <a:r>
              <a:rPr lang="ja-JP" altLang="ja-JP" sz="3200" b="1" dirty="0"/>
              <a:t>TD/Femap runs only on the ground; only the reduced-order model runs onboard</a:t>
            </a:r>
            <a:endParaRPr lang="en-US" altLang="ja-JP" sz="3200" b="1" dirty="0"/>
          </a:p>
          <a:p>
            <a:r>
              <a:rPr lang="en-US" altLang="ja-JP" sz="3200" b="1" dirty="0">
                <a:solidFill>
                  <a:srgbClr val="1B74AA"/>
                </a:solidFill>
                <a:latin typeface="Yu Gothic"/>
              </a:rPr>
              <a:t>• </a:t>
            </a:r>
            <a:r>
              <a:rPr lang="ja-JP" altLang="en-US" sz="3200" b="1" dirty="0"/>
              <a:t>Evaluate LOS error, acquisition success, and acquisition time</a:t>
            </a:r>
            <a:endParaRPr lang="ja-JP" altLang="ja-JP" sz="3200" b="1" dirty="0"/>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𝑏</m:t>
                          </m:r>
                        </m:e>
                        <m:sub>
                          <m:r>
                            <a:rPr kumimoji="1" lang="en-US" altLang="ja-JP" sz="3200" b="0" i="1" smtClean="0">
                              <a:latin typeface="Cambria Math" panose="02040503050406030204" pitchFamily="18" charset="0"/>
                            </a:rPr>
                            <m:t>𝑐𝑎𝑠𝑒</m:t>
                          </m:r>
                        </m:sub>
                      </m:sSub>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 </m:t>
                      </m:r>
                    </m:oMath>
                  </m:oMathPara>
                </a14:m>
                <a:endParaRPr kumimoji="1" lang="en-US" altLang="ja-JP" sz="3200" b="0" i="1" dirty="0"/>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6"/>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ja-JP" altLang="en-US" sz="2800" dirty="0"/>
              <a:t>• Orbit</a:t>
            </a:r>
            <a:endParaRPr kumimoji="1" lang="en-US" altLang="ja-JP" sz="2800" dirty="0"/>
          </a:p>
          <a:p>
            <a:r>
              <a:rPr kumimoji="1" lang="ja-JP" altLang="en-US" sz="2800" dirty="0"/>
              <a:t>• Attitude</a:t>
            </a:r>
            <a:endParaRPr kumimoji="1" lang="en-US" altLang="ja-JP" sz="2800" dirty="0"/>
          </a:p>
          <a:p>
            <a:r>
              <a:rPr kumimoji="1" lang="ja-JP" altLang="en-US" sz="2800" dirty="0"/>
              <a:t>• Equipment layout</a:t>
            </a:r>
            <a:endParaRPr kumimoji="1" lang="en-US" altLang="ja-JP" sz="2800" dirty="0"/>
          </a:p>
          <a:p>
            <a:r>
              <a:rPr kumimoji="1" lang="ja-JP" altLang="en-US" sz="2800" dirty="0"/>
              <a:t>• Surface properties</a:t>
            </a:r>
            <a:endParaRPr kumimoji="1" lang="en-US" altLang="ja-JP" sz="2800" dirty="0"/>
          </a:p>
          <a:p>
            <a:r>
              <a:rPr kumimoji="1" lang="ja-JP" altLang="en-US" sz="2800" dirty="0"/>
              <a:t>• Dissipation</a:t>
            </a:r>
            <a:endParaRPr kumimoji="1" lang="en-US" altLang="ja-JP" sz="2800"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7"/>
                <a:stretch>
                  <a:fillRect/>
                </a:stretch>
              </a:blipFill>
            </p:spPr>
            <p:txBody>
              <a:bodyPr/>
              <a:lstStyle/>
              <a:p>
                <a:r>
                  <a:rPr lang="ja-JP" altLang="en-US">
                    <a:noFill/>
                  </a:rPr>
                  <a:t> </a:t>
                </a:r>
              </a:p>
            </p:txBody>
          </p:sp>
        </mc:Fallback>
      </mc:AlternateContent>
      <p:pic>
        <p:nvPicPr>
          <p:cNvPr id="30" name="図 29">
            <a:extLst>
              <a:ext uri="{FF2B5EF4-FFF2-40B4-BE49-F238E27FC236}">
                <a16:creationId xmlns:a16="http://schemas.microsoft.com/office/drawing/2014/main" id="{358AC5E1-7ED0-4F63-A640-E1FBA9092487}"/>
              </a:ext>
            </a:extLst>
          </p:cNvPr>
          <p:cNvPicPr>
            <a:picLocks noChangeAspect="1"/>
          </p:cNvPicPr>
          <p:nvPr/>
        </p:nvPicPr>
        <p:blipFill>
          <a:blip r:embed="rId8"/>
          <a:stretch>
            <a:fillRect/>
          </a:stretch>
        </p:blipFill>
        <p:spPr>
          <a:xfrm>
            <a:off x="12581954" y="4507858"/>
            <a:ext cx="2977135" cy="2518710"/>
          </a:xfrm>
          <a:prstGeom prst="rect">
            <a:avLst/>
          </a:prstGeom>
        </p:spPr>
      </p:pic>
      <p:cxnSp>
        <p:nvCxnSpPr>
          <p:cNvPr id="33" name="直線矢印コネクタ 32">
            <a:extLst>
              <a:ext uri="{FF2B5EF4-FFF2-40B4-BE49-F238E27FC236}">
                <a16:creationId xmlns:a16="http://schemas.microsoft.com/office/drawing/2014/main" id="{1DCE9196-C7D7-872B-D045-F82596F94B28}"/>
              </a:ext>
            </a:extLst>
          </p:cNvPr>
          <p:cNvCxnSpPr/>
          <p:nvPr/>
        </p:nvCxnSpPr>
        <p:spPr>
          <a:xfrm>
            <a:off x="4417662"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C3F539BC-335B-005F-652D-A5DDAFB3B955}"/>
              </a:ext>
            </a:extLst>
          </p:cNvPr>
          <p:cNvCxnSpPr/>
          <p:nvPr/>
        </p:nvCxnSpPr>
        <p:spPr>
          <a:xfrm>
            <a:off x="8251886"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8F083C85-1959-4396-1842-E99064584238}"/>
              </a:ext>
            </a:extLst>
          </p:cNvPr>
          <p:cNvCxnSpPr/>
          <p:nvPr/>
        </p:nvCxnSpPr>
        <p:spPr>
          <a:xfrm>
            <a:off x="12098948"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070BA75E-7B73-DCCF-5536-8984CC6E57C7}"/>
              </a:ext>
            </a:extLst>
          </p:cNvPr>
          <p:cNvCxnSpPr/>
          <p:nvPr/>
        </p:nvCxnSpPr>
        <p:spPr>
          <a:xfrm>
            <a:off x="15898367"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E1DEB9D1-AAC3-1A56-67DB-4238E795C90F}"/>
              </a:ext>
            </a:extLst>
          </p:cNvPr>
          <p:cNvCxnSpPr/>
          <p:nvPr/>
        </p:nvCxnSpPr>
        <p:spPr>
          <a:xfrm>
            <a:off x="19726655"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1">
            <a:extLst>
              <a:ext uri="{FF2B5EF4-FFF2-40B4-BE49-F238E27FC236}">
                <a16:creationId xmlns:a16="http://schemas.microsoft.com/office/drawing/2014/main" id="{38DB7F46-25D7-2099-9429-B3FBA207AC94}"/>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ja-JP" altLang="en-US" sz="2000" b="0" dirty="0">
                <a:solidFill>
                  <a:srgbClr val="666F79"/>
                </a:solidFill>
                <a:latin typeface="Yu Gothic"/>
                <a:ea typeface="Yu Gothic"/>
              </a:rPr>
              <a:t>Background</a:t>
            </a:r>
            <a:endParaRPr sz="2000" b="0" dirty="0">
              <a:solidFill>
                <a:srgbClr val="666F79"/>
              </a:solidFill>
              <a:latin typeface="Yu Gothic"/>
              <a:ea typeface="Yu Gothic"/>
            </a:endParaRPr>
          </a:p>
        </p:txBody>
      </p:sp>
    </p:spTree>
    <p:extLst>
      <p:ext uri="{BB962C8B-B14F-4D97-AF65-F5344CB8AC3E}">
        <p14:creationId xmlns:p14="http://schemas.microsoft.com/office/powerpoint/2010/main" val="34328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FDC0-C27B-B493-3C2D-059C292E58E3}"/>
            </a:ext>
          </a:extLst>
        </p:cNvPr>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02</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6" y="5721775"/>
            <a:ext cx="2189830"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Thermoelastic analysis</a:t>
            </a:r>
            <a:endParaRPr sz="3300" b="1" dirty="0">
              <a:solidFill>
                <a:srgbClr val="FFFFFF"/>
              </a:solidFill>
              <a:latin typeface="Yu Gothic"/>
            </a:endParaRPr>
          </a:p>
        </p:txBody>
      </p:sp>
    </p:spTree>
    <p:extLst>
      <p:ext uri="{BB962C8B-B14F-4D97-AF65-F5344CB8AC3E}">
        <p14:creationId xmlns:p14="http://schemas.microsoft.com/office/powerpoint/2010/main" val="1209510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Thermoelastic analysis</a:t>
            </a:r>
            <a:endParaRPr sz="2000" b="0" dirty="0">
              <a:solidFill>
                <a:srgbClr val="666F79"/>
              </a:solidFill>
              <a:latin typeface="Yu Gothic"/>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We evaluate a box-structure LEO spacecraft with the STT and LCT on different panels</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dirty="0">
                <a:solidFill>
                  <a:srgbClr val="666F79"/>
                </a:solidFill>
                <a:latin typeface="Yu Gothic"/>
                <a:ea typeface="Yu Gothic"/>
              </a:rPr>
              <a:t>7</a:t>
            </a:r>
            <a:endParaRPr sz="1800" b="0" dirty="0">
              <a:solidFill>
                <a:srgbClr val="666F79"/>
              </a:solidFill>
              <a:latin typeface="Yu Gothic"/>
              <a:ea typeface="Yu Gothic"/>
            </a:endParaRPr>
          </a:p>
        </p:txBody>
      </p:sp>
      <p:graphicFrame>
        <p:nvGraphicFramePr>
          <p:cNvPr id="12" name="Table 11"/>
          <p:cNvGraphicFramePr>
            <a:graphicFrameLocks noGrp="1"/>
          </p:cNvGraphicFramePr>
          <p:nvPr>
            <p:extLst>
              <p:ext uri="{D42A27DB-BD31-4B8C-83A1-F6EECF244321}">
                <p14:modId xmlns:p14="http://schemas.microsoft.com/office/powerpoint/2010/main" val="3032678763"/>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spcAft>
                          <a:spcPts val="0"/>
                        </a:spcAft>
                      </a:pPr>
                      <a:r>
                        <a:rPr sz="2300" b="1">
                          <a:solidFill>
                            <a:srgbClr val="FFFFFF"/>
                          </a:solidFill>
                          <a:latin typeface="Yu Gothic"/>
                          <a:ea typeface="Yu Gothic"/>
                        </a:rPr>
                        <a:t>Item</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Setting</a:t>
                      </a: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spcAft>
                          <a:spcPts val="0"/>
                        </a:spcAft>
                      </a:pPr>
                      <a:r>
                        <a:rPr sz="2300" b="0">
                          <a:solidFill>
                            <a:srgbClr val="232B34"/>
                          </a:solidFill>
                          <a:latin typeface="Yu Gothic"/>
                          <a:ea typeface="Yu Gothic"/>
                        </a:rPr>
                        <a:t>Bus dimensions</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spcAft>
                          <a:spcPts val="0"/>
                        </a:spcAft>
                      </a:pPr>
                      <a:r>
                        <a:rPr sz="2300" b="0">
                          <a:solidFill>
                            <a:srgbClr val="232B34"/>
                          </a:solidFill>
                          <a:latin typeface="Yu Gothic"/>
                          <a:ea typeface="Yu Gothic"/>
                        </a:rPr>
                        <a:t>Panels</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10-mm-thick shell elements</a:t>
                      </a: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spcAft>
                          <a:spcPts val="0"/>
                        </a:spcAft>
                      </a:pPr>
                      <a:r>
                        <a:rPr sz="2300" b="0">
                          <a:solidFill>
                            <a:srgbClr val="232B34"/>
                          </a:solidFill>
                          <a:latin typeface="Yu Gothic"/>
                          <a:ea typeface="Yu Gothic"/>
                        </a:rPr>
                        <a:t>Material</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A5052</a:t>
                      </a: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spcAft>
                          <a:spcPts val="0"/>
                        </a:spcAft>
                      </a:pPr>
                      <a:r>
                        <a:rPr sz="2300" b="0">
                          <a:solidFill>
                            <a:srgbClr val="232B34"/>
                          </a:solidFill>
                          <a:latin typeface="Yu Gothic"/>
                          <a:ea typeface="Yu Gothic"/>
                        </a:rPr>
                        <a:t>LCT</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Center of MZ panel</a:t>
                      </a: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spcAft>
                          <a:spcPts val="0"/>
                        </a:spcAft>
                      </a:pPr>
                      <a:r>
                        <a:rPr sz="2300" b="0">
                          <a:solidFill>
                            <a:srgbClr val="232B34"/>
                          </a:solidFill>
                          <a:latin typeface="Yu Gothic"/>
                          <a:ea typeface="Yu Gothic"/>
                        </a:rPr>
                        <a:t>STT</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Center of PZ panel</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6824960" y="11430000"/>
            <a:ext cx="6949440" cy="1371600"/>
          </a:xfrm>
          <a:prstGeom prst="rect">
            <a:avLst/>
          </a:prstGeom>
          <a:noFill/>
        </p:spPr>
        <p:txBody>
          <a:bodyPr wrap="square" lIns="36576" tIns="27432" rIns="36576" bIns="27432" anchor="t">
            <a:spAutoFit/>
          </a:bodyPr>
          <a:lstStyle/>
          <a:p>
            <a:pPr>
              <a:lnSpc>
                <a:spcPct val="115000"/>
              </a:lnSpc>
              <a:spcAft>
                <a:spcPts val="0"/>
              </a:spcAft>
            </a:pPr>
            <a:r>
              <a:rPr sz="2400" b="1">
                <a:solidFill>
                  <a:srgbClr val="082B52"/>
                </a:solidFill>
                <a:latin typeface="Yu Gothic"/>
                <a:ea typeface="Yu Gothic"/>
              </a:rPr>
              <a:t>Not a specific-spacecraft design review.</a:t>
            </a:r>
            <a:endParaRPr lang="en-US" altLang="ja-JP" sz="3200" b="1" dirty="0">
              <a:solidFill>
                <a:srgbClr val="082B52"/>
              </a:solidFill>
              <a:latin typeface="Yu Gothic"/>
            </a:endParaRPr>
          </a:p>
          <a:p>
            <a:pPr>
              <a:lnSpc>
                <a:spcPct val="115000"/>
              </a:lnSpc>
              <a:spcAft>
                <a:spcPts val="0"/>
              </a:spcAft>
            </a:pPr>
            <a:r>
              <a:rPr sz="2400" b="1">
                <a:solidFill>
                  <a:srgbClr val="082B52"/>
                </a:solidFill>
                <a:latin typeface="Yu Gothic"/>
                <a:ea typeface="Yu Gothic"/>
              </a:rPr>
              <a:t>Fixed structure; sun face and dissipation vary.</a:t>
            </a: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646962" y="3261360"/>
            <a:ext cx="1274516" cy="424732"/>
          </a:xfrm>
          <a:prstGeom prst="rect">
            <a:avLst/>
          </a:prstGeom>
          <a:noFill/>
        </p:spPr>
        <p:txBody>
          <a:bodyPr wrap="none" lIns="36576" tIns="27432" rIns="36576" bIns="27432" anchor="t">
            <a:spAutoFit/>
          </a:bodyPr>
          <a:lstStyle/>
          <a:p>
            <a:pPr algn="ctr"/>
            <a:r>
              <a:rPr sz="2400" b="1">
                <a:solidFill>
                  <a:srgbClr val="FF0000"/>
                </a:solidFill>
                <a:latin typeface="Yu Gothic"/>
              </a:rPr>
              <a:t>PZ: STT</a:t>
            </a:r>
          </a:p>
        </p:txBody>
      </p:sp>
      <p:sp>
        <p:nvSpPr>
          <p:cNvPr id="19" name="TextBox 7"/>
          <p:cNvSpPr txBox="1"/>
          <p:nvPr/>
        </p:nvSpPr>
        <p:spPr>
          <a:xfrm>
            <a:off x="2729050" y="10894945"/>
            <a:ext cx="1468479" cy="455509"/>
          </a:xfrm>
          <a:prstGeom prst="rect">
            <a:avLst/>
          </a:prstGeom>
          <a:noFill/>
        </p:spPr>
        <p:txBody>
          <a:bodyPr wrap="none" lIns="36576" tIns="27432" rIns="36576" bIns="27432" anchor="t">
            <a:spAutoFit/>
          </a:bodyPr>
          <a:lstStyle/>
          <a:p>
            <a:pPr algn="ctr"/>
            <a:r>
              <a:rPr sz="2600" b="1" dirty="0">
                <a:solidFill>
                  <a:srgbClr val="082B52"/>
                </a:solidFill>
                <a:latin typeface="Yu Gothic"/>
              </a:rPr>
              <a:t>MZ: LCT</a:t>
            </a:r>
          </a:p>
        </p:txBody>
      </p:sp>
      <p:sp>
        <p:nvSpPr>
          <p:cNvPr id="20" name="TextBox 8"/>
          <p:cNvSpPr txBox="1"/>
          <p:nvPr/>
        </p:nvSpPr>
        <p:spPr>
          <a:xfrm>
            <a:off x="3507104" y="5259118"/>
            <a:ext cx="2011680" cy="457200"/>
          </a:xfrm>
          <a:prstGeom prst="rect">
            <a:avLst/>
          </a:prstGeom>
          <a:noFill/>
        </p:spPr>
        <p:txBody>
          <a:bodyPr wrap="none" lIns="36576" tIns="27432" rIns="36576" bIns="27432" anchor="t">
            <a:spAutoFit/>
          </a:bodyPr>
          <a:lstStyle/>
          <a:p>
            <a:pPr algn="l"/>
            <a:r>
              <a:rPr sz="2200" b="1" dirty="0">
                <a:solidFill>
                  <a:srgbClr val="EC9427"/>
                </a:solidFill>
                <a:latin typeface="Yu Gothic"/>
              </a:rPr>
              <a:t>MY: PCDU</a:t>
            </a:r>
          </a:p>
        </p:txBody>
      </p:sp>
      <p:sp>
        <p:nvSpPr>
          <p:cNvPr id="21" name="TextBox 9"/>
          <p:cNvSpPr txBox="1"/>
          <p:nvPr/>
        </p:nvSpPr>
        <p:spPr>
          <a:xfrm>
            <a:off x="1929554" y="8298180"/>
            <a:ext cx="1434816" cy="393954"/>
          </a:xfrm>
          <a:prstGeom prst="rect">
            <a:avLst/>
          </a:prstGeom>
          <a:noFill/>
        </p:spPr>
        <p:txBody>
          <a:bodyPr wrap="none" lIns="36576" tIns="27432" rIns="36576" bIns="27432" anchor="t">
            <a:spAutoFit/>
          </a:bodyPr>
          <a:lstStyle/>
          <a:p>
            <a:pPr algn="l"/>
            <a:r>
              <a:rPr sz="2200" b="1" dirty="0">
                <a:solidFill>
                  <a:srgbClr val="EF25D7"/>
                </a:solidFill>
                <a:latin typeface="Yu Gothic"/>
              </a:rPr>
              <a:t>PY: PROP</a:t>
            </a: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892552"/>
          </a:xfrm>
          <a:prstGeom prst="rect">
            <a:avLst/>
          </a:prstGeom>
          <a:noFill/>
        </p:spPr>
        <p:txBody>
          <a:bodyPr wrap="square">
            <a:spAutoFit/>
          </a:bodyPr>
          <a:lstStyle/>
          <a:p>
            <a:pPr>
              <a:spcAft>
                <a:spcPts val="0"/>
              </a:spcAft>
            </a:pPr>
            <a:r>
              <a:rPr sz="2300" b="1">
                <a:solidFill>
                  <a:srgbClr val="232B34"/>
                </a:solidFill>
                <a:latin typeface="Yu Gothic"/>
                <a:ea typeface="Yu Gothic"/>
              </a:rPr>
              <a:t>LOS</a:t>
            </a:r>
          </a:p>
          <a:p>
            <a:pPr>
              <a:spcAft>
                <a:spcPts val="0"/>
              </a:spcAft>
            </a:pPr>
            <a:r>
              <a:rPr sz="2300" b="1">
                <a:solidFill>
                  <a:srgbClr val="232B34"/>
                </a:solidFill>
                <a:latin typeface="Yu Gothic"/>
                <a:ea typeface="Yu Gothic"/>
              </a:rPr>
              <a:t>Boresight ≈ −Z</a:t>
            </a:r>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t>Thermal Desktop</a:t>
            </a:r>
            <a:endParaRPr kumimoji="1" lang="ja-JP" altLang="en-US" sz="2800" dirty="0"/>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523220"/>
          </a:xfrm>
          <a:prstGeom prst="rect">
            <a:avLst/>
          </a:prstGeom>
          <a:noFill/>
        </p:spPr>
        <p:txBody>
          <a:bodyPr wrap="square" rtlCol="0">
            <a:spAutoFit/>
          </a:bodyPr>
          <a:lstStyle/>
          <a:p>
            <a:r>
              <a:rPr kumimoji="1" lang="en-US" altLang="ja-JP" sz="2800" dirty="0"/>
              <a:t>Femap</a:t>
            </a:r>
            <a:endParaRPr kumimoji="1" lang="ja-JP" altLang="en-US" sz="2800" dirty="0"/>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7410176" y="3154680"/>
            <a:ext cx="6364224"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Main analysis-model settings</a:t>
            </a:r>
            <a:endParaRPr kumimoji="1" lang="ja-JP" altLang="en-US" sz="2800" dirty="0"/>
          </a:p>
        </p:txBody>
      </p:sp>
    </p:spTree>
    <p:extLst>
      <p:ext uri="{BB962C8B-B14F-4D97-AF65-F5344CB8AC3E}">
        <p14:creationId xmlns:p14="http://schemas.microsoft.com/office/powerpoint/2010/main" val="23669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Thermoelastic analysis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Thermal Desktop generates temperature-field time series from orbit, attitude, surface, and dissipation inputs</a:t>
            </a:r>
            <a:endParaRPr lang="en-US" sz="3200" b="1" dirty="0">
              <a:solidFill>
                <a:srgbClr val="082B52"/>
              </a:solidFill>
              <a:latin typeface="Yu Gothic"/>
            </a:endParaRPr>
          </a:p>
        </p:txBody>
      </p:sp>
      <p:sp>
        <p:nvSpPr>
          <p:cNvPr id="4" name="TextBox 3"/>
          <p:cNvSpPr txBox="1"/>
          <p:nvPr/>
        </p:nvSpPr>
        <p:spPr>
          <a:xfrm>
            <a:off x="23463102" y="12819888"/>
            <a:ext cx="330348"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8</a:t>
            </a:r>
            <a:endParaRPr sz="1800" b="0" dirty="0">
              <a:solidFill>
                <a:srgbClr val="666F79"/>
              </a:solidFill>
              <a:latin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215911599"/>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spcAft>
                          <a:spcPts val="0"/>
                        </a:spcAft>
                      </a:pPr>
                      <a:r>
                        <a:rPr sz="2300" b="1">
                          <a:solidFill>
                            <a:srgbClr val="FFFFFF"/>
                          </a:solidFill>
                          <a:latin typeface="Yu Gothic"/>
                          <a:ea typeface="Yu Gothic"/>
                        </a:rPr>
                        <a:t>Input</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Setting</a:t>
                      </a: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spcAft>
                          <a:spcPts val="0"/>
                        </a:spcAft>
                      </a:pPr>
                      <a:r>
                        <a:rPr sz="2300" b="0">
                          <a:solidFill>
                            <a:srgbClr val="232B34"/>
                          </a:solidFill>
                          <a:latin typeface="Yu Gothic"/>
                          <a:ea typeface="Yu Gothic"/>
                        </a:rPr>
                        <a:t>Orbit</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Sun-synchronous, LTAN06 / 800 km / COLD</a:t>
                      </a: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spcAft>
                          <a:spcPts val="0"/>
                        </a:spcAft>
                      </a:pPr>
                      <a:r>
                        <a:rPr sz="2300" b="0">
                          <a:solidFill>
                            <a:srgbClr val="232B34"/>
                          </a:solidFill>
                          <a:latin typeface="Yu Gothic"/>
                          <a:ea typeface="Yu Gothic"/>
                        </a:rPr>
                        <a:t>Period</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≈6050 s (≈101 min)</a:t>
                      </a: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spcAft>
                          <a:spcPts val="0"/>
                        </a:spcAft>
                      </a:pPr>
                      <a:r>
                        <a:rPr sz="2300" b="0">
                          <a:solidFill>
                            <a:srgbClr val="232B34"/>
                          </a:solidFill>
                          <a:latin typeface="Yu Gothic"/>
                          <a:ea typeface="Yu Gothic"/>
                        </a:rPr>
                        <a:t>Analysis duration</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≈18,157 s (3 orbits)</a:t>
                      </a: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spcAft>
                          <a:spcPts val="0"/>
                        </a:spcAft>
                      </a:pPr>
                      <a:r>
                        <a:rPr sz="2300" b="0">
                          <a:solidFill>
                            <a:srgbClr val="232B34"/>
                          </a:solidFill>
                          <a:latin typeface="Yu Gothic"/>
                          <a:ea typeface="Yu Gothic"/>
                        </a:rPr>
                        <a:t>Sampling</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Every ≈60.5 s, 301 points</a:t>
                      </a: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spcAft>
                          <a:spcPts val="0"/>
                        </a:spcAft>
                      </a:pPr>
                      <a:r>
                        <a:rPr sz="2300" b="0">
                          <a:solidFill>
                            <a:srgbClr val="232B34"/>
                          </a:solidFill>
                          <a:latin typeface="Yu Gothic"/>
                          <a:ea typeface="Yu Gothic"/>
                        </a:rPr>
                        <a:t>Illumination</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Eclipse / continuous illumination</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spcAft>
                          <a:spcPts val="0"/>
                        </a:spcAft>
                      </a:pPr>
                      <a:r>
                        <a:rPr sz="2300" b="0">
                          <a:solidFill>
                            <a:srgbClr val="232B34"/>
                          </a:solidFill>
                          <a:latin typeface="Yu Gothic"/>
                          <a:ea typeface="Yu Gothic"/>
                        </a:rPr>
                        <a:t>Sun face</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spcAft>
                          <a:spcPts val="0"/>
                        </a:spcAft>
                      </a:pPr>
                      <a:r>
                        <a:rPr sz="2300" b="0">
                          <a:solidFill>
                            <a:srgbClr val="232B34"/>
                          </a:solidFill>
                          <a:latin typeface="Yu Gothic"/>
                          <a:ea typeface="Yu Gothic"/>
                        </a:rPr>
                        <a:t>Number of nodes</a:t>
                      </a:r>
                      <a:endParaRPr sz="2300" b="0" dirty="0">
                        <a:solidFill>
                          <a:srgbClr val="232B34"/>
                        </a:solidFill>
                        <a:latin typeface="Yu Gothic"/>
                      </a:endParaRPr>
                    </a:p>
                  </a:txBody>
                  <a:tcPr marL="64008" marR="64008" marT="27432" marB="27432" anchor="ctr">
                    <a:solidFill>
                      <a:schemeClr val="bg1"/>
                    </a:solidFill>
                  </a:tcPr>
                </a:tc>
                <a:tc>
                  <a:txBody>
                    <a:bodyPr/>
                    <a:lstStyle/>
                    <a:p>
                      <a:pPr algn="ctr">
                        <a:spcAft>
                          <a:spcPts val="0"/>
                        </a:spcAft>
                      </a:pPr>
                      <a:r>
                        <a:rPr sz="2300" b="0">
                          <a:solidFill>
                            <a:srgbClr val="232B34"/>
                          </a:solidFill>
                          <a:latin typeface="Yu Gothic"/>
                          <a:ea typeface="Yu Gothic"/>
                        </a:rPr>
                        <a:t>125</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30200" y="4065270"/>
            <a:ext cx="9601200" cy="548640"/>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Environmental conditions varied by case</a:t>
            </a:r>
          </a:p>
        </p:txBody>
      </p:sp>
      <p:sp>
        <p:nvSpPr>
          <p:cNvPr id="8" name="TextBox 7"/>
          <p:cNvSpPr txBox="1"/>
          <p:nvPr/>
        </p:nvSpPr>
        <p:spPr>
          <a:xfrm>
            <a:off x="13258800" y="5162550"/>
            <a:ext cx="9052560" cy="1497846"/>
          </a:xfrm>
          <a:prstGeom prst="rect">
            <a:avLst/>
          </a:prstGeom>
          <a:noFill/>
        </p:spPr>
        <p:txBody>
          <a:bodyPr wrap="square" lIns="27432" rIns="27432">
            <a:spAutoFit/>
          </a:bodyPr>
          <a:lstStyle/>
          <a:p>
            <a:pPr>
              <a:lnSpc>
                <a:spcPct val="110000"/>
              </a:lnSpc>
              <a:spcAft>
                <a:spcPts val="800"/>
              </a:spcAft>
            </a:pPr>
            <a:r>
              <a:rPr sz="2400" b="0">
                <a:solidFill>
                  <a:srgbClr val="232B34"/>
                </a:solidFill>
                <a:latin typeface="Yu Gothic"/>
                <a:ea typeface="Yu Gothic"/>
              </a:rPr>
              <a:t>• Internal-unit power: ON/OFF</a:t>
            </a:r>
            <a:endParaRPr sz="2600" dirty="0">
              <a:solidFill>
                <a:srgbClr val="232B34"/>
              </a:solidFill>
              <a:latin typeface="Yu Gothic"/>
            </a:endParaRPr>
          </a:p>
          <a:p>
            <a:pPr>
              <a:lnSpc>
                <a:spcPct val="110000"/>
              </a:lnSpc>
              <a:spcAft>
                <a:spcPts val="800"/>
              </a:spcAft>
            </a:pPr>
            <a:r>
              <a:rPr sz="2400" b="0">
                <a:solidFill>
                  <a:srgbClr val="232B34"/>
                </a:solidFill>
                <a:latin typeface="Yu Gothic"/>
                <a:ea typeface="Yu Gothic"/>
              </a:rPr>
              <a:t>• Surface: α = ε = 0.5 / Black / Alodine</a:t>
            </a:r>
          </a:p>
          <a:p>
            <a:pPr>
              <a:lnSpc>
                <a:spcPct val="110000"/>
              </a:lnSpc>
              <a:spcAft>
                <a:spcPts val="800"/>
              </a:spcAft>
            </a:pPr>
            <a:r>
              <a:rPr sz="2400" b="0">
                <a:solidFill>
                  <a:srgbClr val="232B34"/>
                </a:solidFill>
                <a:latin typeface="Yu Gothic"/>
                <a:ea typeface="Yu Gothic"/>
              </a:rPr>
              <a:t>• Orbit: LTAN18 / 693 km</a:t>
            </a: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1335024" y="3017520"/>
            <a:ext cx="1078992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Main thermal-analysis inputs</a:t>
            </a:r>
            <a:endParaRPr kumimoji="1" lang="ja-JP" altLang="en-US" sz="2800" dirty="0"/>
          </a:p>
        </p:txBody>
      </p:sp>
      <p:sp>
        <p:nvSpPr>
          <p:cNvPr id="16" name="TextBox 15"/>
          <p:cNvSpPr txBox="1"/>
          <p:nvPr/>
        </p:nvSpPr>
        <p:spPr>
          <a:xfrm>
            <a:off x="1335024" y="11978640"/>
            <a:ext cx="109728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Output: panel temperature field T(t), computed on the ground.</a:t>
            </a:r>
          </a:p>
        </p:txBody>
      </p:sp>
    </p:spTree>
    <p:extLst>
      <p:ext uri="{BB962C8B-B14F-4D97-AF65-F5344CB8AC3E}">
        <p14:creationId xmlns:p14="http://schemas.microsoft.com/office/powerpoint/2010/main" val="349018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Thermoelastic analysis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The temperature field is mapped into Femap to obtain STT and LCT translations and rotations</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9</a:t>
            </a:r>
            <a:endParaRPr sz="1800" b="0" dirty="0">
              <a:solidFill>
                <a:srgbClr val="666F79"/>
              </a:solidFill>
              <a:latin typeface="Yu Gothic"/>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104497403"/>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spcAft>
                          <a:spcPts val="0"/>
                        </a:spcAft>
                      </a:pPr>
                      <a:r>
                        <a:rPr sz="2200" b="1">
                          <a:solidFill>
                            <a:srgbClr val="FFFFFF"/>
                          </a:solidFill>
                          <a:latin typeface="Yu Gothic"/>
                          <a:ea typeface="Yu Gothic"/>
                        </a:rPr>
                        <a:t>Structural-analysis setting</a:t>
                      </a:r>
                    </a:p>
                  </a:txBody>
                  <a:tcPr marL="64008" marR="64008" marT="27432" marB="27432" anchor="ctr">
                    <a:solidFill>
                      <a:srgbClr val="082B52"/>
                    </a:solidFill>
                  </a:tcPr>
                </a:tc>
                <a:tc>
                  <a:txBody>
                    <a:bodyPr/>
                    <a:lstStyle/>
                    <a:p>
                      <a:pPr algn="ctr">
                        <a:spcAft>
                          <a:spcPts val="0"/>
                        </a:spcAft>
                      </a:pPr>
                      <a:r>
                        <a:rPr sz="2200" b="1">
                          <a:solidFill>
                            <a:srgbClr val="FFFFFF"/>
                          </a:solidFill>
                          <a:latin typeface="Yu Gothic"/>
                          <a:ea typeface="Yu Gothic"/>
                        </a:rPr>
                        <a:t>Value</a:t>
                      </a: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spcAft>
                          <a:spcPts val="0"/>
                        </a:spcAft>
                      </a:pPr>
                      <a:r>
                        <a:rPr sz="2200" b="0">
                          <a:solidFill>
                            <a:srgbClr val="232B34"/>
                          </a:solidFill>
                          <a:latin typeface="Yu Gothic"/>
                          <a:ea typeface="Yu Gothic"/>
                        </a:rPr>
                        <a:t>Material</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Aluminum A5052</a:t>
                      </a: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spcAft>
                          <a:spcPts val="0"/>
                        </a:spcAft>
                      </a:pPr>
                      <a:r>
                        <a:rPr sz="2200" b="0">
                          <a:solidFill>
                            <a:srgbClr val="232B34"/>
                          </a:solidFill>
                          <a:latin typeface="Yu Gothic"/>
                          <a:ea typeface="Yu Gothic"/>
                        </a:rPr>
                        <a:t>Young's modulus</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70.327 GPa</a:t>
                      </a: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spcAft>
                          <a:spcPts val="0"/>
                        </a:spcAft>
                      </a:pPr>
                      <a:r>
                        <a:rPr sz="2200" b="0">
                          <a:solidFill>
                            <a:srgbClr val="232B34"/>
                          </a:solidFill>
                          <a:latin typeface="Yu Gothic"/>
                          <a:ea typeface="Yu Gothic"/>
                        </a:rPr>
                        <a:t>Poisson's ratio</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0.33</a:t>
                      </a: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spcAft>
                          <a:spcPts val="0"/>
                        </a:spcAft>
                      </a:pPr>
                      <a:r>
                        <a:rPr sz="2200" b="0">
                          <a:solidFill>
                            <a:srgbClr val="232B34"/>
                          </a:solidFill>
                          <a:latin typeface="Yu Gothic"/>
                          <a:ea typeface="Yu Gothic"/>
                        </a:rPr>
                        <a:t>Coefficient of thermal expansion</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2.376×10⁻⁵ /K</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spcAft>
                          <a:spcPts val="0"/>
                        </a:spcAft>
                      </a:pPr>
                      <a:r>
                        <a:rPr sz="2200" b="0">
                          <a:solidFill>
                            <a:srgbClr val="232B34"/>
                          </a:solidFill>
                          <a:latin typeface="Yu Gothic"/>
                          <a:ea typeface="Yu Gothic"/>
                        </a:rPr>
                        <a:t>Density</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spcAft>
                          <a:spcPts val="0"/>
                        </a:spcAft>
                      </a:pPr>
                      <a:r>
                        <a:rPr sz="2200" b="0">
                          <a:solidFill>
                            <a:srgbClr val="232B34"/>
                          </a:solidFill>
                          <a:latin typeface="Yu Gothic"/>
                          <a:ea typeface="Yu Gothic"/>
                        </a:rPr>
                        <a:t>Reference temperature</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23.9 ℃</a:t>
                      </a: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spcAft>
                          <a:spcPts val="0"/>
                        </a:spcAft>
                      </a:pPr>
                      <a:r>
                        <a:rPr sz="2200" b="0">
                          <a:solidFill>
                            <a:srgbClr val="232B34"/>
                          </a:solidFill>
                          <a:latin typeface="Yu Gothic"/>
                          <a:ea typeface="Yu Gothic"/>
                        </a:rPr>
                        <a:t>Constraint</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Small region near the STT</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1197864" y="3273552"/>
            <a:ext cx="1088136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Main structural-analysis settings</a:t>
            </a:r>
            <a:endParaRPr kumimoji="1" lang="ja-JP" altLang="en-US" sz="2800" dirty="0"/>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584775"/>
          </a:xfrm>
          <a:prstGeom prst="rect">
            <a:avLst/>
          </a:prstGeom>
          <a:noFill/>
        </p:spPr>
        <p:txBody>
          <a:bodyPr wrap="square" rtlCol="0">
            <a:spAutoFit/>
          </a:bodyPr>
          <a:lstStyle/>
          <a:p>
            <a:pPr>
              <a:spcAft>
                <a:spcPts val="0"/>
              </a:spcAft>
            </a:pPr>
            <a:r>
              <a:rPr sz="2200" b="1">
                <a:solidFill>
                  <a:srgbClr val="1B74AA"/>
                </a:solidFill>
                <a:latin typeface="Yu Gothic"/>
                <a:ea typeface="Yu Gothic"/>
              </a:rPr>
              <a:t>Input T(t)</a:t>
            </a:r>
          </a:p>
        </p:txBody>
      </p:sp>
      <p:sp>
        <p:nvSpPr>
          <p:cNvPr id="22" name="TextBox 21"/>
          <p:cNvSpPr txBox="1"/>
          <p:nvPr/>
        </p:nvSpPr>
        <p:spPr>
          <a:xfrm>
            <a:off x="1197864" y="11887200"/>
            <a:ext cx="114300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Thermal Desktop and Femap generate training data on the ground.</a:t>
            </a:r>
          </a:p>
        </p:txBody>
      </p:sp>
    </p:spTree>
    <p:extLst>
      <p:ext uri="{BB962C8B-B14F-4D97-AF65-F5344CB8AC3E}">
        <p14:creationId xmlns:p14="http://schemas.microsoft.com/office/powerpoint/2010/main" val="408377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Thermoelastic analysis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For a far-field link, the relevant quantity is rotation of the LCT optical axis relative to the STT</a:t>
            </a:r>
            <a:endParaRPr lang="en-US"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10</a:t>
            </a:r>
            <a:endParaRPr sz="1800" b="0" dirty="0">
              <a:solidFill>
                <a:srgbClr val="666F79"/>
              </a:solidFill>
              <a:latin typeface="Yu Gothic"/>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0" y="3246120"/>
            <a:ext cx="6839712" cy="566928"/>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LOS-error definition</a:t>
            </a:r>
            <a:endParaRPr sz="2800" b="1" dirty="0">
              <a:solidFill>
                <a:srgbClr val="1B74AA"/>
              </a:solidFill>
              <a:latin typeface="Yu Gothic"/>
            </a:endParaRPr>
          </a:p>
        </p:txBody>
      </p:sp>
      <p:sp>
        <p:nvSpPr>
          <p:cNvPr id="9" name="TextBox 8"/>
          <p:cNvSpPr txBox="1"/>
          <p:nvPr/>
        </p:nvSpPr>
        <p:spPr>
          <a:xfrm>
            <a:off x="16001999" y="4297680"/>
            <a:ext cx="7040879" cy="2377440"/>
          </a:xfrm>
          <a:prstGeom prst="rect">
            <a:avLst/>
          </a:prstGeom>
          <a:noFill/>
        </p:spPr>
        <p:txBody>
          <a:bodyPr wrap="square" lIns="27432" rIns="27432">
            <a:spAutoFit/>
          </a:bodyPr>
          <a:lstStyle/>
          <a:p>
            <a:pPr>
              <a:lnSpc>
                <a:spcPct val="110000"/>
              </a:lnSpc>
              <a:spcAft>
                <a:spcPts val="800"/>
              </a:spcAft>
            </a:pPr>
            <a:r>
              <a:rPr sz="2200" b="0">
                <a:solidFill>
                  <a:srgbClr val="232B34"/>
                </a:solidFill>
                <a:latin typeface="Yu Gothic"/>
                <a:ea typeface="Yu Gothic"/>
              </a:rPr>
              <a:t>• LCT optical-axis rotation − STT reference rotation</a:t>
            </a:r>
            <a:endParaRPr lang="en-US" sz="2400" dirty="0">
              <a:solidFill>
                <a:srgbClr val="232B34"/>
              </a:solidFill>
              <a:latin typeface="Yu Gothic"/>
            </a:endParaRPr>
          </a:p>
          <a:p>
            <a:pPr>
              <a:lnSpc>
                <a:spcPct val="110000"/>
              </a:lnSpc>
              <a:spcAft>
                <a:spcPts val="800"/>
              </a:spcAft>
            </a:pPr>
            <a:r>
              <a:rPr sz="2200" b="0">
                <a:solidFill>
                  <a:srgbClr val="232B34"/>
                </a:solidFill>
                <a:latin typeface="Yu Gothic"/>
                <a:ea typeface="Yu Gothic"/>
              </a:rPr>
              <a:t>• STT thermal rotation is absorbed into attitude</a:t>
            </a:r>
          </a:p>
          <a:p>
            <a:pPr>
              <a:lnSpc>
                <a:spcPct val="110000"/>
              </a:lnSpc>
              <a:spcAft>
                <a:spcPts val="800"/>
              </a:spcAft>
            </a:pPr>
            <a:r>
              <a:rPr sz="2200" b="0">
                <a:solidFill>
                  <a:srgbClr val="232B34"/>
                </a:solidFill>
                <a:latin typeface="Yu Gothic"/>
                <a:ea typeface="Yu Gothic"/>
              </a:rPr>
              <a:t>• Directly gives far-field scan-center error</a:t>
            </a:r>
          </a:p>
          <a:p>
            <a:pPr>
              <a:lnSpc>
                <a:spcPct val="110000"/>
              </a:lnSpc>
              <a:spcAft>
                <a:spcPts val="800"/>
              </a:spcAft>
            </a:pPr>
            <a:r>
              <a:rPr sz="2200" b="0">
                <a:solidFill>
                  <a:srgbClr val="232B34"/>
                </a:solidFill>
                <a:latin typeface="Yu Gothic"/>
                <a:ea typeface="Yu Gothic"/>
              </a:rPr>
              <a:t>• Excludes translation-induced tilt</a:t>
            </a: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t>STT</a:t>
            </a:r>
            <a:endParaRPr kumimoji="1" lang="ja-JP" altLang="en-US" sz="3200" dirty="0"/>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t>LCT</a:t>
            </a:r>
            <a:endParaRPr kumimoji="1" lang="ja-JP" altLang="en-US" sz="3200" dirty="0"/>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097280" y="10607040"/>
            <a:ext cx="14081760" cy="1569660"/>
          </a:xfrm>
          <a:prstGeom prst="rect">
            <a:avLst/>
          </a:prstGeom>
          <a:noFill/>
        </p:spPr>
        <p:txBody>
          <a:bodyPr wrap="square">
            <a:spAutoFit/>
          </a:bodyPr>
          <a:lstStyle/>
          <a:p>
            <a:pPr>
              <a:spcAft>
                <a:spcPts val="0"/>
              </a:spcAft>
            </a:pPr>
            <a:r>
              <a:rPr sz="2900" b="1">
                <a:solidFill>
                  <a:srgbClr val="082B52"/>
                </a:solidFill>
                <a:latin typeface="Yu Gothic"/>
                <a:ea typeface="Yu Gothic"/>
              </a:rPr>
              <a:t>Far-field LOS error = STT-relative LCT optical-axis rotation, not translation</a:t>
            </a:r>
            <a:endParaRPr lang="en-US" altLang="ja-JP" sz="3200" b="1" dirty="0">
              <a:solidFill>
                <a:srgbClr val="082B52"/>
              </a:solidFill>
              <a:latin typeface="Yu Gothic"/>
            </a:endParaRPr>
          </a:p>
        </p:txBody>
      </p:sp>
      <mc:AlternateContent xmlns:mc="http://schemas.openxmlformats.org/markup-compatibility/2006" xmlns:a14="http://schemas.microsoft.com/office/drawing/2010/main">
        <mc:Choice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7034356"/>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Yu Gothic"/>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Yu Gothic"/>
                </a:endParaRPr>
              </a:p>
              <a:p>
                <a:pPr algn="ctr"/>
                <a:r>
                  <a:rPr lang="en-US" sz="3600" b="1" i="1" dirty="0">
                    <a:solidFill>
                      <a:srgbClr val="082B52"/>
                    </a:solidFill>
                    <a:latin typeface="Yu Gothic"/>
                  </a:rPr>
                  <a:t> </a:t>
                </a:r>
                <a:endParaRPr sz="3600" b="1" i="1" dirty="0">
                  <a:solidFill>
                    <a:srgbClr val="082B52"/>
                  </a:solidFill>
                  <a:latin typeface="Yu Gothic"/>
                </a:endParaRPr>
              </a:p>
            </p:txBody>
          </p:sp>
        </mc:Choice>
        <mc:Fallback xmlns="">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7034356"/>
                <a:ext cx="6833537" cy="1187761"/>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7976871"/>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Yu Gothic"/>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Yu Gothic"/>
                </a:endParaRPr>
              </a:p>
              <a:p>
                <a:pPr algn="ctr"/>
                <a:endParaRPr lang="en-US" altLang="ja-JP" sz="3200" b="1" i="1" dirty="0">
                  <a:solidFill>
                    <a:srgbClr val="082B52"/>
                  </a:solidFill>
                  <a:latin typeface="Yu Gothic"/>
                </a:endParaRPr>
              </a:p>
              <a:p>
                <a:pPr algn="ctr"/>
                <a:r>
                  <a:rPr lang="en-US" sz="3200" b="1" i="1" dirty="0">
                    <a:solidFill>
                      <a:srgbClr val="082B52"/>
                    </a:solidFill>
                    <a:latin typeface="Yu Gothic"/>
                  </a:rPr>
                  <a:t> </a:t>
                </a:r>
                <a:endParaRPr sz="3200" b="1" i="1" dirty="0">
                  <a:solidFill>
                    <a:srgbClr val="082B52"/>
                  </a:solidFill>
                  <a:latin typeface="Yu Gothic"/>
                </a:endParaRPr>
              </a:p>
            </p:txBody>
          </p:sp>
        </mc:Choice>
        <mc:Fallback xmlns="">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7976871"/>
                <a:ext cx="4259051" cy="1577804"/>
              </a:xfrm>
              <a:prstGeom prst="rect">
                <a:avLst/>
              </a:prstGeom>
              <a:blipFill>
                <a:blip r:embed="rId6"/>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DC33983D-AC0D-18DB-72E9-DF2EB746875E}"/>
              </a:ext>
            </a:extLst>
          </p:cNvPr>
          <p:cNvPicPr>
            <a:picLocks noChangeAspect="1"/>
          </p:cNvPicPr>
          <p:nvPr/>
        </p:nvPicPr>
        <p:blipFill>
          <a:blip r:embed="rId7"/>
          <a:stretch>
            <a:fillRect/>
          </a:stretch>
        </p:blipFill>
        <p:spPr>
          <a:xfrm>
            <a:off x="7916399" y="3441668"/>
            <a:ext cx="6803639" cy="6537732"/>
          </a:xfrm>
          <a:prstGeom prst="rect">
            <a:avLst/>
          </a:prstGeom>
        </p:spPr>
      </p:pic>
    </p:spTree>
    <p:extLst>
      <p:ext uri="{BB962C8B-B14F-4D97-AF65-F5344CB8AC3E}">
        <p14:creationId xmlns:p14="http://schemas.microsoft.com/office/powerpoint/2010/main" val="369185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Thermoelastic analysis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The structure and LOS definition are fixed; only sun face, dissipation, surface, and orbit vary</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1</a:t>
            </a:r>
            <a:endParaRPr sz="1800" b="0" dirty="0">
              <a:solidFill>
                <a:srgbClr val="666F79"/>
              </a:solidFill>
              <a:latin typeface="Yu Gothic"/>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051921897"/>
              </p:ext>
            </p:extLst>
          </p:nvPr>
        </p:nvGraphicFramePr>
        <p:xfrm>
          <a:off x="1097280" y="3665220"/>
          <a:ext cx="21945600" cy="5029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1005840">
                <a:tc>
                  <a:txBody>
                    <a:bodyPr/>
                    <a:lstStyle/>
                    <a:p>
                      <a:pPr algn="l">
                        <a:spcAft>
                          <a:spcPts val="0"/>
                        </a:spcAft>
                      </a:pPr>
                      <a:r>
                        <a:rPr sz="2300" b="1">
                          <a:solidFill>
                            <a:srgbClr val="FFFFFF"/>
                          </a:solidFill>
                          <a:latin typeface="Yu Gothic"/>
                          <a:ea typeface="Yu Gothic"/>
                        </a:rPr>
                        <a:t>Varied factor</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Cases</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Purpose</a:t>
                      </a:r>
                    </a:p>
                  </a:txBody>
                  <a:tcPr marL="64008" marR="64008" marT="27432" marB="27432" anchor="ctr">
                    <a:solidFill>
                      <a:srgbClr val="082B52"/>
                    </a:solidFill>
                  </a:tcPr>
                </a:tc>
                <a:extLst>
                  <a:ext uri="{0D108BD9-81ED-4DB2-BD59-A6C34878D82A}">
                    <a16:rowId xmlns:a16="http://schemas.microsoft.com/office/drawing/2014/main" val="10000"/>
                  </a:ext>
                </a:extLst>
              </a:tr>
              <a:tr h="1005840">
                <a:tc>
                  <a:txBody>
                    <a:bodyPr/>
                    <a:lstStyle/>
                    <a:p>
                      <a:pPr algn="l">
                        <a:spcAft>
                          <a:spcPts val="0"/>
                        </a:spcAft>
                      </a:pPr>
                      <a:r>
                        <a:rPr sz="2300" b="0">
                          <a:solidFill>
                            <a:srgbClr val="232B34"/>
                          </a:solidFill>
                          <a:latin typeface="Yu Gothic"/>
                          <a:ea typeface="Yu Gothic"/>
                        </a:rPr>
                        <a:t>Sun face</a:t>
                      </a:r>
                      <a:endParaRPr sz="2300" b="0" dirty="0">
                        <a:solidFill>
                          <a:srgbClr val="232B34"/>
                        </a:solidFill>
                        <a:latin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Dominant axis, sign, and magnitude</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1005840">
                <a:tc>
                  <a:txBody>
                    <a:bodyPr/>
                    <a:lstStyle/>
                    <a:p>
                      <a:pPr algn="l">
                        <a:spcAft>
                          <a:spcPts val="0"/>
                        </a:spcAft>
                      </a:pPr>
                      <a:r>
                        <a:rPr sz="2300" b="0">
                          <a:solidFill>
                            <a:srgbClr val="232B34"/>
                          </a:solidFill>
                          <a:latin typeface="Yu Gothic"/>
                          <a:ea typeface="Yu Gothic"/>
                        </a:rPr>
                        <a:t>Internal dissipation</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STT/LCT only / +PROP / +PCDU / all units (one half-power case)</a:t>
                      </a: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Variation in mean bias across cases</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05840">
                <a:tc>
                  <a:txBody>
                    <a:bodyPr/>
                    <a:lstStyle/>
                    <a:p>
                      <a:pPr algn="l">
                        <a:spcAft>
                          <a:spcPts val="0"/>
                        </a:spcAft>
                      </a:pPr>
                      <a:r>
                        <a:rPr sz="2300" b="0">
                          <a:solidFill>
                            <a:srgbClr val="232B34"/>
                          </a:solidFill>
                          <a:latin typeface="Yu Gothic"/>
                          <a:ea typeface="Yu Gothic"/>
                        </a:rPr>
                        <a:t>Surface properties</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Baseline (α = ε = 0.5) / Black / Alodine</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Variation amplitude and residual floor</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05840">
                <a:tc>
                  <a:txBody>
                    <a:bodyPr/>
                    <a:lstStyle/>
                    <a:p>
                      <a:pPr algn="l">
                        <a:spcAft>
                          <a:spcPts val="0"/>
                        </a:spcAft>
                      </a:pPr>
                      <a:r>
                        <a:rPr sz="2300" b="0">
                          <a:solidFill>
                            <a:srgbClr val="232B34"/>
                          </a:solidFill>
                          <a:latin typeface="Yu Gothic"/>
                          <a:ea typeface="Yu Gothic"/>
                        </a:rPr>
                        <a:t>Orbit / thermal environment</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Eclipse / continuous illumination; LTAN06 / LTAN18</a:t>
                      </a:r>
                      <a:endParaRPr sz="23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Applicability across thermal and orbit conditions</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1097280" y="11338560"/>
            <a:ext cx="21945600" cy="732508"/>
          </a:xfrm>
          <a:prstGeom prst="rect">
            <a:avLst/>
          </a:prstGeom>
          <a:noFill/>
        </p:spPr>
        <p:txBody>
          <a:bodyPr wrap="square" lIns="36576" tIns="27432" rIns="36576" bIns="27432" anchor="t">
            <a:spAutoFit/>
          </a:bodyPr>
          <a:lstStyle/>
          <a:p>
            <a:pPr>
              <a:spcAft>
                <a:spcPts val="0"/>
              </a:spcAft>
            </a:pPr>
            <a:r>
              <a:rPr sz="2200" b="0" dirty="0">
                <a:solidFill>
                  <a:srgbClr val="D03B46"/>
                </a:solidFill>
                <a:latin typeface="Yu Gothic"/>
                <a:ea typeface="Yu Gothic"/>
              </a:rPr>
              <a:t>PZ/MZ sun-face cases are not included;</a:t>
            </a:r>
            <a:endParaRPr lang="en-US" sz="2200" b="0" dirty="0">
              <a:solidFill>
                <a:srgbClr val="D03B46"/>
              </a:solidFill>
              <a:latin typeface="Yu Gothic"/>
              <a:ea typeface="Yu Gothic"/>
            </a:endParaRPr>
          </a:p>
          <a:p>
            <a:pPr>
              <a:spcAft>
                <a:spcPts val="0"/>
              </a:spcAft>
            </a:pPr>
            <a:r>
              <a:rPr sz="2200" b="0" dirty="0" err="1">
                <a:solidFill>
                  <a:srgbClr val="D03B46"/>
                </a:solidFill>
                <a:latin typeface="Yu Gothic"/>
                <a:ea typeface="Yu Gothic"/>
              </a:rPr>
              <a:t>they host the STT/LCT and are outside this model's scope.</a:t>
            </a:r>
            <a:endParaRPr sz="2600" b="1" dirty="0">
              <a:solidFill>
                <a:srgbClr val="D03B46"/>
              </a:solidFill>
              <a:latin typeface="Yu Gothic"/>
            </a:endParaRPr>
          </a:p>
        </p:txBody>
      </p:sp>
      <p:sp>
        <p:nvSpPr>
          <p:cNvPr id="9" name="テキスト ボックス 8">
            <a:extLst>
              <a:ext uri="{FF2B5EF4-FFF2-40B4-BE49-F238E27FC236}">
                <a16:creationId xmlns:a16="http://schemas.microsoft.com/office/drawing/2014/main" id="{E6ED6B3C-14BA-01A2-9F51-A8D5EC699EB3}"/>
              </a:ext>
            </a:extLst>
          </p:cNvPr>
          <p:cNvSpPr txBox="1"/>
          <p:nvPr/>
        </p:nvSpPr>
        <p:spPr>
          <a:xfrm>
            <a:off x="10195444" y="3134017"/>
            <a:ext cx="4720705" cy="523220"/>
          </a:xfrm>
          <a:prstGeom prst="rect">
            <a:avLst/>
          </a:prstGeom>
          <a:noFill/>
        </p:spPr>
        <p:txBody>
          <a:bodyPr wrap="square" rtlCol="0">
            <a:spAutoFit/>
          </a:bodyPr>
          <a:lstStyle/>
          <a:p>
            <a:r>
              <a:rPr kumimoji="1" lang="ja-JP" altLang="en-US" sz="2800" dirty="0"/>
              <a:t>Case parameters</a:t>
            </a:r>
          </a:p>
        </p:txBody>
      </p:sp>
      <p:sp>
        <p:nvSpPr>
          <p:cNvPr id="10" name="TextBox 9"/>
          <p:cNvSpPr txBox="1"/>
          <p:nvPr/>
        </p:nvSpPr>
        <p:spPr>
          <a:xfrm>
            <a:off x="1097280" y="9418320"/>
            <a:ext cx="21945600" cy="1395831"/>
          </a:xfrm>
          <a:prstGeom prst="rect">
            <a:avLst/>
          </a:prstGeom>
          <a:noFill/>
        </p:spPr>
        <p:txBody>
          <a:bodyPr wrap="square" lIns="45720" tIns="18288" rIns="45720" bIns="18288" anchor="t">
            <a:spAutoFit/>
          </a:bodyPr>
          <a:lstStyle/>
          <a:p>
            <a:pPr algn="l">
              <a:lnSpc>
                <a:spcPct val="120000"/>
              </a:lnSpc>
              <a:spcAft>
                <a:spcPts val="0"/>
              </a:spcAft>
            </a:pPr>
            <a:r>
              <a:rPr sz="2500" b="1" dirty="0" err="1">
                <a:solidFill>
                  <a:srgbClr val="082B52"/>
                </a:solidFill>
                <a:latin typeface="Yu Gothic"/>
                <a:ea typeface="Yu Gothic"/>
              </a:rPr>
              <a:t>Fixed parameters: structure and dimensions, STT/LCT placement, material, and LOS definition</a:t>
            </a:r>
            <a:endParaRPr sz="2500" b="1" dirty="0">
              <a:solidFill>
                <a:srgbClr val="082B52"/>
              </a:solidFill>
              <a:latin typeface="Yu Gothic"/>
              <a:ea typeface="Yu Gothic"/>
            </a:endParaRPr>
          </a:p>
          <a:p>
            <a:pPr algn="l">
              <a:lnSpc>
                <a:spcPct val="120000"/>
              </a:lnSpc>
              <a:spcAft>
                <a:spcPts val="0"/>
              </a:spcAft>
            </a:pPr>
            <a:r>
              <a:rPr lang="ja-JP" altLang="en-US" sz="2500" b="1" dirty="0">
                <a:solidFill>
                  <a:srgbClr val="082B52"/>
                </a:solidFill>
                <a:latin typeface="Yu Gothic"/>
                <a:ea typeface="Yu Gothic"/>
              </a:rPr>
              <a:t>Current analysis: 21 cases.</a:t>
            </a:r>
            <a:endParaRPr lang="en-US" sz="2500" b="1" dirty="0">
              <a:solidFill>
                <a:srgbClr val="082B52"/>
              </a:solidFill>
              <a:latin typeface="Yu Gothic"/>
              <a:ea typeface="Yu Gothic"/>
            </a:endParaRPr>
          </a:p>
          <a:p>
            <a:pPr algn="l">
              <a:lnSpc>
                <a:spcPct val="120000"/>
              </a:lnSpc>
              <a:spcAft>
                <a:spcPts val="0"/>
              </a:spcAft>
            </a:pPr>
            <a:r>
              <a:rPr lang="en-US" altLang="ja-JP" sz="2500" b="1" dirty="0">
                <a:solidFill>
                  <a:srgbClr val="082B52"/>
                </a:solidFill>
                <a:latin typeface="Yu Gothic"/>
                <a:ea typeface="Yu Gothic"/>
              </a:rPr>
              <a:t>Across-condition evaluation is limited to the same spacecraft bus; coefficients are not transferred unchanged to another structure.</a:t>
            </a:r>
            <a:endParaRPr sz="2500" b="1" dirty="0">
              <a:solidFill>
                <a:srgbClr val="082B52"/>
              </a:solidFill>
              <a:latin typeface="Yu Gothic"/>
              <a:ea typeface="Yu Gothic"/>
            </a:endParaRPr>
          </a:p>
        </p:txBody>
      </p:sp>
    </p:spTree>
    <p:extLst>
      <p:ext uri="{BB962C8B-B14F-4D97-AF65-F5344CB8AC3E}">
        <p14:creationId xmlns:p14="http://schemas.microsoft.com/office/powerpoint/2010/main" val="2385323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3" name="TextBox 2">
            <a:extLst>
              <a:ext uri="{FF2B5EF4-FFF2-40B4-BE49-F238E27FC236}">
                <a16:creationId xmlns:a16="http://schemas.microsoft.com/office/drawing/2014/main" id="{DF026E16-6558-6EEA-9100-74BFD8FDF688}"/>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lang="ja-JP" altLang="en-US" sz="3200" b="1" dirty="0">
                <a:solidFill>
                  <a:srgbClr val="082B52"/>
                </a:solidFill>
                <a:latin typeface="Yu Gothic"/>
                <a:ea typeface="Yu Gothic"/>
              </a:rPr>
              <a:t>Results: thermal LOS varies at the orbital period; the dominant axis and mean offset follow the sun face</a:t>
            </a:r>
            <a:endParaRPr lang="en-US" sz="3200" b="1" dirty="0">
              <a:solidFill>
                <a:srgbClr val="082B52"/>
              </a:solidFill>
              <a:latin typeface="Yu Gothic"/>
            </a:endParaRPr>
          </a:p>
        </p:txBody>
      </p:sp>
      <p:sp>
        <p:nvSpPr>
          <p:cNvPr id="15" name="TextBox 3">
            <a:extLst>
              <a:ext uri="{FF2B5EF4-FFF2-40B4-BE49-F238E27FC236}">
                <a16:creationId xmlns:a16="http://schemas.microsoft.com/office/drawing/2014/main" id="{3FDE0B2A-84AF-B318-D633-0F7FDE84BD98}"/>
              </a:ext>
            </a:extLst>
          </p:cNvPr>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2</a:t>
            </a:r>
            <a:endParaRPr sz="1800" b="0" dirty="0">
              <a:solidFill>
                <a:srgbClr val="666F79"/>
              </a:solidFill>
              <a:latin typeface="Yu Gothic"/>
              <a:ea typeface="Yu Gothic"/>
            </a:endParaRPr>
          </a:p>
        </p:txBody>
      </p:sp>
      <p:pic>
        <p:nvPicPr>
          <p:cNvPr id="17" name="Picture 7" descr="04_LTAN06_800km_1213COLD_MY_ALL_HEAT_MY_0p5_far_field_los_angle_budget.png">
            <a:extLst>
              <a:ext uri="{FF2B5EF4-FFF2-40B4-BE49-F238E27FC236}">
                <a16:creationId xmlns:a16="http://schemas.microsoft.com/office/drawing/2014/main" id="{EF6173D2-A246-1BCD-BC6A-F5B628313A3F}"/>
              </a:ext>
            </a:extLst>
          </p:cNvPr>
          <p:cNvPicPr>
            <a:picLocks noChangeAspect="1"/>
          </p:cNvPicPr>
          <p:nvPr/>
        </p:nvPicPr>
        <p:blipFill>
          <a:blip r:embed="rId3"/>
          <a:stretch>
            <a:fillRect/>
          </a:stretch>
        </p:blipFill>
        <p:spPr>
          <a:xfrm>
            <a:off x="1066619" y="2988426"/>
            <a:ext cx="11781048" cy="8568034"/>
          </a:xfrm>
          <a:prstGeom prst="rect">
            <a:avLst/>
          </a:prstGeom>
        </p:spPr>
      </p:pic>
      <p:sp>
        <p:nvSpPr>
          <p:cNvPr id="19" name="TextBox 8">
            <a:extLst>
              <a:ext uri="{FF2B5EF4-FFF2-40B4-BE49-F238E27FC236}">
                <a16:creationId xmlns:a16="http://schemas.microsoft.com/office/drawing/2014/main" id="{E5AE464D-DFE6-09C6-65DA-8D2CC851F626}"/>
              </a:ext>
            </a:extLst>
          </p:cNvPr>
          <p:cNvSpPr txBox="1"/>
          <p:nvPr/>
        </p:nvSpPr>
        <p:spPr>
          <a:xfrm>
            <a:off x="12847320" y="11475720"/>
            <a:ext cx="11045952" cy="411480"/>
          </a:xfrm>
          <a:prstGeom prst="rect">
            <a:avLst/>
          </a:prstGeom>
          <a:noFill/>
        </p:spPr>
        <p:txBody>
          <a:bodyPr wrap="square" lIns="36576" tIns="27432" rIns="36576" bIns="27432" anchor="t">
            <a:spAutoFit/>
          </a:bodyPr>
          <a:lstStyle/>
          <a:p>
            <a:pPr algn="ctr">
              <a:spcAft>
                <a:spcPts val="0"/>
              </a:spcAft>
            </a:pPr>
            <a:r>
              <a:rPr sz="2100" b="1">
                <a:solidFill>
                  <a:srgbClr val="1B74AA"/>
                </a:solidFill>
                <a:latin typeface="Yu Gothic"/>
                <a:ea typeface="Yu Gothic"/>
              </a:rPr>
              <a:t>Panel temperatures</a:t>
            </a:r>
          </a:p>
        </p:txBody>
      </p:sp>
      <p:sp>
        <p:nvSpPr>
          <p:cNvPr id="21" name="TextBox 9">
            <a:extLst>
              <a:ext uri="{FF2B5EF4-FFF2-40B4-BE49-F238E27FC236}">
                <a16:creationId xmlns:a16="http://schemas.microsoft.com/office/drawing/2014/main" id="{E830988C-07D9-F5B9-9874-7C1D60418F77}"/>
              </a:ext>
            </a:extLst>
          </p:cNvPr>
          <p:cNvSpPr txBox="1"/>
          <p:nvPr/>
        </p:nvSpPr>
        <p:spPr>
          <a:xfrm>
            <a:off x="1069848" y="11475720"/>
            <a:ext cx="11777472" cy="486287"/>
          </a:xfrm>
          <a:prstGeom prst="rect">
            <a:avLst/>
          </a:prstGeom>
          <a:noFill/>
        </p:spPr>
        <p:txBody>
          <a:bodyPr wrap="square" lIns="36576" tIns="27432" rIns="36576" bIns="27432" anchor="t">
            <a:spAutoFit/>
          </a:bodyPr>
          <a:lstStyle/>
          <a:p>
            <a:pPr algn="ctr">
              <a:spcAft>
                <a:spcPts val="0"/>
              </a:spcAft>
            </a:pPr>
            <a:r>
              <a:rPr sz="2100" b="1" dirty="0">
                <a:solidFill>
                  <a:srgbClr val="1B74AA"/>
                </a:solidFill>
                <a:latin typeface="Yu Gothic"/>
                <a:ea typeface="Yu Gothic"/>
              </a:rPr>
              <a:t>Case 04 (MY sun face): far-field LOS</a:t>
            </a:r>
          </a:p>
        </p:txBody>
      </p:sp>
      <p:pic>
        <p:nvPicPr>
          <p:cNvPr id="25" name="図 24">
            <a:extLst>
              <a:ext uri="{FF2B5EF4-FFF2-40B4-BE49-F238E27FC236}">
                <a16:creationId xmlns:a16="http://schemas.microsoft.com/office/drawing/2014/main" id="{5B2B2B61-04B6-BD30-69A8-D3793BED63C6}"/>
              </a:ext>
            </a:extLst>
          </p:cNvPr>
          <p:cNvPicPr>
            <a:picLocks noChangeAspect="1"/>
          </p:cNvPicPr>
          <p:nvPr/>
        </p:nvPicPr>
        <p:blipFill>
          <a:blip r:embed="rId4"/>
          <a:stretch>
            <a:fillRect/>
          </a:stretch>
        </p:blipFill>
        <p:spPr>
          <a:xfrm>
            <a:off x="12847667" y="3089848"/>
            <a:ext cx="11043623" cy="7696091"/>
          </a:xfrm>
          <a:prstGeom prst="rect">
            <a:avLst/>
          </a:prstGeom>
        </p:spPr>
      </p:pic>
      <p:sp>
        <p:nvSpPr>
          <p:cNvPr id="26" name="テキスト ボックス 25">
            <a:extLst>
              <a:ext uri="{FF2B5EF4-FFF2-40B4-BE49-F238E27FC236}">
                <a16:creationId xmlns:a16="http://schemas.microsoft.com/office/drawing/2014/main" id="{E19AF93F-1049-8626-F574-E8F86249A9BE}"/>
              </a:ext>
            </a:extLst>
          </p:cNvPr>
          <p:cNvSpPr txBox="1"/>
          <p:nvPr/>
        </p:nvSpPr>
        <p:spPr>
          <a:xfrm>
            <a:off x="1097280" y="11932920"/>
            <a:ext cx="22128480" cy="1539139"/>
          </a:xfrm>
          <a:prstGeom prst="rect">
            <a:avLst/>
          </a:prstGeom>
          <a:noFill/>
        </p:spPr>
        <p:txBody>
          <a:bodyPr wrap="square" rtlCol="0">
            <a:spAutoFit/>
          </a:bodyPr>
          <a:lstStyle/>
          <a:p>
            <a:pPr>
              <a:lnSpc>
                <a:spcPct val="105000"/>
              </a:lnSpc>
              <a:spcAft>
                <a:spcPts val="400"/>
              </a:spcAft>
            </a:pPr>
            <a:r>
              <a:rPr sz="2800" b="1" dirty="0">
                <a:solidFill>
                  <a:srgbClr val="D03B46"/>
                </a:solidFill>
                <a:latin typeface="Yu Gothic"/>
                <a:ea typeface="Yu Gothic"/>
              </a:rPr>
              <a:t>• </a:t>
            </a:r>
            <a:r>
              <a:rPr sz="2800" b="1" dirty="0" err="1">
                <a:solidFill>
                  <a:srgbClr val="D03B46"/>
                </a:solidFill>
                <a:latin typeface="Yu Gothic"/>
                <a:ea typeface="Yu Gothic"/>
              </a:rPr>
              <a:t>Orbital-period thermal LOS; dominant axis: MY/PY → y, MX/PX → x</a:t>
            </a:r>
            <a:endParaRPr lang="en-US" sz="2800" b="1" dirty="0">
              <a:solidFill>
                <a:srgbClr val="D03B46"/>
              </a:solidFill>
              <a:latin typeface="Yu Gothic"/>
              <a:ea typeface="Yu Gothic"/>
            </a:endParaRPr>
          </a:p>
          <a:p>
            <a:pPr>
              <a:lnSpc>
                <a:spcPct val="105000"/>
              </a:lnSpc>
              <a:spcAft>
                <a:spcPts val="400"/>
              </a:spcAft>
            </a:pPr>
            <a:r>
              <a:rPr lang="en-US" altLang="ja-JP" sz="2800" b="1" dirty="0">
                <a:solidFill>
                  <a:srgbClr val="D03B46"/>
                </a:solidFill>
                <a:latin typeface="Yu Gothic"/>
                <a:ea typeface="Yu Gothic"/>
              </a:rPr>
              <a:t>• </a:t>
            </a:r>
            <a:r>
              <a:rPr lang="ja-JP" altLang="en-US" sz="2800" b="1" dirty="0">
                <a:solidFill>
                  <a:srgbClr val="D03B46"/>
                </a:solidFill>
                <a:latin typeface="Yu Gothic"/>
                <a:ea typeface="Yu Gothic"/>
              </a:rPr>
              <a:t>Dominant-axis variation follows sun-facing–opposite-panel center ΔT</a:t>
            </a:r>
            <a:endParaRPr kumimoji="1" lang="en-US" altLang="ja-JP" sz="2800" b="1" dirty="0">
              <a:solidFill>
                <a:srgbClr val="FF0000"/>
              </a:solidFill>
            </a:endParaRPr>
          </a:p>
          <a:p>
            <a:pPr>
              <a:lnSpc>
                <a:spcPct val="105000"/>
              </a:lnSpc>
              <a:spcAft>
                <a:spcPts val="400"/>
              </a:spcAft>
            </a:pPr>
            <a:r>
              <a:rPr sz="2800" b="1" dirty="0">
                <a:solidFill>
                  <a:srgbClr val="D03B46"/>
                </a:solidFill>
                <a:latin typeface="Yu Gothic"/>
                <a:ea typeface="Yu Gothic"/>
              </a:rPr>
              <a:t>• Raw RMS: 150–1280 µrad; surface sets amplitude/floor, dissipation shifts the case mean</a:t>
            </a:r>
          </a:p>
        </p:txBody>
      </p:sp>
      <p:sp>
        <p:nvSpPr>
          <p:cNvPr id="3" name="TextBox 1">
            <a:extLst>
              <a:ext uri="{FF2B5EF4-FFF2-40B4-BE49-F238E27FC236}">
                <a16:creationId xmlns:a16="http://schemas.microsoft.com/office/drawing/2014/main" id="{EFF92B7E-D74D-E897-B84B-C149C90DF9CC}"/>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Thermoelastic analysis</a:t>
            </a:r>
            <a:endParaRPr sz="2000" b="0" dirty="0">
              <a:solidFill>
                <a:srgbClr val="666F79"/>
              </a:solidFill>
              <a:latin typeface="Yu Gothic"/>
              <a:ea typeface="Yu Gothic"/>
            </a:endParaRPr>
          </a:p>
        </p:txBody>
      </p:sp>
      <p:sp>
        <p:nvSpPr>
          <p:cNvPr id="4" name="テキスト ボックス 3">
            <a:extLst>
              <a:ext uri="{FF2B5EF4-FFF2-40B4-BE49-F238E27FC236}">
                <a16:creationId xmlns:a16="http://schemas.microsoft.com/office/drawing/2014/main" id="{21A999EB-6657-85F3-AAE5-DE1992702995}"/>
              </a:ext>
            </a:extLst>
          </p:cNvPr>
          <p:cNvSpPr txBox="1"/>
          <p:nvPr/>
        </p:nvSpPr>
        <p:spPr>
          <a:xfrm>
            <a:off x="491123" y="8500840"/>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
        <p:nvSpPr>
          <p:cNvPr id="8" name="テキスト ボックス 7">
            <a:extLst>
              <a:ext uri="{FF2B5EF4-FFF2-40B4-BE49-F238E27FC236}">
                <a16:creationId xmlns:a16="http://schemas.microsoft.com/office/drawing/2014/main" id="{BE04E9AC-A06E-0E2C-D324-6DBC4126B62F}"/>
              </a:ext>
            </a:extLst>
          </p:cNvPr>
          <p:cNvSpPr txBox="1"/>
          <p:nvPr/>
        </p:nvSpPr>
        <p:spPr>
          <a:xfrm>
            <a:off x="23315794" y="6383895"/>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Tree>
    <p:extLst>
      <p:ext uri="{BB962C8B-B14F-4D97-AF65-F5344CB8AC3E}">
        <p14:creationId xmlns:p14="http://schemas.microsoft.com/office/powerpoint/2010/main" val="1379133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03</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5" y="5806440"/>
            <a:ext cx="2189831"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Reduced-order model</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43F79B8D-4952-6D22-DF2C-D92288E556C1}"/>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48671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Reduced-order model</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3</a:t>
            </a:r>
            <a:endParaRPr sz="1800" b="0" dirty="0">
              <a:solidFill>
                <a:srgbClr val="666F79"/>
              </a:solidFill>
              <a:latin typeface="Yu Gothic"/>
              <a:ea typeface="Yu Gothic"/>
            </a:endParaRPr>
          </a:p>
        </p:txBody>
      </p:sp>
      <p:sp>
        <p:nvSpPr>
          <p:cNvPr id="5" name="Rounded Rectangle 4"/>
          <p:cNvSpPr/>
          <p:nvPr/>
        </p:nvSpPr>
        <p:spPr>
          <a:xfrm>
            <a:off x="1097280" y="2834640"/>
            <a:ext cx="7315200" cy="71323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68880" y="3200400"/>
            <a:ext cx="4572000" cy="470898"/>
          </a:xfrm>
          <a:prstGeom prst="rect">
            <a:avLst/>
          </a:prstGeom>
          <a:noFill/>
        </p:spPr>
        <p:txBody>
          <a:bodyPr wrap="square" lIns="36576" tIns="27432" rIns="36576" bIns="27432" anchor="t">
            <a:spAutoFit/>
          </a:bodyPr>
          <a:lstStyle/>
          <a:p>
            <a:pPr algn="ctr">
              <a:spcAft>
                <a:spcPts val="0"/>
              </a:spcAft>
            </a:pPr>
            <a:r>
              <a:rPr lang="ja-JP" altLang="en-US" sz="2700" b="1" dirty="0">
                <a:solidFill>
                  <a:srgbClr val="082B52"/>
                </a:solidFill>
                <a:latin typeface="Yu Gothic"/>
                <a:ea typeface="Yu Gothic"/>
              </a:rPr>
              <a:t>Model requirements</a:t>
            </a:r>
            <a:endParaRPr sz="2700" b="1" dirty="0">
              <a:solidFill>
                <a:srgbClr val="082B52"/>
              </a:solidFill>
              <a:latin typeface="Yu Gothic"/>
            </a:endParaRPr>
          </a:p>
        </p:txBody>
      </p:sp>
      <p:sp>
        <p:nvSpPr>
          <p:cNvPr id="7" name="TextBox 6"/>
          <p:cNvSpPr txBox="1"/>
          <p:nvPr/>
        </p:nvSpPr>
        <p:spPr>
          <a:xfrm>
            <a:off x="1645920" y="4251960"/>
            <a:ext cx="6217920" cy="2913618"/>
          </a:xfrm>
          <a:prstGeom prst="rect">
            <a:avLst/>
          </a:prstGeom>
          <a:noFill/>
        </p:spPr>
        <p:txBody>
          <a:bodyPr wrap="square" lIns="27432" rIns="27432">
            <a:spAutoFit/>
          </a:bodyPr>
          <a:lstStyle/>
          <a:p>
            <a:pPr>
              <a:lnSpc>
                <a:spcPct val="115000"/>
              </a:lnSpc>
              <a:spcAft>
                <a:spcPts val="3400"/>
              </a:spcAft>
            </a:pPr>
            <a:r>
              <a:rPr sz="2500" b="0">
                <a:solidFill>
                  <a:srgbClr val="232B34"/>
                </a:solidFill>
                <a:latin typeface="Yu Gothic"/>
                <a:ea typeface="Yu Gothic"/>
              </a:rPr>
              <a:t>• No onboard TD/Femap</a:t>
            </a:r>
            <a:endParaRPr sz="2500" dirty="0">
              <a:solidFill>
                <a:srgbClr val="232B34"/>
              </a:solidFill>
              <a:latin typeface="Yu Gothic"/>
            </a:endParaRPr>
          </a:p>
          <a:p>
            <a:pPr>
              <a:lnSpc>
                <a:spcPct val="115000"/>
              </a:lnSpc>
              <a:spcAft>
                <a:spcPts val="3400"/>
              </a:spcAft>
            </a:pPr>
            <a:r>
              <a:rPr sz="2500" b="0">
                <a:solidFill>
                  <a:srgbClr val="232B34"/>
                </a:solidFill>
                <a:latin typeface="Yu Gothic"/>
                <a:ea typeface="Yu Gothic"/>
              </a:rPr>
              <a:t>• Few temperatures and operating flags</a:t>
            </a:r>
          </a:p>
          <a:p>
            <a:pPr>
              <a:lnSpc>
                <a:spcPct val="115000"/>
              </a:lnSpc>
              <a:spcAft>
                <a:spcPts val="3400"/>
              </a:spcAft>
            </a:pPr>
            <a:r>
              <a:rPr sz="2500" b="0">
                <a:solidFill>
                  <a:srgbClr val="232B34"/>
                </a:solidFill>
                <a:latin typeface="Yu Gothic"/>
                <a:ea typeface="Yu Gothic"/>
              </a:rPr>
              <a:t>• Small, fixed coefficient set</a:t>
            </a:r>
          </a:p>
          <a:p>
            <a:pPr>
              <a:lnSpc>
                <a:spcPct val="115000"/>
              </a:lnSpc>
              <a:spcAft>
                <a:spcPts val="3400"/>
              </a:spcAft>
            </a:pPr>
            <a:r>
              <a:rPr sz="2500" b="0">
                <a:solidFill>
                  <a:srgbClr val="232B34"/>
                </a:solidFill>
                <a:latin typeface="Yu Gothic"/>
                <a:ea typeface="Yu Gothic"/>
              </a:rPr>
              <a:t>• Output: scan-center correction angle</a:t>
            </a:r>
          </a:p>
        </p:txBody>
      </p:sp>
      <p:graphicFrame>
        <p:nvGraphicFramePr>
          <p:cNvPr id="8" name="Table 7"/>
          <p:cNvGraphicFramePr>
            <a:graphicFrameLocks noGrp="1"/>
          </p:cNvGraphicFramePr>
          <p:nvPr>
            <p:extLst>
              <p:ext uri="{D42A27DB-BD31-4B8C-83A1-F6EECF244321}">
                <p14:modId xmlns:p14="http://schemas.microsoft.com/office/powerpoint/2010/main" val="1657133732"/>
              </p:ext>
            </p:extLst>
          </p:nvPr>
        </p:nvGraphicFramePr>
        <p:xfrm>
          <a:off x="9144000" y="2834640"/>
          <a:ext cx="13898880" cy="832104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1188720">
                <a:tc>
                  <a:txBody>
                    <a:bodyPr/>
                    <a:lstStyle/>
                    <a:p>
                      <a:pPr algn="l">
                        <a:spcAft>
                          <a:spcPts val="0"/>
                        </a:spcAft>
                      </a:pPr>
                      <a:r>
                        <a:rPr lang="ja-JP" altLang="en-US" sz="2300" b="1" dirty="0">
                          <a:solidFill>
                            <a:srgbClr val="FFFFFF"/>
                          </a:solidFill>
                          <a:latin typeface="Yu Gothic"/>
                          <a:ea typeface="Yu Gothic"/>
                        </a:rPr>
                        <a:t>Candidate model</a:t>
                      </a:r>
                      <a:endParaRPr sz="2300" b="1" dirty="0">
                        <a:solidFill>
                          <a:srgbClr val="FFFFFF"/>
                        </a:solidFill>
                        <a:latin typeface="Yu Gothic"/>
                        <a:ea typeface="Yu Gothic"/>
                      </a:endParaRP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Strengths / limitations</a:t>
                      </a:r>
                    </a:p>
                  </a:txBody>
                  <a:tcPr marL="64008" marR="64008" marT="27432" marB="27432"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300" b="0">
                          <a:solidFill>
                            <a:srgbClr val="232B34"/>
                          </a:solidFill>
                          <a:latin typeface="Yu Gothic"/>
                          <a:ea typeface="Yu Gothic"/>
                        </a:rPr>
                        <a:t>Constant bias</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Lightweight / cannot represent within-orbit variation</a:t>
                      </a:r>
                    </a:p>
                  </a:txBody>
                  <a:tcPr marL="64008" marR="64008" marT="27432" marB="27432" anchor="ctr">
                    <a:solidFill>
                      <a:srgbClr val="FFFFFF"/>
                    </a:solidFill>
                  </a:tcPr>
                </a:tc>
                <a:extLst>
                  <a:ext uri="{0D108BD9-81ED-4DB2-BD59-A6C34878D82A}">
                    <a16:rowId xmlns:a16="http://schemas.microsoft.com/office/drawing/2014/main" val="10001"/>
                  </a:ext>
                </a:extLst>
              </a:tr>
              <a:tr h="1188720">
                <a:tc>
                  <a:txBody>
                    <a:bodyPr/>
                    <a:lstStyle/>
                    <a:p>
                      <a:pPr algn="l">
                        <a:spcAft>
                          <a:spcPts val="0"/>
                        </a:spcAft>
                      </a:pPr>
                      <a:r>
                        <a:rPr sz="2300" b="0">
                          <a:solidFill>
                            <a:srgbClr val="232B34"/>
                          </a:solidFill>
                          <a:latin typeface="Yu Gothic"/>
                          <a:ea typeface="Yu Gothic"/>
                        </a:rPr>
                        <a:t>Fourier series in orbital phase</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Represents periodicity / must be rebuilt when orbit or conditions change</a:t>
                      </a:r>
                    </a:p>
                  </a:txBody>
                  <a:tcPr marL="64008" marR="64008" marT="27432" marB="27432" anchor="ctr">
                    <a:solidFill>
                      <a:srgbClr val="F4F6F8"/>
                    </a:solidFill>
                  </a:tcPr>
                </a:tc>
                <a:extLst>
                  <a:ext uri="{0D108BD9-81ED-4DB2-BD59-A6C34878D82A}">
                    <a16:rowId xmlns:a16="http://schemas.microsoft.com/office/drawing/2014/main" val="10002"/>
                  </a:ext>
                </a:extLst>
              </a:tr>
              <a:tr h="1188720">
                <a:tc>
                  <a:txBody>
                    <a:bodyPr/>
                    <a:lstStyle/>
                    <a:p>
                      <a:pPr algn="l">
                        <a:spcAft>
                          <a:spcPts val="0"/>
                        </a:spcAft>
                      </a:pPr>
                      <a:r>
                        <a:rPr sz="2300" b="0">
                          <a:solidFill>
                            <a:srgbClr val="232B34"/>
                          </a:solidFill>
                          <a:latin typeface="Yu Gothic"/>
                          <a:ea typeface="Yu Gothic"/>
                        </a:rPr>
                        <a:t>Multiple mounting-point temperatures</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Flexible / collinearity with ΔT destabilizes coefficients</a:t>
                      </a:r>
                    </a:p>
                  </a:txBody>
                  <a:tcPr marL="64008" marR="64008" marT="27432" marB="27432" anchor="ctr">
                    <a:solidFill>
                      <a:srgbClr val="FFFFFF"/>
                    </a:solidFill>
                  </a:tcPr>
                </a:tc>
                <a:extLst>
                  <a:ext uri="{0D108BD9-81ED-4DB2-BD59-A6C34878D82A}">
                    <a16:rowId xmlns:a16="http://schemas.microsoft.com/office/drawing/2014/main" val="10003"/>
                  </a:ext>
                </a:extLst>
              </a:tr>
              <a:tr h="1188720">
                <a:tc>
                  <a:txBody>
                    <a:bodyPr/>
                    <a:lstStyle/>
                    <a:p>
                      <a:pPr algn="l">
                        <a:spcAft>
                          <a:spcPts val="0"/>
                        </a:spcAft>
                      </a:pPr>
                      <a:r>
                        <a:rPr sz="2300" b="0">
                          <a:solidFill>
                            <a:srgbClr val="232B34"/>
                          </a:solidFill>
                          <a:latin typeface="Yu Gothic"/>
                          <a:ea typeface="Yu Gothic"/>
                        </a:rPr>
                        <a:t>Sun-face temperature T</a:t>
                      </a:r>
                    </a:p>
                  </a:txBody>
                  <a:tcPr marL="64008" marR="64008" marT="27432" marB="27432" anchor="ctr">
                    <a:solidFill>
                      <a:srgbClr val="EBF6FB"/>
                    </a:solidFill>
                  </a:tcPr>
                </a:tc>
                <a:tc>
                  <a:txBody>
                    <a:bodyPr/>
                    <a:lstStyle/>
                    <a:p>
                      <a:pPr algn="ctr">
                        <a:spcAft>
                          <a:spcPts val="0"/>
                        </a:spcAft>
                      </a:pPr>
                      <a:r>
                        <a:rPr sz="2300" b="0" dirty="0" err="1">
                          <a:solidFill>
                            <a:srgbClr val="232B34"/>
                          </a:solidFill>
                          <a:latin typeface="Yu Gothic"/>
                          <a:ea typeface="Yu Gothic"/>
                        </a:rPr>
                        <a:t>Physically interpretable / does not fully track variation</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10004"/>
                  </a:ext>
                </a:extLst>
              </a:tr>
              <a:tr h="1188720">
                <a:tc>
                  <a:txBody>
                    <a:bodyPr/>
                    <a:lstStyle/>
                    <a:p>
                      <a:pPr algn="l">
                        <a:spcAft>
                          <a:spcPts val="0"/>
                        </a:spcAft>
                      </a:pPr>
                      <a:r>
                        <a:rPr sz="2300" b="0">
                          <a:solidFill>
                            <a:srgbClr val="232B34"/>
                          </a:solidFill>
                          <a:latin typeface="Yu Gothic"/>
                          <a:ea typeface="Yu Gothic"/>
                        </a:rPr>
                        <a:t>Sun-face temperature difference ΔT</a:t>
                      </a:r>
                      <a:endParaRPr sz="2300" b="0" dirty="0">
                        <a:solidFill>
                          <a:srgbClr val="232B34"/>
                        </a:solidFill>
                        <a:latin typeface="Yu Gothic"/>
                      </a:endParaRP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Physically interpretable / cannot explain mean offsets across cases</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4282857465"/>
                  </a:ext>
                </a:extLst>
              </a:tr>
              <a:tr h="1188720">
                <a:tc>
                  <a:txBody>
                    <a:bodyPr/>
                    <a:lstStyle/>
                    <a:p>
                      <a:pPr algn="l">
                        <a:spcAft>
                          <a:spcPts val="0"/>
                        </a:spcAft>
                      </a:pPr>
                      <a:r>
                        <a:rPr sz="2300" b="1" dirty="0" err="1">
                          <a:solidFill>
                            <a:srgbClr val="232B34"/>
                          </a:solidFill>
                          <a:latin typeface="Yu Gothic"/>
                          <a:ea typeface="Yu Gothic"/>
                        </a:rPr>
                        <a:t>Hierarchical ΔT</a:t>
                      </a:r>
                    </a:p>
                  </a:txBody>
                  <a:tcPr marL="64008" marR="64008" marT="27432" marB="27432" anchor="ctr">
                    <a:solidFill>
                      <a:schemeClr val="accent6">
                        <a:lumMod val="20000"/>
                        <a:lumOff val="80000"/>
                      </a:schemeClr>
                    </a:solidFill>
                  </a:tcPr>
                </a:tc>
                <a:tc>
                  <a:txBody>
                    <a:bodyPr/>
                    <a:lstStyle/>
                    <a:p>
                      <a:pPr algn="ctr">
                        <a:spcAft>
                          <a:spcPts val="0"/>
                        </a:spcAft>
                      </a:pPr>
                      <a:r>
                        <a:rPr sz="2300" b="1" dirty="0" err="1">
                          <a:solidFill>
                            <a:srgbClr val="232B34"/>
                          </a:solidFill>
                          <a:latin typeface="Yu Gothic"/>
                          <a:ea typeface="Yu Gothic"/>
                        </a:rPr>
                        <a:t>Separates within-orbit variation from means across cases</a:t>
                      </a:r>
                      <a:endParaRPr sz="2300" b="1" dirty="0">
                        <a:solidFill>
                          <a:srgbClr val="232B34"/>
                        </a:solidFill>
                        <a:latin typeface="Yu Gothic"/>
                        <a:ea typeface="Yu Gothic"/>
                      </a:endParaRPr>
                    </a:p>
                  </a:txBody>
                  <a:tcPr marL="64008" marR="64008" marT="27432" marB="27432" anchor="ctr">
                    <a:solidFill>
                      <a:schemeClr val="accent6">
                        <a:lumMod val="20000"/>
                        <a:lumOff val="80000"/>
                      </a:schemeClr>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1536193" y="11862122"/>
            <a:ext cx="20877428" cy="978729"/>
          </a:xfrm>
          <a:prstGeom prst="rect">
            <a:avLst/>
          </a:prstGeom>
          <a:noFill/>
        </p:spPr>
        <p:txBody>
          <a:bodyPr wrap="square" lIns="36576" tIns="27432" rIns="36576" bIns="27432" anchor="t">
            <a:spAutoFit/>
          </a:bodyPr>
          <a:lstStyle/>
          <a:p>
            <a:pPr algn="ctr">
              <a:spcAft>
                <a:spcPts val="0"/>
              </a:spcAft>
            </a:pPr>
            <a:r>
              <a:rPr sz="3000" b="1" dirty="0">
                <a:solidFill>
                  <a:srgbClr val="082B52"/>
                </a:solidFill>
                <a:latin typeface="Yu Gothic"/>
                <a:ea typeface="Yu Gothic"/>
              </a:rPr>
              <a:t>→ Adopt a hierarchical model that separately predicts thermal-LOS variation from sun-face–opposite-panel ΔT</a:t>
            </a:r>
            <a:endParaRPr lang="en-US" sz="3000" b="1" dirty="0">
              <a:solidFill>
                <a:srgbClr val="082B52"/>
              </a:solidFill>
              <a:latin typeface="Yu Gothic"/>
              <a:ea typeface="Yu Gothic"/>
            </a:endParaRPr>
          </a:p>
          <a:p>
            <a:pPr algn="ctr">
              <a:spcAft>
                <a:spcPts val="0"/>
              </a:spcAft>
            </a:pPr>
            <a:r>
              <a:rPr sz="3000" b="1" dirty="0" err="1">
                <a:solidFill>
                  <a:srgbClr val="082B52"/>
                </a:solidFill>
                <a:latin typeface="Yu Gothic"/>
                <a:ea typeface="Yu Gothic"/>
              </a:rPr>
              <a:t>and thermal-LOS bias from the mean offset across cases</a:t>
            </a:r>
            <a:endParaRPr lang="ja-JP" altLang="ja-JP" sz="3200" dirty="0"/>
          </a:p>
        </p:txBody>
      </p:sp>
      <p:sp>
        <p:nvSpPr>
          <p:cNvPr id="12" name="TextBox 2">
            <a:extLst>
              <a:ext uri="{FF2B5EF4-FFF2-40B4-BE49-F238E27FC236}">
                <a16:creationId xmlns:a16="http://schemas.microsoft.com/office/drawing/2014/main" id="{0B50638C-A598-E0CC-394F-5BF42CDB1937}"/>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altLang="ja-JP" sz="3200" b="1" dirty="0">
              <a:solidFill>
                <a:srgbClr val="082B52"/>
              </a:solidFill>
              <a:latin typeface="Yu Gothic"/>
            </a:endParaRPr>
          </a:p>
          <a:p>
            <a:pPr algn="l">
              <a:spcAft>
                <a:spcPts val="0"/>
              </a:spcAft>
            </a:pPr>
            <a:r>
              <a:rPr lang="ja-JP" altLang="en-US" sz="3200" b="1" dirty="0">
                <a:solidFill>
                  <a:srgbClr val="082B52"/>
                </a:solidFill>
                <a:latin typeface="Yu Gothic"/>
              </a:rPr>
              <a:t>Reduced-order model selection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Reduced-order model</a:t>
            </a: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r>
              <a:rPr lang="ja-JP" altLang="en-US" sz="3200" b="1" dirty="0">
                <a:solidFill>
                  <a:srgbClr val="082B52"/>
                </a:solidFill>
                <a:latin typeface="Yu Gothic"/>
                <a:ea typeface="Yu Gothic"/>
              </a:rPr>
              <a:t>Onboard prediction separates time-varying and bias terms using ΔT and operating flags</a:t>
            </a:r>
            <a:endParaRPr lang="ja-JP" altLang="en-US" sz="3200" b="1" dirty="0">
              <a:solidFill>
                <a:srgbClr val="082B52"/>
              </a:solidFill>
              <a:latin typeface="Yu Gothic"/>
            </a:endParaRPr>
          </a:p>
        </p:txBody>
      </p:sp>
      <p:sp>
        <p:nvSpPr>
          <p:cNvPr id="4" name="TextBox 3">
            <a:extLst>
              <a:ext uri="{FF2B5EF4-FFF2-40B4-BE49-F238E27FC236}">
                <a16:creationId xmlns:a16="http://schemas.microsoft.com/office/drawing/2014/main" id="{53C37490-C33E-76CF-2AD2-84281E463F88}"/>
              </a:ext>
            </a:extLst>
          </p:cNvPr>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4</a:t>
            </a:r>
            <a:endParaRPr sz="1800" b="0" dirty="0">
              <a:solidFill>
                <a:srgbClr val="666F79"/>
              </a:solidFill>
              <a:latin typeface="Yu Gothic"/>
              <a:ea typeface="Yu Gothic"/>
            </a:endParaRPr>
          </a:p>
        </p:txBody>
      </p:sp>
      <p:sp>
        <p:nvSpPr>
          <p:cNvPr id="5" name="Rounded Rectangle 4">
            <a:extLst>
              <a:ext uri="{FF2B5EF4-FFF2-40B4-BE49-F238E27FC236}">
                <a16:creationId xmlns:a16="http://schemas.microsoft.com/office/drawing/2014/main" id="{2AE6B36D-D351-9081-078E-979D1A977FE8}"/>
              </a:ext>
            </a:extLst>
          </p:cNvPr>
          <p:cNvSpPr/>
          <p:nvPr/>
        </p:nvSpPr>
        <p:spPr>
          <a:xfrm>
            <a:off x="1280160" y="2880360"/>
            <a:ext cx="21762720" cy="246888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4E91D8-1988-F135-C79D-012F2C7E199F}"/>
                  </a:ext>
                </a:extLst>
              </p:cNvPr>
              <p:cNvSpPr txBox="1"/>
              <p:nvPr/>
            </p:nvSpPr>
            <p:spPr>
              <a:xfrm>
                <a:off x="5700017" y="5593080"/>
                <a:ext cx="13014460" cy="1039002"/>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0" dirty="0" smtClean="0">
                          <a:solidFill>
                            <a:srgbClr val="1B74AA"/>
                          </a:solidFill>
                          <a:latin typeface="Cambria Math" panose="02040503050406030204" pitchFamily="18" charset="0"/>
                        </a:rPr>
                        <m:t>𝚫</m:t>
                      </m:r>
                      <m:r>
                        <a:rPr lang="ja-JP" altLang="en-US" sz="3200" b="1" i="1" dirty="0" smtClean="0">
                          <a:solidFill>
                            <a:srgbClr val="1B74AA"/>
                          </a:solidFill>
                          <a:latin typeface="Cambria Math" panose="02040503050406030204" pitchFamily="18" charset="0"/>
                        </a:rPr>
                        <m:t>𝑻</m:t>
                      </m:r>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𝒔𝒖𝒏𝒇𝒂𝒄𝒆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𝒐𝒑𝒑𝒐𝒔𝒊𝒕𝒆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ja-JP" altLang="en-US" sz="3200" b="1" i="1" dirty="0">
                          <a:solidFill>
                            <a:srgbClr val="1B74AA"/>
                          </a:solidFill>
                          <a:latin typeface="Cambria Math" panose="02040503050406030204" pitchFamily="18" charset="0"/>
                        </a:rPr>
                        <m:t>: </m:t>
                      </m:r>
                      <m:r>
                        <a:rPr lang="ja-JP" altLang="en-US" sz="3200" b="1" i="1" dirty="0">
                          <a:solidFill>
                            <a:srgbClr val="1B74AA"/>
                          </a:solidFill>
                          <a:latin typeface="Cambria Math" panose="02040503050406030204" pitchFamily="18" charset="0"/>
                        </a:rPr>
                        <m:t>𝑠𝑢𝑛</m:t>
                      </m:r>
                      <m:r>
                        <a:rPr lang="ja-JP" altLang="en-US" sz="3200" b="1" i="1" dirty="0">
                          <a:solidFill>
                            <a:srgbClr val="1B74AA"/>
                          </a:solidFill>
                          <a:latin typeface="Cambria Math" panose="02040503050406030204" pitchFamily="18" charset="0"/>
                        </a:rPr>
                        <m:t> </m:t>
                      </m:r>
                      <m:r>
                        <a:rPr lang="ja-JP" altLang="en-US" sz="3200" b="1" i="1" dirty="0">
                          <a:solidFill>
                            <a:srgbClr val="1B74AA"/>
                          </a:solidFill>
                          <a:latin typeface="Cambria Math" panose="02040503050406030204" pitchFamily="18" charset="0"/>
                        </a:rPr>
                        <m:t>𝑓𝑎𝑐𝑒</m:t>
                      </m:r>
                      <m:r>
                        <a:rPr lang="ja-JP" altLang="en-US" sz="3200" b="1" i="1" dirty="0">
                          <a:solidFill>
                            <a:srgbClr val="1B74AA"/>
                          </a:solidFill>
                          <a:latin typeface="Cambria Math" panose="02040503050406030204" pitchFamily="18" charset="0"/>
                        </a:rPr>
                        <m:t> − </m:t>
                      </m:r>
                      <m:r>
                        <a:rPr lang="ja-JP" altLang="en-US" sz="3200" b="1" i="1" dirty="0">
                          <a:solidFill>
                            <a:srgbClr val="1B74AA"/>
                          </a:solidFill>
                          <a:latin typeface="Cambria Math" panose="02040503050406030204" pitchFamily="18" charset="0"/>
                        </a:rPr>
                        <m:t>𝑜𝑝𝑝𝑜𝑠𝑖𝑡𝑒</m:t>
                      </m:r>
                      <m:r>
                        <a:rPr lang="ja-JP" altLang="en-US" sz="3200" b="1" i="1" dirty="0">
                          <a:solidFill>
                            <a:srgbClr val="1B74AA"/>
                          </a:solidFill>
                          <a:latin typeface="Cambria Math" panose="02040503050406030204" pitchFamily="18" charset="0"/>
                        </a:rPr>
                        <m:t> </m:t>
                      </m:r>
                      <m:r>
                        <a:rPr lang="ja-JP" altLang="en-US" sz="3200" b="1" i="1" dirty="0">
                          <a:solidFill>
                            <a:srgbClr val="1B74AA"/>
                          </a:solidFill>
                          <a:latin typeface="Cambria Math" panose="02040503050406030204" pitchFamily="18" charset="0"/>
                        </a:rPr>
                        <m:t>𝑝𝑎𝑛𝑒𝑙</m:t>
                      </m:r>
                    </m:oMath>
                  </m:oMathPara>
                </a14:m>
                <a:endParaRPr lang="en-US" altLang="ja-JP" sz="3200" b="1" i="1" dirty="0">
                  <a:solidFill>
                    <a:srgbClr val="1B74AA"/>
                  </a:solidFill>
                  <a:latin typeface="Cambria Math" panose="02040503050406030204" pitchFamily="18" charset="0"/>
                </a:endParaRPr>
              </a:p>
              <a:p>
                <a:pPr algn="r"/>
                <a:r>
                  <a:rPr lang="en-US" altLang="ja-JP" sz="2800" b="1" dirty="0">
                    <a:solidFill>
                      <a:srgbClr val="1B74AA"/>
                    </a:solidFill>
                  </a:rPr>
                  <a:t>Assumption: onboard panel-center thermocouples</a:t>
                </a:r>
              </a:p>
            </p:txBody>
          </p:sp>
        </mc:Choice>
        <mc:Fallback xmlns="">
          <p:sp>
            <p:nvSpPr>
              <p:cNvPr id="7" name="TextBox 6">
                <a:extLst>
                  <a:ext uri="{FF2B5EF4-FFF2-40B4-BE49-F238E27FC236}">
                    <a16:creationId xmlns:a16="http://schemas.microsoft.com/office/drawing/2014/main" id="{084E91D8-1988-F135-C79D-012F2C7E199F}"/>
                  </a:ext>
                </a:extLst>
              </p:cNvPr>
              <p:cNvSpPr txBox="1">
                <a:spLocks noRot="1" noChangeAspect="1" noMove="1" noResize="1" noEditPoints="1" noAdjustHandles="1" noChangeArrowheads="1" noChangeShapeType="1" noTextEdit="1"/>
              </p:cNvSpPr>
              <p:nvPr/>
            </p:nvSpPr>
            <p:spPr>
              <a:xfrm>
                <a:off x="5700017" y="5593080"/>
                <a:ext cx="13014460" cy="1039002"/>
              </a:xfrm>
              <a:prstGeom prst="rect">
                <a:avLst/>
              </a:prstGeom>
              <a:blipFill>
                <a:blip r:embed="rId3"/>
                <a:stretch>
                  <a:fillRect b="-15294"/>
                </a:stretch>
              </a:blipFill>
            </p:spPr>
            <p:txBody>
              <a:bodyPr/>
              <a:lstStyle/>
              <a:p>
                <a:r>
                  <a:rPr lang="ja-JP" altLang="en-US">
                    <a:noFill/>
                  </a:rPr>
                  <a:t> </a:t>
                </a:r>
              </a:p>
            </p:txBody>
          </p:sp>
        </mc:Fallback>
      </mc:AlternateContent>
      <p:sp>
        <p:nvSpPr>
          <p:cNvPr id="8" name="Rounded Rectangle 7">
            <a:extLst>
              <a:ext uri="{FF2B5EF4-FFF2-40B4-BE49-F238E27FC236}">
                <a16:creationId xmlns:a16="http://schemas.microsoft.com/office/drawing/2014/main" id="{4BDC2FA1-7516-AF2E-394D-574ACF7DA736}"/>
              </a:ext>
            </a:extLst>
          </p:cNvPr>
          <p:cNvSpPr/>
          <p:nvPr/>
        </p:nvSpPr>
        <p:spPr>
          <a:xfrm>
            <a:off x="8530590" y="8415528"/>
            <a:ext cx="6583680" cy="320040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563C52-2DD6-EEAB-89C3-C3793595F8A1}"/>
                  </a:ext>
                </a:extLst>
              </p:cNvPr>
              <p:cNvSpPr txBox="1"/>
              <p:nvPr/>
            </p:nvSpPr>
            <p:spPr>
              <a:xfrm>
                <a:off x="10903077" y="8827007"/>
                <a:ext cx="1838708" cy="661912"/>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1B74AA"/>
                              </a:solidFill>
                              <a:latin typeface="Cambria Math" panose="02040503050406030204" pitchFamily="18" charset="0"/>
                            </a:rPr>
                          </m:ctrlPr>
                        </m:sSubPr>
                        <m:e>
                          <m:r>
                            <a:rPr lang="en-US" sz="3600" b="1" i="1" dirty="0" smtClean="0">
                              <a:solidFill>
                                <a:srgbClr val="1B74AA"/>
                              </a:solidFill>
                              <a:latin typeface="Cambria Math" panose="02040503050406030204" pitchFamily="18" charset="0"/>
                            </a:rPr>
                            <m:t>𝒂</m:t>
                          </m:r>
                        </m:e>
                        <m:sub>
                          <m:r>
                            <a:rPr lang="en-US" sz="3600" b="1" i="1" dirty="0" err="1" smtClean="0">
                              <a:solidFill>
                                <a:srgbClr val="1B74AA"/>
                              </a:solidFill>
                              <a:latin typeface="Cambria Math" panose="02040503050406030204" pitchFamily="18" charset="0"/>
                            </a:rPr>
                            <m:t>𝒔𝒖𝒏𝒇𝒂𝒄</m:t>
                          </m:r>
                          <m:r>
                            <a:rPr lang="en-US" sz="3600" b="1" i="1" dirty="0" err="1">
                              <a:solidFill>
                                <a:srgbClr val="1B74AA"/>
                              </a:solidFill>
                              <a:latin typeface="Cambria Math" panose="02040503050406030204" pitchFamily="18" charset="0"/>
                            </a:rPr>
                            <m:t>𝒆</m:t>
                          </m:r>
                        </m:sub>
                      </m:sSub>
                    </m:oMath>
                  </m:oMathPara>
                </a14:m>
                <a:endParaRPr lang="en-US" sz="3600" b="1" i="1" dirty="0" err="1">
                  <a:solidFill>
                    <a:srgbClr val="1B74AA"/>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A7563C52-2DD6-EEAB-89C3-C3793595F8A1}"/>
                  </a:ext>
                </a:extLst>
              </p:cNvPr>
              <p:cNvSpPr txBox="1">
                <a:spLocks noRot="1" noChangeAspect="1" noMove="1" noResize="1" noEditPoints="1" noAdjustHandles="1" noChangeArrowheads="1" noChangeShapeType="1" noTextEdit="1"/>
              </p:cNvSpPr>
              <p:nvPr/>
            </p:nvSpPr>
            <p:spPr>
              <a:xfrm>
                <a:off x="10903077" y="8827007"/>
                <a:ext cx="1838708" cy="661912"/>
              </a:xfrm>
              <a:prstGeom prst="rect">
                <a:avLst/>
              </a:prstGeom>
              <a:blipFill>
                <a:blip r:embed="rId4"/>
                <a:stretch>
                  <a:fillRect/>
                </a:stretch>
              </a:blipFill>
            </p:spPr>
            <p:txBody>
              <a:bodyPr/>
              <a:lstStyle/>
              <a:p>
                <a:r>
                  <a:rPr lang="ja-JP" altLang="en-US">
                    <a:noFill/>
                  </a:rPr>
                  <a:t> </a:t>
                </a:r>
              </a:p>
            </p:txBody>
          </p:sp>
        </mc:Fallback>
      </mc:AlternateContent>
      <p:sp>
        <p:nvSpPr>
          <p:cNvPr id="10" name="TextBox 9">
            <a:extLst>
              <a:ext uri="{FF2B5EF4-FFF2-40B4-BE49-F238E27FC236}">
                <a16:creationId xmlns:a16="http://schemas.microsoft.com/office/drawing/2014/main" id="{6D94D195-5AC4-9EAF-E1D4-8CFD8D03EBBB}"/>
              </a:ext>
            </a:extLst>
          </p:cNvPr>
          <p:cNvSpPr txBox="1"/>
          <p:nvPr/>
        </p:nvSpPr>
        <p:spPr>
          <a:xfrm>
            <a:off x="9092451" y="9741408"/>
            <a:ext cx="5459957" cy="917174"/>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Sensitivity a(sun)</a:t>
            </a:r>
            <a:endParaRPr sz="2500" b="0" dirty="0">
              <a:solidFill>
                <a:srgbClr val="232B34"/>
              </a:solidFill>
              <a:latin typeface="Yu Gothic"/>
            </a:endParaRPr>
          </a:p>
          <a:p>
            <a:pPr algn="ctr">
              <a:lnSpc>
                <a:spcPct val="110000"/>
              </a:lnSpc>
              <a:spcAft>
                <a:spcPts val="400"/>
              </a:spcAft>
            </a:pPr>
            <a:r>
              <a:rPr sz="2400" b="0" dirty="0" err="1">
                <a:solidFill>
                  <a:srgbClr val="232B34"/>
                </a:solidFill>
                <a:latin typeface="Yu Gothic"/>
                <a:ea typeface="Yu Gothic"/>
              </a:rPr>
              <a:t>Shared by sun face</a:t>
            </a:r>
            <a:endParaRPr sz="2400" b="0" dirty="0">
              <a:solidFill>
                <a:srgbClr val="232B34"/>
              </a:solidFill>
              <a:latin typeface="Yu Gothic"/>
              <a:ea typeface="Yu Gothic"/>
            </a:endParaRPr>
          </a:p>
          <a:p>
            <a:pPr algn="ctr">
              <a:lnSpc>
                <a:spcPct val="110000"/>
              </a:lnSpc>
              <a:spcAft>
                <a:spcPts val="400"/>
              </a:spcAft>
            </a:pPr>
            <a:r>
              <a:rPr sz="2400" b="0" dirty="0">
                <a:solidFill>
                  <a:srgbClr val="232B34"/>
                </a:solidFill>
                <a:latin typeface="Yu Gothic"/>
                <a:ea typeface="Yu Gothic"/>
              </a:rPr>
              <a:t>+30.6, +28.6, −28.1, −28.7 µrad/K</a:t>
            </a:r>
          </a:p>
        </p:txBody>
      </p:sp>
      <p:sp>
        <p:nvSpPr>
          <p:cNvPr id="11" name="Rounded Rectangle 10">
            <a:extLst>
              <a:ext uri="{FF2B5EF4-FFF2-40B4-BE49-F238E27FC236}">
                <a16:creationId xmlns:a16="http://schemas.microsoft.com/office/drawing/2014/main" id="{99FF712A-A518-82E8-7D7C-FB6543EC27BC}"/>
              </a:ext>
            </a:extLst>
          </p:cNvPr>
          <p:cNvSpPr/>
          <p:nvPr/>
        </p:nvSpPr>
        <p:spPr>
          <a:xfrm>
            <a:off x="15475749" y="8415528"/>
            <a:ext cx="7357727" cy="320040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338C20-CC3D-53A2-DDD6-C3FA8C6CD90C}"/>
                  </a:ext>
                </a:extLst>
              </p:cNvPr>
              <p:cNvSpPr txBox="1"/>
              <p:nvPr/>
            </p:nvSpPr>
            <p:spPr>
              <a:xfrm>
                <a:off x="18625506" y="8827007"/>
                <a:ext cx="1207125"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3600" b="1" i="1" dirty="0" smtClean="0">
                              <a:solidFill>
                                <a:srgbClr val="EC9427"/>
                              </a:solidFill>
                              <a:latin typeface="Cambria Math" panose="02040503050406030204" pitchFamily="18" charset="0"/>
                            </a:rPr>
                          </m:ctrlPr>
                        </m:sSubPr>
                        <m:e>
                          <m:r>
                            <a:rPr lang="ja-JP" altLang="en-US" sz="3600" b="1" i="1" dirty="0" smtClean="0">
                              <a:solidFill>
                                <a:srgbClr val="EC9427"/>
                              </a:solidFill>
                              <a:latin typeface="Cambria Math" panose="02040503050406030204" pitchFamily="18" charset="0"/>
                            </a:rPr>
                            <m:t>𝒃</m:t>
                          </m:r>
                        </m:e>
                        <m:sub>
                          <m:r>
                            <a:rPr lang="ja-JP" altLang="en-US" sz="3600" b="1" i="1" dirty="0" err="1">
                              <a:solidFill>
                                <a:srgbClr val="EC9427"/>
                              </a:solidFill>
                              <a:latin typeface="Cambria Math" panose="02040503050406030204" pitchFamily="18" charset="0"/>
                            </a:rPr>
                            <m:t>𝒄𝒂𝒔𝒆</m:t>
                          </m:r>
                        </m:sub>
                      </m:sSub>
                    </m:oMath>
                  </m:oMathPara>
                </a14:m>
                <a:endParaRPr lang="en-US" altLang="ja-JP" sz="3600" b="1" i="1" dirty="0" err="1">
                  <a:solidFill>
                    <a:srgbClr val="EC9427"/>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10338C20-CC3D-53A2-DDD6-C3FA8C6CD90C}"/>
                  </a:ext>
                </a:extLst>
              </p:cNvPr>
              <p:cNvSpPr txBox="1">
                <a:spLocks noRot="1" noChangeAspect="1" noMove="1" noResize="1" noEditPoints="1" noAdjustHandles="1" noChangeArrowheads="1" noChangeShapeType="1" noTextEdit="1"/>
              </p:cNvSpPr>
              <p:nvPr/>
            </p:nvSpPr>
            <p:spPr>
              <a:xfrm>
                <a:off x="18625506" y="8827007"/>
                <a:ext cx="1207125" cy="609398"/>
              </a:xfrm>
              <a:prstGeom prst="rect">
                <a:avLst/>
              </a:prstGeom>
              <a:blipFill>
                <a:blip r:embed="rId5"/>
                <a:stretch>
                  <a:fillRect/>
                </a:stretch>
              </a:blipFill>
            </p:spPr>
            <p:txBody>
              <a:bodyPr/>
              <a:lstStyle/>
              <a:p>
                <a:r>
                  <a:rPr lang="ja-JP" altLang="en-US">
                    <a:noFill/>
                  </a:rPr>
                  <a:t> </a:t>
                </a:r>
              </a:p>
            </p:txBody>
          </p:sp>
        </mc:Fallback>
      </mc:AlternateContent>
      <p:sp>
        <p:nvSpPr>
          <p:cNvPr id="13" name="TextBox 12">
            <a:extLst>
              <a:ext uri="{FF2B5EF4-FFF2-40B4-BE49-F238E27FC236}">
                <a16:creationId xmlns:a16="http://schemas.microsoft.com/office/drawing/2014/main" id="{156C1A6A-C13A-DA49-FEA6-1393DCCF2BBD}"/>
              </a:ext>
            </a:extLst>
          </p:cNvPr>
          <p:cNvSpPr txBox="1"/>
          <p:nvPr/>
        </p:nvSpPr>
        <p:spPr>
          <a:xfrm>
            <a:off x="15780947" y="9741408"/>
            <a:ext cx="6896247" cy="1361976"/>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Case-dependent DC offset</a:t>
            </a:r>
            <a:endParaRPr lang="en-US" altLang="ja-JP" sz="2800" dirty="0"/>
          </a:p>
          <a:p>
            <a:pPr algn="ctr">
              <a:lnSpc>
                <a:spcPct val="110000"/>
              </a:lnSpc>
              <a:spcAft>
                <a:spcPts val="400"/>
              </a:spcAft>
            </a:pPr>
            <a:r>
              <a:rPr sz="2400" b="0" dirty="0" err="1">
                <a:solidFill>
                  <a:srgbClr val="232B34"/>
                </a:solidFill>
                <a:latin typeface="Yu Gothic"/>
                <a:ea typeface="Yu Gothic"/>
              </a:rPr>
              <a:t>From sun face and ON/OFF flags</a:t>
            </a:r>
            <a:endParaRPr sz="2400" b="0" dirty="0">
              <a:solidFill>
                <a:srgbClr val="232B34"/>
              </a:solidFill>
              <a:latin typeface="Yu Gothic"/>
              <a:ea typeface="Yu Gothic"/>
            </a:endParaRPr>
          </a:p>
          <a:p>
            <a:pPr algn="ctr">
              <a:lnSpc>
                <a:spcPct val="110000"/>
              </a:lnSpc>
              <a:spcAft>
                <a:spcPts val="400"/>
              </a:spcAft>
            </a:pPr>
            <a:r>
              <a:rPr lang="ja-JP" altLang="en-US" sz="2400" b="0" dirty="0">
                <a:solidFill>
                  <a:srgbClr val="232B34"/>
                </a:solidFill>
                <a:latin typeface="Yu Gothic"/>
                <a:ea typeface="Yu Gothic"/>
              </a:rPr>
              <a:t>Decomposed by the equation above</a:t>
            </a:r>
            <a:endParaRPr sz="2400" b="0" dirty="0">
              <a:solidFill>
                <a:srgbClr val="232B34"/>
              </a:solidFill>
              <a:latin typeface="Yu Gothic"/>
              <a:ea typeface="Yu Gothic"/>
            </a:endParaRPr>
          </a:p>
        </p:txBody>
      </p:sp>
      <p:sp>
        <p:nvSpPr>
          <p:cNvPr id="14" name="Rounded Rectangle 13">
            <a:extLst>
              <a:ext uri="{FF2B5EF4-FFF2-40B4-BE49-F238E27FC236}">
                <a16:creationId xmlns:a16="http://schemas.microsoft.com/office/drawing/2014/main" id="{095A4E42-AE1F-F8B8-A7C8-8D643A29AC71}"/>
              </a:ext>
            </a:extLst>
          </p:cNvPr>
          <p:cNvSpPr/>
          <p:nvPr/>
        </p:nvSpPr>
        <p:spPr>
          <a:xfrm>
            <a:off x="1585431" y="8374470"/>
            <a:ext cx="6583680" cy="320040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F5CEC31-2070-52D1-E5A1-354CA8687420}"/>
              </a:ext>
            </a:extLst>
          </p:cNvPr>
          <p:cNvSpPr txBox="1"/>
          <p:nvPr/>
        </p:nvSpPr>
        <p:spPr>
          <a:xfrm>
            <a:off x="1691640" y="8671560"/>
            <a:ext cx="6364224" cy="566928"/>
          </a:xfrm>
          <a:prstGeom prst="rect">
            <a:avLst/>
          </a:prstGeom>
          <a:noFill/>
        </p:spPr>
        <p:txBody>
          <a:bodyPr wrap="square" lIns="36576" tIns="27432" rIns="36576" bIns="27432" anchor="t">
            <a:spAutoFit/>
          </a:bodyPr>
          <a:lstStyle/>
          <a:p>
            <a:pPr algn="ctr">
              <a:spcAft>
                <a:spcPts val="0"/>
              </a:spcAft>
            </a:pPr>
            <a:r>
              <a:rPr sz="2600" b="1">
                <a:solidFill>
                  <a:srgbClr val="239571"/>
                </a:solidFill>
                <a:latin typeface="Yu Gothic"/>
                <a:ea typeface="Yu Gothic"/>
              </a:rPr>
              <a:t>Dominant-axis selection</a:t>
            </a:r>
          </a:p>
        </p:txBody>
      </p:sp>
      <p:sp>
        <p:nvSpPr>
          <p:cNvPr id="16" name="TextBox 15">
            <a:extLst>
              <a:ext uri="{FF2B5EF4-FFF2-40B4-BE49-F238E27FC236}">
                <a16:creationId xmlns:a16="http://schemas.microsoft.com/office/drawing/2014/main" id="{624DD618-4F56-C1E8-95A4-7C8FFA3DB2AB}"/>
              </a:ext>
            </a:extLst>
          </p:cNvPr>
          <p:cNvSpPr txBox="1"/>
          <p:nvPr/>
        </p:nvSpPr>
        <p:spPr>
          <a:xfrm>
            <a:off x="1691640" y="9448800"/>
            <a:ext cx="6364224" cy="1920240"/>
          </a:xfrm>
          <a:prstGeom prst="rect">
            <a:avLst/>
          </a:prstGeom>
          <a:noFill/>
        </p:spPr>
        <p:txBody>
          <a:bodyPr wrap="square" lIns="36576" tIns="27432" rIns="36576" bIns="27432" anchor="t">
            <a:spAutoFit/>
          </a:bodyPr>
          <a:lstStyle/>
          <a:p>
            <a:pPr algn="ctr">
              <a:lnSpc>
                <a:spcPct val="110000"/>
              </a:lnSpc>
              <a:spcAft>
                <a:spcPts val="200"/>
              </a:spcAft>
            </a:pPr>
            <a:r>
              <a:rPr sz="2100" b="0" dirty="0" err="1">
                <a:solidFill>
                  <a:srgbClr val="232B34"/>
                </a:solidFill>
                <a:latin typeface="Yu Gothic"/>
                <a:ea typeface="Yu Gothic"/>
              </a:rPr>
              <a:t>Prediction axis from sun face</a:t>
            </a:r>
            <a:endParaRPr sz="2500" b="0" dirty="0">
              <a:solidFill>
                <a:srgbClr val="232B34"/>
              </a:solidFill>
              <a:latin typeface="Yu Gothic"/>
            </a:endParaRPr>
          </a:p>
          <a:p>
            <a:pPr algn="ctr">
              <a:lnSpc>
                <a:spcPct val="110000"/>
              </a:lnSpc>
              <a:spcAft>
                <a:spcPts val="200"/>
              </a:spcAft>
            </a:pPr>
            <a:r>
              <a:rPr sz="2100" b="0" dirty="0">
                <a:solidFill>
                  <a:srgbClr val="232B34"/>
                </a:solidFill>
                <a:latin typeface="Yu Gothic"/>
                <a:ea typeface="Yu Gothic"/>
              </a:rPr>
              <a:t>MX/PX → x; MY/PY → y</a:t>
            </a:r>
          </a:p>
          <a:p>
            <a:pPr algn="ctr">
              <a:lnSpc>
                <a:spcPct val="110000"/>
              </a:lnSpc>
              <a:spcAft>
                <a:spcPts val="200"/>
              </a:spcAft>
            </a:pPr>
            <a:r>
              <a:rPr sz="2100" b="0" dirty="0" err="1">
                <a:solidFill>
                  <a:srgbClr val="232B34"/>
                </a:solidFill>
                <a:latin typeface="Yu Gothic"/>
                <a:ea typeface="Yu Gothic"/>
              </a:rPr>
              <a:t>Non-dominant axis: bias only</a:t>
            </a:r>
            <a:endParaRPr sz="2100" b="0" dirty="0">
              <a:solidFill>
                <a:srgbClr val="232B34"/>
              </a:solidFill>
              <a:latin typeface="Yu Gothic"/>
              <a:ea typeface="Yu Gothic"/>
            </a:endParaRPr>
          </a:p>
          <a:p>
            <a:pPr algn="ctr">
              <a:lnSpc>
                <a:spcPct val="110000"/>
              </a:lnSpc>
              <a:spcAft>
                <a:spcPts val="200"/>
              </a:spcAft>
            </a:pPr>
            <a:r>
              <a:rPr sz="2100" b="0" dirty="0">
                <a:solidFill>
                  <a:srgbClr val="232B34"/>
                </a:solidFill>
                <a:latin typeface="Yu Gothic"/>
                <a:ea typeface="Yu Gothic"/>
              </a:rPr>
              <a:t>MX/PX bias ≈ −600 µrad;</a:t>
            </a:r>
          </a:p>
          <a:p>
            <a:pPr algn="ctr">
              <a:lnSpc>
                <a:spcPct val="110000"/>
              </a:lnSpc>
              <a:spcAft>
                <a:spcPts val="200"/>
              </a:spcAft>
            </a:pPr>
            <a:r>
              <a:rPr sz="2100" b="0" dirty="0" err="1">
                <a:solidFill>
                  <a:srgbClr val="232B34"/>
                </a:solidFill>
                <a:latin typeface="Yu Gothic"/>
                <a:ea typeface="Yu Gothic"/>
              </a:rPr>
              <a:t>zeroing it degrades acquisition</a:t>
            </a:r>
            <a:endParaRPr sz="2100" b="0" dirty="0">
              <a:solidFill>
                <a:srgbClr val="232B34"/>
              </a:solidFill>
              <a:latin typeface="Yu Gothic"/>
              <a:ea typeface="Yu Gothic"/>
            </a:endParaRPr>
          </a:p>
        </p:txBody>
      </p:sp>
      <mc:AlternateContent xmlns:mc="http://schemas.openxmlformats.org/markup-compatibility/2006" xmlns:a14="http://schemas.microsoft.com/office/drawing/2010/main">
        <mc:Choice Requires="a14">
          <p:sp>
            <p:nvSpPr>
              <p:cNvPr id="20" name="TextBox 5">
                <a:extLst>
                  <a:ext uri="{FF2B5EF4-FFF2-40B4-BE49-F238E27FC236}">
                    <a16:creationId xmlns:a16="http://schemas.microsoft.com/office/drawing/2014/main" id="{03E6F5D4-430D-507D-6683-A2B6E9E55979}"/>
                  </a:ext>
                </a:extLst>
              </p:cNvPr>
              <p:cNvSpPr txBox="1"/>
              <p:nvPr/>
            </p:nvSpPr>
            <p:spPr>
              <a:xfrm>
                <a:off x="7654202" y="3741421"/>
                <a:ext cx="9197518"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400" b="1" i="1" dirty="0" smtClean="0">
                              <a:solidFill>
                                <a:srgbClr val="082B52"/>
                              </a:solidFill>
                              <a:latin typeface="Cambria Math" panose="02040503050406030204" pitchFamily="18" charset="0"/>
                            </a:rPr>
                          </m:ctrlPr>
                        </m:sSubPr>
                        <m:e>
                          <m:r>
                            <a:rPr lang="ja-JP" altLang="en-US" sz="4400" b="1" i="1" dirty="0" smtClean="0">
                              <a:solidFill>
                                <a:srgbClr val="082B52"/>
                              </a:solidFill>
                              <a:latin typeface="Cambria Math" panose="02040503050406030204" pitchFamily="18" charset="0"/>
                            </a:rPr>
                            <m:t>𝜽</m:t>
                          </m:r>
                        </m:e>
                        <m:sub>
                          <m:r>
                            <a:rPr lang="ja-JP" altLang="en-US" sz="4400" b="1" i="1" dirty="0" smtClean="0">
                              <a:solidFill>
                                <a:srgbClr val="082B52"/>
                              </a:solidFill>
                              <a:latin typeface="Cambria Math" panose="02040503050406030204" pitchFamily="18" charset="0"/>
                            </a:rPr>
                            <m:t>𝒅𝒐𝒎</m:t>
                          </m:r>
                        </m:sub>
                      </m:sSub>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a:solidFill>
                            <a:srgbClr val="082B52"/>
                          </a:solidFill>
                          <a:latin typeface="Cambria Math" panose="02040503050406030204" pitchFamily="18" charset="0"/>
                        </a:rPr>
                        <m:t>≈ </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𝒂</m:t>
                          </m:r>
                        </m:e>
                        <m:sub>
                          <m:r>
                            <a:rPr lang="ja-JP" altLang="en-US" sz="4400" b="1" i="1" dirty="0" err="1">
                              <a:solidFill>
                                <a:srgbClr val="082B52"/>
                              </a:solidFill>
                              <a:latin typeface="Cambria Math" panose="02040503050406030204" pitchFamily="18" charset="0"/>
                            </a:rPr>
                            <m:t>𝒔𝒖𝒏𝒇𝒂𝒄𝒆</m:t>
                          </m:r>
                        </m:sub>
                      </m:sSub>
                      <m:r>
                        <a:rPr lang="ja-JP" altLang="en-US" sz="4400" b="1" i="1" dirty="0">
                          <a:solidFill>
                            <a:srgbClr val="082B52"/>
                          </a:solidFill>
                          <a:latin typeface="Cambria Math" panose="02040503050406030204" pitchFamily="18" charset="0"/>
                        </a:rPr>
                        <m:t> </m:t>
                      </m:r>
                      <m:r>
                        <a:rPr lang="en-US" altLang="ja-JP" sz="4400" b="1" i="1" dirty="0">
                          <a:solidFill>
                            <a:srgbClr val="082B52"/>
                          </a:solidFill>
                          <a:latin typeface="Cambria Math" panose="02040503050406030204" pitchFamily="18" charset="0"/>
                        </a:rPr>
                        <m:t>· </m:t>
                      </m:r>
                      <m:r>
                        <a:rPr lang="ja-JP" altLang="en-US" sz="4400" b="1" i="0" dirty="0">
                          <a:solidFill>
                            <a:srgbClr val="082B52"/>
                          </a:solidFill>
                          <a:latin typeface="Cambria Math" panose="02040503050406030204" pitchFamily="18" charset="0"/>
                        </a:rPr>
                        <m:t>𝚫</m:t>
                      </m:r>
                      <m:r>
                        <a:rPr lang="ja-JP" altLang="en-US" sz="4400" b="1" i="1" dirty="0">
                          <a:solidFill>
                            <a:srgbClr val="082B52"/>
                          </a:solidFill>
                          <a:latin typeface="Cambria Math" panose="02040503050406030204" pitchFamily="18" charset="0"/>
                        </a:rPr>
                        <m:t>𝑻</m:t>
                      </m:r>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smtClean="0">
                          <a:solidFill>
                            <a:srgbClr val="082B52"/>
                          </a:solidFill>
                          <a:latin typeface="Cambria Math" panose="02040503050406030204" pitchFamily="18" charset="0"/>
                        </a:rPr>
                        <m:t>+</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𝒃</m:t>
                          </m:r>
                        </m:e>
                        <m:sub>
                          <m:r>
                            <a:rPr lang="ja-JP" altLang="en-US" sz="4400" b="1" i="1" dirty="0" err="1">
                              <a:solidFill>
                                <a:srgbClr val="082B52"/>
                              </a:solidFill>
                              <a:latin typeface="Cambria Math" panose="02040503050406030204" pitchFamily="18" charset="0"/>
                            </a:rPr>
                            <m:t>𝒄𝒂𝒔𝒆</m:t>
                          </m:r>
                        </m:sub>
                      </m:sSub>
                      <m:r>
                        <a:rPr lang="ja-JP" altLang="en-US" sz="4400" b="1" i="1" dirty="0">
                          <a:solidFill>
                            <a:srgbClr val="082B52"/>
                          </a:solidFill>
                          <a:latin typeface="Cambria Math" panose="02040503050406030204" pitchFamily="18" charset="0"/>
                        </a:rPr>
                        <m:t> </m:t>
                      </m:r>
                    </m:oMath>
                  </m:oMathPara>
                </a14:m>
                <a:endParaRPr dirty="0"/>
              </a:p>
            </p:txBody>
          </p:sp>
        </mc:Choice>
        <mc:Fallback xmlns="">
          <p:sp>
            <p:nvSpPr>
              <p:cNvPr id="20" name="TextBox 5">
                <a:extLst>
                  <a:ext uri="{FF2B5EF4-FFF2-40B4-BE49-F238E27FC236}">
                    <a16:creationId xmlns:a16="http://schemas.microsoft.com/office/drawing/2014/main" id="{03E6F5D4-430D-507D-6683-A2B6E9E55979}"/>
                  </a:ext>
                </a:extLst>
              </p:cNvPr>
              <p:cNvSpPr txBox="1">
                <a:spLocks noRot="1" noChangeAspect="1" noMove="1" noResize="1" noEditPoints="1" noAdjustHandles="1" noChangeArrowheads="1" noChangeShapeType="1" noTextEdit="1"/>
              </p:cNvSpPr>
              <p:nvPr/>
            </p:nvSpPr>
            <p:spPr>
              <a:xfrm>
                <a:off x="7654202" y="3741421"/>
                <a:ext cx="9197518" cy="796628"/>
              </a:xfrm>
              <a:prstGeom prst="rect">
                <a:avLst/>
              </a:prstGeom>
              <a:blipFill>
                <a:blip r:embed="rId6"/>
                <a:stretch>
                  <a:fillRect/>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82252EB3-5D48-3FDD-0ECE-F0B0AEE1F399}"/>
              </a:ext>
            </a:extLst>
          </p:cNvPr>
          <p:cNvSpPr txBox="1"/>
          <p:nvPr/>
        </p:nvSpPr>
        <p:spPr>
          <a:xfrm>
            <a:off x="6156961" y="12082492"/>
            <a:ext cx="12192000" cy="584775"/>
          </a:xfrm>
          <a:prstGeom prst="rect">
            <a:avLst/>
          </a:prstGeom>
          <a:noFill/>
        </p:spPr>
        <p:txBody>
          <a:bodyPr wrap="square">
            <a:spAutoFit/>
          </a:bodyPr>
          <a:lstStyle/>
          <a:p>
            <a:pPr algn="ctr">
              <a:spcAft>
                <a:spcPts val="0"/>
              </a:spcAft>
              <a:buNone/>
            </a:pPr>
            <a:r>
              <a:rPr sz="3000" b="1">
                <a:solidFill>
                  <a:srgbClr val="082B52"/>
                </a:solidFill>
                <a:latin typeface="Yu Gothic"/>
                <a:ea typeface="Yu Gothic"/>
              </a:rPr>
              <a:t>Panel ΔT: time variation · DC offset: cross-case differences</a:t>
            </a:r>
            <a:endParaRPr lang="ja-JP" altLang="ja-JP" sz="3200" dirty="0"/>
          </a:p>
        </p:txBody>
      </p:sp>
      <mc:AlternateContent xmlns:mc="http://schemas.openxmlformats.org/markup-compatibility/2006" xmlns:a14="http://schemas.microsoft.com/office/drawing/2010/main">
        <mc:Choice Requires="a14">
          <p:sp>
            <p:nvSpPr>
              <p:cNvPr id="6" name="TextBox 5"/>
              <p:cNvSpPr txBox="1"/>
              <p:nvPr/>
            </p:nvSpPr>
            <p:spPr>
              <a:xfrm>
                <a:off x="5955368" y="6693408"/>
                <a:ext cx="12412309"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err="1" smtClean="0">
                              <a:solidFill>
                                <a:srgbClr val="082B52"/>
                              </a:solidFill>
                              <a:latin typeface="Cambria Math" panose="02040503050406030204" pitchFamily="18" charset="0"/>
                            </a:rPr>
                            <m:t>𝒄𝒂𝒔𝒆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smtClean="0">
                              <a:solidFill>
                                <a:srgbClr val="082B52"/>
                              </a:solidFill>
                              <a:latin typeface="Cambria Math" panose="02040503050406030204" pitchFamily="18" charset="0"/>
                            </a:rPr>
                            <m:t>𝟎</m:t>
                          </m:r>
                          <m:r>
                            <a:rPr lang="en-US" sz="4400" b="1" i="1" dirty="0" smtClean="0">
                              <a:solidFill>
                                <a:srgbClr val="082B52"/>
                              </a:solidFill>
                              <a:latin typeface="Cambria Math" panose="02040503050406030204" pitchFamily="18" charset="0"/>
                            </a:rPr>
                            <m:t>,</m:t>
                          </m:r>
                          <m:r>
                            <a:rPr lang="en-US" sz="4400" b="1" i="1" dirty="0" smtClean="0">
                              <a:solidFill>
                                <a:srgbClr val="082B52"/>
                              </a:solidFill>
                              <a:latin typeface="Cambria Math" panose="02040503050406030204" pitchFamily="18" charset="0"/>
                            </a:rPr>
                            <m:t>𝒔𝒖𝒏𝒇𝒂𝒄𝒆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𝑷𝑹𝑶𝑷</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𝑷𝑹𝑶𝑷</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𝑷𝑪𝑫𝑼</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𝑷𝑪𝑫𝑼</m:t>
                          </m:r>
                        </m:sub>
                      </m:sSub>
                    </m:oMath>
                  </m:oMathPara>
                </a14:m>
                <a:endParaRPr lang="en-US" sz="44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955368" y="3821430"/>
                <a:ext cx="12412309" cy="796628"/>
              </a:xfrm>
              <a:prstGeom prst="rect">
                <a:avLst/>
              </a:prstGeom>
              <a:blipFill>
                <a:blip r:embed="rId3"/>
                <a:stretch>
                  <a:fillRect/>
                </a:stretch>
              </a:blipFill>
            </p:spPr>
            <p:txBody>
              <a:bodyPr/>
              <a:lstStyle/>
              <a:p>
                <a:r>
                  <a:rPr lang="ja-JP" altLang="en-US">
                    <a:noFill/>
                  </a:rPr>
                  <a:t> </a:t>
                </a:r>
              </a:p>
            </p:txBody>
          </p:sp>
        </mc:Fallback>
      </mc:AlternateContent>
      <p:sp>
        <p:nvSpPr>
          <p:cNvPr id="23" name="TextBox 22"/>
          <p:cNvSpPr txBox="1"/>
          <p:nvPr/>
        </p:nvSpPr>
        <p:spPr>
          <a:xfrm>
            <a:off x="1280160" y="12694920"/>
            <a:ext cx="21945600" cy="502920"/>
          </a:xfrm>
          <a:prstGeom prst="rect">
            <a:avLst/>
          </a:prstGeom>
          <a:noFill/>
        </p:spPr>
        <p:txBody>
          <a:bodyPr wrap="square" lIns="45720" tIns="18288" rIns="45720" bIns="18288" anchor="t">
            <a:spAutoFit/>
          </a:bodyPr>
          <a:lstStyle/>
          <a:p>
            <a:pPr algn="ctr">
              <a:spcAft>
                <a:spcPts val="0"/>
              </a:spcAft>
            </a:pPr>
            <a:r>
              <a:rPr sz="2100" b="0">
                <a:solidFill>
                  <a:srgbClr val="666F79"/>
                </a:solidFill>
                <a:latin typeface="Yu Gothic"/>
                <a:ea typeface="Yu Gothic"/>
              </a:rPr>
              <a:t>16 coefficients; specific to this structure, placement, and LOS definition</a:t>
            </a: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0ECB3AB1-C1D3-88A9-D9E2-BA7E2C2BE272}"/>
                  </a:ext>
                </a:extLst>
              </p:cNvPr>
              <p:cNvSpPr txBox="1"/>
              <p:nvPr/>
            </p:nvSpPr>
            <p:spPr>
              <a:xfrm>
                <a:off x="6065520" y="7404638"/>
                <a:ext cx="12192000" cy="586699"/>
              </a:xfrm>
              <a:prstGeom prst="rect">
                <a:avLst/>
              </a:prstGeom>
              <a:noFill/>
            </p:spPr>
            <p:txBody>
              <a:bodyPr wrap="square">
                <a:spAutoFit/>
              </a:bodyPr>
              <a:lstStyle/>
              <a:p>
                <a:pPr algn="ctr"/>
                <a14:m>
                  <m:oMath xmlns:m="http://schemas.openxmlformats.org/officeDocument/2006/math">
                    <m:sSub>
                      <m:sSubPr>
                        <m:ctrlPr>
                          <a:rPr lang="en-US" altLang="ja-JP" sz="3200" b="1" i="1" dirty="0">
                            <a:solidFill>
                              <a:schemeClr val="accent1"/>
                            </a:solidFill>
                            <a:latin typeface="Cambria Math" panose="02040503050406030204" pitchFamily="18" charset="0"/>
                          </a:rPr>
                        </m:ctrlPr>
                      </m:sSubPr>
                      <m:e>
                        <m:r>
                          <a:rPr lang="en-US" altLang="ja-JP" sz="3200" b="1" i="1" dirty="0">
                            <a:solidFill>
                              <a:schemeClr val="accent1"/>
                            </a:solidFill>
                            <a:latin typeface="Cambria Math" panose="02040503050406030204" pitchFamily="18" charset="0"/>
                          </a:rPr>
                          <m:t>𝑰</m:t>
                        </m:r>
                      </m:e>
                      <m:sub>
                        <m:r>
                          <a:rPr lang="en-US" altLang="ja-JP" sz="3200" b="1" i="1" dirty="0">
                            <a:solidFill>
                              <a:schemeClr val="accent1"/>
                            </a:solidFill>
                            <a:latin typeface="Cambria Math" panose="02040503050406030204" pitchFamily="18" charset="0"/>
                          </a:rPr>
                          <m:t>𝑷𝑹𝑶</m:t>
                        </m:r>
                        <m:r>
                          <a:rPr lang="en-US" altLang="ja-JP" sz="3200" b="1" i="1" dirty="0" smtClean="0">
                            <a:solidFill>
                              <a:schemeClr val="accent1"/>
                            </a:solidFill>
                            <a:latin typeface="Cambria Math" panose="02040503050406030204" pitchFamily="18" charset="0"/>
                          </a:rPr>
                          <m:t>𝑷</m:t>
                        </m:r>
                      </m:sub>
                    </m:sSub>
                    <m:r>
                      <a:rPr lang="en-US" altLang="ja-JP" sz="3200" b="1" i="1" dirty="0" smtClean="0">
                        <a:solidFill>
                          <a:schemeClr val="accent1"/>
                        </a:solidFill>
                        <a:latin typeface="Cambria Math" panose="02040503050406030204" pitchFamily="18" charset="0"/>
                      </a:rPr>
                      <m:t>, </m:t>
                    </m:r>
                    <m:sSub>
                      <m:sSubPr>
                        <m:ctrlPr>
                          <a:rPr lang="en-US" altLang="ja-JP" sz="3200" b="1" i="1" dirty="0" smtClean="0">
                            <a:solidFill>
                              <a:schemeClr val="accent1"/>
                            </a:solidFill>
                            <a:latin typeface="Cambria Math" panose="02040503050406030204" pitchFamily="18" charset="0"/>
                          </a:rPr>
                        </m:ctrlPr>
                      </m:sSubPr>
                      <m:e>
                        <m:r>
                          <a:rPr lang="en-US" altLang="ja-JP" sz="3200" b="1" i="1" dirty="0" smtClean="0">
                            <a:solidFill>
                              <a:schemeClr val="accent1"/>
                            </a:solidFill>
                            <a:latin typeface="Cambria Math" panose="02040503050406030204" pitchFamily="18" charset="0"/>
                          </a:rPr>
                          <m:t>𝑰</m:t>
                        </m:r>
                      </m:e>
                      <m:sub>
                        <m:r>
                          <a:rPr lang="en-US" altLang="ja-JP" sz="3200" b="1" i="1" dirty="0" smtClean="0">
                            <a:solidFill>
                              <a:schemeClr val="accent1"/>
                            </a:solidFill>
                            <a:latin typeface="Cambria Math" panose="02040503050406030204" pitchFamily="18" charset="0"/>
                          </a:rPr>
                          <m:t>𝑷𝑪𝑫𝑼</m:t>
                        </m:r>
                      </m:sub>
                    </m:sSub>
                    <m:r>
                      <a:rPr lang="ja-JP" altLang="en-US" sz="3200" b="1" i="1" dirty="0" smtClean="0">
                        <a:solidFill>
                          <a:schemeClr val="accent1"/>
                        </a:solidFill>
                        <a:latin typeface="Cambria Math" panose="02040503050406030204" pitchFamily="18" charset="0"/>
                      </a:rPr>
                      <m:t>: </m:t>
                    </m:r>
                    <m:r>
                      <a:rPr lang="ja-JP" altLang="en-US" sz="3200" b="1" i="1" dirty="0">
                        <a:solidFill>
                          <a:schemeClr val="accent1"/>
                        </a:solidFill>
                        <a:latin typeface="Cambria Math" panose="02040503050406030204" pitchFamily="18" charset="0"/>
                      </a:rPr>
                      <m:t>𝑢𝑛𝑖𝑡</m:t>
                    </m:r>
                    <m:r>
                      <a:rPr lang="ja-JP" altLang="en-US" sz="3200" b="1" i="1" dirty="0">
                        <a:solidFill>
                          <a:schemeClr val="accent1"/>
                        </a:solidFill>
                        <a:latin typeface="Cambria Math" panose="02040503050406030204" pitchFamily="18" charset="0"/>
                      </a:rPr>
                      <m:t> </m:t>
                    </m:r>
                    <m:r>
                      <a:rPr lang="ja-JP" altLang="en-US" sz="3200" b="1" i="1" dirty="0">
                        <a:solidFill>
                          <a:schemeClr val="accent1"/>
                        </a:solidFill>
                        <a:latin typeface="Cambria Math" panose="02040503050406030204" pitchFamily="18" charset="0"/>
                      </a:rPr>
                      <m:t>𝑝𝑜𝑤𝑒𝑟</m:t>
                    </m:r>
                    <m:r>
                      <a:rPr lang="ja-JP" altLang="en-US" sz="3200" b="1" i="1" dirty="0">
                        <a:solidFill>
                          <a:schemeClr val="accent1"/>
                        </a:solidFill>
                        <a:latin typeface="Cambria Math" panose="02040503050406030204" pitchFamily="18" charset="0"/>
                      </a:rPr>
                      <m:t> </m:t>
                    </m:r>
                    <m:r>
                      <a:rPr lang="ja-JP" altLang="en-US" sz="3200" b="1" i="1" dirty="0">
                        <a:solidFill>
                          <a:schemeClr val="accent1"/>
                        </a:solidFill>
                        <a:latin typeface="Cambria Math" panose="02040503050406030204" pitchFamily="18" charset="0"/>
                      </a:rPr>
                      <m:t>𝑠𝑡𝑎𝑡𝑒</m:t>
                    </m:r>
                    <m:r>
                      <a:rPr lang="ja-JP" altLang="en-US" sz="3200" b="1" i="1" dirty="0">
                        <a:solidFill>
                          <a:schemeClr val="accent1"/>
                        </a:solidFill>
                        <a:latin typeface="Cambria Math" panose="02040503050406030204" pitchFamily="18" charset="0"/>
                      </a:rPr>
                      <m:t> (</m:t>
                    </m:r>
                  </m:oMath>
                </a14:m>
                <a:r>
                  <a:rPr lang="en-US" altLang="ja-JP" sz="3200" dirty="0">
                    <a:solidFill>
                      <a:schemeClr val="accent1"/>
                    </a:solidFill>
                  </a:rPr>
                  <a:t>ON/OFF</a:t>
                </a:r>
                <a:r>
                  <a:rPr lang="ja-JP" altLang="en-US" sz="3200" dirty="0">
                    <a:solidFill>
                      <a:schemeClr val="accent1"/>
                    </a:solidFill>
                  </a:rPr>
                  <a:t>)</a:t>
                </a:r>
              </a:p>
            </p:txBody>
          </p:sp>
        </mc:Choice>
        <mc:Fallback xmlns="">
          <p:sp>
            <p:nvSpPr>
              <p:cNvPr id="18" name="テキスト ボックス 17">
                <a:extLst>
                  <a:ext uri="{FF2B5EF4-FFF2-40B4-BE49-F238E27FC236}">
                    <a16:creationId xmlns:a16="http://schemas.microsoft.com/office/drawing/2014/main" id="{0ECB3AB1-C1D3-88A9-D9E2-BA7E2C2BE272}"/>
                  </a:ext>
                </a:extLst>
              </p:cNvPr>
              <p:cNvSpPr txBox="1">
                <a:spLocks noRot="1" noChangeAspect="1" noMove="1" noResize="1" noEditPoints="1" noAdjustHandles="1" noChangeArrowheads="1" noChangeShapeType="1" noTextEdit="1"/>
              </p:cNvSpPr>
              <p:nvPr/>
            </p:nvSpPr>
            <p:spPr>
              <a:xfrm>
                <a:off x="6065520" y="7404638"/>
                <a:ext cx="12192000" cy="586699"/>
              </a:xfrm>
              <a:prstGeom prst="rect">
                <a:avLst/>
              </a:prstGeom>
              <a:blipFill>
                <a:blip r:embed="rId7"/>
                <a:stretch>
                  <a:fillRect t="-12500" b="-3437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62377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Reduced-order model</a:t>
            </a:r>
          </a:p>
        </p:txBody>
      </p:sp>
      <p:sp>
        <p:nvSpPr>
          <p:cNvPr id="3" name="TextBox 2"/>
          <p:cNvSpPr txBox="1"/>
          <p:nvPr/>
        </p:nvSpPr>
        <p:spPr>
          <a:xfrm>
            <a:off x="1536192" y="1357277"/>
            <a:ext cx="22037040" cy="107106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r>
              <a:rPr lang="ja-JP" altLang="ja-JP" sz="3200" b="1" dirty="0"/>
              <a:t>The test case is excluded from all coefficient estimates to evaluate prediction under unseen conditions</a:t>
            </a:r>
            <a:endParaRPr sz="3200" b="1" dirty="0">
              <a:solidFill>
                <a:srgbClr val="082B52"/>
              </a:solidFill>
              <a:latin typeface="Yu Gothic"/>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5</a:t>
            </a:r>
            <a:endParaRPr sz="1800" b="0" dirty="0">
              <a:solidFill>
                <a:srgbClr val="666F79"/>
              </a:solidFill>
              <a:latin typeface="Yu Gothic"/>
              <a:ea typeface="Yu Gothic"/>
            </a:endParaRPr>
          </a:p>
        </p:txBody>
      </p:sp>
      <p:sp>
        <p:nvSpPr>
          <p:cNvPr id="5" name="Rounded Rectangle 4"/>
          <p:cNvSpPr/>
          <p:nvPr/>
        </p:nvSpPr>
        <p:spPr>
          <a:xfrm>
            <a:off x="1581912" y="3383280"/>
            <a:ext cx="6190488" cy="585216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3675888"/>
            <a:ext cx="5788151" cy="640080"/>
          </a:xfrm>
          <a:prstGeom prst="rect">
            <a:avLst/>
          </a:prstGeom>
          <a:noFill/>
        </p:spPr>
        <p:txBody>
          <a:bodyPr wrap="square" lIns="45720" tIns="18288" rIns="45720" bIns="18288" anchor="t">
            <a:spAutoFit/>
          </a:bodyPr>
          <a:lstStyle/>
          <a:p>
            <a:pPr algn="ctr">
              <a:spcAft>
                <a:spcPts val="0"/>
              </a:spcAft>
            </a:pPr>
            <a:r>
              <a:rPr sz="2700" b="1">
                <a:solidFill>
                  <a:srgbClr val="239571"/>
                </a:solidFill>
                <a:latin typeface="Yu Gothic"/>
                <a:ea typeface="Yu Gothic"/>
              </a:rPr>
              <a:t>① Fit each case</a:t>
            </a:r>
          </a:p>
        </p:txBody>
      </p:sp>
      <p:sp>
        <p:nvSpPr>
          <p:cNvPr id="7" name="TextBox 6"/>
          <p:cNvSpPr txBox="1"/>
          <p:nvPr/>
        </p:nvSpPr>
        <p:spPr>
          <a:xfrm>
            <a:off x="1856231" y="4617720"/>
            <a:ext cx="564184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Use the first orbit of each case
to estimate its sensitivity a
and mean b</a:t>
            </a:r>
          </a:p>
        </p:txBody>
      </p:sp>
      <p:sp>
        <p:nvSpPr>
          <p:cNvPr id="8" name="Rounded Rectangle 7"/>
          <p:cNvSpPr/>
          <p:nvPr/>
        </p:nvSpPr>
        <p:spPr>
          <a:xfrm>
            <a:off x="8458200" y="3383280"/>
            <a:ext cx="6656832" cy="585216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59368" y="3675888"/>
            <a:ext cx="6254496" cy="640080"/>
          </a:xfrm>
          <a:prstGeom prst="rect">
            <a:avLst/>
          </a:prstGeom>
          <a:noFill/>
        </p:spPr>
        <p:txBody>
          <a:bodyPr wrap="square" lIns="45720" tIns="18288" rIns="45720" bIns="18288" anchor="t">
            <a:spAutoFit/>
          </a:bodyPr>
          <a:lstStyle/>
          <a:p>
            <a:pPr algn="ctr">
              <a:spcAft>
                <a:spcPts val="0"/>
              </a:spcAft>
            </a:pPr>
            <a:r>
              <a:rPr sz="2700" b="1">
                <a:solidFill>
                  <a:srgbClr val="1B74AA"/>
                </a:solidFill>
                <a:latin typeface="Yu Gothic"/>
                <a:ea typeface="Yu Gothic"/>
              </a:rPr>
              <a:t>② Share within each sun face</a:t>
            </a:r>
          </a:p>
        </p:txBody>
      </p:sp>
      <p:sp>
        <p:nvSpPr>
          <p:cNvPr id="10" name="TextBox 9"/>
          <p:cNvSpPr txBox="1"/>
          <p:nvPr/>
        </p:nvSpPr>
        <p:spPr>
          <a:xfrm>
            <a:off x="8732520" y="4617720"/>
            <a:ext cx="6108192"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Median a within each sun face
becomes the shared sensitivity
Fit mean b across cases from
sun face and dissipation flags</a:t>
            </a:r>
          </a:p>
        </p:txBody>
      </p:sp>
      <p:sp>
        <p:nvSpPr>
          <p:cNvPr id="11" name="Rounded Rectangle 10"/>
          <p:cNvSpPr/>
          <p:nvPr/>
        </p:nvSpPr>
        <p:spPr>
          <a:xfrm>
            <a:off x="15782544" y="3383280"/>
            <a:ext cx="7013448" cy="585216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983712" y="3675888"/>
            <a:ext cx="6611112" cy="640080"/>
          </a:xfrm>
          <a:prstGeom prst="rect">
            <a:avLst/>
          </a:prstGeom>
          <a:noFill/>
        </p:spPr>
        <p:txBody>
          <a:bodyPr wrap="square" lIns="45720" tIns="18288" rIns="45720" bIns="18288" anchor="t">
            <a:spAutoFit/>
          </a:bodyPr>
          <a:lstStyle/>
          <a:p>
            <a:pPr algn="ctr">
              <a:spcAft>
                <a:spcPts val="0"/>
              </a:spcAft>
            </a:pPr>
            <a:r>
              <a:rPr sz="2700" b="1">
                <a:solidFill>
                  <a:srgbClr val="EC9427"/>
                </a:solidFill>
                <a:latin typeface="Yu Gothic"/>
                <a:ea typeface="Yu Gothic"/>
              </a:rPr>
              <a:t>③ Test an unseen case</a:t>
            </a:r>
          </a:p>
        </p:txBody>
      </p:sp>
      <p:sp>
        <p:nvSpPr>
          <p:cNvPr id="13" name="TextBox 12"/>
          <p:cNvSpPr txBox="1"/>
          <p:nvPr/>
        </p:nvSpPr>
        <p:spPr>
          <a:xfrm>
            <a:off x="16056864" y="4617720"/>
            <a:ext cx="646480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nested leave-one-case-out
Exclude the test case from shared sensitivity
and both-axis mean models
Evaluate its next two orbits</a:t>
            </a:r>
          </a:p>
        </p:txBody>
      </p:sp>
      <p:sp>
        <p:nvSpPr>
          <p:cNvPr id="14" name="Right Arrow 13"/>
          <p:cNvSpPr/>
          <p:nvPr/>
        </p:nvSpPr>
        <p:spPr>
          <a:xfrm>
            <a:off x="7973568"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5307055"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10149840"/>
            <a:ext cx="19659600" cy="467820"/>
          </a:xfrm>
          <a:prstGeom prst="rect">
            <a:avLst/>
          </a:prstGeom>
          <a:noFill/>
        </p:spPr>
        <p:txBody>
          <a:bodyPr wrap="square" lIns="45720" tIns="18288" rIns="45720" bIns="18288" anchor="t">
            <a:spAutoFit/>
          </a:bodyPr>
          <a:lstStyle/>
          <a:p>
            <a:pPr algn="ctr"/>
            <a:r>
              <a:rPr lang="ja-JP" altLang="en-US" sz="2800" b="1" dirty="0"/>
              <a:t>Evaluate how well fixed shared coefficients predict unseen operating conditions</a:t>
            </a:r>
            <a:endParaRPr lang="ja-JP" altLang="ja-JP" sz="2800" dirty="0"/>
          </a:p>
        </p:txBody>
      </p:sp>
      <p:sp>
        <p:nvSpPr>
          <p:cNvPr id="18" name="TextBox 17"/>
          <p:cNvSpPr txBox="1"/>
          <p:nvPr/>
        </p:nvSpPr>
        <p:spPr>
          <a:xfrm>
            <a:off x="2039112" y="11292840"/>
            <a:ext cx="20299680" cy="406265"/>
          </a:xfrm>
          <a:prstGeom prst="rect">
            <a:avLst/>
          </a:prstGeom>
          <a:noFill/>
        </p:spPr>
        <p:txBody>
          <a:bodyPr wrap="square" lIns="45720" tIns="18288" rIns="45720" bIns="18288" anchor="t">
            <a:spAutoFit/>
          </a:bodyPr>
          <a:lstStyle/>
          <a:p>
            <a:pPr algn="r"/>
            <a:r>
              <a:rPr lang="ja-JP" altLang="ja-JP" sz="2400" dirty="0"/>
              <a:t>Across-condition evaluation within the same structure and LOS definition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Reduced-order model</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100" b="1">
                <a:solidFill>
                  <a:srgbClr val="082B52"/>
                </a:solidFill>
                <a:latin typeface="Yu Gothic"/>
                <a:ea typeface="Yu Gothic"/>
              </a:rPr>
              <a:t>For unseen cases, median dominant-axis error is 4.9 µrad—one to two orders below the raw 615 µrad</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6</a:t>
            </a:r>
            <a:endParaRPr sz="1800" b="0" dirty="0">
              <a:solidFill>
                <a:srgbClr val="666F79"/>
              </a:solidFill>
              <a:latin typeface="Yu Gothic"/>
              <a:ea typeface="Yu Gothic"/>
            </a:endParaRPr>
          </a:p>
        </p:txBody>
      </p:sp>
      <p:sp>
        <p:nvSpPr>
          <p:cNvPr id="5" name="Rectangle 4"/>
          <p:cNvSpPr/>
          <p:nvPr/>
        </p:nvSpPr>
        <p:spPr>
          <a:xfrm>
            <a:off x="100584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239012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3_a_emp_by_sunface.png"/>
          <p:cNvPicPr>
            <a:picLocks noChangeAspect="1"/>
          </p:cNvPicPr>
          <p:nvPr/>
        </p:nvPicPr>
        <p:blipFill>
          <a:blip r:embed="rId3"/>
          <a:stretch>
            <a:fillRect/>
          </a:stretch>
        </p:blipFill>
        <p:spPr>
          <a:xfrm>
            <a:off x="1410788" y="3154680"/>
            <a:ext cx="10345782" cy="6035040"/>
          </a:xfrm>
          <a:prstGeom prst="rect">
            <a:avLst/>
          </a:prstGeom>
        </p:spPr>
      </p:pic>
      <p:pic>
        <p:nvPicPr>
          <p:cNvPr id="8" name="Picture 7" descr="image.png"/>
          <p:cNvPicPr>
            <a:picLocks noChangeAspect="1"/>
          </p:cNvPicPr>
          <p:nvPr/>
        </p:nvPicPr>
        <p:blipFill>
          <a:blip r:embed="rId4"/>
          <a:stretch>
            <a:fillRect/>
          </a:stretch>
        </p:blipFill>
        <p:spPr>
          <a:xfrm>
            <a:off x="12712446" y="3154680"/>
            <a:ext cx="10511028" cy="6035040"/>
          </a:xfrm>
          <a:prstGeom prst="rect">
            <a:avLst/>
          </a:prstGeom>
        </p:spPr>
      </p:pic>
      <p:sp>
        <p:nvSpPr>
          <p:cNvPr id="9" name="TextBox 8"/>
          <p:cNvSpPr txBox="1"/>
          <p:nvPr/>
        </p:nvSpPr>
        <p:spPr>
          <a:xfrm>
            <a:off x="100584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1B74AA"/>
                </a:solidFill>
                <a:latin typeface="Yu Gothic"/>
                <a:ea typeface="Yu Gothic"/>
              </a:rPr>
              <a:t>Sun-face sensitivities a (case-specific and shared)</a:t>
            </a:r>
          </a:p>
        </p:txBody>
      </p:sp>
      <p:sp>
        <p:nvSpPr>
          <p:cNvPr id="10" name="TextBox 9"/>
          <p:cNvSpPr txBox="1"/>
          <p:nvPr/>
        </p:nvSpPr>
        <p:spPr>
          <a:xfrm>
            <a:off x="1239012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239571"/>
                </a:solidFill>
                <a:latin typeface="Yu Gothic"/>
                <a:ea typeface="Yu Gothic"/>
              </a:rPr>
              <a:t>Case bias b: empirical versus predicted</a:t>
            </a:r>
            <a:endParaRPr sz="2100" b="1" dirty="0">
              <a:solidFill>
                <a:srgbClr val="239571"/>
              </a:solidFill>
              <a:latin typeface="Yu Gothic"/>
              <a:ea typeface="Yu Gothic"/>
            </a:endParaRPr>
          </a:p>
        </p:txBody>
      </p:sp>
      <p:sp>
        <p:nvSpPr>
          <p:cNvPr id="11" name="Rounded Rectangle 10"/>
          <p:cNvSpPr/>
          <p:nvPr/>
        </p:nvSpPr>
        <p:spPr>
          <a:xfrm>
            <a:off x="1463040" y="10058400"/>
            <a:ext cx="6583680"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7276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1B74AA"/>
                </a:solidFill>
                <a:latin typeface="Yu Gothic"/>
                <a:ea typeface="Yu Gothic"/>
              </a:rPr>
              <a:t>615 µrad</a:t>
            </a:r>
          </a:p>
        </p:txBody>
      </p:sp>
      <p:sp>
        <p:nvSpPr>
          <p:cNvPr id="13" name="TextBox 12"/>
          <p:cNvSpPr txBox="1"/>
          <p:nvPr/>
        </p:nvSpPr>
        <p:spPr>
          <a:xfrm>
            <a:off x="157276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Median raw dominant-axis LOS RMS</a:t>
            </a:r>
          </a:p>
        </p:txBody>
      </p:sp>
      <p:sp>
        <p:nvSpPr>
          <p:cNvPr id="14" name="Rounded Rectangle 13"/>
          <p:cNvSpPr/>
          <p:nvPr/>
        </p:nvSpPr>
        <p:spPr>
          <a:xfrm>
            <a:off x="8869680" y="10058400"/>
            <a:ext cx="6583680"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79407"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239571"/>
                </a:solidFill>
                <a:latin typeface="Yu Gothic"/>
                <a:ea typeface="Yu Gothic"/>
              </a:rPr>
              <a:t>4.9 µrad</a:t>
            </a:r>
          </a:p>
        </p:txBody>
      </p:sp>
      <p:sp>
        <p:nvSpPr>
          <p:cNvPr id="16" name="TextBox 15"/>
          <p:cNvSpPr txBox="1"/>
          <p:nvPr/>
        </p:nvSpPr>
        <p:spPr>
          <a:xfrm>
            <a:off x="8979407"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Median test RMSE on unseen cases (mean 5.5)</a:t>
            </a:r>
          </a:p>
        </p:txBody>
      </p:sp>
      <p:sp>
        <p:nvSpPr>
          <p:cNvPr id="17" name="Rounded Rectangle 16"/>
          <p:cNvSpPr/>
          <p:nvPr/>
        </p:nvSpPr>
        <p:spPr>
          <a:xfrm>
            <a:off x="16276320" y="10058400"/>
            <a:ext cx="6583680" cy="178308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638604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EC9427"/>
                </a:solidFill>
                <a:latin typeface="Yu Gothic"/>
                <a:ea typeface="Yu Gothic"/>
              </a:rPr>
              <a:t>3.8 µrad</a:t>
            </a:r>
          </a:p>
        </p:txBody>
      </p:sp>
      <p:sp>
        <p:nvSpPr>
          <p:cNvPr id="19" name="TextBox 18"/>
          <p:cNvSpPr txBox="1"/>
          <p:nvPr/>
        </p:nvSpPr>
        <p:spPr>
          <a:xfrm>
            <a:off x="1638604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LOO RMSE of case-mean DC bias</a:t>
            </a:r>
          </a:p>
        </p:txBody>
      </p:sp>
      <p:sp>
        <p:nvSpPr>
          <p:cNvPr id="20" name="TextBox 19"/>
          <p:cNvSpPr txBox="1"/>
          <p:nvPr/>
        </p:nvSpPr>
        <p:spPr>
          <a:xfrm>
            <a:off x="1463040" y="12070080"/>
            <a:ext cx="21396960" cy="457200"/>
          </a:xfrm>
          <a:prstGeom prst="rect">
            <a:avLst/>
          </a:prstGeom>
          <a:noFill/>
        </p:spPr>
        <p:txBody>
          <a:bodyPr wrap="square" lIns="45720" tIns="18288" rIns="45720" bIns="18288" anchor="t">
            <a:spAutoFit/>
          </a:bodyPr>
          <a:lstStyle/>
          <a:p>
            <a:pPr algn="ctr">
              <a:spcAft>
                <a:spcPts val="0"/>
              </a:spcAft>
            </a:pPr>
            <a:r>
              <a:rPr sz="2200" b="0">
                <a:solidFill>
                  <a:srgbClr val="666F79"/>
                </a:solidFill>
                <a:latin typeface="Yu Gothic"/>
                <a:ea typeface="Yu Gothic"/>
              </a:rPr>
              <a:t>Shared sensitivity: MX +30.6 / MY +28.6 / PX −28.1 / PY −28.7 µrad/K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Reduced-order model</a:t>
            </a:r>
          </a:p>
        </p:txBody>
      </p:sp>
      <p:sp>
        <p:nvSpPr>
          <p:cNvPr id="3" name="TextBox 2"/>
          <p:cNvSpPr txBox="1"/>
          <p:nvPr/>
        </p:nvSpPr>
        <p:spPr>
          <a:xfrm>
            <a:off x="1536192" y="1614045"/>
            <a:ext cx="22037040" cy="557525"/>
          </a:xfrm>
          <a:prstGeom prst="rect">
            <a:avLst/>
          </a:prstGeom>
          <a:noFill/>
        </p:spPr>
        <p:txBody>
          <a:bodyPr wrap="square" lIns="45720" tIns="18288" rIns="45720" bIns="18288" anchor="ctr">
            <a:spAutoFit/>
          </a:bodyPr>
          <a:lstStyle/>
          <a:p>
            <a:pPr algn="l">
              <a:lnSpc>
                <a:spcPct val="110000"/>
              </a:lnSpc>
              <a:spcAft>
                <a:spcPts val="0"/>
              </a:spcAft>
            </a:pPr>
            <a:r>
              <a:rPr sz="3200" b="1" dirty="0">
                <a:solidFill>
                  <a:srgbClr val="082B52"/>
                </a:solidFill>
                <a:latin typeface="Yu Gothic"/>
                <a:ea typeface="Yu Gothic"/>
              </a:rPr>
              <a:t>Even for Case 08, with one of the largest thermal LOS errors, 1250 µrad falls to 3.9 µrad</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7</a:t>
            </a:r>
            <a:endParaRPr sz="1800" b="0" dirty="0">
              <a:solidFill>
                <a:srgbClr val="666F79"/>
              </a:solidFill>
              <a:latin typeface="Yu Gothic"/>
              <a:ea typeface="Yu Gothic"/>
            </a:endParaRPr>
          </a:p>
        </p:txBody>
      </p:sp>
      <p:sp>
        <p:nvSpPr>
          <p:cNvPr id="5" name="Rectangle 4"/>
          <p:cNvSpPr/>
          <p:nvPr/>
        </p:nvSpPr>
        <p:spPr>
          <a:xfrm>
            <a:off x="1005840" y="3017520"/>
            <a:ext cx="14081760" cy="87782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ase08_no_log_title.png"/>
          <p:cNvPicPr>
            <a:picLocks noChangeAspect="1"/>
          </p:cNvPicPr>
          <p:nvPr/>
        </p:nvPicPr>
        <p:blipFill>
          <a:blip r:embed="rId3"/>
          <a:stretch>
            <a:fillRect/>
          </a:stretch>
        </p:blipFill>
        <p:spPr>
          <a:xfrm>
            <a:off x="2078059" y="3154680"/>
            <a:ext cx="11937320" cy="8503920"/>
          </a:xfrm>
          <a:prstGeom prst="rect">
            <a:avLst/>
          </a:prstGeom>
        </p:spPr>
      </p:pic>
      <p:sp>
        <p:nvSpPr>
          <p:cNvPr id="7" name="TextBox 6"/>
          <p:cNvSpPr txBox="1"/>
          <p:nvPr/>
        </p:nvSpPr>
        <p:spPr>
          <a:xfrm>
            <a:off x="1005840" y="11841480"/>
            <a:ext cx="14081760" cy="457200"/>
          </a:xfrm>
          <a:prstGeom prst="rect">
            <a:avLst/>
          </a:prstGeom>
          <a:noFill/>
        </p:spPr>
        <p:txBody>
          <a:bodyPr wrap="square" lIns="45720" tIns="18288" rIns="45720" bIns="18288" anchor="t">
            <a:spAutoFit/>
          </a:bodyPr>
          <a:lstStyle/>
          <a:p>
            <a:pPr algn="ctr">
              <a:spcAft>
                <a:spcPts val="0"/>
              </a:spcAft>
            </a:pPr>
            <a:r>
              <a:rPr sz="2200" b="1">
                <a:solidFill>
                  <a:srgbClr val="1B74AA"/>
                </a:solidFill>
                <a:latin typeface="Yu Gothic"/>
                <a:ea typeface="Yu Gothic"/>
              </a:rPr>
              <a:t>Case 08 (PY sun face, all units dissipating)</a:t>
            </a:r>
          </a:p>
        </p:txBody>
      </p:sp>
      <p:sp>
        <p:nvSpPr>
          <p:cNvPr id="8" name="Rounded Rectangle 7"/>
          <p:cNvSpPr/>
          <p:nvPr/>
        </p:nvSpPr>
        <p:spPr>
          <a:xfrm>
            <a:off x="15727680" y="3474720"/>
            <a:ext cx="7498079" cy="21031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837408" y="3639312"/>
            <a:ext cx="7278623" cy="1051560"/>
          </a:xfrm>
          <a:prstGeom prst="rect">
            <a:avLst/>
          </a:prstGeom>
          <a:noFill/>
        </p:spPr>
        <p:txBody>
          <a:bodyPr wrap="square" lIns="45720" tIns="18288" rIns="45720" bIns="18288" anchor="t">
            <a:spAutoFit/>
          </a:bodyPr>
          <a:lstStyle/>
          <a:p>
            <a:pPr algn="ctr">
              <a:spcAft>
                <a:spcPts val="0"/>
              </a:spcAft>
            </a:pPr>
            <a:r>
              <a:rPr sz="3600" b="1">
                <a:solidFill>
                  <a:srgbClr val="D03B46"/>
                </a:solidFill>
                <a:latin typeface="Yu Gothic"/>
                <a:ea typeface="Yu Gothic"/>
              </a:rPr>
              <a:t>1250 µrad</a:t>
            </a:r>
          </a:p>
        </p:txBody>
      </p:sp>
      <p:sp>
        <p:nvSpPr>
          <p:cNvPr id="10" name="TextBox 9"/>
          <p:cNvSpPr txBox="1"/>
          <p:nvPr/>
        </p:nvSpPr>
        <p:spPr>
          <a:xfrm>
            <a:off x="15837408" y="465246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Raw dominant-axis RMS</a:t>
            </a:r>
          </a:p>
        </p:txBody>
      </p:sp>
      <p:sp>
        <p:nvSpPr>
          <p:cNvPr id="11" name="Rounded Rectangle 10"/>
          <p:cNvSpPr/>
          <p:nvPr/>
        </p:nvSpPr>
        <p:spPr>
          <a:xfrm>
            <a:off x="15727680" y="5852160"/>
            <a:ext cx="7498079" cy="210312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837408" y="6016752"/>
            <a:ext cx="7278623" cy="105156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3.9 µrad</a:t>
            </a:r>
          </a:p>
        </p:txBody>
      </p:sp>
      <p:sp>
        <p:nvSpPr>
          <p:cNvPr id="13" name="TextBox 12"/>
          <p:cNvSpPr txBox="1"/>
          <p:nvPr/>
        </p:nvSpPr>
        <p:spPr>
          <a:xfrm>
            <a:off x="15837408" y="702990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Test RMSE for an unseen case</a:t>
            </a:r>
          </a:p>
        </p:txBody>
      </p:sp>
      <p:sp>
        <p:nvSpPr>
          <p:cNvPr id="14" name="Rounded Rectangle 13"/>
          <p:cNvSpPr/>
          <p:nvPr/>
        </p:nvSpPr>
        <p:spPr>
          <a:xfrm>
            <a:off x="15727680" y="8229600"/>
            <a:ext cx="7498079" cy="237744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928847" y="8522208"/>
            <a:ext cx="7095743"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First scan point is sufficient</a:t>
            </a:r>
          </a:p>
        </p:txBody>
      </p:sp>
      <p:sp>
        <p:nvSpPr>
          <p:cNvPr id="16" name="TextBox 15"/>
          <p:cNvSpPr txBox="1"/>
          <p:nvPr/>
        </p:nvSpPr>
        <p:spPr>
          <a:xfrm>
            <a:off x="16002000" y="9326880"/>
            <a:ext cx="6949440" cy="1097280"/>
          </a:xfrm>
          <a:prstGeom prst="rect">
            <a:avLst/>
          </a:prstGeom>
          <a:noFill/>
        </p:spPr>
        <p:txBody>
          <a:bodyPr wrap="square" lIns="45720" tIns="18288" rIns="45720" bIns="18288" anchor="t">
            <a:spAutoFit/>
          </a:bodyPr>
          <a:lstStyle/>
          <a:p>
            <a:pPr algn="ctr">
              <a:lnSpc>
                <a:spcPct val="115000"/>
              </a:lnSpc>
              <a:spcAft>
                <a:spcPts val="0"/>
              </a:spcAft>
            </a:pPr>
            <a:r>
              <a:rPr sz="2300" b="0">
                <a:solidFill>
                  <a:srgbClr val="232B34"/>
                </a:solidFill>
                <a:latin typeface="Yu Gothic"/>
                <a:ea typeface="Yu Gothic"/>
              </a:rPr>
              <a:t>Corrected residual is well below
the 150 µrad detection radius</a:t>
            </a:r>
          </a:p>
        </p:txBody>
      </p:sp>
      <p:sp>
        <p:nvSpPr>
          <p:cNvPr id="17" name="TextBox 16"/>
          <p:cNvSpPr txBox="1"/>
          <p:nvPr/>
        </p:nvSpPr>
        <p:spPr>
          <a:xfrm>
            <a:off x="15727680" y="10835640"/>
            <a:ext cx="7498079" cy="54864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ΔT follows the within-orbit variation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35437-8820-FE54-90F4-2573602584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18022B-B953-CFCB-50F9-DFE723EF2FF2}"/>
              </a:ext>
            </a:extLst>
          </p:cNvPr>
          <p:cNvSpPr txBox="1"/>
          <p:nvPr/>
        </p:nvSpPr>
        <p:spPr>
          <a:xfrm>
            <a:off x="11932226" y="4114800"/>
            <a:ext cx="458588" cy="470898"/>
          </a:xfrm>
          <a:prstGeom prst="rect">
            <a:avLst/>
          </a:prstGeom>
          <a:noFill/>
        </p:spPr>
        <p:txBody>
          <a:bodyPr wrap="none" lIns="36576" tIns="27432" rIns="36576" bIns="27432" anchor="t">
            <a:spAutoFit/>
          </a:bodyPr>
          <a:lstStyle/>
          <a:p>
            <a:pPr algn="ctr"/>
            <a:r>
              <a:rPr sz="2700" b="0" dirty="0">
                <a:solidFill>
                  <a:srgbClr val="FFFFFF"/>
                </a:solidFill>
                <a:latin typeface="Yu Gothic"/>
              </a:rPr>
              <a:t>0</a:t>
            </a:r>
            <a:r>
              <a:rPr lang="en-US" sz="2700" b="0" dirty="0">
                <a:solidFill>
                  <a:srgbClr val="FFFFFF"/>
                </a:solidFill>
                <a:latin typeface="Yu Gothic"/>
              </a:rPr>
              <a:t>4</a:t>
            </a:r>
            <a:endParaRPr sz="2700" b="0" dirty="0">
              <a:solidFill>
                <a:srgbClr val="FFFFFF"/>
              </a:solidFill>
              <a:latin typeface="Yu Gothic"/>
            </a:endParaRPr>
          </a:p>
        </p:txBody>
      </p:sp>
      <p:sp>
        <p:nvSpPr>
          <p:cNvPr id="3" name="Rectangle 2">
            <a:extLst>
              <a:ext uri="{FF2B5EF4-FFF2-40B4-BE49-F238E27FC236}">
                <a16:creationId xmlns:a16="http://schemas.microsoft.com/office/drawing/2014/main" id="{B4CFD4D2-F236-BFD7-145C-5F664AC45A6E}"/>
              </a:ext>
            </a:extLst>
          </p:cNvPr>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A5AA477-6D32-A249-9BC5-FA7905720E4E}"/>
              </a:ext>
            </a:extLst>
          </p:cNvPr>
          <p:cNvSpPr txBox="1"/>
          <p:nvPr/>
        </p:nvSpPr>
        <p:spPr>
          <a:xfrm>
            <a:off x="9842746" y="5806440"/>
            <a:ext cx="4728987"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Coarse-acquisition evaluation</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5C80EDBD-7565-2F1C-E24E-366C53DE31A9}"/>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861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Acquisition conditions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Acquire when the scan-corrected target enters the detection circle</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8</a:t>
            </a:r>
            <a:endParaRPr sz="1800" b="0" dirty="0">
              <a:solidFill>
                <a:srgbClr val="666F79"/>
              </a:solidFill>
              <a:latin typeface="Yu Gothic"/>
              <a:ea typeface="Yu Gothic"/>
            </a:endParaRPr>
          </a:p>
        </p:txBody>
      </p:sp>
      <p:sp>
        <p:nvSpPr>
          <p:cNvPr id="5" name="Rounded Rectangle 4"/>
          <p:cNvSpPr/>
          <p:nvPr/>
        </p:nvSpPr>
        <p:spPr>
          <a:xfrm>
            <a:off x="1280160" y="3144885"/>
            <a:ext cx="21762720" cy="21488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348263" y="3766677"/>
                <a:ext cx="11626516" cy="1792350"/>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𝒔𝒄𝒂𝒏</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err="1" smtClean="0">
                              <a:solidFill>
                                <a:srgbClr val="082B52"/>
                              </a:solidFill>
                              <a:latin typeface="Cambria Math" panose="02040503050406030204" pitchFamily="18" charset="0"/>
                            </a:rPr>
                          </m:ctrlPr>
                        </m:sSubPr>
                        <m:e>
                          <m:r>
                            <a:rPr lang="en-US" sz="3600" b="1" i="1" dirty="0" err="1"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𝒏𝒐𝒏𝒕𝒉𝒆𝒓𝒎𝒂𝒍</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𝜽</m:t>
                          </m:r>
                        </m:e>
                        <m:sub>
                          <m:r>
                            <a:rPr lang="en-US" sz="3600" b="1" i="1" dirty="0" err="1" smtClean="0">
                              <a:solidFill>
                                <a:srgbClr val="082B52"/>
                              </a:solidFill>
                              <a:latin typeface="Cambria Math" panose="02040503050406030204" pitchFamily="18" charset="0"/>
                            </a:rPr>
                            <m:t>𝒕𝒉𝒆𝒓𝒎𝒂𝒍</m:t>
                          </m:r>
                          <m:r>
                            <a:rPr lang="en-US" sz="3600" b="1" i="1" dirty="0" smtClean="0">
                              <a:solidFill>
                                <a:srgbClr val="082B52"/>
                              </a:solidFill>
                              <a:latin typeface="Cambria Math" panose="02040503050406030204" pitchFamily="18" charset="0"/>
                            </a:rPr>
                            <m:t>, </m:t>
                          </m:r>
                          <m:r>
                            <a:rPr lang="en-US" sz="3600" b="1" i="1" dirty="0" smtClean="0">
                              <a:solidFill>
                                <a:srgbClr val="082B52"/>
                              </a:solidFill>
                              <a:latin typeface="Cambria Math" panose="02040503050406030204" pitchFamily="18" charset="0"/>
                            </a:rPr>
                            <m:t>𝒕𝒓𝒖𝒆</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r>
                        <a:rPr lang="en-US" sz="3600" b="1" i="1" dirty="0">
                          <a:solidFill>
                            <a:srgbClr val="082B52"/>
                          </a:solidFill>
                          <a:latin typeface="Cambria Math" panose="02040503050406030204" pitchFamily="18" charset="0"/>
                        </a:rPr>
                        <m:t>− </m:t>
                      </m:r>
                      <m:sSub>
                        <m:sSubPr>
                          <m:ctrlPr>
                            <a:rPr lang="en-US" sz="3600" b="1" i="1" dirty="0" err="1">
                              <a:solidFill>
                                <a:srgbClr val="082B52"/>
                              </a:solidFill>
                              <a:latin typeface="Cambria Math" panose="02040503050406030204" pitchFamily="18" charset="0"/>
                            </a:rPr>
                          </m:ctrlPr>
                        </m:sSubPr>
                        <m:e>
                          <m:acc>
                            <m:accPr>
                              <m:chr m:val="̂"/>
                              <m:ctrlPr>
                                <a:rPr lang="en-US" sz="3600" b="1" i="1" dirty="0" err="1">
                                  <a:solidFill>
                                    <a:srgbClr val="082B52"/>
                                  </a:solidFill>
                                  <a:latin typeface="Cambria Math" panose="02040503050406030204" pitchFamily="18" charset="0"/>
                                </a:rPr>
                              </m:ctrlPr>
                            </m:accPr>
                            <m:e>
                              <m:r>
                                <a:rPr lang="en-US" sz="3600" b="1" i="1" dirty="0" err="1">
                                  <a:solidFill>
                                    <a:srgbClr val="082B52"/>
                                  </a:solidFill>
                                  <a:latin typeface="Cambria Math" panose="02040503050406030204" pitchFamily="18" charset="0"/>
                                </a:rPr>
                                <m:t>𝜽</m:t>
                              </m:r>
                            </m:e>
                          </m:acc>
                        </m:e>
                        <m:sub>
                          <m:r>
                            <a:rPr lang="en-US" sz="3600" b="1" i="1" dirty="0" err="1" smtClean="0">
                              <a:solidFill>
                                <a:srgbClr val="082B52"/>
                              </a:solidFill>
                              <a:latin typeface="Cambria Math" panose="02040503050406030204" pitchFamily="18" charset="0"/>
                            </a:rPr>
                            <m:t>𝒕𝒉𝒆𝒓𝒎𝒂𝒍</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oMath>
                  </m:oMathPara>
                </a14:m>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48263" y="3766677"/>
                <a:ext cx="11626516" cy="1792350"/>
              </a:xfrm>
              <a:prstGeom prst="rect">
                <a:avLst/>
              </a:prstGeom>
              <a:blipFill>
                <a:blip r:embed="rId3"/>
                <a:stretch>
                  <a:fillRect/>
                </a:stretch>
              </a:blipFill>
            </p:spPr>
            <p:txBody>
              <a:bodyPr/>
              <a:lstStyle/>
              <a:p>
                <a:r>
                  <a:rPr lang="ja-JP" altLang="en-US">
                    <a:noFill/>
                  </a:rPr>
                  <a:t> </a:t>
                </a:r>
              </a:p>
            </p:txBody>
          </p:sp>
        </mc:Fallback>
      </mc:AlternateContent>
      <p:sp>
        <p:nvSpPr>
          <p:cNvPr id="7" name="Rectangle 6"/>
          <p:cNvSpPr/>
          <p:nvPr/>
        </p:nvSpPr>
        <p:spPr>
          <a:xfrm>
            <a:off x="1492437" y="5568045"/>
            <a:ext cx="4045305" cy="1124712"/>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5870448"/>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Thermal LOS truth</a:t>
            </a:r>
          </a:p>
        </p:txBody>
      </p:sp>
      <p:cxnSp>
        <p:nvCxnSpPr>
          <p:cNvPr id="9" name="Connector 8"/>
          <p:cNvCxnSpPr>
            <a:cxnSpLocks/>
          </p:cNvCxnSpPr>
          <p:nvPr/>
        </p:nvCxnSpPr>
        <p:spPr>
          <a:xfrm>
            <a:off x="5554071" y="6175470"/>
            <a:ext cx="794192"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11150" y="697276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81912" y="7269480"/>
            <a:ext cx="3895344" cy="50292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Predicted thermal LOS</a:t>
            </a:r>
          </a:p>
        </p:txBody>
      </p:sp>
      <p:cxnSp>
        <p:nvCxnSpPr>
          <p:cNvPr id="12" name="Connector 11"/>
          <p:cNvCxnSpPr>
            <a:cxnSpLocks/>
          </p:cNvCxnSpPr>
          <p:nvPr/>
        </p:nvCxnSpPr>
        <p:spPr>
          <a:xfrm>
            <a:off x="5559948" y="7524032"/>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949030" y="6840196"/>
            <a:ext cx="4045305"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1928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Scan-center residual</a:t>
            </a:r>
          </a:p>
        </p:txBody>
      </p:sp>
      <p:cxnSp>
        <p:nvCxnSpPr>
          <p:cNvPr id="15" name="Connector 14"/>
          <p:cNvCxnSpPr>
            <a:cxnSpLocks/>
            <a:stCxn id="13" idx="3"/>
            <a:endCxn id="16" idx="1"/>
          </p:cNvCxnSpPr>
          <p:nvPr/>
        </p:nvCxnSpPr>
        <p:spPr>
          <a:xfrm>
            <a:off x="11994335" y="7457416"/>
            <a:ext cx="1081404" cy="738"/>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075739" y="6840934"/>
            <a:ext cx="4045305"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149072"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Rectangular spiral scan</a:t>
            </a:r>
            <a:endParaRPr sz="2100" b="1" dirty="0">
              <a:solidFill>
                <a:srgbClr val="FFFFFF"/>
              </a:solidFill>
              <a:latin typeface="Yu Gothic"/>
            </a:endParaRPr>
          </a:p>
        </p:txBody>
      </p:sp>
      <p:cxnSp>
        <p:nvCxnSpPr>
          <p:cNvPr id="18" name="Connector 17"/>
          <p:cNvCxnSpPr>
            <a:cxnSpLocks/>
            <a:stCxn id="16" idx="3"/>
            <a:endCxn id="19" idx="1"/>
          </p:cNvCxnSpPr>
          <p:nvPr/>
        </p:nvCxnSpPr>
        <p:spPr>
          <a:xfrm>
            <a:off x="17121044" y="7458154"/>
            <a:ext cx="1021513"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8142557" y="6840934"/>
            <a:ext cx="4045305"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21484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Acquisition success and time</a:t>
            </a:r>
          </a:p>
        </p:txBody>
      </p:sp>
      <p:sp>
        <p:nvSpPr>
          <p:cNvPr id="23" name="テキスト ボックス 22">
            <a:extLst>
              <a:ext uri="{FF2B5EF4-FFF2-40B4-BE49-F238E27FC236}">
                <a16:creationId xmlns:a16="http://schemas.microsoft.com/office/drawing/2014/main" id="{2C5084B7-D52A-49F1-3EFC-7865244A461E}"/>
              </a:ext>
            </a:extLst>
          </p:cNvPr>
          <p:cNvSpPr txBox="1"/>
          <p:nvPr/>
        </p:nvSpPr>
        <p:spPr>
          <a:xfrm>
            <a:off x="8231264" y="4526280"/>
            <a:ext cx="3047107" cy="646331"/>
          </a:xfrm>
          <a:prstGeom prst="rect">
            <a:avLst/>
          </a:prstGeom>
          <a:noFill/>
        </p:spPr>
        <p:txBody>
          <a:bodyPr wrap="square">
            <a:spAutoFit/>
          </a:bodyPr>
          <a:lstStyle/>
          <a:p>
            <a:pPr algn="ctr"/>
            <a:r>
              <a:rPr lang="ja-JP" altLang="ja-JP" dirty="0"/>
              <a:t>Orbit, attitude, and other</a:t>
            </a:r>
            <a:endParaRPr lang="en-US" altLang="ja-JP" dirty="0"/>
          </a:p>
          <a:p>
            <a:pPr algn="ctr"/>
            <a:r>
              <a:rPr lang="ja-JP" altLang="ja-JP" dirty="0"/>
              <a:t>nonthermal errors</a:t>
            </a:r>
            <a:endParaRPr lang="ja-JP" altLang="en-US" dirty="0"/>
          </a:p>
        </p:txBody>
      </p:sp>
      <p:sp>
        <p:nvSpPr>
          <p:cNvPr id="27" name="テキスト ボックス 26">
            <a:extLst>
              <a:ext uri="{FF2B5EF4-FFF2-40B4-BE49-F238E27FC236}">
                <a16:creationId xmlns:a16="http://schemas.microsoft.com/office/drawing/2014/main" id="{475CC5F6-C4A7-901E-2012-409916E2B0A3}"/>
              </a:ext>
            </a:extLst>
          </p:cNvPr>
          <p:cNvSpPr txBox="1"/>
          <p:nvPr/>
        </p:nvSpPr>
        <p:spPr>
          <a:xfrm>
            <a:off x="11646385" y="4513065"/>
            <a:ext cx="3047107" cy="369332"/>
          </a:xfrm>
          <a:prstGeom prst="rect">
            <a:avLst/>
          </a:prstGeom>
          <a:noFill/>
        </p:spPr>
        <p:txBody>
          <a:bodyPr wrap="square">
            <a:spAutoFit/>
          </a:bodyPr>
          <a:lstStyle/>
          <a:p>
            <a:pPr algn="ctr"/>
            <a:r>
              <a:rPr lang="ja-JP" altLang="en-US" dirty="0"/>
              <a:t>Thermal LOS truth</a:t>
            </a:r>
          </a:p>
        </p:txBody>
      </p:sp>
      <p:sp>
        <p:nvSpPr>
          <p:cNvPr id="29" name="テキスト ボックス 28">
            <a:extLst>
              <a:ext uri="{FF2B5EF4-FFF2-40B4-BE49-F238E27FC236}">
                <a16:creationId xmlns:a16="http://schemas.microsoft.com/office/drawing/2014/main" id="{80EE754C-B705-4BAC-5440-55D1A568097F}"/>
              </a:ext>
            </a:extLst>
          </p:cNvPr>
          <p:cNvSpPr txBox="1"/>
          <p:nvPr/>
        </p:nvSpPr>
        <p:spPr>
          <a:xfrm>
            <a:off x="15012614" y="4499702"/>
            <a:ext cx="3603812" cy="369332"/>
          </a:xfrm>
          <a:prstGeom prst="rect">
            <a:avLst/>
          </a:prstGeom>
          <a:noFill/>
        </p:spPr>
        <p:txBody>
          <a:bodyPr wrap="square">
            <a:spAutoFit/>
          </a:bodyPr>
          <a:lstStyle/>
          <a:p>
            <a:r>
              <a:rPr lang="ja-JP" altLang="ja-JP" dirty="0"/>
              <a:t>Predicted thermal LOS</a:t>
            </a:r>
            <a:endParaRPr lang="ja-JP" altLang="en-US" dirty="0"/>
          </a:p>
        </p:txBody>
      </p:sp>
      <p:sp>
        <p:nvSpPr>
          <p:cNvPr id="31" name="テキスト ボックス 30">
            <a:extLst>
              <a:ext uri="{FF2B5EF4-FFF2-40B4-BE49-F238E27FC236}">
                <a16:creationId xmlns:a16="http://schemas.microsoft.com/office/drawing/2014/main" id="{AE261220-F486-34F3-8E3D-9EE1CD64AD9C}"/>
              </a:ext>
            </a:extLst>
          </p:cNvPr>
          <p:cNvSpPr txBox="1"/>
          <p:nvPr/>
        </p:nvSpPr>
        <p:spPr>
          <a:xfrm>
            <a:off x="5976476" y="4577073"/>
            <a:ext cx="2463985" cy="369332"/>
          </a:xfrm>
          <a:prstGeom prst="rect">
            <a:avLst/>
          </a:prstGeom>
          <a:noFill/>
        </p:spPr>
        <p:txBody>
          <a:bodyPr wrap="square">
            <a:spAutoFit/>
          </a:bodyPr>
          <a:lstStyle/>
          <a:p>
            <a:r>
              <a:rPr lang="ja-JP" altLang="en-US" dirty="0"/>
              <a:t>Scan-center error</a:t>
            </a:r>
          </a:p>
        </p:txBody>
      </p:sp>
      <p:cxnSp>
        <p:nvCxnSpPr>
          <p:cNvPr id="32" name="Connector 8">
            <a:extLst>
              <a:ext uri="{FF2B5EF4-FFF2-40B4-BE49-F238E27FC236}">
                <a16:creationId xmlns:a16="http://schemas.microsoft.com/office/drawing/2014/main" id="{6F2944A6-54AC-6362-A88C-0405DF9530B4}"/>
              </a:ext>
            </a:extLst>
          </p:cNvPr>
          <p:cNvCxnSpPr>
            <a:cxnSpLocks/>
          </p:cNvCxnSpPr>
          <p:nvPr/>
        </p:nvCxnSpPr>
        <p:spPr>
          <a:xfrm>
            <a:off x="6348263" y="7524682"/>
            <a:ext cx="1600767"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cxnSp>
        <p:nvCxnSpPr>
          <p:cNvPr id="36" name="Connector 8">
            <a:extLst>
              <a:ext uri="{FF2B5EF4-FFF2-40B4-BE49-F238E27FC236}">
                <a16:creationId xmlns:a16="http://schemas.microsoft.com/office/drawing/2014/main" id="{80236EE0-2DD3-39D4-4028-129355C61A8B}"/>
              </a:ext>
            </a:extLst>
          </p:cNvPr>
          <p:cNvCxnSpPr>
            <a:cxnSpLocks/>
          </p:cNvCxnSpPr>
          <p:nvPr/>
        </p:nvCxnSpPr>
        <p:spPr>
          <a:xfrm flipV="1">
            <a:off x="6348263" y="6162770"/>
            <a:ext cx="0" cy="2837901"/>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678E8980-C900-DB3E-45EC-7E03ECD4651C}"/>
              </a:ext>
            </a:extLst>
          </p:cNvPr>
          <p:cNvSpPr txBox="1"/>
          <p:nvPr/>
        </p:nvSpPr>
        <p:spPr>
          <a:xfrm>
            <a:off x="10403131" y="8664275"/>
            <a:ext cx="3036104" cy="523220"/>
          </a:xfrm>
          <a:prstGeom prst="rect">
            <a:avLst/>
          </a:prstGeom>
          <a:noFill/>
        </p:spPr>
        <p:txBody>
          <a:bodyPr wrap="square" rtlCol="0">
            <a:spAutoFit/>
          </a:bodyPr>
          <a:lstStyle/>
          <a:p>
            <a:r>
              <a:rPr kumimoji="1" lang="en-US" altLang="ja-JP" sz="2800" dirty="0"/>
              <a:t>PAT flow</a:t>
            </a:r>
          </a:p>
        </p:txBody>
      </p:sp>
      <p:sp>
        <p:nvSpPr>
          <p:cNvPr id="47" name="テキスト ボックス 46">
            <a:extLst>
              <a:ext uri="{FF2B5EF4-FFF2-40B4-BE49-F238E27FC236}">
                <a16:creationId xmlns:a16="http://schemas.microsoft.com/office/drawing/2014/main" id="{DC1B411D-A44D-CC38-A81F-BFCA7C60B531}"/>
              </a:ext>
            </a:extLst>
          </p:cNvPr>
          <p:cNvSpPr txBox="1"/>
          <p:nvPr/>
        </p:nvSpPr>
        <p:spPr>
          <a:xfrm>
            <a:off x="10697580" y="5428129"/>
            <a:ext cx="2259552" cy="523220"/>
          </a:xfrm>
          <a:prstGeom prst="rect">
            <a:avLst/>
          </a:prstGeom>
          <a:noFill/>
        </p:spPr>
        <p:txBody>
          <a:bodyPr wrap="square" rtlCol="0">
            <a:spAutoFit/>
          </a:bodyPr>
          <a:lstStyle/>
          <a:p>
            <a:r>
              <a:rPr kumimoji="1" lang="ja-JP" altLang="en-US" sz="2800" dirty="0"/>
              <a:t>Residual</a:t>
            </a:r>
          </a:p>
        </p:txBody>
      </p:sp>
      <p:sp>
        <p:nvSpPr>
          <p:cNvPr id="48" name="楕円 47">
            <a:extLst>
              <a:ext uri="{FF2B5EF4-FFF2-40B4-BE49-F238E27FC236}">
                <a16:creationId xmlns:a16="http://schemas.microsoft.com/office/drawing/2014/main" id="{81522D40-88F1-0366-DC15-8612D46AECD4}"/>
              </a:ext>
            </a:extLst>
          </p:cNvPr>
          <p:cNvSpPr/>
          <p:nvPr/>
        </p:nvSpPr>
        <p:spPr>
          <a:xfrm>
            <a:off x="6155871" y="7298876"/>
            <a:ext cx="422097" cy="4208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F0774505-4EFA-9FEE-0C8B-0F0CB82F422D}"/>
              </a:ext>
            </a:extLst>
          </p:cNvPr>
          <p:cNvCxnSpPr>
            <a:cxnSpLocks/>
          </p:cNvCxnSpPr>
          <p:nvPr/>
        </p:nvCxnSpPr>
        <p:spPr>
          <a:xfrm flipH="1">
            <a:off x="6577968" y="5293725"/>
            <a:ext cx="818875" cy="18504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54" name="Rectangle 9">
            <a:extLst>
              <a:ext uri="{FF2B5EF4-FFF2-40B4-BE49-F238E27FC236}">
                <a16:creationId xmlns:a16="http://schemas.microsoft.com/office/drawing/2014/main" id="{FE085D60-6CD3-6995-2DEE-66C65BF58791}"/>
              </a:ext>
            </a:extLst>
          </p:cNvPr>
          <p:cNvSpPr/>
          <p:nvPr/>
        </p:nvSpPr>
        <p:spPr>
          <a:xfrm>
            <a:off x="1511150" y="838172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10">
            <a:extLst>
              <a:ext uri="{FF2B5EF4-FFF2-40B4-BE49-F238E27FC236}">
                <a16:creationId xmlns:a16="http://schemas.microsoft.com/office/drawing/2014/main" id="{BDC1D837-DBF7-0045-EC3F-3D3F53555A62}"/>
              </a:ext>
            </a:extLst>
          </p:cNvPr>
          <p:cNvSpPr txBox="1"/>
          <p:nvPr/>
        </p:nvSpPr>
        <p:spPr>
          <a:xfrm>
            <a:off x="1581912" y="8522208"/>
            <a:ext cx="3895344" cy="82296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Nonthermal errors</a:t>
            </a:r>
          </a:p>
          <a:p>
            <a:pPr algn="ctr">
              <a:spcAft>
                <a:spcPts val="0"/>
              </a:spcAft>
            </a:pPr>
            <a:r>
              <a:rPr sz="2100" b="1">
                <a:solidFill>
                  <a:srgbClr val="FFFFFF"/>
                </a:solidFill>
                <a:latin typeface="Yu Gothic"/>
                <a:ea typeface="Yu Gothic"/>
              </a:rPr>
              <a:t>(orbit, attitude, etc.)</a:t>
            </a:r>
          </a:p>
        </p:txBody>
      </p:sp>
      <p:cxnSp>
        <p:nvCxnSpPr>
          <p:cNvPr id="59" name="Connector 11">
            <a:extLst>
              <a:ext uri="{FF2B5EF4-FFF2-40B4-BE49-F238E27FC236}">
                <a16:creationId xmlns:a16="http://schemas.microsoft.com/office/drawing/2014/main" id="{151DBB24-D977-3F94-369A-48716ED89439}"/>
              </a:ext>
            </a:extLst>
          </p:cNvPr>
          <p:cNvCxnSpPr>
            <a:cxnSpLocks/>
          </p:cNvCxnSpPr>
          <p:nvPr/>
        </p:nvCxnSpPr>
        <p:spPr>
          <a:xfrm>
            <a:off x="5550442" y="8987971"/>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234440"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34416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±1600 µrad</a:t>
            </a:r>
          </a:p>
        </p:txBody>
      </p:sp>
      <p:sp>
        <p:nvSpPr>
          <p:cNvPr id="62" name="TextBox 61"/>
          <p:cNvSpPr txBox="1"/>
          <p:nvPr/>
        </p:nvSpPr>
        <p:spPr>
          <a:xfrm>
            <a:off x="134416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Scan range</a:t>
            </a:r>
          </a:p>
        </p:txBody>
      </p:sp>
      <p:sp>
        <p:nvSpPr>
          <p:cNvPr id="63" name="Rounded Rectangle 62"/>
          <p:cNvSpPr/>
          <p:nvPr/>
        </p:nvSpPr>
        <p:spPr>
          <a:xfrm>
            <a:off x="5669279"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577900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120 µrad</a:t>
            </a:r>
          </a:p>
        </p:txBody>
      </p:sp>
      <p:sp>
        <p:nvSpPr>
          <p:cNvPr id="65" name="TextBox 64"/>
          <p:cNvSpPr txBox="1"/>
          <p:nvPr/>
        </p:nvSpPr>
        <p:spPr>
          <a:xfrm>
            <a:off x="577900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Scan step</a:t>
            </a:r>
          </a:p>
        </p:txBody>
      </p:sp>
      <p:sp>
        <p:nvSpPr>
          <p:cNvPr id="66" name="Rounded Rectangle 65"/>
          <p:cNvSpPr/>
          <p:nvPr/>
        </p:nvSpPr>
        <p:spPr>
          <a:xfrm>
            <a:off x="1010411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1021384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150 µrad</a:t>
            </a:r>
          </a:p>
        </p:txBody>
      </p:sp>
      <p:sp>
        <p:nvSpPr>
          <p:cNvPr id="68" name="TextBox 67"/>
          <p:cNvSpPr txBox="1"/>
          <p:nvPr/>
        </p:nvSpPr>
        <p:spPr>
          <a:xfrm>
            <a:off x="1021384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Detection radius (beacon scale)</a:t>
            </a:r>
          </a:p>
        </p:txBody>
      </p:sp>
      <p:sp>
        <p:nvSpPr>
          <p:cNvPr id="69" name="Rounded Rectangle 68"/>
          <p:cNvSpPr/>
          <p:nvPr/>
        </p:nvSpPr>
        <p:spPr>
          <a:xfrm>
            <a:off x="1453895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464868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0.1 s / point</a:t>
            </a:r>
          </a:p>
        </p:txBody>
      </p:sp>
      <p:sp>
        <p:nvSpPr>
          <p:cNvPr id="71" name="TextBox 70"/>
          <p:cNvSpPr txBox="1"/>
          <p:nvPr/>
        </p:nvSpPr>
        <p:spPr>
          <a:xfrm>
            <a:off x="1464868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Dwell time</a:t>
            </a:r>
          </a:p>
        </p:txBody>
      </p:sp>
      <p:sp>
        <p:nvSpPr>
          <p:cNvPr id="72" name="Rounded Rectangle 71"/>
          <p:cNvSpPr/>
          <p:nvPr/>
        </p:nvSpPr>
        <p:spPr>
          <a:xfrm>
            <a:off x="18973800"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1908352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27 × 27 = 729 points</a:t>
            </a:r>
          </a:p>
        </p:txBody>
      </p:sp>
      <p:sp>
        <p:nvSpPr>
          <p:cNvPr id="74" name="TextBox 73"/>
          <p:cNvSpPr txBox="1"/>
          <p:nvPr/>
        </p:nvSpPr>
        <p:spPr>
          <a:xfrm>
            <a:off x="1908352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Maximum number of scan points</a:t>
            </a:r>
          </a:p>
        </p:txBody>
      </p:sp>
      <p:sp>
        <p:nvSpPr>
          <p:cNvPr id="75" name="TextBox 74"/>
          <p:cNvSpPr txBox="1"/>
          <p:nvPr/>
        </p:nvSpPr>
        <p:spPr>
          <a:xfrm>
            <a:off x="1234440" y="11539728"/>
            <a:ext cx="21488400" cy="421654"/>
          </a:xfrm>
          <a:prstGeom prst="rect">
            <a:avLst/>
          </a:prstGeom>
          <a:noFill/>
        </p:spPr>
        <p:txBody>
          <a:bodyPr wrap="square" lIns="45720" tIns="18288" rIns="45720" bIns="18288" anchor="t">
            <a:spAutoFit/>
          </a:bodyPr>
          <a:lstStyle/>
          <a:p>
            <a:pPr algn="ctr">
              <a:spcAft>
                <a:spcPts val="0"/>
              </a:spcAft>
            </a:pPr>
            <a:r>
              <a:rPr sz="2500" b="1" dirty="0" err="1">
                <a:solidFill>
                  <a:srgbClr val="082B52"/>
                </a:solidFill>
                <a:latin typeface="Yu Gothic"/>
                <a:ea typeface="Yu Gothic"/>
              </a:rPr>
              <a:t>No coverage holes: half the grid diagonal ≈ 85 µrad &lt; 150 µrad detection radius</a:t>
            </a:r>
            <a:endParaRPr sz="2500" b="1" dirty="0">
              <a:solidFill>
                <a:srgbClr val="082B52"/>
              </a:solidFill>
              <a:latin typeface="Yu Gothic"/>
              <a:ea typeface="Yu Gothic"/>
            </a:endParaRPr>
          </a:p>
        </p:txBody>
      </p:sp>
      <p:sp>
        <p:nvSpPr>
          <p:cNvPr id="76" name="TextBox 75"/>
          <p:cNvSpPr txBox="1"/>
          <p:nvPr/>
        </p:nvSpPr>
        <p:spPr>
          <a:xfrm>
            <a:off x="1234440" y="12088368"/>
            <a:ext cx="21488400" cy="502920"/>
          </a:xfrm>
          <a:prstGeom prst="rect">
            <a:avLst/>
          </a:prstGeom>
          <a:noFill/>
        </p:spPr>
        <p:txBody>
          <a:bodyPr wrap="square" lIns="45720" tIns="18288" rIns="45720" bIns="18288" anchor="t">
            <a:spAutoFit/>
          </a:bodyPr>
          <a:lstStyle/>
          <a:p>
            <a:pPr algn="ctr">
              <a:spcAft>
                <a:spcPts val="0"/>
              </a:spcAft>
            </a:pPr>
            <a:r>
              <a:rPr sz="2200" b="0">
                <a:solidFill>
                  <a:srgbClr val="D03B46"/>
                </a:solidFill>
                <a:latin typeface="Yu Gothic"/>
                <a:ea typeface="Yu Gothic"/>
              </a:rPr>
              <a:t>Neglects inter-point slew, settling, and stochastic detection. Times are comparative under these scan conditions.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Acquisition conditions</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Orbit prediction, alignment, attitude, and drift are added to the thermal error</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9</a:t>
            </a:r>
            <a:endParaRPr sz="1800" b="0" dirty="0">
              <a:solidFill>
                <a:srgbClr val="666F79"/>
              </a:solidFill>
              <a:latin typeface="Yu Gothic"/>
              <a:ea typeface="Yu Gothic"/>
            </a:endParaRPr>
          </a:p>
        </p:txBody>
      </p:sp>
      <p:sp>
        <p:nvSpPr>
          <p:cNvPr id="5" name="Rounded Rectangle 4"/>
          <p:cNvSpPr/>
          <p:nvPr/>
        </p:nvSpPr>
        <p:spPr>
          <a:xfrm>
            <a:off x="1280160" y="2834640"/>
            <a:ext cx="21762720" cy="19202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792071" y="3383280"/>
                <a:ext cx="10738901" cy="64504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500" b="1" i="1" dirty="0" smtClean="0">
                              <a:solidFill>
                                <a:srgbClr val="082B52"/>
                              </a:solidFill>
                              <a:latin typeface="Cambria Math" panose="02040503050406030204" pitchFamily="18" charset="0"/>
                            </a:rPr>
                          </m:ctrlPr>
                        </m:sSubPr>
                        <m:e>
                          <m:r>
                            <a:rPr lang="en-US" sz="3500" b="1" i="1" dirty="0"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𝒏𝒐𝒏𝒕𝒉𝒆𝒓𝒎𝒂𝒍</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𝒐𝒓𝒃𝒊𝒕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𝒂𝒍𝒊𝒈𝒏𝒎𝒆𝒏𝒕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𝒂𝒕𝒕𝒊𝒕𝒖𝒅𝒆</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𝒅𝒓𝒊𝒇𝒕</m:t>
                          </m:r>
                        </m:sub>
                      </m:sSub>
                    </m:oMath>
                  </m:oMathPara>
                </a14:m>
                <a:endParaRPr lang="en-US" sz="3500" b="1" i="1" dirty="0" err="1">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792071" y="3383280"/>
                <a:ext cx="10738901" cy="645048"/>
              </a:xfrm>
              <a:prstGeom prst="rect">
                <a:avLst/>
              </a:prstGeom>
              <a:blipFill>
                <a:blip r:embed="rId3"/>
                <a:stretch>
                  <a:fillRect/>
                </a:stretch>
              </a:blipFill>
            </p:spPr>
            <p:txBody>
              <a:bodyPr/>
              <a:lstStyle/>
              <a:p>
                <a:r>
                  <a:rPr lang="ja-JP" alt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2534477905"/>
              </p:ext>
            </p:extLst>
          </p:nvPr>
        </p:nvGraphicFramePr>
        <p:xfrm>
          <a:off x="1097280" y="5486400"/>
          <a:ext cx="22128480" cy="45720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914400">
                <a:tc>
                  <a:txBody>
                    <a:bodyPr/>
                    <a:lstStyle/>
                    <a:p>
                      <a:pPr algn="l">
                        <a:spcAft>
                          <a:spcPts val="0"/>
                        </a:spcAft>
                      </a:pPr>
                      <a:r>
                        <a:rPr sz="2100" b="1">
                          <a:solidFill>
                            <a:srgbClr val="FFFFFF"/>
                          </a:solidFill>
                          <a:latin typeface="Yu Gothic"/>
                          <a:ea typeface="Yu Gothic"/>
                        </a:rPr>
                        <a:t>Component</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Construction</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Time behavior</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Magnitude</a:t>
                      </a:r>
                    </a:p>
                  </a:txBody>
                  <a:tcPr marL="64008" marR="64008" marT="27432" marB="27432"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100" b="0">
                          <a:solidFill>
                            <a:srgbClr val="232B34"/>
                          </a:solidFill>
                          <a:latin typeface="Yu Gothic"/>
                          <a:ea typeface="Yu Gothic"/>
                        </a:rPr>
                        <a:t>Orbit prediction</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Propagate the latest Sentinel-1 TLE; project error from precise POEORB onto the link transverse plane</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Orbital period</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Mean 280–700 µrad</a:t>
                      </a:r>
                    </a:p>
                  </a:txBody>
                  <a:tcPr marL="64008" marR="64008" marT="27432" marB="27432" anchor="ctr">
                    <a:solidFill>
                      <a:srgbClr val="FFFFFF"/>
                    </a:solidFill>
                  </a:tcPr>
                </a:tc>
                <a:extLst>
                  <a:ext uri="{0D108BD9-81ED-4DB2-BD59-A6C34878D82A}">
                    <a16:rowId xmlns:a16="http://schemas.microsoft.com/office/drawing/2014/main" val="10001"/>
                  </a:ext>
                </a:extLst>
              </a:tr>
              <a:tr h="914400">
                <a:tc>
                  <a:txBody>
                    <a:bodyPr/>
                    <a:lstStyle/>
                    <a:p>
                      <a:pPr algn="l">
                        <a:spcAft>
                          <a:spcPts val="0"/>
                        </a:spcAft>
                      </a:pPr>
                      <a:r>
                        <a:rPr sz="2100" b="0">
                          <a:solidFill>
                            <a:srgbClr val="232B34"/>
                          </a:solidFill>
                          <a:latin typeface="Yu Gothic"/>
                          <a:ea typeface="Yu Gothic"/>
                        </a:rPr>
                        <a:t>Alignment</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Constant two-axis residual per case</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DC</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50 µrad/axis, 1σ</a:t>
                      </a:r>
                    </a:p>
                  </a:txBody>
                  <a:tcPr marL="64008" marR="64008" marT="27432" marB="27432" anchor="ctr">
                    <a:solidFill>
                      <a:srgbClr val="F4F6F8"/>
                    </a:solidFill>
                  </a:tcPr>
                </a:tc>
                <a:extLst>
                  <a:ext uri="{0D108BD9-81ED-4DB2-BD59-A6C34878D82A}">
                    <a16:rowId xmlns:a16="http://schemas.microsoft.com/office/drawing/2014/main" val="10002"/>
                  </a:ext>
                </a:extLst>
              </a:tr>
              <a:tr h="914400">
                <a:tc>
                  <a:txBody>
                    <a:bodyPr/>
                    <a:lstStyle/>
                    <a:p>
                      <a:pPr algn="l">
                        <a:spcAft>
                          <a:spcPts val="0"/>
                        </a:spcAft>
                      </a:pPr>
                      <a:r>
                        <a:rPr sz="2100" b="0">
                          <a:solidFill>
                            <a:srgbClr val="232B34"/>
                          </a:solidFill>
                          <a:latin typeface="Yu Gothic"/>
                          <a:ea typeface="Yu Gothic"/>
                        </a:rPr>
                        <a:t>Attitude</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Gaussian random draw at each sample</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Simplified broadband</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50 µrad/axis, 1σ</a:t>
                      </a:r>
                    </a:p>
                  </a:txBody>
                  <a:tcPr marL="64008" marR="64008" marT="27432" marB="27432" anchor="ctr">
                    <a:solidFill>
                      <a:srgbClr val="FFFFFF"/>
                    </a:solidFill>
                  </a:tcPr>
                </a:tc>
                <a:extLst>
                  <a:ext uri="{0D108BD9-81ED-4DB2-BD59-A6C34878D82A}">
                    <a16:rowId xmlns:a16="http://schemas.microsoft.com/office/drawing/2014/main" val="10003"/>
                  </a:ext>
                </a:extLst>
              </a:tr>
              <a:tr h="914400">
                <a:tc>
                  <a:txBody>
                    <a:bodyPr/>
                    <a:lstStyle/>
                    <a:p>
                      <a:pPr algn="l">
                        <a:spcAft>
                          <a:spcPts val="0"/>
                        </a:spcAft>
                      </a:pPr>
                      <a:r>
                        <a:rPr sz="2100" b="0">
                          <a:solidFill>
                            <a:srgbClr val="232B34"/>
                          </a:solidFill>
                          <a:latin typeface="Yu Gothic"/>
                          <a:ea typeface="Yu Gothic"/>
                        </a:rPr>
                        <a:t>Drift</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Sinusoid</a:t>
                      </a:r>
                      <a:endParaRPr sz="21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900 s period</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30 µrad amplitude</a:t>
                      </a:r>
                    </a:p>
                  </a:txBody>
                  <a:tcPr marL="64008" marR="64008" marT="27432" marB="27432" anchor="ctr">
                    <a:solidFill>
                      <a:srgbClr val="F4F6F8"/>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727563" y="11141964"/>
            <a:ext cx="14927292" cy="470898"/>
          </a:xfrm>
          <a:prstGeom prst="rect">
            <a:avLst/>
          </a:prstGeom>
          <a:noFill/>
        </p:spPr>
        <p:txBody>
          <a:bodyPr wrap="none" lIns="36576" tIns="27432" rIns="36576" bIns="27432" anchor="t">
            <a:spAutoFit/>
          </a:bodyPr>
          <a:lstStyle/>
          <a:p>
            <a:pPr algn="ctr"/>
            <a:r>
              <a:rPr sz="2700" b="1" dirty="0" err="1">
                <a:solidFill>
                  <a:srgbClr val="D03B46"/>
                </a:solidFill>
                <a:latin typeface="Yu Gothic"/>
              </a:rPr>
              <a:t>This is not a spacecraft-specific error budget; it represents a generic GNSS-denied small-LEO scenario.</a:t>
            </a:r>
            <a:endParaRPr sz="2700" b="1" dirty="0">
              <a:solidFill>
                <a:srgbClr val="D03B46"/>
              </a:solidFill>
              <a:latin typeface="Yu Gothic"/>
            </a:endParaRPr>
          </a:p>
        </p:txBody>
      </p:sp>
      <p:sp>
        <p:nvSpPr>
          <p:cNvPr id="9" name="TextBox 8"/>
          <p:cNvSpPr txBox="1"/>
          <p:nvPr/>
        </p:nvSpPr>
        <p:spPr>
          <a:xfrm>
            <a:off x="1097280" y="10241280"/>
            <a:ext cx="22128480" cy="50292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One random seed per case; statistical spread is not evaluated.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Acquisition results</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With thermal LOS error only, mean acquisition time drops from 14.6 to 0.10 s, matching thermal-truth correction</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20</a:t>
            </a:r>
            <a:endParaRPr sz="1800" b="0" dirty="0">
              <a:solidFill>
                <a:srgbClr val="666F79"/>
              </a:solidFill>
              <a:latin typeface="Yu Gothic"/>
              <a:ea typeface="Yu Gothic"/>
            </a:endParaRPr>
          </a:p>
        </p:txBody>
      </p:sp>
      <p:sp>
        <p:nvSpPr>
          <p:cNvPr id="5" name="TextBox 4"/>
          <p:cNvSpPr txBox="1"/>
          <p:nvPr/>
        </p:nvSpPr>
        <p:spPr>
          <a:xfrm>
            <a:off x="1188720" y="3236976"/>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No correction</a:t>
            </a: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200400"/>
            <a:ext cx="914400" cy="14859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14.6 s</a:t>
            </a:r>
          </a:p>
        </p:txBody>
      </p:sp>
      <p:sp>
        <p:nvSpPr>
          <p:cNvPr id="13" name="TextBox 12"/>
          <p:cNvSpPr txBox="1"/>
          <p:nvPr/>
        </p:nvSpPr>
        <p:spPr>
          <a:xfrm>
            <a:off x="1188720" y="4727448"/>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Hierarchical model</a:t>
            </a:r>
          </a:p>
        </p:txBody>
      </p:sp>
      <p:sp>
        <p:nvSpPr>
          <p:cNvPr id="14" name="Rectangle 13"/>
          <p:cNvSpPr/>
          <p:nvPr/>
        </p:nvSpPr>
        <p:spPr>
          <a:xfrm>
            <a:off x="5667451" y="48280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4828032"/>
            <a:ext cx="91440"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4690872"/>
            <a:ext cx="914400" cy="14859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0.10 s</a:t>
            </a:r>
          </a:p>
        </p:txBody>
      </p:sp>
      <p:sp>
        <p:nvSpPr>
          <p:cNvPr id="17" name="TextBox 16"/>
          <p:cNvSpPr txBox="1"/>
          <p:nvPr/>
        </p:nvSpPr>
        <p:spPr>
          <a:xfrm>
            <a:off x="1188720" y="6213347"/>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Thermal-truth upper bound</a:t>
            </a:r>
          </a:p>
        </p:txBody>
      </p:sp>
      <p:sp>
        <p:nvSpPr>
          <p:cNvPr id="18" name="Rectangle 17"/>
          <p:cNvSpPr/>
          <p:nvPr/>
        </p:nvSpPr>
        <p:spPr>
          <a:xfrm>
            <a:off x="5667451" y="63139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6313932"/>
            <a:ext cx="91440"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6176772"/>
            <a:ext cx="914400" cy="1485900"/>
          </a:xfrm>
          <a:prstGeom prst="rect">
            <a:avLst/>
          </a:prstGeom>
          <a:noFill/>
        </p:spPr>
        <p:txBody>
          <a:bodyPr wrap="square" lIns="36576" tIns="27432" rIns="36576" bIns="27432" anchor="ctr">
            <a:spAutoFit/>
          </a:bodyPr>
          <a:lstStyle/>
          <a:p>
            <a:pPr algn="l">
              <a:spcAft>
                <a:spcPts val="0"/>
              </a:spcAft>
            </a:pPr>
            <a:r>
              <a:rPr sz="2200" b="1">
                <a:solidFill>
                  <a:srgbClr val="1B74AA"/>
                </a:solidFill>
                <a:latin typeface="Yu Gothic"/>
                <a:ea typeface="Yu Gothic"/>
              </a:rPr>
              <a:t>0.10 s</a:t>
            </a:r>
          </a:p>
        </p:txBody>
      </p:sp>
      <p:graphicFrame>
        <p:nvGraphicFramePr>
          <p:cNvPr id="21" name="Table 20"/>
          <p:cNvGraphicFramePr>
            <a:graphicFrameLocks noGrp="1"/>
          </p:cNvGraphicFramePr>
          <p:nvPr/>
        </p:nvGraphicFramePr>
        <p:xfrm>
          <a:off x="16276320" y="3017520"/>
          <a:ext cx="6766560" cy="395020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spcAft>
                          <a:spcPts val="0"/>
                        </a:spcAft>
                      </a:pPr>
                      <a:r>
                        <a:rPr sz="2000" b="1">
                          <a:solidFill>
                            <a:srgbClr val="FFFFFF"/>
                          </a:solidFill>
                          <a:latin typeface="Yu Gothic"/>
                          <a:ea typeface="Yu Gothic"/>
                        </a:rPr>
                        <a:t>Correction</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Success rate</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Mean acquisition time</a:t>
                      </a: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spcAft>
                          <a:spcPts val="0"/>
                        </a:spcAft>
                      </a:pPr>
                      <a:r>
                        <a:rPr sz="2000" b="0">
                          <a:solidFill>
                            <a:srgbClr val="232B34"/>
                          </a:solidFill>
                          <a:latin typeface="Yu Gothic"/>
                          <a:ea typeface="Yu Gothic"/>
                        </a:rPr>
                        <a:t>No correction</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14.6 s</a:t>
                      </a: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spcAft>
                          <a:spcPts val="0"/>
                        </a:spcAft>
                      </a:pPr>
                      <a:r>
                        <a:rPr sz="2000" b="0">
                          <a:solidFill>
                            <a:srgbClr val="232B34"/>
                          </a:solidFill>
                          <a:latin typeface="Yu Gothic"/>
                          <a:ea typeface="Yu Gothic"/>
                        </a:rPr>
                        <a:t>Hierarchical model</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spcAft>
                          <a:spcPts val="0"/>
                        </a:spcAft>
                      </a:pPr>
                      <a:r>
                        <a:rPr sz="2000" b="0">
                          <a:solidFill>
                            <a:srgbClr val="232B34"/>
                          </a:solidFill>
                          <a:latin typeface="Yu Gothic"/>
                          <a:ea typeface="Yu Gothic"/>
                        </a:rPr>
                        <a:t>Thermal truth</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9.3 µrad</a:t>
            </a:r>
          </a:p>
        </p:txBody>
      </p:sp>
      <p:sp>
        <p:nvSpPr>
          <p:cNvPr id="24" name="TextBox 23"/>
          <p:cNvSpPr txBox="1"/>
          <p:nvPr/>
        </p:nvSpPr>
        <p:spPr>
          <a:xfrm>
            <a:off x="16459200" y="9217152"/>
            <a:ext cx="640080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Mean thermal residual after correction</a:t>
            </a:r>
          </a:p>
        </p:txBody>
      </p:sp>
      <p:sp>
        <p:nvSpPr>
          <p:cNvPr id="25" name="TextBox 24"/>
          <p:cNvSpPr txBox="1"/>
          <p:nvPr/>
        </p:nvSpPr>
        <p:spPr>
          <a:xfrm>
            <a:off x="2011680" y="10424160"/>
            <a:ext cx="20299680" cy="1188720"/>
          </a:xfrm>
          <a:prstGeom prst="rect">
            <a:avLst/>
          </a:prstGeom>
          <a:noFill/>
        </p:spPr>
        <p:txBody>
          <a:bodyPr wrap="square" lIns="36576" tIns="27432" rIns="36576" bIns="27432" anchor="t">
            <a:spAutoFit/>
          </a:bodyPr>
          <a:lstStyle/>
          <a:p>
            <a:pPr algn="ctr">
              <a:lnSpc>
                <a:spcPct val="115000"/>
              </a:lnSpc>
              <a:spcAft>
                <a:spcPts val="0"/>
              </a:spcAft>
            </a:pPr>
            <a:r>
              <a:rPr sz="2500" b="0">
                <a:solidFill>
                  <a:srgbClr val="666F79"/>
                </a:solidFill>
                <a:latin typeface="Yu Gothic"/>
                <a:ea typeface="Yu Gothic"/>
              </a:rPr>
              <a:t>The residual is far below the 150 µrad detection radius, so acquisition occurs in one dwell.</a:t>
            </a:r>
          </a:p>
          <a:p>
            <a:pPr algn="ctr">
              <a:lnSpc>
                <a:spcPct val="115000"/>
              </a:lnSpc>
              <a:spcAft>
                <a:spcPts val="0"/>
              </a:spcAft>
            </a:pPr>
            <a:r>
              <a:rPr sz="2500" b="0">
                <a:solidFill>
                  <a:srgbClr val="666F79"/>
                </a:solidFill>
                <a:latin typeface="Yu Gothic"/>
                <a:ea typeface="Yu Gothic"/>
              </a:rPr>
              <a:t>Mean over 14 COLD baseline-surface cases; the main result includes nonthermal error on the next slide.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Acquisition results</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With nonthermal LOS error, the mean drops from 19.2 to 5.45 s; the residual is governed by nonthermal error</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2</a:t>
            </a:r>
            <a:r>
              <a:rPr lang="en-US" sz="1800" b="0" dirty="0">
                <a:solidFill>
                  <a:srgbClr val="666F79"/>
                </a:solidFill>
                <a:latin typeface="Yu Gothic"/>
                <a:ea typeface="Yu Gothic"/>
              </a:rPr>
              <a:t>1</a:t>
            </a:r>
            <a:endParaRPr sz="1800" b="0" dirty="0">
              <a:solidFill>
                <a:srgbClr val="666F79"/>
              </a:solidFill>
              <a:latin typeface="Yu Gothic"/>
              <a:ea typeface="Yu Gothic"/>
            </a:endParaRPr>
          </a:p>
        </p:txBody>
      </p:sp>
      <p:sp>
        <p:nvSpPr>
          <p:cNvPr id="5" name="TextBox 4"/>
          <p:cNvSpPr txBox="1"/>
          <p:nvPr/>
        </p:nvSpPr>
        <p:spPr>
          <a:xfrm>
            <a:off x="1371600" y="32369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No correction</a:t>
            </a: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200400"/>
            <a:ext cx="914400" cy="18288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19.2 s</a:t>
            </a:r>
          </a:p>
        </p:txBody>
      </p:sp>
      <p:sp>
        <p:nvSpPr>
          <p:cNvPr id="9" name="TextBox 8"/>
          <p:cNvSpPr txBox="1"/>
          <p:nvPr/>
        </p:nvSpPr>
        <p:spPr>
          <a:xfrm>
            <a:off x="1371600" y="50657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Hierarchical model</a:t>
            </a: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2424255"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029200"/>
            <a:ext cx="914400" cy="18288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5.45 s</a:t>
            </a:r>
          </a:p>
        </p:txBody>
      </p:sp>
      <p:sp>
        <p:nvSpPr>
          <p:cNvPr id="13" name="Rounded Rectangle 12"/>
          <p:cNvSpPr/>
          <p:nvPr/>
        </p:nvSpPr>
        <p:spPr>
          <a:xfrm>
            <a:off x="16093440" y="3108960"/>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3236976"/>
            <a:ext cx="649224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−72%</a:t>
            </a:r>
          </a:p>
        </p:txBody>
      </p:sp>
      <p:sp>
        <p:nvSpPr>
          <p:cNvPr id="15" name="TextBox 14"/>
          <p:cNvSpPr txBox="1"/>
          <p:nvPr/>
        </p:nvSpPr>
        <p:spPr>
          <a:xfrm>
            <a:off x="16184880" y="391363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Mean acquisition time</a:t>
            </a:r>
          </a:p>
        </p:txBody>
      </p:sp>
      <p:sp>
        <p:nvSpPr>
          <p:cNvPr id="16" name="Rounded Rectangle 15"/>
          <p:cNvSpPr/>
          <p:nvPr/>
        </p:nvSpPr>
        <p:spPr>
          <a:xfrm>
            <a:off x="16093440" y="5257800"/>
            <a:ext cx="6675120" cy="141732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184880" y="5385816"/>
            <a:ext cx="6492240" cy="566928"/>
          </a:xfrm>
          <a:prstGeom prst="rect">
            <a:avLst/>
          </a:prstGeom>
          <a:noFill/>
        </p:spPr>
        <p:txBody>
          <a:bodyPr wrap="square" lIns="36576" tIns="27432" rIns="36576" bIns="27432" anchor="t">
            <a:spAutoFit/>
          </a:bodyPr>
          <a:lstStyle/>
          <a:p>
            <a:pPr algn="ctr">
              <a:spcAft>
                <a:spcPts val="0"/>
              </a:spcAft>
            </a:pPr>
            <a:r>
              <a:rPr sz="3200" b="1">
                <a:solidFill>
                  <a:srgbClr val="1B74AA"/>
                </a:solidFill>
                <a:latin typeface="Yu Gothic"/>
                <a:ea typeface="Yu Gothic"/>
              </a:rPr>
              <a:t>98 → 100%</a:t>
            </a:r>
          </a:p>
        </p:txBody>
      </p:sp>
      <p:sp>
        <p:nvSpPr>
          <p:cNvPr id="18" name="TextBox 17"/>
          <p:cNvSpPr txBox="1"/>
          <p:nvPr/>
        </p:nvSpPr>
        <p:spPr>
          <a:xfrm>
            <a:off x="16184880" y="606247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Success rate</a:t>
            </a:r>
          </a:p>
        </p:txBody>
      </p:sp>
      <p:graphicFrame>
        <p:nvGraphicFramePr>
          <p:cNvPr id="19" name="Table 18"/>
          <p:cNvGraphicFramePr>
            <a:graphicFrameLocks noGrp="1"/>
          </p:cNvGraphicFramePr>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spcAft>
                          <a:spcPts val="0"/>
                        </a:spcAft>
                      </a:pPr>
                      <a:r>
                        <a:rPr sz="2100" b="1">
                          <a:solidFill>
                            <a:srgbClr val="FFFFFF"/>
                          </a:solidFill>
                          <a:latin typeface="Yu Gothic"/>
                          <a:ea typeface="Yu Gothic"/>
                        </a:rPr>
                        <a:t>Metric</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No correction</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Hierarchical model (feedforward)</a:t>
                      </a: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spcAft>
                          <a:spcPts val="0"/>
                        </a:spcAft>
                      </a:pPr>
                      <a:r>
                        <a:rPr sz="2100" b="0">
                          <a:solidFill>
                            <a:srgbClr val="232B34"/>
                          </a:solidFill>
                          <a:latin typeface="Yu Gothic"/>
                          <a:ea typeface="Yu Gothic"/>
                        </a:rPr>
                        <a:t>Success rate</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98%</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100%</a:t>
                      </a: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spcAft>
                          <a:spcPts val="0"/>
                        </a:spcAft>
                      </a:pPr>
                      <a:r>
                        <a:rPr sz="2100" b="0">
                          <a:solidFill>
                            <a:srgbClr val="232B34"/>
                          </a:solidFill>
                          <a:latin typeface="Yu Gothic"/>
                          <a:ea typeface="Yu Gothic"/>
                        </a:rPr>
                        <a:t>Mean acquisition time</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19.2 s</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5.45 s</a:t>
                      </a: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spcAft>
                          <a:spcPts val="0"/>
                        </a:spcAft>
                      </a:pPr>
                      <a:r>
                        <a:rPr sz="2100" b="0">
                          <a:solidFill>
                            <a:srgbClr val="232B34"/>
                          </a:solidFill>
                          <a:latin typeface="Yu Gothic"/>
                          <a:ea typeface="Yu Gothic"/>
                        </a:rPr>
                        <a:t>Mean initial error after correction</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448 µrad (almost entirely nonthermal)</a:t>
                      </a: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spcAft>
                          <a:spcPts val="0"/>
                        </a:spcAft>
                      </a:pPr>
                      <a:r>
                        <a:rPr sz="2100" b="0">
                          <a:solidFill>
                            <a:srgbClr val="232B34"/>
                          </a:solidFill>
                          <a:latin typeface="Yu Gothic"/>
                          <a:ea typeface="Yu Gothic"/>
                        </a:rPr>
                        <a:t>PY sun face (thermal ≈1.2 mrad)</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37.3–39.5 s / 88–97%</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1.3–1.8 s / 100%</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1355566" y="11942141"/>
            <a:ext cx="21671280" cy="486287"/>
          </a:xfrm>
          <a:prstGeom prst="rect">
            <a:avLst/>
          </a:prstGeom>
          <a:noFill/>
        </p:spPr>
        <p:txBody>
          <a:bodyPr wrap="square" lIns="36576" tIns="27432" rIns="36576" bIns="27432" anchor="t">
            <a:spAutoFit/>
          </a:bodyPr>
          <a:lstStyle/>
          <a:p>
            <a:pPr algn="ctr"/>
            <a:r>
              <a:rPr lang="ja-JP" altLang="ja-JP" sz="2800" b="1" dirty="0"/>
              <a:t>Predicting and removing thermal error shifts the coarse-acquisition limit from thermal to nonthermal error</a:t>
            </a:r>
            <a:endParaRPr lang="ja-JP" altLang="ja-JP"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Acquisition results</a:t>
            </a:r>
          </a:p>
        </p:txBody>
      </p:sp>
      <p:sp>
        <p:nvSpPr>
          <p:cNvPr id="3" name="TextBox 2"/>
          <p:cNvSpPr txBox="1"/>
          <p:nvPr/>
        </p:nvSpPr>
        <p:spPr>
          <a:xfrm>
            <a:off x="1536192" y="1359777"/>
            <a:ext cx="22037040" cy="1066061"/>
          </a:xfrm>
          <a:prstGeom prst="rect">
            <a:avLst/>
          </a:prstGeom>
          <a:noFill/>
        </p:spPr>
        <p:txBody>
          <a:bodyPr wrap="square" lIns="45720" tIns="18288" rIns="45720" bIns="18288" anchor="ctr">
            <a:spAutoFit/>
          </a:bodyPr>
          <a:lstStyle/>
          <a:p>
            <a:pPr algn="l">
              <a:lnSpc>
                <a:spcPct val="110000"/>
              </a:lnSpc>
              <a:spcAft>
                <a:spcPts val="0"/>
              </a:spcAft>
            </a:pPr>
            <a:endParaRPr lang="en-US" sz="3100" b="1" dirty="0">
              <a:solidFill>
                <a:srgbClr val="082B52"/>
              </a:solidFill>
              <a:latin typeface="Yu Gothic"/>
              <a:ea typeface="Yu Gothic"/>
            </a:endParaRPr>
          </a:p>
          <a:p>
            <a:pPr algn="l">
              <a:lnSpc>
                <a:spcPct val="110000"/>
              </a:lnSpc>
              <a:spcAft>
                <a:spcPts val="0"/>
              </a:spcAft>
            </a:pPr>
            <a:r>
              <a:rPr sz="3100" b="1" dirty="0" err="1">
                <a:solidFill>
                  <a:srgbClr val="082B52"/>
                </a:solidFill>
                <a:latin typeface="Yu Gothic"/>
                <a:ea typeface="Yu Gothic"/>
              </a:rPr>
              <a:t>Temperature prediction helps the first acquisition; residual updates lower the later-orbit floor</a:t>
            </a:r>
            <a:endParaRPr sz="31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21</a:t>
            </a:r>
          </a:p>
        </p:txBody>
      </p:sp>
      <p:sp>
        <p:nvSpPr>
          <p:cNvPr id="5" name="Rectangle 4"/>
          <p:cNvSpPr/>
          <p:nvPr/>
        </p:nvSpPr>
        <p:spPr>
          <a:xfrm>
            <a:off x="1005840" y="3017520"/>
            <a:ext cx="13716000" cy="69494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residual_update_comparison.png"/>
          <p:cNvPicPr>
            <a:picLocks noChangeAspect="1"/>
          </p:cNvPicPr>
          <p:nvPr/>
        </p:nvPicPr>
        <p:blipFill>
          <a:blip r:embed="rId3"/>
          <a:stretch>
            <a:fillRect/>
          </a:stretch>
        </p:blipFill>
        <p:spPr>
          <a:xfrm>
            <a:off x="1143000" y="3318510"/>
            <a:ext cx="13441680" cy="6347460"/>
          </a:xfrm>
          <a:prstGeom prst="rect">
            <a:avLst/>
          </a:prstGeom>
        </p:spPr>
      </p:pic>
      <p:graphicFrame>
        <p:nvGraphicFramePr>
          <p:cNvPr id="7" name="Table 6"/>
          <p:cNvGraphicFramePr>
            <a:graphicFrameLocks noGrp="1"/>
          </p:cNvGraphicFramePr>
          <p:nvPr/>
        </p:nvGraphicFramePr>
        <p:xfrm>
          <a:off x="15270480" y="3291840"/>
          <a:ext cx="8138160" cy="3017517"/>
        </p:xfrm>
        <a:graphic>
          <a:graphicData uri="http://schemas.openxmlformats.org/drawingml/2006/table">
            <a:tbl>
              <a:tblPr firstRow="1" bandRow="1">
                <a:tableStyleId>{5C22544A-7EE6-4342-B048-85BDC9FD1C3A}</a:tableStyleId>
              </a:tblPr>
              <a:tblGrid>
                <a:gridCol w="429514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tblGrid>
              <a:tr h="1005839">
                <a:tc>
                  <a:txBody>
                    <a:bodyPr/>
                    <a:lstStyle/>
                    <a:p>
                      <a:pPr algn="l">
                        <a:spcAft>
                          <a:spcPts val="0"/>
                        </a:spcAft>
                      </a:pPr>
                      <a:r>
                        <a:rPr sz="2100" b="1">
                          <a:solidFill>
                            <a:srgbClr val="FFFFFF"/>
                          </a:solidFill>
                          <a:latin typeface="Yu Gothic"/>
                          <a:ea typeface="Yu Gothic"/>
                        </a:rPr>
                        <a:t>Case 16 (PY)</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First orbit</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Orbit 1 onward</a:t>
                      </a:r>
                    </a:p>
                  </a:txBody>
                  <a:tcPr marL="128016" marR="128016" anchor="ctr">
                    <a:solidFill>
                      <a:srgbClr val="082B52"/>
                    </a:solidFill>
                  </a:tcPr>
                </a:tc>
                <a:extLst>
                  <a:ext uri="{0D108BD9-81ED-4DB2-BD59-A6C34878D82A}">
                    <a16:rowId xmlns:a16="http://schemas.microsoft.com/office/drawing/2014/main" val="10000"/>
                  </a:ext>
                </a:extLst>
              </a:tr>
              <a:tr h="1005839">
                <a:tc>
                  <a:txBody>
                    <a:bodyPr/>
                    <a:lstStyle/>
                    <a:p>
                      <a:pPr algn="l">
                        <a:spcAft>
                          <a:spcPts val="0"/>
                        </a:spcAft>
                      </a:pPr>
                      <a:r>
                        <a:rPr sz="2100" b="0">
                          <a:solidFill>
                            <a:srgbClr val="232B34"/>
                          </a:solidFill>
                          <a:latin typeface="Yu Gothic"/>
                          <a:ea typeface="Yu Gothic"/>
                        </a:rPr>
                        <a:t>Direct Fourier fit to total error</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1"/>
                  </a:ext>
                </a:extLst>
              </a:tr>
              <a:tr h="1005839">
                <a:tc>
                  <a:txBody>
                    <a:bodyPr/>
                    <a:lstStyle/>
                    <a:p>
                      <a:pPr algn="l">
                        <a:spcAft>
                          <a:spcPts val="0"/>
                        </a:spcAft>
                      </a:pPr>
                      <a:r>
                        <a:rPr sz="2100" b="0">
                          <a:solidFill>
                            <a:srgbClr val="232B34"/>
                          </a:solidFill>
                          <a:latin typeface="Yu Gothic"/>
                          <a:ea typeface="Yu Gothic"/>
                        </a:rPr>
                        <a:t>Hierarchical model + residual Fourier</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15270480" y="6675120"/>
            <a:ext cx="813816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471647" y="6967728"/>
            <a:ext cx="7735824" cy="640080"/>
          </a:xfrm>
          <a:prstGeom prst="rect">
            <a:avLst/>
          </a:prstGeom>
          <a:noFill/>
        </p:spPr>
        <p:txBody>
          <a:bodyPr wrap="square" lIns="45720" tIns="18288" rIns="45720" bIns="18288" anchor="t">
            <a:spAutoFit/>
          </a:bodyPr>
          <a:lstStyle/>
          <a:p>
            <a:pPr algn="ctr">
              <a:spcAft>
                <a:spcPts val="0"/>
              </a:spcAft>
            </a:pPr>
            <a:r>
              <a:rPr sz="2400" b="1">
                <a:solidFill>
                  <a:srgbClr val="EC9427"/>
                </a:solidFill>
                <a:latin typeface="Yu Gothic"/>
                <a:ea typeface="Yu Gothic"/>
              </a:rPr>
              <a:t>A constant residual update is insufficient</a:t>
            </a:r>
          </a:p>
        </p:txBody>
      </p:sp>
      <p:sp>
        <p:nvSpPr>
          <p:cNvPr id="10" name="TextBox 9"/>
          <p:cNvSpPr txBox="1"/>
          <p:nvPr/>
        </p:nvSpPr>
        <p:spPr>
          <a:xfrm>
            <a:off x="15544800" y="7726679"/>
            <a:ext cx="7589520" cy="123444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Case 13, orbit 1 onward: 1.66 → 1.35 s;
above the 0.38 s Fourier result.</a:t>
            </a:r>
          </a:p>
        </p:txBody>
      </p:sp>
      <p:sp>
        <p:nvSpPr>
          <p:cNvPr id="11" name="Rounded Rectangle 10"/>
          <p:cNvSpPr/>
          <p:nvPr/>
        </p:nvSpPr>
        <p:spPr>
          <a:xfrm>
            <a:off x="15270480" y="9418320"/>
            <a:ext cx="8138160" cy="2743200"/>
          </a:xfrm>
          <a:prstGeom prst="roundRect">
            <a:avLst/>
          </a:prstGeom>
          <a:solidFill>
            <a:srgbClr val="F4F6F8"/>
          </a:solidFill>
          <a:ln w="22860">
            <a:solidFill>
              <a:srgbClr val="666F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471647" y="9710928"/>
            <a:ext cx="7735824" cy="640080"/>
          </a:xfrm>
          <a:prstGeom prst="rect">
            <a:avLst/>
          </a:prstGeom>
          <a:noFill/>
        </p:spPr>
        <p:txBody>
          <a:bodyPr wrap="square" lIns="45720" tIns="18288" rIns="45720" bIns="18288" anchor="t">
            <a:spAutoFit/>
          </a:bodyPr>
          <a:lstStyle/>
          <a:p>
            <a:pPr algn="ctr">
              <a:spcAft>
                <a:spcPts val="0"/>
              </a:spcAft>
            </a:pPr>
            <a:r>
              <a:rPr sz="2400" b="1">
                <a:solidFill>
                  <a:srgbClr val="666F79"/>
                </a:solidFill>
                <a:latin typeface="Yu Gothic"/>
                <a:ea typeface="Yu Gothic"/>
              </a:rPr>
              <a:t>Scope of this section</a:t>
            </a:r>
          </a:p>
        </p:txBody>
      </p:sp>
      <p:sp>
        <p:nvSpPr>
          <p:cNvPr id="13" name="TextBox 12"/>
          <p:cNvSpPr txBox="1"/>
          <p:nvPr/>
        </p:nvSpPr>
        <p:spPr>
          <a:xfrm>
            <a:off x="15544800" y="10469880"/>
            <a:ext cx="7589520" cy="1508760"/>
          </a:xfrm>
          <a:prstGeom prst="rect">
            <a:avLst/>
          </a:prstGeom>
          <a:noFill/>
        </p:spPr>
        <p:txBody>
          <a:bodyPr wrap="square" lIns="45720" tIns="18288" rIns="45720" bIns="18288" anchor="t">
            <a:spAutoFit/>
          </a:bodyPr>
          <a:lstStyle/>
          <a:p>
            <a:pPr algn="ctr">
              <a:lnSpc>
                <a:spcPct val="115000"/>
              </a:lnSpc>
              <a:spcAft>
                <a:spcPts val="0"/>
              </a:spcAft>
            </a:pPr>
            <a:r>
              <a:rPr sz="2100" b="0">
                <a:solidFill>
                  <a:srgbClr val="232B34"/>
                </a:solidFill>
                <a:latin typeface="Yu Gothic"/>
                <a:ea typeface="Yu Gothic"/>
              </a:rPr>
              <a:t>Thermal-model coefficients are fixed.
Preliminary update of total pointing residual
after acquisition (two cases, dense sampling).</a:t>
            </a:r>
          </a:p>
        </p:txBody>
      </p:sp>
      <p:sp>
        <p:nvSpPr>
          <p:cNvPr id="14" name="TextBox 13"/>
          <p:cNvSpPr txBox="1"/>
          <p:nvPr/>
        </p:nvSpPr>
        <p:spPr>
          <a:xfrm>
            <a:off x="1005840" y="10241280"/>
            <a:ext cx="13716000" cy="1280160"/>
          </a:xfrm>
          <a:prstGeom prst="rect">
            <a:avLst/>
          </a:prstGeom>
          <a:noFill/>
        </p:spPr>
        <p:txBody>
          <a:bodyPr wrap="square" lIns="45720" tIns="18288" rIns="45720" bIns="18288" anchor="t">
            <a:spAutoFit/>
          </a:bodyPr>
          <a:lstStyle/>
          <a:p>
            <a:pPr algn="ctr">
              <a:lnSpc>
                <a:spcPct val="125000"/>
              </a:lnSpc>
              <a:spcAft>
                <a:spcPts val="0"/>
              </a:spcAft>
            </a:pPr>
            <a:r>
              <a:rPr sz="2400" b="1">
                <a:solidFill>
                  <a:srgbClr val="082B52"/>
                </a:solidFill>
                <a:latin typeface="Yu Gothic"/>
                <a:ea typeface="Yu Gothic"/>
              </a:rPr>
              <a:t>Primary result: temperature/operating-state feedforward.</a:t>
            </a:r>
          </a:p>
          <a:p>
            <a:pPr algn="ctr">
              <a:lnSpc>
                <a:spcPct val="125000"/>
              </a:lnSpc>
              <a:spcAft>
                <a:spcPts val="0"/>
              </a:spcAft>
            </a:pPr>
            <a:r>
              <a:rPr sz="2400" b="1">
                <a:solidFill>
                  <a:srgbClr val="082B52"/>
                </a:solidFill>
                <a:latin typeface="Yu Gothic"/>
                <a:ea typeface="Yu Gothic"/>
              </a:rPr>
              <a:t>Repeated links may reduce the floor further.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5EFC-94D7-A712-6ED4-B60515FAD6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1A9901-D1AD-A1A0-1C17-F532CE710C24}"/>
              </a:ext>
            </a:extLst>
          </p:cNvPr>
          <p:cNvSpPr txBox="1"/>
          <p:nvPr/>
        </p:nvSpPr>
        <p:spPr>
          <a:xfrm>
            <a:off x="11932226" y="4114800"/>
            <a:ext cx="458588" cy="470898"/>
          </a:xfrm>
          <a:prstGeom prst="rect">
            <a:avLst/>
          </a:prstGeom>
          <a:noFill/>
        </p:spPr>
        <p:txBody>
          <a:bodyPr wrap="none" lIns="36576" tIns="27432" rIns="36576" bIns="27432" anchor="t">
            <a:spAutoFit/>
          </a:bodyPr>
          <a:lstStyle/>
          <a:p>
            <a:pPr algn="ctr"/>
            <a:r>
              <a:rPr sz="2700" b="0" dirty="0">
                <a:solidFill>
                  <a:srgbClr val="FFFFFF"/>
                </a:solidFill>
                <a:latin typeface="Yu Gothic"/>
              </a:rPr>
              <a:t>0</a:t>
            </a:r>
            <a:r>
              <a:rPr lang="en-US" sz="2700" dirty="0">
                <a:solidFill>
                  <a:srgbClr val="FFFFFF"/>
                </a:solidFill>
                <a:latin typeface="Yu Gothic"/>
              </a:rPr>
              <a:t>5</a:t>
            </a:r>
            <a:endParaRPr sz="2700" b="0" dirty="0">
              <a:solidFill>
                <a:srgbClr val="FFFFFF"/>
              </a:solidFill>
              <a:latin typeface="Yu Gothic"/>
            </a:endParaRPr>
          </a:p>
        </p:txBody>
      </p:sp>
      <p:sp>
        <p:nvSpPr>
          <p:cNvPr id="3" name="Rectangle 2">
            <a:extLst>
              <a:ext uri="{FF2B5EF4-FFF2-40B4-BE49-F238E27FC236}">
                <a16:creationId xmlns:a16="http://schemas.microsoft.com/office/drawing/2014/main" id="{431E2039-4BC4-D119-7B23-33BE2D1FE169}"/>
              </a:ext>
            </a:extLst>
          </p:cNvPr>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534C452-319A-30DF-BF40-A9ECA414720F}"/>
              </a:ext>
            </a:extLst>
          </p:cNvPr>
          <p:cNvSpPr txBox="1"/>
          <p:nvPr/>
        </p:nvSpPr>
        <p:spPr>
          <a:xfrm>
            <a:off x="11535517" y="5806440"/>
            <a:ext cx="1343446"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Summary</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B5F0C05C-36E1-F691-E3B9-B34F22882E98}"/>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73743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Summary</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altLang="ja-JP" sz="3200" b="1" dirty="0">
              <a:solidFill>
                <a:srgbClr val="082B52"/>
              </a:solidFill>
              <a:latin typeface="Yu Gothic"/>
              <a:ea typeface="Yu Gothic"/>
            </a:endParaRPr>
          </a:p>
          <a:p>
            <a:pPr algn="l">
              <a:lnSpc>
                <a:spcPct val="110000"/>
              </a:lnSpc>
              <a:spcAft>
                <a:spcPts val="0"/>
              </a:spcAft>
            </a:pPr>
            <a:r>
              <a:rPr lang="ja-JP" altLang="en-US" sz="3200" b="1" dirty="0">
                <a:solidFill>
                  <a:srgbClr val="082B52"/>
                </a:solidFill>
                <a:latin typeface="Yu Gothic"/>
                <a:ea typeface="Yu Gothic"/>
              </a:rPr>
              <a:t>Limitations of this study</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22</a:t>
            </a:r>
          </a:p>
        </p:txBody>
      </p:sp>
      <p:sp>
        <p:nvSpPr>
          <p:cNvPr id="5" name="Rounded Rectangle 4"/>
          <p:cNvSpPr/>
          <p:nvPr/>
        </p:nvSpPr>
        <p:spPr>
          <a:xfrm>
            <a:off x="1280160" y="3200400"/>
            <a:ext cx="10698480" cy="33832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481328" y="3493008"/>
            <a:ext cx="10296144" cy="437043"/>
          </a:xfrm>
          <a:prstGeom prst="rect">
            <a:avLst/>
          </a:prstGeom>
          <a:noFill/>
        </p:spPr>
        <p:txBody>
          <a:bodyPr wrap="square" lIns="45720" tIns="18288" rIns="45720" bIns="18288" anchor="t">
            <a:spAutoFit/>
          </a:bodyPr>
          <a:lstStyle/>
          <a:p>
            <a:pPr algn="l">
              <a:spcAft>
                <a:spcPts val="0"/>
              </a:spcAft>
            </a:pPr>
            <a:r>
              <a:rPr lang="ja-JP" altLang="en-US" sz="2600" b="1" dirty="0">
                <a:solidFill>
                  <a:srgbClr val="1B74AA"/>
                </a:solidFill>
                <a:latin typeface="Yu Gothic"/>
                <a:ea typeface="Yu Gothic"/>
              </a:rPr>
              <a:t>Validation scope</a:t>
            </a:r>
            <a:endParaRPr sz="2600" b="1" dirty="0">
              <a:solidFill>
                <a:srgbClr val="1B74AA"/>
              </a:solidFill>
              <a:latin typeface="Yu Gothic"/>
              <a:ea typeface="Yu Gothic"/>
            </a:endParaRPr>
          </a:p>
        </p:txBody>
      </p:sp>
      <p:sp>
        <p:nvSpPr>
          <p:cNvPr id="7" name="TextBox 6"/>
          <p:cNvSpPr txBox="1"/>
          <p:nvPr/>
        </p:nvSpPr>
        <p:spPr>
          <a:xfrm>
            <a:off x="1554480" y="4343400"/>
            <a:ext cx="10149840" cy="509755"/>
          </a:xfrm>
          <a:prstGeom prst="rect">
            <a:avLst/>
          </a:prstGeom>
          <a:noFill/>
        </p:spPr>
        <p:txBody>
          <a:bodyPr wrap="square" lIns="45720" tIns="18288" rIns="45720" bIns="18288" anchor="t">
            <a:spAutoFit/>
          </a:bodyPr>
          <a:lstStyle/>
          <a:p>
            <a:pPr algn="l">
              <a:lnSpc>
                <a:spcPct val="115000"/>
              </a:lnSpc>
              <a:spcAft>
                <a:spcPts val="0"/>
              </a:spcAft>
            </a:pPr>
            <a:r>
              <a:rPr lang="ja-JP" altLang="en-US" sz="2800" dirty="0">
                <a:solidFill>
                  <a:srgbClr val="232B34"/>
                </a:solidFill>
                <a:latin typeface="Yu Gothic"/>
                <a:ea typeface="Yu Gothic"/>
              </a:rPr>
              <a:t>Numerical evaluation: same structure and LOS definition</a:t>
            </a:r>
            <a:endParaRPr sz="2800" b="0" dirty="0">
              <a:solidFill>
                <a:srgbClr val="232B34"/>
              </a:solidFill>
              <a:latin typeface="Yu Gothic"/>
              <a:ea typeface="Yu Gothic"/>
            </a:endParaRPr>
          </a:p>
        </p:txBody>
      </p:sp>
      <p:sp>
        <p:nvSpPr>
          <p:cNvPr id="8" name="Rounded Rectangle 7"/>
          <p:cNvSpPr/>
          <p:nvPr/>
        </p:nvSpPr>
        <p:spPr>
          <a:xfrm>
            <a:off x="12618720" y="3200400"/>
            <a:ext cx="10698480" cy="33832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19888" y="3493008"/>
            <a:ext cx="10296144" cy="437043"/>
          </a:xfrm>
          <a:prstGeom prst="rect">
            <a:avLst/>
          </a:prstGeom>
          <a:noFill/>
        </p:spPr>
        <p:txBody>
          <a:bodyPr wrap="square" lIns="45720" tIns="18288" rIns="45720" bIns="18288" anchor="t">
            <a:spAutoFit/>
          </a:bodyPr>
          <a:lstStyle/>
          <a:p>
            <a:pPr algn="l">
              <a:spcAft>
                <a:spcPts val="0"/>
              </a:spcAft>
            </a:pPr>
            <a:r>
              <a:rPr lang="ja-JP" altLang="en-US" sz="2600" b="1" dirty="0">
                <a:solidFill>
                  <a:srgbClr val="EC9427"/>
                </a:solidFill>
                <a:latin typeface="Yu Gothic"/>
                <a:ea typeface="Yu Gothic"/>
              </a:rPr>
              <a:t>Model applicability</a:t>
            </a:r>
            <a:endParaRPr sz="2600" b="1" dirty="0">
              <a:solidFill>
                <a:srgbClr val="EC9427"/>
              </a:solidFill>
              <a:latin typeface="Yu Gothic"/>
              <a:ea typeface="Yu Gothic"/>
            </a:endParaRPr>
          </a:p>
        </p:txBody>
      </p:sp>
      <p:sp>
        <p:nvSpPr>
          <p:cNvPr id="10" name="TextBox 9"/>
          <p:cNvSpPr txBox="1"/>
          <p:nvPr/>
        </p:nvSpPr>
        <p:spPr>
          <a:xfrm>
            <a:off x="12893040" y="4343400"/>
            <a:ext cx="10149840" cy="898708"/>
          </a:xfrm>
          <a:prstGeom prst="rect">
            <a:avLst/>
          </a:prstGeom>
          <a:noFill/>
        </p:spPr>
        <p:txBody>
          <a:bodyPr wrap="square" lIns="45720" tIns="18288" rIns="45720" bIns="18288" anchor="t">
            <a:spAutoFit/>
          </a:bodyPr>
          <a:lstStyle/>
          <a:p>
            <a:r>
              <a:rPr lang="ja-JP" altLang="ja-JP" sz="2800" dirty="0"/>
              <a:t>No ground test; flight relevance of the analysis model and sensitivities remains unvalidated</a:t>
            </a:r>
          </a:p>
        </p:txBody>
      </p:sp>
      <p:sp>
        <p:nvSpPr>
          <p:cNvPr id="11" name="Rounded Rectangle 10"/>
          <p:cNvSpPr/>
          <p:nvPr/>
        </p:nvSpPr>
        <p:spPr>
          <a:xfrm>
            <a:off x="1280160" y="7040880"/>
            <a:ext cx="10698480" cy="33832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81328" y="7333488"/>
            <a:ext cx="10296144" cy="437043"/>
          </a:xfrm>
          <a:prstGeom prst="rect">
            <a:avLst/>
          </a:prstGeom>
          <a:noFill/>
        </p:spPr>
        <p:txBody>
          <a:bodyPr wrap="square" lIns="45720" tIns="18288" rIns="45720" bIns="18288" anchor="t">
            <a:spAutoFit/>
          </a:bodyPr>
          <a:lstStyle/>
          <a:p>
            <a:pPr algn="l">
              <a:spcAft>
                <a:spcPts val="0"/>
              </a:spcAft>
            </a:pPr>
            <a:r>
              <a:rPr lang="en-US" altLang="ja-JP" sz="2600" b="1" dirty="0">
                <a:solidFill>
                  <a:srgbClr val="D03B46"/>
                </a:solidFill>
                <a:latin typeface="Yu Gothic"/>
                <a:ea typeface="Yu Gothic"/>
              </a:rPr>
              <a:t>LOS extraction</a:t>
            </a:r>
            <a:endParaRPr sz="2600" b="1" dirty="0">
              <a:solidFill>
                <a:srgbClr val="D03B46"/>
              </a:solidFill>
              <a:latin typeface="Yu Gothic"/>
              <a:ea typeface="Yu Gothic"/>
            </a:endParaRPr>
          </a:p>
        </p:txBody>
      </p:sp>
      <p:sp>
        <p:nvSpPr>
          <p:cNvPr id="13" name="TextBox 12"/>
          <p:cNvSpPr txBox="1"/>
          <p:nvPr/>
        </p:nvSpPr>
        <p:spPr>
          <a:xfrm>
            <a:off x="1554480" y="8183879"/>
            <a:ext cx="10149840" cy="1005275"/>
          </a:xfrm>
          <a:prstGeom prst="rect">
            <a:avLst/>
          </a:prstGeom>
          <a:noFill/>
        </p:spPr>
        <p:txBody>
          <a:bodyPr wrap="square" lIns="45720" tIns="18288" rIns="45720" bIns="18288" anchor="t">
            <a:spAutoFit/>
          </a:bodyPr>
          <a:lstStyle/>
          <a:p>
            <a:pPr algn="l">
              <a:lnSpc>
                <a:spcPct val="115000"/>
              </a:lnSpc>
              <a:spcAft>
                <a:spcPts val="0"/>
              </a:spcAft>
            </a:pPr>
            <a:r>
              <a:rPr lang="ja-JP" altLang="en-US" sz="2800" dirty="0">
                <a:solidFill>
                  <a:srgbClr val="232B34"/>
                </a:solidFill>
                <a:latin typeface="Yu Gothic"/>
                <a:ea typeface="Yu Gothic"/>
              </a:rPr>
              <a:t>Representative-node rotations; no interface rigid-body fit or internal STT/LCT deformation</a:t>
            </a:r>
            <a:endParaRPr sz="2800" b="0" dirty="0">
              <a:solidFill>
                <a:srgbClr val="232B34"/>
              </a:solidFill>
              <a:latin typeface="Yu Gothic"/>
              <a:ea typeface="Yu Gothic"/>
            </a:endParaRPr>
          </a:p>
        </p:txBody>
      </p:sp>
      <p:sp>
        <p:nvSpPr>
          <p:cNvPr id="14" name="Rounded Rectangle 13"/>
          <p:cNvSpPr/>
          <p:nvPr/>
        </p:nvSpPr>
        <p:spPr>
          <a:xfrm>
            <a:off x="12618720" y="7040880"/>
            <a:ext cx="10698480" cy="33832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19888" y="7333488"/>
            <a:ext cx="10296144" cy="437043"/>
          </a:xfrm>
          <a:prstGeom prst="rect">
            <a:avLst/>
          </a:prstGeom>
          <a:noFill/>
        </p:spPr>
        <p:txBody>
          <a:bodyPr wrap="square" lIns="45720" tIns="18288" rIns="45720" bIns="18288" anchor="t">
            <a:spAutoFit/>
          </a:bodyPr>
          <a:lstStyle/>
          <a:p>
            <a:pPr algn="l">
              <a:spcAft>
                <a:spcPts val="0"/>
              </a:spcAft>
            </a:pPr>
            <a:r>
              <a:rPr sz="2600" b="1" dirty="0" err="1">
                <a:solidFill>
                  <a:srgbClr val="239571"/>
                </a:solidFill>
                <a:latin typeface="Yu Gothic"/>
                <a:ea typeface="Yu Gothic"/>
              </a:rPr>
              <a:t>Acquisition evaluation</a:t>
            </a:r>
            <a:endParaRPr sz="2600" b="1" dirty="0">
              <a:solidFill>
                <a:srgbClr val="239571"/>
              </a:solidFill>
              <a:latin typeface="Yu Gothic"/>
              <a:ea typeface="Yu Gothic"/>
            </a:endParaRPr>
          </a:p>
        </p:txBody>
      </p:sp>
      <p:sp>
        <p:nvSpPr>
          <p:cNvPr id="16" name="TextBox 15"/>
          <p:cNvSpPr txBox="1"/>
          <p:nvPr/>
        </p:nvSpPr>
        <p:spPr>
          <a:xfrm>
            <a:off x="12893040" y="8183879"/>
            <a:ext cx="10149840" cy="467820"/>
          </a:xfrm>
          <a:prstGeom prst="rect">
            <a:avLst/>
          </a:prstGeom>
          <a:noFill/>
        </p:spPr>
        <p:txBody>
          <a:bodyPr wrap="square" lIns="45720" tIns="18288" rIns="45720" bIns="18288" anchor="t">
            <a:spAutoFit/>
          </a:bodyPr>
          <a:lstStyle/>
          <a:p>
            <a:pPr>
              <a:lnSpc>
                <a:spcPct val="100000"/>
              </a:lnSpc>
            </a:pPr>
            <a:r>
              <a:rPr lang="ja-JP" altLang="ja-JP" sz="2800" dirty="0"/>
              <a:t>One nonthermal seed; simplified scan dynamics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Summary</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Removing predictable thermal error before acquisition leaves a search governed by nonthermal error</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23</a:t>
            </a:r>
          </a:p>
        </p:txBody>
      </p:sp>
      <p:sp>
        <p:nvSpPr>
          <p:cNvPr id="5" name="Rounded Rectangle 4"/>
          <p:cNvSpPr/>
          <p:nvPr/>
        </p:nvSpPr>
        <p:spPr>
          <a:xfrm>
            <a:off x="1463040" y="3383280"/>
            <a:ext cx="6766560" cy="283464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72768" y="3547872"/>
            <a:ext cx="6547104" cy="1417320"/>
          </a:xfrm>
          <a:prstGeom prst="rect">
            <a:avLst/>
          </a:prstGeom>
          <a:noFill/>
        </p:spPr>
        <p:txBody>
          <a:bodyPr wrap="square" lIns="45720" tIns="18288" rIns="45720" bIns="18288" anchor="t">
            <a:spAutoFit/>
          </a:bodyPr>
          <a:lstStyle/>
          <a:p>
            <a:pPr algn="ctr">
              <a:spcAft>
                <a:spcPts val="0"/>
              </a:spcAft>
            </a:pPr>
            <a:r>
              <a:rPr sz="4000" b="1">
                <a:solidFill>
                  <a:srgbClr val="1B74AA"/>
                </a:solidFill>
                <a:latin typeface="Yu Gothic"/>
                <a:ea typeface="Yu Gothic"/>
              </a:rPr>
              <a:t>4.9 µrad</a:t>
            </a:r>
          </a:p>
        </p:txBody>
      </p:sp>
      <p:sp>
        <p:nvSpPr>
          <p:cNvPr id="7" name="TextBox 6"/>
          <p:cNvSpPr txBox="1"/>
          <p:nvPr/>
        </p:nvSpPr>
        <p:spPr>
          <a:xfrm>
            <a:off x="1572768" y="4970678"/>
            <a:ext cx="6547104" cy="706604"/>
          </a:xfrm>
          <a:prstGeom prst="rect">
            <a:avLst/>
          </a:prstGeom>
          <a:noFill/>
        </p:spPr>
        <p:txBody>
          <a:bodyPr wrap="square" lIns="45720" tIns="18288" rIns="45720" bIns="18288" anchor="t">
            <a:spAutoFit/>
          </a:bodyPr>
          <a:lstStyle/>
          <a:p>
            <a:pPr algn="ctr">
              <a:lnSpc>
                <a:spcPct val="105000"/>
              </a:lnSpc>
              <a:spcAft>
                <a:spcPts val="0"/>
              </a:spcAft>
            </a:pPr>
            <a:r>
              <a:rPr sz="2100" b="0" dirty="0" err="1">
                <a:latin typeface="Yu Gothic"/>
                <a:ea typeface="Yu Gothic"/>
              </a:rPr>
              <a:t>Median corrected dominant-axis RMSE
(raw median: 615 µrad)</a:t>
            </a:r>
          </a:p>
        </p:txBody>
      </p:sp>
      <p:sp>
        <p:nvSpPr>
          <p:cNvPr id="8" name="Rounded Rectangle 7"/>
          <p:cNvSpPr/>
          <p:nvPr/>
        </p:nvSpPr>
        <p:spPr>
          <a:xfrm>
            <a:off x="8778240" y="3383280"/>
            <a:ext cx="6766560" cy="283464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887967"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14.6 → 0.10 s</a:t>
            </a:r>
          </a:p>
        </p:txBody>
      </p:sp>
      <p:sp>
        <p:nvSpPr>
          <p:cNvPr id="10" name="TextBox 9"/>
          <p:cNvSpPr txBox="1"/>
          <p:nvPr/>
        </p:nvSpPr>
        <p:spPr>
          <a:xfrm>
            <a:off x="8887967" y="4970678"/>
            <a:ext cx="6547104" cy="367280"/>
          </a:xfrm>
          <a:prstGeom prst="rect">
            <a:avLst/>
          </a:prstGeom>
          <a:noFill/>
        </p:spPr>
        <p:txBody>
          <a:bodyPr wrap="square" lIns="45720" tIns="18288" rIns="45720" bIns="18288" anchor="t">
            <a:spAutoFit/>
          </a:bodyPr>
          <a:lstStyle/>
          <a:p>
            <a:pPr algn="ctr">
              <a:lnSpc>
                <a:spcPct val="105000"/>
              </a:lnSpc>
              <a:spcAft>
                <a:spcPts val="0"/>
              </a:spcAft>
            </a:pPr>
            <a:r>
              <a:rPr sz="2100" b="0">
                <a:latin typeface="Yu Gothic"/>
                <a:ea typeface="Yu Gothic"/>
              </a:rPr>
              <a:t>Mean acquisition time, thermal only</a:t>
            </a:r>
          </a:p>
        </p:txBody>
      </p:sp>
      <p:sp>
        <p:nvSpPr>
          <p:cNvPr id="11" name="Rounded Rectangle 10"/>
          <p:cNvSpPr/>
          <p:nvPr/>
        </p:nvSpPr>
        <p:spPr>
          <a:xfrm>
            <a:off x="16093440" y="3383280"/>
            <a:ext cx="6766560" cy="283464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203168"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EC9427"/>
                </a:solidFill>
                <a:latin typeface="Yu Gothic"/>
                <a:ea typeface="Yu Gothic"/>
              </a:rPr>
              <a:t>19.2 → 5.45 s</a:t>
            </a:r>
          </a:p>
        </p:txBody>
      </p:sp>
      <p:sp>
        <p:nvSpPr>
          <p:cNvPr id="13" name="TextBox 12"/>
          <p:cNvSpPr txBox="1"/>
          <p:nvPr/>
        </p:nvSpPr>
        <p:spPr>
          <a:xfrm>
            <a:off x="16203168" y="4970678"/>
            <a:ext cx="6547104" cy="706604"/>
          </a:xfrm>
          <a:prstGeom prst="rect">
            <a:avLst/>
          </a:prstGeom>
          <a:noFill/>
        </p:spPr>
        <p:txBody>
          <a:bodyPr wrap="square" lIns="45720" tIns="18288" rIns="45720" bIns="18288" anchor="t">
            <a:spAutoFit/>
          </a:bodyPr>
          <a:lstStyle/>
          <a:p>
            <a:pPr algn="ctr">
              <a:lnSpc>
                <a:spcPct val="105000"/>
              </a:lnSpc>
              <a:spcAft>
                <a:spcPts val="0"/>
              </a:spcAft>
            </a:pPr>
            <a:r>
              <a:rPr sz="2100" b="0">
                <a:latin typeface="Yu Gothic"/>
                <a:ea typeface="Yu Gothic"/>
              </a:rPr>
              <a:t>Mean acquisition time with nonthermal error
Success rate: 98% → 100%</a:t>
            </a:r>
          </a:p>
        </p:txBody>
      </p:sp>
      <p:sp>
        <p:nvSpPr>
          <p:cNvPr id="14" name="Rounded Rectangle 13"/>
          <p:cNvSpPr/>
          <p:nvPr/>
        </p:nvSpPr>
        <p:spPr>
          <a:xfrm>
            <a:off x="1463040" y="6949440"/>
            <a:ext cx="21396960" cy="4105656"/>
          </a:xfrm>
          <a:prstGeom prst="roundRect">
            <a:avLst/>
          </a:prstGeom>
          <a:solidFill>
            <a:srgbClr val="FFFFFF"/>
          </a:solidFill>
          <a:ln w="22860">
            <a:solidFill>
              <a:srgbClr val="082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828800" y="7696200"/>
            <a:ext cx="20665440" cy="2799228"/>
          </a:xfrm>
          <a:prstGeom prst="rect">
            <a:avLst/>
          </a:prstGeom>
          <a:noFill/>
        </p:spPr>
        <p:txBody>
          <a:bodyPr wrap="square" lIns="45720" tIns="18288" rIns="45720" bIns="18288" anchor="t">
            <a:spAutoFit/>
          </a:bodyPr>
          <a:lstStyle/>
          <a:p>
            <a:pPr algn="ctr">
              <a:lnSpc>
                <a:spcPct val="125000"/>
              </a:lnSpc>
              <a:spcAft>
                <a:spcPts val="0"/>
              </a:spcAft>
            </a:pPr>
            <a:r>
              <a:rPr lang="en-US" sz="2700" b="1" dirty="0">
                <a:solidFill>
                  <a:srgbClr val="082B52"/>
                </a:solidFill>
                <a:latin typeface="Yu Gothic"/>
                <a:ea typeface="Yu Gothic"/>
              </a:rPr>
              <a:t>Results: </a:t>
            </a:r>
            <a:r>
              <a:rPr sz="2700" b="1" dirty="0">
                <a:solidFill>
                  <a:srgbClr val="082B52"/>
                </a:solidFill>
                <a:latin typeface="Yu Gothic"/>
                <a:ea typeface="Yu Gothic"/>
              </a:rPr>
              <a:t>For the evaluated box bus, the method can shorten pre-feedback link establishment.</a:t>
            </a:r>
            <a:endParaRPr lang="en-US" altLang="ja-JP" sz="2700" b="1" dirty="0">
              <a:solidFill>
                <a:srgbClr val="082B52"/>
              </a:solidFill>
              <a:latin typeface="Yu Gothic"/>
              <a:ea typeface="Yu Gothic"/>
            </a:endParaRPr>
          </a:p>
          <a:p>
            <a:pPr algn="ctr">
              <a:lnSpc>
                <a:spcPct val="125000"/>
              </a:lnSpc>
              <a:spcAft>
                <a:spcPts val="0"/>
              </a:spcAft>
            </a:pPr>
            <a:endParaRPr sz="2700" b="1" dirty="0">
              <a:solidFill>
                <a:srgbClr val="082B52"/>
              </a:solidFill>
              <a:latin typeface="Yu Gothic"/>
              <a:ea typeface="Yu Gothic"/>
            </a:endParaRPr>
          </a:p>
          <a:p>
            <a:pPr algn="ctr"/>
            <a:r>
              <a:rPr lang="ja-JP" altLang="ja-JP" sz="2800" b="1" dirty="0"/>
              <a:t>Contributions: STT–LCT relative LOS, cross-condition coefficient sharing, and connection to coarse-acquisition performance.</a:t>
            </a:r>
            <a:endParaRPr lang="en-US" altLang="ja-JP" sz="2800" b="1" dirty="0"/>
          </a:p>
          <a:p>
            <a:pPr algn="ctr"/>
            <a:endParaRPr lang="en-US" altLang="ja-JP" sz="2800" b="1" dirty="0"/>
          </a:p>
          <a:p>
            <a:pPr algn="ctr"/>
            <a:r>
              <a:rPr lang="en-US" altLang="ja-JP" sz="2800" b="1" dirty="0"/>
              <a:t>Future Work: </a:t>
            </a:r>
            <a:r>
              <a:rPr lang="ja-JP" altLang="ja-JP" sz="2800" b="1" dirty="0"/>
              <a:t>ground-test validation, coefficient re-identification for real spacecraft,</a:t>
            </a:r>
            <a:endParaRPr lang="en-US" altLang="ja-JP" sz="2800" b="1" dirty="0"/>
          </a:p>
          <a:p>
            <a:pPr algn="ctr"/>
            <a:r>
              <a:rPr lang="ja-JP" altLang="ja-JP" sz="2800" b="1" dirty="0"/>
              <a:t> and onboard adaptation using post-acquisition residuals</a:t>
            </a:r>
          </a:p>
        </p:txBody>
      </p:sp>
      <p:sp>
        <p:nvSpPr>
          <p:cNvPr id="16" name="TextBox 15"/>
          <p:cNvSpPr txBox="1"/>
          <p:nvPr/>
        </p:nvSpPr>
        <p:spPr>
          <a:xfrm>
            <a:off x="1463040" y="11426190"/>
            <a:ext cx="21396960" cy="548640"/>
          </a:xfrm>
          <a:prstGeom prst="rect">
            <a:avLst/>
          </a:prstGeom>
          <a:noFill/>
        </p:spPr>
        <p:txBody>
          <a:bodyPr wrap="square" lIns="45720" tIns="18288" rIns="45720" bIns="18288" anchor="t">
            <a:spAutoFit/>
          </a:bodyPr>
          <a:lstStyle/>
          <a:p>
            <a:pPr algn="ctr">
              <a:spcAft>
                <a:spcPts val="0"/>
              </a:spcAft>
            </a:pPr>
            <a:r>
              <a:rPr sz="2400" b="0" dirty="0">
                <a:solidFill>
                  <a:srgbClr val="666F79"/>
                </a:solidFill>
                <a:latin typeface="Yu Gothic"/>
                <a:ea typeface="Yu Gothic"/>
              </a:rPr>
              <a:t>Oral presentation at ICSO 2026 on October 15</a:t>
            </a:r>
          </a:p>
        </p:txBody>
      </p:sp>
      <p:sp>
        <p:nvSpPr>
          <p:cNvPr id="17" name="TextBox 16"/>
          <p:cNvSpPr txBox="1"/>
          <p:nvPr/>
        </p:nvSpPr>
        <p:spPr>
          <a:xfrm>
            <a:off x="1463040" y="12294870"/>
            <a:ext cx="21396960" cy="731520"/>
          </a:xfrm>
          <a:prstGeom prst="rect">
            <a:avLst/>
          </a:prstGeom>
          <a:noFill/>
        </p:spPr>
        <p:txBody>
          <a:bodyPr wrap="square" lIns="45720" tIns="18288" rIns="45720" bIns="18288" anchor="t">
            <a:spAutoFit/>
          </a:bodyPr>
          <a:lstStyle/>
          <a:p>
            <a:pPr algn="ctr">
              <a:spcAft>
                <a:spcPts val="0"/>
              </a:spcAft>
            </a:pPr>
            <a:r>
              <a:rPr sz="3000" b="1">
                <a:solidFill>
                  <a:srgbClr val="1B74AA"/>
                </a:solidFill>
                <a:latin typeface="Yu Gothic"/>
                <a:ea typeface="Yu Gothic"/>
              </a:rPr>
              <a:t>Thank you for your attention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square" lIns="36576" tIns="27432" rIns="36576" bIns="27432" anchor="t">
            <a:spAutoFit/>
          </a:bodyPr>
          <a:lstStyle/>
          <a:p>
            <a:pPr algn="ctr">
              <a:spcAft>
                <a:spcPts val="0"/>
              </a:spcAft>
            </a:pPr>
            <a:r>
              <a:rPr sz="3200" b="1">
                <a:solidFill>
                  <a:srgbClr val="5BB5D8"/>
                </a:solidFill>
                <a:latin typeface="Yu Gothic"/>
                <a:ea typeface="Yu Gothic"/>
              </a:rPr>
              <a:t>B</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732508"/>
          </a:xfrm>
          <a:prstGeom prst="rect">
            <a:avLst/>
          </a:prstGeom>
          <a:noFill/>
        </p:spPr>
        <p:txBody>
          <a:bodyPr wrap="square" lIns="36576" tIns="27432" rIns="36576" bIns="27432" anchor="t">
            <a:spAutoFit/>
          </a:bodyPr>
          <a:lstStyle/>
          <a:p>
            <a:pPr algn="ctr">
              <a:spcAft>
                <a:spcPts val="0"/>
              </a:spcAft>
            </a:pPr>
            <a:r>
              <a:rPr lang="en-US" sz="4400" b="1" dirty="0">
                <a:solidFill>
                  <a:srgbClr val="FFFFFF"/>
                </a:solidFill>
                <a:latin typeface="Yu Gothic"/>
                <a:ea typeface="Yu Gothic"/>
              </a:rPr>
              <a:t>Appendix</a:t>
            </a:r>
            <a:endParaRPr sz="4400" b="1" dirty="0">
              <a:solidFill>
                <a:srgbClr val="FFFFFF"/>
              </a:solidFill>
              <a:latin typeface="Yu Gothic"/>
              <a:ea typeface="Yu Gothic"/>
            </a:endParaRPr>
          </a:p>
        </p:txBody>
      </p:sp>
      <p:sp>
        <p:nvSpPr>
          <p:cNvPr id="5" name="TextBox 4"/>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Positioning &amp; limitations</a:t>
            </a: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先行研究の存在：</a:t>
            </a:r>
            <a:r>
              <a:rPr lang="ja-JP" altLang="ja-JP" sz="3200" b="1" dirty="0"/>
              <a:t>温度差とLOSの一次関係は光学機器内でも報告されている</a:t>
            </a:r>
            <a:endParaRPr lang="ja-JP" altLang="ja-JP" sz="3200" dirty="0"/>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sz="1800" b="0" dirty="0">
                <a:solidFill>
                  <a:srgbClr val="666F79"/>
                </a:solidFill>
                <a:latin typeface="Yu Gothic"/>
              </a:rPr>
              <a:t>2</a:t>
            </a:r>
            <a:r>
              <a:rPr lang="en-US" sz="1800" b="0" dirty="0">
                <a:solidFill>
                  <a:srgbClr val="666F79"/>
                </a:solidFill>
                <a:latin typeface="Yu Gothic"/>
              </a:rPr>
              <a:t>4</a:t>
            </a:r>
            <a:endParaRPr sz="1800" b="0" dirty="0">
              <a:solidFill>
                <a:srgbClr val="666F79"/>
              </a:solidFill>
              <a:latin typeface="Yu Gothic"/>
            </a:endParaRP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3246120"/>
            <a:ext cx="9784080" cy="548640"/>
          </a:xfrm>
          <a:prstGeom prst="rect">
            <a:avLst/>
          </a:prstGeom>
          <a:noFill/>
        </p:spPr>
        <p:txBody>
          <a:bodyPr wrap="none" lIns="36576" tIns="27432" rIns="36576" bIns="27432" anchor="t">
            <a:spAutoFit/>
          </a:bodyPr>
          <a:lstStyle/>
          <a:p>
            <a:pPr algn="ctr"/>
            <a:r>
              <a:rPr sz="2800" b="1" dirty="0">
                <a:solidFill>
                  <a:srgbClr val="082B52"/>
                </a:solidFill>
                <a:latin typeface="Yu Gothic"/>
              </a:rPr>
              <a:t>JANUS / prior art</a:t>
            </a: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2698175"/>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600" dirty="0"/>
                  <a:t>光学ヘッド内部の壁面温度差から</a:t>
                </a:r>
                <a:r>
                  <a:rPr lang="ja-JP" altLang="en-US" sz="2600" dirty="0"/>
                  <a:t>熱ひずみ由来</a:t>
                </a:r>
                <a:r>
                  <a:rPr lang="ja-JP" altLang="ja-JP" sz="2600" dirty="0"/>
                  <a:t>LOS</a:t>
                </a:r>
                <a:r>
                  <a:rPr lang="ja-JP" altLang="en-US" sz="2600" dirty="0"/>
                  <a:t>誤差</a:t>
                </a:r>
                <a:r>
                  <a:rPr lang="ja-JP" altLang="ja-JP" sz="2600" dirty="0"/>
                  <a:t>を推定 </a:t>
                </a:r>
                <a:endParaRPr lang="en-US" altLang="ja-JP" sz="2600" dirty="0"/>
              </a:p>
              <a:p>
                <a:pPr>
                  <a:spcAft>
                    <a:spcPts val="800"/>
                  </a:spcAft>
                </a:pPr>
                <a:r>
                  <a:rPr lang="en-US" altLang="ja-JP" sz="2600" b="1" dirty="0">
                    <a:solidFill>
                      <a:srgbClr val="1B74AA"/>
                    </a:solidFill>
                    <a:latin typeface="Yu Gothic"/>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t>の一次関係</a:t>
                </a:r>
                <a:r>
                  <a:rPr lang="ja-JP" altLang="en-US" sz="2600" dirty="0"/>
                  <a:t>とその係数</a:t>
                </a:r>
                <a:r>
                  <a:rPr lang="en-US" altLang="ja-JP" sz="2600" dirty="0"/>
                  <a:t>K</a:t>
                </a:r>
                <a:r>
                  <a:rPr lang="ja-JP" altLang="ja-JP" sz="2600" dirty="0"/>
                  <a:t>を地上試験で検証 </a:t>
                </a:r>
                <a:endParaRPr lang="en-US" altLang="ja-JP" sz="2600" dirty="0"/>
              </a:p>
              <a:p>
                <a:pPr>
                  <a:spcAft>
                    <a:spcPts val="800"/>
                  </a:spcAft>
                </a:pPr>
                <a:r>
                  <a:rPr lang="en-US" altLang="ja-JP" sz="2600" b="1" dirty="0">
                    <a:solidFill>
                      <a:srgbClr val="1B74AA"/>
                    </a:solidFill>
                    <a:latin typeface="Yu Gothic"/>
                  </a:rPr>
                  <a:t>• </a:t>
                </a:r>
                <a:r>
                  <a:rPr lang="ja-JP" altLang="ja-JP" sz="2600" dirty="0"/>
                  <a:t>温度センサ値からリアルタイムLOS推定を想定</a:t>
                </a:r>
                <a:r>
                  <a:rPr lang="ja-JP" altLang="en-US" sz="2600" dirty="0"/>
                  <a:t>する点で本研究に近い</a:t>
                </a:r>
                <a:endParaRPr sz="2600" dirty="0">
                  <a:solidFill>
                    <a:srgbClr val="232B34"/>
                  </a:solidFill>
                  <a:latin typeface="Yu Gothic"/>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2698175"/>
              </a:xfrm>
              <a:prstGeom prst="rect">
                <a:avLst/>
              </a:prstGeom>
              <a:blipFill>
                <a:blip r:embed="rId3"/>
                <a:stretch>
                  <a:fillRect l="-3215" t="-2032" r="-2882" b="-4515"/>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rPr>
              <a:t>本研究の貢献は、</a:t>
            </a:r>
            <a:endParaRPr lang="en-US" altLang="ja-JP" sz="2800" b="1" dirty="0">
              <a:solidFill>
                <a:schemeClr val="accent2"/>
              </a:solidFill>
            </a:endParaRPr>
          </a:p>
          <a:p>
            <a:pPr algn="ctr"/>
            <a:r>
              <a:rPr lang="ja-JP" altLang="ja-JP" sz="2800" b="1" dirty="0">
                <a:solidFill>
                  <a:schemeClr val="accent2"/>
                </a:solidFill>
              </a:rPr>
              <a:t>温度差–LOS</a:t>
            </a:r>
            <a:r>
              <a:rPr lang="ja-JP" altLang="en-US" sz="2800" b="1" dirty="0">
                <a:solidFill>
                  <a:schemeClr val="accent2"/>
                </a:solidFill>
              </a:rPr>
              <a:t>の一次</a:t>
            </a:r>
            <a:r>
              <a:rPr lang="ja-JP" altLang="ja-JP" sz="2800" b="1" dirty="0">
                <a:solidFill>
                  <a:schemeClr val="accent2"/>
                </a:solidFill>
              </a:rPr>
              <a:t>関係を衛星バス上のSTT–LCT相対LOS</a:t>
            </a:r>
            <a:r>
              <a:rPr lang="ja-JP" altLang="en-US" sz="2800" b="1" dirty="0">
                <a:solidFill>
                  <a:schemeClr val="accent2"/>
                </a:solidFill>
              </a:rPr>
              <a:t>予測</a:t>
            </a:r>
            <a:r>
              <a:rPr lang="ja-JP" altLang="ja-JP" sz="2800" b="1" dirty="0">
                <a:solidFill>
                  <a:schemeClr val="accent2"/>
                </a:solidFill>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38760" y="3246120"/>
            <a:ext cx="9784080" cy="548640"/>
          </a:xfrm>
          <a:prstGeom prst="rect">
            <a:avLst/>
          </a:prstGeom>
          <a:noFill/>
        </p:spPr>
        <p:txBody>
          <a:bodyPr wrap="none" lIns="36576" tIns="27432" rIns="36576" bIns="27432" anchor="t">
            <a:spAutoFit/>
          </a:bodyPr>
          <a:lstStyle/>
          <a:p>
            <a:pPr algn="ctr"/>
            <a:r>
              <a:rPr sz="2800" b="1">
                <a:solidFill>
                  <a:srgbClr val="1B74AA"/>
                </a:solidFill>
                <a:latin typeface="Yu Gothic"/>
              </a:rPr>
              <a:t>This work</a:t>
            </a: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en-US" sz="2600" b="1" dirty="0">
                <a:solidFill>
                  <a:srgbClr val="1B74AA"/>
                </a:solidFill>
                <a:latin typeface="Yu Gothic"/>
              </a:rPr>
              <a:t> </a:t>
            </a:r>
            <a:r>
              <a:rPr lang="ja-JP" altLang="ja-JP" sz="2600" dirty="0"/>
              <a:t>衛星バス上のSTT–LCT相対LOSを対象 </a:t>
            </a:r>
            <a:endParaRPr lang="en-US" altLang="ja-JP" sz="2600" dirty="0"/>
          </a:p>
          <a:p>
            <a:pPr>
              <a:spcAft>
                <a:spcPts val="800"/>
              </a:spcAft>
            </a:pPr>
            <a:r>
              <a:rPr lang="en-US" altLang="ja-JP" sz="2600" b="1" dirty="0">
                <a:solidFill>
                  <a:srgbClr val="1B74AA"/>
                </a:solidFill>
                <a:latin typeface="Yu Gothic"/>
              </a:rPr>
              <a:t>• </a:t>
            </a:r>
            <a:r>
              <a:rPr lang="ja-JP" altLang="ja-JP" sz="2600" dirty="0"/>
              <a:t>太陽指向面–反対面温度差から軌道内変動を予測 </a:t>
            </a:r>
            <a:endParaRPr lang="en-US" altLang="ja-JP" sz="2600" dirty="0"/>
          </a:p>
          <a:p>
            <a:pPr>
              <a:spcAft>
                <a:spcPts val="800"/>
              </a:spcAft>
            </a:pPr>
            <a:r>
              <a:rPr lang="en-US" altLang="ja-JP" sz="2600" b="1" dirty="0">
                <a:solidFill>
                  <a:srgbClr val="1B74AA"/>
                </a:solidFill>
                <a:latin typeface="Yu Gothic"/>
              </a:rPr>
              <a:t>• </a:t>
            </a:r>
            <a:r>
              <a:rPr lang="ja-JP" altLang="ja-JP" sz="2600" dirty="0"/>
              <a:t>発熱・被覆・軌道条件によるケースDCを階層化 </a:t>
            </a:r>
            <a:endParaRPr lang="en-US" altLang="ja-JP" sz="2600" dirty="0"/>
          </a:p>
          <a:p>
            <a:pPr>
              <a:spcAft>
                <a:spcPts val="800"/>
              </a:spcAft>
            </a:pPr>
            <a:r>
              <a:rPr lang="en-US" altLang="ja-JP" sz="2600" b="1" dirty="0">
                <a:solidFill>
                  <a:srgbClr val="1B74AA"/>
                </a:solidFill>
                <a:latin typeface="Yu Gothic"/>
              </a:rPr>
              <a:t>• </a:t>
            </a:r>
            <a:r>
              <a:rPr lang="ja-JP" altLang="ja-JP" sz="2600" dirty="0"/>
              <a:t>予測LOSをscan center補正へ入力 捕捉成功率・捕捉時間まで評価</a:t>
            </a:r>
            <a:endParaRPr lang="en-US" altLang="ja-JP" sz="2600" dirty="0"/>
          </a:p>
          <a:p>
            <a:pPr>
              <a:spcAft>
                <a:spcPts val="800"/>
              </a:spcAft>
            </a:pPr>
            <a:r>
              <a:rPr lang="en-US" altLang="ja-JP" sz="2600" b="1" dirty="0">
                <a:solidFill>
                  <a:srgbClr val="1B74AA"/>
                </a:solidFill>
                <a:latin typeface="Yu Gothic"/>
              </a:rPr>
              <a:t>•</a:t>
            </a:r>
            <a:r>
              <a:rPr lang="ja-JP" altLang="en-US" sz="2600" b="1" dirty="0">
                <a:solidFill>
                  <a:srgbClr val="1B74AA"/>
                </a:solidFill>
                <a:latin typeface="Yu Gothic"/>
              </a:rPr>
              <a:t> </a:t>
            </a:r>
            <a:r>
              <a:rPr lang="en-US" altLang="ja-JP" sz="2600" dirty="0">
                <a:latin typeface="Yu Gothic"/>
              </a:rPr>
              <a:t>※</a:t>
            </a:r>
            <a:r>
              <a:rPr lang="ja-JP" altLang="en-US" sz="2600" dirty="0">
                <a:latin typeface="Yu Gothic"/>
              </a:rPr>
              <a:t>非支配軸・別構造・飛行実証は未評価</a:t>
            </a:r>
            <a:endParaRPr sz="2600" dirty="0">
              <a:latin typeface="Yu Gothic"/>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t>25 cm</a:t>
            </a:r>
            <a:r>
              <a:rPr kumimoji="1" lang="ja-JP" altLang="en-US" dirty="0"/>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t>Optical Wall</a:t>
            </a:r>
            <a:endParaRPr kumimoji="1" lang="ja-JP" altLang="en-US" dirty="0"/>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t>Buffle</a:t>
            </a:r>
            <a:r>
              <a:rPr kumimoji="1" lang="en-US" altLang="ja-JP" dirty="0"/>
              <a:t> Wall</a:t>
            </a:r>
            <a:endParaRPr kumimoji="1"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simulation conditions</a:t>
            </a:r>
          </a:p>
        </p:txBody>
      </p:sp>
      <p:sp>
        <p:nvSpPr>
          <p:cNvPr id="3" name="TextBox 2"/>
          <p:cNvSpPr txBox="1"/>
          <p:nvPr/>
        </p:nvSpPr>
        <p:spPr>
          <a:xfrm>
            <a:off x="1536192" y="1298448"/>
            <a:ext cx="992271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粗捕捉は矩形スパイラルの離散走査として簡略化する</a:t>
            </a:r>
            <a:endParaRPr lang="ja-JP" altLang="ja-JP" sz="3200" dirty="0"/>
          </a:p>
        </p:txBody>
      </p:sp>
      <p:sp>
        <p:nvSpPr>
          <p:cNvPr id="4" name="TextBox 3"/>
          <p:cNvSpPr txBox="1"/>
          <p:nvPr/>
        </p:nvSpPr>
        <p:spPr>
          <a:xfrm>
            <a:off x="23444053" y="12819888"/>
            <a:ext cx="330347" cy="332399"/>
          </a:xfrm>
          <a:prstGeom prst="rect">
            <a:avLst/>
          </a:prstGeom>
          <a:noFill/>
        </p:spPr>
        <p:txBody>
          <a:bodyPr wrap="none" lIns="36576" tIns="27432" rIns="36576" bIns="27432" anchor="t">
            <a:spAutoFit/>
          </a:bodyPr>
          <a:lstStyle/>
          <a:p>
            <a:pPr algn="r"/>
            <a:r>
              <a:rPr lang="en-US" dirty="0">
                <a:solidFill>
                  <a:srgbClr val="666F79"/>
                </a:solidFill>
                <a:latin typeface="Yu Gothic"/>
              </a:rPr>
              <a:t>25</a:t>
            </a:r>
            <a:endParaRPr sz="1800" b="0" dirty="0">
              <a:solidFill>
                <a:srgbClr val="666F79"/>
              </a:solidFill>
              <a:latin typeface="Yu Gothic"/>
            </a:endParaRPr>
          </a:p>
        </p:txBody>
      </p:sp>
      <p:graphicFrame>
        <p:nvGraphicFramePr>
          <p:cNvPr id="28" name="Table 27"/>
          <p:cNvGraphicFramePr>
            <a:graphicFrameLocks noGrp="1"/>
          </p:cNvGraphicFramePr>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buNone/>
                      </a:pPr>
                      <a:r>
                        <a:rPr lang="ja-JP" sz="2400" dirty="0"/>
                        <a:t>パラメータ</a:t>
                      </a:r>
                    </a:p>
                  </a:txBody>
                  <a:tcPr anchor="ctr">
                    <a:solidFill>
                      <a:srgbClr val="082B52"/>
                    </a:solidFill>
                  </a:tcPr>
                </a:tc>
                <a:tc>
                  <a:txBody>
                    <a:bodyPr/>
                    <a:lstStyle/>
                    <a:p>
                      <a:pPr algn="l">
                        <a:buNone/>
                      </a:pPr>
                      <a:r>
                        <a:rPr lang="ja-JP" sz="2400"/>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buNone/>
                      </a:pPr>
                      <a:r>
                        <a:rPr lang="ja-JP" sz="2400" dirty="0"/>
                        <a:t>走査範囲</a:t>
                      </a:r>
                    </a:p>
                  </a:txBody>
                  <a:tcPr anchor="ctr">
                    <a:solidFill>
                      <a:srgbClr val="FFFFFF"/>
                    </a:solidFill>
                  </a:tcPr>
                </a:tc>
                <a:tc>
                  <a:txBody>
                    <a:bodyPr/>
                    <a:lstStyle/>
                    <a:p>
                      <a:pPr algn="l">
                        <a:buNone/>
                      </a:pPr>
                      <a:r>
                        <a:rPr lang="ja-JP" sz="2400"/>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buNone/>
                      </a:pPr>
                      <a:r>
                        <a:rPr lang="ja-JP" sz="2400" dirty="0"/>
                        <a:t>点間隔</a:t>
                      </a:r>
                    </a:p>
                  </a:txBody>
                  <a:tcPr anchor="ctr">
                    <a:solidFill>
                      <a:srgbClr val="F4F6F8"/>
                    </a:solidFill>
                  </a:tcPr>
                </a:tc>
                <a:tc>
                  <a:txBody>
                    <a:bodyPr/>
                    <a:lstStyle/>
                    <a:p>
                      <a:pPr algn="l">
                        <a:buNone/>
                      </a:pPr>
                      <a:r>
                        <a:rPr lang="ja-JP" sz="2400" dirty="0"/>
                        <a:t>40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buNone/>
                      </a:pPr>
                      <a:r>
                        <a:rPr lang="ja-JP" sz="2400" dirty="0"/>
                        <a:t>検出半径</a:t>
                      </a:r>
                    </a:p>
                  </a:txBody>
                  <a:tcPr anchor="ctr">
                    <a:solidFill>
                      <a:srgbClr val="FFFFFF"/>
                    </a:solidFill>
                  </a:tcPr>
                </a:tc>
                <a:tc>
                  <a:txBody>
                    <a:bodyPr/>
                    <a:lstStyle/>
                    <a:p>
                      <a:pPr algn="l">
                        <a:buNone/>
                      </a:pPr>
                      <a:r>
                        <a:rPr lang="ja-JP" sz="2400"/>
                        <a:t>25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buNone/>
                      </a:pPr>
                      <a:r>
                        <a:rPr lang="ja-JP" sz="2400" dirty="0"/>
                        <a:t>滞在時間</a:t>
                      </a:r>
                    </a:p>
                  </a:txBody>
                  <a:tcPr anchor="ctr">
                    <a:solidFill>
                      <a:srgbClr val="F4F6F8"/>
                    </a:solidFill>
                  </a:tcPr>
                </a:tc>
                <a:tc>
                  <a:txBody>
                    <a:bodyPr/>
                    <a:lstStyle/>
                    <a:p>
                      <a:pPr algn="l">
                        <a:buNone/>
                      </a:pPr>
                      <a:r>
                        <a:rPr lang="ja-JP" sz="2400" dirty="0"/>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buNone/>
                      </a:pPr>
                      <a:r>
                        <a:rPr lang="ja-JP" sz="2400"/>
                        <a:t>総走査点数</a:t>
                      </a:r>
                    </a:p>
                  </a:txBody>
                  <a:tcPr anchor="ctr">
                    <a:solidFill>
                      <a:srgbClr val="FFFFFF"/>
                    </a:solidFill>
                  </a:tcPr>
                </a:tc>
                <a:tc>
                  <a:txBody>
                    <a:bodyPr/>
                    <a:lstStyle/>
                    <a:p>
                      <a:pPr algn="l">
                        <a:buNone/>
                      </a:pPr>
                      <a:r>
                        <a:rPr lang="ja-JP" sz="2400" dirty="0"/>
                        <a:t>6561点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buNone/>
                      </a:pPr>
                      <a:r>
                        <a:rPr lang="ja-JP" sz="2400"/>
                        <a:t>最大走査時間</a:t>
                      </a:r>
                    </a:p>
                  </a:txBody>
                  <a:tcPr anchor="ctr">
                    <a:solidFill>
                      <a:srgbClr val="F4F6F8"/>
                    </a:solidFill>
                  </a:tcPr>
                </a:tc>
                <a:tc>
                  <a:txBody>
                    <a:bodyPr/>
                    <a:lstStyle/>
                    <a:p>
                      <a:pPr algn="l">
                        <a:buNone/>
                      </a:pPr>
                      <a:r>
                        <a:rPr lang="ja-JP" sz="2400" dirty="0"/>
                        <a:t>656.1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126449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4" name="テキスト ボックス 33">
            <a:extLst>
              <a:ext uri="{FF2B5EF4-FFF2-40B4-BE49-F238E27FC236}">
                <a16:creationId xmlns:a16="http://schemas.microsoft.com/office/drawing/2014/main" id="{E3A91E62-EA26-8151-3428-B86760823F25}"/>
              </a:ext>
            </a:extLst>
          </p:cNvPr>
          <p:cNvSpPr txBox="1"/>
          <p:nvPr/>
        </p:nvSpPr>
        <p:spPr>
          <a:xfrm>
            <a:off x="12461016" y="9105638"/>
            <a:ext cx="5255484" cy="369332"/>
          </a:xfrm>
          <a:prstGeom prst="rect">
            <a:avLst/>
          </a:prstGeom>
          <a:noFill/>
        </p:spPr>
        <p:txBody>
          <a:bodyPr wrap="square">
            <a:spAutoFit/>
          </a:bodyPr>
          <a:lstStyle/>
          <a:p>
            <a:r>
              <a:rPr lang="en-US" altLang="ja-JP" dirty="0"/>
              <a:t>※</a:t>
            </a:r>
            <a:r>
              <a:rPr lang="ja-JP" altLang="en-US" dirty="0"/>
              <a:t>妥当な</a:t>
            </a:r>
            <a:r>
              <a:rPr lang="ja-JP" altLang="ja-JP" dirty="0"/>
              <a:t>検出半径またはstep</a:t>
            </a:r>
            <a:r>
              <a:rPr lang="ja-JP" altLang="en-US" dirty="0"/>
              <a:t>は</a:t>
            </a:r>
            <a:r>
              <a:rPr lang="ja-JP" altLang="ja-JP" dirty="0"/>
              <a:t>後で再検討する</a:t>
            </a:r>
            <a:endParaRPr lang="ja-JP" altLang="en-US" dirty="0"/>
          </a:p>
        </p:txBody>
      </p:sp>
      <p:pic>
        <p:nvPicPr>
          <p:cNvPr id="33" name="図 32">
            <a:extLst>
              <a:ext uri="{FF2B5EF4-FFF2-40B4-BE49-F238E27FC236}">
                <a16:creationId xmlns:a16="http://schemas.microsoft.com/office/drawing/2014/main" id="{7F87C8AD-757E-FFE0-B245-95A29790F9FC}"/>
              </a:ext>
            </a:extLst>
          </p:cNvPr>
          <p:cNvPicPr>
            <a:picLocks noChangeAspect="1"/>
          </p:cNvPicPr>
          <p:nvPr/>
        </p:nvPicPr>
        <p:blipFill>
          <a:blip r:embed="rId3"/>
          <a:stretch>
            <a:fillRect/>
          </a:stretch>
        </p:blipFill>
        <p:spPr>
          <a:xfrm>
            <a:off x="1075418" y="3235223"/>
            <a:ext cx="8437790" cy="76098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Orbit prediction error</a:t>
            </a:r>
          </a:p>
        </p:txBody>
      </p:sp>
      <p:sp>
        <p:nvSpPr>
          <p:cNvPr id="3" name="TextBox 2"/>
          <p:cNvSpPr txBox="1"/>
          <p:nvPr/>
        </p:nvSpPr>
        <p:spPr>
          <a:xfrm>
            <a:off x="1536192" y="1298448"/>
            <a:ext cx="18962050"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軌道予測誤差：自身の</a:t>
            </a:r>
            <a:r>
              <a:rPr sz="3200" b="1" dirty="0" err="1">
                <a:solidFill>
                  <a:srgbClr val="082B52"/>
                </a:solidFill>
                <a:latin typeface="Yu Gothic"/>
              </a:rPr>
              <a:t>位置誤差をリンクLOS横断面へ投影し</a:t>
            </a:r>
            <a:r>
              <a:rPr sz="3200" b="1" dirty="0">
                <a:solidFill>
                  <a:srgbClr val="082B52"/>
                </a:solidFill>
                <a:latin typeface="Yu Gothic"/>
              </a:rPr>
              <a:t>、</a:t>
            </a:r>
            <a:r>
              <a:rPr lang="ja-JP" altLang="en-US" sz="3200" b="1" dirty="0">
                <a:solidFill>
                  <a:srgbClr val="082B52"/>
                </a:solidFill>
                <a:latin typeface="Yu Gothic"/>
              </a:rPr>
              <a:t>衛星の座標系 </a:t>
            </a:r>
            <a:r>
              <a:rPr sz="3200" b="1" dirty="0">
                <a:solidFill>
                  <a:srgbClr val="082B52"/>
                </a:solidFill>
                <a:latin typeface="Yu Gothic"/>
              </a:rPr>
              <a:t>STT/body x–</a:t>
            </a:r>
            <a:r>
              <a:rPr sz="3200" b="1" dirty="0" err="1">
                <a:solidFill>
                  <a:srgbClr val="082B52"/>
                </a:solidFill>
                <a:latin typeface="Yu Gothic"/>
              </a:rPr>
              <a:t>yへ変換する</a:t>
            </a:r>
            <a:endParaRPr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lang="en-US" dirty="0">
                <a:solidFill>
                  <a:srgbClr val="666F79"/>
                </a:solidFill>
                <a:latin typeface="Yu Gothic"/>
              </a:rPr>
              <a:t>26</a:t>
            </a:r>
            <a:endParaRPr sz="1800" b="0" dirty="0">
              <a:solidFill>
                <a:srgbClr val="666F79"/>
              </a:solidFill>
              <a:latin typeface="Yu Gothic"/>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spcAft>
                <a:spcPts val="800"/>
              </a:spcAft>
            </a:pPr>
            <a:r>
              <a:rPr sz="2400" b="1">
                <a:solidFill>
                  <a:srgbClr val="1B74AA"/>
                </a:solidFill>
                <a:latin typeface="Yu Gothic"/>
              </a:rPr>
              <a:t>• </a:t>
            </a:r>
            <a:r>
              <a:rPr sz="2400">
                <a:solidFill>
                  <a:srgbClr val="232B34"/>
                </a:solidFill>
                <a:latin typeface="Yu Gothic"/>
              </a:rPr>
              <a:t>orbit catalogから姿勢を構成</a:t>
            </a:r>
          </a:p>
          <a:p>
            <a:pPr>
              <a:spcAft>
                <a:spcPts val="800"/>
              </a:spcAft>
            </a:pPr>
            <a:r>
              <a:rPr sz="2400" b="1">
                <a:solidFill>
                  <a:srgbClr val="1B74AA"/>
                </a:solidFill>
                <a:latin typeface="Yu Gothic"/>
              </a:rPr>
              <a:t>• </a:t>
            </a:r>
            <a:r>
              <a:rPr sz="2400">
                <a:solidFill>
                  <a:srgbClr val="232B34"/>
                </a:solidFill>
                <a:latin typeface="Yu Gothic"/>
              </a:rPr>
              <a:t>STT/body x–yへ射影</a:t>
            </a:r>
          </a:p>
          <a:p>
            <a:pPr>
              <a:spcAft>
                <a:spcPts val="800"/>
              </a:spcAft>
            </a:pPr>
            <a:r>
              <a:rPr sz="2400" b="1">
                <a:solidFill>
                  <a:srgbClr val="1B74AA"/>
                </a:solidFill>
                <a:latin typeface="Yu Gothic"/>
              </a:rPr>
              <a:t>• </a:t>
            </a:r>
            <a:r>
              <a:rPr sz="2400">
                <a:solidFill>
                  <a:srgbClr val="232B34"/>
                </a:solidFill>
                <a:latin typeface="Yu Gothic"/>
              </a:rPr>
              <a:t>熱LOSと同じ2成分で加算</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r>
                        <a:rPr sz="2100" b="1">
                          <a:solidFill>
                            <a:srgbClr val="FFFFFF"/>
                          </a:solidFill>
                          <a:latin typeface="Yu Gothic"/>
                        </a:rPr>
                        <a:t>Sun</a:t>
                      </a:r>
                    </a:p>
                  </a:txBody>
                  <a:tcPr marL="64008" marR="64008" marT="27432" marB="27432" anchor="ctr">
                    <a:solidFill>
                      <a:srgbClr val="082B52"/>
                    </a:solidFill>
                  </a:tcPr>
                </a:tc>
                <a:tc>
                  <a:txBody>
                    <a:bodyPr/>
                    <a:lstStyle/>
                    <a:p>
                      <a:pPr algn="ctr"/>
                      <a:r>
                        <a:rPr sz="2100" b="1">
                          <a:solidFill>
                            <a:srgbClr val="FFFFFF"/>
                          </a:solidFill>
                          <a:latin typeface="Yu Gothic"/>
                        </a:rPr>
                        <a:t>Partner / link</a:t>
                      </a:r>
                    </a:p>
                  </a:txBody>
                  <a:tcPr marL="64008" marR="64008" marT="27432" marB="27432" anchor="ctr">
                    <a:solidFill>
                      <a:srgbClr val="082B52"/>
                    </a:solidFill>
                  </a:tcPr>
                </a:tc>
                <a:tc>
                  <a:txBody>
                    <a:bodyPr/>
                    <a:lstStyle/>
                    <a:p>
                      <a:pPr algn="ctr"/>
                      <a:r>
                        <a:rPr sz="2100" b="1">
                          <a:solidFill>
                            <a:srgbClr val="FFFFFF"/>
                          </a:solidFill>
                          <a:latin typeface="Yu Gothic"/>
                        </a:rPr>
                        <a:t>Status</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r>
                        <a:rPr sz="2100" b="0">
                          <a:solidFill>
                            <a:srgbClr val="232B34"/>
                          </a:solidFill>
                          <a:latin typeface="Yu Gothic"/>
                        </a:rPr>
                        <a:t>MY</a:t>
                      </a:r>
                    </a:p>
                  </a:txBody>
                  <a:tcPr marL="64008" marR="64008" marT="27432" marB="27432" anchor="ctr">
                    <a:solidFill>
                      <a:srgbClr val="FFFFFF"/>
                    </a:solidFill>
                  </a:tcPr>
                </a:tc>
                <a:tc>
                  <a:txBody>
                    <a:bodyPr/>
                    <a:lstStyle/>
                    <a:p>
                      <a:pPr algn="ctr"/>
                      <a:r>
                        <a:rPr sz="2100" b="0">
                          <a:solidFill>
                            <a:srgbClr val="232B34"/>
                          </a:solidFill>
                          <a:latin typeface="Yu Gothic"/>
                        </a:rPr>
                        <a:t>along-track ISL 800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r>
                        <a:rPr sz="2100" b="0">
                          <a:solidFill>
                            <a:srgbClr val="232B34"/>
                          </a:solidFill>
                          <a:latin typeface="Yu Gothic"/>
                        </a:rPr>
                        <a:t>PY</a:t>
                      </a:r>
                    </a:p>
                  </a:txBody>
                  <a:tcPr marL="64008" marR="64008" marT="27432" marB="27432" anchor="ctr">
                    <a:solidFill>
                      <a:srgbClr val="F4F6F8"/>
                    </a:solidFill>
                  </a:tcPr>
                </a:tc>
                <a:tc>
                  <a:txBody>
                    <a:bodyPr/>
                    <a:lstStyle/>
                    <a:p>
                      <a:pPr algn="ctr"/>
                      <a:r>
                        <a:rPr sz="2100" b="0">
                          <a:solidFill>
                            <a:srgbClr val="232B34"/>
                          </a:solidFill>
                          <a:latin typeface="Yu Gothic"/>
                        </a:rPr>
                        <a:t>anti-along ISL 800 km</a:t>
                      </a:r>
                    </a:p>
                  </a:txBody>
                  <a:tcPr marL="64008" marR="64008" marT="27432" marB="27432" anchor="ctr">
                    <a:solidFill>
                      <a:srgbClr val="F4F6F8"/>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r>
                        <a:rPr sz="2100" b="0">
                          <a:solidFill>
                            <a:srgbClr val="232B34"/>
                          </a:solidFill>
                          <a:latin typeface="Yu Gothic"/>
                        </a:rPr>
                        <a:t>PX</a:t>
                      </a:r>
                    </a:p>
                  </a:txBody>
                  <a:tcPr marL="64008" marR="64008" marT="27432" marB="27432" anchor="ctr">
                    <a:solidFill>
                      <a:srgbClr val="FFFFFF"/>
                    </a:solidFill>
                  </a:tcPr>
                </a:tc>
                <a:tc>
                  <a:txBody>
                    <a:bodyPr/>
                    <a:lstStyle/>
                    <a:p>
                      <a:pPr algn="ctr"/>
                      <a:r>
                        <a:rPr sz="2100" b="0">
                          <a:solidFill>
                            <a:srgbClr val="232B34"/>
                          </a:solidFill>
                          <a:latin typeface="Yu Gothic"/>
                        </a:rPr>
                        <a:t>nadir ground ~695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r>
                        <a:rPr sz="2100" b="0">
                          <a:solidFill>
                            <a:srgbClr val="232B34"/>
                          </a:solidFill>
                          <a:latin typeface="Yu Gothic"/>
                        </a:rPr>
                        <a:t>MX</a:t>
                      </a:r>
                    </a:p>
                  </a:txBody>
                  <a:tcPr marL="64008" marR="64008" marT="27432" marB="27432" anchor="ctr">
                    <a:solidFill>
                      <a:srgbClr val="F4F6F8"/>
                    </a:solidFill>
                  </a:tcPr>
                </a:tc>
                <a:tc>
                  <a:txBody>
                    <a:bodyPr/>
                    <a:lstStyle/>
                    <a:p>
                      <a:pPr algn="ctr"/>
                      <a:r>
                        <a:rPr sz="2100" b="0">
                          <a:solidFill>
                            <a:srgbClr val="232B34"/>
                          </a:solidFill>
                          <a:latin typeface="Yu Gothic"/>
                        </a:rPr>
                        <a:t>zenith proxy 800 km</a:t>
                      </a:r>
                    </a:p>
                  </a:txBody>
                  <a:tcPr marL="64008" marR="64008" marT="27432" marB="27432" anchor="ctr">
                    <a:solidFill>
                      <a:srgbClr val="F4F6F8"/>
                    </a:solidFill>
                  </a:tcPr>
                </a:tc>
                <a:tc>
                  <a:txBody>
                    <a:bodyPr/>
                    <a:lstStyle/>
                    <a:p>
                      <a:pPr algn="ctr"/>
                      <a:r>
                        <a:rPr sz="2100" b="0">
                          <a:solidFill>
                            <a:srgbClr val="232B34"/>
                          </a:solidFill>
                          <a:latin typeface="Yu Gothic"/>
                        </a:rPr>
                        <a:t>unrealistic</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B1｜21ケースの内訳と評価ID</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B1</a:t>
            </a:r>
          </a:p>
        </p:txBody>
      </p:sp>
      <p:graphicFrame>
        <p:nvGraphicFramePr>
          <p:cNvPr id="5" name="Table 4"/>
          <p:cNvGraphicFramePr>
            <a:graphicFrameLocks noGrp="1"/>
          </p:cNvGraphicFramePr>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spcAft>
                          <a:spcPts val="0"/>
                        </a:spcAft>
                      </a:pPr>
                      <a:r>
                        <a:rPr sz="2300" b="1">
                          <a:solidFill>
                            <a:srgbClr val="FFFFFF"/>
                          </a:solidFill>
                          <a:latin typeface="Yu Gothic"/>
                          <a:ea typeface="Yu Gothic"/>
                        </a:rPr>
                        <a:t>ケース</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太陽指向面</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発熱・条件</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04, 13–15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+PROP / +PCDU / STT・LCTのみ</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08, 16, 18, 19</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05, 06, 20, 21</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09, 17, 23, 24</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spcAft>
                          <a:spcPts val="0"/>
                        </a:spcAft>
                      </a:pPr>
                      <a:r>
                        <a:rPr sz="2300" b="0">
                          <a:solidFill>
                            <a:srgbClr val="232B34"/>
                          </a:solidFill>
                          <a:latin typeface="Yu Gothic"/>
                          <a:ea typeface="Yu Gothic"/>
                        </a:rPr>
                        <a:t>10–12</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全日照 / 太陽面Black / 全面Alodine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spcAft>
                          <a:spcPts val="0"/>
                        </a:spcAft>
                      </a:pPr>
                      <a:r>
                        <a:rPr sz="2300" b="0">
                          <a:solidFill>
                            <a:srgbClr val="232B34"/>
                          </a:solidFill>
                          <a:latin typeface="Yu Gothic"/>
                          <a:ea typeface="Yu Gothic"/>
                        </a:rPr>
                        <a:t>22</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PROP 12.5 W（半電力）</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spcAft>
                          <a:spcPts val="0"/>
                        </a:spcAft>
                      </a:pPr>
                      <a:r>
                        <a:rPr sz="2300" b="0">
                          <a:solidFill>
                            <a:srgbClr val="232B34"/>
                          </a:solidFill>
                          <a:latin typeface="Yu Gothic"/>
                          <a:ea typeface="Yu Gothic"/>
                        </a:rPr>
                        <a:t>25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LTAN18 / 高度693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280160" y="10424160"/>
            <a:ext cx="21762720" cy="182880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評価IDは 04–06 と 08–25。01–03 と 07 はMZ太陽や設定確認のケースで除外</a:t>
            </a:r>
          </a:p>
          <a:p>
            <a:pPr algn="l">
              <a:lnSpc>
                <a:spcPct val="125000"/>
              </a:lnSpc>
              <a:spcAft>
                <a:spcPts val="0"/>
              </a:spcAft>
            </a:pPr>
            <a:r>
              <a:rPr sz="2300" b="0">
                <a:solidFill>
                  <a:srgbClr val="666F79"/>
                </a:solidFill>
                <a:latin typeface="Yu Gothic"/>
                <a:ea typeface="Yu Gothic"/>
              </a:rPr>
              <a:t>PZ/MZを太陽面にするケースは、その面にSTT/LCTがあるので設定しない</a:t>
            </a:r>
          </a:p>
          <a:p>
            <a:pPr algn="l">
              <a:lnSpc>
                <a:spcPct val="125000"/>
              </a:lnSpc>
              <a:spcAft>
                <a:spcPts val="0"/>
              </a:spcAft>
            </a:pPr>
            <a:r>
              <a:rPr sz="2300" b="0">
                <a:solidFill>
                  <a:srgbClr val="666F79"/>
                </a:solidFill>
                <a:latin typeface="Yu Gothic"/>
                <a:ea typeface="Yu Gothic"/>
              </a:rPr>
              <a:t>捕捉時間の見出しは、COLD・標準表面の14ケース（04–06, 08–09, 13–21）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9922716"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B2｜矩形スパイラル走査の幾何</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B2</a:t>
            </a: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133534431"/>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spcAft>
                          <a:spcPts val="0"/>
                        </a:spcAft>
                        <a:buNone/>
                      </a:pPr>
                      <a:r>
                        <a:rPr sz="2400">
                          <a:solidFill>
                            <a:srgbClr val="FFFFFF"/>
                          </a:solidFill>
                          <a:latin typeface="Yu Gothic"/>
                          <a:ea typeface="Yu Gothic"/>
                        </a:rPr>
                        <a:t>パラメータ</a:t>
                      </a:r>
                    </a:p>
                  </a:txBody>
                  <a:tcPr anchor="ctr">
                    <a:solidFill>
                      <a:srgbClr val="082B52"/>
                    </a:solidFill>
                  </a:tcPr>
                </a:tc>
                <a:tc>
                  <a:txBody>
                    <a:bodyPr/>
                    <a:lstStyle/>
                    <a:p>
                      <a:pPr algn="l">
                        <a:spcAft>
                          <a:spcPts val="0"/>
                        </a:spcAft>
                        <a:buNone/>
                      </a:pPr>
                      <a:r>
                        <a:rPr sz="2400">
                          <a:solidFill>
                            <a:srgbClr val="FFFFFF"/>
                          </a:solidFill>
                          <a:latin typeface="Yu Gothic"/>
                          <a:ea typeface="Yu Gothic"/>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spcAft>
                          <a:spcPts val="0"/>
                        </a:spcAft>
                        <a:buNone/>
                      </a:pPr>
                      <a:r>
                        <a:rPr sz="2400">
                          <a:solidFill>
                            <a:srgbClr val="232B34"/>
                          </a:solidFill>
                          <a:latin typeface="Yu Gothic"/>
                          <a:ea typeface="Yu Gothic"/>
                        </a:rPr>
                        <a:t>走査範囲</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spcAft>
                          <a:spcPts val="0"/>
                        </a:spcAft>
                        <a:buNone/>
                      </a:pPr>
                      <a:r>
                        <a:rPr sz="2400">
                          <a:solidFill>
                            <a:srgbClr val="232B34"/>
                          </a:solidFill>
                          <a:latin typeface="Yu Gothic"/>
                          <a:ea typeface="Yu Gothic"/>
                        </a:rPr>
                        <a:t>点間隔</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120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spcAft>
                          <a:spcPts val="0"/>
                        </a:spcAft>
                        <a:buNone/>
                      </a:pPr>
                      <a:r>
                        <a:rPr sz="2400">
                          <a:solidFill>
                            <a:srgbClr val="232B34"/>
                          </a:solidFill>
                          <a:latin typeface="Yu Gothic"/>
                          <a:ea typeface="Yu Gothic"/>
                        </a:rPr>
                        <a:t>検出半径</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150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spcAft>
                          <a:spcPts val="0"/>
                        </a:spcAft>
                        <a:buNone/>
                      </a:pPr>
                      <a:r>
                        <a:rPr sz="2400">
                          <a:solidFill>
                            <a:srgbClr val="232B34"/>
                          </a:solidFill>
                          <a:latin typeface="Yu Gothic"/>
                          <a:ea typeface="Yu Gothic"/>
                        </a:rPr>
                        <a:t>滞在時間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spcAft>
                          <a:spcPts val="0"/>
                        </a:spcAft>
                        <a:buNone/>
                      </a:pPr>
                      <a:r>
                        <a:rPr sz="2400">
                          <a:solidFill>
                            <a:srgbClr val="232B34"/>
                          </a:solidFill>
                          <a:latin typeface="Yu Gothic"/>
                          <a:ea typeface="Yu Gothic"/>
                        </a:rPr>
                        <a:t>総走査点数</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27 × 27 = 729点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spcAft>
                          <a:spcPts val="0"/>
                        </a:spcAft>
                        <a:buNone/>
                      </a:pPr>
                      <a:r>
                        <a:rPr sz="2400">
                          <a:solidFill>
                            <a:srgbClr val="232B34"/>
                          </a:solidFill>
                          <a:latin typeface="Yu Gothic"/>
                          <a:ea typeface="Yu Gothic"/>
                        </a:rPr>
                        <a:t>最大走査時間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72.9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3" name="TextBox 32"/>
          <p:cNvSpPr txBox="1"/>
          <p:nvPr/>
        </p:nvSpPr>
        <p:spPr>
          <a:xfrm>
            <a:off x="12252960" y="9052560"/>
            <a:ext cx="10881360" cy="914400"/>
          </a:xfrm>
          <a:prstGeom prst="rect">
            <a:avLst/>
          </a:prstGeom>
          <a:noFill/>
        </p:spPr>
        <p:txBody>
          <a:bodyPr wrap="square" lIns="45720" tIns="18288" rIns="45720" bIns="18288" anchor="t">
            <a:spAutoFit/>
          </a:bodyPr>
          <a:lstStyle/>
          <a:p>
            <a:pPr algn="l">
              <a:lnSpc>
                <a:spcPct val="120000"/>
              </a:lnSpc>
              <a:spcAft>
                <a:spcPts val="0"/>
              </a:spcAft>
            </a:pPr>
            <a:r>
              <a:rPr sz="2300" b="1">
                <a:solidFill>
                  <a:srgbClr val="239571"/>
                </a:solidFill>
                <a:latin typeface="Yu Gothic"/>
                <a:ea typeface="Yu Gothic"/>
              </a:rPr>
              <a:t>格子対角の半分 120/√2 ≈ 85 µrad &lt; 検出半径 150 µrad なので掃き残しは無い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8962050"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B3｜軌道予測誤差の作り方と、リンク横断面への射影</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B3</a:t>
            </a: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lnSpc>
                <a:spcPct val="110000"/>
              </a:lnSpc>
              <a:spcAft>
                <a:spcPts val="1000"/>
              </a:spcAft>
            </a:pPr>
            <a:r>
              <a:rPr sz="2400" b="0">
                <a:solidFill>
                  <a:srgbClr val="232B34"/>
                </a:solidFill>
                <a:latin typeface="Yu Gothic"/>
                <a:ea typeface="Yu Gothic"/>
              </a:rPr>
              <a:t>• 真値は Sentinel-1 の高精度暦 POEORB</a:t>
            </a:r>
          </a:p>
          <a:p>
            <a:pPr>
              <a:lnSpc>
                <a:spcPct val="110000"/>
              </a:lnSpc>
              <a:spcAft>
                <a:spcPts val="1000"/>
              </a:spcAft>
            </a:pPr>
            <a:r>
              <a:rPr sz="2400" b="0">
                <a:solidFill>
                  <a:srgbClr val="232B34"/>
                </a:solidFill>
                <a:latin typeface="Yu Gothic"/>
                <a:ea typeface="Yu Gothic"/>
              </a:rPr>
              <a:t>• 予測は直近のTLEを SGP4 で前方伝播</a:t>
            </a:r>
          </a:p>
          <a:p>
            <a:pPr>
              <a:lnSpc>
                <a:spcPct val="110000"/>
              </a:lnSpc>
              <a:spcAft>
                <a:spcPts val="1000"/>
              </a:spcAft>
            </a:pPr>
            <a:r>
              <a:rPr sz="2400" b="0">
                <a:solidFill>
                  <a:srgbClr val="232B34"/>
                </a:solidFill>
                <a:latin typeface="Yu Gothic"/>
                <a:ea typeface="Yu Gothic"/>
              </a:rPr>
              <a:t>• 差をリンク横断面へ射影し、x–y の2成分にする</a:t>
            </a:r>
          </a:p>
          <a:p>
            <a:pPr>
              <a:lnSpc>
                <a:spcPct val="110000"/>
              </a:lnSpc>
              <a:spcAft>
                <a:spcPts val="1000"/>
              </a:spcAft>
            </a:pPr>
            <a:r>
              <a:rPr sz="2400" b="0">
                <a:solidFill>
                  <a:srgbClr val="232B34"/>
                </a:solidFill>
                <a:latin typeface="Yu Gothic"/>
                <a:ea typeface="Yu Gothic"/>
              </a:rPr>
              <a:t>• 熱LOSと同じ2成分で足し合わせる</a:t>
            </a:r>
          </a:p>
          <a:p>
            <a:pPr>
              <a:lnSpc>
                <a:spcPct val="110000"/>
              </a:lnSpc>
              <a:spcAft>
                <a:spcPts val="1000"/>
              </a:spcAft>
            </a:pPr>
            <a:r>
              <a:rPr sz="2400" b="0">
                <a:solidFill>
                  <a:srgbClr val="232B34"/>
                </a:solidFill>
                <a:latin typeface="Yu Gothic"/>
                <a:ea typeface="Yu Gothic"/>
              </a:rPr>
              <a:t>• 時系列の不連続は、TLEが更新された時刻</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spcAft>
                          <a:spcPts val="0"/>
                        </a:spcAft>
                      </a:pPr>
                      <a:r>
                        <a:rPr sz="2100" b="1">
                          <a:solidFill>
                            <a:srgbClr val="FFFFFF"/>
                          </a:solidFill>
                          <a:latin typeface="Yu Gothic"/>
                          <a:ea typeface="Yu Gothic"/>
                        </a:rPr>
                        <a:t>太陽指向面</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通信相手とリンク</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扱い</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spcAft>
                          <a:spcPts val="0"/>
                        </a:spcAft>
                      </a:pPr>
                      <a:r>
                        <a:rPr sz="21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進行方向の衛星（高度800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spcAft>
                          <a:spcPts val="0"/>
                        </a:spcAft>
                      </a:pPr>
                      <a:r>
                        <a:rPr sz="21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逆進行方向の衛星（高度800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spcAft>
                          <a:spcPts val="0"/>
                        </a:spcAft>
                      </a:pPr>
                      <a:r>
                        <a:rPr sz="21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直下の地上局（約695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spcAft>
                          <a:spcPts val="0"/>
                        </a:spcAft>
                      </a:pPr>
                      <a:r>
                        <a:rPr sz="21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天頂側に置いた仮想の相手（800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幾何のみ・非現実的</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525445"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B4｜熱と軌道予測は同じ軌道周期。周波数では分けない</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B4</a:t>
            </a: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spcAft>
                          <a:spcPts val="0"/>
                        </a:spcAft>
                      </a:pPr>
                      <a:r>
                        <a:rPr sz="2300" b="1">
                          <a:solidFill>
                            <a:srgbClr val="FFFFFF"/>
                          </a:solidFill>
                          <a:latin typeface="Yu Gothic"/>
                          <a:ea typeface="Yu Gothic"/>
                        </a:rPr>
                        <a:t>リンク</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位置誤差の平均</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spcAft>
                          <a:spcPts val="0"/>
                        </a:spcAft>
                      </a:pPr>
                      <a:r>
                        <a:rPr sz="2300" b="0">
                          <a:solidFill>
                            <a:srgbClr val="232B34"/>
                          </a:solidFill>
                          <a:latin typeface="Yu Gothic"/>
                          <a:ea typeface="Yu Gothic"/>
                        </a:rPr>
                        <a:t>MY：進行方向の衛星</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spcAft>
                          <a:spcPts val="0"/>
                        </a:spcAft>
                      </a:pPr>
                      <a:r>
                        <a:rPr sz="2300" b="0">
                          <a:solidFill>
                            <a:srgbClr val="232B34"/>
                          </a:solidFill>
                          <a:latin typeface="Yu Gothic"/>
                          <a:ea typeface="Yu Gothic"/>
                        </a:rPr>
                        <a:t>PY：逆方向の衛星</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spcAft>
                          <a:spcPts val="0"/>
                        </a:spcAft>
                      </a:pPr>
                      <a:r>
                        <a:rPr sz="2300" b="0">
                          <a:solidFill>
                            <a:srgbClr val="232B34"/>
                          </a:solidFill>
                          <a:latin typeface="Yu Gothic"/>
                          <a:ea typeface="Yu Gothic"/>
                        </a:rPr>
                        <a:t>PX：直下の地上局</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spcAft>
                          <a:spcPts val="0"/>
                        </a:spcAft>
                      </a:pPr>
                      <a:r>
                        <a:rPr sz="2300" b="0">
                          <a:solidFill>
                            <a:srgbClr val="232B34"/>
                          </a:solidFill>
                          <a:latin typeface="Yu Gothic"/>
                          <a:ea typeface="Yu Gothic"/>
                        </a:rPr>
                        <a:t>MX：天頂側の仮想</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1097280"/>
          </a:xfrm>
          <a:prstGeom prst="rect">
            <a:avLst/>
          </a:prstGeom>
          <a:noFill/>
        </p:spPr>
        <p:txBody>
          <a:bodyPr wrap="square" lIns="36576" tIns="27432" rIns="36576" bIns="27432" anchor="t">
            <a:spAutoFit/>
          </a:bodyPr>
          <a:lstStyle/>
          <a:p>
            <a:pPr algn="ctr">
              <a:lnSpc>
                <a:spcPct val="120000"/>
              </a:lnSpc>
              <a:spcAft>
                <a:spcPts val="0"/>
              </a:spcAft>
            </a:pPr>
            <a:r>
              <a:rPr sz="2400" b="1">
                <a:solidFill>
                  <a:srgbClr val="EC9427"/>
                </a:solidFill>
                <a:latin typeface="Yu Gothic"/>
                <a:ea typeface="Yu Gothic"/>
              </a:rPr>
              <a:t>熱：約101分</a:t>
            </a:r>
          </a:p>
          <a:p>
            <a:pPr algn="ctr">
              <a:lnSpc>
                <a:spcPct val="120000"/>
              </a:lnSpc>
              <a:spcAft>
                <a:spcPts val="0"/>
              </a:spcAft>
            </a:pPr>
            <a:r>
              <a:rPr sz="2400" b="1">
                <a:solidFill>
                  <a:srgbClr val="EC9427"/>
                </a:solidFill>
                <a:latin typeface="Yu Gothic"/>
                <a:ea typeface="Yu Gothic"/>
              </a:rPr>
              <a:t>軌道予測：約101分 と約50分</a:t>
            </a:r>
          </a:p>
        </p:txBody>
      </p:sp>
      <p:sp>
        <p:nvSpPr>
          <p:cNvPr id="10" name="TextBox 9"/>
          <p:cNvSpPr txBox="1"/>
          <p:nvPr/>
        </p:nvSpPr>
        <p:spPr>
          <a:xfrm>
            <a:off x="1097280" y="11247120"/>
            <a:ext cx="22128480" cy="1188720"/>
          </a:xfrm>
          <a:prstGeom prst="rect">
            <a:avLst/>
          </a:prstGeom>
          <a:noFill/>
        </p:spPr>
        <p:txBody>
          <a:bodyPr wrap="square" lIns="36576" tIns="27432" rIns="36576" bIns="27432" anchor="t">
            <a:spAutoFit/>
          </a:bodyPr>
          <a:lstStyle/>
          <a:p>
            <a:pPr algn="ctr">
              <a:lnSpc>
                <a:spcPct val="120000"/>
              </a:lnSpc>
              <a:spcAft>
                <a:spcPts val="0"/>
              </a:spcAft>
            </a:pPr>
            <a:r>
              <a:rPr sz="2500" b="1">
                <a:solidFill>
                  <a:srgbClr val="082B52"/>
                </a:solidFill>
                <a:latin typeface="Yu Gothic"/>
                <a:ea typeface="Yu Gothic"/>
              </a:rPr>
              <a:t>熱ひずみと軌道予測誤差は、大きさも周波数帯も同程度</a:t>
            </a:r>
            <a:endParaRPr lang="en-US" sz="2900" b="1" dirty="0">
              <a:solidFill>
                <a:srgbClr val="D03B46"/>
              </a:solidFill>
              <a:latin typeface="Yu Gothic"/>
            </a:endParaRPr>
          </a:p>
          <a:p>
            <a:pPr algn="ctr">
              <a:lnSpc>
                <a:spcPct val="120000"/>
              </a:lnSpc>
              <a:spcAft>
                <a:spcPts val="0"/>
              </a:spcAft>
            </a:pPr>
            <a:r>
              <a:rPr sz="2500" b="1">
                <a:solidFill>
                  <a:srgbClr val="082B52"/>
                </a:solidFill>
                <a:latin typeface="Yu Gothic"/>
                <a:ea typeface="Yu Gothic"/>
              </a:rPr>
              <a:t>『低周波＝熱』という分離は主張しない。温度という別入力で捕捉前に引く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B5｜LOS定義の比較と、並進を入れない理由</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B5</a:t>
            </a: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
        <p:nvSpPr>
          <p:cNvPr id="7" name="TextBox 6"/>
          <p:cNvSpPr txBox="1"/>
          <p:nvPr/>
        </p:nvSpPr>
        <p:spPr>
          <a:xfrm>
            <a:off x="1097280" y="11338560"/>
            <a:ext cx="21945600" cy="118872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代表節点の回転を機器姿勢の代理にしている。取付面全体の剛体フィットは今後</a:t>
            </a:r>
          </a:p>
          <a:p>
            <a:pPr algn="l">
              <a:lnSpc>
                <a:spcPct val="125000"/>
              </a:lnSpc>
              <a:spcAft>
                <a:spcPts val="0"/>
              </a:spcAft>
            </a:pPr>
            <a:r>
              <a:rPr sz="2300" b="0">
                <a:solidFill>
                  <a:srgbClr val="666F79"/>
                </a:solidFill>
                <a:latin typeface="Yu Gothic"/>
                <a:ea typeface="Yu Gothic"/>
              </a:rPr>
              <a:t>代表点間の並進による傾きは、衛星間距離で割ると小さいので捕捉評価には入れていない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B6（1/2）｜モデルが難しいケース</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B6</a:t>
            </a:r>
          </a:p>
        </p:txBody>
      </p:sp>
      <p:graphicFrame>
        <p:nvGraphicFramePr>
          <p:cNvPr id="5" name="Table 4"/>
          <p:cNvGraphicFramePr>
            <a:graphicFrameLocks noGrp="1"/>
          </p:cNvGraphicFramePr>
          <p:nvPr/>
        </p:nvGraphicFramePr>
        <p:xfrm>
          <a:off x="1463040" y="3291840"/>
          <a:ext cx="21396960" cy="475488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gridCol w="12838176">
                  <a:extLst>
                    <a:ext uri="{9D8B030D-6E8A-4147-A177-3AD203B41FA5}">
                      <a16:colId xmlns:a16="http://schemas.microsoft.com/office/drawing/2014/main" val="20002"/>
                    </a:ext>
                  </a:extLst>
                </a:gridCol>
              </a:tblGrid>
              <a:tr h="1188720">
                <a:tc>
                  <a:txBody>
                    <a:bodyPr/>
                    <a:lstStyle/>
                    <a:p>
                      <a:pPr algn="l">
                        <a:spcAft>
                          <a:spcPts val="0"/>
                        </a:spcAft>
                      </a:pPr>
                      <a:r>
                        <a:rPr sz="2400" b="1">
                          <a:solidFill>
                            <a:srgbClr val="FFFFFF"/>
                          </a:solidFill>
                          <a:latin typeface="Yu Gothic"/>
                          <a:ea typeface="Yu Gothic"/>
                        </a:rPr>
                        <a:t>ケース</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残差</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何が表せていないか</a:t>
                      </a:r>
                    </a:p>
                  </a:txBody>
                  <a:tcPr marL="128016" marR="128016"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400" b="0">
                          <a:solidFill>
                            <a:srgbClr val="232B34"/>
                          </a:solidFill>
                          <a:latin typeface="Yu Gothic"/>
                          <a:ea typeface="Yu Gothic"/>
                        </a:rPr>
                        <a:t>太陽面Black被覆</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約13 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被覆を変えると感度と変動幅が動く。係数は標準表面で決めている</a:t>
                      </a:r>
                    </a:p>
                  </a:txBody>
                  <a:tcPr marL="128016" marR="128016" anchor="ctr">
                    <a:solidFill>
                      <a:srgbClr val="EBF6FB"/>
                    </a:solidFill>
                  </a:tcPr>
                </a:tc>
                <a:extLst>
                  <a:ext uri="{0D108BD9-81ED-4DB2-BD59-A6C34878D82A}">
                    <a16:rowId xmlns:a16="http://schemas.microsoft.com/office/drawing/2014/main" val="10001"/>
                  </a:ext>
                </a:extLst>
              </a:tr>
              <a:tr h="1188720">
                <a:tc>
                  <a:txBody>
                    <a:bodyPr/>
                    <a:lstStyle/>
                    <a:p>
                      <a:pPr algn="l">
                        <a:spcAft>
                          <a:spcPts val="0"/>
                        </a:spcAft>
                      </a:pPr>
                      <a:r>
                        <a:rPr sz="2400" b="0">
                          <a:solidFill>
                            <a:srgbClr val="232B34"/>
                          </a:solidFill>
                          <a:latin typeface="Yu Gothic"/>
                          <a:ea typeface="Yu Gothic"/>
                        </a:rPr>
                        <a:t>PROP半電力（12.5 W）</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約16 µrad</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ON/OFFの二値フラグでは25 Wと12.5 Wを区別できない</a:t>
                      </a:r>
                    </a:p>
                  </a:txBody>
                  <a:tcPr marL="128016" marR="128016" anchor="ctr">
                    <a:solidFill>
                      <a:srgbClr val="EBF6FB"/>
                    </a:solidFill>
                  </a:tcPr>
                </a:tc>
                <a:extLst>
                  <a:ext uri="{0D108BD9-81ED-4DB2-BD59-A6C34878D82A}">
                    <a16:rowId xmlns:a16="http://schemas.microsoft.com/office/drawing/2014/main" val="10002"/>
                  </a:ext>
                </a:extLst>
              </a:tr>
              <a:tr h="1188720">
                <a:tc>
                  <a:txBody>
                    <a:bodyPr/>
                    <a:lstStyle/>
                    <a:p>
                      <a:pPr algn="l">
                        <a:spcAft>
                          <a:spcPts val="0"/>
                        </a:spcAft>
                      </a:pPr>
                      <a:r>
                        <a:rPr sz="2400" b="0">
                          <a:solidFill>
                            <a:srgbClr val="232B34"/>
                          </a:solidFill>
                          <a:latin typeface="Yu Gothic"/>
                          <a:ea typeface="Yu Gothic"/>
                        </a:rPr>
                        <a:t>全日照（HOT）軌道</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DCが数µrad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蝕がなく熱がほぼ一定。平均の予測が軌道条件の外へ出ている</a:t>
                      </a:r>
                    </a:p>
                  </a:txBody>
                  <a:tcPr marL="128016" marR="128016" anchor="ctr">
                    <a:solidFill>
                      <a:srgbClr val="EBF6FB"/>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463040" y="8778240"/>
            <a:ext cx="10424160" cy="2926080"/>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288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082B52"/>
                </a:solidFill>
                <a:latin typeface="Yu Gothic"/>
                <a:ea typeface="Yu Gothic"/>
              </a:rPr>
              <a:t>共通する構図</a:t>
            </a:r>
          </a:p>
        </p:txBody>
      </p:sp>
      <p:sp>
        <p:nvSpPr>
          <p:cNvPr id="8" name="TextBox 7"/>
          <p:cNvSpPr txBox="1"/>
          <p:nvPr/>
        </p:nvSpPr>
        <p:spPr>
          <a:xfrm>
            <a:off x="18288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時変の項ではなく、ケース平均の側が外れている。</a:t>
            </a:r>
          </a:p>
          <a:p>
            <a:pPr algn="l">
              <a:lnSpc>
                <a:spcPct val="125000"/>
              </a:lnSpc>
              <a:spcAft>
                <a:spcPts val="0"/>
              </a:spcAft>
            </a:pPr>
            <a:r>
              <a:rPr sz="2400" b="0">
                <a:solidFill>
                  <a:srgbClr val="232B34"/>
                </a:solidFill>
                <a:latin typeface="Yu Gothic"/>
                <a:ea typeface="Yu Gothic"/>
              </a:rPr>
              <a:t>被覆・軌道・連続発熱量はいまの入力に入っていない</a:t>
            </a:r>
          </a:p>
        </p:txBody>
      </p:sp>
      <p:sp>
        <p:nvSpPr>
          <p:cNvPr id="9" name="Rounded Rectangle 8"/>
          <p:cNvSpPr/>
          <p:nvPr/>
        </p:nvSpPr>
        <p:spPr>
          <a:xfrm>
            <a:off x="12435840" y="8778240"/>
            <a:ext cx="10424160" cy="29260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8016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Yu Gothic"/>
                <a:ea typeface="Yu Gothic"/>
              </a:rPr>
              <a:t>主結果の範囲</a:t>
            </a:r>
          </a:p>
        </p:txBody>
      </p:sp>
      <p:sp>
        <p:nvSpPr>
          <p:cNvPr id="11" name="TextBox 10"/>
          <p:cNvSpPr txBox="1"/>
          <p:nvPr/>
        </p:nvSpPr>
        <p:spPr>
          <a:xfrm>
            <a:off x="128016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標準COLD・標準表面の条件で、固定16係数のまま</a:t>
            </a:r>
          </a:p>
          <a:p>
            <a:pPr algn="l">
              <a:lnSpc>
                <a:spcPct val="125000"/>
              </a:lnSpc>
              <a:spcAft>
                <a:spcPts val="0"/>
              </a:spcAft>
            </a:pPr>
            <a:r>
              <a:rPr sz="2400" b="0">
                <a:solidFill>
                  <a:srgbClr val="232B34"/>
                </a:solidFill>
                <a:latin typeface="Yu Gothic"/>
                <a:ea typeface="Yu Gothic"/>
              </a:rPr>
              <a:t>1〜2桁の低減。被覆・軌道・連続量の明示は今後</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390793"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B6（2/2）｜取付点の温度を足すと係数が壊れる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B6</a:t>
            </a: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試したこと</a:t>
            </a:r>
          </a:p>
        </p:txBody>
      </p:sp>
      <p:sp>
        <p:nvSpPr>
          <p:cNvPr id="7" name="TextBox 6"/>
          <p:cNvSpPr txBox="1"/>
          <p:nvPr/>
        </p:nvSpPr>
        <p:spPr>
          <a:xfrm>
            <a:off x="1828800" y="4434840"/>
            <a:ext cx="9052560" cy="1188720"/>
          </a:xfrm>
          <a:prstGeom prst="rect">
            <a:avLst/>
          </a:prstGeom>
          <a:noFill/>
        </p:spPr>
        <p:txBody>
          <a:bodyPr wrap="none" lIns="36576" tIns="27432" rIns="36576" bIns="27432" anchor="t">
            <a:spAutoFit/>
          </a:bodyPr>
          <a:lstStyle/>
          <a:p>
            <a:pPr algn="ctr"/>
            <a:r>
              <a:rPr sz="3100" b="1">
                <a:solidFill>
                  <a:srgbClr val="082B52"/>
                </a:solidFill>
                <a:latin typeface="Yu Gothic"/>
              </a:rPr>
              <a:t>LOS = b + a·ΔT
+ c·(Tattach−Tref)</a:t>
            </a:r>
          </a:p>
        </p:txBody>
      </p:sp>
      <p:sp>
        <p:nvSpPr>
          <p:cNvPr id="8" name="TextBox 7"/>
          <p:cNvSpPr txBox="1"/>
          <p:nvPr/>
        </p:nvSpPr>
        <p:spPr>
          <a:xfrm>
            <a:off x="1828800" y="6217920"/>
            <a:ext cx="9052560" cy="2743200"/>
          </a:xfrm>
          <a:prstGeom prst="rect">
            <a:avLst/>
          </a:prstGeom>
          <a:noFill/>
        </p:spPr>
        <p:txBody>
          <a:bodyPr wrap="square" lIns="27432" rIns="27432">
            <a:spAutoFit/>
          </a:bodyPr>
          <a:lstStyle/>
          <a:p>
            <a:pPr>
              <a:lnSpc>
                <a:spcPct val="110000"/>
              </a:lnSpc>
              <a:spcAft>
                <a:spcPts val="1200"/>
              </a:spcAft>
            </a:pPr>
            <a:r>
              <a:rPr sz="2500" b="0">
                <a:solidFill>
                  <a:srgbClr val="232B34"/>
                </a:solidFill>
                <a:latin typeface="Yu Gothic"/>
                <a:ea typeface="Yu Gothic"/>
              </a:rPr>
              <a:t>• 温度差と取付点温度の相関が 0.995</a:t>
            </a:r>
          </a:p>
          <a:p>
            <a:pPr>
              <a:lnSpc>
                <a:spcPct val="110000"/>
              </a:lnSpc>
              <a:spcAft>
                <a:spcPts val="1200"/>
              </a:spcAft>
            </a:pPr>
            <a:r>
              <a:rPr sz="2500" b="0">
                <a:solidFill>
                  <a:srgbClr val="232B34"/>
                </a:solidFill>
                <a:latin typeface="Yu Gothic"/>
                <a:ea typeface="Yu Gothic"/>
              </a:rPr>
              <a:t>• 取付点まわりの温度のばらつきは 0.1 K 程度</a:t>
            </a:r>
          </a:p>
          <a:p>
            <a:pPr>
              <a:lnSpc>
                <a:spcPct val="110000"/>
              </a:lnSpc>
              <a:spcAft>
                <a:spcPts val="1200"/>
              </a:spcAft>
            </a:pPr>
            <a:r>
              <a:rPr sz="2500" b="0">
                <a:solidFill>
                  <a:srgbClr val="232B34"/>
                </a:solidFill>
                <a:latin typeface="Yu Gothic"/>
                <a:ea typeface="Yu Gothic"/>
              </a:rPr>
              <a:t>• 係数が巨大化し、ケース間で不安定になる</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解釈</a:t>
            </a:r>
          </a:p>
        </p:txBody>
      </p:sp>
      <p:sp>
        <p:nvSpPr>
          <p:cNvPr id="12" name="TextBox 11"/>
          <p:cNvSpPr txBox="1"/>
          <p:nvPr/>
        </p:nvSpPr>
        <p:spPr>
          <a:xfrm>
            <a:off x="14356080" y="4572000"/>
            <a:ext cx="7863840" cy="2011680"/>
          </a:xfrm>
          <a:prstGeom prst="rect">
            <a:avLst/>
          </a:prstGeom>
          <a:noFill/>
        </p:spPr>
        <p:txBody>
          <a:bodyPr wrap="square" lIns="36576" tIns="27432" rIns="36576" bIns="27432" anchor="t">
            <a:spAutoFit/>
          </a:bodyPr>
          <a:lstStyle/>
          <a:p>
            <a:pPr algn="ctr">
              <a:spcAft>
                <a:spcPts val="0"/>
              </a:spcAft>
            </a:pPr>
            <a:r>
              <a:rPr sz="2600" b="0">
                <a:solidFill>
                  <a:srgbClr val="232B34"/>
                </a:solidFill>
                <a:latin typeface="Yu Gothic"/>
                <a:ea typeface="Yu Gothic"/>
              </a:rPr>
              <a:t>効いていたのは軌道内の変動ではなく</a:t>
            </a:r>
          </a:p>
          <a:p>
            <a:pPr algn="ctr">
              <a:spcAft>
                <a:spcPts val="0"/>
              </a:spcAft>
            </a:pPr>
            <a:r>
              <a:rPr sz="2600" b="0">
                <a:solidFill>
                  <a:srgbClr val="232B34"/>
                </a:solidFill>
                <a:latin typeface="Yu Gothic"/>
                <a:ea typeface="Yu Gothic"/>
              </a:rPr>
              <a:t>ケース平均のDCだった</a:t>
            </a:r>
          </a:p>
        </p:txBody>
      </p:sp>
      <p:sp>
        <p:nvSpPr>
          <p:cNvPr id="13" name="TextBox 12"/>
          <p:cNvSpPr txBox="1"/>
          <p:nvPr/>
        </p:nvSpPr>
        <p:spPr>
          <a:xfrm>
            <a:off x="14721840" y="7543800"/>
            <a:ext cx="7132320" cy="594360"/>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Yu Gothic"/>
                <a:ea typeface="Yu Gothic"/>
              </a:rPr>
              <a:t>→ b_case 側へ分離した</a:t>
            </a:r>
          </a:p>
        </p:txBody>
      </p:sp>
      <p:sp>
        <p:nvSpPr>
          <p:cNvPr id="14" name="TextBox 13"/>
          <p:cNvSpPr txBox="1"/>
          <p:nvPr/>
        </p:nvSpPr>
        <p:spPr>
          <a:xfrm>
            <a:off x="3840480" y="10652760"/>
            <a:ext cx="16642080" cy="640080"/>
          </a:xfrm>
          <a:prstGeom prst="rect">
            <a:avLst/>
          </a:prstGeom>
          <a:noFill/>
        </p:spPr>
        <p:txBody>
          <a:bodyPr wrap="square" lIns="36576" tIns="27432" rIns="36576" bIns="27432" anchor="t">
            <a:spAutoFit/>
          </a:bodyPr>
          <a:lstStyle/>
          <a:p>
            <a:pPr algn="ctr">
              <a:spcAft>
                <a:spcPts val="0"/>
              </a:spcAft>
            </a:pPr>
            <a:r>
              <a:rPr sz="2800" b="1">
                <a:solidFill>
                  <a:srgbClr val="082B52"/>
                </a:solidFill>
                <a:latin typeface="Yu Gothic"/>
                <a:ea typeface="Yu Gothic"/>
              </a:rPr>
              <a:t>RMSEだけでなく、係数の安定性と運用上の解釈でモデルを選んだ</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B7｜平均だけを引いた場合（定数バイアスのみ）は未計算</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B7</a:t>
            </a:r>
          </a:p>
        </p:txBody>
      </p:sp>
      <p:sp>
        <p:nvSpPr>
          <p:cNvPr id="5" name="Rounded Rectangle 4"/>
          <p:cNvSpPr/>
          <p:nvPr/>
        </p:nvSpPr>
        <p:spPr>
          <a:xfrm>
            <a:off x="2926080" y="3840480"/>
            <a:ext cx="18470880" cy="4206240"/>
          </a:xfrm>
          <a:prstGeom prst="roundRect">
            <a:avLst/>
          </a:prstGeom>
          <a:solidFill>
            <a:srgbClr val="F4F6F8"/>
          </a:solidFill>
          <a:ln w="2286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926080" y="4480560"/>
            <a:ext cx="18470880" cy="1097280"/>
          </a:xfrm>
          <a:prstGeom prst="rect">
            <a:avLst/>
          </a:prstGeom>
          <a:noFill/>
        </p:spPr>
        <p:txBody>
          <a:bodyPr wrap="square" lIns="45720" tIns="18288" rIns="45720" bIns="18288" anchor="t">
            <a:spAutoFit/>
          </a:bodyPr>
          <a:lstStyle/>
          <a:p>
            <a:pPr algn="ctr">
              <a:spcAft>
                <a:spcPts val="0"/>
              </a:spcAft>
            </a:pPr>
            <a:r>
              <a:rPr sz="4800" b="1">
                <a:solidFill>
                  <a:srgbClr val="666F79"/>
                </a:solidFill>
                <a:latin typeface="Yu Gothic"/>
                <a:ea typeface="Yu Gothic"/>
              </a:rPr>
              <a:t>未計算</a:t>
            </a:r>
          </a:p>
        </p:txBody>
      </p:sp>
      <p:sp>
        <p:nvSpPr>
          <p:cNvPr id="7" name="TextBox 6"/>
          <p:cNvSpPr txBox="1"/>
          <p:nvPr/>
        </p:nvSpPr>
        <p:spPr>
          <a:xfrm>
            <a:off x="2926080" y="5852160"/>
            <a:ext cx="18470880" cy="1645920"/>
          </a:xfrm>
          <a:prstGeom prst="rect">
            <a:avLst/>
          </a:prstGeom>
          <a:noFill/>
        </p:spPr>
        <p:txBody>
          <a:bodyPr wrap="square" lIns="45720" tIns="18288" rIns="45720" bIns="18288" anchor="t">
            <a:spAutoFit/>
          </a:bodyPr>
          <a:lstStyle/>
          <a:p>
            <a:pPr algn="ctr">
              <a:lnSpc>
                <a:spcPct val="125000"/>
              </a:lnSpc>
              <a:spcAft>
                <a:spcPts val="0"/>
              </a:spcAft>
            </a:pPr>
            <a:r>
              <a:rPr sz="2700" b="0">
                <a:solidFill>
                  <a:srgbClr val="232B34"/>
                </a:solidFill>
                <a:latin typeface="Yu Gothic"/>
                <a:ea typeface="Yu Gothic"/>
              </a:rPr>
              <a:t>ΔT(t) を 0 とし、予測したケース平均DCだけを引いた場合の捕捉時間は、</a:t>
            </a:r>
          </a:p>
          <a:p>
            <a:pPr algn="ctr">
              <a:lnSpc>
                <a:spcPct val="125000"/>
              </a:lnSpc>
              <a:spcAft>
                <a:spcPts val="0"/>
              </a:spcAft>
            </a:pPr>
            <a:r>
              <a:rPr sz="2700" b="0">
                <a:solidFill>
                  <a:srgbClr val="232B34"/>
                </a:solidFill>
                <a:latin typeface="Yu Gothic"/>
                <a:ea typeface="Yu Gothic"/>
              </a:rPr>
              <a:t>今回の走査条件ではまだ計算していない</a:t>
            </a:r>
          </a:p>
        </p:txBody>
      </p:sp>
      <p:sp>
        <p:nvSpPr>
          <p:cNvPr id="8" name="Rounded Rectangle 7"/>
          <p:cNvSpPr/>
          <p:nvPr/>
        </p:nvSpPr>
        <p:spPr>
          <a:xfrm>
            <a:off x="2926080" y="8503920"/>
            <a:ext cx="8869680" cy="256032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272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この列が示すはずのこと</a:t>
            </a:r>
          </a:p>
        </p:txBody>
      </p:sp>
      <p:sp>
        <p:nvSpPr>
          <p:cNvPr id="10" name="TextBox 9"/>
          <p:cNvSpPr txBox="1"/>
          <p:nvPr/>
        </p:nvSpPr>
        <p:spPr>
          <a:xfrm>
            <a:off x="32004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改善のどれだけが平均の除去で、
どれだけが軌道内の時変項によるのかを分ける</a:t>
            </a:r>
          </a:p>
        </p:txBody>
      </p:sp>
      <p:sp>
        <p:nvSpPr>
          <p:cNvPr id="11" name="Rounded Rectangle 10"/>
          <p:cNvSpPr/>
          <p:nvPr/>
        </p:nvSpPr>
        <p:spPr>
          <a:xfrm>
            <a:off x="12527280" y="8503920"/>
            <a:ext cx="8869680" cy="25603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7284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D03B46"/>
                </a:solidFill>
                <a:latin typeface="Yu Gothic"/>
                <a:ea typeface="Yu Gothic"/>
              </a:rPr>
              <a:t>7月に出した秒は流用しない</a:t>
            </a:r>
          </a:p>
        </p:txBody>
      </p:sp>
      <p:sp>
        <p:nvSpPr>
          <p:cNvPr id="13" name="TextBox 12"/>
          <p:cNvSpPr txBox="1"/>
          <p:nvPr/>
        </p:nvSpPr>
        <p:spPr>
          <a:xfrm>
            <a:off x="128016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あのときの走査は点間隔と検出半径が
通信ビーム級に細かく、今日の条件とは別</a:t>
            </a:r>
          </a:p>
        </p:txBody>
      </p:sp>
      <p:sp>
        <p:nvSpPr>
          <p:cNvPr id="14" name="TextBox 13"/>
          <p:cNvSpPr txBox="1"/>
          <p:nvPr/>
        </p:nvSpPr>
        <p:spPr>
          <a:xfrm>
            <a:off x="2926080" y="11430000"/>
            <a:ext cx="18470880" cy="548640"/>
          </a:xfrm>
          <a:prstGeom prst="rect">
            <a:avLst/>
          </a:prstGeom>
          <a:noFill/>
        </p:spPr>
        <p:txBody>
          <a:bodyPr wrap="square" lIns="45720" tIns="18288" rIns="45720" bIns="18288" anchor="t">
            <a:spAutoFit/>
          </a:bodyPr>
          <a:lstStyle/>
          <a:p>
            <a:pPr algn="ctr">
              <a:spcAft>
                <a:spcPts val="0"/>
              </a:spcAft>
            </a:pPr>
            <a:r>
              <a:rPr sz="2400" b="1">
                <a:solidFill>
                  <a:srgbClr val="D03B46"/>
                </a:solidFill>
                <a:latin typeface="Yu Gothic"/>
                <a:ea typeface="Yu Gothic"/>
              </a:rPr>
              <a:t>本編の結論には、この未計算の列の数字を一切使っていない</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B8｜先行研究の位置づけ（2軸で見る）</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B8</a:t>
            </a:r>
          </a:p>
        </p:txBody>
      </p:sp>
      <p:graphicFrame>
        <p:nvGraphicFramePr>
          <p:cNvPr id="5" name="Table 4"/>
          <p:cNvGraphicFramePr>
            <a:graphicFrameLocks noGrp="1"/>
          </p:cNvGraphicFramePr>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spcAft>
                          <a:spcPts val="0"/>
                        </a:spcAft>
                      </a:pPr>
                      <a:r>
                        <a:rPr sz="2300" b="1">
                          <a:solidFill>
                            <a:srgbClr val="FFFFFF"/>
                          </a:solidFill>
                          <a:latin typeface="Yu Gothic"/>
                          <a:ea typeface="Yu Gothic"/>
                        </a:rPr>
                        <a:t>研究</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熱状態からLOSを予測するか / 粗捕捉時間を評価するか</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spcAft>
                          <a:spcPts val="0"/>
                        </a:spcAft>
                      </a:pPr>
                      <a:r>
                        <a:rPr sz="2300" b="0">
                          <a:solidFill>
                            <a:srgbClr val="232B34"/>
                          </a:solidFill>
                          <a:latin typeface="Yu Gothic"/>
                          <a:ea typeface="Yu Gothic"/>
                        </a:rPr>
                        <a:t>Riesing 2023（TBIRD）</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熱は明示せず姿勢系で吸収 / 軌道上で捕捉を評価</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spcAft>
                          <a:spcPts val="0"/>
                        </a:spcAft>
                      </a:pPr>
                      <a:r>
                        <a:rPr sz="2300" b="0">
                          <a:solidFill>
                            <a:srgbClr val="232B34"/>
                          </a:solidFill>
                          <a:latin typeface="Yu Gothic"/>
                          <a:ea typeface="Yu Gothic"/>
                        </a:rPr>
                        <a:t>Shi 2023</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構造設計で熱変形を小さくする / 捕捉時間を評価</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spcAft>
                          <a:spcPts val="0"/>
                        </a:spcAft>
                      </a:pPr>
                      <a:r>
                        <a:rPr sz="2300" b="0">
                          <a:solidFill>
                            <a:srgbClr val="232B34"/>
                          </a:solidFill>
                          <a:latin typeface="Yu Gothic"/>
                          <a:ea typeface="Yu Gothic"/>
                        </a:rPr>
                        <a:t>Hu 2022（GEO）</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周期モデルで熱LOSを補正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spcAft>
                          <a:spcPts val="0"/>
                        </a:spcAft>
                      </a:pPr>
                      <a:r>
                        <a:rPr sz="2300" b="0">
                          <a:solidFill>
                            <a:srgbClr val="232B34"/>
                          </a:solidFill>
                          <a:latin typeface="Yu Gothic"/>
                          <a:ea typeface="Yu Gothic"/>
                        </a:rPr>
                        <a:t>Li 2025（LEO）</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ニューラルネットで熱LOSを補正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spcAft>
                          <a:spcPts val="0"/>
                        </a:spcAft>
                      </a:pPr>
                      <a:r>
                        <a:rPr sz="2300" b="0">
                          <a:solidFill>
                            <a:srgbClr val="232B34"/>
                          </a:solidFill>
                          <a:latin typeface="Yu Gothic"/>
                          <a:ea typeface="Yu Gothic"/>
                        </a:rPr>
                        <a:t>JANUS（Turella）</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壁面温度差に比例する一次式 / 粗捕捉は評価しない</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spcAft>
                          <a:spcPts val="0"/>
                        </a:spcAft>
                      </a:pPr>
                      <a:r>
                        <a:rPr sz="2300" b="0">
                          <a:solidFill>
                            <a:srgbClr val="232B34"/>
                          </a:solidFill>
                          <a:latin typeface="Yu Gothic"/>
                          <a:ea typeface="Yu Gothic"/>
                        </a:rPr>
                        <a:t>本研究</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太陽面温度差と運用フラグで予測する / 捕捉時間まで評価する</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280160" y="10698480"/>
            <a:ext cx="21762720" cy="64008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新しいのは一次関係そのものではなく、バス上のSTT–LCTへの適用、条件横断の係数共有、捕捉時間への接続</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B9｜解析モデルの妥当性をどう検証するか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B9</a:t>
            </a:r>
          </a:p>
        </p:txBody>
      </p:sp>
      <p:sp>
        <p:nvSpPr>
          <p:cNvPr id="5" name="Rounded Rectangle 4"/>
          <p:cNvSpPr/>
          <p:nvPr/>
        </p:nvSpPr>
        <p:spPr>
          <a:xfrm>
            <a:off x="1463040" y="3291840"/>
            <a:ext cx="10607040" cy="356616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58444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今日の主張の範囲</a:t>
            </a:r>
          </a:p>
        </p:txBody>
      </p:sp>
      <p:sp>
        <p:nvSpPr>
          <p:cNvPr id="7" name="TextBox 6"/>
          <p:cNvSpPr txBox="1"/>
          <p:nvPr/>
        </p:nvSpPr>
        <p:spPr>
          <a:xfrm>
            <a:off x="1737360" y="4434840"/>
            <a:ext cx="1005840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同一の解析チェーン（Thermal Desktop / Femap）の中での数値評価である。
外しているのはケースであって、構造やLOS定義ではない</a:t>
            </a:r>
          </a:p>
        </p:txBody>
      </p:sp>
      <p:sp>
        <p:nvSpPr>
          <p:cNvPr id="8" name="Rounded Rectangle 7"/>
          <p:cNvSpPr/>
          <p:nvPr/>
        </p:nvSpPr>
        <p:spPr>
          <a:xfrm>
            <a:off x="12801600" y="3291840"/>
            <a:ext cx="10424160" cy="356616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584448"/>
            <a:ext cx="1002182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入っていないもの</a:t>
            </a:r>
          </a:p>
        </p:txBody>
      </p:sp>
      <p:sp>
        <p:nvSpPr>
          <p:cNvPr id="10" name="TextBox 9"/>
          <p:cNvSpPr txBox="1"/>
          <p:nvPr/>
        </p:nvSpPr>
        <p:spPr>
          <a:xfrm>
            <a:off x="13075920" y="4434840"/>
            <a:ext cx="987552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打上げ後のアライメント変化、実機の剛性差、組立公差、
軌道上での経年変化</a:t>
            </a:r>
          </a:p>
        </p:txBody>
      </p:sp>
      <p:sp>
        <p:nvSpPr>
          <p:cNvPr id="11" name="Rounded Rectangle 10"/>
          <p:cNvSpPr/>
          <p:nvPr/>
        </p:nvSpPr>
        <p:spPr>
          <a:xfrm>
            <a:off x="1463040" y="7315200"/>
            <a:ext cx="21762720" cy="310896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607808"/>
            <a:ext cx="2136038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今後の検証</a:t>
            </a:r>
          </a:p>
        </p:txBody>
      </p:sp>
      <p:sp>
        <p:nvSpPr>
          <p:cNvPr id="13" name="TextBox 12"/>
          <p:cNvSpPr txBox="1"/>
          <p:nvPr/>
        </p:nvSpPr>
        <p:spPr>
          <a:xfrm>
            <a:off x="1737360" y="8458200"/>
            <a:ext cx="21214080" cy="178308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地上の熱真空試験で温度と変位を同時に測り、感度 a を実測で確かめる。
係数の取り直しが前提であり、式の形が移せるかを見る</a:t>
            </a:r>
          </a:p>
        </p:txBody>
      </p:sp>
      <p:sp>
        <p:nvSpPr>
          <p:cNvPr id="14" name="TextBox 13"/>
          <p:cNvSpPr txBox="1"/>
          <p:nvPr/>
        </p:nvSpPr>
        <p:spPr>
          <a:xfrm>
            <a:off x="1463040" y="10881360"/>
            <a:ext cx="21762720" cy="640080"/>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Yu Gothic"/>
                <a:ea typeface="Yu Gothic"/>
              </a:rPr>
              <a:t>主張を『解析を真値として完璧に当てる』に置いていない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B10｜姿勢の前提と、変わる頻度</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B10</a:t>
            </a:r>
          </a:p>
        </p:txBody>
      </p:sp>
      <p:sp>
        <p:nvSpPr>
          <p:cNvPr id="5" name="Rounded Rectangle 4"/>
          <p:cNvSpPr/>
          <p:nvPr/>
        </p:nvSpPr>
        <p:spPr>
          <a:xfrm>
            <a:off x="1463040" y="3383280"/>
            <a:ext cx="10607040" cy="38404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67588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前提</a:t>
            </a:r>
          </a:p>
        </p:txBody>
      </p:sp>
      <p:sp>
        <p:nvSpPr>
          <p:cNvPr id="7" name="TextBox 6"/>
          <p:cNvSpPr txBox="1"/>
          <p:nvPr/>
        </p:nvSpPr>
        <p:spPr>
          <a:xfrm>
            <a:off x="1737360" y="4526280"/>
            <a:ext cx="1005840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本体指向を想定し、ケース内では太陽指向面を固定している。
通信中に構体の太陽面が入れ替わる時系列は解析していない</a:t>
            </a:r>
          </a:p>
        </p:txBody>
      </p:sp>
      <p:sp>
        <p:nvSpPr>
          <p:cNvPr id="8" name="Rounded Rectangle 7"/>
          <p:cNvSpPr/>
          <p:nvPr/>
        </p:nvSpPr>
        <p:spPr>
          <a:xfrm>
            <a:off x="12801600" y="3383280"/>
            <a:ext cx="10424160" cy="38404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675888"/>
            <a:ext cx="1002182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ジンバルの場合</a:t>
            </a:r>
          </a:p>
        </p:txBody>
      </p:sp>
      <p:sp>
        <p:nvSpPr>
          <p:cNvPr id="10" name="TextBox 9"/>
          <p:cNvSpPr txBox="1"/>
          <p:nvPr/>
        </p:nvSpPr>
        <p:spPr>
          <a:xfrm>
            <a:off x="13075920" y="4526280"/>
            <a:ext cx="987552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構体姿勢がほぼ一定なら、このケース行列の中では同じ扱いになる。
熱はバス側の温度場で決まるため</a:t>
            </a:r>
          </a:p>
        </p:txBody>
      </p:sp>
      <p:sp>
        <p:nvSpPr>
          <p:cNvPr id="11" name="Rounded Rectangle 10"/>
          <p:cNvSpPr/>
          <p:nvPr/>
        </p:nvSpPr>
        <p:spPr>
          <a:xfrm>
            <a:off x="1463040" y="7680960"/>
            <a:ext cx="21762720" cy="29260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973568"/>
            <a:ext cx="2136038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未解析</a:t>
            </a:r>
          </a:p>
        </p:txBody>
      </p:sp>
      <p:sp>
        <p:nvSpPr>
          <p:cNvPr id="13" name="TextBox 12"/>
          <p:cNvSpPr txBox="1"/>
          <p:nvPr/>
        </p:nvSpPr>
        <p:spPr>
          <a:xfrm>
            <a:off x="1737360" y="8823960"/>
            <a:ext cx="21214080" cy="160020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相手を追い続ける body pointing の時系列、および軌道の途中で発熱機器の電源が入る過渡。どちらも温度場の履歴が変わるため、別に解析が要る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B11｜残差Fourier更新の数値（予備）</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B11</a:t>
            </a:r>
          </a:p>
        </p:txBody>
      </p:sp>
      <p:graphicFrame>
        <p:nvGraphicFramePr>
          <p:cNvPr id="5" name="Table 4"/>
          <p:cNvGraphicFramePr>
            <a:graphicFrameLocks noGrp="1"/>
          </p:cNvGraphicFramePr>
          <p:nvPr/>
        </p:nvGraphicFramePr>
        <p:xfrm>
          <a:off x="1463040" y="3291840"/>
          <a:ext cx="21396958" cy="4572000"/>
        </p:xfrm>
        <a:graphic>
          <a:graphicData uri="http://schemas.openxmlformats.org/drawingml/2006/table">
            <a:tbl>
              <a:tblPr firstRow="1" bandRow="1">
                <a:tableStyleId>{5C22544A-7EE6-4342-B048-85BDC9FD1C3A}</a:tableStyleId>
              </a:tblPr>
              <a:tblGrid>
                <a:gridCol w="10480143">
                  <a:extLst>
                    <a:ext uri="{9D8B030D-6E8A-4147-A177-3AD203B41FA5}">
                      <a16:colId xmlns:a16="http://schemas.microsoft.com/office/drawing/2014/main" val="20000"/>
                    </a:ext>
                  </a:extLst>
                </a:gridCol>
                <a:gridCol w="3493381">
                  <a:extLst>
                    <a:ext uri="{9D8B030D-6E8A-4147-A177-3AD203B41FA5}">
                      <a16:colId xmlns:a16="http://schemas.microsoft.com/office/drawing/2014/main" val="20001"/>
                    </a:ext>
                  </a:extLst>
                </a:gridCol>
                <a:gridCol w="3493381">
                  <a:extLst>
                    <a:ext uri="{9D8B030D-6E8A-4147-A177-3AD203B41FA5}">
                      <a16:colId xmlns:a16="http://schemas.microsoft.com/office/drawing/2014/main" val="20002"/>
                    </a:ext>
                  </a:extLst>
                </a:gridCol>
                <a:gridCol w="3930053">
                  <a:extLst>
                    <a:ext uri="{9D8B030D-6E8A-4147-A177-3AD203B41FA5}">
                      <a16:colId xmlns:a16="http://schemas.microsoft.com/office/drawing/2014/main" val="20003"/>
                    </a:ext>
                  </a:extLst>
                </a:gridCol>
              </a:tblGrid>
              <a:tr h="914400">
                <a:tc>
                  <a:txBody>
                    <a:bodyPr/>
                    <a:lstStyle/>
                    <a:p>
                      <a:pPr algn="l">
                        <a:spcAft>
                          <a:spcPts val="0"/>
                        </a:spcAft>
                      </a:pPr>
                      <a:r>
                        <a:rPr sz="2300" b="1">
                          <a:solidFill>
                            <a:srgbClr val="FFFFFF"/>
                          </a:solidFill>
                          <a:latin typeface="Yu Gothic"/>
                          <a:ea typeface="Yu Gothic"/>
                        </a:rPr>
                        <a:t>条件</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全区間</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初周</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Case 13（MY）全誤差を直接Fourier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1.39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3.37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0.39 s</a:t>
                      </a:r>
                    </a:p>
                  </a:txBody>
                  <a:tcPr marL="128016" marR="128016"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Case 13（MY）階層モデル＋残差Fourier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0.79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1.60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Case 16（PY）全誤差を直接Fourier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13.2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Case 16（PY）階層モデル＋残差Fourier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0.76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092440"/>
            <a:ext cx="21396960" cy="457200"/>
          </a:xfrm>
          <a:prstGeom prst="rect">
            <a:avLst/>
          </a:prstGeom>
          <a:noFill/>
        </p:spPr>
        <p:txBody>
          <a:bodyPr wrap="square" lIns="45720" tIns="18288" rIns="45720" bIns="18288" anchor="t">
            <a:spAutoFit/>
          </a:bodyPr>
          <a:lstStyle/>
          <a:p>
            <a:pPr algn="l">
              <a:spcAft>
                <a:spcPts val="0"/>
              </a:spcAft>
            </a:pPr>
            <a:r>
              <a:rPr sz="2100" b="0">
                <a:solidFill>
                  <a:srgbClr val="666F79"/>
                </a:solidFill>
                <a:latin typeface="Yu Gothic"/>
                <a:ea typeface="Yu Gothic"/>
              </a:rPr>
              <a:t>Case 16 の直接Fourier は成功率 98.7%。他は 100%</a:t>
            </a:r>
          </a:p>
        </p:txBody>
      </p:sp>
      <p:sp>
        <p:nvSpPr>
          <p:cNvPr id="7" name="Rounded Rectangle 6"/>
          <p:cNvSpPr/>
          <p:nvPr/>
        </p:nvSpPr>
        <p:spPr>
          <a:xfrm>
            <a:off x="1463040" y="8961120"/>
            <a:ext cx="1060704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64208" y="9253728"/>
            <a:ext cx="10204704" cy="640080"/>
          </a:xfrm>
          <a:prstGeom prst="rect">
            <a:avLst/>
          </a:prstGeom>
          <a:noFill/>
        </p:spPr>
        <p:txBody>
          <a:bodyPr wrap="square" lIns="45720" tIns="18288" rIns="45720" bIns="18288" anchor="t">
            <a:spAutoFit/>
          </a:bodyPr>
          <a:lstStyle/>
          <a:p>
            <a:pPr algn="l">
              <a:spcAft>
                <a:spcPts val="0"/>
              </a:spcAft>
            </a:pPr>
            <a:r>
              <a:rPr sz="2500" b="1">
                <a:solidFill>
                  <a:srgbClr val="EC9427"/>
                </a:solidFill>
                <a:latin typeface="Yu Gothic"/>
                <a:ea typeface="Yu Gothic"/>
              </a:rPr>
              <a:t>定数の残差更新との差</a:t>
            </a:r>
          </a:p>
        </p:txBody>
      </p:sp>
      <p:sp>
        <p:nvSpPr>
          <p:cNvPr id="9" name="TextBox 8"/>
          <p:cNvSpPr txBox="1"/>
          <p:nvPr/>
        </p:nvSpPr>
        <p:spPr>
          <a:xfrm>
            <a:off x="1737360" y="10012680"/>
            <a:ext cx="1005840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Case 13 の周1以降は 1.66 → 1.35 s までしか落ちない。軌道周期の山が残る</a:t>
            </a:r>
          </a:p>
        </p:txBody>
      </p:sp>
      <p:sp>
        <p:nvSpPr>
          <p:cNvPr id="10" name="Rounded Rectangle 9"/>
          <p:cNvSpPr/>
          <p:nvPr/>
        </p:nvSpPr>
        <p:spPr>
          <a:xfrm>
            <a:off x="12801600" y="8961120"/>
            <a:ext cx="10424160" cy="24688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02768" y="9253728"/>
            <a:ext cx="10021824" cy="640080"/>
          </a:xfrm>
          <a:prstGeom prst="rect">
            <a:avLst/>
          </a:prstGeom>
          <a:noFill/>
        </p:spPr>
        <p:txBody>
          <a:bodyPr wrap="square" lIns="45720" tIns="18288" rIns="45720" bIns="18288" anchor="t">
            <a:spAutoFit/>
          </a:bodyPr>
          <a:lstStyle/>
          <a:p>
            <a:pPr algn="l">
              <a:spcAft>
                <a:spcPts val="0"/>
              </a:spcAft>
            </a:pPr>
            <a:r>
              <a:rPr sz="2500" b="1">
                <a:solidFill>
                  <a:srgbClr val="D03B46"/>
                </a:solidFill>
                <a:latin typeface="Yu Gothic"/>
                <a:ea typeface="Yu Gothic"/>
              </a:rPr>
              <a:t>限界</a:t>
            </a:r>
          </a:p>
        </p:txBody>
      </p:sp>
      <p:sp>
        <p:nvSpPr>
          <p:cNvPr id="12" name="TextBox 11"/>
          <p:cNvSpPr txBox="1"/>
          <p:nvPr/>
        </p:nvSpPr>
        <p:spPr>
          <a:xfrm>
            <a:off x="13075920" y="10012680"/>
            <a:ext cx="987552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2ケースのみ。causal、K=2。60秒刻みの全点を使っており、実センサの疎な成功点では未検証</a:t>
            </a:r>
          </a:p>
        </p:txBody>
      </p:sp>
      <p:sp>
        <p:nvSpPr>
          <p:cNvPr id="13" name="TextBox 12"/>
          <p:cNvSpPr txBox="1"/>
          <p:nvPr/>
        </p:nvSpPr>
        <p:spPr>
          <a:xfrm>
            <a:off x="1463040" y="11704320"/>
            <a:ext cx="21396960" cy="548640"/>
          </a:xfrm>
          <a:prstGeom prst="rect">
            <a:avLst/>
          </a:prstGeom>
          <a:noFill/>
        </p:spPr>
        <p:txBody>
          <a:bodyPr wrap="square" lIns="45720" tIns="18288" rIns="45720" bIns="18288" anchor="t">
            <a:spAutoFit/>
          </a:bodyPr>
          <a:lstStyle/>
          <a:p>
            <a:pPr algn="ctr">
              <a:spcAft>
                <a:spcPts val="0"/>
              </a:spcAft>
            </a:pPr>
            <a:r>
              <a:rPr sz="2300" b="0">
                <a:solidFill>
                  <a:srgbClr val="666F79"/>
                </a:solidFill>
                <a:latin typeface="Yu Gothic"/>
                <a:ea typeface="Yu Gothic"/>
              </a:rPr>
              <a:t>熱モデルの係数は更新していない。捕捉後の全指向残差に対する予備実験</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B12｜前に聞いた秒と、今日の秒の対応</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B12</a:t>
            </a:r>
          </a:p>
        </p:txBody>
      </p:sp>
      <p:graphicFrame>
        <p:nvGraphicFramePr>
          <p:cNvPr id="5" name="Table 4"/>
          <p:cNvGraphicFramePr>
            <a:graphicFrameLocks noGrp="1"/>
          </p:cNvGraphicFramePr>
          <p:nvPr/>
        </p:nvGraphicFramePr>
        <p:xfrm>
          <a:off x="1463040" y="3291840"/>
          <a:ext cx="21396959" cy="6035035"/>
        </p:xfrm>
        <a:graphic>
          <a:graphicData uri="http://schemas.openxmlformats.org/drawingml/2006/table">
            <a:tbl>
              <a:tblPr firstRow="1" bandRow="1">
                <a:tableStyleId>{5C22544A-7EE6-4342-B048-85BDC9FD1C3A}</a:tableStyleId>
              </a:tblPr>
              <a:tblGrid>
                <a:gridCol w="4195482">
                  <a:extLst>
                    <a:ext uri="{9D8B030D-6E8A-4147-A177-3AD203B41FA5}">
                      <a16:colId xmlns:a16="http://schemas.microsoft.com/office/drawing/2014/main" val="20000"/>
                    </a:ext>
                  </a:extLst>
                </a:gridCol>
                <a:gridCol w="6293223">
                  <a:extLst>
                    <a:ext uri="{9D8B030D-6E8A-4147-A177-3AD203B41FA5}">
                      <a16:colId xmlns:a16="http://schemas.microsoft.com/office/drawing/2014/main" val="20001"/>
                    </a:ext>
                  </a:extLst>
                </a:gridCol>
                <a:gridCol w="10908254">
                  <a:extLst>
                    <a:ext uri="{9D8B030D-6E8A-4147-A177-3AD203B41FA5}">
                      <a16:colId xmlns:a16="http://schemas.microsoft.com/office/drawing/2014/main" val="20002"/>
                    </a:ext>
                  </a:extLst>
                </a:gridCol>
              </a:tblGrid>
              <a:tr h="1207007">
                <a:tc>
                  <a:txBody>
                    <a:bodyPr/>
                    <a:lstStyle/>
                    <a:p>
                      <a:pPr algn="l">
                        <a:spcAft>
                          <a:spcPts val="0"/>
                        </a:spcAft>
                      </a:pPr>
                      <a:r>
                        <a:rPr sz="2300" b="1">
                          <a:solidFill>
                            <a:srgbClr val="FFFFFF"/>
                          </a:solidFill>
                          <a:latin typeface="Yu Gothic"/>
                          <a:ea typeface="Yu Gothic"/>
                        </a:rPr>
                        <a:t>いつ</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何の秒だったか</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今日の秒と違う理由</a:t>
                      </a:r>
                    </a:p>
                  </a:txBody>
                  <a:tcPr marL="128016" marR="128016" anchor="ctr">
                    <a:solidFill>
                      <a:srgbClr val="082B52"/>
                    </a:solidFill>
                  </a:tcPr>
                </a:tc>
                <a:extLst>
                  <a:ext uri="{0D108BD9-81ED-4DB2-BD59-A6C34878D82A}">
                    <a16:rowId xmlns:a16="http://schemas.microsoft.com/office/drawing/2014/main" val="10000"/>
                  </a:ext>
                </a:extLst>
              </a:tr>
              <a:tr h="1207007">
                <a:tc>
                  <a:txBody>
                    <a:bodyPr/>
                    <a:lstStyle/>
                    <a:p>
                      <a:pPr algn="l">
                        <a:spcAft>
                          <a:spcPts val="0"/>
                        </a:spcAft>
                      </a:pPr>
                      <a:r>
                        <a:rPr sz="2200" b="0">
                          <a:solidFill>
                            <a:srgbClr val="232B34"/>
                          </a:solidFill>
                          <a:latin typeface="Yu Gothic"/>
                          <a:ea typeface="Yu Gothic"/>
                        </a:rPr>
                        <a:t>2026-05 全体輪講</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仮想の熱バイアスでの捕捉時間と成功率</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熱構造解析ではなく、置いた値での試算だった</a:t>
                      </a:r>
                    </a:p>
                  </a:txBody>
                  <a:tcPr marL="128016" marR="128016" anchor="ctr">
                    <a:solidFill>
                      <a:srgbClr val="EBF6FB"/>
                    </a:solidFill>
                  </a:tcPr>
                </a:tc>
                <a:extLst>
                  <a:ext uri="{0D108BD9-81ED-4DB2-BD59-A6C34878D82A}">
                    <a16:rowId xmlns:a16="http://schemas.microsoft.com/office/drawing/2014/main" val="10001"/>
                  </a:ext>
                </a:extLst>
              </a:tr>
              <a:tr h="1207007">
                <a:tc>
                  <a:txBody>
                    <a:bodyPr/>
                    <a:lstStyle/>
                    <a:p>
                      <a:pPr algn="l">
                        <a:spcAft>
                          <a:spcPts val="0"/>
                        </a:spcAft>
                      </a:pPr>
                      <a:r>
                        <a:rPr sz="2200" b="0">
                          <a:solidFill>
                            <a:srgbClr val="232B34"/>
                          </a:solidFill>
                          <a:latin typeface="Yu Gothic"/>
                          <a:ea typeface="Yu Gothic"/>
                        </a:rPr>
                        <a:t>2026-07 光通信RG</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密な走査での捕捉時間</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点間隔と検出半径が通信ビーム級で、走査の格子に穴があった</a:t>
                      </a:r>
                    </a:p>
                  </a:txBody>
                  <a:tcPr marL="128016" marR="128016" anchor="ctr">
                    <a:solidFill>
                      <a:srgbClr val="EBF6FB"/>
                    </a:solidFill>
                  </a:tcPr>
                </a:tc>
                <a:extLst>
                  <a:ext uri="{0D108BD9-81ED-4DB2-BD59-A6C34878D82A}">
                    <a16:rowId xmlns:a16="http://schemas.microsoft.com/office/drawing/2014/main" val="10002"/>
                  </a:ext>
                </a:extLst>
              </a:tr>
              <a:tr h="1207007">
                <a:tc>
                  <a:txBody>
                    <a:bodyPr/>
                    <a:lstStyle/>
                    <a:p>
                      <a:pPr algn="l">
                        <a:spcAft>
                          <a:spcPts val="0"/>
                        </a:spcAft>
                      </a:pPr>
                      <a:r>
                        <a:rPr sz="2200" b="0">
                          <a:solidFill>
                            <a:srgbClr val="232B34"/>
                          </a:solidFill>
                          <a:latin typeface="Yu Gothic"/>
                          <a:ea typeface="Yu Gothic"/>
                        </a:rPr>
                        <a:t>2026-08-16 中間メモ</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17ケース集計での捕捉時間</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提出稿はCOLD標準表面の14ケースに絞ったあとの数字が正</a:t>
                      </a:r>
                    </a:p>
                  </a:txBody>
                  <a:tcPr marL="128016" marR="128016" anchor="ctr">
                    <a:solidFill>
                      <a:srgbClr val="EBF6FB"/>
                    </a:solidFill>
                  </a:tcPr>
                </a:tc>
                <a:extLst>
                  <a:ext uri="{0D108BD9-81ED-4DB2-BD59-A6C34878D82A}">
                    <a16:rowId xmlns:a16="http://schemas.microsoft.com/office/drawing/2014/main" val="10003"/>
                  </a:ext>
                </a:extLst>
              </a:tr>
              <a:tr h="1207007">
                <a:tc>
                  <a:txBody>
                    <a:bodyPr/>
                    <a:lstStyle/>
                    <a:p>
                      <a:pPr algn="l">
                        <a:spcAft>
                          <a:spcPts val="0"/>
                        </a:spcAft>
                      </a:pPr>
                      <a:r>
                        <a:rPr sz="2200" b="1">
                          <a:solidFill>
                            <a:srgbClr val="232B34"/>
                          </a:solidFill>
                          <a:latin typeface="Yu Gothic"/>
                          <a:ea typeface="Yu Gothic"/>
                        </a:rPr>
                        <a:t>今日（提出稿）</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14.6 → 0.10 s、19.2 → 5.45 s</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±1600 µrad・120 µradステップ・検出半径150 µrad、14ケース平均</a:t>
                      </a:r>
                    </a:p>
                  </a:txBody>
                  <a:tcPr marL="128016" marR="128016" anchor="ctr">
                    <a:solidFill>
                      <a:srgbClr val="EAF8F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9875520"/>
            <a:ext cx="21396960" cy="1371600"/>
          </a:xfrm>
          <a:prstGeom prst="rect">
            <a:avLst/>
          </a:prstGeom>
          <a:noFill/>
        </p:spPr>
        <p:txBody>
          <a:bodyPr wrap="square" lIns="45720" tIns="18288" rIns="45720" bIns="18288" anchor="t">
            <a:spAutoFit/>
          </a:bodyPr>
          <a:lstStyle/>
          <a:p>
            <a:pPr algn="ctr">
              <a:lnSpc>
                <a:spcPct val="125000"/>
              </a:lnSpc>
              <a:spcAft>
                <a:spcPts val="0"/>
              </a:spcAft>
            </a:pPr>
            <a:r>
              <a:rPr sz="2500" b="1">
                <a:solidFill>
                  <a:srgbClr val="082B52"/>
                </a:solidFill>
                <a:latin typeface="Yu Gothic"/>
                <a:ea typeface="Yu Gothic"/>
              </a:rPr>
              <a:t>走査条件が違えば秒は変わる。比べてよいのは、同じ走査条件の中での補正方式どうし</a:t>
            </a:r>
          </a:p>
          <a:p>
            <a:pPr algn="ctr">
              <a:lnSpc>
                <a:spcPct val="125000"/>
              </a:lnSpc>
              <a:spcAft>
                <a:spcPts val="0"/>
              </a:spcAft>
            </a:pPr>
            <a:r>
              <a:rPr sz="2500" b="1">
                <a:solidFill>
                  <a:srgbClr val="082B52"/>
                </a:solidFill>
                <a:latin typeface="Yu Gothic"/>
                <a:ea typeface="Yu Gothic"/>
              </a:rPr>
              <a:t>旧い秒はスクリーンに出さない。対応は口頭で答える</a:t>
            </a: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3526</TotalTime>
  <Words>4487</Words>
  <Application>Microsoft Office PowerPoint</Application>
  <PresentationFormat>ユーザー設定</PresentationFormat>
  <Paragraphs>832</Paragraphs>
  <Slides>45</Slides>
  <Notes>45</Notes>
  <HiddenSlides>14</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45</vt:i4>
      </vt:variant>
    </vt:vector>
  </HeadingPairs>
  <TitlesOfParts>
    <vt:vector size="52" baseType="lpstr">
      <vt:lpstr>游ゴシック</vt:lpstr>
      <vt:lpstr>游ゴシック</vt:lpstr>
      <vt:lpstr>Yu Gothic Medium</vt:lpstr>
      <vt:lpstr>Aptos</vt:lpstr>
      <vt:lpstr>Arial</vt:lpstr>
      <vt:lpstr>Cambria Math</vt:lpstr>
      <vt:lpstr>Office テーマ</vt:lpstr>
      <vt:lpstr> Hierarchical Prediction and Feedforward Correction of Time-Varying Thermal Line-of-Sight Bias  for Coarse Acquisition  in Satellite Optical Communications</vt:lpstr>
      <vt:lpstr>01</vt:lpstr>
      <vt:lpstr>Before optical feedback is available,  scan-center offset determines coarse-acquisition search time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衛星光通信の粗捕捉に向けた時変熱バイアスのフィードフォワード補正</dc:title>
  <dc:subject>2026-09-28 全体輪講</dc:subject>
  <dc:creator>高本 英熙</dc:creator>
  <dc:description>260927_labseminar_slide_outline.md と papers/icso/main.typ から作成。土台は 20260721_optcommrg_takamoto_v3_issl.pptx。</dc:description>
  <cp:lastModifiedBy>高本　英熙</cp:lastModifiedBy>
  <cp:revision>35</cp:revision>
  <cp:lastPrinted>2026-09-28T02:03:37Z</cp:lastPrinted>
  <dcterms:created xsi:type="dcterms:W3CDTF">2026-05-11T08:23:04Z</dcterms:created>
  <dcterms:modified xsi:type="dcterms:W3CDTF">2026-10-04T16:15:00Z</dcterms:modified>
</cp:coreProperties>
</file>