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47"/>
  </p:notesMasterIdLst>
  <p:sldIdLst>
    <p:sldId id="263" r:id="rId2"/>
    <p:sldId id="257" r:id="rId3"/>
    <p:sldId id="282" r:id="rId4"/>
    <p:sldId id="324" r:id="rId5"/>
    <p:sldId id="325" r:id="rId6"/>
    <p:sldId id="266" r:id="rId7"/>
    <p:sldId id="277" r:id="rId8"/>
    <p:sldId id="283" r:id="rId9"/>
    <p:sldId id="268" r:id="rId10"/>
    <p:sldId id="269" r:id="rId11"/>
    <p:sldId id="275" r:id="rId12"/>
    <p:sldId id="271" r:id="rId13"/>
    <p:sldId id="321" r:id="rId14"/>
    <p:sldId id="273" r:id="rId15"/>
    <p:sldId id="285" r:id="rId16"/>
    <p:sldId id="322" r:id="rId17"/>
    <p:sldId id="326" r:id="rId18"/>
    <p:sldId id="327" r:id="rId19"/>
    <p:sldId id="328" r:id="rId20"/>
    <p:sldId id="338" r:id="rId21"/>
    <p:sldId id="297" r:id="rId22"/>
    <p:sldId id="299" r:id="rId23"/>
    <p:sldId id="303" r:id="rId24"/>
    <p:sldId id="304" r:id="rId25"/>
    <p:sldId id="329" r:id="rId26"/>
    <p:sldId id="341" r:id="rId27"/>
    <p:sldId id="330" r:id="rId28"/>
    <p:sldId id="331" r:id="rId29"/>
    <p:sldId id="309" r:id="rId30"/>
    <p:sldId id="294" r:id="rId31"/>
    <p:sldId id="339" r:id="rId32"/>
    <p:sldId id="340" r:id="rId33"/>
    <p:sldId id="311" r:id="rId34"/>
    <p:sldId id="298" r:id="rId35"/>
    <p:sldId id="301" r:id="rId36"/>
    <p:sldId id="302" r:id="rId37"/>
    <p:sldId id="313" r:id="rId38"/>
    <p:sldId id="332" r:id="rId39"/>
    <p:sldId id="286" r:id="rId40"/>
    <p:sldId id="333" r:id="rId41"/>
    <p:sldId id="310" r:id="rId42"/>
    <p:sldId id="334" r:id="rId43"/>
    <p:sldId id="335" r:id="rId44"/>
    <p:sldId id="336" r:id="rId45"/>
    <p:sldId id="337" r:id="rId46"/>
  </p:sldIdLst>
  <p:sldSz cx="24382413" cy="13716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F25D7"/>
    <a:srgbClr val="66A8D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637" autoAdjust="0"/>
    <p:restoredTop sz="91484" autoAdjust="0"/>
  </p:normalViewPr>
  <p:slideViewPr>
    <p:cSldViewPr snapToGrid="0">
      <p:cViewPr varScale="1">
        <p:scale>
          <a:sx n="18" d="100"/>
          <a:sy n="18" d="100"/>
        </p:scale>
        <p:origin x="124" y="7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F80C97-2400-5344-89F3-3CED47A68B44}" type="datetimeFigureOut">
              <a:rPr kumimoji="1" lang="ja-JP" altLang="en-US" smtClean="0"/>
              <a:t>2026/10/4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C54EC6-2177-1447-9798-A1A3B8046948}" type="slidenum">
              <a:rPr kumimoji="1" lang="ja-JP" altLang="en-US" smtClean="0"/>
              <a:t>‹#›</a:t>
            </a:fld>
            <a:endParaRPr kumimoji="1" lang="ja-JP" altLang="en-US"/>
          </a:p>
        </p:txBody>
      </p:sp>
    </p:spTree>
    <p:extLst>
      <p:ext uri="{BB962C8B-B14F-4D97-AF65-F5344CB8AC3E}">
        <p14:creationId xmlns:p14="http://schemas.microsoft.com/office/powerpoint/2010/main" val="385362703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名乗る。今日は5月の全体輪講で話した構想の続きで、解析と捕捉時間まで話す、とだけ言う。</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冒頭で前回までの位置づけと今回のゴールを共有する。</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捕捉が終わって相手光がセンサに乗れば残差でフィードバックできる。今日見るのはその前。熱は日照と発熱という運用条件に結びついているので、未知の外乱として全部掃かなくてもよい可能性がある。</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5月に『軌道予測誤差も同じ帯域では』と指摘された点はその通りだった。だから本研究は観測から熱を分離する話ではない。TLEの不連続や射影の手順は裏。</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関連研究の詳細表は裏B8。ここでは、全部の誤差を消す研究ではない、と先に言っておく。</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rPr dirty="0" err="1"/>
              <a:t>全体フロ</a:t>
            </a:r>
            <a:r>
              <a:rPr dirty="0"/>
              <a:t>ー。TD/</a:t>
            </a:r>
            <a:r>
              <a:rPr dirty="0" err="1"/>
              <a:t>Femapは高忠実度参照で、軌道上では軽量モデルのみを使う</a:t>
            </a:r>
            <a:r>
              <a:rPr dirty="0"/>
              <a:t>。</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Section 02: Thermo-structural analysis</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姿勢は本体指向を想定し、通信中に太陽面が変わるケースは入れていない。太陽面はケースごとに固定。内部発熱の代表はPROP 25 W（PY）とPCDU 10 W（MY）。STT/LCTは通信時を想定して基本ON。</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地上の解析である。食と日照で温度が軌道周期で呼吸する、という絵は次の観察で見せる。</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ソフトを熱と構造で分けている。軌道上の補正器そのものではない。拘束条件の詳細は聞かれたら答える。</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遠方では光軸が何度回ったかが指向誤差になる。並進は診断量として残しているが走査中心には足していない。代表節点の回転を機器姿勢の代理にしている。取付面全体の剛体フィットはまだやっていない。</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IDは読まない。予測精度は21ケース、捕捉時間は標準的なCOLD・標準表面の14ケース、と後で分ける。</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02541-F1A3-D1BA-31E3-AEDFAF8D08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983E82-966C-7F11-55A4-B9E813E6A98F}"/>
              </a:ext>
            </a:extLst>
          </p:cNvPr>
          <p:cNvSpPr>
            <a:spLocks noGrp="1" noRot="1" noChangeAspect="1"/>
          </p:cNvSpPr>
          <p:nvPr>
            <p:ph type="sldImg" idx="2"/>
          </p:nvPr>
        </p:nvSpPr>
        <p:spPr/>
        <p:txBody>
          <a:bodyPr/>
          <a:lstStyle/>
          <a:p>
            <a:endParaRPr lang="ja-JP" altLang="en-US"/>
          </a:p>
        </p:txBody>
      </p:sp>
      <p:sp>
        <p:nvSpPr>
          <p:cNvPr id="3" name="Notes Placeholder 2">
            <a:extLst>
              <a:ext uri="{FF2B5EF4-FFF2-40B4-BE49-F238E27FC236}">
                <a16:creationId xmlns:a16="http://schemas.microsoft.com/office/drawing/2014/main" id="{13536858-E9C3-BFD0-3D28-CF5344F9C22E}"/>
              </a:ext>
            </a:extLst>
          </p:cNvPr>
          <p:cNvSpPr>
            <a:spLocks noGrp="1"/>
          </p:cNvSpPr>
          <p:nvPr>
            <p:ph type="body" sz="quarter" idx="3"/>
          </p:nvPr>
        </p:nvSpPr>
        <p:spPr/>
        <p:txBody>
          <a:bodyPr/>
          <a:lstStyle/>
          <a:p>
            <a:r>
              <a:t>だから次のモデルは、太陽面を陽に持ち、軌道の中の時間変化とケース間の平均を分けないといけない。式はまだ出さない。MYは小さくPYは1 mrad級、とだけ。</a:t>
            </a:r>
          </a:p>
        </p:txBody>
      </p:sp>
      <p:sp>
        <p:nvSpPr>
          <p:cNvPr id="4" name="Slide Number Placeholder 3">
            <a:extLst>
              <a:ext uri="{FF2B5EF4-FFF2-40B4-BE49-F238E27FC236}">
                <a16:creationId xmlns:a16="http://schemas.microsoft.com/office/drawing/2014/main" id="{4988FFD8-2563-0C26-AF09-06CC675A6156}"/>
              </a:ext>
            </a:extLst>
          </p:cNvPr>
          <p:cNvSpPr>
            <a:spLocks noGrp="1"/>
          </p:cNvSpPr>
          <p:nvPr>
            <p:ph type="sldNum" sz="quarter" idx="5"/>
          </p:nvPr>
        </p:nvSpPr>
        <p:spPr/>
        <p:txBody>
          <a:bodyPr/>
          <a:lstStyle/>
          <a:p>
            <a:endParaRPr lang="ja-JP" altLang="en-US"/>
          </a:p>
        </p:txBody>
      </p:sp>
    </p:spTree>
    <p:extLst>
      <p:ext uri="{BB962C8B-B14F-4D97-AF65-F5344CB8AC3E}">
        <p14:creationId xmlns:p14="http://schemas.microsoft.com/office/powerpoint/2010/main" val="5787874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Section 03: Lightweight LOS model</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5月に並べた候補のうち、温度差と運用フラグの組み合わせを採用した。取付点の温度時系列を足すと、温度差とほぼ同じ動きで係数が壊れた。その失敗は裏。</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B42EA-D360-34D6-60C7-03B284699D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2F6A70-B226-B8D0-76C5-5C29EF418310}"/>
              </a:ext>
            </a:extLst>
          </p:cNvPr>
          <p:cNvSpPr>
            <a:spLocks noGrp="1" noRot="1" noChangeAspect="1"/>
          </p:cNvSpPr>
          <p:nvPr>
            <p:ph type="sldImg" idx="2"/>
          </p:nvPr>
        </p:nvSpPr>
        <p:spPr/>
        <p:txBody>
          <a:bodyPr/>
          <a:lstStyle/>
          <a:p>
            <a:endParaRPr lang="ja-JP" altLang="en-US"/>
          </a:p>
        </p:txBody>
      </p:sp>
      <p:sp>
        <p:nvSpPr>
          <p:cNvPr id="3" name="Notes Placeholder 2">
            <a:extLst>
              <a:ext uri="{FF2B5EF4-FFF2-40B4-BE49-F238E27FC236}">
                <a16:creationId xmlns:a16="http://schemas.microsoft.com/office/drawing/2014/main" id="{8F2AF636-D9A0-B111-F11B-3033CC3C424E}"/>
              </a:ext>
            </a:extLst>
          </p:cNvPr>
          <p:cNvSpPr>
            <a:spLocks noGrp="1"/>
          </p:cNvSpPr>
          <p:nvPr>
            <p:ph type="body" sz="quarter" idx="3"/>
          </p:nvPr>
        </p:nvSpPr>
        <p:spPr/>
        <p:txBody>
          <a:bodyPr/>
          <a:lstStyle/>
          <a:p>
            <a:r>
              <a:t>I_prop と I_pcdu はONなら1、OFFなら0。連続のワット数や、軌道の途中で電源が入る過渡はこの式では表していない。感度の値は他機へは再同定が必要。</a:t>
            </a:r>
          </a:p>
        </p:txBody>
      </p:sp>
      <p:sp>
        <p:nvSpPr>
          <p:cNvPr id="4" name="Slide Number Placeholder 3">
            <a:extLst>
              <a:ext uri="{FF2B5EF4-FFF2-40B4-BE49-F238E27FC236}">
                <a16:creationId xmlns:a16="http://schemas.microsoft.com/office/drawing/2014/main" id="{4E4A3804-A38E-981D-0A3F-5E89C2E6D807}"/>
              </a:ext>
            </a:extLst>
          </p:cNvPr>
          <p:cNvSpPr>
            <a:spLocks noGrp="1"/>
          </p:cNvSpPr>
          <p:nvPr>
            <p:ph type="sldNum" sz="quarter" idx="5"/>
          </p:nvPr>
        </p:nvSpPr>
        <p:spPr/>
        <p:txBody>
          <a:bodyPr/>
          <a:lstStyle/>
          <a:p>
            <a:endParaRPr lang="ja-JP" altLang="en-US"/>
          </a:p>
        </p:txBody>
      </p:sp>
    </p:spTree>
    <p:extLst>
      <p:ext uri="{BB962C8B-B14F-4D97-AF65-F5344CB8AC3E}">
        <p14:creationId xmlns:p14="http://schemas.microsoft.com/office/powerpoint/2010/main" val="17906083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名前は長いので、口頭では『未知の条件を1本外して当てる』でよい。同一の解析モデルの中での話である、とここで一度言う。</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標準のCOLDではおおむね3–7 µrad。悪いのはBlack（約13）、HOT（DCが数µrad残る）、PROP半電力（約16。ON/OFFフラグでは25 Wと12.5 Wを区別できない）。詳細は限界の枚と裏。</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半電力の例はこの枚に混ぜない（裏B6）。</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CDEE1-5294-D44C-968A-17CA41EB66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F81D93-C321-E7F0-8820-F3DFEE575376}"/>
              </a:ext>
            </a:extLst>
          </p:cNvPr>
          <p:cNvSpPr>
            <a:spLocks noGrp="1" noRot="1" noChangeAspect="1"/>
          </p:cNvSpPr>
          <p:nvPr>
            <p:ph type="sldImg" idx="2"/>
          </p:nvPr>
        </p:nvSpPr>
        <p:spPr/>
        <p:txBody>
          <a:bodyPr/>
          <a:lstStyle/>
          <a:p>
            <a:endParaRPr lang="ja-JP" altLang="en-US"/>
          </a:p>
        </p:txBody>
      </p:sp>
      <p:sp>
        <p:nvSpPr>
          <p:cNvPr id="3" name="Notes Placeholder 2">
            <a:extLst>
              <a:ext uri="{FF2B5EF4-FFF2-40B4-BE49-F238E27FC236}">
                <a16:creationId xmlns:a16="http://schemas.microsoft.com/office/drawing/2014/main" id="{E3E0815A-2B11-1951-79A5-8BE2A8440E82}"/>
              </a:ext>
            </a:extLst>
          </p:cNvPr>
          <p:cNvSpPr>
            <a:spLocks noGrp="1"/>
          </p:cNvSpPr>
          <p:nvPr>
            <p:ph type="body" sz="quarter" idx="3"/>
          </p:nvPr>
        </p:nvSpPr>
        <p:spPr/>
        <p:txBody>
          <a:bodyPr/>
          <a:lstStyle/>
          <a:p>
            <a:r>
              <a:t>Section 03: Lightweight LOS model</a:t>
            </a:r>
          </a:p>
        </p:txBody>
      </p:sp>
      <p:sp>
        <p:nvSpPr>
          <p:cNvPr id="4" name="Slide Number Placeholder 3">
            <a:extLst>
              <a:ext uri="{FF2B5EF4-FFF2-40B4-BE49-F238E27FC236}">
                <a16:creationId xmlns:a16="http://schemas.microsoft.com/office/drawing/2014/main" id="{66FD8850-DC6F-DBD5-02B3-7B3D291FAD6D}"/>
              </a:ext>
            </a:extLst>
          </p:cNvPr>
          <p:cNvSpPr>
            <a:spLocks noGrp="1"/>
          </p:cNvSpPr>
          <p:nvPr>
            <p:ph type="sldNum" sz="quarter" idx="5"/>
          </p:nvPr>
        </p:nvSpPr>
        <p:spPr/>
        <p:txBody>
          <a:bodyPr/>
          <a:lstStyle/>
          <a:p>
            <a:endParaRPr lang="ja-JP" altLang="en-US"/>
          </a:p>
        </p:txBody>
      </p:sp>
    </p:spTree>
    <p:extLst>
      <p:ext uri="{BB962C8B-B14F-4D97-AF65-F5344CB8AC3E}">
        <p14:creationId xmlns:p14="http://schemas.microsoft.com/office/powerpoint/2010/main" val="21224958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粗捕捉は通信ビームではなく、拡がったビーコンで掃く。検出半径150 µradは0.3 mrad級ビーコンの半角のオーダー。5月の2秒前後と、途中で一度出した100秒超は、どちらも今日の数字ではない。前者は仮想モデル、後者は通信ビーム級の密な掃引だった。</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熱を引いたあとに残る床が、だいたいこの非熱の大きさになる。射影の座標の話は、聞かれたら裏の図で示す。</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これは熱モデル単体の能力。真値と同じ秒なのは、残差が検出円の中に入ったからで、波形が完全に一致したからではない。</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手法の仕事は全誤差を消すことではない。平均5.45秒は熱が大きい面が引き上げた結果でもある。平均だけを引いた場合の新しい走査での秒は、まだ出していない。</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5月に構想したAdaptiveの着地はここまで。光通信の初回捕捉は、前の周の同じ位相の残差が無いことが多い。60秒刻みの全点を使っており、実センサの疎な成功点だけではまだ見ていない。</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90BB2-638D-EDF4-6149-BBE2851D03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6F4A6F-47ED-540B-CC4A-89B9C5FD2C13}"/>
              </a:ext>
            </a:extLst>
          </p:cNvPr>
          <p:cNvSpPr>
            <a:spLocks noGrp="1" noRot="1" noChangeAspect="1"/>
          </p:cNvSpPr>
          <p:nvPr>
            <p:ph type="sldImg" idx="2"/>
          </p:nvPr>
        </p:nvSpPr>
        <p:spPr/>
        <p:txBody>
          <a:bodyPr/>
          <a:lstStyle/>
          <a:p>
            <a:endParaRPr lang="ja-JP" altLang="en-US"/>
          </a:p>
        </p:txBody>
      </p:sp>
      <p:sp>
        <p:nvSpPr>
          <p:cNvPr id="3" name="Notes Placeholder 2">
            <a:extLst>
              <a:ext uri="{FF2B5EF4-FFF2-40B4-BE49-F238E27FC236}">
                <a16:creationId xmlns:a16="http://schemas.microsoft.com/office/drawing/2014/main" id="{A12BF9D9-BC8D-63EC-738A-C1E5616CE634}"/>
              </a:ext>
            </a:extLst>
          </p:cNvPr>
          <p:cNvSpPr>
            <a:spLocks noGrp="1"/>
          </p:cNvSpPr>
          <p:nvPr>
            <p:ph type="body" sz="quarter" idx="3"/>
          </p:nvPr>
        </p:nvSpPr>
        <p:spPr/>
        <p:txBody>
          <a:bodyPr/>
          <a:lstStyle/>
          <a:p>
            <a:r>
              <a:t>Section 03: Lightweight LOS model</a:t>
            </a:r>
          </a:p>
        </p:txBody>
      </p:sp>
      <p:sp>
        <p:nvSpPr>
          <p:cNvPr id="4" name="Slide Number Placeholder 3">
            <a:extLst>
              <a:ext uri="{FF2B5EF4-FFF2-40B4-BE49-F238E27FC236}">
                <a16:creationId xmlns:a16="http://schemas.microsoft.com/office/drawing/2014/main" id="{27C1BA5F-FDC1-4C2F-0440-4E8C9610008F}"/>
              </a:ext>
            </a:extLst>
          </p:cNvPr>
          <p:cNvSpPr>
            <a:spLocks noGrp="1"/>
          </p:cNvSpPr>
          <p:nvPr>
            <p:ph type="sldNum" sz="quarter" idx="5"/>
          </p:nvPr>
        </p:nvSpPr>
        <p:spPr/>
        <p:txBody>
          <a:bodyPr/>
          <a:lstStyle/>
          <a:p>
            <a:endParaRPr lang="ja-JP" altLang="en-US"/>
          </a:p>
        </p:txBody>
      </p:sp>
    </p:spTree>
    <p:extLst>
      <p:ext uri="{BB962C8B-B14F-4D97-AF65-F5344CB8AC3E}">
        <p14:creationId xmlns:p14="http://schemas.microsoft.com/office/powerpoint/2010/main" val="21688805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他の衛星へは式の形を試し、係数は取り直す。Constant-bias only が未計算であることは、聞かれたら裏B7で答える。</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質疑へ。</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Section A: Appendix</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ΔT一次関係はJANUSにある。差分はバス相対LOS、階層DC、粗捕捉性能への接続。</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平均捕捉時間は成功試行のみの条件付き平均。成功率を併記する。</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以前の任意ECEF-Z基底からSTT/bodyへ接続。MX proxyに注意。</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Appendix: 全解析ケースの設計</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平均捕捉時間は成功試行のみの条件付き平均。成功率を併記する。</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以前の任意ECEF-Z基底からSTT/bodyへ接続。MX proxyに注意。</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熱も軌道も軌道位相依存。低周波残差を熱として取り込む説明は修正する。</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Appendix: LOS定義の比較</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被覆や半電力を聞かれたときの枚。発熱の係数を太陽面に依らず共有している点は、まだ検証していないと正直に言う。</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見かけのRMSE改善より、共線で係数解釈が壊れることを問題視した。</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聞かれたら、平均だけを引いた列は未計算だと答える。7月の静的バイアス補正の秒は、点間隔40 µrad・検出半径25 µradの旧走査のもので、今日の条件では比較にならない。</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何が新しいのかを聞かれたときの枚。予測するか、捕捉時間まで見るか、の2軸で置く。</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5月に出たモデルの妥当性の問いへの答え。同じ解析の中の評価であることを認めた上で、地上試験で感度を確かめる筋を示す。</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姿勢の頻度を聞かれたときの枚。ケース内で太陽面を固定している前提を先に言い、変わる場合は別解析が要ると答える。</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5月に構想した適応補正がどこまで進んだかを聞かれたときの枚。本編Slide 21の数値の全文。</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旧い秒を聞かれたときの手元用。5月は2.43 s → 0.74 s・成功率97.5%で仮想バイアス。7月光RGは124.6 s と 156.9 → 59.6 s で、点間隔40 µrad・検出半径25 µradの密走査。8月16日のメモは12.1 s と 16.3 → 4.75 s で17ケース集計。いずれも走査条件かケース集合が今日と違う。</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677201" y="7340600"/>
            <a:ext cx="12431685" cy="2125436"/>
          </a:xfrm>
        </p:spPr>
        <p:txBody>
          <a:bodyPr anchor="b"/>
          <a:lstStyle>
            <a:lvl1pPr algn="l">
              <a:defRPr sz="4800" spc="300"/>
            </a:lvl1pPr>
          </a:lstStyle>
          <a:p>
            <a:r>
              <a:rPr lang="ja-JP" altLang="en-US"/>
              <a:t>マスター タイトルの書式設定</a:t>
            </a:r>
            <a:endParaRPr lang="en-US" dirty="0"/>
          </a:p>
        </p:txBody>
      </p:sp>
      <p:sp>
        <p:nvSpPr>
          <p:cNvPr id="3" name="Subtitle 2"/>
          <p:cNvSpPr>
            <a:spLocks noGrp="1"/>
          </p:cNvSpPr>
          <p:nvPr>
            <p:ph type="subTitle" idx="1"/>
          </p:nvPr>
        </p:nvSpPr>
        <p:spPr>
          <a:xfrm>
            <a:off x="9677201" y="9794966"/>
            <a:ext cx="12431684" cy="2351314"/>
          </a:xfrm>
        </p:spPr>
        <p:txBody>
          <a:bodyPr/>
          <a:lstStyle>
            <a:lvl1pPr marL="0" indent="0" algn="l">
              <a:lnSpc>
                <a:spcPct val="50000"/>
              </a:lnSpc>
              <a:buNone/>
              <a:defRPr sz="3600" b="0">
                <a:solidFill>
                  <a:schemeClr val="tx2"/>
                </a:solidFill>
              </a:defRPr>
            </a:lvl1pPr>
            <a:lvl2pPr marL="914354" indent="0" algn="ctr">
              <a:buNone/>
              <a:defRPr sz="4000"/>
            </a:lvl2pPr>
            <a:lvl3pPr marL="1828709" indent="0" algn="ctr">
              <a:buNone/>
              <a:defRPr sz="3600"/>
            </a:lvl3pPr>
            <a:lvl4pPr marL="2743063" indent="0" algn="ctr">
              <a:buNone/>
              <a:defRPr sz="3200"/>
            </a:lvl4pPr>
            <a:lvl5pPr marL="3657417" indent="0" algn="ctr">
              <a:buNone/>
              <a:defRPr sz="3200"/>
            </a:lvl5pPr>
            <a:lvl6pPr marL="4571771" indent="0" algn="ctr">
              <a:buNone/>
              <a:defRPr sz="3200"/>
            </a:lvl6pPr>
            <a:lvl7pPr marL="5486126" indent="0" algn="ctr">
              <a:buNone/>
              <a:defRPr sz="3200"/>
            </a:lvl7pPr>
            <a:lvl8pPr marL="6400480" indent="0" algn="ctr">
              <a:buNone/>
              <a:defRPr sz="3200"/>
            </a:lvl8pPr>
            <a:lvl9pPr marL="7314834" indent="0" algn="ctr">
              <a:buNone/>
              <a:defRPr sz="32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923E69BD-F0A9-D945-85B5-A92D8C4A6243}" type="datetime1">
              <a:rPr kumimoji="1" lang="ja-JP" altLang="en-US" smtClean="0"/>
              <a:t>2026/10/4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67BFEE9-6A35-CF42-A39A-CD481C3507E3}" type="slidenum">
              <a:rPr kumimoji="1" lang="ja-JP" altLang="en-US" smtClean="0"/>
              <a:t>‹#›</a:t>
            </a:fld>
            <a:endParaRPr kumimoji="1" lang="ja-JP" altLang="en-US"/>
          </a:p>
        </p:txBody>
      </p:sp>
      <p:sp>
        <p:nvSpPr>
          <p:cNvPr id="9" name="テキスト プレースホルダー 8">
            <a:extLst>
              <a:ext uri="{FF2B5EF4-FFF2-40B4-BE49-F238E27FC236}">
                <a16:creationId xmlns:a16="http://schemas.microsoft.com/office/drawing/2014/main" id="{ADAD6F10-9E3C-081C-FAC9-2F96D835D91D}"/>
              </a:ext>
            </a:extLst>
          </p:cNvPr>
          <p:cNvSpPr>
            <a:spLocks noGrp="1"/>
          </p:cNvSpPr>
          <p:nvPr>
            <p:ph type="body" sz="quarter" idx="13"/>
          </p:nvPr>
        </p:nvSpPr>
        <p:spPr>
          <a:xfrm>
            <a:off x="16483539" y="6261101"/>
            <a:ext cx="5625347" cy="698499"/>
          </a:xfrm>
        </p:spPr>
        <p:txBody>
          <a:bodyPr/>
          <a:lstStyle>
            <a:lvl1pPr algn="r">
              <a:buNone/>
              <a:defRPr sz="4000" b="0">
                <a:solidFill>
                  <a:schemeClr val="tx2"/>
                </a:solidFill>
              </a:defRPr>
            </a:lvl1pPr>
          </a:lstStyle>
          <a:p>
            <a:pPr lvl="0"/>
            <a:r>
              <a:rPr kumimoji="1" lang="ja-JP" altLang="en-US"/>
              <a:t>マスター テキストの書式設定</a:t>
            </a:r>
          </a:p>
        </p:txBody>
      </p:sp>
      <p:sp>
        <p:nvSpPr>
          <p:cNvPr id="10" name="テキスト プレースホルダー 8">
            <a:extLst>
              <a:ext uri="{FF2B5EF4-FFF2-40B4-BE49-F238E27FC236}">
                <a16:creationId xmlns:a16="http://schemas.microsoft.com/office/drawing/2014/main" id="{3A47DA29-0B22-B527-E246-85A23FDB4324}"/>
              </a:ext>
            </a:extLst>
          </p:cNvPr>
          <p:cNvSpPr>
            <a:spLocks noGrp="1"/>
          </p:cNvSpPr>
          <p:nvPr>
            <p:ph type="body" sz="quarter" idx="14"/>
          </p:nvPr>
        </p:nvSpPr>
        <p:spPr>
          <a:xfrm>
            <a:off x="9677201" y="6261101"/>
            <a:ext cx="5625347" cy="698499"/>
          </a:xfrm>
        </p:spPr>
        <p:txBody>
          <a:bodyPr/>
          <a:lstStyle>
            <a:lvl1pPr algn="l">
              <a:buNone/>
              <a:defRPr sz="4000" b="0">
                <a:solidFill>
                  <a:schemeClr val="tx2"/>
                </a:solidFill>
              </a:defRPr>
            </a:lvl1pPr>
          </a:lstStyle>
          <a:p>
            <a:pPr lvl="0"/>
            <a:r>
              <a:rPr kumimoji="1" lang="ja-JP" altLang="en-US"/>
              <a:t>マスター テキストの書式設定</a:t>
            </a:r>
          </a:p>
        </p:txBody>
      </p:sp>
      <p:sp>
        <p:nvSpPr>
          <p:cNvPr id="11" name="テキスト プレースホルダー 8">
            <a:extLst>
              <a:ext uri="{FF2B5EF4-FFF2-40B4-BE49-F238E27FC236}">
                <a16:creationId xmlns:a16="http://schemas.microsoft.com/office/drawing/2014/main" id="{3ABD93C0-C51C-2948-0F33-2EF4B6841AEC}"/>
              </a:ext>
            </a:extLst>
          </p:cNvPr>
          <p:cNvSpPr>
            <a:spLocks noGrp="1"/>
          </p:cNvSpPr>
          <p:nvPr>
            <p:ph type="body" sz="quarter" idx="15"/>
          </p:nvPr>
        </p:nvSpPr>
        <p:spPr>
          <a:xfrm>
            <a:off x="16483538" y="5413377"/>
            <a:ext cx="5625347" cy="698499"/>
          </a:xfrm>
        </p:spPr>
        <p:txBody>
          <a:bodyPr/>
          <a:lstStyle>
            <a:lvl1pPr algn="r">
              <a:buNone/>
              <a:defRPr sz="4000" b="0">
                <a:solidFill>
                  <a:schemeClr val="tx2"/>
                </a:solidFill>
              </a:defRPr>
            </a:lvl1pPr>
          </a:lstStyle>
          <a:p>
            <a:pPr lvl="0"/>
            <a:r>
              <a:rPr kumimoji="1" lang="ja-JP" altLang="en-US"/>
              <a:t>マスター テキストの書式設定</a:t>
            </a:r>
          </a:p>
        </p:txBody>
      </p:sp>
    </p:spTree>
    <p:extLst>
      <p:ext uri="{BB962C8B-B14F-4D97-AF65-F5344CB8AC3E}">
        <p14:creationId xmlns:p14="http://schemas.microsoft.com/office/powerpoint/2010/main" val="2991240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セクション見出し">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708300" y="4192765"/>
            <a:ext cx="4965808" cy="1795335"/>
          </a:xfrm>
        </p:spPr>
        <p:txBody>
          <a:bodyPr anchor="b"/>
          <a:lstStyle>
            <a:lvl1pPr algn="ctr">
              <a:defRPr sz="5600">
                <a:solidFill>
                  <a:schemeClr val="bg1"/>
                </a:solidFill>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676289" y="7727900"/>
            <a:ext cx="21029831" cy="3000374"/>
          </a:xfrm>
        </p:spPr>
        <p:txBody>
          <a:bodyPr/>
          <a:lstStyle>
            <a:lvl1pPr marL="0" indent="0" algn="ctr">
              <a:buNone/>
              <a:defRPr sz="5600" spc="300">
                <a:solidFill>
                  <a:schemeClr val="bg1"/>
                </a:solidFill>
              </a:defRPr>
            </a:lvl1pPr>
            <a:lvl2pPr marL="914354" indent="0">
              <a:buNone/>
              <a:defRPr sz="4000">
                <a:solidFill>
                  <a:schemeClr val="tx1">
                    <a:tint val="82000"/>
                  </a:schemeClr>
                </a:solidFill>
              </a:defRPr>
            </a:lvl2pPr>
            <a:lvl3pPr marL="1828709" indent="0">
              <a:buNone/>
              <a:defRPr sz="3600">
                <a:solidFill>
                  <a:schemeClr val="tx1">
                    <a:tint val="82000"/>
                  </a:schemeClr>
                </a:solidFill>
              </a:defRPr>
            </a:lvl3pPr>
            <a:lvl4pPr marL="2743063" indent="0">
              <a:buNone/>
              <a:defRPr sz="3200">
                <a:solidFill>
                  <a:schemeClr val="tx1">
                    <a:tint val="82000"/>
                  </a:schemeClr>
                </a:solidFill>
              </a:defRPr>
            </a:lvl4pPr>
            <a:lvl5pPr marL="3657417" indent="0">
              <a:buNone/>
              <a:defRPr sz="3200">
                <a:solidFill>
                  <a:schemeClr val="tx1">
                    <a:tint val="82000"/>
                  </a:schemeClr>
                </a:solidFill>
              </a:defRPr>
            </a:lvl5pPr>
            <a:lvl6pPr marL="4571771" indent="0">
              <a:buNone/>
              <a:defRPr sz="3200">
                <a:solidFill>
                  <a:schemeClr val="tx1">
                    <a:tint val="82000"/>
                  </a:schemeClr>
                </a:solidFill>
              </a:defRPr>
            </a:lvl6pPr>
            <a:lvl7pPr marL="5486126" indent="0">
              <a:buNone/>
              <a:defRPr sz="3200">
                <a:solidFill>
                  <a:schemeClr val="tx1">
                    <a:tint val="82000"/>
                  </a:schemeClr>
                </a:solidFill>
              </a:defRPr>
            </a:lvl7pPr>
            <a:lvl8pPr marL="6400480" indent="0">
              <a:buNone/>
              <a:defRPr sz="3200">
                <a:solidFill>
                  <a:schemeClr val="tx1">
                    <a:tint val="82000"/>
                  </a:schemeClr>
                </a:solidFill>
              </a:defRPr>
            </a:lvl8pPr>
            <a:lvl9pPr marL="7314834" indent="0">
              <a:buNone/>
              <a:defRPr sz="3200">
                <a:solidFill>
                  <a:schemeClr val="tx1">
                    <a:tint val="82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FB9E95FB-2235-2F42-91D0-8B9F16BE7B80}" type="datetime1">
              <a:rPr kumimoji="1" lang="ja-JP" altLang="en-US" smtClean="0"/>
              <a:t>2026/10/4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67BFEE9-6A35-CF42-A39A-CD481C3507E3}" type="slidenum">
              <a:rPr kumimoji="1" lang="ja-JP" altLang="en-US" smtClean="0"/>
              <a:t>‹#›</a:t>
            </a:fld>
            <a:endParaRPr kumimoji="1" lang="ja-JP" altLang="en-US"/>
          </a:p>
        </p:txBody>
      </p:sp>
      <p:cxnSp>
        <p:nvCxnSpPr>
          <p:cNvPr id="9" name="直線コネクタ 8">
            <a:extLst>
              <a:ext uri="{FF2B5EF4-FFF2-40B4-BE49-F238E27FC236}">
                <a16:creationId xmlns:a16="http://schemas.microsoft.com/office/drawing/2014/main" id="{872E8AAC-513B-BB73-EF3E-6F21C4AF6A77}"/>
              </a:ext>
            </a:extLst>
          </p:cNvPr>
          <p:cNvCxnSpPr>
            <a:cxnSpLocks/>
          </p:cNvCxnSpPr>
          <p:nvPr userDrawn="1"/>
        </p:nvCxnSpPr>
        <p:spPr>
          <a:xfrm>
            <a:off x="11254952" y="6858000"/>
            <a:ext cx="1872509" cy="0"/>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300035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タイトルと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31620" y="1358425"/>
            <a:ext cx="22304738" cy="1550459"/>
          </a:xfrm>
        </p:spPr>
        <p:txBody>
          <a:bodyPr/>
          <a:lstStyle>
            <a:lvl1pPr>
              <a:defRPr b="1" i="0">
                <a:latin typeface="Yu Gothic" panose="020B0400000000000000" pitchFamily="34" charset="-128"/>
                <a:ea typeface="Yu Gothic" panose="020B0400000000000000" pitchFamily="34" charset="-128"/>
              </a:defRPr>
            </a:lvl1pPr>
          </a:lstStyle>
          <a:p>
            <a:r>
              <a:rPr lang="ja-JP" altLang="en-US"/>
              <a:t>マスター タイトルの書式設定</a:t>
            </a:r>
            <a:endParaRPr lang="en-US" dirty="0"/>
          </a:p>
        </p:txBody>
      </p:sp>
      <p:sp>
        <p:nvSpPr>
          <p:cNvPr id="3" name="Content Placeholder 2"/>
          <p:cNvSpPr>
            <a:spLocks noGrp="1"/>
          </p:cNvSpPr>
          <p:nvPr>
            <p:ph idx="1"/>
          </p:nvPr>
        </p:nvSpPr>
        <p:spPr>
          <a:xfrm>
            <a:off x="815378" y="3104147"/>
            <a:ext cx="23020980" cy="9249779"/>
          </a:xfrm>
        </p:spPr>
        <p:txBody>
          <a:bodyPr/>
          <a:lstStyle>
            <a:lvl1pPr>
              <a:defRPr b="1" i="0">
                <a:latin typeface="Yu Gothic" panose="020B0400000000000000" pitchFamily="34" charset="-128"/>
                <a:ea typeface="Yu Gothic" panose="020B0400000000000000" pitchFamily="34" charset="-128"/>
              </a:defRPr>
            </a:lvl1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CB8ED544-ACEE-1142-A4DF-052F81DCAF13}" type="datetime1">
              <a:rPr kumimoji="1" lang="ja-JP" altLang="en-US" smtClean="0"/>
              <a:t>2026/10/4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67BFEE9-6A35-CF42-A39A-CD481C3507E3}" type="slidenum">
              <a:rPr kumimoji="1" lang="ja-JP" altLang="en-US" smtClean="0"/>
              <a:t>‹#›</a:t>
            </a:fld>
            <a:endParaRPr kumimoji="1" lang="ja-JP" altLang="en-US"/>
          </a:p>
        </p:txBody>
      </p:sp>
      <p:sp>
        <p:nvSpPr>
          <p:cNvPr id="8" name="テキスト プレースホルダー 7">
            <a:extLst>
              <a:ext uri="{FF2B5EF4-FFF2-40B4-BE49-F238E27FC236}">
                <a16:creationId xmlns:a16="http://schemas.microsoft.com/office/drawing/2014/main" id="{6157C110-7517-0494-8AD1-7267A24661E2}"/>
              </a:ext>
            </a:extLst>
          </p:cNvPr>
          <p:cNvSpPr>
            <a:spLocks noGrp="1"/>
          </p:cNvSpPr>
          <p:nvPr>
            <p:ph type="body" sz="quarter" idx="13"/>
          </p:nvPr>
        </p:nvSpPr>
        <p:spPr>
          <a:xfrm>
            <a:off x="546052" y="239182"/>
            <a:ext cx="15916804" cy="745067"/>
          </a:xfrm>
        </p:spPr>
        <p:txBody>
          <a:bodyPr anchor="ctr"/>
          <a:lstStyle>
            <a:lvl1pPr>
              <a:buNone/>
              <a:defRPr sz="4000">
                <a:solidFill>
                  <a:schemeClr val="bg2"/>
                </a:solidFill>
              </a:defRPr>
            </a:lvl1pPr>
          </a:lstStyle>
          <a:p>
            <a:pPr lvl="0"/>
            <a:r>
              <a:rPr kumimoji="1" lang="ja-JP" altLang="en-US"/>
              <a:t>マスター テキストの書式設定</a:t>
            </a:r>
          </a:p>
        </p:txBody>
      </p:sp>
      <p:sp>
        <p:nvSpPr>
          <p:cNvPr id="9" name="正方形/長方形 8">
            <a:extLst>
              <a:ext uri="{FF2B5EF4-FFF2-40B4-BE49-F238E27FC236}">
                <a16:creationId xmlns:a16="http://schemas.microsoft.com/office/drawing/2014/main" id="{71B145F9-61C6-1870-CE50-37506B7E4EF4}"/>
              </a:ext>
            </a:extLst>
          </p:cNvPr>
          <p:cNvSpPr/>
          <p:nvPr userDrawn="1"/>
        </p:nvSpPr>
        <p:spPr>
          <a:xfrm>
            <a:off x="815378" y="1358424"/>
            <a:ext cx="409074" cy="155045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1579682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5A8DA76-1C10-5547-91CE-253BD16E32D7}" type="datetime1">
              <a:rPr kumimoji="1" lang="ja-JP" altLang="en-US" smtClean="0"/>
              <a:t>2026/10/4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67BFEE9-6A35-CF42-A39A-CD481C3507E3}" type="slidenum">
              <a:rPr kumimoji="1" lang="ja-JP" altLang="en-US" smtClean="0"/>
              <a:t>‹#›</a:t>
            </a:fld>
            <a:endParaRPr kumimoji="1" lang="ja-JP" altLang="en-US"/>
          </a:p>
        </p:txBody>
      </p:sp>
      <p:sp>
        <p:nvSpPr>
          <p:cNvPr id="8" name="テキスト プレースホルダー 7">
            <a:extLst>
              <a:ext uri="{FF2B5EF4-FFF2-40B4-BE49-F238E27FC236}">
                <a16:creationId xmlns:a16="http://schemas.microsoft.com/office/drawing/2014/main" id="{6157C110-7517-0494-8AD1-7267A24661E2}"/>
              </a:ext>
            </a:extLst>
          </p:cNvPr>
          <p:cNvSpPr>
            <a:spLocks noGrp="1"/>
          </p:cNvSpPr>
          <p:nvPr>
            <p:ph type="body" sz="quarter" idx="13"/>
          </p:nvPr>
        </p:nvSpPr>
        <p:spPr>
          <a:xfrm>
            <a:off x="546052" y="239182"/>
            <a:ext cx="15916804" cy="745067"/>
          </a:xfrm>
        </p:spPr>
        <p:txBody>
          <a:bodyPr anchor="ctr"/>
          <a:lstStyle>
            <a:lvl1pPr>
              <a:buNone/>
              <a:defRPr sz="4000">
                <a:solidFill>
                  <a:schemeClr val="bg2"/>
                </a:solidFill>
              </a:defRPr>
            </a:lvl1pPr>
          </a:lstStyle>
          <a:p>
            <a:pPr lvl="0"/>
            <a:r>
              <a:rPr kumimoji="1" lang="ja-JP" altLang="en-US"/>
              <a:t>マスター テキストの書式設定</a:t>
            </a:r>
          </a:p>
        </p:txBody>
      </p:sp>
      <p:sp>
        <p:nvSpPr>
          <p:cNvPr id="7" name="Content Placeholder 2">
            <a:extLst>
              <a:ext uri="{FF2B5EF4-FFF2-40B4-BE49-F238E27FC236}">
                <a16:creationId xmlns:a16="http://schemas.microsoft.com/office/drawing/2014/main" id="{3140CB54-3189-CA43-FFF0-6B6D5F85C9B4}"/>
              </a:ext>
            </a:extLst>
          </p:cNvPr>
          <p:cNvSpPr>
            <a:spLocks noGrp="1"/>
          </p:cNvSpPr>
          <p:nvPr>
            <p:ph sz="half" idx="1"/>
          </p:nvPr>
        </p:nvSpPr>
        <p:spPr>
          <a:xfrm>
            <a:off x="546055" y="3182735"/>
            <a:ext cx="11364543" cy="9287866"/>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0" name="Content Placeholder 3">
            <a:extLst>
              <a:ext uri="{FF2B5EF4-FFF2-40B4-BE49-F238E27FC236}">
                <a16:creationId xmlns:a16="http://schemas.microsoft.com/office/drawing/2014/main" id="{AF5EC9B8-55A0-1456-F399-6D313F6D26C4}"/>
              </a:ext>
            </a:extLst>
          </p:cNvPr>
          <p:cNvSpPr>
            <a:spLocks noGrp="1"/>
          </p:cNvSpPr>
          <p:nvPr>
            <p:ph sz="half" idx="2"/>
          </p:nvPr>
        </p:nvSpPr>
        <p:spPr>
          <a:xfrm>
            <a:off x="12471815" y="3182735"/>
            <a:ext cx="11364543" cy="9287866"/>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3" name="Title 1">
            <a:extLst>
              <a:ext uri="{FF2B5EF4-FFF2-40B4-BE49-F238E27FC236}">
                <a16:creationId xmlns:a16="http://schemas.microsoft.com/office/drawing/2014/main" id="{9D7CF2C5-496E-3F41-87A5-8BF20107D1CA}"/>
              </a:ext>
            </a:extLst>
          </p:cNvPr>
          <p:cNvSpPr>
            <a:spLocks noGrp="1"/>
          </p:cNvSpPr>
          <p:nvPr>
            <p:ph type="title"/>
          </p:nvPr>
        </p:nvSpPr>
        <p:spPr>
          <a:xfrm>
            <a:off x="1531620" y="1358425"/>
            <a:ext cx="22304738" cy="1550459"/>
          </a:xfrm>
        </p:spPr>
        <p:txBody>
          <a:bodyPr/>
          <a:lstStyle>
            <a:lvl1pPr>
              <a:defRPr b="1" i="0">
                <a:latin typeface="Yu Gothic" panose="020B0400000000000000" pitchFamily="34" charset="-128"/>
                <a:ea typeface="Yu Gothic" panose="020B0400000000000000" pitchFamily="34" charset="-128"/>
              </a:defRPr>
            </a:lvl1pPr>
          </a:lstStyle>
          <a:p>
            <a:r>
              <a:rPr lang="ja-JP" altLang="en-US"/>
              <a:t>マスター タイトルの書式設定</a:t>
            </a:r>
            <a:endParaRPr lang="en-US" dirty="0"/>
          </a:p>
        </p:txBody>
      </p:sp>
      <p:sp>
        <p:nvSpPr>
          <p:cNvPr id="11" name="正方形/長方形 10">
            <a:extLst>
              <a:ext uri="{FF2B5EF4-FFF2-40B4-BE49-F238E27FC236}">
                <a16:creationId xmlns:a16="http://schemas.microsoft.com/office/drawing/2014/main" id="{8D55661E-ACB1-18CB-79CA-CE03DAB48599}"/>
              </a:ext>
            </a:extLst>
          </p:cNvPr>
          <p:cNvSpPr/>
          <p:nvPr userDrawn="1"/>
        </p:nvSpPr>
        <p:spPr>
          <a:xfrm>
            <a:off x="815378" y="1358424"/>
            <a:ext cx="409074" cy="155045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8371480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タイトルと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DC3E895-CCE5-A241-A85F-670DB4C916C8}" type="datetime1">
              <a:rPr kumimoji="1" lang="ja-JP" altLang="en-US" smtClean="0"/>
              <a:t>2026/10/4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67BFEE9-6A35-CF42-A39A-CD481C3507E3}" type="slidenum">
              <a:rPr kumimoji="1" lang="ja-JP" altLang="en-US" smtClean="0"/>
              <a:t>‹#›</a:t>
            </a:fld>
            <a:endParaRPr kumimoji="1" lang="ja-JP" altLang="en-US"/>
          </a:p>
        </p:txBody>
      </p:sp>
      <p:sp>
        <p:nvSpPr>
          <p:cNvPr id="8" name="テキスト プレースホルダー 7">
            <a:extLst>
              <a:ext uri="{FF2B5EF4-FFF2-40B4-BE49-F238E27FC236}">
                <a16:creationId xmlns:a16="http://schemas.microsoft.com/office/drawing/2014/main" id="{6157C110-7517-0494-8AD1-7267A24661E2}"/>
              </a:ext>
            </a:extLst>
          </p:cNvPr>
          <p:cNvSpPr>
            <a:spLocks noGrp="1"/>
          </p:cNvSpPr>
          <p:nvPr>
            <p:ph type="body" sz="quarter" idx="13"/>
          </p:nvPr>
        </p:nvSpPr>
        <p:spPr>
          <a:xfrm>
            <a:off x="546052" y="239182"/>
            <a:ext cx="15916804" cy="745067"/>
          </a:xfrm>
        </p:spPr>
        <p:txBody>
          <a:bodyPr anchor="ctr"/>
          <a:lstStyle>
            <a:lvl1pPr>
              <a:buNone/>
              <a:defRPr sz="4000">
                <a:solidFill>
                  <a:schemeClr val="bg2"/>
                </a:solidFill>
              </a:defRPr>
            </a:lvl1pPr>
          </a:lstStyle>
          <a:p>
            <a:pPr lvl="0"/>
            <a:r>
              <a:rPr kumimoji="1" lang="ja-JP" altLang="en-US"/>
              <a:t>マスター テキストの書式設定</a:t>
            </a:r>
          </a:p>
        </p:txBody>
      </p:sp>
      <p:sp>
        <p:nvSpPr>
          <p:cNvPr id="7" name="Content Placeholder 2">
            <a:extLst>
              <a:ext uri="{FF2B5EF4-FFF2-40B4-BE49-F238E27FC236}">
                <a16:creationId xmlns:a16="http://schemas.microsoft.com/office/drawing/2014/main" id="{3140CB54-3189-CA43-FFF0-6B6D5F85C9B4}"/>
              </a:ext>
            </a:extLst>
          </p:cNvPr>
          <p:cNvSpPr>
            <a:spLocks noGrp="1"/>
          </p:cNvSpPr>
          <p:nvPr>
            <p:ph sz="half" idx="1"/>
          </p:nvPr>
        </p:nvSpPr>
        <p:spPr>
          <a:xfrm>
            <a:off x="546055" y="4092833"/>
            <a:ext cx="11364543" cy="8377768"/>
          </a:xfrm>
          <a:ln w="63500">
            <a:solidFill>
              <a:srgbClr val="66A8D4"/>
            </a:solid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0" name="Content Placeholder 3">
            <a:extLst>
              <a:ext uri="{FF2B5EF4-FFF2-40B4-BE49-F238E27FC236}">
                <a16:creationId xmlns:a16="http://schemas.microsoft.com/office/drawing/2014/main" id="{AF5EC9B8-55A0-1456-F399-6D313F6D26C4}"/>
              </a:ext>
            </a:extLst>
          </p:cNvPr>
          <p:cNvSpPr>
            <a:spLocks noGrp="1"/>
          </p:cNvSpPr>
          <p:nvPr>
            <p:ph sz="half" idx="2"/>
          </p:nvPr>
        </p:nvSpPr>
        <p:spPr>
          <a:xfrm>
            <a:off x="12471815" y="4092833"/>
            <a:ext cx="11364543" cy="8377768"/>
          </a:xfrm>
          <a:ln w="63500">
            <a:solidFill>
              <a:srgbClr val="66A8D4"/>
            </a:solid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1" name="テキスト プレースホルダー 10">
            <a:extLst>
              <a:ext uri="{FF2B5EF4-FFF2-40B4-BE49-F238E27FC236}">
                <a16:creationId xmlns:a16="http://schemas.microsoft.com/office/drawing/2014/main" id="{685F9C02-29EC-4168-A599-AFD3B71ED232}"/>
              </a:ext>
            </a:extLst>
          </p:cNvPr>
          <p:cNvSpPr>
            <a:spLocks noGrp="1"/>
          </p:cNvSpPr>
          <p:nvPr>
            <p:ph type="body" sz="quarter" idx="14"/>
          </p:nvPr>
        </p:nvSpPr>
        <p:spPr>
          <a:xfrm>
            <a:off x="504114" y="3213462"/>
            <a:ext cx="11445949" cy="906463"/>
          </a:xfrm>
          <a:solidFill>
            <a:schemeClr val="tx1"/>
          </a:solidFill>
        </p:spPr>
        <p:txBody>
          <a:bodyPr anchor="ctr"/>
          <a:lstStyle>
            <a:lvl1pPr>
              <a:buNone/>
              <a:defRPr>
                <a:solidFill>
                  <a:schemeClr val="bg1"/>
                </a:solidFill>
              </a:defRPr>
            </a:lvl1pPr>
          </a:lstStyle>
          <a:p>
            <a:pPr lvl="0"/>
            <a:r>
              <a:rPr kumimoji="1" lang="ja-JP" altLang="en-US"/>
              <a:t>マスター テキストの書式設定</a:t>
            </a:r>
          </a:p>
        </p:txBody>
      </p:sp>
      <p:sp>
        <p:nvSpPr>
          <p:cNvPr id="12" name="テキスト プレースホルダー 10">
            <a:extLst>
              <a:ext uri="{FF2B5EF4-FFF2-40B4-BE49-F238E27FC236}">
                <a16:creationId xmlns:a16="http://schemas.microsoft.com/office/drawing/2014/main" id="{6165EC21-36B4-4CED-0569-C34ACFFC9B2E}"/>
              </a:ext>
            </a:extLst>
          </p:cNvPr>
          <p:cNvSpPr>
            <a:spLocks noGrp="1"/>
          </p:cNvSpPr>
          <p:nvPr>
            <p:ph type="body" sz="quarter" idx="15"/>
          </p:nvPr>
        </p:nvSpPr>
        <p:spPr>
          <a:xfrm>
            <a:off x="12429459" y="3213462"/>
            <a:ext cx="11445949" cy="906463"/>
          </a:xfrm>
          <a:solidFill>
            <a:schemeClr val="tx1"/>
          </a:solidFill>
        </p:spPr>
        <p:txBody>
          <a:bodyPr anchor="ctr"/>
          <a:lstStyle>
            <a:lvl1pPr>
              <a:buNone/>
              <a:defRPr>
                <a:solidFill>
                  <a:schemeClr val="bg1"/>
                </a:solidFill>
              </a:defRPr>
            </a:lvl1pPr>
          </a:lstStyle>
          <a:p>
            <a:pPr lvl="0"/>
            <a:r>
              <a:rPr kumimoji="1" lang="ja-JP" altLang="en-US"/>
              <a:t>マスター テキストの書式設定</a:t>
            </a:r>
          </a:p>
        </p:txBody>
      </p:sp>
      <p:sp>
        <p:nvSpPr>
          <p:cNvPr id="3" name="Title 1">
            <a:extLst>
              <a:ext uri="{FF2B5EF4-FFF2-40B4-BE49-F238E27FC236}">
                <a16:creationId xmlns:a16="http://schemas.microsoft.com/office/drawing/2014/main" id="{BD06260A-761F-95EE-B2CA-F7236CCF8AA8}"/>
              </a:ext>
            </a:extLst>
          </p:cNvPr>
          <p:cNvSpPr>
            <a:spLocks noGrp="1"/>
          </p:cNvSpPr>
          <p:nvPr>
            <p:ph type="title"/>
          </p:nvPr>
        </p:nvSpPr>
        <p:spPr>
          <a:xfrm>
            <a:off x="1531620" y="1358425"/>
            <a:ext cx="22304738" cy="1550459"/>
          </a:xfrm>
        </p:spPr>
        <p:txBody>
          <a:bodyPr/>
          <a:lstStyle>
            <a:lvl1pPr>
              <a:defRPr b="1" i="0">
                <a:latin typeface="Yu Gothic" panose="020B0400000000000000" pitchFamily="34" charset="-128"/>
                <a:ea typeface="Yu Gothic" panose="020B0400000000000000" pitchFamily="34" charset="-128"/>
              </a:defRPr>
            </a:lvl1pPr>
          </a:lstStyle>
          <a:p>
            <a:r>
              <a:rPr lang="ja-JP" altLang="en-US"/>
              <a:t>マスター タイトルの書式設定</a:t>
            </a:r>
            <a:endParaRPr lang="en-US" dirty="0"/>
          </a:p>
        </p:txBody>
      </p:sp>
      <p:sp>
        <p:nvSpPr>
          <p:cNvPr id="13" name="正方形/長方形 12">
            <a:extLst>
              <a:ext uri="{FF2B5EF4-FFF2-40B4-BE49-F238E27FC236}">
                <a16:creationId xmlns:a16="http://schemas.microsoft.com/office/drawing/2014/main" id="{3685353A-F7C6-F829-267C-FA087B7BBA8F}"/>
              </a:ext>
            </a:extLst>
          </p:cNvPr>
          <p:cNvSpPr/>
          <p:nvPr userDrawn="1"/>
        </p:nvSpPr>
        <p:spPr>
          <a:xfrm>
            <a:off x="815378" y="1358424"/>
            <a:ext cx="409074" cy="155045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5061960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タイトルと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9F4C7F2-45E9-0742-99C2-D62F245DFEC9}" type="datetime1">
              <a:rPr kumimoji="1" lang="ja-JP" altLang="en-US" smtClean="0"/>
              <a:t>2026/10/4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67BFEE9-6A35-CF42-A39A-CD481C3507E3}" type="slidenum">
              <a:rPr kumimoji="1" lang="ja-JP" altLang="en-US" smtClean="0"/>
              <a:t>‹#›</a:t>
            </a:fld>
            <a:endParaRPr kumimoji="1" lang="ja-JP" altLang="en-US"/>
          </a:p>
        </p:txBody>
      </p:sp>
      <p:sp>
        <p:nvSpPr>
          <p:cNvPr id="8" name="テキスト プレースホルダー 7">
            <a:extLst>
              <a:ext uri="{FF2B5EF4-FFF2-40B4-BE49-F238E27FC236}">
                <a16:creationId xmlns:a16="http://schemas.microsoft.com/office/drawing/2014/main" id="{6157C110-7517-0494-8AD1-7267A24661E2}"/>
              </a:ext>
            </a:extLst>
          </p:cNvPr>
          <p:cNvSpPr>
            <a:spLocks noGrp="1"/>
          </p:cNvSpPr>
          <p:nvPr>
            <p:ph type="body" sz="quarter" idx="13"/>
          </p:nvPr>
        </p:nvSpPr>
        <p:spPr>
          <a:xfrm>
            <a:off x="546052" y="239182"/>
            <a:ext cx="15916804" cy="745067"/>
          </a:xfrm>
        </p:spPr>
        <p:txBody>
          <a:bodyPr anchor="ctr"/>
          <a:lstStyle>
            <a:lvl1pPr>
              <a:buNone/>
              <a:defRPr sz="4000">
                <a:solidFill>
                  <a:schemeClr val="bg2"/>
                </a:solidFill>
              </a:defRPr>
            </a:lvl1pPr>
          </a:lstStyle>
          <a:p>
            <a:pPr lvl="0"/>
            <a:r>
              <a:rPr kumimoji="1" lang="ja-JP" altLang="en-US"/>
              <a:t>マスター テキストの書式設定</a:t>
            </a:r>
          </a:p>
        </p:txBody>
      </p:sp>
      <p:sp>
        <p:nvSpPr>
          <p:cNvPr id="7" name="Content Placeholder 2">
            <a:extLst>
              <a:ext uri="{FF2B5EF4-FFF2-40B4-BE49-F238E27FC236}">
                <a16:creationId xmlns:a16="http://schemas.microsoft.com/office/drawing/2014/main" id="{3140CB54-3189-CA43-FFF0-6B6D5F85C9B4}"/>
              </a:ext>
            </a:extLst>
          </p:cNvPr>
          <p:cNvSpPr>
            <a:spLocks noGrp="1"/>
          </p:cNvSpPr>
          <p:nvPr>
            <p:ph sz="half" idx="1"/>
          </p:nvPr>
        </p:nvSpPr>
        <p:spPr>
          <a:xfrm>
            <a:off x="548681" y="3198393"/>
            <a:ext cx="7448868" cy="9287866"/>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3" name="Content Placeholder 2">
            <a:extLst>
              <a:ext uri="{FF2B5EF4-FFF2-40B4-BE49-F238E27FC236}">
                <a16:creationId xmlns:a16="http://schemas.microsoft.com/office/drawing/2014/main" id="{9D8C0F6B-7CC3-BA66-8706-C8D1A03DEF88}"/>
              </a:ext>
            </a:extLst>
          </p:cNvPr>
          <p:cNvSpPr>
            <a:spLocks noGrp="1"/>
          </p:cNvSpPr>
          <p:nvPr>
            <p:ph sz="half" idx="14"/>
          </p:nvPr>
        </p:nvSpPr>
        <p:spPr>
          <a:xfrm>
            <a:off x="8466772" y="3198393"/>
            <a:ext cx="7448868" cy="9287866"/>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2" name="Content Placeholder 2">
            <a:extLst>
              <a:ext uri="{FF2B5EF4-FFF2-40B4-BE49-F238E27FC236}">
                <a16:creationId xmlns:a16="http://schemas.microsoft.com/office/drawing/2014/main" id="{E8965DEA-F2AC-C400-E7ED-BAFF867547B1}"/>
              </a:ext>
            </a:extLst>
          </p:cNvPr>
          <p:cNvSpPr>
            <a:spLocks noGrp="1"/>
          </p:cNvSpPr>
          <p:nvPr>
            <p:ph sz="half" idx="15"/>
          </p:nvPr>
        </p:nvSpPr>
        <p:spPr>
          <a:xfrm>
            <a:off x="16387489" y="3198393"/>
            <a:ext cx="7448868" cy="9287866"/>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0" name="Title 1">
            <a:extLst>
              <a:ext uri="{FF2B5EF4-FFF2-40B4-BE49-F238E27FC236}">
                <a16:creationId xmlns:a16="http://schemas.microsoft.com/office/drawing/2014/main" id="{BD0E9647-9028-AEF2-D4FC-0AC5B2CFAF7E}"/>
              </a:ext>
            </a:extLst>
          </p:cNvPr>
          <p:cNvSpPr>
            <a:spLocks noGrp="1"/>
          </p:cNvSpPr>
          <p:nvPr>
            <p:ph type="title"/>
          </p:nvPr>
        </p:nvSpPr>
        <p:spPr>
          <a:xfrm>
            <a:off x="1531620" y="1358425"/>
            <a:ext cx="22304738" cy="1550459"/>
          </a:xfrm>
        </p:spPr>
        <p:txBody>
          <a:bodyPr/>
          <a:lstStyle>
            <a:lvl1pPr>
              <a:defRPr b="1" i="0">
                <a:latin typeface="Yu Gothic" panose="020B0400000000000000" pitchFamily="34" charset="-128"/>
                <a:ea typeface="Yu Gothic" panose="020B0400000000000000" pitchFamily="34" charset="-128"/>
              </a:defRPr>
            </a:lvl1pPr>
          </a:lstStyle>
          <a:p>
            <a:r>
              <a:rPr lang="ja-JP" altLang="en-US"/>
              <a:t>マスター タイトルの書式設定</a:t>
            </a:r>
            <a:endParaRPr lang="en-US" dirty="0"/>
          </a:p>
        </p:txBody>
      </p:sp>
      <p:sp>
        <p:nvSpPr>
          <p:cNvPr id="11" name="正方形/長方形 10">
            <a:extLst>
              <a:ext uri="{FF2B5EF4-FFF2-40B4-BE49-F238E27FC236}">
                <a16:creationId xmlns:a16="http://schemas.microsoft.com/office/drawing/2014/main" id="{93A54D1E-D7CD-DFE1-2E29-70A06AFEC982}"/>
              </a:ext>
            </a:extLst>
          </p:cNvPr>
          <p:cNvSpPr/>
          <p:nvPr userDrawn="1"/>
        </p:nvSpPr>
        <p:spPr>
          <a:xfrm>
            <a:off x="815378" y="1358424"/>
            <a:ext cx="409074" cy="155045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9817824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タイトルと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C579897-8C2A-CB44-93BE-9BFBC7559B74}" type="datetime1">
              <a:rPr kumimoji="1" lang="ja-JP" altLang="en-US" smtClean="0"/>
              <a:t>2026/10/4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67BFEE9-6A35-CF42-A39A-CD481C3507E3}" type="slidenum">
              <a:rPr kumimoji="1" lang="ja-JP" altLang="en-US" smtClean="0"/>
              <a:t>‹#›</a:t>
            </a:fld>
            <a:endParaRPr kumimoji="1" lang="ja-JP" altLang="en-US"/>
          </a:p>
        </p:txBody>
      </p:sp>
      <p:sp>
        <p:nvSpPr>
          <p:cNvPr id="8" name="テキスト プレースホルダー 7">
            <a:extLst>
              <a:ext uri="{FF2B5EF4-FFF2-40B4-BE49-F238E27FC236}">
                <a16:creationId xmlns:a16="http://schemas.microsoft.com/office/drawing/2014/main" id="{6157C110-7517-0494-8AD1-7267A24661E2}"/>
              </a:ext>
            </a:extLst>
          </p:cNvPr>
          <p:cNvSpPr>
            <a:spLocks noGrp="1"/>
          </p:cNvSpPr>
          <p:nvPr>
            <p:ph type="body" sz="quarter" idx="13"/>
          </p:nvPr>
        </p:nvSpPr>
        <p:spPr>
          <a:xfrm>
            <a:off x="546052" y="239182"/>
            <a:ext cx="15916804" cy="745067"/>
          </a:xfrm>
        </p:spPr>
        <p:txBody>
          <a:bodyPr anchor="ctr"/>
          <a:lstStyle>
            <a:lvl1pPr>
              <a:buNone/>
              <a:defRPr sz="4000">
                <a:solidFill>
                  <a:schemeClr val="bg2"/>
                </a:solidFill>
              </a:defRPr>
            </a:lvl1pPr>
          </a:lstStyle>
          <a:p>
            <a:pPr lvl="0"/>
            <a:r>
              <a:rPr kumimoji="1" lang="ja-JP" altLang="en-US"/>
              <a:t>マスター テキストの書式設定</a:t>
            </a:r>
          </a:p>
        </p:txBody>
      </p:sp>
      <p:sp>
        <p:nvSpPr>
          <p:cNvPr id="7" name="Content Placeholder 2">
            <a:extLst>
              <a:ext uri="{FF2B5EF4-FFF2-40B4-BE49-F238E27FC236}">
                <a16:creationId xmlns:a16="http://schemas.microsoft.com/office/drawing/2014/main" id="{3140CB54-3189-CA43-FFF0-6B6D5F85C9B4}"/>
              </a:ext>
            </a:extLst>
          </p:cNvPr>
          <p:cNvSpPr>
            <a:spLocks noGrp="1"/>
          </p:cNvSpPr>
          <p:nvPr>
            <p:ph sz="half" idx="1"/>
          </p:nvPr>
        </p:nvSpPr>
        <p:spPr>
          <a:xfrm>
            <a:off x="548681" y="4119925"/>
            <a:ext cx="7448868" cy="8366333"/>
          </a:xfrm>
          <a:ln w="63500">
            <a:solidFill>
              <a:srgbClr val="66A8D4"/>
            </a:solid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3" name="テキスト プレースホルダー 10">
            <a:extLst>
              <a:ext uri="{FF2B5EF4-FFF2-40B4-BE49-F238E27FC236}">
                <a16:creationId xmlns:a16="http://schemas.microsoft.com/office/drawing/2014/main" id="{2D417ACA-1B7B-F655-60FA-EDD80F82E67F}"/>
              </a:ext>
            </a:extLst>
          </p:cNvPr>
          <p:cNvSpPr>
            <a:spLocks noGrp="1"/>
          </p:cNvSpPr>
          <p:nvPr>
            <p:ph type="body" sz="quarter" idx="16"/>
          </p:nvPr>
        </p:nvSpPr>
        <p:spPr>
          <a:xfrm>
            <a:off x="504114" y="3234978"/>
            <a:ext cx="7572561" cy="906463"/>
          </a:xfrm>
          <a:solidFill>
            <a:schemeClr val="tx1"/>
          </a:solidFill>
        </p:spPr>
        <p:txBody>
          <a:bodyPr anchor="ctr"/>
          <a:lstStyle>
            <a:lvl1pPr>
              <a:buNone/>
              <a:defRPr>
                <a:solidFill>
                  <a:schemeClr val="bg1"/>
                </a:solidFill>
              </a:defRPr>
            </a:lvl1pPr>
          </a:lstStyle>
          <a:p>
            <a:pPr lvl="0"/>
            <a:r>
              <a:rPr kumimoji="1" lang="ja-JP" altLang="en-US"/>
              <a:t>マスター テキストの書式設定</a:t>
            </a:r>
          </a:p>
        </p:txBody>
      </p:sp>
      <p:sp>
        <p:nvSpPr>
          <p:cNvPr id="14" name="Content Placeholder 2">
            <a:extLst>
              <a:ext uri="{FF2B5EF4-FFF2-40B4-BE49-F238E27FC236}">
                <a16:creationId xmlns:a16="http://schemas.microsoft.com/office/drawing/2014/main" id="{D98EEB2B-456E-ACC0-29AE-C347BAE7F46F}"/>
              </a:ext>
            </a:extLst>
          </p:cNvPr>
          <p:cNvSpPr>
            <a:spLocks noGrp="1"/>
          </p:cNvSpPr>
          <p:nvPr>
            <p:ph sz="half" idx="17"/>
          </p:nvPr>
        </p:nvSpPr>
        <p:spPr>
          <a:xfrm>
            <a:off x="8449492" y="4119925"/>
            <a:ext cx="7448868" cy="8366333"/>
          </a:xfrm>
          <a:ln w="63500">
            <a:solidFill>
              <a:srgbClr val="66A8D4"/>
            </a:solid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5" name="テキスト プレースホルダー 10">
            <a:extLst>
              <a:ext uri="{FF2B5EF4-FFF2-40B4-BE49-F238E27FC236}">
                <a16:creationId xmlns:a16="http://schemas.microsoft.com/office/drawing/2014/main" id="{6F409C7A-D2E8-2D36-6086-331B6DCB40DF}"/>
              </a:ext>
            </a:extLst>
          </p:cNvPr>
          <p:cNvSpPr>
            <a:spLocks noGrp="1"/>
          </p:cNvSpPr>
          <p:nvPr>
            <p:ph type="body" sz="quarter" idx="18"/>
          </p:nvPr>
        </p:nvSpPr>
        <p:spPr>
          <a:xfrm>
            <a:off x="8404925" y="3234978"/>
            <a:ext cx="7572561" cy="906463"/>
          </a:xfrm>
          <a:solidFill>
            <a:schemeClr val="tx1"/>
          </a:solidFill>
        </p:spPr>
        <p:txBody>
          <a:bodyPr anchor="ctr"/>
          <a:lstStyle>
            <a:lvl1pPr>
              <a:buNone/>
              <a:defRPr>
                <a:solidFill>
                  <a:schemeClr val="bg1"/>
                </a:solidFill>
              </a:defRPr>
            </a:lvl1pPr>
          </a:lstStyle>
          <a:p>
            <a:pPr lvl="0"/>
            <a:r>
              <a:rPr kumimoji="1" lang="ja-JP" altLang="en-US"/>
              <a:t>マスター テキストの書式設定</a:t>
            </a:r>
          </a:p>
        </p:txBody>
      </p:sp>
      <p:sp>
        <p:nvSpPr>
          <p:cNvPr id="16" name="Content Placeholder 2">
            <a:extLst>
              <a:ext uri="{FF2B5EF4-FFF2-40B4-BE49-F238E27FC236}">
                <a16:creationId xmlns:a16="http://schemas.microsoft.com/office/drawing/2014/main" id="{206D87F6-15FE-35D7-1017-BB745C23F612}"/>
              </a:ext>
            </a:extLst>
          </p:cNvPr>
          <p:cNvSpPr>
            <a:spLocks noGrp="1"/>
          </p:cNvSpPr>
          <p:nvPr>
            <p:ph sz="half" idx="19"/>
          </p:nvPr>
        </p:nvSpPr>
        <p:spPr>
          <a:xfrm>
            <a:off x="16350303" y="4119925"/>
            <a:ext cx="7448868" cy="8366333"/>
          </a:xfrm>
          <a:ln w="63500">
            <a:solidFill>
              <a:srgbClr val="66A8D4"/>
            </a:solid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7" name="テキスト プレースホルダー 10">
            <a:extLst>
              <a:ext uri="{FF2B5EF4-FFF2-40B4-BE49-F238E27FC236}">
                <a16:creationId xmlns:a16="http://schemas.microsoft.com/office/drawing/2014/main" id="{3B277172-6A10-80CC-49F6-E3A8C9458398}"/>
              </a:ext>
            </a:extLst>
          </p:cNvPr>
          <p:cNvSpPr>
            <a:spLocks noGrp="1"/>
          </p:cNvSpPr>
          <p:nvPr>
            <p:ph type="body" sz="quarter" idx="20"/>
          </p:nvPr>
        </p:nvSpPr>
        <p:spPr>
          <a:xfrm>
            <a:off x="16305736" y="3234978"/>
            <a:ext cx="7572561" cy="906463"/>
          </a:xfrm>
          <a:solidFill>
            <a:schemeClr val="tx1"/>
          </a:solidFill>
        </p:spPr>
        <p:txBody>
          <a:bodyPr anchor="ctr"/>
          <a:lstStyle>
            <a:lvl1pPr>
              <a:buNone/>
              <a:defRPr>
                <a:solidFill>
                  <a:schemeClr val="bg1"/>
                </a:solidFill>
              </a:defRPr>
            </a:lvl1pPr>
          </a:lstStyle>
          <a:p>
            <a:pPr lvl="0"/>
            <a:r>
              <a:rPr kumimoji="1" lang="ja-JP" altLang="en-US"/>
              <a:t>マスター テキストの書式設定</a:t>
            </a:r>
          </a:p>
        </p:txBody>
      </p:sp>
      <p:sp>
        <p:nvSpPr>
          <p:cNvPr id="3" name="Title 1">
            <a:extLst>
              <a:ext uri="{FF2B5EF4-FFF2-40B4-BE49-F238E27FC236}">
                <a16:creationId xmlns:a16="http://schemas.microsoft.com/office/drawing/2014/main" id="{2194081A-47C8-EFEA-0CF4-1F31377C0986}"/>
              </a:ext>
            </a:extLst>
          </p:cNvPr>
          <p:cNvSpPr>
            <a:spLocks noGrp="1"/>
          </p:cNvSpPr>
          <p:nvPr>
            <p:ph type="title"/>
          </p:nvPr>
        </p:nvSpPr>
        <p:spPr>
          <a:xfrm>
            <a:off x="1531620" y="1358425"/>
            <a:ext cx="22304738" cy="1550459"/>
          </a:xfrm>
        </p:spPr>
        <p:txBody>
          <a:bodyPr/>
          <a:lstStyle>
            <a:lvl1pPr>
              <a:defRPr b="1" i="0">
                <a:latin typeface="Yu Gothic" panose="020B0400000000000000" pitchFamily="34" charset="-128"/>
                <a:ea typeface="Yu Gothic" panose="020B0400000000000000" pitchFamily="34" charset="-128"/>
              </a:defRPr>
            </a:lvl1pPr>
          </a:lstStyle>
          <a:p>
            <a:r>
              <a:rPr lang="ja-JP" altLang="en-US"/>
              <a:t>マスター タイトルの書式設定</a:t>
            </a:r>
            <a:endParaRPr lang="en-US" dirty="0"/>
          </a:p>
        </p:txBody>
      </p:sp>
      <p:sp>
        <p:nvSpPr>
          <p:cNvPr id="10" name="正方形/長方形 9">
            <a:extLst>
              <a:ext uri="{FF2B5EF4-FFF2-40B4-BE49-F238E27FC236}">
                <a16:creationId xmlns:a16="http://schemas.microsoft.com/office/drawing/2014/main" id="{34DF2C9F-ACE0-585B-AAD3-3DD14251BADD}"/>
              </a:ext>
            </a:extLst>
          </p:cNvPr>
          <p:cNvSpPr/>
          <p:nvPr userDrawn="1"/>
        </p:nvSpPr>
        <p:spPr>
          <a:xfrm>
            <a:off x="815378" y="1358424"/>
            <a:ext cx="409074" cy="155045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6558843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タイトルと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A509540-48D4-DC4E-A020-784E13A6C686}" type="datetime1">
              <a:rPr kumimoji="1" lang="ja-JP" altLang="en-US" smtClean="0"/>
              <a:t>2026/10/4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67BFEE9-6A35-CF42-A39A-CD481C3507E3}" type="slidenum">
              <a:rPr kumimoji="1" lang="ja-JP" altLang="en-US" smtClean="0"/>
              <a:t>‹#›</a:t>
            </a:fld>
            <a:endParaRPr kumimoji="1" lang="ja-JP" altLang="en-US"/>
          </a:p>
        </p:txBody>
      </p:sp>
      <p:sp>
        <p:nvSpPr>
          <p:cNvPr id="8" name="テキスト プレースホルダー 7">
            <a:extLst>
              <a:ext uri="{FF2B5EF4-FFF2-40B4-BE49-F238E27FC236}">
                <a16:creationId xmlns:a16="http://schemas.microsoft.com/office/drawing/2014/main" id="{6157C110-7517-0494-8AD1-7267A24661E2}"/>
              </a:ext>
            </a:extLst>
          </p:cNvPr>
          <p:cNvSpPr>
            <a:spLocks noGrp="1"/>
          </p:cNvSpPr>
          <p:nvPr>
            <p:ph type="body" sz="quarter" idx="13"/>
          </p:nvPr>
        </p:nvSpPr>
        <p:spPr>
          <a:xfrm>
            <a:off x="546052" y="239182"/>
            <a:ext cx="15916804" cy="745067"/>
          </a:xfrm>
        </p:spPr>
        <p:txBody>
          <a:bodyPr anchor="ctr"/>
          <a:lstStyle>
            <a:lvl1pPr>
              <a:buNone/>
              <a:defRPr sz="4000">
                <a:solidFill>
                  <a:schemeClr val="bg2"/>
                </a:solidFill>
              </a:defRPr>
            </a:lvl1pPr>
          </a:lstStyle>
          <a:p>
            <a:pPr lvl="0"/>
            <a:r>
              <a:rPr kumimoji="1" lang="ja-JP" altLang="en-US"/>
              <a:t>マスター テキストの書式設定</a:t>
            </a:r>
          </a:p>
        </p:txBody>
      </p:sp>
      <p:sp>
        <p:nvSpPr>
          <p:cNvPr id="7" name="Content Placeholder 2">
            <a:extLst>
              <a:ext uri="{FF2B5EF4-FFF2-40B4-BE49-F238E27FC236}">
                <a16:creationId xmlns:a16="http://schemas.microsoft.com/office/drawing/2014/main" id="{3140CB54-3189-CA43-FFF0-6B6D5F85C9B4}"/>
              </a:ext>
            </a:extLst>
          </p:cNvPr>
          <p:cNvSpPr>
            <a:spLocks noGrp="1"/>
          </p:cNvSpPr>
          <p:nvPr>
            <p:ph sz="half" idx="1"/>
          </p:nvPr>
        </p:nvSpPr>
        <p:spPr>
          <a:xfrm>
            <a:off x="546055" y="3283060"/>
            <a:ext cx="11364543" cy="4306755"/>
          </a:xfrm>
          <a:ln w="63500">
            <a:solidFill>
              <a:srgbClr val="66A8D4"/>
            </a:solid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3" name="Content Placeholder 2">
            <a:extLst>
              <a:ext uri="{FF2B5EF4-FFF2-40B4-BE49-F238E27FC236}">
                <a16:creationId xmlns:a16="http://schemas.microsoft.com/office/drawing/2014/main" id="{8DAFEE08-A81F-707C-4BA0-7BC8776B90FF}"/>
              </a:ext>
            </a:extLst>
          </p:cNvPr>
          <p:cNvSpPr>
            <a:spLocks noGrp="1"/>
          </p:cNvSpPr>
          <p:nvPr>
            <p:ph sz="half" idx="17"/>
          </p:nvPr>
        </p:nvSpPr>
        <p:spPr>
          <a:xfrm>
            <a:off x="12474291" y="3283060"/>
            <a:ext cx="11364543" cy="4306755"/>
          </a:xfrm>
          <a:ln w="63500">
            <a:solidFill>
              <a:srgbClr val="66A8D4"/>
            </a:solid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5" name="Content Placeholder 2">
            <a:extLst>
              <a:ext uri="{FF2B5EF4-FFF2-40B4-BE49-F238E27FC236}">
                <a16:creationId xmlns:a16="http://schemas.microsoft.com/office/drawing/2014/main" id="{8A329A85-E9A3-6153-8937-4627CC5A7E62}"/>
              </a:ext>
            </a:extLst>
          </p:cNvPr>
          <p:cNvSpPr>
            <a:spLocks noGrp="1"/>
          </p:cNvSpPr>
          <p:nvPr>
            <p:ph sz="half" idx="19"/>
          </p:nvPr>
        </p:nvSpPr>
        <p:spPr>
          <a:xfrm>
            <a:off x="546055" y="8184309"/>
            <a:ext cx="11364543" cy="4306755"/>
          </a:xfrm>
          <a:ln w="63500">
            <a:solidFill>
              <a:srgbClr val="66A8D4"/>
            </a:solid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7" name="Content Placeholder 2">
            <a:extLst>
              <a:ext uri="{FF2B5EF4-FFF2-40B4-BE49-F238E27FC236}">
                <a16:creationId xmlns:a16="http://schemas.microsoft.com/office/drawing/2014/main" id="{A569A398-229E-518C-A2F8-E87AC7FEABC2}"/>
              </a:ext>
            </a:extLst>
          </p:cNvPr>
          <p:cNvSpPr>
            <a:spLocks noGrp="1"/>
          </p:cNvSpPr>
          <p:nvPr>
            <p:ph sz="half" idx="21"/>
          </p:nvPr>
        </p:nvSpPr>
        <p:spPr>
          <a:xfrm>
            <a:off x="12474291" y="8184309"/>
            <a:ext cx="11364543" cy="4306755"/>
          </a:xfrm>
          <a:ln w="63500">
            <a:solidFill>
              <a:srgbClr val="66A8D4"/>
            </a:solid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3" name="Title 1">
            <a:extLst>
              <a:ext uri="{FF2B5EF4-FFF2-40B4-BE49-F238E27FC236}">
                <a16:creationId xmlns:a16="http://schemas.microsoft.com/office/drawing/2014/main" id="{3F385C3C-D291-ECD3-9330-C9FEFA38FAEF}"/>
              </a:ext>
            </a:extLst>
          </p:cNvPr>
          <p:cNvSpPr>
            <a:spLocks noGrp="1"/>
          </p:cNvSpPr>
          <p:nvPr>
            <p:ph type="title"/>
          </p:nvPr>
        </p:nvSpPr>
        <p:spPr>
          <a:xfrm>
            <a:off x="1531620" y="1358425"/>
            <a:ext cx="22304738" cy="1550459"/>
          </a:xfrm>
        </p:spPr>
        <p:txBody>
          <a:bodyPr/>
          <a:lstStyle>
            <a:lvl1pPr>
              <a:defRPr b="1" i="0">
                <a:latin typeface="Yu Gothic" panose="020B0400000000000000" pitchFamily="34" charset="-128"/>
                <a:ea typeface="Yu Gothic" panose="020B0400000000000000" pitchFamily="34" charset="-128"/>
              </a:defRPr>
            </a:lvl1pPr>
          </a:lstStyle>
          <a:p>
            <a:r>
              <a:rPr lang="ja-JP" altLang="en-US"/>
              <a:t>マスター タイトルの書式設定</a:t>
            </a:r>
            <a:endParaRPr lang="en-US" dirty="0"/>
          </a:p>
        </p:txBody>
      </p:sp>
      <p:sp>
        <p:nvSpPr>
          <p:cNvPr id="10" name="正方形/長方形 9">
            <a:extLst>
              <a:ext uri="{FF2B5EF4-FFF2-40B4-BE49-F238E27FC236}">
                <a16:creationId xmlns:a16="http://schemas.microsoft.com/office/drawing/2014/main" id="{2AA52CC1-C979-7DAC-F8FF-07CEF0898376}"/>
              </a:ext>
            </a:extLst>
          </p:cNvPr>
          <p:cNvSpPr/>
          <p:nvPr userDrawn="1"/>
        </p:nvSpPr>
        <p:spPr>
          <a:xfrm>
            <a:off x="815378" y="1358424"/>
            <a:ext cx="409074" cy="155045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074936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タイトルと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A509540-48D4-DC4E-A020-784E13A6C686}" type="datetime1">
              <a:rPr kumimoji="1" lang="ja-JP" altLang="en-US" smtClean="0"/>
              <a:t>2026/10/4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67BFEE9-6A35-CF42-A39A-CD481C3507E3}" type="slidenum">
              <a:rPr kumimoji="1" lang="ja-JP" altLang="en-US" smtClean="0"/>
              <a:t>‹#›</a:t>
            </a:fld>
            <a:endParaRPr kumimoji="1" lang="ja-JP" altLang="en-US"/>
          </a:p>
        </p:txBody>
      </p:sp>
      <p:sp>
        <p:nvSpPr>
          <p:cNvPr id="8" name="テキスト プレースホルダー 7">
            <a:extLst>
              <a:ext uri="{FF2B5EF4-FFF2-40B4-BE49-F238E27FC236}">
                <a16:creationId xmlns:a16="http://schemas.microsoft.com/office/drawing/2014/main" id="{6157C110-7517-0494-8AD1-7267A24661E2}"/>
              </a:ext>
            </a:extLst>
          </p:cNvPr>
          <p:cNvSpPr>
            <a:spLocks noGrp="1"/>
          </p:cNvSpPr>
          <p:nvPr>
            <p:ph type="body" sz="quarter" idx="13"/>
          </p:nvPr>
        </p:nvSpPr>
        <p:spPr>
          <a:xfrm>
            <a:off x="546052" y="239182"/>
            <a:ext cx="15916804" cy="745067"/>
          </a:xfrm>
        </p:spPr>
        <p:txBody>
          <a:bodyPr anchor="ctr"/>
          <a:lstStyle>
            <a:lvl1pPr>
              <a:buNone/>
              <a:defRPr sz="4000">
                <a:solidFill>
                  <a:schemeClr val="bg2"/>
                </a:solidFill>
              </a:defRPr>
            </a:lvl1pPr>
          </a:lstStyle>
          <a:p>
            <a:pPr lvl="0"/>
            <a:r>
              <a:rPr kumimoji="1" lang="ja-JP" altLang="en-US"/>
              <a:t>マスター テキストの書式設定</a:t>
            </a:r>
          </a:p>
        </p:txBody>
      </p:sp>
      <p:sp>
        <p:nvSpPr>
          <p:cNvPr id="7" name="Content Placeholder 2">
            <a:extLst>
              <a:ext uri="{FF2B5EF4-FFF2-40B4-BE49-F238E27FC236}">
                <a16:creationId xmlns:a16="http://schemas.microsoft.com/office/drawing/2014/main" id="{3140CB54-3189-CA43-FFF0-6B6D5F85C9B4}"/>
              </a:ext>
            </a:extLst>
          </p:cNvPr>
          <p:cNvSpPr>
            <a:spLocks noGrp="1"/>
          </p:cNvSpPr>
          <p:nvPr>
            <p:ph sz="half" idx="1"/>
          </p:nvPr>
        </p:nvSpPr>
        <p:spPr>
          <a:xfrm>
            <a:off x="546055" y="4063353"/>
            <a:ext cx="11364543" cy="3526461"/>
          </a:xfrm>
          <a:ln w="63500">
            <a:solidFill>
              <a:srgbClr val="66A8D4"/>
            </a:solid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2" name="テキスト プレースホルダー 10">
            <a:extLst>
              <a:ext uri="{FF2B5EF4-FFF2-40B4-BE49-F238E27FC236}">
                <a16:creationId xmlns:a16="http://schemas.microsoft.com/office/drawing/2014/main" id="{C9B2C448-12D1-42AE-F7D0-C8AED70F60CB}"/>
              </a:ext>
            </a:extLst>
          </p:cNvPr>
          <p:cNvSpPr>
            <a:spLocks noGrp="1"/>
          </p:cNvSpPr>
          <p:nvPr>
            <p:ph type="body" sz="quarter" idx="16"/>
          </p:nvPr>
        </p:nvSpPr>
        <p:spPr>
          <a:xfrm>
            <a:off x="504114" y="3176140"/>
            <a:ext cx="11445949" cy="906463"/>
          </a:xfrm>
          <a:solidFill>
            <a:schemeClr val="tx1"/>
          </a:solidFill>
        </p:spPr>
        <p:txBody>
          <a:bodyPr anchor="ctr"/>
          <a:lstStyle>
            <a:lvl1pPr>
              <a:buNone/>
              <a:defRPr>
                <a:solidFill>
                  <a:schemeClr val="bg1"/>
                </a:solidFill>
              </a:defRPr>
            </a:lvl1pPr>
          </a:lstStyle>
          <a:p>
            <a:pPr lvl="0"/>
            <a:r>
              <a:rPr kumimoji="1" lang="ja-JP" altLang="en-US"/>
              <a:t>マスター テキストの書式設定</a:t>
            </a:r>
          </a:p>
        </p:txBody>
      </p:sp>
      <p:sp>
        <p:nvSpPr>
          <p:cNvPr id="13" name="Content Placeholder 2">
            <a:extLst>
              <a:ext uri="{FF2B5EF4-FFF2-40B4-BE49-F238E27FC236}">
                <a16:creationId xmlns:a16="http://schemas.microsoft.com/office/drawing/2014/main" id="{8DAFEE08-A81F-707C-4BA0-7BC8776B90FF}"/>
              </a:ext>
            </a:extLst>
          </p:cNvPr>
          <p:cNvSpPr>
            <a:spLocks noGrp="1"/>
          </p:cNvSpPr>
          <p:nvPr>
            <p:ph sz="half" idx="17"/>
          </p:nvPr>
        </p:nvSpPr>
        <p:spPr>
          <a:xfrm>
            <a:off x="12474291" y="4063353"/>
            <a:ext cx="11364543" cy="3526461"/>
          </a:xfrm>
          <a:ln w="63500">
            <a:solidFill>
              <a:srgbClr val="66A8D4"/>
            </a:solid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4" name="テキスト プレースホルダー 10">
            <a:extLst>
              <a:ext uri="{FF2B5EF4-FFF2-40B4-BE49-F238E27FC236}">
                <a16:creationId xmlns:a16="http://schemas.microsoft.com/office/drawing/2014/main" id="{C1871C9F-CBB5-6510-4C84-37F671317ED2}"/>
              </a:ext>
            </a:extLst>
          </p:cNvPr>
          <p:cNvSpPr>
            <a:spLocks noGrp="1"/>
          </p:cNvSpPr>
          <p:nvPr>
            <p:ph type="body" sz="quarter" idx="18"/>
          </p:nvPr>
        </p:nvSpPr>
        <p:spPr>
          <a:xfrm>
            <a:off x="12432350" y="3176140"/>
            <a:ext cx="11445949" cy="906463"/>
          </a:xfrm>
          <a:solidFill>
            <a:schemeClr val="tx1"/>
          </a:solidFill>
        </p:spPr>
        <p:txBody>
          <a:bodyPr anchor="ctr"/>
          <a:lstStyle>
            <a:lvl1pPr>
              <a:buNone/>
              <a:defRPr>
                <a:solidFill>
                  <a:schemeClr val="bg1"/>
                </a:solidFill>
              </a:defRPr>
            </a:lvl1pPr>
          </a:lstStyle>
          <a:p>
            <a:pPr lvl="0"/>
            <a:r>
              <a:rPr kumimoji="1" lang="ja-JP" altLang="en-US"/>
              <a:t>マスター テキストの書式設定</a:t>
            </a:r>
          </a:p>
        </p:txBody>
      </p:sp>
      <p:sp>
        <p:nvSpPr>
          <p:cNvPr id="15" name="Content Placeholder 2">
            <a:extLst>
              <a:ext uri="{FF2B5EF4-FFF2-40B4-BE49-F238E27FC236}">
                <a16:creationId xmlns:a16="http://schemas.microsoft.com/office/drawing/2014/main" id="{8A329A85-E9A3-6153-8937-4627CC5A7E62}"/>
              </a:ext>
            </a:extLst>
          </p:cNvPr>
          <p:cNvSpPr>
            <a:spLocks noGrp="1"/>
          </p:cNvSpPr>
          <p:nvPr>
            <p:ph sz="half" idx="19"/>
          </p:nvPr>
        </p:nvSpPr>
        <p:spPr>
          <a:xfrm>
            <a:off x="546055" y="8964602"/>
            <a:ext cx="11364543" cy="3526461"/>
          </a:xfrm>
          <a:ln w="63500">
            <a:solidFill>
              <a:srgbClr val="66A8D4"/>
            </a:solid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6" name="テキスト プレースホルダー 10">
            <a:extLst>
              <a:ext uri="{FF2B5EF4-FFF2-40B4-BE49-F238E27FC236}">
                <a16:creationId xmlns:a16="http://schemas.microsoft.com/office/drawing/2014/main" id="{E5E7CD5A-D74B-3BF3-1D34-C6BC3F85556B}"/>
              </a:ext>
            </a:extLst>
          </p:cNvPr>
          <p:cNvSpPr>
            <a:spLocks noGrp="1"/>
          </p:cNvSpPr>
          <p:nvPr>
            <p:ph type="body" sz="quarter" idx="20"/>
          </p:nvPr>
        </p:nvSpPr>
        <p:spPr>
          <a:xfrm>
            <a:off x="504114" y="8077389"/>
            <a:ext cx="11445949" cy="906463"/>
          </a:xfrm>
          <a:solidFill>
            <a:schemeClr val="tx1"/>
          </a:solidFill>
        </p:spPr>
        <p:txBody>
          <a:bodyPr anchor="ctr"/>
          <a:lstStyle>
            <a:lvl1pPr>
              <a:buNone/>
              <a:defRPr>
                <a:solidFill>
                  <a:schemeClr val="bg1"/>
                </a:solidFill>
              </a:defRPr>
            </a:lvl1pPr>
          </a:lstStyle>
          <a:p>
            <a:pPr lvl="0"/>
            <a:r>
              <a:rPr kumimoji="1" lang="ja-JP" altLang="en-US"/>
              <a:t>マスター テキストの書式設定</a:t>
            </a:r>
          </a:p>
        </p:txBody>
      </p:sp>
      <p:sp>
        <p:nvSpPr>
          <p:cNvPr id="17" name="Content Placeholder 2">
            <a:extLst>
              <a:ext uri="{FF2B5EF4-FFF2-40B4-BE49-F238E27FC236}">
                <a16:creationId xmlns:a16="http://schemas.microsoft.com/office/drawing/2014/main" id="{A569A398-229E-518C-A2F8-E87AC7FEABC2}"/>
              </a:ext>
            </a:extLst>
          </p:cNvPr>
          <p:cNvSpPr>
            <a:spLocks noGrp="1"/>
          </p:cNvSpPr>
          <p:nvPr>
            <p:ph sz="half" idx="21"/>
          </p:nvPr>
        </p:nvSpPr>
        <p:spPr>
          <a:xfrm>
            <a:off x="12474291" y="8964602"/>
            <a:ext cx="11364543" cy="3526461"/>
          </a:xfrm>
          <a:ln w="63500">
            <a:solidFill>
              <a:srgbClr val="66A8D4"/>
            </a:solid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8" name="テキスト プレースホルダー 10">
            <a:extLst>
              <a:ext uri="{FF2B5EF4-FFF2-40B4-BE49-F238E27FC236}">
                <a16:creationId xmlns:a16="http://schemas.microsoft.com/office/drawing/2014/main" id="{2F9C9DEC-0751-3E49-640C-C623BA98351A}"/>
              </a:ext>
            </a:extLst>
          </p:cNvPr>
          <p:cNvSpPr>
            <a:spLocks noGrp="1"/>
          </p:cNvSpPr>
          <p:nvPr>
            <p:ph type="body" sz="quarter" idx="22"/>
          </p:nvPr>
        </p:nvSpPr>
        <p:spPr>
          <a:xfrm>
            <a:off x="12432350" y="8077389"/>
            <a:ext cx="11445949" cy="906463"/>
          </a:xfrm>
          <a:solidFill>
            <a:schemeClr val="tx1"/>
          </a:solidFill>
        </p:spPr>
        <p:txBody>
          <a:bodyPr anchor="ctr"/>
          <a:lstStyle>
            <a:lvl1pPr>
              <a:buNone/>
              <a:defRPr>
                <a:solidFill>
                  <a:schemeClr val="bg1"/>
                </a:solidFill>
              </a:defRPr>
            </a:lvl1pPr>
          </a:lstStyle>
          <a:p>
            <a:pPr lvl="0"/>
            <a:r>
              <a:rPr kumimoji="1" lang="ja-JP" altLang="en-US"/>
              <a:t>マスター テキストの書式設定</a:t>
            </a:r>
          </a:p>
        </p:txBody>
      </p:sp>
      <p:sp>
        <p:nvSpPr>
          <p:cNvPr id="3" name="Title 1">
            <a:extLst>
              <a:ext uri="{FF2B5EF4-FFF2-40B4-BE49-F238E27FC236}">
                <a16:creationId xmlns:a16="http://schemas.microsoft.com/office/drawing/2014/main" id="{4428B87E-4E5C-BD4A-B7B9-5CD017C2316F}"/>
              </a:ext>
            </a:extLst>
          </p:cNvPr>
          <p:cNvSpPr>
            <a:spLocks noGrp="1"/>
          </p:cNvSpPr>
          <p:nvPr>
            <p:ph type="title"/>
          </p:nvPr>
        </p:nvSpPr>
        <p:spPr>
          <a:xfrm>
            <a:off x="1531620" y="1358425"/>
            <a:ext cx="22304738" cy="1550459"/>
          </a:xfrm>
        </p:spPr>
        <p:txBody>
          <a:bodyPr/>
          <a:lstStyle>
            <a:lvl1pPr>
              <a:defRPr b="1" i="0">
                <a:latin typeface="Yu Gothic" panose="020B0400000000000000" pitchFamily="34" charset="-128"/>
                <a:ea typeface="Yu Gothic" panose="020B0400000000000000" pitchFamily="34" charset="-128"/>
              </a:defRPr>
            </a:lvl1pPr>
          </a:lstStyle>
          <a:p>
            <a:r>
              <a:rPr lang="ja-JP" altLang="en-US"/>
              <a:t>マスター タイトルの書式設定</a:t>
            </a:r>
            <a:endParaRPr lang="en-US" dirty="0"/>
          </a:p>
        </p:txBody>
      </p:sp>
      <p:sp>
        <p:nvSpPr>
          <p:cNvPr id="10" name="正方形/長方形 9">
            <a:extLst>
              <a:ext uri="{FF2B5EF4-FFF2-40B4-BE49-F238E27FC236}">
                <a16:creationId xmlns:a16="http://schemas.microsoft.com/office/drawing/2014/main" id="{67564866-3642-1515-F78F-EBC63CFFFD78}"/>
              </a:ext>
            </a:extLst>
          </p:cNvPr>
          <p:cNvSpPr/>
          <p:nvPr userDrawn="1"/>
        </p:nvSpPr>
        <p:spPr>
          <a:xfrm>
            <a:off x="815378" y="1358424"/>
            <a:ext cx="409074" cy="155045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780967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セクション見出し">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676291" y="5357813"/>
            <a:ext cx="21029831" cy="3000374"/>
          </a:xfrm>
        </p:spPr>
        <p:txBody>
          <a:bodyPr anchor="ctr"/>
          <a:lstStyle>
            <a:lvl1pPr marL="0" indent="0" algn="ctr">
              <a:buNone/>
              <a:defRPr sz="5600" spc="300">
                <a:solidFill>
                  <a:schemeClr val="bg1"/>
                </a:solidFill>
              </a:defRPr>
            </a:lvl1pPr>
            <a:lvl2pPr marL="914354" indent="0">
              <a:buNone/>
              <a:defRPr sz="4000">
                <a:solidFill>
                  <a:schemeClr val="tx1">
                    <a:tint val="82000"/>
                  </a:schemeClr>
                </a:solidFill>
              </a:defRPr>
            </a:lvl2pPr>
            <a:lvl3pPr marL="1828709" indent="0">
              <a:buNone/>
              <a:defRPr sz="3600">
                <a:solidFill>
                  <a:schemeClr val="tx1">
                    <a:tint val="82000"/>
                  </a:schemeClr>
                </a:solidFill>
              </a:defRPr>
            </a:lvl3pPr>
            <a:lvl4pPr marL="2743063" indent="0">
              <a:buNone/>
              <a:defRPr sz="3200">
                <a:solidFill>
                  <a:schemeClr val="tx1">
                    <a:tint val="82000"/>
                  </a:schemeClr>
                </a:solidFill>
              </a:defRPr>
            </a:lvl4pPr>
            <a:lvl5pPr marL="3657417" indent="0">
              <a:buNone/>
              <a:defRPr sz="3200">
                <a:solidFill>
                  <a:schemeClr val="tx1">
                    <a:tint val="82000"/>
                  </a:schemeClr>
                </a:solidFill>
              </a:defRPr>
            </a:lvl5pPr>
            <a:lvl6pPr marL="4571771" indent="0">
              <a:buNone/>
              <a:defRPr sz="3200">
                <a:solidFill>
                  <a:schemeClr val="tx1">
                    <a:tint val="82000"/>
                  </a:schemeClr>
                </a:solidFill>
              </a:defRPr>
            </a:lvl6pPr>
            <a:lvl7pPr marL="5486126" indent="0">
              <a:buNone/>
              <a:defRPr sz="3200">
                <a:solidFill>
                  <a:schemeClr val="tx1">
                    <a:tint val="82000"/>
                  </a:schemeClr>
                </a:solidFill>
              </a:defRPr>
            </a:lvl7pPr>
            <a:lvl8pPr marL="6400480" indent="0">
              <a:buNone/>
              <a:defRPr sz="3200">
                <a:solidFill>
                  <a:schemeClr val="tx1">
                    <a:tint val="82000"/>
                  </a:schemeClr>
                </a:solidFill>
              </a:defRPr>
            </a:lvl8pPr>
            <a:lvl9pPr marL="7314834" indent="0">
              <a:buNone/>
              <a:defRPr sz="3200">
                <a:solidFill>
                  <a:schemeClr val="tx1">
                    <a:tint val="82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7DD96E1F-697B-864D-A8BC-B9F203AEA5AC}" type="datetime1">
              <a:rPr kumimoji="1" lang="ja-JP" altLang="en-US" smtClean="0"/>
              <a:t>2026/10/4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67BFEE9-6A35-CF42-A39A-CD481C3507E3}" type="slidenum">
              <a:rPr kumimoji="1" lang="ja-JP" altLang="en-US" smtClean="0"/>
              <a:t>‹#›</a:t>
            </a:fld>
            <a:endParaRPr kumimoji="1" lang="ja-JP" altLang="en-US"/>
          </a:p>
        </p:txBody>
      </p:sp>
    </p:spTree>
    <p:extLst>
      <p:ext uri="{BB962C8B-B14F-4D97-AF65-F5344CB8AC3E}">
        <p14:creationId xmlns:p14="http://schemas.microsoft.com/office/powerpoint/2010/main" val="23419247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タイトルと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46052" y="1391479"/>
            <a:ext cx="23290306" cy="1096244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F33846FE-1092-FD42-9AC0-B69E5809E0EF}" type="datetime1">
              <a:rPr kumimoji="1" lang="ja-JP" altLang="en-US" smtClean="0"/>
              <a:t>2026/10/4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67BFEE9-6A35-CF42-A39A-CD481C3507E3}" type="slidenum">
              <a:rPr kumimoji="1" lang="ja-JP" altLang="en-US" smtClean="0"/>
              <a:t>‹#›</a:t>
            </a:fld>
            <a:endParaRPr kumimoji="1" lang="ja-JP" altLang="en-US"/>
          </a:p>
        </p:txBody>
      </p:sp>
      <p:sp>
        <p:nvSpPr>
          <p:cNvPr id="8" name="テキスト プレースホルダー 7">
            <a:extLst>
              <a:ext uri="{FF2B5EF4-FFF2-40B4-BE49-F238E27FC236}">
                <a16:creationId xmlns:a16="http://schemas.microsoft.com/office/drawing/2014/main" id="{6157C110-7517-0494-8AD1-7267A24661E2}"/>
              </a:ext>
            </a:extLst>
          </p:cNvPr>
          <p:cNvSpPr>
            <a:spLocks noGrp="1"/>
          </p:cNvSpPr>
          <p:nvPr>
            <p:ph type="body" sz="quarter" idx="13"/>
          </p:nvPr>
        </p:nvSpPr>
        <p:spPr>
          <a:xfrm>
            <a:off x="546052" y="239182"/>
            <a:ext cx="15916804" cy="745067"/>
          </a:xfrm>
        </p:spPr>
        <p:txBody>
          <a:bodyPr anchor="ctr"/>
          <a:lstStyle>
            <a:lvl1pPr>
              <a:buNone/>
              <a:defRPr sz="4000">
                <a:solidFill>
                  <a:schemeClr val="bg2"/>
                </a:solidFill>
              </a:defRPr>
            </a:lvl1pPr>
          </a:lstStyle>
          <a:p>
            <a:pPr lvl="0"/>
            <a:r>
              <a:rPr kumimoji="1" lang="ja-JP" altLang="en-US"/>
              <a:t>マスター テキストの書式設定</a:t>
            </a:r>
          </a:p>
        </p:txBody>
      </p:sp>
    </p:spTree>
    <p:extLst>
      <p:ext uri="{BB962C8B-B14F-4D97-AF65-F5344CB8AC3E}">
        <p14:creationId xmlns:p14="http://schemas.microsoft.com/office/powerpoint/2010/main" val="9084573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日付プレースホルダー 2">
            <a:extLst>
              <a:ext uri="{FF2B5EF4-FFF2-40B4-BE49-F238E27FC236}">
                <a16:creationId xmlns:a16="http://schemas.microsoft.com/office/drawing/2014/main" id="{A1A28FF6-6ABD-05E0-14A5-3CA8FD766292}"/>
              </a:ext>
            </a:extLst>
          </p:cNvPr>
          <p:cNvSpPr>
            <a:spLocks noGrp="1"/>
          </p:cNvSpPr>
          <p:nvPr>
            <p:ph type="dt" sz="half" idx="10"/>
          </p:nvPr>
        </p:nvSpPr>
        <p:spPr/>
        <p:txBody>
          <a:bodyPr/>
          <a:lstStyle/>
          <a:p>
            <a:fld id="{7A6230E5-DC19-8048-9011-93E4E558FEAD}" type="datetime1">
              <a:rPr kumimoji="1" lang="ja-JP" altLang="en-US" smtClean="0"/>
              <a:t>2026/10/4</a:t>
            </a:fld>
            <a:endParaRPr kumimoji="1" lang="ja-JP" altLang="en-US"/>
          </a:p>
        </p:txBody>
      </p:sp>
      <p:sp>
        <p:nvSpPr>
          <p:cNvPr id="4" name="フッター プレースホルダー 3">
            <a:extLst>
              <a:ext uri="{FF2B5EF4-FFF2-40B4-BE49-F238E27FC236}">
                <a16:creationId xmlns:a16="http://schemas.microsoft.com/office/drawing/2014/main" id="{5FB69A14-0AF9-A649-3ABB-D4052E786CE2}"/>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F06DBC31-6D39-6C3E-5F31-00E86E0A20B1}"/>
              </a:ext>
            </a:extLst>
          </p:cNvPr>
          <p:cNvSpPr>
            <a:spLocks noGrp="1"/>
          </p:cNvSpPr>
          <p:nvPr>
            <p:ph type="sldNum" sz="quarter" idx="12"/>
          </p:nvPr>
        </p:nvSpPr>
        <p:spPr/>
        <p:txBody>
          <a:bodyPr/>
          <a:lstStyle/>
          <a:p>
            <a:fld id="{E67BFEE9-6A35-CF42-A39A-CD481C3507E3}" type="slidenum">
              <a:rPr kumimoji="1" lang="ja-JP" altLang="en-US" smtClean="0"/>
              <a:pPr/>
              <a:t>‹#›</a:t>
            </a:fld>
            <a:endParaRPr kumimoji="1" lang="ja-JP" altLang="en-US" sz="3600"/>
          </a:p>
        </p:txBody>
      </p:sp>
    </p:spTree>
    <p:extLst>
      <p:ext uri="{BB962C8B-B14F-4D97-AF65-F5344CB8AC3E}">
        <p14:creationId xmlns:p14="http://schemas.microsoft.com/office/powerpoint/2010/main" val="2870487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76291" y="730251"/>
            <a:ext cx="21029831" cy="2651126"/>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1676291" y="3651250"/>
            <a:ext cx="21029831" cy="8702676"/>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dirty="0"/>
              <a:t>2 </a:t>
            </a:r>
            <a:r>
              <a:rPr lang="ja-JP" altLang="en-US"/>
              <a:t>レベル</a:t>
            </a:r>
          </a:p>
          <a:p>
            <a:pPr lvl="2"/>
            <a:r>
              <a:rPr lang="ja-JP" altLang="en-US"/>
              <a:t>第 </a:t>
            </a:r>
            <a:r>
              <a:rPr lang="en-US" altLang="ja-JP" dirty="0"/>
              <a:t>3 </a:t>
            </a:r>
            <a:r>
              <a:rPr lang="ja-JP" altLang="en-US"/>
              <a:t>レベル</a:t>
            </a:r>
          </a:p>
          <a:p>
            <a:pPr lvl="3"/>
            <a:r>
              <a:rPr lang="ja-JP" altLang="en-US"/>
              <a:t>第 </a:t>
            </a:r>
            <a:r>
              <a:rPr lang="en-US" altLang="ja-JP" dirty="0"/>
              <a:t>4 </a:t>
            </a:r>
            <a:r>
              <a:rPr lang="ja-JP" altLang="en-US"/>
              <a:t>レベル</a:t>
            </a:r>
          </a:p>
          <a:p>
            <a:pPr lvl="4"/>
            <a:r>
              <a:rPr lang="ja-JP" altLang="en-US"/>
              <a:t>第 </a:t>
            </a:r>
            <a:r>
              <a:rPr lang="en-US" altLang="ja-JP" dirty="0"/>
              <a:t>5 </a:t>
            </a:r>
            <a:r>
              <a:rPr lang="ja-JP" altLang="en-US"/>
              <a:t>レベル</a:t>
            </a:r>
            <a:endParaRPr lang="en-US" dirty="0"/>
          </a:p>
        </p:txBody>
      </p:sp>
      <p:sp>
        <p:nvSpPr>
          <p:cNvPr id="4" name="Date Placeholder 3"/>
          <p:cNvSpPr>
            <a:spLocks noGrp="1"/>
          </p:cNvSpPr>
          <p:nvPr>
            <p:ph type="dt" sz="half" idx="2"/>
          </p:nvPr>
        </p:nvSpPr>
        <p:spPr>
          <a:xfrm>
            <a:off x="355492" y="12744452"/>
            <a:ext cx="5486043" cy="730250"/>
          </a:xfrm>
          <a:prstGeom prst="rect">
            <a:avLst/>
          </a:prstGeom>
        </p:spPr>
        <p:txBody>
          <a:bodyPr vert="horz" lIns="91440" tIns="45720" rIns="91440" bIns="45720" rtlCol="0" anchor="ctr"/>
          <a:lstStyle>
            <a:lvl1pPr algn="l">
              <a:defRPr sz="2400">
                <a:solidFill>
                  <a:schemeClr val="tx1">
                    <a:tint val="82000"/>
                  </a:schemeClr>
                </a:solidFill>
              </a:defRPr>
            </a:lvl1pPr>
          </a:lstStyle>
          <a:p>
            <a:fld id="{7A6230E5-DC19-8048-9011-93E4E558FEAD}" type="datetime1">
              <a:rPr kumimoji="1" lang="ja-JP" altLang="en-US" smtClean="0"/>
              <a:t>2026/10/4</a:t>
            </a:fld>
            <a:endParaRPr kumimoji="1" lang="ja-JP" altLang="en-US"/>
          </a:p>
        </p:txBody>
      </p:sp>
      <p:sp>
        <p:nvSpPr>
          <p:cNvPr id="5" name="Footer Placeholder 4"/>
          <p:cNvSpPr>
            <a:spLocks noGrp="1"/>
          </p:cNvSpPr>
          <p:nvPr>
            <p:ph type="ftr" sz="quarter" idx="3"/>
          </p:nvPr>
        </p:nvSpPr>
        <p:spPr>
          <a:xfrm>
            <a:off x="8076675" y="12712701"/>
            <a:ext cx="8229064" cy="730250"/>
          </a:xfrm>
          <a:prstGeom prst="rect">
            <a:avLst/>
          </a:prstGeom>
        </p:spPr>
        <p:txBody>
          <a:bodyPr vert="horz" lIns="91440" tIns="45720" rIns="91440" bIns="45720" rtlCol="0" anchor="ctr"/>
          <a:lstStyle>
            <a:lvl1pPr algn="ctr">
              <a:defRPr sz="2400">
                <a:solidFill>
                  <a:schemeClr val="tx1">
                    <a:tint val="82000"/>
                  </a:schemeClr>
                </a:solidFill>
              </a:defRPr>
            </a:lvl1pPr>
          </a:lstStyle>
          <a:p>
            <a:endParaRPr kumimoji="1" lang="ja-JP" altLang="en-US"/>
          </a:p>
        </p:txBody>
      </p:sp>
      <p:sp>
        <p:nvSpPr>
          <p:cNvPr id="6" name="Slide Number Placeholder 5"/>
          <p:cNvSpPr>
            <a:spLocks noGrp="1"/>
          </p:cNvSpPr>
          <p:nvPr>
            <p:ph type="sldNum" sz="quarter" idx="4"/>
          </p:nvPr>
        </p:nvSpPr>
        <p:spPr>
          <a:xfrm>
            <a:off x="18540879" y="12712701"/>
            <a:ext cx="5486043" cy="730250"/>
          </a:xfrm>
          <a:prstGeom prst="rect">
            <a:avLst/>
          </a:prstGeom>
        </p:spPr>
        <p:txBody>
          <a:bodyPr vert="horz" lIns="91440" tIns="45720" rIns="91440" bIns="45720" rtlCol="0" anchor="ctr"/>
          <a:lstStyle>
            <a:lvl1pPr algn="r">
              <a:defRPr sz="3600">
                <a:solidFill>
                  <a:schemeClr val="tx1">
                    <a:tint val="82000"/>
                  </a:schemeClr>
                </a:solidFill>
              </a:defRPr>
            </a:lvl1pPr>
          </a:lstStyle>
          <a:p>
            <a:fld id="{E67BFEE9-6A35-CF42-A39A-CD481C3507E3}" type="slidenum">
              <a:rPr kumimoji="1" lang="ja-JP" altLang="en-US" smtClean="0"/>
              <a:pPr/>
              <a:t>‹#›</a:t>
            </a:fld>
            <a:endParaRPr kumimoji="1" lang="ja-JP" altLang="en-US" sz="3600"/>
          </a:p>
        </p:txBody>
      </p:sp>
    </p:spTree>
    <p:extLst>
      <p:ext uri="{BB962C8B-B14F-4D97-AF65-F5344CB8AC3E}">
        <p14:creationId xmlns:p14="http://schemas.microsoft.com/office/powerpoint/2010/main" val="616459202"/>
      </p:ext>
    </p:extLst>
  </p:cSld>
  <p:clrMap bg1="lt1" tx1="dk1" bg2="lt2" tx2="dk2" accent1="accent1" accent2="accent2" accent3="accent3" accent4="accent4" accent5="accent5" accent6="accent6" hlink="hlink" folHlink="folHlink"/>
  <p:sldLayoutIdLst>
    <p:sldLayoutId id="2147483673" r:id="rId1"/>
    <p:sldLayoutId id="2147483675" r:id="rId2"/>
    <p:sldLayoutId id="2147483674" r:id="rId3"/>
    <p:sldLayoutId id="2147483679" r:id="rId4"/>
    <p:sldLayoutId id="2147483683" r:id="rId5"/>
    <p:sldLayoutId id="2147483684" r:id="rId6"/>
    <p:sldLayoutId id="2147483680" r:id="rId7"/>
    <p:sldLayoutId id="2147483681" r:id="rId8"/>
    <p:sldLayoutId id="2147483686" r:id="rId9"/>
    <p:sldLayoutId id="2147483685" r:id="rId10"/>
    <p:sldLayoutId id="2147483682" r:id="rId11"/>
    <p:sldLayoutId id="2147483687" r:id="rId12"/>
  </p:sldLayoutIdLst>
  <p:hf hdr="0" ftr="0" dt="0"/>
  <p:txStyles>
    <p:titleStyle>
      <a:lvl1pPr algn="l" defTabSz="1828709" rtl="0" eaLnBrk="1" latinLnBrk="0" hangingPunct="1">
        <a:lnSpc>
          <a:spcPct val="90000"/>
        </a:lnSpc>
        <a:spcBef>
          <a:spcPct val="0"/>
        </a:spcBef>
        <a:buNone/>
        <a:defRPr kumimoji="1" sz="6400" b="1" kern="1200" spc="300">
          <a:solidFill>
            <a:schemeClr val="tx1"/>
          </a:solidFill>
          <a:latin typeface="+mn-ea"/>
          <a:ea typeface="+mn-ea"/>
          <a:cs typeface="+mj-cs"/>
        </a:defRPr>
      </a:lvl1pPr>
    </p:titleStyle>
    <p:bodyStyle>
      <a:lvl1pPr marL="457177" indent="-457177" algn="l" defTabSz="1828709" rtl="0" eaLnBrk="1" latinLnBrk="0" hangingPunct="1">
        <a:lnSpc>
          <a:spcPct val="90000"/>
        </a:lnSpc>
        <a:spcBef>
          <a:spcPts val="2000"/>
        </a:spcBef>
        <a:buFont typeface="Arial" panose="020B0604020202020204" pitchFamily="34" charset="0"/>
        <a:buChar char="•"/>
        <a:defRPr kumimoji="1" sz="4800" b="1" kern="1200">
          <a:solidFill>
            <a:schemeClr val="tx1"/>
          </a:solidFill>
          <a:latin typeface="+mn-lt"/>
          <a:ea typeface="+mn-ea"/>
          <a:cs typeface="+mn-cs"/>
        </a:defRPr>
      </a:lvl1pPr>
      <a:lvl2pPr marL="1371531" indent="-457177" algn="l" defTabSz="1828709" rtl="0" eaLnBrk="1" latinLnBrk="0" hangingPunct="1">
        <a:lnSpc>
          <a:spcPct val="90000"/>
        </a:lnSpc>
        <a:spcBef>
          <a:spcPts val="1000"/>
        </a:spcBef>
        <a:buFont typeface="Arial" panose="020B0604020202020204" pitchFamily="34" charset="0"/>
        <a:buChar char="•"/>
        <a:defRPr kumimoji="1" sz="4000" b="0" i="0" kern="1200">
          <a:solidFill>
            <a:schemeClr val="tx2"/>
          </a:solidFill>
          <a:latin typeface="Yu Gothic Medium" panose="020B0400000000000000" pitchFamily="34" charset="-128"/>
          <a:ea typeface="Yu Gothic Medium" panose="020B0400000000000000" pitchFamily="34" charset="-128"/>
          <a:cs typeface="+mn-cs"/>
        </a:defRPr>
      </a:lvl2pPr>
      <a:lvl3pPr marL="2285886" indent="-457177" algn="l" defTabSz="1828709" rtl="0" eaLnBrk="1" latinLnBrk="0" hangingPunct="1">
        <a:lnSpc>
          <a:spcPct val="90000"/>
        </a:lnSpc>
        <a:spcBef>
          <a:spcPts val="1000"/>
        </a:spcBef>
        <a:buFont typeface="Arial" panose="020B0604020202020204" pitchFamily="34" charset="0"/>
        <a:buChar char="•"/>
        <a:defRPr kumimoji="1" sz="4000" b="0" i="0" kern="1200">
          <a:solidFill>
            <a:schemeClr val="tx2"/>
          </a:solidFill>
          <a:latin typeface="Yu Gothic Medium" panose="020B0400000000000000" pitchFamily="34" charset="-128"/>
          <a:ea typeface="Yu Gothic Medium" panose="020B0400000000000000" pitchFamily="34" charset="-128"/>
          <a:cs typeface="+mn-cs"/>
        </a:defRPr>
      </a:lvl3pPr>
      <a:lvl4pPr marL="3200240" indent="-457177" algn="l" defTabSz="1828709" rtl="0" eaLnBrk="1" latinLnBrk="0" hangingPunct="1">
        <a:lnSpc>
          <a:spcPct val="90000"/>
        </a:lnSpc>
        <a:spcBef>
          <a:spcPts val="1000"/>
        </a:spcBef>
        <a:buFont typeface="Arial" panose="020B0604020202020204" pitchFamily="34" charset="0"/>
        <a:buChar char="•"/>
        <a:defRPr kumimoji="1" sz="4000" b="0" i="0" kern="1200">
          <a:solidFill>
            <a:schemeClr val="tx2"/>
          </a:solidFill>
          <a:latin typeface="Yu Gothic Medium" panose="020B0400000000000000" pitchFamily="34" charset="-128"/>
          <a:ea typeface="Yu Gothic Medium" panose="020B0400000000000000" pitchFamily="34" charset="-128"/>
          <a:cs typeface="+mn-cs"/>
        </a:defRPr>
      </a:lvl4pPr>
      <a:lvl5pPr marL="4114594" indent="-457177" algn="l" defTabSz="1828709" rtl="0" eaLnBrk="1" latinLnBrk="0" hangingPunct="1">
        <a:lnSpc>
          <a:spcPct val="90000"/>
        </a:lnSpc>
        <a:spcBef>
          <a:spcPts val="1000"/>
        </a:spcBef>
        <a:buFont typeface="Arial" panose="020B0604020202020204" pitchFamily="34" charset="0"/>
        <a:buChar char="•"/>
        <a:defRPr kumimoji="1" sz="4000" b="0" i="0" kern="1200">
          <a:solidFill>
            <a:schemeClr val="tx2"/>
          </a:solidFill>
          <a:latin typeface="Yu Gothic Medium" panose="020B0400000000000000" pitchFamily="34" charset="-128"/>
          <a:ea typeface="Yu Gothic Medium" panose="020B0400000000000000" pitchFamily="34" charset="-128"/>
          <a:cs typeface="+mn-cs"/>
        </a:defRPr>
      </a:lvl5pPr>
      <a:lvl6pPr marL="5028949" indent="-457177" algn="l" defTabSz="1828709"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303" indent="-457177" algn="l" defTabSz="1828709"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7657" indent="-457177" algn="l" defTabSz="1828709"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011" indent="-457177" algn="l" defTabSz="1828709"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p:bodyStyle>
    <p:otherStyle>
      <a:defPPr>
        <a:defRPr lang="en-US"/>
      </a:defPPr>
      <a:lvl1pPr marL="0" algn="l" defTabSz="1828709" rtl="0" eaLnBrk="1" latinLnBrk="0" hangingPunct="1">
        <a:defRPr kumimoji="1" sz="3600" kern="1200">
          <a:solidFill>
            <a:schemeClr val="tx1"/>
          </a:solidFill>
          <a:latin typeface="+mn-lt"/>
          <a:ea typeface="+mn-ea"/>
          <a:cs typeface="+mn-cs"/>
        </a:defRPr>
      </a:lvl1pPr>
      <a:lvl2pPr marL="914354" algn="l" defTabSz="1828709" rtl="0" eaLnBrk="1" latinLnBrk="0" hangingPunct="1">
        <a:defRPr kumimoji="1" sz="3600" kern="1200">
          <a:solidFill>
            <a:schemeClr val="tx1"/>
          </a:solidFill>
          <a:latin typeface="+mn-lt"/>
          <a:ea typeface="+mn-ea"/>
          <a:cs typeface="+mn-cs"/>
        </a:defRPr>
      </a:lvl2pPr>
      <a:lvl3pPr marL="1828709" algn="l" defTabSz="1828709" rtl="0" eaLnBrk="1" latinLnBrk="0" hangingPunct="1">
        <a:defRPr kumimoji="1" sz="3600" kern="1200">
          <a:solidFill>
            <a:schemeClr val="tx1"/>
          </a:solidFill>
          <a:latin typeface="+mn-lt"/>
          <a:ea typeface="+mn-ea"/>
          <a:cs typeface="+mn-cs"/>
        </a:defRPr>
      </a:lvl3pPr>
      <a:lvl4pPr marL="2743063" algn="l" defTabSz="1828709" rtl="0" eaLnBrk="1" latinLnBrk="0" hangingPunct="1">
        <a:defRPr kumimoji="1" sz="3600" kern="1200">
          <a:solidFill>
            <a:schemeClr val="tx1"/>
          </a:solidFill>
          <a:latin typeface="+mn-lt"/>
          <a:ea typeface="+mn-ea"/>
          <a:cs typeface="+mn-cs"/>
        </a:defRPr>
      </a:lvl4pPr>
      <a:lvl5pPr marL="3657417" algn="l" defTabSz="1828709" rtl="0" eaLnBrk="1" latinLnBrk="0" hangingPunct="1">
        <a:defRPr kumimoji="1" sz="3600" kern="1200">
          <a:solidFill>
            <a:schemeClr val="tx1"/>
          </a:solidFill>
          <a:latin typeface="+mn-lt"/>
          <a:ea typeface="+mn-ea"/>
          <a:cs typeface="+mn-cs"/>
        </a:defRPr>
      </a:lvl5pPr>
      <a:lvl6pPr marL="4571771" algn="l" defTabSz="1828709" rtl="0" eaLnBrk="1" latinLnBrk="0" hangingPunct="1">
        <a:defRPr kumimoji="1" sz="3600" kern="1200">
          <a:solidFill>
            <a:schemeClr val="tx1"/>
          </a:solidFill>
          <a:latin typeface="+mn-lt"/>
          <a:ea typeface="+mn-ea"/>
          <a:cs typeface="+mn-cs"/>
        </a:defRPr>
      </a:lvl6pPr>
      <a:lvl7pPr marL="5486126" algn="l" defTabSz="1828709" rtl="0" eaLnBrk="1" latinLnBrk="0" hangingPunct="1">
        <a:defRPr kumimoji="1" sz="3600" kern="1200">
          <a:solidFill>
            <a:schemeClr val="tx1"/>
          </a:solidFill>
          <a:latin typeface="+mn-lt"/>
          <a:ea typeface="+mn-ea"/>
          <a:cs typeface="+mn-cs"/>
        </a:defRPr>
      </a:lvl7pPr>
      <a:lvl8pPr marL="6400480" algn="l" defTabSz="1828709" rtl="0" eaLnBrk="1" latinLnBrk="0" hangingPunct="1">
        <a:defRPr kumimoji="1" sz="3600" kern="1200">
          <a:solidFill>
            <a:schemeClr val="tx1"/>
          </a:solidFill>
          <a:latin typeface="+mn-lt"/>
          <a:ea typeface="+mn-ea"/>
          <a:cs typeface="+mn-cs"/>
        </a:defRPr>
      </a:lvl8pPr>
      <a:lvl9pPr marL="7314834" algn="l" defTabSz="1828709" rtl="0" eaLnBrk="1" latinLnBrk="0" hangingPunct="1">
        <a:defRPr kumimoji="1"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1.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6.xml"/><Relationship Id="rId5" Type="http://schemas.openxmlformats.org/officeDocument/2006/relationships/image" Target="../media/image17.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22.png"/><Relationship Id="rId5" Type="http://schemas.openxmlformats.org/officeDocument/2006/relationships/image" Target="../media/image2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32.png"/><Relationship Id="rId5" Type="http://schemas.openxmlformats.org/officeDocument/2006/relationships/image" Target="../media/image26.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notesSlide" Target="../notesSlides/notesSlide30.xml"/><Relationship Id="rId1" Type="http://schemas.openxmlformats.org/officeDocument/2006/relationships/slideLayout" Target="../slideLayouts/slideLayout3.xml"/><Relationship Id="rId6" Type="http://schemas.openxmlformats.org/officeDocument/2006/relationships/image" Target="../media/image58.png"/><Relationship Id="rId5" Type="http://schemas.openxmlformats.org/officeDocument/2006/relationships/image" Target="../media/image35.png"/><Relationship Id="rId4" Type="http://schemas.openxmlformats.org/officeDocument/2006/relationships/image" Target="../media/image34.png"/></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2.xml"/><Relationship Id="rId1" Type="http://schemas.openxmlformats.org/officeDocument/2006/relationships/slideLayout" Target="../slideLayouts/slideLayout3.xml"/><Relationship Id="rId4" Type="http://schemas.openxmlformats.org/officeDocument/2006/relationships/image" Target="../media/image68.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670.png"/><Relationship Id="rId2" Type="http://schemas.openxmlformats.org/officeDocument/2006/relationships/notesSlide" Target="../notesSlides/notesSlide35.xml"/><Relationship Id="rId1" Type="http://schemas.openxmlformats.org/officeDocument/2006/relationships/slideLayout" Target="../slideLayouts/slideLayout3.xml"/><Relationship Id="rId4" Type="http://schemas.openxmlformats.org/officeDocument/2006/relationships/image" Target="../media/image680.png"/></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EF8D53-DFAD-2781-7D58-CDDA68ED3053}"/>
              </a:ext>
            </a:extLst>
          </p:cNvPr>
          <p:cNvSpPr>
            <a:spLocks noGrp="1"/>
          </p:cNvSpPr>
          <p:nvPr>
            <p:ph type="ctrTitle"/>
          </p:nvPr>
        </p:nvSpPr>
        <p:spPr/>
        <p:txBody>
          <a:bodyPr wrap="square">
            <a:normAutofit/>
          </a:bodyPr>
          <a:lstStyle/>
          <a:p>
            <a:pPr>
              <a:spcAft>
                <a:spcPts val="0"/>
              </a:spcAft>
            </a:pPr>
            <a:r>
              <a:rPr sz="3600" b="1" dirty="0" err="1">
                <a:solidFill>
                  <a:srgbClr val="082B52"/>
                </a:solidFill>
                <a:latin typeface="Yu Gothic"/>
                <a:ea typeface="Yu Gothic"/>
              </a:rPr>
              <a:t>衛星光通信の粗捕捉に向けた</a:t>
            </a:r>
            <a:endParaRPr sz="3600" b="1" dirty="0">
              <a:solidFill>
                <a:srgbClr val="082B52"/>
              </a:solidFill>
              <a:latin typeface="Yu Gothic"/>
              <a:ea typeface="Yu Gothic"/>
            </a:endParaRPr>
          </a:p>
          <a:p>
            <a:pPr>
              <a:spcAft>
                <a:spcPts val="0"/>
              </a:spcAft>
            </a:pPr>
            <a:r>
              <a:rPr sz="3600" b="1" dirty="0" err="1">
                <a:solidFill>
                  <a:srgbClr val="082B52"/>
                </a:solidFill>
                <a:latin typeface="Yu Gothic"/>
                <a:ea typeface="Yu Gothic"/>
              </a:rPr>
              <a:t>時変熱バイアスのフィードフォワード補正</a:t>
            </a:r>
            <a:endParaRPr sz="3600" b="1" dirty="0">
              <a:solidFill>
                <a:srgbClr val="082B52"/>
              </a:solidFill>
              <a:latin typeface="Yu Gothic"/>
              <a:ea typeface="Yu Gothic"/>
            </a:endParaRPr>
          </a:p>
        </p:txBody>
      </p:sp>
      <p:sp>
        <p:nvSpPr>
          <p:cNvPr id="3" name="字幕 2">
            <a:extLst>
              <a:ext uri="{FF2B5EF4-FFF2-40B4-BE49-F238E27FC236}">
                <a16:creationId xmlns:a16="http://schemas.microsoft.com/office/drawing/2014/main" id="{31102AA9-45EB-C4FA-A1D0-A77A903D266F}"/>
              </a:ext>
            </a:extLst>
          </p:cNvPr>
          <p:cNvSpPr>
            <a:spLocks noGrp="1"/>
          </p:cNvSpPr>
          <p:nvPr>
            <p:ph type="subTitle" idx="1"/>
          </p:nvPr>
        </p:nvSpPr>
        <p:spPr>
          <a:xfrm>
            <a:off x="9674352" y="11955999"/>
            <a:ext cx="8562463" cy="730249"/>
          </a:xfrm>
        </p:spPr>
        <p:txBody>
          <a:bodyPr wrap="square">
            <a:normAutofit/>
          </a:bodyPr>
          <a:lstStyle/>
          <a:p>
            <a:pPr>
              <a:spcAft>
                <a:spcPts val="0"/>
              </a:spcAft>
            </a:pPr>
            <a:r>
              <a:rPr sz="2800" b="1">
                <a:solidFill>
                  <a:srgbClr val="232B34"/>
                </a:solidFill>
                <a:latin typeface="Yu Gothic"/>
                <a:ea typeface="Yu Gothic"/>
              </a:rPr>
              <a:t>高本 英熙（東京大学）</a:t>
            </a:r>
          </a:p>
        </p:txBody>
      </p:sp>
      <p:sp>
        <p:nvSpPr>
          <p:cNvPr id="4" name="テキスト プレースホルダー 3">
            <a:extLst>
              <a:ext uri="{FF2B5EF4-FFF2-40B4-BE49-F238E27FC236}">
                <a16:creationId xmlns:a16="http://schemas.microsoft.com/office/drawing/2014/main" id="{79D366E8-10A6-FE33-D7F0-BCE65C677E19}"/>
              </a:ext>
            </a:extLst>
          </p:cNvPr>
          <p:cNvSpPr>
            <a:spLocks noGrp="1"/>
          </p:cNvSpPr>
          <p:nvPr>
            <p:ph type="body" sz="quarter" idx="13"/>
          </p:nvPr>
        </p:nvSpPr>
        <p:spPr>
          <a:xfrm>
            <a:off x="16483539" y="7705724"/>
            <a:ext cx="5625347" cy="698499"/>
          </a:xfrm>
        </p:spPr>
        <p:txBody>
          <a:bodyPr wrap="square"/>
          <a:lstStyle/>
          <a:p>
            <a:pPr>
              <a:spcAft>
                <a:spcPts val="0"/>
              </a:spcAft>
            </a:pPr>
            <a:r>
              <a:rPr sz="2200" b="0">
                <a:solidFill>
                  <a:srgbClr val="666F79"/>
                </a:solidFill>
                <a:latin typeface="Yu Gothic"/>
                <a:ea typeface="Yu Gothic"/>
              </a:rPr>
              <a:t>2026/09/28</a:t>
            </a:r>
          </a:p>
        </p:txBody>
      </p:sp>
      <p:sp>
        <p:nvSpPr>
          <p:cNvPr id="5" name="テキスト プレースホルダー 4">
            <a:extLst>
              <a:ext uri="{FF2B5EF4-FFF2-40B4-BE49-F238E27FC236}">
                <a16:creationId xmlns:a16="http://schemas.microsoft.com/office/drawing/2014/main" id="{223D87D9-D745-888C-4D05-FF267342E0C3}"/>
              </a:ext>
            </a:extLst>
          </p:cNvPr>
          <p:cNvSpPr>
            <a:spLocks noGrp="1"/>
          </p:cNvSpPr>
          <p:nvPr>
            <p:ph type="body" sz="quarter" idx="14"/>
          </p:nvPr>
        </p:nvSpPr>
        <p:spPr>
          <a:xfrm>
            <a:off x="9674352" y="6888226"/>
            <a:ext cx="5625347" cy="698499"/>
          </a:xfrm>
        </p:spPr>
        <p:txBody>
          <a:bodyPr/>
          <a:lstStyle/>
          <a:p>
            <a:endParaRPr/>
          </a:p>
        </p:txBody>
      </p:sp>
      <p:sp>
        <p:nvSpPr>
          <p:cNvPr id="6" name="テキスト プレースホルダー 5">
            <a:extLst>
              <a:ext uri="{FF2B5EF4-FFF2-40B4-BE49-F238E27FC236}">
                <a16:creationId xmlns:a16="http://schemas.microsoft.com/office/drawing/2014/main" id="{FB66ACC2-84FB-08AA-2D48-20C1AB864367}"/>
              </a:ext>
            </a:extLst>
          </p:cNvPr>
          <p:cNvSpPr>
            <a:spLocks noGrp="1"/>
          </p:cNvSpPr>
          <p:nvPr>
            <p:ph type="body" sz="quarter" idx="15"/>
          </p:nvPr>
        </p:nvSpPr>
        <p:spPr>
          <a:xfrm>
            <a:off x="16483538" y="7042558"/>
            <a:ext cx="5625347" cy="698499"/>
          </a:xfrm>
        </p:spPr>
        <p:txBody>
          <a:bodyPr wrap="square"/>
          <a:lstStyle/>
          <a:p>
            <a:pPr>
              <a:spcAft>
                <a:spcPts val="0"/>
              </a:spcAft>
            </a:pPr>
            <a:r>
              <a:rPr sz="2200" b="0">
                <a:solidFill>
                  <a:srgbClr val="666F79"/>
                </a:solidFill>
                <a:latin typeface="Yu Gothic"/>
                <a:ea typeface="Yu Gothic"/>
              </a:rPr>
              <a:t>全体輪講</a:t>
            </a:r>
          </a:p>
        </p:txBody>
      </p:sp>
      <p:sp>
        <p:nvSpPr>
          <p:cNvPr id="7" name="スライド番号プレースホルダー 6">
            <a:extLst>
              <a:ext uri="{FF2B5EF4-FFF2-40B4-BE49-F238E27FC236}">
                <a16:creationId xmlns:a16="http://schemas.microsoft.com/office/drawing/2014/main" id="{3FD1A49C-D906-D56C-8B01-F4742C0F4928}"/>
              </a:ext>
            </a:extLst>
          </p:cNvPr>
          <p:cNvSpPr>
            <a:spLocks noGrp="1"/>
          </p:cNvSpPr>
          <p:nvPr>
            <p:ph type="sldNum" sz="quarter" idx="12"/>
          </p:nvPr>
        </p:nvSpPr>
        <p:spPr/>
        <p:txBody>
          <a:bodyPr wrap="square"/>
          <a:lstStyle/>
          <a:p>
            <a:pPr algn="r">
              <a:spcAft>
                <a:spcPts val="0"/>
              </a:spcAft>
            </a:pPr>
            <a:r>
              <a:rPr sz="1800" b="0">
                <a:solidFill>
                  <a:srgbClr val="666F79"/>
                </a:solidFill>
                <a:latin typeface="Yu Gothic"/>
                <a:ea typeface="Yu Gothic"/>
              </a:rPr>
              <a:t>1</a:t>
            </a:r>
            <a:endParaRPr kumimoji="1" lang="ja-JP" altLang="en-US"/>
          </a:p>
        </p:txBody>
      </p:sp>
      <p:sp>
        <p:nvSpPr>
          <p:cNvPr id="8" name="TextBox 7"/>
          <p:cNvSpPr txBox="1"/>
          <p:nvPr/>
        </p:nvSpPr>
        <p:spPr>
          <a:xfrm>
            <a:off x="9674352" y="10012680"/>
            <a:ext cx="12801600" cy="1040285"/>
          </a:xfrm>
          <a:prstGeom prst="rect">
            <a:avLst/>
          </a:prstGeom>
          <a:noFill/>
        </p:spPr>
        <p:txBody>
          <a:bodyPr wrap="square" lIns="36576" tIns="27432" rIns="36576" bIns="27432" anchor="t">
            <a:spAutoFit/>
          </a:bodyPr>
          <a:lstStyle/>
          <a:p>
            <a:pPr algn="l">
              <a:spcAft>
                <a:spcPts val="0"/>
              </a:spcAft>
            </a:pPr>
            <a:r>
              <a:rPr sz="3200" b="0">
                <a:solidFill>
                  <a:srgbClr val="666F79"/>
                </a:solidFill>
                <a:latin typeface="Yu Gothic"/>
                <a:ea typeface="Yu Gothic"/>
              </a:rPr>
              <a:t>Feedforward Correction of Time-Varying Thermal Bias</a:t>
            </a:r>
            <a:endParaRPr sz="3200" b="1" dirty="0">
              <a:solidFill>
                <a:srgbClr val="1B74AA"/>
              </a:solidFill>
              <a:latin typeface="Yu Gothic"/>
            </a:endParaRPr>
          </a:p>
          <a:p>
            <a:pPr>
              <a:spcAft>
                <a:spcPts val="0"/>
              </a:spcAft>
            </a:pPr>
            <a:r>
              <a:rPr sz="3200" b="0">
                <a:solidFill>
                  <a:srgbClr val="666F79"/>
                </a:solidFill>
                <a:latin typeface="Yu Gothic"/>
                <a:ea typeface="Yu Gothic"/>
              </a:rPr>
              <a:t>for Coarse Acquisition in Optical Communication Systems</a:t>
            </a:r>
          </a:p>
        </p:txBody>
      </p:sp>
      <p:sp>
        <p:nvSpPr>
          <p:cNvPr id="9" name="TextBox 8"/>
          <p:cNvSpPr txBox="1"/>
          <p:nvPr/>
        </p:nvSpPr>
        <p:spPr>
          <a:xfrm>
            <a:off x="15110459" y="11955999"/>
            <a:ext cx="7132320" cy="298543"/>
          </a:xfrm>
          <a:prstGeom prst="rect">
            <a:avLst/>
          </a:prstGeom>
          <a:noFill/>
        </p:spPr>
        <p:txBody>
          <a:bodyPr wrap="square" lIns="45720" tIns="18288" rIns="45720" bIns="18288" anchor="t">
            <a:spAutoFit/>
          </a:bodyPr>
          <a:lstStyle/>
          <a:p>
            <a:pPr algn="r">
              <a:spcAft>
                <a:spcPts val="0"/>
              </a:spcAft>
            </a:pPr>
            <a:r>
              <a:rPr sz="1700" b="0" dirty="0">
                <a:solidFill>
                  <a:srgbClr val="666F79"/>
                </a:solidFill>
                <a:latin typeface="Yu Gothic"/>
                <a:ea typeface="Yu Gothic"/>
              </a:rPr>
              <a:t>ICSO 2026 </a:t>
            </a:r>
            <a:r>
              <a:rPr lang="ja-JP" altLang="en-US" sz="1700" b="0" dirty="0">
                <a:solidFill>
                  <a:srgbClr val="666F79"/>
                </a:solidFill>
                <a:latin typeface="Yu Gothic"/>
                <a:ea typeface="Yu Gothic"/>
              </a:rPr>
              <a:t>予稿</a:t>
            </a:r>
            <a:r>
              <a:rPr sz="1700" b="0" dirty="0">
                <a:solidFill>
                  <a:srgbClr val="666F79"/>
                </a:solidFill>
                <a:latin typeface="Yu Gothic"/>
                <a:ea typeface="Yu Gothic"/>
              </a:rPr>
              <a:t>提出済み（10/15 </a:t>
            </a:r>
            <a:r>
              <a:rPr sz="1700" b="0" dirty="0" err="1">
                <a:solidFill>
                  <a:srgbClr val="666F79"/>
                </a:solidFill>
                <a:latin typeface="Yu Gothic"/>
                <a:ea typeface="Yu Gothic"/>
              </a:rPr>
              <a:t>口頭発表</a:t>
            </a:r>
            <a:r>
              <a:rPr sz="1700" b="0" dirty="0">
                <a:solidFill>
                  <a:srgbClr val="666F79"/>
                </a:solidFill>
                <a:latin typeface="Yu Gothic"/>
                <a:ea typeface="Yu Gothic"/>
              </a:rPr>
              <a:t>）</a:t>
            </a:r>
          </a:p>
        </p:txBody>
      </p:sp>
    </p:spTree>
    <p:extLst>
      <p:ext uri="{BB962C8B-B14F-4D97-AF65-F5344CB8AC3E}">
        <p14:creationId xmlns:p14="http://schemas.microsoft.com/office/powerpoint/2010/main" val="41034179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3635D3E-6BA3-A5CE-2210-317DCBD6F138}"/>
              </a:ext>
            </a:extLst>
          </p:cNvPr>
          <p:cNvSpPr>
            <a:spLocks noGrp="1"/>
          </p:cNvSpPr>
          <p:nvPr>
            <p:ph type="title"/>
          </p:nvPr>
        </p:nvSpPr>
        <p:spPr/>
        <p:txBody>
          <a:bodyPr/>
          <a:lstStyle/>
          <a:p>
            <a:r>
              <a:rPr sz="2800" b="0">
                <a:solidFill>
                  <a:srgbClr val="FFFFFF"/>
                </a:solidFill>
                <a:latin typeface="Yu Gothic"/>
              </a:rPr>
              <a:t>01</a:t>
            </a:r>
          </a:p>
        </p:txBody>
      </p:sp>
      <p:sp>
        <p:nvSpPr>
          <p:cNvPr id="3" name="テキスト プレースホルダー 2">
            <a:extLst>
              <a:ext uri="{FF2B5EF4-FFF2-40B4-BE49-F238E27FC236}">
                <a16:creationId xmlns:a16="http://schemas.microsoft.com/office/drawing/2014/main" id="{BC4F4820-6A4B-21DF-1929-82AC7C54B27D}"/>
              </a:ext>
            </a:extLst>
          </p:cNvPr>
          <p:cNvSpPr>
            <a:spLocks noGrp="1"/>
          </p:cNvSpPr>
          <p:nvPr>
            <p:ph type="body" idx="1"/>
          </p:nvPr>
        </p:nvSpPr>
        <p:spPr/>
        <p:txBody>
          <a:bodyPr/>
          <a:lstStyle/>
          <a:p>
            <a:r>
              <a:rPr lang="ja-JP" altLang="en-US" sz="3200" b="1" dirty="0">
                <a:solidFill>
                  <a:srgbClr val="FFFFFF"/>
                </a:solidFill>
                <a:latin typeface="Yu Gothic"/>
              </a:rPr>
              <a:t>背景</a:t>
            </a:r>
            <a:endParaRPr sz="3200" b="1" dirty="0">
              <a:solidFill>
                <a:srgbClr val="FFFFFF"/>
              </a:solidFill>
              <a:latin typeface="Yu Gothic"/>
            </a:endParaRPr>
          </a:p>
        </p:txBody>
      </p:sp>
      <p:sp>
        <p:nvSpPr>
          <p:cNvPr id="4" name="スライド番号プレースホルダー 3">
            <a:extLst>
              <a:ext uri="{FF2B5EF4-FFF2-40B4-BE49-F238E27FC236}">
                <a16:creationId xmlns:a16="http://schemas.microsoft.com/office/drawing/2014/main" id="{3915B39E-8BAD-5C9C-E46E-51EE9D9101C0}"/>
              </a:ext>
            </a:extLst>
          </p:cNvPr>
          <p:cNvSpPr>
            <a:spLocks noGrp="1"/>
          </p:cNvSpPr>
          <p:nvPr>
            <p:ph type="sldNum" sz="quarter" idx="12"/>
          </p:nvPr>
        </p:nvSpPr>
        <p:spPr/>
        <p:txBody>
          <a:bodyPr/>
          <a:lstStyle/>
          <a:p>
            <a:endParaRPr kumimoji="1" lang="ja-JP" altLang="en-US" dirty="0"/>
          </a:p>
        </p:txBody>
      </p:sp>
    </p:spTree>
    <p:extLst>
      <p:ext uri="{BB962C8B-B14F-4D97-AF65-F5344CB8AC3E}">
        <p14:creationId xmlns:p14="http://schemas.microsoft.com/office/powerpoint/2010/main" val="33458954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12755A-CE30-29D5-66D8-858C1044B084}"/>
              </a:ext>
            </a:extLst>
          </p:cNvPr>
          <p:cNvSpPr>
            <a:spLocks noGrp="1"/>
          </p:cNvSpPr>
          <p:nvPr>
            <p:ph type="title"/>
          </p:nvPr>
        </p:nvSpPr>
        <p:spPr/>
        <p:txBody>
          <a:bodyPr wrap="square"/>
          <a:lstStyle/>
          <a:p>
            <a:pPr>
              <a:spcAft>
                <a:spcPts val="0"/>
              </a:spcAft>
            </a:pPr>
            <a:r>
              <a:rPr sz="3200" b="1" dirty="0" err="1">
                <a:solidFill>
                  <a:srgbClr val="082B52"/>
                </a:solidFill>
                <a:latin typeface="Yu Gothic"/>
                <a:ea typeface="Yu Gothic"/>
              </a:rPr>
              <a:t>粗捕捉では相手の光がまだ無く、走査中心のずれが探索時間を決める</a:t>
            </a:r>
            <a:endParaRPr sz="3200" b="1" dirty="0">
              <a:solidFill>
                <a:srgbClr val="082B52"/>
              </a:solidFill>
              <a:latin typeface="Yu Gothic"/>
            </a:endParaRPr>
          </a:p>
        </p:txBody>
      </p:sp>
      <p:sp>
        <p:nvSpPr>
          <p:cNvPr id="4" name="スライド番号プレースホルダー 3">
            <a:extLst>
              <a:ext uri="{FF2B5EF4-FFF2-40B4-BE49-F238E27FC236}">
                <a16:creationId xmlns:a16="http://schemas.microsoft.com/office/drawing/2014/main" id="{7335B153-B47B-237D-12A8-7E5DB77621F1}"/>
              </a:ext>
            </a:extLst>
          </p:cNvPr>
          <p:cNvSpPr>
            <a:spLocks noGrp="1"/>
          </p:cNvSpPr>
          <p:nvPr>
            <p:ph type="sldNum" sz="quarter" idx="12"/>
          </p:nvPr>
        </p:nvSpPr>
        <p:spPr/>
        <p:txBody>
          <a:bodyPr wrap="square"/>
          <a:lstStyle/>
          <a:p>
            <a:pPr algn="r">
              <a:spcAft>
                <a:spcPts val="0"/>
              </a:spcAft>
            </a:pPr>
            <a:r>
              <a:rPr sz="1800" b="0">
                <a:solidFill>
                  <a:srgbClr val="666F79"/>
                </a:solidFill>
                <a:latin typeface="Yu Gothic"/>
                <a:ea typeface="Yu Gothic"/>
              </a:rPr>
              <a:t>3</a:t>
            </a:r>
          </a:p>
        </p:txBody>
      </p:sp>
      <p:sp>
        <p:nvSpPr>
          <p:cNvPr id="5" name="テキスト プレースホルダー 4">
            <a:extLst>
              <a:ext uri="{FF2B5EF4-FFF2-40B4-BE49-F238E27FC236}">
                <a16:creationId xmlns:a16="http://schemas.microsoft.com/office/drawing/2014/main" id="{A906C556-D817-34D8-3FEC-80F456E48CE2}"/>
              </a:ext>
            </a:extLst>
          </p:cNvPr>
          <p:cNvSpPr>
            <a:spLocks noGrp="1"/>
          </p:cNvSpPr>
          <p:nvPr>
            <p:ph type="body" sz="quarter" idx="13"/>
          </p:nvPr>
        </p:nvSpPr>
        <p:spPr/>
        <p:txBody>
          <a:bodyPr wrap="square"/>
          <a:lstStyle/>
          <a:p>
            <a:pPr>
              <a:spcAft>
                <a:spcPts val="0"/>
              </a:spcAft>
            </a:pPr>
            <a:r>
              <a:rPr sz="2000" b="0">
                <a:solidFill>
                  <a:srgbClr val="666F79"/>
                </a:solidFill>
                <a:latin typeface="Yu Gothic"/>
                <a:ea typeface="Yu Gothic"/>
              </a:rPr>
              <a:t>背景</a:t>
            </a:r>
          </a:p>
        </p:txBody>
      </p:sp>
      <p:sp>
        <p:nvSpPr>
          <p:cNvPr id="6" name="Rounded Rectangle 5"/>
          <p:cNvSpPr/>
          <p:nvPr/>
        </p:nvSpPr>
        <p:spPr>
          <a:xfrm>
            <a:off x="1097280" y="3383280"/>
            <a:ext cx="6492240" cy="3200398"/>
          </a:xfrm>
          <a:prstGeom prst="roundRect">
            <a:avLst/>
          </a:prstGeom>
          <a:solidFill>
            <a:srgbClr val="F4F6F8"/>
          </a:solidFill>
          <a:ln w="25400">
            <a:solidFill>
              <a:srgbClr val="1B7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371600" y="3886200"/>
            <a:ext cx="5943600" cy="594360"/>
          </a:xfrm>
          <a:prstGeom prst="rect">
            <a:avLst/>
          </a:prstGeom>
          <a:noFill/>
        </p:spPr>
        <p:txBody>
          <a:bodyPr wrap="none" lIns="36576" tIns="27432" rIns="36576" bIns="27432" anchor="t">
            <a:spAutoFit/>
          </a:bodyPr>
          <a:lstStyle/>
          <a:p>
            <a:pPr algn="ctr"/>
            <a:r>
              <a:rPr sz="2700" b="1">
                <a:solidFill>
                  <a:srgbClr val="1B74AA"/>
                </a:solidFill>
                <a:latin typeface="Yu Gothic"/>
              </a:rPr>
              <a:t>光フィードバック前</a:t>
            </a:r>
          </a:p>
        </p:txBody>
      </p:sp>
      <p:sp>
        <p:nvSpPr>
          <p:cNvPr id="8" name="TextBox 7"/>
          <p:cNvSpPr txBox="1"/>
          <p:nvPr/>
        </p:nvSpPr>
        <p:spPr>
          <a:xfrm>
            <a:off x="1463040" y="5074920"/>
            <a:ext cx="5760720" cy="855619"/>
          </a:xfrm>
          <a:prstGeom prst="rect">
            <a:avLst/>
          </a:prstGeom>
          <a:noFill/>
        </p:spPr>
        <p:txBody>
          <a:bodyPr wrap="square" lIns="36576" tIns="27432" rIns="36576" bIns="27432" anchor="t">
            <a:spAutoFit/>
          </a:bodyPr>
          <a:lstStyle/>
          <a:p>
            <a:pPr algn="ctr">
              <a:spcAft>
                <a:spcPts val="0"/>
              </a:spcAft>
            </a:pPr>
            <a:r>
              <a:rPr sz="2600" b="0" dirty="0" err="1">
                <a:solidFill>
                  <a:srgbClr val="232B34"/>
                </a:solidFill>
                <a:latin typeface="Yu Gothic"/>
                <a:ea typeface="Yu Gothic"/>
              </a:rPr>
              <a:t>姿勢・軌道・</a:t>
            </a:r>
            <a:r>
              <a:rPr sz="2600" b="1" dirty="0" err="1">
                <a:solidFill>
                  <a:schemeClr val="accent6">
                    <a:lumMod val="75000"/>
                  </a:schemeClr>
                </a:solidFill>
                <a:latin typeface="Yu Gothic"/>
                <a:ea typeface="Yu Gothic"/>
              </a:rPr>
              <a:t>熱LOS</a:t>
            </a:r>
            <a:r>
              <a:rPr sz="2600" b="0" dirty="0" err="1">
                <a:solidFill>
                  <a:srgbClr val="232B34"/>
                </a:solidFill>
                <a:latin typeface="Yu Gothic"/>
                <a:ea typeface="Yu Gothic"/>
              </a:rPr>
              <a:t>を含む</a:t>
            </a:r>
            <a:endParaRPr sz="2600" b="0" dirty="0">
              <a:solidFill>
                <a:srgbClr val="232B34"/>
              </a:solidFill>
              <a:latin typeface="Yu Gothic"/>
              <a:ea typeface="Yu Gothic"/>
            </a:endParaRPr>
          </a:p>
          <a:p>
            <a:pPr algn="ctr">
              <a:spcAft>
                <a:spcPts val="0"/>
              </a:spcAft>
            </a:pPr>
            <a:r>
              <a:rPr sz="2600" b="0" dirty="0" err="1">
                <a:solidFill>
                  <a:srgbClr val="232B34"/>
                </a:solidFill>
                <a:latin typeface="Yu Gothic"/>
                <a:ea typeface="Yu Gothic"/>
              </a:rPr>
              <a:t>不確定領域を探索する</a:t>
            </a:r>
            <a:endParaRPr sz="2600" b="0" dirty="0">
              <a:solidFill>
                <a:srgbClr val="232B34"/>
              </a:solidFill>
              <a:latin typeface="Yu Gothic"/>
              <a:ea typeface="Yu Gothic"/>
            </a:endParaRPr>
          </a:p>
        </p:txBody>
      </p:sp>
      <p:sp>
        <p:nvSpPr>
          <p:cNvPr id="10" name="Rounded Rectangle 9"/>
          <p:cNvSpPr/>
          <p:nvPr/>
        </p:nvSpPr>
        <p:spPr>
          <a:xfrm>
            <a:off x="8732519" y="3383280"/>
            <a:ext cx="6492240" cy="3200398"/>
          </a:xfrm>
          <a:prstGeom prst="roundRect">
            <a:avLst/>
          </a:prstGeom>
          <a:solidFill>
            <a:srgbClr val="F4F6F8"/>
          </a:solidFill>
          <a:ln w="25400">
            <a:solidFill>
              <a:srgbClr val="EC94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006840" y="3886200"/>
            <a:ext cx="5943600" cy="594360"/>
          </a:xfrm>
          <a:prstGeom prst="rect">
            <a:avLst/>
          </a:prstGeom>
          <a:noFill/>
        </p:spPr>
        <p:txBody>
          <a:bodyPr wrap="none" lIns="36576" tIns="27432" rIns="36576" bIns="27432" anchor="t">
            <a:spAutoFit/>
          </a:bodyPr>
          <a:lstStyle/>
          <a:p>
            <a:pPr algn="ctr"/>
            <a:r>
              <a:rPr sz="2700" b="1">
                <a:solidFill>
                  <a:srgbClr val="EC9427"/>
                </a:solidFill>
                <a:latin typeface="Yu Gothic"/>
              </a:rPr>
              <a:t>日照・蝕／機器発熱</a:t>
            </a:r>
          </a:p>
        </p:txBody>
      </p:sp>
      <p:sp>
        <p:nvSpPr>
          <p:cNvPr id="12" name="TextBox 11"/>
          <p:cNvSpPr txBox="1"/>
          <p:nvPr/>
        </p:nvSpPr>
        <p:spPr>
          <a:xfrm>
            <a:off x="10297444" y="4638382"/>
            <a:ext cx="3408112" cy="855619"/>
          </a:xfrm>
          <a:prstGeom prst="rect">
            <a:avLst/>
          </a:prstGeom>
          <a:noFill/>
        </p:spPr>
        <p:txBody>
          <a:bodyPr wrap="none" lIns="36576" tIns="27432" rIns="36576" bIns="27432" anchor="t">
            <a:spAutoFit/>
          </a:bodyPr>
          <a:lstStyle/>
          <a:p>
            <a:pPr algn="ctr"/>
            <a:r>
              <a:rPr sz="2600" b="0" dirty="0" err="1">
                <a:solidFill>
                  <a:srgbClr val="232B34"/>
                </a:solidFill>
                <a:latin typeface="Yu Gothic"/>
              </a:rPr>
              <a:t>温度場</a:t>
            </a:r>
            <a:r>
              <a:rPr sz="2600" b="0" dirty="0">
                <a:solidFill>
                  <a:srgbClr val="232B34"/>
                </a:solidFill>
                <a:latin typeface="Yu Gothic"/>
              </a:rPr>
              <a:t> → </a:t>
            </a:r>
            <a:r>
              <a:rPr sz="2600" b="0" dirty="0" err="1">
                <a:solidFill>
                  <a:srgbClr val="232B34"/>
                </a:solidFill>
                <a:latin typeface="Yu Gothic"/>
              </a:rPr>
              <a:t>差動膨張</a:t>
            </a:r>
            <a:r>
              <a:rPr sz="2600" b="0" dirty="0">
                <a:solidFill>
                  <a:srgbClr val="232B34"/>
                </a:solidFill>
                <a:latin typeface="Yu Gothic"/>
              </a:rPr>
              <a:t> →
</a:t>
            </a:r>
            <a:r>
              <a:rPr lang="ja-JP" altLang="en-US" sz="2600" dirty="0">
                <a:solidFill>
                  <a:srgbClr val="232B34"/>
                </a:solidFill>
                <a:latin typeface="Yu Gothic"/>
              </a:rPr>
              <a:t>衛星筐体のねじれ</a:t>
            </a:r>
            <a:endParaRPr sz="2600" b="0" dirty="0">
              <a:solidFill>
                <a:srgbClr val="232B34"/>
              </a:solidFill>
              <a:latin typeface="Yu Gothic"/>
            </a:endParaRPr>
          </a:p>
        </p:txBody>
      </p:sp>
      <p:sp>
        <p:nvSpPr>
          <p:cNvPr id="13" name="TextBox 12"/>
          <p:cNvSpPr txBox="1"/>
          <p:nvPr/>
        </p:nvSpPr>
        <p:spPr>
          <a:xfrm>
            <a:off x="8869680" y="5623560"/>
            <a:ext cx="6217920" cy="440120"/>
          </a:xfrm>
          <a:prstGeom prst="rect">
            <a:avLst/>
          </a:prstGeom>
          <a:noFill/>
        </p:spPr>
        <p:txBody>
          <a:bodyPr wrap="square" lIns="36576" tIns="27432" rIns="36576" bIns="27432" anchor="t">
            <a:spAutoFit/>
          </a:bodyPr>
          <a:lstStyle/>
          <a:p>
            <a:pPr algn="ctr">
              <a:spcAft>
                <a:spcPts val="0"/>
              </a:spcAft>
            </a:pPr>
            <a:r>
              <a:rPr sz="2500" b="1" dirty="0">
                <a:solidFill>
                  <a:schemeClr val="accent6">
                    <a:lumMod val="75000"/>
                  </a:schemeClr>
                </a:solidFill>
                <a:latin typeface="Yu Gothic"/>
                <a:ea typeface="Yu Gothic"/>
              </a:rPr>
              <a:t>150 µrad〜1 </a:t>
            </a:r>
            <a:r>
              <a:rPr sz="2500" b="1" dirty="0" err="1">
                <a:solidFill>
                  <a:schemeClr val="accent6">
                    <a:lumMod val="75000"/>
                  </a:schemeClr>
                </a:solidFill>
                <a:latin typeface="Yu Gothic"/>
                <a:ea typeface="Yu Gothic"/>
              </a:rPr>
              <a:t>mrad超の熱LOS誤差</a:t>
            </a:r>
            <a:endParaRPr sz="2900" b="1" dirty="0">
              <a:solidFill>
                <a:schemeClr val="accent6">
                  <a:lumMod val="75000"/>
                </a:schemeClr>
              </a:solidFill>
              <a:latin typeface="Yu Gothic"/>
            </a:endParaRPr>
          </a:p>
        </p:txBody>
      </p:sp>
      <p:sp>
        <p:nvSpPr>
          <p:cNvPr id="15" name="Rounded Rectangle 14"/>
          <p:cNvSpPr/>
          <p:nvPr/>
        </p:nvSpPr>
        <p:spPr>
          <a:xfrm>
            <a:off x="16367759" y="3383280"/>
            <a:ext cx="6492240" cy="3200395"/>
          </a:xfrm>
          <a:prstGeom prst="roundRect">
            <a:avLst/>
          </a:prstGeom>
          <a:solidFill>
            <a:srgbClr val="F4F6F8"/>
          </a:solidFill>
          <a:ln w="2540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6733520" y="3886200"/>
            <a:ext cx="5760720" cy="594360"/>
          </a:xfrm>
          <a:prstGeom prst="rect">
            <a:avLst/>
          </a:prstGeom>
          <a:noFill/>
        </p:spPr>
        <p:txBody>
          <a:bodyPr wrap="square" lIns="36576" tIns="27432" rIns="36576" bIns="27432" anchor="t">
            <a:spAutoFit/>
          </a:bodyPr>
          <a:lstStyle/>
          <a:p>
            <a:pPr algn="ctr">
              <a:spcAft>
                <a:spcPts val="0"/>
              </a:spcAft>
            </a:pPr>
            <a:r>
              <a:rPr sz="2700" b="1">
                <a:solidFill>
                  <a:srgbClr val="239571"/>
                </a:solidFill>
                <a:latin typeface="Yu Gothic"/>
                <a:ea typeface="Yu Gothic"/>
              </a:rPr>
              <a:t>捕捉前の予測補正</a:t>
            </a:r>
            <a:endParaRPr sz="2700" b="1" dirty="0">
              <a:solidFill>
                <a:srgbClr val="239571"/>
              </a:solidFill>
              <a:latin typeface="Yu Gothic"/>
            </a:endParaRPr>
          </a:p>
        </p:txBody>
      </p:sp>
      <p:sp>
        <p:nvSpPr>
          <p:cNvPr id="17" name="TextBox 16"/>
          <p:cNvSpPr txBox="1"/>
          <p:nvPr/>
        </p:nvSpPr>
        <p:spPr>
          <a:xfrm>
            <a:off x="16733519" y="5074920"/>
            <a:ext cx="5760720" cy="855619"/>
          </a:xfrm>
          <a:prstGeom prst="rect">
            <a:avLst/>
          </a:prstGeom>
          <a:noFill/>
        </p:spPr>
        <p:txBody>
          <a:bodyPr wrap="square" lIns="36576" tIns="27432" rIns="36576" bIns="27432" anchor="t">
            <a:spAutoFit/>
          </a:bodyPr>
          <a:lstStyle/>
          <a:p>
            <a:pPr algn="ctr">
              <a:spcAft>
                <a:spcPts val="0"/>
              </a:spcAft>
            </a:pPr>
            <a:r>
              <a:rPr sz="2600" b="0" dirty="0" err="1">
                <a:solidFill>
                  <a:srgbClr val="232B34"/>
                </a:solidFill>
                <a:latin typeface="Yu Gothic"/>
                <a:ea typeface="Yu Gothic"/>
              </a:rPr>
              <a:t>予測した</a:t>
            </a:r>
            <a:r>
              <a:rPr sz="2600" b="1" dirty="0" err="1">
                <a:solidFill>
                  <a:schemeClr val="accent6">
                    <a:lumMod val="75000"/>
                  </a:schemeClr>
                </a:solidFill>
                <a:latin typeface="Yu Gothic"/>
                <a:ea typeface="Yu Gothic"/>
              </a:rPr>
              <a:t>熱LOS</a:t>
            </a:r>
            <a:r>
              <a:rPr sz="2600" b="0" dirty="0" err="1">
                <a:solidFill>
                  <a:srgbClr val="232B34"/>
                </a:solidFill>
                <a:latin typeface="Yu Gothic"/>
                <a:ea typeface="Yu Gothic"/>
              </a:rPr>
              <a:t>を走査中心から引き</a:t>
            </a:r>
            <a:endParaRPr sz="2600" b="0" dirty="0">
              <a:solidFill>
                <a:srgbClr val="232B34"/>
              </a:solidFill>
              <a:latin typeface="Yu Gothic"/>
              <a:ea typeface="Yu Gothic"/>
            </a:endParaRPr>
          </a:p>
          <a:p>
            <a:pPr algn="ctr">
              <a:spcAft>
                <a:spcPts val="0"/>
              </a:spcAft>
            </a:pPr>
            <a:r>
              <a:rPr sz="2600" b="0" dirty="0" err="1">
                <a:solidFill>
                  <a:srgbClr val="232B34"/>
                </a:solidFill>
                <a:latin typeface="Yu Gothic"/>
                <a:ea typeface="Yu Gothic"/>
              </a:rPr>
              <a:t>探索域・捕捉時間を下げる</a:t>
            </a:r>
            <a:endParaRPr sz="2600" b="0" dirty="0">
              <a:solidFill>
                <a:srgbClr val="232B34"/>
              </a:solidFill>
              <a:latin typeface="Yu Gothic"/>
              <a:ea typeface="Yu Gothic"/>
            </a:endParaRPr>
          </a:p>
        </p:txBody>
      </p:sp>
      <p:sp>
        <p:nvSpPr>
          <p:cNvPr id="18" name="TextBox 17"/>
          <p:cNvSpPr txBox="1"/>
          <p:nvPr/>
        </p:nvSpPr>
        <p:spPr>
          <a:xfrm>
            <a:off x="2344699" y="12321036"/>
            <a:ext cx="19693020" cy="532453"/>
          </a:xfrm>
          <a:prstGeom prst="rect">
            <a:avLst/>
          </a:prstGeom>
          <a:noFill/>
        </p:spPr>
        <p:txBody>
          <a:bodyPr wrap="none" lIns="36576" tIns="27432" rIns="36576" bIns="27432" anchor="t">
            <a:spAutoFit/>
          </a:bodyPr>
          <a:lstStyle/>
          <a:p>
            <a:pPr algn="ctr"/>
            <a:r>
              <a:rPr lang="ja-JP" altLang="en-US" sz="3100" dirty="0">
                <a:solidFill>
                  <a:srgbClr val="082B52"/>
                </a:solidFill>
                <a:latin typeface="Yu Gothic"/>
              </a:rPr>
              <a:t>衛星</a:t>
            </a:r>
            <a:r>
              <a:rPr lang="en-US" altLang="ja-JP" sz="3100" dirty="0">
                <a:solidFill>
                  <a:srgbClr val="082B52"/>
                </a:solidFill>
                <a:latin typeface="Yu Gothic"/>
              </a:rPr>
              <a:t>/LCT</a:t>
            </a:r>
            <a:r>
              <a:rPr lang="ja-JP" altLang="en-US" sz="3100" dirty="0">
                <a:solidFill>
                  <a:srgbClr val="082B52"/>
                </a:solidFill>
                <a:latin typeface="Yu Gothic"/>
              </a:rPr>
              <a:t>の</a:t>
            </a:r>
            <a:r>
              <a:rPr sz="3100" dirty="0" err="1">
                <a:solidFill>
                  <a:srgbClr val="082B52"/>
                </a:solidFill>
                <a:latin typeface="Yu Gothic"/>
              </a:rPr>
              <a:t>構造を変更せず</a:t>
            </a:r>
            <a:r>
              <a:rPr sz="3100" dirty="0">
                <a:solidFill>
                  <a:srgbClr val="082B52"/>
                </a:solidFill>
                <a:latin typeface="Yu Gothic"/>
              </a:rPr>
              <a:t>、</a:t>
            </a:r>
            <a:r>
              <a:rPr lang="ja-JP" altLang="en-US" sz="3100" dirty="0">
                <a:solidFill>
                  <a:srgbClr val="082B52"/>
                </a:solidFill>
                <a:latin typeface="Yu Gothic"/>
              </a:rPr>
              <a:t>粗捕捉開始時の</a:t>
            </a:r>
            <a:r>
              <a:rPr lang="en-US" sz="3100" dirty="0">
                <a:solidFill>
                  <a:srgbClr val="082B52"/>
                </a:solidFill>
                <a:latin typeface="Yu Gothic"/>
              </a:rPr>
              <a:t>LOS</a:t>
            </a:r>
            <a:r>
              <a:rPr lang="ja-JP" altLang="en-US" sz="3100" dirty="0">
                <a:solidFill>
                  <a:srgbClr val="082B52"/>
                </a:solidFill>
                <a:latin typeface="Yu Gothic"/>
              </a:rPr>
              <a:t>誤差の中で</a:t>
            </a:r>
            <a:r>
              <a:rPr sz="3100" dirty="0" err="1">
                <a:solidFill>
                  <a:srgbClr val="082B52"/>
                </a:solidFill>
                <a:latin typeface="Yu Gothic"/>
              </a:rPr>
              <a:t>予測可能な</a:t>
            </a:r>
            <a:r>
              <a:rPr sz="3100" b="1" dirty="0" err="1">
                <a:solidFill>
                  <a:srgbClr val="082B52"/>
                </a:solidFill>
                <a:latin typeface="Yu Gothic"/>
              </a:rPr>
              <a:t>熱</a:t>
            </a:r>
            <a:r>
              <a:rPr lang="ja-JP" altLang="en-US" sz="3100" b="1" dirty="0">
                <a:solidFill>
                  <a:srgbClr val="082B52"/>
                </a:solidFill>
                <a:latin typeface="Yu Gothic"/>
              </a:rPr>
              <a:t>ひずみ</a:t>
            </a:r>
            <a:r>
              <a:rPr sz="3100" b="1" dirty="0" err="1">
                <a:solidFill>
                  <a:srgbClr val="082B52"/>
                </a:solidFill>
                <a:latin typeface="Yu Gothic"/>
              </a:rPr>
              <a:t>成分だけを運用側で除去する</a:t>
            </a:r>
            <a:endParaRPr lang="en-US" sz="3100" b="1" dirty="0">
              <a:solidFill>
                <a:srgbClr val="082B52"/>
              </a:solidFill>
              <a:latin typeface="Yu Gothic"/>
            </a:endParaRPr>
          </a:p>
        </p:txBody>
      </p:sp>
      <p:pic>
        <p:nvPicPr>
          <p:cNvPr id="20" name="図 19">
            <a:extLst>
              <a:ext uri="{FF2B5EF4-FFF2-40B4-BE49-F238E27FC236}">
                <a16:creationId xmlns:a16="http://schemas.microsoft.com/office/drawing/2014/main" id="{191BBC5C-178E-661F-128A-D617E934A20F}"/>
              </a:ext>
            </a:extLst>
          </p:cNvPr>
          <p:cNvPicPr>
            <a:picLocks noChangeAspect="1"/>
          </p:cNvPicPr>
          <p:nvPr/>
        </p:nvPicPr>
        <p:blipFill>
          <a:blip r:embed="rId3"/>
          <a:stretch>
            <a:fillRect/>
          </a:stretch>
        </p:blipFill>
        <p:spPr>
          <a:xfrm>
            <a:off x="16916232" y="7065665"/>
            <a:ext cx="5487986" cy="4615305"/>
          </a:xfrm>
          <a:prstGeom prst="rect">
            <a:avLst/>
          </a:prstGeom>
        </p:spPr>
      </p:pic>
      <p:pic>
        <p:nvPicPr>
          <p:cNvPr id="22" name="図 21">
            <a:extLst>
              <a:ext uri="{FF2B5EF4-FFF2-40B4-BE49-F238E27FC236}">
                <a16:creationId xmlns:a16="http://schemas.microsoft.com/office/drawing/2014/main" id="{498CF50A-5A18-B28F-3BD0-637684E7A9B3}"/>
              </a:ext>
            </a:extLst>
          </p:cNvPr>
          <p:cNvPicPr>
            <a:picLocks noChangeAspect="1"/>
          </p:cNvPicPr>
          <p:nvPr/>
        </p:nvPicPr>
        <p:blipFill>
          <a:blip r:embed="rId4"/>
          <a:stretch>
            <a:fillRect/>
          </a:stretch>
        </p:blipFill>
        <p:spPr>
          <a:xfrm>
            <a:off x="1238250" y="6893807"/>
            <a:ext cx="5985510" cy="5210337"/>
          </a:xfrm>
          <a:prstGeom prst="rect">
            <a:avLst/>
          </a:prstGeom>
        </p:spPr>
      </p:pic>
      <p:pic>
        <p:nvPicPr>
          <p:cNvPr id="24" name="図 23">
            <a:extLst>
              <a:ext uri="{FF2B5EF4-FFF2-40B4-BE49-F238E27FC236}">
                <a16:creationId xmlns:a16="http://schemas.microsoft.com/office/drawing/2014/main" id="{0A9CA252-8827-F5D6-2FFC-9FEB887111DE}"/>
              </a:ext>
            </a:extLst>
          </p:cNvPr>
          <p:cNvPicPr>
            <a:picLocks noChangeAspect="1"/>
          </p:cNvPicPr>
          <p:nvPr/>
        </p:nvPicPr>
        <p:blipFill>
          <a:blip r:embed="rId5"/>
          <a:stretch>
            <a:fillRect/>
          </a:stretch>
        </p:blipFill>
        <p:spPr>
          <a:xfrm>
            <a:off x="8912107" y="7164886"/>
            <a:ext cx="6056967" cy="3389179"/>
          </a:xfrm>
          <a:prstGeom prst="rect">
            <a:avLst/>
          </a:prstGeom>
        </p:spPr>
      </p:pic>
      <p:sp>
        <p:nvSpPr>
          <p:cNvPr id="19" name="矢印: 右 18">
            <a:extLst>
              <a:ext uri="{FF2B5EF4-FFF2-40B4-BE49-F238E27FC236}">
                <a16:creationId xmlns:a16="http://schemas.microsoft.com/office/drawing/2014/main" id="{ED170B76-4559-B87C-F49C-D7A69F01E9F7}"/>
              </a:ext>
            </a:extLst>
          </p:cNvPr>
          <p:cNvSpPr/>
          <p:nvPr/>
        </p:nvSpPr>
        <p:spPr>
          <a:xfrm>
            <a:off x="7863839" y="4638382"/>
            <a:ext cx="685800" cy="547842"/>
          </a:xfrm>
          <a:prstGeom prst="rightArrow">
            <a:avLst>
              <a:gd name="adj1" fmla="val 42972"/>
              <a:gd name="adj2" fmla="val 46486"/>
            </a:avLst>
          </a:prstGeom>
          <a:solidFill>
            <a:schemeClr val="bg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矢印: 右 22">
            <a:extLst>
              <a:ext uri="{FF2B5EF4-FFF2-40B4-BE49-F238E27FC236}">
                <a16:creationId xmlns:a16="http://schemas.microsoft.com/office/drawing/2014/main" id="{7CE29811-2011-943C-9089-640BA482954F}"/>
              </a:ext>
            </a:extLst>
          </p:cNvPr>
          <p:cNvSpPr/>
          <p:nvPr/>
        </p:nvSpPr>
        <p:spPr>
          <a:xfrm>
            <a:off x="15523349" y="4592657"/>
            <a:ext cx="685800" cy="547842"/>
          </a:xfrm>
          <a:prstGeom prst="rightArrow">
            <a:avLst>
              <a:gd name="adj1" fmla="val 42972"/>
              <a:gd name="adj2" fmla="val 46486"/>
            </a:avLst>
          </a:prstGeom>
          <a:solidFill>
            <a:schemeClr val="bg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8671720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44673"/>
            <a:ext cx="15910559" cy="652486"/>
          </a:xfrm>
          <a:prstGeom prst="rect">
            <a:avLst/>
          </a:prstGeom>
          <a:noFill/>
        </p:spPr>
        <p:txBody>
          <a:bodyPr wrap="square" lIns="45720" tIns="18288" rIns="45720" bIns="18288" anchor="ctr">
            <a:spAutoFit/>
          </a:bodyPr>
          <a:lstStyle/>
          <a:p>
            <a:pPr algn="l">
              <a:spcAft>
                <a:spcPts val="0"/>
              </a:spcAft>
            </a:pPr>
            <a:endParaRPr lang="en-US" sz="2000" b="0" dirty="0">
              <a:solidFill>
                <a:srgbClr val="666F79"/>
              </a:solidFill>
              <a:latin typeface="Yu Gothic"/>
              <a:ea typeface="Yu Gothic"/>
            </a:endParaRPr>
          </a:p>
          <a:p>
            <a:pPr algn="l">
              <a:spcAft>
                <a:spcPts val="0"/>
              </a:spcAft>
            </a:pPr>
            <a:r>
              <a:rPr sz="2000" b="0" dirty="0" err="1">
                <a:solidFill>
                  <a:srgbClr val="666F79"/>
                </a:solidFill>
                <a:latin typeface="Yu Gothic"/>
                <a:ea typeface="Yu Gothic"/>
              </a:rPr>
              <a:t>背景</a:t>
            </a:r>
            <a:endParaRPr sz="2000" b="0" dirty="0">
              <a:solidFill>
                <a:srgbClr val="666F79"/>
              </a:solidFill>
              <a:latin typeface="Yu Gothic"/>
              <a:ea typeface="Yu Gothic"/>
            </a:endParaRPr>
          </a:p>
        </p:txBody>
      </p:sp>
      <p:sp>
        <p:nvSpPr>
          <p:cNvPr id="3" name="TextBox 2"/>
          <p:cNvSpPr txBox="1"/>
          <p:nvPr/>
        </p:nvSpPr>
        <p:spPr>
          <a:xfrm>
            <a:off x="1536192" y="1343202"/>
            <a:ext cx="22037040" cy="1099212"/>
          </a:xfrm>
          <a:prstGeom prst="rect">
            <a:avLst/>
          </a:prstGeom>
          <a:noFill/>
        </p:spPr>
        <p:txBody>
          <a:bodyPr wrap="square" lIns="45720" tIns="18288" rIns="45720" bIns="18288" anchor="ctr">
            <a:spAutoFit/>
          </a:bodyPr>
          <a:lstStyle/>
          <a:p>
            <a:pPr algn="l">
              <a:lnSpc>
                <a:spcPct val="110000"/>
              </a:lnSpc>
              <a:spcAft>
                <a:spcPts val="0"/>
              </a:spcAft>
            </a:pPr>
            <a:endParaRPr lang="en-US" sz="3200" b="1" dirty="0">
              <a:solidFill>
                <a:srgbClr val="082B52"/>
              </a:solidFill>
              <a:latin typeface="Yu Gothic"/>
              <a:ea typeface="Yu Gothic"/>
            </a:endParaRPr>
          </a:p>
          <a:p>
            <a:pPr algn="l">
              <a:lnSpc>
                <a:spcPct val="110000"/>
              </a:lnSpc>
              <a:spcAft>
                <a:spcPts val="0"/>
              </a:spcAft>
            </a:pPr>
            <a:r>
              <a:rPr sz="3200" b="1" dirty="0">
                <a:solidFill>
                  <a:srgbClr val="082B52"/>
                </a:solidFill>
                <a:latin typeface="Yu Gothic"/>
                <a:ea typeface="Yu Gothic"/>
              </a:rPr>
              <a:t>熱</a:t>
            </a:r>
            <a:r>
              <a:rPr lang="ja-JP" altLang="en-US" sz="3200" b="1" dirty="0">
                <a:solidFill>
                  <a:srgbClr val="082B52"/>
                </a:solidFill>
                <a:latin typeface="Yu Gothic"/>
                <a:ea typeface="Yu Gothic"/>
              </a:rPr>
              <a:t>ひずみによる</a:t>
            </a:r>
            <a:r>
              <a:rPr lang="en-US" altLang="ja-JP" sz="3200" b="1" dirty="0">
                <a:solidFill>
                  <a:srgbClr val="082B52"/>
                </a:solidFill>
                <a:latin typeface="Yu Gothic"/>
                <a:ea typeface="Yu Gothic"/>
              </a:rPr>
              <a:t>LOS</a:t>
            </a:r>
            <a:r>
              <a:rPr lang="ja-JP" altLang="en-US" sz="3200" b="1" dirty="0">
                <a:solidFill>
                  <a:srgbClr val="082B52"/>
                </a:solidFill>
                <a:latin typeface="Yu Gothic"/>
                <a:ea typeface="Yu Gothic"/>
              </a:rPr>
              <a:t>誤差</a:t>
            </a:r>
            <a:r>
              <a:rPr sz="3200" b="1" dirty="0">
                <a:solidFill>
                  <a:srgbClr val="082B52"/>
                </a:solidFill>
                <a:latin typeface="Yu Gothic"/>
                <a:ea typeface="Yu Gothic"/>
              </a:rPr>
              <a:t>は</a:t>
            </a:r>
            <a:r>
              <a:rPr lang="ja-JP" altLang="en-US" sz="3200" b="1" dirty="0">
                <a:solidFill>
                  <a:srgbClr val="082B52"/>
                </a:solidFill>
                <a:latin typeface="Yu Gothic"/>
                <a:ea typeface="Yu Gothic"/>
              </a:rPr>
              <a:t>、</a:t>
            </a:r>
            <a:r>
              <a:rPr sz="3200" b="1" dirty="0" err="1">
                <a:solidFill>
                  <a:srgbClr val="082B52"/>
                </a:solidFill>
                <a:latin typeface="Yu Gothic"/>
                <a:ea typeface="Yu Gothic"/>
              </a:rPr>
              <a:t>軌道予測誤差と同じかそれ以上になり得る。捕捉前は光では分離できない</a:t>
            </a:r>
            <a:endParaRPr sz="3200" b="1" dirty="0">
              <a:solidFill>
                <a:srgbClr val="082B52"/>
              </a:solidFill>
              <a:latin typeface="Yu Gothic"/>
              <a:ea typeface="Yu Gothic"/>
            </a:endParaRPr>
          </a:p>
        </p:txBody>
      </p:sp>
      <p:sp>
        <p:nvSpPr>
          <p:cNvPr id="4" name="TextBox 3"/>
          <p:cNvSpPr txBox="1"/>
          <p:nvPr/>
        </p:nvSpPr>
        <p:spPr>
          <a:xfrm>
            <a:off x="21762720" y="12819888"/>
            <a:ext cx="2011680" cy="384048"/>
          </a:xfrm>
          <a:prstGeom prst="rect">
            <a:avLst/>
          </a:prstGeom>
          <a:noFill/>
        </p:spPr>
        <p:txBody>
          <a:bodyPr wrap="square" lIns="45720" tIns="18288" rIns="45720" bIns="18288" anchor="t">
            <a:spAutoFit/>
          </a:bodyPr>
          <a:lstStyle/>
          <a:p>
            <a:pPr algn="r">
              <a:spcAft>
                <a:spcPts val="0"/>
              </a:spcAft>
            </a:pPr>
            <a:r>
              <a:rPr sz="1800" b="0">
                <a:solidFill>
                  <a:srgbClr val="666F79"/>
                </a:solidFill>
                <a:latin typeface="Yu Gothic"/>
                <a:ea typeface="Yu Gothic"/>
              </a:rPr>
              <a:t>4</a:t>
            </a:r>
          </a:p>
        </p:txBody>
      </p:sp>
      <p:graphicFrame>
        <p:nvGraphicFramePr>
          <p:cNvPr id="5" name="Table 4"/>
          <p:cNvGraphicFramePr>
            <a:graphicFrameLocks noGrp="1"/>
          </p:cNvGraphicFramePr>
          <p:nvPr>
            <p:extLst>
              <p:ext uri="{D42A27DB-BD31-4B8C-83A1-F6EECF244321}">
                <p14:modId xmlns:p14="http://schemas.microsoft.com/office/powerpoint/2010/main" val="411065855"/>
              </p:ext>
            </p:extLst>
          </p:nvPr>
        </p:nvGraphicFramePr>
        <p:xfrm>
          <a:off x="1463040" y="3200400"/>
          <a:ext cx="21396958" cy="5120635"/>
        </p:xfrm>
        <a:graphic>
          <a:graphicData uri="http://schemas.openxmlformats.org/drawingml/2006/table">
            <a:tbl>
              <a:tblPr firstRow="1" bandRow="1">
                <a:tableStyleId>{5C22544A-7EE6-4342-B048-85BDC9FD1C3A}</a:tableStyleId>
              </a:tblPr>
              <a:tblGrid>
                <a:gridCol w="7509510">
                  <a:extLst>
                    <a:ext uri="{9D8B030D-6E8A-4147-A177-3AD203B41FA5}">
                      <a16:colId xmlns:a16="http://schemas.microsoft.com/office/drawing/2014/main" val="20000"/>
                    </a:ext>
                  </a:extLst>
                </a:gridCol>
                <a:gridCol w="7349488">
                  <a:extLst>
                    <a:ext uri="{9D8B030D-6E8A-4147-A177-3AD203B41FA5}">
                      <a16:colId xmlns:a16="http://schemas.microsoft.com/office/drawing/2014/main" val="20001"/>
                    </a:ext>
                  </a:extLst>
                </a:gridCol>
                <a:gridCol w="6537960">
                  <a:extLst>
                    <a:ext uri="{9D8B030D-6E8A-4147-A177-3AD203B41FA5}">
                      <a16:colId xmlns:a16="http://schemas.microsoft.com/office/drawing/2014/main" val="20002"/>
                    </a:ext>
                  </a:extLst>
                </a:gridCol>
              </a:tblGrid>
              <a:tr h="1024127">
                <a:tc>
                  <a:txBody>
                    <a:bodyPr/>
                    <a:lstStyle/>
                    <a:p>
                      <a:pPr algn="l">
                        <a:spcAft>
                          <a:spcPts val="0"/>
                        </a:spcAft>
                      </a:pPr>
                      <a:r>
                        <a:rPr sz="2400" b="1">
                          <a:solidFill>
                            <a:srgbClr val="FFFFFF"/>
                          </a:solidFill>
                          <a:latin typeface="Yu Gothic"/>
                          <a:ea typeface="Yu Gothic"/>
                        </a:rPr>
                        <a:t>誤差源</a:t>
                      </a:r>
                    </a:p>
                  </a:txBody>
                  <a:tcPr marL="128016" marR="128016" anchor="ctr">
                    <a:solidFill>
                      <a:srgbClr val="082B52"/>
                    </a:solidFill>
                  </a:tcPr>
                </a:tc>
                <a:tc>
                  <a:txBody>
                    <a:bodyPr/>
                    <a:lstStyle/>
                    <a:p>
                      <a:pPr algn="ctr">
                        <a:spcAft>
                          <a:spcPts val="0"/>
                        </a:spcAft>
                      </a:pPr>
                      <a:r>
                        <a:rPr sz="2400" b="1">
                          <a:solidFill>
                            <a:srgbClr val="FFFFFF"/>
                          </a:solidFill>
                          <a:latin typeface="Yu Gothic"/>
                          <a:ea typeface="Yu Gothic"/>
                        </a:rPr>
                        <a:t>大きさの目安</a:t>
                      </a:r>
                    </a:p>
                  </a:txBody>
                  <a:tcPr marL="128016" marR="128016" anchor="ctr">
                    <a:solidFill>
                      <a:srgbClr val="082B52"/>
                    </a:solidFill>
                  </a:tcPr>
                </a:tc>
                <a:tc>
                  <a:txBody>
                    <a:bodyPr/>
                    <a:lstStyle/>
                    <a:p>
                      <a:pPr algn="ctr">
                        <a:spcAft>
                          <a:spcPts val="0"/>
                        </a:spcAft>
                      </a:pPr>
                      <a:r>
                        <a:rPr sz="2400" b="1">
                          <a:solidFill>
                            <a:srgbClr val="FFFFFF"/>
                          </a:solidFill>
                          <a:latin typeface="Yu Gothic"/>
                          <a:ea typeface="Yu Gothic"/>
                        </a:rPr>
                        <a:t>時間変化</a:t>
                      </a:r>
                    </a:p>
                  </a:txBody>
                  <a:tcPr marL="128016" marR="128016" anchor="ctr">
                    <a:solidFill>
                      <a:srgbClr val="082B52"/>
                    </a:solidFill>
                  </a:tcPr>
                </a:tc>
                <a:extLst>
                  <a:ext uri="{0D108BD9-81ED-4DB2-BD59-A6C34878D82A}">
                    <a16:rowId xmlns:a16="http://schemas.microsoft.com/office/drawing/2014/main" val="10000"/>
                  </a:ext>
                </a:extLst>
              </a:tr>
              <a:tr h="1024127">
                <a:tc>
                  <a:txBody>
                    <a:bodyPr/>
                    <a:lstStyle/>
                    <a:p>
                      <a:pPr algn="l">
                        <a:spcAft>
                          <a:spcPts val="0"/>
                        </a:spcAft>
                      </a:pPr>
                      <a:r>
                        <a:rPr sz="2400" b="0" dirty="0" err="1">
                          <a:solidFill>
                            <a:srgbClr val="232B34"/>
                          </a:solidFill>
                          <a:latin typeface="Yu Gothic"/>
                          <a:ea typeface="Yu Gothic"/>
                        </a:rPr>
                        <a:t>熱LOS</a:t>
                      </a:r>
                      <a:endParaRPr sz="2400" b="0" dirty="0">
                        <a:solidFill>
                          <a:srgbClr val="232B34"/>
                        </a:solidFill>
                        <a:latin typeface="Yu Gothic"/>
                        <a:ea typeface="Yu Gothic"/>
                      </a:endParaRPr>
                    </a:p>
                  </a:txBody>
                  <a:tcPr marL="128016" marR="128016" anchor="ctr">
                    <a:solidFill>
                      <a:schemeClr val="accent6">
                        <a:lumMod val="20000"/>
                        <a:lumOff val="80000"/>
                      </a:schemeClr>
                    </a:solidFill>
                  </a:tcPr>
                </a:tc>
                <a:tc>
                  <a:txBody>
                    <a:bodyPr/>
                    <a:lstStyle/>
                    <a:p>
                      <a:pPr algn="ctr">
                        <a:spcAft>
                          <a:spcPts val="0"/>
                        </a:spcAft>
                      </a:pPr>
                      <a:r>
                        <a:rPr sz="2400" b="0" dirty="0">
                          <a:solidFill>
                            <a:srgbClr val="232B34"/>
                          </a:solidFill>
                          <a:latin typeface="Yu Gothic"/>
                          <a:ea typeface="Yu Gothic"/>
                        </a:rPr>
                        <a:t>150 µrad – 1</a:t>
                      </a:r>
                      <a:r>
                        <a:rPr lang="en-US" sz="2400" b="0" dirty="0">
                          <a:solidFill>
                            <a:srgbClr val="232B34"/>
                          </a:solidFill>
                          <a:latin typeface="Yu Gothic"/>
                          <a:ea typeface="Yu Gothic"/>
                        </a:rPr>
                        <a:t>000</a:t>
                      </a:r>
                      <a:r>
                        <a:rPr sz="2400" b="0" dirty="0">
                          <a:solidFill>
                            <a:srgbClr val="232B34"/>
                          </a:solidFill>
                          <a:latin typeface="Yu Gothic"/>
                          <a:ea typeface="Yu Gothic"/>
                        </a:rPr>
                        <a:t> </a:t>
                      </a:r>
                      <a:r>
                        <a:rPr lang="en-US" altLang="ja-JP" sz="2400" b="0" dirty="0" err="1">
                          <a:solidFill>
                            <a:srgbClr val="232B34"/>
                          </a:solidFill>
                          <a:latin typeface="Yu Gothic"/>
                          <a:ea typeface="Yu Gothic"/>
                        </a:rPr>
                        <a:t>μ</a:t>
                      </a:r>
                      <a:r>
                        <a:rPr sz="2400" b="0" dirty="0" err="1">
                          <a:solidFill>
                            <a:srgbClr val="232B34"/>
                          </a:solidFill>
                          <a:latin typeface="Yu Gothic"/>
                          <a:ea typeface="Yu Gothic"/>
                        </a:rPr>
                        <a:t>rad</a:t>
                      </a:r>
                      <a:r>
                        <a:rPr lang="ja-JP" altLang="en-US" sz="2400" b="0" dirty="0">
                          <a:solidFill>
                            <a:srgbClr val="232B34"/>
                          </a:solidFill>
                          <a:latin typeface="Yu Gothic"/>
                          <a:ea typeface="Yu Gothic"/>
                        </a:rPr>
                        <a:t>（本研究の解析値）</a:t>
                      </a:r>
                      <a:endParaRPr sz="2400" b="0" dirty="0">
                        <a:solidFill>
                          <a:srgbClr val="232B34"/>
                        </a:solidFill>
                        <a:latin typeface="Yu Gothic"/>
                        <a:ea typeface="Yu Gothic"/>
                      </a:endParaRPr>
                    </a:p>
                  </a:txBody>
                  <a:tcPr marL="128016" marR="128016" anchor="ctr">
                    <a:solidFill>
                      <a:schemeClr val="accent6">
                        <a:lumMod val="20000"/>
                        <a:lumOff val="80000"/>
                      </a:schemeClr>
                    </a:solidFill>
                  </a:tcPr>
                </a:tc>
                <a:tc>
                  <a:txBody>
                    <a:bodyPr/>
                    <a:lstStyle/>
                    <a:p>
                      <a:pPr algn="ctr">
                        <a:spcAft>
                          <a:spcPts val="0"/>
                        </a:spcAft>
                      </a:pPr>
                      <a:r>
                        <a:rPr sz="2400" b="0" dirty="0" err="1">
                          <a:solidFill>
                            <a:srgbClr val="232B34"/>
                          </a:solidFill>
                          <a:latin typeface="Yu Gothic"/>
                          <a:ea typeface="Yu Gothic"/>
                        </a:rPr>
                        <a:t>軌道周期（</a:t>
                      </a:r>
                      <a:r>
                        <a:rPr lang="en-US" sz="2400" b="0" dirty="0" err="1">
                          <a:solidFill>
                            <a:srgbClr val="232B34"/>
                          </a:solidFill>
                          <a:latin typeface="Yu Gothic"/>
                          <a:ea typeface="Yu Gothic"/>
                        </a:rPr>
                        <a:t>LEO</a:t>
                      </a:r>
                      <a:r>
                        <a:rPr lang="ja-JP" altLang="en-US" sz="2400" b="0" dirty="0">
                          <a:solidFill>
                            <a:srgbClr val="232B34"/>
                          </a:solidFill>
                          <a:latin typeface="Yu Gothic"/>
                          <a:ea typeface="Yu Gothic"/>
                        </a:rPr>
                        <a:t>なら</a:t>
                      </a:r>
                      <a:r>
                        <a:rPr sz="2400" b="0" dirty="0">
                          <a:solidFill>
                            <a:srgbClr val="232B34"/>
                          </a:solidFill>
                          <a:latin typeface="Yu Gothic"/>
                          <a:ea typeface="Yu Gothic"/>
                        </a:rPr>
                        <a:t>約100分）</a:t>
                      </a:r>
                    </a:p>
                  </a:txBody>
                  <a:tcPr marL="128016" marR="128016" anchor="ctr">
                    <a:solidFill>
                      <a:schemeClr val="accent6">
                        <a:lumMod val="20000"/>
                        <a:lumOff val="80000"/>
                      </a:schemeClr>
                    </a:solidFill>
                  </a:tcPr>
                </a:tc>
                <a:extLst>
                  <a:ext uri="{0D108BD9-81ED-4DB2-BD59-A6C34878D82A}">
                    <a16:rowId xmlns:a16="http://schemas.microsoft.com/office/drawing/2014/main" val="10001"/>
                  </a:ext>
                </a:extLst>
              </a:tr>
              <a:tr h="1024127">
                <a:tc>
                  <a:txBody>
                    <a:bodyPr/>
                    <a:lstStyle/>
                    <a:p>
                      <a:pPr algn="l">
                        <a:spcAft>
                          <a:spcPts val="0"/>
                        </a:spcAft>
                      </a:pPr>
                      <a:r>
                        <a:rPr sz="2400" b="0" dirty="0" err="1">
                          <a:solidFill>
                            <a:srgbClr val="232B34"/>
                          </a:solidFill>
                          <a:latin typeface="Yu Gothic"/>
                          <a:ea typeface="Yu Gothic"/>
                        </a:rPr>
                        <a:t>軌道予測</a:t>
                      </a:r>
                      <a:endParaRPr sz="2400" b="0" dirty="0">
                        <a:solidFill>
                          <a:srgbClr val="232B34"/>
                        </a:solidFill>
                        <a:latin typeface="Yu Gothic"/>
                        <a:ea typeface="Yu Gothic"/>
                      </a:endParaRPr>
                    </a:p>
                  </a:txBody>
                  <a:tcPr marL="128016" marR="128016" anchor="ctr">
                    <a:solidFill>
                      <a:schemeClr val="accent6">
                        <a:lumMod val="20000"/>
                        <a:lumOff val="80000"/>
                      </a:schemeClr>
                    </a:solidFill>
                  </a:tcPr>
                </a:tc>
                <a:tc>
                  <a:txBody>
                    <a:bodyPr/>
                    <a:lstStyle/>
                    <a:p>
                      <a:pPr algn="ctr">
                        <a:spcAft>
                          <a:spcPts val="0"/>
                        </a:spcAft>
                      </a:pPr>
                      <a:r>
                        <a:rPr sz="2400" b="0" dirty="0" err="1">
                          <a:solidFill>
                            <a:srgbClr val="232B34"/>
                          </a:solidFill>
                          <a:latin typeface="Yu Gothic"/>
                          <a:ea typeface="Yu Gothic"/>
                        </a:rPr>
                        <a:t>数百</a:t>
                      </a:r>
                      <a:r>
                        <a:rPr sz="2400" b="0" dirty="0">
                          <a:solidFill>
                            <a:srgbClr val="232B34"/>
                          </a:solidFill>
                          <a:latin typeface="Yu Gothic"/>
                          <a:ea typeface="Yu Gothic"/>
                        </a:rPr>
                        <a:t> µrad</a:t>
                      </a:r>
                      <a:r>
                        <a:rPr lang="ja-JP" altLang="en-US" sz="2400" b="0" dirty="0">
                          <a:solidFill>
                            <a:srgbClr val="232B34"/>
                          </a:solidFill>
                          <a:latin typeface="Yu Gothic"/>
                          <a:ea typeface="Yu Gothic"/>
                        </a:rPr>
                        <a:t>（</a:t>
                      </a:r>
                      <a:r>
                        <a:rPr lang="en-US" altLang="ja-JP" sz="2400" b="0" dirty="0">
                          <a:solidFill>
                            <a:srgbClr val="232B34"/>
                          </a:solidFill>
                          <a:latin typeface="Yu Gothic"/>
                          <a:ea typeface="Yu Gothic"/>
                        </a:rPr>
                        <a:t>TLE</a:t>
                      </a:r>
                      <a:r>
                        <a:rPr lang="ja-JP" altLang="en-US" sz="2400" b="0" dirty="0">
                          <a:solidFill>
                            <a:srgbClr val="232B34"/>
                          </a:solidFill>
                          <a:latin typeface="Yu Gothic"/>
                          <a:ea typeface="Yu Gothic"/>
                        </a:rPr>
                        <a:t>伝播 </a:t>
                      </a:r>
                      <a:r>
                        <a:rPr lang="en-US" altLang="ja-JP" sz="2400" b="0" dirty="0">
                          <a:solidFill>
                            <a:srgbClr val="232B34"/>
                          </a:solidFill>
                          <a:latin typeface="Yu Gothic"/>
                          <a:ea typeface="Yu Gothic"/>
                        </a:rPr>
                        <a:t>vs </a:t>
                      </a:r>
                      <a:r>
                        <a:rPr lang="ja-JP" altLang="en-US" sz="2400" b="0" dirty="0">
                          <a:solidFill>
                            <a:srgbClr val="232B34"/>
                          </a:solidFill>
                          <a:latin typeface="Yu Gothic"/>
                          <a:ea typeface="Yu Gothic"/>
                        </a:rPr>
                        <a:t>高精度</a:t>
                      </a:r>
                      <a:r>
                        <a:rPr lang="en-US" altLang="ja-JP" sz="2400" b="0" dirty="0">
                          <a:solidFill>
                            <a:srgbClr val="232B34"/>
                          </a:solidFill>
                          <a:latin typeface="Yu Gothic"/>
                          <a:ea typeface="Yu Gothic"/>
                        </a:rPr>
                        <a:t>GPS</a:t>
                      </a:r>
                      <a:r>
                        <a:rPr lang="ja-JP" altLang="en-US" sz="2400" b="0" dirty="0">
                          <a:solidFill>
                            <a:srgbClr val="232B34"/>
                          </a:solidFill>
                          <a:latin typeface="Yu Gothic"/>
                          <a:ea typeface="Yu Gothic"/>
                        </a:rPr>
                        <a:t>暦）</a:t>
                      </a:r>
                      <a:endParaRPr sz="2400" b="0" dirty="0">
                        <a:solidFill>
                          <a:srgbClr val="232B34"/>
                        </a:solidFill>
                        <a:latin typeface="Yu Gothic"/>
                        <a:ea typeface="Yu Gothic"/>
                      </a:endParaRPr>
                    </a:p>
                  </a:txBody>
                  <a:tcPr marL="128016" marR="128016" anchor="ctr">
                    <a:solidFill>
                      <a:schemeClr val="accent6">
                        <a:lumMod val="20000"/>
                        <a:lumOff val="80000"/>
                      </a:schemeClr>
                    </a:solidFill>
                  </a:tcPr>
                </a:tc>
                <a:tc>
                  <a:txBody>
                    <a:bodyPr/>
                    <a:lstStyle/>
                    <a:p>
                      <a:pPr algn="ctr">
                        <a:spcAft>
                          <a:spcPts val="0"/>
                        </a:spcAft>
                      </a:pPr>
                      <a:r>
                        <a:rPr sz="2400" b="0" dirty="0" err="1">
                          <a:solidFill>
                            <a:srgbClr val="232B34"/>
                          </a:solidFill>
                          <a:latin typeface="Yu Gothic"/>
                          <a:ea typeface="Yu Gothic"/>
                        </a:rPr>
                        <a:t>軌道周期（</a:t>
                      </a:r>
                      <a:r>
                        <a:rPr lang="en-US" sz="2400" b="0" dirty="0" err="1">
                          <a:solidFill>
                            <a:srgbClr val="232B34"/>
                          </a:solidFill>
                          <a:latin typeface="Yu Gothic"/>
                          <a:ea typeface="Yu Gothic"/>
                        </a:rPr>
                        <a:t>LEO</a:t>
                      </a:r>
                      <a:r>
                        <a:rPr lang="ja-JP" altLang="en-US" sz="2400" b="0" dirty="0">
                          <a:solidFill>
                            <a:srgbClr val="232B34"/>
                          </a:solidFill>
                          <a:latin typeface="Yu Gothic"/>
                          <a:ea typeface="Yu Gothic"/>
                        </a:rPr>
                        <a:t>なら</a:t>
                      </a:r>
                      <a:r>
                        <a:rPr sz="2400" b="0" dirty="0">
                          <a:solidFill>
                            <a:srgbClr val="232B34"/>
                          </a:solidFill>
                          <a:latin typeface="Yu Gothic"/>
                          <a:ea typeface="Yu Gothic"/>
                        </a:rPr>
                        <a:t>約100分）</a:t>
                      </a:r>
                    </a:p>
                  </a:txBody>
                  <a:tcPr marL="128016" marR="128016" anchor="ctr">
                    <a:solidFill>
                      <a:schemeClr val="accent6">
                        <a:lumMod val="20000"/>
                        <a:lumOff val="80000"/>
                      </a:schemeClr>
                    </a:solidFill>
                  </a:tcPr>
                </a:tc>
                <a:extLst>
                  <a:ext uri="{0D108BD9-81ED-4DB2-BD59-A6C34878D82A}">
                    <a16:rowId xmlns:a16="http://schemas.microsoft.com/office/drawing/2014/main" val="10002"/>
                  </a:ext>
                </a:extLst>
              </a:tr>
              <a:tr h="1024127">
                <a:tc>
                  <a:txBody>
                    <a:bodyPr/>
                    <a:lstStyle/>
                    <a:p>
                      <a:pPr algn="l">
                        <a:spcAft>
                          <a:spcPts val="0"/>
                        </a:spcAft>
                      </a:pPr>
                      <a:r>
                        <a:rPr sz="2400" b="0">
                          <a:solidFill>
                            <a:srgbClr val="232B34"/>
                          </a:solidFill>
                          <a:latin typeface="Yu Gothic"/>
                          <a:ea typeface="Yu Gothic"/>
                        </a:rPr>
                        <a:t>姿勢・較正済みアライメント</a:t>
                      </a:r>
                    </a:p>
                  </a:txBody>
                  <a:tcPr marL="128016" marR="128016" anchor="ctr">
                    <a:solidFill>
                      <a:srgbClr val="FFFFFF"/>
                    </a:solidFill>
                  </a:tcPr>
                </a:tc>
                <a:tc>
                  <a:txBody>
                    <a:bodyPr/>
                    <a:lstStyle/>
                    <a:p>
                      <a:pPr algn="ctr">
                        <a:spcAft>
                          <a:spcPts val="0"/>
                        </a:spcAft>
                      </a:pPr>
                      <a:r>
                        <a:rPr sz="2400" b="0">
                          <a:solidFill>
                            <a:srgbClr val="232B34"/>
                          </a:solidFill>
                          <a:latin typeface="Yu Gothic"/>
                          <a:ea typeface="Yu Gothic"/>
                        </a:rPr>
                        <a:t>数十 µrad 級</a:t>
                      </a:r>
                    </a:p>
                  </a:txBody>
                  <a:tcPr marL="128016" marR="128016" anchor="ctr">
                    <a:solidFill>
                      <a:srgbClr val="FFFFFF"/>
                    </a:solidFill>
                  </a:tcPr>
                </a:tc>
                <a:tc>
                  <a:txBody>
                    <a:bodyPr/>
                    <a:lstStyle/>
                    <a:p>
                      <a:pPr algn="ctr">
                        <a:spcAft>
                          <a:spcPts val="0"/>
                        </a:spcAft>
                      </a:pPr>
                      <a:r>
                        <a:rPr sz="2400" b="0">
                          <a:solidFill>
                            <a:srgbClr val="232B34"/>
                          </a:solidFill>
                          <a:latin typeface="Yu Gothic"/>
                          <a:ea typeface="Yu Gothic"/>
                        </a:rPr>
                        <a:t>DC〜広帯域</a:t>
                      </a:r>
                    </a:p>
                  </a:txBody>
                  <a:tcPr marL="128016" marR="128016" anchor="ctr">
                    <a:solidFill>
                      <a:srgbClr val="EBF6FB"/>
                    </a:solidFill>
                  </a:tcPr>
                </a:tc>
                <a:extLst>
                  <a:ext uri="{0D108BD9-81ED-4DB2-BD59-A6C34878D82A}">
                    <a16:rowId xmlns:a16="http://schemas.microsoft.com/office/drawing/2014/main" val="10003"/>
                  </a:ext>
                </a:extLst>
              </a:tr>
              <a:tr h="1024127">
                <a:tc>
                  <a:txBody>
                    <a:bodyPr/>
                    <a:lstStyle/>
                    <a:p>
                      <a:pPr algn="l">
                        <a:spcAft>
                          <a:spcPts val="0"/>
                        </a:spcAft>
                      </a:pPr>
                      <a:r>
                        <a:rPr sz="2400" b="0">
                          <a:solidFill>
                            <a:srgbClr val="232B34"/>
                          </a:solidFill>
                          <a:latin typeface="Yu Gothic"/>
                          <a:ea typeface="Yu Gothic"/>
                        </a:rPr>
                        <a:t>機械振動</a:t>
                      </a:r>
                    </a:p>
                  </a:txBody>
                  <a:tcPr marL="128016" marR="128016" anchor="ctr">
                    <a:solidFill>
                      <a:srgbClr val="F4F6F8"/>
                    </a:solidFill>
                  </a:tcPr>
                </a:tc>
                <a:tc>
                  <a:txBody>
                    <a:bodyPr/>
                    <a:lstStyle/>
                    <a:p>
                      <a:pPr algn="ctr">
                        <a:spcAft>
                          <a:spcPts val="0"/>
                        </a:spcAft>
                      </a:pPr>
                      <a:r>
                        <a:rPr sz="2400" b="0">
                          <a:solidFill>
                            <a:srgbClr val="232B34"/>
                          </a:solidFill>
                          <a:latin typeface="Yu Gothic"/>
                          <a:ea typeface="Yu Gothic"/>
                        </a:rPr>
                        <a:t>数〜数十 µrad</a:t>
                      </a:r>
                    </a:p>
                  </a:txBody>
                  <a:tcPr marL="128016" marR="128016" anchor="ctr">
                    <a:solidFill>
                      <a:srgbClr val="F4F6F8"/>
                    </a:solidFill>
                  </a:tcPr>
                </a:tc>
                <a:tc>
                  <a:txBody>
                    <a:bodyPr/>
                    <a:lstStyle/>
                    <a:p>
                      <a:pPr algn="ctr">
                        <a:spcAft>
                          <a:spcPts val="0"/>
                        </a:spcAft>
                      </a:pPr>
                      <a:r>
                        <a:rPr sz="2400" b="0" dirty="0" err="1">
                          <a:solidFill>
                            <a:srgbClr val="232B34"/>
                          </a:solidFill>
                          <a:latin typeface="Yu Gothic"/>
                          <a:ea typeface="Yu Gothic"/>
                        </a:rPr>
                        <a:t>高周波（捕捉後の精追尾側</a:t>
                      </a:r>
                      <a:r>
                        <a:rPr sz="2400" b="0" dirty="0">
                          <a:solidFill>
                            <a:srgbClr val="232B34"/>
                          </a:solidFill>
                          <a:latin typeface="Yu Gothic"/>
                          <a:ea typeface="Yu Gothic"/>
                        </a:rPr>
                        <a:t>）</a:t>
                      </a:r>
                    </a:p>
                  </a:txBody>
                  <a:tcPr marL="128016" marR="128016" anchor="ctr">
                    <a:solidFill>
                      <a:srgbClr val="EBF6FB"/>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1463040" y="8458200"/>
            <a:ext cx="21396960" cy="344710"/>
          </a:xfrm>
          <a:prstGeom prst="rect">
            <a:avLst/>
          </a:prstGeom>
          <a:noFill/>
        </p:spPr>
        <p:txBody>
          <a:bodyPr wrap="square" lIns="45720" tIns="18288" rIns="45720" bIns="18288" anchor="t">
            <a:spAutoFit/>
          </a:bodyPr>
          <a:lstStyle/>
          <a:p>
            <a:pPr algn="l">
              <a:spcAft>
                <a:spcPts val="0"/>
              </a:spcAft>
            </a:pPr>
            <a:r>
              <a:rPr sz="2000" b="0" dirty="0">
                <a:solidFill>
                  <a:srgbClr val="666F79"/>
                </a:solidFill>
                <a:latin typeface="Yu Gothic"/>
                <a:ea typeface="Yu Gothic"/>
              </a:rPr>
              <a:t>※ </a:t>
            </a:r>
            <a:r>
              <a:rPr sz="2000" b="0" dirty="0" err="1">
                <a:solidFill>
                  <a:srgbClr val="666F79"/>
                </a:solidFill>
                <a:latin typeface="Yu Gothic"/>
                <a:ea typeface="Yu Gothic"/>
              </a:rPr>
              <a:t>熱</a:t>
            </a:r>
            <a:r>
              <a:rPr lang="en-US" sz="2000" b="0" dirty="0" err="1">
                <a:solidFill>
                  <a:srgbClr val="666F79"/>
                </a:solidFill>
                <a:latin typeface="Yu Gothic"/>
                <a:ea typeface="Yu Gothic"/>
              </a:rPr>
              <a:t>LOS</a:t>
            </a:r>
            <a:r>
              <a:rPr lang="ja-JP" altLang="en-US" sz="2000" b="0" dirty="0">
                <a:solidFill>
                  <a:srgbClr val="666F79"/>
                </a:solidFill>
                <a:latin typeface="Yu Gothic"/>
                <a:ea typeface="Yu Gothic"/>
              </a:rPr>
              <a:t>と軌道予測誤差</a:t>
            </a:r>
            <a:r>
              <a:rPr sz="2000" b="0" dirty="0" err="1">
                <a:solidFill>
                  <a:srgbClr val="666F79"/>
                </a:solidFill>
                <a:latin typeface="Yu Gothic"/>
                <a:ea typeface="Yu Gothic"/>
              </a:rPr>
              <a:t>のみ本研究の解析値。ほかは文献と一般的な値のオーダ</a:t>
            </a:r>
            <a:r>
              <a:rPr sz="2000" b="0" dirty="0">
                <a:solidFill>
                  <a:srgbClr val="666F79"/>
                </a:solidFill>
                <a:latin typeface="Yu Gothic"/>
                <a:ea typeface="Yu Gothic"/>
              </a:rPr>
              <a:t>ー</a:t>
            </a:r>
          </a:p>
        </p:txBody>
      </p:sp>
      <p:sp>
        <p:nvSpPr>
          <p:cNvPr id="7" name="Rounded Rectangle 6"/>
          <p:cNvSpPr/>
          <p:nvPr/>
        </p:nvSpPr>
        <p:spPr>
          <a:xfrm>
            <a:off x="1463040" y="9418320"/>
            <a:ext cx="21396960" cy="3785616"/>
          </a:xfrm>
          <a:prstGeom prst="roundRect">
            <a:avLst/>
          </a:prstGeom>
          <a:solidFill>
            <a:srgbClr val="EBF6FB"/>
          </a:solidFill>
          <a:ln w="22860">
            <a:solidFill>
              <a:srgbClr val="5BB5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828800" y="9646920"/>
            <a:ext cx="20665440" cy="1185389"/>
          </a:xfrm>
          <a:prstGeom prst="rect">
            <a:avLst/>
          </a:prstGeom>
          <a:noFill/>
        </p:spPr>
        <p:txBody>
          <a:bodyPr wrap="square" lIns="45720" tIns="18288" rIns="45720" bIns="18288" anchor="t">
            <a:spAutoFit/>
          </a:bodyPr>
          <a:lstStyle/>
          <a:p>
            <a:pPr algn="ctr">
              <a:lnSpc>
                <a:spcPct val="120000"/>
              </a:lnSpc>
              <a:spcAft>
                <a:spcPts val="0"/>
              </a:spcAft>
            </a:pPr>
            <a:r>
              <a:rPr sz="3200" dirty="0" err="1">
                <a:solidFill>
                  <a:srgbClr val="082B52"/>
                </a:solidFill>
                <a:latin typeface="Yu Gothic"/>
                <a:ea typeface="Yu Gothic"/>
              </a:rPr>
              <a:t>熱と軌道予測は、どちらも</a:t>
            </a:r>
            <a:r>
              <a:rPr lang="ja-JP" altLang="en-US" sz="3200" dirty="0">
                <a:solidFill>
                  <a:srgbClr val="082B52"/>
                </a:solidFill>
                <a:latin typeface="Yu Gothic"/>
                <a:ea typeface="Yu Gothic"/>
              </a:rPr>
              <a:t>同程度</a:t>
            </a:r>
            <a:r>
              <a:rPr sz="3200" dirty="0" err="1">
                <a:solidFill>
                  <a:srgbClr val="082B52"/>
                </a:solidFill>
                <a:latin typeface="Yu Gothic"/>
                <a:ea typeface="Yu Gothic"/>
              </a:rPr>
              <a:t>の軌道周期をもつ</a:t>
            </a:r>
            <a:endParaRPr sz="3200" dirty="0">
              <a:solidFill>
                <a:srgbClr val="082B52"/>
              </a:solidFill>
              <a:latin typeface="Yu Gothic"/>
              <a:ea typeface="Yu Gothic"/>
            </a:endParaRPr>
          </a:p>
          <a:p>
            <a:pPr algn="ctr">
              <a:lnSpc>
                <a:spcPct val="120000"/>
              </a:lnSpc>
              <a:spcAft>
                <a:spcPts val="0"/>
              </a:spcAft>
            </a:pPr>
            <a:r>
              <a:rPr sz="3200" dirty="0" err="1">
                <a:solidFill>
                  <a:srgbClr val="082B52"/>
                </a:solidFill>
                <a:latin typeface="Yu Gothic"/>
                <a:ea typeface="Yu Gothic"/>
              </a:rPr>
              <a:t>捕捉後の残差を周波数で分けても、熱だけを取り出すことはできない</a:t>
            </a:r>
            <a:endParaRPr sz="3200" dirty="0">
              <a:solidFill>
                <a:srgbClr val="082B52"/>
              </a:solidFill>
              <a:latin typeface="Yu Gothic"/>
              <a:ea typeface="Yu Gothic"/>
            </a:endParaRPr>
          </a:p>
        </p:txBody>
      </p:sp>
      <p:sp>
        <p:nvSpPr>
          <p:cNvPr id="9" name="TextBox 8"/>
          <p:cNvSpPr txBox="1"/>
          <p:nvPr/>
        </p:nvSpPr>
        <p:spPr>
          <a:xfrm>
            <a:off x="1463040" y="11772900"/>
            <a:ext cx="21396960" cy="1021818"/>
          </a:xfrm>
          <a:prstGeom prst="rect">
            <a:avLst/>
          </a:prstGeom>
          <a:noFill/>
        </p:spPr>
        <p:txBody>
          <a:bodyPr wrap="square" lIns="45720" tIns="18288" rIns="45720" bIns="18288" anchor="t">
            <a:spAutoFit/>
          </a:bodyPr>
          <a:lstStyle/>
          <a:p>
            <a:pPr algn="ctr">
              <a:spcAft>
                <a:spcPts val="0"/>
              </a:spcAft>
            </a:pPr>
            <a:r>
              <a:rPr sz="3200" b="1" dirty="0" err="1">
                <a:latin typeface="Yu Gothic"/>
                <a:ea typeface="Yu Gothic"/>
              </a:rPr>
              <a:t>観測から</a:t>
            </a:r>
            <a:r>
              <a:rPr lang="ja-JP" altLang="en-US" sz="3200" b="1" dirty="0">
                <a:latin typeface="Yu Gothic"/>
                <a:ea typeface="Yu Gothic"/>
              </a:rPr>
              <a:t>事後的に</a:t>
            </a:r>
            <a:r>
              <a:rPr sz="3200" b="1" dirty="0" err="1">
                <a:latin typeface="Yu Gothic"/>
                <a:ea typeface="Yu Gothic"/>
              </a:rPr>
              <a:t>熱を分離するのではなく</a:t>
            </a:r>
            <a:r>
              <a:rPr sz="3200" b="1" dirty="0">
                <a:latin typeface="Yu Gothic"/>
                <a:ea typeface="Yu Gothic"/>
              </a:rPr>
              <a:t>、</a:t>
            </a:r>
            <a:endParaRPr lang="en-US" sz="3200" b="1" dirty="0">
              <a:latin typeface="Yu Gothic"/>
              <a:ea typeface="Yu Gothic"/>
            </a:endParaRPr>
          </a:p>
          <a:p>
            <a:pPr algn="ctr">
              <a:spcAft>
                <a:spcPts val="0"/>
              </a:spcAft>
            </a:pPr>
            <a:r>
              <a:rPr sz="3200" b="1" dirty="0" err="1">
                <a:latin typeface="Yu Gothic"/>
                <a:ea typeface="Yu Gothic"/>
              </a:rPr>
              <a:t>温度と運用状態という別の入力</a:t>
            </a:r>
            <a:r>
              <a:rPr lang="ja-JP" altLang="en-US" sz="3200" b="1" dirty="0">
                <a:latin typeface="Yu Gothic"/>
                <a:ea typeface="Yu Gothic"/>
              </a:rPr>
              <a:t>を用いて、</a:t>
            </a:r>
            <a:r>
              <a:rPr sz="3200" b="1" dirty="0" err="1">
                <a:latin typeface="Yu Gothic"/>
                <a:ea typeface="Yu Gothic"/>
              </a:rPr>
              <a:t>捕捉の前に熱の分だけ引く</a:t>
            </a:r>
            <a:endParaRPr sz="3200" b="1" dirty="0">
              <a:latin typeface="Yu Gothic"/>
              <a:ea typeface="Yu Gothic"/>
            </a:endParaRPr>
          </a:p>
        </p:txBody>
      </p:sp>
      <p:sp>
        <p:nvSpPr>
          <p:cNvPr id="11" name="矢印: 右 10">
            <a:extLst>
              <a:ext uri="{FF2B5EF4-FFF2-40B4-BE49-F238E27FC236}">
                <a16:creationId xmlns:a16="http://schemas.microsoft.com/office/drawing/2014/main" id="{94240433-D79D-CFAB-63F5-3885639F5032}"/>
              </a:ext>
            </a:extLst>
          </p:cNvPr>
          <p:cNvSpPr/>
          <p:nvPr/>
        </p:nvSpPr>
        <p:spPr>
          <a:xfrm rot="5400000">
            <a:off x="11918047" y="11028683"/>
            <a:ext cx="685800" cy="547842"/>
          </a:xfrm>
          <a:prstGeom prst="rightArrow">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45720" tIns="18288" rIns="45720" bIns="18288" anchor="ctr">
            <a:spAutoFit/>
          </a:bodyPr>
          <a:lstStyle/>
          <a:p>
            <a:pPr algn="l">
              <a:spcAft>
                <a:spcPts val="0"/>
              </a:spcAft>
            </a:pPr>
            <a:r>
              <a:rPr sz="2000" b="0">
                <a:solidFill>
                  <a:srgbClr val="666F79"/>
                </a:solidFill>
                <a:latin typeface="Yu Gothic"/>
                <a:ea typeface="Yu Gothic"/>
              </a:rPr>
              <a:t>背景</a:t>
            </a:r>
          </a:p>
        </p:txBody>
      </p:sp>
      <p:sp>
        <p:nvSpPr>
          <p:cNvPr id="3" name="TextBox 2"/>
          <p:cNvSpPr txBox="1"/>
          <p:nvPr/>
        </p:nvSpPr>
        <p:spPr>
          <a:xfrm>
            <a:off x="1536192" y="1343202"/>
            <a:ext cx="22037040" cy="1099212"/>
          </a:xfrm>
          <a:prstGeom prst="rect">
            <a:avLst/>
          </a:prstGeom>
          <a:noFill/>
        </p:spPr>
        <p:txBody>
          <a:bodyPr wrap="square" lIns="45720" tIns="18288" rIns="45720" bIns="18288" anchor="ctr">
            <a:spAutoFit/>
          </a:bodyPr>
          <a:lstStyle/>
          <a:p>
            <a:pPr algn="l">
              <a:lnSpc>
                <a:spcPct val="110000"/>
              </a:lnSpc>
              <a:spcAft>
                <a:spcPts val="0"/>
              </a:spcAft>
            </a:pPr>
            <a:endParaRPr lang="en-US" sz="3200" b="1" dirty="0">
              <a:solidFill>
                <a:srgbClr val="082B52"/>
              </a:solidFill>
              <a:latin typeface="Yu Gothic"/>
              <a:ea typeface="Yu Gothic"/>
            </a:endParaRPr>
          </a:p>
          <a:p>
            <a:pPr algn="l">
              <a:lnSpc>
                <a:spcPct val="110000"/>
              </a:lnSpc>
              <a:spcAft>
                <a:spcPts val="0"/>
              </a:spcAft>
            </a:pPr>
            <a:r>
              <a:rPr lang="ja-JP" altLang="en-US" sz="3200" b="1" dirty="0">
                <a:solidFill>
                  <a:srgbClr val="082B52"/>
                </a:solidFill>
                <a:latin typeface="Yu Gothic"/>
                <a:ea typeface="Yu Gothic"/>
              </a:rPr>
              <a:t>熱ひずみによる</a:t>
            </a:r>
            <a:r>
              <a:rPr lang="en-US" altLang="ja-JP" sz="3200" b="1" dirty="0">
                <a:solidFill>
                  <a:srgbClr val="082B52"/>
                </a:solidFill>
                <a:latin typeface="Yu Gothic"/>
                <a:ea typeface="Yu Gothic"/>
              </a:rPr>
              <a:t>LOS</a:t>
            </a:r>
            <a:r>
              <a:rPr lang="ja-JP" altLang="en-US" sz="3200" b="1" dirty="0">
                <a:solidFill>
                  <a:srgbClr val="082B52"/>
                </a:solidFill>
                <a:latin typeface="Yu Gothic"/>
                <a:ea typeface="Yu Gothic"/>
              </a:rPr>
              <a:t>誤差予測の先行研究と本研究の比較</a:t>
            </a:r>
            <a:endParaRPr sz="3200" b="1" dirty="0">
              <a:solidFill>
                <a:srgbClr val="082B52"/>
              </a:solidFill>
              <a:latin typeface="Yu Gothic"/>
              <a:ea typeface="Yu Gothic"/>
            </a:endParaRPr>
          </a:p>
        </p:txBody>
      </p:sp>
      <p:sp>
        <p:nvSpPr>
          <p:cNvPr id="4" name="TextBox 3"/>
          <p:cNvSpPr txBox="1"/>
          <p:nvPr/>
        </p:nvSpPr>
        <p:spPr>
          <a:xfrm>
            <a:off x="21762720" y="12819888"/>
            <a:ext cx="2011680" cy="384048"/>
          </a:xfrm>
          <a:prstGeom prst="rect">
            <a:avLst/>
          </a:prstGeom>
          <a:noFill/>
        </p:spPr>
        <p:txBody>
          <a:bodyPr wrap="square" lIns="45720" tIns="18288" rIns="45720" bIns="18288" anchor="t">
            <a:spAutoFit/>
          </a:bodyPr>
          <a:lstStyle/>
          <a:p>
            <a:pPr algn="r">
              <a:spcAft>
                <a:spcPts val="0"/>
              </a:spcAft>
            </a:pPr>
            <a:r>
              <a:rPr sz="1800" b="0">
                <a:solidFill>
                  <a:srgbClr val="666F79"/>
                </a:solidFill>
                <a:latin typeface="Yu Gothic"/>
                <a:ea typeface="Yu Gothic"/>
              </a:rPr>
              <a:t>5</a:t>
            </a:r>
          </a:p>
        </p:txBody>
      </p:sp>
      <p:sp>
        <p:nvSpPr>
          <p:cNvPr id="8" name="TextBox 7"/>
          <p:cNvSpPr txBox="1"/>
          <p:nvPr/>
        </p:nvSpPr>
        <p:spPr>
          <a:xfrm>
            <a:off x="1536192" y="11721740"/>
            <a:ext cx="21396960" cy="898708"/>
          </a:xfrm>
          <a:prstGeom prst="rect">
            <a:avLst/>
          </a:prstGeom>
          <a:noFill/>
        </p:spPr>
        <p:txBody>
          <a:bodyPr wrap="square" lIns="45720" tIns="18288" rIns="45720" bIns="18288" anchor="t">
            <a:spAutoFit/>
          </a:bodyPr>
          <a:lstStyle/>
          <a:p>
            <a:pPr algn="ctr">
              <a:lnSpc>
                <a:spcPct val="100000"/>
              </a:lnSpc>
              <a:spcAft>
                <a:spcPts val="0"/>
              </a:spcAft>
            </a:pPr>
            <a:r>
              <a:rPr lang="ja-JP" altLang="ja-JP" sz="2800" b="1" dirty="0"/>
              <a:t>光通信では熱ひずみの低減・評価，地球観測では熱LOSの予測・補正がそれぞれ研究されてきた。</a:t>
            </a:r>
            <a:br>
              <a:rPr lang="ja-JP" altLang="ja-JP" sz="2800" dirty="0"/>
            </a:br>
            <a:r>
              <a:rPr lang="ja-JP" altLang="ja-JP" sz="2800" b="1" dirty="0"/>
              <a:t>本研究は，衛星バスを介したSTT–LCT相対LOSの予測を粗捕捉時間の低減へ接続する。</a:t>
            </a:r>
            <a:endParaRPr lang="ja-JP" altLang="en-US" sz="2500" b="1" dirty="0">
              <a:solidFill>
                <a:srgbClr val="082B52"/>
              </a:solidFill>
              <a:latin typeface="Yu Gothic"/>
              <a:ea typeface="Yu Gothic"/>
            </a:endParaRPr>
          </a:p>
        </p:txBody>
      </p:sp>
      <p:graphicFrame>
        <p:nvGraphicFramePr>
          <p:cNvPr id="10" name="表 9">
            <a:extLst>
              <a:ext uri="{FF2B5EF4-FFF2-40B4-BE49-F238E27FC236}">
                <a16:creationId xmlns:a16="http://schemas.microsoft.com/office/drawing/2014/main" id="{A46055EF-9EAE-9D40-A161-EC7FBD1C0AFE}"/>
              </a:ext>
            </a:extLst>
          </p:cNvPr>
          <p:cNvGraphicFramePr>
            <a:graphicFrameLocks noGrp="1"/>
          </p:cNvGraphicFramePr>
          <p:nvPr>
            <p:extLst>
              <p:ext uri="{D42A27DB-BD31-4B8C-83A1-F6EECF244321}">
                <p14:modId xmlns:p14="http://schemas.microsoft.com/office/powerpoint/2010/main" val="2165500369"/>
              </p:ext>
            </p:extLst>
          </p:nvPr>
        </p:nvGraphicFramePr>
        <p:xfrm>
          <a:off x="2160290" y="3045590"/>
          <a:ext cx="20474920" cy="6989418"/>
        </p:xfrm>
        <a:graphic>
          <a:graphicData uri="http://schemas.openxmlformats.org/drawingml/2006/table">
            <a:tbl>
              <a:tblPr firstRow="1" bandRow="1">
                <a:tableStyleId>{5C22544A-7EE6-4342-B048-85BDC9FD1C3A}</a:tableStyleId>
              </a:tblPr>
              <a:tblGrid>
                <a:gridCol w="5118730">
                  <a:extLst>
                    <a:ext uri="{9D8B030D-6E8A-4147-A177-3AD203B41FA5}">
                      <a16:colId xmlns:a16="http://schemas.microsoft.com/office/drawing/2014/main" val="1548032301"/>
                    </a:ext>
                  </a:extLst>
                </a:gridCol>
                <a:gridCol w="5118730">
                  <a:extLst>
                    <a:ext uri="{9D8B030D-6E8A-4147-A177-3AD203B41FA5}">
                      <a16:colId xmlns:a16="http://schemas.microsoft.com/office/drawing/2014/main" val="2689480544"/>
                    </a:ext>
                  </a:extLst>
                </a:gridCol>
                <a:gridCol w="5118730">
                  <a:extLst>
                    <a:ext uri="{9D8B030D-6E8A-4147-A177-3AD203B41FA5}">
                      <a16:colId xmlns:a16="http://schemas.microsoft.com/office/drawing/2014/main" val="3075504841"/>
                    </a:ext>
                  </a:extLst>
                </a:gridCol>
                <a:gridCol w="5118730">
                  <a:extLst>
                    <a:ext uri="{9D8B030D-6E8A-4147-A177-3AD203B41FA5}">
                      <a16:colId xmlns:a16="http://schemas.microsoft.com/office/drawing/2014/main" val="39855268"/>
                    </a:ext>
                  </a:extLst>
                </a:gridCol>
              </a:tblGrid>
              <a:tr h="649290">
                <a:tc>
                  <a:txBody>
                    <a:bodyPr/>
                    <a:lstStyle/>
                    <a:p>
                      <a:pPr>
                        <a:buNone/>
                      </a:pPr>
                      <a:r>
                        <a:rPr lang="ja-JP" altLang="en-US" sz="2800" b="0" dirty="0">
                          <a:solidFill>
                            <a:schemeClr val="bg1"/>
                          </a:solidFill>
                        </a:rPr>
                        <a:t>分野</a:t>
                      </a:r>
                      <a:endParaRPr lang="ja-JP" sz="2800" b="0" dirty="0">
                        <a:solidFill>
                          <a:schemeClr val="bg1"/>
                        </a:solidFill>
                      </a:endParaRPr>
                    </a:p>
                  </a:txBody>
                  <a:tcPr anchor="ctr">
                    <a:solidFill>
                      <a:schemeClr val="tx1"/>
                    </a:solidFill>
                  </a:tcPr>
                </a:tc>
                <a:tc>
                  <a:txBody>
                    <a:bodyPr/>
                    <a:lstStyle/>
                    <a:p>
                      <a:pPr>
                        <a:buNone/>
                      </a:pPr>
                      <a:r>
                        <a:rPr lang="ja-JP" sz="2800" b="0" dirty="0">
                          <a:solidFill>
                            <a:schemeClr val="tx1"/>
                          </a:solidFill>
                        </a:rPr>
                        <a:t>光通信</a:t>
                      </a:r>
                    </a:p>
                  </a:txBody>
                  <a:tcPr anchor="ctr">
                    <a:solidFill>
                      <a:schemeClr val="bg1">
                        <a:lumMod val="95000"/>
                      </a:schemeClr>
                    </a:solidFill>
                  </a:tcPr>
                </a:tc>
                <a:tc>
                  <a:txBody>
                    <a:bodyPr/>
                    <a:lstStyle/>
                    <a:p>
                      <a:pPr>
                        <a:buNone/>
                      </a:pPr>
                      <a:r>
                        <a:rPr lang="ja-JP" sz="2800" b="0" dirty="0">
                          <a:solidFill>
                            <a:schemeClr val="tx1"/>
                          </a:solidFill>
                        </a:rPr>
                        <a:t>地球観測・光学機器</a:t>
                      </a:r>
                    </a:p>
                  </a:txBody>
                  <a:tcPr anchor="ctr">
                    <a:solidFill>
                      <a:schemeClr val="bg1">
                        <a:lumMod val="85000"/>
                      </a:schemeClr>
                    </a:solidFill>
                  </a:tcPr>
                </a:tc>
                <a:tc>
                  <a:txBody>
                    <a:bodyPr/>
                    <a:lstStyle/>
                    <a:p>
                      <a:pPr>
                        <a:buNone/>
                      </a:pPr>
                      <a:r>
                        <a:rPr lang="ja-JP" sz="2800" b="0" dirty="0">
                          <a:solidFill>
                            <a:schemeClr val="tx1"/>
                          </a:solidFill>
                        </a:rPr>
                        <a:t>本研究</a:t>
                      </a:r>
                    </a:p>
                  </a:txBody>
                  <a:tcPr anchor="ctr">
                    <a:solidFill>
                      <a:schemeClr val="accent6">
                        <a:lumMod val="20000"/>
                        <a:lumOff val="80000"/>
                      </a:schemeClr>
                    </a:solidFill>
                  </a:tcPr>
                </a:tc>
                <a:extLst>
                  <a:ext uri="{0D108BD9-81ED-4DB2-BD59-A6C34878D82A}">
                    <a16:rowId xmlns:a16="http://schemas.microsoft.com/office/drawing/2014/main" val="1866067178"/>
                  </a:ext>
                </a:extLst>
              </a:tr>
              <a:tr h="2253419">
                <a:tc>
                  <a:txBody>
                    <a:bodyPr/>
                    <a:lstStyle/>
                    <a:p>
                      <a:pPr>
                        <a:buNone/>
                      </a:pPr>
                      <a:r>
                        <a:rPr lang="ja-JP" sz="2800" b="0" dirty="0">
                          <a:solidFill>
                            <a:schemeClr val="bg1"/>
                          </a:solidFill>
                        </a:rPr>
                        <a:t>熱ひずみへのアプローチ</a:t>
                      </a:r>
                    </a:p>
                  </a:txBody>
                  <a:tcPr anchor="ctr">
                    <a:solidFill>
                      <a:schemeClr val="tx1"/>
                    </a:solidFill>
                  </a:tcPr>
                </a:tc>
                <a:tc>
                  <a:txBody>
                    <a:bodyPr/>
                    <a:lstStyle/>
                    <a:p>
                      <a:pPr>
                        <a:buNone/>
                      </a:pPr>
                      <a:r>
                        <a:rPr lang="ja-JP" sz="2800" b="0" dirty="0">
                          <a:solidFill>
                            <a:schemeClr val="tx1"/>
                          </a:solidFill>
                        </a:rPr>
                        <a:t>構造・材料・搭載配置により熱変形を低減</a:t>
                      </a:r>
                      <a:br>
                        <a:rPr lang="ja-JP" sz="2800" b="0" dirty="0">
                          <a:solidFill>
                            <a:schemeClr val="tx1"/>
                          </a:solidFill>
                        </a:rPr>
                      </a:br>
                      <a:r>
                        <a:rPr lang="ja-JP" sz="2800" b="0" dirty="0">
                          <a:solidFill>
                            <a:schemeClr val="tx1"/>
                          </a:solidFill>
                        </a:rPr>
                        <a:t>FEMによる熱指向誤差の評価</a:t>
                      </a:r>
                    </a:p>
                  </a:txBody>
                  <a:tcPr anchor="ctr">
                    <a:solidFill>
                      <a:schemeClr val="bg1">
                        <a:lumMod val="95000"/>
                      </a:schemeClr>
                    </a:solidFill>
                  </a:tcPr>
                </a:tc>
                <a:tc>
                  <a:txBody>
                    <a:bodyPr/>
                    <a:lstStyle/>
                    <a:p>
                      <a:pPr>
                        <a:buNone/>
                      </a:pPr>
                      <a:r>
                        <a:rPr lang="ja-JP" sz="2800" b="0" dirty="0">
                          <a:solidFill>
                            <a:schemeClr val="tx1"/>
                          </a:solidFill>
                        </a:rPr>
                        <a:t>温度・軌道位相・観測幾何からLOS変動を予測・補正</a:t>
                      </a:r>
                    </a:p>
                  </a:txBody>
                  <a:tcPr anchor="ctr">
                    <a:solidFill>
                      <a:schemeClr val="bg1">
                        <a:lumMod val="85000"/>
                      </a:schemeClr>
                    </a:solidFill>
                  </a:tcPr>
                </a:tc>
                <a:tc>
                  <a:txBody>
                    <a:bodyPr/>
                    <a:lstStyle/>
                    <a:p>
                      <a:pPr>
                        <a:buNone/>
                      </a:pPr>
                      <a:r>
                        <a:rPr lang="ja-JP" sz="2800" b="0" dirty="0">
                          <a:solidFill>
                            <a:schemeClr val="tx1"/>
                          </a:solidFill>
                        </a:rPr>
                        <a:t>温度・運用状態から</a:t>
                      </a:r>
                      <a:r>
                        <a:rPr lang="ja-JP" altLang="en-US" sz="2800" b="0" dirty="0">
                          <a:solidFill>
                            <a:schemeClr val="tx1"/>
                          </a:solidFill>
                        </a:rPr>
                        <a:t>衛星筐体全体で生まれる</a:t>
                      </a:r>
                      <a:r>
                        <a:rPr lang="ja-JP" sz="2800" b="0" dirty="0">
                          <a:solidFill>
                            <a:schemeClr val="tx1"/>
                          </a:solidFill>
                        </a:rPr>
                        <a:t>相対LOSを予測</a:t>
                      </a:r>
                    </a:p>
                  </a:txBody>
                  <a:tcPr anchor="ctr">
                    <a:solidFill>
                      <a:schemeClr val="accent6">
                        <a:lumMod val="20000"/>
                        <a:lumOff val="80000"/>
                      </a:schemeClr>
                    </a:solidFill>
                  </a:tcPr>
                </a:tc>
                <a:extLst>
                  <a:ext uri="{0D108BD9-81ED-4DB2-BD59-A6C34878D82A}">
                    <a16:rowId xmlns:a16="http://schemas.microsoft.com/office/drawing/2014/main" val="2469285297"/>
                  </a:ext>
                </a:extLst>
              </a:tr>
              <a:tr h="1184000">
                <a:tc>
                  <a:txBody>
                    <a:bodyPr/>
                    <a:lstStyle/>
                    <a:p>
                      <a:pPr>
                        <a:buNone/>
                      </a:pPr>
                      <a:r>
                        <a:rPr lang="ja-JP" sz="2800" b="0" dirty="0">
                          <a:solidFill>
                            <a:schemeClr val="bg1"/>
                          </a:solidFill>
                        </a:rPr>
                        <a:t>主な対象</a:t>
                      </a:r>
                    </a:p>
                  </a:txBody>
                  <a:tcPr anchor="ctr">
                    <a:solidFill>
                      <a:schemeClr val="tx1"/>
                    </a:solidFill>
                  </a:tcPr>
                </a:tc>
                <a:tc>
                  <a:txBody>
                    <a:bodyPr/>
                    <a:lstStyle/>
                    <a:p>
                      <a:pPr>
                        <a:buNone/>
                      </a:pPr>
                      <a:r>
                        <a:rPr lang="ja-JP" sz="2800" b="0" dirty="0">
                          <a:solidFill>
                            <a:schemeClr val="tx1"/>
                          </a:solidFill>
                        </a:rPr>
                        <a:t>光通信端末／衛星構造</a:t>
                      </a:r>
                    </a:p>
                  </a:txBody>
                  <a:tcPr anchor="ctr">
                    <a:solidFill>
                      <a:schemeClr val="bg1">
                        <a:lumMod val="95000"/>
                      </a:schemeClr>
                    </a:solidFill>
                  </a:tcPr>
                </a:tc>
                <a:tc>
                  <a:txBody>
                    <a:bodyPr/>
                    <a:lstStyle/>
                    <a:p>
                      <a:pPr>
                        <a:buNone/>
                      </a:pPr>
                      <a:r>
                        <a:rPr lang="ja-JP" sz="2800" b="0" dirty="0">
                          <a:solidFill>
                            <a:schemeClr val="tx1"/>
                          </a:solidFill>
                        </a:rPr>
                        <a:t>カメラ・リモートセンシング光学系</a:t>
                      </a:r>
                    </a:p>
                  </a:txBody>
                  <a:tcPr anchor="ctr">
                    <a:solidFill>
                      <a:schemeClr val="bg1">
                        <a:lumMod val="85000"/>
                      </a:schemeClr>
                    </a:solidFill>
                  </a:tcPr>
                </a:tc>
                <a:tc>
                  <a:txBody>
                    <a:bodyPr/>
                    <a:lstStyle/>
                    <a:p>
                      <a:pPr>
                        <a:buNone/>
                      </a:pPr>
                      <a:r>
                        <a:rPr lang="ja-JP" sz="2800" b="0" dirty="0">
                          <a:solidFill>
                            <a:schemeClr val="tx1"/>
                          </a:solidFill>
                        </a:rPr>
                        <a:t>衛星バスを介して離れた</a:t>
                      </a:r>
                      <a:r>
                        <a:rPr lang="ja-JP" altLang="en-US" sz="2800" b="0" dirty="0">
                          <a:solidFill>
                            <a:schemeClr val="tx1"/>
                          </a:solidFill>
                        </a:rPr>
                        <a:t>姿勢標準</a:t>
                      </a:r>
                      <a:r>
                        <a:rPr lang="en-US" altLang="ja-JP" sz="2800" b="0" dirty="0">
                          <a:solidFill>
                            <a:schemeClr val="tx1"/>
                          </a:solidFill>
                        </a:rPr>
                        <a:t>(</a:t>
                      </a:r>
                      <a:r>
                        <a:rPr lang="ja-JP" sz="2800" b="0" dirty="0">
                          <a:solidFill>
                            <a:schemeClr val="tx1"/>
                          </a:solidFill>
                        </a:rPr>
                        <a:t>STT</a:t>
                      </a:r>
                      <a:r>
                        <a:rPr lang="en-US" altLang="ja-JP" sz="2800" b="0" dirty="0">
                          <a:solidFill>
                            <a:schemeClr val="tx1"/>
                          </a:solidFill>
                        </a:rPr>
                        <a:t>)</a:t>
                      </a:r>
                      <a:r>
                        <a:rPr lang="ja-JP" sz="2800" b="0" dirty="0">
                          <a:solidFill>
                            <a:schemeClr val="tx1"/>
                          </a:solidFill>
                        </a:rPr>
                        <a:t>と</a:t>
                      </a:r>
                      <a:r>
                        <a:rPr lang="ja-JP" altLang="en-US" sz="2800" b="0" dirty="0">
                          <a:solidFill>
                            <a:schemeClr val="tx1"/>
                          </a:solidFill>
                        </a:rPr>
                        <a:t>光通信端末</a:t>
                      </a:r>
                      <a:r>
                        <a:rPr lang="en-US" altLang="ja-JP" sz="2800" b="0" dirty="0">
                          <a:solidFill>
                            <a:schemeClr val="tx1"/>
                          </a:solidFill>
                        </a:rPr>
                        <a:t>(</a:t>
                      </a:r>
                      <a:r>
                        <a:rPr lang="ja-JP" sz="2800" b="0" dirty="0">
                          <a:solidFill>
                            <a:schemeClr val="tx1"/>
                          </a:solidFill>
                        </a:rPr>
                        <a:t>LCT</a:t>
                      </a:r>
                      <a:r>
                        <a:rPr lang="en-US" altLang="ja-JP" sz="2800" b="0" dirty="0">
                          <a:solidFill>
                            <a:schemeClr val="tx1"/>
                          </a:solidFill>
                        </a:rPr>
                        <a:t>)</a:t>
                      </a:r>
                      <a:endParaRPr lang="ja-JP" sz="2800" b="0" dirty="0">
                        <a:solidFill>
                          <a:schemeClr val="tx1"/>
                        </a:solidFill>
                      </a:endParaRPr>
                    </a:p>
                  </a:txBody>
                  <a:tcPr anchor="ctr">
                    <a:solidFill>
                      <a:schemeClr val="accent6">
                        <a:lumMod val="20000"/>
                        <a:lumOff val="80000"/>
                      </a:schemeClr>
                    </a:solidFill>
                  </a:tcPr>
                </a:tc>
                <a:extLst>
                  <a:ext uri="{0D108BD9-81ED-4DB2-BD59-A6C34878D82A}">
                    <a16:rowId xmlns:a16="http://schemas.microsoft.com/office/drawing/2014/main" val="1300502729"/>
                  </a:ext>
                </a:extLst>
              </a:tr>
              <a:tr h="1184000">
                <a:tc>
                  <a:txBody>
                    <a:bodyPr/>
                    <a:lstStyle/>
                    <a:p>
                      <a:pPr>
                        <a:buNone/>
                      </a:pPr>
                      <a:r>
                        <a:rPr lang="ja-JP" sz="2800" b="0" dirty="0">
                          <a:solidFill>
                            <a:schemeClr val="bg1"/>
                          </a:solidFill>
                        </a:rPr>
                        <a:t>評価指標</a:t>
                      </a:r>
                    </a:p>
                  </a:txBody>
                  <a:tcPr anchor="ctr">
                    <a:solidFill>
                      <a:schemeClr val="tx1"/>
                    </a:solidFill>
                  </a:tcPr>
                </a:tc>
                <a:tc>
                  <a:txBody>
                    <a:bodyPr/>
                    <a:lstStyle/>
                    <a:p>
                      <a:pPr>
                        <a:buNone/>
                      </a:pPr>
                      <a:r>
                        <a:rPr lang="ja-JP" sz="2800" b="0" dirty="0">
                          <a:solidFill>
                            <a:schemeClr val="tx1"/>
                          </a:solidFill>
                        </a:rPr>
                        <a:t>熱安定性、指向誤差、リンク成立性</a:t>
                      </a:r>
                    </a:p>
                  </a:txBody>
                  <a:tcPr anchor="ctr">
                    <a:solidFill>
                      <a:schemeClr val="bg1">
                        <a:lumMod val="95000"/>
                      </a:schemeClr>
                    </a:solidFill>
                  </a:tcPr>
                </a:tc>
                <a:tc>
                  <a:txBody>
                    <a:bodyPr/>
                    <a:lstStyle/>
                    <a:p>
                      <a:pPr>
                        <a:buNone/>
                      </a:pPr>
                      <a:r>
                        <a:rPr lang="ja-JP" sz="2800" b="0" dirty="0">
                          <a:solidFill>
                            <a:schemeClr val="tx1"/>
                          </a:solidFill>
                        </a:rPr>
                        <a:t>LOS予測誤差、画像指向精度</a:t>
                      </a:r>
                    </a:p>
                  </a:txBody>
                  <a:tcPr anchor="ctr">
                    <a:solidFill>
                      <a:schemeClr val="bg1">
                        <a:lumMod val="85000"/>
                      </a:schemeClr>
                    </a:solidFill>
                  </a:tcPr>
                </a:tc>
                <a:tc>
                  <a:txBody>
                    <a:bodyPr/>
                    <a:lstStyle/>
                    <a:p>
                      <a:pPr>
                        <a:buNone/>
                      </a:pPr>
                      <a:r>
                        <a:rPr lang="ja-JP" sz="2800" b="0" dirty="0">
                          <a:solidFill>
                            <a:schemeClr val="tx1"/>
                          </a:solidFill>
                        </a:rPr>
                        <a:t>粗捕捉時間・捕捉成功率</a:t>
                      </a:r>
                    </a:p>
                  </a:txBody>
                  <a:tcPr anchor="ctr">
                    <a:solidFill>
                      <a:schemeClr val="accent6">
                        <a:lumMod val="20000"/>
                        <a:lumOff val="80000"/>
                      </a:schemeClr>
                    </a:solidFill>
                  </a:tcPr>
                </a:tc>
                <a:extLst>
                  <a:ext uri="{0D108BD9-81ED-4DB2-BD59-A6C34878D82A}">
                    <a16:rowId xmlns:a16="http://schemas.microsoft.com/office/drawing/2014/main" val="788446176"/>
                  </a:ext>
                </a:extLst>
              </a:tr>
              <a:tr h="1718709">
                <a:tc>
                  <a:txBody>
                    <a:bodyPr/>
                    <a:lstStyle/>
                    <a:p>
                      <a:pPr>
                        <a:buNone/>
                      </a:pPr>
                      <a:r>
                        <a:rPr lang="ja-JP" sz="2800" b="0" dirty="0">
                          <a:solidFill>
                            <a:schemeClr val="bg1"/>
                          </a:solidFill>
                        </a:rPr>
                        <a:t>残る課題</a:t>
                      </a:r>
                    </a:p>
                  </a:txBody>
                  <a:tcPr anchor="ctr">
                    <a:solidFill>
                      <a:schemeClr val="tx1"/>
                    </a:solidFill>
                  </a:tcPr>
                </a:tc>
                <a:tc>
                  <a:txBody>
                    <a:bodyPr/>
                    <a:lstStyle/>
                    <a:p>
                      <a:pPr>
                        <a:buNone/>
                      </a:pPr>
                      <a:r>
                        <a:rPr lang="ja-JP" sz="2800" b="0" dirty="0">
                          <a:solidFill>
                            <a:schemeClr val="tx1"/>
                          </a:solidFill>
                        </a:rPr>
                        <a:t>残存する</a:t>
                      </a:r>
                      <a:r>
                        <a:rPr lang="ja-JP" sz="2800" b="1" dirty="0">
                          <a:solidFill>
                            <a:schemeClr val="tx1"/>
                          </a:solidFill>
                        </a:rPr>
                        <a:t>熱LOS誤差を運用時に予測する枠組みが限定的</a:t>
                      </a:r>
                    </a:p>
                  </a:txBody>
                  <a:tcPr anchor="ctr">
                    <a:solidFill>
                      <a:schemeClr val="bg1">
                        <a:lumMod val="95000"/>
                      </a:schemeClr>
                    </a:solidFill>
                  </a:tcPr>
                </a:tc>
                <a:tc>
                  <a:txBody>
                    <a:bodyPr/>
                    <a:lstStyle/>
                    <a:p>
                      <a:pPr>
                        <a:buNone/>
                      </a:pPr>
                      <a:r>
                        <a:rPr lang="ja-JP" altLang="en-US" sz="2800" b="0" dirty="0">
                          <a:solidFill>
                            <a:schemeClr val="tx1"/>
                          </a:solidFill>
                        </a:rPr>
                        <a:t>衛星筐体全体の</a:t>
                      </a:r>
                      <a:r>
                        <a:rPr lang="ja-JP" sz="2800" b="0" dirty="0">
                          <a:solidFill>
                            <a:schemeClr val="tx1"/>
                          </a:solidFill>
                        </a:rPr>
                        <a:t>LOS</a:t>
                      </a:r>
                      <a:r>
                        <a:rPr lang="ja-JP" altLang="en-US" sz="2800" b="0" dirty="0">
                          <a:solidFill>
                            <a:schemeClr val="tx1"/>
                          </a:solidFill>
                        </a:rPr>
                        <a:t>誤差・</a:t>
                      </a:r>
                      <a:r>
                        <a:rPr lang="ja-JP" sz="2800" b="0" dirty="0">
                          <a:solidFill>
                            <a:schemeClr val="tx1"/>
                          </a:solidFill>
                        </a:rPr>
                        <a:t>粗捕捉性能</a:t>
                      </a:r>
                      <a:r>
                        <a:rPr lang="ja-JP" altLang="en-US" sz="2800" b="0" dirty="0">
                          <a:solidFill>
                            <a:schemeClr val="tx1"/>
                          </a:solidFill>
                        </a:rPr>
                        <a:t>等、</a:t>
                      </a:r>
                      <a:r>
                        <a:rPr lang="ja-JP" altLang="ja-JP" sz="2800" b="1" dirty="0">
                          <a:solidFill>
                            <a:schemeClr val="tx1"/>
                          </a:solidFill>
                        </a:rPr>
                        <a:t>光通信固有</a:t>
                      </a:r>
                      <a:r>
                        <a:rPr lang="ja-JP" altLang="en-US" sz="2800" b="1" dirty="0">
                          <a:solidFill>
                            <a:schemeClr val="tx1"/>
                          </a:solidFill>
                        </a:rPr>
                        <a:t>の性能</a:t>
                      </a:r>
                      <a:r>
                        <a:rPr lang="ja-JP" sz="2800" b="1" dirty="0">
                          <a:solidFill>
                            <a:schemeClr val="tx1"/>
                          </a:solidFill>
                        </a:rPr>
                        <a:t>には未接続</a:t>
                      </a:r>
                    </a:p>
                  </a:txBody>
                  <a:tcPr anchor="ctr">
                    <a:solidFill>
                      <a:schemeClr val="bg1">
                        <a:lumMod val="85000"/>
                      </a:schemeClr>
                    </a:solidFill>
                  </a:tcPr>
                </a:tc>
                <a:tc>
                  <a:txBody>
                    <a:bodyPr/>
                    <a:lstStyle/>
                    <a:p>
                      <a:pPr>
                        <a:buNone/>
                      </a:pPr>
                      <a:r>
                        <a:rPr lang="ja-JP" sz="2800" b="0" dirty="0">
                          <a:solidFill>
                            <a:schemeClr val="tx1"/>
                          </a:solidFill>
                        </a:rPr>
                        <a:t>—</a:t>
                      </a:r>
                    </a:p>
                  </a:txBody>
                  <a:tcPr anchor="ctr">
                    <a:solidFill>
                      <a:schemeClr val="accent6">
                        <a:lumMod val="20000"/>
                        <a:lumOff val="80000"/>
                      </a:schemeClr>
                    </a:solidFill>
                  </a:tcPr>
                </a:tc>
                <a:extLst>
                  <a:ext uri="{0D108BD9-81ED-4DB2-BD59-A6C34878D82A}">
                    <a16:rowId xmlns:a16="http://schemas.microsoft.com/office/drawing/2014/main" val="3137187714"/>
                  </a:ext>
                </a:extLst>
              </a:tr>
            </a:tbl>
          </a:graphicData>
        </a:graphic>
      </p:graphicFrame>
      <p:sp>
        <p:nvSpPr>
          <p:cNvPr id="12" name="テキスト ボックス 11">
            <a:extLst>
              <a:ext uri="{FF2B5EF4-FFF2-40B4-BE49-F238E27FC236}">
                <a16:creationId xmlns:a16="http://schemas.microsoft.com/office/drawing/2014/main" id="{D62851C0-F2CB-95B5-2980-85533DC73702}"/>
              </a:ext>
            </a:extLst>
          </p:cNvPr>
          <p:cNvSpPr txBox="1"/>
          <p:nvPr/>
        </p:nvSpPr>
        <p:spPr>
          <a:xfrm>
            <a:off x="14268450" y="10176519"/>
            <a:ext cx="8500110" cy="923330"/>
          </a:xfrm>
          <a:prstGeom prst="rect">
            <a:avLst/>
          </a:prstGeom>
          <a:noFill/>
        </p:spPr>
        <p:txBody>
          <a:bodyPr wrap="square">
            <a:spAutoFit/>
          </a:bodyPr>
          <a:lstStyle/>
          <a:p>
            <a:pPr lvl="0"/>
            <a:r>
              <a:rPr lang="ja-JP" altLang="en-US" dirty="0"/>
              <a:t>参考文献：</a:t>
            </a:r>
            <a:endParaRPr lang="en-US" altLang="ja-JP" dirty="0"/>
          </a:p>
          <a:p>
            <a:pPr marL="342900" lvl="0" indent="-342900">
              <a:buFont typeface="Arial" panose="020B0604020202020204" pitchFamily="34" charset="0"/>
              <a:buChar char="•"/>
            </a:pPr>
            <a:r>
              <a:rPr lang="ja-JP" altLang="ja-JP" dirty="0"/>
              <a:t>光通信側：Shi et al. 2023、Zhang et al. 2025</a:t>
            </a:r>
          </a:p>
          <a:p>
            <a:pPr marL="342900" lvl="0" indent="-342900">
              <a:buFont typeface="Arial" panose="020B0604020202020204" pitchFamily="34" charset="0"/>
              <a:buChar char="•"/>
            </a:pPr>
            <a:r>
              <a:rPr lang="ja-JP" altLang="ja-JP" dirty="0"/>
              <a:t>地球観測</a:t>
            </a:r>
            <a:r>
              <a:rPr lang="ja-JP" altLang="en-US" dirty="0"/>
              <a:t>・光学機器</a:t>
            </a:r>
            <a:r>
              <a:rPr lang="ja-JP" altLang="ja-JP" dirty="0"/>
              <a:t>側：Li et al. 2025、Hu et al. 2022</a:t>
            </a:r>
            <a:r>
              <a:rPr lang="en-US" altLang="ja-JP" dirty="0"/>
              <a:t>, </a:t>
            </a:r>
            <a:r>
              <a:rPr lang="ja-JP" altLang="ja-JP" dirty="0"/>
              <a:t>Turella et al. 2019/2021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66188-687C-CACF-8E62-FDA47B400589}"/>
            </a:ext>
          </a:extLst>
        </p:cNvPr>
        <p:cNvGrpSpPr/>
        <p:nvPr/>
      </p:nvGrpSpPr>
      <p:grpSpPr>
        <a:xfrm>
          <a:off x="0" y="0"/>
          <a:ext cx="0" cy="0"/>
          <a:chOff x="0" y="0"/>
          <a:chExt cx="0" cy="0"/>
        </a:xfrm>
      </p:grpSpPr>
      <p:sp>
        <p:nvSpPr>
          <p:cNvPr id="3" name="TextBox 2"/>
          <p:cNvSpPr txBox="1"/>
          <p:nvPr/>
        </p:nvSpPr>
        <p:spPr>
          <a:xfrm>
            <a:off x="1536192" y="1810512"/>
            <a:ext cx="14847141" cy="547842"/>
          </a:xfrm>
          <a:prstGeom prst="rect">
            <a:avLst/>
          </a:prstGeom>
          <a:noFill/>
        </p:spPr>
        <p:txBody>
          <a:bodyPr wrap="none" lIns="36576" tIns="27432" rIns="36576" bIns="27432" anchor="t">
            <a:spAutoFit/>
          </a:bodyPr>
          <a:lstStyle/>
          <a:p>
            <a:r>
              <a:rPr lang="ja-JP" altLang="en-US" sz="3200" b="1" dirty="0"/>
              <a:t>研究概要：熱ひずみ真値データ、</a:t>
            </a:r>
            <a:r>
              <a:rPr lang="ja-JP" altLang="ja-JP" sz="3200" b="1" dirty="0"/>
              <a:t>熱ひずみ予測モデルの構築から</a:t>
            </a:r>
            <a:r>
              <a:rPr lang="ja-JP" altLang="en-US" sz="3200" b="1" dirty="0"/>
              <a:t>評価</a:t>
            </a:r>
            <a:r>
              <a:rPr lang="ja-JP" altLang="ja-JP" sz="3200" b="1" dirty="0"/>
              <a:t>までの流れ</a:t>
            </a:r>
            <a:endParaRPr lang="ja-JP" altLang="ja-JP" sz="3200" dirty="0"/>
          </a:p>
        </p:txBody>
      </p:sp>
      <p:sp>
        <p:nvSpPr>
          <p:cNvPr id="4" name="TextBox 3"/>
          <p:cNvSpPr txBox="1"/>
          <p:nvPr/>
        </p:nvSpPr>
        <p:spPr>
          <a:xfrm>
            <a:off x="21762720" y="12819888"/>
            <a:ext cx="2011680" cy="384048"/>
          </a:xfrm>
          <a:prstGeom prst="rect">
            <a:avLst/>
          </a:prstGeom>
          <a:noFill/>
        </p:spPr>
        <p:txBody>
          <a:bodyPr wrap="none" lIns="36576" tIns="27432" rIns="36576" bIns="27432" anchor="t">
            <a:spAutoFit/>
          </a:bodyPr>
          <a:lstStyle/>
          <a:p>
            <a:pPr algn="r"/>
            <a:r>
              <a:rPr sz="1800" b="0">
                <a:solidFill>
                  <a:srgbClr val="666F79"/>
                </a:solidFill>
                <a:latin typeface="Yu Gothic"/>
              </a:rPr>
              <a:t>6</a:t>
            </a:r>
          </a:p>
        </p:txBody>
      </p:sp>
      <p:sp>
        <p:nvSpPr>
          <p:cNvPr id="5" name="Rectangle 4"/>
          <p:cNvSpPr/>
          <p:nvPr/>
        </p:nvSpPr>
        <p:spPr>
          <a:xfrm>
            <a:off x="914400" y="3063240"/>
            <a:ext cx="3444239" cy="1234440"/>
          </a:xfrm>
          <a:prstGeom prst="rect">
            <a:avLst/>
          </a:prstGeom>
          <a:solidFill>
            <a:srgbClr val="082B52"/>
          </a:solidFill>
          <a:ln w="16510">
            <a:solidFill>
              <a:srgbClr val="082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87552" y="3172968"/>
            <a:ext cx="3297935" cy="1014984"/>
          </a:xfrm>
          <a:prstGeom prst="rect">
            <a:avLst/>
          </a:prstGeom>
          <a:noFill/>
        </p:spPr>
        <p:txBody>
          <a:bodyPr wrap="none" lIns="36576" tIns="27432" rIns="36576" bIns="27432" anchor="ctr">
            <a:spAutoFit/>
          </a:bodyPr>
          <a:lstStyle/>
          <a:p>
            <a:pPr algn="ctr"/>
            <a:r>
              <a:rPr sz="2100" b="1">
                <a:solidFill>
                  <a:srgbClr val="FFFFFF"/>
                </a:solidFill>
                <a:latin typeface="Yu Gothic"/>
              </a:rPr>
              <a:t>Orbit / attitude
heat &amp; coating</a:t>
            </a:r>
          </a:p>
        </p:txBody>
      </p:sp>
      <p:sp>
        <p:nvSpPr>
          <p:cNvPr id="8" name="Rectangle 7"/>
          <p:cNvSpPr/>
          <p:nvPr/>
        </p:nvSpPr>
        <p:spPr>
          <a:xfrm>
            <a:off x="4742688" y="3063240"/>
            <a:ext cx="3444239" cy="1234440"/>
          </a:xfrm>
          <a:prstGeom prst="rect">
            <a:avLst/>
          </a:prstGeom>
          <a:solidFill>
            <a:srgbClr val="1B74AA"/>
          </a:solidFill>
          <a:ln w="16510">
            <a:solidFill>
              <a:srgbClr val="1B7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815840" y="3172968"/>
            <a:ext cx="3297935" cy="1014984"/>
          </a:xfrm>
          <a:prstGeom prst="rect">
            <a:avLst/>
          </a:prstGeom>
          <a:noFill/>
        </p:spPr>
        <p:txBody>
          <a:bodyPr wrap="none" lIns="36576" tIns="27432" rIns="36576" bIns="27432" anchor="ctr">
            <a:spAutoFit/>
          </a:bodyPr>
          <a:lstStyle/>
          <a:p>
            <a:pPr algn="ctr"/>
            <a:r>
              <a:rPr sz="2100" b="1">
                <a:solidFill>
                  <a:srgbClr val="FFFFFF"/>
                </a:solidFill>
                <a:latin typeface="Yu Gothic"/>
              </a:rPr>
              <a:t>Thermal Desktop
temperature</a:t>
            </a:r>
          </a:p>
        </p:txBody>
      </p:sp>
      <p:cxnSp>
        <p:nvCxnSpPr>
          <p:cNvPr id="10" name="Connector 9"/>
          <p:cNvCxnSpPr/>
          <p:nvPr/>
        </p:nvCxnSpPr>
        <p:spPr>
          <a:xfrm>
            <a:off x="8241792" y="3680460"/>
            <a:ext cx="274320"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8570976" y="3063240"/>
            <a:ext cx="3444239" cy="1234440"/>
          </a:xfrm>
          <a:prstGeom prst="rect">
            <a:avLst/>
          </a:prstGeom>
          <a:solidFill>
            <a:srgbClr val="239571"/>
          </a:solidFill>
          <a:ln w="1651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644128" y="3172968"/>
            <a:ext cx="3297935" cy="1014984"/>
          </a:xfrm>
          <a:prstGeom prst="rect">
            <a:avLst/>
          </a:prstGeom>
          <a:noFill/>
        </p:spPr>
        <p:txBody>
          <a:bodyPr wrap="none" lIns="36576" tIns="27432" rIns="36576" bIns="27432" anchor="ctr">
            <a:spAutoFit/>
          </a:bodyPr>
          <a:lstStyle/>
          <a:p>
            <a:pPr algn="ctr"/>
            <a:r>
              <a:rPr sz="2100" b="1" dirty="0">
                <a:solidFill>
                  <a:srgbClr val="FFFFFF"/>
                </a:solidFill>
                <a:latin typeface="Yu Gothic"/>
              </a:rPr>
              <a:t>Femap / Nastran
rotation</a:t>
            </a:r>
          </a:p>
        </p:txBody>
      </p:sp>
      <p:cxnSp>
        <p:nvCxnSpPr>
          <p:cNvPr id="13" name="Connector 12"/>
          <p:cNvCxnSpPr/>
          <p:nvPr/>
        </p:nvCxnSpPr>
        <p:spPr>
          <a:xfrm>
            <a:off x="12070080" y="3680460"/>
            <a:ext cx="274319"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12399263" y="3063240"/>
            <a:ext cx="3444239" cy="1234440"/>
          </a:xfrm>
          <a:prstGeom prst="rect">
            <a:avLst/>
          </a:prstGeom>
          <a:solidFill>
            <a:srgbClr val="EC9427"/>
          </a:solidFill>
          <a:ln w="16510">
            <a:solidFill>
              <a:srgbClr val="EC94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472415" y="3172968"/>
            <a:ext cx="3297935" cy="1014984"/>
          </a:xfrm>
          <a:prstGeom prst="rect">
            <a:avLst/>
          </a:prstGeom>
          <a:noFill/>
        </p:spPr>
        <p:txBody>
          <a:bodyPr wrap="none" lIns="36576" tIns="27432" rIns="36576" bIns="27432" anchor="ctr">
            <a:spAutoFit/>
          </a:bodyPr>
          <a:lstStyle/>
          <a:p>
            <a:pPr algn="ctr"/>
            <a:r>
              <a:rPr sz="2100" b="1">
                <a:solidFill>
                  <a:srgbClr val="FFFFFF"/>
                </a:solidFill>
                <a:latin typeface="Yu Gothic"/>
              </a:rPr>
              <a:t>STT–LCT
thermal LOS</a:t>
            </a:r>
          </a:p>
        </p:txBody>
      </p:sp>
      <p:cxnSp>
        <p:nvCxnSpPr>
          <p:cNvPr id="16" name="Connector 15"/>
          <p:cNvCxnSpPr/>
          <p:nvPr/>
        </p:nvCxnSpPr>
        <p:spPr>
          <a:xfrm>
            <a:off x="15898367" y="3680460"/>
            <a:ext cx="274321"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16227552" y="3063240"/>
            <a:ext cx="3444239" cy="1234440"/>
          </a:xfrm>
          <a:prstGeom prst="rect">
            <a:avLst/>
          </a:prstGeom>
          <a:solidFill>
            <a:srgbClr val="5D4084"/>
          </a:solidFill>
          <a:ln w="16510">
            <a:solidFill>
              <a:srgbClr val="5D408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6300703" y="3172968"/>
            <a:ext cx="3297935" cy="1014984"/>
          </a:xfrm>
          <a:prstGeom prst="rect">
            <a:avLst/>
          </a:prstGeom>
          <a:noFill/>
        </p:spPr>
        <p:txBody>
          <a:bodyPr wrap="none" lIns="36576" tIns="27432" rIns="36576" bIns="27432" anchor="ctr">
            <a:spAutoFit/>
          </a:bodyPr>
          <a:lstStyle/>
          <a:p>
            <a:pPr algn="ctr"/>
            <a:r>
              <a:rPr sz="2100" b="1">
                <a:solidFill>
                  <a:srgbClr val="FFFFFF"/>
                </a:solidFill>
                <a:latin typeface="Yu Gothic"/>
              </a:rPr>
              <a:t>Lightweight
model</a:t>
            </a:r>
          </a:p>
        </p:txBody>
      </p:sp>
      <p:cxnSp>
        <p:nvCxnSpPr>
          <p:cNvPr id="19" name="Connector 18"/>
          <p:cNvCxnSpPr/>
          <p:nvPr/>
        </p:nvCxnSpPr>
        <p:spPr>
          <a:xfrm>
            <a:off x="19726655" y="3680460"/>
            <a:ext cx="274321"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20055840" y="3063240"/>
            <a:ext cx="3444239" cy="1234440"/>
          </a:xfrm>
          <a:prstGeom prst="rect">
            <a:avLst/>
          </a:prstGeom>
          <a:solidFill>
            <a:srgbClr val="082B52"/>
          </a:solidFill>
          <a:ln w="16510">
            <a:solidFill>
              <a:srgbClr val="082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0128992" y="3172968"/>
            <a:ext cx="3297935" cy="1014984"/>
          </a:xfrm>
          <a:prstGeom prst="rect">
            <a:avLst/>
          </a:prstGeom>
          <a:noFill/>
        </p:spPr>
        <p:txBody>
          <a:bodyPr wrap="none" lIns="36576" tIns="27432" rIns="36576" bIns="27432" anchor="ctr">
            <a:spAutoFit/>
          </a:bodyPr>
          <a:lstStyle/>
          <a:p>
            <a:pPr algn="ctr"/>
            <a:r>
              <a:rPr sz="2100" b="1">
                <a:solidFill>
                  <a:srgbClr val="FFFFFF"/>
                </a:solidFill>
                <a:latin typeface="Yu Gothic"/>
              </a:rPr>
              <a:t>PAT
scan center</a:t>
            </a:r>
          </a:p>
        </p:txBody>
      </p:sp>
      <p:sp>
        <p:nvSpPr>
          <p:cNvPr id="22" name="Rectangle 21"/>
          <p:cNvSpPr/>
          <p:nvPr/>
        </p:nvSpPr>
        <p:spPr>
          <a:xfrm>
            <a:off x="914400" y="7188743"/>
            <a:ext cx="15700443" cy="3959156"/>
          </a:xfrm>
          <a:prstGeom prst="rect">
            <a:avLst/>
          </a:prstGeom>
          <a:solidFill>
            <a:srgbClr val="F4F6F8"/>
          </a:solidFill>
          <a:ln w="1651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412457" y="7600223"/>
            <a:ext cx="3305520" cy="486287"/>
          </a:xfrm>
          <a:prstGeom prst="rect">
            <a:avLst/>
          </a:prstGeom>
          <a:noFill/>
        </p:spPr>
        <p:txBody>
          <a:bodyPr wrap="none" lIns="36576" tIns="27432" rIns="36576" bIns="27432" anchor="t">
            <a:spAutoFit/>
          </a:bodyPr>
          <a:lstStyle/>
          <a:p>
            <a:r>
              <a:rPr lang="ja-JP" altLang="en-US" sz="2800" b="1" dirty="0"/>
              <a:t>地上でのモデル構築</a:t>
            </a:r>
            <a:endParaRPr sz="2700" b="1" dirty="0">
              <a:solidFill>
                <a:srgbClr val="082B52"/>
              </a:solidFill>
              <a:latin typeface="Yu Gothic"/>
            </a:endParaRPr>
          </a:p>
        </p:txBody>
      </p:sp>
      <p:sp>
        <p:nvSpPr>
          <p:cNvPr id="24" name="TextBox 23"/>
          <p:cNvSpPr txBox="1"/>
          <p:nvPr/>
        </p:nvSpPr>
        <p:spPr>
          <a:xfrm>
            <a:off x="1595337" y="8560343"/>
            <a:ext cx="9052560" cy="2123658"/>
          </a:xfrm>
          <a:prstGeom prst="rect">
            <a:avLst/>
          </a:prstGeom>
          <a:noFill/>
        </p:spPr>
        <p:txBody>
          <a:bodyPr wrap="square" lIns="27432" rIns="27432">
            <a:spAutoFit/>
          </a:bodyPr>
          <a:lstStyle/>
          <a:p>
            <a:pPr>
              <a:spcAft>
                <a:spcPts val="800"/>
              </a:spcAft>
            </a:pPr>
            <a:r>
              <a:rPr sz="2600" b="1" dirty="0">
                <a:solidFill>
                  <a:srgbClr val="1B74AA"/>
                </a:solidFill>
                <a:latin typeface="Yu Gothic"/>
              </a:rPr>
              <a:t>•</a:t>
            </a:r>
            <a:r>
              <a:rPr lang="ja-JP" altLang="en-US" sz="2600" b="1" dirty="0">
                <a:solidFill>
                  <a:srgbClr val="1B74AA"/>
                </a:solidFill>
                <a:latin typeface="Yu Gothic"/>
              </a:rPr>
              <a:t> </a:t>
            </a:r>
            <a:r>
              <a:rPr lang="ja-JP" altLang="ja-JP" sz="2800" dirty="0"/>
              <a:t>軌道・姿勢・熱環境を入力 </a:t>
            </a:r>
            <a:endParaRPr lang="en-US" altLang="ja-JP" sz="2800" dirty="0"/>
          </a:p>
          <a:p>
            <a:pPr>
              <a:spcAft>
                <a:spcPts val="800"/>
              </a:spcAft>
            </a:pPr>
            <a:r>
              <a:rPr lang="en-US" altLang="ja-JP" sz="2800" b="1" dirty="0">
                <a:solidFill>
                  <a:srgbClr val="1B74AA"/>
                </a:solidFill>
                <a:latin typeface="Yu Gothic"/>
              </a:rPr>
              <a:t>•</a:t>
            </a:r>
            <a:r>
              <a:rPr lang="ja-JP" altLang="en-US" sz="2800" b="1" dirty="0">
                <a:solidFill>
                  <a:srgbClr val="1B74AA"/>
                </a:solidFill>
                <a:latin typeface="Yu Gothic"/>
              </a:rPr>
              <a:t> </a:t>
            </a:r>
            <a:r>
              <a:rPr lang="ja-JP" altLang="ja-JP" sz="2800" dirty="0"/>
              <a:t>TD/Femapで温度場・熱変形を計算</a:t>
            </a:r>
            <a:endParaRPr lang="en-US" altLang="ja-JP" sz="2800" dirty="0"/>
          </a:p>
          <a:p>
            <a:pPr>
              <a:spcAft>
                <a:spcPts val="800"/>
              </a:spcAft>
            </a:pPr>
            <a:r>
              <a:rPr lang="en-US" altLang="ja-JP" sz="2800" b="1" dirty="0">
                <a:solidFill>
                  <a:srgbClr val="1B74AA"/>
                </a:solidFill>
                <a:latin typeface="Yu Gothic"/>
              </a:rPr>
              <a:t>•</a:t>
            </a:r>
            <a:r>
              <a:rPr lang="ja-JP" altLang="en-US" sz="2800" b="1" dirty="0">
                <a:solidFill>
                  <a:srgbClr val="1B74AA"/>
                </a:solidFill>
                <a:latin typeface="Yu Gothic"/>
              </a:rPr>
              <a:t> </a:t>
            </a:r>
            <a:r>
              <a:rPr lang="ja-JP" altLang="ja-JP" sz="2800" dirty="0"/>
              <a:t>STT–LCT相対LOSの参照時系列を生成</a:t>
            </a:r>
            <a:endParaRPr lang="en-US" altLang="ja-JP" sz="2800" dirty="0"/>
          </a:p>
          <a:p>
            <a:pPr>
              <a:spcAft>
                <a:spcPts val="800"/>
              </a:spcAft>
            </a:pPr>
            <a:r>
              <a:rPr lang="en-US" altLang="ja-JP" sz="2800" b="1" dirty="0">
                <a:solidFill>
                  <a:srgbClr val="1B74AA"/>
                </a:solidFill>
                <a:latin typeface="Yu Gothic"/>
              </a:rPr>
              <a:t>• </a:t>
            </a:r>
            <a:r>
              <a:rPr lang="ja-JP" altLang="ja-JP" sz="2800" dirty="0"/>
              <a:t>軽量モデルの学習・評価に使用</a:t>
            </a:r>
            <a:endParaRPr sz="2600" dirty="0">
              <a:solidFill>
                <a:srgbClr val="232B34"/>
              </a:solidFill>
              <a:latin typeface="Yu Gothic"/>
            </a:endParaRPr>
          </a:p>
        </p:txBody>
      </p:sp>
      <p:sp>
        <p:nvSpPr>
          <p:cNvPr id="25" name="Rectangle 24"/>
          <p:cNvSpPr/>
          <p:nvPr/>
        </p:nvSpPr>
        <p:spPr>
          <a:xfrm>
            <a:off x="16848306" y="7188743"/>
            <a:ext cx="6651773" cy="3959154"/>
          </a:xfrm>
          <a:prstGeom prst="rect">
            <a:avLst/>
          </a:prstGeom>
          <a:solidFill>
            <a:srgbClr val="EBF6FB"/>
          </a:solidFill>
          <a:ln w="16510">
            <a:solidFill>
              <a:srgbClr val="5BB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7151000" y="7600223"/>
            <a:ext cx="6085786" cy="470956"/>
          </a:xfrm>
          <a:prstGeom prst="rect">
            <a:avLst/>
          </a:prstGeom>
          <a:noFill/>
        </p:spPr>
        <p:txBody>
          <a:bodyPr wrap="square" lIns="36576" tIns="27432" rIns="36576" bIns="27432" anchor="t">
            <a:spAutoFit/>
          </a:bodyPr>
          <a:lstStyle/>
          <a:p>
            <a:r>
              <a:rPr lang="ja-JP" altLang="en-US" sz="2700" b="1" dirty="0">
                <a:solidFill>
                  <a:srgbClr val="1B74AA"/>
                </a:solidFill>
                <a:latin typeface="Yu Gothic"/>
              </a:rPr>
              <a:t>軌道上でのモデル運用および補正</a:t>
            </a:r>
            <a:endParaRPr sz="2700" b="1" dirty="0">
              <a:solidFill>
                <a:srgbClr val="1B74AA"/>
              </a:solidFill>
              <a:latin typeface="Yu Gothic"/>
            </a:endParaRPr>
          </a:p>
        </p:txBody>
      </p:sp>
      <p:sp>
        <p:nvSpPr>
          <p:cNvPr id="27" name="TextBox 26"/>
          <p:cNvSpPr txBox="1"/>
          <p:nvPr/>
        </p:nvSpPr>
        <p:spPr>
          <a:xfrm>
            <a:off x="17225771" y="8446043"/>
            <a:ext cx="5806441" cy="2503249"/>
          </a:xfrm>
          <a:prstGeom prst="rect">
            <a:avLst/>
          </a:prstGeom>
          <a:noFill/>
        </p:spPr>
        <p:txBody>
          <a:bodyPr wrap="square" lIns="27432" rIns="27432">
            <a:spAutoFit/>
          </a:bodyPr>
          <a:lstStyle/>
          <a:p>
            <a:pPr>
              <a:spcAft>
                <a:spcPts val="800"/>
              </a:spcAft>
            </a:pPr>
            <a:r>
              <a:rPr sz="2600" b="1" dirty="0">
                <a:solidFill>
                  <a:srgbClr val="1B74AA"/>
                </a:solidFill>
                <a:latin typeface="Yu Gothic"/>
              </a:rPr>
              <a:t>• </a:t>
            </a:r>
            <a:r>
              <a:rPr sz="2600" dirty="0" err="1">
                <a:solidFill>
                  <a:srgbClr val="232B34"/>
                </a:solidFill>
                <a:latin typeface="Yu Gothic"/>
              </a:rPr>
              <a:t>温度センサ</a:t>
            </a:r>
            <a:r>
              <a:rPr lang="ja-JP" altLang="en-US" sz="2600" dirty="0">
                <a:solidFill>
                  <a:srgbClr val="232B34"/>
                </a:solidFill>
                <a:latin typeface="Yu Gothic"/>
              </a:rPr>
              <a:t>・</a:t>
            </a:r>
            <a:r>
              <a:rPr sz="2600" dirty="0" err="1">
                <a:solidFill>
                  <a:srgbClr val="232B34"/>
                </a:solidFill>
                <a:latin typeface="Yu Gothic"/>
              </a:rPr>
              <a:t>運用</a:t>
            </a:r>
            <a:r>
              <a:rPr lang="ja-JP" altLang="en-US" sz="2600" dirty="0">
                <a:solidFill>
                  <a:srgbClr val="232B34"/>
                </a:solidFill>
                <a:latin typeface="Yu Gothic"/>
              </a:rPr>
              <a:t>情報を入力</a:t>
            </a:r>
            <a:endParaRPr sz="2600" dirty="0">
              <a:solidFill>
                <a:srgbClr val="232B34"/>
              </a:solidFill>
              <a:latin typeface="Yu Gothic"/>
            </a:endParaRPr>
          </a:p>
          <a:p>
            <a:pPr>
              <a:spcAft>
                <a:spcPts val="800"/>
              </a:spcAft>
            </a:pPr>
            <a:r>
              <a:rPr sz="2600" b="1" dirty="0">
                <a:solidFill>
                  <a:srgbClr val="1B74AA"/>
                </a:solidFill>
                <a:latin typeface="Yu Gothic"/>
              </a:rPr>
              <a:t>• </a:t>
            </a:r>
            <a:r>
              <a:rPr lang="ja-JP" altLang="en-US" sz="2600" dirty="0">
                <a:solidFill>
                  <a:srgbClr val="232B34"/>
                </a:solidFill>
                <a:latin typeface="Yu Gothic"/>
              </a:rPr>
              <a:t>軽量モデルで熱</a:t>
            </a:r>
            <a:r>
              <a:rPr sz="2600" dirty="0" err="1">
                <a:solidFill>
                  <a:srgbClr val="232B34"/>
                </a:solidFill>
                <a:latin typeface="Yu Gothic"/>
              </a:rPr>
              <a:t>LOSを</a:t>
            </a:r>
            <a:r>
              <a:rPr lang="ja-JP" altLang="en-US" sz="2600" dirty="0">
                <a:solidFill>
                  <a:srgbClr val="232B34"/>
                </a:solidFill>
                <a:latin typeface="Yu Gothic"/>
              </a:rPr>
              <a:t>予測</a:t>
            </a:r>
            <a:endParaRPr lang="en-US" altLang="ja-JP" sz="2600" dirty="0">
              <a:solidFill>
                <a:srgbClr val="232B34"/>
              </a:solidFill>
              <a:latin typeface="Yu Gothic"/>
            </a:endParaRPr>
          </a:p>
          <a:p>
            <a:pPr>
              <a:spcAft>
                <a:spcPts val="800"/>
              </a:spcAft>
            </a:pPr>
            <a:r>
              <a:rPr lang="en-US" altLang="ja-JP" sz="2600" b="1" dirty="0">
                <a:solidFill>
                  <a:srgbClr val="1B74AA"/>
                </a:solidFill>
                <a:latin typeface="Yu Gothic"/>
              </a:rPr>
              <a:t>• </a:t>
            </a:r>
            <a:r>
              <a:rPr lang="en-US" sz="2600" dirty="0">
                <a:solidFill>
                  <a:srgbClr val="232B34"/>
                </a:solidFill>
                <a:latin typeface="Yu Gothic"/>
              </a:rPr>
              <a:t>Scan center</a:t>
            </a:r>
            <a:r>
              <a:rPr lang="ja-JP" altLang="en-US" sz="2600" dirty="0">
                <a:solidFill>
                  <a:srgbClr val="232B34"/>
                </a:solidFill>
                <a:latin typeface="Yu Gothic"/>
              </a:rPr>
              <a:t>を補正</a:t>
            </a:r>
            <a:endParaRPr lang="en-US" altLang="ja-JP" sz="2600" dirty="0">
              <a:solidFill>
                <a:srgbClr val="232B34"/>
              </a:solidFill>
              <a:latin typeface="Yu Gothic"/>
            </a:endParaRPr>
          </a:p>
          <a:p>
            <a:pPr>
              <a:spcAft>
                <a:spcPts val="800"/>
              </a:spcAft>
            </a:pPr>
            <a:r>
              <a:rPr lang="en-US" altLang="ja-JP" sz="2600" dirty="0">
                <a:solidFill>
                  <a:srgbClr val="1B74AA"/>
                </a:solidFill>
                <a:latin typeface="Yu Gothic"/>
              </a:rPr>
              <a:t>• </a:t>
            </a:r>
            <a:r>
              <a:rPr lang="ja-JP" altLang="en-US" sz="2600" dirty="0">
                <a:solidFill>
                  <a:srgbClr val="232B34"/>
                </a:solidFill>
                <a:latin typeface="Yu Gothic"/>
              </a:rPr>
              <a:t>熱ひずみ以外の誤差も入力</a:t>
            </a:r>
            <a:endParaRPr sz="2600" dirty="0">
              <a:solidFill>
                <a:srgbClr val="232B34"/>
              </a:solidFill>
              <a:latin typeface="Yu Gothic"/>
            </a:endParaRPr>
          </a:p>
          <a:p>
            <a:pPr>
              <a:spcAft>
                <a:spcPts val="800"/>
              </a:spcAft>
            </a:pPr>
            <a:r>
              <a:rPr sz="2600" b="1" dirty="0">
                <a:solidFill>
                  <a:srgbClr val="1B74AA"/>
                </a:solidFill>
                <a:latin typeface="Yu Gothic"/>
              </a:rPr>
              <a:t>• </a:t>
            </a:r>
            <a:r>
              <a:rPr sz="2600" dirty="0" err="1">
                <a:solidFill>
                  <a:srgbClr val="232B34"/>
                </a:solidFill>
                <a:latin typeface="Yu Gothic"/>
              </a:rPr>
              <a:t>捕捉後残差でモデル</a:t>
            </a:r>
            <a:r>
              <a:rPr lang="ja-JP" altLang="en-US" sz="2600" dirty="0">
                <a:solidFill>
                  <a:srgbClr val="232B34"/>
                </a:solidFill>
                <a:latin typeface="Yu Gothic"/>
              </a:rPr>
              <a:t>を</a:t>
            </a:r>
            <a:r>
              <a:rPr sz="2600" dirty="0" err="1">
                <a:solidFill>
                  <a:srgbClr val="232B34"/>
                </a:solidFill>
                <a:latin typeface="Yu Gothic"/>
              </a:rPr>
              <a:t>更新</a:t>
            </a:r>
            <a:endParaRPr sz="2600" dirty="0">
              <a:solidFill>
                <a:srgbClr val="232B34"/>
              </a:solidFill>
              <a:latin typeface="Yu Gothic"/>
            </a:endParaRPr>
          </a:p>
        </p:txBody>
      </p:sp>
      <p:sp>
        <p:nvSpPr>
          <p:cNvPr id="28" name="TextBox 27"/>
          <p:cNvSpPr txBox="1"/>
          <p:nvPr/>
        </p:nvSpPr>
        <p:spPr>
          <a:xfrm>
            <a:off x="3052664" y="11835849"/>
            <a:ext cx="19931675" cy="1040285"/>
          </a:xfrm>
          <a:prstGeom prst="rect">
            <a:avLst/>
          </a:prstGeom>
          <a:noFill/>
        </p:spPr>
        <p:txBody>
          <a:bodyPr wrap="none" lIns="36576" tIns="27432" rIns="36576" bIns="27432" anchor="t">
            <a:spAutoFit/>
          </a:bodyPr>
          <a:lstStyle/>
          <a:p>
            <a:r>
              <a:rPr lang="en-US" altLang="ja-JP" sz="3200" b="1" dirty="0">
                <a:solidFill>
                  <a:srgbClr val="1B74AA"/>
                </a:solidFill>
                <a:latin typeface="Yu Gothic"/>
              </a:rPr>
              <a:t>•</a:t>
            </a:r>
            <a:r>
              <a:rPr lang="ja-JP" altLang="en-US" sz="3200" b="1" dirty="0">
                <a:solidFill>
                  <a:srgbClr val="1B74AA"/>
                </a:solidFill>
                <a:latin typeface="Yu Gothic"/>
              </a:rPr>
              <a:t> </a:t>
            </a:r>
            <a:r>
              <a:rPr lang="ja-JP" altLang="ja-JP" sz="3200" b="1" dirty="0"/>
              <a:t>TD/Femapは地上での教師データ生成・妥当性評価にのみ使用</a:t>
            </a:r>
            <a:r>
              <a:rPr lang="ja-JP" altLang="en-US" sz="3200" b="1" dirty="0"/>
              <a:t>し、軌道上では軽量モデルのみを使用する</a:t>
            </a:r>
            <a:endParaRPr lang="en-US" altLang="ja-JP" sz="3200" b="1" dirty="0"/>
          </a:p>
          <a:p>
            <a:r>
              <a:rPr lang="en-US" altLang="ja-JP" sz="3200" b="1" dirty="0">
                <a:solidFill>
                  <a:srgbClr val="1B74AA"/>
                </a:solidFill>
                <a:latin typeface="Yu Gothic"/>
              </a:rPr>
              <a:t>•</a:t>
            </a:r>
            <a:r>
              <a:rPr lang="ja-JP" altLang="en-US" sz="3200" b="1" dirty="0">
                <a:solidFill>
                  <a:srgbClr val="1B74AA"/>
                </a:solidFill>
                <a:latin typeface="Yu Gothic"/>
              </a:rPr>
              <a:t> </a:t>
            </a:r>
            <a:r>
              <a:rPr lang="ja-JP" altLang="en-US" sz="3200" b="1" dirty="0"/>
              <a:t>モデル性能は、</a:t>
            </a:r>
            <a:r>
              <a:rPr lang="en-US" altLang="ja-JP" sz="3200" b="1" dirty="0"/>
              <a:t>LOS</a:t>
            </a:r>
            <a:r>
              <a:rPr lang="ja-JP" altLang="en-US" sz="3200" b="1" dirty="0"/>
              <a:t>予測誤差だけでなく、捕捉成功率・捕捉時間でも評価する</a:t>
            </a:r>
            <a:endParaRPr lang="ja-JP" altLang="ja-JP" sz="3200" b="1" dirty="0"/>
          </a:p>
        </p:txBody>
      </p:sp>
      <p:pic>
        <p:nvPicPr>
          <p:cNvPr id="32" name="図 31">
            <a:extLst>
              <a:ext uri="{FF2B5EF4-FFF2-40B4-BE49-F238E27FC236}">
                <a16:creationId xmlns:a16="http://schemas.microsoft.com/office/drawing/2014/main" id="{3715A86D-4060-9A30-BCAB-A905AF739052}"/>
              </a:ext>
            </a:extLst>
          </p:cNvPr>
          <p:cNvPicPr>
            <a:picLocks noChangeAspect="1"/>
          </p:cNvPicPr>
          <p:nvPr/>
        </p:nvPicPr>
        <p:blipFill>
          <a:blip r:embed="rId3"/>
          <a:srcRect t="14987" b="12995"/>
          <a:stretch>
            <a:fillRect/>
          </a:stretch>
        </p:blipFill>
        <p:spPr>
          <a:xfrm>
            <a:off x="4668368" y="4428721"/>
            <a:ext cx="3295472" cy="2714577"/>
          </a:xfrm>
          <a:prstGeom prst="rect">
            <a:avLst/>
          </a:prstGeom>
        </p:spPr>
      </p:pic>
      <p:pic>
        <p:nvPicPr>
          <p:cNvPr id="34" name="図 33">
            <a:extLst>
              <a:ext uri="{FF2B5EF4-FFF2-40B4-BE49-F238E27FC236}">
                <a16:creationId xmlns:a16="http://schemas.microsoft.com/office/drawing/2014/main" id="{F956818A-24FB-86DE-EFEF-CDBD09D72D2F}"/>
              </a:ext>
            </a:extLst>
          </p:cNvPr>
          <p:cNvPicPr>
            <a:picLocks noChangeAspect="1"/>
          </p:cNvPicPr>
          <p:nvPr/>
        </p:nvPicPr>
        <p:blipFill>
          <a:blip r:embed="rId4"/>
          <a:srcRect l="4933"/>
          <a:stretch>
            <a:fillRect/>
          </a:stretch>
        </p:blipFill>
        <p:spPr>
          <a:xfrm rot="5400000">
            <a:off x="8975763" y="4844559"/>
            <a:ext cx="2594268" cy="1769750"/>
          </a:xfrm>
          <a:prstGeom prst="rect">
            <a:avLst/>
          </a:prstGeom>
        </p:spPr>
      </p:pic>
      <mc:AlternateContent xmlns:mc="http://schemas.openxmlformats.org/markup-compatibility/2006" xmlns:a14="http://schemas.microsoft.com/office/drawing/2010/main">
        <mc:Choice Requires="a14">
          <p:sp>
            <p:nvSpPr>
              <p:cNvPr id="39" name="テキスト ボックス 38">
                <a:extLst>
                  <a:ext uri="{FF2B5EF4-FFF2-40B4-BE49-F238E27FC236}">
                    <a16:creationId xmlns:a16="http://schemas.microsoft.com/office/drawing/2014/main" id="{C89755C7-CE55-00F5-650C-D30D48A9F5CB}"/>
                  </a:ext>
                </a:extLst>
              </p:cNvPr>
              <p:cNvSpPr txBox="1"/>
              <p:nvPr/>
            </p:nvSpPr>
            <p:spPr>
              <a:xfrm>
                <a:off x="16227552" y="5285419"/>
                <a:ext cx="3499103" cy="1097993"/>
              </a:xfrm>
              <a:prstGeom prst="rect">
                <a:avLst/>
              </a:prstGeom>
              <a:noFill/>
            </p:spPr>
            <p:txBody>
              <a:bodyPr wrap="square" rtlCol="0">
                <a:spAutoFit/>
              </a:bodyPr>
              <a:lstStyle/>
              <a:p>
                <a:pPr/>
                <a14:m>
                  <m:oMathPara xmlns:m="http://schemas.openxmlformats.org/officeDocument/2006/math">
                    <m:oMath>
                      <m:r>
                        <a:rPr kumimoji="1" lang="en-US" altLang="ja-JP" sz="3200" i="1" smtClean="0">
                          <a:latin typeface="Cambria Math" panose="02040503050406030204" pitchFamily="18" charset="0"/>
                        </a:rPr>
                        <m:t>𝛥</m:t>
                      </m:r>
                      <m:acc>
                        <m:accPr>
                          <m:chr m:val="̂"/>
                          <m:ctrlPr>
                            <a:rPr kumimoji="1" lang="en-US" altLang="ja-JP" sz="3200" i="1">
                              <a:latin typeface="Cambria Math" panose="02040503050406030204" pitchFamily="18" charset="0"/>
                            </a:rPr>
                          </m:ctrlPr>
                        </m:accPr>
                        <m:e>
                          <m:r>
                            <a:rPr kumimoji="1" lang="en-US" altLang="ja-JP" sz="3200" i="1">
                              <a:latin typeface="Cambria Math" panose="02040503050406030204" pitchFamily="18" charset="0"/>
                            </a:rPr>
                            <m:t>𝜃</m:t>
                          </m:r>
                        </m:e>
                      </m:acc>
                      <m:r>
                        <a:rPr kumimoji="1" lang="en-US" altLang="ja-JP" sz="3200" b="0" i="1" smtClean="0">
                          <a:latin typeface="Cambria Math" panose="02040503050406030204" pitchFamily="18" charset="0"/>
                        </a:rPr>
                        <m:t>=</m:t>
                      </m:r>
                      <m:sSub>
                        <m:sSubPr>
                          <m:ctrlPr>
                            <a:rPr kumimoji="1" lang="en-US" altLang="ja-JP" sz="3200" b="0" i="1" smtClean="0">
                              <a:latin typeface="Cambria Math" panose="02040503050406030204" pitchFamily="18" charset="0"/>
                            </a:rPr>
                          </m:ctrlPr>
                        </m:sSubPr>
                        <m:e>
                          <m:r>
                            <a:rPr kumimoji="1" lang="en-US" altLang="ja-JP" sz="3200" b="0" i="1" smtClean="0">
                              <a:latin typeface="Cambria Math" panose="02040503050406030204" pitchFamily="18" charset="0"/>
                            </a:rPr>
                            <m:t>𝑏</m:t>
                          </m:r>
                        </m:e>
                        <m:sub>
                          <m:r>
                            <a:rPr kumimoji="1" lang="en-US" altLang="ja-JP" sz="3200" b="0" i="1" smtClean="0">
                              <a:latin typeface="Cambria Math" panose="02040503050406030204" pitchFamily="18" charset="0"/>
                            </a:rPr>
                            <m:t>𝑐𝑎𝑠𝑒</m:t>
                          </m:r>
                        </m:sub>
                      </m:sSub>
                      <m:r>
                        <a:rPr kumimoji="1" lang="en-US" altLang="ja-JP" sz="3200" b="0" i="1" smtClean="0">
                          <a:latin typeface="Cambria Math" panose="02040503050406030204" pitchFamily="18" charset="0"/>
                        </a:rPr>
                        <m:t>+</m:t>
                      </m:r>
                      <m:r>
                        <a:rPr kumimoji="1" lang="en-US" altLang="ja-JP" sz="3200" b="0" i="1" smtClean="0">
                          <a:latin typeface="Cambria Math" panose="02040503050406030204" pitchFamily="18" charset="0"/>
                        </a:rPr>
                        <m:t>𝑎</m:t>
                      </m:r>
                      <m:r>
                        <a:rPr kumimoji="1" lang="en-US" altLang="ja-JP" sz="3200" b="0" i="1" smtClean="0">
                          <a:latin typeface="Cambria Math" panose="02040503050406030204" pitchFamily="18" charset="0"/>
                        </a:rPr>
                        <m:t> </m:t>
                      </m:r>
                      <m:r>
                        <a:rPr kumimoji="1" lang="en-US" altLang="ja-JP" sz="3200" i="1">
                          <a:latin typeface="Cambria Math" panose="02040503050406030204" pitchFamily="18" charset="0"/>
                        </a:rPr>
                        <m:t>𝛥</m:t>
                      </m:r>
                      <m:r>
                        <a:rPr kumimoji="1" lang="en-US" altLang="ja-JP" sz="3200" b="0" i="1" smtClean="0">
                          <a:latin typeface="Cambria Math" panose="02040503050406030204" pitchFamily="18" charset="0"/>
                        </a:rPr>
                        <m:t>𝑇</m:t>
                      </m:r>
                      <m:r>
                        <a:rPr kumimoji="1" lang="en-US" altLang="ja-JP" sz="3200" b="0" i="1" smtClean="0">
                          <a:latin typeface="Cambria Math" panose="02040503050406030204" pitchFamily="18" charset="0"/>
                        </a:rPr>
                        <m:t> </m:t>
                      </m:r>
                    </m:oMath>
                  </m:oMathPara>
                </a14:m>
                <a:endParaRPr kumimoji="1" lang="en-US" altLang="ja-JP" sz="3200" b="0" i="1" dirty="0"/>
              </a:p>
              <a:p>
                <a:endParaRPr kumimoji="1" lang="ja-JP" altLang="en-US" sz="3200" i="1" dirty="0"/>
              </a:p>
            </p:txBody>
          </p:sp>
        </mc:Choice>
        <mc:Fallback xmlns="">
          <p:sp>
            <p:nvSpPr>
              <p:cNvPr id="39" name="テキスト ボックス 38">
                <a:extLst>
                  <a:ext uri="{FF2B5EF4-FFF2-40B4-BE49-F238E27FC236}">
                    <a16:creationId xmlns:a16="http://schemas.microsoft.com/office/drawing/2014/main" id="{C89755C7-CE55-00F5-650C-D30D48A9F5CB}"/>
                  </a:ext>
                </a:extLst>
              </p:cNvPr>
              <p:cNvSpPr txBox="1">
                <a:spLocks noRot="1" noChangeAspect="1" noMove="1" noResize="1" noEditPoints="1" noAdjustHandles="1" noChangeArrowheads="1" noChangeShapeType="1" noTextEdit="1"/>
              </p:cNvSpPr>
              <p:nvPr/>
            </p:nvSpPr>
            <p:spPr>
              <a:xfrm>
                <a:off x="16227552" y="5285419"/>
                <a:ext cx="3499103" cy="1097993"/>
              </a:xfrm>
              <a:prstGeom prst="rect">
                <a:avLst/>
              </a:prstGeom>
              <a:blipFill>
                <a:blip r:embed="rId6"/>
                <a:stretch>
                  <a:fillRect/>
                </a:stretch>
              </a:blipFill>
            </p:spPr>
            <p:txBody>
              <a:bodyPr/>
              <a:lstStyle/>
              <a:p>
                <a:r>
                  <a:rPr lang="ja-JP" altLang="en-US">
                    <a:noFill/>
                  </a:rPr>
                  <a:t> </a:t>
                </a:r>
              </a:p>
            </p:txBody>
          </p:sp>
        </mc:Fallback>
      </mc:AlternateContent>
      <p:sp>
        <p:nvSpPr>
          <p:cNvPr id="40" name="テキスト ボックス 39">
            <a:extLst>
              <a:ext uri="{FF2B5EF4-FFF2-40B4-BE49-F238E27FC236}">
                <a16:creationId xmlns:a16="http://schemas.microsoft.com/office/drawing/2014/main" id="{8A071E9D-0A17-5410-CA66-EB4C2E4AC8F6}"/>
              </a:ext>
            </a:extLst>
          </p:cNvPr>
          <p:cNvSpPr txBox="1"/>
          <p:nvPr/>
        </p:nvSpPr>
        <p:spPr>
          <a:xfrm>
            <a:off x="914400" y="4611231"/>
            <a:ext cx="3444239" cy="2246769"/>
          </a:xfrm>
          <a:prstGeom prst="rect">
            <a:avLst/>
          </a:prstGeom>
          <a:noFill/>
          <a:ln>
            <a:solidFill>
              <a:schemeClr val="tx2"/>
            </a:solidFill>
          </a:ln>
        </p:spPr>
        <p:txBody>
          <a:bodyPr wrap="square" rtlCol="0">
            <a:spAutoFit/>
          </a:bodyPr>
          <a:lstStyle/>
          <a:p>
            <a:r>
              <a:rPr kumimoji="1" lang="ja-JP" altLang="en-US" sz="2800" dirty="0"/>
              <a:t>・軌道</a:t>
            </a:r>
            <a:endParaRPr kumimoji="1" lang="en-US" altLang="ja-JP" sz="2800" dirty="0"/>
          </a:p>
          <a:p>
            <a:r>
              <a:rPr kumimoji="1" lang="ja-JP" altLang="en-US" sz="2800" dirty="0"/>
              <a:t>・姿勢</a:t>
            </a:r>
            <a:endParaRPr kumimoji="1" lang="en-US" altLang="ja-JP" sz="2800" dirty="0"/>
          </a:p>
          <a:p>
            <a:r>
              <a:rPr kumimoji="1" lang="ja-JP" altLang="en-US" sz="2800" dirty="0"/>
              <a:t>・コンポ構造配置</a:t>
            </a:r>
            <a:endParaRPr kumimoji="1" lang="en-US" altLang="ja-JP" sz="2800" dirty="0"/>
          </a:p>
          <a:p>
            <a:r>
              <a:rPr kumimoji="1" lang="ja-JP" altLang="en-US" sz="2800" dirty="0"/>
              <a:t>・衛星表面特性</a:t>
            </a:r>
            <a:endParaRPr kumimoji="1" lang="en-US" altLang="ja-JP" sz="2800" dirty="0"/>
          </a:p>
          <a:p>
            <a:r>
              <a:rPr kumimoji="1" lang="ja-JP" altLang="en-US" sz="2800" dirty="0"/>
              <a:t>・内部発熱位置</a:t>
            </a:r>
            <a:r>
              <a:rPr kumimoji="1" lang="en-US" altLang="ja-JP" sz="2800" dirty="0"/>
              <a:t>/</a:t>
            </a:r>
            <a:r>
              <a:rPr kumimoji="1" lang="ja-JP" altLang="en-US" sz="2800" dirty="0"/>
              <a:t>量</a:t>
            </a:r>
            <a:endParaRPr kumimoji="1" lang="en-US" altLang="ja-JP" sz="2800" dirty="0"/>
          </a:p>
        </p:txBody>
      </p:sp>
      <mc:AlternateContent xmlns:mc="http://schemas.openxmlformats.org/markup-compatibility/2006" xmlns:a14="http://schemas.microsoft.com/office/drawing/2010/main">
        <mc:Choice Requires="a14">
          <p:sp>
            <p:nvSpPr>
              <p:cNvPr id="46" name="テキスト ボックス 45">
                <a:extLst>
                  <a:ext uri="{FF2B5EF4-FFF2-40B4-BE49-F238E27FC236}">
                    <a16:creationId xmlns:a16="http://schemas.microsoft.com/office/drawing/2014/main" id="{6F7F0EF8-C4CA-F7FC-D1B9-80BBC6B4DBEE}"/>
                  </a:ext>
                </a:extLst>
              </p:cNvPr>
              <p:cNvSpPr txBox="1"/>
              <p:nvPr/>
            </p:nvSpPr>
            <p:spPr>
              <a:xfrm>
                <a:off x="20097212" y="5262967"/>
                <a:ext cx="3499103" cy="1097993"/>
              </a:xfrm>
              <a:prstGeom prst="rect">
                <a:avLst/>
              </a:prstGeom>
              <a:noFill/>
            </p:spPr>
            <p:txBody>
              <a:bodyPr wrap="square" rtlCol="0">
                <a:spAutoFit/>
              </a:bodyPr>
              <a:lstStyle/>
              <a:p>
                <a:pPr/>
                <a14:m>
                  <m:oMathPara xmlns:m="http://schemas.openxmlformats.org/officeDocument/2006/math">
                    <m:oMath>
                      <m:r>
                        <a:rPr kumimoji="1" lang="en-US" altLang="ja-JP" sz="3200" i="1" smtClean="0">
                          <a:latin typeface="Cambria Math" panose="02040503050406030204" pitchFamily="18" charset="0"/>
                        </a:rPr>
                        <m:t>𝜃</m:t>
                      </m:r>
                      <m:r>
                        <a:rPr kumimoji="1" lang="en-US" altLang="ja-JP" sz="3200" b="0" i="1" smtClean="0">
                          <a:latin typeface="Cambria Math" panose="02040503050406030204" pitchFamily="18" charset="0"/>
                        </a:rPr>
                        <m:t>=</m:t>
                      </m:r>
                      <m:sSub>
                        <m:sSubPr>
                          <m:ctrlPr>
                            <a:rPr kumimoji="1" lang="en-US" altLang="ja-JP" sz="3200" i="1">
                              <a:latin typeface="Cambria Math" panose="02040503050406030204" pitchFamily="18" charset="0"/>
                            </a:rPr>
                          </m:ctrlPr>
                        </m:sSubPr>
                        <m:e>
                          <m:r>
                            <a:rPr kumimoji="1" lang="en-US" altLang="ja-JP" sz="3200" i="1">
                              <a:latin typeface="Cambria Math" panose="02040503050406030204" pitchFamily="18" charset="0"/>
                            </a:rPr>
                            <m:t>𝜃</m:t>
                          </m:r>
                        </m:e>
                        <m:sub>
                          <m:r>
                            <a:rPr kumimoji="1" lang="en-US" altLang="ja-JP" sz="3200" b="0" i="1" smtClean="0">
                              <a:latin typeface="Cambria Math" panose="02040503050406030204" pitchFamily="18" charset="0"/>
                            </a:rPr>
                            <m:t>𝑐</m:t>
                          </m:r>
                        </m:sub>
                      </m:sSub>
                      <m:r>
                        <a:rPr kumimoji="1" lang="en-US" altLang="ja-JP" sz="3200" b="0" i="1" smtClean="0">
                          <a:latin typeface="Cambria Math" panose="02040503050406030204" pitchFamily="18" charset="0"/>
                        </a:rPr>
                        <m:t> −</m:t>
                      </m:r>
                      <m:r>
                        <a:rPr kumimoji="1" lang="en-US" altLang="ja-JP" sz="3200" i="1">
                          <a:latin typeface="Cambria Math" panose="02040503050406030204" pitchFamily="18" charset="0"/>
                        </a:rPr>
                        <m:t>𝛥</m:t>
                      </m:r>
                      <m:acc>
                        <m:accPr>
                          <m:chr m:val="̂"/>
                          <m:ctrlPr>
                            <a:rPr kumimoji="1" lang="en-US" altLang="ja-JP" sz="3200" i="1">
                              <a:latin typeface="Cambria Math" panose="02040503050406030204" pitchFamily="18" charset="0"/>
                            </a:rPr>
                          </m:ctrlPr>
                        </m:accPr>
                        <m:e>
                          <m:r>
                            <a:rPr kumimoji="1" lang="en-US" altLang="ja-JP" sz="3200" i="1">
                              <a:latin typeface="Cambria Math" panose="02040503050406030204" pitchFamily="18" charset="0"/>
                            </a:rPr>
                            <m:t>𝜃</m:t>
                          </m:r>
                        </m:e>
                      </m:acc>
                    </m:oMath>
                  </m:oMathPara>
                </a14:m>
                <a:endParaRPr kumimoji="1" lang="en-US" altLang="ja-JP" sz="3200" b="0" i="1" dirty="0"/>
              </a:p>
              <a:p>
                <a:endParaRPr kumimoji="1" lang="ja-JP" altLang="en-US" sz="3200" i="1" dirty="0"/>
              </a:p>
            </p:txBody>
          </p:sp>
        </mc:Choice>
        <mc:Fallback xmlns="">
          <p:sp>
            <p:nvSpPr>
              <p:cNvPr id="46" name="テキスト ボックス 45">
                <a:extLst>
                  <a:ext uri="{FF2B5EF4-FFF2-40B4-BE49-F238E27FC236}">
                    <a16:creationId xmlns:a16="http://schemas.microsoft.com/office/drawing/2014/main" id="{6F7F0EF8-C4CA-F7FC-D1B9-80BBC6B4DBEE}"/>
                  </a:ext>
                </a:extLst>
              </p:cNvPr>
              <p:cNvSpPr txBox="1">
                <a:spLocks noRot="1" noChangeAspect="1" noMove="1" noResize="1" noEditPoints="1" noAdjustHandles="1" noChangeArrowheads="1" noChangeShapeType="1" noTextEdit="1"/>
              </p:cNvSpPr>
              <p:nvPr/>
            </p:nvSpPr>
            <p:spPr>
              <a:xfrm>
                <a:off x="20097212" y="5262967"/>
                <a:ext cx="3499103" cy="1097993"/>
              </a:xfrm>
              <a:prstGeom prst="rect">
                <a:avLst/>
              </a:prstGeom>
              <a:blipFill>
                <a:blip r:embed="rId7"/>
                <a:stretch>
                  <a:fillRect/>
                </a:stretch>
              </a:blipFill>
            </p:spPr>
            <p:txBody>
              <a:bodyPr/>
              <a:lstStyle/>
              <a:p>
                <a:r>
                  <a:rPr lang="ja-JP" altLang="en-US">
                    <a:noFill/>
                  </a:rPr>
                  <a:t> </a:t>
                </a:r>
              </a:p>
            </p:txBody>
          </p:sp>
        </mc:Fallback>
      </mc:AlternateContent>
      <p:pic>
        <p:nvPicPr>
          <p:cNvPr id="30" name="図 29">
            <a:extLst>
              <a:ext uri="{FF2B5EF4-FFF2-40B4-BE49-F238E27FC236}">
                <a16:creationId xmlns:a16="http://schemas.microsoft.com/office/drawing/2014/main" id="{358AC5E1-7ED0-4F63-A640-E1FBA9092487}"/>
              </a:ext>
            </a:extLst>
          </p:cNvPr>
          <p:cNvPicPr>
            <a:picLocks noChangeAspect="1"/>
          </p:cNvPicPr>
          <p:nvPr/>
        </p:nvPicPr>
        <p:blipFill>
          <a:blip r:embed="rId8"/>
          <a:stretch>
            <a:fillRect/>
          </a:stretch>
        </p:blipFill>
        <p:spPr>
          <a:xfrm>
            <a:off x="12581954" y="4507858"/>
            <a:ext cx="2977135" cy="2518710"/>
          </a:xfrm>
          <a:prstGeom prst="rect">
            <a:avLst/>
          </a:prstGeom>
        </p:spPr>
      </p:pic>
      <p:cxnSp>
        <p:nvCxnSpPr>
          <p:cNvPr id="33" name="直線矢印コネクタ 32">
            <a:extLst>
              <a:ext uri="{FF2B5EF4-FFF2-40B4-BE49-F238E27FC236}">
                <a16:creationId xmlns:a16="http://schemas.microsoft.com/office/drawing/2014/main" id="{1DCE9196-C7D7-872B-D045-F82596F94B28}"/>
              </a:ext>
            </a:extLst>
          </p:cNvPr>
          <p:cNvCxnSpPr/>
          <p:nvPr/>
        </p:nvCxnSpPr>
        <p:spPr>
          <a:xfrm>
            <a:off x="4417662" y="3680460"/>
            <a:ext cx="30031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直線矢印コネクタ 34">
            <a:extLst>
              <a:ext uri="{FF2B5EF4-FFF2-40B4-BE49-F238E27FC236}">
                <a16:creationId xmlns:a16="http://schemas.microsoft.com/office/drawing/2014/main" id="{C3F539BC-335B-005F-652D-A5DDAFB3B955}"/>
              </a:ext>
            </a:extLst>
          </p:cNvPr>
          <p:cNvCxnSpPr/>
          <p:nvPr/>
        </p:nvCxnSpPr>
        <p:spPr>
          <a:xfrm>
            <a:off x="8251886" y="3680460"/>
            <a:ext cx="30031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直線矢印コネクタ 36">
            <a:extLst>
              <a:ext uri="{FF2B5EF4-FFF2-40B4-BE49-F238E27FC236}">
                <a16:creationId xmlns:a16="http://schemas.microsoft.com/office/drawing/2014/main" id="{8F083C85-1959-4396-1842-E99064584238}"/>
              </a:ext>
            </a:extLst>
          </p:cNvPr>
          <p:cNvCxnSpPr/>
          <p:nvPr/>
        </p:nvCxnSpPr>
        <p:spPr>
          <a:xfrm>
            <a:off x="12098948" y="3680460"/>
            <a:ext cx="30031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8" name="直線矢印コネクタ 37">
            <a:extLst>
              <a:ext uri="{FF2B5EF4-FFF2-40B4-BE49-F238E27FC236}">
                <a16:creationId xmlns:a16="http://schemas.microsoft.com/office/drawing/2014/main" id="{070BA75E-7B73-DCCF-5536-8984CC6E57C7}"/>
              </a:ext>
            </a:extLst>
          </p:cNvPr>
          <p:cNvCxnSpPr/>
          <p:nvPr/>
        </p:nvCxnSpPr>
        <p:spPr>
          <a:xfrm>
            <a:off x="15898367" y="3680460"/>
            <a:ext cx="30031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 name="直線矢印コネクタ 40">
            <a:extLst>
              <a:ext uri="{FF2B5EF4-FFF2-40B4-BE49-F238E27FC236}">
                <a16:creationId xmlns:a16="http://schemas.microsoft.com/office/drawing/2014/main" id="{E1DEB9D1-AAC3-1A56-67DB-4238E795C90F}"/>
              </a:ext>
            </a:extLst>
          </p:cNvPr>
          <p:cNvCxnSpPr/>
          <p:nvPr/>
        </p:nvCxnSpPr>
        <p:spPr>
          <a:xfrm>
            <a:off x="19726655" y="3680460"/>
            <a:ext cx="30031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3" name="TextBox 1">
            <a:extLst>
              <a:ext uri="{FF2B5EF4-FFF2-40B4-BE49-F238E27FC236}">
                <a16:creationId xmlns:a16="http://schemas.microsoft.com/office/drawing/2014/main" id="{38DB7F46-25D7-2099-9429-B3FBA207AC94}"/>
              </a:ext>
            </a:extLst>
          </p:cNvPr>
          <p:cNvSpPr txBox="1"/>
          <p:nvPr/>
        </p:nvSpPr>
        <p:spPr>
          <a:xfrm>
            <a:off x="548640" y="219456"/>
            <a:ext cx="15910559" cy="363176"/>
          </a:xfrm>
          <a:prstGeom prst="rect">
            <a:avLst/>
          </a:prstGeom>
          <a:noFill/>
        </p:spPr>
        <p:txBody>
          <a:bodyPr wrap="square" lIns="36576" tIns="27432" rIns="36576" bIns="27432" anchor="t">
            <a:spAutoFit/>
          </a:bodyPr>
          <a:lstStyle/>
          <a:p>
            <a:pPr algn="l">
              <a:spcAft>
                <a:spcPts val="0"/>
              </a:spcAft>
            </a:pPr>
            <a:r>
              <a:rPr lang="ja-JP" altLang="en-US" sz="2000" b="0" dirty="0">
                <a:solidFill>
                  <a:srgbClr val="666F79"/>
                </a:solidFill>
                <a:latin typeface="Yu Gothic"/>
                <a:ea typeface="Yu Gothic"/>
              </a:rPr>
              <a:t>背景</a:t>
            </a:r>
            <a:endParaRPr sz="2000" b="0" dirty="0">
              <a:solidFill>
                <a:srgbClr val="666F79"/>
              </a:solidFill>
              <a:latin typeface="Yu Gothic"/>
              <a:ea typeface="Yu Gothic"/>
            </a:endParaRPr>
          </a:p>
        </p:txBody>
      </p:sp>
    </p:spTree>
    <p:extLst>
      <p:ext uri="{BB962C8B-B14F-4D97-AF65-F5344CB8AC3E}">
        <p14:creationId xmlns:p14="http://schemas.microsoft.com/office/powerpoint/2010/main" val="34328558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2FDC0-C27B-B493-3C2D-059C292E58E3}"/>
            </a:ext>
          </a:extLst>
        </p:cNvPr>
        <p:cNvGrpSpPr/>
        <p:nvPr/>
      </p:nvGrpSpPr>
      <p:grpSpPr>
        <a:xfrm>
          <a:off x="0" y="0"/>
          <a:ext cx="0" cy="0"/>
          <a:chOff x="0" y="0"/>
          <a:chExt cx="0" cy="0"/>
        </a:xfrm>
      </p:grpSpPr>
      <p:sp>
        <p:nvSpPr>
          <p:cNvPr id="2" name="TextBox 1"/>
          <p:cNvSpPr txBox="1"/>
          <p:nvPr/>
        </p:nvSpPr>
        <p:spPr>
          <a:xfrm>
            <a:off x="9692640" y="4114800"/>
            <a:ext cx="4937760" cy="594360"/>
          </a:xfrm>
          <a:prstGeom prst="rect">
            <a:avLst/>
          </a:prstGeom>
          <a:noFill/>
        </p:spPr>
        <p:txBody>
          <a:bodyPr wrap="none" lIns="36576" tIns="27432" rIns="36576" bIns="27432" anchor="t">
            <a:spAutoFit/>
          </a:bodyPr>
          <a:lstStyle/>
          <a:p>
            <a:pPr algn="ctr"/>
            <a:r>
              <a:rPr sz="2700" b="0">
                <a:solidFill>
                  <a:srgbClr val="FFFFFF"/>
                </a:solidFill>
                <a:latin typeface="Yu Gothic"/>
              </a:rPr>
              <a:t>02</a:t>
            </a:r>
          </a:p>
        </p:txBody>
      </p:sp>
      <p:sp>
        <p:nvSpPr>
          <p:cNvPr id="3" name="Rectangle 2"/>
          <p:cNvSpPr/>
          <p:nvPr/>
        </p:nvSpPr>
        <p:spPr>
          <a:xfrm>
            <a:off x="10469880" y="5230368"/>
            <a:ext cx="338328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112326" y="5721775"/>
            <a:ext cx="2189830" cy="563231"/>
          </a:xfrm>
          <a:prstGeom prst="rect">
            <a:avLst/>
          </a:prstGeom>
          <a:noFill/>
        </p:spPr>
        <p:txBody>
          <a:bodyPr wrap="none" lIns="36576" tIns="27432" rIns="36576" bIns="27432" anchor="t">
            <a:spAutoFit/>
          </a:bodyPr>
          <a:lstStyle/>
          <a:p>
            <a:pPr algn="ctr"/>
            <a:r>
              <a:rPr lang="ja-JP" altLang="en-US" sz="3300" b="1" dirty="0">
                <a:solidFill>
                  <a:srgbClr val="FFFFFF"/>
                </a:solidFill>
                <a:latin typeface="Yu Gothic"/>
              </a:rPr>
              <a:t>熱構造解析</a:t>
            </a:r>
            <a:endParaRPr sz="3300" b="1" dirty="0">
              <a:solidFill>
                <a:srgbClr val="FFFFFF"/>
              </a:solidFill>
              <a:latin typeface="Yu Gothic"/>
            </a:endParaRPr>
          </a:p>
        </p:txBody>
      </p:sp>
    </p:spTree>
    <p:extLst>
      <p:ext uri="{BB962C8B-B14F-4D97-AF65-F5344CB8AC3E}">
        <p14:creationId xmlns:p14="http://schemas.microsoft.com/office/powerpoint/2010/main" val="12095109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dirty="0" err="1">
                <a:solidFill>
                  <a:srgbClr val="666F79"/>
                </a:solidFill>
                <a:latin typeface="Yu Gothic"/>
                <a:ea typeface="Yu Gothic"/>
              </a:rPr>
              <a:t>熱構造解析</a:t>
            </a:r>
            <a:endParaRPr sz="2000" b="0" dirty="0">
              <a:solidFill>
                <a:srgbClr val="666F79"/>
              </a:solidFill>
              <a:latin typeface="Yu Gothic"/>
              <a:ea typeface="Yu Gothic"/>
            </a:endParaRPr>
          </a:p>
        </p:txBody>
      </p:sp>
      <p:sp>
        <p:nvSpPr>
          <p:cNvPr id="3" name="TextBox 2"/>
          <p:cNvSpPr txBox="1"/>
          <p:nvPr/>
        </p:nvSpPr>
        <p:spPr>
          <a:xfrm>
            <a:off x="1536192" y="1298448"/>
            <a:ext cx="22037040" cy="1040285"/>
          </a:xfrm>
          <a:prstGeom prst="rect">
            <a:avLst/>
          </a:prstGeom>
          <a:noFill/>
        </p:spPr>
        <p:txBody>
          <a:bodyPr wrap="square" lIns="36576" tIns="27432" rIns="36576" bIns="27432" anchor="t">
            <a:spAutoFit/>
          </a:bodyPr>
          <a:lstStyle/>
          <a:p>
            <a:pPr algn="l">
              <a:spcAft>
                <a:spcPts val="0"/>
              </a:spcAft>
            </a:pPr>
            <a:endParaRPr lang="en-US" sz="3200" b="1" dirty="0">
              <a:solidFill>
                <a:srgbClr val="082B52"/>
              </a:solidFill>
              <a:latin typeface="Yu Gothic"/>
              <a:ea typeface="Yu Gothic"/>
            </a:endParaRPr>
          </a:p>
          <a:p>
            <a:pPr algn="l">
              <a:spcAft>
                <a:spcPts val="0"/>
              </a:spcAft>
            </a:pPr>
            <a:r>
              <a:rPr sz="3200" b="1" dirty="0" err="1">
                <a:solidFill>
                  <a:srgbClr val="082B52"/>
                </a:solidFill>
                <a:latin typeface="Yu Gothic"/>
                <a:ea typeface="Yu Gothic"/>
              </a:rPr>
              <a:t>評価対象は、STTとLCTを別の面に置いた箱型のLEO衛星</a:t>
            </a:r>
            <a:r>
              <a:rPr lang="ja-JP" altLang="en-US" sz="3200" b="1" dirty="0">
                <a:solidFill>
                  <a:srgbClr val="082B52"/>
                </a:solidFill>
                <a:latin typeface="Yu Gothic"/>
                <a:ea typeface="Yu Gothic"/>
              </a:rPr>
              <a:t>とする</a:t>
            </a:r>
            <a:endParaRPr lang="en-US" sz="3200" b="1" dirty="0">
              <a:solidFill>
                <a:srgbClr val="082B52"/>
              </a:solidFill>
              <a:latin typeface="Yu Gothic"/>
            </a:endParaRPr>
          </a:p>
        </p:txBody>
      </p:sp>
      <p:sp>
        <p:nvSpPr>
          <p:cNvPr id="4" name="TextBox 3"/>
          <p:cNvSpPr txBox="1"/>
          <p:nvPr/>
        </p:nvSpPr>
        <p:spPr>
          <a:xfrm>
            <a:off x="21762720" y="12819888"/>
            <a:ext cx="2011680" cy="332399"/>
          </a:xfrm>
          <a:prstGeom prst="rect">
            <a:avLst/>
          </a:prstGeom>
          <a:noFill/>
        </p:spPr>
        <p:txBody>
          <a:bodyPr wrap="square" lIns="36576" tIns="27432" rIns="36576" bIns="27432" anchor="t">
            <a:spAutoFit/>
          </a:bodyPr>
          <a:lstStyle/>
          <a:p>
            <a:pPr algn="r">
              <a:spcAft>
                <a:spcPts val="0"/>
              </a:spcAft>
            </a:pPr>
            <a:r>
              <a:rPr lang="en-US" sz="1800" b="0" dirty="0">
                <a:solidFill>
                  <a:srgbClr val="666F79"/>
                </a:solidFill>
                <a:latin typeface="Yu Gothic"/>
                <a:ea typeface="Yu Gothic"/>
              </a:rPr>
              <a:t>7</a:t>
            </a:r>
            <a:endParaRPr sz="1800" b="0" dirty="0">
              <a:solidFill>
                <a:srgbClr val="666F79"/>
              </a:solidFill>
              <a:latin typeface="Yu Gothic"/>
              <a:ea typeface="Yu Gothic"/>
            </a:endParaRPr>
          </a:p>
        </p:txBody>
      </p:sp>
      <p:graphicFrame>
        <p:nvGraphicFramePr>
          <p:cNvPr id="12" name="Table 11"/>
          <p:cNvGraphicFramePr>
            <a:graphicFrameLocks noGrp="1"/>
          </p:cNvGraphicFramePr>
          <p:nvPr>
            <p:extLst>
              <p:ext uri="{D42A27DB-BD31-4B8C-83A1-F6EECF244321}">
                <p14:modId xmlns:p14="http://schemas.microsoft.com/office/powerpoint/2010/main" val="3032678763"/>
              </p:ext>
            </p:extLst>
          </p:nvPr>
        </p:nvGraphicFramePr>
        <p:xfrm>
          <a:off x="17411701" y="3764280"/>
          <a:ext cx="6362700" cy="7193514"/>
        </p:xfrm>
        <a:graphic>
          <a:graphicData uri="http://schemas.openxmlformats.org/drawingml/2006/table">
            <a:tbl>
              <a:tblPr firstRow="1" bandRow="1">
                <a:tableStyleId>{5C22544A-7EE6-4342-B048-85BDC9FD1C3A}</a:tableStyleId>
              </a:tblPr>
              <a:tblGrid>
                <a:gridCol w="2261123">
                  <a:extLst>
                    <a:ext uri="{9D8B030D-6E8A-4147-A177-3AD203B41FA5}">
                      <a16:colId xmlns:a16="http://schemas.microsoft.com/office/drawing/2014/main" val="20000"/>
                    </a:ext>
                  </a:extLst>
                </a:gridCol>
                <a:gridCol w="4101577">
                  <a:extLst>
                    <a:ext uri="{9D8B030D-6E8A-4147-A177-3AD203B41FA5}">
                      <a16:colId xmlns:a16="http://schemas.microsoft.com/office/drawing/2014/main" val="20001"/>
                    </a:ext>
                  </a:extLst>
                </a:gridCol>
              </a:tblGrid>
              <a:tr h="1198919">
                <a:tc>
                  <a:txBody>
                    <a:bodyPr/>
                    <a:lstStyle/>
                    <a:p>
                      <a:pPr algn="l">
                        <a:spcAft>
                          <a:spcPts val="0"/>
                        </a:spcAft>
                      </a:pPr>
                      <a:r>
                        <a:rPr sz="2300" b="1">
                          <a:solidFill>
                            <a:srgbClr val="FFFFFF"/>
                          </a:solidFill>
                          <a:latin typeface="Yu Gothic"/>
                          <a:ea typeface="Yu Gothic"/>
                        </a:rPr>
                        <a:t>項目</a:t>
                      </a:r>
                    </a:p>
                  </a:txBody>
                  <a:tcPr marL="64008" marR="64008" marT="27432" marB="27432" anchor="ctr">
                    <a:solidFill>
                      <a:srgbClr val="082B52"/>
                    </a:solidFill>
                  </a:tcPr>
                </a:tc>
                <a:tc>
                  <a:txBody>
                    <a:bodyPr/>
                    <a:lstStyle/>
                    <a:p>
                      <a:pPr algn="ctr">
                        <a:spcAft>
                          <a:spcPts val="0"/>
                        </a:spcAft>
                      </a:pPr>
                      <a:r>
                        <a:rPr sz="2300" b="1">
                          <a:solidFill>
                            <a:srgbClr val="FFFFFF"/>
                          </a:solidFill>
                          <a:latin typeface="Yu Gothic"/>
                          <a:ea typeface="Yu Gothic"/>
                        </a:rPr>
                        <a:t>設定</a:t>
                      </a:r>
                    </a:p>
                  </a:txBody>
                  <a:tcPr marL="64008" marR="64008" marT="27432" marB="27432" anchor="ctr">
                    <a:solidFill>
                      <a:srgbClr val="082B52"/>
                    </a:solidFill>
                  </a:tcPr>
                </a:tc>
                <a:extLst>
                  <a:ext uri="{0D108BD9-81ED-4DB2-BD59-A6C34878D82A}">
                    <a16:rowId xmlns:a16="http://schemas.microsoft.com/office/drawing/2014/main" val="10000"/>
                  </a:ext>
                </a:extLst>
              </a:tr>
              <a:tr h="1198919">
                <a:tc>
                  <a:txBody>
                    <a:bodyPr/>
                    <a:lstStyle/>
                    <a:p>
                      <a:pPr algn="l">
                        <a:spcAft>
                          <a:spcPts val="0"/>
                        </a:spcAft>
                      </a:pPr>
                      <a:r>
                        <a:rPr sz="2300" b="0">
                          <a:solidFill>
                            <a:srgbClr val="232B34"/>
                          </a:solidFill>
                          <a:latin typeface="Yu Gothic"/>
                          <a:ea typeface="Yu Gothic"/>
                        </a:rPr>
                        <a:t>本体寸法</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590 × 600 × 990 mm</a:t>
                      </a:r>
                    </a:p>
                  </a:txBody>
                  <a:tcPr marL="64008" marR="64008" marT="27432" marB="27432" anchor="ctr">
                    <a:solidFill>
                      <a:srgbClr val="EBF6FB"/>
                    </a:solidFill>
                  </a:tcPr>
                </a:tc>
                <a:extLst>
                  <a:ext uri="{0D108BD9-81ED-4DB2-BD59-A6C34878D82A}">
                    <a16:rowId xmlns:a16="http://schemas.microsoft.com/office/drawing/2014/main" val="10001"/>
                  </a:ext>
                </a:extLst>
              </a:tr>
              <a:tr h="1198919">
                <a:tc>
                  <a:txBody>
                    <a:bodyPr/>
                    <a:lstStyle/>
                    <a:p>
                      <a:pPr algn="l">
                        <a:spcAft>
                          <a:spcPts val="0"/>
                        </a:spcAft>
                      </a:pPr>
                      <a:r>
                        <a:rPr sz="2300" b="0">
                          <a:solidFill>
                            <a:srgbClr val="232B34"/>
                          </a:solidFill>
                          <a:latin typeface="Yu Gothic"/>
                          <a:ea typeface="Yu Gothic"/>
                        </a:rPr>
                        <a:t>パネル</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厚さ10 mmのシェル要素</a:t>
                      </a:r>
                    </a:p>
                  </a:txBody>
                  <a:tcPr marL="64008" marR="64008" marT="27432" marB="27432" anchor="ctr">
                    <a:solidFill>
                      <a:srgbClr val="EBF6FB"/>
                    </a:solidFill>
                  </a:tcPr>
                </a:tc>
                <a:extLst>
                  <a:ext uri="{0D108BD9-81ED-4DB2-BD59-A6C34878D82A}">
                    <a16:rowId xmlns:a16="http://schemas.microsoft.com/office/drawing/2014/main" val="10002"/>
                  </a:ext>
                </a:extLst>
              </a:tr>
              <a:tr h="1198919">
                <a:tc>
                  <a:txBody>
                    <a:bodyPr/>
                    <a:lstStyle/>
                    <a:p>
                      <a:pPr algn="l">
                        <a:spcAft>
                          <a:spcPts val="0"/>
                        </a:spcAft>
                      </a:pPr>
                      <a:r>
                        <a:rPr sz="2300" b="0">
                          <a:solidFill>
                            <a:srgbClr val="232B34"/>
                          </a:solidFill>
                          <a:latin typeface="Yu Gothic"/>
                          <a:ea typeface="Yu Gothic"/>
                        </a:rPr>
                        <a:t>材料</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A5052</a:t>
                      </a:r>
                    </a:p>
                  </a:txBody>
                  <a:tcPr marL="64008" marR="64008" marT="27432" marB="27432" anchor="ctr">
                    <a:solidFill>
                      <a:srgbClr val="EBF6FB"/>
                    </a:solidFill>
                  </a:tcPr>
                </a:tc>
                <a:extLst>
                  <a:ext uri="{0D108BD9-81ED-4DB2-BD59-A6C34878D82A}">
                    <a16:rowId xmlns:a16="http://schemas.microsoft.com/office/drawing/2014/main" val="10003"/>
                  </a:ext>
                </a:extLst>
              </a:tr>
              <a:tr h="1198919">
                <a:tc>
                  <a:txBody>
                    <a:bodyPr/>
                    <a:lstStyle/>
                    <a:p>
                      <a:pPr algn="l">
                        <a:spcAft>
                          <a:spcPts val="0"/>
                        </a:spcAft>
                      </a:pPr>
                      <a:r>
                        <a:rPr sz="2300" b="0">
                          <a:solidFill>
                            <a:srgbClr val="232B34"/>
                          </a:solidFill>
                          <a:latin typeface="Yu Gothic"/>
                          <a:ea typeface="Yu Gothic"/>
                        </a:rPr>
                        <a:t>LCT</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MZ面の中央</a:t>
                      </a:r>
                    </a:p>
                  </a:txBody>
                  <a:tcPr marL="64008" marR="64008" marT="27432" marB="27432" anchor="ctr">
                    <a:solidFill>
                      <a:srgbClr val="EBF6FB"/>
                    </a:solidFill>
                  </a:tcPr>
                </a:tc>
                <a:extLst>
                  <a:ext uri="{0D108BD9-81ED-4DB2-BD59-A6C34878D82A}">
                    <a16:rowId xmlns:a16="http://schemas.microsoft.com/office/drawing/2014/main" val="10004"/>
                  </a:ext>
                </a:extLst>
              </a:tr>
              <a:tr h="1198919">
                <a:tc>
                  <a:txBody>
                    <a:bodyPr/>
                    <a:lstStyle/>
                    <a:p>
                      <a:pPr algn="l">
                        <a:spcAft>
                          <a:spcPts val="0"/>
                        </a:spcAft>
                      </a:pPr>
                      <a:r>
                        <a:rPr sz="2300" b="0">
                          <a:solidFill>
                            <a:srgbClr val="232B34"/>
                          </a:solidFill>
                          <a:latin typeface="Yu Gothic"/>
                          <a:ea typeface="Yu Gothic"/>
                        </a:rPr>
                        <a:t>STT</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PZ面の中央</a:t>
                      </a:r>
                    </a:p>
                  </a:txBody>
                  <a:tcPr marL="64008" marR="64008" marT="27432" marB="27432" anchor="ctr">
                    <a:solidFill>
                      <a:srgbClr val="EBF6FB"/>
                    </a:solidFill>
                  </a:tcPr>
                </a:tc>
                <a:extLst>
                  <a:ext uri="{0D108BD9-81ED-4DB2-BD59-A6C34878D82A}">
                    <a16:rowId xmlns:a16="http://schemas.microsoft.com/office/drawing/2014/main" val="10005"/>
                  </a:ext>
                </a:extLst>
              </a:tr>
            </a:tbl>
          </a:graphicData>
        </a:graphic>
      </p:graphicFrame>
      <p:sp>
        <p:nvSpPr>
          <p:cNvPr id="13" name="TextBox 12"/>
          <p:cNvSpPr txBox="1"/>
          <p:nvPr/>
        </p:nvSpPr>
        <p:spPr>
          <a:xfrm>
            <a:off x="16824960" y="11430000"/>
            <a:ext cx="6949440" cy="1371600"/>
          </a:xfrm>
          <a:prstGeom prst="rect">
            <a:avLst/>
          </a:prstGeom>
          <a:noFill/>
        </p:spPr>
        <p:txBody>
          <a:bodyPr wrap="square" lIns="36576" tIns="27432" rIns="36576" bIns="27432" anchor="t">
            <a:spAutoFit/>
          </a:bodyPr>
          <a:lstStyle/>
          <a:p>
            <a:pPr>
              <a:lnSpc>
                <a:spcPct val="115000"/>
              </a:lnSpc>
              <a:spcAft>
                <a:spcPts val="0"/>
              </a:spcAft>
            </a:pPr>
            <a:r>
              <a:rPr sz="2400" b="1">
                <a:solidFill>
                  <a:srgbClr val="082B52"/>
                </a:solidFill>
                <a:latin typeface="Yu Gothic"/>
                <a:ea typeface="Yu Gothic"/>
              </a:rPr>
              <a:t>特定衛星の設計審査ではない。</a:t>
            </a:r>
            <a:endParaRPr lang="en-US" altLang="ja-JP" sz="3200" b="1" dirty="0">
              <a:solidFill>
                <a:srgbClr val="082B52"/>
              </a:solidFill>
              <a:latin typeface="Yu Gothic"/>
            </a:endParaRPr>
          </a:p>
          <a:p>
            <a:pPr>
              <a:lnSpc>
                <a:spcPct val="115000"/>
              </a:lnSpc>
              <a:spcAft>
                <a:spcPts val="0"/>
              </a:spcAft>
            </a:pPr>
            <a:r>
              <a:rPr sz="2400" b="1">
                <a:solidFill>
                  <a:srgbClr val="082B52"/>
                </a:solidFill>
                <a:latin typeface="Yu Gothic"/>
                <a:ea typeface="Yu Gothic"/>
              </a:rPr>
              <a:t>同じ構造のまま、太陽面と発熱を変える</a:t>
            </a:r>
          </a:p>
        </p:txBody>
      </p:sp>
      <p:pic>
        <p:nvPicPr>
          <p:cNvPr id="17" name="図 16">
            <a:extLst>
              <a:ext uri="{FF2B5EF4-FFF2-40B4-BE49-F238E27FC236}">
                <a16:creationId xmlns:a16="http://schemas.microsoft.com/office/drawing/2014/main" id="{CCEF93ED-B9FC-B970-0B05-59AC1CDB4FC7}"/>
              </a:ext>
            </a:extLst>
          </p:cNvPr>
          <p:cNvPicPr>
            <a:picLocks noChangeAspect="1"/>
          </p:cNvPicPr>
          <p:nvPr/>
        </p:nvPicPr>
        <p:blipFill>
          <a:blip r:embed="rId3"/>
          <a:stretch>
            <a:fillRect/>
          </a:stretch>
        </p:blipFill>
        <p:spPr>
          <a:xfrm>
            <a:off x="1141093" y="3764280"/>
            <a:ext cx="4377691" cy="6995395"/>
          </a:xfrm>
          <a:prstGeom prst="rect">
            <a:avLst/>
          </a:prstGeom>
        </p:spPr>
      </p:pic>
      <p:sp>
        <p:nvSpPr>
          <p:cNvPr id="18" name="TextBox 6"/>
          <p:cNvSpPr txBox="1"/>
          <p:nvPr/>
        </p:nvSpPr>
        <p:spPr>
          <a:xfrm>
            <a:off x="2646962" y="3261360"/>
            <a:ext cx="1274516" cy="424732"/>
          </a:xfrm>
          <a:prstGeom prst="rect">
            <a:avLst/>
          </a:prstGeom>
          <a:noFill/>
        </p:spPr>
        <p:txBody>
          <a:bodyPr wrap="none" lIns="36576" tIns="27432" rIns="36576" bIns="27432" anchor="t">
            <a:spAutoFit/>
          </a:bodyPr>
          <a:lstStyle/>
          <a:p>
            <a:pPr algn="ctr"/>
            <a:r>
              <a:rPr sz="2400" b="1">
                <a:solidFill>
                  <a:srgbClr val="FF0000"/>
                </a:solidFill>
                <a:latin typeface="Yu Gothic"/>
              </a:rPr>
              <a:t>PZ: STT</a:t>
            </a:r>
          </a:p>
        </p:txBody>
      </p:sp>
      <p:sp>
        <p:nvSpPr>
          <p:cNvPr id="19" name="TextBox 7"/>
          <p:cNvSpPr txBox="1"/>
          <p:nvPr/>
        </p:nvSpPr>
        <p:spPr>
          <a:xfrm>
            <a:off x="2729050" y="10894945"/>
            <a:ext cx="1468479" cy="455509"/>
          </a:xfrm>
          <a:prstGeom prst="rect">
            <a:avLst/>
          </a:prstGeom>
          <a:noFill/>
        </p:spPr>
        <p:txBody>
          <a:bodyPr wrap="none" lIns="36576" tIns="27432" rIns="36576" bIns="27432" anchor="t">
            <a:spAutoFit/>
          </a:bodyPr>
          <a:lstStyle/>
          <a:p>
            <a:pPr algn="ctr"/>
            <a:r>
              <a:rPr sz="2600" b="1" dirty="0">
                <a:solidFill>
                  <a:srgbClr val="082B52"/>
                </a:solidFill>
                <a:latin typeface="Yu Gothic"/>
              </a:rPr>
              <a:t>MZ: LCT</a:t>
            </a:r>
          </a:p>
        </p:txBody>
      </p:sp>
      <p:sp>
        <p:nvSpPr>
          <p:cNvPr id="20" name="TextBox 8"/>
          <p:cNvSpPr txBox="1"/>
          <p:nvPr/>
        </p:nvSpPr>
        <p:spPr>
          <a:xfrm>
            <a:off x="3507104" y="5259118"/>
            <a:ext cx="2011680" cy="457200"/>
          </a:xfrm>
          <a:prstGeom prst="rect">
            <a:avLst/>
          </a:prstGeom>
          <a:noFill/>
        </p:spPr>
        <p:txBody>
          <a:bodyPr wrap="none" lIns="36576" tIns="27432" rIns="36576" bIns="27432" anchor="t">
            <a:spAutoFit/>
          </a:bodyPr>
          <a:lstStyle/>
          <a:p>
            <a:pPr algn="l"/>
            <a:r>
              <a:rPr sz="2200" b="1" dirty="0">
                <a:solidFill>
                  <a:srgbClr val="EC9427"/>
                </a:solidFill>
                <a:latin typeface="Yu Gothic"/>
              </a:rPr>
              <a:t>MY: PCDU</a:t>
            </a:r>
          </a:p>
        </p:txBody>
      </p:sp>
      <p:sp>
        <p:nvSpPr>
          <p:cNvPr id="21" name="TextBox 9"/>
          <p:cNvSpPr txBox="1"/>
          <p:nvPr/>
        </p:nvSpPr>
        <p:spPr>
          <a:xfrm>
            <a:off x="1929554" y="8298180"/>
            <a:ext cx="1434816" cy="393954"/>
          </a:xfrm>
          <a:prstGeom prst="rect">
            <a:avLst/>
          </a:prstGeom>
          <a:noFill/>
        </p:spPr>
        <p:txBody>
          <a:bodyPr wrap="none" lIns="36576" tIns="27432" rIns="36576" bIns="27432" anchor="t">
            <a:spAutoFit/>
          </a:bodyPr>
          <a:lstStyle/>
          <a:p>
            <a:pPr algn="l"/>
            <a:r>
              <a:rPr sz="2200" b="1" dirty="0">
                <a:solidFill>
                  <a:srgbClr val="EF25D7"/>
                </a:solidFill>
                <a:latin typeface="Yu Gothic"/>
              </a:rPr>
              <a:t>PY: PROP</a:t>
            </a:r>
          </a:p>
        </p:txBody>
      </p:sp>
      <p:sp>
        <p:nvSpPr>
          <p:cNvPr id="24" name="テキスト ボックス 23">
            <a:extLst>
              <a:ext uri="{FF2B5EF4-FFF2-40B4-BE49-F238E27FC236}">
                <a16:creationId xmlns:a16="http://schemas.microsoft.com/office/drawing/2014/main" id="{59F82260-522D-6761-0595-3DE00DE7B20B}"/>
              </a:ext>
            </a:extLst>
          </p:cNvPr>
          <p:cNvSpPr txBox="1"/>
          <p:nvPr/>
        </p:nvSpPr>
        <p:spPr>
          <a:xfrm>
            <a:off x="3921478" y="11736067"/>
            <a:ext cx="3027363" cy="892552"/>
          </a:xfrm>
          <a:prstGeom prst="rect">
            <a:avLst/>
          </a:prstGeom>
          <a:noFill/>
        </p:spPr>
        <p:txBody>
          <a:bodyPr wrap="square">
            <a:spAutoFit/>
          </a:bodyPr>
          <a:lstStyle/>
          <a:p>
            <a:pPr>
              <a:spcAft>
                <a:spcPts val="0"/>
              </a:spcAft>
            </a:pPr>
            <a:r>
              <a:rPr sz="2300" b="1">
                <a:solidFill>
                  <a:srgbClr val="232B34"/>
                </a:solidFill>
                <a:latin typeface="Yu Gothic"/>
                <a:ea typeface="Yu Gothic"/>
              </a:rPr>
              <a:t>LOS</a:t>
            </a:r>
          </a:p>
          <a:p>
            <a:pPr>
              <a:spcAft>
                <a:spcPts val="0"/>
              </a:spcAft>
            </a:pPr>
            <a:r>
              <a:rPr sz="2300" b="1">
                <a:solidFill>
                  <a:srgbClr val="232B34"/>
                </a:solidFill>
                <a:latin typeface="Yu Gothic"/>
                <a:ea typeface="Yu Gothic"/>
              </a:rPr>
              <a:t>視線方向 ≈ −Z</a:t>
            </a:r>
          </a:p>
        </p:txBody>
      </p:sp>
      <p:sp>
        <p:nvSpPr>
          <p:cNvPr id="27" name="矢印: 下 26">
            <a:extLst>
              <a:ext uri="{FF2B5EF4-FFF2-40B4-BE49-F238E27FC236}">
                <a16:creationId xmlns:a16="http://schemas.microsoft.com/office/drawing/2014/main" id="{3ABEA4DE-C3B5-7BEA-4021-0D8E1D0BB0E3}"/>
              </a:ext>
            </a:extLst>
          </p:cNvPr>
          <p:cNvSpPr/>
          <p:nvPr/>
        </p:nvSpPr>
        <p:spPr>
          <a:xfrm>
            <a:off x="2893199" y="11612814"/>
            <a:ext cx="873478" cy="1123188"/>
          </a:xfrm>
          <a:prstGeom prst="downArrow">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9" name="図 28">
            <a:extLst>
              <a:ext uri="{FF2B5EF4-FFF2-40B4-BE49-F238E27FC236}">
                <a16:creationId xmlns:a16="http://schemas.microsoft.com/office/drawing/2014/main" id="{757886C6-D7F5-0F38-ACF6-8EA5310D4B71}"/>
              </a:ext>
            </a:extLst>
          </p:cNvPr>
          <p:cNvPicPr>
            <a:picLocks noChangeAspect="1"/>
          </p:cNvPicPr>
          <p:nvPr/>
        </p:nvPicPr>
        <p:blipFill>
          <a:blip r:embed="rId4"/>
          <a:stretch>
            <a:fillRect/>
          </a:stretch>
        </p:blipFill>
        <p:spPr>
          <a:xfrm>
            <a:off x="5745235" y="3766102"/>
            <a:ext cx="4658580" cy="6944390"/>
          </a:xfrm>
          <a:prstGeom prst="rect">
            <a:avLst/>
          </a:prstGeom>
        </p:spPr>
      </p:pic>
      <p:pic>
        <p:nvPicPr>
          <p:cNvPr id="31" name="図 30">
            <a:extLst>
              <a:ext uri="{FF2B5EF4-FFF2-40B4-BE49-F238E27FC236}">
                <a16:creationId xmlns:a16="http://schemas.microsoft.com/office/drawing/2014/main" id="{02DA67B2-8B68-27F3-69F6-53903FB72656}"/>
              </a:ext>
            </a:extLst>
          </p:cNvPr>
          <p:cNvPicPr>
            <a:picLocks noChangeAspect="1"/>
          </p:cNvPicPr>
          <p:nvPr/>
        </p:nvPicPr>
        <p:blipFill>
          <a:blip r:embed="rId5"/>
          <a:stretch>
            <a:fillRect/>
          </a:stretch>
        </p:blipFill>
        <p:spPr>
          <a:xfrm>
            <a:off x="10768621" y="3764280"/>
            <a:ext cx="5428009" cy="6395069"/>
          </a:xfrm>
          <a:prstGeom prst="rect">
            <a:avLst/>
          </a:prstGeom>
        </p:spPr>
      </p:pic>
      <p:sp>
        <p:nvSpPr>
          <p:cNvPr id="32" name="テキスト ボックス 31">
            <a:extLst>
              <a:ext uri="{FF2B5EF4-FFF2-40B4-BE49-F238E27FC236}">
                <a16:creationId xmlns:a16="http://schemas.microsoft.com/office/drawing/2014/main" id="{8598F395-2105-83B7-C6FD-2BE0EC3D3A1F}"/>
              </a:ext>
            </a:extLst>
          </p:cNvPr>
          <p:cNvSpPr txBox="1"/>
          <p:nvPr/>
        </p:nvSpPr>
        <p:spPr>
          <a:xfrm>
            <a:off x="7569857" y="3275705"/>
            <a:ext cx="3202915" cy="523220"/>
          </a:xfrm>
          <a:prstGeom prst="rect">
            <a:avLst/>
          </a:prstGeom>
          <a:noFill/>
        </p:spPr>
        <p:txBody>
          <a:bodyPr wrap="square" rtlCol="0">
            <a:spAutoFit/>
          </a:bodyPr>
          <a:lstStyle/>
          <a:p>
            <a:r>
              <a:rPr kumimoji="1" lang="en-US" altLang="ja-JP" sz="2800" dirty="0"/>
              <a:t>Thermal Desktop</a:t>
            </a:r>
            <a:endParaRPr kumimoji="1" lang="ja-JP" altLang="en-US" sz="2800" dirty="0"/>
          </a:p>
        </p:txBody>
      </p:sp>
      <p:sp>
        <p:nvSpPr>
          <p:cNvPr id="34" name="テキスト ボックス 33">
            <a:extLst>
              <a:ext uri="{FF2B5EF4-FFF2-40B4-BE49-F238E27FC236}">
                <a16:creationId xmlns:a16="http://schemas.microsoft.com/office/drawing/2014/main" id="{A6373989-AC26-4AC6-D467-74D9A3AB9AD8}"/>
              </a:ext>
            </a:extLst>
          </p:cNvPr>
          <p:cNvSpPr txBox="1"/>
          <p:nvPr/>
        </p:nvSpPr>
        <p:spPr>
          <a:xfrm>
            <a:off x="14922114" y="3275705"/>
            <a:ext cx="1274516" cy="523220"/>
          </a:xfrm>
          <a:prstGeom prst="rect">
            <a:avLst/>
          </a:prstGeom>
          <a:noFill/>
        </p:spPr>
        <p:txBody>
          <a:bodyPr wrap="square" rtlCol="0">
            <a:spAutoFit/>
          </a:bodyPr>
          <a:lstStyle/>
          <a:p>
            <a:r>
              <a:rPr kumimoji="1" lang="en-US" altLang="ja-JP" sz="2800" dirty="0"/>
              <a:t>Femap</a:t>
            </a:r>
            <a:endParaRPr kumimoji="1" lang="ja-JP" altLang="en-US" sz="2800" dirty="0"/>
          </a:p>
        </p:txBody>
      </p:sp>
      <p:sp>
        <p:nvSpPr>
          <p:cNvPr id="36" name="テキスト ボックス 35">
            <a:extLst>
              <a:ext uri="{FF2B5EF4-FFF2-40B4-BE49-F238E27FC236}">
                <a16:creationId xmlns:a16="http://schemas.microsoft.com/office/drawing/2014/main" id="{674E08F0-D963-68BA-D4B8-F9D37A3BD261}"/>
              </a:ext>
            </a:extLst>
          </p:cNvPr>
          <p:cNvSpPr txBox="1"/>
          <p:nvPr/>
        </p:nvSpPr>
        <p:spPr>
          <a:xfrm>
            <a:off x="17410176" y="3154680"/>
            <a:ext cx="6364224" cy="502920"/>
          </a:xfrm>
          <a:prstGeom prst="rect">
            <a:avLst/>
          </a:prstGeom>
          <a:noFill/>
        </p:spPr>
        <p:txBody>
          <a:bodyPr wrap="square" rtlCol="0">
            <a:spAutoFit/>
          </a:bodyPr>
          <a:lstStyle/>
          <a:p>
            <a:pPr algn="ctr">
              <a:spcAft>
                <a:spcPts val="0"/>
              </a:spcAft>
            </a:pPr>
            <a:r>
              <a:rPr sz="2200" b="0">
                <a:solidFill>
                  <a:srgbClr val="666F79"/>
                </a:solidFill>
                <a:latin typeface="Yu Gothic"/>
                <a:ea typeface="Yu Gothic"/>
              </a:rPr>
              <a:t>解析モデルの主な設定</a:t>
            </a:r>
            <a:endParaRPr kumimoji="1" lang="ja-JP" altLang="en-US" sz="2800" dirty="0"/>
          </a:p>
        </p:txBody>
      </p:sp>
    </p:spTree>
    <p:extLst>
      <p:ext uri="{BB962C8B-B14F-4D97-AF65-F5344CB8AC3E}">
        <p14:creationId xmlns:p14="http://schemas.microsoft.com/office/powerpoint/2010/main" val="2366903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Yu Gothic"/>
                <a:ea typeface="Yu Gothic"/>
              </a:rPr>
              <a:t>熱構造解析</a:t>
            </a:r>
          </a:p>
        </p:txBody>
      </p:sp>
      <p:sp>
        <p:nvSpPr>
          <p:cNvPr id="3" name="TextBox 2"/>
          <p:cNvSpPr txBox="1"/>
          <p:nvPr/>
        </p:nvSpPr>
        <p:spPr>
          <a:xfrm>
            <a:off x="1536192" y="1298448"/>
            <a:ext cx="22037040" cy="1040285"/>
          </a:xfrm>
          <a:prstGeom prst="rect">
            <a:avLst/>
          </a:prstGeom>
          <a:noFill/>
        </p:spPr>
        <p:txBody>
          <a:bodyPr wrap="square" lIns="36576" tIns="27432" rIns="36576" bIns="27432" anchor="t">
            <a:spAutoFit/>
          </a:bodyPr>
          <a:lstStyle/>
          <a:p>
            <a:pPr algn="l">
              <a:spcAft>
                <a:spcPts val="0"/>
              </a:spcAft>
            </a:pPr>
            <a:endParaRPr lang="en-US" sz="3200" b="1" dirty="0">
              <a:solidFill>
                <a:srgbClr val="082B52"/>
              </a:solidFill>
              <a:latin typeface="Yu Gothic"/>
              <a:ea typeface="Yu Gothic"/>
            </a:endParaRPr>
          </a:p>
          <a:p>
            <a:pPr algn="l">
              <a:spcAft>
                <a:spcPts val="0"/>
              </a:spcAft>
            </a:pPr>
            <a:r>
              <a:rPr sz="3200" b="1" dirty="0" err="1">
                <a:solidFill>
                  <a:srgbClr val="082B52"/>
                </a:solidFill>
                <a:latin typeface="Yu Gothic"/>
                <a:ea typeface="Yu Gothic"/>
              </a:rPr>
              <a:t>軌道・姿勢・表面・発熱をThermal</a:t>
            </a:r>
            <a:r>
              <a:rPr sz="3200" b="1" dirty="0">
                <a:solidFill>
                  <a:srgbClr val="082B52"/>
                </a:solidFill>
                <a:latin typeface="Yu Gothic"/>
                <a:ea typeface="Yu Gothic"/>
              </a:rPr>
              <a:t> </a:t>
            </a:r>
            <a:r>
              <a:rPr sz="3200" b="1" dirty="0" err="1">
                <a:solidFill>
                  <a:srgbClr val="082B52"/>
                </a:solidFill>
                <a:latin typeface="Yu Gothic"/>
                <a:ea typeface="Yu Gothic"/>
              </a:rPr>
              <a:t>Desktopに入れ、温度場の時系列を得る</a:t>
            </a:r>
            <a:endParaRPr lang="en-US" sz="3200" b="1" dirty="0">
              <a:solidFill>
                <a:srgbClr val="082B52"/>
              </a:solidFill>
              <a:latin typeface="Yu Gothic"/>
            </a:endParaRPr>
          </a:p>
        </p:txBody>
      </p:sp>
      <p:sp>
        <p:nvSpPr>
          <p:cNvPr id="4" name="TextBox 3"/>
          <p:cNvSpPr txBox="1"/>
          <p:nvPr/>
        </p:nvSpPr>
        <p:spPr>
          <a:xfrm>
            <a:off x="23463102" y="12819888"/>
            <a:ext cx="330348" cy="332399"/>
          </a:xfrm>
          <a:prstGeom prst="rect">
            <a:avLst/>
          </a:prstGeom>
          <a:noFill/>
        </p:spPr>
        <p:txBody>
          <a:bodyPr wrap="square" lIns="36576" tIns="27432" rIns="36576" bIns="27432" anchor="t">
            <a:spAutoFit/>
          </a:bodyPr>
          <a:lstStyle/>
          <a:p>
            <a:pPr algn="r">
              <a:spcAft>
                <a:spcPts val="0"/>
              </a:spcAft>
            </a:pPr>
            <a:r>
              <a:rPr lang="en-US" dirty="0">
                <a:solidFill>
                  <a:srgbClr val="666F79"/>
                </a:solidFill>
                <a:latin typeface="Yu Gothic"/>
                <a:ea typeface="Yu Gothic"/>
              </a:rPr>
              <a:t>8</a:t>
            </a:r>
            <a:endParaRPr sz="1800" b="0" dirty="0">
              <a:solidFill>
                <a:srgbClr val="666F79"/>
              </a:solidFill>
              <a:latin typeface="Yu Gothic"/>
            </a:endParaRPr>
          </a:p>
        </p:txBody>
      </p:sp>
      <p:graphicFrame>
        <p:nvGraphicFramePr>
          <p:cNvPr id="5" name="Table 4"/>
          <p:cNvGraphicFramePr>
            <a:graphicFrameLocks noGrp="1"/>
          </p:cNvGraphicFramePr>
          <p:nvPr>
            <p:extLst>
              <p:ext uri="{D42A27DB-BD31-4B8C-83A1-F6EECF244321}">
                <p14:modId xmlns:p14="http://schemas.microsoft.com/office/powerpoint/2010/main" val="3215911599"/>
              </p:ext>
            </p:extLst>
          </p:nvPr>
        </p:nvGraphicFramePr>
        <p:xfrm>
          <a:off x="1339533" y="3597098"/>
          <a:ext cx="10789920" cy="8255730"/>
        </p:xfrm>
        <a:graphic>
          <a:graphicData uri="http://schemas.openxmlformats.org/drawingml/2006/table">
            <a:tbl>
              <a:tblPr firstRow="1" bandRow="1">
                <a:tableStyleId>{5C22544A-7EE6-4342-B048-85BDC9FD1C3A}</a:tableStyleId>
              </a:tblPr>
              <a:tblGrid>
                <a:gridCol w="3840480">
                  <a:extLst>
                    <a:ext uri="{9D8B030D-6E8A-4147-A177-3AD203B41FA5}">
                      <a16:colId xmlns:a16="http://schemas.microsoft.com/office/drawing/2014/main" val="20000"/>
                    </a:ext>
                  </a:extLst>
                </a:gridCol>
                <a:gridCol w="6949440">
                  <a:extLst>
                    <a:ext uri="{9D8B030D-6E8A-4147-A177-3AD203B41FA5}">
                      <a16:colId xmlns:a16="http://schemas.microsoft.com/office/drawing/2014/main" val="20001"/>
                    </a:ext>
                  </a:extLst>
                </a:gridCol>
              </a:tblGrid>
              <a:tr h="1031965">
                <a:tc>
                  <a:txBody>
                    <a:bodyPr/>
                    <a:lstStyle/>
                    <a:p>
                      <a:pPr algn="l">
                        <a:spcAft>
                          <a:spcPts val="0"/>
                        </a:spcAft>
                      </a:pPr>
                      <a:r>
                        <a:rPr sz="2300" b="1">
                          <a:solidFill>
                            <a:srgbClr val="FFFFFF"/>
                          </a:solidFill>
                          <a:latin typeface="Yu Gothic"/>
                          <a:ea typeface="Yu Gothic"/>
                        </a:rPr>
                        <a:t>入力項目</a:t>
                      </a:r>
                    </a:p>
                  </a:txBody>
                  <a:tcPr marL="64008" marR="64008" marT="27432" marB="27432" anchor="ctr">
                    <a:solidFill>
                      <a:srgbClr val="082B52"/>
                    </a:solidFill>
                  </a:tcPr>
                </a:tc>
                <a:tc>
                  <a:txBody>
                    <a:bodyPr/>
                    <a:lstStyle/>
                    <a:p>
                      <a:pPr algn="ctr">
                        <a:spcAft>
                          <a:spcPts val="0"/>
                        </a:spcAft>
                      </a:pPr>
                      <a:r>
                        <a:rPr sz="2300" b="1">
                          <a:solidFill>
                            <a:srgbClr val="FFFFFF"/>
                          </a:solidFill>
                          <a:latin typeface="Yu Gothic"/>
                          <a:ea typeface="Yu Gothic"/>
                        </a:rPr>
                        <a:t>設定</a:t>
                      </a:r>
                    </a:p>
                  </a:txBody>
                  <a:tcPr marL="64008" marR="64008" marT="27432" marB="27432" anchor="ctr">
                    <a:solidFill>
                      <a:srgbClr val="082B52"/>
                    </a:solidFill>
                  </a:tcPr>
                </a:tc>
                <a:extLst>
                  <a:ext uri="{0D108BD9-81ED-4DB2-BD59-A6C34878D82A}">
                    <a16:rowId xmlns:a16="http://schemas.microsoft.com/office/drawing/2014/main" val="10000"/>
                  </a:ext>
                </a:extLst>
              </a:tr>
              <a:tr h="1031965">
                <a:tc>
                  <a:txBody>
                    <a:bodyPr/>
                    <a:lstStyle/>
                    <a:p>
                      <a:pPr algn="l">
                        <a:spcAft>
                          <a:spcPts val="0"/>
                        </a:spcAft>
                      </a:pPr>
                      <a:r>
                        <a:rPr sz="2300" b="0">
                          <a:solidFill>
                            <a:srgbClr val="232B34"/>
                          </a:solidFill>
                          <a:latin typeface="Yu Gothic"/>
                          <a:ea typeface="Yu Gothic"/>
                        </a:rPr>
                        <a:t>軌道</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太陽同期 LTAN06 / 高度800 km / 冷側条件</a:t>
                      </a:r>
                    </a:p>
                  </a:txBody>
                  <a:tcPr marL="64008" marR="64008" marT="27432" marB="27432" anchor="ctr">
                    <a:solidFill>
                      <a:srgbClr val="EBF6FB"/>
                    </a:solidFill>
                  </a:tcPr>
                </a:tc>
                <a:extLst>
                  <a:ext uri="{0D108BD9-81ED-4DB2-BD59-A6C34878D82A}">
                    <a16:rowId xmlns:a16="http://schemas.microsoft.com/office/drawing/2014/main" val="10001"/>
                  </a:ext>
                </a:extLst>
              </a:tr>
              <a:tr h="1031965">
                <a:tc>
                  <a:txBody>
                    <a:bodyPr/>
                    <a:lstStyle/>
                    <a:p>
                      <a:pPr algn="l">
                        <a:spcAft>
                          <a:spcPts val="0"/>
                        </a:spcAft>
                      </a:pPr>
                      <a:r>
                        <a:rPr sz="2300" b="0">
                          <a:solidFill>
                            <a:srgbClr val="232B34"/>
                          </a:solidFill>
                          <a:latin typeface="Yu Gothic"/>
                          <a:ea typeface="Yu Gothic"/>
                        </a:rPr>
                        <a:t>周期</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約6050 s（約101分）</a:t>
                      </a:r>
                    </a:p>
                  </a:txBody>
                  <a:tcPr marL="64008" marR="64008" marT="27432" marB="27432" anchor="ctr">
                    <a:solidFill>
                      <a:srgbClr val="EBF6FB"/>
                    </a:solidFill>
                  </a:tcPr>
                </a:tc>
                <a:extLst>
                  <a:ext uri="{0D108BD9-81ED-4DB2-BD59-A6C34878D82A}">
                    <a16:rowId xmlns:a16="http://schemas.microsoft.com/office/drawing/2014/main" val="10002"/>
                  </a:ext>
                </a:extLst>
              </a:tr>
              <a:tr h="1031965">
                <a:tc>
                  <a:txBody>
                    <a:bodyPr/>
                    <a:lstStyle/>
                    <a:p>
                      <a:pPr algn="l">
                        <a:spcAft>
                          <a:spcPts val="0"/>
                        </a:spcAft>
                      </a:pPr>
                      <a:r>
                        <a:rPr sz="2300" b="0">
                          <a:solidFill>
                            <a:srgbClr val="232B34"/>
                          </a:solidFill>
                          <a:latin typeface="Yu Gothic"/>
                          <a:ea typeface="Yu Gothic"/>
                        </a:rPr>
                        <a:t>解析時間</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約18157 s（3周）</a:t>
                      </a:r>
                    </a:p>
                  </a:txBody>
                  <a:tcPr marL="64008" marR="64008" marT="27432" marB="27432" anchor="ctr">
                    <a:solidFill>
                      <a:srgbClr val="EBF6FB"/>
                    </a:solidFill>
                  </a:tcPr>
                </a:tc>
                <a:extLst>
                  <a:ext uri="{0D108BD9-81ED-4DB2-BD59-A6C34878D82A}">
                    <a16:rowId xmlns:a16="http://schemas.microsoft.com/office/drawing/2014/main" val="10003"/>
                  </a:ext>
                </a:extLst>
              </a:tr>
              <a:tr h="1031965">
                <a:tc>
                  <a:txBody>
                    <a:bodyPr/>
                    <a:lstStyle/>
                    <a:p>
                      <a:pPr algn="l">
                        <a:spcAft>
                          <a:spcPts val="0"/>
                        </a:spcAft>
                      </a:pPr>
                      <a:r>
                        <a:rPr sz="2300" b="0">
                          <a:solidFill>
                            <a:srgbClr val="232B34"/>
                          </a:solidFill>
                          <a:latin typeface="Yu Gothic"/>
                          <a:ea typeface="Yu Gothic"/>
                        </a:rPr>
                        <a:t>サンプリング</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約60.5 s ごと、301点</a:t>
                      </a:r>
                    </a:p>
                  </a:txBody>
                  <a:tcPr marL="64008" marR="64008" marT="27432" marB="27432" anchor="ctr">
                    <a:solidFill>
                      <a:srgbClr val="EBF6FB"/>
                    </a:solidFill>
                  </a:tcPr>
                </a:tc>
                <a:extLst>
                  <a:ext uri="{0D108BD9-81ED-4DB2-BD59-A6C34878D82A}">
                    <a16:rowId xmlns:a16="http://schemas.microsoft.com/office/drawing/2014/main" val="10004"/>
                  </a:ext>
                </a:extLst>
              </a:tr>
              <a:tr h="1031965">
                <a:tc>
                  <a:txBody>
                    <a:bodyPr/>
                    <a:lstStyle/>
                    <a:p>
                      <a:pPr algn="l">
                        <a:spcAft>
                          <a:spcPts val="0"/>
                        </a:spcAft>
                      </a:pPr>
                      <a:r>
                        <a:rPr sz="2300" b="0">
                          <a:solidFill>
                            <a:srgbClr val="232B34"/>
                          </a:solidFill>
                          <a:latin typeface="Yu Gothic"/>
                          <a:ea typeface="Yu Gothic"/>
                        </a:rPr>
                        <a:t>日陰</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蝕あり / 全日照</a:t>
                      </a:r>
                      <a:endParaRPr sz="2300" b="0" dirty="0">
                        <a:solidFill>
                          <a:srgbClr val="232B34"/>
                        </a:solidFill>
                        <a:latin typeface="Yu Gothic"/>
                      </a:endParaRPr>
                    </a:p>
                  </a:txBody>
                  <a:tcPr marL="64008" marR="64008" marT="27432" marB="27432" anchor="ctr">
                    <a:solidFill>
                      <a:srgbClr val="EBF6FB"/>
                    </a:solidFill>
                  </a:tcPr>
                </a:tc>
                <a:extLst>
                  <a:ext uri="{0D108BD9-81ED-4DB2-BD59-A6C34878D82A}">
                    <a16:rowId xmlns:a16="http://schemas.microsoft.com/office/drawing/2014/main" val="10005"/>
                  </a:ext>
                </a:extLst>
              </a:tr>
              <a:tr h="1031970">
                <a:tc>
                  <a:txBody>
                    <a:bodyPr/>
                    <a:lstStyle/>
                    <a:p>
                      <a:pPr algn="l">
                        <a:spcAft>
                          <a:spcPts val="0"/>
                        </a:spcAft>
                      </a:pPr>
                      <a:r>
                        <a:rPr sz="2300" b="0">
                          <a:solidFill>
                            <a:srgbClr val="232B34"/>
                          </a:solidFill>
                          <a:latin typeface="Yu Gothic"/>
                          <a:ea typeface="Yu Gothic"/>
                        </a:rPr>
                        <a:t>太陽指向面</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MX / MY / PX / PY</a:t>
                      </a:r>
                    </a:p>
                  </a:txBody>
                  <a:tcPr marL="64008" marR="64008" marT="27432" marB="27432" anchor="ctr">
                    <a:solidFill>
                      <a:srgbClr val="EBF6FB"/>
                    </a:solidFill>
                  </a:tcPr>
                </a:tc>
                <a:extLst>
                  <a:ext uri="{0D108BD9-81ED-4DB2-BD59-A6C34878D82A}">
                    <a16:rowId xmlns:a16="http://schemas.microsoft.com/office/drawing/2014/main" val="10006"/>
                  </a:ext>
                </a:extLst>
              </a:tr>
              <a:tr h="1031970">
                <a:tc>
                  <a:txBody>
                    <a:bodyPr/>
                    <a:lstStyle/>
                    <a:p>
                      <a:pPr algn="l">
                        <a:spcAft>
                          <a:spcPts val="0"/>
                        </a:spcAft>
                      </a:pPr>
                      <a:r>
                        <a:rPr sz="2300" b="0">
                          <a:solidFill>
                            <a:srgbClr val="232B34"/>
                          </a:solidFill>
                          <a:latin typeface="Yu Gothic"/>
                          <a:ea typeface="Yu Gothic"/>
                        </a:rPr>
                        <a:t>節点数</a:t>
                      </a:r>
                      <a:endParaRPr sz="2300" b="0" dirty="0">
                        <a:solidFill>
                          <a:srgbClr val="232B34"/>
                        </a:solidFill>
                        <a:latin typeface="Yu Gothic"/>
                      </a:endParaRPr>
                    </a:p>
                  </a:txBody>
                  <a:tcPr marL="64008" marR="64008" marT="27432" marB="27432" anchor="ctr">
                    <a:solidFill>
                      <a:schemeClr val="bg1"/>
                    </a:solidFill>
                  </a:tcPr>
                </a:tc>
                <a:tc>
                  <a:txBody>
                    <a:bodyPr/>
                    <a:lstStyle/>
                    <a:p>
                      <a:pPr algn="ctr">
                        <a:spcAft>
                          <a:spcPts val="0"/>
                        </a:spcAft>
                      </a:pPr>
                      <a:r>
                        <a:rPr sz="2300" b="0">
                          <a:solidFill>
                            <a:srgbClr val="232B34"/>
                          </a:solidFill>
                          <a:latin typeface="Yu Gothic"/>
                          <a:ea typeface="Yu Gothic"/>
                        </a:rPr>
                        <a:t>125</a:t>
                      </a:r>
                      <a:endParaRPr sz="2300" b="0" dirty="0">
                        <a:solidFill>
                          <a:srgbClr val="232B34"/>
                        </a:solidFill>
                        <a:latin typeface="Yu Gothic"/>
                      </a:endParaRPr>
                    </a:p>
                  </a:txBody>
                  <a:tcPr marL="64008" marR="64008" marT="27432" marB="27432" anchor="ctr">
                    <a:solidFill>
                      <a:srgbClr val="EBF6FB"/>
                    </a:solidFill>
                  </a:tcPr>
                </a:tc>
                <a:extLst>
                  <a:ext uri="{0D108BD9-81ED-4DB2-BD59-A6C34878D82A}">
                    <a16:rowId xmlns:a16="http://schemas.microsoft.com/office/drawing/2014/main" val="4106942852"/>
                  </a:ext>
                </a:extLst>
              </a:tr>
            </a:tbl>
          </a:graphicData>
        </a:graphic>
      </p:graphicFrame>
      <p:sp>
        <p:nvSpPr>
          <p:cNvPr id="6" name="Rounded Rectangle 5"/>
          <p:cNvSpPr/>
          <p:nvPr/>
        </p:nvSpPr>
        <p:spPr>
          <a:xfrm>
            <a:off x="12618720" y="3608070"/>
            <a:ext cx="10424160" cy="3249930"/>
          </a:xfrm>
          <a:prstGeom prst="roundRect">
            <a:avLst/>
          </a:prstGeom>
          <a:solidFill>
            <a:srgbClr val="EBF6FB"/>
          </a:solidFill>
          <a:ln w="16510">
            <a:solidFill>
              <a:srgbClr val="5BB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3030200" y="4065270"/>
            <a:ext cx="9601200" cy="548640"/>
          </a:xfrm>
          <a:prstGeom prst="rect">
            <a:avLst/>
          </a:prstGeom>
          <a:noFill/>
        </p:spPr>
        <p:txBody>
          <a:bodyPr wrap="square" lIns="36576" tIns="27432" rIns="36576" bIns="27432" anchor="t">
            <a:spAutoFit/>
          </a:bodyPr>
          <a:lstStyle/>
          <a:p>
            <a:pPr algn="ctr">
              <a:spcAft>
                <a:spcPts val="0"/>
              </a:spcAft>
            </a:pPr>
            <a:r>
              <a:rPr sz="2700" b="1">
                <a:solidFill>
                  <a:srgbClr val="1B74AA"/>
                </a:solidFill>
                <a:latin typeface="Yu Gothic"/>
                <a:ea typeface="Yu Gothic"/>
              </a:rPr>
              <a:t>ケースで変える環境条件</a:t>
            </a:r>
          </a:p>
        </p:txBody>
      </p:sp>
      <p:sp>
        <p:nvSpPr>
          <p:cNvPr id="8" name="TextBox 7"/>
          <p:cNvSpPr txBox="1"/>
          <p:nvPr/>
        </p:nvSpPr>
        <p:spPr>
          <a:xfrm>
            <a:off x="13258800" y="5162550"/>
            <a:ext cx="9052560" cy="1497846"/>
          </a:xfrm>
          <a:prstGeom prst="rect">
            <a:avLst/>
          </a:prstGeom>
          <a:noFill/>
        </p:spPr>
        <p:txBody>
          <a:bodyPr wrap="square" lIns="27432" rIns="27432">
            <a:spAutoFit/>
          </a:bodyPr>
          <a:lstStyle/>
          <a:p>
            <a:pPr>
              <a:lnSpc>
                <a:spcPct val="110000"/>
              </a:lnSpc>
              <a:spcAft>
                <a:spcPts val="800"/>
              </a:spcAft>
            </a:pPr>
            <a:r>
              <a:rPr sz="2400" b="0">
                <a:solidFill>
                  <a:srgbClr val="232B34"/>
                </a:solidFill>
                <a:latin typeface="Yu Gothic"/>
                <a:ea typeface="Yu Gothic"/>
              </a:rPr>
              <a:t>• 内部機器の電源のON/OFF</a:t>
            </a:r>
            <a:endParaRPr sz="2600" dirty="0">
              <a:solidFill>
                <a:srgbClr val="232B34"/>
              </a:solidFill>
              <a:latin typeface="Yu Gothic"/>
            </a:endParaRPr>
          </a:p>
          <a:p>
            <a:pPr>
              <a:lnSpc>
                <a:spcPct val="110000"/>
              </a:lnSpc>
              <a:spcAft>
                <a:spcPts val="800"/>
              </a:spcAft>
            </a:pPr>
            <a:r>
              <a:rPr sz="2400" b="0">
                <a:solidFill>
                  <a:srgbClr val="232B34"/>
                </a:solidFill>
                <a:latin typeface="Yu Gothic"/>
                <a:ea typeface="Yu Gothic"/>
              </a:rPr>
              <a:t>• パネルの表面特性：標準（α=ε=0.5）/ Black / Alodine</a:t>
            </a:r>
          </a:p>
          <a:p>
            <a:pPr>
              <a:lnSpc>
                <a:spcPct val="110000"/>
              </a:lnSpc>
              <a:spcAft>
                <a:spcPts val="800"/>
              </a:spcAft>
            </a:pPr>
            <a:r>
              <a:rPr sz="2400" b="0">
                <a:solidFill>
                  <a:srgbClr val="232B34"/>
                </a:solidFill>
                <a:latin typeface="Yu Gothic"/>
                <a:ea typeface="Yu Gothic"/>
              </a:rPr>
              <a:t>• 軌道の種類：LTAN18 / 高度693 km（Sentinel-1衛星の模擬）</a:t>
            </a:r>
          </a:p>
        </p:txBody>
      </p:sp>
      <p:pic>
        <p:nvPicPr>
          <p:cNvPr id="11" name="図 10">
            <a:extLst>
              <a:ext uri="{FF2B5EF4-FFF2-40B4-BE49-F238E27FC236}">
                <a16:creationId xmlns:a16="http://schemas.microsoft.com/office/drawing/2014/main" id="{5385EA07-7CC6-CA16-E9A6-96A7DDD83B7D}"/>
              </a:ext>
            </a:extLst>
          </p:cNvPr>
          <p:cNvPicPr>
            <a:picLocks noChangeAspect="1"/>
          </p:cNvPicPr>
          <p:nvPr/>
        </p:nvPicPr>
        <p:blipFill>
          <a:blip r:embed="rId3"/>
          <a:stretch>
            <a:fillRect/>
          </a:stretch>
        </p:blipFill>
        <p:spPr>
          <a:xfrm>
            <a:off x="12762613" y="7209036"/>
            <a:ext cx="5106287" cy="5760251"/>
          </a:xfrm>
          <a:prstGeom prst="rect">
            <a:avLst/>
          </a:prstGeom>
        </p:spPr>
      </p:pic>
      <p:pic>
        <p:nvPicPr>
          <p:cNvPr id="13" name="図 12">
            <a:extLst>
              <a:ext uri="{FF2B5EF4-FFF2-40B4-BE49-F238E27FC236}">
                <a16:creationId xmlns:a16="http://schemas.microsoft.com/office/drawing/2014/main" id="{11BA4D21-78E8-44D2-D440-0C5D426F9686}"/>
              </a:ext>
            </a:extLst>
          </p:cNvPr>
          <p:cNvPicPr>
            <a:picLocks noChangeAspect="1"/>
          </p:cNvPicPr>
          <p:nvPr/>
        </p:nvPicPr>
        <p:blipFill>
          <a:blip r:embed="rId4"/>
          <a:stretch>
            <a:fillRect/>
          </a:stretch>
        </p:blipFill>
        <p:spPr>
          <a:xfrm>
            <a:off x="17898011" y="7209035"/>
            <a:ext cx="4845671" cy="5760251"/>
          </a:xfrm>
          <a:prstGeom prst="rect">
            <a:avLst/>
          </a:prstGeom>
        </p:spPr>
      </p:pic>
      <p:sp>
        <p:nvSpPr>
          <p:cNvPr id="15" name="テキスト ボックス 14">
            <a:extLst>
              <a:ext uri="{FF2B5EF4-FFF2-40B4-BE49-F238E27FC236}">
                <a16:creationId xmlns:a16="http://schemas.microsoft.com/office/drawing/2014/main" id="{0A0CDADD-D375-9200-9F52-3AD6FA1CF093}"/>
              </a:ext>
            </a:extLst>
          </p:cNvPr>
          <p:cNvSpPr txBox="1"/>
          <p:nvPr/>
        </p:nvSpPr>
        <p:spPr>
          <a:xfrm>
            <a:off x="1335024" y="3017520"/>
            <a:ext cx="10789920" cy="502920"/>
          </a:xfrm>
          <a:prstGeom prst="rect">
            <a:avLst/>
          </a:prstGeom>
          <a:noFill/>
        </p:spPr>
        <p:txBody>
          <a:bodyPr wrap="square" rtlCol="0">
            <a:spAutoFit/>
          </a:bodyPr>
          <a:lstStyle/>
          <a:p>
            <a:pPr algn="ctr">
              <a:spcAft>
                <a:spcPts val="0"/>
              </a:spcAft>
            </a:pPr>
            <a:r>
              <a:rPr sz="2200" b="0">
                <a:solidFill>
                  <a:srgbClr val="666F79"/>
                </a:solidFill>
                <a:latin typeface="Yu Gothic"/>
                <a:ea typeface="Yu Gothic"/>
              </a:rPr>
              <a:t>熱解析の主な入力</a:t>
            </a:r>
            <a:endParaRPr kumimoji="1" lang="ja-JP" altLang="en-US" sz="2800" dirty="0"/>
          </a:p>
        </p:txBody>
      </p:sp>
      <p:sp>
        <p:nvSpPr>
          <p:cNvPr id="16" name="TextBox 15"/>
          <p:cNvSpPr txBox="1"/>
          <p:nvPr/>
        </p:nvSpPr>
        <p:spPr>
          <a:xfrm>
            <a:off x="1335024" y="11978640"/>
            <a:ext cx="10972800" cy="548640"/>
          </a:xfrm>
          <a:prstGeom prst="rect">
            <a:avLst/>
          </a:prstGeom>
          <a:noFill/>
        </p:spPr>
        <p:txBody>
          <a:bodyPr wrap="square" lIns="45720" tIns="18288" rIns="45720" bIns="18288" anchor="t">
            <a:spAutoFit/>
          </a:bodyPr>
          <a:lstStyle/>
          <a:p>
            <a:pPr algn="l">
              <a:spcAft>
                <a:spcPts val="0"/>
              </a:spcAft>
            </a:pPr>
            <a:r>
              <a:rPr sz="2200" b="0">
                <a:solidFill>
                  <a:srgbClr val="666F79"/>
                </a:solidFill>
                <a:latin typeface="Yu Gothic"/>
                <a:ea typeface="Yu Gothic"/>
              </a:rPr>
              <a:t>出力：各パネルの温度場 T(t)。ここは地上の解析で、オンボードでは回さない</a:t>
            </a:r>
          </a:p>
        </p:txBody>
      </p:sp>
    </p:spTree>
    <p:extLst>
      <p:ext uri="{BB962C8B-B14F-4D97-AF65-F5344CB8AC3E}">
        <p14:creationId xmlns:p14="http://schemas.microsoft.com/office/powerpoint/2010/main" val="34901872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Yu Gothic"/>
                <a:ea typeface="Yu Gothic"/>
              </a:rPr>
              <a:t>熱構造解析</a:t>
            </a:r>
          </a:p>
        </p:txBody>
      </p:sp>
      <p:sp>
        <p:nvSpPr>
          <p:cNvPr id="3" name="TextBox 2"/>
          <p:cNvSpPr txBox="1"/>
          <p:nvPr/>
        </p:nvSpPr>
        <p:spPr>
          <a:xfrm>
            <a:off x="1536192" y="1298448"/>
            <a:ext cx="22037040" cy="1040285"/>
          </a:xfrm>
          <a:prstGeom prst="rect">
            <a:avLst/>
          </a:prstGeom>
          <a:noFill/>
        </p:spPr>
        <p:txBody>
          <a:bodyPr wrap="square" lIns="36576" tIns="27432" rIns="36576" bIns="27432" anchor="t">
            <a:spAutoFit/>
          </a:bodyPr>
          <a:lstStyle/>
          <a:p>
            <a:pPr algn="l">
              <a:spcAft>
                <a:spcPts val="0"/>
              </a:spcAft>
            </a:pPr>
            <a:endParaRPr lang="en-US" sz="3200" b="1" dirty="0">
              <a:solidFill>
                <a:srgbClr val="082B52"/>
              </a:solidFill>
              <a:latin typeface="Yu Gothic"/>
              <a:ea typeface="Yu Gothic"/>
            </a:endParaRPr>
          </a:p>
          <a:p>
            <a:pPr algn="l">
              <a:spcAft>
                <a:spcPts val="0"/>
              </a:spcAft>
            </a:pPr>
            <a:r>
              <a:rPr sz="3200" b="1" dirty="0" err="1">
                <a:solidFill>
                  <a:srgbClr val="082B52"/>
                </a:solidFill>
                <a:latin typeface="Yu Gothic"/>
                <a:ea typeface="Yu Gothic"/>
              </a:rPr>
              <a:t>温度場をFemapに渡し、STTとLCTの並進と回転を得る</a:t>
            </a:r>
            <a:endParaRPr lang="en-US" sz="3200" b="1" dirty="0">
              <a:solidFill>
                <a:srgbClr val="082B52"/>
              </a:solidFill>
              <a:latin typeface="Yu Gothic"/>
            </a:endParaRPr>
          </a:p>
        </p:txBody>
      </p:sp>
      <p:sp>
        <p:nvSpPr>
          <p:cNvPr id="4" name="TextBox 3"/>
          <p:cNvSpPr txBox="1"/>
          <p:nvPr/>
        </p:nvSpPr>
        <p:spPr>
          <a:xfrm>
            <a:off x="21762720" y="12819888"/>
            <a:ext cx="2011680" cy="332399"/>
          </a:xfrm>
          <a:prstGeom prst="rect">
            <a:avLst/>
          </a:prstGeom>
          <a:noFill/>
        </p:spPr>
        <p:txBody>
          <a:bodyPr wrap="square" lIns="36576" tIns="27432" rIns="36576" bIns="27432" anchor="t">
            <a:spAutoFit/>
          </a:bodyPr>
          <a:lstStyle/>
          <a:p>
            <a:pPr algn="r">
              <a:spcAft>
                <a:spcPts val="0"/>
              </a:spcAft>
            </a:pPr>
            <a:r>
              <a:rPr lang="en-US" dirty="0">
                <a:solidFill>
                  <a:srgbClr val="666F79"/>
                </a:solidFill>
                <a:latin typeface="Yu Gothic"/>
                <a:ea typeface="Yu Gothic"/>
              </a:rPr>
              <a:t>9</a:t>
            </a:r>
            <a:endParaRPr sz="1800" b="0" dirty="0">
              <a:solidFill>
                <a:srgbClr val="666F79"/>
              </a:solidFill>
              <a:latin typeface="Yu Gothic"/>
              <a:ea typeface="Yu Gothic"/>
            </a:endParaRPr>
          </a:p>
        </p:txBody>
      </p:sp>
      <p:graphicFrame>
        <p:nvGraphicFramePr>
          <p:cNvPr id="5" name="Table 4"/>
          <p:cNvGraphicFramePr>
            <a:graphicFrameLocks noGrp="1"/>
          </p:cNvGraphicFramePr>
          <p:nvPr>
            <p:extLst>
              <p:ext uri="{D42A27DB-BD31-4B8C-83A1-F6EECF244321}">
                <p14:modId xmlns:p14="http://schemas.microsoft.com/office/powerpoint/2010/main" val="3104497403"/>
              </p:ext>
            </p:extLst>
          </p:nvPr>
        </p:nvGraphicFramePr>
        <p:xfrm>
          <a:off x="1197699" y="3836670"/>
          <a:ext cx="10881360" cy="7772400"/>
        </p:xfrm>
        <a:graphic>
          <a:graphicData uri="http://schemas.openxmlformats.org/drawingml/2006/table">
            <a:tbl>
              <a:tblPr firstRow="1" bandRow="1">
                <a:tableStyleId>{5C22544A-7EE6-4342-B048-85BDC9FD1C3A}</a:tableStyleId>
              </a:tblPr>
              <a:tblGrid>
                <a:gridCol w="4663440">
                  <a:extLst>
                    <a:ext uri="{9D8B030D-6E8A-4147-A177-3AD203B41FA5}">
                      <a16:colId xmlns:a16="http://schemas.microsoft.com/office/drawing/2014/main" val="20000"/>
                    </a:ext>
                  </a:extLst>
                </a:gridCol>
                <a:gridCol w="6217920">
                  <a:extLst>
                    <a:ext uri="{9D8B030D-6E8A-4147-A177-3AD203B41FA5}">
                      <a16:colId xmlns:a16="http://schemas.microsoft.com/office/drawing/2014/main" val="20001"/>
                    </a:ext>
                  </a:extLst>
                </a:gridCol>
              </a:tblGrid>
              <a:tr h="971550">
                <a:tc>
                  <a:txBody>
                    <a:bodyPr/>
                    <a:lstStyle/>
                    <a:p>
                      <a:pPr algn="l">
                        <a:spcAft>
                          <a:spcPts val="0"/>
                        </a:spcAft>
                      </a:pPr>
                      <a:r>
                        <a:rPr sz="2200" b="1">
                          <a:solidFill>
                            <a:srgbClr val="FFFFFF"/>
                          </a:solidFill>
                          <a:latin typeface="Yu Gothic"/>
                          <a:ea typeface="Yu Gothic"/>
                        </a:rPr>
                        <a:t>構造解析の設定</a:t>
                      </a:r>
                    </a:p>
                  </a:txBody>
                  <a:tcPr marL="64008" marR="64008" marT="27432" marB="27432" anchor="ctr">
                    <a:solidFill>
                      <a:srgbClr val="082B52"/>
                    </a:solidFill>
                  </a:tcPr>
                </a:tc>
                <a:tc>
                  <a:txBody>
                    <a:bodyPr/>
                    <a:lstStyle/>
                    <a:p>
                      <a:pPr algn="ctr">
                        <a:spcAft>
                          <a:spcPts val="0"/>
                        </a:spcAft>
                      </a:pPr>
                      <a:r>
                        <a:rPr sz="2200" b="1">
                          <a:solidFill>
                            <a:srgbClr val="FFFFFF"/>
                          </a:solidFill>
                          <a:latin typeface="Yu Gothic"/>
                          <a:ea typeface="Yu Gothic"/>
                        </a:rPr>
                        <a:t>値</a:t>
                      </a:r>
                    </a:p>
                  </a:txBody>
                  <a:tcPr marL="64008" marR="64008" marT="27432" marB="27432" anchor="ctr">
                    <a:solidFill>
                      <a:srgbClr val="082B52"/>
                    </a:solidFill>
                  </a:tcPr>
                </a:tc>
                <a:extLst>
                  <a:ext uri="{0D108BD9-81ED-4DB2-BD59-A6C34878D82A}">
                    <a16:rowId xmlns:a16="http://schemas.microsoft.com/office/drawing/2014/main" val="10000"/>
                  </a:ext>
                </a:extLst>
              </a:tr>
              <a:tr h="971550">
                <a:tc>
                  <a:txBody>
                    <a:bodyPr/>
                    <a:lstStyle/>
                    <a:p>
                      <a:pPr algn="l">
                        <a:spcAft>
                          <a:spcPts val="0"/>
                        </a:spcAft>
                      </a:pPr>
                      <a:r>
                        <a:rPr sz="2200" b="0">
                          <a:solidFill>
                            <a:srgbClr val="232B34"/>
                          </a:solidFill>
                          <a:latin typeface="Yu Gothic"/>
                          <a:ea typeface="Yu Gothic"/>
                        </a:rPr>
                        <a:t>材料</a:t>
                      </a:r>
                    </a:p>
                  </a:txBody>
                  <a:tcPr marL="64008" marR="64008" marT="27432" marB="27432" anchor="ctr">
                    <a:solidFill>
                      <a:srgbClr val="FFFFFF"/>
                    </a:solidFill>
                  </a:tcPr>
                </a:tc>
                <a:tc>
                  <a:txBody>
                    <a:bodyPr/>
                    <a:lstStyle/>
                    <a:p>
                      <a:pPr algn="ctr">
                        <a:spcAft>
                          <a:spcPts val="0"/>
                        </a:spcAft>
                      </a:pPr>
                      <a:r>
                        <a:rPr sz="2200" b="0">
                          <a:solidFill>
                            <a:srgbClr val="232B34"/>
                          </a:solidFill>
                          <a:latin typeface="Yu Gothic"/>
                          <a:ea typeface="Yu Gothic"/>
                        </a:rPr>
                        <a:t>アルミニウム A5052</a:t>
                      </a:r>
                    </a:p>
                  </a:txBody>
                  <a:tcPr marL="64008" marR="64008" marT="27432" marB="27432" anchor="ctr">
                    <a:solidFill>
                      <a:srgbClr val="EBF6FB"/>
                    </a:solidFill>
                  </a:tcPr>
                </a:tc>
                <a:extLst>
                  <a:ext uri="{0D108BD9-81ED-4DB2-BD59-A6C34878D82A}">
                    <a16:rowId xmlns:a16="http://schemas.microsoft.com/office/drawing/2014/main" val="10001"/>
                  </a:ext>
                </a:extLst>
              </a:tr>
              <a:tr h="971550">
                <a:tc>
                  <a:txBody>
                    <a:bodyPr/>
                    <a:lstStyle/>
                    <a:p>
                      <a:pPr algn="l">
                        <a:spcAft>
                          <a:spcPts val="0"/>
                        </a:spcAft>
                      </a:pPr>
                      <a:r>
                        <a:rPr sz="2200" b="0">
                          <a:solidFill>
                            <a:srgbClr val="232B34"/>
                          </a:solidFill>
                          <a:latin typeface="Yu Gothic"/>
                          <a:ea typeface="Yu Gothic"/>
                        </a:rPr>
                        <a:t>ヤング率</a:t>
                      </a:r>
                    </a:p>
                  </a:txBody>
                  <a:tcPr marL="64008" marR="64008" marT="27432" marB="27432" anchor="ctr">
                    <a:solidFill>
                      <a:srgbClr val="F4F6F8"/>
                    </a:solidFill>
                  </a:tcPr>
                </a:tc>
                <a:tc>
                  <a:txBody>
                    <a:bodyPr/>
                    <a:lstStyle/>
                    <a:p>
                      <a:pPr algn="ctr">
                        <a:spcAft>
                          <a:spcPts val="0"/>
                        </a:spcAft>
                      </a:pPr>
                      <a:r>
                        <a:rPr sz="2200" b="0">
                          <a:solidFill>
                            <a:srgbClr val="232B34"/>
                          </a:solidFill>
                          <a:latin typeface="Yu Gothic"/>
                          <a:ea typeface="Yu Gothic"/>
                        </a:rPr>
                        <a:t>70.327 GPa</a:t>
                      </a:r>
                    </a:p>
                  </a:txBody>
                  <a:tcPr marL="64008" marR="64008" marT="27432" marB="27432" anchor="ctr">
                    <a:solidFill>
                      <a:srgbClr val="EBF6FB"/>
                    </a:solidFill>
                  </a:tcPr>
                </a:tc>
                <a:extLst>
                  <a:ext uri="{0D108BD9-81ED-4DB2-BD59-A6C34878D82A}">
                    <a16:rowId xmlns:a16="http://schemas.microsoft.com/office/drawing/2014/main" val="10002"/>
                  </a:ext>
                </a:extLst>
              </a:tr>
              <a:tr h="971550">
                <a:tc>
                  <a:txBody>
                    <a:bodyPr/>
                    <a:lstStyle/>
                    <a:p>
                      <a:pPr algn="l">
                        <a:spcAft>
                          <a:spcPts val="0"/>
                        </a:spcAft>
                      </a:pPr>
                      <a:r>
                        <a:rPr sz="2200" b="0">
                          <a:solidFill>
                            <a:srgbClr val="232B34"/>
                          </a:solidFill>
                          <a:latin typeface="Yu Gothic"/>
                          <a:ea typeface="Yu Gothic"/>
                        </a:rPr>
                        <a:t>ポアソン比</a:t>
                      </a:r>
                    </a:p>
                  </a:txBody>
                  <a:tcPr marL="64008" marR="64008" marT="27432" marB="27432" anchor="ctr">
                    <a:solidFill>
                      <a:srgbClr val="FFFFFF"/>
                    </a:solidFill>
                  </a:tcPr>
                </a:tc>
                <a:tc>
                  <a:txBody>
                    <a:bodyPr/>
                    <a:lstStyle/>
                    <a:p>
                      <a:pPr algn="ctr">
                        <a:spcAft>
                          <a:spcPts val="0"/>
                        </a:spcAft>
                      </a:pPr>
                      <a:r>
                        <a:rPr sz="2200" b="0">
                          <a:solidFill>
                            <a:srgbClr val="232B34"/>
                          </a:solidFill>
                          <a:latin typeface="Yu Gothic"/>
                          <a:ea typeface="Yu Gothic"/>
                        </a:rPr>
                        <a:t>0.33</a:t>
                      </a:r>
                    </a:p>
                  </a:txBody>
                  <a:tcPr marL="64008" marR="64008" marT="27432" marB="27432" anchor="ctr">
                    <a:solidFill>
                      <a:srgbClr val="EBF6FB"/>
                    </a:solidFill>
                  </a:tcPr>
                </a:tc>
                <a:extLst>
                  <a:ext uri="{0D108BD9-81ED-4DB2-BD59-A6C34878D82A}">
                    <a16:rowId xmlns:a16="http://schemas.microsoft.com/office/drawing/2014/main" val="10003"/>
                  </a:ext>
                </a:extLst>
              </a:tr>
              <a:tr h="971550">
                <a:tc>
                  <a:txBody>
                    <a:bodyPr/>
                    <a:lstStyle/>
                    <a:p>
                      <a:pPr algn="l">
                        <a:spcAft>
                          <a:spcPts val="0"/>
                        </a:spcAft>
                      </a:pPr>
                      <a:r>
                        <a:rPr sz="2200" b="0">
                          <a:solidFill>
                            <a:srgbClr val="232B34"/>
                          </a:solidFill>
                          <a:latin typeface="Yu Gothic"/>
                          <a:ea typeface="Yu Gothic"/>
                        </a:rPr>
                        <a:t>線膨張係数</a:t>
                      </a:r>
                    </a:p>
                  </a:txBody>
                  <a:tcPr marL="64008" marR="64008" marT="27432" marB="27432" anchor="ctr">
                    <a:solidFill>
                      <a:srgbClr val="F4F6F8"/>
                    </a:solidFill>
                  </a:tcPr>
                </a:tc>
                <a:tc>
                  <a:txBody>
                    <a:bodyPr/>
                    <a:lstStyle/>
                    <a:p>
                      <a:pPr algn="ctr">
                        <a:spcAft>
                          <a:spcPts val="0"/>
                        </a:spcAft>
                      </a:pPr>
                      <a:r>
                        <a:rPr sz="2200" b="0">
                          <a:solidFill>
                            <a:srgbClr val="232B34"/>
                          </a:solidFill>
                          <a:latin typeface="Yu Gothic"/>
                          <a:ea typeface="Yu Gothic"/>
                        </a:rPr>
                        <a:t>2.376×10⁻⁵ /K</a:t>
                      </a:r>
                    </a:p>
                  </a:txBody>
                  <a:tcPr marL="64008" marR="64008" marT="27432" marB="27432" anchor="ctr">
                    <a:solidFill>
                      <a:srgbClr val="EBF6FB"/>
                    </a:solidFill>
                  </a:tcPr>
                </a:tc>
                <a:extLst>
                  <a:ext uri="{0D108BD9-81ED-4DB2-BD59-A6C34878D82A}">
                    <a16:rowId xmlns:a16="http://schemas.microsoft.com/office/drawing/2014/main" val="10004"/>
                  </a:ext>
                </a:extLst>
              </a:tr>
              <a:tr h="971550">
                <a:tc>
                  <a:txBody>
                    <a:bodyPr/>
                    <a:lstStyle/>
                    <a:p>
                      <a:pPr algn="l">
                        <a:spcAft>
                          <a:spcPts val="0"/>
                        </a:spcAft>
                      </a:pPr>
                      <a:r>
                        <a:rPr sz="2200" b="0">
                          <a:solidFill>
                            <a:srgbClr val="232B34"/>
                          </a:solidFill>
                          <a:latin typeface="Yu Gothic"/>
                          <a:ea typeface="Yu Gothic"/>
                        </a:rPr>
                        <a:t>密度</a:t>
                      </a:r>
                    </a:p>
                  </a:txBody>
                  <a:tcPr marL="64008" marR="64008" marT="27432" marB="27432" anchor="ctr">
                    <a:solidFill>
                      <a:srgbClr val="FFFFFF"/>
                    </a:solidFill>
                  </a:tcPr>
                </a:tc>
                <a:tc>
                  <a:txBody>
                    <a:bodyPr/>
                    <a:lstStyle/>
                    <a:p>
                      <a:pPr algn="ctr">
                        <a:spcAft>
                          <a:spcPts val="0"/>
                        </a:spcAft>
                      </a:pPr>
                      <a:r>
                        <a:rPr sz="2200" b="0">
                          <a:solidFill>
                            <a:srgbClr val="232B34"/>
                          </a:solidFill>
                          <a:latin typeface="Yu Gothic"/>
                          <a:ea typeface="Yu Gothic"/>
                        </a:rPr>
                        <a:t>2685 kg/m³</a:t>
                      </a:r>
                    </a:p>
                  </a:txBody>
                  <a:tcPr marL="64008" marR="64008" marT="27432" marB="27432" anchor="ctr">
                    <a:solidFill>
                      <a:srgbClr val="EBF6FB"/>
                    </a:solidFill>
                  </a:tcPr>
                </a:tc>
                <a:extLst>
                  <a:ext uri="{0D108BD9-81ED-4DB2-BD59-A6C34878D82A}">
                    <a16:rowId xmlns:a16="http://schemas.microsoft.com/office/drawing/2014/main" val="10005"/>
                  </a:ext>
                </a:extLst>
              </a:tr>
              <a:tr h="971550">
                <a:tc>
                  <a:txBody>
                    <a:bodyPr/>
                    <a:lstStyle/>
                    <a:p>
                      <a:pPr algn="l">
                        <a:spcAft>
                          <a:spcPts val="0"/>
                        </a:spcAft>
                      </a:pPr>
                      <a:r>
                        <a:rPr sz="2200" b="0">
                          <a:solidFill>
                            <a:srgbClr val="232B34"/>
                          </a:solidFill>
                          <a:latin typeface="Yu Gothic"/>
                          <a:ea typeface="Yu Gothic"/>
                        </a:rPr>
                        <a:t>基準温度</a:t>
                      </a:r>
                    </a:p>
                  </a:txBody>
                  <a:tcPr marL="64008" marR="64008" marT="27432" marB="27432" anchor="ctr">
                    <a:solidFill>
                      <a:srgbClr val="F4F6F8"/>
                    </a:solidFill>
                  </a:tcPr>
                </a:tc>
                <a:tc>
                  <a:txBody>
                    <a:bodyPr/>
                    <a:lstStyle/>
                    <a:p>
                      <a:pPr algn="ctr">
                        <a:spcAft>
                          <a:spcPts val="0"/>
                        </a:spcAft>
                      </a:pPr>
                      <a:r>
                        <a:rPr sz="2200" b="0">
                          <a:solidFill>
                            <a:srgbClr val="232B34"/>
                          </a:solidFill>
                          <a:latin typeface="Yu Gothic"/>
                          <a:ea typeface="Yu Gothic"/>
                        </a:rPr>
                        <a:t>23.9 ℃</a:t>
                      </a:r>
                    </a:p>
                  </a:txBody>
                  <a:tcPr marL="64008" marR="64008" marT="27432" marB="27432" anchor="ctr">
                    <a:solidFill>
                      <a:srgbClr val="EBF6FB"/>
                    </a:solidFill>
                  </a:tcPr>
                </a:tc>
                <a:extLst>
                  <a:ext uri="{0D108BD9-81ED-4DB2-BD59-A6C34878D82A}">
                    <a16:rowId xmlns:a16="http://schemas.microsoft.com/office/drawing/2014/main" val="10006"/>
                  </a:ext>
                </a:extLst>
              </a:tr>
              <a:tr h="971550">
                <a:tc>
                  <a:txBody>
                    <a:bodyPr/>
                    <a:lstStyle/>
                    <a:p>
                      <a:pPr algn="l">
                        <a:spcAft>
                          <a:spcPts val="0"/>
                        </a:spcAft>
                      </a:pPr>
                      <a:r>
                        <a:rPr sz="2200" b="0">
                          <a:solidFill>
                            <a:srgbClr val="232B34"/>
                          </a:solidFill>
                          <a:latin typeface="Yu Gothic"/>
                          <a:ea typeface="Yu Gothic"/>
                        </a:rPr>
                        <a:t>拘束</a:t>
                      </a:r>
                    </a:p>
                  </a:txBody>
                  <a:tcPr marL="64008" marR="64008" marT="27432" marB="27432" anchor="ctr">
                    <a:solidFill>
                      <a:srgbClr val="FFFFFF"/>
                    </a:solidFill>
                  </a:tcPr>
                </a:tc>
                <a:tc>
                  <a:txBody>
                    <a:bodyPr/>
                    <a:lstStyle/>
                    <a:p>
                      <a:pPr algn="ctr">
                        <a:spcAft>
                          <a:spcPts val="0"/>
                        </a:spcAft>
                      </a:pPr>
                      <a:r>
                        <a:rPr sz="2200" b="0">
                          <a:solidFill>
                            <a:srgbClr val="232B34"/>
                          </a:solidFill>
                          <a:latin typeface="Yu Gothic"/>
                          <a:ea typeface="Yu Gothic"/>
                        </a:rPr>
                        <a:t>STT近傍の小領域</a:t>
                      </a:r>
                    </a:p>
                  </a:txBody>
                  <a:tcPr marL="64008" marR="64008" marT="27432" marB="27432" anchor="ctr">
                    <a:solidFill>
                      <a:srgbClr val="EBF6FB"/>
                    </a:solidFill>
                  </a:tcPr>
                </a:tc>
                <a:extLst>
                  <a:ext uri="{0D108BD9-81ED-4DB2-BD59-A6C34878D82A}">
                    <a16:rowId xmlns:a16="http://schemas.microsoft.com/office/drawing/2014/main" val="10007"/>
                  </a:ext>
                </a:extLst>
              </a:tr>
            </a:tbl>
          </a:graphicData>
        </a:graphic>
      </p:graphicFrame>
      <p:pic>
        <p:nvPicPr>
          <p:cNvPr id="11" name="図 10">
            <a:extLst>
              <a:ext uri="{FF2B5EF4-FFF2-40B4-BE49-F238E27FC236}">
                <a16:creationId xmlns:a16="http://schemas.microsoft.com/office/drawing/2014/main" id="{33EA1EC9-3A8D-5610-E95D-DAD2EA5D39A2}"/>
              </a:ext>
            </a:extLst>
          </p:cNvPr>
          <p:cNvPicPr>
            <a:picLocks noChangeAspect="1"/>
          </p:cNvPicPr>
          <p:nvPr/>
        </p:nvPicPr>
        <p:blipFill>
          <a:blip r:embed="rId3"/>
          <a:stretch>
            <a:fillRect/>
          </a:stretch>
        </p:blipFill>
        <p:spPr>
          <a:xfrm>
            <a:off x="18341942" y="3905404"/>
            <a:ext cx="5432458" cy="5394601"/>
          </a:xfrm>
          <a:prstGeom prst="rect">
            <a:avLst/>
          </a:prstGeom>
        </p:spPr>
      </p:pic>
      <p:pic>
        <p:nvPicPr>
          <p:cNvPr id="13" name="図 12">
            <a:extLst>
              <a:ext uri="{FF2B5EF4-FFF2-40B4-BE49-F238E27FC236}">
                <a16:creationId xmlns:a16="http://schemas.microsoft.com/office/drawing/2014/main" id="{9819C62F-71DC-7E63-A5D1-87F199B5835C}"/>
              </a:ext>
            </a:extLst>
          </p:cNvPr>
          <p:cNvPicPr>
            <a:picLocks noChangeAspect="1"/>
          </p:cNvPicPr>
          <p:nvPr/>
        </p:nvPicPr>
        <p:blipFill>
          <a:blip r:embed="rId4"/>
          <a:stretch>
            <a:fillRect/>
          </a:stretch>
        </p:blipFill>
        <p:spPr>
          <a:xfrm>
            <a:off x="12605704" y="3905404"/>
            <a:ext cx="4858544" cy="5394601"/>
          </a:xfrm>
          <a:prstGeom prst="rect">
            <a:avLst/>
          </a:prstGeom>
        </p:spPr>
      </p:pic>
      <p:sp>
        <p:nvSpPr>
          <p:cNvPr id="14" name="矢印: 右 13">
            <a:extLst>
              <a:ext uri="{FF2B5EF4-FFF2-40B4-BE49-F238E27FC236}">
                <a16:creationId xmlns:a16="http://schemas.microsoft.com/office/drawing/2014/main" id="{274F2E0C-AA92-CDB0-DFC5-34073207F1FB}"/>
              </a:ext>
            </a:extLst>
          </p:cNvPr>
          <p:cNvSpPr/>
          <p:nvPr/>
        </p:nvSpPr>
        <p:spPr>
          <a:xfrm>
            <a:off x="17681719" y="6406172"/>
            <a:ext cx="549242" cy="82679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1926A544-E0FB-FDB4-1194-CFA22C5E6846}"/>
              </a:ext>
            </a:extLst>
          </p:cNvPr>
          <p:cNvSpPr txBox="1"/>
          <p:nvPr/>
        </p:nvSpPr>
        <p:spPr>
          <a:xfrm>
            <a:off x="1197864" y="3273552"/>
            <a:ext cx="10881360" cy="502920"/>
          </a:xfrm>
          <a:prstGeom prst="rect">
            <a:avLst/>
          </a:prstGeom>
          <a:noFill/>
        </p:spPr>
        <p:txBody>
          <a:bodyPr wrap="square" rtlCol="0">
            <a:spAutoFit/>
          </a:bodyPr>
          <a:lstStyle/>
          <a:p>
            <a:pPr algn="ctr">
              <a:spcAft>
                <a:spcPts val="0"/>
              </a:spcAft>
            </a:pPr>
            <a:r>
              <a:rPr sz="2200" b="0">
                <a:solidFill>
                  <a:srgbClr val="666F79"/>
                </a:solidFill>
                <a:latin typeface="Yu Gothic"/>
                <a:ea typeface="Yu Gothic"/>
              </a:rPr>
              <a:t>構造解析の主な設定</a:t>
            </a:r>
            <a:endParaRPr kumimoji="1" lang="ja-JP" altLang="en-US" sz="2800" dirty="0"/>
          </a:p>
        </p:txBody>
      </p:sp>
      <p:pic>
        <p:nvPicPr>
          <p:cNvPr id="18" name="図 17">
            <a:extLst>
              <a:ext uri="{FF2B5EF4-FFF2-40B4-BE49-F238E27FC236}">
                <a16:creationId xmlns:a16="http://schemas.microsoft.com/office/drawing/2014/main" id="{041DF615-0588-9513-FBA8-0B01D88C40DE}"/>
              </a:ext>
            </a:extLst>
          </p:cNvPr>
          <p:cNvPicPr>
            <a:picLocks noChangeAspect="1"/>
          </p:cNvPicPr>
          <p:nvPr/>
        </p:nvPicPr>
        <p:blipFill>
          <a:blip r:embed="rId5"/>
          <a:stretch>
            <a:fillRect/>
          </a:stretch>
        </p:blipFill>
        <p:spPr>
          <a:xfrm>
            <a:off x="16694545" y="10012017"/>
            <a:ext cx="2523589" cy="2999895"/>
          </a:xfrm>
          <a:prstGeom prst="rect">
            <a:avLst/>
          </a:prstGeom>
        </p:spPr>
      </p:pic>
      <p:cxnSp>
        <p:nvCxnSpPr>
          <p:cNvPr id="20" name="直線矢印コネクタ 19">
            <a:extLst>
              <a:ext uri="{FF2B5EF4-FFF2-40B4-BE49-F238E27FC236}">
                <a16:creationId xmlns:a16="http://schemas.microsoft.com/office/drawing/2014/main" id="{DB910861-8EB1-0B83-13D2-A55697BCFD48}"/>
              </a:ext>
            </a:extLst>
          </p:cNvPr>
          <p:cNvCxnSpPr/>
          <p:nvPr/>
        </p:nvCxnSpPr>
        <p:spPr>
          <a:xfrm flipV="1">
            <a:off x="17956339" y="7524750"/>
            <a:ext cx="0" cy="226695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21" name="テキスト ボックス 20">
            <a:extLst>
              <a:ext uri="{FF2B5EF4-FFF2-40B4-BE49-F238E27FC236}">
                <a16:creationId xmlns:a16="http://schemas.microsoft.com/office/drawing/2014/main" id="{A8BC2C95-4E51-07EA-299C-28233B3B7BA8}"/>
              </a:ext>
            </a:extLst>
          </p:cNvPr>
          <p:cNvSpPr txBox="1"/>
          <p:nvPr/>
        </p:nvSpPr>
        <p:spPr>
          <a:xfrm>
            <a:off x="19491981" y="12280232"/>
            <a:ext cx="2523589" cy="584775"/>
          </a:xfrm>
          <a:prstGeom prst="rect">
            <a:avLst/>
          </a:prstGeom>
          <a:noFill/>
        </p:spPr>
        <p:txBody>
          <a:bodyPr wrap="square" rtlCol="0">
            <a:spAutoFit/>
          </a:bodyPr>
          <a:lstStyle/>
          <a:p>
            <a:pPr>
              <a:spcAft>
                <a:spcPts val="0"/>
              </a:spcAft>
            </a:pPr>
            <a:r>
              <a:rPr sz="2200" b="1">
                <a:solidFill>
                  <a:srgbClr val="1B74AA"/>
                </a:solidFill>
                <a:latin typeface="Yu Gothic"/>
                <a:ea typeface="Yu Gothic"/>
              </a:rPr>
              <a:t>熱解析の温度場</a:t>
            </a:r>
          </a:p>
        </p:txBody>
      </p:sp>
      <p:sp>
        <p:nvSpPr>
          <p:cNvPr id="22" name="TextBox 21"/>
          <p:cNvSpPr txBox="1"/>
          <p:nvPr/>
        </p:nvSpPr>
        <p:spPr>
          <a:xfrm>
            <a:off x="1197864" y="11887200"/>
            <a:ext cx="11430000" cy="548640"/>
          </a:xfrm>
          <a:prstGeom prst="rect">
            <a:avLst/>
          </a:prstGeom>
          <a:noFill/>
        </p:spPr>
        <p:txBody>
          <a:bodyPr wrap="square" lIns="45720" tIns="18288" rIns="45720" bIns="18288" anchor="t">
            <a:spAutoFit/>
          </a:bodyPr>
          <a:lstStyle/>
          <a:p>
            <a:pPr algn="l">
              <a:spcAft>
                <a:spcPts val="0"/>
              </a:spcAft>
            </a:pPr>
            <a:r>
              <a:rPr sz="2200" b="0">
                <a:solidFill>
                  <a:srgbClr val="666F79"/>
                </a:solidFill>
                <a:latin typeface="Yu Gothic"/>
                <a:ea typeface="Yu Gothic"/>
              </a:rPr>
              <a:t>熱はThermal Desktop、構造はFemap。どちらも教師データを作るための地上ツール</a:t>
            </a:r>
          </a:p>
        </p:txBody>
      </p:sp>
    </p:spTree>
    <p:extLst>
      <p:ext uri="{BB962C8B-B14F-4D97-AF65-F5344CB8AC3E}">
        <p14:creationId xmlns:p14="http://schemas.microsoft.com/office/powerpoint/2010/main" val="40837759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Yu Gothic"/>
                <a:ea typeface="Yu Gothic"/>
              </a:rPr>
              <a:t>熱構造解析</a:t>
            </a:r>
          </a:p>
        </p:txBody>
      </p:sp>
      <p:sp>
        <p:nvSpPr>
          <p:cNvPr id="3" name="TextBox 2"/>
          <p:cNvSpPr txBox="1"/>
          <p:nvPr/>
        </p:nvSpPr>
        <p:spPr>
          <a:xfrm>
            <a:off x="1536192" y="1298448"/>
            <a:ext cx="22037040" cy="1040285"/>
          </a:xfrm>
          <a:prstGeom prst="rect">
            <a:avLst/>
          </a:prstGeom>
          <a:noFill/>
        </p:spPr>
        <p:txBody>
          <a:bodyPr wrap="square" lIns="36576" tIns="27432" rIns="36576" bIns="27432" anchor="t">
            <a:spAutoFit/>
          </a:bodyPr>
          <a:lstStyle/>
          <a:p>
            <a:pPr algn="l">
              <a:spcAft>
                <a:spcPts val="0"/>
              </a:spcAft>
            </a:pPr>
            <a:endParaRPr lang="en-US" sz="3200" b="1" dirty="0">
              <a:solidFill>
                <a:srgbClr val="082B52"/>
              </a:solidFill>
              <a:latin typeface="Yu Gothic"/>
              <a:ea typeface="Yu Gothic"/>
            </a:endParaRPr>
          </a:p>
          <a:p>
            <a:pPr algn="l">
              <a:spcAft>
                <a:spcPts val="0"/>
              </a:spcAft>
            </a:pPr>
            <a:r>
              <a:rPr sz="3200" b="1" dirty="0" err="1">
                <a:solidFill>
                  <a:srgbClr val="082B52"/>
                </a:solidFill>
                <a:latin typeface="Yu Gothic"/>
                <a:ea typeface="Yu Gothic"/>
              </a:rPr>
              <a:t>遠方リンクで効くのは、STTに対するLCT光軸の相対回転である</a:t>
            </a:r>
            <a:endParaRPr lang="en-US" sz="3200" b="1" dirty="0">
              <a:solidFill>
                <a:srgbClr val="082B52"/>
              </a:solidFill>
              <a:latin typeface="Yu Gothic"/>
            </a:endParaRPr>
          </a:p>
        </p:txBody>
      </p:sp>
      <p:sp>
        <p:nvSpPr>
          <p:cNvPr id="4" name="TextBox 3"/>
          <p:cNvSpPr txBox="1"/>
          <p:nvPr/>
        </p:nvSpPr>
        <p:spPr>
          <a:xfrm>
            <a:off x="23444052" y="12819888"/>
            <a:ext cx="330348" cy="332399"/>
          </a:xfrm>
          <a:prstGeom prst="rect">
            <a:avLst/>
          </a:prstGeom>
          <a:noFill/>
        </p:spPr>
        <p:txBody>
          <a:bodyPr wrap="square" lIns="36576" tIns="27432" rIns="36576" bIns="27432" anchor="t">
            <a:spAutoFit/>
          </a:bodyPr>
          <a:lstStyle/>
          <a:p>
            <a:pPr algn="r">
              <a:spcAft>
                <a:spcPts val="0"/>
              </a:spcAft>
            </a:pPr>
            <a:r>
              <a:rPr lang="en-US" dirty="0">
                <a:solidFill>
                  <a:srgbClr val="666F79"/>
                </a:solidFill>
                <a:latin typeface="Yu Gothic"/>
                <a:ea typeface="Yu Gothic"/>
              </a:rPr>
              <a:t>10</a:t>
            </a:r>
            <a:endParaRPr sz="1800" b="0" dirty="0">
              <a:solidFill>
                <a:srgbClr val="666F79"/>
              </a:solidFill>
              <a:latin typeface="Yu Gothic"/>
            </a:endParaRPr>
          </a:p>
        </p:txBody>
      </p:sp>
      <p:sp>
        <p:nvSpPr>
          <p:cNvPr id="7" name="Rounded Rectangle 6"/>
          <p:cNvSpPr/>
          <p:nvPr/>
        </p:nvSpPr>
        <p:spPr>
          <a:xfrm>
            <a:off x="15544800" y="2788920"/>
            <a:ext cx="7753350" cy="8229600"/>
          </a:xfrm>
          <a:prstGeom prst="roundRect">
            <a:avLst/>
          </a:prstGeom>
          <a:solidFill>
            <a:srgbClr val="EBF6FB"/>
          </a:solidFill>
          <a:ln w="16510">
            <a:solidFill>
              <a:srgbClr val="5BB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002000" y="3246120"/>
            <a:ext cx="6839712" cy="566928"/>
          </a:xfrm>
          <a:prstGeom prst="rect">
            <a:avLst/>
          </a:prstGeom>
          <a:noFill/>
        </p:spPr>
        <p:txBody>
          <a:bodyPr wrap="square" lIns="36576" tIns="27432" rIns="36576" bIns="27432" anchor="t">
            <a:spAutoFit/>
          </a:bodyPr>
          <a:lstStyle/>
          <a:p>
            <a:pPr algn="ctr">
              <a:spcAft>
                <a:spcPts val="0"/>
              </a:spcAft>
            </a:pPr>
            <a:r>
              <a:rPr sz="2700" b="1">
                <a:solidFill>
                  <a:srgbClr val="1B74AA"/>
                </a:solidFill>
                <a:latin typeface="Yu Gothic"/>
                <a:ea typeface="Yu Gothic"/>
              </a:rPr>
              <a:t>LOS誤差の定義</a:t>
            </a:r>
            <a:endParaRPr sz="2800" b="1" dirty="0">
              <a:solidFill>
                <a:srgbClr val="1B74AA"/>
              </a:solidFill>
              <a:latin typeface="Yu Gothic"/>
            </a:endParaRPr>
          </a:p>
        </p:txBody>
      </p:sp>
      <p:sp>
        <p:nvSpPr>
          <p:cNvPr id="9" name="TextBox 8"/>
          <p:cNvSpPr txBox="1"/>
          <p:nvPr/>
        </p:nvSpPr>
        <p:spPr>
          <a:xfrm>
            <a:off x="16001999" y="4297680"/>
            <a:ext cx="7040879" cy="2377440"/>
          </a:xfrm>
          <a:prstGeom prst="rect">
            <a:avLst/>
          </a:prstGeom>
          <a:noFill/>
        </p:spPr>
        <p:txBody>
          <a:bodyPr wrap="square" lIns="27432" rIns="27432">
            <a:spAutoFit/>
          </a:bodyPr>
          <a:lstStyle/>
          <a:p>
            <a:pPr>
              <a:lnSpc>
                <a:spcPct val="110000"/>
              </a:lnSpc>
              <a:spcAft>
                <a:spcPts val="800"/>
              </a:spcAft>
            </a:pPr>
            <a:r>
              <a:rPr sz="2200" b="0">
                <a:solidFill>
                  <a:srgbClr val="232B34"/>
                </a:solidFill>
                <a:latin typeface="Yu Gothic"/>
                <a:ea typeface="Yu Gothic"/>
              </a:rPr>
              <a:t>• LCT光軸の回転 − STT姿勢基準の回転</a:t>
            </a:r>
            <a:endParaRPr lang="en-US" sz="2400" dirty="0">
              <a:solidFill>
                <a:srgbClr val="232B34"/>
              </a:solidFill>
              <a:latin typeface="Yu Gothic"/>
            </a:endParaRPr>
          </a:p>
          <a:p>
            <a:pPr>
              <a:lnSpc>
                <a:spcPct val="110000"/>
              </a:lnSpc>
              <a:spcAft>
                <a:spcPts val="800"/>
              </a:spcAft>
            </a:pPr>
            <a:r>
              <a:rPr sz="2200" b="0">
                <a:solidFill>
                  <a:srgbClr val="232B34"/>
                </a:solidFill>
                <a:latin typeface="Yu Gothic"/>
                <a:ea typeface="Yu Gothic"/>
              </a:rPr>
              <a:t>• STT自身の熱回転は姿勢の基準が回るので相殺される</a:t>
            </a:r>
          </a:p>
          <a:p>
            <a:pPr>
              <a:lnSpc>
                <a:spcPct val="110000"/>
              </a:lnSpc>
              <a:spcAft>
                <a:spcPts val="800"/>
              </a:spcAft>
            </a:pPr>
            <a:r>
              <a:rPr sz="2200" b="0">
                <a:solidFill>
                  <a:srgbClr val="232B34"/>
                </a:solidFill>
                <a:latin typeface="Yu Gothic"/>
                <a:ea typeface="Yu Gothic"/>
              </a:rPr>
              <a:t>• 遠方通信の走査中心誤差に直接対応する</a:t>
            </a:r>
          </a:p>
          <a:p>
            <a:pPr>
              <a:lnSpc>
                <a:spcPct val="110000"/>
              </a:lnSpc>
              <a:spcAft>
                <a:spcPts val="800"/>
              </a:spcAft>
            </a:pPr>
            <a:r>
              <a:rPr sz="2200" b="0">
                <a:solidFill>
                  <a:srgbClr val="232B34"/>
                </a:solidFill>
                <a:latin typeface="Yu Gothic"/>
                <a:ea typeface="Yu Gothic"/>
              </a:rPr>
              <a:t>• 代表点間の並進による傾きは含めない</a:t>
            </a:r>
          </a:p>
        </p:txBody>
      </p:sp>
      <p:pic>
        <p:nvPicPr>
          <p:cNvPr id="12" name="図 11">
            <a:extLst>
              <a:ext uri="{FF2B5EF4-FFF2-40B4-BE49-F238E27FC236}">
                <a16:creationId xmlns:a16="http://schemas.microsoft.com/office/drawing/2014/main" id="{3B09D20F-F818-E6BB-4A04-9D0C10968E16}"/>
              </a:ext>
            </a:extLst>
          </p:cNvPr>
          <p:cNvPicPr>
            <a:picLocks noChangeAspect="1"/>
          </p:cNvPicPr>
          <p:nvPr/>
        </p:nvPicPr>
        <p:blipFill>
          <a:blip r:embed="rId3"/>
          <a:stretch>
            <a:fillRect/>
          </a:stretch>
        </p:blipFill>
        <p:spPr>
          <a:xfrm>
            <a:off x="1339534" y="3840480"/>
            <a:ext cx="4959858" cy="4925293"/>
          </a:xfrm>
          <a:prstGeom prst="rect">
            <a:avLst/>
          </a:prstGeom>
        </p:spPr>
      </p:pic>
      <p:sp>
        <p:nvSpPr>
          <p:cNvPr id="18" name="矢印: 右 17">
            <a:extLst>
              <a:ext uri="{FF2B5EF4-FFF2-40B4-BE49-F238E27FC236}">
                <a16:creationId xmlns:a16="http://schemas.microsoft.com/office/drawing/2014/main" id="{E8A036E3-901B-13D6-50ED-4213CF64C986}"/>
              </a:ext>
            </a:extLst>
          </p:cNvPr>
          <p:cNvSpPr/>
          <p:nvPr/>
        </p:nvSpPr>
        <p:spPr>
          <a:xfrm>
            <a:off x="6956602" y="6031204"/>
            <a:ext cx="549242" cy="82679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0" name="直線コネクタ 19">
            <a:extLst>
              <a:ext uri="{FF2B5EF4-FFF2-40B4-BE49-F238E27FC236}">
                <a16:creationId xmlns:a16="http://schemas.microsoft.com/office/drawing/2014/main" id="{DFCAD75C-E1E5-BAB9-ED79-8FB22B4FA1E6}"/>
              </a:ext>
            </a:extLst>
          </p:cNvPr>
          <p:cNvCxnSpPr/>
          <p:nvPr/>
        </p:nvCxnSpPr>
        <p:spPr>
          <a:xfrm>
            <a:off x="5162550" y="8096250"/>
            <a:ext cx="209550" cy="164211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cxnSp>
        <p:nvCxnSpPr>
          <p:cNvPr id="21" name="直線コネクタ 20">
            <a:extLst>
              <a:ext uri="{FF2B5EF4-FFF2-40B4-BE49-F238E27FC236}">
                <a16:creationId xmlns:a16="http://schemas.microsoft.com/office/drawing/2014/main" id="{79843408-97F9-6B75-249B-559F34913E3D}"/>
              </a:ext>
            </a:extLst>
          </p:cNvPr>
          <p:cNvCxnSpPr>
            <a:cxnSpLocks/>
          </p:cNvCxnSpPr>
          <p:nvPr/>
        </p:nvCxnSpPr>
        <p:spPr>
          <a:xfrm flipH="1">
            <a:off x="3009900" y="3246120"/>
            <a:ext cx="1123950" cy="1310795"/>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sp>
        <p:nvSpPr>
          <p:cNvPr id="23" name="テキスト ボックス 22">
            <a:extLst>
              <a:ext uri="{FF2B5EF4-FFF2-40B4-BE49-F238E27FC236}">
                <a16:creationId xmlns:a16="http://schemas.microsoft.com/office/drawing/2014/main" id="{B184EC83-A793-1DED-82CE-9E07315E52C8}"/>
              </a:ext>
            </a:extLst>
          </p:cNvPr>
          <p:cNvSpPr txBox="1"/>
          <p:nvPr/>
        </p:nvSpPr>
        <p:spPr>
          <a:xfrm>
            <a:off x="4133850" y="2856893"/>
            <a:ext cx="2381250" cy="584775"/>
          </a:xfrm>
          <a:prstGeom prst="rect">
            <a:avLst/>
          </a:prstGeom>
          <a:noFill/>
        </p:spPr>
        <p:txBody>
          <a:bodyPr wrap="square" rtlCol="0">
            <a:spAutoFit/>
          </a:bodyPr>
          <a:lstStyle/>
          <a:p>
            <a:r>
              <a:rPr kumimoji="1" lang="en-US" altLang="ja-JP" sz="3200" dirty="0"/>
              <a:t>STT</a:t>
            </a:r>
            <a:endParaRPr kumimoji="1" lang="ja-JP" altLang="en-US" sz="3200" dirty="0"/>
          </a:p>
        </p:txBody>
      </p:sp>
      <p:sp>
        <p:nvSpPr>
          <p:cNvPr id="25" name="テキスト ボックス 24">
            <a:extLst>
              <a:ext uri="{FF2B5EF4-FFF2-40B4-BE49-F238E27FC236}">
                <a16:creationId xmlns:a16="http://schemas.microsoft.com/office/drawing/2014/main" id="{84993092-E9AF-32CC-CA46-5B89D3B7856E}"/>
              </a:ext>
            </a:extLst>
          </p:cNvPr>
          <p:cNvSpPr txBox="1"/>
          <p:nvPr/>
        </p:nvSpPr>
        <p:spPr>
          <a:xfrm>
            <a:off x="5267325" y="9738360"/>
            <a:ext cx="2381250" cy="584775"/>
          </a:xfrm>
          <a:prstGeom prst="rect">
            <a:avLst/>
          </a:prstGeom>
          <a:noFill/>
        </p:spPr>
        <p:txBody>
          <a:bodyPr wrap="square" rtlCol="0">
            <a:spAutoFit/>
          </a:bodyPr>
          <a:lstStyle/>
          <a:p>
            <a:r>
              <a:rPr kumimoji="1" lang="en-US" altLang="ja-JP" sz="3200" dirty="0"/>
              <a:t>LCT</a:t>
            </a:r>
            <a:endParaRPr kumimoji="1" lang="ja-JP" altLang="en-US" sz="3200" dirty="0"/>
          </a:p>
        </p:txBody>
      </p:sp>
      <p:sp>
        <p:nvSpPr>
          <p:cNvPr id="27" name="テキスト ボックス 26">
            <a:extLst>
              <a:ext uri="{FF2B5EF4-FFF2-40B4-BE49-F238E27FC236}">
                <a16:creationId xmlns:a16="http://schemas.microsoft.com/office/drawing/2014/main" id="{EBF1EEF1-B803-E3EF-7B07-EF16B7C0DEB8}"/>
              </a:ext>
            </a:extLst>
          </p:cNvPr>
          <p:cNvSpPr txBox="1"/>
          <p:nvPr/>
        </p:nvSpPr>
        <p:spPr>
          <a:xfrm>
            <a:off x="1097280" y="10607040"/>
            <a:ext cx="14081760" cy="1569660"/>
          </a:xfrm>
          <a:prstGeom prst="rect">
            <a:avLst/>
          </a:prstGeom>
          <a:noFill/>
        </p:spPr>
        <p:txBody>
          <a:bodyPr wrap="square">
            <a:spAutoFit/>
          </a:bodyPr>
          <a:lstStyle/>
          <a:p>
            <a:pPr>
              <a:spcAft>
                <a:spcPts val="0"/>
              </a:spcAft>
            </a:pPr>
            <a:r>
              <a:rPr sz="2900" b="1">
                <a:solidFill>
                  <a:srgbClr val="082B52"/>
                </a:solidFill>
                <a:latin typeface="Yu Gothic"/>
                <a:ea typeface="Yu Gothic"/>
              </a:rPr>
              <a:t>並進ではなく、遠方通信に効くSTT/LCTの相対光軸回転をLOS誤差とする</a:t>
            </a:r>
            <a:endParaRPr lang="en-US" altLang="ja-JP" sz="3200" b="1" dirty="0">
              <a:solidFill>
                <a:srgbClr val="082B52"/>
              </a:solidFill>
              <a:latin typeface="Yu Gothic"/>
            </a:endParaRPr>
          </a:p>
        </p:txBody>
      </p:sp>
      <mc:AlternateContent xmlns:mc="http://schemas.openxmlformats.org/markup-compatibility/2006" xmlns:a14="http://schemas.microsoft.com/office/drawing/2010/main">
        <mc:Choice Requires="a14">
          <p:sp>
            <p:nvSpPr>
              <p:cNvPr id="31" name="TextBox 9">
                <a:extLst>
                  <a:ext uri="{FF2B5EF4-FFF2-40B4-BE49-F238E27FC236}">
                    <a16:creationId xmlns:a16="http://schemas.microsoft.com/office/drawing/2014/main" id="{1D5E19C6-D5A3-C347-891E-06621B675036}"/>
                  </a:ext>
                </a:extLst>
              </p:cNvPr>
              <p:cNvSpPr txBox="1"/>
              <p:nvPr/>
            </p:nvSpPr>
            <p:spPr>
              <a:xfrm>
                <a:off x="16004709" y="7034356"/>
                <a:ext cx="6833537" cy="1187761"/>
              </a:xfrm>
              <a:prstGeom prst="rect">
                <a:avLst/>
              </a:prstGeom>
              <a:noFill/>
            </p:spPr>
            <p:txBody>
              <a:bodyPr wrap="none" lIns="36576" tIns="27432" rIns="36576" bIns="27432" anchor="t">
                <a:spAutoFit/>
              </a:bodyPr>
              <a:lstStyle/>
              <a:p>
                <a:pPr algn="ctr"/>
                <a:r>
                  <a:rPr lang="en-US" sz="3600" b="1" i="1" dirty="0">
                    <a:solidFill>
                      <a:srgbClr val="082B52"/>
                    </a:solidFill>
                    <a:latin typeface="Yu Gothic"/>
                  </a:rPr>
                  <a:t> </a:t>
                </a:r>
                <a14:m>
                  <m:oMath xmlns:m="http://schemas.openxmlformats.org/officeDocument/2006/math">
                    <m:sSub>
                      <m:sSubPr>
                        <m:ctrlPr>
                          <a:rPr lang="en-US" altLang="ja-JP" sz="3600" b="1" i="1">
                            <a:solidFill>
                              <a:srgbClr val="082B52"/>
                            </a:solidFill>
                            <a:latin typeface="Cambria Math" panose="02040503050406030204" pitchFamily="18" charset="0"/>
                          </a:rPr>
                        </m:ctrlPr>
                      </m:sSubPr>
                      <m:e>
                        <m:r>
                          <a:rPr lang="en-US" altLang="ja-JP" sz="3600" b="1" i="1">
                            <a:solidFill>
                              <a:srgbClr val="082B52"/>
                            </a:solidFill>
                            <a:latin typeface="Cambria Math" panose="02040503050406030204" pitchFamily="18" charset="0"/>
                          </a:rPr>
                          <m:t>𝜽</m:t>
                        </m:r>
                      </m:e>
                      <m:sub>
                        <m:r>
                          <a:rPr lang="en-US" altLang="ja-JP" sz="3600" b="1" i="1" smtClean="0">
                            <a:solidFill>
                              <a:srgbClr val="082B52"/>
                            </a:solidFill>
                            <a:latin typeface="Cambria Math" panose="02040503050406030204" pitchFamily="18" charset="0"/>
                          </a:rPr>
                          <m:t>𝒕𝒉𝒆𝒓𝒎𝒂𝒍</m:t>
                        </m:r>
                        <m:r>
                          <a:rPr lang="en-US" altLang="ja-JP" sz="3600" b="1" i="1" smtClean="0">
                            <a:solidFill>
                              <a:srgbClr val="082B52"/>
                            </a:solidFill>
                            <a:latin typeface="Cambria Math" panose="02040503050406030204" pitchFamily="18" charset="0"/>
                          </a:rPr>
                          <m:t>,</m:t>
                        </m:r>
                        <m:r>
                          <a:rPr lang="en-US" altLang="ja-JP" sz="3600" b="1" i="1" smtClean="0">
                            <a:solidFill>
                              <a:srgbClr val="082B52"/>
                            </a:solidFill>
                            <a:latin typeface="Cambria Math" panose="02040503050406030204" pitchFamily="18" charset="0"/>
                          </a:rPr>
                          <m:t>𝒕𝒓𝒖𝒆</m:t>
                        </m:r>
                      </m:sub>
                    </m:sSub>
                    <m:r>
                      <a:rPr lang="en-US" altLang="ja-JP" sz="3600" b="1" i="1" smtClean="0">
                        <a:solidFill>
                          <a:srgbClr val="082B52"/>
                        </a:solidFill>
                        <a:latin typeface="Cambria Math" panose="02040503050406030204" pitchFamily="18" charset="0"/>
                      </a:rPr>
                      <m:t>=</m:t>
                    </m:r>
                    <m:sSub>
                      <m:sSubPr>
                        <m:ctrlPr>
                          <a:rPr lang="en-US" altLang="ja-JP" sz="3600" b="1" i="1">
                            <a:solidFill>
                              <a:srgbClr val="082B52"/>
                            </a:solidFill>
                            <a:latin typeface="Cambria Math" panose="02040503050406030204" pitchFamily="18" charset="0"/>
                          </a:rPr>
                        </m:ctrlPr>
                      </m:sSubPr>
                      <m:e>
                        <m:r>
                          <a:rPr lang="en-US" altLang="ja-JP" sz="3600" b="1" i="1">
                            <a:solidFill>
                              <a:srgbClr val="082B52"/>
                            </a:solidFill>
                            <a:latin typeface="Cambria Math" panose="02040503050406030204" pitchFamily="18" charset="0"/>
                          </a:rPr>
                          <m:t>𝜽</m:t>
                        </m:r>
                      </m:e>
                      <m:sub>
                        <m:r>
                          <a:rPr lang="en-US" altLang="ja-JP" sz="3600" b="1" i="1" smtClean="0">
                            <a:solidFill>
                              <a:srgbClr val="082B52"/>
                            </a:solidFill>
                            <a:latin typeface="Cambria Math" panose="02040503050406030204" pitchFamily="18" charset="0"/>
                          </a:rPr>
                          <m:t>𝑳𝑪𝑻</m:t>
                        </m:r>
                        <m:r>
                          <a:rPr lang="en-US" altLang="ja-JP" sz="3600" b="1" i="1" smtClean="0">
                            <a:solidFill>
                              <a:srgbClr val="082B52"/>
                            </a:solidFill>
                            <a:latin typeface="Cambria Math" panose="02040503050406030204" pitchFamily="18" charset="0"/>
                          </a:rPr>
                          <m:t>, </m:t>
                        </m:r>
                        <m:r>
                          <a:rPr lang="en-US" altLang="ja-JP" sz="3600" b="1" i="1" smtClean="0">
                            <a:solidFill>
                              <a:srgbClr val="082B52"/>
                            </a:solidFill>
                            <a:latin typeface="Cambria Math" panose="02040503050406030204" pitchFamily="18" charset="0"/>
                          </a:rPr>
                          <m:t>𝒓𝒐𝒕</m:t>
                        </m:r>
                      </m:sub>
                    </m:sSub>
                    <m:r>
                      <a:rPr lang="en-US" altLang="ja-JP" sz="3600" b="1" i="1" smtClean="0">
                        <a:solidFill>
                          <a:srgbClr val="082B52"/>
                        </a:solidFill>
                        <a:latin typeface="Cambria Math" panose="02040503050406030204" pitchFamily="18" charset="0"/>
                      </a:rPr>
                      <m:t>−</m:t>
                    </m:r>
                    <m:sSub>
                      <m:sSubPr>
                        <m:ctrlPr>
                          <a:rPr lang="en-US" altLang="ja-JP" sz="3600" b="1" i="1">
                            <a:solidFill>
                              <a:srgbClr val="082B52"/>
                            </a:solidFill>
                            <a:latin typeface="Cambria Math" panose="02040503050406030204" pitchFamily="18" charset="0"/>
                          </a:rPr>
                        </m:ctrlPr>
                      </m:sSubPr>
                      <m:e>
                        <m:r>
                          <a:rPr lang="en-US" altLang="ja-JP" sz="3600" b="1" i="1">
                            <a:solidFill>
                              <a:srgbClr val="082B52"/>
                            </a:solidFill>
                            <a:latin typeface="Cambria Math" panose="02040503050406030204" pitchFamily="18" charset="0"/>
                          </a:rPr>
                          <m:t>𝜽</m:t>
                        </m:r>
                      </m:e>
                      <m:sub>
                        <m:r>
                          <a:rPr lang="en-US" altLang="ja-JP" sz="3600" b="1" i="1" smtClean="0">
                            <a:solidFill>
                              <a:srgbClr val="082B52"/>
                            </a:solidFill>
                            <a:latin typeface="Cambria Math" panose="02040503050406030204" pitchFamily="18" charset="0"/>
                          </a:rPr>
                          <m:t>𝑺𝑻𝑻</m:t>
                        </m:r>
                        <m:r>
                          <a:rPr lang="en-US" altLang="ja-JP" sz="3600" b="1" i="1" smtClean="0">
                            <a:solidFill>
                              <a:srgbClr val="082B52"/>
                            </a:solidFill>
                            <a:latin typeface="Cambria Math" panose="02040503050406030204" pitchFamily="18" charset="0"/>
                          </a:rPr>
                          <m:t>, </m:t>
                        </m:r>
                        <m:r>
                          <a:rPr lang="en-US" altLang="ja-JP" sz="3600" b="1" i="1" smtClean="0">
                            <a:solidFill>
                              <a:srgbClr val="082B52"/>
                            </a:solidFill>
                            <a:latin typeface="Cambria Math" panose="02040503050406030204" pitchFamily="18" charset="0"/>
                          </a:rPr>
                          <m:t>𝒓𝒐𝒕</m:t>
                        </m:r>
                      </m:sub>
                    </m:sSub>
                  </m:oMath>
                </a14:m>
                <a:endParaRPr lang="en-US" altLang="ja-JP" sz="3600" b="1" i="1" dirty="0">
                  <a:solidFill>
                    <a:srgbClr val="082B52"/>
                  </a:solidFill>
                  <a:latin typeface="Yu Gothic"/>
                </a:endParaRPr>
              </a:p>
              <a:p>
                <a:pPr algn="ctr"/>
                <a:r>
                  <a:rPr lang="en-US" sz="3600" b="1" i="1" dirty="0">
                    <a:solidFill>
                      <a:srgbClr val="082B52"/>
                    </a:solidFill>
                    <a:latin typeface="Yu Gothic"/>
                  </a:rPr>
                  <a:t> </a:t>
                </a:r>
                <a:endParaRPr sz="3600" b="1" i="1" dirty="0">
                  <a:solidFill>
                    <a:srgbClr val="082B52"/>
                  </a:solidFill>
                  <a:latin typeface="Yu Gothic"/>
                </a:endParaRPr>
              </a:p>
            </p:txBody>
          </p:sp>
        </mc:Choice>
        <mc:Fallback xmlns="">
          <p:sp>
            <p:nvSpPr>
              <p:cNvPr id="31" name="TextBox 9">
                <a:extLst>
                  <a:ext uri="{FF2B5EF4-FFF2-40B4-BE49-F238E27FC236}">
                    <a16:creationId xmlns:a16="http://schemas.microsoft.com/office/drawing/2014/main" id="{1D5E19C6-D5A3-C347-891E-06621B675036}"/>
                  </a:ext>
                </a:extLst>
              </p:cNvPr>
              <p:cNvSpPr txBox="1">
                <a:spLocks noRot="1" noChangeAspect="1" noMove="1" noResize="1" noEditPoints="1" noAdjustHandles="1" noChangeArrowheads="1" noChangeShapeType="1" noTextEdit="1"/>
              </p:cNvSpPr>
              <p:nvPr/>
            </p:nvSpPr>
            <p:spPr>
              <a:xfrm>
                <a:off x="16004709" y="7034356"/>
                <a:ext cx="6833537" cy="1187761"/>
              </a:xfrm>
              <a:prstGeom prst="rect">
                <a:avLst/>
              </a:prstGeom>
              <a:blipFill>
                <a:blip r:embed="rId5"/>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3" name="TextBox 9">
                <a:extLst>
                  <a:ext uri="{FF2B5EF4-FFF2-40B4-BE49-F238E27FC236}">
                    <a16:creationId xmlns:a16="http://schemas.microsoft.com/office/drawing/2014/main" id="{C6979E3C-0BB9-6EF7-CE62-35CD169FE964}"/>
                  </a:ext>
                </a:extLst>
              </p:cNvPr>
              <p:cNvSpPr txBox="1"/>
              <p:nvPr/>
            </p:nvSpPr>
            <p:spPr>
              <a:xfrm>
                <a:off x="17297234" y="7976871"/>
                <a:ext cx="4259051" cy="1577804"/>
              </a:xfrm>
              <a:prstGeom prst="rect">
                <a:avLst/>
              </a:prstGeom>
              <a:noFill/>
            </p:spPr>
            <p:txBody>
              <a:bodyPr wrap="none" lIns="36576" tIns="27432" rIns="36576" bIns="27432" anchor="t">
                <a:spAutoFit/>
              </a:bodyPr>
              <a:lstStyle/>
              <a:p>
                <a:pPr algn="ctr"/>
                <a:r>
                  <a:rPr lang="en-US" sz="3200" b="1" i="1" dirty="0">
                    <a:solidFill>
                      <a:srgbClr val="082B52"/>
                    </a:solidFill>
                    <a:latin typeface="Yu Gothic"/>
                  </a:rPr>
                  <a:t> </a:t>
                </a:r>
                <a14:m>
                  <m:oMath xmlns:m="http://schemas.openxmlformats.org/officeDocument/2006/math">
                    <m:sSub>
                      <m:sSubPr>
                        <m:ctrlPr>
                          <a:rPr lang="en-US" altLang="ja-JP" sz="3200" b="1" i="1">
                            <a:solidFill>
                              <a:srgbClr val="082B52"/>
                            </a:solidFill>
                            <a:latin typeface="Cambria Math" panose="02040503050406030204" pitchFamily="18" charset="0"/>
                          </a:rPr>
                        </m:ctrlPr>
                      </m:sSubPr>
                      <m:e>
                        <m:r>
                          <a:rPr lang="en-US" altLang="ja-JP" sz="3200" b="1" i="1">
                            <a:solidFill>
                              <a:srgbClr val="082B52"/>
                            </a:solidFill>
                            <a:latin typeface="Cambria Math" panose="02040503050406030204" pitchFamily="18" charset="0"/>
                          </a:rPr>
                          <m:t>𝜽</m:t>
                        </m:r>
                      </m:e>
                      <m:sub>
                        <m:r>
                          <a:rPr lang="en-US" altLang="ja-JP" sz="3200" b="1" i="1" smtClean="0">
                            <a:solidFill>
                              <a:srgbClr val="082B52"/>
                            </a:solidFill>
                            <a:latin typeface="Cambria Math" panose="02040503050406030204" pitchFamily="18" charset="0"/>
                          </a:rPr>
                          <m:t>𝒕𝒉𝒆𝒓𝒎𝒂𝒍</m:t>
                        </m:r>
                        <m:r>
                          <a:rPr lang="en-US" altLang="ja-JP" sz="3200" b="1" i="1" smtClean="0">
                            <a:solidFill>
                              <a:srgbClr val="082B52"/>
                            </a:solidFill>
                            <a:latin typeface="Cambria Math" panose="02040503050406030204" pitchFamily="18" charset="0"/>
                          </a:rPr>
                          <m:t>,</m:t>
                        </m:r>
                        <m:r>
                          <a:rPr lang="en-US" altLang="ja-JP" sz="3200" b="1" i="1" smtClean="0">
                            <a:solidFill>
                              <a:srgbClr val="082B52"/>
                            </a:solidFill>
                            <a:latin typeface="Cambria Math" panose="02040503050406030204" pitchFamily="18" charset="0"/>
                          </a:rPr>
                          <m:t>𝒕𝒓𝒖𝒆</m:t>
                        </m:r>
                      </m:sub>
                    </m:sSub>
                    <m:r>
                      <a:rPr lang="en-US" altLang="ja-JP" sz="3200" b="1" i="1" smtClean="0">
                        <a:solidFill>
                          <a:srgbClr val="082B52"/>
                        </a:solidFill>
                        <a:latin typeface="Cambria Math" panose="02040503050406030204" pitchFamily="18" charset="0"/>
                      </a:rPr>
                      <m:t>=</m:t>
                    </m:r>
                    <m:sSub>
                      <m:sSubPr>
                        <m:ctrlPr>
                          <a:rPr lang="en-US" altLang="ja-JP" sz="3200" b="1" i="1" smtClean="0">
                            <a:solidFill>
                              <a:srgbClr val="082B52"/>
                            </a:solidFill>
                            <a:latin typeface="Cambria Math" panose="02040503050406030204" pitchFamily="18" charset="0"/>
                          </a:rPr>
                        </m:ctrlPr>
                      </m:sSubPr>
                      <m:e>
                        <m:r>
                          <a:rPr lang="en-US" altLang="ja-JP" sz="3200" b="1" i="1" smtClean="0">
                            <a:solidFill>
                              <a:srgbClr val="082B52"/>
                            </a:solidFill>
                            <a:latin typeface="Cambria Math" panose="02040503050406030204" pitchFamily="18" charset="0"/>
                          </a:rPr>
                          <m:t>[</m:t>
                        </m:r>
                        <m:r>
                          <a:rPr lang="en-US" altLang="ja-JP" sz="3200" b="1" i="1">
                            <a:solidFill>
                              <a:srgbClr val="082B52"/>
                            </a:solidFill>
                            <a:latin typeface="Cambria Math" panose="02040503050406030204" pitchFamily="18" charset="0"/>
                          </a:rPr>
                          <m:t>𝜽</m:t>
                        </m:r>
                      </m:e>
                      <m:sub>
                        <m:r>
                          <a:rPr lang="en-US" altLang="ja-JP" sz="3200" b="1" i="1" smtClean="0">
                            <a:solidFill>
                              <a:srgbClr val="082B52"/>
                            </a:solidFill>
                            <a:latin typeface="Cambria Math" panose="02040503050406030204" pitchFamily="18" charset="0"/>
                          </a:rPr>
                          <m:t>𝒙</m:t>
                        </m:r>
                      </m:sub>
                    </m:sSub>
                    <m:r>
                      <a:rPr lang="en-US" altLang="ja-JP" sz="3200" b="1" i="1" smtClean="0">
                        <a:solidFill>
                          <a:srgbClr val="082B52"/>
                        </a:solidFill>
                        <a:latin typeface="Cambria Math" panose="02040503050406030204" pitchFamily="18" charset="0"/>
                      </a:rPr>
                      <m:t>, </m:t>
                    </m:r>
                    <m:sSub>
                      <m:sSubPr>
                        <m:ctrlPr>
                          <a:rPr lang="en-US" altLang="ja-JP" sz="3200" b="1" i="1">
                            <a:solidFill>
                              <a:srgbClr val="082B52"/>
                            </a:solidFill>
                            <a:latin typeface="Cambria Math" panose="02040503050406030204" pitchFamily="18" charset="0"/>
                          </a:rPr>
                        </m:ctrlPr>
                      </m:sSubPr>
                      <m:e>
                        <m:r>
                          <a:rPr lang="en-US" altLang="ja-JP" sz="3200" b="1" i="1">
                            <a:solidFill>
                              <a:srgbClr val="082B52"/>
                            </a:solidFill>
                            <a:latin typeface="Cambria Math" panose="02040503050406030204" pitchFamily="18" charset="0"/>
                          </a:rPr>
                          <m:t>𝜽</m:t>
                        </m:r>
                      </m:e>
                      <m:sub>
                        <m:r>
                          <a:rPr lang="en-US" altLang="ja-JP" sz="3200" b="1" i="1" smtClean="0">
                            <a:solidFill>
                              <a:srgbClr val="082B52"/>
                            </a:solidFill>
                            <a:latin typeface="Cambria Math" panose="02040503050406030204" pitchFamily="18" charset="0"/>
                          </a:rPr>
                          <m:t>𝒚</m:t>
                        </m:r>
                      </m:sub>
                    </m:sSub>
                    <m:r>
                      <a:rPr lang="en-US" altLang="ja-JP" sz="3200" b="1" i="1" smtClean="0">
                        <a:solidFill>
                          <a:srgbClr val="082B52"/>
                        </a:solidFill>
                        <a:latin typeface="Cambria Math" panose="02040503050406030204" pitchFamily="18" charset="0"/>
                      </a:rPr>
                      <m:t>]</m:t>
                    </m:r>
                  </m:oMath>
                </a14:m>
                <a:endParaRPr lang="en-US" altLang="ja-JP" sz="3200" b="1" i="1" dirty="0">
                  <a:solidFill>
                    <a:srgbClr val="082B52"/>
                  </a:solidFill>
                  <a:latin typeface="Yu Gothic"/>
                </a:endParaRPr>
              </a:p>
              <a:p>
                <a:pPr algn="ctr"/>
                <a:endParaRPr lang="en-US" altLang="ja-JP" sz="3200" b="1" i="1" dirty="0">
                  <a:solidFill>
                    <a:srgbClr val="082B52"/>
                  </a:solidFill>
                  <a:latin typeface="Yu Gothic"/>
                </a:endParaRPr>
              </a:p>
              <a:p>
                <a:pPr algn="ctr"/>
                <a:r>
                  <a:rPr lang="en-US" sz="3200" b="1" i="1" dirty="0">
                    <a:solidFill>
                      <a:srgbClr val="082B52"/>
                    </a:solidFill>
                    <a:latin typeface="Yu Gothic"/>
                  </a:rPr>
                  <a:t> </a:t>
                </a:r>
                <a:endParaRPr sz="3200" b="1" i="1" dirty="0">
                  <a:solidFill>
                    <a:srgbClr val="082B52"/>
                  </a:solidFill>
                  <a:latin typeface="Yu Gothic"/>
                </a:endParaRPr>
              </a:p>
            </p:txBody>
          </p:sp>
        </mc:Choice>
        <mc:Fallback xmlns="">
          <p:sp>
            <p:nvSpPr>
              <p:cNvPr id="33" name="TextBox 9">
                <a:extLst>
                  <a:ext uri="{FF2B5EF4-FFF2-40B4-BE49-F238E27FC236}">
                    <a16:creationId xmlns:a16="http://schemas.microsoft.com/office/drawing/2014/main" id="{C6979E3C-0BB9-6EF7-CE62-35CD169FE964}"/>
                  </a:ext>
                </a:extLst>
              </p:cNvPr>
              <p:cNvSpPr txBox="1">
                <a:spLocks noRot="1" noChangeAspect="1" noMove="1" noResize="1" noEditPoints="1" noAdjustHandles="1" noChangeArrowheads="1" noChangeShapeType="1" noTextEdit="1"/>
              </p:cNvSpPr>
              <p:nvPr/>
            </p:nvSpPr>
            <p:spPr>
              <a:xfrm>
                <a:off x="17297234" y="7976871"/>
                <a:ext cx="4259051" cy="1577804"/>
              </a:xfrm>
              <a:prstGeom prst="rect">
                <a:avLst/>
              </a:prstGeom>
              <a:blipFill>
                <a:blip r:embed="rId6"/>
                <a:stretch>
                  <a:fillRect/>
                </a:stretch>
              </a:blipFill>
            </p:spPr>
            <p:txBody>
              <a:bodyPr/>
              <a:lstStyle/>
              <a:p>
                <a:r>
                  <a:rPr lang="ja-JP" altLang="en-US">
                    <a:noFill/>
                  </a:rPr>
                  <a:t> </a:t>
                </a:r>
              </a:p>
            </p:txBody>
          </p:sp>
        </mc:Fallback>
      </mc:AlternateContent>
      <p:pic>
        <p:nvPicPr>
          <p:cNvPr id="6" name="図 5">
            <a:extLst>
              <a:ext uri="{FF2B5EF4-FFF2-40B4-BE49-F238E27FC236}">
                <a16:creationId xmlns:a16="http://schemas.microsoft.com/office/drawing/2014/main" id="{DC33983D-AC0D-18DB-72E9-DF2EB746875E}"/>
              </a:ext>
            </a:extLst>
          </p:cNvPr>
          <p:cNvPicPr>
            <a:picLocks noChangeAspect="1"/>
          </p:cNvPicPr>
          <p:nvPr/>
        </p:nvPicPr>
        <p:blipFill>
          <a:blip r:embed="rId7"/>
          <a:stretch>
            <a:fillRect/>
          </a:stretch>
        </p:blipFill>
        <p:spPr>
          <a:xfrm>
            <a:off x="7916399" y="3441668"/>
            <a:ext cx="6803639" cy="6537732"/>
          </a:xfrm>
          <a:prstGeom prst="rect">
            <a:avLst/>
          </a:prstGeom>
        </p:spPr>
      </p:pic>
    </p:spTree>
    <p:extLst>
      <p:ext uri="{BB962C8B-B14F-4D97-AF65-F5344CB8AC3E}">
        <p14:creationId xmlns:p14="http://schemas.microsoft.com/office/powerpoint/2010/main" val="36918561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Yu Gothic"/>
                <a:ea typeface="Yu Gothic"/>
              </a:rPr>
              <a:t>熱構造解析</a:t>
            </a:r>
          </a:p>
        </p:txBody>
      </p:sp>
      <p:sp>
        <p:nvSpPr>
          <p:cNvPr id="3" name="TextBox 2"/>
          <p:cNvSpPr txBox="1"/>
          <p:nvPr/>
        </p:nvSpPr>
        <p:spPr>
          <a:xfrm>
            <a:off x="1536192" y="1298448"/>
            <a:ext cx="22037040" cy="1040285"/>
          </a:xfrm>
          <a:prstGeom prst="rect">
            <a:avLst/>
          </a:prstGeom>
          <a:noFill/>
        </p:spPr>
        <p:txBody>
          <a:bodyPr wrap="square" lIns="36576" tIns="27432" rIns="36576" bIns="27432" anchor="t">
            <a:spAutoFit/>
          </a:bodyPr>
          <a:lstStyle/>
          <a:p>
            <a:pPr algn="l">
              <a:spcAft>
                <a:spcPts val="0"/>
              </a:spcAft>
            </a:pPr>
            <a:endParaRPr lang="en-US" sz="3200" b="1" dirty="0">
              <a:solidFill>
                <a:srgbClr val="082B52"/>
              </a:solidFill>
              <a:latin typeface="Yu Gothic"/>
              <a:ea typeface="Yu Gothic"/>
            </a:endParaRPr>
          </a:p>
          <a:p>
            <a:pPr algn="l">
              <a:spcAft>
                <a:spcPts val="0"/>
              </a:spcAft>
            </a:pPr>
            <a:r>
              <a:rPr sz="3200" b="1" dirty="0" err="1">
                <a:solidFill>
                  <a:srgbClr val="082B52"/>
                </a:solidFill>
                <a:latin typeface="Yu Gothic"/>
                <a:ea typeface="Yu Gothic"/>
              </a:rPr>
              <a:t>構造とLOS定義は固定し、太陽面・発熱・表面・軌道だけを変えた</a:t>
            </a:r>
            <a:endParaRPr lang="en-US" sz="3200" b="1" dirty="0">
              <a:solidFill>
                <a:srgbClr val="082B52"/>
              </a:solidFill>
              <a:latin typeface="Yu Gothic"/>
            </a:endParaRPr>
          </a:p>
        </p:txBody>
      </p:sp>
      <p:sp>
        <p:nvSpPr>
          <p:cNvPr id="4" name="TextBox 3"/>
          <p:cNvSpPr txBox="1"/>
          <p:nvPr/>
        </p:nvSpPr>
        <p:spPr>
          <a:xfrm>
            <a:off x="21762720" y="12819888"/>
            <a:ext cx="2011680" cy="332399"/>
          </a:xfrm>
          <a:prstGeom prst="rect">
            <a:avLst/>
          </a:prstGeom>
          <a:noFill/>
        </p:spPr>
        <p:txBody>
          <a:bodyPr wrap="square" lIns="36576" tIns="27432" rIns="36576" bIns="27432" anchor="t">
            <a:spAutoFit/>
          </a:bodyPr>
          <a:lstStyle/>
          <a:p>
            <a:pPr algn="r">
              <a:spcAft>
                <a:spcPts val="0"/>
              </a:spcAft>
            </a:pPr>
            <a:r>
              <a:rPr sz="1800" b="0" dirty="0">
                <a:solidFill>
                  <a:srgbClr val="666F79"/>
                </a:solidFill>
                <a:latin typeface="Yu Gothic"/>
                <a:ea typeface="Yu Gothic"/>
              </a:rPr>
              <a:t>1</a:t>
            </a:r>
            <a:r>
              <a:rPr lang="en-US" sz="1800" b="0" dirty="0">
                <a:solidFill>
                  <a:srgbClr val="666F79"/>
                </a:solidFill>
                <a:latin typeface="Yu Gothic"/>
                <a:ea typeface="Yu Gothic"/>
              </a:rPr>
              <a:t>1</a:t>
            </a:r>
            <a:endParaRPr sz="1800" b="0" dirty="0">
              <a:solidFill>
                <a:srgbClr val="666F79"/>
              </a:solidFill>
              <a:latin typeface="Yu Gothic"/>
              <a:ea typeface="Yu Gothic"/>
            </a:endParaRPr>
          </a:p>
        </p:txBody>
      </p:sp>
      <p:graphicFrame>
        <p:nvGraphicFramePr>
          <p:cNvPr id="5" name="Table 4"/>
          <p:cNvGraphicFramePr>
            <a:graphicFrameLocks noGrp="1"/>
          </p:cNvGraphicFramePr>
          <p:nvPr>
            <p:extLst>
              <p:ext uri="{D42A27DB-BD31-4B8C-83A1-F6EECF244321}">
                <p14:modId xmlns:p14="http://schemas.microsoft.com/office/powerpoint/2010/main" val="3051921897"/>
              </p:ext>
            </p:extLst>
          </p:nvPr>
        </p:nvGraphicFramePr>
        <p:xfrm>
          <a:off x="1097280" y="3665220"/>
          <a:ext cx="21945600" cy="50292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9235440">
                  <a:extLst>
                    <a:ext uri="{9D8B030D-6E8A-4147-A177-3AD203B41FA5}">
                      <a16:colId xmlns:a16="http://schemas.microsoft.com/office/drawing/2014/main" val="20001"/>
                    </a:ext>
                  </a:extLst>
                </a:gridCol>
                <a:gridCol w="8595360">
                  <a:extLst>
                    <a:ext uri="{9D8B030D-6E8A-4147-A177-3AD203B41FA5}">
                      <a16:colId xmlns:a16="http://schemas.microsoft.com/office/drawing/2014/main" val="20002"/>
                    </a:ext>
                  </a:extLst>
                </a:gridCol>
              </a:tblGrid>
              <a:tr h="1005840">
                <a:tc>
                  <a:txBody>
                    <a:bodyPr/>
                    <a:lstStyle/>
                    <a:p>
                      <a:pPr algn="l">
                        <a:spcAft>
                          <a:spcPts val="0"/>
                        </a:spcAft>
                      </a:pPr>
                      <a:r>
                        <a:rPr sz="2300" b="1">
                          <a:solidFill>
                            <a:srgbClr val="FFFFFF"/>
                          </a:solidFill>
                          <a:latin typeface="Yu Gothic"/>
                          <a:ea typeface="Yu Gothic"/>
                        </a:rPr>
                        <a:t>変える条件</a:t>
                      </a:r>
                    </a:p>
                  </a:txBody>
                  <a:tcPr marL="64008" marR="64008" marT="27432" marB="27432" anchor="ctr">
                    <a:solidFill>
                      <a:srgbClr val="082B52"/>
                    </a:solidFill>
                  </a:tcPr>
                </a:tc>
                <a:tc>
                  <a:txBody>
                    <a:bodyPr/>
                    <a:lstStyle/>
                    <a:p>
                      <a:pPr algn="ctr">
                        <a:spcAft>
                          <a:spcPts val="0"/>
                        </a:spcAft>
                      </a:pPr>
                      <a:r>
                        <a:rPr sz="2300" b="1">
                          <a:solidFill>
                            <a:srgbClr val="FFFFFF"/>
                          </a:solidFill>
                          <a:latin typeface="Yu Gothic"/>
                          <a:ea typeface="Yu Gothic"/>
                        </a:rPr>
                        <a:t>ケース</a:t>
                      </a:r>
                    </a:p>
                  </a:txBody>
                  <a:tcPr marL="64008" marR="64008" marT="27432" marB="27432" anchor="ctr">
                    <a:solidFill>
                      <a:srgbClr val="082B52"/>
                    </a:solidFill>
                  </a:tcPr>
                </a:tc>
                <a:tc>
                  <a:txBody>
                    <a:bodyPr/>
                    <a:lstStyle/>
                    <a:p>
                      <a:pPr algn="ctr">
                        <a:spcAft>
                          <a:spcPts val="0"/>
                        </a:spcAft>
                      </a:pPr>
                      <a:r>
                        <a:rPr sz="2300" b="1">
                          <a:solidFill>
                            <a:srgbClr val="FFFFFF"/>
                          </a:solidFill>
                          <a:latin typeface="Yu Gothic"/>
                          <a:ea typeface="Yu Gothic"/>
                        </a:rPr>
                        <a:t>確認したいこと</a:t>
                      </a:r>
                    </a:p>
                  </a:txBody>
                  <a:tcPr marL="64008" marR="64008" marT="27432" marB="27432" anchor="ctr">
                    <a:solidFill>
                      <a:srgbClr val="082B52"/>
                    </a:solidFill>
                  </a:tcPr>
                </a:tc>
                <a:extLst>
                  <a:ext uri="{0D108BD9-81ED-4DB2-BD59-A6C34878D82A}">
                    <a16:rowId xmlns:a16="http://schemas.microsoft.com/office/drawing/2014/main" val="10000"/>
                  </a:ext>
                </a:extLst>
              </a:tr>
              <a:tr h="1005840">
                <a:tc>
                  <a:txBody>
                    <a:bodyPr/>
                    <a:lstStyle/>
                    <a:p>
                      <a:pPr algn="l">
                        <a:spcAft>
                          <a:spcPts val="0"/>
                        </a:spcAft>
                      </a:pPr>
                      <a:r>
                        <a:rPr sz="2300" b="0">
                          <a:solidFill>
                            <a:srgbClr val="232B34"/>
                          </a:solidFill>
                          <a:latin typeface="Yu Gothic"/>
                          <a:ea typeface="Yu Gothic"/>
                        </a:rPr>
                        <a:t>太陽指向面</a:t>
                      </a:r>
                      <a:endParaRPr sz="2300" b="0" dirty="0">
                        <a:solidFill>
                          <a:srgbClr val="232B34"/>
                        </a:solidFill>
                        <a:latin typeface="Yu Gothic"/>
                      </a:endParaRP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MX / MY / PX / PY</a:t>
                      </a:r>
                    </a:p>
                  </a:txBody>
                  <a:tcPr marL="64008" marR="64008" marT="27432" marB="27432" anchor="ctr">
                    <a:solidFill>
                      <a:srgbClr val="FFFFFF"/>
                    </a:solidFill>
                  </a:tcPr>
                </a:tc>
                <a:tc>
                  <a:txBody>
                    <a:bodyPr/>
                    <a:lstStyle/>
                    <a:p>
                      <a:pPr algn="ctr">
                        <a:spcAft>
                          <a:spcPts val="0"/>
                        </a:spcAft>
                      </a:pPr>
                      <a:r>
                        <a:rPr sz="2400">
                          <a:solidFill>
                            <a:srgbClr val="232B34"/>
                          </a:solidFill>
                          <a:latin typeface="Yu Gothic"/>
                          <a:ea typeface="Yu Gothic"/>
                        </a:rPr>
                        <a:t>支配軸と符号、大きさの変化</a:t>
                      </a:r>
                      <a:endParaRPr sz="2300" b="0" dirty="0">
                        <a:solidFill>
                          <a:srgbClr val="232B34"/>
                        </a:solidFill>
                        <a:latin typeface="Yu Gothic"/>
                      </a:endParaRPr>
                    </a:p>
                  </a:txBody>
                  <a:tcPr marL="64008" marR="64008" marT="27432" marB="27432" anchor="ctr">
                    <a:solidFill>
                      <a:srgbClr val="EBF6FB"/>
                    </a:solidFill>
                  </a:tcPr>
                </a:tc>
                <a:extLst>
                  <a:ext uri="{0D108BD9-81ED-4DB2-BD59-A6C34878D82A}">
                    <a16:rowId xmlns:a16="http://schemas.microsoft.com/office/drawing/2014/main" val="10001"/>
                  </a:ext>
                </a:extLst>
              </a:tr>
              <a:tr h="1005840">
                <a:tc>
                  <a:txBody>
                    <a:bodyPr/>
                    <a:lstStyle/>
                    <a:p>
                      <a:pPr algn="l">
                        <a:spcAft>
                          <a:spcPts val="0"/>
                        </a:spcAft>
                      </a:pPr>
                      <a:r>
                        <a:rPr sz="2300" b="0">
                          <a:solidFill>
                            <a:srgbClr val="232B34"/>
                          </a:solidFill>
                          <a:latin typeface="Yu Gothic"/>
                          <a:ea typeface="Yu Gothic"/>
                        </a:rPr>
                        <a:t>内部発熱</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STT・LCTのみ / +PROP / +PCDU / 全発熱（半電力1ケース）</a:t>
                      </a:r>
                    </a:p>
                  </a:txBody>
                  <a:tcPr marL="64008" marR="64008" marT="27432" marB="27432" anchor="ctr">
                    <a:solidFill>
                      <a:srgbClr val="F4F6F8"/>
                    </a:solidFill>
                  </a:tcPr>
                </a:tc>
                <a:tc>
                  <a:txBody>
                    <a:bodyPr/>
                    <a:lstStyle/>
                    <a:p>
                      <a:pPr algn="ctr">
                        <a:spcAft>
                          <a:spcPts val="0"/>
                        </a:spcAft>
                      </a:pPr>
                      <a:r>
                        <a:rPr sz="2400">
                          <a:solidFill>
                            <a:srgbClr val="232B34"/>
                          </a:solidFill>
                          <a:latin typeface="Yu Gothic"/>
                          <a:ea typeface="Yu Gothic"/>
                        </a:rPr>
                        <a:t>ケース間の平均バイアスの変化</a:t>
                      </a:r>
                      <a:endParaRPr sz="2300" b="0" dirty="0">
                        <a:solidFill>
                          <a:srgbClr val="232B34"/>
                        </a:solidFill>
                        <a:latin typeface="Yu Gothic"/>
                      </a:endParaRPr>
                    </a:p>
                  </a:txBody>
                  <a:tcPr marL="64008" marR="64008" marT="27432" marB="27432" anchor="ctr">
                    <a:solidFill>
                      <a:srgbClr val="EBF6FB"/>
                    </a:solidFill>
                  </a:tcPr>
                </a:tc>
                <a:extLst>
                  <a:ext uri="{0D108BD9-81ED-4DB2-BD59-A6C34878D82A}">
                    <a16:rowId xmlns:a16="http://schemas.microsoft.com/office/drawing/2014/main" val="10002"/>
                  </a:ext>
                </a:extLst>
              </a:tr>
              <a:tr h="1005840">
                <a:tc>
                  <a:txBody>
                    <a:bodyPr/>
                    <a:lstStyle/>
                    <a:p>
                      <a:pPr algn="l">
                        <a:spcAft>
                          <a:spcPts val="0"/>
                        </a:spcAft>
                      </a:pPr>
                      <a:r>
                        <a:rPr sz="2300" b="0">
                          <a:solidFill>
                            <a:srgbClr val="232B34"/>
                          </a:solidFill>
                          <a:latin typeface="Yu Gothic"/>
                          <a:ea typeface="Yu Gothic"/>
                        </a:rPr>
                        <a:t>表面特性</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標準（α=ε=0.5）/ Black / Alodine</a:t>
                      </a:r>
                    </a:p>
                  </a:txBody>
                  <a:tcPr marL="64008" marR="64008" marT="27432" marB="27432" anchor="ctr">
                    <a:solidFill>
                      <a:srgbClr val="FFFFFF"/>
                    </a:solidFill>
                  </a:tcPr>
                </a:tc>
                <a:tc>
                  <a:txBody>
                    <a:bodyPr/>
                    <a:lstStyle/>
                    <a:p>
                      <a:pPr algn="ctr">
                        <a:spcAft>
                          <a:spcPts val="0"/>
                        </a:spcAft>
                      </a:pPr>
                      <a:r>
                        <a:rPr sz="2400">
                          <a:solidFill>
                            <a:srgbClr val="232B34"/>
                          </a:solidFill>
                          <a:latin typeface="Yu Gothic"/>
                          <a:ea typeface="Yu Gothic"/>
                        </a:rPr>
                        <a:t>変動幅と残差の床の変化</a:t>
                      </a:r>
                      <a:endParaRPr sz="2300" b="0" dirty="0">
                        <a:solidFill>
                          <a:srgbClr val="232B34"/>
                        </a:solidFill>
                        <a:latin typeface="Yu Gothic"/>
                      </a:endParaRPr>
                    </a:p>
                  </a:txBody>
                  <a:tcPr marL="64008" marR="64008" marT="27432" marB="27432" anchor="ctr">
                    <a:solidFill>
                      <a:srgbClr val="EBF6FB"/>
                    </a:solidFill>
                  </a:tcPr>
                </a:tc>
                <a:extLst>
                  <a:ext uri="{0D108BD9-81ED-4DB2-BD59-A6C34878D82A}">
                    <a16:rowId xmlns:a16="http://schemas.microsoft.com/office/drawing/2014/main" val="10003"/>
                  </a:ext>
                </a:extLst>
              </a:tr>
              <a:tr h="1005840">
                <a:tc>
                  <a:txBody>
                    <a:bodyPr/>
                    <a:lstStyle/>
                    <a:p>
                      <a:pPr algn="l">
                        <a:spcAft>
                          <a:spcPts val="0"/>
                        </a:spcAft>
                      </a:pPr>
                      <a:r>
                        <a:rPr sz="2300" b="0">
                          <a:solidFill>
                            <a:srgbClr val="232B34"/>
                          </a:solidFill>
                          <a:latin typeface="Yu Gothic"/>
                          <a:ea typeface="Yu Gothic"/>
                        </a:rPr>
                        <a:t>軌道・熱環境</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蝕あり / 全日照、LTAN06 / LTAN18</a:t>
                      </a:r>
                      <a:endParaRPr sz="2300" b="0" dirty="0">
                        <a:solidFill>
                          <a:srgbClr val="232B34"/>
                        </a:solidFill>
                        <a:latin typeface="Yu Gothic"/>
                      </a:endParaRPr>
                    </a:p>
                  </a:txBody>
                  <a:tcPr marL="64008" marR="64008" marT="27432" marB="27432" anchor="ctr">
                    <a:solidFill>
                      <a:srgbClr val="F4F6F8"/>
                    </a:solidFill>
                  </a:tcPr>
                </a:tc>
                <a:tc>
                  <a:txBody>
                    <a:bodyPr/>
                    <a:lstStyle/>
                    <a:p>
                      <a:pPr algn="ctr">
                        <a:spcAft>
                          <a:spcPts val="0"/>
                        </a:spcAft>
                      </a:pPr>
                      <a:r>
                        <a:rPr sz="2400">
                          <a:solidFill>
                            <a:srgbClr val="232B34"/>
                          </a:solidFill>
                          <a:latin typeface="Yu Gothic"/>
                          <a:ea typeface="Yu Gothic"/>
                        </a:rPr>
                        <a:t>熱環境・軌道条件に対する適用性</a:t>
                      </a:r>
                      <a:endParaRPr sz="2300" b="0" dirty="0">
                        <a:solidFill>
                          <a:srgbClr val="232B34"/>
                        </a:solidFill>
                        <a:latin typeface="Yu Gothic"/>
                      </a:endParaRPr>
                    </a:p>
                  </a:txBody>
                  <a:tcPr marL="64008" marR="64008" marT="27432" marB="27432" anchor="ctr">
                    <a:solidFill>
                      <a:srgbClr val="EBF6FB"/>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1097280" y="11338560"/>
            <a:ext cx="21945600" cy="732508"/>
          </a:xfrm>
          <a:prstGeom prst="rect">
            <a:avLst/>
          </a:prstGeom>
          <a:noFill/>
        </p:spPr>
        <p:txBody>
          <a:bodyPr wrap="square" lIns="36576" tIns="27432" rIns="36576" bIns="27432" anchor="t">
            <a:spAutoFit/>
          </a:bodyPr>
          <a:lstStyle/>
          <a:p>
            <a:pPr>
              <a:spcAft>
                <a:spcPts val="0"/>
              </a:spcAft>
            </a:pPr>
            <a:r>
              <a:rPr sz="2200" b="0" dirty="0">
                <a:solidFill>
                  <a:srgbClr val="D03B46"/>
                </a:solidFill>
                <a:latin typeface="Yu Gothic"/>
                <a:ea typeface="Yu Gothic"/>
              </a:rPr>
              <a:t>※ PZ/</a:t>
            </a:r>
            <a:r>
              <a:rPr sz="2200" b="0" dirty="0" err="1">
                <a:solidFill>
                  <a:srgbClr val="D03B46"/>
                </a:solidFill>
                <a:latin typeface="Yu Gothic"/>
                <a:ea typeface="Yu Gothic"/>
              </a:rPr>
              <a:t>MZを太陽指向面にするケースは</a:t>
            </a:r>
            <a:r>
              <a:rPr sz="2200" b="0" dirty="0">
                <a:solidFill>
                  <a:srgbClr val="D03B46"/>
                </a:solidFill>
                <a:latin typeface="Yu Gothic"/>
                <a:ea typeface="Yu Gothic"/>
              </a:rPr>
              <a:t>、</a:t>
            </a:r>
            <a:endParaRPr lang="en-US" sz="2200" b="0" dirty="0">
              <a:solidFill>
                <a:srgbClr val="D03B46"/>
              </a:solidFill>
              <a:latin typeface="Yu Gothic"/>
              <a:ea typeface="Yu Gothic"/>
            </a:endParaRPr>
          </a:p>
          <a:p>
            <a:pPr>
              <a:spcAft>
                <a:spcPts val="0"/>
              </a:spcAft>
            </a:pPr>
            <a:r>
              <a:rPr sz="2200" b="0" dirty="0" err="1">
                <a:solidFill>
                  <a:srgbClr val="D03B46"/>
                </a:solidFill>
                <a:latin typeface="Yu Gothic"/>
                <a:ea typeface="Yu Gothic"/>
              </a:rPr>
              <a:t>その面にSTT</a:t>
            </a:r>
            <a:r>
              <a:rPr sz="2200" b="0" dirty="0">
                <a:solidFill>
                  <a:srgbClr val="D03B46"/>
                </a:solidFill>
                <a:latin typeface="Yu Gothic"/>
                <a:ea typeface="Yu Gothic"/>
              </a:rPr>
              <a:t>/</a:t>
            </a:r>
            <a:r>
              <a:rPr sz="2200" b="0" dirty="0" err="1">
                <a:solidFill>
                  <a:srgbClr val="D03B46"/>
                </a:solidFill>
                <a:latin typeface="Yu Gothic"/>
                <a:ea typeface="Yu Gothic"/>
              </a:rPr>
              <a:t>LCTがあ</a:t>
            </a:r>
            <a:r>
              <a:rPr lang="ja-JP" altLang="en-US" sz="2200" b="0" dirty="0">
                <a:solidFill>
                  <a:srgbClr val="D03B46"/>
                </a:solidFill>
                <a:latin typeface="Yu Gothic"/>
                <a:ea typeface="Yu Gothic"/>
              </a:rPr>
              <a:t>り今回のモデルでの適用範囲外のため</a:t>
            </a:r>
            <a:r>
              <a:rPr sz="2200" b="0" dirty="0" err="1">
                <a:solidFill>
                  <a:srgbClr val="D03B46"/>
                </a:solidFill>
                <a:latin typeface="Yu Gothic"/>
                <a:ea typeface="Yu Gothic"/>
              </a:rPr>
              <a:t>設定しない</a:t>
            </a:r>
            <a:endParaRPr sz="2600" b="1" dirty="0">
              <a:solidFill>
                <a:srgbClr val="D03B46"/>
              </a:solidFill>
              <a:latin typeface="Yu Gothic"/>
            </a:endParaRPr>
          </a:p>
        </p:txBody>
      </p:sp>
      <p:sp>
        <p:nvSpPr>
          <p:cNvPr id="9" name="テキスト ボックス 8">
            <a:extLst>
              <a:ext uri="{FF2B5EF4-FFF2-40B4-BE49-F238E27FC236}">
                <a16:creationId xmlns:a16="http://schemas.microsoft.com/office/drawing/2014/main" id="{E6ED6B3C-14BA-01A2-9F51-A8D5EC699EB3}"/>
              </a:ext>
            </a:extLst>
          </p:cNvPr>
          <p:cNvSpPr txBox="1"/>
          <p:nvPr/>
        </p:nvSpPr>
        <p:spPr>
          <a:xfrm>
            <a:off x="10195444" y="3134017"/>
            <a:ext cx="4720705" cy="523220"/>
          </a:xfrm>
          <a:prstGeom prst="rect">
            <a:avLst/>
          </a:prstGeom>
          <a:noFill/>
        </p:spPr>
        <p:txBody>
          <a:bodyPr wrap="square" rtlCol="0">
            <a:spAutoFit/>
          </a:bodyPr>
          <a:lstStyle/>
          <a:p>
            <a:r>
              <a:rPr kumimoji="1" lang="ja-JP" altLang="en-US" sz="2800" dirty="0"/>
              <a:t>ケースで振るパラメータ</a:t>
            </a:r>
          </a:p>
        </p:txBody>
      </p:sp>
      <p:sp>
        <p:nvSpPr>
          <p:cNvPr id="10" name="TextBox 9"/>
          <p:cNvSpPr txBox="1"/>
          <p:nvPr/>
        </p:nvSpPr>
        <p:spPr>
          <a:xfrm>
            <a:off x="1097280" y="9418320"/>
            <a:ext cx="21945600" cy="1395831"/>
          </a:xfrm>
          <a:prstGeom prst="rect">
            <a:avLst/>
          </a:prstGeom>
          <a:noFill/>
        </p:spPr>
        <p:txBody>
          <a:bodyPr wrap="square" lIns="45720" tIns="18288" rIns="45720" bIns="18288" anchor="t">
            <a:spAutoFit/>
          </a:bodyPr>
          <a:lstStyle/>
          <a:p>
            <a:pPr algn="l">
              <a:lnSpc>
                <a:spcPct val="120000"/>
              </a:lnSpc>
              <a:spcAft>
                <a:spcPts val="0"/>
              </a:spcAft>
            </a:pPr>
            <a:r>
              <a:rPr sz="2500" b="1" dirty="0" err="1">
                <a:solidFill>
                  <a:srgbClr val="082B52"/>
                </a:solidFill>
                <a:latin typeface="Yu Gothic"/>
                <a:ea typeface="Yu Gothic"/>
              </a:rPr>
              <a:t>固定</a:t>
            </a:r>
            <a:r>
              <a:rPr lang="ja-JP" altLang="en-US" sz="2500" b="1" dirty="0">
                <a:solidFill>
                  <a:srgbClr val="082B52"/>
                </a:solidFill>
                <a:latin typeface="Yu Gothic"/>
                <a:ea typeface="Yu Gothic"/>
              </a:rPr>
              <a:t>パラメータ</a:t>
            </a:r>
            <a:r>
              <a:rPr sz="2500" b="1" dirty="0">
                <a:solidFill>
                  <a:srgbClr val="082B52"/>
                </a:solidFill>
                <a:latin typeface="Yu Gothic"/>
                <a:ea typeface="Yu Gothic"/>
              </a:rPr>
              <a:t>：</a:t>
            </a:r>
            <a:r>
              <a:rPr sz="2500" b="1" dirty="0" err="1">
                <a:solidFill>
                  <a:srgbClr val="082B52"/>
                </a:solidFill>
                <a:latin typeface="Yu Gothic"/>
                <a:ea typeface="Yu Gothic"/>
              </a:rPr>
              <a:t>構造・寸法、STT</a:t>
            </a:r>
            <a:r>
              <a:rPr sz="2500" b="1" dirty="0">
                <a:solidFill>
                  <a:srgbClr val="082B52"/>
                </a:solidFill>
                <a:latin typeface="Yu Gothic"/>
                <a:ea typeface="Yu Gothic"/>
              </a:rPr>
              <a:t>/</a:t>
            </a:r>
            <a:r>
              <a:rPr sz="2500" b="1" dirty="0" err="1">
                <a:solidFill>
                  <a:srgbClr val="082B52"/>
                </a:solidFill>
                <a:latin typeface="Yu Gothic"/>
                <a:ea typeface="Yu Gothic"/>
              </a:rPr>
              <a:t>LCTの配置、材料、LOSの定義</a:t>
            </a:r>
            <a:endParaRPr sz="2500" b="1" dirty="0">
              <a:solidFill>
                <a:srgbClr val="082B52"/>
              </a:solidFill>
              <a:latin typeface="Yu Gothic"/>
              <a:ea typeface="Yu Gothic"/>
            </a:endParaRPr>
          </a:p>
          <a:p>
            <a:pPr algn="l">
              <a:lnSpc>
                <a:spcPct val="120000"/>
              </a:lnSpc>
              <a:spcAft>
                <a:spcPts val="0"/>
              </a:spcAft>
            </a:pPr>
            <a:r>
              <a:rPr lang="ja-JP" altLang="en-US" sz="2500" b="1" dirty="0">
                <a:solidFill>
                  <a:srgbClr val="082B52"/>
                </a:solidFill>
                <a:latin typeface="Yu Gothic"/>
                <a:ea typeface="Yu Gothic"/>
              </a:rPr>
              <a:t>現状の解析</a:t>
            </a:r>
            <a:r>
              <a:rPr sz="2500" b="1" dirty="0">
                <a:solidFill>
                  <a:srgbClr val="082B52"/>
                </a:solidFill>
                <a:latin typeface="Yu Gothic"/>
                <a:ea typeface="Yu Gothic"/>
              </a:rPr>
              <a:t>対象は21ケース。</a:t>
            </a:r>
            <a:endParaRPr lang="en-US" sz="2500" b="1" dirty="0">
              <a:solidFill>
                <a:srgbClr val="082B52"/>
              </a:solidFill>
              <a:latin typeface="Yu Gothic"/>
              <a:ea typeface="Yu Gothic"/>
            </a:endParaRPr>
          </a:p>
          <a:p>
            <a:pPr algn="l">
              <a:lnSpc>
                <a:spcPct val="120000"/>
              </a:lnSpc>
              <a:spcAft>
                <a:spcPts val="0"/>
              </a:spcAft>
            </a:pPr>
            <a:r>
              <a:rPr lang="en-US" altLang="ja-JP" sz="2500" b="1" dirty="0">
                <a:solidFill>
                  <a:srgbClr val="082B52"/>
                </a:solidFill>
                <a:latin typeface="Yu Gothic"/>
                <a:ea typeface="Yu Gothic"/>
              </a:rPr>
              <a:t>※ </a:t>
            </a:r>
            <a:r>
              <a:rPr sz="2500" b="1" dirty="0" err="1">
                <a:solidFill>
                  <a:srgbClr val="082B52"/>
                </a:solidFill>
                <a:latin typeface="Yu Gothic"/>
                <a:ea typeface="Yu Gothic"/>
              </a:rPr>
              <a:t>同じ</a:t>
            </a:r>
            <a:r>
              <a:rPr lang="ja-JP" altLang="en-US" sz="2500" b="1" dirty="0">
                <a:solidFill>
                  <a:srgbClr val="082B52"/>
                </a:solidFill>
                <a:latin typeface="Yu Gothic"/>
                <a:ea typeface="Yu Gothic"/>
              </a:rPr>
              <a:t>衛星筐体</a:t>
            </a:r>
            <a:r>
              <a:rPr sz="2500" b="1" dirty="0" err="1">
                <a:solidFill>
                  <a:srgbClr val="082B52"/>
                </a:solidFill>
                <a:latin typeface="Yu Gothic"/>
                <a:ea typeface="Yu Gothic"/>
              </a:rPr>
              <a:t>の中での条件横断で、別の衛星</a:t>
            </a:r>
            <a:r>
              <a:rPr lang="ja-JP" altLang="en-US" sz="2500" b="1" dirty="0">
                <a:solidFill>
                  <a:srgbClr val="082B52"/>
                </a:solidFill>
                <a:latin typeface="Yu Gothic"/>
                <a:ea typeface="Yu Gothic"/>
              </a:rPr>
              <a:t>筐体</a:t>
            </a:r>
            <a:r>
              <a:rPr sz="2500" b="1" dirty="0" err="1">
                <a:solidFill>
                  <a:srgbClr val="082B52"/>
                </a:solidFill>
                <a:latin typeface="Yu Gothic"/>
                <a:ea typeface="Yu Gothic"/>
              </a:rPr>
              <a:t>へ係数をそのまま移す</a:t>
            </a:r>
            <a:r>
              <a:rPr lang="ja-JP" altLang="en-US" sz="2500" b="1" dirty="0">
                <a:solidFill>
                  <a:srgbClr val="082B52"/>
                </a:solidFill>
                <a:latin typeface="Yu Gothic"/>
                <a:ea typeface="Yu Gothic"/>
              </a:rPr>
              <a:t>仕様ではない。</a:t>
            </a:r>
            <a:endParaRPr sz="2500" b="1" dirty="0">
              <a:solidFill>
                <a:srgbClr val="082B52"/>
              </a:solidFill>
              <a:latin typeface="Yu Gothic"/>
              <a:ea typeface="Yu Gothic"/>
            </a:endParaRPr>
          </a:p>
        </p:txBody>
      </p:sp>
    </p:spTree>
    <p:extLst>
      <p:ext uri="{BB962C8B-B14F-4D97-AF65-F5344CB8AC3E}">
        <p14:creationId xmlns:p14="http://schemas.microsoft.com/office/powerpoint/2010/main" val="23853237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463AB-B8F3-8DC8-987F-A486F27B8B2E}"/>
            </a:ext>
          </a:extLst>
        </p:cNvPr>
        <p:cNvGrpSpPr/>
        <p:nvPr/>
      </p:nvGrpSpPr>
      <p:grpSpPr>
        <a:xfrm>
          <a:off x="0" y="0"/>
          <a:ext cx="0" cy="0"/>
          <a:chOff x="0" y="0"/>
          <a:chExt cx="0" cy="0"/>
        </a:xfrm>
      </p:grpSpPr>
      <p:sp>
        <p:nvSpPr>
          <p:cNvPr id="13" name="TextBox 2">
            <a:extLst>
              <a:ext uri="{FF2B5EF4-FFF2-40B4-BE49-F238E27FC236}">
                <a16:creationId xmlns:a16="http://schemas.microsoft.com/office/drawing/2014/main" id="{DF026E16-6558-6EEA-9100-74BFD8FDF688}"/>
              </a:ext>
            </a:extLst>
          </p:cNvPr>
          <p:cNvSpPr txBox="1"/>
          <p:nvPr/>
        </p:nvSpPr>
        <p:spPr>
          <a:xfrm>
            <a:off x="1536192" y="1298448"/>
            <a:ext cx="22037040" cy="1040285"/>
          </a:xfrm>
          <a:prstGeom prst="rect">
            <a:avLst/>
          </a:prstGeom>
          <a:noFill/>
        </p:spPr>
        <p:txBody>
          <a:bodyPr wrap="square" lIns="36576" tIns="27432" rIns="36576" bIns="27432" anchor="t">
            <a:spAutoFit/>
          </a:bodyPr>
          <a:lstStyle/>
          <a:p>
            <a:pPr algn="l">
              <a:spcAft>
                <a:spcPts val="0"/>
              </a:spcAft>
            </a:pPr>
            <a:endParaRPr lang="en-US" sz="3200" b="1" dirty="0">
              <a:solidFill>
                <a:srgbClr val="082B52"/>
              </a:solidFill>
              <a:latin typeface="Yu Gothic"/>
              <a:ea typeface="Yu Gothic"/>
            </a:endParaRPr>
          </a:p>
          <a:p>
            <a:pPr algn="l">
              <a:spcAft>
                <a:spcPts val="0"/>
              </a:spcAft>
            </a:pPr>
            <a:r>
              <a:rPr lang="ja-JP" altLang="en-US" sz="3200" b="1" dirty="0">
                <a:solidFill>
                  <a:srgbClr val="082B52"/>
                </a:solidFill>
                <a:latin typeface="Yu Gothic"/>
                <a:ea typeface="Yu Gothic"/>
              </a:rPr>
              <a:t>解析結果：</a:t>
            </a:r>
            <a:r>
              <a:rPr sz="3200" b="1" dirty="0" err="1">
                <a:solidFill>
                  <a:srgbClr val="082B52"/>
                </a:solidFill>
                <a:latin typeface="Yu Gothic"/>
                <a:ea typeface="Yu Gothic"/>
              </a:rPr>
              <a:t>熱LOSは軌道周期で変わり、支配</a:t>
            </a:r>
            <a:r>
              <a:rPr lang="ja-JP" altLang="en-US" sz="3200" b="1" dirty="0">
                <a:solidFill>
                  <a:srgbClr val="082B52"/>
                </a:solidFill>
                <a:latin typeface="Yu Gothic"/>
                <a:ea typeface="Yu Gothic"/>
              </a:rPr>
              <a:t>的に変化する軸</a:t>
            </a:r>
            <a:r>
              <a:rPr sz="3200" b="1" dirty="0" err="1">
                <a:solidFill>
                  <a:srgbClr val="082B52"/>
                </a:solidFill>
                <a:latin typeface="Yu Gothic"/>
                <a:ea typeface="Yu Gothic"/>
              </a:rPr>
              <a:t>と平均</a:t>
            </a:r>
            <a:r>
              <a:rPr lang="ja-JP" altLang="en-US" sz="3200" b="1" dirty="0">
                <a:solidFill>
                  <a:srgbClr val="082B52"/>
                </a:solidFill>
                <a:latin typeface="Yu Gothic"/>
                <a:ea typeface="Yu Gothic"/>
              </a:rPr>
              <a:t>のずれ</a:t>
            </a:r>
            <a:r>
              <a:rPr sz="3200" b="1" dirty="0" err="1">
                <a:solidFill>
                  <a:srgbClr val="082B52"/>
                </a:solidFill>
                <a:latin typeface="Yu Gothic"/>
                <a:ea typeface="Yu Gothic"/>
              </a:rPr>
              <a:t>は太陽面に従う</a:t>
            </a:r>
            <a:endParaRPr lang="en-US" sz="3200" b="1" dirty="0">
              <a:solidFill>
                <a:srgbClr val="082B52"/>
              </a:solidFill>
              <a:latin typeface="Yu Gothic"/>
            </a:endParaRPr>
          </a:p>
        </p:txBody>
      </p:sp>
      <p:sp>
        <p:nvSpPr>
          <p:cNvPr id="15" name="TextBox 3">
            <a:extLst>
              <a:ext uri="{FF2B5EF4-FFF2-40B4-BE49-F238E27FC236}">
                <a16:creationId xmlns:a16="http://schemas.microsoft.com/office/drawing/2014/main" id="{3FDE0B2A-84AF-B318-D633-0F7FDE84BD98}"/>
              </a:ext>
            </a:extLst>
          </p:cNvPr>
          <p:cNvSpPr txBox="1"/>
          <p:nvPr/>
        </p:nvSpPr>
        <p:spPr>
          <a:xfrm>
            <a:off x="21762720" y="12819888"/>
            <a:ext cx="2011680" cy="332399"/>
          </a:xfrm>
          <a:prstGeom prst="rect">
            <a:avLst/>
          </a:prstGeom>
          <a:noFill/>
        </p:spPr>
        <p:txBody>
          <a:bodyPr wrap="square" lIns="36576" tIns="27432" rIns="36576" bIns="27432" anchor="t">
            <a:spAutoFit/>
          </a:bodyPr>
          <a:lstStyle/>
          <a:p>
            <a:pPr algn="r">
              <a:spcAft>
                <a:spcPts val="0"/>
              </a:spcAft>
            </a:pPr>
            <a:r>
              <a:rPr sz="1800" b="0" dirty="0">
                <a:solidFill>
                  <a:srgbClr val="666F79"/>
                </a:solidFill>
                <a:latin typeface="Yu Gothic"/>
                <a:ea typeface="Yu Gothic"/>
              </a:rPr>
              <a:t>1</a:t>
            </a:r>
            <a:r>
              <a:rPr lang="en-US" sz="1800" b="0" dirty="0">
                <a:solidFill>
                  <a:srgbClr val="666F79"/>
                </a:solidFill>
                <a:latin typeface="Yu Gothic"/>
                <a:ea typeface="Yu Gothic"/>
              </a:rPr>
              <a:t>2</a:t>
            </a:r>
            <a:endParaRPr sz="1800" b="0" dirty="0">
              <a:solidFill>
                <a:srgbClr val="666F79"/>
              </a:solidFill>
              <a:latin typeface="Yu Gothic"/>
              <a:ea typeface="Yu Gothic"/>
            </a:endParaRPr>
          </a:p>
        </p:txBody>
      </p:sp>
      <p:pic>
        <p:nvPicPr>
          <p:cNvPr id="17" name="Picture 7" descr="04_LTAN06_800km_1213COLD_MY_ALL_HEAT_MY_0p5_far_field_los_angle_budget.png">
            <a:extLst>
              <a:ext uri="{FF2B5EF4-FFF2-40B4-BE49-F238E27FC236}">
                <a16:creationId xmlns:a16="http://schemas.microsoft.com/office/drawing/2014/main" id="{EF6173D2-A246-1BCD-BC6A-F5B628313A3F}"/>
              </a:ext>
            </a:extLst>
          </p:cNvPr>
          <p:cNvPicPr>
            <a:picLocks noChangeAspect="1"/>
          </p:cNvPicPr>
          <p:nvPr/>
        </p:nvPicPr>
        <p:blipFill>
          <a:blip r:embed="rId3"/>
          <a:stretch>
            <a:fillRect/>
          </a:stretch>
        </p:blipFill>
        <p:spPr>
          <a:xfrm>
            <a:off x="1066619" y="2988426"/>
            <a:ext cx="11781048" cy="8568034"/>
          </a:xfrm>
          <a:prstGeom prst="rect">
            <a:avLst/>
          </a:prstGeom>
        </p:spPr>
      </p:pic>
      <p:sp>
        <p:nvSpPr>
          <p:cNvPr id="19" name="TextBox 8">
            <a:extLst>
              <a:ext uri="{FF2B5EF4-FFF2-40B4-BE49-F238E27FC236}">
                <a16:creationId xmlns:a16="http://schemas.microsoft.com/office/drawing/2014/main" id="{E5AE464D-DFE6-09C6-65DA-8D2CC851F626}"/>
              </a:ext>
            </a:extLst>
          </p:cNvPr>
          <p:cNvSpPr txBox="1"/>
          <p:nvPr/>
        </p:nvSpPr>
        <p:spPr>
          <a:xfrm>
            <a:off x="12847320" y="11475720"/>
            <a:ext cx="11045952" cy="411480"/>
          </a:xfrm>
          <a:prstGeom prst="rect">
            <a:avLst/>
          </a:prstGeom>
          <a:noFill/>
        </p:spPr>
        <p:txBody>
          <a:bodyPr wrap="square" lIns="36576" tIns="27432" rIns="36576" bIns="27432" anchor="t">
            <a:spAutoFit/>
          </a:bodyPr>
          <a:lstStyle/>
          <a:p>
            <a:pPr algn="ctr">
              <a:spcAft>
                <a:spcPts val="0"/>
              </a:spcAft>
            </a:pPr>
            <a:r>
              <a:rPr sz="2100" b="1">
                <a:solidFill>
                  <a:srgbClr val="1B74AA"/>
                </a:solidFill>
                <a:latin typeface="Yu Gothic"/>
                <a:ea typeface="Yu Gothic"/>
              </a:rPr>
              <a:t>各パネルの温度</a:t>
            </a:r>
          </a:p>
        </p:txBody>
      </p:sp>
      <p:sp>
        <p:nvSpPr>
          <p:cNvPr id="21" name="TextBox 9">
            <a:extLst>
              <a:ext uri="{FF2B5EF4-FFF2-40B4-BE49-F238E27FC236}">
                <a16:creationId xmlns:a16="http://schemas.microsoft.com/office/drawing/2014/main" id="{E830988C-07D9-F5B9-9874-7C1D60418F77}"/>
              </a:ext>
            </a:extLst>
          </p:cNvPr>
          <p:cNvSpPr txBox="1"/>
          <p:nvPr/>
        </p:nvSpPr>
        <p:spPr>
          <a:xfrm>
            <a:off x="1069848" y="11475720"/>
            <a:ext cx="11777472" cy="486287"/>
          </a:xfrm>
          <a:prstGeom prst="rect">
            <a:avLst/>
          </a:prstGeom>
          <a:noFill/>
        </p:spPr>
        <p:txBody>
          <a:bodyPr wrap="square" lIns="36576" tIns="27432" rIns="36576" bIns="27432" anchor="t">
            <a:spAutoFit/>
          </a:bodyPr>
          <a:lstStyle/>
          <a:p>
            <a:pPr algn="ctr">
              <a:spcAft>
                <a:spcPts val="0"/>
              </a:spcAft>
            </a:pPr>
            <a:r>
              <a:rPr sz="2100" b="1" dirty="0">
                <a:solidFill>
                  <a:srgbClr val="1B74AA"/>
                </a:solidFill>
                <a:latin typeface="Yu Gothic"/>
                <a:ea typeface="Yu Gothic"/>
              </a:rPr>
              <a:t>Case 04（</a:t>
            </a:r>
            <a:r>
              <a:rPr sz="2800" b="1" dirty="0">
                <a:solidFill>
                  <a:srgbClr val="1B74AA"/>
                </a:solidFill>
                <a:latin typeface="Yu Gothic"/>
                <a:ea typeface="Yu Gothic"/>
              </a:rPr>
              <a:t>MY</a:t>
            </a:r>
            <a:r>
              <a:rPr sz="2100" b="1" dirty="0">
                <a:solidFill>
                  <a:srgbClr val="1B74AA"/>
                </a:solidFill>
                <a:latin typeface="Yu Gothic"/>
                <a:ea typeface="Yu Gothic"/>
              </a:rPr>
              <a:t>太陽指向）の遠方LOS</a:t>
            </a:r>
          </a:p>
        </p:txBody>
      </p:sp>
      <p:pic>
        <p:nvPicPr>
          <p:cNvPr id="25" name="図 24">
            <a:extLst>
              <a:ext uri="{FF2B5EF4-FFF2-40B4-BE49-F238E27FC236}">
                <a16:creationId xmlns:a16="http://schemas.microsoft.com/office/drawing/2014/main" id="{5B2B2B61-04B6-BD30-69A8-D3793BED63C6}"/>
              </a:ext>
            </a:extLst>
          </p:cNvPr>
          <p:cNvPicPr>
            <a:picLocks noChangeAspect="1"/>
          </p:cNvPicPr>
          <p:nvPr/>
        </p:nvPicPr>
        <p:blipFill>
          <a:blip r:embed="rId4"/>
          <a:stretch>
            <a:fillRect/>
          </a:stretch>
        </p:blipFill>
        <p:spPr>
          <a:xfrm>
            <a:off x="12847667" y="3089848"/>
            <a:ext cx="11043623" cy="7696091"/>
          </a:xfrm>
          <a:prstGeom prst="rect">
            <a:avLst/>
          </a:prstGeom>
        </p:spPr>
      </p:pic>
      <p:sp>
        <p:nvSpPr>
          <p:cNvPr id="26" name="テキスト ボックス 25">
            <a:extLst>
              <a:ext uri="{FF2B5EF4-FFF2-40B4-BE49-F238E27FC236}">
                <a16:creationId xmlns:a16="http://schemas.microsoft.com/office/drawing/2014/main" id="{E19AF93F-1049-8626-F574-E8F86249A9BE}"/>
              </a:ext>
            </a:extLst>
          </p:cNvPr>
          <p:cNvSpPr txBox="1"/>
          <p:nvPr/>
        </p:nvSpPr>
        <p:spPr>
          <a:xfrm>
            <a:off x="1097280" y="11932920"/>
            <a:ext cx="22128480" cy="1539139"/>
          </a:xfrm>
          <a:prstGeom prst="rect">
            <a:avLst/>
          </a:prstGeom>
          <a:noFill/>
        </p:spPr>
        <p:txBody>
          <a:bodyPr wrap="square" rtlCol="0">
            <a:spAutoFit/>
          </a:bodyPr>
          <a:lstStyle/>
          <a:p>
            <a:pPr>
              <a:lnSpc>
                <a:spcPct val="105000"/>
              </a:lnSpc>
              <a:spcAft>
                <a:spcPts val="400"/>
              </a:spcAft>
            </a:pPr>
            <a:r>
              <a:rPr sz="2800" b="1" dirty="0">
                <a:solidFill>
                  <a:srgbClr val="D03B46"/>
                </a:solidFill>
                <a:latin typeface="Yu Gothic"/>
                <a:ea typeface="Yu Gothic"/>
              </a:rPr>
              <a:t>• </a:t>
            </a:r>
            <a:r>
              <a:rPr sz="2800" b="1" dirty="0" err="1">
                <a:solidFill>
                  <a:srgbClr val="D03B46"/>
                </a:solidFill>
                <a:latin typeface="Yu Gothic"/>
                <a:ea typeface="Yu Gothic"/>
              </a:rPr>
              <a:t>温度場と熱LOSは同じ軌道周期。支配軸は太陽面で決まる（MY</a:t>
            </a:r>
            <a:r>
              <a:rPr sz="2800" b="1" dirty="0">
                <a:solidFill>
                  <a:srgbClr val="D03B46"/>
                </a:solidFill>
                <a:latin typeface="Yu Gothic"/>
                <a:ea typeface="Yu Gothic"/>
              </a:rPr>
              <a:t>/PY → </a:t>
            </a:r>
            <a:r>
              <a:rPr sz="2800" b="1" dirty="0" err="1">
                <a:solidFill>
                  <a:srgbClr val="D03B46"/>
                </a:solidFill>
                <a:latin typeface="Yu Gothic"/>
                <a:ea typeface="Yu Gothic"/>
              </a:rPr>
              <a:t>y、MX</a:t>
            </a:r>
            <a:r>
              <a:rPr sz="2800" b="1" dirty="0">
                <a:solidFill>
                  <a:srgbClr val="D03B46"/>
                </a:solidFill>
                <a:latin typeface="Yu Gothic"/>
                <a:ea typeface="Yu Gothic"/>
              </a:rPr>
              <a:t>/PX → x）</a:t>
            </a:r>
            <a:endParaRPr lang="en-US" sz="2800" b="1" dirty="0">
              <a:solidFill>
                <a:srgbClr val="D03B46"/>
              </a:solidFill>
              <a:latin typeface="Yu Gothic"/>
              <a:ea typeface="Yu Gothic"/>
            </a:endParaRPr>
          </a:p>
          <a:p>
            <a:pPr>
              <a:lnSpc>
                <a:spcPct val="105000"/>
              </a:lnSpc>
              <a:spcAft>
                <a:spcPts val="400"/>
              </a:spcAft>
            </a:pPr>
            <a:r>
              <a:rPr lang="en-US" altLang="ja-JP" sz="2800" b="1" dirty="0">
                <a:solidFill>
                  <a:srgbClr val="D03B46"/>
                </a:solidFill>
                <a:latin typeface="Yu Gothic"/>
                <a:ea typeface="Yu Gothic"/>
              </a:rPr>
              <a:t>• </a:t>
            </a:r>
            <a:r>
              <a:rPr lang="ja-JP" altLang="en-US" sz="2800" b="1" dirty="0">
                <a:solidFill>
                  <a:srgbClr val="D03B46"/>
                </a:solidFill>
                <a:latin typeface="Yu Gothic"/>
                <a:ea typeface="Yu Gothic"/>
              </a:rPr>
              <a:t>支配軸における</a:t>
            </a:r>
            <a:r>
              <a:rPr lang="en-US" altLang="ja-JP" sz="2800" b="1" dirty="0">
                <a:solidFill>
                  <a:srgbClr val="D03B46"/>
                </a:solidFill>
                <a:latin typeface="Yu Gothic"/>
                <a:ea typeface="Yu Gothic"/>
              </a:rPr>
              <a:t>LOS</a:t>
            </a:r>
            <a:r>
              <a:rPr lang="ja-JP" altLang="en-US" sz="2800" b="1" dirty="0">
                <a:solidFill>
                  <a:srgbClr val="D03B46"/>
                </a:solidFill>
                <a:latin typeface="Yu Gothic"/>
                <a:ea typeface="Yu Gothic"/>
              </a:rPr>
              <a:t>誤差の変動成分は、太陽指向面とその反対の面の温度差と同様の変化を示す</a:t>
            </a:r>
            <a:endParaRPr kumimoji="1" lang="en-US" altLang="ja-JP" sz="2800" b="1" dirty="0">
              <a:solidFill>
                <a:srgbClr val="FF0000"/>
              </a:solidFill>
            </a:endParaRPr>
          </a:p>
          <a:p>
            <a:pPr>
              <a:lnSpc>
                <a:spcPct val="105000"/>
              </a:lnSpc>
              <a:spcAft>
                <a:spcPts val="400"/>
              </a:spcAft>
            </a:pPr>
            <a:r>
              <a:rPr sz="2800" b="1" dirty="0">
                <a:solidFill>
                  <a:srgbClr val="D03B46"/>
                </a:solidFill>
                <a:latin typeface="Yu Gothic"/>
                <a:ea typeface="Yu Gothic"/>
              </a:rPr>
              <a:t>• 大きさは太陽面で150〜1280 µ</a:t>
            </a:r>
            <a:r>
              <a:rPr sz="2800" b="1" dirty="0" err="1">
                <a:solidFill>
                  <a:srgbClr val="D03B46"/>
                </a:solidFill>
                <a:latin typeface="Yu Gothic"/>
                <a:ea typeface="Yu Gothic"/>
              </a:rPr>
              <a:t>radまで開く。表面</a:t>
            </a:r>
            <a:r>
              <a:rPr lang="ja-JP" altLang="en-US" sz="2800" b="1" dirty="0">
                <a:solidFill>
                  <a:srgbClr val="D03B46"/>
                </a:solidFill>
                <a:latin typeface="Yu Gothic"/>
                <a:ea typeface="Yu Gothic"/>
              </a:rPr>
              <a:t>の温度</a:t>
            </a:r>
            <a:r>
              <a:rPr sz="2800" b="1" dirty="0" err="1">
                <a:solidFill>
                  <a:srgbClr val="D03B46"/>
                </a:solidFill>
                <a:latin typeface="Yu Gothic"/>
                <a:ea typeface="Yu Gothic"/>
              </a:rPr>
              <a:t>は変動</a:t>
            </a:r>
            <a:r>
              <a:rPr lang="ja-JP" altLang="en-US" sz="2800" b="1" dirty="0">
                <a:solidFill>
                  <a:srgbClr val="D03B46"/>
                </a:solidFill>
                <a:latin typeface="Yu Gothic"/>
                <a:ea typeface="Yu Gothic"/>
              </a:rPr>
              <a:t>成分</a:t>
            </a:r>
            <a:r>
              <a:rPr sz="2800" b="1" dirty="0">
                <a:solidFill>
                  <a:srgbClr val="D03B46"/>
                </a:solidFill>
                <a:latin typeface="Yu Gothic"/>
                <a:ea typeface="Yu Gothic"/>
              </a:rPr>
              <a:t>、</a:t>
            </a:r>
            <a:r>
              <a:rPr sz="2800" b="1" dirty="0" err="1">
                <a:solidFill>
                  <a:srgbClr val="D03B46"/>
                </a:solidFill>
                <a:latin typeface="Yu Gothic"/>
                <a:ea typeface="Yu Gothic"/>
              </a:rPr>
              <a:t>内部発熱は</a:t>
            </a:r>
            <a:r>
              <a:rPr lang="ja-JP" altLang="en-US" sz="2800" b="1" dirty="0">
                <a:solidFill>
                  <a:srgbClr val="D03B46"/>
                </a:solidFill>
                <a:latin typeface="Yu Gothic"/>
                <a:ea typeface="Yu Gothic"/>
              </a:rPr>
              <a:t>バイアス成分</a:t>
            </a:r>
            <a:r>
              <a:rPr sz="2800" b="1" dirty="0" err="1">
                <a:solidFill>
                  <a:srgbClr val="D03B46"/>
                </a:solidFill>
                <a:latin typeface="Yu Gothic"/>
                <a:ea typeface="Yu Gothic"/>
              </a:rPr>
              <a:t>に効く</a:t>
            </a:r>
            <a:endParaRPr sz="2800" b="1" dirty="0">
              <a:solidFill>
                <a:srgbClr val="D03B46"/>
              </a:solidFill>
              <a:latin typeface="Yu Gothic"/>
              <a:ea typeface="Yu Gothic"/>
            </a:endParaRPr>
          </a:p>
        </p:txBody>
      </p:sp>
      <p:sp>
        <p:nvSpPr>
          <p:cNvPr id="3" name="TextBox 1">
            <a:extLst>
              <a:ext uri="{FF2B5EF4-FFF2-40B4-BE49-F238E27FC236}">
                <a16:creationId xmlns:a16="http://schemas.microsoft.com/office/drawing/2014/main" id="{EFF92B7E-D74D-E897-B84B-C149C90DF9CC}"/>
              </a:ext>
            </a:extLst>
          </p:cNvPr>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dirty="0" err="1">
                <a:solidFill>
                  <a:srgbClr val="666F79"/>
                </a:solidFill>
                <a:latin typeface="Yu Gothic"/>
                <a:ea typeface="Yu Gothic"/>
              </a:rPr>
              <a:t>熱構造解析</a:t>
            </a:r>
            <a:endParaRPr sz="2000" b="0" dirty="0">
              <a:solidFill>
                <a:srgbClr val="666F79"/>
              </a:solidFill>
              <a:latin typeface="Yu Gothic"/>
              <a:ea typeface="Yu Gothic"/>
            </a:endParaRPr>
          </a:p>
        </p:txBody>
      </p:sp>
      <p:sp>
        <p:nvSpPr>
          <p:cNvPr id="4" name="テキスト ボックス 3">
            <a:extLst>
              <a:ext uri="{FF2B5EF4-FFF2-40B4-BE49-F238E27FC236}">
                <a16:creationId xmlns:a16="http://schemas.microsoft.com/office/drawing/2014/main" id="{21A999EB-6657-85F3-AAE5-DE1992702995}"/>
              </a:ext>
            </a:extLst>
          </p:cNvPr>
          <p:cNvSpPr txBox="1"/>
          <p:nvPr/>
        </p:nvSpPr>
        <p:spPr>
          <a:xfrm>
            <a:off x="491123" y="8500840"/>
            <a:ext cx="830580" cy="1107996"/>
          </a:xfrm>
          <a:prstGeom prst="rect">
            <a:avLst/>
          </a:prstGeom>
          <a:noFill/>
        </p:spPr>
        <p:txBody>
          <a:bodyPr wrap="square" rtlCol="0">
            <a:spAutoFit/>
          </a:bodyPr>
          <a:lstStyle/>
          <a:p>
            <a:r>
              <a:rPr kumimoji="1" lang="en-US" altLang="ja-JP" sz="6600" dirty="0">
                <a:solidFill>
                  <a:srgbClr val="FF0000"/>
                </a:solidFill>
              </a:rPr>
              <a:t>Y</a:t>
            </a:r>
            <a:endParaRPr kumimoji="1" lang="ja-JP" altLang="en-US" sz="6600" dirty="0">
              <a:solidFill>
                <a:srgbClr val="FF0000"/>
              </a:solidFill>
            </a:endParaRPr>
          </a:p>
        </p:txBody>
      </p:sp>
      <p:sp>
        <p:nvSpPr>
          <p:cNvPr id="8" name="テキスト ボックス 7">
            <a:extLst>
              <a:ext uri="{FF2B5EF4-FFF2-40B4-BE49-F238E27FC236}">
                <a16:creationId xmlns:a16="http://schemas.microsoft.com/office/drawing/2014/main" id="{BE04E9AC-A06E-0E2C-D324-6DBC4126B62F}"/>
              </a:ext>
            </a:extLst>
          </p:cNvPr>
          <p:cNvSpPr txBox="1"/>
          <p:nvPr/>
        </p:nvSpPr>
        <p:spPr>
          <a:xfrm>
            <a:off x="23315794" y="6383895"/>
            <a:ext cx="830580" cy="1107996"/>
          </a:xfrm>
          <a:prstGeom prst="rect">
            <a:avLst/>
          </a:prstGeom>
          <a:noFill/>
        </p:spPr>
        <p:txBody>
          <a:bodyPr wrap="square" rtlCol="0">
            <a:spAutoFit/>
          </a:bodyPr>
          <a:lstStyle/>
          <a:p>
            <a:r>
              <a:rPr kumimoji="1" lang="en-US" altLang="ja-JP" sz="6600" dirty="0">
                <a:solidFill>
                  <a:srgbClr val="FF0000"/>
                </a:solidFill>
              </a:rPr>
              <a:t>Y</a:t>
            </a:r>
            <a:endParaRPr kumimoji="1" lang="ja-JP" altLang="en-US" sz="6600" dirty="0">
              <a:solidFill>
                <a:srgbClr val="FF0000"/>
              </a:solidFill>
            </a:endParaRPr>
          </a:p>
        </p:txBody>
      </p:sp>
    </p:spTree>
    <p:extLst>
      <p:ext uri="{BB962C8B-B14F-4D97-AF65-F5344CB8AC3E}">
        <p14:creationId xmlns:p14="http://schemas.microsoft.com/office/powerpoint/2010/main" val="13791333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692640" y="4114800"/>
            <a:ext cx="4937760" cy="594360"/>
          </a:xfrm>
          <a:prstGeom prst="rect">
            <a:avLst/>
          </a:prstGeom>
          <a:noFill/>
        </p:spPr>
        <p:txBody>
          <a:bodyPr wrap="none" lIns="36576" tIns="27432" rIns="36576" bIns="27432" anchor="t">
            <a:spAutoFit/>
          </a:bodyPr>
          <a:lstStyle/>
          <a:p>
            <a:pPr algn="ctr"/>
            <a:r>
              <a:rPr sz="2700" b="0">
                <a:solidFill>
                  <a:srgbClr val="FFFFFF"/>
                </a:solidFill>
                <a:latin typeface="Yu Gothic"/>
              </a:rPr>
              <a:t>03</a:t>
            </a:r>
          </a:p>
        </p:txBody>
      </p:sp>
      <p:sp>
        <p:nvSpPr>
          <p:cNvPr id="3" name="Rectangle 2"/>
          <p:cNvSpPr/>
          <p:nvPr/>
        </p:nvSpPr>
        <p:spPr>
          <a:xfrm>
            <a:off x="10469880" y="5230368"/>
            <a:ext cx="338328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112325" y="5806440"/>
            <a:ext cx="2189831" cy="563231"/>
          </a:xfrm>
          <a:prstGeom prst="rect">
            <a:avLst/>
          </a:prstGeom>
          <a:noFill/>
        </p:spPr>
        <p:txBody>
          <a:bodyPr wrap="none" lIns="36576" tIns="27432" rIns="36576" bIns="27432" anchor="t">
            <a:spAutoFit/>
          </a:bodyPr>
          <a:lstStyle/>
          <a:p>
            <a:pPr algn="ctr"/>
            <a:r>
              <a:rPr lang="ja-JP" altLang="en-US" sz="3300" b="1" dirty="0">
                <a:solidFill>
                  <a:srgbClr val="FFFFFF"/>
                </a:solidFill>
                <a:latin typeface="Yu Gothic"/>
              </a:rPr>
              <a:t>軽量モデル</a:t>
            </a:r>
            <a:endParaRPr sz="3300" b="1" dirty="0">
              <a:solidFill>
                <a:srgbClr val="FFFFFF"/>
              </a:solidFill>
              <a:latin typeface="Yu Gothic"/>
            </a:endParaRPr>
          </a:p>
        </p:txBody>
      </p:sp>
      <p:sp>
        <p:nvSpPr>
          <p:cNvPr id="7" name="Rectangle 2">
            <a:extLst>
              <a:ext uri="{FF2B5EF4-FFF2-40B4-BE49-F238E27FC236}">
                <a16:creationId xmlns:a16="http://schemas.microsoft.com/office/drawing/2014/main" id="{43F79B8D-4952-6D22-DF2C-D92288E556C1}"/>
              </a:ext>
            </a:extLst>
          </p:cNvPr>
          <p:cNvSpPr/>
          <p:nvPr/>
        </p:nvSpPr>
        <p:spPr>
          <a:xfrm>
            <a:off x="11099800" y="6857999"/>
            <a:ext cx="2209800" cy="457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6486712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Yu Gothic"/>
                <a:ea typeface="Yu Gothic"/>
              </a:rPr>
              <a:t>軽量モデル</a:t>
            </a:r>
          </a:p>
        </p:txBody>
      </p:sp>
      <p:sp>
        <p:nvSpPr>
          <p:cNvPr id="4" name="TextBox 3"/>
          <p:cNvSpPr txBox="1"/>
          <p:nvPr/>
        </p:nvSpPr>
        <p:spPr>
          <a:xfrm>
            <a:off x="21762720" y="12819888"/>
            <a:ext cx="2011680" cy="332399"/>
          </a:xfrm>
          <a:prstGeom prst="rect">
            <a:avLst/>
          </a:prstGeom>
          <a:noFill/>
        </p:spPr>
        <p:txBody>
          <a:bodyPr wrap="square" lIns="36576" tIns="27432" rIns="36576" bIns="27432" anchor="t">
            <a:spAutoFit/>
          </a:bodyPr>
          <a:lstStyle/>
          <a:p>
            <a:pPr algn="r">
              <a:spcAft>
                <a:spcPts val="0"/>
              </a:spcAft>
            </a:pPr>
            <a:r>
              <a:rPr sz="1800" b="0" dirty="0">
                <a:solidFill>
                  <a:srgbClr val="666F79"/>
                </a:solidFill>
                <a:latin typeface="Yu Gothic"/>
                <a:ea typeface="Yu Gothic"/>
              </a:rPr>
              <a:t>1</a:t>
            </a:r>
            <a:r>
              <a:rPr lang="en-US" sz="1800" b="0" dirty="0">
                <a:solidFill>
                  <a:srgbClr val="666F79"/>
                </a:solidFill>
                <a:latin typeface="Yu Gothic"/>
                <a:ea typeface="Yu Gothic"/>
              </a:rPr>
              <a:t>3</a:t>
            </a:r>
            <a:endParaRPr sz="1800" b="0" dirty="0">
              <a:solidFill>
                <a:srgbClr val="666F79"/>
              </a:solidFill>
              <a:latin typeface="Yu Gothic"/>
              <a:ea typeface="Yu Gothic"/>
            </a:endParaRPr>
          </a:p>
        </p:txBody>
      </p:sp>
      <p:sp>
        <p:nvSpPr>
          <p:cNvPr id="5" name="Rounded Rectangle 4"/>
          <p:cNvSpPr/>
          <p:nvPr/>
        </p:nvSpPr>
        <p:spPr>
          <a:xfrm>
            <a:off x="1097280" y="2834640"/>
            <a:ext cx="7315200" cy="7132320"/>
          </a:xfrm>
          <a:prstGeom prst="roundRect">
            <a:avLst/>
          </a:prstGeom>
          <a:solidFill>
            <a:srgbClr val="F4F6F8"/>
          </a:solidFill>
          <a:ln w="1651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468880" y="3200400"/>
            <a:ext cx="4572000" cy="470898"/>
          </a:xfrm>
          <a:prstGeom prst="rect">
            <a:avLst/>
          </a:prstGeom>
          <a:noFill/>
        </p:spPr>
        <p:txBody>
          <a:bodyPr wrap="square" lIns="36576" tIns="27432" rIns="36576" bIns="27432" anchor="t">
            <a:spAutoFit/>
          </a:bodyPr>
          <a:lstStyle/>
          <a:p>
            <a:pPr algn="ctr">
              <a:spcAft>
                <a:spcPts val="0"/>
              </a:spcAft>
            </a:pPr>
            <a:r>
              <a:rPr lang="ja-JP" altLang="en-US" sz="2700" b="1" dirty="0">
                <a:solidFill>
                  <a:srgbClr val="082B52"/>
                </a:solidFill>
                <a:latin typeface="Yu Gothic"/>
                <a:ea typeface="Yu Gothic"/>
              </a:rPr>
              <a:t>今回のモデル</a:t>
            </a:r>
            <a:r>
              <a:rPr sz="2700" b="1" dirty="0" err="1">
                <a:solidFill>
                  <a:srgbClr val="082B52"/>
                </a:solidFill>
                <a:latin typeface="Yu Gothic"/>
                <a:ea typeface="Yu Gothic"/>
              </a:rPr>
              <a:t>で必要なこと</a:t>
            </a:r>
            <a:endParaRPr sz="2700" b="1" dirty="0">
              <a:solidFill>
                <a:srgbClr val="082B52"/>
              </a:solidFill>
              <a:latin typeface="Yu Gothic"/>
            </a:endParaRPr>
          </a:p>
        </p:txBody>
      </p:sp>
      <p:sp>
        <p:nvSpPr>
          <p:cNvPr id="7" name="TextBox 6"/>
          <p:cNvSpPr txBox="1"/>
          <p:nvPr/>
        </p:nvSpPr>
        <p:spPr>
          <a:xfrm>
            <a:off x="1645920" y="4251960"/>
            <a:ext cx="6217920" cy="2913618"/>
          </a:xfrm>
          <a:prstGeom prst="rect">
            <a:avLst/>
          </a:prstGeom>
          <a:noFill/>
        </p:spPr>
        <p:txBody>
          <a:bodyPr wrap="square" lIns="27432" rIns="27432">
            <a:spAutoFit/>
          </a:bodyPr>
          <a:lstStyle/>
          <a:p>
            <a:pPr>
              <a:lnSpc>
                <a:spcPct val="115000"/>
              </a:lnSpc>
              <a:spcAft>
                <a:spcPts val="3400"/>
              </a:spcAft>
            </a:pPr>
            <a:r>
              <a:rPr sz="2500" b="0">
                <a:solidFill>
                  <a:srgbClr val="232B34"/>
                </a:solidFill>
                <a:latin typeface="Yu Gothic"/>
                <a:ea typeface="Yu Gothic"/>
              </a:rPr>
              <a:t>• TD/Femapをオンボードで回さない</a:t>
            </a:r>
            <a:endParaRPr sz="2500" dirty="0">
              <a:solidFill>
                <a:srgbClr val="232B34"/>
              </a:solidFill>
              <a:latin typeface="Yu Gothic"/>
            </a:endParaRPr>
          </a:p>
          <a:p>
            <a:pPr>
              <a:lnSpc>
                <a:spcPct val="115000"/>
              </a:lnSpc>
              <a:spcAft>
                <a:spcPts val="3400"/>
              </a:spcAft>
            </a:pPr>
            <a:r>
              <a:rPr sz="2500" b="0">
                <a:solidFill>
                  <a:srgbClr val="232B34"/>
                </a:solidFill>
                <a:latin typeface="Yu Gothic"/>
                <a:ea typeface="Yu Gothic"/>
              </a:rPr>
              <a:t>• 少数の温度と運用フラグだけで計算</a:t>
            </a:r>
          </a:p>
          <a:p>
            <a:pPr>
              <a:lnSpc>
                <a:spcPct val="115000"/>
              </a:lnSpc>
              <a:spcAft>
                <a:spcPts val="3400"/>
              </a:spcAft>
            </a:pPr>
            <a:r>
              <a:rPr sz="2500" b="0">
                <a:solidFill>
                  <a:srgbClr val="232B34"/>
                </a:solidFill>
                <a:latin typeface="Yu Gothic"/>
                <a:ea typeface="Yu Gothic"/>
              </a:rPr>
              <a:t>• 係数は固定の少数</a:t>
            </a:r>
          </a:p>
          <a:p>
            <a:pPr>
              <a:lnSpc>
                <a:spcPct val="115000"/>
              </a:lnSpc>
              <a:spcAft>
                <a:spcPts val="3400"/>
              </a:spcAft>
            </a:pPr>
            <a:r>
              <a:rPr sz="2500" b="0">
                <a:solidFill>
                  <a:srgbClr val="232B34"/>
                </a:solidFill>
                <a:latin typeface="Yu Gothic"/>
                <a:ea typeface="Yu Gothic"/>
              </a:rPr>
              <a:t>• 出力は走査中心から引く角度</a:t>
            </a:r>
          </a:p>
        </p:txBody>
      </p:sp>
      <p:graphicFrame>
        <p:nvGraphicFramePr>
          <p:cNvPr id="8" name="Table 7"/>
          <p:cNvGraphicFramePr>
            <a:graphicFrameLocks noGrp="1"/>
          </p:cNvGraphicFramePr>
          <p:nvPr>
            <p:extLst>
              <p:ext uri="{D42A27DB-BD31-4B8C-83A1-F6EECF244321}">
                <p14:modId xmlns:p14="http://schemas.microsoft.com/office/powerpoint/2010/main" val="1657133732"/>
              </p:ext>
            </p:extLst>
          </p:nvPr>
        </p:nvGraphicFramePr>
        <p:xfrm>
          <a:off x="9144000" y="2834640"/>
          <a:ext cx="13898880" cy="8321040"/>
        </p:xfrm>
        <a:graphic>
          <a:graphicData uri="http://schemas.openxmlformats.org/drawingml/2006/table">
            <a:tbl>
              <a:tblPr firstRow="1" bandRow="1">
                <a:tableStyleId>{5C22544A-7EE6-4342-B048-85BDC9FD1C3A}</a:tableStyleId>
              </a:tblPr>
              <a:tblGrid>
                <a:gridCol w="5212080">
                  <a:extLst>
                    <a:ext uri="{9D8B030D-6E8A-4147-A177-3AD203B41FA5}">
                      <a16:colId xmlns:a16="http://schemas.microsoft.com/office/drawing/2014/main" val="20000"/>
                    </a:ext>
                  </a:extLst>
                </a:gridCol>
                <a:gridCol w="8686800">
                  <a:extLst>
                    <a:ext uri="{9D8B030D-6E8A-4147-A177-3AD203B41FA5}">
                      <a16:colId xmlns:a16="http://schemas.microsoft.com/office/drawing/2014/main" val="20001"/>
                    </a:ext>
                  </a:extLst>
                </a:gridCol>
              </a:tblGrid>
              <a:tr h="1188720">
                <a:tc>
                  <a:txBody>
                    <a:bodyPr/>
                    <a:lstStyle/>
                    <a:p>
                      <a:pPr algn="l">
                        <a:spcAft>
                          <a:spcPts val="0"/>
                        </a:spcAft>
                      </a:pPr>
                      <a:r>
                        <a:rPr lang="ja-JP" altLang="en-US" sz="2300" b="1" dirty="0">
                          <a:solidFill>
                            <a:srgbClr val="FFFFFF"/>
                          </a:solidFill>
                          <a:latin typeface="Yu Gothic"/>
                          <a:ea typeface="Yu Gothic"/>
                        </a:rPr>
                        <a:t>モデル</a:t>
                      </a:r>
                      <a:r>
                        <a:rPr sz="2300" b="1" dirty="0" err="1">
                          <a:solidFill>
                            <a:srgbClr val="FFFFFF"/>
                          </a:solidFill>
                          <a:latin typeface="Yu Gothic"/>
                          <a:ea typeface="Yu Gothic"/>
                        </a:rPr>
                        <a:t>候補</a:t>
                      </a:r>
                      <a:endParaRPr sz="2300" b="1" dirty="0">
                        <a:solidFill>
                          <a:srgbClr val="FFFFFF"/>
                        </a:solidFill>
                        <a:latin typeface="Yu Gothic"/>
                        <a:ea typeface="Yu Gothic"/>
                      </a:endParaRPr>
                    </a:p>
                  </a:txBody>
                  <a:tcPr marL="64008" marR="64008" marT="27432" marB="27432" anchor="ctr">
                    <a:solidFill>
                      <a:srgbClr val="082B52"/>
                    </a:solidFill>
                  </a:tcPr>
                </a:tc>
                <a:tc>
                  <a:txBody>
                    <a:bodyPr/>
                    <a:lstStyle/>
                    <a:p>
                      <a:pPr algn="ctr">
                        <a:spcAft>
                          <a:spcPts val="0"/>
                        </a:spcAft>
                      </a:pPr>
                      <a:r>
                        <a:rPr sz="2300" b="1">
                          <a:solidFill>
                            <a:srgbClr val="FFFFFF"/>
                          </a:solidFill>
                          <a:latin typeface="Yu Gothic"/>
                          <a:ea typeface="Yu Gothic"/>
                        </a:rPr>
                        <a:t>長所 / 短所</a:t>
                      </a:r>
                    </a:p>
                  </a:txBody>
                  <a:tcPr marL="64008" marR="64008" marT="27432" marB="27432" anchor="ctr">
                    <a:solidFill>
                      <a:srgbClr val="082B52"/>
                    </a:solidFill>
                  </a:tcPr>
                </a:tc>
                <a:extLst>
                  <a:ext uri="{0D108BD9-81ED-4DB2-BD59-A6C34878D82A}">
                    <a16:rowId xmlns:a16="http://schemas.microsoft.com/office/drawing/2014/main" val="10000"/>
                  </a:ext>
                </a:extLst>
              </a:tr>
              <a:tr h="1188720">
                <a:tc>
                  <a:txBody>
                    <a:bodyPr/>
                    <a:lstStyle/>
                    <a:p>
                      <a:pPr algn="l">
                        <a:spcAft>
                          <a:spcPts val="0"/>
                        </a:spcAft>
                      </a:pPr>
                      <a:r>
                        <a:rPr sz="2300" b="0">
                          <a:solidFill>
                            <a:srgbClr val="232B34"/>
                          </a:solidFill>
                          <a:latin typeface="Yu Gothic"/>
                          <a:ea typeface="Yu Gothic"/>
                        </a:rPr>
                        <a:t>定数バイアス</a:t>
                      </a:r>
                    </a:p>
                  </a:txBody>
                  <a:tcPr marL="64008" marR="64008" marT="27432" marB="27432" anchor="ctr">
                    <a:solidFill>
                      <a:srgbClr val="EBF6FB"/>
                    </a:solidFill>
                  </a:tcPr>
                </a:tc>
                <a:tc>
                  <a:txBody>
                    <a:bodyPr/>
                    <a:lstStyle/>
                    <a:p>
                      <a:pPr algn="ctr">
                        <a:spcAft>
                          <a:spcPts val="0"/>
                        </a:spcAft>
                      </a:pPr>
                      <a:r>
                        <a:rPr sz="2300" b="0">
                          <a:solidFill>
                            <a:srgbClr val="232B34"/>
                          </a:solidFill>
                          <a:latin typeface="Yu Gothic"/>
                          <a:ea typeface="Yu Gothic"/>
                        </a:rPr>
                        <a:t>軽い / 軌道内の時間変化を表せない</a:t>
                      </a:r>
                    </a:p>
                  </a:txBody>
                  <a:tcPr marL="64008" marR="64008" marT="27432" marB="27432" anchor="ctr">
                    <a:solidFill>
                      <a:srgbClr val="FFFFFF"/>
                    </a:solidFill>
                  </a:tcPr>
                </a:tc>
                <a:extLst>
                  <a:ext uri="{0D108BD9-81ED-4DB2-BD59-A6C34878D82A}">
                    <a16:rowId xmlns:a16="http://schemas.microsoft.com/office/drawing/2014/main" val="10001"/>
                  </a:ext>
                </a:extLst>
              </a:tr>
              <a:tr h="1188720">
                <a:tc>
                  <a:txBody>
                    <a:bodyPr/>
                    <a:lstStyle/>
                    <a:p>
                      <a:pPr algn="l">
                        <a:spcAft>
                          <a:spcPts val="0"/>
                        </a:spcAft>
                      </a:pPr>
                      <a:r>
                        <a:rPr sz="2300" b="0">
                          <a:solidFill>
                            <a:srgbClr val="232B34"/>
                          </a:solidFill>
                          <a:latin typeface="Yu Gothic"/>
                          <a:ea typeface="Yu Gothic"/>
                        </a:rPr>
                        <a:t>軌道位相のFourier</a:t>
                      </a:r>
                    </a:p>
                  </a:txBody>
                  <a:tcPr marL="64008" marR="64008" marT="27432" marB="27432" anchor="ctr">
                    <a:solidFill>
                      <a:srgbClr val="EBF6FB"/>
                    </a:solidFill>
                  </a:tcPr>
                </a:tc>
                <a:tc>
                  <a:txBody>
                    <a:bodyPr/>
                    <a:lstStyle/>
                    <a:p>
                      <a:pPr algn="ctr">
                        <a:spcAft>
                          <a:spcPts val="0"/>
                        </a:spcAft>
                      </a:pPr>
                      <a:r>
                        <a:rPr sz="2300" b="0">
                          <a:solidFill>
                            <a:srgbClr val="232B34"/>
                          </a:solidFill>
                          <a:latin typeface="Yu Gothic"/>
                          <a:ea typeface="Yu Gothic"/>
                        </a:rPr>
                        <a:t>周期は表せる / 軌道・条件が変わると作り直し</a:t>
                      </a:r>
                    </a:p>
                  </a:txBody>
                  <a:tcPr marL="64008" marR="64008" marT="27432" marB="27432" anchor="ctr">
                    <a:solidFill>
                      <a:srgbClr val="F4F6F8"/>
                    </a:solidFill>
                  </a:tcPr>
                </a:tc>
                <a:extLst>
                  <a:ext uri="{0D108BD9-81ED-4DB2-BD59-A6C34878D82A}">
                    <a16:rowId xmlns:a16="http://schemas.microsoft.com/office/drawing/2014/main" val="10002"/>
                  </a:ext>
                </a:extLst>
              </a:tr>
              <a:tr h="1188720">
                <a:tc>
                  <a:txBody>
                    <a:bodyPr/>
                    <a:lstStyle/>
                    <a:p>
                      <a:pPr algn="l">
                        <a:spcAft>
                          <a:spcPts val="0"/>
                        </a:spcAft>
                      </a:pPr>
                      <a:r>
                        <a:rPr sz="2300" b="0">
                          <a:solidFill>
                            <a:srgbClr val="232B34"/>
                          </a:solidFill>
                          <a:latin typeface="Yu Gothic"/>
                          <a:ea typeface="Yu Gothic"/>
                        </a:rPr>
                        <a:t>取付点の温度を複数</a:t>
                      </a:r>
                    </a:p>
                  </a:txBody>
                  <a:tcPr marL="64008" marR="64008" marT="27432" marB="27432" anchor="ctr">
                    <a:solidFill>
                      <a:srgbClr val="EBF6FB"/>
                    </a:solidFill>
                  </a:tcPr>
                </a:tc>
                <a:tc>
                  <a:txBody>
                    <a:bodyPr/>
                    <a:lstStyle/>
                    <a:p>
                      <a:pPr algn="ctr">
                        <a:spcAft>
                          <a:spcPts val="0"/>
                        </a:spcAft>
                      </a:pPr>
                      <a:r>
                        <a:rPr sz="2300" b="0">
                          <a:solidFill>
                            <a:srgbClr val="232B34"/>
                          </a:solidFill>
                          <a:latin typeface="Yu Gothic"/>
                          <a:ea typeface="Yu Gothic"/>
                        </a:rPr>
                        <a:t>自由度は高い / 温度差と共線で係数が壊れる</a:t>
                      </a:r>
                    </a:p>
                  </a:txBody>
                  <a:tcPr marL="64008" marR="64008" marT="27432" marB="27432" anchor="ctr">
                    <a:solidFill>
                      <a:srgbClr val="FFFFFF"/>
                    </a:solidFill>
                  </a:tcPr>
                </a:tc>
                <a:extLst>
                  <a:ext uri="{0D108BD9-81ED-4DB2-BD59-A6C34878D82A}">
                    <a16:rowId xmlns:a16="http://schemas.microsoft.com/office/drawing/2014/main" val="10003"/>
                  </a:ext>
                </a:extLst>
              </a:tr>
              <a:tr h="1188720">
                <a:tc>
                  <a:txBody>
                    <a:bodyPr/>
                    <a:lstStyle/>
                    <a:p>
                      <a:pPr algn="l">
                        <a:spcAft>
                          <a:spcPts val="0"/>
                        </a:spcAft>
                      </a:pPr>
                      <a:r>
                        <a:rPr sz="2300" b="0">
                          <a:solidFill>
                            <a:srgbClr val="232B34"/>
                          </a:solidFill>
                          <a:latin typeface="Yu Gothic"/>
                          <a:ea typeface="Yu Gothic"/>
                        </a:rPr>
                        <a:t>太陽面の温度 T</a:t>
                      </a:r>
                    </a:p>
                  </a:txBody>
                  <a:tcPr marL="64008" marR="64008" marT="27432" marB="27432" anchor="ctr">
                    <a:solidFill>
                      <a:srgbClr val="EBF6FB"/>
                    </a:solidFill>
                  </a:tcPr>
                </a:tc>
                <a:tc>
                  <a:txBody>
                    <a:bodyPr/>
                    <a:lstStyle/>
                    <a:p>
                      <a:pPr algn="ctr">
                        <a:spcAft>
                          <a:spcPts val="0"/>
                        </a:spcAft>
                      </a:pPr>
                      <a:r>
                        <a:rPr sz="2300" b="0" dirty="0" err="1">
                          <a:solidFill>
                            <a:srgbClr val="232B34"/>
                          </a:solidFill>
                          <a:latin typeface="Yu Gothic"/>
                          <a:ea typeface="Yu Gothic"/>
                        </a:rPr>
                        <a:t>物理的</a:t>
                      </a:r>
                      <a:r>
                        <a:rPr sz="2300" b="0" dirty="0">
                          <a:solidFill>
                            <a:srgbClr val="232B34"/>
                          </a:solidFill>
                          <a:latin typeface="Yu Gothic"/>
                          <a:ea typeface="Yu Gothic"/>
                        </a:rPr>
                        <a:t> / </a:t>
                      </a:r>
                      <a:r>
                        <a:rPr sz="2300" b="0" dirty="0" err="1">
                          <a:solidFill>
                            <a:srgbClr val="232B34"/>
                          </a:solidFill>
                          <a:latin typeface="Yu Gothic"/>
                          <a:ea typeface="Yu Gothic"/>
                        </a:rPr>
                        <a:t>時間変化を追い切れない</a:t>
                      </a:r>
                      <a:endParaRPr sz="2300" b="0" dirty="0">
                        <a:solidFill>
                          <a:srgbClr val="232B34"/>
                        </a:solidFill>
                        <a:latin typeface="Yu Gothic"/>
                      </a:endParaRPr>
                    </a:p>
                  </a:txBody>
                  <a:tcPr marL="64008" marR="64008" marT="27432" marB="27432" anchor="ctr">
                    <a:solidFill>
                      <a:srgbClr val="F4F6F8"/>
                    </a:solidFill>
                  </a:tcPr>
                </a:tc>
                <a:extLst>
                  <a:ext uri="{0D108BD9-81ED-4DB2-BD59-A6C34878D82A}">
                    <a16:rowId xmlns:a16="http://schemas.microsoft.com/office/drawing/2014/main" val="10004"/>
                  </a:ext>
                </a:extLst>
              </a:tr>
              <a:tr h="1188720">
                <a:tc>
                  <a:txBody>
                    <a:bodyPr/>
                    <a:lstStyle/>
                    <a:p>
                      <a:pPr algn="l">
                        <a:spcAft>
                          <a:spcPts val="0"/>
                        </a:spcAft>
                      </a:pPr>
                      <a:r>
                        <a:rPr sz="2300" b="0">
                          <a:solidFill>
                            <a:srgbClr val="232B34"/>
                          </a:solidFill>
                          <a:latin typeface="Yu Gothic"/>
                          <a:ea typeface="Yu Gothic"/>
                        </a:rPr>
                        <a:t>太陽面の温度差 ΔT</a:t>
                      </a:r>
                      <a:endParaRPr sz="2300" b="0" dirty="0">
                        <a:solidFill>
                          <a:srgbClr val="232B34"/>
                        </a:solidFill>
                        <a:latin typeface="Yu Gothic"/>
                      </a:endParaRPr>
                    </a:p>
                  </a:txBody>
                  <a:tcPr marL="64008" marR="64008" marT="27432" marB="27432" anchor="ctr">
                    <a:solidFill>
                      <a:srgbClr val="EBF6FB"/>
                    </a:solidFill>
                  </a:tcPr>
                </a:tc>
                <a:tc>
                  <a:txBody>
                    <a:bodyPr/>
                    <a:lstStyle/>
                    <a:p>
                      <a:pPr algn="ctr">
                        <a:spcAft>
                          <a:spcPts val="0"/>
                        </a:spcAft>
                      </a:pPr>
                      <a:r>
                        <a:rPr sz="2300" b="0">
                          <a:solidFill>
                            <a:srgbClr val="232B34"/>
                          </a:solidFill>
                          <a:latin typeface="Yu Gothic"/>
                          <a:ea typeface="Yu Gothic"/>
                        </a:rPr>
                        <a:t>物理的 / ケース間の平均のずれを説明できない</a:t>
                      </a:r>
                      <a:endParaRPr sz="2300" b="0" dirty="0">
                        <a:solidFill>
                          <a:srgbClr val="232B34"/>
                        </a:solidFill>
                        <a:latin typeface="Yu Gothic"/>
                      </a:endParaRPr>
                    </a:p>
                  </a:txBody>
                  <a:tcPr marL="64008" marR="64008" marT="27432" marB="27432" anchor="ctr">
                    <a:solidFill>
                      <a:srgbClr val="F4F6F8"/>
                    </a:solidFill>
                  </a:tcPr>
                </a:tc>
                <a:extLst>
                  <a:ext uri="{0D108BD9-81ED-4DB2-BD59-A6C34878D82A}">
                    <a16:rowId xmlns:a16="http://schemas.microsoft.com/office/drawing/2014/main" val="4282857465"/>
                  </a:ext>
                </a:extLst>
              </a:tr>
              <a:tr h="1188720">
                <a:tc>
                  <a:txBody>
                    <a:bodyPr/>
                    <a:lstStyle/>
                    <a:p>
                      <a:pPr algn="l">
                        <a:spcAft>
                          <a:spcPts val="0"/>
                        </a:spcAft>
                      </a:pPr>
                      <a:r>
                        <a:rPr sz="2300" b="1" dirty="0" err="1">
                          <a:solidFill>
                            <a:srgbClr val="232B34"/>
                          </a:solidFill>
                          <a:latin typeface="Yu Gothic"/>
                          <a:ea typeface="Yu Gothic"/>
                        </a:rPr>
                        <a:t>階層型</a:t>
                      </a:r>
                      <a:r>
                        <a:rPr sz="2300" b="1" dirty="0">
                          <a:solidFill>
                            <a:srgbClr val="232B34"/>
                          </a:solidFill>
                          <a:latin typeface="Yu Gothic"/>
                          <a:ea typeface="Yu Gothic"/>
                        </a:rPr>
                        <a:t> ΔT</a:t>
                      </a:r>
                    </a:p>
                  </a:txBody>
                  <a:tcPr marL="64008" marR="64008" marT="27432" marB="27432" anchor="ctr">
                    <a:solidFill>
                      <a:schemeClr val="accent6">
                        <a:lumMod val="20000"/>
                        <a:lumOff val="80000"/>
                      </a:schemeClr>
                    </a:solidFill>
                  </a:tcPr>
                </a:tc>
                <a:tc>
                  <a:txBody>
                    <a:bodyPr/>
                    <a:lstStyle/>
                    <a:p>
                      <a:pPr algn="ctr">
                        <a:spcAft>
                          <a:spcPts val="0"/>
                        </a:spcAft>
                      </a:pPr>
                      <a:r>
                        <a:rPr sz="2300" b="1" dirty="0" err="1">
                          <a:solidFill>
                            <a:srgbClr val="232B34"/>
                          </a:solidFill>
                          <a:latin typeface="Yu Gothic"/>
                          <a:ea typeface="Yu Gothic"/>
                        </a:rPr>
                        <a:t>軌道内の時変とケース間の平均を分けて表せる</a:t>
                      </a:r>
                      <a:endParaRPr sz="2300" b="1" dirty="0">
                        <a:solidFill>
                          <a:srgbClr val="232B34"/>
                        </a:solidFill>
                        <a:latin typeface="Yu Gothic"/>
                        <a:ea typeface="Yu Gothic"/>
                      </a:endParaRPr>
                    </a:p>
                  </a:txBody>
                  <a:tcPr marL="64008" marR="64008" marT="27432" marB="27432" anchor="ctr">
                    <a:solidFill>
                      <a:schemeClr val="accent6">
                        <a:lumMod val="20000"/>
                        <a:lumOff val="80000"/>
                      </a:schemeClr>
                    </a:solidFill>
                  </a:tcPr>
                </a:tc>
                <a:extLst>
                  <a:ext uri="{0D108BD9-81ED-4DB2-BD59-A6C34878D82A}">
                    <a16:rowId xmlns:a16="http://schemas.microsoft.com/office/drawing/2014/main" val="10005"/>
                  </a:ext>
                </a:extLst>
              </a:tr>
            </a:tbl>
          </a:graphicData>
        </a:graphic>
      </p:graphicFrame>
      <p:sp>
        <p:nvSpPr>
          <p:cNvPr id="9" name="TextBox 8"/>
          <p:cNvSpPr txBox="1"/>
          <p:nvPr/>
        </p:nvSpPr>
        <p:spPr>
          <a:xfrm>
            <a:off x="1536193" y="11862122"/>
            <a:ext cx="20877428" cy="978729"/>
          </a:xfrm>
          <a:prstGeom prst="rect">
            <a:avLst/>
          </a:prstGeom>
          <a:noFill/>
        </p:spPr>
        <p:txBody>
          <a:bodyPr wrap="square" lIns="36576" tIns="27432" rIns="36576" bIns="27432" anchor="t">
            <a:spAutoFit/>
          </a:bodyPr>
          <a:lstStyle/>
          <a:p>
            <a:pPr algn="ctr">
              <a:spcAft>
                <a:spcPts val="0"/>
              </a:spcAft>
            </a:pPr>
            <a:r>
              <a:rPr sz="3000" b="1" dirty="0">
                <a:solidFill>
                  <a:srgbClr val="082B52"/>
                </a:solidFill>
                <a:latin typeface="Yu Gothic"/>
                <a:ea typeface="Yu Gothic"/>
              </a:rPr>
              <a:t>→ </a:t>
            </a:r>
            <a:r>
              <a:rPr sz="3000" b="1" dirty="0" err="1">
                <a:solidFill>
                  <a:srgbClr val="082B52"/>
                </a:solidFill>
                <a:latin typeface="Yu Gothic"/>
                <a:ea typeface="Yu Gothic"/>
              </a:rPr>
              <a:t>太陽面</a:t>
            </a:r>
            <a:r>
              <a:rPr sz="3000" b="1" dirty="0">
                <a:solidFill>
                  <a:srgbClr val="082B52"/>
                </a:solidFill>
                <a:latin typeface="Yu Gothic"/>
                <a:ea typeface="Yu Gothic"/>
              </a:rPr>
              <a:t>–</a:t>
            </a:r>
            <a:r>
              <a:rPr sz="3000" b="1" dirty="0" err="1">
                <a:solidFill>
                  <a:srgbClr val="082B52"/>
                </a:solidFill>
                <a:latin typeface="Yu Gothic"/>
                <a:ea typeface="Yu Gothic"/>
              </a:rPr>
              <a:t>反対面の温度差ΔT</a:t>
            </a:r>
            <a:r>
              <a:rPr lang="ja-JP" altLang="en-US" sz="3000" b="1" dirty="0">
                <a:solidFill>
                  <a:srgbClr val="082B52"/>
                </a:solidFill>
                <a:latin typeface="Yu Gothic"/>
                <a:ea typeface="Yu Gothic"/>
              </a:rPr>
              <a:t>由来の熱ひずみ</a:t>
            </a:r>
            <a:r>
              <a:rPr lang="en-US" altLang="ja-JP" sz="3000" b="1" dirty="0">
                <a:solidFill>
                  <a:srgbClr val="082B52"/>
                </a:solidFill>
                <a:latin typeface="Yu Gothic"/>
                <a:ea typeface="Yu Gothic"/>
              </a:rPr>
              <a:t>LOS</a:t>
            </a:r>
            <a:r>
              <a:rPr lang="ja-JP" altLang="en-US" sz="3000" b="1" dirty="0">
                <a:solidFill>
                  <a:srgbClr val="082B52"/>
                </a:solidFill>
                <a:latin typeface="Yu Gothic"/>
                <a:ea typeface="Yu Gothic"/>
              </a:rPr>
              <a:t>変動成分</a:t>
            </a:r>
            <a:r>
              <a:rPr sz="3000" b="1" dirty="0">
                <a:solidFill>
                  <a:srgbClr val="082B52"/>
                </a:solidFill>
                <a:latin typeface="Yu Gothic"/>
                <a:ea typeface="Yu Gothic"/>
              </a:rPr>
              <a:t>と、</a:t>
            </a:r>
            <a:endParaRPr lang="en-US" sz="3000" b="1" dirty="0">
              <a:solidFill>
                <a:srgbClr val="082B52"/>
              </a:solidFill>
              <a:latin typeface="Yu Gothic"/>
              <a:ea typeface="Yu Gothic"/>
            </a:endParaRPr>
          </a:p>
          <a:p>
            <a:pPr algn="ctr">
              <a:spcAft>
                <a:spcPts val="0"/>
              </a:spcAft>
            </a:pPr>
            <a:r>
              <a:rPr sz="3000" b="1" dirty="0" err="1">
                <a:solidFill>
                  <a:srgbClr val="082B52"/>
                </a:solidFill>
                <a:latin typeface="Yu Gothic"/>
                <a:ea typeface="Yu Gothic"/>
              </a:rPr>
              <a:t>ケース間の平均</a:t>
            </a:r>
            <a:r>
              <a:rPr lang="ja-JP" altLang="en-US" sz="3000" b="1" dirty="0">
                <a:solidFill>
                  <a:srgbClr val="082B52"/>
                </a:solidFill>
                <a:latin typeface="Yu Gothic"/>
                <a:ea typeface="Yu Gothic"/>
              </a:rPr>
              <a:t>バイアス由来の熱ひずみ</a:t>
            </a:r>
            <a:r>
              <a:rPr lang="en-US" altLang="ja-JP" sz="3000" b="1" dirty="0">
                <a:solidFill>
                  <a:srgbClr val="082B52"/>
                </a:solidFill>
                <a:latin typeface="Yu Gothic"/>
                <a:ea typeface="Yu Gothic"/>
              </a:rPr>
              <a:t>LOS</a:t>
            </a:r>
            <a:r>
              <a:rPr lang="ja-JP" altLang="en-US" sz="3000" b="1" dirty="0">
                <a:solidFill>
                  <a:srgbClr val="082B52"/>
                </a:solidFill>
                <a:latin typeface="Yu Gothic"/>
                <a:ea typeface="Yu Gothic"/>
              </a:rPr>
              <a:t>バイアス成分</a:t>
            </a:r>
            <a:r>
              <a:rPr sz="3000" b="1" dirty="0" err="1">
                <a:solidFill>
                  <a:srgbClr val="082B52"/>
                </a:solidFill>
                <a:latin typeface="Yu Gothic"/>
                <a:ea typeface="Yu Gothic"/>
              </a:rPr>
              <a:t>を分け</a:t>
            </a:r>
            <a:r>
              <a:rPr lang="ja-JP" altLang="en-US" sz="3000" b="1" dirty="0">
                <a:solidFill>
                  <a:srgbClr val="082B52"/>
                </a:solidFill>
                <a:latin typeface="Yu Gothic"/>
                <a:ea typeface="Yu Gothic"/>
              </a:rPr>
              <a:t>て予測する</a:t>
            </a:r>
            <a:r>
              <a:rPr sz="3000" b="1" dirty="0" err="1">
                <a:solidFill>
                  <a:srgbClr val="082B52"/>
                </a:solidFill>
                <a:latin typeface="Yu Gothic"/>
                <a:ea typeface="Yu Gothic"/>
              </a:rPr>
              <a:t>階層型モデルを採用</a:t>
            </a:r>
            <a:endParaRPr lang="ja-JP" altLang="ja-JP" sz="3200" dirty="0"/>
          </a:p>
        </p:txBody>
      </p:sp>
      <p:sp>
        <p:nvSpPr>
          <p:cNvPr id="12" name="TextBox 2">
            <a:extLst>
              <a:ext uri="{FF2B5EF4-FFF2-40B4-BE49-F238E27FC236}">
                <a16:creationId xmlns:a16="http://schemas.microsoft.com/office/drawing/2014/main" id="{0B50638C-A598-E0CC-394F-5BF42CDB1937}"/>
              </a:ext>
            </a:extLst>
          </p:cNvPr>
          <p:cNvSpPr txBox="1"/>
          <p:nvPr/>
        </p:nvSpPr>
        <p:spPr>
          <a:xfrm>
            <a:off x="1536192" y="1298448"/>
            <a:ext cx="22037040" cy="1040285"/>
          </a:xfrm>
          <a:prstGeom prst="rect">
            <a:avLst/>
          </a:prstGeom>
          <a:noFill/>
        </p:spPr>
        <p:txBody>
          <a:bodyPr wrap="square" lIns="36576" tIns="27432" rIns="36576" bIns="27432" anchor="t">
            <a:spAutoFit/>
          </a:bodyPr>
          <a:lstStyle/>
          <a:p>
            <a:pPr algn="l">
              <a:spcAft>
                <a:spcPts val="0"/>
              </a:spcAft>
            </a:pPr>
            <a:endParaRPr lang="en-US" altLang="ja-JP" sz="3200" b="1" dirty="0">
              <a:solidFill>
                <a:srgbClr val="082B52"/>
              </a:solidFill>
              <a:latin typeface="Yu Gothic"/>
            </a:endParaRPr>
          </a:p>
          <a:p>
            <a:pPr algn="l">
              <a:spcAft>
                <a:spcPts val="0"/>
              </a:spcAft>
            </a:pPr>
            <a:r>
              <a:rPr lang="ja-JP" altLang="en-US" sz="3200" b="1" dirty="0">
                <a:solidFill>
                  <a:srgbClr val="082B52"/>
                </a:solidFill>
                <a:latin typeface="Yu Gothic"/>
              </a:rPr>
              <a:t>軽量モデルの選定</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1498A-D134-1DB7-BEEC-89F4ACDABE1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E132FC5-CEFF-682E-12E1-776DF31BA0AA}"/>
              </a:ext>
            </a:extLst>
          </p:cNvPr>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Yu Gothic"/>
                <a:ea typeface="Yu Gothic"/>
              </a:rPr>
              <a:t>軽量モデル</a:t>
            </a:r>
          </a:p>
        </p:txBody>
      </p:sp>
      <p:sp>
        <p:nvSpPr>
          <p:cNvPr id="3" name="TextBox 2">
            <a:extLst>
              <a:ext uri="{FF2B5EF4-FFF2-40B4-BE49-F238E27FC236}">
                <a16:creationId xmlns:a16="http://schemas.microsoft.com/office/drawing/2014/main" id="{3E06BBAA-7C1E-6C59-0838-394848810869}"/>
              </a:ext>
            </a:extLst>
          </p:cNvPr>
          <p:cNvSpPr txBox="1"/>
          <p:nvPr/>
        </p:nvSpPr>
        <p:spPr>
          <a:xfrm>
            <a:off x="1536192" y="1298448"/>
            <a:ext cx="22037040" cy="1040285"/>
          </a:xfrm>
          <a:prstGeom prst="rect">
            <a:avLst/>
          </a:prstGeom>
          <a:noFill/>
        </p:spPr>
        <p:txBody>
          <a:bodyPr wrap="square" lIns="36576" tIns="27432" rIns="36576" bIns="27432" anchor="t">
            <a:spAutoFit/>
          </a:bodyPr>
          <a:lstStyle/>
          <a:p>
            <a:pPr algn="l">
              <a:spcAft>
                <a:spcPts val="0"/>
              </a:spcAft>
            </a:pPr>
            <a:endParaRPr lang="en-US" sz="3200" b="1" dirty="0">
              <a:solidFill>
                <a:srgbClr val="082B52"/>
              </a:solidFill>
              <a:latin typeface="Yu Gothic"/>
              <a:ea typeface="Yu Gothic"/>
            </a:endParaRPr>
          </a:p>
          <a:p>
            <a:r>
              <a:rPr lang="ja-JP" altLang="en-US" sz="3200" b="1" dirty="0">
                <a:solidFill>
                  <a:srgbClr val="082B52"/>
                </a:solidFill>
                <a:latin typeface="Yu Gothic"/>
                <a:ea typeface="Yu Gothic"/>
              </a:rPr>
              <a:t>軌道上では温度差と運用フラグから、時変成分とバイアス成分を分けて予測する</a:t>
            </a:r>
            <a:endParaRPr lang="ja-JP" altLang="en-US" sz="3200" b="1" dirty="0">
              <a:solidFill>
                <a:srgbClr val="082B52"/>
              </a:solidFill>
              <a:latin typeface="Yu Gothic"/>
            </a:endParaRPr>
          </a:p>
        </p:txBody>
      </p:sp>
      <p:sp>
        <p:nvSpPr>
          <p:cNvPr id="4" name="TextBox 3">
            <a:extLst>
              <a:ext uri="{FF2B5EF4-FFF2-40B4-BE49-F238E27FC236}">
                <a16:creationId xmlns:a16="http://schemas.microsoft.com/office/drawing/2014/main" id="{53C37490-C33E-76CF-2AD2-84281E463F88}"/>
              </a:ext>
            </a:extLst>
          </p:cNvPr>
          <p:cNvSpPr txBox="1"/>
          <p:nvPr/>
        </p:nvSpPr>
        <p:spPr>
          <a:xfrm>
            <a:off x="21762720" y="12819888"/>
            <a:ext cx="2011680" cy="332399"/>
          </a:xfrm>
          <a:prstGeom prst="rect">
            <a:avLst/>
          </a:prstGeom>
          <a:noFill/>
        </p:spPr>
        <p:txBody>
          <a:bodyPr wrap="square" lIns="36576" tIns="27432" rIns="36576" bIns="27432" anchor="t">
            <a:spAutoFit/>
          </a:bodyPr>
          <a:lstStyle/>
          <a:p>
            <a:pPr algn="r">
              <a:spcAft>
                <a:spcPts val="0"/>
              </a:spcAft>
            </a:pPr>
            <a:r>
              <a:rPr sz="1800" b="0" dirty="0">
                <a:solidFill>
                  <a:srgbClr val="666F79"/>
                </a:solidFill>
                <a:latin typeface="Yu Gothic"/>
                <a:ea typeface="Yu Gothic"/>
              </a:rPr>
              <a:t>1</a:t>
            </a:r>
            <a:r>
              <a:rPr lang="en-US" sz="1800" b="0" dirty="0">
                <a:solidFill>
                  <a:srgbClr val="666F79"/>
                </a:solidFill>
                <a:latin typeface="Yu Gothic"/>
                <a:ea typeface="Yu Gothic"/>
              </a:rPr>
              <a:t>4</a:t>
            </a:r>
            <a:endParaRPr sz="1800" b="0" dirty="0">
              <a:solidFill>
                <a:srgbClr val="666F79"/>
              </a:solidFill>
              <a:latin typeface="Yu Gothic"/>
              <a:ea typeface="Yu Gothic"/>
            </a:endParaRPr>
          </a:p>
        </p:txBody>
      </p:sp>
      <p:sp>
        <p:nvSpPr>
          <p:cNvPr id="5" name="Rounded Rectangle 4">
            <a:extLst>
              <a:ext uri="{FF2B5EF4-FFF2-40B4-BE49-F238E27FC236}">
                <a16:creationId xmlns:a16="http://schemas.microsoft.com/office/drawing/2014/main" id="{2AE6B36D-D351-9081-078E-979D1A977FE8}"/>
              </a:ext>
            </a:extLst>
          </p:cNvPr>
          <p:cNvSpPr/>
          <p:nvPr/>
        </p:nvSpPr>
        <p:spPr>
          <a:xfrm>
            <a:off x="1280160" y="2880360"/>
            <a:ext cx="21762720" cy="2468880"/>
          </a:xfrm>
          <a:prstGeom prst="roundRect">
            <a:avLst/>
          </a:prstGeom>
          <a:solidFill>
            <a:srgbClr val="EBF6FB"/>
          </a:solidFill>
          <a:ln w="16510">
            <a:solidFill>
              <a:srgbClr val="5BB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84E91D8-1988-F135-C79D-012F2C7E199F}"/>
                  </a:ext>
                </a:extLst>
              </p:cNvPr>
              <p:cNvSpPr txBox="1"/>
              <p:nvPr/>
            </p:nvSpPr>
            <p:spPr>
              <a:xfrm>
                <a:off x="5700017" y="5593080"/>
                <a:ext cx="13014460" cy="1039002"/>
              </a:xfrm>
              <a:prstGeom prst="rect">
                <a:avLst/>
              </a:prstGeom>
              <a:noFill/>
            </p:spPr>
            <p:txBody>
              <a:bodyPr wrap="none" lIns="36576" tIns="27432" rIns="36576" bIns="27432" anchor="t">
                <a:spAutoFit/>
              </a:bodyPr>
              <a:lstStyle/>
              <a:p>
                <a:pPr algn="ctr"/>
                <a14:m>
                  <m:oMathPara xmlns:m="http://schemas.openxmlformats.org/officeDocument/2006/math">
                    <m:oMath>
                      <m:r>
                        <a:rPr lang="ja-JP" altLang="en-US" sz="3200" b="1" i="0" dirty="0" smtClean="0">
                          <a:solidFill>
                            <a:srgbClr val="1B74AA"/>
                          </a:solidFill>
                          <a:latin typeface="Cambria Math" panose="02040503050406030204" pitchFamily="18" charset="0"/>
                        </a:rPr>
                        <m:t>𝚫</m:t>
                      </m:r>
                      <m:r>
                        <a:rPr lang="ja-JP" altLang="en-US" sz="3200" b="1" i="1" dirty="0" smtClean="0">
                          <a:solidFill>
                            <a:srgbClr val="1B74AA"/>
                          </a:solidFill>
                          <a:latin typeface="Cambria Math" panose="02040503050406030204" pitchFamily="18" charset="0"/>
                        </a:rPr>
                        <m:t>𝑻</m:t>
                      </m:r>
                      <m:d>
                        <m:dPr>
                          <m:ctrlPr>
                            <a:rPr lang="ja-JP" altLang="en-US" sz="3200" b="1" i="1" dirty="0">
                              <a:solidFill>
                                <a:srgbClr val="1B74AA"/>
                              </a:solidFill>
                              <a:latin typeface="Cambria Math" panose="02040503050406030204" pitchFamily="18" charset="0"/>
                            </a:rPr>
                          </m:ctrlPr>
                        </m:dPr>
                        <m:e>
                          <m:r>
                            <a:rPr lang="ja-JP" altLang="en-US" sz="3200" b="1" i="1" dirty="0">
                              <a:solidFill>
                                <a:srgbClr val="1B74AA"/>
                              </a:solidFill>
                              <a:latin typeface="Cambria Math" panose="02040503050406030204" pitchFamily="18" charset="0"/>
                            </a:rPr>
                            <m:t>𝒕</m:t>
                          </m:r>
                        </m:e>
                      </m:d>
                      <m:r>
                        <a:rPr lang="en-US" altLang="ja-JP" sz="3200" b="1" i="1" dirty="0">
                          <a:solidFill>
                            <a:srgbClr val="1B74AA"/>
                          </a:solidFill>
                          <a:latin typeface="Cambria Math" panose="02040503050406030204" pitchFamily="18" charset="0"/>
                        </a:rPr>
                        <m:t>= </m:t>
                      </m:r>
                      <m:sSub>
                        <m:sSubPr>
                          <m:ctrlPr>
                            <a:rPr lang="ja-JP" altLang="en-US" sz="3200" b="1" i="1" dirty="0" err="1">
                              <a:solidFill>
                                <a:srgbClr val="1B74AA"/>
                              </a:solidFill>
                              <a:latin typeface="Cambria Math" panose="02040503050406030204" pitchFamily="18" charset="0"/>
                            </a:rPr>
                          </m:ctrlPr>
                        </m:sSubPr>
                        <m:e>
                          <m:r>
                            <a:rPr lang="ja-JP" altLang="en-US" sz="3200" b="1" i="1" dirty="0" err="1">
                              <a:solidFill>
                                <a:srgbClr val="1B74AA"/>
                              </a:solidFill>
                              <a:latin typeface="Cambria Math" panose="02040503050406030204" pitchFamily="18" charset="0"/>
                            </a:rPr>
                            <m:t>𝑻</m:t>
                          </m:r>
                        </m:e>
                        <m:sub>
                          <m:r>
                            <a:rPr lang="ja-JP" altLang="en-US" sz="3200" b="1" i="1" dirty="0" err="1">
                              <a:solidFill>
                                <a:srgbClr val="1B74AA"/>
                              </a:solidFill>
                              <a:latin typeface="Cambria Math" panose="02040503050406030204" pitchFamily="18" charset="0"/>
                            </a:rPr>
                            <m:t>𝒔𝒖𝒏𝒇𝒂𝒄𝒆</m:t>
                          </m:r>
                        </m:sub>
                      </m:sSub>
                      <m:d>
                        <m:dPr>
                          <m:ctrlPr>
                            <a:rPr lang="ja-JP" altLang="en-US" sz="3200" b="1" i="1" dirty="0">
                              <a:solidFill>
                                <a:srgbClr val="1B74AA"/>
                              </a:solidFill>
                              <a:latin typeface="Cambria Math" panose="02040503050406030204" pitchFamily="18" charset="0"/>
                            </a:rPr>
                          </m:ctrlPr>
                        </m:dPr>
                        <m:e>
                          <m:r>
                            <a:rPr lang="ja-JP" altLang="en-US" sz="3200" b="1" i="1" dirty="0">
                              <a:solidFill>
                                <a:srgbClr val="1B74AA"/>
                              </a:solidFill>
                              <a:latin typeface="Cambria Math" panose="02040503050406030204" pitchFamily="18" charset="0"/>
                            </a:rPr>
                            <m:t>𝒕</m:t>
                          </m:r>
                        </m:e>
                      </m:d>
                      <m:r>
                        <a:rPr lang="en-US" altLang="ja-JP" sz="3200" b="1" i="1" dirty="0">
                          <a:solidFill>
                            <a:srgbClr val="1B74AA"/>
                          </a:solidFill>
                          <a:latin typeface="Cambria Math" panose="02040503050406030204" pitchFamily="18" charset="0"/>
                        </a:rPr>
                        <m:t>− </m:t>
                      </m:r>
                      <m:sSub>
                        <m:sSubPr>
                          <m:ctrlPr>
                            <a:rPr lang="ja-JP" altLang="en-US" sz="3200" b="1" i="1" dirty="0" err="1">
                              <a:solidFill>
                                <a:srgbClr val="1B74AA"/>
                              </a:solidFill>
                              <a:latin typeface="Cambria Math" panose="02040503050406030204" pitchFamily="18" charset="0"/>
                            </a:rPr>
                          </m:ctrlPr>
                        </m:sSubPr>
                        <m:e>
                          <m:r>
                            <a:rPr lang="ja-JP" altLang="en-US" sz="3200" b="1" i="1" dirty="0" err="1">
                              <a:solidFill>
                                <a:srgbClr val="1B74AA"/>
                              </a:solidFill>
                              <a:latin typeface="Cambria Math" panose="02040503050406030204" pitchFamily="18" charset="0"/>
                            </a:rPr>
                            <m:t>𝑻</m:t>
                          </m:r>
                        </m:e>
                        <m:sub>
                          <m:r>
                            <a:rPr lang="ja-JP" altLang="en-US" sz="3200" b="1" i="1" dirty="0" err="1">
                              <a:solidFill>
                                <a:srgbClr val="1B74AA"/>
                              </a:solidFill>
                              <a:latin typeface="Cambria Math" panose="02040503050406030204" pitchFamily="18" charset="0"/>
                            </a:rPr>
                            <m:t>𝒐𝒑𝒑𝒐𝒔𝒊𝒕𝒆</m:t>
                          </m:r>
                        </m:sub>
                      </m:sSub>
                      <m:d>
                        <m:dPr>
                          <m:ctrlPr>
                            <a:rPr lang="ja-JP" altLang="en-US" sz="3200" b="1" i="1" dirty="0">
                              <a:solidFill>
                                <a:srgbClr val="1B74AA"/>
                              </a:solidFill>
                              <a:latin typeface="Cambria Math" panose="02040503050406030204" pitchFamily="18" charset="0"/>
                            </a:rPr>
                          </m:ctrlPr>
                        </m:dPr>
                        <m:e>
                          <m:r>
                            <a:rPr lang="ja-JP" altLang="en-US" sz="3200" b="1" i="1" dirty="0">
                              <a:solidFill>
                                <a:srgbClr val="1B74AA"/>
                              </a:solidFill>
                              <a:latin typeface="Cambria Math" panose="02040503050406030204" pitchFamily="18" charset="0"/>
                            </a:rPr>
                            <m:t>𝒕</m:t>
                          </m:r>
                        </m:e>
                      </m:d>
                      <m:r>
                        <a:rPr lang="ja-JP" altLang="en-US" sz="3200" b="1" i="1" dirty="0">
                          <a:solidFill>
                            <a:srgbClr val="1B74AA"/>
                          </a:solidFill>
                          <a:latin typeface="Cambria Math" panose="02040503050406030204" pitchFamily="18" charset="0"/>
                        </a:rPr>
                        <m:t>：太陽指向面とその反対面の温度差</m:t>
                      </m:r>
                    </m:oMath>
                  </m:oMathPara>
                </a14:m>
                <a:endParaRPr lang="en-US" altLang="ja-JP" sz="3200" b="1" i="1" dirty="0">
                  <a:solidFill>
                    <a:srgbClr val="1B74AA"/>
                  </a:solidFill>
                  <a:latin typeface="Cambria Math" panose="02040503050406030204" pitchFamily="18" charset="0"/>
                </a:endParaRPr>
              </a:p>
              <a:p>
                <a:pPr algn="r"/>
                <a:r>
                  <a:rPr lang="en-US" altLang="ja-JP" sz="2800" b="1" dirty="0">
                    <a:solidFill>
                      <a:srgbClr val="1B74AA"/>
                    </a:solidFill>
                  </a:rPr>
                  <a:t>※</a:t>
                </a:r>
                <a14:m>
                  <m:oMath xmlns:m="http://schemas.openxmlformats.org/officeDocument/2006/math">
                    <m:r>
                      <a:rPr lang="ja-JP" altLang="en-US" sz="2800" b="1" i="1" dirty="0">
                        <a:solidFill>
                          <a:srgbClr val="1B74AA"/>
                        </a:solidFill>
                        <a:latin typeface="Cambria Math" panose="02040503050406030204" pitchFamily="18" charset="0"/>
                      </a:rPr>
                      <m:t>各面</m:t>
                    </m:r>
                    <m:r>
                      <a:rPr lang="ja-JP" altLang="en-US" sz="2800" b="1" i="1" dirty="0" smtClean="0">
                        <a:solidFill>
                          <a:srgbClr val="1B74AA"/>
                        </a:solidFill>
                        <a:latin typeface="Cambria Math" panose="02040503050406030204" pitchFamily="18" charset="0"/>
                      </a:rPr>
                      <m:t>の</m:t>
                    </m:r>
                    <m:r>
                      <a:rPr lang="ja-JP" altLang="en-US" sz="2800" b="1" i="1" dirty="0">
                        <a:solidFill>
                          <a:srgbClr val="1B74AA"/>
                        </a:solidFill>
                        <a:latin typeface="Cambria Math" panose="02040503050406030204" pitchFamily="18" charset="0"/>
                      </a:rPr>
                      <m:t>中央</m:t>
                    </m:r>
                    <m:r>
                      <a:rPr lang="ja-JP" altLang="en-US" sz="2800" b="1" i="1" dirty="0" smtClean="0">
                        <a:solidFill>
                          <a:srgbClr val="1B74AA"/>
                        </a:solidFill>
                        <a:latin typeface="Cambria Math" panose="02040503050406030204" pitchFamily="18" charset="0"/>
                      </a:rPr>
                      <m:t>の</m:t>
                    </m:r>
                    <m:r>
                      <a:rPr lang="ja-JP" altLang="en-US" sz="2800" b="1" i="1" dirty="0">
                        <a:solidFill>
                          <a:srgbClr val="1B74AA"/>
                        </a:solidFill>
                        <a:latin typeface="Cambria Math" panose="02040503050406030204" pitchFamily="18" charset="0"/>
                      </a:rPr>
                      <m:t>温度は</m:t>
                    </m:r>
                    <m:r>
                      <a:rPr lang="ja-JP" altLang="en-US" sz="2800" b="1" i="1">
                        <a:solidFill>
                          <a:srgbClr val="1B74AA"/>
                        </a:solidFill>
                        <a:latin typeface="Cambria Math" panose="02040503050406030204" pitchFamily="18" charset="0"/>
                      </a:rPr>
                      <m:t>軌道</m:t>
                    </m:r>
                    <m:r>
                      <a:rPr lang="ja-JP" altLang="en-US" sz="2800" b="1" i="1" smtClean="0">
                        <a:solidFill>
                          <a:srgbClr val="1B74AA"/>
                        </a:solidFill>
                        <a:latin typeface="Cambria Math" panose="02040503050406030204" pitchFamily="18" charset="0"/>
                      </a:rPr>
                      <m:t>上</m:t>
                    </m:r>
                    <m:r>
                      <a:rPr lang="ja-JP" altLang="en-US" sz="2800" b="1" i="1">
                        <a:solidFill>
                          <a:srgbClr val="1B74AA"/>
                        </a:solidFill>
                        <a:latin typeface="Cambria Math" panose="02040503050406030204" pitchFamily="18" charset="0"/>
                      </a:rPr>
                      <m:t>の</m:t>
                    </m:r>
                    <m:r>
                      <a:rPr lang="ja-JP" altLang="en-US" sz="2800" b="1" i="1" smtClean="0">
                        <a:solidFill>
                          <a:srgbClr val="1B74AA"/>
                        </a:solidFill>
                        <a:latin typeface="Cambria Math" panose="02040503050406030204" pitchFamily="18" charset="0"/>
                      </a:rPr>
                      <m:t>熱電対</m:t>
                    </m:r>
                    <m:r>
                      <a:rPr lang="ja-JP" altLang="en-US" sz="2800" b="1" i="1">
                        <a:solidFill>
                          <a:srgbClr val="1B74AA"/>
                        </a:solidFill>
                        <a:latin typeface="Cambria Math" panose="02040503050406030204" pitchFamily="18" charset="0"/>
                      </a:rPr>
                      <m:t>で</m:t>
                    </m:r>
                    <m:r>
                      <a:rPr lang="ja-JP" altLang="en-US" sz="2800" b="1" i="1" smtClean="0">
                        <a:solidFill>
                          <a:srgbClr val="1B74AA"/>
                        </a:solidFill>
                        <a:latin typeface="Cambria Math" panose="02040503050406030204" pitchFamily="18" charset="0"/>
                      </a:rPr>
                      <m:t>逐次</m:t>
                    </m:r>
                    <m:r>
                      <a:rPr lang="ja-JP" altLang="en-US" sz="2800" b="1" i="1">
                        <a:solidFill>
                          <a:srgbClr val="1B74AA"/>
                        </a:solidFill>
                        <a:latin typeface="Cambria Math" panose="02040503050406030204" pitchFamily="18" charset="0"/>
                      </a:rPr>
                      <m:t>計測</m:t>
                    </m:r>
                    <m:r>
                      <a:rPr lang="ja-JP" altLang="en-US" sz="2800" b="1" i="1" smtClean="0">
                        <a:solidFill>
                          <a:srgbClr val="1B74AA"/>
                        </a:solidFill>
                        <a:latin typeface="Cambria Math" panose="02040503050406030204" pitchFamily="18" charset="0"/>
                      </a:rPr>
                      <m:t>する想定</m:t>
                    </m:r>
                  </m:oMath>
                </a14:m>
                <a:endParaRPr lang="en-US" altLang="ja-JP" sz="2800" b="1" dirty="0">
                  <a:solidFill>
                    <a:srgbClr val="1B74AA"/>
                  </a:solidFill>
                </a:endParaRPr>
              </a:p>
            </p:txBody>
          </p:sp>
        </mc:Choice>
        <mc:Fallback xmlns="">
          <p:sp>
            <p:nvSpPr>
              <p:cNvPr id="7" name="TextBox 6">
                <a:extLst>
                  <a:ext uri="{FF2B5EF4-FFF2-40B4-BE49-F238E27FC236}">
                    <a16:creationId xmlns:a16="http://schemas.microsoft.com/office/drawing/2014/main" id="{084E91D8-1988-F135-C79D-012F2C7E199F}"/>
                  </a:ext>
                </a:extLst>
              </p:cNvPr>
              <p:cNvSpPr txBox="1">
                <a:spLocks noRot="1" noChangeAspect="1" noMove="1" noResize="1" noEditPoints="1" noAdjustHandles="1" noChangeArrowheads="1" noChangeShapeType="1" noTextEdit="1"/>
              </p:cNvSpPr>
              <p:nvPr/>
            </p:nvSpPr>
            <p:spPr>
              <a:xfrm>
                <a:off x="5700017" y="5593080"/>
                <a:ext cx="13014460" cy="1039002"/>
              </a:xfrm>
              <a:prstGeom prst="rect">
                <a:avLst/>
              </a:prstGeom>
              <a:blipFill>
                <a:blip r:embed="rId3"/>
                <a:stretch>
                  <a:fillRect b="-15294"/>
                </a:stretch>
              </a:blipFill>
            </p:spPr>
            <p:txBody>
              <a:bodyPr/>
              <a:lstStyle/>
              <a:p>
                <a:r>
                  <a:rPr lang="ja-JP" altLang="en-US">
                    <a:noFill/>
                  </a:rPr>
                  <a:t> </a:t>
                </a:r>
              </a:p>
            </p:txBody>
          </p:sp>
        </mc:Fallback>
      </mc:AlternateContent>
      <p:sp>
        <p:nvSpPr>
          <p:cNvPr id="8" name="Rounded Rectangle 7">
            <a:extLst>
              <a:ext uri="{FF2B5EF4-FFF2-40B4-BE49-F238E27FC236}">
                <a16:creationId xmlns:a16="http://schemas.microsoft.com/office/drawing/2014/main" id="{4BDC2FA1-7516-AF2E-394D-574ACF7DA736}"/>
              </a:ext>
            </a:extLst>
          </p:cNvPr>
          <p:cNvSpPr/>
          <p:nvPr/>
        </p:nvSpPr>
        <p:spPr>
          <a:xfrm>
            <a:off x="8530590" y="8415528"/>
            <a:ext cx="6583680" cy="3200400"/>
          </a:xfrm>
          <a:prstGeom prst="roundRect">
            <a:avLst/>
          </a:prstGeom>
          <a:solidFill>
            <a:srgbClr val="FFFFFF"/>
          </a:solidFill>
          <a:ln w="22860">
            <a:solidFill>
              <a:srgbClr val="1B7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7563C52-2DD6-EEAB-89C3-C3793595F8A1}"/>
                  </a:ext>
                </a:extLst>
              </p:cNvPr>
              <p:cNvSpPr txBox="1"/>
              <p:nvPr/>
            </p:nvSpPr>
            <p:spPr>
              <a:xfrm>
                <a:off x="10903077" y="8827007"/>
                <a:ext cx="1838708" cy="661912"/>
              </a:xfrm>
              <a:prstGeom prst="rect">
                <a:avLst/>
              </a:prstGeom>
              <a:noFill/>
            </p:spPr>
            <p:txBody>
              <a:bodyPr wrap="none" lIns="36576" tIns="27432" rIns="36576" bIns="27432" anchor="t">
                <a:spAutoFit/>
              </a:bodyPr>
              <a:lstStyle/>
              <a:p>
                <a:pPr algn="ctr"/>
                <a14:m>
                  <m:oMathPara xmlns:m="http://schemas.openxmlformats.org/officeDocument/2006/math">
                    <m:oMath>
                      <m:sSub>
                        <m:sSubPr>
                          <m:ctrlPr>
                            <a:rPr lang="en-US" sz="3600" b="1" i="1" dirty="0" smtClean="0">
                              <a:solidFill>
                                <a:srgbClr val="1B74AA"/>
                              </a:solidFill>
                              <a:latin typeface="Cambria Math" panose="02040503050406030204" pitchFamily="18" charset="0"/>
                            </a:rPr>
                          </m:ctrlPr>
                        </m:sSubPr>
                        <m:e>
                          <m:r>
                            <a:rPr lang="en-US" sz="3600" b="1" i="1" dirty="0" smtClean="0">
                              <a:solidFill>
                                <a:srgbClr val="1B74AA"/>
                              </a:solidFill>
                              <a:latin typeface="Cambria Math" panose="02040503050406030204" pitchFamily="18" charset="0"/>
                            </a:rPr>
                            <m:t>𝒂</m:t>
                          </m:r>
                        </m:e>
                        <m:sub>
                          <m:r>
                            <a:rPr lang="en-US" sz="3600" b="1" i="1" dirty="0" err="1" smtClean="0">
                              <a:solidFill>
                                <a:srgbClr val="1B74AA"/>
                              </a:solidFill>
                              <a:latin typeface="Cambria Math" panose="02040503050406030204" pitchFamily="18" charset="0"/>
                            </a:rPr>
                            <m:t>𝒔𝒖𝒏𝒇𝒂𝒄</m:t>
                          </m:r>
                          <m:r>
                            <a:rPr lang="en-US" sz="3600" b="1" i="1" dirty="0" err="1">
                              <a:solidFill>
                                <a:srgbClr val="1B74AA"/>
                              </a:solidFill>
                              <a:latin typeface="Cambria Math" panose="02040503050406030204" pitchFamily="18" charset="0"/>
                            </a:rPr>
                            <m:t>𝒆</m:t>
                          </m:r>
                        </m:sub>
                      </m:sSub>
                    </m:oMath>
                  </m:oMathPara>
                </a14:m>
                <a:endParaRPr lang="en-US" sz="3600" b="1" i="1" dirty="0" err="1">
                  <a:solidFill>
                    <a:srgbClr val="1B74AA"/>
                  </a:solidFill>
                  <a:latin typeface="Cambria Math" panose="02040503050406030204" pitchFamily="18" charset="0"/>
                </a:endParaRPr>
              </a:p>
            </p:txBody>
          </p:sp>
        </mc:Choice>
        <mc:Fallback xmlns="">
          <p:sp>
            <p:nvSpPr>
              <p:cNvPr id="9" name="TextBox 8">
                <a:extLst>
                  <a:ext uri="{FF2B5EF4-FFF2-40B4-BE49-F238E27FC236}">
                    <a16:creationId xmlns:a16="http://schemas.microsoft.com/office/drawing/2014/main" id="{A7563C52-2DD6-EEAB-89C3-C3793595F8A1}"/>
                  </a:ext>
                </a:extLst>
              </p:cNvPr>
              <p:cNvSpPr txBox="1">
                <a:spLocks noRot="1" noChangeAspect="1" noMove="1" noResize="1" noEditPoints="1" noAdjustHandles="1" noChangeArrowheads="1" noChangeShapeType="1" noTextEdit="1"/>
              </p:cNvSpPr>
              <p:nvPr/>
            </p:nvSpPr>
            <p:spPr>
              <a:xfrm>
                <a:off x="10903077" y="8827007"/>
                <a:ext cx="1838708" cy="661912"/>
              </a:xfrm>
              <a:prstGeom prst="rect">
                <a:avLst/>
              </a:prstGeom>
              <a:blipFill>
                <a:blip r:embed="rId4"/>
                <a:stretch>
                  <a:fillRect/>
                </a:stretch>
              </a:blipFill>
            </p:spPr>
            <p:txBody>
              <a:bodyPr/>
              <a:lstStyle/>
              <a:p>
                <a:r>
                  <a:rPr lang="ja-JP" altLang="en-US">
                    <a:noFill/>
                  </a:rPr>
                  <a:t> </a:t>
                </a:r>
              </a:p>
            </p:txBody>
          </p:sp>
        </mc:Fallback>
      </mc:AlternateContent>
      <p:sp>
        <p:nvSpPr>
          <p:cNvPr id="10" name="TextBox 9">
            <a:extLst>
              <a:ext uri="{FF2B5EF4-FFF2-40B4-BE49-F238E27FC236}">
                <a16:creationId xmlns:a16="http://schemas.microsoft.com/office/drawing/2014/main" id="{6D94D195-5AC4-9EAF-E1D4-8CFD8D03EBBB}"/>
              </a:ext>
            </a:extLst>
          </p:cNvPr>
          <p:cNvSpPr txBox="1"/>
          <p:nvPr/>
        </p:nvSpPr>
        <p:spPr>
          <a:xfrm>
            <a:off x="9092451" y="9741408"/>
            <a:ext cx="5459957" cy="917174"/>
          </a:xfrm>
          <a:prstGeom prst="rect">
            <a:avLst/>
          </a:prstGeom>
          <a:noFill/>
        </p:spPr>
        <p:txBody>
          <a:bodyPr wrap="square" lIns="36576" tIns="27432" rIns="36576" bIns="27432" anchor="t">
            <a:spAutoFit/>
          </a:bodyPr>
          <a:lstStyle/>
          <a:p>
            <a:pPr algn="ctr">
              <a:lnSpc>
                <a:spcPct val="110000"/>
              </a:lnSpc>
              <a:spcAft>
                <a:spcPts val="400"/>
              </a:spcAft>
            </a:pPr>
            <a:r>
              <a:rPr sz="2400" b="0" dirty="0" err="1">
                <a:solidFill>
                  <a:srgbClr val="232B34"/>
                </a:solidFill>
                <a:latin typeface="Yu Gothic"/>
                <a:ea typeface="Yu Gothic"/>
              </a:rPr>
              <a:t>太陽指向面ごとの熱感度</a:t>
            </a:r>
            <a:endParaRPr sz="2500" b="0" dirty="0">
              <a:solidFill>
                <a:srgbClr val="232B34"/>
              </a:solidFill>
              <a:latin typeface="Yu Gothic"/>
            </a:endParaRPr>
          </a:p>
          <a:p>
            <a:pPr algn="ctr">
              <a:lnSpc>
                <a:spcPct val="110000"/>
              </a:lnSpc>
              <a:spcAft>
                <a:spcPts val="400"/>
              </a:spcAft>
            </a:pPr>
            <a:r>
              <a:rPr sz="2400" b="0" dirty="0" err="1">
                <a:solidFill>
                  <a:srgbClr val="232B34"/>
                </a:solidFill>
                <a:latin typeface="Yu Gothic"/>
                <a:ea typeface="Yu Gothic"/>
              </a:rPr>
              <a:t>同じ太陽指向面のケース間で共有</a:t>
            </a:r>
            <a:endParaRPr sz="2400" b="0" dirty="0">
              <a:solidFill>
                <a:srgbClr val="232B34"/>
              </a:solidFill>
              <a:latin typeface="Yu Gothic"/>
              <a:ea typeface="Yu Gothic"/>
            </a:endParaRPr>
          </a:p>
          <a:p>
            <a:pPr algn="ctr">
              <a:lnSpc>
                <a:spcPct val="110000"/>
              </a:lnSpc>
              <a:spcAft>
                <a:spcPts val="400"/>
              </a:spcAft>
            </a:pPr>
            <a:r>
              <a:rPr sz="2400" b="0" dirty="0">
                <a:solidFill>
                  <a:srgbClr val="232B34"/>
                </a:solidFill>
                <a:latin typeface="Yu Gothic"/>
                <a:ea typeface="Yu Gothic"/>
              </a:rPr>
              <a:t>+30.6 / +28.6 / −28.1 / −28.7 µrad/K</a:t>
            </a:r>
          </a:p>
        </p:txBody>
      </p:sp>
      <p:sp>
        <p:nvSpPr>
          <p:cNvPr id="11" name="Rounded Rectangle 10">
            <a:extLst>
              <a:ext uri="{FF2B5EF4-FFF2-40B4-BE49-F238E27FC236}">
                <a16:creationId xmlns:a16="http://schemas.microsoft.com/office/drawing/2014/main" id="{99FF712A-A518-82E8-7D7C-FB6543EC27BC}"/>
              </a:ext>
            </a:extLst>
          </p:cNvPr>
          <p:cNvSpPr/>
          <p:nvPr/>
        </p:nvSpPr>
        <p:spPr>
          <a:xfrm>
            <a:off x="15475749" y="8415528"/>
            <a:ext cx="7357727" cy="3200400"/>
          </a:xfrm>
          <a:prstGeom prst="roundRect">
            <a:avLst/>
          </a:prstGeom>
          <a:solidFill>
            <a:srgbClr val="FFFFFF"/>
          </a:solidFill>
          <a:ln w="22860">
            <a:solidFill>
              <a:srgbClr val="EC94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0338C20-CC3D-53A2-DDD6-C3FA8C6CD90C}"/>
                  </a:ext>
                </a:extLst>
              </p:cNvPr>
              <p:cNvSpPr txBox="1"/>
              <p:nvPr/>
            </p:nvSpPr>
            <p:spPr>
              <a:xfrm>
                <a:off x="18625506" y="8827007"/>
                <a:ext cx="1207125" cy="609398"/>
              </a:xfrm>
              <a:prstGeom prst="rect">
                <a:avLst/>
              </a:prstGeom>
              <a:noFill/>
            </p:spPr>
            <p:txBody>
              <a:bodyPr wrap="none" lIns="36576" tIns="27432" rIns="36576" bIns="27432" anchor="t">
                <a:spAutoFit/>
              </a:bodyPr>
              <a:lstStyle/>
              <a:p>
                <a:pPr algn="ctr"/>
                <a14:m>
                  <m:oMathPara xmlns:m="http://schemas.openxmlformats.org/officeDocument/2006/math">
                    <m:oMath>
                      <m:sSub>
                        <m:sSubPr>
                          <m:ctrlPr>
                            <a:rPr lang="ja-JP" altLang="en-US" sz="3600" b="1" i="1" dirty="0" smtClean="0">
                              <a:solidFill>
                                <a:srgbClr val="EC9427"/>
                              </a:solidFill>
                              <a:latin typeface="Cambria Math" panose="02040503050406030204" pitchFamily="18" charset="0"/>
                            </a:rPr>
                          </m:ctrlPr>
                        </m:sSubPr>
                        <m:e>
                          <m:r>
                            <a:rPr lang="ja-JP" altLang="en-US" sz="3600" b="1" i="1" dirty="0" smtClean="0">
                              <a:solidFill>
                                <a:srgbClr val="EC9427"/>
                              </a:solidFill>
                              <a:latin typeface="Cambria Math" panose="02040503050406030204" pitchFamily="18" charset="0"/>
                            </a:rPr>
                            <m:t>𝒃</m:t>
                          </m:r>
                        </m:e>
                        <m:sub>
                          <m:r>
                            <a:rPr lang="ja-JP" altLang="en-US" sz="3600" b="1" i="1" dirty="0" err="1">
                              <a:solidFill>
                                <a:srgbClr val="EC9427"/>
                              </a:solidFill>
                              <a:latin typeface="Cambria Math" panose="02040503050406030204" pitchFamily="18" charset="0"/>
                            </a:rPr>
                            <m:t>𝒄𝒂𝒔𝒆</m:t>
                          </m:r>
                        </m:sub>
                      </m:sSub>
                    </m:oMath>
                  </m:oMathPara>
                </a14:m>
                <a:endParaRPr lang="en-US" altLang="ja-JP" sz="3600" b="1" i="1" dirty="0" err="1">
                  <a:solidFill>
                    <a:srgbClr val="EC9427"/>
                  </a:solidFill>
                  <a:latin typeface="Cambria Math" panose="02040503050406030204" pitchFamily="18" charset="0"/>
                </a:endParaRPr>
              </a:p>
            </p:txBody>
          </p:sp>
        </mc:Choice>
        <mc:Fallback xmlns="">
          <p:sp>
            <p:nvSpPr>
              <p:cNvPr id="12" name="TextBox 11">
                <a:extLst>
                  <a:ext uri="{FF2B5EF4-FFF2-40B4-BE49-F238E27FC236}">
                    <a16:creationId xmlns:a16="http://schemas.microsoft.com/office/drawing/2014/main" id="{10338C20-CC3D-53A2-DDD6-C3FA8C6CD90C}"/>
                  </a:ext>
                </a:extLst>
              </p:cNvPr>
              <p:cNvSpPr txBox="1">
                <a:spLocks noRot="1" noChangeAspect="1" noMove="1" noResize="1" noEditPoints="1" noAdjustHandles="1" noChangeArrowheads="1" noChangeShapeType="1" noTextEdit="1"/>
              </p:cNvSpPr>
              <p:nvPr/>
            </p:nvSpPr>
            <p:spPr>
              <a:xfrm>
                <a:off x="18625506" y="8827007"/>
                <a:ext cx="1207125" cy="609398"/>
              </a:xfrm>
              <a:prstGeom prst="rect">
                <a:avLst/>
              </a:prstGeom>
              <a:blipFill>
                <a:blip r:embed="rId5"/>
                <a:stretch>
                  <a:fillRect/>
                </a:stretch>
              </a:blipFill>
            </p:spPr>
            <p:txBody>
              <a:bodyPr/>
              <a:lstStyle/>
              <a:p>
                <a:r>
                  <a:rPr lang="ja-JP" altLang="en-US">
                    <a:noFill/>
                  </a:rPr>
                  <a:t> </a:t>
                </a:r>
              </a:p>
            </p:txBody>
          </p:sp>
        </mc:Fallback>
      </mc:AlternateContent>
      <p:sp>
        <p:nvSpPr>
          <p:cNvPr id="13" name="TextBox 12">
            <a:extLst>
              <a:ext uri="{FF2B5EF4-FFF2-40B4-BE49-F238E27FC236}">
                <a16:creationId xmlns:a16="http://schemas.microsoft.com/office/drawing/2014/main" id="{156C1A6A-C13A-DA49-FEA6-1393DCCF2BBD}"/>
              </a:ext>
            </a:extLst>
          </p:cNvPr>
          <p:cNvSpPr txBox="1"/>
          <p:nvPr/>
        </p:nvSpPr>
        <p:spPr>
          <a:xfrm>
            <a:off x="15780947" y="9741408"/>
            <a:ext cx="6896247" cy="1361976"/>
          </a:xfrm>
          <a:prstGeom prst="rect">
            <a:avLst/>
          </a:prstGeom>
          <a:noFill/>
        </p:spPr>
        <p:txBody>
          <a:bodyPr wrap="square" lIns="36576" tIns="27432" rIns="36576" bIns="27432" anchor="t">
            <a:spAutoFit/>
          </a:bodyPr>
          <a:lstStyle/>
          <a:p>
            <a:pPr algn="ctr">
              <a:lnSpc>
                <a:spcPct val="110000"/>
              </a:lnSpc>
              <a:spcAft>
                <a:spcPts val="400"/>
              </a:spcAft>
            </a:pPr>
            <a:r>
              <a:rPr sz="2400" b="0" dirty="0" err="1">
                <a:solidFill>
                  <a:srgbClr val="232B34"/>
                </a:solidFill>
                <a:latin typeface="Yu Gothic"/>
                <a:ea typeface="Yu Gothic"/>
              </a:rPr>
              <a:t>ケース依存のDCオフセット</a:t>
            </a:r>
            <a:endParaRPr lang="en-US" altLang="ja-JP" sz="2800" dirty="0"/>
          </a:p>
          <a:p>
            <a:pPr algn="ctr">
              <a:lnSpc>
                <a:spcPct val="110000"/>
              </a:lnSpc>
              <a:spcAft>
                <a:spcPts val="400"/>
              </a:spcAft>
            </a:pPr>
            <a:r>
              <a:rPr sz="2400" b="0" dirty="0" err="1">
                <a:solidFill>
                  <a:srgbClr val="232B34"/>
                </a:solidFill>
                <a:latin typeface="Yu Gothic"/>
                <a:ea typeface="Yu Gothic"/>
              </a:rPr>
              <a:t>太陽指向面と発熱のON</a:t>
            </a:r>
            <a:r>
              <a:rPr sz="2400" b="0" dirty="0">
                <a:solidFill>
                  <a:srgbClr val="232B34"/>
                </a:solidFill>
                <a:latin typeface="Yu Gothic"/>
                <a:ea typeface="Yu Gothic"/>
              </a:rPr>
              <a:t>/</a:t>
            </a:r>
            <a:r>
              <a:rPr sz="2400" b="0" dirty="0" err="1">
                <a:solidFill>
                  <a:srgbClr val="232B34"/>
                </a:solidFill>
                <a:latin typeface="Yu Gothic"/>
                <a:ea typeface="Yu Gothic"/>
              </a:rPr>
              <a:t>OFFフラグから予測</a:t>
            </a:r>
            <a:endParaRPr sz="2400" b="0" dirty="0">
              <a:solidFill>
                <a:srgbClr val="232B34"/>
              </a:solidFill>
              <a:latin typeface="Yu Gothic"/>
              <a:ea typeface="Yu Gothic"/>
            </a:endParaRPr>
          </a:p>
          <a:p>
            <a:pPr algn="ctr">
              <a:lnSpc>
                <a:spcPct val="110000"/>
              </a:lnSpc>
              <a:spcAft>
                <a:spcPts val="400"/>
              </a:spcAft>
            </a:pPr>
            <a:r>
              <a:rPr lang="ja-JP" altLang="en-US" sz="2400" b="0" dirty="0">
                <a:solidFill>
                  <a:srgbClr val="232B34"/>
                </a:solidFill>
                <a:latin typeface="Yu Gothic"/>
                <a:ea typeface="Yu Gothic"/>
              </a:rPr>
              <a:t>上</a:t>
            </a:r>
            <a:r>
              <a:rPr sz="2400" b="0" dirty="0" err="1">
                <a:solidFill>
                  <a:srgbClr val="232B34"/>
                </a:solidFill>
                <a:latin typeface="Yu Gothic"/>
                <a:ea typeface="Yu Gothic"/>
              </a:rPr>
              <a:t>の式で分解する</a:t>
            </a:r>
            <a:endParaRPr sz="2400" b="0" dirty="0">
              <a:solidFill>
                <a:srgbClr val="232B34"/>
              </a:solidFill>
              <a:latin typeface="Yu Gothic"/>
              <a:ea typeface="Yu Gothic"/>
            </a:endParaRPr>
          </a:p>
        </p:txBody>
      </p:sp>
      <p:sp>
        <p:nvSpPr>
          <p:cNvPr id="14" name="Rounded Rectangle 13">
            <a:extLst>
              <a:ext uri="{FF2B5EF4-FFF2-40B4-BE49-F238E27FC236}">
                <a16:creationId xmlns:a16="http://schemas.microsoft.com/office/drawing/2014/main" id="{095A4E42-AE1F-F8B8-A7C8-8D643A29AC71}"/>
              </a:ext>
            </a:extLst>
          </p:cNvPr>
          <p:cNvSpPr/>
          <p:nvPr/>
        </p:nvSpPr>
        <p:spPr>
          <a:xfrm>
            <a:off x="1585431" y="8374470"/>
            <a:ext cx="6583680" cy="3200400"/>
          </a:xfrm>
          <a:prstGeom prst="roundRect">
            <a:avLst/>
          </a:prstGeom>
          <a:solidFill>
            <a:srgbClr val="FFFFFF"/>
          </a:solidFill>
          <a:ln w="2286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CF5CEC31-2070-52D1-E5A1-354CA8687420}"/>
              </a:ext>
            </a:extLst>
          </p:cNvPr>
          <p:cNvSpPr txBox="1"/>
          <p:nvPr/>
        </p:nvSpPr>
        <p:spPr>
          <a:xfrm>
            <a:off x="1691640" y="8671560"/>
            <a:ext cx="6364224" cy="566928"/>
          </a:xfrm>
          <a:prstGeom prst="rect">
            <a:avLst/>
          </a:prstGeom>
          <a:noFill/>
        </p:spPr>
        <p:txBody>
          <a:bodyPr wrap="square" lIns="36576" tIns="27432" rIns="36576" bIns="27432" anchor="t">
            <a:spAutoFit/>
          </a:bodyPr>
          <a:lstStyle/>
          <a:p>
            <a:pPr algn="ctr">
              <a:spcAft>
                <a:spcPts val="0"/>
              </a:spcAft>
            </a:pPr>
            <a:r>
              <a:rPr sz="2600" b="1">
                <a:solidFill>
                  <a:srgbClr val="239571"/>
                </a:solidFill>
                <a:latin typeface="Yu Gothic"/>
                <a:ea typeface="Yu Gothic"/>
              </a:rPr>
              <a:t>支配軸の選択</a:t>
            </a:r>
          </a:p>
        </p:txBody>
      </p:sp>
      <p:sp>
        <p:nvSpPr>
          <p:cNvPr id="16" name="TextBox 15">
            <a:extLst>
              <a:ext uri="{FF2B5EF4-FFF2-40B4-BE49-F238E27FC236}">
                <a16:creationId xmlns:a16="http://schemas.microsoft.com/office/drawing/2014/main" id="{624DD618-4F56-C1E8-95A4-7C8FFA3DB2AB}"/>
              </a:ext>
            </a:extLst>
          </p:cNvPr>
          <p:cNvSpPr txBox="1"/>
          <p:nvPr/>
        </p:nvSpPr>
        <p:spPr>
          <a:xfrm>
            <a:off x="1691640" y="9448800"/>
            <a:ext cx="6364224" cy="1920240"/>
          </a:xfrm>
          <a:prstGeom prst="rect">
            <a:avLst/>
          </a:prstGeom>
          <a:noFill/>
        </p:spPr>
        <p:txBody>
          <a:bodyPr wrap="square" lIns="36576" tIns="27432" rIns="36576" bIns="27432" anchor="t">
            <a:spAutoFit/>
          </a:bodyPr>
          <a:lstStyle/>
          <a:p>
            <a:pPr algn="ctr">
              <a:lnSpc>
                <a:spcPct val="110000"/>
              </a:lnSpc>
              <a:spcAft>
                <a:spcPts val="200"/>
              </a:spcAft>
            </a:pPr>
            <a:r>
              <a:rPr sz="2100" b="0" dirty="0" err="1">
                <a:solidFill>
                  <a:srgbClr val="232B34"/>
                </a:solidFill>
                <a:latin typeface="Yu Gothic"/>
                <a:ea typeface="Yu Gothic"/>
              </a:rPr>
              <a:t>太陽指向面から予測軸を選ぶ</a:t>
            </a:r>
            <a:endParaRPr sz="2500" b="0" dirty="0">
              <a:solidFill>
                <a:srgbClr val="232B34"/>
              </a:solidFill>
              <a:latin typeface="Yu Gothic"/>
            </a:endParaRPr>
          </a:p>
          <a:p>
            <a:pPr algn="ctr">
              <a:lnSpc>
                <a:spcPct val="110000"/>
              </a:lnSpc>
              <a:spcAft>
                <a:spcPts val="200"/>
              </a:spcAft>
            </a:pPr>
            <a:r>
              <a:rPr sz="2100" b="0" dirty="0">
                <a:solidFill>
                  <a:srgbClr val="232B34"/>
                </a:solidFill>
                <a:latin typeface="Yu Gothic"/>
                <a:ea typeface="Yu Gothic"/>
              </a:rPr>
              <a:t>MX/PX → </a:t>
            </a:r>
            <a:r>
              <a:rPr sz="2100" b="0" dirty="0" err="1">
                <a:solidFill>
                  <a:srgbClr val="232B34"/>
                </a:solidFill>
                <a:latin typeface="Yu Gothic"/>
                <a:ea typeface="Yu Gothic"/>
              </a:rPr>
              <a:t>x軸、MY</a:t>
            </a:r>
            <a:r>
              <a:rPr sz="2100" b="0" dirty="0">
                <a:solidFill>
                  <a:srgbClr val="232B34"/>
                </a:solidFill>
                <a:latin typeface="Yu Gothic"/>
                <a:ea typeface="Yu Gothic"/>
              </a:rPr>
              <a:t>/PY → </a:t>
            </a:r>
            <a:r>
              <a:rPr sz="2100" b="0" dirty="0" err="1">
                <a:solidFill>
                  <a:srgbClr val="232B34"/>
                </a:solidFill>
                <a:latin typeface="Yu Gothic"/>
                <a:ea typeface="Yu Gothic"/>
              </a:rPr>
              <a:t>y軸</a:t>
            </a:r>
            <a:endParaRPr sz="2100" b="0" dirty="0">
              <a:solidFill>
                <a:srgbClr val="232B34"/>
              </a:solidFill>
              <a:latin typeface="Yu Gothic"/>
              <a:ea typeface="Yu Gothic"/>
            </a:endParaRPr>
          </a:p>
          <a:p>
            <a:pPr algn="ctr">
              <a:lnSpc>
                <a:spcPct val="110000"/>
              </a:lnSpc>
              <a:spcAft>
                <a:spcPts val="200"/>
              </a:spcAft>
            </a:pPr>
            <a:r>
              <a:rPr sz="2100" b="0" dirty="0" err="1">
                <a:solidFill>
                  <a:srgbClr val="232B34"/>
                </a:solidFill>
                <a:latin typeface="Yu Gothic"/>
                <a:ea typeface="Yu Gothic"/>
              </a:rPr>
              <a:t>非支配軸は</a:t>
            </a:r>
            <a:r>
              <a:rPr lang="ja-JP" altLang="en-US" sz="2100" b="0" dirty="0">
                <a:solidFill>
                  <a:srgbClr val="232B34"/>
                </a:solidFill>
                <a:latin typeface="Yu Gothic"/>
                <a:ea typeface="Yu Gothic"/>
              </a:rPr>
              <a:t>バイアス成分</a:t>
            </a:r>
            <a:r>
              <a:rPr sz="2100" b="0" dirty="0" err="1">
                <a:solidFill>
                  <a:srgbClr val="232B34"/>
                </a:solidFill>
                <a:latin typeface="Yu Gothic"/>
                <a:ea typeface="Yu Gothic"/>
              </a:rPr>
              <a:t>だけを予測する</a:t>
            </a:r>
            <a:endParaRPr sz="2100" b="0" dirty="0">
              <a:solidFill>
                <a:srgbClr val="232B34"/>
              </a:solidFill>
              <a:latin typeface="Yu Gothic"/>
              <a:ea typeface="Yu Gothic"/>
            </a:endParaRPr>
          </a:p>
          <a:p>
            <a:pPr algn="ctr">
              <a:lnSpc>
                <a:spcPct val="110000"/>
              </a:lnSpc>
              <a:spcAft>
                <a:spcPts val="200"/>
              </a:spcAft>
            </a:pPr>
            <a:r>
              <a:rPr sz="2100" b="0" dirty="0">
                <a:solidFill>
                  <a:srgbClr val="232B34"/>
                </a:solidFill>
                <a:latin typeface="Yu Gothic"/>
                <a:ea typeface="Yu Gothic"/>
              </a:rPr>
              <a:t>MX/</a:t>
            </a:r>
            <a:r>
              <a:rPr sz="2100" b="0" dirty="0" err="1">
                <a:solidFill>
                  <a:srgbClr val="232B34"/>
                </a:solidFill>
                <a:latin typeface="Yu Gothic"/>
                <a:ea typeface="Yu Gothic"/>
              </a:rPr>
              <a:t>PXでは約</a:t>
            </a:r>
            <a:r>
              <a:rPr sz="2100" b="0" dirty="0">
                <a:solidFill>
                  <a:srgbClr val="232B34"/>
                </a:solidFill>
                <a:latin typeface="Yu Gothic"/>
                <a:ea typeface="Yu Gothic"/>
              </a:rPr>
              <a:t> −600 µrad </a:t>
            </a:r>
            <a:r>
              <a:rPr sz="2100" b="0" dirty="0" err="1">
                <a:solidFill>
                  <a:srgbClr val="232B34"/>
                </a:solidFill>
                <a:latin typeface="Yu Gothic"/>
                <a:ea typeface="Yu Gothic"/>
              </a:rPr>
              <a:t>あり</a:t>
            </a:r>
            <a:r>
              <a:rPr sz="2100" b="0" dirty="0">
                <a:solidFill>
                  <a:srgbClr val="232B34"/>
                </a:solidFill>
                <a:latin typeface="Yu Gothic"/>
                <a:ea typeface="Yu Gothic"/>
              </a:rPr>
              <a:t>、</a:t>
            </a:r>
          </a:p>
          <a:p>
            <a:pPr algn="ctr">
              <a:lnSpc>
                <a:spcPct val="110000"/>
              </a:lnSpc>
              <a:spcAft>
                <a:spcPts val="200"/>
              </a:spcAft>
            </a:pPr>
            <a:r>
              <a:rPr sz="2100" b="0" dirty="0" err="1">
                <a:solidFill>
                  <a:srgbClr val="232B34"/>
                </a:solidFill>
                <a:latin typeface="Yu Gothic"/>
                <a:ea typeface="Yu Gothic"/>
              </a:rPr>
              <a:t>ゼロにすると捕捉が落ちる</a:t>
            </a:r>
            <a:endParaRPr sz="2100" b="0" dirty="0">
              <a:solidFill>
                <a:srgbClr val="232B34"/>
              </a:solidFill>
              <a:latin typeface="Yu Gothic"/>
              <a:ea typeface="Yu Gothic"/>
            </a:endParaRPr>
          </a:p>
        </p:txBody>
      </p:sp>
      <mc:AlternateContent xmlns:mc="http://schemas.openxmlformats.org/markup-compatibility/2006" xmlns:a14="http://schemas.microsoft.com/office/drawing/2010/main">
        <mc:Choice Requires="a14">
          <p:sp>
            <p:nvSpPr>
              <p:cNvPr id="20" name="TextBox 5">
                <a:extLst>
                  <a:ext uri="{FF2B5EF4-FFF2-40B4-BE49-F238E27FC236}">
                    <a16:creationId xmlns:a16="http://schemas.microsoft.com/office/drawing/2014/main" id="{03E6F5D4-430D-507D-6683-A2B6E9E55979}"/>
                  </a:ext>
                </a:extLst>
              </p:cNvPr>
              <p:cNvSpPr txBox="1"/>
              <p:nvPr/>
            </p:nvSpPr>
            <p:spPr>
              <a:xfrm>
                <a:off x="7654202" y="3741421"/>
                <a:ext cx="9197518" cy="796628"/>
              </a:xfrm>
              <a:prstGeom prst="rect">
                <a:avLst/>
              </a:prstGeom>
              <a:noFill/>
            </p:spPr>
            <p:txBody>
              <a:bodyPr wrap="none" lIns="36576" tIns="27432" rIns="36576" bIns="27432" anchor="t">
                <a:spAutoFit/>
              </a:bodyPr>
              <a:lstStyle/>
              <a:p>
                <a:pPr algn="ctr"/>
                <a14:m>
                  <m:oMathPara xmlns:m="http://schemas.openxmlformats.org/officeDocument/2006/math">
                    <m:oMath>
                      <m:sSub>
                        <m:sSubPr>
                          <m:ctrlPr>
                            <a:rPr lang="ja-JP" altLang="en-US" sz="4400" b="1" i="1" dirty="0" smtClean="0">
                              <a:solidFill>
                                <a:srgbClr val="082B52"/>
                              </a:solidFill>
                              <a:latin typeface="Cambria Math" panose="02040503050406030204" pitchFamily="18" charset="0"/>
                            </a:rPr>
                          </m:ctrlPr>
                        </m:sSubPr>
                        <m:e>
                          <m:r>
                            <a:rPr lang="ja-JP" altLang="en-US" sz="4400" b="1" i="1" dirty="0" smtClean="0">
                              <a:solidFill>
                                <a:srgbClr val="082B52"/>
                              </a:solidFill>
                              <a:latin typeface="Cambria Math" panose="02040503050406030204" pitchFamily="18" charset="0"/>
                            </a:rPr>
                            <m:t>𝜽</m:t>
                          </m:r>
                        </m:e>
                        <m:sub>
                          <m:r>
                            <a:rPr lang="ja-JP" altLang="en-US" sz="4400" b="1" i="1" dirty="0" smtClean="0">
                              <a:solidFill>
                                <a:srgbClr val="082B52"/>
                              </a:solidFill>
                              <a:latin typeface="Cambria Math" panose="02040503050406030204" pitchFamily="18" charset="0"/>
                            </a:rPr>
                            <m:t>𝒅𝒐𝒎</m:t>
                          </m:r>
                        </m:sub>
                      </m:sSub>
                      <m:d>
                        <m:dPr>
                          <m:ctrlPr>
                            <a:rPr lang="ja-JP" altLang="en-US" sz="4400" b="1" i="1" dirty="0">
                              <a:solidFill>
                                <a:srgbClr val="082B52"/>
                              </a:solidFill>
                              <a:latin typeface="Cambria Math" panose="02040503050406030204" pitchFamily="18" charset="0"/>
                            </a:rPr>
                          </m:ctrlPr>
                        </m:dPr>
                        <m:e>
                          <m:r>
                            <a:rPr lang="ja-JP" altLang="en-US" sz="4400" b="1" i="1" dirty="0">
                              <a:solidFill>
                                <a:srgbClr val="082B52"/>
                              </a:solidFill>
                              <a:latin typeface="Cambria Math" panose="02040503050406030204" pitchFamily="18" charset="0"/>
                            </a:rPr>
                            <m:t>𝒕</m:t>
                          </m:r>
                        </m:e>
                      </m:d>
                      <m:r>
                        <a:rPr lang="en-US" altLang="ja-JP" sz="4400" b="1" i="1" dirty="0">
                          <a:solidFill>
                            <a:srgbClr val="082B52"/>
                          </a:solidFill>
                          <a:latin typeface="Cambria Math" panose="02040503050406030204" pitchFamily="18" charset="0"/>
                        </a:rPr>
                        <m:t>≈ </m:t>
                      </m:r>
                      <m:sSub>
                        <m:sSubPr>
                          <m:ctrlPr>
                            <a:rPr lang="ja-JP" altLang="en-US" sz="4400" b="1" i="1" dirty="0" err="1">
                              <a:solidFill>
                                <a:srgbClr val="082B52"/>
                              </a:solidFill>
                              <a:latin typeface="Cambria Math" panose="02040503050406030204" pitchFamily="18" charset="0"/>
                            </a:rPr>
                          </m:ctrlPr>
                        </m:sSubPr>
                        <m:e>
                          <m:r>
                            <a:rPr lang="ja-JP" altLang="en-US" sz="4400" b="1" i="1" dirty="0" err="1">
                              <a:solidFill>
                                <a:srgbClr val="082B52"/>
                              </a:solidFill>
                              <a:latin typeface="Cambria Math" panose="02040503050406030204" pitchFamily="18" charset="0"/>
                            </a:rPr>
                            <m:t>𝒂</m:t>
                          </m:r>
                        </m:e>
                        <m:sub>
                          <m:r>
                            <a:rPr lang="ja-JP" altLang="en-US" sz="4400" b="1" i="1" dirty="0" err="1">
                              <a:solidFill>
                                <a:srgbClr val="082B52"/>
                              </a:solidFill>
                              <a:latin typeface="Cambria Math" panose="02040503050406030204" pitchFamily="18" charset="0"/>
                            </a:rPr>
                            <m:t>𝒔𝒖𝒏𝒇𝒂𝒄𝒆</m:t>
                          </m:r>
                        </m:sub>
                      </m:sSub>
                      <m:r>
                        <a:rPr lang="ja-JP" altLang="en-US" sz="4400" b="1" i="1" dirty="0">
                          <a:solidFill>
                            <a:srgbClr val="082B52"/>
                          </a:solidFill>
                          <a:latin typeface="Cambria Math" panose="02040503050406030204" pitchFamily="18" charset="0"/>
                        </a:rPr>
                        <m:t> </m:t>
                      </m:r>
                      <m:r>
                        <a:rPr lang="en-US" altLang="ja-JP" sz="4400" b="1" i="1" dirty="0">
                          <a:solidFill>
                            <a:srgbClr val="082B52"/>
                          </a:solidFill>
                          <a:latin typeface="Cambria Math" panose="02040503050406030204" pitchFamily="18" charset="0"/>
                        </a:rPr>
                        <m:t>· </m:t>
                      </m:r>
                      <m:r>
                        <a:rPr lang="ja-JP" altLang="en-US" sz="4400" b="1" i="0" dirty="0">
                          <a:solidFill>
                            <a:srgbClr val="082B52"/>
                          </a:solidFill>
                          <a:latin typeface="Cambria Math" panose="02040503050406030204" pitchFamily="18" charset="0"/>
                        </a:rPr>
                        <m:t>𝚫</m:t>
                      </m:r>
                      <m:r>
                        <a:rPr lang="ja-JP" altLang="en-US" sz="4400" b="1" i="1" dirty="0">
                          <a:solidFill>
                            <a:srgbClr val="082B52"/>
                          </a:solidFill>
                          <a:latin typeface="Cambria Math" panose="02040503050406030204" pitchFamily="18" charset="0"/>
                        </a:rPr>
                        <m:t>𝑻</m:t>
                      </m:r>
                      <m:d>
                        <m:dPr>
                          <m:ctrlPr>
                            <a:rPr lang="ja-JP" altLang="en-US" sz="4400" b="1" i="1" dirty="0">
                              <a:solidFill>
                                <a:srgbClr val="082B52"/>
                              </a:solidFill>
                              <a:latin typeface="Cambria Math" panose="02040503050406030204" pitchFamily="18" charset="0"/>
                            </a:rPr>
                          </m:ctrlPr>
                        </m:dPr>
                        <m:e>
                          <m:r>
                            <a:rPr lang="ja-JP" altLang="en-US" sz="4400" b="1" i="1" dirty="0">
                              <a:solidFill>
                                <a:srgbClr val="082B52"/>
                              </a:solidFill>
                              <a:latin typeface="Cambria Math" panose="02040503050406030204" pitchFamily="18" charset="0"/>
                            </a:rPr>
                            <m:t>𝒕</m:t>
                          </m:r>
                        </m:e>
                      </m:d>
                      <m:r>
                        <a:rPr lang="en-US" altLang="ja-JP" sz="4400" b="1" i="1" dirty="0" smtClean="0">
                          <a:solidFill>
                            <a:srgbClr val="082B52"/>
                          </a:solidFill>
                          <a:latin typeface="Cambria Math" panose="02040503050406030204" pitchFamily="18" charset="0"/>
                        </a:rPr>
                        <m:t>+</m:t>
                      </m:r>
                      <m:sSub>
                        <m:sSubPr>
                          <m:ctrlPr>
                            <a:rPr lang="ja-JP" altLang="en-US" sz="4400" b="1" i="1" dirty="0" err="1">
                              <a:solidFill>
                                <a:srgbClr val="082B52"/>
                              </a:solidFill>
                              <a:latin typeface="Cambria Math" panose="02040503050406030204" pitchFamily="18" charset="0"/>
                            </a:rPr>
                          </m:ctrlPr>
                        </m:sSubPr>
                        <m:e>
                          <m:r>
                            <a:rPr lang="ja-JP" altLang="en-US" sz="4400" b="1" i="1" dirty="0" err="1">
                              <a:solidFill>
                                <a:srgbClr val="082B52"/>
                              </a:solidFill>
                              <a:latin typeface="Cambria Math" panose="02040503050406030204" pitchFamily="18" charset="0"/>
                            </a:rPr>
                            <m:t>𝒃</m:t>
                          </m:r>
                        </m:e>
                        <m:sub>
                          <m:r>
                            <a:rPr lang="ja-JP" altLang="en-US" sz="4400" b="1" i="1" dirty="0" err="1">
                              <a:solidFill>
                                <a:srgbClr val="082B52"/>
                              </a:solidFill>
                              <a:latin typeface="Cambria Math" panose="02040503050406030204" pitchFamily="18" charset="0"/>
                            </a:rPr>
                            <m:t>𝒄𝒂𝒔𝒆</m:t>
                          </m:r>
                        </m:sub>
                      </m:sSub>
                      <m:r>
                        <a:rPr lang="ja-JP" altLang="en-US" sz="4400" b="1" i="1" dirty="0">
                          <a:solidFill>
                            <a:srgbClr val="082B52"/>
                          </a:solidFill>
                          <a:latin typeface="Cambria Math" panose="02040503050406030204" pitchFamily="18" charset="0"/>
                        </a:rPr>
                        <m:t> </m:t>
                      </m:r>
                    </m:oMath>
                  </m:oMathPara>
                </a14:m>
                <a:endParaRPr dirty="0"/>
              </a:p>
            </p:txBody>
          </p:sp>
        </mc:Choice>
        <mc:Fallback xmlns="">
          <p:sp>
            <p:nvSpPr>
              <p:cNvPr id="20" name="TextBox 5">
                <a:extLst>
                  <a:ext uri="{FF2B5EF4-FFF2-40B4-BE49-F238E27FC236}">
                    <a16:creationId xmlns:a16="http://schemas.microsoft.com/office/drawing/2014/main" id="{03E6F5D4-430D-507D-6683-A2B6E9E55979}"/>
                  </a:ext>
                </a:extLst>
              </p:cNvPr>
              <p:cNvSpPr txBox="1">
                <a:spLocks noRot="1" noChangeAspect="1" noMove="1" noResize="1" noEditPoints="1" noAdjustHandles="1" noChangeArrowheads="1" noChangeShapeType="1" noTextEdit="1"/>
              </p:cNvSpPr>
              <p:nvPr/>
            </p:nvSpPr>
            <p:spPr>
              <a:xfrm>
                <a:off x="7654202" y="3741421"/>
                <a:ext cx="9197518" cy="796628"/>
              </a:xfrm>
              <a:prstGeom prst="rect">
                <a:avLst/>
              </a:prstGeom>
              <a:blipFill>
                <a:blip r:embed="rId6"/>
                <a:stretch>
                  <a:fillRect/>
                </a:stretch>
              </a:blipFill>
            </p:spPr>
            <p:txBody>
              <a:bodyPr/>
              <a:lstStyle/>
              <a:p>
                <a:r>
                  <a:rPr lang="ja-JP" altLang="en-US">
                    <a:noFill/>
                  </a:rPr>
                  <a:t> </a:t>
                </a:r>
              </a:p>
            </p:txBody>
          </p:sp>
        </mc:Fallback>
      </mc:AlternateContent>
      <p:sp>
        <p:nvSpPr>
          <p:cNvPr id="22" name="テキスト ボックス 21">
            <a:extLst>
              <a:ext uri="{FF2B5EF4-FFF2-40B4-BE49-F238E27FC236}">
                <a16:creationId xmlns:a16="http://schemas.microsoft.com/office/drawing/2014/main" id="{82252EB3-5D48-3FDD-0ECE-F0B0AEE1F399}"/>
              </a:ext>
            </a:extLst>
          </p:cNvPr>
          <p:cNvSpPr txBox="1"/>
          <p:nvPr/>
        </p:nvSpPr>
        <p:spPr>
          <a:xfrm>
            <a:off x="6156961" y="12082492"/>
            <a:ext cx="12192000" cy="584775"/>
          </a:xfrm>
          <a:prstGeom prst="rect">
            <a:avLst/>
          </a:prstGeom>
          <a:noFill/>
        </p:spPr>
        <p:txBody>
          <a:bodyPr wrap="square">
            <a:spAutoFit/>
          </a:bodyPr>
          <a:lstStyle/>
          <a:p>
            <a:pPr algn="ctr">
              <a:spcAft>
                <a:spcPts val="0"/>
              </a:spcAft>
              <a:buNone/>
            </a:pPr>
            <a:r>
              <a:rPr sz="3000" b="1">
                <a:solidFill>
                  <a:srgbClr val="082B52"/>
                </a:solidFill>
                <a:latin typeface="Yu Gothic"/>
                <a:ea typeface="Yu Gothic"/>
              </a:rPr>
              <a:t>時間変動は面間の温度差で、ケースごとの差はDCオフセットで表す</a:t>
            </a:r>
            <a:endParaRPr lang="ja-JP" altLang="ja-JP" sz="3200" dirty="0"/>
          </a:p>
        </p:txBody>
      </p:sp>
      <mc:AlternateContent xmlns:mc="http://schemas.openxmlformats.org/markup-compatibility/2006" xmlns:a14="http://schemas.microsoft.com/office/drawing/2010/main">
        <mc:Choice Requires="a14">
          <p:sp>
            <p:nvSpPr>
              <p:cNvPr id="6" name="TextBox 5"/>
              <p:cNvSpPr txBox="1"/>
              <p:nvPr/>
            </p:nvSpPr>
            <p:spPr>
              <a:xfrm>
                <a:off x="5955368" y="6693408"/>
                <a:ext cx="12412309" cy="796628"/>
              </a:xfrm>
              <a:prstGeom prst="rect">
                <a:avLst/>
              </a:prstGeom>
              <a:noFill/>
            </p:spPr>
            <p:txBody>
              <a:bodyPr wrap="none" lIns="36576" tIns="27432" rIns="36576" bIns="27432" anchor="t">
                <a:spAutoFit/>
              </a:bodyPr>
              <a:lstStyle/>
              <a:p>
                <a:pPr algn="ctr"/>
                <a14:m>
                  <m:oMathPara xmlns:m="http://schemas.openxmlformats.org/officeDocument/2006/math">
                    <m:oMath>
                      <m:sSub>
                        <m:sSubPr>
                          <m:ctrlPr>
                            <a:rPr lang="en-US" sz="4400" b="1" i="1" dirty="0" smtClean="0">
                              <a:solidFill>
                                <a:srgbClr val="082B52"/>
                              </a:solidFill>
                              <a:latin typeface="Cambria Math" panose="02040503050406030204" pitchFamily="18" charset="0"/>
                            </a:rPr>
                          </m:ctrlPr>
                        </m:sSubPr>
                        <m:e>
                          <m:r>
                            <a:rPr lang="en-US" sz="4400" b="1" i="1" dirty="0" smtClean="0">
                              <a:solidFill>
                                <a:srgbClr val="082B52"/>
                              </a:solidFill>
                              <a:latin typeface="Cambria Math" panose="02040503050406030204" pitchFamily="18" charset="0"/>
                            </a:rPr>
                            <m:t>𝒃</m:t>
                          </m:r>
                        </m:e>
                        <m:sub>
                          <m:r>
                            <a:rPr lang="en-US" sz="4400" b="1" i="1" dirty="0" err="1" smtClean="0">
                              <a:solidFill>
                                <a:srgbClr val="082B52"/>
                              </a:solidFill>
                              <a:latin typeface="Cambria Math" panose="02040503050406030204" pitchFamily="18" charset="0"/>
                            </a:rPr>
                            <m:t>𝒄𝒂𝒔𝒆</m:t>
                          </m:r>
                        </m:sub>
                      </m:sSub>
                      <m:r>
                        <a:rPr lang="en-US" sz="4400" b="1" i="1" dirty="0" smtClean="0">
                          <a:solidFill>
                            <a:srgbClr val="082B52"/>
                          </a:solidFill>
                          <a:latin typeface="Cambria Math" panose="02040503050406030204" pitchFamily="18" charset="0"/>
                        </a:rPr>
                        <m:t> </m:t>
                      </m:r>
                      <m:r>
                        <a:rPr lang="en-US" sz="4400" b="1" i="1" dirty="0">
                          <a:solidFill>
                            <a:srgbClr val="082B52"/>
                          </a:solidFill>
                          <a:latin typeface="Cambria Math" panose="02040503050406030204" pitchFamily="18" charset="0"/>
                        </a:rPr>
                        <m:t>≈ </m:t>
                      </m:r>
                      <m:sSub>
                        <m:sSubPr>
                          <m:ctrlPr>
                            <a:rPr lang="en-US" sz="4400" b="1" i="1" dirty="0" smtClean="0">
                              <a:solidFill>
                                <a:srgbClr val="082B52"/>
                              </a:solidFill>
                              <a:latin typeface="Cambria Math" panose="02040503050406030204" pitchFamily="18" charset="0"/>
                            </a:rPr>
                          </m:ctrlPr>
                        </m:sSubPr>
                        <m:e>
                          <m:r>
                            <a:rPr lang="en-US" sz="4400" b="1" i="1" dirty="0" smtClean="0">
                              <a:solidFill>
                                <a:srgbClr val="082B52"/>
                              </a:solidFill>
                              <a:latin typeface="Cambria Math" panose="02040503050406030204" pitchFamily="18" charset="0"/>
                            </a:rPr>
                            <m:t>𝒃</m:t>
                          </m:r>
                        </m:e>
                        <m:sub>
                          <m:r>
                            <a:rPr lang="en-US" sz="4400" b="1" i="1" dirty="0" smtClean="0">
                              <a:solidFill>
                                <a:srgbClr val="082B52"/>
                              </a:solidFill>
                              <a:latin typeface="Cambria Math" panose="02040503050406030204" pitchFamily="18" charset="0"/>
                            </a:rPr>
                            <m:t>𝟎</m:t>
                          </m:r>
                          <m:r>
                            <a:rPr lang="en-US" sz="4400" b="1" i="1" dirty="0" smtClean="0">
                              <a:solidFill>
                                <a:srgbClr val="082B52"/>
                              </a:solidFill>
                              <a:latin typeface="Cambria Math" panose="02040503050406030204" pitchFamily="18" charset="0"/>
                            </a:rPr>
                            <m:t>,</m:t>
                          </m:r>
                          <m:r>
                            <a:rPr lang="en-US" sz="4400" b="1" i="1" dirty="0" smtClean="0">
                              <a:solidFill>
                                <a:srgbClr val="082B52"/>
                              </a:solidFill>
                              <a:latin typeface="Cambria Math" panose="02040503050406030204" pitchFamily="18" charset="0"/>
                            </a:rPr>
                            <m:t>𝒔𝒖𝒏𝒇𝒂𝒄𝒆</m:t>
                          </m:r>
                        </m:sub>
                      </m:sSub>
                      <m:r>
                        <a:rPr lang="en-US" sz="4400" b="1" i="1" dirty="0" smtClean="0">
                          <a:solidFill>
                            <a:srgbClr val="082B52"/>
                          </a:solidFill>
                          <a:latin typeface="Cambria Math" panose="02040503050406030204" pitchFamily="18" charset="0"/>
                        </a:rPr>
                        <m:t> </m:t>
                      </m:r>
                      <m:r>
                        <a:rPr lang="en-US" sz="4400" b="1" i="1" dirty="0">
                          <a:solidFill>
                            <a:srgbClr val="082B52"/>
                          </a:solidFill>
                          <a:latin typeface="Cambria Math" panose="02040503050406030204" pitchFamily="18" charset="0"/>
                        </a:rPr>
                        <m:t>+ </m:t>
                      </m:r>
                      <m:sSub>
                        <m:sSubPr>
                          <m:ctrlPr>
                            <a:rPr lang="en-US" sz="4400" b="1" i="1" dirty="0" err="1" smtClean="0">
                              <a:solidFill>
                                <a:srgbClr val="082B52"/>
                              </a:solidFill>
                              <a:latin typeface="Cambria Math" panose="02040503050406030204" pitchFamily="18" charset="0"/>
                            </a:rPr>
                          </m:ctrlPr>
                        </m:sSubPr>
                        <m:e>
                          <m:r>
                            <a:rPr lang="en-US" sz="4400" b="1" i="1" dirty="0" err="1" smtClean="0">
                              <a:solidFill>
                                <a:srgbClr val="082B52"/>
                              </a:solidFill>
                              <a:latin typeface="Cambria Math" panose="02040503050406030204" pitchFamily="18" charset="0"/>
                            </a:rPr>
                            <m:t>𝒄</m:t>
                          </m:r>
                        </m:e>
                        <m:sub>
                          <m:r>
                            <a:rPr lang="en-US" sz="4400" b="1" i="1" dirty="0" err="1" smtClean="0">
                              <a:solidFill>
                                <a:srgbClr val="082B52"/>
                              </a:solidFill>
                              <a:latin typeface="Cambria Math" panose="02040503050406030204" pitchFamily="18" charset="0"/>
                            </a:rPr>
                            <m:t>𝑷𝑹𝑶𝑷</m:t>
                          </m:r>
                        </m:sub>
                      </m:sSub>
                      <m:sSub>
                        <m:sSubPr>
                          <m:ctrlPr>
                            <a:rPr lang="en-US" sz="4400" b="1" i="1" dirty="0" smtClean="0">
                              <a:solidFill>
                                <a:srgbClr val="082B52"/>
                              </a:solidFill>
                              <a:latin typeface="Cambria Math" panose="02040503050406030204" pitchFamily="18" charset="0"/>
                            </a:rPr>
                          </m:ctrlPr>
                        </m:sSubPr>
                        <m:e>
                          <m:r>
                            <a:rPr lang="en-US" sz="4400" b="1" i="1" dirty="0" smtClean="0">
                              <a:solidFill>
                                <a:srgbClr val="082B52"/>
                              </a:solidFill>
                              <a:latin typeface="Cambria Math" panose="02040503050406030204" pitchFamily="18" charset="0"/>
                            </a:rPr>
                            <m:t>𝑰</m:t>
                          </m:r>
                        </m:e>
                        <m:sub>
                          <m:r>
                            <a:rPr lang="en-US" sz="4400" b="1" i="1" dirty="0" smtClean="0">
                              <a:solidFill>
                                <a:srgbClr val="082B52"/>
                              </a:solidFill>
                              <a:latin typeface="Cambria Math" panose="02040503050406030204" pitchFamily="18" charset="0"/>
                            </a:rPr>
                            <m:t>𝑷𝑹𝑶𝑷</m:t>
                          </m:r>
                        </m:sub>
                      </m:sSub>
                      <m:r>
                        <a:rPr lang="en-US" sz="4400" b="1" i="1" dirty="0" smtClean="0">
                          <a:solidFill>
                            <a:srgbClr val="082B52"/>
                          </a:solidFill>
                          <a:latin typeface="Cambria Math" panose="02040503050406030204" pitchFamily="18" charset="0"/>
                        </a:rPr>
                        <m:t> </m:t>
                      </m:r>
                      <m:r>
                        <a:rPr lang="en-US" sz="4400" b="1" i="1" dirty="0">
                          <a:solidFill>
                            <a:srgbClr val="082B52"/>
                          </a:solidFill>
                          <a:latin typeface="Cambria Math" panose="02040503050406030204" pitchFamily="18" charset="0"/>
                        </a:rPr>
                        <m:t>+ </m:t>
                      </m:r>
                      <m:sSub>
                        <m:sSubPr>
                          <m:ctrlPr>
                            <a:rPr lang="en-US" sz="4400" b="1" i="1" dirty="0" err="1" smtClean="0">
                              <a:solidFill>
                                <a:srgbClr val="082B52"/>
                              </a:solidFill>
                              <a:latin typeface="Cambria Math" panose="02040503050406030204" pitchFamily="18" charset="0"/>
                            </a:rPr>
                          </m:ctrlPr>
                        </m:sSubPr>
                        <m:e>
                          <m:r>
                            <a:rPr lang="en-US" sz="4400" b="1" i="1" dirty="0" err="1" smtClean="0">
                              <a:solidFill>
                                <a:srgbClr val="082B52"/>
                              </a:solidFill>
                              <a:latin typeface="Cambria Math" panose="02040503050406030204" pitchFamily="18" charset="0"/>
                            </a:rPr>
                            <m:t>𝒄</m:t>
                          </m:r>
                        </m:e>
                        <m:sub>
                          <m:r>
                            <a:rPr lang="en-US" sz="4400" b="1" i="1" dirty="0" err="1" smtClean="0">
                              <a:solidFill>
                                <a:srgbClr val="082B52"/>
                              </a:solidFill>
                              <a:latin typeface="Cambria Math" panose="02040503050406030204" pitchFamily="18" charset="0"/>
                            </a:rPr>
                            <m:t>𝑷𝑪𝑫𝑼</m:t>
                          </m:r>
                        </m:sub>
                      </m:sSub>
                      <m:sSub>
                        <m:sSubPr>
                          <m:ctrlPr>
                            <a:rPr lang="en-US" sz="4400" b="1" i="1" dirty="0" smtClean="0">
                              <a:solidFill>
                                <a:srgbClr val="082B52"/>
                              </a:solidFill>
                              <a:latin typeface="Cambria Math" panose="02040503050406030204" pitchFamily="18" charset="0"/>
                            </a:rPr>
                          </m:ctrlPr>
                        </m:sSubPr>
                        <m:e>
                          <m:r>
                            <a:rPr lang="en-US" sz="4400" b="1" i="1" dirty="0" smtClean="0">
                              <a:solidFill>
                                <a:srgbClr val="082B52"/>
                              </a:solidFill>
                              <a:latin typeface="Cambria Math" panose="02040503050406030204" pitchFamily="18" charset="0"/>
                            </a:rPr>
                            <m:t>𝑰</m:t>
                          </m:r>
                        </m:e>
                        <m:sub>
                          <m:r>
                            <a:rPr lang="en-US" sz="4400" b="1" i="1" dirty="0" smtClean="0">
                              <a:solidFill>
                                <a:srgbClr val="082B52"/>
                              </a:solidFill>
                              <a:latin typeface="Cambria Math" panose="02040503050406030204" pitchFamily="18" charset="0"/>
                            </a:rPr>
                            <m:t>𝑷𝑪𝑫𝑼</m:t>
                          </m:r>
                        </m:sub>
                      </m:sSub>
                    </m:oMath>
                  </m:oMathPara>
                </a14:m>
                <a:endParaRPr lang="en-US" sz="4400" b="1" i="1" dirty="0">
                  <a:solidFill>
                    <a:srgbClr val="082B52"/>
                  </a:solidFill>
                  <a:latin typeface="Cambria Math" panose="02040503050406030204" pitchFamily="18" charset="0"/>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5955368" y="3821430"/>
                <a:ext cx="12412309" cy="796628"/>
              </a:xfrm>
              <a:prstGeom prst="rect">
                <a:avLst/>
              </a:prstGeom>
              <a:blipFill>
                <a:blip r:embed="rId3"/>
                <a:stretch>
                  <a:fillRect/>
                </a:stretch>
              </a:blipFill>
            </p:spPr>
            <p:txBody>
              <a:bodyPr/>
              <a:lstStyle/>
              <a:p>
                <a:r>
                  <a:rPr lang="ja-JP" altLang="en-US">
                    <a:noFill/>
                  </a:rPr>
                  <a:t> </a:t>
                </a:r>
              </a:p>
            </p:txBody>
          </p:sp>
        </mc:Fallback>
      </mc:AlternateContent>
      <p:sp>
        <p:nvSpPr>
          <p:cNvPr id="23" name="TextBox 22"/>
          <p:cNvSpPr txBox="1"/>
          <p:nvPr/>
        </p:nvSpPr>
        <p:spPr>
          <a:xfrm>
            <a:off x="1280160" y="12694920"/>
            <a:ext cx="21945600" cy="502920"/>
          </a:xfrm>
          <a:prstGeom prst="rect">
            <a:avLst/>
          </a:prstGeom>
          <a:noFill/>
        </p:spPr>
        <p:txBody>
          <a:bodyPr wrap="square" lIns="45720" tIns="18288" rIns="45720" bIns="18288" anchor="t">
            <a:spAutoFit/>
          </a:bodyPr>
          <a:lstStyle/>
          <a:p>
            <a:pPr algn="ctr">
              <a:spcAft>
                <a:spcPts val="0"/>
              </a:spcAft>
            </a:pPr>
            <a:r>
              <a:rPr sz="2100" b="0">
                <a:solidFill>
                  <a:srgbClr val="666F79"/>
                </a:solidFill>
                <a:latin typeface="Yu Gothic"/>
                <a:ea typeface="Yu Gothic"/>
              </a:rPr>
              <a:t>係数は合計16個（支配軸10＋非支配軸のDC 6）。本構造・本配置・本LOS定義のもの</a:t>
            </a:r>
          </a:p>
        </p:txBody>
      </p:sp>
      <mc:AlternateContent xmlns:mc="http://schemas.openxmlformats.org/markup-compatibility/2006" xmlns:a14="http://schemas.microsoft.com/office/drawing/2010/main">
        <mc:Choice Requires="a14">
          <p:sp>
            <p:nvSpPr>
              <p:cNvPr id="18" name="テキスト ボックス 17">
                <a:extLst>
                  <a:ext uri="{FF2B5EF4-FFF2-40B4-BE49-F238E27FC236}">
                    <a16:creationId xmlns:a16="http://schemas.microsoft.com/office/drawing/2014/main" id="{0ECB3AB1-C1D3-88A9-D9E2-BA7E2C2BE272}"/>
                  </a:ext>
                </a:extLst>
              </p:cNvPr>
              <p:cNvSpPr txBox="1"/>
              <p:nvPr/>
            </p:nvSpPr>
            <p:spPr>
              <a:xfrm>
                <a:off x="6065520" y="7404638"/>
                <a:ext cx="12192000" cy="586699"/>
              </a:xfrm>
              <a:prstGeom prst="rect">
                <a:avLst/>
              </a:prstGeom>
              <a:noFill/>
            </p:spPr>
            <p:txBody>
              <a:bodyPr wrap="square">
                <a:spAutoFit/>
              </a:bodyPr>
              <a:lstStyle/>
              <a:p>
                <a:pPr algn="ctr"/>
                <a14:m>
                  <m:oMath xmlns:m="http://schemas.openxmlformats.org/officeDocument/2006/math">
                    <m:sSub>
                      <m:sSubPr>
                        <m:ctrlPr>
                          <a:rPr lang="en-US" altLang="ja-JP" sz="3200" b="1" i="1" dirty="0">
                            <a:solidFill>
                              <a:schemeClr val="accent1"/>
                            </a:solidFill>
                            <a:latin typeface="Cambria Math" panose="02040503050406030204" pitchFamily="18" charset="0"/>
                          </a:rPr>
                        </m:ctrlPr>
                      </m:sSubPr>
                      <m:e>
                        <m:r>
                          <a:rPr lang="en-US" altLang="ja-JP" sz="3200" b="1" i="1" dirty="0">
                            <a:solidFill>
                              <a:schemeClr val="accent1"/>
                            </a:solidFill>
                            <a:latin typeface="Cambria Math" panose="02040503050406030204" pitchFamily="18" charset="0"/>
                          </a:rPr>
                          <m:t>𝑰</m:t>
                        </m:r>
                      </m:e>
                      <m:sub>
                        <m:r>
                          <a:rPr lang="en-US" altLang="ja-JP" sz="3200" b="1" i="1" dirty="0">
                            <a:solidFill>
                              <a:schemeClr val="accent1"/>
                            </a:solidFill>
                            <a:latin typeface="Cambria Math" panose="02040503050406030204" pitchFamily="18" charset="0"/>
                          </a:rPr>
                          <m:t>𝑷𝑹𝑶</m:t>
                        </m:r>
                        <m:r>
                          <a:rPr lang="en-US" altLang="ja-JP" sz="3200" b="1" i="1" dirty="0" smtClean="0">
                            <a:solidFill>
                              <a:schemeClr val="accent1"/>
                            </a:solidFill>
                            <a:latin typeface="Cambria Math" panose="02040503050406030204" pitchFamily="18" charset="0"/>
                          </a:rPr>
                          <m:t>𝑷</m:t>
                        </m:r>
                      </m:sub>
                    </m:sSub>
                    <m:r>
                      <a:rPr lang="en-US" altLang="ja-JP" sz="3200" b="1" i="1" dirty="0" smtClean="0">
                        <a:solidFill>
                          <a:schemeClr val="accent1"/>
                        </a:solidFill>
                        <a:latin typeface="Cambria Math" panose="02040503050406030204" pitchFamily="18" charset="0"/>
                      </a:rPr>
                      <m:t>, </m:t>
                    </m:r>
                    <m:sSub>
                      <m:sSubPr>
                        <m:ctrlPr>
                          <a:rPr lang="en-US" altLang="ja-JP" sz="3200" b="1" i="1" dirty="0" smtClean="0">
                            <a:solidFill>
                              <a:schemeClr val="accent1"/>
                            </a:solidFill>
                            <a:latin typeface="Cambria Math" panose="02040503050406030204" pitchFamily="18" charset="0"/>
                          </a:rPr>
                        </m:ctrlPr>
                      </m:sSubPr>
                      <m:e>
                        <m:r>
                          <a:rPr lang="en-US" altLang="ja-JP" sz="3200" b="1" i="1" dirty="0" smtClean="0">
                            <a:solidFill>
                              <a:schemeClr val="accent1"/>
                            </a:solidFill>
                            <a:latin typeface="Cambria Math" panose="02040503050406030204" pitchFamily="18" charset="0"/>
                          </a:rPr>
                          <m:t>𝑰</m:t>
                        </m:r>
                      </m:e>
                      <m:sub>
                        <m:r>
                          <a:rPr lang="en-US" altLang="ja-JP" sz="3200" b="1" i="1" dirty="0" smtClean="0">
                            <a:solidFill>
                              <a:schemeClr val="accent1"/>
                            </a:solidFill>
                            <a:latin typeface="Cambria Math" panose="02040503050406030204" pitchFamily="18" charset="0"/>
                          </a:rPr>
                          <m:t>𝑷𝑪𝑫𝑼</m:t>
                        </m:r>
                      </m:sub>
                    </m:sSub>
                    <m:r>
                      <a:rPr lang="ja-JP" altLang="en-US" sz="3200" b="1" i="1" dirty="0" smtClean="0">
                        <a:solidFill>
                          <a:schemeClr val="accent1"/>
                        </a:solidFill>
                        <a:latin typeface="Cambria Math" panose="02040503050406030204" pitchFamily="18" charset="0"/>
                      </a:rPr>
                      <m:t>：</m:t>
                    </m:r>
                    <m:r>
                      <a:rPr lang="ja-JP" altLang="en-US" sz="3200" b="1" i="1" dirty="0">
                        <a:solidFill>
                          <a:schemeClr val="accent1"/>
                        </a:solidFill>
                        <a:latin typeface="Cambria Math" panose="02040503050406030204" pitchFamily="18" charset="0"/>
                      </a:rPr>
                      <m:t>各</m:t>
                    </m:r>
                  </m:oMath>
                </a14:m>
                <a:r>
                  <a:rPr lang="ja-JP" altLang="en-US" sz="3200" dirty="0">
                    <a:solidFill>
                      <a:schemeClr val="accent1"/>
                    </a:solidFill>
                  </a:rPr>
                  <a:t>コンポの電源の</a:t>
                </a:r>
                <a:r>
                  <a:rPr lang="en-US" altLang="ja-JP" sz="3200" dirty="0">
                    <a:solidFill>
                      <a:schemeClr val="accent1"/>
                    </a:solidFill>
                  </a:rPr>
                  <a:t>ON, OFF</a:t>
                </a:r>
                <a:r>
                  <a:rPr lang="ja-JP" altLang="en-US" sz="3200" dirty="0">
                    <a:solidFill>
                      <a:schemeClr val="accent1"/>
                    </a:solidFill>
                  </a:rPr>
                  <a:t>ロジック</a:t>
                </a:r>
              </a:p>
            </p:txBody>
          </p:sp>
        </mc:Choice>
        <mc:Fallback xmlns="">
          <p:sp>
            <p:nvSpPr>
              <p:cNvPr id="18" name="テキスト ボックス 17">
                <a:extLst>
                  <a:ext uri="{FF2B5EF4-FFF2-40B4-BE49-F238E27FC236}">
                    <a16:creationId xmlns:a16="http://schemas.microsoft.com/office/drawing/2014/main" id="{0ECB3AB1-C1D3-88A9-D9E2-BA7E2C2BE272}"/>
                  </a:ext>
                </a:extLst>
              </p:cNvPr>
              <p:cNvSpPr txBox="1">
                <a:spLocks noRot="1" noChangeAspect="1" noMove="1" noResize="1" noEditPoints="1" noAdjustHandles="1" noChangeArrowheads="1" noChangeShapeType="1" noTextEdit="1"/>
              </p:cNvSpPr>
              <p:nvPr/>
            </p:nvSpPr>
            <p:spPr>
              <a:xfrm>
                <a:off x="6065520" y="7404638"/>
                <a:ext cx="12192000" cy="586699"/>
              </a:xfrm>
              <a:prstGeom prst="rect">
                <a:avLst/>
              </a:prstGeom>
              <a:blipFill>
                <a:blip r:embed="rId7"/>
                <a:stretch>
                  <a:fillRect t="-12500" b="-34375"/>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4623773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45720" tIns="18288" rIns="45720" bIns="18288" anchor="ctr">
            <a:spAutoFit/>
          </a:bodyPr>
          <a:lstStyle/>
          <a:p>
            <a:pPr algn="l">
              <a:spcAft>
                <a:spcPts val="0"/>
              </a:spcAft>
            </a:pPr>
            <a:r>
              <a:rPr sz="2000" b="0">
                <a:solidFill>
                  <a:srgbClr val="666F79"/>
                </a:solidFill>
                <a:latin typeface="Yu Gothic"/>
                <a:ea typeface="Yu Gothic"/>
              </a:rPr>
              <a:t>軽量モデル</a:t>
            </a:r>
          </a:p>
        </p:txBody>
      </p:sp>
      <p:sp>
        <p:nvSpPr>
          <p:cNvPr id="3" name="TextBox 2"/>
          <p:cNvSpPr txBox="1"/>
          <p:nvPr/>
        </p:nvSpPr>
        <p:spPr>
          <a:xfrm>
            <a:off x="1536192" y="1357277"/>
            <a:ext cx="22037040" cy="1071062"/>
          </a:xfrm>
          <a:prstGeom prst="rect">
            <a:avLst/>
          </a:prstGeom>
          <a:noFill/>
        </p:spPr>
        <p:txBody>
          <a:bodyPr wrap="square" lIns="45720" tIns="18288" rIns="45720" bIns="18288" anchor="ctr">
            <a:spAutoFit/>
          </a:bodyPr>
          <a:lstStyle/>
          <a:p>
            <a:pPr algn="l">
              <a:lnSpc>
                <a:spcPct val="110000"/>
              </a:lnSpc>
              <a:spcAft>
                <a:spcPts val="0"/>
              </a:spcAft>
            </a:pPr>
            <a:endParaRPr lang="en-US" sz="3200" b="1" dirty="0">
              <a:solidFill>
                <a:srgbClr val="082B52"/>
              </a:solidFill>
              <a:latin typeface="Yu Gothic"/>
              <a:ea typeface="Yu Gothic"/>
            </a:endParaRPr>
          </a:p>
          <a:p>
            <a:r>
              <a:rPr lang="ja-JP" altLang="ja-JP" sz="3200" b="1" dirty="0"/>
              <a:t>評価ケースの情報を係数推定から完全に除外し，未知条件に対する予測性能を評価</a:t>
            </a:r>
            <a:endParaRPr sz="3200" b="1" dirty="0">
              <a:solidFill>
                <a:srgbClr val="082B52"/>
              </a:solidFill>
              <a:latin typeface="Yu Gothic"/>
              <a:ea typeface="Yu Gothic"/>
            </a:endParaRPr>
          </a:p>
        </p:txBody>
      </p:sp>
      <p:sp>
        <p:nvSpPr>
          <p:cNvPr id="4" name="TextBox 3"/>
          <p:cNvSpPr txBox="1"/>
          <p:nvPr/>
        </p:nvSpPr>
        <p:spPr>
          <a:xfrm>
            <a:off x="21762720" y="12819888"/>
            <a:ext cx="2011680" cy="313932"/>
          </a:xfrm>
          <a:prstGeom prst="rect">
            <a:avLst/>
          </a:prstGeom>
          <a:noFill/>
        </p:spPr>
        <p:txBody>
          <a:bodyPr wrap="square" lIns="45720" tIns="18288" rIns="45720" bIns="18288" anchor="t">
            <a:spAutoFit/>
          </a:bodyPr>
          <a:lstStyle/>
          <a:p>
            <a:pPr algn="r">
              <a:spcAft>
                <a:spcPts val="0"/>
              </a:spcAft>
            </a:pPr>
            <a:r>
              <a:rPr sz="1800" b="0" dirty="0">
                <a:solidFill>
                  <a:srgbClr val="666F79"/>
                </a:solidFill>
                <a:latin typeface="Yu Gothic"/>
                <a:ea typeface="Yu Gothic"/>
              </a:rPr>
              <a:t>1</a:t>
            </a:r>
            <a:r>
              <a:rPr lang="en-US" sz="1800" b="0" dirty="0">
                <a:solidFill>
                  <a:srgbClr val="666F79"/>
                </a:solidFill>
                <a:latin typeface="Yu Gothic"/>
                <a:ea typeface="Yu Gothic"/>
              </a:rPr>
              <a:t>5</a:t>
            </a:r>
            <a:endParaRPr sz="1800" b="0" dirty="0">
              <a:solidFill>
                <a:srgbClr val="666F79"/>
              </a:solidFill>
              <a:latin typeface="Yu Gothic"/>
              <a:ea typeface="Yu Gothic"/>
            </a:endParaRPr>
          </a:p>
        </p:txBody>
      </p:sp>
      <p:sp>
        <p:nvSpPr>
          <p:cNvPr id="5" name="Rounded Rectangle 4"/>
          <p:cNvSpPr/>
          <p:nvPr/>
        </p:nvSpPr>
        <p:spPr>
          <a:xfrm>
            <a:off x="1581912" y="3383280"/>
            <a:ext cx="6190488" cy="5852160"/>
          </a:xfrm>
          <a:prstGeom prst="roundRect">
            <a:avLst/>
          </a:prstGeom>
          <a:solidFill>
            <a:srgbClr val="FFFFFF"/>
          </a:solidFill>
          <a:ln w="22860">
            <a:solidFill>
              <a:srgbClr val="23957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783080" y="3675888"/>
            <a:ext cx="5788151" cy="640080"/>
          </a:xfrm>
          <a:prstGeom prst="rect">
            <a:avLst/>
          </a:prstGeom>
          <a:noFill/>
        </p:spPr>
        <p:txBody>
          <a:bodyPr wrap="square" lIns="45720" tIns="18288" rIns="45720" bIns="18288" anchor="t">
            <a:spAutoFit/>
          </a:bodyPr>
          <a:lstStyle/>
          <a:p>
            <a:pPr algn="ctr">
              <a:spcAft>
                <a:spcPts val="0"/>
              </a:spcAft>
            </a:pPr>
            <a:r>
              <a:rPr sz="2700" b="1">
                <a:solidFill>
                  <a:srgbClr val="239571"/>
                </a:solidFill>
                <a:latin typeface="Yu Gothic"/>
                <a:ea typeface="Yu Gothic"/>
              </a:rPr>
              <a:t>① ケースごとに当てはめる</a:t>
            </a:r>
          </a:p>
        </p:txBody>
      </p:sp>
      <p:sp>
        <p:nvSpPr>
          <p:cNvPr id="7" name="TextBox 6"/>
          <p:cNvSpPr txBox="1"/>
          <p:nvPr/>
        </p:nvSpPr>
        <p:spPr>
          <a:xfrm>
            <a:off x="1856231" y="4617720"/>
            <a:ext cx="5641848" cy="4434840"/>
          </a:xfrm>
          <a:prstGeom prst="rect">
            <a:avLst/>
          </a:prstGeom>
          <a:noFill/>
        </p:spPr>
        <p:txBody>
          <a:bodyPr wrap="square" lIns="45720" tIns="18288" rIns="45720" bIns="18288" anchor="t">
            <a:spAutoFit/>
          </a:bodyPr>
          <a:lstStyle/>
          <a:p>
            <a:pPr algn="ctr">
              <a:lnSpc>
                <a:spcPct val="115000"/>
              </a:lnSpc>
              <a:spcAft>
                <a:spcPts val="0"/>
              </a:spcAft>
            </a:pPr>
            <a:r>
              <a:rPr sz="2400" b="0">
                <a:solidFill>
                  <a:srgbClr val="232B34"/>
                </a:solidFill>
                <a:latin typeface="Yu Gothic"/>
                <a:ea typeface="Yu Gothic"/>
              </a:rPr>
              <a:t>各ケースの最初の1周を使い、
そのケースだけの感度 a と
平均 b を推定する</a:t>
            </a:r>
          </a:p>
        </p:txBody>
      </p:sp>
      <p:sp>
        <p:nvSpPr>
          <p:cNvPr id="8" name="Rounded Rectangle 7"/>
          <p:cNvSpPr/>
          <p:nvPr/>
        </p:nvSpPr>
        <p:spPr>
          <a:xfrm>
            <a:off x="8458200" y="3383280"/>
            <a:ext cx="6656832" cy="5852160"/>
          </a:xfrm>
          <a:prstGeom prst="roundRect">
            <a:avLst/>
          </a:prstGeom>
          <a:solidFill>
            <a:srgbClr val="FFFFFF"/>
          </a:solidFill>
          <a:ln w="22860">
            <a:solidFill>
              <a:srgbClr val="1B74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8659368" y="3675888"/>
            <a:ext cx="6254496" cy="640080"/>
          </a:xfrm>
          <a:prstGeom prst="rect">
            <a:avLst/>
          </a:prstGeom>
          <a:noFill/>
        </p:spPr>
        <p:txBody>
          <a:bodyPr wrap="square" lIns="45720" tIns="18288" rIns="45720" bIns="18288" anchor="t">
            <a:spAutoFit/>
          </a:bodyPr>
          <a:lstStyle/>
          <a:p>
            <a:pPr algn="ctr">
              <a:spcAft>
                <a:spcPts val="0"/>
              </a:spcAft>
            </a:pPr>
            <a:r>
              <a:rPr sz="2700" b="1">
                <a:solidFill>
                  <a:srgbClr val="1B74AA"/>
                </a:solidFill>
                <a:latin typeface="Yu Gothic"/>
                <a:ea typeface="Yu Gothic"/>
              </a:rPr>
              <a:t>② 太陽面ごとに共有する</a:t>
            </a:r>
          </a:p>
        </p:txBody>
      </p:sp>
      <p:sp>
        <p:nvSpPr>
          <p:cNvPr id="10" name="TextBox 9"/>
          <p:cNvSpPr txBox="1"/>
          <p:nvPr/>
        </p:nvSpPr>
        <p:spPr>
          <a:xfrm>
            <a:off x="8732520" y="4617720"/>
            <a:ext cx="6108192" cy="4434840"/>
          </a:xfrm>
          <a:prstGeom prst="rect">
            <a:avLst/>
          </a:prstGeom>
          <a:noFill/>
        </p:spPr>
        <p:txBody>
          <a:bodyPr wrap="square" lIns="45720" tIns="18288" rIns="45720" bIns="18288" anchor="t">
            <a:spAutoFit/>
          </a:bodyPr>
          <a:lstStyle/>
          <a:p>
            <a:pPr algn="ctr">
              <a:lnSpc>
                <a:spcPct val="115000"/>
              </a:lnSpc>
              <a:spcAft>
                <a:spcPts val="0"/>
              </a:spcAft>
            </a:pPr>
            <a:r>
              <a:rPr sz="2400" b="0">
                <a:solidFill>
                  <a:srgbClr val="232B34"/>
                </a:solidFill>
                <a:latin typeface="Yu Gothic"/>
                <a:ea typeface="Yu Gothic"/>
              </a:rPr>
              <a:t>同じ太陽指向面の a の中央値を
共有感度にする
平均 b は、太陽面と発熱フラグから
予測する係数を、ケースを横断して決める</a:t>
            </a:r>
          </a:p>
        </p:txBody>
      </p:sp>
      <p:sp>
        <p:nvSpPr>
          <p:cNvPr id="11" name="Rounded Rectangle 10"/>
          <p:cNvSpPr/>
          <p:nvPr/>
        </p:nvSpPr>
        <p:spPr>
          <a:xfrm>
            <a:off x="15782544" y="3383280"/>
            <a:ext cx="7013448" cy="5852160"/>
          </a:xfrm>
          <a:prstGeom prst="roundRect">
            <a:avLst/>
          </a:prstGeom>
          <a:solidFill>
            <a:srgbClr val="FFFFFF"/>
          </a:solidFill>
          <a:ln w="22860">
            <a:solidFill>
              <a:srgbClr val="EC942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5983712" y="3675888"/>
            <a:ext cx="6611112" cy="640080"/>
          </a:xfrm>
          <a:prstGeom prst="rect">
            <a:avLst/>
          </a:prstGeom>
          <a:noFill/>
        </p:spPr>
        <p:txBody>
          <a:bodyPr wrap="square" lIns="45720" tIns="18288" rIns="45720" bIns="18288" anchor="t">
            <a:spAutoFit/>
          </a:bodyPr>
          <a:lstStyle/>
          <a:p>
            <a:pPr algn="ctr">
              <a:spcAft>
                <a:spcPts val="0"/>
              </a:spcAft>
            </a:pPr>
            <a:r>
              <a:rPr sz="2700" b="1">
                <a:solidFill>
                  <a:srgbClr val="EC9427"/>
                </a:solidFill>
                <a:latin typeface="Yu Gothic"/>
                <a:ea typeface="Yu Gothic"/>
              </a:rPr>
              <a:t>③ 未知ケースで試す</a:t>
            </a:r>
          </a:p>
        </p:txBody>
      </p:sp>
      <p:sp>
        <p:nvSpPr>
          <p:cNvPr id="13" name="TextBox 12"/>
          <p:cNvSpPr txBox="1"/>
          <p:nvPr/>
        </p:nvSpPr>
        <p:spPr>
          <a:xfrm>
            <a:off x="16056864" y="4617720"/>
            <a:ext cx="6464808" cy="4434840"/>
          </a:xfrm>
          <a:prstGeom prst="rect">
            <a:avLst/>
          </a:prstGeom>
          <a:noFill/>
        </p:spPr>
        <p:txBody>
          <a:bodyPr wrap="square" lIns="45720" tIns="18288" rIns="45720" bIns="18288" anchor="t">
            <a:spAutoFit/>
          </a:bodyPr>
          <a:lstStyle/>
          <a:p>
            <a:pPr algn="ctr">
              <a:lnSpc>
                <a:spcPct val="115000"/>
              </a:lnSpc>
              <a:spcAft>
                <a:spcPts val="0"/>
              </a:spcAft>
            </a:pPr>
            <a:r>
              <a:rPr sz="2400" b="0">
                <a:solidFill>
                  <a:srgbClr val="232B34"/>
                </a:solidFill>
                <a:latin typeface="Yu Gothic"/>
                <a:ea typeface="Yu Gothic"/>
              </a:rPr>
              <a:t>nested leave-one-case-out
評価する1ケースを、共有感度と
両軸の平均モデルの両方から外す
そのケースの後続2軌道で誤差を測る</a:t>
            </a:r>
          </a:p>
        </p:txBody>
      </p:sp>
      <p:sp>
        <p:nvSpPr>
          <p:cNvPr id="14" name="Right Arrow 13"/>
          <p:cNvSpPr/>
          <p:nvPr/>
        </p:nvSpPr>
        <p:spPr>
          <a:xfrm>
            <a:off x="7973568" y="5989320"/>
            <a:ext cx="384048" cy="658368"/>
          </a:xfrm>
          <a:prstGeom prst="rightArrow">
            <a:avLst/>
          </a:prstGeom>
          <a:solidFill>
            <a:srgbClr val="1B7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ight Arrow 14"/>
          <p:cNvSpPr/>
          <p:nvPr/>
        </p:nvSpPr>
        <p:spPr>
          <a:xfrm>
            <a:off x="15307055" y="5989320"/>
            <a:ext cx="384048" cy="658368"/>
          </a:xfrm>
          <a:prstGeom prst="rightArrow">
            <a:avLst/>
          </a:prstGeom>
          <a:solidFill>
            <a:srgbClr val="1B7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377440" y="10149840"/>
            <a:ext cx="19659600" cy="467820"/>
          </a:xfrm>
          <a:prstGeom prst="rect">
            <a:avLst/>
          </a:prstGeom>
          <a:noFill/>
        </p:spPr>
        <p:txBody>
          <a:bodyPr wrap="square" lIns="45720" tIns="18288" rIns="45720" bIns="18288" anchor="t">
            <a:spAutoFit/>
          </a:bodyPr>
          <a:lstStyle/>
          <a:p>
            <a:pPr algn="ctr"/>
            <a:r>
              <a:rPr lang="ja-JP" altLang="en-US" sz="2800" b="1" dirty="0"/>
              <a:t>未知</a:t>
            </a:r>
            <a:r>
              <a:rPr lang="ja-JP" altLang="ja-JP" sz="2800" b="1" dirty="0"/>
              <a:t>の運用条件に対して，固定した共有係数でどこまで予測できるかを評価</a:t>
            </a:r>
            <a:endParaRPr lang="ja-JP" altLang="ja-JP" sz="2800" dirty="0"/>
          </a:p>
        </p:txBody>
      </p:sp>
      <p:sp>
        <p:nvSpPr>
          <p:cNvPr id="18" name="TextBox 17"/>
          <p:cNvSpPr txBox="1"/>
          <p:nvPr/>
        </p:nvSpPr>
        <p:spPr>
          <a:xfrm>
            <a:off x="2039112" y="11292840"/>
            <a:ext cx="20299680" cy="406265"/>
          </a:xfrm>
          <a:prstGeom prst="rect">
            <a:avLst/>
          </a:prstGeom>
          <a:noFill/>
        </p:spPr>
        <p:txBody>
          <a:bodyPr wrap="square" lIns="45720" tIns="18288" rIns="45720" bIns="18288" anchor="t">
            <a:spAutoFit/>
          </a:bodyPr>
          <a:lstStyle/>
          <a:p>
            <a:pPr algn="r"/>
            <a:r>
              <a:rPr lang="ja-JP" altLang="ja-JP" sz="2400" dirty="0"/>
              <a:t>※同一構造・同一LOS定義内での条件横断評価</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45720" tIns="18288" rIns="45720" bIns="18288" anchor="ctr">
            <a:spAutoFit/>
          </a:bodyPr>
          <a:lstStyle/>
          <a:p>
            <a:pPr algn="l">
              <a:spcAft>
                <a:spcPts val="0"/>
              </a:spcAft>
            </a:pPr>
            <a:r>
              <a:rPr sz="2000" b="0">
                <a:solidFill>
                  <a:srgbClr val="666F79"/>
                </a:solidFill>
                <a:latin typeface="Yu Gothic"/>
                <a:ea typeface="Yu Gothic"/>
              </a:rPr>
              <a:t>軽量モデル</a:t>
            </a:r>
          </a:p>
        </p:txBody>
      </p:sp>
      <p:sp>
        <p:nvSpPr>
          <p:cNvPr id="3" name="TextBox 2"/>
          <p:cNvSpPr txBox="1"/>
          <p:nvPr/>
        </p:nvSpPr>
        <p:spPr>
          <a:xfrm>
            <a:off x="1536192" y="1298448"/>
            <a:ext cx="22037040" cy="1188720"/>
          </a:xfrm>
          <a:prstGeom prst="rect">
            <a:avLst/>
          </a:prstGeom>
          <a:noFill/>
        </p:spPr>
        <p:txBody>
          <a:bodyPr wrap="square" lIns="45720" tIns="18288" rIns="45720" bIns="18288" anchor="ctr">
            <a:spAutoFit/>
          </a:bodyPr>
          <a:lstStyle/>
          <a:p>
            <a:pPr algn="l">
              <a:lnSpc>
                <a:spcPct val="110000"/>
              </a:lnSpc>
              <a:spcAft>
                <a:spcPts val="0"/>
              </a:spcAft>
            </a:pPr>
            <a:r>
              <a:rPr sz="3100" b="1">
                <a:solidFill>
                  <a:srgbClr val="082B52"/>
                </a:solidFill>
                <a:latin typeface="Yu Gothic"/>
                <a:ea typeface="Yu Gothic"/>
              </a:rPr>
              <a:t>未知ケースでも支配軸の誤差は中央値4.9 µrad。生の615 µradから1–2桁落ちる</a:t>
            </a:r>
          </a:p>
        </p:txBody>
      </p:sp>
      <p:sp>
        <p:nvSpPr>
          <p:cNvPr id="4" name="TextBox 3"/>
          <p:cNvSpPr txBox="1"/>
          <p:nvPr/>
        </p:nvSpPr>
        <p:spPr>
          <a:xfrm>
            <a:off x="21762720" y="12819888"/>
            <a:ext cx="2011680" cy="313932"/>
          </a:xfrm>
          <a:prstGeom prst="rect">
            <a:avLst/>
          </a:prstGeom>
          <a:noFill/>
        </p:spPr>
        <p:txBody>
          <a:bodyPr wrap="square" lIns="45720" tIns="18288" rIns="45720" bIns="18288" anchor="t">
            <a:spAutoFit/>
          </a:bodyPr>
          <a:lstStyle/>
          <a:p>
            <a:pPr algn="r">
              <a:spcAft>
                <a:spcPts val="0"/>
              </a:spcAft>
            </a:pPr>
            <a:r>
              <a:rPr sz="1800" b="0" dirty="0">
                <a:solidFill>
                  <a:srgbClr val="666F79"/>
                </a:solidFill>
                <a:latin typeface="Yu Gothic"/>
                <a:ea typeface="Yu Gothic"/>
              </a:rPr>
              <a:t>1</a:t>
            </a:r>
            <a:r>
              <a:rPr lang="en-US" sz="1800" b="0" dirty="0">
                <a:solidFill>
                  <a:srgbClr val="666F79"/>
                </a:solidFill>
                <a:latin typeface="Yu Gothic"/>
                <a:ea typeface="Yu Gothic"/>
              </a:rPr>
              <a:t>6</a:t>
            </a:r>
            <a:endParaRPr sz="1800" b="0" dirty="0">
              <a:solidFill>
                <a:srgbClr val="666F79"/>
              </a:solidFill>
              <a:latin typeface="Yu Gothic"/>
              <a:ea typeface="Yu Gothic"/>
            </a:endParaRPr>
          </a:p>
        </p:txBody>
      </p:sp>
      <p:sp>
        <p:nvSpPr>
          <p:cNvPr id="5" name="Rectangle 4"/>
          <p:cNvSpPr/>
          <p:nvPr/>
        </p:nvSpPr>
        <p:spPr>
          <a:xfrm>
            <a:off x="1005840" y="3017520"/>
            <a:ext cx="11155680" cy="6309360"/>
          </a:xfrm>
          <a:prstGeom prst="rect">
            <a:avLst/>
          </a:prstGeom>
          <a:noFill/>
          <a:ln w="12700">
            <a:solidFill>
              <a:srgbClr val="B8D5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12390120" y="3017520"/>
            <a:ext cx="11155680" cy="6309360"/>
          </a:xfrm>
          <a:prstGeom prst="rect">
            <a:avLst/>
          </a:prstGeom>
          <a:noFill/>
          <a:ln w="12700">
            <a:solidFill>
              <a:srgbClr val="B8D5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7" name="Picture 6" descr="p3_a_emp_by_sunface.png"/>
          <p:cNvPicPr>
            <a:picLocks noChangeAspect="1"/>
          </p:cNvPicPr>
          <p:nvPr/>
        </p:nvPicPr>
        <p:blipFill>
          <a:blip r:embed="rId3"/>
          <a:stretch>
            <a:fillRect/>
          </a:stretch>
        </p:blipFill>
        <p:spPr>
          <a:xfrm>
            <a:off x="1410788" y="3154680"/>
            <a:ext cx="10345782" cy="6035040"/>
          </a:xfrm>
          <a:prstGeom prst="rect">
            <a:avLst/>
          </a:prstGeom>
        </p:spPr>
      </p:pic>
      <p:pic>
        <p:nvPicPr>
          <p:cNvPr id="8" name="Picture 7" descr="image.png"/>
          <p:cNvPicPr>
            <a:picLocks noChangeAspect="1"/>
          </p:cNvPicPr>
          <p:nvPr/>
        </p:nvPicPr>
        <p:blipFill>
          <a:blip r:embed="rId4"/>
          <a:stretch>
            <a:fillRect/>
          </a:stretch>
        </p:blipFill>
        <p:spPr>
          <a:xfrm>
            <a:off x="12712446" y="3154680"/>
            <a:ext cx="10511028" cy="6035040"/>
          </a:xfrm>
          <a:prstGeom prst="rect">
            <a:avLst/>
          </a:prstGeom>
        </p:spPr>
      </p:pic>
      <p:sp>
        <p:nvSpPr>
          <p:cNvPr id="9" name="TextBox 8"/>
          <p:cNvSpPr txBox="1"/>
          <p:nvPr/>
        </p:nvSpPr>
        <p:spPr>
          <a:xfrm>
            <a:off x="1005840" y="9418320"/>
            <a:ext cx="11155680" cy="360099"/>
          </a:xfrm>
          <a:prstGeom prst="rect">
            <a:avLst/>
          </a:prstGeom>
          <a:noFill/>
        </p:spPr>
        <p:txBody>
          <a:bodyPr wrap="square" lIns="45720" tIns="18288" rIns="45720" bIns="18288" anchor="t">
            <a:spAutoFit/>
          </a:bodyPr>
          <a:lstStyle/>
          <a:p>
            <a:pPr algn="ctr">
              <a:spcAft>
                <a:spcPts val="0"/>
              </a:spcAft>
            </a:pPr>
            <a:r>
              <a:rPr sz="2100" b="1" dirty="0" err="1">
                <a:solidFill>
                  <a:srgbClr val="1B74AA"/>
                </a:solidFill>
                <a:latin typeface="Yu Gothic"/>
                <a:ea typeface="Yu Gothic"/>
              </a:rPr>
              <a:t>太陽指向面ごとの熱感度</a:t>
            </a:r>
            <a:r>
              <a:rPr lang="en-US" sz="2100" b="1" dirty="0" err="1">
                <a:solidFill>
                  <a:srgbClr val="1B74AA"/>
                </a:solidFill>
                <a:latin typeface="Yu Gothic"/>
                <a:ea typeface="Yu Gothic"/>
              </a:rPr>
              <a:t>a</a:t>
            </a:r>
            <a:r>
              <a:rPr sz="2100" b="1" dirty="0" err="1">
                <a:solidFill>
                  <a:srgbClr val="1B74AA"/>
                </a:solidFill>
                <a:latin typeface="Yu Gothic"/>
                <a:ea typeface="Yu Gothic"/>
              </a:rPr>
              <a:t>（ケース別と共有値</a:t>
            </a:r>
            <a:r>
              <a:rPr sz="2100" b="1" dirty="0">
                <a:solidFill>
                  <a:srgbClr val="1B74AA"/>
                </a:solidFill>
                <a:latin typeface="Yu Gothic"/>
                <a:ea typeface="Yu Gothic"/>
              </a:rPr>
              <a:t>）</a:t>
            </a:r>
          </a:p>
        </p:txBody>
      </p:sp>
      <p:sp>
        <p:nvSpPr>
          <p:cNvPr id="10" name="TextBox 9"/>
          <p:cNvSpPr txBox="1"/>
          <p:nvPr/>
        </p:nvSpPr>
        <p:spPr>
          <a:xfrm>
            <a:off x="12390120" y="9418320"/>
            <a:ext cx="11155680" cy="360099"/>
          </a:xfrm>
          <a:prstGeom prst="rect">
            <a:avLst/>
          </a:prstGeom>
          <a:noFill/>
        </p:spPr>
        <p:txBody>
          <a:bodyPr wrap="square" lIns="45720" tIns="18288" rIns="45720" bIns="18288" anchor="t">
            <a:spAutoFit/>
          </a:bodyPr>
          <a:lstStyle/>
          <a:p>
            <a:pPr algn="ctr">
              <a:spcAft>
                <a:spcPts val="0"/>
              </a:spcAft>
            </a:pPr>
            <a:r>
              <a:rPr sz="2100" b="1" dirty="0" err="1">
                <a:solidFill>
                  <a:srgbClr val="239571"/>
                </a:solidFill>
                <a:latin typeface="Yu Gothic"/>
                <a:ea typeface="Yu Gothic"/>
              </a:rPr>
              <a:t>ケース</a:t>
            </a:r>
            <a:r>
              <a:rPr lang="ja-JP" altLang="en-US" sz="2100" b="1" dirty="0">
                <a:solidFill>
                  <a:srgbClr val="239571"/>
                </a:solidFill>
                <a:latin typeface="Yu Gothic"/>
                <a:ea typeface="Yu Gothic"/>
              </a:rPr>
              <a:t>バイアス</a:t>
            </a:r>
            <a:r>
              <a:rPr lang="en-US" altLang="ja-JP" sz="2100" b="1" dirty="0" err="1">
                <a:solidFill>
                  <a:srgbClr val="239571"/>
                </a:solidFill>
                <a:latin typeface="Yu Gothic"/>
                <a:ea typeface="Yu Gothic"/>
              </a:rPr>
              <a:t>b</a:t>
            </a:r>
            <a:r>
              <a:rPr sz="2100" b="1" dirty="0" err="1">
                <a:solidFill>
                  <a:srgbClr val="239571"/>
                </a:solidFill>
                <a:latin typeface="Yu Gothic"/>
                <a:ea typeface="Yu Gothic"/>
              </a:rPr>
              <a:t>：経験値と予測値の対比</a:t>
            </a:r>
            <a:endParaRPr sz="2100" b="1" dirty="0">
              <a:solidFill>
                <a:srgbClr val="239571"/>
              </a:solidFill>
              <a:latin typeface="Yu Gothic"/>
              <a:ea typeface="Yu Gothic"/>
            </a:endParaRPr>
          </a:p>
        </p:txBody>
      </p:sp>
      <p:sp>
        <p:nvSpPr>
          <p:cNvPr id="11" name="Rounded Rectangle 10"/>
          <p:cNvSpPr/>
          <p:nvPr/>
        </p:nvSpPr>
        <p:spPr>
          <a:xfrm>
            <a:off x="1463040" y="10058400"/>
            <a:ext cx="6583680" cy="1783080"/>
          </a:xfrm>
          <a:prstGeom prst="roundRect">
            <a:avLst/>
          </a:prstGeom>
          <a:solidFill>
            <a:srgbClr val="FFFFFF"/>
          </a:solidFill>
          <a:ln w="22860">
            <a:solidFill>
              <a:srgbClr val="1B74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572768" y="10222992"/>
            <a:ext cx="6364224" cy="891540"/>
          </a:xfrm>
          <a:prstGeom prst="rect">
            <a:avLst/>
          </a:prstGeom>
          <a:noFill/>
        </p:spPr>
        <p:txBody>
          <a:bodyPr wrap="square" lIns="45720" tIns="18288" rIns="45720" bIns="18288" anchor="t">
            <a:spAutoFit/>
          </a:bodyPr>
          <a:lstStyle/>
          <a:p>
            <a:pPr algn="ctr">
              <a:spcAft>
                <a:spcPts val="0"/>
              </a:spcAft>
            </a:pPr>
            <a:r>
              <a:rPr sz="3200" b="1">
                <a:solidFill>
                  <a:srgbClr val="1B74AA"/>
                </a:solidFill>
                <a:latin typeface="Yu Gothic"/>
                <a:ea typeface="Yu Gothic"/>
              </a:rPr>
              <a:t>615 µrad</a:t>
            </a:r>
          </a:p>
        </p:txBody>
      </p:sp>
      <p:sp>
        <p:nvSpPr>
          <p:cNvPr id="13" name="TextBox 12"/>
          <p:cNvSpPr txBox="1"/>
          <p:nvPr/>
        </p:nvSpPr>
        <p:spPr>
          <a:xfrm>
            <a:off x="1572768" y="11056924"/>
            <a:ext cx="6364224" cy="748893"/>
          </a:xfrm>
          <a:prstGeom prst="rect">
            <a:avLst/>
          </a:prstGeom>
          <a:noFill/>
        </p:spPr>
        <p:txBody>
          <a:bodyPr wrap="square" lIns="45720" tIns="18288" rIns="45720" bIns="18288" anchor="t">
            <a:spAutoFit/>
          </a:bodyPr>
          <a:lstStyle/>
          <a:p>
            <a:pPr algn="ctr">
              <a:lnSpc>
                <a:spcPct val="105000"/>
              </a:lnSpc>
              <a:spcAft>
                <a:spcPts val="0"/>
              </a:spcAft>
            </a:pPr>
            <a:r>
              <a:rPr sz="1900" b="0">
                <a:solidFill>
                  <a:srgbClr val="666F79"/>
                </a:solidFill>
                <a:latin typeface="Yu Gothic"/>
                <a:ea typeface="Yu Gothic"/>
              </a:rPr>
              <a:t>生LOS 支配軸RMSの中央値</a:t>
            </a:r>
          </a:p>
        </p:txBody>
      </p:sp>
      <p:sp>
        <p:nvSpPr>
          <p:cNvPr id="14" name="Rounded Rectangle 13"/>
          <p:cNvSpPr/>
          <p:nvPr/>
        </p:nvSpPr>
        <p:spPr>
          <a:xfrm>
            <a:off x="8869680" y="10058400"/>
            <a:ext cx="6583680" cy="1783080"/>
          </a:xfrm>
          <a:prstGeom prst="roundRect">
            <a:avLst/>
          </a:prstGeom>
          <a:solidFill>
            <a:srgbClr val="FFFFFF"/>
          </a:solidFill>
          <a:ln w="22860">
            <a:solidFill>
              <a:srgbClr val="23957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979407" y="10222992"/>
            <a:ext cx="6364224" cy="891540"/>
          </a:xfrm>
          <a:prstGeom prst="rect">
            <a:avLst/>
          </a:prstGeom>
          <a:noFill/>
        </p:spPr>
        <p:txBody>
          <a:bodyPr wrap="square" lIns="45720" tIns="18288" rIns="45720" bIns="18288" anchor="t">
            <a:spAutoFit/>
          </a:bodyPr>
          <a:lstStyle/>
          <a:p>
            <a:pPr algn="ctr">
              <a:spcAft>
                <a:spcPts val="0"/>
              </a:spcAft>
            </a:pPr>
            <a:r>
              <a:rPr sz="3200" b="1">
                <a:solidFill>
                  <a:srgbClr val="239571"/>
                </a:solidFill>
                <a:latin typeface="Yu Gothic"/>
                <a:ea typeface="Yu Gothic"/>
              </a:rPr>
              <a:t>4.9 µrad</a:t>
            </a:r>
          </a:p>
        </p:txBody>
      </p:sp>
      <p:sp>
        <p:nvSpPr>
          <p:cNvPr id="16" name="TextBox 15"/>
          <p:cNvSpPr txBox="1"/>
          <p:nvPr/>
        </p:nvSpPr>
        <p:spPr>
          <a:xfrm>
            <a:off x="8979407" y="11056924"/>
            <a:ext cx="6364224" cy="748893"/>
          </a:xfrm>
          <a:prstGeom prst="rect">
            <a:avLst/>
          </a:prstGeom>
          <a:noFill/>
        </p:spPr>
        <p:txBody>
          <a:bodyPr wrap="square" lIns="45720" tIns="18288" rIns="45720" bIns="18288" anchor="t">
            <a:spAutoFit/>
          </a:bodyPr>
          <a:lstStyle/>
          <a:p>
            <a:pPr algn="ctr">
              <a:lnSpc>
                <a:spcPct val="105000"/>
              </a:lnSpc>
              <a:spcAft>
                <a:spcPts val="0"/>
              </a:spcAft>
            </a:pPr>
            <a:r>
              <a:rPr sz="1800" b="0">
                <a:solidFill>
                  <a:srgbClr val="666F79"/>
                </a:solidFill>
                <a:latin typeface="Yu Gothic"/>
                <a:ea typeface="Yu Gothic"/>
              </a:rPr>
              <a:t>未知ケースのtest RMSE 中央値（平均5.5）</a:t>
            </a:r>
          </a:p>
        </p:txBody>
      </p:sp>
      <p:sp>
        <p:nvSpPr>
          <p:cNvPr id="17" name="Rounded Rectangle 16"/>
          <p:cNvSpPr/>
          <p:nvPr/>
        </p:nvSpPr>
        <p:spPr>
          <a:xfrm>
            <a:off x="16276320" y="10058400"/>
            <a:ext cx="6583680" cy="1783080"/>
          </a:xfrm>
          <a:prstGeom prst="roundRect">
            <a:avLst/>
          </a:prstGeom>
          <a:solidFill>
            <a:srgbClr val="FFFFFF"/>
          </a:solidFill>
          <a:ln w="22860">
            <a:solidFill>
              <a:srgbClr val="EC942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16386048" y="10222992"/>
            <a:ext cx="6364224" cy="891540"/>
          </a:xfrm>
          <a:prstGeom prst="rect">
            <a:avLst/>
          </a:prstGeom>
          <a:noFill/>
        </p:spPr>
        <p:txBody>
          <a:bodyPr wrap="square" lIns="45720" tIns="18288" rIns="45720" bIns="18288" anchor="t">
            <a:spAutoFit/>
          </a:bodyPr>
          <a:lstStyle/>
          <a:p>
            <a:pPr algn="ctr">
              <a:spcAft>
                <a:spcPts val="0"/>
              </a:spcAft>
            </a:pPr>
            <a:r>
              <a:rPr sz="3200" b="1">
                <a:solidFill>
                  <a:srgbClr val="EC9427"/>
                </a:solidFill>
                <a:latin typeface="Yu Gothic"/>
                <a:ea typeface="Yu Gothic"/>
              </a:rPr>
              <a:t>3.8 µrad</a:t>
            </a:r>
          </a:p>
        </p:txBody>
      </p:sp>
      <p:sp>
        <p:nvSpPr>
          <p:cNvPr id="19" name="TextBox 18"/>
          <p:cNvSpPr txBox="1"/>
          <p:nvPr/>
        </p:nvSpPr>
        <p:spPr>
          <a:xfrm>
            <a:off x="16386048" y="11056924"/>
            <a:ext cx="6364224" cy="748893"/>
          </a:xfrm>
          <a:prstGeom prst="rect">
            <a:avLst/>
          </a:prstGeom>
          <a:noFill/>
        </p:spPr>
        <p:txBody>
          <a:bodyPr wrap="square" lIns="45720" tIns="18288" rIns="45720" bIns="18288" anchor="t">
            <a:spAutoFit/>
          </a:bodyPr>
          <a:lstStyle/>
          <a:p>
            <a:pPr algn="ctr">
              <a:lnSpc>
                <a:spcPct val="105000"/>
              </a:lnSpc>
              <a:spcAft>
                <a:spcPts val="0"/>
              </a:spcAft>
            </a:pPr>
            <a:r>
              <a:rPr sz="1900" b="0">
                <a:solidFill>
                  <a:srgbClr val="666F79"/>
                </a:solidFill>
                <a:latin typeface="Yu Gothic"/>
                <a:ea typeface="Yu Gothic"/>
              </a:rPr>
              <a:t>ケース平均DCのLOO RMSE</a:t>
            </a:r>
          </a:p>
        </p:txBody>
      </p:sp>
      <p:sp>
        <p:nvSpPr>
          <p:cNvPr id="20" name="TextBox 19"/>
          <p:cNvSpPr txBox="1"/>
          <p:nvPr/>
        </p:nvSpPr>
        <p:spPr>
          <a:xfrm>
            <a:off x="1463040" y="12070080"/>
            <a:ext cx="21396960" cy="457200"/>
          </a:xfrm>
          <a:prstGeom prst="rect">
            <a:avLst/>
          </a:prstGeom>
          <a:noFill/>
        </p:spPr>
        <p:txBody>
          <a:bodyPr wrap="square" lIns="45720" tIns="18288" rIns="45720" bIns="18288" anchor="t">
            <a:spAutoFit/>
          </a:bodyPr>
          <a:lstStyle/>
          <a:p>
            <a:pPr algn="ctr">
              <a:spcAft>
                <a:spcPts val="0"/>
              </a:spcAft>
            </a:pPr>
            <a:r>
              <a:rPr sz="2200" b="0">
                <a:solidFill>
                  <a:srgbClr val="666F79"/>
                </a:solidFill>
                <a:latin typeface="Yu Gothic"/>
                <a:ea typeface="Yu Gothic"/>
              </a:rPr>
              <a:t>共有感度：MX +30.6 / MY +28.6 / PX −28.1 / PY −28.7 µrad/K</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45720" tIns="18288" rIns="45720" bIns="18288" anchor="ctr">
            <a:spAutoFit/>
          </a:bodyPr>
          <a:lstStyle/>
          <a:p>
            <a:pPr algn="l">
              <a:spcAft>
                <a:spcPts val="0"/>
              </a:spcAft>
            </a:pPr>
            <a:r>
              <a:rPr sz="2000" b="0">
                <a:solidFill>
                  <a:srgbClr val="666F79"/>
                </a:solidFill>
                <a:latin typeface="Yu Gothic"/>
                <a:ea typeface="Yu Gothic"/>
              </a:rPr>
              <a:t>軽量モデル</a:t>
            </a:r>
          </a:p>
        </p:txBody>
      </p:sp>
      <p:sp>
        <p:nvSpPr>
          <p:cNvPr id="3" name="TextBox 2"/>
          <p:cNvSpPr txBox="1"/>
          <p:nvPr/>
        </p:nvSpPr>
        <p:spPr>
          <a:xfrm>
            <a:off x="1536192" y="1614045"/>
            <a:ext cx="22037040" cy="557525"/>
          </a:xfrm>
          <a:prstGeom prst="rect">
            <a:avLst/>
          </a:prstGeom>
          <a:noFill/>
        </p:spPr>
        <p:txBody>
          <a:bodyPr wrap="square" lIns="45720" tIns="18288" rIns="45720" bIns="18288" anchor="ctr">
            <a:spAutoFit/>
          </a:bodyPr>
          <a:lstStyle/>
          <a:p>
            <a:pPr algn="l">
              <a:lnSpc>
                <a:spcPct val="110000"/>
              </a:lnSpc>
              <a:spcAft>
                <a:spcPts val="0"/>
              </a:spcAft>
            </a:pPr>
            <a:r>
              <a:rPr sz="3200" b="1" dirty="0">
                <a:solidFill>
                  <a:srgbClr val="082B52"/>
                </a:solidFill>
                <a:latin typeface="Yu Gothic"/>
                <a:ea typeface="Yu Gothic"/>
              </a:rPr>
              <a:t>熱</a:t>
            </a:r>
            <a:r>
              <a:rPr lang="ja-JP" altLang="en-US" sz="3200" b="1" dirty="0">
                <a:solidFill>
                  <a:srgbClr val="082B52"/>
                </a:solidFill>
                <a:latin typeface="Yu Gothic"/>
                <a:ea typeface="Yu Gothic"/>
              </a:rPr>
              <a:t>ひずみ</a:t>
            </a:r>
            <a:r>
              <a:rPr lang="en-US" altLang="ja-JP" sz="3200" b="1" dirty="0">
                <a:solidFill>
                  <a:srgbClr val="082B52"/>
                </a:solidFill>
                <a:latin typeface="Yu Gothic"/>
                <a:ea typeface="Yu Gothic"/>
              </a:rPr>
              <a:t>LOS</a:t>
            </a:r>
            <a:r>
              <a:rPr lang="ja-JP" altLang="en-US" sz="3200" b="1" dirty="0">
                <a:solidFill>
                  <a:srgbClr val="082B52"/>
                </a:solidFill>
                <a:latin typeface="Yu Gothic"/>
                <a:ea typeface="Yu Gothic"/>
              </a:rPr>
              <a:t>誤差</a:t>
            </a:r>
            <a:r>
              <a:rPr sz="3200" b="1" dirty="0" err="1">
                <a:solidFill>
                  <a:srgbClr val="082B52"/>
                </a:solidFill>
                <a:latin typeface="Yu Gothic"/>
                <a:ea typeface="Yu Gothic"/>
              </a:rPr>
              <a:t>が最大級のCase</a:t>
            </a:r>
            <a:r>
              <a:rPr sz="3200" b="1" dirty="0">
                <a:solidFill>
                  <a:srgbClr val="082B52"/>
                </a:solidFill>
                <a:latin typeface="Yu Gothic"/>
                <a:ea typeface="Yu Gothic"/>
              </a:rPr>
              <a:t> 08でも、1250 µradが3.9 µ</a:t>
            </a:r>
            <a:r>
              <a:rPr sz="3200" b="1" dirty="0" err="1">
                <a:solidFill>
                  <a:srgbClr val="082B52"/>
                </a:solidFill>
                <a:latin typeface="Yu Gothic"/>
                <a:ea typeface="Yu Gothic"/>
              </a:rPr>
              <a:t>radまで落ちる</a:t>
            </a:r>
            <a:endParaRPr sz="3200" b="1" dirty="0">
              <a:solidFill>
                <a:srgbClr val="082B52"/>
              </a:solidFill>
              <a:latin typeface="Yu Gothic"/>
              <a:ea typeface="Yu Gothic"/>
            </a:endParaRPr>
          </a:p>
        </p:txBody>
      </p:sp>
      <p:sp>
        <p:nvSpPr>
          <p:cNvPr id="4" name="TextBox 3"/>
          <p:cNvSpPr txBox="1"/>
          <p:nvPr/>
        </p:nvSpPr>
        <p:spPr>
          <a:xfrm>
            <a:off x="21762720" y="12819888"/>
            <a:ext cx="2011680" cy="313932"/>
          </a:xfrm>
          <a:prstGeom prst="rect">
            <a:avLst/>
          </a:prstGeom>
          <a:noFill/>
        </p:spPr>
        <p:txBody>
          <a:bodyPr wrap="square" lIns="45720" tIns="18288" rIns="45720" bIns="18288" anchor="t">
            <a:spAutoFit/>
          </a:bodyPr>
          <a:lstStyle/>
          <a:p>
            <a:pPr algn="r">
              <a:spcAft>
                <a:spcPts val="0"/>
              </a:spcAft>
            </a:pPr>
            <a:r>
              <a:rPr sz="1800" b="0" dirty="0">
                <a:solidFill>
                  <a:srgbClr val="666F79"/>
                </a:solidFill>
                <a:latin typeface="Yu Gothic"/>
                <a:ea typeface="Yu Gothic"/>
              </a:rPr>
              <a:t>1</a:t>
            </a:r>
            <a:r>
              <a:rPr lang="en-US" sz="1800" b="0" dirty="0">
                <a:solidFill>
                  <a:srgbClr val="666F79"/>
                </a:solidFill>
                <a:latin typeface="Yu Gothic"/>
                <a:ea typeface="Yu Gothic"/>
              </a:rPr>
              <a:t>7</a:t>
            </a:r>
            <a:endParaRPr sz="1800" b="0" dirty="0">
              <a:solidFill>
                <a:srgbClr val="666F79"/>
              </a:solidFill>
              <a:latin typeface="Yu Gothic"/>
              <a:ea typeface="Yu Gothic"/>
            </a:endParaRPr>
          </a:p>
        </p:txBody>
      </p:sp>
      <p:sp>
        <p:nvSpPr>
          <p:cNvPr id="5" name="Rectangle 4"/>
          <p:cNvSpPr/>
          <p:nvPr/>
        </p:nvSpPr>
        <p:spPr>
          <a:xfrm>
            <a:off x="1005840" y="3017520"/>
            <a:ext cx="14081760" cy="8778240"/>
          </a:xfrm>
          <a:prstGeom prst="rect">
            <a:avLst/>
          </a:prstGeom>
          <a:noFill/>
          <a:ln w="12700">
            <a:solidFill>
              <a:srgbClr val="B8D5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Picture 5" descr="case08_no_log_title.png"/>
          <p:cNvPicPr>
            <a:picLocks noChangeAspect="1"/>
          </p:cNvPicPr>
          <p:nvPr/>
        </p:nvPicPr>
        <p:blipFill>
          <a:blip r:embed="rId3"/>
          <a:stretch>
            <a:fillRect/>
          </a:stretch>
        </p:blipFill>
        <p:spPr>
          <a:xfrm>
            <a:off x="2078059" y="3154680"/>
            <a:ext cx="11937320" cy="8503920"/>
          </a:xfrm>
          <a:prstGeom prst="rect">
            <a:avLst/>
          </a:prstGeom>
        </p:spPr>
      </p:pic>
      <p:sp>
        <p:nvSpPr>
          <p:cNvPr id="7" name="TextBox 6"/>
          <p:cNvSpPr txBox="1"/>
          <p:nvPr/>
        </p:nvSpPr>
        <p:spPr>
          <a:xfrm>
            <a:off x="1005840" y="11841480"/>
            <a:ext cx="14081760" cy="457200"/>
          </a:xfrm>
          <a:prstGeom prst="rect">
            <a:avLst/>
          </a:prstGeom>
          <a:noFill/>
        </p:spPr>
        <p:txBody>
          <a:bodyPr wrap="square" lIns="45720" tIns="18288" rIns="45720" bIns="18288" anchor="t">
            <a:spAutoFit/>
          </a:bodyPr>
          <a:lstStyle/>
          <a:p>
            <a:pPr algn="ctr">
              <a:spcAft>
                <a:spcPts val="0"/>
              </a:spcAft>
            </a:pPr>
            <a:r>
              <a:rPr sz="2200" b="1">
                <a:solidFill>
                  <a:srgbClr val="1B74AA"/>
                </a:solidFill>
                <a:latin typeface="Yu Gothic"/>
                <a:ea typeface="Yu Gothic"/>
              </a:rPr>
              <a:t>Case 08（PY太陽指向・全発熱）</a:t>
            </a:r>
          </a:p>
        </p:txBody>
      </p:sp>
      <p:sp>
        <p:nvSpPr>
          <p:cNvPr id="8" name="Rounded Rectangle 7"/>
          <p:cNvSpPr/>
          <p:nvPr/>
        </p:nvSpPr>
        <p:spPr>
          <a:xfrm>
            <a:off x="15727680" y="3474720"/>
            <a:ext cx="7498079" cy="2103120"/>
          </a:xfrm>
          <a:prstGeom prst="roundRect">
            <a:avLst/>
          </a:prstGeom>
          <a:solidFill>
            <a:srgbClr val="FDEFF0"/>
          </a:solidFill>
          <a:ln w="22860">
            <a:solidFill>
              <a:srgbClr val="D03B4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5837408" y="3639312"/>
            <a:ext cx="7278623" cy="1051560"/>
          </a:xfrm>
          <a:prstGeom prst="rect">
            <a:avLst/>
          </a:prstGeom>
          <a:noFill/>
        </p:spPr>
        <p:txBody>
          <a:bodyPr wrap="square" lIns="45720" tIns="18288" rIns="45720" bIns="18288" anchor="t">
            <a:spAutoFit/>
          </a:bodyPr>
          <a:lstStyle/>
          <a:p>
            <a:pPr algn="ctr">
              <a:spcAft>
                <a:spcPts val="0"/>
              </a:spcAft>
            </a:pPr>
            <a:r>
              <a:rPr sz="3600" b="1">
                <a:solidFill>
                  <a:srgbClr val="D03B46"/>
                </a:solidFill>
                <a:latin typeface="Yu Gothic"/>
                <a:ea typeface="Yu Gothic"/>
              </a:rPr>
              <a:t>1250 µrad</a:t>
            </a:r>
          </a:p>
        </p:txBody>
      </p:sp>
      <p:sp>
        <p:nvSpPr>
          <p:cNvPr id="10" name="TextBox 9"/>
          <p:cNvSpPr txBox="1"/>
          <p:nvPr/>
        </p:nvSpPr>
        <p:spPr>
          <a:xfrm>
            <a:off x="15837408" y="4652467"/>
            <a:ext cx="7278623" cy="883310"/>
          </a:xfrm>
          <a:prstGeom prst="rect">
            <a:avLst/>
          </a:prstGeom>
          <a:noFill/>
        </p:spPr>
        <p:txBody>
          <a:bodyPr wrap="square" lIns="45720" tIns="18288" rIns="45720" bIns="18288" anchor="t">
            <a:spAutoFit/>
          </a:bodyPr>
          <a:lstStyle/>
          <a:p>
            <a:pPr algn="ctr">
              <a:lnSpc>
                <a:spcPct val="105000"/>
              </a:lnSpc>
              <a:spcAft>
                <a:spcPts val="0"/>
              </a:spcAft>
            </a:pPr>
            <a:r>
              <a:rPr sz="1900" b="0">
                <a:solidFill>
                  <a:srgbClr val="666F79"/>
                </a:solidFill>
                <a:latin typeface="Yu Gothic"/>
                <a:ea typeface="Yu Gothic"/>
              </a:rPr>
              <a:t>生の支配軸RMS</a:t>
            </a:r>
          </a:p>
        </p:txBody>
      </p:sp>
      <p:sp>
        <p:nvSpPr>
          <p:cNvPr id="11" name="Rounded Rectangle 10"/>
          <p:cNvSpPr/>
          <p:nvPr/>
        </p:nvSpPr>
        <p:spPr>
          <a:xfrm>
            <a:off x="15727680" y="5852160"/>
            <a:ext cx="7498079" cy="2103120"/>
          </a:xfrm>
          <a:prstGeom prst="roundRect">
            <a:avLst/>
          </a:prstGeom>
          <a:solidFill>
            <a:srgbClr val="EAF8F1"/>
          </a:solidFill>
          <a:ln w="22860">
            <a:solidFill>
              <a:srgbClr val="23957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5837408" y="6016752"/>
            <a:ext cx="7278623" cy="1051560"/>
          </a:xfrm>
          <a:prstGeom prst="rect">
            <a:avLst/>
          </a:prstGeom>
          <a:noFill/>
        </p:spPr>
        <p:txBody>
          <a:bodyPr wrap="square" lIns="45720" tIns="18288" rIns="45720" bIns="18288" anchor="t">
            <a:spAutoFit/>
          </a:bodyPr>
          <a:lstStyle/>
          <a:p>
            <a:pPr algn="ctr">
              <a:spcAft>
                <a:spcPts val="0"/>
              </a:spcAft>
            </a:pPr>
            <a:r>
              <a:rPr sz="3600" b="1">
                <a:solidFill>
                  <a:srgbClr val="239571"/>
                </a:solidFill>
                <a:latin typeface="Yu Gothic"/>
                <a:ea typeface="Yu Gothic"/>
              </a:rPr>
              <a:t>3.9 µrad</a:t>
            </a:r>
          </a:p>
        </p:txBody>
      </p:sp>
      <p:sp>
        <p:nvSpPr>
          <p:cNvPr id="13" name="TextBox 12"/>
          <p:cNvSpPr txBox="1"/>
          <p:nvPr/>
        </p:nvSpPr>
        <p:spPr>
          <a:xfrm>
            <a:off x="15837408" y="7029907"/>
            <a:ext cx="7278623" cy="883310"/>
          </a:xfrm>
          <a:prstGeom prst="rect">
            <a:avLst/>
          </a:prstGeom>
          <a:noFill/>
        </p:spPr>
        <p:txBody>
          <a:bodyPr wrap="square" lIns="45720" tIns="18288" rIns="45720" bIns="18288" anchor="t">
            <a:spAutoFit/>
          </a:bodyPr>
          <a:lstStyle/>
          <a:p>
            <a:pPr algn="ctr">
              <a:lnSpc>
                <a:spcPct val="105000"/>
              </a:lnSpc>
              <a:spcAft>
                <a:spcPts val="0"/>
              </a:spcAft>
            </a:pPr>
            <a:r>
              <a:rPr sz="1900" b="0">
                <a:solidFill>
                  <a:srgbClr val="666F79"/>
                </a:solidFill>
                <a:latin typeface="Yu Gothic"/>
                <a:ea typeface="Yu Gothic"/>
              </a:rPr>
              <a:t>未知ケースでのtest RMSE</a:t>
            </a:r>
          </a:p>
        </p:txBody>
      </p:sp>
      <p:sp>
        <p:nvSpPr>
          <p:cNvPr id="14" name="Rounded Rectangle 13"/>
          <p:cNvSpPr/>
          <p:nvPr/>
        </p:nvSpPr>
        <p:spPr>
          <a:xfrm>
            <a:off x="15727680" y="8229600"/>
            <a:ext cx="7498079" cy="2377440"/>
          </a:xfrm>
          <a:prstGeom prst="roundRect">
            <a:avLst/>
          </a:prstGeom>
          <a:solidFill>
            <a:srgbClr val="FFFFFF"/>
          </a:solidFill>
          <a:ln w="22860">
            <a:solidFill>
              <a:srgbClr val="1B74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15928847" y="8522208"/>
            <a:ext cx="7095743" cy="640080"/>
          </a:xfrm>
          <a:prstGeom prst="rect">
            <a:avLst/>
          </a:prstGeom>
          <a:noFill/>
        </p:spPr>
        <p:txBody>
          <a:bodyPr wrap="square" lIns="45720" tIns="18288" rIns="45720" bIns="18288" anchor="t">
            <a:spAutoFit/>
          </a:bodyPr>
          <a:lstStyle/>
          <a:p>
            <a:pPr algn="ctr">
              <a:spcAft>
                <a:spcPts val="0"/>
              </a:spcAft>
            </a:pPr>
            <a:r>
              <a:rPr sz="2500" b="1">
                <a:solidFill>
                  <a:srgbClr val="1B74AA"/>
                </a:solidFill>
                <a:latin typeface="Yu Gothic"/>
                <a:ea typeface="Yu Gothic"/>
              </a:rPr>
              <a:t>この残差なら1点目で当たる</a:t>
            </a:r>
          </a:p>
        </p:txBody>
      </p:sp>
      <p:sp>
        <p:nvSpPr>
          <p:cNvPr id="16" name="TextBox 15"/>
          <p:cNvSpPr txBox="1"/>
          <p:nvPr/>
        </p:nvSpPr>
        <p:spPr>
          <a:xfrm>
            <a:off x="16002000" y="9326880"/>
            <a:ext cx="6949440" cy="1097280"/>
          </a:xfrm>
          <a:prstGeom prst="rect">
            <a:avLst/>
          </a:prstGeom>
          <a:noFill/>
        </p:spPr>
        <p:txBody>
          <a:bodyPr wrap="square" lIns="45720" tIns="18288" rIns="45720" bIns="18288" anchor="t">
            <a:spAutoFit/>
          </a:bodyPr>
          <a:lstStyle/>
          <a:p>
            <a:pPr algn="ctr">
              <a:lnSpc>
                <a:spcPct val="115000"/>
              </a:lnSpc>
              <a:spcAft>
                <a:spcPts val="0"/>
              </a:spcAft>
            </a:pPr>
            <a:r>
              <a:rPr sz="2300" b="0">
                <a:solidFill>
                  <a:srgbClr val="232B34"/>
                </a:solidFill>
                <a:latin typeface="Yu Gothic"/>
                <a:ea typeface="Yu Gothic"/>
              </a:rPr>
              <a:t>補正後の残差は検出半径 150 µrad より
十分に小さい</a:t>
            </a:r>
          </a:p>
        </p:txBody>
      </p:sp>
      <p:sp>
        <p:nvSpPr>
          <p:cNvPr id="17" name="TextBox 16"/>
          <p:cNvSpPr txBox="1"/>
          <p:nvPr/>
        </p:nvSpPr>
        <p:spPr>
          <a:xfrm>
            <a:off x="15727680" y="10835640"/>
            <a:ext cx="7498079" cy="548640"/>
          </a:xfrm>
          <a:prstGeom prst="rect">
            <a:avLst/>
          </a:prstGeom>
          <a:noFill/>
        </p:spPr>
        <p:txBody>
          <a:bodyPr wrap="square" lIns="45720" tIns="18288" rIns="45720" bIns="18288" anchor="t">
            <a:spAutoFit/>
          </a:bodyPr>
          <a:lstStyle/>
          <a:p>
            <a:pPr algn="ctr">
              <a:spcAft>
                <a:spcPts val="0"/>
              </a:spcAft>
            </a:pPr>
            <a:r>
              <a:rPr sz="2400" b="1">
                <a:solidFill>
                  <a:srgbClr val="082B52"/>
                </a:solidFill>
                <a:latin typeface="Yu Gothic"/>
                <a:ea typeface="Yu Gothic"/>
              </a:rPr>
              <a:t>軌道の中の山を、温度差が追っている</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35437-8820-FE54-90F4-25736025842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418022B-B953-CFCB-50F9-DFE723EF2FF2}"/>
              </a:ext>
            </a:extLst>
          </p:cNvPr>
          <p:cNvSpPr txBox="1"/>
          <p:nvPr/>
        </p:nvSpPr>
        <p:spPr>
          <a:xfrm>
            <a:off x="11932226" y="4114800"/>
            <a:ext cx="458588" cy="470898"/>
          </a:xfrm>
          <a:prstGeom prst="rect">
            <a:avLst/>
          </a:prstGeom>
          <a:noFill/>
        </p:spPr>
        <p:txBody>
          <a:bodyPr wrap="none" lIns="36576" tIns="27432" rIns="36576" bIns="27432" anchor="t">
            <a:spAutoFit/>
          </a:bodyPr>
          <a:lstStyle/>
          <a:p>
            <a:pPr algn="ctr"/>
            <a:r>
              <a:rPr sz="2700" b="0" dirty="0">
                <a:solidFill>
                  <a:srgbClr val="FFFFFF"/>
                </a:solidFill>
                <a:latin typeface="Yu Gothic"/>
              </a:rPr>
              <a:t>0</a:t>
            </a:r>
            <a:r>
              <a:rPr lang="en-US" sz="2700" b="0" dirty="0">
                <a:solidFill>
                  <a:srgbClr val="FFFFFF"/>
                </a:solidFill>
                <a:latin typeface="Yu Gothic"/>
              </a:rPr>
              <a:t>4</a:t>
            </a:r>
            <a:endParaRPr sz="2700" b="0" dirty="0">
              <a:solidFill>
                <a:srgbClr val="FFFFFF"/>
              </a:solidFill>
              <a:latin typeface="Yu Gothic"/>
            </a:endParaRPr>
          </a:p>
        </p:txBody>
      </p:sp>
      <p:sp>
        <p:nvSpPr>
          <p:cNvPr id="3" name="Rectangle 2">
            <a:extLst>
              <a:ext uri="{FF2B5EF4-FFF2-40B4-BE49-F238E27FC236}">
                <a16:creationId xmlns:a16="http://schemas.microsoft.com/office/drawing/2014/main" id="{B4CFD4D2-F236-BFD7-145C-5F664AC45A6E}"/>
              </a:ext>
            </a:extLst>
          </p:cNvPr>
          <p:cNvSpPr/>
          <p:nvPr/>
        </p:nvSpPr>
        <p:spPr>
          <a:xfrm>
            <a:off x="10469880" y="5230368"/>
            <a:ext cx="338328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7A5AA477-6D32-A249-9BC5-FA7905720E4E}"/>
              </a:ext>
            </a:extLst>
          </p:cNvPr>
          <p:cNvSpPr txBox="1"/>
          <p:nvPr/>
        </p:nvSpPr>
        <p:spPr>
          <a:xfrm>
            <a:off x="9842746" y="5806440"/>
            <a:ext cx="4728987" cy="563231"/>
          </a:xfrm>
          <a:prstGeom prst="rect">
            <a:avLst/>
          </a:prstGeom>
          <a:noFill/>
        </p:spPr>
        <p:txBody>
          <a:bodyPr wrap="none" lIns="36576" tIns="27432" rIns="36576" bIns="27432" anchor="t">
            <a:spAutoFit/>
          </a:bodyPr>
          <a:lstStyle/>
          <a:p>
            <a:pPr algn="ctr"/>
            <a:r>
              <a:rPr lang="ja-JP" altLang="en-US" sz="3300" b="1" dirty="0">
                <a:solidFill>
                  <a:srgbClr val="FFFFFF"/>
                </a:solidFill>
                <a:latin typeface="Yu Gothic"/>
              </a:rPr>
              <a:t>光通信捕捉における評価</a:t>
            </a:r>
            <a:endParaRPr sz="3300" b="1" dirty="0">
              <a:solidFill>
                <a:srgbClr val="FFFFFF"/>
              </a:solidFill>
              <a:latin typeface="Yu Gothic"/>
            </a:endParaRPr>
          </a:p>
        </p:txBody>
      </p:sp>
      <p:sp>
        <p:nvSpPr>
          <p:cNvPr id="7" name="Rectangle 2">
            <a:extLst>
              <a:ext uri="{FF2B5EF4-FFF2-40B4-BE49-F238E27FC236}">
                <a16:creationId xmlns:a16="http://schemas.microsoft.com/office/drawing/2014/main" id="{5C80EDBD-7565-2F1C-E24E-366C53DE31A9}"/>
              </a:ext>
            </a:extLst>
          </p:cNvPr>
          <p:cNvSpPr/>
          <p:nvPr/>
        </p:nvSpPr>
        <p:spPr>
          <a:xfrm>
            <a:off x="11099800" y="6857999"/>
            <a:ext cx="2209800" cy="457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78613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Yu Gothic"/>
                <a:ea typeface="Yu Gothic"/>
              </a:rPr>
              <a:t>捕捉評価の条件</a:t>
            </a:r>
          </a:p>
        </p:txBody>
      </p:sp>
      <p:sp>
        <p:nvSpPr>
          <p:cNvPr id="3" name="TextBox 2"/>
          <p:cNvSpPr txBox="1"/>
          <p:nvPr/>
        </p:nvSpPr>
        <p:spPr>
          <a:xfrm>
            <a:off x="1536192" y="1298448"/>
            <a:ext cx="22037040" cy="1040285"/>
          </a:xfrm>
          <a:prstGeom prst="rect">
            <a:avLst/>
          </a:prstGeom>
          <a:noFill/>
        </p:spPr>
        <p:txBody>
          <a:bodyPr wrap="square" lIns="36576" tIns="27432" rIns="36576" bIns="27432" anchor="t">
            <a:spAutoFit/>
          </a:bodyPr>
          <a:lstStyle/>
          <a:p>
            <a:pPr algn="l">
              <a:spcAft>
                <a:spcPts val="0"/>
              </a:spcAft>
            </a:pPr>
            <a:endParaRPr lang="en-US" sz="3200" b="1" dirty="0">
              <a:solidFill>
                <a:srgbClr val="082B52"/>
              </a:solidFill>
              <a:latin typeface="Yu Gothic"/>
              <a:ea typeface="Yu Gothic"/>
            </a:endParaRPr>
          </a:p>
          <a:p>
            <a:pPr algn="l">
              <a:spcAft>
                <a:spcPts val="0"/>
              </a:spcAft>
            </a:pPr>
            <a:r>
              <a:rPr sz="3200" b="1" dirty="0" err="1">
                <a:solidFill>
                  <a:srgbClr val="082B52"/>
                </a:solidFill>
                <a:latin typeface="Yu Gothic"/>
                <a:ea typeface="Yu Gothic"/>
              </a:rPr>
              <a:t>予測を走査中心から引き、真の向きが検出円に入った時刻を捕捉とする</a:t>
            </a:r>
            <a:endParaRPr lang="en-US" sz="3200" b="1" dirty="0">
              <a:solidFill>
                <a:srgbClr val="082B52"/>
              </a:solidFill>
              <a:latin typeface="Yu Gothic"/>
            </a:endParaRPr>
          </a:p>
        </p:txBody>
      </p:sp>
      <p:sp>
        <p:nvSpPr>
          <p:cNvPr id="4" name="TextBox 3"/>
          <p:cNvSpPr txBox="1"/>
          <p:nvPr/>
        </p:nvSpPr>
        <p:spPr>
          <a:xfrm>
            <a:off x="21762720" y="12819888"/>
            <a:ext cx="2011680" cy="332399"/>
          </a:xfrm>
          <a:prstGeom prst="rect">
            <a:avLst/>
          </a:prstGeom>
          <a:noFill/>
        </p:spPr>
        <p:txBody>
          <a:bodyPr wrap="square" lIns="36576" tIns="27432" rIns="36576" bIns="27432" anchor="t">
            <a:spAutoFit/>
          </a:bodyPr>
          <a:lstStyle/>
          <a:p>
            <a:pPr algn="r">
              <a:spcAft>
                <a:spcPts val="0"/>
              </a:spcAft>
            </a:pPr>
            <a:r>
              <a:rPr sz="1800" b="0" dirty="0">
                <a:solidFill>
                  <a:srgbClr val="666F79"/>
                </a:solidFill>
                <a:latin typeface="Yu Gothic"/>
                <a:ea typeface="Yu Gothic"/>
              </a:rPr>
              <a:t>1</a:t>
            </a:r>
            <a:r>
              <a:rPr lang="en-US" sz="1800" b="0" dirty="0">
                <a:solidFill>
                  <a:srgbClr val="666F79"/>
                </a:solidFill>
                <a:latin typeface="Yu Gothic"/>
                <a:ea typeface="Yu Gothic"/>
              </a:rPr>
              <a:t>8</a:t>
            </a:r>
            <a:endParaRPr sz="1800" b="0" dirty="0">
              <a:solidFill>
                <a:srgbClr val="666F79"/>
              </a:solidFill>
              <a:latin typeface="Yu Gothic"/>
              <a:ea typeface="Yu Gothic"/>
            </a:endParaRPr>
          </a:p>
        </p:txBody>
      </p:sp>
      <p:sp>
        <p:nvSpPr>
          <p:cNvPr id="5" name="Rounded Rectangle 4"/>
          <p:cNvSpPr/>
          <p:nvPr/>
        </p:nvSpPr>
        <p:spPr>
          <a:xfrm>
            <a:off x="1280160" y="3144885"/>
            <a:ext cx="21762720" cy="2148840"/>
          </a:xfrm>
          <a:prstGeom prst="roundRect">
            <a:avLst/>
          </a:prstGeom>
          <a:solidFill>
            <a:srgbClr val="EBF6FB"/>
          </a:solidFill>
          <a:ln w="16510">
            <a:solidFill>
              <a:srgbClr val="5BB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6" name="TextBox 5"/>
              <p:cNvSpPr txBox="1"/>
              <p:nvPr/>
            </p:nvSpPr>
            <p:spPr>
              <a:xfrm>
                <a:off x="6348263" y="3766677"/>
                <a:ext cx="11626516" cy="1792350"/>
              </a:xfrm>
              <a:prstGeom prst="rect">
                <a:avLst/>
              </a:prstGeom>
              <a:noFill/>
            </p:spPr>
            <p:txBody>
              <a:bodyPr wrap="none" lIns="36576" tIns="27432" rIns="36576" bIns="27432" anchor="t">
                <a:spAutoFit/>
              </a:bodyPr>
              <a:lstStyle/>
              <a:p>
                <a:pPr algn="ctr"/>
                <a14:m>
                  <m:oMathPara xmlns:m="http://schemas.openxmlformats.org/officeDocument/2006/math">
                    <m:oMath>
                      <m:sSub>
                        <m:sSubPr>
                          <m:ctrlPr>
                            <a:rPr lang="en-US" sz="3600" b="1" i="1" dirty="0" smtClean="0">
                              <a:solidFill>
                                <a:srgbClr val="082B52"/>
                              </a:solidFill>
                              <a:latin typeface="Cambria Math" panose="02040503050406030204" pitchFamily="18" charset="0"/>
                            </a:rPr>
                          </m:ctrlPr>
                        </m:sSubPr>
                        <m:e>
                          <m:r>
                            <a:rPr lang="en-US" sz="3600" b="1" i="1" dirty="0" smtClean="0">
                              <a:solidFill>
                                <a:srgbClr val="082B52"/>
                              </a:solidFill>
                              <a:latin typeface="Cambria Math" panose="02040503050406030204" pitchFamily="18" charset="0"/>
                            </a:rPr>
                            <m:t>𝒆</m:t>
                          </m:r>
                        </m:e>
                        <m:sub>
                          <m:r>
                            <a:rPr lang="en-US" sz="3600" b="1" i="1" dirty="0" err="1" smtClean="0">
                              <a:solidFill>
                                <a:srgbClr val="082B52"/>
                              </a:solidFill>
                              <a:latin typeface="Cambria Math" panose="02040503050406030204" pitchFamily="18" charset="0"/>
                            </a:rPr>
                            <m:t>𝒔𝒄𝒂𝒏</m:t>
                          </m:r>
                          <m:d>
                            <m:dPr>
                              <m:ctrlPr>
                                <a:rPr lang="en-US" sz="3600" b="1" i="1" dirty="0">
                                  <a:solidFill>
                                    <a:srgbClr val="082B52"/>
                                  </a:solidFill>
                                  <a:latin typeface="Cambria Math" panose="02040503050406030204" pitchFamily="18" charset="0"/>
                                </a:rPr>
                              </m:ctrlPr>
                            </m:dPr>
                            <m:e>
                              <m:r>
                                <a:rPr lang="en-US" sz="3600" b="1" i="1" dirty="0">
                                  <a:solidFill>
                                    <a:srgbClr val="082B52"/>
                                  </a:solidFill>
                                  <a:latin typeface="Cambria Math" panose="02040503050406030204" pitchFamily="18" charset="0"/>
                                </a:rPr>
                                <m:t>𝒕</m:t>
                              </m:r>
                            </m:e>
                          </m:d>
                        </m:sub>
                      </m:sSub>
                      <m:r>
                        <a:rPr lang="en-US" sz="3600" b="1" i="1" dirty="0">
                          <a:solidFill>
                            <a:srgbClr val="082B52"/>
                          </a:solidFill>
                          <a:latin typeface="Cambria Math" panose="02040503050406030204" pitchFamily="18" charset="0"/>
                        </a:rPr>
                        <m:t>= </m:t>
                      </m:r>
                      <m:sSub>
                        <m:sSubPr>
                          <m:ctrlPr>
                            <a:rPr lang="en-US" sz="3600" b="1" i="1" dirty="0" err="1" smtClean="0">
                              <a:solidFill>
                                <a:srgbClr val="082B52"/>
                              </a:solidFill>
                              <a:latin typeface="Cambria Math" panose="02040503050406030204" pitchFamily="18" charset="0"/>
                            </a:rPr>
                          </m:ctrlPr>
                        </m:sSubPr>
                        <m:e>
                          <m:r>
                            <a:rPr lang="en-US" sz="3600" b="1" i="1" dirty="0" err="1" smtClean="0">
                              <a:solidFill>
                                <a:srgbClr val="082B52"/>
                              </a:solidFill>
                              <a:latin typeface="Cambria Math" panose="02040503050406030204" pitchFamily="18" charset="0"/>
                            </a:rPr>
                            <m:t>𝒆</m:t>
                          </m:r>
                        </m:e>
                        <m:sub>
                          <m:r>
                            <a:rPr lang="en-US" sz="3600" b="1" i="1" dirty="0" err="1" smtClean="0">
                              <a:solidFill>
                                <a:srgbClr val="082B52"/>
                              </a:solidFill>
                              <a:latin typeface="Cambria Math" panose="02040503050406030204" pitchFamily="18" charset="0"/>
                            </a:rPr>
                            <m:t>𝒏𝒐𝒏𝒕𝒉𝒆𝒓𝒎𝒂𝒍</m:t>
                          </m:r>
                          <m:d>
                            <m:dPr>
                              <m:ctrlPr>
                                <a:rPr lang="en-US" sz="3600" b="1" i="1" dirty="0">
                                  <a:solidFill>
                                    <a:srgbClr val="082B52"/>
                                  </a:solidFill>
                                  <a:latin typeface="Cambria Math" panose="02040503050406030204" pitchFamily="18" charset="0"/>
                                </a:rPr>
                              </m:ctrlPr>
                            </m:dPr>
                            <m:e>
                              <m:r>
                                <a:rPr lang="en-US" sz="3600" b="1" i="1" dirty="0">
                                  <a:solidFill>
                                    <a:srgbClr val="082B52"/>
                                  </a:solidFill>
                                  <a:latin typeface="Cambria Math" panose="02040503050406030204" pitchFamily="18" charset="0"/>
                                </a:rPr>
                                <m:t>𝒕</m:t>
                              </m:r>
                            </m:e>
                          </m:d>
                        </m:sub>
                      </m:sSub>
                      <m:r>
                        <a:rPr lang="en-US" sz="3600" b="1" i="1" dirty="0">
                          <a:solidFill>
                            <a:srgbClr val="082B52"/>
                          </a:solidFill>
                          <a:latin typeface="Cambria Math" panose="02040503050406030204" pitchFamily="18" charset="0"/>
                        </a:rPr>
                        <m:t>+ </m:t>
                      </m:r>
                      <m:sSub>
                        <m:sSubPr>
                          <m:ctrlPr>
                            <a:rPr lang="en-US" sz="3600" b="1" i="1" dirty="0" smtClean="0">
                              <a:solidFill>
                                <a:srgbClr val="082B52"/>
                              </a:solidFill>
                              <a:latin typeface="Cambria Math" panose="02040503050406030204" pitchFamily="18" charset="0"/>
                            </a:rPr>
                          </m:ctrlPr>
                        </m:sSubPr>
                        <m:e>
                          <m:r>
                            <a:rPr lang="en-US" sz="3600" b="1" i="1" dirty="0" smtClean="0">
                              <a:solidFill>
                                <a:srgbClr val="082B52"/>
                              </a:solidFill>
                              <a:latin typeface="Cambria Math" panose="02040503050406030204" pitchFamily="18" charset="0"/>
                            </a:rPr>
                            <m:t>𝜽</m:t>
                          </m:r>
                        </m:e>
                        <m:sub>
                          <m:r>
                            <a:rPr lang="en-US" sz="3600" b="1" i="1" dirty="0" err="1" smtClean="0">
                              <a:solidFill>
                                <a:srgbClr val="082B52"/>
                              </a:solidFill>
                              <a:latin typeface="Cambria Math" panose="02040503050406030204" pitchFamily="18" charset="0"/>
                            </a:rPr>
                            <m:t>𝒕𝒉𝒆𝒓𝒎𝒂𝒍</m:t>
                          </m:r>
                          <m:r>
                            <a:rPr lang="en-US" sz="3600" b="1" i="1" dirty="0" smtClean="0">
                              <a:solidFill>
                                <a:srgbClr val="082B52"/>
                              </a:solidFill>
                              <a:latin typeface="Cambria Math" panose="02040503050406030204" pitchFamily="18" charset="0"/>
                            </a:rPr>
                            <m:t>, </m:t>
                          </m:r>
                          <m:r>
                            <a:rPr lang="en-US" sz="3600" b="1" i="1" dirty="0" smtClean="0">
                              <a:solidFill>
                                <a:srgbClr val="082B52"/>
                              </a:solidFill>
                              <a:latin typeface="Cambria Math" panose="02040503050406030204" pitchFamily="18" charset="0"/>
                            </a:rPr>
                            <m:t>𝒕𝒓𝒖𝒆</m:t>
                          </m:r>
                        </m:sub>
                      </m:sSub>
                      <m:d>
                        <m:dPr>
                          <m:ctrlPr>
                            <a:rPr lang="en-US" sz="3600" b="1" i="1" dirty="0">
                              <a:solidFill>
                                <a:srgbClr val="082B52"/>
                              </a:solidFill>
                              <a:latin typeface="Cambria Math" panose="02040503050406030204" pitchFamily="18" charset="0"/>
                            </a:rPr>
                          </m:ctrlPr>
                        </m:dPr>
                        <m:e>
                          <m:r>
                            <a:rPr lang="en-US" sz="3600" b="1" i="1" dirty="0">
                              <a:solidFill>
                                <a:srgbClr val="082B52"/>
                              </a:solidFill>
                              <a:latin typeface="Cambria Math" panose="02040503050406030204" pitchFamily="18" charset="0"/>
                            </a:rPr>
                            <m:t>𝒕</m:t>
                          </m:r>
                        </m:e>
                      </m:d>
                      <m:r>
                        <a:rPr lang="en-US" sz="3600" b="1" i="1" dirty="0">
                          <a:solidFill>
                            <a:srgbClr val="082B52"/>
                          </a:solidFill>
                          <a:latin typeface="Cambria Math" panose="02040503050406030204" pitchFamily="18" charset="0"/>
                        </a:rPr>
                        <m:t>− </m:t>
                      </m:r>
                      <m:sSub>
                        <m:sSubPr>
                          <m:ctrlPr>
                            <a:rPr lang="en-US" sz="3600" b="1" i="1" dirty="0" err="1">
                              <a:solidFill>
                                <a:srgbClr val="082B52"/>
                              </a:solidFill>
                              <a:latin typeface="Cambria Math" panose="02040503050406030204" pitchFamily="18" charset="0"/>
                            </a:rPr>
                          </m:ctrlPr>
                        </m:sSubPr>
                        <m:e>
                          <m:acc>
                            <m:accPr>
                              <m:chr m:val="̂"/>
                              <m:ctrlPr>
                                <a:rPr lang="en-US" sz="3600" b="1" i="1" dirty="0" err="1">
                                  <a:solidFill>
                                    <a:srgbClr val="082B52"/>
                                  </a:solidFill>
                                  <a:latin typeface="Cambria Math" panose="02040503050406030204" pitchFamily="18" charset="0"/>
                                </a:rPr>
                              </m:ctrlPr>
                            </m:accPr>
                            <m:e>
                              <m:r>
                                <a:rPr lang="en-US" sz="3600" b="1" i="1" dirty="0" err="1">
                                  <a:solidFill>
                                    <a:srgbClr val="082B52"/>
                                  </a:solidFill>
                                  <a:latin typeface="Cambria Math" panose="02040503050406030204" pitchFamily="18" charset="0"/>
                                </a:rPr>
                                <m:t>𝜽</m:t>
                              </m:r>
                            </m:e>
                          </m:acc>
                        </m:e>
                        <m:sub>
                          <m:r>
                            <a:rPr lang="en-US" sz="3600" b="1" i="1" dirty="0" err="1" smtClean="0">
                              <a:solidFill>
                                <a:srgbClr val="082B52"/>
                              </a:solidFill>
                              <a:latin typeface="Cambria Math" panose="02040503050406030204" pitchFamily="18" charset="0"/>
                            </a:rPr>
                            <m:t>𝒕𝒉𝒆𝒓𝒎𝒂𝒍</m:t>
                          </m:r>
                        </m:sub>
                      </m:sSub>
                      <m:d>
                        <m:dPr>
                          <m:ctrlPr>
                            <a:rPr lang="en-US" sz="3600" b="1" i="1" dirty="0">
                              <a:solidFill>
                                <a:srgbClr val="082B52"/>
                              </a:solidFill>
                              <a:latin typeface="Cambria Math" panose="02040503050406030204" pitchFamily="18" charset="0"/>
                            </a:rPr>
                          </m:ctrlPr>
                        </m:dPr>
                        <m:e>
                          <m:r>
                            <a:rPr lang="en-US" sz="3600" b="1" i="1" dirty="0">
                              <a:solidFill>
                                <a:srgbClr val="082B52"/>
                              </a:solidFill>
                              <a:latin typeface="Cambria Math" panose="02040503050406030204" pitchFamily="18" charset="0"/>
                            </a:rPr>
                            <m:t>𝒕</m:t>
                          </m:r>
                        </m:e>
                      </m:d>
                    </m:oMath>
                  </m:oMathPara>
                </a14:m>
                <a:endParaRPr lang="en-US" sz="3600" b="1" i="1" dirty="0">
                  <a:solidFill>
                    <a:srgbClr val="082B52"/>
                  </a:solidFill>
                  <a:latin typeface="Cambria Math" panose="02040503050406030204" pitchFamily="18" charset="0"/>
                </a:endParaRPr>
              </a:p>
              <a:p>
                <a:pPr algn="ctr"/>
                <a:endParaRPr lang="en-US" sz="3600" b="1" i="1" dirty="0">
                  <a:solidFill>
                    <a:srgbClr val="082B52"/>
                  </a:solidFill>
                  <a:latin typeface="Cambria Math" panose="02040503050406030204" pitchFamily="18" charset="0"/>
                </a:endParaRPr>
              </a:p>
              <a:p>
                <a:pPr algn="ctr"/>
                <a:endParaRPr lang="en-US" sz="3600" b="1" i="1" dirty="0">
                  <a:solidFill>
                    <a:srgbClr val="082B52"/>
                  </a:solidFill>
                  <a:latin typeface="Cambria Math" panose="02040503050406030204" pitchFamily="18" charset="0"/>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6348263" y="3766677"/>
                <a:ext cx="11626516" cy="1792350"/>
              </a:xfrm>
              <a:prstGeom prst="rect">
                <a:avLst/>
              </a:prstGeom>
              <a:blipFill>
                <a:blip r:embed="rId3"/>
                <a:stretch>
                  <a:fillRect/>
                </a:stretch>
              </a:blipFill>
            </p:spPr>
            <p:txBody>
              <a:bodyPr/>
              <a:lstStyle/>
              <a:p>
                <a:r>
                  <a:rPr lang="ja-JP" altLang="en-US">
                    <a:noFill/>
                  </a:rPr>
                  <a:t> </a:t>
                </a:r>
              </a:p>
            </p:txBody>
          </p:sp>
        </mc:Fallback>
      </mc:AlternateContent>
      <p:sp>
        <p:nvSpPr>
          <p:cNvPr id="7" name="Rectangle 6"/>
          <p:cNvSpPr/>
          <p:nvPr/>
        </p:nvSpPr>
        <p:spPr>
          <a:xfrm>
            <a:off x="1492437" y="5568045"/>
            <a:ext cx="4045305" cy="1124712"/>
          </a:xfrm>
          <a:prstGeom prst="rect">
            <a:avLst/>
          </a:prstGeom>
          <a:solidFill>
            <a:srgbClr val="082B52"/>
          </a:solidFill>
          <a:ln w="16510">
            <a:solidFill>
              <a:srgbClr val="082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563624" y="5870448"/>
            <a:ext cx="3895344" cy="548640"/>
          </a:xfrm>
          <a:prstGeom prst="rect">
            <a:avLst/>
          </a:prstGeom>
          <a:noFill/>
        </p:spPr>
        <p:txBody>
          <a:bodyPr wrap="square" lIns="36576" tIns="27432" rIns="36576" bIns="27432" anchor="ctr">
            <a:spAutoFit/>
          </a:bodyPr>
          <a:lstStyle/>
          <a:p>
            <a:pPr algn="ctr">
              <a:spcAft>
                <a:spcPts val="0"/>
              </a:spcAft>
            </a:pPr>
            <a:r>
              <a:rPr sz="2100" b="1">
                <a:solidFill>
                  <a:srgbClr val="FFFFFF"/>
                </a:solidFill>
                <a:latin typeface="Yu Gothic"/>
                <a:ea typeface="Yu Gothic"/>
              </a:rPr>
              <a:t>熱LOSの真値</a:t>
            </a:r>
          </a:p>
        </p:txBody>
      </p:sp>
      <p:cxnSp>
        <p:nvCxnSpPr>
          <p:cNvPr id="9" name="Connector 8"/>
          <p:cNvCxnSpPr>
            <a:cxnSpLocks/>
          </p:cNvCxnSpPr>
          <p:nvPr/>
        </p:nvCxnSpPr>
        <p:spPr>
          <a:xfrm>
            <a:off x="5554071" y="6175470"/>
            <a:ext cx="794192"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1511150" y="6972767"/>
            <a:ext cx="4045305" cy="1088317"/>
          </a:xfrm>
          <a:prstGeom prst="rect">
            <a:avLst/>
          </a:prstGeom>
          <a:solidFill>
            <a:srgbClr val="1B74AA"/>
          </a:solidFill>
          <a:ln w="16510">
            <a:solidFill>
              <a:srgbClr val="1B7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581912" y="7269480"/>
            <a:ext cx="3895344" cy="502920"/>
          </a:xfrm>
          <a:prstGeom prst="rect">
            <a:avLst/>
          </a:prstGeom>
          <a:noFill/>
        </p:spPr>
        <p:txBody>
          <a:bodyPr wrap="square" lIns="36576" tIns="27432" rIns="36576" bIns="27432" anchor="ctr">
            <a:spAutoFit/>
          </a:bodyPr>
          <a:lstStyle/>
          <a:p>
            <a:pPr algn="ctr">
              <a:spcAft>
                <a:spcPts val="0"/>
              </a:spcAft>
            </a:pPr>
            <a:r>
              <a:rPr sz="2100" b="1">
                <a:solidFill>
                  <a:srgbClr val="FFFFFF"/>
                </a:solidFill>
                <a:latin typeface="Yu Gothic"/>
                <a:ea typeface="Yu Gothic"/>
              </a:rPr>
              <a:t>予測した熱LOS</a:t>
            </a:r>
          </a:p>
        </p:txBody>
      </p:sp>
      <p:cxnSp>
        <p:nvCxnSpPr>
          <p:cNvPr id="12" name="Connector 11"/>
          <p:cNvCxnSpPr>
            <a:cxnSpLocks/>
          </p:cNvCxnSpPr>
          <p:nvPr/>
        </p:nvCxnSpPr>
        <p:spPr>
          <a:xfrm>
            <a:off x="5559948" y="7524032"/>
            <a:ext cx="788315"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7949030" y="6840196"/>
            <a:ext cx="4045305" cy="1234440"/>
          </a:xfrm>
          <a:prstGeom prst="rect">
            <a:avLst/>
          </a:prstGeom>
          <a:solidFill>
            <a:srgbClr val="239571"/>
          </a:solidFill>
          <a:ln w="1651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19288" y="7132320"/>
            <a:ext cx="3895344" cy="548640"/>
          </a:xfrm>
          <a:prstGeom prst="rect">
            <a:avLst/>
          </a:prstGeom>
          <a:noFill/>
        </p:spPr>
        <p:txBody>
          <a:bodyPr wrap="square" lIns="36576" tIns="27432" rIns="36576" bIns="27432" anchor="ctr">
            <a:spAutoFit/>
          </a:bodyPr>
          <a:lstStyle/>
          <a:p>
            <a:pPr algn="ctr">
              <a:spcAft>
                <a:spcPts val="0"/>
              </a:spcAft>
            </a:pPr>
            <a:r>
              <a:rPr sz="2100" b="1">
                <a:solidFill>
                  <a:srgbClr val="FFFFFF"/>
                </a:solidFill>
                <a:latin typeface="Yu Gothic"/>
                <a:ea typeface="Yu Gothic"/>
              </a:rPr>
              <a:t>走査中心の残差</a:t>
            </a:r>
          </a:p>
        </p:txBody>
      </p:sp>
      <p:cxnSp>
        <p:nvCxnSpPr>
          <p:cNvPr id="15" name="Connector 14"/>
          <p:cNvCxnSpPr>
            <a:cxnSpLocks/>
            <a:stCxn id="13" idx="3"/>
            <a:endCxn id="16" idx="1"/>
          </p:cNvCxnSpPr>
          <p:nvPr/>
        </p:nvCxnSpPr>
        <p:spPr>
          <a:xfrm>
            <a:off x="11994335" y="7457416"/>
            <a:ext cx="1081404" cy="738"/>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13075739" y="6840934"/>
            <a:ext cx="4045305" cy="1234440"/>
          </a:xfrm>
          <a:prstGeom prst="rect">
            <a:avLst/>
          </a:prstGeom>
          <a:solidFill>
            <a:srgbClr val="EC9427"/>
          </a:solidFill>
          <a:ln w="16510">
            <a:solidFill>
              <a:srgbClr val="EC94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3149072" y="7132320"/>
            <a:ext cx="3895344" cy="548640"/>
          </a:xfrm>
          <a:prstGeom prst="rect">
            <a:avLst/>
          </a:prstGeom>
          <a:noFill/>
        </p:spPr>
        <p:txBody>
          <a:bodyPr wrap="square" lIns="36576" tIns="27432" rIns="36576" bIns="27432" anchor="ctr">
            <a:spAutoFit/>
          </a:bodyPr>
          <a:lstStyle/>
          <a:p>
            <a:pPr algn="ctr">
              <a:spcAft>
                <a:spcPts val="0"/>
              </a:spcAft>
            </a:pPr>
            <a:r>
              <a:rPr sz="2100" b="1">
                <a:solidFill>
                  <a:srgbClr val="FFFFFF"/>
                </a:solidFill>
                <a:latin typeface="Yu Gothic"/>
                <a:ea typeface="Yu Gothic"/>
              </a:rPr>
              <a:t>矩形スパイラル走査</a:t>
            </a:r>
            <a:endParaRPr sz="2100" b="1" dirty="0">
              <a:solidFill>
                <a:srgbClr val="FFFFFF"/>
              </a:solidFill>
              <a:latin typeface="Yu Gothic"/>
            </a:endParaRPr>
          </a:p>
        </p:txBody>
      </p:sp>
      <p:cxnSp>
        <p:nvCxnSpPr>
          <p:cNvPr id="18" name="Connector 17"/>
          <p:cNvCxnSpPr>
            <a:cxnSpLocks/>
            <a:stCxn id="16" idx="3"/>
            <a:endCxn id="19" idx="1"/>
          </p:cNvCxnSpPr>
          <p:nvPr/>
        </p:nvCxnSpPr>
        <p:spPr>
          <a:xfrm>
            <a:off x="17121044" y="7458154"/>
            <a:ext cx="1021513"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18142557" y="6840934"/>
            <a:ext cx="4045305" cy="1234440"/>
          </a:xfrm>
          <a:prstGeom prst="rect">
            <a:avLst/>
          </a:prstGeom>
          <a:solidFill>
            <a:srgbClr val="5D4084"/>
          </a:solidFill>
          <a:ln w="16510">
            <a:solidFill>
              <a:srgbClr val="5D408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8214848" y="7132320"/>
            <a:ext cx="3895344" cy="548640"/>
          </a:xfrm>
          <a:prstGeom prst="rect">
            <a:avLst/>
          </a:prstGeom>
          <a:noFill/>
        </p:spPr>
        <p:txBody>
          <a:bodyPr wrap="square" lIns="36576" tIns="27432" rIns="36576" bIns="27432" anchor="ctr">
            <a:spAutoFit/>
          </a:bodyPr>
          <a:lstStyle/>
          <a:p>
            <a:pPr algn="ctr">
              <a:spcAft>
                <a:spcPts val="0"/>
              </a:spcAft>
            </a:pPr>
            <a:r>
              <a:rPr sz="2100" b="1">
                <a:solidFill>
                  <a:srgbClr val="FFFFFF"/>
                </a:solidFill>
                <a:latin typeface="Yu Gothic"/>
                <a:ea typeface="Yu Gothic"/>
              </a:rPr>
              <a:t>捕捉の成否と時間</a:t>
            </a:r>
          </a:p>
        </p:txBody>
      </p:sp>
      <p:sp>
        <p:nvSpPr>
          <p:cNvPr id="23" name="テキスト ボックス 22">
            <a:extLst>
              <a:ext uri="{FF2B5EF4-FFF2-40B4-BE49-F238E27FC236}">
                <a16:creationId xmlns:a16="http://schemas.microsoft.com/office/drawing/2014/main" id="{2C5084B7-D52A-49F1-3EFC-7865244A461E}"/>
              </a:ext>
            </a:extLst>
          </p:cNvPr>
          <p:cNvSpPr txBox="1"/>
          <p:nvPr/>
        </p:nvSpPr>
        <p:spPr>
          <a:xfrm>
            <a:off x="8231264" y="4526280"/>
            <a:ext cx="3047107" cy="646331"/>
          </a:xfrm>
          <a:prstGeom prst="rect">
            <a:avLst/>
          </a:prstGeom>
          <a:noFill/>
        </p:spPr>
        <p:txBody>
          <a:bodyPr wrap="square">
            <a:spAutoFit/>
          </a:bodyPr>
          <a:lstStyle/>
          <a:p>
            <a:pPr algn="ctr"/>
            <a:r>
              <a:rPr lang="ja-JP" altLang="ja-JP" dirty="0"/>
              <a:t>軌道予測・姿勢決定などの</a:t>
            </a:r>
            <a:endParaRPr lang="en-US" altLang="ja-JP" dirty="0"/>
          </a:p>
          <a:p>
            <a:pPr algn="ctr"/>
            <a:r>
              <a:rPr lang="ja-JP" altLang="ja-JP" dirty="0"/>
              <a:t>非熱誤差</a:t>
            </a:r>
            <a:endParaRPr lang="ja-JP" altLang="en-US" dirty="0"/>
          </a:p>
        </p:txBody>
      </p:sp>
      <p:sp>
        <p:nvSpPr>
          <p:cNvPr id="27" name="テキスト ボックス 26">
            <a:extLst>
              <a:ext uri="{FF2B5EF4-FFF2-40B4-BE49-F238E27FC236}">
                <a16:creationId xmlns:a16="http://schemas.microsoft.com/office/drawing/2014/main" id="{475CC5F6-C4A7-901E-2012-409916E2B0A3}"/>
              </a:ext>
            </a:extLst>
          </p:cNvPr>
          <p:cNvSpPr txBox="1"/>
          <p:nvPr/>
        </p:nvSpPr>
        <p:spPr>
          <a:xfrm>
            <a:off x="11646385" y="4513065"/>
            <a:ext cx="3047107" cy="369332"/>
          </a:xfrm>
          <a:prstGeom prst="rect">
            <a:avLst/>
          </a:prstGeom>
          <a:noFill/>
        </p:spPr>
        <p:txBody>
          <a:bodyPr wrap="square">
            <a:spAutoFit/>
          </a:bodyPr>
          <a:lstStyle/>
          <a:p>
            <a:pPr algn="ctr"/>
            <a:r>
              <a:rPr lang="ja-JP" altLang="en-US" dirty="0"/>
              <a:t>熱</a:t>
            </a:r>
            <a:r>
              <a:rPr lang="en-US" altLang="ja-JP" dirty="0"/>
              <a:t>LOS</a:t>
            </a:r>
            <a:r>
              <a:rPr lang="ja-JP" altLang="en-US" dirty="0"/>
              <a:t>真値</a:t>
            </a:r>
          </a:p>
        </p:txBody>
      </p:sp>
      <p:sp>
        <p:nvSpPr>
          <p:cNvPr id="29" name="テキスト ボックス 28">
            <a:extLst>
              <a:ext uri="{FF2B5EF4-FFF2-40B4-BE49-F238E27FC236}">
                <a16:creationId xmlns:a16="http://schemas.microsoft.com/office/drawing/2014/main" id="{80EE754C-B705-4BAC-5440-55D1A568097F}"/>
              </a:ext>
            </a:extLst>
          </p:cNvPr>
          <p:cNvSpPr txBox="1"/>
          <p:nvPr/>
        </p:nvSpPr>
        <p:spPr>
          <a:xfrm>
            <a:off x="15012614" y="4499702"/>
            <a:ext cx="3603812" cy="369332"/>
          </a:xfrm>
          <a:prstGeom prst="rect">
            <a:avLst/>
          </a:prstGeom>
          <a:noFill/>
        </p:spPr>
        <p:txBody>
          <a:bodyPr wrap="square">
            <a:spAutoFit/>
          </a:bodyPr>
          <a:lstStyle/>
          <a:p>
            <a:r>
              <a:rPr lang="ja-JP" altLang="ja-JP" dirty="0"/>
              <a:t>軽量モデルによる予測熱LOS</a:t>
            </a:r>
            <a:endParaRPr lang="ja-JP" altLang="en-US" dirty="0"/>
          </a:p>
        </p:txBody>
      </p:sp>
      <p:sp>
        <p:nvSpPr>
          <p:cNvPr id="31" name="テキスト ボックス 30">
            <a:extLst>
              <a:ext uri="{FF2B5EF4-FFF2-40B4-BE49-F238E27FC236}">
                <a16:creationId xmlns:a16="http://schemas.microsoft.com/office/drawing/2014/main" id="{AE261220-F486-34F3-8E3D-9EE1CD64AD9C}"/>
              </a:ext>
            </a:extLst>
          </p:cNvPr>
          <p:cNvSpPr txBox="1"/>
          <p:nvPr/>
        </p:nvSpPr>
        <p:spPr>
          <a:xfrm>
            <a:off x="5976476" y="4577073"/>
            <a:ext cx="2463985" cy="369332"/>
          </a:xfrm>
          <a:prstGeom prst="rect">
            <a:avLst/>
          </a:prstGeom>
          <a:noFill/>
        </p:spPr>
        <p:txBody>
          <a:bodyPr wrap="square">
            <a:spAutoFit/>
          </a:bodyPr>
          <a:lstStyle/>
          <a:p>
            <a:r>
              <a:rPr lang="ja-JP" altLang="en-US" dirty="0"/>
              <a:t>スキャン中心誤差</a:t>
            </a:r>
          </a:p>
        </p:txBody>
      </p:sp>
      <p:cxnSp>
        <p:nvCxnSpPr>
          <p:cNvPr id="32" name="Connector 8">
            <a:extLst>
              <a:ext uri="{FF2B5EF4-FFF2-40B4-BE49-F238E27FC236}">
                <a16:creationId xmlns:a16="http://schemas.microsoft.com/office/drawing/2014/main" id="{6F2944A6-54AC-6362-A88C-0405DF9530B4}"/>
              </a:ext>
            </a:extLst>
          </p:cNvPr>
          <p:cNvCxnSpPr>
            <a:cxnSpLocks/>
          </p:cNvCxnSpPr>
          <p:nvPr/>
        </p:nvCxnSpPr>
        <p:spPr>
          <a:xfrm>
            <a:off x="6348263" y="7524682"/>
            <a:ext cx="1600767"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cxnSp>
        <p:nvCxnSpPr>
          <p:cNvPr id="36" name="Connector 8">
            <a:extLst>
              <a:ext uri="{FF2B5EF4-FFF2-40B4-BE49-F238E27FC236}">
                <a16:creationId xmlns:a16="http://schemas.microsoft.com/office/drawing/2014/main" id="{80236EE0-2DD3-39D4-4028-129355C61A8B}"/>
              </a:ext>
            </a:extLst>
          </p:cNvPr>
          <p:cNvCxnSpPr>
            <a:cxnSpLocks/>
          </p:cNvCxnSpPr>
          <p:nvPr/>
        </p:nvCxnSpPr>
        <p:spPr>
          <a:xfrm flipV="1">
            <a:off x="6348263" y="6162770"/>
            <a:ext cx="0" cy="2837901"/>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45" name="テキスト ボックス 44">
            <a:extLst>
              <a:ext uri="{FF2B5EF4-FFF2-40B4-BE49-F238E27FC236}">
                <a16:creationId xmlns:a16="http://schemas.microsoft.com/office/drawing/2014/main" id="{678E8980-C900-DB3E-45EC-7E03ECD4651C}"/>
              </a:ext>
            </a:extLst>
          </p:cNvPr>
          <p:cNvSpPr txBox="1"/>
          <p:nvPr/>
        </p:nvSpPr>
        <p:spPr>
          <a:xfrm>
            <a:off x="10403131" y="8664275"/>
            <a:ext cx="3036104" cy="523220"/>
          </a:xfrm>
          <a:prstGeom prst="rect">
            <a:avLst/>
          </a:prstGeom>
          <a:noFill/>
        </p:spPr>
        <p:txBody>
          <a:bodyPr wrap="square" rtlCol="0">
            <a:spAutoFit/>
          </a:bodyPr>
          <a:lstStyle/>
          <a:p>
            <a:r>
              <a:rPr kumimoji="1" lang="en-US" altLang="ja-JP" sz="2800" dirty="0"/>
              <a:t>PAT</a:t>
            </a:r>
            <a:r>
              <a:rPr kumimoji="1" lang="ja-JP" altLang="en-US" sz="2800" dirty="0"/>
              <a:t>評価の流れ</a:t>
            </a:r>
          </a:p>
        </p:txBody>
      </p:sp>
      <p:sp>
        <p:nvSpPr>
          <p:cNvPr id="47" name="テキスト ボックス 46">
            <a:extLst>
              <a:ext uri="{FF2B5EF4-FFF2-40B4-BE49-F238E27FC236}">
                <a16:creationId xmlns:a16="http://schemas.microsoft.com/office/drawing/2014/main" id="{DC1B411D-A44D-CC38-A81F-BFCA7C60B531}"/>
              </a:ext>
            </a:extLst>
          </p:cNvPr>
          <p:cNvSpPr txBox="1"/>
          <p:nvPr/>
        </p:nvSpPr>
        <p:spPr>
          <a:xfrm>
            <a:off x="10697580" y="5428129"/>
            <a:ext cx="2259552" cy="523220"/>
          </a:xfrm>
          <a:prstGeom prst="rect">
            <a:avLst/>
          </a:prstGeom>
          <a:noFill/>
        </p:spPr>
        <p:txBody>
          <a:bodyPr wrap="square" rtlCol="0">
            <a:spAutoFit/>
          </a:bodyPr>
          <a:lstStyle/>
          <a:p>
            <a:r>
              <a:rPr kumimoji="1" lang="ja-JP" altLang="en-US" sz="2800" dirty="0"/>
              <a:t>残差計算式</a:t>
            </a:r>
          </a:p>
        </p:txBody>
      </p:sp>
      <p:sp>
        <p:nvSpPr>
          <p:cNvPr id="48" name="楕円 47">
            <a:extLst>
              <a:ext uri="{FF2B5EF4-FFF2-40B4-BE49-F238E27FC236}">
                <a16:creationId xmlns:a16="http://schemas.microsoft.com/office/drawing/2014/main" id="{81522D40-88F1-0366-DC15-8612D46AECD4}"/>
              </a:ext>
            </a:extLst>
          </p:cNvPr>
          <p:cNvSpPr/>
          <p:nvPr/>
        </p:nvSpPr>
        <p:spPr>
          <a:xfrm>
            <a:off x="6155871" y="7298876"/>
            <a:ext cx="422097" cy="42083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0" name="直線矢印コネクタ 49">
            <a:extLst>
              <a:ext uri="{FF2B5EF4-FFF2-40B4-BE49-F238E27FC236}">
                <a16:creationId xmlns:a16="http://schemas.microsoft.com/office/drawing/2014/main" id="{F0774505-4EFA-9FEE-0C8B-0F0CB82F422D}"/>
              </a:ext>
            </a:extLst>
          </p:cNvPr>
          <p:cNvCxnSpPr>
            <a:cxnSpLocks/>
          </p:cNvCxnSpPr>
          <p:nvPr/>
        </p:nvCxnSpPr>
        <p:spPr>
          <a:xfrm flipH="1">
            <a:off x="6577968" y="5293725"/>
            <a:ext cx="818875" cy="1850441"/>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54" name="Rectangle 9">
            <a:extLst>
              <a:ext uri="{FF2B5EF4-FFF2-40B4-BE49-F238E27FC236}">
                <a16:creationId xmlns:a16="http://schemas.microsoft.com/office/drawing/2014/main" id="{FE085D60-6CD3-6995-2DEE-66C65BF58791}"/>
              </a:ext>
            </a:extLst>
          </p:cNvPr>
          <p:cNvSpPr/>
          <p:nvPr/>
        </p:nvSpPr>
        <p:spPr>
          <a:xfrm>
            <a:off x="1511150" y="8381727"/>
            <a:ext cx="4045305" cy="1088317"/>
          </a:xfrm>
          <a:prstGeom prst="rect">
            <a:avLst/>
          </a:prstGeom>
          <a:solidFill>
            <a:srgbClr val="1B74AA"/>
          </a:solidFill>
          <a:ln w="16510">
            <a:solidFill>
              <a:srgbClr val="1B7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10">
            <a:extLst>
              <a:ext uri="{FF2B5EF4-FFF2-40B4-BE49-F238E27FC236}">
                <a16:creationId xmlns:a16="http://schemas.microsoft.com/office/drawing/2014/main" id="{BDC1D837-DBF7-0045-EC3F-3D3F53555A62}"/>
              </a:ext>
            </a:extLst>
          </p:cNvPr>
          <p:cNvSpPr txBox="1"/>
          <p:nvPr/>
        </p:nvSpPr>
        <p:spPr>
          <a:xfrm>
            <a:off x="1581912" y="8522208"/>
            <a:ext cx="3895344" cy="822960"/>
          </a:xfrm>
          <a:prstGeom prst="rect">
            <a:avLst/>
          </a:prstGeom>
          <a:noFill/>
        </p:spPr>
        <p:txBody>
          <a:bodyPr wrap="square" lIns="36576" tIns="27432" rIns="36576" bIns="27432" anchor="ctr">
            <a:spAutoFit/>
          </a:bodyPr>
          <a:lstStyle/>
          <a:p>
            <a:pPr algn="ctr">
              <a:spcAft>
                <a:spcPts val="0"/>
              </a:spcAft>
            </a:pPr>
            <a:r>
              <a:rPr sz="2100" b="1">
                <a:solidFill>
                  <a:srgbClr val="FFFFFF"/>
                </a:solidFill>
                <a:latin typeface="Yu Gothic"/>
                <a:ea typeface="Yu Gothic"/>
              </a:rPr>
              <a:t>非熱誤差</a:t>
            </a:r>
          </a:p>
          <a:p>
            <a:pPr algn="ctr">
              <a:spcAft>
                <a:spcPts val="0"/>
              </a:spcAft>
            </a:pPr>
            <a:r>
              <a:rPr sz="2100" b="1">
                <a:solidFill>
                  <a:srgbClr val="FFFFFF"/>
                </a:solidFill>
                <a:latin typeface="Yu Gothic"/>
                <a:ea typeface="Yu Gothic"/>
              </a:rPr>
              <a:t>（軌道・姿勢など）</a:t>
            </a:r>
          </a:p>
        </p:txBody>
      </p:sp>
      <p:cxnSp>
        <p:nvCxnSpPr>
          <p:cNvPr id="59" name="Connector 11">
            <a:extLst>
              <a:ext uri="{FF2B5EF4-FFF2-40B4-BE49-F238E27FC236}">
                <a16:creationId xmlns:a16="http://schemas.microsoft.com/office/drawing/2014/main" id="{151DBB24-D977-3F94-369A-48716ED89439}"/>
              </a:ext>
            </a:extLst>
          </p:cNvPr>
          <p:cNvCxnSpPr>
            <a:cxnSpLocks/>
          </p:cNvCxnSpPr>
          <p:nvPr/>
        </p:nvCxnSpPr>
        <p:spPr>
          <a:xfrm>
            <a:off x="5550442" y="8987971"/>
            <a:ext cx="788315"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60" name="Rounded Rectangle 59"/>
          <p:cNvSpPr/>
          <p:nvPr/>
        </p:nvSpPr>
        <p:spPr>
          <a:xfrm>
            <a:off x="1234440" y="9555480"/>
            <a:ext cx="3977639" cy="1783080"/>
          </a:xfrm>
          <a:prstGeom prst="roundRect">
            <a:avLst/>
          </a:prstGeom>
          <a:solidFill>
            <a:srgbClr val="FFFFFF"/>
          </a:solidFill>
          <a:ln w="22860">
            <a:solidFill>
              <a:srgbClr val="1B74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TextBox 60"/>
          <p:cNvSpPr txBox="1"/>
          <p:nvPr/>
        </p:nvSpPr>
        <p:spPr>
          <a:xfrm>
            <a:off x="1344168" y="9720072"/>
            <a:ext cx="3758183" cy="891540"/>
          </a:xfrm>
          <a:prstGeom prst="rect">
            <a:avLst/>
          </a:prstGeom>
          <a:noFill/>
        </p:spPr>
        <p:txBody>
          <a:bodyPr wrap="square" lIns="45720" tIns="18288" rIns="45720" bIns="18288" anchor="t">
            <a:spAutoFit/>
          </a:bodyPr>
          <a:lstStyle/>
          <a:p>
            <a:pPr algn="ctr">
              <a:spcAft>
                <a:spcPts val="0"/>
              </a:spcAft>
            </a:pPr>
            <a:r>
              <a:rPr sz="2600" b="1">
                <a:solidFill>
                  <a:srgbClr val="1B74AA"/>
                </a:solidFill>
                <a:latin typeface="Yu Gothic"/>
                <a:ea typeface="Yu Gothic"/>
              </a:rPr>
              <a:t>±1600 µrad</a:t>
            </a:r>
          </a:p>
        </p:txBody>
      </p:sp>
      <p:sp>
        <p:nvSpPr>
          <p:cNvPr id="62" name="TextBox 61"/>
          <p:cNvSpPr txBox="1"/>
          <p:nvPr/>
        </p:nvSpPr>
        <p:spPr>
          <a:xfrm>
            <a:off x="1344168" y="10554004"/>
            <a:ext cx="3758183" cy="748893"/>
          </a:xfrm>
          <a:prstGeom prst="rect">
            <a:avLst/>
          </a:prstGeom>
          <a:noFill/>
        </p:spPr>
        <p:txBody>
          <a:bodyPr wrap="square" lIns="45720" tIns="18288" rIns="45720" bIns="18288" anchor="t">
            <a:spAutoFit/>
          </a:bodyPr>
          <a:lstStyle/>
          <a:p>
            <a:pPr algn="ctr">
              <a:lnSpc>
                <a:spcPct val="105000"/>
              </a:lnSpc>
              <a:spcAft>
                <a:spcPts val="0"/>
              </a:spcAft>
            </a:pPr>
            <a:r>
              <a:rPr sz="1800" b="0">
                <a:solidFill>
                  <a:srgbClr val="666F79"/>
                </a:solidFill>
                <a:latin typeface="Yu Gothic"/>
                <a:ea typeface="Yu Gothic"/>
              </a:rPr>
              <a:t>走査範囲</a:t>
            </a:r>
          </a:p>
        </p:txBody>
      </p:sp>
      <p:sp>
        <p:nvSpPr>
          <p:cNvPr id="63" name="Rounded Rectangle 62"/>
          <p:cNvSpPr/>
          <p:nvPr/>
        </p:nvSpPr>
        <p:spPr>
          <a:xfrm>
            <a:off x="5669279" y="9555480"/>
            <a:ext cx="3977639" cy="1783080"/>
          </a:xfrm>
          <a:prstGeom prst="roundRect">
            <a:avLst/>
          </a:prstGeom>
          <a:solidFill>
            <a:srgbClr val="FFFFFF"/>
          </a:solidFill>
          <a:ln w="22860">
            <a:solidFill>
              <a:srgbClr val="1B74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TextBox 63"/>
          <p:cNvSpPr txBox="1"/>
          <p:nvPr/>
        </p:nvSpPr>
        <p:spPr>
          <a:xfrm>
            <a:off x="5779007" y="9720072"/>
            <a:ext cx="3758183" cy="891540"/>
          </a:xfrm>
          <a:prstGeom prst="rect">
            <a:avLst/>
          </a:prstGeom>
          <a:noFill/>
        </p:spPr>
        <p:txBody>
          <a:bodyPr wrap="square" lIns="45720" tIns="18288" rIns="45720" bIns="18288" anchor="t">
            <a:spAutoFit/>
          </a:bodyPr>
          <a:lstStyle/>
          <a:p>
            <a:pPr algn="ctr">
              <a:spcAft>
                <a:spcPts val="0"/>
              </a:spcAft>
            </a:pPr>
            <a:r>
              <a:rPr sz="2600" b="1">
                <a:solidFill>
                  <a:srgbClr val="1B74AA"/>
                </a:solidFill>
                <a:latin typeface="Yu Gothic"/>
                <a:ea typeface="Yu Gothic"/>
              </a:rPr>
              <a:t>120 µrad</a:t>
            </a:r>
          </a:p>
        </p:txBody>
      </p:sp>
      <p:sp>
        <p:nvSpPr>
          <p:cNvPr id="65" name="TextBox 64"/>
          <p:cNvSpPr txBox="1"/>
          <p:nvPr/>
        </p:nvSpPr>
        <p:spPr>
          <a:xfrm>
            <a:off x="5779007" y="10554004"/>
            <a:ext cx="3758183" cy="748893"/>
          </a:xfrm>
          <a:prstGeom prst="rect">
            <a:avLst/>
          </a:prstGeom>
          <a:noFill/>
        </p:spPr>
        <p:txBody>
          <a:bodyPr wrap="square" lIns="45720" tIns="18288" rIns="45720" bIns="18288" anchor="t">
            <a:spAutoFit/>
          </a:bodyPr>
          <a:lstStyle/>
          <a:p>
            <a:pPr algn="ctr">
              <a:lnSpc>
                <a:spcPct val="105000"/>
              </a:lnSpc>
              <a:spcAft>
                <a:spcPts val="0"/>
              </a:spcAft>
            </a:pPr>
            <a:r>
              <a:rPr sz="1800" b="0">
                <a:solidFill>
                  <a:srgbClr val="666F79"/>
                </a:solidFill>
                <a:latin typeface="Yu Gothic"/>
                <a:ea typeface="Yu Gothic"/>
              </a:rPr>
              <a:t>走査ステップ</a:t>
            </a:r>
          </a:p>
        </p:txBody>
      </p:sp>
      <p:sp>
        <p:nvSpPr>
          <p:cNvPr id="66" name="Rounded Rectangle 65"/>
          <p:cNvSpPr/>
          <p:nvPr/>
        </p:nvSpPr>
        <p:spPr>
          <a:xfrm>
            <a:off x="10104119" y="9555480"/>
            <a:ext cx="3977639" cy="1783080"/>
          </a:xfrm>
          <a:prstGeom prst="roundRect">
            <a:avLst/>
          </a:prstGeom>
          <a:solidFill>
            <a:srgbClr val="FFFFFF"/>
          </a:solidFill>
          <a:ln w="22860">
            <a:solidFill>
              <a:srgbClr val="23957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7" name="TextBox 66"/>
          <p:cNvSpPr txBox="1"/>
          <p:nvPr/>
        </p:nvSpPr>
        <p:spPr>
          <a:xfrm>
            <a:off x="10213847" y="9720072"/>
            <a:ext cx="3758183" cy="891540"/>
          </a:xfrm>
          <a:prstGeom prst="rect">
            <a:avLst/>
          </a:prstGeom>
          <a:noFill/>
        </p:spPr>
        <p:txBody>
          <a:bodyPr wrap="square" lIns="45720" tIns="18288" rIns="45720" bIns="18288" anchor="t">
            <a:spAutoFit/>
          </a:bodyPr>
          <a:lstStyle/>
          <a:p>
            <a:pPr algn="ctr">
              <a:spcAft>
                <a:spcPts val="0"/>
              </a:spcAft>
            </a:pPr>
            <a:r>
              <a:rPr sz="2600" b="1">
                <a:solidFill>
                  <a:srgbClr val="239571"/>
                </a:solidFill>
                <a:latin typeface="Yu Gothic"/>
                <a:ea typeface="Yu Gothic"/>
              </a:rPr>
              <a:t>150 µrad</a:t>
            </a:r>
          </a:p>
        </p:txBody>
      </p:sp>
      <p:sp>
        <p:nvSpPr>
          <p:cNvPr id="68" name="TextBox 67"/>
          <p:cNvSpPr txBox="1"/>
          <p:nvPr/>
        </p:nvSpPr>
        <p:spPr>
          <a:xfrm>
            <a:off x="10213847" y="10554004"/>
            <a:ext cx="3758183" cy="748893"/>
          </a:xfrm>
          <a:prstGeom prst="rect">
            <a:avLst/>
          </a:prstGeom>
          <a:noFill/>
        </p:spPr>
        <p:txBody>
          <a:bodyPr wrap="square" lIns="45720" tIns="18288" rIns="45720" bIns="18288" anchor="t">
            <a:spAutoFit/>
          </a:bodyPr>
          <a:lstStyle/>
          <a:p>
            <a:pPr algn="ctr">
              <a:lnSpc>
                <a:spcPct val="105000"/>
              </a:lnSpc>
              <a:spcAft>
                <a:spcPts val="0"/>
              </a:spcAft>
            </a:pPr>
            <a:r>
              <a:rPr sz="1800" b="0">
                <a:solidFill>
                  <a:srgbClr val="666F79"/>
                </a:solidFill>
                <a:latin typeface="Yu Gothic"/>
                <a:ea typeface="Yu Gothic"/>
              </a:rPr>
              <a:t>検出半径（ビーコン級）</a:t>
            </a:r>
          </a:p>
        </p:txBody>
      </p:sp>
      <p:sp>
        <p:nvSpPr>
          <p:cNvPr id="69" name="Rounded Rectangle 68"/>
          <p:cNvSpPr/>
          <p:nvPr/>
        </p:nvSpPr>
        <p:spPr>
          <a:xfrm>
            <a:off x="14538959" y="9555480"/>
            <a:ext cx="3977639" cy="1783080"/>
          </a:xfrm>
          <a:prstGeom prst="roundRect">
            <a:avLst/>
          </a:prstGeom>
          <a:solidFill>
            <a:srgbClr val="FFFFFF"/>
          </a:solidFill>
          <a:ln w="22860">
            <a:solidFill>
              <a:srgbClr val="23957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TextBox 69"/>
          <p:cNvSpPr txBox="1"/>
          <p:nvPr/>
        </p:nvSpPr>
        <p:spPr>
          <a:xfrm>
            <a:off x="14648688" y="9720072"/>
            <a:ext cx="3758183" cy="891540"/>
          </a:xfrm>
          <a:prstGeom prst="rect">
            <a:avLst/>
          </a:prstGeom>
          <a:noFill/>
        </p:spPr>
        <p:txBody>
          <a:bodyPr wrap="square" lIns="45720" tIns="18288" rIns="45720" bIns="18288" anchor="t">
            <a:spAutoFit/>
          </a:bodyPr>
          <a:lstStyle/>
          <a:p>
            <a:pPr algn="ctr">
              <a:spcAft>
                <a:spcPts val="0"/>
              </a:spcAft>
            </a:pPr>
            <a:r>
              <a:rPr sz="2600" b="1">
                <a:solidFill>
                  <a:srgbClr val="239571"/>
                </a:solidFill>
                <a:latin typeface="Yu Gothic"/>
                <a:ea typeface="Yu Gothic"/>
              </a:rPr>
              <a:t>0.1 s / 点</a:t>
            </a:r>
          </a:p>
        </p:txBody>
      </p:sp>
      <p:sp>
        <p:nvSpPr>
          <p:cNvPr id="71" name="TextBox 70"/>
          <p:cNvSpPr txBox="1"/>
          <p:nvPr/>
        </p:nvSpPr>
        <p:spPr>
          <a:xfrm>
            <a:off x="14648688" y="10554004"/>
            <a:ext cx="3758183" cy="748893"/>
          </a:xfrm>
          <a:prstGeom prst="rect">
            <a:avLst/>
          </a:prstGeom>
          <a:noFill/>
        </p:spPr>
        <p:txBody>
          <a:bodyPr wrap="square" lIns="45720" tIns="18288" rIns="45720" bIns="18288" anchor="t">
            <a:spAutoFit/>
          </a:bodyPr>
          <a:lstStyle/>
          <a:p>
            <a:pPr algn="ctr">
              <a:lnSpc>
                <a:spcPct val="105000"/>
              </a:lnSpc>
              <a:spcAft>
                <a:spcPts val="0"/>
              </a:spcAft>
            </a:pPr>
            <a:r>
              <a:rPr sz="1800" b="0">
                <a:solidFill>
                  <a:srgbClr val="666F79"/>
                </a:solidFill>
                <a:latin typeface="Yu Gothic"/>
                <a:ea typeface="Yu Gothic"/>
              </a:rPr>
              <a:t>滞在時間</a:t>
            </a:r>
          </a:p>
        </p:txBody>
      </p:sp>
      <p:sp>
        <p:nvSpPr>
          <p:cNvPr id="72" name="Rounded Rectangle 71"/>
          <p:cNvSpPr/>
          <p:nvPr/>
        </p:nvSpPr>
        <p:spPr>
          <a:xfrm>
            <a:off x="18973800" y="9555480"/>
            <a:ext cx="3977639" cy="1783080"/>
          </a:xfrm>
          <a:prstGeom prst="roundRect">
            <a:avLst/>
          </a:prstGeom>
          <a:solidFill>
            <a:srgbClr val="FFFFFF"/>
          </a:solidFill>
          <a:ln w="22860">
            <a:solidFill>
              <a:srgbClr val="23957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3" name="TextBox 72"/>
          <p:cNvSpPr txBox="1"/>
          <p:nvPr/>
        </p:nvSpPr>
        <p:spPr>
          <a:xfrm>
            <a:off x="19083528" y="9720072"/>
            <a:ext cx="3758183" cy="891540"/>
          </a:xfrm>
          <a:prstGeom prst="rect">
            <a:avLst/>
          </a:prstGeom>
          <a:noFill/>
        </p:spPr>
        <p:txBody>
          <a:bodyPr wrap="square" lIns="45720" tIns="18288" rIns="45720" bIns="18288" anchor="t">
            <a:spAutoFit/>
          </a:bodyPr>
          <a:lstStyle/>
          <a:p>
            <a:pPr algn="ctr">
              <a:spcAft>
                <a:spcPts val="0"/>
              </a:spcAft>
            </a:pPr>
            <a:r>
              <a:rPr sz="2600" b="1">
                <a:solidFill>
                  <a:srgbClr val="239571"/>
                </a:solidFill>
                <a:latin typeface="Yu Gothic"/>
                <a:ea typeface="Yu Gothic"/>
              </a:rPr>
              <a:t>27 × 27 = 729点</a:t>
            </a:r>
          </a:p>
        </p:txBody>
      </p:sp>
      <p:sp>
        <p:nvSpPr>
          <p:cNvPr id="74" name="TextBox 73"/>
          <p:cNvSpPr txBox="1"/>
          <p:nvPr/>
        </p:nvSpPr>
        <p:spPr>
          <a:xfrm>
            <a:off x="19083528" y="10554004"/>
            <a:ext cx="3758183" cy="748893"/>
          </a:xfrm>
          <a:prstGeom prst="rect">
            <a:avLst/>
          </a:prstGeom>
          <a:noFill/>
        </p:spPr>
        <p:txBody>
          <a:bodyPr wrap="square" lIns="45720" tIns="18288" rIns="45720" bIns="18288" anchor="t">
            <a:spAutoFit/>
          </a:bodyPr>
          <a:lstStyle/>
          <a:p>
            <a:pPr algn="ctr">
              <a:lnSpc>
                <a:spcPct val="105000"/>
              </a:lnSpc>
              <a:spcAft>
                <a:spcPts val="0"/>
              </a:spcAft>
            </a:pPr>
            <a:r>
              <a:rPr sz="1800" b="0">
                <a:solidFill>
                  <a:srgbClr val="666F79"/>
                </a:solidFill>
                <a:latin typeface="Yu Gothic"/>
                <a:ea typeface="Yu Gothic"/>
              </a:rPr>
              <a:t>最大走査点数</a:t>
            </a:r>
          </a:p>
        </p:txBody>
      </p:sp>
      <p:sp>
        <p:nvSpPr>
          <p:cNvPr id="75" name="TextBox 74"/>
          <p:cNvSpPr txBox="1"/>
          <p:nvPr/>
        </p:nvSpPr>
        <p:spPr>
          <a:xfrm>
            <a:off x="1234440" y="11539728"/>
            <a:ext cx="21488400" cy="421654"/>
          </a:xfrm>
          <a:prstGeom prst="rect">
            <a:avLst/>
          </a:prstGeom>
          <a:noFill/>
        </p:spPr>
        <p:txBody>
          <a:bodyPr wrap="square" lIns="45720" tIns="18288" rIns="45720" bIns="18288" anchor="t">
            <a:spAutoFit/>
          </a:bodyPr>
          <a:lstStyle/>
          <a:p>
            <a:pPr algn="ctr">
              <a:spcAft>
                <a:spcPts val="0"/>
              </a:spcAft>
            </a:pPr>
            <a:r>
              <a:rPr sz="2500" b="1" dirty="0" err="1">
                <a:solidFill>
                  <a:srgbClr val="082B52"/>
                </a:solidFill>
                <a:latin typeface="Yu Gothic"/>
                <a:ea typeface="Yu Gothic"/>
              </a:rPr>
              <a:t>格子対角の半分</a:t>
            </a:r>
            <a:r>
              <a:rPr sz="2500" b="1" dirty="0">
                <a:solidFill>
                  <a:srgbClr val="082B52"/>
                </a:solidFill>
                <a:latin typeface="Yu Gothic"/>
                <a:ea typeface="Yu Gothic"/>
              </a:rPr>
              <a:t> ≈ 85 µrad &lt; </a:t>
            </a:r>
            <a:r>
              <a:rPr sz="2500" b="1" dirty="0" err="1">
                <a:solidFill>
                  <a:srgbClr val="082B52"/>
                </a:solidFill>
                <a:latin typeface="Yu Gothic"/>
                <a:ea typeface="Yu Gothic"/>
              </a:rPr>
              <a:t>検出半径</a:t>
            </a:r>
            <a:r>
              <a:rPr sz="2500" b="1" dirty="0">
                <a:solidFill>
                  <a:srgbClr val="082B52"/>
                </a:solidFill>
                <a:latin typeface="Yu Gothic"/>
                <a:ea typeface="Yu Gothic"/>
              </a:rPr>
              <a:t> 150 µrad </a:t>
            </a:r>
            <a:r>
              <a:rPr sz="2500" b="1" dirty="0" err="1">
                <a:solidFill>
                  <a:srgbClr val="082B52"/>
                </a:solidFill>
                <a:latin typeface="Yu Gothic"/>
                <a:ea typeface="Yu Gothic"/>
              </a:rPr>
              <a:t>なので</a:t>
            </a:r>
            <a:r>
              <a:rPr sz="2500" b="1" dirty="0">
                <a:solidFill>
                  <a:srgbClr val="082B52"/>
                </a:solidFill>
                <a:latin typeface="Yu Gothic"/>
                <a:ea typeface="Yu Gothic"/>
              </a:rPr>
              <a:t>、</a:t>
            </a:r>
            <a:r>
              <a:rPr lang="ja-JP" altLang="en-US" sz="2500" b="1" dirty="0">
                <a:solidFill>
                  <a:srgbClr val="082B52"/>
                </a:solidFill>
                <a:latin typeface="Yu Gothic"/>
                <a:ea typeface="Yu Gothic"/>
              </a:rPr>
              <a:t>探索</a:t>
            </a:r>
            <a:r>
              <a:rPr sz="2500" b="1" dirty="0" err="1">
                <a:solidFill>
                  <a:srgbClr val="082B52"/>
                </a:solidFill>
                <a:latin typeface="Yu Gothic"/>
                <a:ea typeface="Yu Gothic"/>
              </a:rPr>
              <a:t>の穴はない</a:t>
            </a:r>
            <a:endParaRPr sz="2500" b="1" dirty="0">
              <a:solidFill>
                <a:srgbClr val="082B52"/>
              </a:solidFill>
              <a:latin typeface="Yu Gothic"/>
              <a:ea typeface="Yu Gothic"/>
            </a:endParaRPr>
          </a:p>
        </p:txBody>
      </p:sp>
      <p:sp>
        <p:nvSpPr>
          <p:cNvPr id="76" name="TextBox 75"/>
          <p:cNvSpPr txBox="1"/>
          <p:nvPr/>
        </p:nvSpPr>
        <p:spPr>
          <a:xfrm>
            <a:off x="1234440" y="12088368"/>
            <a:ext cx="21488400" cy="502920"/>
          </a:xfrm>
          <a:prstGeom prst="rect">
            <a:avLst/>
          </a:prstGeom>
          <a:noFill/>
        </p:spPr>
        <p:txBody>
          <a:bodyPr wrap="square" lIns="45720" tIns="18288" rIns="45720" bIns="18288" anchor="t">
            <a:spAutoFit/>
          </a:bodyPr>
          <a:lstStyle/>
          <a:p>
            <a:pPr algn="ctr">
              <a:spcAft>
                <a:spcPts val="0"/>
              </a:spcAft>
            </a:pPr>
            <a:r>
              <a:rPr sz="2200" b="0">
                <a:solidFill>
                  <a:srgbClr val="D03B46"/>
                </a:solidFill>
                <a:latin typeface="Yu Gothic"/>
                <a:ea typeface="Yu Gothic"/>
              </a:rPr>
              <a:t>点間移動・整定時間・確率的な検出は無視。秒はこの走査条件での比較用</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Yu Gothic"/>
                <a:ea typeface="Yu Gothic"/>
              </a:rPr>
              <a:t>捕捉評価の条件</a:t>
            </a:r>
          </a:p>
        </p:txBody>
      </p:sp>
      <p:sp>
        <p:nvSpPr>
          <p:cNvPr id="3" name="TextBox 2"/>
          <p:cNvSpPr txBox="1"/>
          <p:nvPr/>
        </p:nvSpPr>
        <p:spPr>
          <a:xfrm>
            <a:off x="1536192" y="1298448"/>
            <a:ext cx="22037040" cy="1040285"/>
          </a:xfrm>
          <a:prstGeom prst="rect">
            <a:avLst/>
          </a:prstGeom>
          <a:noFill/>
        </p:spPr>
        <p:txBody>
          <a:bodyPr wrap="square" lIns="36576" tIns="27432" rIns="36576" bIns="27432" anchor="t">
            <a:spAutoFit/>
          </a:bodyPr>
          <a:lstStyle/>
          <a:p>
            <a:pPr algn="l">
              <a:spcAft>
                <a:spcPts val="0"/>
              </a:spcAft>
            </a:pPr>
            <a:endParaRPr lang="en-US" sz="3200" b="1" dirty="0">
              <a:solidFill>
                <a:srgbClr val="082B52"/>
              </a:solidFill>
              <a:latin typeface="Yu Gothic"/>
              <a:ea typeface="Yu Gothic"/>
            </a:endParaRPr>
          </a:p>
          <a:p>
            <a:pPr algn="l">
              <a:spcAft>
                <a:spcPts val="0"/>
              </a:spcAft>
            </a:pPr>
            <a:r>
              <a:rPr sz="3200" b="1" dirty="0" err="1">
                <a:solidFill>
                  <a:srgbClr val="082B52"/>
                </a:solidFill>
                <a:latin typeface="Yu Gothic"/>
                <a:ea typeface="Yu Gothic"/>
              </a:rPr>
              <a:t>熱のほかに、軌道予測・アライメント・姿勢・ドリフトを足す</a:t>
            </a:r>
            <a:endParaRPr lang="en-US" sz="3200" b="1" dirty="0">
              <a:solidFill>
                <a:srgbClr val="082B52"/>
              </a:solidFill>
              <a:latin typeface="Yu Gothic"/>
            </a:endParaRPr>
          </a:p>
        </p:txBody>
      </p:sp>
      <p:sp>
        <p:nvSpPr>
          <p:cNvPr id="4" name="TextBox 3"/>
          <p:cNvSpPr txBox="1"/>
          <p:nvPr/>
        </p:nvSpPr>
        <p:spPr>
          <a:xfrm>
            <a:off x="21762720" y="12819888"/>
            <a:ext cx="2011680" cy="332399"/>
          </a:xfrm>
          <a:prstGeom prst="rect">
            <a:avLst/>
          </a:prstGeom>
          <a:noFill/>
        </p:spPr>
        <p:txBody>
          <a:bodyPr wrap="square" lIns="36576" tIns="27432" rIns="36576" bIns="27432" anchor="t">
            <a:spAutoFit/>
          </a:bodyPr>
          <a:lstStyle/>
          <a:p>
            <a:pPr algn="r">
              <a:spcAft>
                <a:spcPts val="0"/>
              </a:spcAft>
            </a:pPr>
            <a:r>
              <a:rPr sz="1800" b="0" dirty="0">
                <a:solidFill>
                  <a:srgbClr val="666F79"/>
                </a:solidFill>
                <a:latin typeface="Yu Gothic"/>
                <a:ea typeface="Yu Gothic"/>
              </a:rPr>
              <a:t>1</a:t>
            </a:r>
            <a:r>
              <a:rPr lang="en-US" sz="1800" b="0" dirty="0">
                <a:solidFill>
                  <a:srgbClr val="666F79"/>
                </a:solidFill>
                <a:latin typeface="Yu Gothic"/>
                <a:ea typeface="Yu Gothic"/>
              </a:rPr>
              <a:t>9</a:t>
            </a:r>
            <a:endParaRPr sz="1800" b="0" dirty="0">
              <a:solidFill>
                <a:srgbClr val="666F79"/>
              </a:solidFill>
              <a:latin typeface="Yu Gothic"/>
              <a:ea typeface="Yu Gothic"/>
            </a:endParaRPr>
          </a:p>
        </p:txBody>
      </p:sp>
      <p:sp>
        <p:nvSpPr>
          <p:cNvPr id="5" name="Rounded Rectangle 4"/>
          <p:cNvSpPr/>
          <p:nvPr/>
        </p:nvSpPr>
        <p:spPr>
          <a:xfrm>
            <a:off x="1280160" y="2834640"/>
            <a:ext cx="21762720" cy="1920240"/>
          </a:xfrm>
          <a:prstGeom prst="roundRect">
            <a:avLst/>
          </a:prstGeom>
          <a:solidFill>
            <a:srgbClr val="EBF6FB"/>
          </a:solidFill>
          <a:ln w="16510">
            <a:solidFill>
              <a:srgbClr val="5BB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6" name="TextBox 5"/>
              <p:cNvSpPr txBox="1"/>
              <p:nvPr/>
            </p:nvSpPr>
            <p:spPr>
              <a:xfrm>
                <a:off x="6792071" y="3383280"/>
                <a:ext cx="10738901" cy="645048"/>
              </a:xfrm>
              <a:prstGeom prst="rect">
                <a:avLst/>
              </a:prstGeom>
              <a:noFill/>
            </p:spPr>
            <p:txBody>
              <a:bodyPr wrap="none" lIns="36576" tIns="27432" rIns="36576" bIns="27432" anchor="t">
                <a:spAutoFit/>
              </a:bodyPr>
              <a:lstStyle/>
              <a:p>
                <a:pPr algn="ctr"/>
                <a14:m>
                  <m:oMathPara xmlns:m="http://schemas.openxmlformats.org/officeDocument/2006/math">
                    <m:oMath>
                      <m:sSub>
                        <m:sSubPr>
                          <m:ctrlPr>
                            <a:rPr lang="en-US" sz="3500" b="1" i="1" dirty="0" smtClean="0">
                              <a:solidFill>
                                <a:srgbClr val="082B52"/>
                              </a:solidFill>
                              <a:latin typeface="Cambria Math" panose="02040503050406030204" pitchFamily="18" charset="0"/>
                            </a:rPr>
                          </m:ctrlPr>
                        </m:sSubPr>
                        <m:e>
                          <m:r>
                            <a:rPr lang="en-US" sz="3500" b="1" i="1" dirty="0" smtClean="0">
                              <a:solidFill>
                                <a:srgbClr val="082B52"/>
                              </a:solidFill>
                              <a:latin typeface="Cambria Math" panose="02040503050406030204" pitchFamily="18" charset="0"/>
                            </a:rPr>
                            <m:t>𝒆</m:t>
                          </m:r>
                        </m:e>
                        <m:sub>
                          <m:r>
                            <a:rPr lang="en-US" sz="3500" b="1" i="1" dirty="0" err="1" smtClean="0">
                              <a:solidFill>
                                <a:srgbClr val="082B52"/>
                              </a:solidFill>
                              <a:latin typeface="Cambria Math" panose="02040503050406030204" pitchFamily="18" charset="0"/>
                            </a:rPr>
                            <m:t>𝒏𝒐𝒏𝒕𝒉𝒆𝒓𝒎𝒂𝒍</m:t>
                          </m:r>
                        </m:sub>
                      </m:sSub>
                      <m:r>
                        <a:rPr lang="en-US" sz="3500" b="1" i="1" dirty="0">
                          <a:solidFill>
                            <a:srgbClr val="082B52"/>
                          </a:solidFill>
                          <a:latin typeface="Cambria Math" panose="02040503050406030204" pitchFamily="18" charset="0"/>
                        </a:rPr>
                        <m:t>= </m:t>
                      </m:r>
                      <m:sSub>
                        <m:sSubPr>
                          <m:ctrlPr>
                            <a:rPr lang="en-US" sz="3500" b="1" i="1" dirty="0" err="1" smtClean="0">
                              <a:solidFill>
                                <a:srgbClr val="082B52"/>
                              </a:solidFill>
                              <a:latin typeface="Cambria Math" panose="02040503050406030204" pitchFamily="18" charset="0"/>
                            </a:rPr>
                          </m:ctrlPr>
                        </m:sSubPr>
                        <m:e>
                          <m:r>
                            <a:rPr lang="en-US" sz="3500" b="1" i="1" dirty="0" err="1" smtClean="0">
                              <a:solidFill>
                                <a:srgbClr val="082B52"/>
                              </a:solidFill>
                              <a:latin typeface="Cambria Math" panose="02040503050406030204" pitchFamily="18" charset="0"/>
                            </a:rPr>
                            <m:t>𝒆</m:t>
                          </m:r>
                        </m:e>
                        <m:sub>
                          <m:r>
                            <a:rPr lang="en-US" sz="3500" b="1" i="1" dirty="0" err="1" smtClean="0">
                              <a:solidFill>
                                <a:srgbClr val="082B52"/>
                              </a:solidFill>
                              <a:latin typeface="Cambria Math" panose="02040503050406030204" pitchFamily="18" charset="0"/>
                            </a:rPr>
                            <m:t>𝒐𝒓𝒃𝒊𝒕</m:t>
                          </m:r>
                        </m:sub>
                      </m:sSub>
                      <m:r>
                        <a:rPr lang="en-US" sz="3500" b="1" i="1" dirty="0">
                          <a:solidFill>
                            <a:srgbClr val="082B52"/>
                          </a:solidFill>
                          <a:latin typeface="Cambria Math" panose="02040503050406030204" pitchFamily="18" charset="0"/>
                        </a:rPr>
                        <m:t>+ </m:t>
                      </m:r>
                      <m:sSub>
                        <m:sSubPr>
                          <m:ctrlPr>
                            <a:rPr lang="en-US" sz="3500" b="1" i="1" dirty="0" err="1" smtClean="0">
                              <a:solidFill>
                                <a:srgbClr val="082B52"/>
                              </a:solidFill>
                              <a:latin typeface="Cambria Math" panose="02040503050406030204" pitchFamily="18" charset="0"/>
                            </a:rPr>
                          </m:ctrlPr>
                        </m:sSubPr>
                        <m:e>
                          <m:r>
                            <a:rPr lang="en-US" sz="3500" b="1" i="1" dirty="0" err="1" smtClean="0">
                              <a:solidFill>
                                <a:srgbClr val="082B52"/>
                              </a:solidFill>
                              <a:latin typeface="Cambria Math" panose="02040503050406030204" pitchFamily="18" charset="0"/>
                            </a:rPr>
                            <m:t>𝒆</m:t>
                          </m:r>
                        </m:e>
                        <m:sub>
                          <m:r>
                            <a:rPr lang="en-US" sz="3500" b="1" i="1" dirty="0" err="1" smtClean="0">
                              <a:solidFill>
                                <a:srgbClr val="082B52"/>
                              </a:solidFill>
                              <a:latin typeface="Cambria Math" panose="02040503050406030204" pitchFamily="18" charset="0"/>
                            </a:rPr>
                            <m:t>𝒂𝒍𝒊𝒈𝒏𝒎𝒆𝒏𝒕</m:t>
                          </m:r>
                        </m:sub>
                      </m:sSub>
                      <m:r>
                        <a:rPr lang="en-US" sz="3500" b="1" i="1" dirty="0">
                          <a:solidFill>
                            <a:srgbClr val="082B52"/>
                          </a:solidFill>
                          <a:latin typeface="Cambria Math" panose="02040503050406030204" pitchFamily="18" charset="0"/>
                        </a:rPr>
                        <m:t>+ </m:t>
                      </m:r>
                      <m:sSub>
                        <m:sSubPr>
                          <m:ctrlPr>
                            <a:rPr lang="en-US" sz="3500" b="1" i="1" dirty="0" err="1" smtClean="0">
                              <a:solidFill>
                                <a:srgbClr val="082B52"/>
                              </a:solidFill>
                              <a:latin typeface="Cambria Math" panose="02040503050406030204" pitchFamily="18" charset="0"/>
                            </a:rPr>
                          </m:ctrlPr>
                        </m:sSubPr>
                        <m:e>
                          <m:r>
                            <a:rPr lang="en-US" sz="3500" b="1" i="1" dirty="0" err="1" smtClean="0">
                              <a:solidFill>
                                <a:srgbClr val="082B52"/>
                              </a:solidFill>
                              <a:latin typeface="Cambria Math" panose="02040503050406030204" pitchFamily="18" charset="0"/>
                            </a:rPr>
                            <m:t>𝒆</m:t>
                          </m:r>
                        </m:e>
                        <m:sub>
                          <m:r>
                            <a:rPr lang="en-US" sz="3500" b="1" i="1" dirty="0" err="1" smtClean="0">
                              <a:solidFill>
                                <a:srgbClr val="082B52"/>
                              </a:solidFill>
                              <a:latin typeface="Cambria Math" panose="02040503050406030204" pitchFamily="18" charset="0"/>
                            </a:rPr>
                            <m:t>𝒂𝒕𝒕𝒊𝒕𝒖𝒅𝒆</m:t>
                          </m:r>
                        </m:sub>
                      </m:sSub>
                      <m:r>
                        <a:rPr lang="en-US" sz="3500" b="1" i="1" dirty="0">
                          <a:solidFill>
                            <a:srgbClr val="082B52"/>
                          </a:solidFill>
                          <a:latin typeface="Cambria Math" panose="02040503050406030204" pitchFamily="18" charset="0"/>
                        </a:rPr>
                        <m:t>+ </m:t>
                      </m:r>
                      <m:sSub>
                        <m:sSubPr>
                          <m:ctrlPr>
                            <a:rPr lang="en-US" sz="3500" b="1" i="1" dirty="0" err="1" smtClean="0">
                              <a:solidFill>
                                <a:srgbClr val="082B52"/>
                              </a:solidFill>
                              <a:latin typeface="Cambria Math" panose="02040503050406030204" pitchFamily="18" charset="0"/>
                            </a:rPr>
                          </m:ctrlPr>
                        </m:sSubPr>
                        <m:e>
                          <m:r>
                            <a:rPr lang="en-US" sz="3500" b="1" i="1" dirty="0" err="1" smtClean="0">
                              <a:solidFill>
                                <a:srgbClr val="082B52"/>
                              </a:solidFill>
                              <a:latin typeface="Cambria Math" panose="02040503050406030204" pitchFamily="18" charset="0"/>
                            </a:rPr>
                            <m:t>𝒆</m:t>
                          </m:r>
                        </m:e>
                        <m:sub>
                          <m:r>
                            <a:rPr lang="en-US" sz="3500" b="1" i="1" dirty="0" err="1" smtClean="0">
                              <a:solidFill>
                                <a:srgbClr val="082B52"/>
                              </a:solidFill>
                              <a:latin typeface="Cambria Math" panose="02040503050406030204" pitchFamily="18" charset="0"/>
                            </a:rPr>
                            <m:t>𝒅𝒓𝒊𝒇𝒕</m:t>
                          </m:r>
                        </m:sub>
                      </m:sSub>
                    </m:oMath>
                  </m:oMathPara>
                </a14:m>
                <a:endParaRPr lang="en-US" sz="3500" b="1" i="1" dirty="0" err="1">
                  <a:solidFill>
                    <a:srgbClr val="082B52"/>
                  </a:solidFill>
                  <a:latin typeface="Cambria Math" panose="02040503050406030204" pitchFamily="18" charset="0"/>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6792071" y="3383280"/>
                <a:ext cx="10738901" cy="645048"/>
              </a:xfrm>
              <a:prstGeom prst="rect">
                <a:avLst/>
              </a:prstGeom>
              <a:blipFill>
                <a:blip r:embed="rId3"/>
                <a:stretch>
                  <a:fillRect/>
                </a:stretch>
              </a:blipFill>
            </p:spPr>
            <p:txBody>
              <a:bodyPr/>
              <a:lstStyle/>
              <a:p>
                <a:r>
                  <a:rPr lang="ja-JP" altLang="en-US">
                    <a:noFill/>
                  </a:rPr>
                  <a:t> </a:t>
                </a:r>
              </a:p>
            </p:txBody>
          </p:sp>
        </mc:Fallback>
      </mc:AlternateContent>
      <p:graphicFrame>
        <p:nvGraphicFramePr>
          <p:cNvPr id="7" name="Table 6"/>
          <p:cNvGraphicFramePr>
            <a:graphicFrameLocks noGrp="1"/>
          </p:cNvGraphicFramePr>
          <p:nvPr>
            <p:extLst>
              <p:ext uri="{D42A27DB-BD31-4B8C-83A1-F6EECF244321}">
                <p14:modId xmlns:p14="http://schemas.microsoft.com/office/powerpoint/2010/main" val="2534477905"/>
              </p:ext>
            </p:extLst>
          </p:nvPr>
        </p:nvGraphicFramePr>
        <p:xfrm>
          <a:off x="1097280" y="5486400"/>
          <a:ext cx="22128480" cy="4572000"/>
        </p:xfrm>
        <a:graphic>
          <a:graphicData uri="http://schemas.openxmlformats.org/drawingml/2006/table">
            <a:tbl>
              <a:tblPr firstRow="1" bandRow="1">
                <a:tableStyleId>{5C22544A-7EE6-4342-B048-85BDC9FD1C3A}</a:tableStyleId>
              </a:tblPr>
              <a:tblGrid>
                <a:gridCol w="4389120">
                  <a:extLst>
                    <a:ext uri="{9D8B030D-6E8A-4147-A177-3AD203B41FA5}">
                      <a16:colId xmlns:a16="http://schemas.microsoft.com/office/drawing/2014/main" val="20000"/>
                    </a:ext>
                  </a:extLst>
                </a:gridCol>
                <a:gridCol w="6858000">
                  <a:extLst>
                    <a:ext uri="{9D8B030D-6E8A-4147-A177-3AD203B41FA5}">
                      <a16:colId xmlns:a16="http://schemas.microsoft.com/office/drawing/2014/main" val="20001"/>
                    </a:ext>
                  </a:extLst>
                </a:gridCol>
                <a:gridCol w="4937760">
                  <a:extLst>
                    <a:ext uri="{9D8B030D-6E8A-4147-A177-3AD203B41FA5}">
                      <a16:colId xmlns:a16="http://schemas.microsoft.com/office/drawing/2014/main" val="20002"/>
                    </a:ext>
                  </a:extLst>
                </a:gridCol>
                <a:gridCol w="5943600">
                  <a:extLst>
                    <a:ext uri="{9D8B030D-6E8A-4147-A177-3AD203B41FA5}">
                      <a16:colId xmlns:a16="http://schemas.microsoft.com/office/drawing/2014/main" val="20003"/>
                    </a:ext>
                  </a:extLst>
                </a:gridCol>
              </a:tblGrid>
              <a:tr h="914400">
                <a:tc>
                  <a:txBody>
                    <a:bodyPr/>
                    <a:lstStyle/>
                    <a:p>
                      <a:pPr algn="l">
                        <a:spcAft>
                          <a:spcPts val="0"/>
                        </a:spcAft>
                      </a:pPr>
                      <a:r>
                        <a:rPr sz="2100" b="1">
                          <a:solidFill>
                            <a:srgbClr val="FFFFFF"/>
                          </a:solidFill>
                          <a:latin typeface="Yu Gothic"/>
                          <a:ea typeface="Yu Gothic"/>
                        </a:rPr>
                        <a:t>成分</a:t>
                      </a:r>
                      <a:endParaRPr sz="2100" b="1" dirty="0">
                        <a:solidFill>
                          <a:srgbClr val="FFFFFF"/>
                        </a:solidFill>
                        <a:latin typeface="Yu Gothic"/>
                      </a:endParaRPr>
                    </a:p>
                  </a:txBody>
                  <a:tcPr marL="64008" marR="64008" marT="27432" marB="27432" anchor="ctr">
                    <a:solidFill>
                      <a:srgbClr val="082B52"/>
                    </a:solidFill>
                  </a:tcPr>
                </a:tc>
                <a:tc>
                  <a:txBody>
                    <a:bodyPr/>
                    <a:lstStyle/>
                    <a:p>
                      <a:pPr algn="ctr">
                        <a:spcAft>
                          <a:spcPts val="0"/>
                        </a:spcAft>
                      </a:pPr>
                      <a:r>
                        <a:rPr sz="2100" b="1">
                          <a:solidFill>
                            <a:srgbClr val="FFFFFF"/>
                          </a:solidFill>
                          <a:latin typeface="Yu Gothic"/>
                          <a:ea typeface="Yu Gothic"/>
                        </a:rPr>
                        <a:t>作り方</a:t>
                      </a:r>
                    </a:p>
                  </a:txBody>
                  <a:tcPr marL="64008" marR="64008" marT="27432" marB="27432" anchor="ctr">
                    <a:solidFill>
                      <a:srgbClr val="082B52"/>
                    </a:solidFill>
                  </a:tcPr>
                </a:tc>
                <a:tc>
                  <a:txBody>
                    <a:bodyPr/>
                    <a:lstStyle/>
                    <a:p>
                      <a:pPr algn="ctr">
                        <a:spcAft>
                          <a:spcPts val="0"/>
                        </a:spcAft>
                      </a:pPr>
                      <a:r>
                        <a:rPr sz="2100" b="1">
                          <a:solidFill>
                            <a:srgbClr val="FFFFFF"/>
                          </a:solidFill>
                          <a:latin typeface="Yu Gothic"/>
                          <a:ea typeface="Yu Gothic"/>
                        </a:rPr>
                        <a:t>時間特性</a:t>
                      </a:r>
                      <a:endParaRPr sz="2100" b="1" dirty="0">
                        <a:solidFill>
                          <a:srgbClr val="FFFFFF"/>
                        </a:solidFill>
                        <a:latin typeface="Yu Gothic"/>
                      </a:endParaRPr>
                    </a:p>
                  </a:txBody>
                  <a:tcPr marL="64008" marR="64008" marT="27432" marB="27432" anchor="ctr">
                    <a:solidFill>
                      <a:srgbClr val="082B52"/>
                    </a:solidFill>
                  </a:tcPr>
                </a:tc>
                <a:tc>
                  <a:txBody>
                    <a:bodyPr/>
                    <a:lstStyle/>
                    <a:p>
                      <a:pPr algn="ctr">
                        <a:spcAft>
                          <a:spcPts val="0"/>
                        </a:spcAft>
                      </a:pPr>
                      <a:r>
                        <a:rPr sz="2100" b="1">
                          <a:solidFill>
                            <a:srgbClr val="FFFFFF"/>
                          </a:solidFill>
                          <a:latin typeface="Yu Gothic"/>
                          <a:ea typeface="Yu Gothic"/>
                        </a:rPr>
                        <a:t>大きさ</a:t>
                      </a:r>
                    </a:p>
                  </a:txBody>
                  <a:tcPr marL="64008" marR="64008" marT="27432" marB="27432" anchor="ctr">
                    <a:solidFill>
                      <a:srgbClr val="082B52"/>
                    </a:solidFill>
                  </a:tcPr>
                </a:tc>
                <a:extLst>
                  <a:ext uri="{0D108BD9-81ED-4DB2-BD59-A6C34878D82A}">
                    <a16:rowId xmlns:a16="http://schemas.microsoft.com/office/drawing/2014/main" val="10000"/>
                  </a:ext>
                </a:extLst>
              </a:tr>
              <a:tr h="914400">
                <a:tc>
                  <a:txBody>
                    <a:bodyPr/>
                    <a:lstStyle/>
                    <a:p>
                      <a:pPr algn="l">
                        <a:spcAft>
                          <a:spcPts val="0"/>
                        </a:spcAft>
                      </a:pPr>
                      <a:r>
                        <a:rPr sz="2100" b="0">
                          <a:solidFill>
                            <a:srgbClr val="232B34"/>
                          </a:solidFill>
                          <a:latin typeface="Yu Gothic"/>
                          <a:ea typeface="Yu Gothic"/>
                        </a:rPr>
                        <a:t>軌道予測</a:t>
                      </a:r>
                    </a:p>
                  </a:txBody>
                  <a:tcPr marL="64008" marR="64008" marT="27432" marB="27432" anchor="ctr">
                    <a:solidFill>
                      <a:srgbClr val="EBF6FB"/>
                    </a:solidFill>
                  </a:tcPr>
                </a:tc>
                <a:tc>
                  <a:txBody>
                    <a:bodyPr/>
                    <a:lstStyle/>
                    <a:p>
                      <a:pPr algn="ctr">
                        <a:spcAft>
                          <a:spcPts val="0"/>
                        </a:spcAft>
                      </a:pPr>
                      <a:r>
                        <a:rPr sz="2100" b="0">
                          <a:solidFill>
                            <a:srgbClr val="232B34"/>
                          </a:solidFill>
                          <a:latin typeface="Yu Gothic"/>
                          <a:ea typeface="Yu Gothic"/>
                        </a:rPr>
                        <a:t>Sentinel-1の最新TLEを伝播し、高精度暦POEORBを真値として横断面へ射影</a:t>
                      </a:r>
                    </a:p>
                  </a:txBody>
                  <a:tcPr marL="64008" marR="64008" marT="27432" marB="27432" anchor="ctr">
                    <a:solidFill>
                      <a:srgbClr val="FFFFFF"/>
                    </a:solidFill>
                  </a:tcPr>
                </a:tc>
                <a:tc>
                  <a:txBody>
                    <a:bodyPr/>
                    <a:lstStyle/>
                    <a:p>
                      <a:pPr algn="ctr">
                        <a:spcAft>
                          <a:spcPts val="0"/>
                        </a:spcAft>
                      </a:pPr>
                      <a:r>
                        <a:rPr sz="2100" b="0">
                          <a:solidFill>
                            <a:srgbClr val="232B34"/>
                          </a:solidFill>
                          <a:latin typeface="Yu Gothic"/>
                          <a:ea typeface="Yu Gothic"/>
                        </a:rPr>
                        <a:t>軌道周期</a:t>
                      </a:r>
                    </a:p>
                  </a:txBody>
                  <a:tcPr marL="64008" marR="64008" marT="27432" marB="27432" anchor="ctr">
                    <a:solidFill>
                      <a:srgbClr val="FFFFFF"/>
                    </a:solidFill>
                  </a:tcPr>
                </a:tc>
                <a:tc>
                  <a:txBody>
                    <a:bodyPr/>
                    <a:lstStyle/>
                    <a:p>
                      <a:pPr algn="ctr">
                        <a:spcAft>
                          <a:spcPts val="0"/>
                        </a:spcAft>
                      </a:pPr>
                      <a:r>
                        <a:rPr sz="2100" b="0">
                          <a:solidFill>
                            <a:srgbClr val="232B34"/>
                          </a:solidFill>
                          <a:latin typeface="Yu Gothic"/>
                          <a:ea typeface="Yu Gothic"/>
                        </a:rPr>
                        <a:t>平均 280–700 µrad</a:t>
                      </a:r>
                    </a:p>
                  </a:txBody>
                  <a:tcPr marL="64008" marR="64008" marT="27432" marB="27432" anchor="ctr">
                    <a:solidFill>
                      <a:srgbClr val="FFFFFF"/>
                    </a:solidFill>
                  </a:tcPr>
                </a:tc>
                <a:extLst>
                  <a:ext uri="{0D108BD9-81ED-4DB2-BD59-A6C34878D82A}">
                    <a16:rowId xmlns:a16="http://schemas.microsoft.com/office/drawing/2014/main" val="10001"/>
                  </a:ext>
                </a:extLst>
              </a:tr>
              <a:tr h="914400">
                <a:tc>
                  <a:txBody>
                    <a:bodyPr/>
                    <a:lstStyle/>
                    <a:p>
                      <a:pPr algn="l">
                        <a:spcAft>
                          <a:spcPts val="0"/>
                        </a:spcAft>
                      </a:pPr>
                      <a:r>
                        <a:rPr sz="2100" b="0">
                          <a:solidFill>
                            <a:srgbClr val="232B34"/>
                          </a:solidFill>
                          <a:latin typeface="Yu Gothic"/>
                          <a:ea typeface="Yu Gothic"/>
                        </a:rPr>
                        <a:t>アライメント</a:t>
                      </a:r>
                    </a:p>
                  </a:txBody>
                  <a:tcPr marL="64008" marR="64008" marT="27432" marB="27432" anchor="ctr">
                    <a:solidFill>
                      <a:srgbClr val="EBF6FB"/>
                    </a:solidFill>
                  </a:tcPr>
                </a:tc>
                <a:tc>
                  <a:txBody>
                    <a:bodyPr/>
                    <a:lstStyle/>
                    <a:p>
                      <a:pPr algn="ctr">
                        <a:spcAft>
                          <a:spcPts val="0"/>
                        </a:spcAft>
                      </a:pPr>
                      <a:r>
                        <a:rPr sz="2100" b="0">
                          <a:solidFill>
                            <a:srgbClr val="232B34"/>
                          </a:solidFill>
                          <a:latin typeface="Yu Gothic"/>
                          <a:ea typeface="Yu Gothic"/>
                        </a:rPr>
                        <a:t>ケースごとに一定の2軸残差</a:t>
                      </a:r>
                    </a:p>
                  </a:txBody>
                  <a:tcPr marL="64008" marR="64008" marT="27432" marB="27432" anchor="ctr">
                    <a:solidFill>
                      <a:srgbClr val="F4F6F8"/>
                    </a:solidFill>
                  </a:tcPr>
                </a:tc>
                <a:tc>
                  <a:txBody>
                    <a:bodyPr/>
                    <a:lstStyle/>
                    <a:p>
                      <a:pPr algn="ctr">
                        <a:spcAft>
                          <a:spcPts val="0"/>
                        </a:spcAft>
                      </a:pPr>
                      <a:r>
                        <a:rPr sz="2100" b="0">
                          <a:solidFill>
                            <a:srgbClr val="232B34"/>
                          </a:solidFill>
                          <a:latin typeface="Yu Gothic"/>
                          <a:ea typeface="Yu Gothic"/>
                        </a:rPr>
                        <a:t>DC</a:t>
                      </a:r>
                    </a:p>
                  </a:txBody>
                  <a:tcPr marL="64008" marR="64008" marT="27432" marB="27432" anchor="ctr">
                    <a:solidFill>
                      <a:srgbClr val="F4F6F8"/>
                    </a:solidFill>
                  </a:tcPr>
                </a:tc>
                <a:tc>
                  <a:txBody>
                    <a:bodyPr/>
                    <a:lstStyle/>
                    <a:p>
                      <a:pPr algn="ctr">
                        <a:spcAft>
                          <a:spcPts val="0"/>
                        </a:spcAft>
                      </a:pPr>
                      <a:r>
                        <a:rPr sz="2100" b="0">
                          <a:solidFill>
                            <a:srgbClr val="232B34"/>
                          </a:solidFill>
                          <a:latin typeface="Yu Gothic"/>
                          <a:ea typeface="Yu Gothic"/>
                        </a:rPr>
                        <a:t>50 µrad/軸, 1σ</a:t>
                      </a:r>
                    </a:p>
                  </a:txBody>
                  <a:tcPr marL="64008" marR="64008" marT="27432" marB="27432" anchor="ctr">
                    <a:solidFill>
                      <a:srgbClr val="F4F6F8"/>
                    </a:solidFill>
                  </a:tcPr>
                </a:tc>
                <a:extLst>
                  <a:ext uri="{0D108BD9-81ED-4DB2-BD59-A6C34878D82A}">
                    <a16:rowId xmlns:a16="http://schemas.microsoft.com/office/drawing/2014/main" val="10002"/>
                  </a:ext>
                </a:extLst>
              </a:tr>
              <a:tr h="914400">
                <a:tc>
                  <a:txBody>
                    <a:bodyPr/>
                    <a:lstStyle/>
                    <a:p>
                      <a:pPr algn="l">
                        <a:spcAft>
                          <a:spcPts val="0"/>
                        </a:spcAft>
                      </a:pPr>
                      <a:r>
                        <a:rPr sz="2100" b="0">
                          <a:solidFill>
                            <a:srgbClr val="232B34"/>
                          </a:solidFill>
                          <a:latin typeface="Yu Gothic"/>
                          <a:ea typeface="Yu Gothic"/>
                        </a:rPr>
                        <a:t>姿勢</a:t>
                      </a:r>
                    </a:p>
                  </a:txBody>
                  <a:tcPr marL="64008" marR="64008" marT="27432" marB="27432" anchor="ctr">
                    <a:solidFill>
                      <a:srgbClr val="EBF6FB"/>
                    </a:solidFill>
                  </a:tcPr>
                </a:tc>
                <a:tc>
                  <a:txBody>
                    <a:bodyPr/>
                    <a:lstStyle/>
                    <a:p>
                      <a:pPr algn="ctr">
                        <a:spcAft>
                          <a:spcPts val="0"/>
                        </a:spcAft>
                      </a:pPr>
                      <a:r>
                        <a:rPr sz="2100" b="0">
                          <a:solidFill>
                            <a:srgbClr val="232B34"/>
                          </a:solidFill>
                          <a:latin typeface="Yu Gothic"/>
                          <a:ea typeface="Yu Gothic"/>
                        </a:rPr>
                        <a:t>サンプルごとの正規乱数</a:t>
                      </a:r>
                    </a:p>
                  </a:txBody>
                  <a:tcPr marL="64008" marR="64008" marT="27432" marB="27432" anchor="ctr">
                    <a:solidFill>
                      <a:srgbClr val="FFFFFF"/>
                    </a:solidFill>
                  </a:tcPr>
                </a:tc>
                <a:tc>
                  <a:txBody>
                    <a:bodyPr/>
                    <a:lstStyle/>
                    <a:p>
                      <a:pPr algn="ctr">
                        <a:spcAft>
                          <a:spcPts val="0"/>
                        </a:spcAft>
                      </a:pPr>
                      <a:r>
                        <a:rPr sz="2100" b="0">
                          <a:solidFill>
                            <a:srgbClr val="232B34"/>
                          </a:solidFill>
                          <a:latin typeface="Yu Gothic"/>
                          <a:ea typeface="Yu Gothic"/>
                        </a:rPr>
                        <a:t>簡易な広帯域</a:t>
                      </a:r>
                    </a:p>
                  </a:txBody>
                  <a:tcPr marL="64008" marR="64008" marT="27432" marB="27432" anchor="ctr">
                    <a:solidFill>
                      <a:srgbClr val="FFFFFF"/>
                    </a:solidFill>
                  </a:tcPr>
                </a:tc>
                <a:tc>
                  <a:txBody>
                    <a:bodyPr/>
                    <a:lstStyle/>
                    <a:p>
                      <a:pPr algn="ctr">
                        <a:spcAft>
                          <a:spcPts val="0"/>
                        </a:spcAft>
                      </a:pPr>
                      <a:r>
                        <a:rPr sz="2100" b="0">
                          <a:solidFill>
                            <a:srgbClr val="232B34"/>
                          </a:solidFill>
                          <a:latin typeface="Yu Gothic"/>
                          <a:ea typeface="Yu Gothic"/>
                        </a:rPr>
                        <a:t>50 µrad/軸, 1σ</a:t>
                      </a:r>
                    </a:p>
                  </a:txBody>
                  <a:tcPr marL="64008" marR="64008" marT="27432" marB="27432" anchor="ctr">
                    <a:solidFill>
                      <a:srgbClr val="FFFFFF"/>
                    </a:solidFill>
                  </a:tcPr>
                </a:tc>
                <a:extLst>
                  <a:ext uri="{0D108BD9-81ED-4DB2-BD59-A6C34878D82A}">
                    <a16:rowId xmlns:a16="http://schemas.microsoft.com/office/drawing/2014/main" val="10003"/>
                  </a:ext>
                </a:extLst>
              </a:tr>
              <a:tr h="914400">
                <a:tc>
                  <a:txBody>
                    <a:bodyPr/>
                    <a:lstStyle/>
                    <a:p>
                      <a:pPr algn="l">
                        <a:spcAft>
                          <a:spcPts val="0"/>
                        </a:spcAft>
                      </a:pPr>
                      <a:r>
                        <a:rPr sz="2100" b="0">
                          <a:solidFill>
                            <a:srgbClr val="232B34"/>
                          </a:solidFill>
                          <a:latin typeface="Yu Gothic"/>
                          <a:ea typeface="Yu Gothic"/>
                        </a:rPr>
                        <a:t>ドリフト</a:t>
                      </a:r>
                    </a:p>
                  </a:txBody>
                  <a:tcPr marL="64008" marR="64008" marT="27432" marB="27432" anchor="ctr">
                    <a:solidFill>
                      <a:srgbClr val="EBF6FB"/>
                    </a:solidFill>
                  </a:tcPr>
                </a:tc>
                <a:tc>
                  <a:txBody>
                    <a:bodyPr/>
                    <a:lstStyle/>
                    <a:p>
                      <a:pPr algn="ctr">
                        <a:spcAft>
                          <a:spcPts val="0"/>
                        </a:spcAft>
                      </a:pPr>
                      <a:r>
                        <a:rPr sz="2100" b="0">
                          <a:solidFill>
                            <a:srgbClr val="232B34"/>
                          </a:solidFill>
                          <a:latin typeface="Yu Gothic"/>
                          <a:ea typeface="Yu Gothic"/>
                        </a:rPr>
                        <a:t>正弦波</a:t>
                      </a:r>
                      <a:endParaRPr sz="2100" b="0" dirty="0">
                        <a:solidFill>
                          <a:srgbClr val="232B34"/>
                        </a:solidFill>
                        <a:latin typeface="Yu Gothic"/>
                      </a:endParaRPr>
                    </a:p>
                  </a:txBody>
                  <a:tcPr marL="64008" marR="64008" marT="27432" marB="27432" anchor="ctr">
                    <a:solidFill>
                      <a:srgbClr val="F4F6F8"/>
                    </a:solidFill>
                  </a:tcPr>
                </a:tc>
                <a:tc>
                  <a:txBody>
                    <a:bodyPr/>
                    <a:lstStyle/>
                    <a:p>
                      <a:pPr algn="ctr">
                        <a:spcAft>
                          <a:spcPts val="0"/>
                        </a:spcAft>
                      </a:pPr>
                      <a:r>
                        <a:rPr sz="2100" b="0">
                          <a:solidFill>
                            <a:srgbClr val="232B34"/>
                          </a:solidFill>
                          <a:latin typeface="Yu Gothic"/>
                          <a:ea typeface="Yu Gothic"/>
                        </a:rPr>
                        <a:t>周期 900 s</a:t>
                      </a:r>
                    </a:p>
                  </a:txBody>
                  <a:tcPr marL="64008" marR="64008" marT="27432" marB="27432" anchor="ctr">
                    <a:solidFill>
                      <a:srgbClr val="F4F6F8"/>
                    </a:solidFill>
                  </a:tcPr>
                </a:tc>
                <a:tc>
                  <a:txBody>
                    <a:bodyPr/>
                    <a:lstStyle/>
                    <a:p>
                      <a:pPr algn="ctr">
                        <a:spcAft>
                          <a:spcPts val="0"/>
                        </a:spcAft>
                      </a:pPr>
                      <a:r>
                        <a:rPr sz="2100" b="0">
                          <a:solidFill>
                            <a:srgbClr val="232B34"/>
                          </a:solidFill>
                          <a:latin typeface="Yu Gothic"/>
                          <a:ea typeface="Yu Gothic"/>
                        </a:rPr>
                        <a:t>振幅 30 µrad</a:t>
                      </a:r>
                    </a:p>
                  </a:txBody>
                  <a:tcPr marL="64008" marR="64008" marT="27432" marB="27432" anchor="ctr">
                    <a:solidFill>
                      <a:srgbClr val="F4F6F8"/>
                    </a:solidFill>
                  </a:tcPr>
                </a:tc>
                <a:extLst>
                  <a:ext uri="{0D108BD9-81ED-4DB2-BD59-A6C34878D82A}">
                    <a16:rowId xmlns:a16="http://schemas.microsoft.com/office/drawing/2014/main" val="10004"/>
                  </a:ext>
                </a:extLst>
              </a:tr>
            </a:tbl>
          </a:graphicData>
        </a:graphic>
      </p:graphicFrame>
      <p:sp>
        <p:nvSpPr>
          <p:cNvPr id="8" name="TextBox 7"/>
          <p:cNvSpPr txBox="1"/>
          <p:nvPr/>
        </p:nvSpPr>
        <p:spPr>
          <a:xfrm>
            <a:off x="4727563" y="11141964"/>
            <a:ext cx="14927292" cy="470898"/>
          </a:xfrm>
          <a:prstGeom prst="rect">
            <a:avLst/>
          </a:prstGeom>
          <a:noFill/>
        </p:spPr>
        <p:txBody>
          <a:bodyPr wrap="none" lIns="36576" tIns="27432" rIns="36576" bIns="27432" anchor="t">
            <a:spAutoFit/>
          </a:bodyPr>
          <a:lstStyle/>
          <a:p>
            <a:pPr algn="ctr"/>
            <a:r>
              <a:rPr sz="2700" b="1" dirty="0" err="1">
                <a:solidFill>
                  <a:srgbClr val="D03B46"/>
                </a:solidFill>
                <a:latin typeface="Yu Gothic"/>
              </a:rPr>
              <a:t>特定衛星の誤差バジェット再現ではなく、GNSS非搭載LEO小型衛星</a:t>
            </a:r>
            <a:r>
              <a:rPr lang="ja-JP" altLang="en-US" sz="2700" b="1" dirty="0">
                <a:solidFill>
                  <a:srgbClr val="D03B46"/>
                </a:solidFill>
                <a:latin typeface="Yu Gothic"/>
              </a:rPr>
              <a:t>の一般的な</a:t>
            </a:r>
            <a:r>
              <a:rPr sz="2700" b="1" dirty="0" err="1">
                <a:solidFill>
                  <a:srgbClr val="D03B46"/>
                </a:solidFill>
                <a:latin typeface="Yu Gothic"/>
              </a:rPr>
              <a:t>シナリオ</a:t>
            </a:r>
            <a:r>
              <a:rPr lang="ja-JP" altLang="en-US" sz="2700" b="1" dirty="0">
                <a:solidFill>
                  <a:srgbClr val="D03B46"/>
                </a:solidFill>
                <a:latin typeface="Yu Gothic"/>
              </a:rPr>
              <a:t>を想定</a:t>
            </a:r>
            <a:endParaRPr sz="2700" b="1" dirty="0">
              <a:solidFill>
                <a:srgbClr val="D03B46"/>
              </a:solidFill>
              <a:latin typeface="Yu Gothic"/>
            </a:endParaRPr>
          </a:p>
        </p:txBody>
      </p:sp>
      <p:sp>
        <p:nvSpPr>
          <p:cNvPr id="9" name="TextBox 8"/>
          <p:cNvSpPr txBox="1"/>
          <p:nvPr/>
        </p:nvSpPr>
        <p:spPr>
          <a:xfrm>
            <a:off x="1097280" y="10241280"/>
            <a:ext cx="22128480" cy="502920"/>
          </a:xfrm>
          <a:prstGeom prst="rect">
            <a:avLst/>
          </a:prstGeom>
          <a:noFill/>
        </p:spPr>
        <p:txBody>
          <a:bodyPr wrap="square" lIns="45720" tIns="18288" rIns="45720" bIns="18288" anchor="t">
            <a:spAutoFit/>
          </a:bodyPr>
          <a:lstStyle/>
          <a:p>
            <a:pPr algn="l">
              <a:spcAft>
                <a:spcPts val="0"/>
              </a:spcAft>
            </a:pPr>
            <a:r>
              <a:rPr sz="2200" b="0">
                <a:solidFill>
                  <a:srgbClr val="666F79"/>
                </a:solidFill>
                <a:latin typeface="Yu Gothic"/>
                <a:ea typeface="Yu Gothic"/>
              </a:rPr>
              <a:t>ケースごとに乱数は1本。統計の幅は見ていない</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Yu Gothic"/>
                <a:ea typeface="Yu Gothic"/>
              </a:rPr>
              <a:t>捕捉評価の結果</a:t>
            </a:r>
          </a:p>
        </p:txBody>
      </p:sp>
      <p:sp>
        <p:nvSpPr>
          <p:cNvPr id="3" name="TextBox 2"/>
          <p:cNvSpPr txBox="1"/>
          <p:nvPr/>
        </p:nvSpPr>
        <p:spPr>
          <a:xfrm>
            <a:off x="1536192" y="1298448"/>
            <a:ext cx="22037040" cy="1009507"/>
          </a:xfrm>
          <a:prstGeom prst="rect">
            <a:avLst/>
          </a:prstGeom>
          <a:noFill/>
        </p:spPr>
        <p:txBody>
          <a:bodyPr wrap="square" lIns="36576" tIns="27432" rIns="36576" bIns="27432" anchor="t">
            <a:spAutoFit/>
          </a:bodyPr>
          <a:lstStyle/>
          <a:p>
            <a:pPr algn="l">
              <a:spcAft>
                <a:spcPts val="0"/>
              </a:spcAft>
            </a:pPr>
            <a:endParaRPr lang="en-US" sz="3100" b="1" dirty="0">
              <a:solidFill>
                <a:srgbClr val="082B52"/>
              </a:solidFill>
              <a:latin typeface="Yu Gothic"/>
              <a:ea typeface="Yu Gothic"/>
            </a:endParaRPr>
          </a:p>
          <a:p>
            <a:pPr algn="l">
              <a:spcAft>
                <a:spcPts val="0"/>
              </a:spcAft>
            </a:pPr>
            <a:r>
              <a:rPr sz="3100" b="1" dirty="0" err="1">
                <a:solidFill>
                  <a:srgbClr val="082B52"/>
                </a:solidFill>
                <a:latin typeface="Yu Gothic"/>
                <a:ea typeface="Yu Gothic"/>
              </a:rPr>
              <a:t>熱</a:t>
            </a:r>
            <a:r>
              <a:rPr lang="en-US" sz="3100" b="1" dirty="0" err="1">
                <a:solidFill>
                  <a:srgbClr val="082B52"/>
                </a:solidFill>
                <a:latin typeface="Yu Gothic"/>
                <a:ea typeface="Yu Gothic"/>
              </a:rPr>
              <a:t>LOS</a:t>
            </a:r>
            <a:r>
              <a:rPr lang="ja-JP" altLang="en-US" sz="3100" b="1" dirty="0">
                <a:solidFill>
                  <a:srgbClr val="082B52"/>
                </a:solidFill>
                <a:latin typeface="Yu Gothic"/>
                <a:ea typeface="Yu Gothic"/>
              </a:rPr>
              <a:t>誤差のみの場合、</a:t>
            </a:r>
            <a:r>
              <a:rPr sz="3100" b="1" dirty="0">
                <a:solidFill>
                  <a:srgbClr val="082B52"/>
                </a:solidFill>
                <a:latin typeface="Yu Gothic"/>
                <a:ea typeface="Yu Gothic"/>
              </a:rPr>
              <a:t>平均捕捉時間は14.6秒から0.10秒になり、熱真値</a:t>
            </a:r>
            <a:r>
              <a:rPr lang="ja-JP" altLang="en-US" sz="3100" b="1" dirty="0">
                <a:solidFill>
                  <a:srgbClr val="082B52"/>
                </a:solidFill>
                <a:latin typeface="Yu Gothic"/>
                <a:ea typeface="Yu Gothic"/>
              </a:rPr>
              <a:t>による</a:t>
            </a:r>
            <a:r>
              <a:rPr sz="3100" b="1" dirty="0" err="1">
                <a:solidFill>
                  <a:srgbClr val="082B52"/>
                </a:solidFill>
                <a:latin typeface="Yu Gothic"/>
                <a:ea typeface="Yu Gothic"/>
              </a:rPr>
              <a:t>補正と</a:t>
            </a:r>
            <a:r>
              <a:rPr lang="ja-JP" altLang="en-US" sz="3100" b="1" dirty="0">
                <a:solidFill>
                  <a:srgbClr val="082B52"/>
                </a:solidFill>
                <a:latin typeface="Yu Gothic"/>
                <a:ea typeface="Yu Gothic"/>
              </a:rPr>
              <a:t>同程度</a:t>
            </a:r>
            <a:r>
              <a:rPr sz="3100" b="1" dirty="0" err="1">
                <a:solidFill>
                  <a:srgbClr val="082B52"/>
                </a:solidFill>
                <a:latin typeface="Yu Gothic"/>
                <a:ea typeface="Yu Gothic"/>
              </a:rPr>
              <a:t>になる</a:t>
            </a:r>
            <a:endParaRPr lang="en-US" sz="3200" b="1" dirty="0">
              <a:solidFill>
                <a:srgbClr val="082B52"/>
              </a:solidFill>
              <a:latin typeface="Yu Gothic"/>
            </a:endParaRPr>
          </a:p>
        </p:txBody>
      </p:sp>
      <p:sp>
        <p:nvSpPr>
          <p:cNvPr id="4" name="TextBox 3"/>
          <p:cNvSpPr txBox="1"/>
          <p:nvPr/>
        </p:nvSpPr>
        <p:spPr>
          <a:xfrm>
            <a:off x="21762720" y="12819888"/>
            <a:ext cx="2011680" cy="332399"/>
          </a:xfrm>
          <a:prstGeom prst="rect">
            <a:avLst/>
          </a:prstGeom>
          <a:noFill/>
        </p:spPr>
        <p:txBody>
          <a:bodyPr wrap="square" lIns="36576" tIns="27432" rIns="36576" bIns="27432" anchor="t">
            <a:spAutoFit/>
          </a:bodyPr>
          <a:lstStyle/>
          <a:p>
            <a:pPr algn="r">
              <a:spcAft>
                <a:spcPts val="0"/>
              </a:spcAft>
            </a:pPr>
            <a:r>
              <a:rPr lang="en-US" dirty="0">
                <a:solidFill>
                  <a:srgbClr val="666F79"/>
                </a:solidFill>
                <a:latin typeface="Yu Gothic"/>
                <a:ea typeface="Yu Gothic"/>
              </a:rPr>
              <a:t>20</a:t>
            </a:r>
            <a:endParaRPr sz="1800" b="0" dirty="0">
              <a:solidFill>
                <a:srgbClr val="666F79"/>
              </a:solidFill>
              <a:latin typeface="Yu Gothic"/>
              <a:ea typeface="Yu Gothic"/>
            </a:endParaRPr>
          </a:p>
        </p:txBody>
      </p:sp>
      <p:sp>
        <p:nvSpPr>
          <p:cNvPr id="5" name="TextBox 4"/>
          <p:cNvSpPr txBox="1"/>
          <p:nvPr/>
        </p:nvSpPr>
        <p:spPr>
          <a:xfrm>
            <a:off x="1188720" y="3236976"/>
            <a:ext cx="4387291" cy="1412748"/>
          </a:xfrm>
          <a:prstGeom prst="rect">
            <a:avLst/>
          </a:prstGeom>
          <a:noFill/>
        </p:spPr>
        <p:txBody>
          <a:bodyPr wrap="square" lIns="36576" tIns="27432" rIns="36576" bIns="27432" anchor="ctr">
            <a:spAutoFit/>
          </a:bodyPr>
          <a:lstStyle/>
          <a:p>
            <a:pPr algn="l">
              <a:spcAft>
                <a:spcPts val="0"/>
              </a:spcAft>
            </a:pPr>
            <a:r>
              <a:rPr sz="2300" b="0">
                <a:solidFill>
                  <a:srgbClr val="232B34"/>
                </a:solidFill>
                <a:latin typeface="Yu Gothic"/>
                <a:ea typeface="Yu Gothic"/>
              </a:rPr>
              <a:t>補正なし</a:t>
            </a:r>
          </a:p>
        </p:txBody>
      </p:sp>
      <p:sp>
        <p:nvSpPr>
          <p:cNvPr id="6" name="Rectangle 5"/>
          <p:cNvSpPr/>
          <p:nvPr/>
        </p:nvSpPr>
        <p:spPr>
          <a:xfrm>
            <a:off x="5667451" y="3337560"/>
            <a:ext cx="8917228" cy="1211580"/>
          </a:xfrm>
          <a:prstGeom prst="rect">
            <a:avLst/>
          </a:prstGeom>
          <a:solidFill>
            <a:srgbClr val="F4F6F8"/>
          </a:solidFill>
          <a:ln w="16510">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67451" y="3337560"/>
            <a:ext cx="8888693" cy="1211580"/>
          </a:xfrm>
          <a:prstGeom prst="rect">
            <a:avLst/>
          </a:prstGeom>
          <a:solidFill>
            <a:srgbClr val="D03B46"/>
          </a:solidFill>
          <a:ln w="16510">
            <a:solidFill>
              <a:srgbClr val="D03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4694408" y="3200400"/>
            <a:ext cx="914400" cy="1485900"/>
          </a:xfrm>
          <a:prstGeom prst="rect">
            <a:avLst/>
          </a:prstGeom>
          <a:noFill/>
        </p:spPr>
        <p:txBody>
          <a:bodyPr wrap="square" lIns="36576" tIns="27432" rIns="36576" bIns="27432" anchor="ctr">
            <a:spAutoFit/>
          </a:bodyPr>
          <a:lstStyle/>
          <a:p>
            <a:pPr algn="l">
              <a:spcAft>
                <a:spcPts val="0"/>
              </a:spcAft>
            </a:pPr>
            <a:r>
              <a:rPr sz="2200" b="1">
                <a:solidFill>
                  <a:srgbClr val="D03B46"/>
                </a:solidFill>
                <a:latin typeface="Yu Gothic"/>
                <a:ea typeface="Yu Gothic"/>
              </a:rPr>
              <a:t>14.6 s</a:t>
            </a:r>
          </a:p>
        </p:txBody>
      </p:sp>
      <p:sp>
        <p:nvSpPr>
          <p:cNvPr id="13" name="TextBox 12"/>
          <p:cNvSpPr txBox="1"/>
          <p:nvPr/>
        </p:nvSpPr>
        <p:spPr>
          <a:xfrm>
            <a:off x="1188720" y="4727448"/>
            <a:ext cx="4387291" cy="1412748"/>
          </a:xfrm>
          <a:prstGeom prst="rect">
            <a:avLst/>
          </a:prstGeom>
          <a:noFill/>
        </p:spPr>
        <p:txBody>
          <a:bodyPr wrap="square" lIns="36576" tIns="27432" rIns="36576" bIns="27432" anchor="ctr">
            <a:spAutoFit/>
          </a:bodyPr>
          <a:lstStyle/>
          <a:p>
            <a:pPr algn="l">
              <a:spcAft>
                <a:spcPts val="0"/>
              </a:spcAft>
            </a:pPr>
            <a:r>
              <a:rPr sz="2300" b="0">
                <a:solidFill>
                  <a:srgbClr val="232B34"/>
                </a:solidFill>
                <a:latin typeface="Yu Gothic"/>
                <a:ea typeface="Yu Gothic"/>
              </a:rPr>
              <a:t>階層モデル</a:t>
            </a:r>
          </a:p>
        </p:txBody>
      </p:sp>
      <p:sp>
        <p:nvSpPr>
          <p:cNvPr id="14" name="Rectangle 13"/>
          <p:cNvSpPr/>
          <p:nvPr/>
        </p:nvSpPr>
        <p:spPr>
          <a:xfrm>
            <a:off x="5667451" y="4828032"/>
            <a:ext cx="8917228" cy="1211580"/>
          </a:xfrm>
          <a:prstGeom prst="rect">
            <a:avLst/>
          </a:prstGeom>
          <a:solidFill>
            <a:srgbClr val="F4F6F8"/>
          </a:solidFill>
          <a:ln w="16510">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667451" y="4828032"/>
            <a:ext cx="91440" cy="1211580"/>
          </a:xfrm>
          <a:prstGeom prst="rect">
            <a:avLst/>
          </a:prstGeom>
          <a:solidFill>
            <a:srgbClr val="239571"/>
          </a:solidFill>
          <a:ln w="1651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4694408" y="4690872"/>
            <a:ext cx="914400" cy="1485900"/>
          </a:xfrm>
          <a:prstGeom prst="rect">
            <a:avLst/>
          </a:prstGeom>
          <a:noFill/>
        </p:spPr>
        <p:txBody>
          <a:bodyPr wrap="square" lIns="36576" tIns="27432" rIns="36576" bIns="27432" anchor="ctr">
            <a:spAutoFit/>
          </a:bodyPr>
          <a:lstStyle/>
          <a:p>
            <a:pPr algn="l">
              <a:spcAft>
                <a:spcPts val="0"/>
              </a:spcAft>
            </a:pPr>
            <a:r>
              <a:rPr sz="2200" b="1">
                <a:solidFill>
                  <a:srgbClr val="239571"/>
                </a:solidFill>
                <a:latin typeface="Yu Gothic"/>
                <a:ea typeface="Yu Gothic"/>
              </a:rPr>
              <a:t>0.10 s</a:t>
            </a:r>
          </a:p>
        </p:txBody>
      </p:sp>
      <p:sp>
        <p:nvSpPr>
          <p:cNvPr id="17" name="TextBox 16"/>
          <p:cNvSpPr txBox="1"/>
          <p:nvPr/>
        </p:nvSpPr>
        <p:spPr>
          <a:xfrm>
            <a:off x="1188720" y="6213347"/>
            <a:ext cx="4387291" cy="1412748"/>
          </a:xfrm>
          <a:prstGeom prst="rect">
            <a:avLst/>
          </a:prstGeom>
          <a:noFill/>
        </p:spPr>
        <p:txBody>
          <a:bodyPr wrap="square" lIns="36576" tIns="27432" rIns="36576" bIns="27432" anchor="ctr">
            <a:spAutoFit/>
          </a:bodyPr>
          <a:lstStyle/>
          <a:p>
            <a:pPr algn="l">
              <a:spcAft>
                <a:spcPts val="0"/>
              </a:spcAft>
            </a:pPr>
            <a:r>
              <a:rPr sz="2300" b="0">
                <a:solidFill>
                  <a:srgbClr val="232B34"/>
                </a:solidFill>
                <a:latin typeface="Yu Gothic"/>
                <a:ea typeface="Yu Gothic"/>
              </a:rPr>
              <a:t>熱の真値を引いた上界</a:t>
            </a:r>
          </a:p>
        </p:txBody>
      </p:sp>
      <p:sp>
        <p:nvSpPr>
          <p:cNvPr id="18" name="Rectangle 17"/>
          <p:cNvSpPr/>
          <p:nvPr/>
        </p:nvSpPr>
        <p:spPr>
          <a:xfrm>
            <a:off x="5667451" y="6313932"/>
            <a:ext cx="8917228" cy="1211580"/>
          </a:xfrm>
          <a:prstGeom prst="rect">
            <a:avLst/>
          </a:prstGeom>
          <a:solidFill>
            <a:srgbClr val="F4F6F8"/>
          </a:solidFill>
          <a:ln w="16510">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667451" y="6313932"/>
            <a:ext cx="91440" cy="1211580"/>
          </a:xfrm>
          <a:prstGeom prst="rect">
            <a:avLst/>
          </a:prstGeom>
          <a:solidFill>
            <a:srgbClr val="1B74AA"/>
          </a:solidFill>
          <a:ln w="16510">
            <a:solidFill>
              <a:srgbClr val="1B7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4694408" y="6176772"/>
            <a:ext cx="914400" cy="1485900"/>
          </a:xfrm>
          <a:prstGeom prst="rect">
            <a:avLst/>
          </a:prstGeom>
          <a:noFill/>
        </p:spPr>
        <p:txBody>
          <a:bodyPr wrap="square" lIns="36576" tIns="27432" rIns="36576" bIns="27432" anchor="ctr">
            <a:spAutoFit/>
          </a:bodyPr>
          <a:lstStyle/>
          <a:p>
            <a:pPr algn="l">
              <a:spcAft>
                <a:spcPts val="0"/>
              </a:spcAft>
            </a:pPr>
            <a:r>
              <a:rPr sz="2200" b="1">
                <a:solidFill>
                  <a:srgbClr val="1B74AA"/>
                </a:solidFill>
                <a:latin typeface="Yu Gothic"/>
                <a:ea typeface="Yu Gothic"/>
              </a:rPr>
              <a:t>0.10 s</a:t>
            </a:r>
          </a:p>
        </p:txBody>
      </p:sp>
      <p:graphicFrame>
        <p:nvGraphicFramePr>
          <p:cNvPr id="21" name="Table 20"/>
          <p:cNvGraphicFramePr>
            <a:graphicFrameLocks noGrp="1"/>
          </p:cNvGraphicFramePr>
          <p:nvPr/>
        </p:nvGraphicFramePr>
        <p:xfrm>
          <a:off x="16276320" y="3017520"/>
          <a:ext cx="6766560" cy="3950208"/>
        </p:xfrm>
        <a:graphic>
          <a:graphicData uri="http://schemas.openxmlformats.org/drawingml/2006/table">
            <a:tbl>
              <a:tblPr firstRow="1" bandRow="1">
                <a:tableStyleId>{5C22544A-7EE6-4342-B048-85BDC9FD1C3A}</a:tableStyleId>
              </a:tblPr>
              <a:tblGrid>
                <a:gridCol w="31089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987552">
                <a:tc>
                  <a:txBody>
                    <a:bodyPr/>
                    <a:lstStyle/>
                    <a:p>
                      <a:pPr algn="l">
                        <a:spcAft>
                          <a:spcPts val="0"/>
                        </a:spcAft>
                      </a:pPr>
                      <a:r>
                        <a:rPr sz="2000" b="1">
                          <a:solidFill>
                            <a:srgbClr val="FFFFFF"/>
                          </a:solidFill>
                          <a:latin typeface="Yu Gothic"/>
                          <a:ea typeface="Yu Gothic"/>
                        </a:rPr>
                        <a:t>補正方法</a:t>
                      </a:r>
                    </a:p>
                  </a:txBody>
                  <a:tcPr marL="64008" marR="64008" marT="27432" marB="27432" anchor="ctr">
                    <a:solidFill>
                      <a:srgbClr val="082B52"/>
                    </a:solidFill>
                  </a:tcPr>
                </a:tc>
                <a:tc>
                  <a:txBody>
                    <a:bodyPr/>
                    <a:lstStyle/>
                    <a:p>
                      <a:pPr algn="ctr">
                        <a:spcAft>
                          <a:spcPts val="0"/>
                        </a:spcAft>
                      </a:pPr>
                      <a:r>
                        <a:rPr sz="2000" b="1">
                          <a:solidFill>
                            <a:srgbClr val="FFFFFF"/>
                          </a:solidFill>
                          <a:latin typeface="Yu Gothic"/>
                          <a:ea typeface="Yu Gothic"/>
                        </a:rPr>
                        <a:t>成功率</a:t>
                      </a:r>
                    </a:p>
                  </a:txBody>
                  <a:tcPr marL="64008" marR="64008" marT="27432" marB="27432" anchor="ctr">
                    <a:solidFill>
                      <a:srgbClr val="082B52"/>
                    </a:solidFill>
                  </a:tcPr>
                </a:tc>
                <a:tc>
                  <a:txBody>
                    <a:bodyPr/>
                    <a:lstStyle/>
                    <a:p>
                      <a:pPr algn="ctr">
                        <a:spcAft>
                          <a:spcPts val="0"/>
                        </a:spcAft>
                      </a:pPr>
                      <a:r>
                        <a:rPr sz="2000" b="1">
                          <a:solidFill>
                            <a:srgbClr val="FFFFFF"/>
                          </a:solidFill>
                          <a:latin typeface="Yu Gothic"/>
                          <a:ea typeface="Yu Gothic"/>
                        </a:rPr>
                        <a:t>平均捕捉時間</a:t>
                      </a:r>
                    </a:p>
                  </a:txBody>
                  <a:tcPr marL="64008" marR="64008" marT="27432" marB="27432" anchor="ctr">
                    <a:solidFill>
                      <a:srgbClr val="082B52"/>
                    </a:solidFill>
                  </a:tcPr>
                </a:tc>
                <a:extLst>
                  <a:ext uri="{0D108BD9-81ED-4DB2-BD59-A6C34878D82A}">
                    <a16:rowId xmlns:a16="http://schemas.microsoft.com/office/drawing/2014/main" val="10000"/>
                  </a:ext>
                </a:extLst>
              </a:tr>
              <a:tr h="987552">
                <a:tc>
                  <a:txBody>
                    <a:bodyPr/>
                    <a:lstStyle/>
                    <a:p>
                      <a:pPr algn="l">
                        <a:spcAft>
                          <a:spcPts val="0"/>
                        </a:spcAft>
                      </a:pPr>
                      <a:r>
                        <a:rPr sz="2000" b="0">
                          <a:solidFill>
                            <a:srgbClr val="232B34"/>
                          </a:solidFill>
                          <a:latin typeface="Yu Gothic"/>
                          <a:ea typeface="Yu Gothic"/>
                        </a:rPr>
                        <a:t>補正なし</a:t>
                      </a:r>
                    </a:p>
                  </a:txBody>
                  <a:tcPr marL="64008" marR="64008" marT="27432" marB="27432" anchor="ctr">
                    <a:solidFill>
                      <a:srgbClr val="FFFFFF"/>
                    </a:solidFill>
                  </a:tcPr>
                </a:tc>
                <a:tc>
                  <a:txBody>
                    <a:bodyPr/>
                    <a:lstStyle/>
                    <a:p>
                      <a:pPr algn="ctr">
                        <a:spcAft>
                          <a:spcPts val="0"/>
                        </a:spcAft>
                      </a:pPr>
                      <a:r>
                        <a:rPr sz="2000" b="0">
                          <a:solidFill>
                            <a:srgbClr val="232B34"/>
                          </a:solidFill>
                          <a:latin typeface="Yu Gothic"/>
                          <a:ea typeface="Yu Gothic"/>
                        </a:rPr>
                        <a:t>100%</a:t>
                      </a:r>
                    </a:p>
                  </a:txBody>
                  <a:tcPr marL="64008" marR="64008" marT="27432" marB="27432" anchor="ctr">
                    <a:solidFill>
                      <a:srgbClr val="FFFFFF"/>
                    </a:solidFill>
                  </a:tcPr>
                </a:tc>
                <a:tc>
                  <a:txBody>
                    <a:bodyPr/>
                    <a:lstStyle/>
                    <a:p>
                      <a:pPr algn="ctr">
                        <a:spcAft>
                          <a:spcPts val="0"/>
                        </a:spcAft>
                      </a:pPr>
                      <a:r>
                        <a:rPr sz="2000" b="0">
                          <a:solidFill>
                            <a:srgbClr val="232B34"/>
                          </a:solidFill>
                          <a:latin typeface="Yu Gothic"/>
                          <a:ea typeface="Yu Gothic"/>
                        </a:rPr>
                        <a:t>14.6 s</a:t>
                      </a:r>
                    </a:p>
                  </a:txBody>
                  <a:tcPr marL="64008" marR="64008" marT="27432" marB="27432" anchor="ctr">
                    <a:solidFill>
                      <a:srgbClr val="EBF6FB"/>
                    </a:solidFill>
                  </a:tcPr>
                </a:tc>
                <a:extLst>
                  <a:ext uri="{0D108BD9-81ED-4DB2-BD59-A6C34878D82A}">
                    <a16:rowId xmlns:a16="http://schemas.microsoft.com/office/drawing/2014/main" val="10001"/>
                  </a:ext>
                </a:extLst>
              </a:tr>
              <a:tr h="987552">
                <a:tc>
                  <a:txBody>
                    <a:bodyPr/>
                    <a:lstStyle/>
                    <a:p>
                      <a:pPr algn="l">
                        <a:spcAft>
                          <a:spcPts val="0"/>
                        </a:spcAft>
                      </a:pPr>
                      <a:r>
                        <a:rPr sz="2000" b="0">
                          <a:solidFill>
                            <a:srgbClr val="232B34"/>
                          </a:solidFill>
                          <a:latin typeface="Yu Gothic"/>
                          <a:ea typeface="Yu Gothic"/>
                        </a:rPr>
                        <a:t>階層モデル</a:t>
                      </a:r>
                    </a:p>
                  </a:txBody>
                  <a:tcPr marL="64008" marR="64008" marT="27432" marB="27432" anchor="ctr">
                    <a:solidFill>
                      <a:srgbClr val="FFFFFF"/>
                    </a:solidFill>
                  </a:tcPr>
                </a:tc>
                <a:tc>
                  <a:txBody>
                    <a:bodyPr/>
                    <a:lstStyle/>
                    <a:p>
                      <a:pPr algn="ctr">
                        <a:spcAft>
                          <a:spcPts val="0"/>
                        </a:spcAft>
                      </a:pPr>
                      <a:r>
                        <a:rPr sz="2000" b="0">
                          <a:solidFill>
                            <a:srgbClr val="232B34"/>
                          </a:solidFill>
                          <a:latin typeface="Yu Gothic"/>
                          <a:ea typeface="Yu Gothic"/>
                        </a:rPr>
                        <a:t>100%</a:t>
                      </a:r>
                    </a:p>
                  </a:txBody>
                  <a:tcPr marL="64008" marR="64008" marT="27432" marB="27432" anchor="ctr">
                    <a:solidFill>
                      <a:srgbClr val="FFFFFF"/>
                    </a:solidFill>
                  </a:tcPr>
                </a:tc>
                <a:tc>
                  <a:txBody>
                    <a:bodyPr/>
                    <a:lstStyle/>
                    <a:p>
                      <a:pPr algn="ctr">
                        <a:spcAft>
                          <a:spcPts val="0"/>
                        </a:spcAft>
                      </a:pPr>
                      <a:r>
                        <a:rPr sz="2000" b="0">
                          <a:solidFill>
                            <a:srgbClr val="232B34"/>
                          </a:solidFill>
                          <a:latin typeface="Yu Gothic"/>
                          <a:ea typeface="Yu Gothic"/>
                        </a:rPr>
                        <a:t>0.10 s</a:t>
                      </a:r>
                    </a:p>
                  </a:txBody>
                  <a:tcPr marL="64008" marR="64008" marT="27432" marB="27432" anchor="ctr">
                    <a:solidFill>
                      <a:srgbClr val="EBF6FB"/>
                    </a:solidFill>
                  </a:tcPr>
                </a:tc>
                <a:extLst>
                  <a:ext uri="{0D108BD9-81ED-4DB2-BD59-A6C34878D82A}">
                    <a16:rowId xmlns:a16="http://schemas.microsoft.com/office/drawing/2014/main" val="10003"/>
                  </a:ext>
                </a:extLst>
              </a:tr>
              <a:tr h="987552">
                <a:tc>
                  <a:txBody>
                    <a:bodyPr/>
                    <a:lstStyle/>
                    <a:p>
                      <a:pPr algn="l">
                        <a:spcAft>
                          <a:spcPts val="0"/>
                        </a:spcAft>
                      </a:pPr>
                      <a:r>
                        <a:rPr sz="2000" b="0">
                          <a:solidFill>
                            <a:srgbClr val="232B34"/>
                          </a:solidFill>
                          <a:latin typeface="Yu Gothic"/>
                          <a:ea typeface="Yu Gothic"/>
                        </a:rPr>
                        <a:t>熱の真値</a:t>
                      </a:r>
                    </a:p>
                  </a:txBody>
                  <a:tcPr marL="64008" marR="64008" marT="27432" marB="27432" anchor="ctr">
                    <a:solidFill>
                      <a:srgbClr val="F4F6F8"/>
                    </a:solidFill>
                  </a:tcPr>
                </a:tc>
                <a:tc>
                  <a:txBody>
                    <a:bodyPr/>
                    <a:lstStyle/>
                    <a:p>
                      <a:pPr algn="ctr">
                        <a:spcAft>
                          <a:spcPts val="0"/>
                        </a:spcAft>
                      </a:pPr>
                      <a:r>
                        <a:rPr sz="2000" b="0">
                          <a:solidFill>
                            <a:srgbClr val="232B34"/>
                          </a:solidFill>
                          <a:latin typeface="Yu Gothic"/>
                          <a:ea typeface="Yu Gothic"/>
                        </a:rPr>
                        <a:t>100%</a:t>
                      </a:r>
                    </a:p>
                  </a:txBody>
                  <a:tcPr marL="64008" marR="64008" marT="27432" marB="27432" anchor="ctr">
                    <a:solidFill>
                      <a:srgbClr val="F4F6F8"/>
                    </a:solidFill>
                  </a:tcPr>
                </a:tc>
                <a:tc>
                  <a:txBody>
                    <a:bodyPr/>
                    <a:lstStyle/>
                    <a:p>
                      <a:pPr algn="ctr">
                        <a:spcAft>
                          <a:spcPts val="0"/>
                        </a:spcAft>
                      </a:pPr>
                      <a:r>
                        <a:rPr sz="2000" b="0">
                          <a:solidFill>
                            <a:srgbClr val="232B34"/>
                          </a:solidFill>
                          <a:latin typeface="Yu Gothic"/>
                          <a:ea typeface="Yu Gothic"/>
                        </a:rPr>
                        <a:t>0.10 s</a:t>
                      </a:r>
                    </a:p>
                  </a:txBody>
                  <a:tcPr marL="64008" marR="64008" marT="27432" marB="27432" anchor="ctr">
                    <a:solidFill>
                      <a:srgbClr val="EBF6FB"/>
                    </a:solidFill>
                  </a:tcPr>
                </a:tc>
                <a:extLst>
                  <a:ext uri="{0D108BD9-81ED-4DB2-BD59-A6C34878D82A}">
                    <a16:rowId xmlns:a16="http://schemas.microsoft.com/office/drawing/2014/main" val="10004"/>
                  </a:ext>
                </a:extLst>
              </a:tr>
            </a:tbl>
          </a:graphicData>
        </a:graphic>
      </p:graphicFrame>
      <p:sp>
        <p:nvSpPr>
          <p:cNvPr id="22" name="Rounded Rectangle 21"/>
          <p:cNvSpPr/>
          <p:nvPr/>
        </p:nvSpPr>
        <p:spPr>
          <a:xfrm>
            <a:off x="16367759" y="8412480"/>
            <a:ext cx="6583680" cy="1417320"/>
          </a:xfrm>
          <a:prstGeom prst="roundRect">
            <a:avLst/>
          </a:prstGeom>
          <a:solidFill>
            <a:srgbClr val="FFFFFF"/>
          </a:solidFill>
          <a:ln w="2286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6459200" y="8540496"/>
            <a:ext cx="6400800" cy="566928"/>
          </a:xfrm>
          <a:prstGeom prst="rect">
            <a:avLst/>
          </a:prstGeom>
          <a:noFill/>
        </p:spPr>
        <p:txBody>
          <a:bodyPr wrap="square" lIns="36576" tIns="27432" rIns="36576" bIns="27432" anchor="t">
            <a:spAutoFit/>
          </a:bodyPr>
          <a:lstStyle/>
          <a:p>
            <a:pPr algn="ctr">
              <a:spcAft>
                <a:spcPts val="0"/>
              </a:spcAft>
            </a:pPr>
            <a:r>
              <a:rPr sz="3400" b="1">
                <a:solidFill>
                  <a:srgbClr val="239571"/>
                </a:solidFill>
                <a:latin typeface="Yu Gothic"/>
                <a:ea typeface="Yu Gothic"/>
              </a:rPr>
              <a:t>9.3 µrad</a:t>
            </a:r>
          </a:p>
        </p:txBody>
      </p:sp>
      <p:sp>
        <p:nvSpPr>
          <p:cNvPr id="24" name="TextBox 23"/>
          <p:cNvSpPr txBox="1"/>
          <p:nvPr/>
        </p:nvSpPr>
        <p:spPr>
          <a:xfrm>
            <a:off x="16459200" y="9217152"/>
            <a:ext cx="6400800" cy="365760"/>
          </a:xfrm>
          <a:prstGeom prst="rect">
            <a:avLst/>
          </a:prstGeom>
          <a:noFill/>
        </p:spPr>
        <p:txBody>
          <a:bodyPr wrap="square" lIns="36576" tIns="27432" rIns="36576" bIns="27432" anchor="t">
            <a:spAutoFit/>
          </a:bodyPr>
          <a:lstStyle/>
          <a:p>
            <a:pPr algn="ctr">
              <a:spcAft>
                <a:spcPts val="0"/>
              </a:spcAft>
            </a:pPr>
            <a:r>
              <a:rPr sz="2000" b="0">
                <a:solidFill>
                  <a:srgbClr val="666F79"/>
                </a:solidFill>
                <a:latin typeface="Yu Gothic"/>
                <a:ea typeface="Yu Gothic"/>
              </a:rPr>
              <a:t>補正後の平均熱残差</a:t>
            </a:r>
          </a:p>
        </p:txBody>
      </p:sp>
      <p:sp>
        <p:nvSpPr>
          <p:cNvPr id="25" name="TextBox 24"/>
          <p:cNvSpPr txBox="1"/>
          <p:nvPr/>
        </p:nvSpPr>
        <p:spPr>
          <a:xfrm>
            <a:off x="2011680" y="10424160"/>
            <a:ext cx="20299680" cy="1188720"/>
          </a:xfrm>
          <a:prstGeom prst="rect">
            <a:avLst/>
          </a:prstGeom>
          <a:noFill/>
        </p:spPr>
        <p:txBody>
          <a:bodyPr wrap="square" lIns="36576" tIns="27432" rIns="36576" bIns="27432" anchor="t">
            <a:spAutoFit/>
          </a:bodyPr>
          <a:lstStyle/>
          <a:p>
            <a:pPr algn="ctr">
              <a:lnSpc>
                <a:spcPct val="115000"/>
              </a:lnSpc>
              <a:spcAft>
                <a:spcPts val="0"/>
              </a:spcAft>
            </a:pPr>
            <a:r>
              <a:rPr sz="2500" b="0">
                <a:solidFill>
                  <a:srgbClr val="666F79"/>
                </a:solidFill>
                <a:latin typeface="Yu Gothic"/>
                <a:ea typeface="Yu Gothic"/>
              </a:rPr>
              <a:t>残差が検出半径150 µradより十分小さいので、滞在1回分で捕捉する</a:t>
            </a:r>
          </a:p>
          <a:p>
            <a:pPr algn="ctr">
              <a:lnSpc>
                <a:spcPct val="115000"/>
              </a:lnSpc>
              <a:spcAft>
                <a:spcPts val="0"/>
              </a:spcAft>
            </a:pPr>
            <a:r>
              <a:rPr sz="2500" b="0">
                <a:solidFill>
                  <a:srgbClr val="666F79"/>
                </a:solidFill>
                <a:latin typeface="Yu Gothic"/>
                <a:ea typeface="Yu Gothic"/>
              </a:rPr>
              <a:t>COLD・標準表面の14ケース平均。主結果は次の非熱込み</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Yu Gothic"/>
                <a:ea typeface="Yu Gothic"/>
              </a:rPr>
              <a:t>捕捉評価の結果</a:t>
            </a:r>
          </a:p>
        </p:txBody>
      </p:sp>
      <p:sp>
        <p:nvSpPr>
          <p:cNvPr id="3" name="TextBox 2"/>
          <p:cNvSpPr txBox="1"/>
          <p:nvPr/>
        </p:nvSpPr>
        <p:spPr>
          <a:xfrm>
            <a:off x="1536192" y="1298448"/>
            <a:ext cx="22037040" cy="1009507"/>
          </a:xfrm>
          <a:prstGeom prst="rect">
            <a:avLst/>
          </a:prstGeom>
          <a:noFill/>
        </p:spPr>
        <p:txBody>
          <a:bodyPr wrap="square" lIns="36576" tIns="27432" rIns="36576" bIns="27432" anchor="t">
            <a:spAutoFit/>
          </a:bodyPr>
          <a:lstStyle/>
          <a:p>
            <a:pPr algn="l">
              <a:spcAft>
                <a:spcPts val="0"/>
              </a:spcAft>
            </a:pPr>
            <a:endParaRPr lang="en-US" sz="3100" b="1" dirty="0">
              <a:solidFill>
                <a:srgbClr val="082B52"/>
              </a:solidFill>
              <a:latin typeface="Yu Gothic"/>
              <a:ea typeface="Yu Gothic"/>
            </a:endParaRPr>
          </a:p>
          <a:p>
            <a:pPr algn="l">
              <a:spcAft>
                <a:spcPts val="0"/>
              </a:spcAft>
            </a:pPr>
            <a:r>
              <a:rPr sz="3100" b="1" dirty="0" err="1">
                <a:solidFill>
                  <a:srgbClr val="082B52"/>
                </a:solidFill>
                <a:latin typeface="Yu Gothic"/>
                <a:ea typeface="Yu Gothic"/>
              </a:rPr>
              <a:t>非熱</a:t>
            </a:r>
            <a:r>
              <a:rPr lang="en-US" sz="3100" b="1" dirty="0" err="1">
                <a:solidFill>
                  <a:srgbClr val="082B52"/>
                </a:solidFill>
                <a:latin typeface="Yu Gothic"/>
                <a:ea typeface="Yu Gothic"/>
              </a:rPr>
              <a:t>LOS</a:t>
            </a:r>
            <a:r>
              <a:rPr lang="ja-JP" altLang="en-US" sz="3100" b="1" dirty="0">
                <a:solidFill>
                  <a:srgbClr val="082B52"/>
                </a:solidFill>
                <a:latin typeface="Yu Gothic"/>
                <a:ea typeface="Yu Gothic"/>
              </a:rPr>
              <a:t>誤差も含む場合、平均</a:t>
            </a:r>
            <a:r>
              <a:rPr sz="3100" b="1" dirty="0">
                <a:solidFill>
                  <a:srgbClr val="082B52"/>
                </a:solidFill>
                <a:latin typeface="Yu Gothic"/>
                <a:ea typeface="Yu Gothic"/>
              </a:rPr>
              <a:t>19.2秒から5.45秒。残る</a:t>
            </a:r>
            <a:r>
              <a:rPr lang="ja-JP" altLang="en-US" sz="3100" b="1" dirty="0">
                <a:solidFill>
                  <a:srgbClr val="082B52"/>
                </a:solidFill>
                <a:latin typeface="Yu Gothic"/>
                <a:ea typeface="Yu Gothic"/>
              </a:rPr>
              <a:t>成分</a:t>
            </a:r>
            <a:r>
              <a:rPr sz="3100" b="1" dirty="0" err="1">
                <a:solidFill>
                  <a:srgbClr val="082B52"/>
                </a:solidFill>
                <a:latin typeface="Yu Gothic"/>
                <a:ea typeface="Yu Gothic"/>
              </a:rPr>
              <a:t>は熱ではなく非熱</a:t>
            </a:r>
            <a:r>
              <a:rPr lang="ja-JP" altLang="en-US" sz="3100" b="1" dirty="0">
                <a:solidFill>
                  <a:srgbClr val="082B52"/>
                </a:solidFill>
                <a:latin typeface="Yu Gothic"/>
                <a:ea typeface="Yu Gothic"/>
              </a:rPr>
              <a:t>誤差</a:t>
            </a:r>
            <a:r>
              <a:rPr sz="3100" b="1" dirty="0" err="1">
                <a:solidFill>
                  <a:srgbClr val="082B52"/>
                </a:solidFill>
                <a:latin typeface="Yu Gothic"/>
                <a:ea typeface="Yu Gothic"/>
              </a:rPr>
              <a:t>である</a:t>
            </a:r>
            <a:endParaRPr lang="en-US" sz="3200" b="1" dirty="0">
              <a:solidFill>
                <a:srgbClr val="082B52"/>
              </a:solidFill>
              <a:latin typeface="Yu Gothic"/>
            </a:endParaRPr>
          </a:p>
        </p:txBody>
      </p:sp>
      <p:sp>
        <p:nvSpPr>
          <p:cNvPr id="4" name="TextBox 3"/>
          <p:cNvSpPr txBox="1"/>
          <p:nvPr/>
        </p:nvSpPr>
        <p:spPr>
          <a:xfrm>
            <a:off x="21762720" y="12819888"/>
            <a:ext cx="2011680" cy="332399"/>
          </a:xfrm>
          <a:prstGeom prst="rect">
            <a:avLst/>
          </a:prstGeom>
          <a:noFill/>
        </p:spPr>
        <p:txBody>
          <a:bodyPr wrap="square" lIns="36576" tIns="27432" rIns="36576" bIns="27432" anchor="t">
            <a:spAutoFit/>
          </a:bodyPr>
          <a:lstStyle/>
          <a:p>
            <a:pPr algn="r">
              <a:spcAft>
                <a:spcPts val="0"/>
              </a:spcAft>
            </a:pPr>
            <a:r>
              <a:rPr sz="1800" b="0" dirty="0">
                <a:solidFill>
                  <a:srgbClr val="666F79"/>
                </a:solidFill>
                <a:latin typeface="Yu Gothic"/>
                <a:ea typeface="Yu Gothic"/>
              </a:rPr>
              <a:t>2</a:t>
            </a:r>
            <a:r>
              <a:rPr lang="en-US" sz="1800" b="0" dirty="0">
                <a:solidFill>
                  <a:srgbClr val="666F79"/>
                </a:solidFill>
                <a:latin typeface="Yu Gothic"/>
                <a:ea typeface="Yu Gothic"/>
              </a:rPr>
              <a:t>1</a:t>
            </a:r>
            <a:endParaRPr sz="1800" b="0" dirty="0">
              <a:solidFill>
                <a:srgbClr val="666F79"/>
              </a:solidFill>
              <a:latin typeface="Yu Gothic"/>
              <a:ea typeface="Yu Gothic"/>
            </a:endParaRPr>
          </a:p>
        </p:txBody>
      </p:sp>
      <p:sp>
        <p:nvSpPr>
          <p:cNvPr id="5" name="TextBox 4"/>
          <p:cNvSpPr txBox="1"/>
          <p:nvPr/>
        </p:nvSpPr>
        <p:spPr>
          <a:xfrm>
            <a:off x="1371600" y="3236976"/>
            <a:ext cx="4217212" cy="1755648"/>
          </a:xfrm>
          <a:prstGeom prst="rect">
            <a:avLst/>
          </a:prstGeom>
          <a:noFill/>
        </p:spPr>
        <p:txBody>
          <a:bodyPr wrap="square" lIns="36576" tIns="27432" rIns="36576" bIns="27432" anchor="ctr">
            <a:spAutoFit/>
          </a:bodyPr>
          <a:lstStyle/>
          <a:p>
            <a:pPr algn="l">
              <a:spcAft>
                <a:spcPts val="0"/>
              </a:spcAft>
            </a:pPr>
            <a:r>
              <a:rPr sz="2300" b="0">
                <a:solidFill>
                  <a:srgbClr val="232B34"/>
                </a:solidFill>
                <a:latin typeface="Yu Gothic"/>
                <a:ea typeface="Yu Gothic"/>
              </a:rPr>
              <a:t>補正なし</a:t>
            </a:r>
          </a:p>
        </p:txBody>
      </p:sp>
      <p:sp>
        <p:nvSpPr>
          <p:cNvPr id="6" name="Rectangle 5"/>
          <p:cNvSpPr/>
          <p:nvPr/>
        </p:nvSpPr>
        <p:spPr>
          <a:xfrm>
            <a:off x="5680252" y="3337560"/>
            <a:ext cx="8538667" cy="1554480"/>
          </a:xfrm>
          <a:prstGeom prst="rect">
            <a:avLst/>
          </a:prstGeom>
          <a:solidFill>
            <a:srgbClr val="F4F6F8"/>
          </a:solidFill>
          <a:ln w="16510">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80252" y="3337560"/>
            <a:ext cx="8373230" cy="1554480"/>
          </a:xfrm>
          <a:prstGeom prst="rect">
            <a:avLst/>
          </a:prstGeom>
          <a:solidFill>
            <a:srgbClr val="D03B46"/>
          </a:solidFill>
          <a:ln w="16510">
            <a:solidFill>
              <a:srgbClr val="D03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4328647" y="3200400"/>
            <a:ext cx="914400" cy="1828800"/>
          </a:xfrm>
          <a:prstGeom prst="rect">
            <a:avLst/>
          </a:prstGeom>
          <a:noFill/>
        </p:spPr>
        <p:txBody>
          <a:bodyPr wrap="square" lIns="36576" tIns="27432" rIns="36576" bIns="27432" anchor="ctr">
            <a:spAutoFit/>
          </a:bodyPr>
          <a:lstStyle/>
          <a:p>
            <a:pPr algn="l">
              <a:spcAft>
                <a:spcPts val="0"/>
              </a:spcAft>
            </a:pPr>
            <a:r>
              <a:rPr sz="2200" b="1">
                <a:solidFill>
                  <a:srgbClr val="D03B46"/>
                </a:solidFill>
                <a:latin typeface="Yu Gothic"/>
                <a:ea typeface="Yu Gothic"/>
              </a:rPr>
              <a:t>19.2 s</a:t>
            </a:r>
          </a:p>
        </p:txBody>
      </p:sp>
      <p:sp>
        <p:nvSpPr>
          <p:cNvPr id="9" name="TextBox 8"/>
          <p:cNvSpPr txBox="1"/>
          <p:nvPr/>
        </p:nvSpPr>
        <p:spPr>
          <a:xfrm>
            <a:off x="1371600" y="5065776"/>
            <a:ext cx="4217212" cy="1755648"/>
          </a:xfrm>
          <a:prstGeom prst="rect">
            <a:avLst/>
          </a:prstGeom>
          <a:noFill/>
        </p:spPr>
        <p:txBody>
          <a:bodyPr wrap="square" lIns="36576" tIns="27432" rIns="36576" bIns="27432" anchor="ctr">
            <a:spAutoFit/>
          </a:bodyPr>
          <a:lstStyle/>
          <a:p>
            <a:pPr algn="l">
              <a:spcAft>
                <a:spcPts val="0"/>
              </a:spcAft>
            </a:pPr>
            <a:r>
              <a:rPr sz="2300" b="0">
                <a:solidFill>
                  <a:srgbClr val="232B34"/>
                </a:solidFill>
                <a:latin typeface="Yu Gothic"/>
                <a:ea typeface="Yu Gothic"/>
              </a:rPr>
              <a:t>階層モデル</a:t>
            </a:r>
          </a:p>
        </p:txBody>
      </p:sp>
      <p:sp>
        <p:nvSpPr>
          <p:cNvPr id="10" name="Rectangle 9"/>
          <p:cNvSpPr/>
          <p:nvPr/>
        </p:nvSpPr>
        <p:spPr>
          <a:xfrm>
            <a:off x="5680252" y="5166360"/>
            <a:ext cx="8538667" cy="1554480"/>
          </a:xfrm>
          <a:prstGeom prst="rect">
            <a:avLst/>
          </a:prstGeom>
          <a:solidFill>
            <a:srgbClr val="F4F6F8"/>
          </a:solidFill>
          <a:ln w="16510">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680252" y="5166360"/>
            <a:ext cx="2424255" cy="1554480"/>
          </a:xfrm>
          <a:prstGeom prst="rect">
            <a:avLst/>
          </a:prstGeom>
          <a:solidFill>
            <a:srgbClr val="239571"/>
          </a:solidFill>
          <a:ln w="1651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4328647" y="5029200"/>
            <a:ext cx="914400" cy="1828800"/>
          </a:xfrm>
          <a:prstGeom prst="rect">
            <a:avLst/>
          </a:prstGeom>
          <a:noFill/>
        </p:spPr>
        <p:txBody>
          <a:bodyPr wrap="square" lIns="36576" tIns="27432" rIns="36576" bIns="27432" anchor="ctr">
            <a:spAutoFit/>
          </a:bodyPr>
          <a:lstStyle/>
          <a:p>
            <a:pPr algn="l">
              <a:spcAft>
                <a:spcPts val="0"/>
              </a:spcAft>
            </a:pPr>
            <a:r>
              <a:rPr sz="2200" b="1">
                <a:solidFill>
                  <a:srgbClr val="239571"/>
                </a:solidFill>
                <a:latin typeface="Yu Gothic"/>
                <a:ea typeface="Yu Gothic"/>
              </a:rPr>
              <a:t>5.45 s</a:t>
            </a:r>
          </a:p>
        </p:txBody>
      </p:sp>
      <p:sp>
        <p:nvSpPr>
          <p:cNvPr id="13" name="Rounded Rectangle 12"/>
          <p:cNvSpPr/>
          <p:nvPr/>
        </p:nvSpPr>
        <p:spPr>
          <a:xfrm>
            <a:off x="16093440" y="3108960"/>
            <a:ext cx="6675120" cy="1417320"/>
          </a:xfrm>
          <a:prstGeom prst="roundRect">
            <a:avLst/>
          </a:prstGeom>
          <a:solidFill>
            <a:srgbClr val="FFFFFF"/>
          </a:solidFill>
          <a:ln w="2286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6184880" y="3236976"/>
            <a:ext cx="6492240" cy="566928"/>
          </a:xfrm>
          <a:prstGeom prst="rect">
            <a:avLst/>
          </a:prstGeom>
          <a:noFill/>
        </p:spPr>
        <p:txBody>
          <a:bodyPr wrap="square" lIns="36576" tIns="27432" rIns="36576" bIns="27432" anchor="t">
            <a:spAutoFit/>
          </a:bodyPr>
          <a:lstStyle/>
          <a:p>
            <a:pPr algn="ctr">
              <a:spcAft>
                <a:spcPts val="0"/>
              </a:spcAft>
            </a:pPr>
            <a:r>
              <a:rPr sz="3400" b="1">
                <a:solidFill>
                  <a:srgbClr val="239571"/>
                </a:solidFill>
                <a:latin typeface="Yu Gothic"/>
                <a:ea typeface="Yu Gothic"/>
              </a:rPr>
              <a:t>−72%</a:t>
            </a:r>
          </a:p>
        </p:txBody>
      </p:sp>
      <p:sp>
        <p:nvSpPr>
          <p:cNvPr id="15" name="TextBox 14"/>
          <p:cNvSpPr txBox="1"/>
          <p:nvPr/>
        </p:nvSpPr>
        <p:spPr>
          <a:xfrm>
            <a:off x="16184880" y="3913632"/>
            <a:ext cx="6492240" cy="365760"/>
          </a:xfrm>
          <a:prstGeom prst="rect">
            <a:avLst/>
          </a:prstGeom>
          <a:noFill/>
        </p:spPr>
        <p:txBody>
          <a:bodyPr wrap="square" lIns="36576" tIns="27432" rIns="36576" bIns="27432" anchor="t">
            <a:spAutoFit/>
          </a:bodyPr>
          <a:lstStyle/>
          <a:p>
            <a:pPr algn="ctr">
              <a:spcAft>
                <a:spcPts val="0"/>
              </a:spcAft>
            </a:pPr>
            <a:r>
              <a:rPr sz="2000" b="0">
                <a:solidFill>
                  <a:srgbClr val="666F79"/>
                </a:solidFill>
                <a:latin typeface="Yu Gothic"/>
                <a:ea typeface="Yu Gothic"/>
              </a:rPr>
              <a:t>平均捕捉時間</a:t>
            </a:r>
          </a:p>
        </p:txBody>
      </p:sp>
      <p:sp>
        <p:nvSpPr>
          <p:cNvPr id="16" name="Rounded Rectangle 15"/>
          <p:cNvSpPr/>
          <p:nvPr/>
        </p:nvSpPr>
        <p:spPr>
          <a:xfrm>
            <a:off x="16093440" y="5257800"/>
            <a:ext cx="6675120" cy="1417320"/>
          </a:xfrm>
          <a:prstGeom prst="roundRect">
            <a:avLst/>
          </a:prstGeom>
          <a:solidFill>
            <a:srgbClr val="FFFFFF"/>
          </a:solidFill>
          <a:ln w="22860">
            <a:solidFill>
              <a:srgbClr val="1B7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6184880" y="5385816"/>
            <a:ext cx="6492240" cy="566928"/>
          </a:xfrm>
          <a:prstGeom prst="rect">
            <a:avLst/>
          </a:prstGeom>
          <a:noFill/>
        </p:spPr>
        <p:txBody>
          <a:bodyPr wrap="square" lIns="36576" tIns="27432" rIns="36576" bIns="27432" anchor="t">
            <a:spAutoFit/>
          </a:bodyPr>
          <a:lstStyle/>
          <a:p>
            <a:pPr algn="ctr">
              <a:spcAft>
                <a:spcPts val="0"/>
              </a:spcAft>
            </a:pPr>
            <a:r>
              <a:rPr sz="3200" b="1">
                <a:solidFill>
                  <a:srgbClr val="1B74AA"/>
                </a:solidFill>
                <a:latin typeface="Yu Gothic"/>
                <a:ea typeface="Yu Gothic"/>
              </a:rPr>
              <a:t>98 → 100%</a:t>
            </a:r>
          </a:p>
        </p:txBody>
      </p:sp>
      <p:sp>
        <p:nvSpPr>
          <p:cNvPr id="18" name="TextBox 17"/>
          <p:cNvSpPr txBox="1"/>
          <p:nvPr/>
        </p:nvSpPr>
        <p:spPr>
          <a:xfrm>
            <a:off x="16184880" y="6062472"/>
            <a:ext cx="6492240" cy="365760"/>
          </a:xfrm>
          <a:prstGeom prst="rect">
            <a:avLst/>
          </a:prstGeom>
          <a:noFill/>
        </p:spPr>
        <p:txBody>
          <a:bodyPr wrap="square" lIns="36576" tIns="27432" rIns="36576" bIns="27432" anchor="t">
            <a:spAutoFit/>
          </a:bodyPr>
          <a:lstStyle/>
          <a:p>
            <a:pPr algn="ctr">
              <a:spcAft>
                <a:spcPts val="0"/>
              </a:spcAft>
            </a:pPr>
            <a:r>
              <a:rPr sz="2000" b="0">
                <a:solidFill>
                  <a:srgbClr val="666F79"/>
                </a:solidFill>
                <a:latin typeface="Yu Gothic"/>
                <a:ea typeface="Yu Gothic"/>
              </a:rPr>
              <a:t>成功率</a:t>
            </a:r>
          </a:p>
        </p:txBody>
      </p:sp>
      <p:graphicFrame>
        <p:nvGraphicFramePr>
          <p:cNvPr id="19" name="Table 18"/>
          <p:cNvGraphicFramePr>
            <a:graphicFrameLocks noGrp="1"/>
          </p:cNvGraphicFramePr>
          <p:nvPr/>
        </p:nvGraphicFramePr>
        <p:xfrm>
          <a:off x="2743200" y="7635240"/>
          <a:ext cx="18928080" cy="3246120"/>
        </p:xfrm>
        <a:graphic>
          <a:graphicData uri="http://schemas.openxmlformats.org/drawingml/2006/table">
            <a:tbl>
              <a:tblPr firstRow="1" bandRow="1">
                <a:tableStyleId>{5C22544A-7EE6-4342-B048-85BDC9FD1C3A}</a:tableStyleId>
              </a:tblPr>
              <a:tblGrid>
                <a:gridCol w="7406640">
                  <a:extLst>
                    <a:ext uri="{9D8B030D-6E8A-4147-A177-3AD203B41FA5}">
                      <a16:colId xmlns:a16="http://schemas.microsoft.com/office/drawing/2014/main" val="20000"/>
                    </a:ext>
                  </a:extLst>
                </a:gridCol>
                <a:gridCol w="5760720">
                  <a:extLst>
                    <a:ext uri="{9D8B030D-6E8A-4147-A177-3AD203B41FA5}">
                      <a16:colId xmlns:a16="http://schemas.microsoft.com/office/drawing/2014/main" val="20001"/>
                    </a:ext>
                  </a:extLst>
                </a:gridCol>
                <a:gridCol w="5760720">
                  <a:extLst>
                    <a:ext uri="{9D8B030D-6E8A-4147-A177-3AD203B41FA5}">
                      <a16:colId xmlns:a16="http://schemas.microsoft.com/office/drawing/2014/main" val="20002"/>
                    </a:ext>
                  </a:extLst>
                </a:gridCol>
              </a:tblGrid>
              <a:tr h="649224">
                <a:tc>
                  <a:txBody>
                    <a:bodyPr/>
                    <a:lstStyle/>
                    <a:p>
                      <a:pPr algn="l">
                        <a:spcAft>
                          <a:spcPts val="0"/>
                        </a:spcAft>
                      </a:pPr>
                      <a:r>
                        <a:rPr sz="2100" b="1">
                          <a:solidFill>
                            <a:srgbClr val="FFFFFF"/>
                          </a:solidFill>
                          <a:latin typeface="Yu Gothic"/>
                          <a:ea typeface="Yu Gothic"/>
                        </a:rPr>
                        <a:t>指標</a:t>
                      </a:r>
                    </a:p>
                  </a:txBody>
                  <a:tcPr marL="64008" marR="64008" marT="27432" marB="27432" anchor="ctr">
                    <a:solidFill>
                      <a:srgbClr val="082B52"/>
                    </a:solidFill>
                  </a:tcPr>
                </a:tc>
                <a:tc>
                  <a:txBody>
                    <a:bodyPr/>
                    <a:lstStyle/>
                    <a:p>
                      <a:pPr algn="ctr">
                        <a:spcAft>
                          <a:spcPts val="0"/>
                        </a:spcAft>
                      </a:pPr>
                      <a:r>
                        <a:rPr sz="2100" b="1">
                          <a:solidFill>
                            <a:srgbClr val="FFFFFF"/>
                          </a:solidFill>
                          <a:latin typeface="Yu Gothic"/>
                          <a:ea typeface="Yu Gothic"/>
                        </a:rPr>
                        <a:t>補正なし</a:t>
                      </a:r>
                    </a:p>
                  </a:txBody>
                  <a:tcPr marL="64008" marR="64008" marT="27432" marB="27432" anchor="ctr">
                    <a:solidFill>
                      <a:srgbClr val="082B52"/>
                    </a:solidFill>
                  </a:tcPr>
                </a:tc>
                <a:tc>
                  <a:txBody>
                    <a:bodyPr/>
                    <a:lstStyle/>
                    <a:p>
                      <a:pPr algn="ctr">
                        <a:spcAft>
                          <a:spcPts val="0"/>
                        </a:spcAft>
                      </a:pPr>
                      <a:r>
                        <a:rPr sz="2100" b="1">
                          <a:solidFill>
                            <a:srgbClr val="FFFFFF"/>
                          </a:solidFill>
                          <a:latin typeface="Yu Gothic"/>
                          <a:ea typeface="Yu Gothic"/>
                        </a:rPr>
                        <a:t>階層モデル（フィードフォワード）</a:t>
                      </a:r>
                    </a:p>
                  </a:txBody>
                  <a:tcPr marL="64008" marR="64008" marT="27432" marB="27432" anchor="ctr">
                    <a:solidFill>
                      <a:srgbClr val="082B52"/>
                    </a:solidFill>
                  </a:tcPr>
                </a:tc>
                <a:extLst>
                  <a:ext uri="{0D108BD9-81ED-4DB2-BD59-A6C34878D82A}">
                    <a16:rowId xmlns:a16="http://schemas.microsoft.com/office/drawing/2014/main" val="10000"/>
                  </a:ext>
                </a:extLst>
              </a:tr>
              <a:tr h="649224">
                <a:tc>
                  <a:txBody>
                    <a:bodyPr/>
                    <a:lstStyle/>
                    <a:p>
                      <a:pPr algn="l">
                        <a:spcAft>
                          <a:spcPts val="0"/>
                        </a:spcAft>
                      </a:pPr>
                      <a:r>
                        <a:rPr sz="2100" b="0">
                          <a:solidFill>
                            <a:srgbClr val="232B34"/>
                          </a:solidFill>
                          <a:latin typeface="Yu Gothic"/>
                          <a:ea typeface="Yu Gothic"/>
                        </a:rPr>
                        <a:t>成功率</a:t>
                      </a:r>
                    </a:p>
                  </a:txBody>
                  <a:tcPr marL="64008" marR="64008" marT="27432" marB="27432" anchor="ctr">
                    <a:solidFill>
                      <a:srgbClr val="FFFFFF"/>
                    </a:solidFill>
                  </a:tcPr>
                </a:tc>
                <a:tc>
                  <a:txBody>
                    <a:bodyPr/>
                    <a:lstStyle/>
                    <a:p>
                      <a:pPr algn="ctr">
                        <a:spcAft>
                          <a:spcPts val="0"/>
                        </a:spcAft>
                      </a:pPr>
                      <a:r>
                        <a:rPr sz="2100" b="0">
                          <a:solidFill>
                            <a:srgbClr val="232B34"/>
                          </a:solidFill>
                          <a:latin typeface="Yu Gothic"/>
                          <a:ea typeface="Yu Gothic"/>
                        </a:rPr>
                        <a:t>98%</a:t>
                      </a:r>
                    </a:p>
                  </a:txBody>
                  <a:tcPr marL="64008" marR="64008" marT="27432" marB="27432" anchor="ctr">
                    <a:solidFill>
                      <a:srgbClr val="FFFFFF"/>
                    </a:solidFill>
                  </a:tcPr>
                </a:tc>
                <a:tc>
                  <a:txBody>
                    <a:bodyPr/>
                    <a:lstStyle/>
                    <a:p>
                      <a:pPr algn="ctr">
                        <a:spcAft>
                          <a:spcPts val="0"/>
                        </a:spcAft>
                      </a:pPr>
                      <a:r>
                        <a:rPr sz="2100" b="0">
                          <a:solidFill>
                            <a:srgbClr val="232B34"/>
                          </a:solidFill>
                          <a:latin typeface="Yu Gothic"/>
                          <a:ea typeface="Yu Gothic"/>
                        </a:rPr>
                        <a:t>100%</a:t>
                      </a:r>
                    </a:p>
                  </a:txBody>
                  <a:tcPr marL="64008" marR="64008" marT="27432" marB="27432" anchor="ctr">
                    <a:solidFill>
                      <a:srgbClr val="EBF6FB"/>
                    </a:solidFill>
                  </a:tcPr>
                </a:tc>
                <a:extLst>
                  <a:ext uri="{0D108BD9-81ED-4DB2-BD59-A6C34878D82A}">
                    <a16:rowId xmlns:a16="http://schemas.microsoft.com/office/drawing/2014/main" val="10001"/>
                  </a:ext>
                </a:extLst>
              </a:tr>
              <a:tr h="649224">
                <a:tc>
                  <a:txBody>
                    <a:bodyPr/>
                    <a:lstStyle/>
                    <a:p>
                      <a:pPr algn="l">
                        <a:spcAft>
                          <a:spcPts val="0"/>
                        </a:spcAft>
                      </a:pPr>
                      <a:r>
                        <a:rPr sz="2100" b="0">
                          <a:solidFill>
                            <a:srgbClr val="232B34"/>
                          </a:solidFill>
                          <a:latin typeface="Yu Gothic"/>
                          <a:ea typeface="Yu Gothic"/>
                        </a:rPr>
                        <a:t>平均捕捉時間</a:t>
                      </a:r>
                    </a:p>
                  </a:txBody>
                  <a:tcPr marL="64008" marR="64008" marT="27432" marB="27432" anchor="ctr">
                    <a:solidFill>
                      <a:srgbClr val="F4F6F8"/>
                    </a:solidFill>
                  </a:tcPr>
                </a:tc>
                <a:tc>
                  <a:txBody>
                    <a:bodyPr/>
                    <a:lstStyle/>
                    <a:p>
                      <a:pPr algn="ctr">
                        <a:spcAft>
                          <a:spcPts val="0"/>
                        </a:spcAft>
                      </a:pPr>
                      <a:r>
                        <a:rPr sz="2100" b="0">
                          <a:solidFill>
                            <a:srgbClr val="232B34"/>
                          </a:solidFill>
                          <a:latin typeface="Yu Gothic"/>
                          <a:ea typeface="Yu Gothic"/>
                        </a:rPr>
                        <a:t>19.2 s</a:t>
                      </a:r>
                    </a:p>
                  </a:txBody>
                  <a:tcPr marL="64008" marR="64008" marT="27432" marB="27432" anchor="ctr">
                    <a:solidFill>
                      <a:srgbClr val="F4F6F8"/>
                    </a:solidFill>
                  </a:tcPr>
                </a:tc>
                <a:tc>
                  <a:txBody>
                    <a:bodyPr/>
                    <a:lstStyle/>
                    <a:p>
                      <a:pPr algn="ctr">
                        <a:spcAft>
                          <a:spcPts val="0"/>
                        </a:spcAft>
                      </a:pPr>
                      <a:r>
                        <a:rPr sz="2100" b="0">
                          <a:solidFill>
                            <a:srgbClr val="232B34"/>
                          </a:solidFill>
                          <a:latin typeface="Yu Gothic"/>
                          <a:ea typeface="Yu Gothic"/>
                        </a:rPr>
                        <a:t>5.45 s</a:t>
                      </a:r>
                    </a:p>
                  </a:txBody>
                  <a:tcPr marL="64008" marR="64008" marT="27432" marB="27432" anchor="ctr">
                    <a:solidFill>
                      <a:srgbClr val="EBF6FB"/>
                    </a:solidFill>
                  </a:tcPr>
                </a:tc>
                <a:extLst>
                  <a:ext uri="{0D108BD9-81ED-4DB2-BD59-A6C34878D82A}">
                    <a16:rowId xmlns:a16="http://schemas.microsoft.com/office/drawing/2014/main" val="10002"/>
                  </a:ext>
                </a:extLst>
              </a:tr>
              <a:tr h="649224">
                <a:tc>
                  <a:txBody>
                    <a:bodyPr/>
                    <a:lstStyle/>
                    <a:p>
                      <a:pPr algn="l">
                        <a:spcAft>
                          <a:spcPts val="0"/>
                        </a:spcAft>
                      </a:pPr>
                      <a:r>
                        <a:rPr sz="2100" b="0">
                          <a:solidFill>
                            <a:srgbClr val="232B34"/>
                          </a:solidFill>
                          <a:latin typeface="Yu Gothic"/>
                          <a:ea typeface="Yu Gothic"/>
                        </a:rPr>
                        <a:t>補正後の平均初期誤差</a:t>
                      </a:r>
                    </a:p>
                  </a:txBody>
                  <a:tcPr marL="64008" marR="64008" marT="27432" marB="27432" anchor="ctr">
                    <a:solidFill>
                      <a:srgbClr val="FFFFFF"/>
                    </a:solidFill>
                  </a:tcPr>
                </a:tc>
                <a:tc>
                  <a:txBody>
                    <a:bodyPr/>
                    <a:lstStyle/>
                    <a:p>
                      <a:pPr algn="ctr">
                        <a:spcAft>
                          <a:spcPts val="0"/>
                        </a:spcAft>
                      </a:pPr>
                      <a:r>
                        <a:rPr sz="2100" b="0">
                          <a:solidFill>
                            <a:srgbClr val="232B34"/>
                          </a:solidFill>
                          <a:latin typeface="Yu Gothic"/>
                          <a:ea typeface="Yu Gothic"/>
                        </a:rPr>
                        <a:t>—</a:t>
                      </a:r>
                    </a:p>
                  </a:txBody>
                  <a:tcPr marL="64008" marR="64008" marT="27432" marB="27432" anchor="ctr">
                    <a:solidFill>
                      <a:srgbClr val="FFFFFF"/>
                    </a:solidFill>
                  </a:tcPr>
                </a:tc>
                <a:tc>
                  <a:txBody>
                    <a:bodyPr/>
                    <a:lstStyle/>
                    <a:p>
                      <a:pPr algn="ctr">
                        <a:spcAft>
                          <a:spcPts val="0"/>
                        </a:spcAft>
                      </a:pPr>
                      <a:r>
                        <a:rPr sz="2100" b="0">
                          <a:solidFill>
                            <a:srgbClr val="232B34"/>
                          </a:solidFill>
                          <a:latin typeface="Yu Gothic"/>
                          <a:ea typeface="Yu Gothic"/>
                        </a:rPr>
                        <a:t>448 µrad（ほぼ非熱）</a:t>
                      </a:r>
                    </a:p>
                  </a:txBody>
                  <a:tcPr marL="64008" marR="64008" marT="27432" marB="27432" anchor="ctr">
                    <a:solidFill>
                      <a:srgbClr val="EBF6FB"/>
                    </a:solidFill>
                  </a:tcPr>
                </a:tc>
                <a:extLst>
                  <a:ext uri="{0D108BD9-81ED-4DB2-BD59-A6C34878D82A}">
                    <a16:rowId xmlns:a16="http://schemas.microsoft.com/office/drawing/2014/main" val="10003"/>
                  </a:ext>
                </a:extLst>
              </a:tr>
              <a:tr h="649224">
                <a:tc>
                  <a:txBody>
                    <a:bodyPr/>
                    <a:lstStyle/>
                    <a:p>
                      <a:pPr algn="l">
                        <a:spcAft>
                          <a:spcPts val="0"/>
                        </a:spcAft>
                      </a:pPr>
                      <a:r>
                        <a:rPr sz="2100" b="0">
                          <a:solidFill>
                            <a:srgbClr val="232B34"/>
                          </a:solidFill>
                          <a:latin typeface="Yu Gothic"/>
                          <a:ea typeface="Yu Gothic"/>
                        </a:rPr>
                        <a:t>PY太陽面（熱 約1.2 mrad）</a:t>
                      </a:r>
                    </a:p>
                  </a:txBody>
                  <a:tcPr marL="64008" marR="64008" marT="27432" marB="27432" anchor="ctr">
                    <a:solidFill>
                      <a:srgbClr val="F4F6F8"/>
                    </a:solidFill>
                  </a:tcPr>
                </a:tc>
                <a:tc>
                  <a:txBody>
                    <a:bodyPr/>
                    <a:lstStyle/>
                    <a:p>
                      <a:pPr algn="ctr">
                        <a:spcAft>
                          <a:spcPts val="0"/>
                        </a:spcAft>
                      </a:pPr>
                      <a:r>
                        <a:rPr sz="2100" b="0">
                          <a:solidFill>
                            <a:srgbClr val="232B34"/>
                          </a:solidFill>
                          <a:latin typeface="Yu Gothic"/>
                          <a:ea typeface="Yu Gothic"/>
                        </a:rPr>
                        <a:t>37.3–39.5 s / 88–97%</a:t>
                      </a:r>
                    </a:p>
                  </a:txBody>
                  <a:tcPr marL="64008" marR="64008" marT="27432" marB="27432" anchor="ctr">
                    <a:solidFill>
                      <a:srgbClr val="F4F6F8"/>
                    </a:solidFill>
                  </a:tcPr>
                </a:tc>
                <a:tc>
                  <a:txBody>
                    <a:bodyPr/>
                    <a:lstStyle/>
                    <a:p>
                      <a:pPr algn="ctr">
                        <a:spcAft>
                          <a:spcPts val="0"/>
                        </a:spcAft>
                      </a:pPr>
                      <a:r>
                        <a:rPr sz="2100" b="0">
                          <a:solidFill>
                            <a:srgbClr val="232B34"/>
                          </a:solidFill>
                          <a:latin typeface="Yu Gothic"/>
                          <a:ea typeface="Yu Gothic"/>
                        </a:rPr>
                        <a:t>1.3–1.8 s / 100%</a:t>
                      </a:r>
                    </a:p>
                  </a:txBody>
                  <a:tcPr marL="64008" marR="64008" marT="27432" marB="27432" anchor="ctr">
                    <a:solidFill>
                      <a:srgbClr val="EBF6FB"/>
                    </a:solidFill>
                  </a:tcPr>
                </a:tc>
                <a:extLst>
                  <a:ext uri="{0D108BD9-81ED-4DB2-BD59-A6C34878D82A}">
                    <a16:rowId xmlns:a16="http://schemas.microsoft.com/office/drawing/2014/main" val="10004"/>
                  </a:ext>
                </a:extLst>
              </a:tr>
            </a:tbl>
          </a:graphicData>
        </a:graphic>
      </p:graphicFrame>
      <p:sp>
        <p:nvSpPr>
          <p:cNvPr id="20" name="TextBox 19"/>
          <p:cNvSpPr txBox="1"/>
          <p:nvPr/>
        </p:nvSpPr>
        <p:spPr>
          <a:xfrm>
            <a:off x="1355566" y="11942141"/>
            <a:ext cx="21671280" cy="486287"/>
          </a:xfrm>
          <a:prstGeom prst="rect">
            <a:avLst/>
          </a:prstGeom>
          <a:noFill/>
        </p:spPr>
        <p:txBody>
          <a:bodyPr wrap="square" lIns="36576" tIns="27432" rIns="36576" bIns="27432" anchor="t">
            <a:spAutoFit/>
          </a:bodyPr>
          <a:lstStyle/>
          <a:p>
            <a:pPr algn="ctr"/>
            <a:r>
              <a:rPr lang="ja-JP" altLang="ja-JP" sz="2800" b="1" dirty="0"/>
              <a:t>熱を予測して除くことで，粗捕捉性能の支配要因を「熱」から「非熱誤差」へ移す</a:t>
            </a:r>
            <a:endParaRPr lang="ja-JP" altLang="ja-JP" sz="2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45720" tIns="18288" rIns="45720" bIns="18288" anchor="ctr">
            <a:spAutoFit/>
          </a:bodyPr>
          <a:lstStyle/>
          <a:p>
            <a:pPr algn="l">
              <a:spcAft>
                <a:spcPts val="0"/>
              </a:spcAft>
            </a:pPr>
            <a:r>
              <a:rPr sz="2000" b="0">
                <a:solidFill>
                  <a:srgbClr val="666F79"/>
                </a:solidFill>
                <a:latin typeface="Yu Gothic"/>
                <a:ea typeface="Yu Gothic"/>
              </a:rPr>
              <a:t>捕捉評価の結果</a:t>
            </a:r>
          </a:p>
        </p:txBody>
      </p:sp>
      <p:sp>
        <p:nvSpPr>
          <p:cNvPr id="3" name="TextBox 2"/>
          <p:cNvSpPr txBox="1"/>
          <p:nvPr/>
        </p:nvSpPr>
        <p:spPr>
          <a:xfrm>
            <a:off x="1536192" y="1359777"/>
            <a:ext cx="22037040" cy="1066061"/>
          </a:xfrm>
          <a:prstGeom prst="rect">
            <a:avLst/>
          </a:prstGeom>
          <a:noFill/>
        </p:spPr>
        <p:txBody>
          <a:bodyPr wrap="square" lIns="45720" tIns="18288" rIns="45720" bIns="18288" anchor="ctr">
            <a:spAutoFit/>
          </a:bodyPr>
          <a:lstStyle/>
          <a:p>
            <a:pPr algn="l">
              <a:lnSpc>
                <a:spcPct val="110000"/>
              </a:lnSpc>
              <a:spcAft>
                <a:spcPts val="0"/>
              </a:spcAft>
            </a:pPr>
            <a:endParaRPr lang="en-US" sz="3100" b="1" dirty="0">
              <a:solidFill>
                <a:srgbClr val="082B52"/>
              </a:solidFill>
              <a:latin typeface="Yu Gothic"/>
              <a:ea typeface="Yu Gothic"/>
            </a:endParaRPr>
          </a:p>
          <a:p>
            <a:pPr algn="l">
              <a:lnSpc>
                <a:spcPct val="110000"/>
              </a:lnSpc>
              <a:spcAft>
                <a:spcPts val="0"/>
              </a:spcAft>
            </a:pPr>
            <a:r>
              <a:rPr sz="3100" b="1" dirty="0" err="1">
                <a:solidFill>
                  <a:srgbClr val="082B52"/>
                </a:solidFill>
                <a:latin typeface="Yu Gothic"/>
                <a:ea typeface="Yu Gothic"/>
              </a:rPr>
              <a:t>初回を救うのは温度の予測。次の周の周期的な床は、捕捉後の残差で下げられる</a:t>
            </a:r>
            <a:endParaRPr sz="3100" b="1" dirty="0">
              <a:solidFill>
                <a:srgbClr val="082B52"/>
              </a:solidFill>
              <a:latin typeface="Yu Gothic"/>
              <a:ea typeface="Yu Gothic"/>
            </a:endParaRPr>
          </a:p>
        </p:txBody>
      </p:sp>
      <p:sp>
        <p:nvSpPr>
          <p:cNvPr id="4" name="TextBox 3"/>
          <p:cNvSpPr txBox="1"/>
          <p:nvPr/>
        </p:nvSpPr>
        <p:spPr>
          <a:xfrm>
            <a:off x="21762720" y="12819888"/>
            <a:ext cx="2011680" cy="384048"/>
          </a:xfrm>
          <a:prstGeom prst="rect">
            <a:avLst/>
          </a:prstGeom>
          <a:noFill/>
        </p:spPr>
        <p:txBody>
          <a:bodyPr wrap="square" lIns="45720" tIns="18288" rIns="45720" bIns="18288" anchor="t">
            <a:spAutoFit/>
          </a:bodyPr>
          <a:lstStyle/>
          <a:p>
            <a:pPr algn="r">
              <a:spcAft>
                <a:spcPts val="0"/>
              </a:spcAft>
            </a:pPr>
            <a:r>
              <a:rPr sz="1800" b="0">
                <a:solidFill>
                  <a:srgbClr val="666F79"/>
                </a:solidFill>
                <a:latin typeface="Yu Gothic"/>
                <a:ea typeface="Yu Gothic"/>
              </a:rPr>
              <a:t>21</a:t>
            </a:r>
          </a:p>
        </p:txBody>
      </p:sp>
      <p:sp>
        <p:nvSpPr>
          <p:cNvPr id="5" name="Rectangle 4"/>
          <p:cNvSpPr/>
          <p:nvPr/>
        </p:nvSpPr>
        <p:spPr>
          <a:xfrm>
            <a:off x="1005840" y="3017520"/>
            <a:ext cx="13716000" cy="6949440"/>
          </a:xfrm>
          <a:prstGeom prst="rect">
            <a:avLst/>
          </a:prstGeom>
          <a:noFill/>
          <a:ln w="12700">
            <a:solidFill>
              <a:srgbClr val="B8D5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Picture 5" descr="fig_residual_update_comparison.png"/>
          <p:cNvPicPr>
            <a:picLocks noChangeAspect="1"/>
          </p:cNvPicPr>
          <p:nvPr/>
        </p:nvPicPr>
        <p:blipFill>
          <a:blip r:embed="rId3"/>
          <a:stretch>
            <a:fillRect/>
          </a:stretch>
        </p:blipFill>
        <p:spPr>
          <a:xfrm>
            <a:off x="1143000" y="3318510"/>
            <a:ext cx="13441680" cy="6347460"/>
          </a:xfrm>
          <a:prstGeom prst="rect">
            <a:avLst/>
          </a:prstGeom>
        </p:spPr>
      </p:pic>
      <p:graphicFrame>
        <p:nvGraphicFramePr>
          <p:cNvPr id="7" name="Table 6"/>
          <p:cNvGraphicFramePr>
            <a:graphicFrameLocks noGrp="1"/>
          </p:cNvGraphicFramePr>
          <p:nvPr/>
        </p:nvGraphicFramePr>
        <p:xfrm>
          <a:off x="15270480" y="3291840"/>
          <a:ext cx="8138160" cy="3017517"/>
        </p:xfrm>
        <a:graphic>
          <a:graphicData uri="http://schemas.openxmlformats.org/drawingml/2006/table">
            <a:tbl>
              <a:tblPr firstRow="1" bandRow="1">
                <a:tableStyleId>{5C22544A-7EE6-4342-B048-85BDC9FD1C3A}</a:tableStyleId>
              </a:tblPr>
              <a:tblGrid>
                <a:gridCol w="4295140">
                  <a:extLst>
                    <a:ext uri="{9D8B030D-6E8A-4147-A177-3AD203B41FA5}">
                      <a16:colId xmlns:a16="http://schemas.microsoft.com/office/drawing/2014/main" val="20000"/>
                    </a:ext>
                  </a:extLst>
                </a:gridCol>
                <a:gridCol w="1808480">
                  <a:extLst>
                    <a:ext uri="{9D8B030D-6E8A-4147-A177-3AD203B41FA5}">
                      <a16:colId xmlns:a16="http://schemas.microsoft.com/office/drawing/2014/main" val="20001"/>
                    </a:ext>
                  </a:extLst>
                </a:gridCol>
                <a:gridCol w="2034540">
                  <a:extLst>
                    <a:ext uri="{9D8B030D-6E8A-4147-A177-3AD203B41FA5}">
                      <a16:colId xmlns:a16="http://schemas.microsoft.com/office/drawing/2014/main" val="20002"/>
                    </a:ext>
                  </a:extLst>
                </a:gridCol>
              </a:tblGrid>
              <a:tr h="1005839">
                <a:tc>
                  <a:txBody>
                    <a:bodyPr/>
                    <a:lstStyle/>
                    <a:p>
                      <a:pPr algn="l">
                        <a:spcAft>
                          <a:spcPts val="0"/>
                        </a:spcAft>
                      </a:pPr>
                      <a:r>
                        <a:rPr sz="2100" b="1">
                          <a:solidFill>
                            <a:srgbClr val="FFFFFF"/>
                          </a:solidFill>
                          <a:latin typeface="Yu Gothic"/>
                          <a:ea typeface="Yu Gothic"/>
                        </a:rPr>
                        <a:t>Case 16（PY）</a:t>
                      </a:r>
                    </a:p>
                  </a:txBody>
                  <a:tcPr marL="128016" marR="128016" anchor="ctr">
                    <a:solidFill>
                      <a:srgbClr val="082B52"/>
                    </a:solidFill>
                  </a:tcPr>
                </a:tc>
                <a:tc>
                  <a:txBody>
                    <a:bodyPr/>
                    <a:lstStyle/>
                    <a:p>
                      <a:pPr algn="ctr">
                        <a:spcAft>
                          <a:spcPts val="0"/>
                        </a:spcAft>
                      </a:pPr>
                      <a:r>
                        <a:rPr sz="2100" b="1">
                          <a:solidFill>
                            <a:srgbClr val="FFFFFF"/>
                          </a:solidFill>
                          <a:latin typeface="Yu Gothic"/>
                          <a:ea typeface="Yu Gothic"/>
                        </a:rPr>
                        <a:t>初周</a:t>
                      </a:r>
                    </a:p>
                  </a:txBody>
                  <a:tcPr marL="128016" marR="128016" anchor="ctr">
                    <a:solidFill>
                      <a:srgbClr val="082B52"/>
                    </a:solidFill>
                  </a:tcPr>
                </a:tc>
                <a:tc>
                  <a:txBody>
                    <a:bodyPr/>
                    <a:lstStyle/>
                    <a:p>
                      <a:pPr algn="ctr">
                        <a:spcAft>
                          <a:spcPts val="0"/>
                        </a:spcAft>
                      </a:pPr>
                      <a:r>
                        <a:rPr sz="2100" b="1">
                          <a:solidFill>
                            <a:srgbClr val="FFFFFF"/>
                          </a:solidFill>
                          <a:latin typeface="Yu Gothic"/>
                          <a:ea typeface="Yu Gothic"/>
                        </a:rPr>
                        <a:t>周1以降</a:t>
                      </a:r>
                    </a:p>
                  </a:txBody>
                  <a:tcPr marL="128016" marR="128016" anchor="ctr">
                    <a:solidFill>
                      <a:srgbClr val="082B52"/>
                    </a:solidFill>
                  </a:tcPr>
                </a:tc>
                <a:extLst>
                  <a:ext uri="{0D108BD9-81ED-4DB2-BD59-A6C34878D82A}">
                    <a16:rowId xmlns:a16="http://schemas.microsoft.com/office/drawing/2014/main" val="10000"/>
                  </a:ext>
                </a:extLst>
              </a:tr>
              <a:tr h="1005839">
                <a:tc>
                  <a:txBody>
                    <a:bodyPr/>
                    <a:lstStyle/>
                    <a:p>
                      <a:pPr algn="l">
                        <a:spcAft>
                          <a:spcPts val="0"/>
                        </a:spcAft>
                      </a:pPr>
                      <a:r>
                        <a:rPr sz="2100" b="0">
                          <a:solidFill>
                            <a:srgbClr val="232B34"/>
                          </a:solidFill>
                          <a:latin typeface="Yu Gothic"/>
                          <a:ea typeface="Yu Gothic"/>
                        </a:rPr>
                        <a:t>全誤差をまとめてFourier</a:t>
                      </a:r>
                    </a:p>
                  </a:txBody>
                  <a:tcPr marL="128016" marR="128016" anchor="ctr">
                    <a:solidFill>
                      <a:srgbClr val="FFFFFF"/>
                    </a:solidFill>
                  </a:tcPr>
                </a:tc>
                <a:tc>
                  <a:txBody>
                    <a:bodyPr/>
                    <a:lstStyle/>
                    <a:p>
                      <a:pPr algn="ctr">
                        <a:spcAft>
                          <a:spcPts val="0"/>
                        </a:spcAft>
                      </a:pPr>
                      <a:r>
                        <a:rPr sz="2100" b="0">
                          <a:solidFill>
                            <a:srgbClr val="232B34"/>
                          </a:solidFill>
                          <a:latin typeface="Yu Gothic"/>
                          <a:ea typeface="Yu Gothic"/>
                        </a:rPr>
                        <a:t>39.5 s</a:t>
                      </a:r>
                    </a:p>
                  </a:txBody>
                  <a:tcPr marL="128016" marR="128016" anchor="ctr">
                    <a:solidFill>
                      <a:srgbClr val="FFFFFF"/>
                    </a:solidFill>
                  </a:tcPr>
                </a:tc>
                <a:tc>
                  <a:txBody>
                    <a:bodyPr/>
                    <a:lstStyle/>
                    <a:p>
                      <a:pPr algn="ctr">
                        <a:spcAft>
                          <a:spcPts val="0"/>
                        </a:spcAft>
                      </a:pPr>
                      <a:r>
                        <a:rPr sz="2100" b="0">
                          <a:solidFill>
                            <a:srgbClr val="232B34"/>
                          </a:solidFill>
                          <a:latin typeface="Yu Gothic"/>
                          <a:ea typeface="Yu Gothic"/>
                        </a:rPr>
                        <a:t>0.38 s</a:t>
                      </a:r>
                    </a:p>
                  </a:txBody>
                  <a:tcPr marL="128016" marR="128016" anchor="ctr">
                    <a:solidFill>
                      <a:srgbClr val="EBF6FB"/>
                    </a:solidFill>
                  </a:tcPr>
                </a:tc>
                <a:extLst>
                  <a:ext uri="{0D108BD9-81ED-4DB2-BD59-A6C34878D82A}">
                    <a16:rowId xmlns:a16="http://schemas.microsoft.com/office/drawing/2014/main" val="10001"/>
                  </a:ext>
                </a:extLst>
              </a:tr>
              <a:tr h="1005839">
                <a:tc>
                  <a:txBody>
                    <a:bodyPr/>
                    <a:lstStyle/>
                    <a:p>
                      <a:pPr algn="l">
                        <a:spcAft>
                          <a:spcPts val="0"/>
                        </a:spcAft>
                      </a:pPr>
                      <a:r>
                        <a:rPr sz="2100" b="0">
                          <a:solidFill>
                            <a:srgbClr val="232B34"/>
                          </a:solidFill>
                          <a:latin typeface="Yu Gothic"/>
                          <a:ea typeface="Yu Gothic"/>
                        </a:rPr>
                        <a:t>階層モデル＋残差Fourier</a:t>
                      </a:r>
                    </a:p>
                  </a:txBody>
                  <a:tcPr marL="128016" marR="128016" anchor="ctr">
                    <a:solidFill>
                      <a:srgbClr val="F4F6F8"/>
                    </a:solidFill>
                  </a:tcPr>
                </a:tc>
                <a:tc>
                  <a:txBody>
                    <a:bodyPr/>
                    <a:lstStyle/>
                    <a:p>
                      <a:pPr algn="ctr">
                        <a:spcAft>
                          <a:spcPts val="0"/>
                        </a:spcAft>
                      </a:pPr>
                      <a:r>
                        <a:rPr sz="2100" b="0">
                          <a:solidFill>
                            <a:srgbClr val="232B34"/>
                          </a:solidFill>
                          <a:latin typeface="Yu Gothic"/>
                          <a:ea typeface="Yu Gothic"/>
                        </a:rPr>
                        <a:t>1.47 s</a:t>
                      </a:r>
                    </a:p>
                  </a:txBody>
                  <a:tcPr marL="128016" marR="128016" anchor="ctr">
                    <a:solidFill>
                      <a:srgbClr val="F4F6F8"/>
                    </a:solidFill>
                  </a:tcPr>
                </a:tc>
                <a:tc>
                  <a:txBody>
                    <a:bodyPr/>
                    <a:lstStyle/>
                    <a:p>
                      <a:pPr algn="ctr">
                        <a:spcAft>
                          <a:spcPts val="0"/>
                        </a:spcAft>
                      </a:pPr>
                      <a:r>
                        <a:rPr sz="2100" b="0">
                          <a:solidFill>
                            <a:srgbClr val="232B34"/>
                          </a:solidFill>
                          <a:latin typeface="Yu Gothic"/>
                          <a:ea typeface="Yu Gothic"/>
                        </a:rPr>
                        <a:t>0.40 s</a:t>
                      </a:r>
                    </a:p>
                  </a:txBody>
                  <a:tcPr marL="128016" marR="128016" anchor="ctr">
                    <a:solidFill>
                      <a:srgbClr val="EBF6FB"/>
                    </a:solidFill>
                  </a:tcPr>
                </a:tc>
                <a:extLst>
                  <a:ext uri="{0D108BD9-81ED-4DB2-BD59-A6C34878D82A}">
                    <a16:rowId xmlns:a16="http://schemas.microsoft.com/office/drawing/2014/main" val="10002"/>
                  </a:ext>
                </a:extLst>
              </a:tr>
            </a:tbl>
          </a:graphicData>
        </a:graphic>
      </p:graphicFrame>
      <p:sp>
        <p:nvSpPr>
          <p:cNvPr id="8" name="Rounded Rectangle 7"/>
          <p:cNvSpPr/>
          <p:nvPr/>
        </p:nvSpPr>
        <p:spPr>
          <a:xfrm>
            <a:off x="15270480" y="6675120"/>
            <a:ext cx="8138160" cy="2468880"/>
          </a:xfrm>
          <a:prstGeom prst="roundRect">
            <a:avLst/>
          </a:prstGeom>
          <a:solidFill>
            <a:srgbClr val="FEF5E6"/>
          </a:solidFill>
          <a:ln w="22860">
            <a:solidFill>
              <a:srgbClr val="EC942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5471647" y="6967728"/>
            <a:ext cx="7735824" cy="640080"/>
          </a:xfrm>
          <a:prstGeom prst="rect">
            <a:avLst/>
          </a:prstGeom>
          <a:noFill/>
        </p:spPr>
        <p:txBody>
          <a:bodyPr wrap="square" lIns="45720" tIns="18288" rIns="45720" bIns="18288" anchor="t">
            <a:spAutoFit/>
          </a:bodyPr>
          <a:lstStyle/>
          <a:p>
            <a:pPr algn="ctr">
              <a:spcAft>
                <a:spcPts val="0"/>
              </a:spcAft>
            </a:pPr>
            <a:r>
              <a:rPr sz="2400" b="1">
                <a:solidFill>
                  <a:srgbClr val="EC9427"/>
                </a:solidFill>
                <a:latin typeface="Yu Gothic"/>
                <a:ea typeface="Yu Gothic"/>
              </a:rPr>
              <a:t>定数の残差更新では足りない</a:t>
            </a:r>
          </a:p>
        </p:txBody>
      </p:sp>
      <p:sp>
        <p:nvSpPr>
          <p:cNvPr id="10" name="TextBox 9"/>
          <p:cNvSpPr txBox="1"/>
          <p:nvPr/>
        </p:nvSpPr>
        <p:spPr>
          <a:xfrm>
            <a:off x="15544800" y="7726679"/>
            <a:ext cx="7589520" cy="1234440"/>
          </a:xfrm>
          <a:prstGeom prst="rect">
            <a:avLst/>
          </a:prstGeom>
          <a:noFill/>
        </p:spPr>
        <p:txBody>
          <a:bodyPr wrap="square" lIns="45720" tIns="18288" rIns="45720" bIns="18288" anchor="t">
            <a:spAutoFit/>
          </a:bodyPr>
          <a:lstStyle/>
          <a:p>
            <a:pPr algn="ctr">
              <a:lnSpc>
                <a:spcPct val="115000"/>
              </a:lnSpc>
              <a:spcAft>
                <a:spcPts val="0"/>
              </a:spcAft>
            </a:pPr>
            <a:r>
              <a:rPr sz="2200" b="0">
                <a:solidFill>
                  <a:srgbClr val="232B34"/>
                </a:solidFill>
                <a:latin typeface="Yu Gothic"/>
                <a:ea typeface="Yu Gothic"/>
              </a:rPr>
              <a:t>Case 13 の周1以降は 1.66 → 1.35 s までで、
Fourier の 0.38 s には届かない</a:t>
            </a:r>
          </a:p>
        </p:txBody>
      </p:sp>
      <p:sp>
        <p:nvSpPr>
          <p:cNvPr id="11" name="Rounded Rectangle 10"/>
          <p:cNvSpPr/>
          <p:nvPr/>
        </p:nvSpPr>
        <p:spPr>
          <a:xfrm>
            <a:off x="15270480" y="9418320"/>
            <a:ext cx="8138160" cy="2743200"/>
          </a:xfrm>
          <a:prstGeom prst="roundRect">
            <a:avLst/>
          </a:prstGeom>
          <a:solidFill>
            <a:srgbClr val="F4F6F8"/>
          </a:solidFill>
          <a:ln w="22860">
            <a:solidFill>
              <a:srgbClr val="666F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5471647" y="9710928"/>
            <a:ext cx="7735824" cy="640080"/>
          </a:xfrm>
          <a:prstGeom prst="rect">
            <a:avLst/>
          </a:prstGeom>
          <a:noFill/>
        </p:spPr>
        <p:txBody>
          <a:bodyPr wrap="square" lIns="45720" tIns="18288" rIns="45720" bIns="18288" anchor="t">
            <a:spAutoFit/>
          </a:bodyPr>
          <a:lstStyle/>
          <a:p>
            <a:pPr algn="ctr">
              <a:spcAft>
                <a:spcPts val="0"/>
              </a:spcAft>
            </a:pPr>
            <a:r>
              <a:rPr sz="2400" b="1">
                <a:solidFill>
                  <a:srgbClr val="666F79"/>
                </a:solidFill>
                <a:latin typeface="Yu Gothic"/>
                <a:ea typeface="Yu Gothic"/>
              </a:rPr>
              <a:t>この節の身分</a:t>
            </a:r>
          </a:p>
        </p:txBody>
      </p:sp>
      <p:sp>
        <p:nvSpPr>
          <p:cNvPr id="13" name="TextBox 12"/>
          <p:cNvSpPr txBox="1"/>
          <p:nvPr/>
        </p:nvSpPr>
        <p:spPr>
          <a:xfrm>
            <a:off x="15544800" y="10469880"/>
            <a:ext cx="7589520" cy="1508760"/>
          </a:xfrm>
          <a:prstGeom prst="rect">
            <a:avLst/>
          </a:prstGeom>
          <a:noFill/>
        </p:spPr>
        <p:txBody>
          <a:bodyPr wrap="square" lIns="45720" tIns="18288" rIns="45720" bIns="18288" anchor="t">
            <a:spAutoFit/>
          </a:bodyPr>
          <a:lstStyle/>
          <a:p>
            <a:pPr algn="ctr">
              <a:lnSpc>
                <a:spcPct val="115000"/>
              </a:lnSpc>
              <a:spcAft>
                <a:spcPts val="0"/>
              </a:spcAft>
            </a:pPr>
            <a:r>
              <a:rPr sz="2100" b="0">
                <a:solidFill>
                  <a:srgbClr val="232B34"/>
                </a:solidFill>
                <a:latin typeface="Yu Gothic"/>
                <a:ea typeface="Yu Gothic"/>
              </a:rPr>
              <a:t>熱モデルの係数は更新していない。
捕捉が成功したあとの全指向残差に対する、
予備的な数値実験（2ケース・密サンプル）</a:t>
            </a:r>
          </a:p>
        </p:txBody>
      </p:sp>
      <p:sp>
        <p:nvSpPr>
          <p:cNvPr id="14" name="TextBox 13"/>
          <p:cNvSpPr txBox="1"/>
          <p:nvPr/>
        </p:nvSpPr>
        <p:spPr>
          <a:xfrm>
            <a:off x="1005840" y="10241280"/>
            <a:ext cx="13716000" cy="1280160"/>
          </a:xfrm>
          <a:prstGeom prst="rect">
            <a:avLst/>
          </a:prstGeom>
          <a:noFill/>
        </p:spPr>
        <p:txBody>
          <a:bodyPr wrap="square" lIns="45720" tIns="18288" rIns="45720" bIns="18288" anchor="t">
            <a:spAutoFit/>
          </a:bodyPr>
          <a:lstStyle/>
          <a:p>
            <a:pPr algn="ctr">
              <a:lnSpc>
                <a:spcPct val="125000"/>
              </a:lnSpc>
              <a:spcAft>
                <a:spcPts val="0"/>
              </a:spcAft>
            </a:pPr>
            <a:r>
              <a:rPr sz="2400" b="1">
                <a:solidFill>
                  <a:srgbClr val="082B52"/>
                </a:solidFill>
                <a:latin typeface="Yu Gothic"/>
                <a:ea typeface="Yu Gothic"/>
              </a:rPr>
              <a:t>主結果は温度と運用フラグのfeedforwardのまま。</a:t>
            </a:r>
          </a:p>
          <a:p>
            <a:pPr algn="ctr">
              <a:lnSpc>
                <a:spcPct val="125000"/>
              </a:lnSpc>
              <a:spcAft>
                <a:spcPts val="0"/>
              </a:spcAft>
            </a:pPr>
            <a:r>
              <a:rPr sz="2400" b="1">
                <a:solidFill>
                  <a:srgbClr val="082B52"/>
                </a:solidFill>
                <a:latin typeface="Yu Gothic"/>
                <a:ea typeface="Yu Gothic"/>
              </a:rPr>
              <a:t>繰り返し通信する相手には、床をさらに下げられるという予備的な見通し</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85EFC-94D7-A712-6ED4-B60515FAD65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D1A9901-D1AD-A1A0-1C17-F532CE710C24}"/>
              </a:ext>
            </a:extLst>
          </p:cNvPr>
          <p:cNvSpPr txBox="1"/>
          <p:nvPr/>
        </p:nvSpPr>
        <p:spPr>
          <a:xfrm>
            <a:off x="11932226" y="4114800"/>
            <a:ext cx="458588" cy="470898"/>
          </a:xfrm>
          <a:prstGeom prst="rect">
            <a:avLst/>
          </a:prstGeom>
          <a:noFill/>
        </p:spPr>
        <p:txBody>
          <a:bodyPr wrap="none" lIns="36576" tIns="27432" rIns="36576" bIns="27432" anchor="t">
            <a:spAutoFit/>
          </a:bodyPr>
          <a:lstStyle/>
          <a:p>
            <a:pPr algn="ctr"/>
            <a:r>
              <a:rPr sz="2700" b="0" dirty="0">
                <a:solidFill>
                  <a:srgbClr val="FFFFFF"/>
                </a:solidFill>
                <a:latin typeface="Yu Gothic"/>
              </a:rPr>
              <a:t>0</a:t>
            </a:r>
            <a:r>
              <a:rPr lang="en-US" sz="2700" dirty="0">
                <a:solidFill>
                  <a:srgbClr val="FFFFFF"/>
                </a:solidFill>
                <a:latin typeface="Yu Gothic"/>
              </a:rPr>
              <a:t>5</a:t>
            </a:r>
            <a:endParaRPr sz="2700" b="0" dirty="0">
              <a:solidFill>
                <a:srgbClr val="FFFFFF"/>
              </a:solidFill>
              <a:latin typeface="Yu Gothic"/>
            </a:endParaRPr>
          </a:p>
        </p:txBody>
      </p:sp>
      <p:sp>
        <p:nvSpPr>
          <p:cNvPr id="3" name="Rectangle 2">
            <a:extLst>
              <a:ext uri="{FF2B5EF4-FFF2-40B4-BE49-F238E27FC236}">
                <a16:creationId xmlns:a16="http://schemas.microsoft.com/office/drawing/2014/main" id="{431E2039-4BC4-D119-7B23-33BE2D1FE169}"/>
              </a:ext>
            </a:extLst>
          </p:cNvPr>
          <p:cNvSpPr/>
          <p:nvPr/>
        </p:nvSpPr>
        <p:spPr>
          <a:xfrm>
            <a:off x="10469880" y="5230368"/>
            <a:ext cx="338328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A534C452-319A-30DF-BF40-A9ECA414720F}"/>
              </a:ext>
            </a:extLst>
          </p:cNvPr>
          <p:cNvSpPr txBox="1"/>
          <p:nvPr/>
        </p:nvSpPr>
        <p:spPr>
          <a:xfrm>
            <a:off x="11535517" y="5806440"/>
            <a:ext cx="1343446" cy="563231"/>
          </a:xfrm>
          <a:prstGeom prst="rect">
            <a:avLst/>
          </a:prstGeom>
          <a:noFill/>
        </p:spPr>
        <p:txBody>
          <a:bodyPr wrap="none" lIns="36576" tIns="27432" rIns="36576" bIns="27432" anchor="t">
            <a:spAutoFit/>
          </a:bodyPr>
          <a:lstStyle/>
          <a:p>
            <a:pPr algn="ctr"/>
            <a:r>
              <a:rPr lang="ja-JP" altLang="en-US" sz="3300" b="1" dirty="0">
                <a:solidFill>
                  <a:srgbClr val="FFFFFF"/>
                </a:solidFill>
                <a:latin typeface="Yu Gothic"/>
              </a:rPr>
              <a:t>まとめ</a:t>
            </a:r>
            <a:endParaRPr sz="3300" b="1" dirty="0">
              <a:solidFill>
                <a:srgbClr val="FFFFFF"/>
              </a:solidFill>
              <a:latin typeface="Yu Gothic"/>
            </a:endParaRPr>
          </a:p>
        </p:txBody>
      </p:sp>
      <p:sp>
        <p:nvSpPr>
          <p:cNvPr id="7" name="Rectangle 2">
            <a:extLst>
              <a:ext uri="{FF2B5EF4-FFF2-40B4-BE49-F238E27FC236}">
                <a16:creationId xmlns:a16="http://schemas.microsoft.com/office/drawing/2014/main" id="{B5F0C05C-36E1-F691-E3B9-B34F22882E98}"/>
              </a:ext>
            </a:extLst>
          </p:cNvPr>
          <p:cNvSpPr/>
          <p:nvPr/>
        </p:nvSpPr>
        <p:spPr>
          <a:xfrm>
            <a:off x="11099800" y="6857999"/>
            <a:ext cx="2209800" cy="457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8737438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45720" tIns="18288" rIns="45720" bIns="18288" anchor="ctr">
            <a:spAutoFit/>
          </a:bodyPr>
          <a:lstStyle/>
          <a:p>
            <a:pPr algn="l">
              <a:spcAft>
                <a:spcPts val="0"/>
              </a:spcAft>
            </a:pPr>
            <a:r>
              <a:rPr sz="2000" b="0">
                <a:solidFill>
                  <a:srgbClr val="666F79"/>
                </a:solidFill>
                <a:latin typeface="Yu Gothic"/>
                <a:ea typeface="Yu Gothic"/>
              </a:rPr>
              <a:t>まとめ</a:t>
            </a:r>
          </a:p>
        </p:txBody>
      </p:sp>
      <p:sp>
        <p:nvSpPr>
          <p:cNvPr id="3" name="TextBox 2"/>
          <p:cNvSpPr txBox="1"/>
          <p:nvPr/>
        </p:nvSpPr>
        <p:spPr>
          <a:xfrm>
            <a:off x="1536192" y="1343202"/>
            <a:ext cx="22037040" cy="1099212"/>
          </a:xfrm>
          <a:prstGeom prst="rect">
            <a:avLst/>
          </a:prstGeom>
          <a:noFill/>
        </p:spPr>
        <p:txBody>
          <a:bodyPr wrap="square" lIns="45720" tIns="18288" rIns="45720" bIns="18288" anchor="ctr">
            <a:spAutoFit/>
          </a:bodyPr>
          <a:lstStyle/>
          <a:p>
            <a:pPr algn="l">
              <a:lnSpc>
                <a:spcPct val="110000"/>
              </a:lnSpc>
              <a:spcAft>
                <a:spcPts val="0"/>
              </a:spcAft>
            </a:pPr>
            <a:endParaRPr lang="en-US" altLang="ja-JP" sz="3200" b="1" dirty="0">
              <a:solidFill>
                <a:srgbClr val="082B52"/>
              </a:solidFill>
              <a:latin typeface="Yu Gothic"/>
              <a:ea typeface="Yu Gothic"/>
            </a:endParaRPr>
          </a:p>
          <a:p>
            <a:pPr algn="l">
              <a:lnSpc>
                <a:spcPct val="110000"/>
              </a:lnSpc>
              <a:spcAft>
                <a:spcPts val="0"/>
              </a:spcAft>
            </a:pPr>
            <a:r>
              <a:rPr lang="ja-JP" altLang="en-US" sz="3200" b="1" dirty="0">
                <a:solidFill>
                  <a:srgbClr val="082B52"/>
                </a:solidFill>
                <a:latin typeface="Yu Gothic"/>
                <a:ea typeface="Yu Gothic"/>
              </a:rPr>
              <a:t>本研究の限界</a:t>
            </a:r>
            <a:endParaRPr sz="3200" b="1" dirty="0">
              <a:solidFill>
                <a:srgbClr val="082B52"/>
              </a:solidFill>
              <a:latin typeface="Yu Gothic"/>
              <a:ea typeface="Yu Gothic"/>
            </a:endParaRPr>
          </a:p>
        </p:txBody>
      </p:sp>
      <p:sp>
        <p:nvSpPr>
          <p:cNvPr id="4" name="TextBox 3"/>
          <p:cNvSpPr txBox="1"/>
          <p:nvPr/>
        </p:nvSpPr>
        <p:spPr>
          <a:xfrm>
            <a:off x="21762720" y="12819888"/>
            <a:ext cx="2011680" cy="384048"/>
          </a:xfrm>
          <a:prstGeom prst="rect">
            <a:avLst/>
          </a:prstGeom>
          <a:noFill/>
        </p:spPr>
        <p:txBody>
          <a:bodyPr wrap="square" lIns="45720" tIns="18288" rIns="45720" bIns="18288" anchor="t">
            <a:spAutoFit/>
          </a:bodyPr>
          <a:lstStyle/>
          <a:p>
            <a:pPr algn="r">
              <a:spcAft>
                <a:spcPts val="0"/>
              </a:spcAft>
            </a:pPr>
            <a:r>
              <a:rPr sz="1800" b="0">
                <a:solidFill>
                  <a:srgbClr val="666F79"/>
                </a:solidFill>
                <a:latin typeface="Yu Gothic"/>
                <a:ea typeface="Yu Gothic"/>
              </a:rPr>
              <a:t>22</a:t>
            </a:r>
          </a:p>
        </p:txBody>
      </p:sp>
      <p:sp>
        <p:nvSpPr>
          <p:cNvPr id="5" name="Rounded Rectangle 4"/>
          <p:cNvSpPr/>
          <p:nvPr/>
        </p:nvSpPr>
        <p:spPr>
          <a:xfrm>
            <a:off x="1280160" y="3200400"/>
            <a:ext cx="10698480" cy="3383280"/>
          </a:xfrm>
          <a:prstGeom prst="roundRect">
            <a:avLst/>
          </a:prstGeom>
          <a:solidFill>
            <a:srgbClr val="EBF6FB"/>
          </a:solidFill>
          <a:ln w="22860">
            <a:solidFill>
              <a:srgbClr val="1B74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481328" y="3493008"/>
            <a:ext cx="10296144" cy="437043"/>
          </a:xfrm>
          <a:prstGeom prst="rect">
            <a:avLst/>
          </a:prstGeom>
          <a:noFill/>
        </p:spPr>
        <p:txBody>
          <a:bodyPr wrap="square" lIns="45720" tIns="18288" rIns="45720" bIns="18288" anchor="t">
            <a:spAutoFit/>
          </a:bodyPr>
          <a:lstStyle/>
          <a:p>
            <a:pPr algn="l">
              <a:spcAft>
                <a:spcPts val="0"/>
              </a:spcAft>
            </a:pPr>
            <a:r>
              <a:rPr lang="ja-JP" altLang="en-US" sz="2600" b="1" dirty="0">
                <a:solidFill>
                  <a:srgbClr val="1B74AA"/>
                </a:solidFill>
                <a:latin typeface="Yu Gothic"/>
                <a:ea typeface="Yu Gothic"/>
              </a:rPr>
              <a:t>検証範囲の限界</a:t>
            </a:r>
            <a:endParaRPr sz="2600" b="1" dirty="0">
              <a:solidFill>
                <a:srgbClr val="1B74AA"/>
              </a:solidFill>
              <a:latin typeface="Yu Gothic"/>
              <a:ea typeface="Yu Gothic"/>
            </a:endParaRPr>
          </a:p>
        </p:txBody>
      </p:sp>
      <p:sp>
        <p:nvSpPr>
          <p:cNvPr id="7" name="TextBox 6"/>
          <p:cNvSpPr txBox="1"/>
          <p:nvPr/>
        </p:nvSpPr>
        <p:spPr>
          <a:xfrm>
            <a:off x="1554480" y="4343400"/>
            <a:ext cx="10149840" cy="509755"/>
          </a:xfrm>
          <a:prstGeom prst="rect">
            <a:avLst/>
          </a:prstGeom>
          <a:noFill/>
        </p:spPr>
        <p:txBody>
          <a:bodyPr wrap="square" lIns="45720" tIns="18288" rIns="45720" bIns="18288" anchor="t">
            <a:spAutoFit/>
          </a:bodyPr>
          <a:lstStyle/>
          <a:p>
            <a:pPr algn="l">
              <a:lnSpc>
                <a:spcPct val="115000"/>
              </a:lnSpc>
              <a:spcAft>
                <a:spcPts val="0"/>
              </a:spcAft>
            </a:pPr>
            <a:r>
              <a:rPr lang="ja-JP" altLang="en-US" sz="2800" dirty="0">
                <a:solidFill>
                  <a:srgbClr val="232B34"/>
                </a:solidFill>
                <a:latin typeface="Yu Gothic"/>
                <a:ea typeface="Yu Gothic"/>
              </a:rPr>
              <a:t>同一構造・同一</a:t>
            </a:r>
            <a:r>
              <a:rPr lang="en-US" altLang="ja-JP" sz="2800" dirty="0">
                <a:solidFill>
                  <a:srgbClr val="232B34"/>
                </a:solidFill>
                <a:latin typeface="Yu Gothic"/>
                <a:ea typeface="Yu Gothic"/>
              </a:rPr>
              <a:t>LOS</a:t>
            </a:r>
            <a:r>
              <a:rPr lang="ja-JP" altLang="en-US" sz="2800" dirty="0">
                <a:solidFill>
                  <a:srgbClr val="232B34"/>
                </a:solidFill>
                <a:latin typeface="Yu Gothic"/>
                <a:ea typeface="Yu Gothic"/>
              </a:rPr>
              <a:t>定義内の数値評価</a:t>
            </a:r>
            <a:endParaRPr sz="2800" b="0" dirty="0">
              <a:solidFill>
                <a:srgbClr val="232B34"/>
              </a:solidFill>
              <a:latin typeface="Yu Gothic"/>
              <a:ea typeface="Yu Gothic"/>
            </a:endParaRPr>
          </a:p>
        </p:txBody>
      </p:sp>
      <p:sp>
        <p:nvSpPr>
          <p:cNvPr id="8" name="Rounded Rectangle 7"/>
          <p:cNvSpPr/>
          <p:nvPr/>
        </p:nvSpPr>
        <p:spPr>
          <a:xfrm>
            <a:off x="12618720" y="3200400"/>
            <a:ext cx="10698480" cy="3383280"/>
          </a:xfrm>
          <a:prstGeom prst="roundRect">
            <a:avLst/>
          </a:prstGeom>
          <a:solidFill>
            <a:srgbClr val="FEF5E6"/>
          </a:solidFill>
          <a:ln w="22860">
            <a:solidFill>
              <a:srgbClr val="EC942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2819888" y="3493008"/>
            <a:ext cx="10296144" cy="437043"/>
          </a:xfrm>
          <a:prstGeom prst="rect">
            <a:avLst/>
          </a:prstGeom>
          <a:noFill/>
        </p:spPr>
        <p:txBody>
          <a:bodyPr wrap="square" lIns="45720" tIns="18288" rIns="45720" bIns="18288" anchor="t">
            <a:spAutoFit/>
          </a:bodyPr>
          <a:lstStyle/>
          <a:p>
            <a:pPr algn="l">
              <a:spcAft>
                <a:spcPts val="0"/>
              </a:spcAft>
            </a:pPr>
            <a:r>
              <a:rPr lang="ja-JP" altLang="en-US" sz="2600" b="1" dirty="0">
                <a:solidFill>
                  <a:srgbClr val="EC9427"/>
                </a:solidFill>
                <a:latin typeface="Yu Gothic"/>
                <a:ea typeface="Yu Gothic"/>
              </a:rPr>
              <a:t>モデル適用範囲の限界</a:t>
            </a:r>
            <a:endParaRPr sz="2600" b="1" dirty="0">
              <a:solidFill>
                <a:srgbClr val="EC9427"/>
              </a:solidFill>
              <a:latin typeface="Yu Gothic"/>
              <a:ea typeface="Yu Gothic"/>
            </a:endParaRPr>
          </a:p>
        </p:txBody>
      </p:sp>
      <p:sp>
        <p:nvSpPr>
          <p:cNvPr id="10" name="TextBox 9"/>
          <p:cNvSpPr txBox="1"/>
          <p:nvPr/>
        </p:nvSpPr>
        <p:spPr>
          <a:xfrm>
            <a:off x="12893040" y="4343400"/>
            <a:ext cx="10149840" cy="898708"/>
          </a:xfrm>
          <a:prstGeom prst="rect">
            <a:avLst/>
          </a:prstGeom>
          <a:noFill/>
        </p:spPr>
        <p:txBody>
          <a:bodyPr wrap="square" lIns="45720" tIns="18288" rIns="45720" bIns="18288" anchor="t">
            <a:spAutoFit/>
          </a:bodyPr>
          <a:lstStyle/>
          <a:p>
            <a:r>
              <a:rPr lang="ja-JP" altLang="ja-JP" sz="2800" dirty="0"/>
              <a:t>地上試験が未実施であり，解析モデル・感度係数の実機妥当性は未検証</a:t>
            </a:r>
          </a:p>
        </p:txBody>
      </p:sp>
      <p:sp>
        <p:nvSpPr>
          <p:cNvPr id="11" name="Rounded Rectangle 10"/>
          <p:cNvSpPr/>
          <p:nvPr/>
        </p:nvSpPr>
        <p:spPr>
          <a:xfrm>
            <a:off x="1280160" y="7040880"/>
            <a:ext cx="10698480" cy="3383280"/>
          </a:xfrm>
          <a:prstGeom prst="roundRect">
            <a:avLst/>
          </a:prstGeom>
          <a:solidFill>
            <a:srgbClr val="FDEFF0"/>
          </a:solidFill>
          <a:ln w="22860">
            <a:solidFill>
              <a:srgbClr val="D03B4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481328" y="7333488"/>
            <a:ext cx="10296144" cy="437043"/>
          </a:xfrm>
          <a:prstGeom prst="rect">
            <a:avLst/>
          </a:prstGeom>
          <a:noFill/>
        </p:spPr>
        <p:txBody>
          <a:bodyPr wrap="square" lIns="45720" tIns="18288" rIns="45720" bIns="18288" anchor="t">
            <a:spAutoFit/>
          </a:bodyPr>
          <a:lstStyle/>
          <a:p>
            <a:pPr algn="l">
              <a:spcAft>
                <a:spcPts val="0"/>
              </a:spcAft>
            </a:pPr>
            <a:r>
              <a:rPr lang="en-US" altLang="ja-JP" sz="2600" b="1" dirty="0">
                <a:solidFill>
                  <a:srgbClr val="D03B46"/>
                </a:solidFill>
                <a:latin typeface="Yu Gothic"/>
                <a:ea typeface="Yu Gothic"/>
              </a:rPr>
              <a:t>LOS</a:t>
            </a:r>
            <a:r>
              <a:rPr lang="ja-JP" altLang="en-US" sz="2600" b="1" dirty="0">
                <a:solidFill>
                  <a:srgbClr val="D03B46"/>
                </a:solidFill>
                <a:latin typeface="Yu Gothic"/>
                <a:ea typeface="Yu Gothic"/>
              </a:rPr>
              <a:t>算出の限界</a:t>
            </a:r>
            <a:endParaRPr sz="2600" b="1" dirty="0">
              <a:solidFill>
                <a:srgbClr val="D03B46"/>
              </a:solidFill>
              <a:latin typeface="Yu Gothic"/>
              <a:ea typeface="Yu Gothic"/>
            </a:endParaRPr>
          </a:p>
        </p:txBody>
      </p:sp>
      <p:sp>
        <p:nvSpPr>
          <p:cNvPr id="13" name="TextBox 12"/>
          <p:cNvSpPr txBox="1"/>
          <p:nvPr/>
        </p:nvSpPr>
        <p:spPr>
          <a:xfrm>
            <a:off x="1554480" y="8183879"/>
            <a:ext cx="10149840" cy="1005275"/>
          </a:xfrm>
          <a:prstGeom prst="rect">
            <a:avLst/>
          </a:prstGeom>
          <a:noFill/>
        </p:spPr>
        <p:txBody>
          <a:bodyPr wrap="square" lIns="45720" tIns="18288" rIns="45720" bIns="18288" anchor="t">
            <a:spAutoFit/>
          </a:bodyPr>
          <a:lstStyle/>
          <a:p>
            <a:pPr algn="l">
              <a:lnSpc>
                <a:spcPct val="115000"/>
              </a:lnSpc>
              <a:spcAft>
                <a:spcPts val="0"/>
              </a:spcAft>
            </a:pPr>
            <a:r>
              <a:rPr lang="ja-JP" altLang="en-US" sz="2800" dirty="0">
                <a:solidFill>
                  <a:srgbClr val="232B34"/>
                </a:solidFill>
                <a:latin typeface="Yu Gothic"/>
                <a:ea typeface="Yu Gothic"/>
              </a:rPr>
              <a:t>代表節点回転を使用して</a:t>
            </a:r>
            <a:r>
              <a:rPr lang="en-US" altLang="ja-JP" sz="2800" dirty="0">
                <a:solidFill>
                  <a:srgbClr val="232B34"/>
                </a:solidFill>
                <a:latin typeface="Yu Gothic"/>
                <a:ea typeface="Yu Gothic"/>
              </a:rPr>
              <a:t>LOS</a:t>
            </a:r>
            <a:r>
              <a:rPr lang="ja-JP" altLang="en-US" sz="2800" dirty="0">
                <a:solidFill>
                  <a:srgbClr val="232B34"/>
                </a:solidFill>
                <a:latin typeface="Yu Gothic"/>
                <a:ea typeface="Yu Gothic"/>
              </a:rPr>
              <a:t>を算出。取付面の剛体フィットや、</a:t>
            </a:r>
            <a:r>
              <a:rPr lang="en-US" altLang="ja-JP" sz="2800" dirty="0">
                <a:solidFill>
                  <a:srgbClr val="232B34"/>
                </a:solidFill>
                <a:latin typeface="Yu Gothic"/>
                <a:ea typeface="Yu Gothic"/>
              </a:rPr>
              <a:t>STT/LCT</a:t>
            </a:r>
            <a:r>
              <a:rPr lang="ja-JP" altLang="en-US" sz="2800" dirty="0">
                <a:solidFill>
                  <a:srgbClr val="232B34"/>
                </a:solidFill>
                <a:latin typeface="Yu Gothic"/>
                <a:ea typeface="Yu Gothic"/>
              </a:rPr>
              <a:t>内部の熱ひずみは解析の対象外としている</a:t>
            </a:r>
            <a:endParaRPr sz="2800" b="0" dirty="0">
              <a:solidFill>
                <a:srgbClr val="232B34"/>
              </a:solidFill>
              <a:latin typeface="Yu Gothic"/>
              <a:ea typeface="Yu Gothic"/>
            </a:endParaRPr>
          </a:p>
        </p:txBody>
      </p:sp>
      <p:sp>
        <p:nvSpPr>
          <p:cNvPr id="14" name="Rounded Rectangle 13"/>
          <p:cNvSpPr/>
          <p:nvPr/>
        </p:nvSpPr>
        <p:spPr>
          <a:xfrm>
            <a:off x="12618720" y="7040880"/>
            <a:ext cx="10698480" cy="3383280"/>
          </a:xfrm>
          <a:prstGeom prst="roundRect">
            <a:avLst/>
          </a:prstGeom>
          <a:solidFill>
            <a:srgbClr val="EAF8F1"/>
          </a:solidFill>
          <a:ln w="22860">
            <a:solidFill>
              <a:srgbClr val="23957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12819888" y="7333488"/>
            <a:ext cx="10296144" cy="437043"/>
          </a:xfrm>
          <a:prstGeom prst="rect">
            <a:avLst/>
          </a:prstGeom>
          <a:noFill/>
        </p:spPr>
        <p:txBody>
          <a:bodyPr wrap="square" lIns="45720" tIns="18288" rIns="45720" bIns="18288" anchor="t">
            <a:spAutoFit/>
          </a:bodyPr>
          <a:lstStyle/>
          <a:p>
            <a:pPr algn="l">
              <a:spcAft>
                <a:spcPts val="0"/>
              </a:spcAft>
            </a:pPr>
            <a:r>
              <a:rPr sz="2600" b="1" dirty="0" err="1">
                <a:solidFill>
                  <a:srgbClr val="239571"/>
                </a:solidFill>
                <a:latin typeface="Yu Gothic"/>
                <a:ea typeface="Yu Gothic"/>
              </a:rPr>
              <a:t>捕捉評価の</a:t>
            </a:r>
            <a:r>
              <a:rPr lang="ja-JP" altLang="en-US" sz="2600" b="1" dirty="0">
                <a:solidFill>
                  <a:srgbClr val="239571"/>
                </a:solidFill>
                <a:latin typeface="Yu Gothic"/>
                <a:ea typeface="Yu Gothic"/>
              </a:rPr>
              <a:t>限界</a:t>
            </a:r>
            <a:endParaRPr sz="2600" b="1" dirty="0">
              <a:solidFill>
                <a:srgbClr val="239571"/>
              </a:solidFill>
              <a:latin typeface="Yu Gothic"/>
              <a:ea typeface="Yu Gothic"/>
            </a:endParaRPr>
          </a:p>
        </p:txBody>
      </p:sp>
      <p:sp>
        <p:nvSpPr>
          <p:cNvPr id="16" name="TextBox 15"/>
          <p:cNvSpPr txBox="1"/>
          <p:nvPr/>
        </p:nvSpPr>
        <p:spPr>
          <a:xfrm>
            <a:off x="12893040" y="8183879"/>
            <a:ext cx="10149840" cy="467820"/>
          </a:xfrm>
          <a:prstGeom prst="rect">
            <a:avLst/>
          </a:prstGeom>
          <a:noFill/>
        </p:spPr>
        <p:txBody>
          <a:bodyPr wrap="square" lIns="45720" tIns="18288" rIns="45720" bIns="18288" anchor="t">
            <a:spAutoFit/>
          </a:bodyPr>
          <a:lstStyle/>
          <a:p>
            <a:pPr>
              <a:lnSpc>
                <a:spcPct val="100000"/>
              </a:lnSpc>
            </a:pPr>
            <a:r>
              <a:rPr lang="ja-JP" altLang="ja-JP" sz="2800" dirty="0"/>
              <a:t>非熱誤差は1系列、走査移動時間などを簡略化</a:t>
            </a:r>
            <a:r>
              <a:rPr lang="ja-JP" altLang="en-US" sz="2800" dirty="0"/>
              <a:t>している</a:t>
            </a:r>
            <a:endParaRPr lang="ja-JP" altLang="ja-JP" sz="2800" dirty="0"/>
          </a:p>
        </p:txBody>
      </p:sp>
      <p:sp>
        <p:nvSpPr>
          <p:cNvPr id="17" name="Rounded Rectangle 16"/>
          <p:cNvSpPr/>
          <p:nvPr/>
        </p:nvSpPr>
        <p:spPr>
          <a:xfrm>
            <a:off x="2377440" y="11064240"/>
            <a:ext cx="19659600" cy="1188720"/>
          </a:xfrm>
          <a:prstGeom prst="roundRect">
            <a:avLst/>
          </a:prstGeom>
          <a:solidFill>
            <a:srgbClr val="FFFFFF"/>
          </a:solidFill>
          <a:ln w="22860">
            <a:solidFill>
              <a:srgbClr val="082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2651760" y="11338560"/>
            <a:ext cx="19110960" cy="640080"/>
          </a:xfrm>
          <a:prstGeom prst="rect">
            <a:avLst/>
          </a:prstGeom>
          <a:noFill/>
        </p:spPr>
        <p:txBody>
          <a:bodyPr wrap="square" lIns="45720" tIns="18288" rIns="45720" bIns="18288" anchor="t">
            <a:spAutoFit/>
          </a:bodyPr>
          <a:lstStyle/>
          <a:p>
            <a:pPr algn="ctr">
              <a:spcAft>
                <a:spcPts val="0"/>
              </a:spcAft>
            </a:pPr>
            <a:r>
              <a:rPr sz="2600" b="1">
                <a:solidFill>
                  <a:srgbClr val="082B52"/>
                </a:solidFill>
                <a:latin typeface="Yu Gothic"/>
                <a:ea typeface="Yu Gothic"/>
              </a:rPr>
              <a:t>感度 約30 µrad/K は本構造のもの。温度差を0.1 K読み違えると約3 µrad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45720" tIns="18288" rIns="45720" bIns="18288" anchor="ctr">
            <a:spAutoFit/>
          </a:bodyPr>
          <a:lstStyle/>
          <a:p>
            <a:pPr algn="l">
              <a:spcAft>
                <a:spcPts val="0"/>
              </a:spcAft>
            </a:pPr>
            <a:r>
              <a:rPr sz="2000" b="0">
                <a:solidFill>
                  <a:srgbClr val="666F79"/>
                </a:solidFill>
                <a:latin typeface="Yu Gothic"/>
                <a:ea typeface="Yu Gothic"/>
              </a:rPr>
              <a:t>まとめ</a:t>
            </a:r>
          </a:p>
        </p:txBody>
      </p:sp>
      <p:sp>
        <p:nvSpPr>
          <p:cNvPr id="3" name="TextBox 2"/>
          <p:cNvSpPr txBox="1"/>
          <p:nvPr/>
        </p:nvSpPr>
        <p:spPr>
          <a:xfrm>
            <a:off x="1536192" y="1298448"/>
            <a:ext cx="22037040" cy="1188720"/>
          </a:xfrm>
          <a:prstGeom prst="rect">
            <a:avLst/>
          </a:prstGeom>
          <a:noFill/>
        </p:spPr>
        <p:txBody>
          <a:bodyPr wrap="square" lIns="45720" tIns="18288" rIns="45720" bIns="18288" anchor="ctr">
            <a:spAutoFit/>
          </a:bodyPr>
          <a:lstStyle/>
          <a:p>
            <a:pPr algn="l">
              <a:lnSpc>
                <a:spcPct val="110000"/>
              </a:lnSpc>
              <a:spcAft>
                <a:spcPts val="0"/>
              </a:spcAft>
            </a:pPr>
            <a:r>
              <a:rPr sz="3200" b="1">
                <a:solidFill>
                  <a:srgbClr val="082B52"/>
                </a:solidFill>
                <a:latin typeface="Yu Gothic"/>
                <a:ea typeface="Yu Gothic"/>
              </a:rPr>
              <a:t>予測できる熱を捕捉前に除くと、残る探索は非熱誤差で決まる</a:t>
            </a:r>
          </a:p>
        </p:txBody>
      </p:sp>
      <p:sp>
        <p:nvSpPr>
          <p:cNvPr id="4" name="TextBox 3"/>
          <p:cNvSpPr txBox="1"/>
          <p:nvPr/>
        </p:nvSpPr>
        <p:spPr>
          <a:xfrm>
            <a:off x="21762720" y="12819888"/>
            <a:ext cx="2011680" cy="384048"/>
          </a:xfrm>
          <a:prstGeom prst="rect">
            <a:avLst/>
          </a:prstGeom>
          <a:noFill/>
        </p:spPr>
        <p:txBody>
          <a:bodyPr wrap="square" lIns="45720" tIns="18288" rIns="45720" bIns="18288" anchor="t">
            <a:spAutoFit/>
          </a:bodyPr>
          <a:lstStyle/>
          <a:p>
            <a:pPr algn="r">
              <a:spcAft>
                <a:spcPts val="0"/>
              </a:spcAft>
            </a:pPr>
            <a:r>
              <a:rPr sz="1800" b="0">
                <a:solidFill>
                  <a:srgbClr val="666F79"/>
                </a:solidFill>
                <a:latin typeface="Yu Gothic"/>
                <a:ea typeface="Yu Gothic"/>
              </a:rPr>
              <a:t>23</a:t>
            </a:r>
          </a:p>
        </p:txBody>
      </p:sp>
      <p:sp>
        <p:nvSpPr>
          <p:cNvPr id="5" name="Rounded Rectangle 4"/>
          <p:cNvSpPr/>
          <p:nvPr/>
        </p:nvSpPr>
        <p:spPr>
          <a:xfrm>
            <a:off x="1463040" y="3383280"/>
            <a:ext cx="6766560" cy="2834640"/>
          </a:xfrm>
          <a:prstGeom prst="roundRect">
            <a:avLst/>
          </a:prstGeom>
          <a:solidFill>
            <a:srgbClr val="EBF6FB"/>
          </a:solidFill>
          <a:ln w="22860">
            <a:solidFill>
              <a:srgbClr val="1B74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572768" y="3547872"/>
            <a:ext cx="6547104" cy="1417320"/>
          </a:xfrm>
          <a:prstGeom prst="rect">
            <a:avLst/>
          </a:prstGeom>
          <a:noFill/>
        </p:spPr>
        <p:txBody>
          <a:bodyPr wrap="square" lIns="45720" tIns="18288" rIns="45720" bIns="18288" anchor="t">
            <a:spAutoFit/>
          </a:bodyPr>
          <a:lstStyle/>
          <a:p>
            <a:pPr algn="ctr">
              <a:spcAft>
                <a:spcPts val="0"/>
              </a:spcAft>
            </a:pPr>
            <a:r>
              <a:rPr sz="4000" b="1">
                <a:solidFill>
                  <a:srgbClr val="1B74AA"/>
                </a:solidFill>
                <a:latin typeface="Yu Gothic"/>
                <a:ea typeface="Yu Gothic"/>
              </a:rPr>
              <a:t>4.9 µrad</a:t>
            </a:r>
          </a:p>
        </p:txBody>
      </p:sp>
      <p:sp>
        <p:nvSpPr>
          <p:cNvPr id="7" name="TextBox 6"/>
          <p:cNvSpPr txBox="1"/>
          <p:nvPr/>
        </p:nvSpPr>
        <p:spPr>
          <a:xfrm>
            <a:off x="1572768" y="4970678"/>
            <a:ext cx="6547104" cy="706604"/>
          </a:xfrm>
          <a:prstGeom prst="rect">
            <a:avLst/>
          </a:prstGeom>
          <a:noFill/>
        </p:spPr>
        <p:txBody>
          <a:bodyPr wrap="square" lIns="45720" tIns="18288" rIns="45720" bIns="18288" anchor="t">
            <a:spAutoFit/>
          </a:bodyPr>
          <a:lstStyle/>
          <a:p>
            <a:pPr algn="ctr">
              <a:lnSpc>
                <a:spcPct val="105000"/>
              </a:lnSpc>
              <a:spcAft>
                <a:spcPts val="0"/>
              </a:spcAft>
            </a:pPr>
            <a:r>
              <a:rPr sz="2100" b="0" dirty="0" err="1">
                <a:latin typeface="Yu Gothic"/>
                <a:ea typeface="Yu Gothic"/>
              </a:rPr>
              <a:t>未知ケースの</a:t>
            </a:r>
            <a:r>
              <a:rPr lang="ja-JP" altLang="en-US" sz="2100" b="0" dirty="0">
                <a:latin typeface="Yu Gothic"/>
                <a:ea typeface="Yu Gothic"/>
              </a:rPr>
              <a:t>補正後の</a:t>
            </a:r>
            <a:r>
              <a:rPr sz="2100" b="0" dirty="0" err="1">
                <a:latin typeface="Yu Gothic"/>
                <a:ea typeface="Yu Gothic"/>
              </a:rPr>
              <a:t>支配軸RMSE</a:t>
            </a:r>
            <a:r>
              <a:rPr sz="2100" b="0" dirty="0">
                <a:latin typeface="Yu Gothic"/>
                <a:ea typeface="Yu Gothic"/>
              </a:rPr>
              <a:t> </a:t>
            </a:r>
            <a:r>
              <a:rPr sz="2100" b="0" dirty="0" err="1">
                <a:latin typeface="Yu Gothic"/>
                <a:ea typeface="Yu Gothic"/>
              </a:rPr>
              <a:t>中央値</a:t>
            </a:r>
            <a:r>
              <a:rPr sz="2100" b="0" dirty="0">
                <a:latin typeface="Yu Gothic"/>
                <a:ea typeface="Yu Gothic"/>
              </a:rPr>
              <a:t>
（</a:t>
            </a:r>
            <a:r>
              <a:rPr sz="2100" b="0" dirty="0" err="1">
                <a:latin typeface="Yu Gothic"/>
                <a:ea typeface="Yu Gothic"/>
              </a:rPr>
              <a:t>生の中央値</a:t>
            </a:r>
            <a:r>
              <a:rPr sz="2100" b="0" dirty="0">
                <a:latin typeface="Yu Gothic"/>
                <a:ea typeface="Yu Gothic"/>
              </a:rPr>
              <a:t> 615 µrad）</a:t>
            </a:r>
          </a:p>
        </p:txBody>
      </p:sp>
      <p:sp>
        <p:nvSpPr>
          <p:cNvPr id="8" name="Rounded Rectangle 7"/>
          <p:cNvSpPr/>
          <p:nvPr/>
        </p:nvSpPr>
        <p:spPr>
          <a:xfrm>
            <a:off x="8778240" y="3383280"/>
            <a:ext cx="6766560" cy="2834640"/>
          </a:xfrm>
          <a:prstGeom prst="roundRect">
            <a:avLst/>
          </a:prstGeom>
          <a:solidFill>
            <a:srgbClr val="EAF8F1"/>
          </a:solidFill>
          <a:ln w="22860">
            <a:solidFill>
              <a:srgbClr val="23957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8887967" y="3547872"/>
            <a:ext cx="6547104" cy="1417320"/>
          </a:xfrm>
          <a:prstGeom prst="rect">
            <a:avLst/>
          </a:prstGeom>
          <a:noFill/>
        </p:spPr>
        <p:txBody>
          <a:bodyPr wrap="square" lIns="45720" tIns="18288" rIns="45720" bIns="18288" anchor="t">
            <a:spAutoFit/>
          </a:bodyPr>
          <a:lstStyle/>
          <a:p>
            <a:pPr algn="ctr">
              <a:spcAft>
                <a:spcPts val="0"/>
              </a:spcAft>
            </a:pPr>
            <a:r>
              <a:rPr sz="3600" b="1">
                <a:solidFill>
                  <a:srgbClr val="239571"/>
                </a:solidFill>
                <a:latin typeface="Yu Gothic"/>
                <a:ea typeface="Yu Gothic"/>
              </a:rPr>
              <a:t>14.6 → 0.10 s</a:t>
            </a:r>
          </a:p>
        </p:txBody>
      </p:sp>
      <p:sp>
        <p:nvSpPr>
          <p:cNvPr id="10" name="TextBox 9"/>
          <p:cNvSpPr txBox="1"/>
          <p:nvPr/>
        </p:nvSpPr>
        <p:spPr>
          <a:xfrm>
            <a:off x="8887967" y="4970678"/>
            <a:ext cx="6547104" cy="367280"/>
          </a:xfrm>
          <a:prstGeom prst="rect">
            <a:avLst/>
          </a:prstGeom>
          <a:noFill/>
        </p:spPr>
        <p:txBody>
          <a:bodyPr wrap="square" lIns="45720" tIns="18288" rIns="45720" bIns="18288" anchor="t">
            <a:spAutoFit/>
          </a:bodyPr>
          <a:lstStyle/>
          <a:p>
            <a:pPr algn="ctr">
              <a:lnSpc>
                <a:spcPct val="105000"/>
              </a:lnSpc>
              <a:spcAft>
                <a:spcPts val="0"/>
              </a:spcAft>
            </a:pPr>
            <a:r>
              <a:rPr sz="2100" b="0">
                <a:latin typeface="Yu Gothic"/>
                <a:ea typeface="Yu Gothic"/>
              </a:rPr>
              <a:t>熱のみの平均捕捉時間</a:t>
            </a:r>
          </a:p>
        </p:txBody>
      </p:sp>
      <p:sp>
        <p:nvSpPr>
          <p:cNvPr id="11" name="Rounded Rectangle 10"/>
          <p:cNvSpPr/>
          <p:nvPr/>
        </p:nvSpPr>
        <p:spPr>
          <a:xfrm>
            <a:off x="16093440" y="3383280"/>
            <a:ext cx="6766560" cy="2834640"/>
          </a:xfrm>
          <a:prstGeom prst="roundRect">
            <a:avLst/>
          </a:prstGeom>
          <a:solidFill>
            <a:srgbClr val="FEF5E6"/>
          </a:solidFill>
          <a:ln w="22860">
            <a:solidFill>
              <a:srgbClr val="EC942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6203168" y="3547872"/>
            <a:ext cx="6547104" cy="1417320"/>
          </a:xfrm>
          <a:prstGeom prst="rect">
            <a:avLst/>
          </a:prstGeom>
          <a:noFill/>
        </p:spPr>
        <p:txBody>
          <a:bodyPr wrap="square" lIns="45720" tIns="18288" rIns="45720" bIns="18288" anchor="t">
            <a:spAutoFit/>
          </a:bodyPr>
          <a:lstStyle/>
          <a:p>
            <a:pPr algn="ctr">
              <a:spcAft>
                <a:spcPts val="0"/>
              </a:spcAft>
            </a:pPr>
            <a:r>
              <a:rPr sz="3600" b="1">
                <a:solidFill>
                  <a:srgbClr val="EC9427"/>
                </a:solidFill>
                <a:latin typeface="Yu Gothic"/>
                <a:ea typeface="Yu Gothic"/>
              </a:rPr>
              <a:t>19.2 → 5.45 s</a:t>
            </a:r>
          </a:p>
        </p:txBody>
      </p:sp>
      <p:sp>
        <p:nvSpPr>
          <p:cNvPr id="13" name="TextBox 12"/>
          <p:cNvSpPr txBox="1"/>
          <p:nvPr/>
        </p:nvSpPr>
        <p:spPr>
          <a:xfrm>
            <a:off x="16203168" y="4970678"/>
            <a:ext cx="6547104" cy="706604"/>
          </a:xfrm>
          <a:prstGeom prst="rect">
            <a:avLst/>
          </a:prstGeom>
          <a:noFill/>
        </p:spPr>
        <p:txBody>
          <a:bodyPr wrap="square" lIns="45720" tIns="18288" rIns="45720" bIns="18288" anchor="t">
            <a:spAutoFit/>
          </a:bodyPr>
          <a:lstStyle/>
          <a:p>
            <a:pPr algn="ctr">
              <a:lnSpc>
                <a:spcPct val="105000"/>
              </a:lnSpc>
              <a:spcAft>
                <a:spcPts val="0"/>
              </a:spcAft>
            </a:pPr>
            <a:r>
              <a:rPr sz="2100" b="0">
                <a:latin typeface="Yu Gothic"/>
                <a:ea typeface="Yu Gothic"/>
              </a:rPr>
              <a:t>非熱込みの平均捕捉時間
成功率 98% → 100%</a:t>
            </a:r>
          </a:p>
        </p:txBody>
      </p:sp>
      <p:sp>
        <p:nvSpPr>
          <p:cNvPr id="14" name="Rounded Rectangle 13"/>
          <p:cNvSpPr/>
          <p:nvPr/>
        </p:nvSpPr>
        <p:spPr>
          <a:xfrm>
            <a:off x="1463040" y="6949440"/>
            <a:ext cx="21396960" cy="2926080"/>
          </a:xfrm>
          <a:prstGeom prst="roundRect">
            <a:avLst/>
          </a:prstGeom>
          <a:solidFill>
            <a:srgbClr val="FFFFFF"/>
          </a:solidFill>
          <a:ln w="22860">
            <a:solidFill>
              <a:srgbClr val="082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1828800" y="7696200"/>
            <a:ext cx="20665440" cy="1506566"/>
          </a:xfrm>
          <a:prstGeom prst="rect">
            <a:avLst/>
          </a:prstGeom>
          <a:noFill/>
        </p:spPr>
        <p:txBody>
          <a:bodyPr wrap="square" lIns="45720" tIns="18288" rIns="45720" bIns="18288" anchor="t">
            <a:spAutoFit/>
          </a:bodyPr>
          <a:lstStyle/>
          <a:p>
            <a:pPr algn="ctr">
              <a:lnSpc>
                <a:spcPct val="125000"/>
              </a:lnSpc>
              <a:spcAft>
                <a:spcPts val="0"/>
              </a:spcAft>
            </a:pPr>
            <a:r>
              <a:rPr sz="2700" b="1" dirty="0" err="1">
                <a:solidFill>
                  <a:srgbClr val="082B52"/>
                </a:solidFill>
                <a:latin typeface="Yu Gothic"/>
                <a:ea typeface="Yu Gothic"/>
              </a:rPr>
              <a:t>評価した箱型衛星では、光フィードバックの前のリンク確立を短くし得る</a:t>
            </a:r>
            <a:r>
              <a:rPr lang="ja-JP" altLang="en-US" sz="2700" b="1" dirty="0">
                <a:solidFill>
                  <a:srgbClr val="082B52"/>
                </a:solidFill>
                <a:latin typeface="Yu Gothic"/>
                <a:ea typeface="Yu Gothic"/>
              </a:rPr>
              <a:t>ことがわかった。</a:t>
            </a:r>
            <a:endParaRPr lang="en-US" altLang="ja-JP" sz="2700" b="1" dirty="0">
              <a:solidFill>
                <a:srgbClr val="082B52"/>
              </a:solidFill>
              <a:latin typeface="Yu Gothic"/>
              <a:ea typeface="Yu Gothic"/>
            </a:endParaRPr>
          </a:p>
          <a:p>
            <a:pPr algn="ctr">
              <a:lnSpc>
                <a:spcPct val="125000"/>
              </a:lnSpc>
              <a:spcAft>
                <a:spcPts val="0"/>
              </a:spcAft>
            </a:pPr>
            <a:endParaRPr sz="2700" b="1" dirty="0">
              <a:solidFill>
                <a:srgbClr val="082B52"/>
              </a:solidFill>
              <a:latin typeface="Yu Gothic"/>
              <a:ea typeface="Yu Gothic"/>
            </a:endParaRPr>
          </a:p>
          <a:p>
            <a:pPr algn="ctr"/>
            <a:r>
              <a:rPr lang="ja-JP" altLang="ja-JP" sz="2800" b="1" dirty="0"/>
              <a:t>新規性</a:t>
            </a:r>
            <a:r>
              <a:rPr lang="ja-JP" altLang="en-US" sz="2800" b="1" dirty="0"/>
              <a:t>としては、</a:t>
            </a:r>
            <a:r>
              <a:rPr lang="ja-JP" altLang="ja-JP" sz="2800" b="1" dirty="0"/>
              <a:t>STT–LCT相対LOSへの適用，条件横断での係数共有，</a:t>
            </a:r>
            <a:r>
              <a:rPr lang="ja-JP" altLang="en-US" sz="2800" b="1" dirty="0"/>
              <a:t>光通信</a:t>
            </a:r>
            <a:r>
              <a:rPr lang="ja-JP" altLang="ja-JP" sz="2800" b="1" dirty="0"/>
              <a:t>粗捕捉性能への接続</a:t>
            </a:r>
            <a:r>
              <a:rPr lang="en-US" altLang="ja-JP" sz="2800" b="1" dirty="0"/>
              <a:t> </a:t>
            </a:r>
            <a:r>
              <a:rPr lang="ja-JP" altLang="en-US" sz="2800" b="1" dirty="0"/>
              <a:t>となる</a:t>
            </a:r>
            <a:endParaRPr lang="ja-JP" altLang="ja-JP" sz="2800" dirty="0"/>
          </a:p>
        </p:txBody>
      </p:sp>
      <p:sp>
        <p:nvSpPr>
          <p:cNvPr id="16" name="TextBox 15"/>
          <p:cNvSpPr txBox="1"/>
          <p:nvPr/>
        </p:nvSpPr>
        <p:spPr>
          <a:xfrm>
            <a:off x="1463040" y="10378440"/>
            <a:ext cx="21396960" cy="548640"/>
          </a:xfrm>
          <a:prstGeom prst="rect">
            <a:avLst/>
          </a:prstGeom>
          <a:noFill/>
        </p:spPr>
        <p:txBody>
          <a:bodyPr wrap="square" lIns="45720" tIns="18288" rIns="45720" bIns="18288" anchor="t">
            <a:spAutoFit/>
          </a:bodyPr>
          <a:lstStyle/>
          <a:p>
            <a:pPr algn="ctr">
              <a:spcAft>
                <a:spcPts val="0"/>
              </a:spcAft>
            </a:pPr>
            <a:r>
              <a:rPr sz="2400" b="0">
                <a:solidFill>
                  <a:srgbClr val="666F79"/>
                </a:solidFill>
                <a:latin typeface="Yu Gothic"/>
                <a:ea typeface="Yu Gothic"/>
              </a:rPr>
              <a:t>ICSO 2026 で 10月15日に口頭発表</a:t>
            </a:r>
          </a:p>
        </p:txBody>
      </p:sp>
      <p:sp>
        <p:nvSpPr>
          <p:cNvPr id="17" name="TextBox 16"/>
          <p:cNvSpPr txBox="1"/>
          <p:nvPr/>
        </p:nvSpPr>
        <p:spPr>
          <a:xfrm>
            <a:off x="1463040" y="11247120"/>
            <a:ext cx="21396960" cy="731520"/>
          </a:xfrm>
          <a:prstGeom prst="rect">
            <a:avLst/>
          </a:prstGeom>
          <a:noFill/>
        </p:spPr>
        <p:txBody>
          <a:bodyPr wrap="square" lIns="45720" tIns="18288" rIns="45720" bIns="18288" anchor="t">
            <a:spAutoFit/>
          </a:bodyPr>
          <a:lstStyle/>
          <a:p>
            <a:pPr algn="ctr">
              <a:spcAft>
                <a:spcPts val="0"/>
              </a:spcAft>
            </a:pPr>
            <a:r>
              <a:rPr sz="3000" b="1">
                <a:solidFill>
                  <a:srgbClr val="1B74AA"/>
                </a:solidFill>
                <a:latin typeface="Yu Gothic"/>
                <a:ea typeface="Yu Gothic"/>
              </a:rPr>
              <a:t>ご清聴ありがとうございました</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692640" y="4114800"/>
            <a:ext cx="4937760" cy="594360"/>
          </a:xfrm>
          <a:prstGeom prst="rect">
            <a:avLst/>
          </a:prstGeom>
          <a:noFill/>
        </p:spPr>
        <p:txBody>
          <a:bodyPr wrap="square" lIns="36576" tIns="27432" rIns="36576" bIns="27432" anchor="t">
            <a:spAutoFit/>
          </a:bodyPr>
          <a:lstStyle/>
          <a:p>
            <a:pPr algn="ctr">
              <a:spcAft>
                <a:spcPts val="0"/>
              </a:spcAft>
            </a:pPr>
            <a:r>
              <a:rPr sz="3200" b="1">
                <a:solidFill>
                  <a:srgbClr val="5BB5D8"/>
                </a:solidFill>
                <a:latin typeface="Yu Gothic"/>
                <a:ea typeface="Yu Gothic"/>
              </a:rPr>
              <a:t>B</a:t>
            </a:r>
          </a:p>
        </p:txBody>
      </p:sp>
      <p:sp>
        <p:nvSpPr>
          <p:cNvPr id="3" name="Rectangle 2"/>
          <p:cNvSpPr/>
          <p:nvPr/>
        </p:nvSpPr>
        <p:spPr>
          <a:xfrm>
            <a:off x="10469880" y="5230368"/>
            <a:ext cx="338328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28800" y="5806440"/>
            <a:ext cx="20756880" cy="732508"/>
          </a:xfrm>
          <a:prstGeom prst="rect">
            <a:avLst/>
          </a:prstGeom>
          <a:noFill/>
        </p:spPr>
        <p:txBody>
          <a:bodyPr wrap="square" lIns="36576" tIns="27432" rIns="36576" bIns="27432" anchor="t">
            <a:spAutoFit/>
          </a:bodyPr>
          <a:lstStyle/>
          <a:p>
            <a:pPr algn="ctr">
              <a:spcAft>
                <a:spcPts val="0"/>
              </a:spcAft>
            </a:pPr>
            <a:r>
              <a:rPr lang="en-US" sz="4400" b="1" dirty="0">
                <a:solidFill>
                  <a:srgbClr val="FFFFFF"/>
                </a:solidFill>
                <a:latin typeface="Yu Gothic"/>
                <a:ea typeface="Yu Gothic"/>
              </a:rPr>
              <a:t>Appendix</a:t>
            </a:r>
            <a:endParaRPr sz="4400" b="1" dirty="0">
              <a:solidFill>
                <a:srgbClr val="FFFFFF"/>
              </a:solidFill>
              <a:latin typeface="Yu Gothic"/>
              <a:ea typeface="Yu Gothic"/>
            </a:endParaRPr>
          </a:p>
        </p:txBody>
      </p:sp>
      <p:sp>
        <p:nvSpPr>
          <p:cNvPr id="5" name="TextBox 4"/>
          <p:cNvSpPr txBox="1"/>
          <p:nvPr/>
        </p:nvSpPr>
        <p:spPr>
          <a:xfrm>
            <a:off x="21762720" y="12819888"/>
            <a:ext cx="2011680" cy="384048"/>
          </a:xfrm>
          <a:prstGeom prst="rect">
            <a:avLst/>
          </a:prstGeom>
          <a:noFill/>
        </p:spPr>
        <p:txBody>
          <a:bodyPr wrap="square" lIns="36576" tIns="27432" rIns="36576" bIns="27432" anchor="t">
            <a:spAutoFit/>
          </a:bodyPr>
          <a:lstStyle/>
          <a:p>
            <a:pPr algn="r">
              <a:spcAft>
                <a:spcPts val="0"/>
              </a:spcAft>
            </a:pP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none" lIns="36576" tIns="27432" rIns="36576" bIns="27432" anchor="t">
            <a:spAutoFit/>
          </a:bodyPr>
          <a:lstStyle/>
          <a:p>
            <a:pPr algn="l"/>
            <a:r>
              <a:rPr sz="2000" b="0">
                <a:solidFill>
                  <a:srgbClr val="666F79"/>
                </a:solidFill>
                <a:latin typeface="Yu Gothic"/>
              </a:rPr>
              <a:t>Positioning &amp; limitations</a:t>
            </a:r>
          </a:p>
        </p:txBody>
      </p:sp>
      <p:sp>
        <p:nvSpPr>
          <p:cNvPr id="3" name="TextBox 2"/>
          <p:cNvSpPr txBox="1"/>
          <p:nvPr/>
        </p:nvSpPr>
        <p:spPr>
          <a:xfrm>
            <a:off x="1536192" y="1298448"/>
            <a:ext cx="13922209" cy="1040285"/>
          </a:xfrm>
          <a:prstGeom prst="rect">
            <a:avLst/>
          </a:prstGeom>
          <a:noFill/>
        </p:spPr>
        <p:txBody>
          <a:bodyPr wrap="none" lIns="36576" tIns="27432" rIns="36576" bIns="27432" anchor="t">
            <a:spAutoFit/>
          </a:bodyPr>
          <a:lstStyle/>
          <a:p>
            <a:pPr algn="l"/>
            <a:endParaRPr lang="en-US" sz="3200" b="1" dirty="0">
              <a:solidFill>
                <a:srgbClr val="082B52"/>
              </a:solidFill>
              <a:latin typeface="Yu Gothic"/>
            </a:endParaRPr>
          </a:p>
          <a:p>
            <a:r>
              <a:rPr lang="ja-JP" altLang="en-US" sz="3200" b="1" dirty="0">
                <a:solidFill>
                  <a:srgbClr val="082B52"/>
                </a:solidFill>
                <a:latin typeface="Yu Gothic"/>
              </a:rPr>
              <a:t>先行研究の存在：</a:t>
            </a:r>
            <a:r>
              <a:rPr lang="ja-JP" altLang="ja-JP" sz="3200" b="1" dirty="0"/>
              <a:t>温度差とLOSの一次関係は光学機器内でも報告されている</a:t>
            </a:r>
            <a:endParaRPr lang="ja-JP" altLang="ja-JP" sz="3200" dirty="0"/>
          </a:p>
        </p:txBody>
      </p:sp>
      <p:sp>
        <p:nvSpPr>
          <p:cNvPr id="4" name="TextBox 3"/>
          <p:cNvSpPr txBox="1"/>
          <p:nvPr/>
        </p:nvSpPr>
        <p:spPr>
          <a:xfrm>
            <a:off x="23444052" y="12819888"/>
            <a:ext cx="330348" cy="332399"/>
          </a:xfrm>
          <a:prstGeom prst="rect">
            <a:avLst/>
          </a:prstGeom>
          <a:noFill/>
        </p:spPr>
        <p:txBody>
          <a:bodyPr wrap="none" lIns="36576" tIns="27432" rIns="36576" bIns="27432" anchor="t">
            <a:spAutoFit/>
          </a:bodyPr>
          <a:lstStyle/>
          <a:p>
            <a:pPr algn="r"/>
            <a:r>
              <a:rPr sz="1800" b="0" dirty="0">
                <a:solidFill>
                  <a:srgbClr val="666F79"/>
                </a:solidFill>
                <a:latin typeface="Yu Gothic"/>
              </a:rPr>
              <a:t>2</a:t>
            </a:r>
            <a:r>
              <a:rPr lang="en-US" sz="1800" b="0" dirty="0">
                <a:solidFill>
                  <a:srgbClr val="666F79"/>
                </a:solidFill>
                <a:latin typeface="Yu Gothic"/>
              </a:rPr>
              <a:t>4</a:t>
            </a:r>
            <a:endParaRPr sz="1800" b="0" dirty="0">
              <a:solidFill>
                <a:srgbClr val="666F79"/>
              </a:solidFill>
              <a:latin typeface="Yu Gothic"/>
            </a:endParaRPr>
          </a:p>
        </p:txBody>
      </p:sp>
      <p:sp>
        <p:nvSpPr>
          <p:cNvPr id="5" name="Rounded Rectangle 4"/>
          <p:cNvSpPr/>
          <p:nvPr/>
        </p:nvSpPr>
        <p:spPr>
          <a:xfrm>
            <a:off x="1097280" y="2834640"/>
            <a:ext cx="10698480" cy="7498079"/>
          </a:xfrm>
          <a:prstGeom prst="roundRect">
            <a:avLst/>
          </a:prstGeom>
          <a:solidFill>
            <a:srgbClr val="F4F6F8"/>
          </a:solidFill>
          <a:ln w="1651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54480" y="3246120"/>
            <a:ext cx="9784080" cy="548640"/>
          </a:xfrm>
          <a:prstGeom prst="rect">
            <a:avLst/>
          </a:prstGeom>
          <a:noFill/>
        </p:spPr>
        <p:txBody>
          <a:bodyPr wrap="none" lIns="36576" tIns="27432" rIns="36576" bIns="27432" anchor="t">
            <a:spAutoFit/>
          </a:bodyPr>
          <a:lstStyle/>
          <a:p>
            <a:pPr algn="ctr"/>
            <a:r>
              <a:rPr sz="2800" b="1" dirty="0">
                <a:solidFill>
                  <a:srgbClr val="082B52"/>
                </a:solidFill>
                <a:latin typeface="Yu Gothic"/>
              </a:rPr>
              <a:t>JANUS / prior art</a:t>
            </a:r>
          </a:p>
        </p:txBody>
      </p:sp>
      <mc:AlternateContent xmlns:mc="http://schemas.openxmlformats.org/markup-compatibility/2006" xmlns:a14="http://schemas.microsoft.com/office/drawing/2010/main">
        <mc:Choice Requires="a14">
          <p:sp>
            <p:nvSpPr>
              <p:cNvPr id="7" name="TextBox 6"/>
              <p:cNvSpPr txBox="1"/>
              <p:nvPr/>
            </p:nvSpPr>
            <p:spPr>
              <a:xfrm>
                <a:off x="1637754" y="4389120"/>
                <a:ext cx="5503519" cy="2698175"/>
              </a:xfrm>
              <a:prstGeom prst="rect">
                <a:avLst/>
              </a:prstGeom>
              <a:noFill/>
            </p:spPr>
            <p:txBody>
              <a:bodyPr wrap="square" lIns="27432" rIns="27432">
                <a:spAutoFit/>
              </a:bodyPr>
              <a:lstStyle/>
              <a:p>
                <a:pPr>
                  <a:spcAft>
                    <a:spcPts val="800"/>
                  </a:spcAft>
                </a:pPr>
                <a:r>
                  <a:rPr sz="2600" b="1" dirty="0">
                    <a:solidFill>
                      <a:srgbClr val="1B74AA"/>
                    </a:solidFill>
                    <a:latin typeface="Yu Gothic"/>
                  </a:rPr>
                  <a:t>•</a:t>
                </a:r>
                <a:r>
                  <a:rPr lang="ja-JP" altLang="en-US" sz="2600" b="1" dirty="0">
                    <a:solidFill>
                      <a:srgbClr val="1B74AA"/>
                    </a:solidFill>
                    <a:latin typeface="Yu Gothic"/>
                  </a:rPr>
                  <a:t> </a:t>
                </a:r>
                <a:r>
                  <a:rPr lang="ja-JP" altLang="ja-JP" sz="2600" dirty="0"/>
                  <a:t>光学ヘッド内部の壁面温度差から</a:t>
                </a:r>
                <a:r>
                  <a:rPr lang="ja-JP" altLang="en-US" sz="2600" dirty="0"/>
                  <a:t>熱ひずみ由来</a:t>
                </a:r>
                <a:r>
                  <a:rPr lang="ja-JP" altLang="ja-JP" sz="2600" dirty="0"/>
                  <a:t>LOS</a:t>
                </a:r>
                <a:r>
                  <a:rPr lang="ja-JP" altLang="en-US" sz="2600" dirty="0"/>
                  <a:t>誤差</a:t>
                </a:r>
                <a:r>
                  <a:rPr lang="ja-JP" altLang="ja-JP" sz="2600" dirty="0"/>
                  <a:t>を推定 </a:t>
                </a:r>
                <a:endParaRPr lang="en-US" altLang="ja-JP" sz="2600" dirty="0"/>
              </a:p>
              <a:p>
                <a:pPr>
                  <a:spcAft>
                    <a:spcPts val="800"/>
                  </a:spcAft>
                </a:pPr>
                <a:r>
                  <a:rPr lang="en-US" altLang="ja-JP" sz="2600" b="1" dirty="0">
                    <a:solidFill>
                      <a:srgbClr val="1B74AA"/>
                    </a:solidFill>
                    <a:latin typeface="Yu Gothic"/>
                  </a:rPr>
                  <a:t>• </a:t>
                </a:r>
                <a14:m>
                  <m:oMath xmlns:m="http://schemas.openxmlformats.org/officeDocument/2006/math">
                    <m:r>
                      <a:rPr lang="ja-JP" altLang="en-US" sz="2600" i="1">
                        <a:latin typeface="Cambria Math" panose="02040503050406030204" pitchFamily="18" charset="0"/>
                      </a:rPr>
                      <m:t>𝐿𝑂𝑆</m:t>
                    </m:r>
                    <m:r>
                      <a:rPr lang="ja-JP" altLang="en-US" sz="2600">
                        <a:latin typeface="Cambria Math" panose="02040503050406030204" pitchFamily="18" charset="0"/>
                      </a:rPr>
                      <m:t>∝</m:t>
                    </m:r>
                    <m:r>
                      <m:rPr>
                        <m:sty m:val="p"/>
                      </m:rPr>
                      <a:rPr lang="en-US" altLang="ja-JP" sz="2600">
                        <a:latin typeface="Cambria Math" panose="02040503050406030204" pitchFamily="18" charset="0"/>
                      </a:rPr>
                      <m:t>Δ</m:t>
                    </m:r>
                    <m:r>
                      <a:rPr lang="ja-JP" altLang="en-US" sz="2600" i="1">
                        <a:latin typeface="Cambria Math" panose="02040503050406030204" pitchFamily="18" charset="0"/>
                      </a:rPr>
                      <m:t>𝑇</m:t>
                    </m:r>
                  </m:oMath>
                </a14:m>
                <a:r>
                  <a:rPr lang="ja-JP" altLang="ja-JP" sz="2600" dirty="0"/>
                  <a:t>の一次関係</a:t>
                </a:r>
                <a:r>
                  <a:rPr lang="ja-JP" altLang="en-US" sz="2600" dirty="0"/>
                  <a:t>とその係数</a:t>
                </a:r>
                <a:r>
                  <a:rPr lang="en-US" altLang="ja-JP" sz="2600" dirty="0"/>
                  <a:t>K</a:t>
                </a:r>
                <a:r>
                  <a:rPr lang="ja-JP" altLang="ja-JP" sz="2600" dirty="0"/>
                  <a:t>を地上試験で検証 </a:t>
                </a:r>
                <a:endParaRPr lang="en-US" altLang="ja-JP" sz="2600" dirty="0"/>
              </a:p>
              <a:p>
                <a:pPr>
                  <a:spcAft>
                    <a:spcPts val="800"/>
                  </a:spcAft>
                </a:pPr>
                <a:r>
                  <a:rPr lang="en-US" altLang="ja-JP" sz="2600" b="1" dirty="0">
                    <a:solidFill>
                      <a:srgbClr val="1B74AA"/>
                    </a:solidFill>
                    <a:latin typeface="Yu Gothic"/>
                  </a:rPr>
                  <a:t>• </a:t>
                </a:r>
                <a:r>
                  <a:rPr lang="ja-JP" altLang="ja-JP" sz="2600" dirty="0"/>
                  <a:t>温度センサ値からリアルタイムLOS推定を想定</a:t>
                </a:r>
                <a:r>
                  <a:rPr lang="ja-JP" altLang="en-US" sz="2600" dirty="0"/>
                  <a:t>する点で本研究に近い</a:t>
                </a:r>
                <a:endParaRPr sz="2600" dirty="0">
                  <a:solidFill>
                    <a:srgbClr val="232B34"/>
                  </a:solidFill>
                  <a:latin typeface="Yu Gothic"/>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637754" y="4389120"/>
                <a:ext cx="5503519" cy="2698175"/>
              </a:xfrm>
              <a:prstGeom prst="rect">
                <a:avLst/>
              </a:prstGeom>
              <a:blipFill>
                <a:blip r:embed="rId3"/>
                <a:stretch>
                  <a:fillRect l="-3215" t="-2032" r="-2882" b="-4515"/>
                </a:stretch>
              </a:blipFill>
            </p:spPr>
            <p:txBody>
              <a:bodyPr/>
              <a:lstStyle/>
              <a:p>
                <a:r>
                  <a:rPr lang="ja-JP" altLang="en-US">
                    <a:noFill/>
                  </a:rPr>
                  <a:t> </a:t>
                </a:r>
              </a:p>
            </p:txBody>
          </p:sp>
        </mc:Fallback>
      </mc:AlternateContent>
      <p:sp>
        <p:nvSpPr>
          <p:cNvPr id="8" name="TextBox 7"/>
          <p:cNvSpPr txBox="1"/>
          <p:nvPr/>
        </p:nvSpPr>
        <p:spPr>
          <a:xfrm>
            <a:off x="6590653" y="11276147"/>
            <a:ext cx="11201105" cy="1348061"/>
          </a:xfrm>
          <a:prstGeom prst="rect">
            <a:avLst/>
          </a:prstGeom>
          <a:noFill/>
        </p:spPr>
        <p:txBody>
          <a:bodyPr wrap="square" lIns="36576" tIns="27432" rIns="36576" bIns="27432" anchor="t">
            <a:spAutoFit/>
          </a:bodyPr>
          <a:lstStyle/>
          <a:p>
            <a:pPr algn="ctr"/>
            <a:r>
              <a:rPr lang="ja-JP" altLang="ja-JP" sz="2800" b="1" dirty="0">
                <a:solidFill>
                  <a:schemeClr val="accent2"/>
                </a:solidFill>
              </a:rPr>
              <a:t>本研究の貢献は、</a:t>
            </a:r>
            <a:endParaRPr lang="en-US" altLang="ja-JP" sz="2800" b="1" dirty="0">
              <a:solidFill>
                <a:schemeClr val="accent2"/>
              </a:solidFill>
            </a:endParaRPr>
          </a:p>
          <a:p>
            <a:pPr algn="ctr"/>
            <a:r>
              <a:rPr lang="ja-JP" altLang="ja-JP" sz="2800" b="1" dirty="0">
                <a:solidFill>
                  <a:schemeClr val="accent2"/>
                </a:solidFill>
              </a:rPr>
              <a:t>温度差–LOS</a:t>
            </a:r>
            <a:r>
              <a:rPr lang="ja-JP" altLang="en-US" sz="2800" b="1" dirty="0">
                <a:solidFill>
                  <a:schemeClr val="accent2"/>
                </a:solidFill>
              </a:rPr>
              <a:t>の一次</a:t>
            </a:r>
            <a:r>
              <a:rPr lang="ja-JP" altLang="ja-JP" sz="2800" b="1" dirty="0">
                <a:solidFill>
                  <a:schemeClr val="accent2"/>
                </a:solidFill>
              </a:rPr>
              <a:t>関係を衛星バス上のSTT–LCT相対LOS</a:t>
            </a:r>
            <a:r>
              <a:rPr lang="ja-JP" altLang="en-US" sz="2800" b="1" dirty="0">
                <a:solidFill>
                  <a:schemeClr val="accent2"/>
                </a:solidFill>
              </a:rPr>
              <a:t>予測</a:t>
            </a:r>
            <a:r>
              <a:rPr lang="ja-JP" altLang="ja-JP" sz="2800" b="1" dirty="0">
                <a:solidFill>
                  <a:schemeClr val="accent2"/>
                </a:solidFill>
              </a:rPr>
              <a:t>へ拡張し、粗捕捉性能改善まで接続した点にある</a:t>
            </a:r>
          </a:p>
        </p:txBody>
      </p:sp>
      <p:sp>
        <p:nvSpPr>
          <p:cNvPr id="9" name="Rounded Rectangle 8"/>
          <p:cNvSpPr/>
          <p:nvPr/>
        </p:nvSpPr>
        <p:spPr>
          <a:xfrm>
            <a:off x="12481560" y="2834640"/>
            <a:ext cx="10698480" cy="7498079"/>
          </a:xfrm>
          <a:prstGeom prst="roundRect">
            <a:avLst/>
          </a:prstGeom>
          <a:solidFill>
            <a:srgbClr val="EBF6FB"/>
          </a:solidFill>
          <a:ln w="16510">
            <a:solidFill>
              <a:srgbClr val="5BB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938760" y="3246120"/>
            <a:ext cx="9784080" cy="548640"/>
          </a:xfrm>
          <a:prstGeom prst="rect">
            <a:avLst/>
          </a:prstGeom>
          <a:noFill/>
        </p:spPr>
        <p:txBody>
          <a:bodyPr wrap="none" lIns="36576" tIns="27432" rIns="36576" bIns="27432" anchor="t">
            <a:spAutoFit/>
          </a:bodyPr>
          <a:lstStyle/>
          <a:p>
            <a:pPr algn="ctr"/>
            <a:r>
              <a:rPr sz="2800" b="1">
                <a:solidFill>
                  <a:srgbClr val="1B74AA"/>
                </a:solidFill>
                <a:latin typeface="Yu Gothic"/>
              </a:rPr>
              <a:t>This work</a:t>
            </a:r>
          </a:p>
        </p:txBody>
      </p:sp>
      <p:sp>
        <p:nvSpPr>
          <p:cNvPr id="11" name="TextBox 10"/>
          <p:cNvSpPr txBox="1"/>
          <p:nvPr/>
        </p:nvSpPr>
        <p:spPr>
          <a:xfrm>
            <a:off x="13007228" y="4223694"/>
            <a:ext cx="6683903" cy="3703578"/>
          </a:xfrm>
          <a:prstGeom prst="rect">
            <a:avLst/>
          </a:prstGeom>
          <a:noFill/>
        </p:spPr>
        <p:txBody>
          <a:bodyPr wrap="square" lIns="27432" rIns="27432">
            <a:spAutoFit/>
          </a:bodyPr>
          <a:lstStyle/>
          <a:p>
            <a:pPr>
              <a:spcAft>
                <a:spcPts val="800"/>
              </a:spcAft>
            </a:pPr>
            <a:r>
              <a:rPr sz="2600" b="1" dirty="0">
                <a:solidFill>
                  <a:srgbClr val="1B74AA"/>
                </a:solidFill>
                <a:latin typeface="Yu Gothic"/>
              </a:rPr>
              <a:t>•</a:t>
            </a:r>
            <a:r>
              <a:rPr lang="en-US" sz="2600" b="1" dirty="0">
                <a:solidFill>
                  <a:srgbClr val="1B74AA"/>
                </a:solidFill>
                <a:latin typeface="Yu Gothic"/>
              </a:rPr>
              <a:t> </a:t>
            </a:r>
            <a:r>
              <a:rPr lang="ja-JP" altLang="ja-JP" sz="2600" dirty="0"/>
              <a:t>衛星バス上のSTT–LCT相対LOSを対象 </a:t>
            </a:r>
            <a:endParaRPr lang="en-US" altLang="ja-JP" sz="2600" dirty="0"/>
          </a:p>
          <a:p>
            <a:pPr>
              <a:spcAft>
                <a:spcPts val="800"/>
              </a:spcAft>
            </a:pPr>
            <a:r>
              <a:rPr lang="en-US" altLang="ja-JP" sz="2600" b="1" dirty="0">
                <a:solidFill>
                  <a:srgbClr val="1B74AA"/>
                </a:solidFill>
                <a:latin typeface="Yu Gothic"/>
              </a:rPr>
              <a:t>• </a:t>
            </a:r>
            <a:r>
              <a:rPr lang="ja-JP" altLang="ja-JP" sz="2600" dirty="0"/>
              <a:t>太陽指向面–反対面温度差から軌道内変動を予測 </a:t>
            </a:r>
            <a:endParaRPr lang="en-US" altLang="ja-JP" sz="2600" dirty="0"/>
          </a:p>
          <a:p>
            <a:pPr>
              <a:spcAft>
                <a:spcPts val="800"/>
              </a:spcAft>
            </a:pPr>
            <a:r>
              <a:rPr lang="en-US" altLang="ja-JP" sz="2600" b="1" dirty="0">
                <a:solidFill>
                  <a:srgbClr val="1B74AA"/>
                </a:solidFill>
                <a:latin typeface="Yu Gothic"/>
              </a:rPr>
              <a:t>• </a:t>
            </a:r>
            <a:r>
              <a:rPr lang="ja-JP" altLang="ja-JP" sz="2600" dirty="0"/>
              <a:t>発熱・被覆・軌道条件によるケースDCを階層化 </a:t>
            </a:r>
            <a:endParaRPr lang="en-US" altLang="ja-JP" sz="2600" dirty="0"/>
          </a:p>
          <a:p>
            <a:pPr>
              <a:spcAft>
                <a:spcPts val="800"/>
              </a:spcAft>
            </a:pPr>
            <a:r>
              <a:rPr lang="en-US" altLang="ja-JP" sz="2600" b="1" dirty="0">
                <a:solidFill>
                  <a:srgbClr val="1B74AA"/>
                </a:solidFill>
                <a:latin typeface="Yu Gothic"/>
              </a:rPr>
              <a:t>• </a:t>
            </a:r>
            <a:r>
              <a:rPr lang="ja-JP" altLang="ja-JP" sz="2600" dirty="0"/>
              <a:t>予測LOSをscan center補正へ入力 捕捉成功率・捕捉時間まで評価</a:t>
            </a:r>
            <a:endParaRPr lang="en-US" altLang="ja-JP" sz="2600" dirty="0"/>
          </a:p>
          <a:p>
            <a:pPr>
              <a:spcAft>
                <a:spcPts val="800"/>
              </a:spcAft>
            </a:pPr>
            <a:r>
              <a:rPr lang="en-US" altLang="ja-JP" sz="2600" b="1" dirty="0">
                <a:solidFill>
                  <a:srgbClr val="1B74AA"/>
                </a:solidFill>
                <a:latin typeface="Yu Gothic"/>
              </a:rPr>
              <a:t>•</a:t>
            </a:r>
            <a:r>
              <a:rPr lang="ja-JP" altLang="en-US" sz="2600" b="1" dirty="0">
                <a:solidFill>
                  <a:srgbClr val="1B74AA"/>
                </a:solidFill>
                <a:latin typeface="Yu Gothic"/>
              </a:rPr>
              <a:t> </a:t>
            </a:r>
            <a:r>
              <a:rPr lang="en-US" altLang="ja-JP" sz="2600" dirty="0">
                <a:latin typeface="Yu Gothic"/>
              </a:rPr>
              <a:t>※</a:t>
            </a:r>
            <a:r>
              <a:rPr lang="ja-JP" altLang="en-US" sz="2600" dirty="0">
                <a:latin typeface="Yu Gothic"/>
              </a:rPr>
              <a:t>非支配軸・別構造・飛行実証は未評価</a:t>
            </a:r>
            <a:endParaRPr sz="2600" dirty="0">
              <a:latin typeface="Yu Gothic"/>
            </a:endParaRPr>
          </a:p>
        </p:txBody>
      </p:sp>
      <p:pic>
        <p:nvPicPr>
          <p:cNvPr id="14" name="図 13">
            <a:extLst>
              <a:ext uri="{FF2B5EF4-FFF2-40B4-BE49-F238E27FC236}">
                <a16:creationId xmlns:a16="http://schemas.microsoft.com/office/drawing/2014/main" id="{C7E3B895-1AEF-DE7D-2500-D5414894CC50}"/>
              </a:ext>
            </a:extLst>
          </p:cNvPr>
          <p:cNvPicPr>
            <a:picLocks noChangeAspect="1"/>
          </p:cNvPicPr>
          <p:nvPr/>
        </p:nvPicPr>
        <p:blipFill>
          <a:blip r:embed="rId4"/>
          <a:stretch>
            <a:fillRect/>
          </a:stretch>
        </p:blipFill>
        <p:spPr>
          <a:xfrm>
            <a:off x="7304557" y="4223694"/>
            <a:ext cx="4296893" cy="2768036"/>
          </a:xfrm>
          <a:prstGeom prst="rect">
            <a:avLst/>
          </a:prstGeom>
        </p:spPr>
      </p:pic>
      <p:pic>
        <p:nvPicPr>
          <p:cNvPr id="16" name="図 15">
            <a:extLst>
              <a:ext uri="{FF2B5EF4-FFF2-40B4-BE49-F238E27FC236}">
                <a16:creationId xmlns:a16="http://schemas.microsoft.com/office/drawing/2014/main" id="{1D012430-EBD5-228E-6C1B-2FA194D4495E}"/>
              </a:ext>
            </a:extLst>
          </p:cNvPr>
          <p:cNvPicPr>
            <a:picLocks noChangeAspect="1"/>
          </p:cNvPicPr>
          <p:nvPr/>
        </p:nvPicPr>
        <p:blipFill>
          <a:blip r:embed="rId5"/>
          <a:stretch>
            <a:fillRect/>
          </a:stretch>
        </p:blipFill>
        <p:spPr>
          <a:xfrm>
            <a:off x="19976937" y="4059227"/>
            <a:ext cx="2917297" cy="4445404"/>
          </a:xfrm>
          <a:prstGeom prst="rect">
            <a:avLst/>
          </a:prstGeom>
        </p:spPr>
      </p:pic>
      <p:cxnSp>
        <p:nvCxnSpPr>
          <p:cNvPr id="18" name="直線矢印コネクタ 17">
            <a:extLst>
              <a:ext uri="{FF2B5EF4-FFF2-40B4-BE49-F238E27FC236}">
                <a16:creationId xmlns:a16="http://schemas.microsoft.com/office/drawing/2014/main" id="{236A98E2-DC1C-D091-55C8-8ECEA961E0B2}"/>
              </a:ext>
            </a:extLst>
          </p:cNvPr>
          <p:cNvCxnSpPr>
            <a:cxnSpLocks/>
          </p:cNvCxnSpPr>
          <p:nvPr/>
        </p:nvCxnSpPr>
        <p:spPr>
          <a:xfrm>
            <a:off x="9895114" y="7087295"/>
            <a:ext cx="986246" cy="0"/>
          </a:xfrm>
          <a:prstGeom prst="straightConnector1">
            <a:avLst/>
          </a:prstGeom>
          <a:ln w="38100">
            <a:headEnd type="triangle"/>
            <a:tailEnd type="triangle"/>
          </a:ln>
        </p:spPr>
        <p:style>
          <a:lnRef idx="2">
            <a:schemeClr val="accent1"/>
          </a:lnRef>
          <a:fillRef idx="0">
            <a:schemeClr val="accent1"/>
          </a:fillRef>
          <a:effectRef idx="1">
            <a:schemeClr val="accent1"/>
          </a:effectRef>
          <a:fontRef idx="minor">
            <a:schemeClr val="tx1"/>
          </a:fontRef>
        </p:style>
      </p:cxnSp>
      <p:sp>
        <p:nvSpPr>
          <p:cNvPr id="20" name="テキスト ボックス 19">
            <a:extLst>
              <a:ext uri="{FF2B5EF4-FFF2-40B4-BE49-F238E27FC236}">
                <a16:creationId xmlns:a16="http://schemas.microsoft.com/office/drawing/2014/main" id="{FE3BF317-B001-A8F1-E16A-98CCE95D0F38}"/>
              </a:ext>
            </a:extLst>
          </p:cNvPr>
          <p:cNvSpPr txBox="1"/>
          <p:nvPr/>
        </p:nvSpPr>
        <p:spPr>
          <a:xfrm>
            <a:off x="9836331" y="7235689"/>
            <a:ext cx="1322615" cy="369332"/>
          </a:xfrm>
          <a:prstGeom prst="rect">
            <a:avLst/>
          </a:prstGeom>
          <a:noFill/>
        </p:spPr>
        <p:txBody>
          <a:bodyPr wrap="square" rtlCol="0">
            <a:spAutoFit/>
          </a:bodyPr>
          <a:lstStyle/>
          <a:p>
            <a:r>
              <a:rPr kumimoji="1" lang="en-US" altLang="ja-JP" dirty="0"/>
              <a:t>25 cm</a:t>
            </a:r>
            <a:r>
              <a:rPr kumimoji="1" lang="ja-JP" altLang="en-US" dirty="0"/>
              <a:t>程度</a:t>
            </a:r>
          </a:p>
        </p:txBody>
      </p:sp>
      <mc:AlternateContent xmlns:mc="http://schemas.openxmlformats.org/markup-compatibility/2006" xmlns:a14="http://schemas.microsoft.com/office/drawing/2010/main">
        <mc:Choice Requires="a14">
          <p:sp>
            <p:nvSpPr>
              <p:cNvPr id="22" name="TextBox 5">
                <a:extLst>
                  <a:ext uri="{FF2B5EF4-FFF2-40B4-BE49-F238E27FC236}">
                    <a16:creationId xmlns:a16="http://schemas.microsoft.com/office/drawing/2014/main" id="{8CB7D79D-2AF2-A798-8254-04332A599446}"/>
                  </a:ext>
                </a:extLst>
              </p:cNvPr>
              <p:cNvSpPr txBox="1"/>
              <p:nvPr/>
            </p:nvSpPr>
            <p:spPr>
              <a:xfrm>
                <a:off x="13872760" y="9039727"/>
                <a:ext cx="7916078" cy="998863"/>
              </a:xfrm>
              <a:prstGeom prst="rect">
                <a:avLst/>
              </a:prstGeom>
              <a:noFill/>
            </p:spPr>
            <p:txBody>
              <a:bodyPr wrap="none" lIns="36576" tIns="27432" rIns="36576" bIns="27432" anchor="t">
                <a:spAutoFit/>
              </a:bodyPr>
              <a:lstStyle/>
              <a:p>
                <a:pPr algn="ctr"/>
                <a14:m>
                  <m:oMathPara xmlns:m="http://schemas.openxmlformats.org/officeDocument/2006/math">
                    <m:oMath>
                      <m:sSub>
                        <m:sSubPr>
                          <m:ctrlPr>
                            <a:rPr lang="ja-JP" altLang="en-US" sz="2800" b="1" i="1" dirty="0" smtClean="0">
                              <a:solidFill>
                                <a:srgbClr val="082B52"/>
                              </a:solidFill>
                              <a:latin typeface="Cambria Math" panose="02040503050406030204" pitchFamily="18" charset="0"/>
                            </a:rPr>
                          </m:ctrlPr>
                        </m:sSubPr>
                        <m:e>
                          <m:r>
                            <a:rPr lang="ja-JP" altLang="en-US" sz="2800" b="1" i="1" dirty="0" smtClean="0">
                              <a:solidFill>
                                <a:srgbClr val="082B52"/>
                              </a:solidFill>
                              <a:latin typeface="Cambria Math" panose="02040503050406030204" pitchFamily="18" charset="0"/>
                            </a:rPr>
                            <m:t>𝜽</m:t>
                          </m:r>
                        </m:e>
                        <m:sub>
                          <m:r>
                            <a:rPr lang="ja-JP" altLang="en-US" sz="2800" b="1" i="1" dirty="0" smtClean="0">
                              <a:solidFill>
                                <a:srgbClr val="082B52"/>
                              </a:solidFill>
                              <a:latin typeface="Cambria Math" panose="02040503050406030204" pitchFamily="18" charset="0"/>
                            </a:rPr>
                            <m:t>𝒅𝒐𝒎</m:t>
                          </m:r>
                        </m:sub>
                      </m:sSub>
                      <m:d>
                        <m:dPr>
                          <m:ctrlPr>
                            <a:rPr lang="ja-JP" altLang="en-US" sz="2800" b="1" i="1" dirty="0">
                              <a:solidFill>
                                <a:srgbClr val="082B52"/>
                              </a:solidFill>
                              <a:latin typeface="Cambria Math" panose="02040503050406030204" pitchFamily="18" charset="0"/>
                            </a:rPr>
                          </m:ctrlPr>
                        </m:dPr>
                        <m:e>
                          <m:r>
                            <a:rPr lang="ja-JP" altLang="en-US" sz="2800" b="1" i="1" dirty="0">
                              <a:solidFill>
                                <a:srgbClr val="082B52"/>
                              </a:solidFill>
                              <a:latin typeface="Cambria Math" panose="02040503050406030204" pitchFamily="18" charset="0"/>
                            </a:rPr>
                            <m:t>𝒕</m:t>
                          </m:r>
                        </m:e>
                      </m:d>
                      <m:r>
                        <a:rPr lang="en-US" altLang="ja-JP" sz="2800" b="1" i="1" dirty="0">
                          <a:solidFill>
                            <a:srgbClr val="082B52"/>
                          </a:solidFill>
                          <a:latin typeface="Cambria Math" panose="02040503050406030204" pitchFamily="18" charset="0"/>
                        </a:rPr>
                        <m:t>≈ </m:t>
                      </m:r>
                      <m:sSub>
                        <m:sSubPr>
                          <m:ctrlPr>
                            <a:rPr lang="ja-JP" altLang="en-US" sz="2800" b="1" i="1" dirty="0" err="1">
                              <a:solidFill>
                                <a:srgbClr val="082B52"/>
                              </a:solidFill>
                              <a:latin typeface="Cambria Math" panose="02040503050406030204" pitchFamily="18" charset="0"/>
                            </a:rPr>
                          </m:ctrlPr>
                        </m:sSubPr>
                        <m:e>
                          <m:r>
                            <a:rPr lang="ja-JP" altLang="en-US" sz="2800" b="1" i="1" dirty="0" err="1">
                              <a:solidFill>
                                <a:srgbClr val="082B52"/>
                              </a:solidFill>
                              <a:latin typeface="Cambria Math" panose="02040503050406030204" pitchFamily="18" charset="0"/>
                            </a:rPr>
                            <m:t>𝒂</m:t>
                          </m:r>
                        </m:e>
                        <m:sub>
                          <m:r>
                            <a:rPr lang="ja-JP" altLang="en-US" sz="2800" b="1" i="1" dirty="0" err="1">
                              <a:solidFill>
                                <a:srgbClr val="082B52"/>
                              </a:solidFill>
                              <a:latin typeface="Cambria Math" panose="02040503050406030204" pitchFamily="18" charset="0"/>
                            </a:rPr>
                            <m:t>𝒔𝒖𝒏𝒇𝒂𝒄𝒆</m:t>
                          </m:r>
                        </m:sub>
                      </m:sSub>
                      <m:r>
                        <a:rPr lang="ja-JP" altLang="en-US" sz="2800" b="1" i="1" dirty="0">
                          <a:solidFill>
                            <a:srgbClr val="082B52"/>
                          </a:solidFill>
                          <a:latin typeface="Cambria Math" panose="02040503050406030204" pitchFamily="18" charset="0"/>
                        </a:rPr>
                        <m:t> </m:t>
                      </m:r>
                      <m:r>
                        <a:rPr lang="en-US" altLang="ja-JP" sz="2800" b="1" i="1" dirty="0">
                          <a:solidFill>
                            <a:srgbClr val="082B52"/>
                          </a:solidFill>
                          <a:latin typeface="Cambria Math" panose="02040503050406030204" pitchFamily="18" charset="0"/>
                        </a:rPr>
                        <m:t>· </m:t>
                      </m:r>
                      <m:r>
                        <a:rPr lang="ja-JP" altLang="en-US" sz="2800" b="1" i="0" dirty="0">
                          <a:solidFill>
                            <a:srgbClr val="082B52"/>
                          </a:solidFill>
                          <a:latin typeface="Cambria Math" panose="02040503050406030204" pitchFamily="18" charset="0"/>
                        </a:rPr>
                        <m:t>𝚫</m:t>
                      </m:r>
                      <m:r>
                        <a:rPr lang="ja-JP" altLang="en-US" sz="2800" b="1" i="1" dirty="0">
                          <a:solidFill>
                            <a:srgbClr val="082B52"/>
                          </a:solidFill>
                          <a:latin typeface="Cambria Math" panose="02040503050406030204" pitchFamily="18" charset="0"/>
                        </a:rPr>
                        <m:t>𝑻</m:t>
                      </m:r>
                      <m:d>
                        <m:dPr>
                          <m:ctrlPr>
                            <a:rPr lang="ja-JP" altLang="en-US" sz="2800" b="1" i="1" dirty="0">
                              <a:solidFill>
                                <a:srgbClr val="082B52"/>
                              </a:solidFill>
                              <a:latin typeface="Cambria Math" panose="02040503050406030204" pitchFamily="18" charset="0"/>
                            </a:rPr>
                          </m:ctrlPr>
                        </m:dPr>
                        <m:e>
                          <m:r>
                            <a:rPr lang="ja-JP" altLang="en-US" sz="2800" b="1" i="1" dirty="0">
                              <a:solidFill>
                                <a:srgbClr val="082B52"/>
                              </a:solidFill>
                              <a:latin typeface="Cambria Math" panose="02040503050406030204" pitchFamily="18" charset="0"/>
                            </a:rPr>
                            <m:t>𝒕</m:t>
                          </m:r>
                        </m:e>
                      </m:d>
                      <m:r>
                        <a:rPr lang="en-US" altLang="ja-JP" sz="2800" b="1" i="1" dirty="0" smtClean="0">
                          <a:solidFill>
                            <a:srgbClr val="082B52"/>
                          </a:solidFill>
                          <a:latin typeface="Cambria Math" panose="02040503050406030204" pitchFamily="18" charset="0"/>
                        </a:rPr>
                        <m:t>+</m:t>
                      </m:r>
                      <m:sSub>
                        <m:sSubPr>
                          <m:ctrlPr>
                            <a:rPr lang="ja-JP" altLang="en-US" sz="2800" b="1" i="1" dirty="0" err="1">
                              <a:solidFill>
                                <a:srgbClr val="082B52"/>
                              </a:solidFill>
                              <a:latin typeface="Cambria Math" panose="02040503050406030204" pitchFamily="18" charset="0"/>
                            </a:rPr>
                          </m:ctrlPr>
                        </m:sSubPr>
                        <m:e>
                          <m:r>
                            <a:rPr lang="ja-JP" altLang="en-US" sz="2800" b="1" i="1" dirty="0" err="1">
                              <a:solidFill>
                                <a:srgbClr val="082B52"/>
                              </a:solidFill>
                              <a:latin typeface="Cambria Math" panose="02040503050406030204" pitchFamily="18" charset="0"/>
                            </a:rPr>
                            <m:t>𝒃</m:t>
                          </m:r>
                        </m:e>
                        <m:sub>
                          <m:r>
                            <a:rPr lang="ja-JP" altLang="en-US" sz="2800" b="1" i="1" dirty="0" err="1">
                              <a:solidFill>
                                <a:srgbClr val="082B52"/>
                              </a:solidFill>
                              <a:latin typeface="Cambria Math" panose="02040503050406030204" pitchFamily="18" charset="0"/>
                            </a:rPr>
                            <m:t>𝒄𝒂𝒔𝒆</m:t>
                          </m:r>
                        </m:sub>
                      </m:sSub>
                      <m:r>
                        <a:rPr lang="ja-JP" altLang="en-US" sz="2800" b="1" i="1" dirty="0">
                          <a:solidFill>
                            <a:srgbClr val="082B52"/>
                          </a:solidFill>
                          <a:latin typeface="Cambria Math" panose="02040503050406030204" pitchFamily="18" charset="0"/>
                        </a:rPr>
                        <m:t> </m:t>
                      </m:r>
                      <m:r>
                        <a:rPr lang="en-US" altLang="ja-JP" sz="2800" b="1" i="1" dirty="0" smtClean="0">
                          <a:solidFill>
                            <a:srgbClr val="082B52"/>
                          </a:solidFill>
                          <a:latin typeface="Cambria Math" panose="02040503050406030204" pitchFamily="18" charset="0"/>
                        </a:rPr>
                        <m:t>, </m:t>
                      </m:r>
                    </m:oMath>
                  </m:oMathPara>
                </a14:m>
                <a:endParaRPr lang="en-US" sz="2800" dirty="0"/>
              </a:p>
              <a:p>
                <a:pPr algn="ctr"/>
                <a14:m>
                  <m:oMathPara xmlns:m="http://schemas.openxmlformats.org/officeDocument/2006/math">
                    <m:oMath>
                      <m:sSub>
                        <m:sSubPr>
                          <m:ctrlPr>
                            <a:rPr lang="en-US" altLang="ja-JP" sz="2800" b="1" i="1" dirty="0">
                              <a:solidFill>
                                <a:srgbClr val="082B52"/>
                              </a:solidFill>
                              <a:latin typeface="Cambria Math" panose="02040503050406030204" pitchFamily="18" charset="0"/>
                            </a:rPr>
                          </m:ctrlPr>
                        </m:sSubPr>
                        <m:e>
                          <m:r>
                            <a:rPr lang="en-US" altLang="ja-JP" sz="2800" b="1" i="1" dirty="0">
                              <a:solidFill>
                                <a:srgbClr val="082B52"/>
                              </a:solidFill>
                              <a:latin typeface="Cambria Math" panose="02040503050406030204" pitchFamily="18" charset="0"/>
                            </a:rPr>
                            <m:t>𝒃</m:t>
                          </m:r>
                        </m:e>
                        <m:sub>
                          <m:r>
                            <a:rPr lang="en-US" altLang="ja-JP" sz="2800" b="1" i="1" dirty="0" err="1">
                              <a:solidFill>
                                <a:srgbClr val="082B52"/>
                              </a:solidFill>
                              <a:latin typeface="Cambria Math" panose="02040503050406030204" pitchFamily="18" charset="0"/>
                            </a:rPr>
                            <m:t>𝒄𝒂𝒔𝒆</m:t>
                          </m:r>
                        </m:sub>
                      </m:sSub>
                      <m:r>
                        <a:rPr lang="en-US" altLang="ja-JP" sz="2800" b="1" i="1" dirty="0">
                          <a:solidFill>
                            <a:srgbClr val="082B52"/>
                          </a:solidFill>
                          <a:latin typeface="Cambria Math" panose="02040503050406030204" pitchFamily="18" charset="0"/>
                        </a:rPr>
                        <m:t> ≈ </m:t>
                      </m:r>
                      <m:sSub>
                        <m:sSubPr>
                          <m:ctrlPr>
                            <a:rPr lang="en-US" altLang="ja-JP" sz="2800" b="1" i="1" dirty="0">
                              <a:solidFill>
                                <a:srgbClr val="082B52"/>
                              </a:solidFill>
                              <a:latin typeface="Cambria Math" panose="02040503050406030204" pitchFamily="18" charset="0"/>
                            </a:rPr>
                          </m:ctrlPr>
                        </m:sSubPr>
                        <m:e>
                          <m:r>
                            <a:rPr lang="en-US" altLang="ja-JP" sz="2800" b="1" i="1" dirty="0">
                              <a:solidFill>
                                <a:srgbClr val="082B52"/>
                              </a:solidFill>
                              <a:latin typeface="Cambria Math" panose="02040503050406030204" pitchFamily="18" charset="0"/>
                            </a:rPr>
                            <m:t>𝒃</m:t>
                          </m:r>
                        </m:e>
                        <m:sub>
                          <m:r>
                            <a:rPr lang="en-US" altLang="ja-JP" sz="2800" b="1" i="1" dirty="0">
                              <a:solidFill>
                                <a:srgbClr val="082B52"/>
                              </a:solidFill>
                              <a:latin typeface="Cambria Math" panose="02040503050406030204" pitchFamily="18" charset="0"/>
                            </a:rPr>
                            <m:t>𝟎</m:t>
                          </m:r>
                          <m:r>
                            <a:rPr lang="en-US" altLang="ja-JP" sz="2800" b="1" i="1" dirty="0">
                              <a:solidFill>
                                <a:srgbClr val="082B52"/>
                              </a:solidFill>
                              <a:latin typeface="Cambria Math" panose="02040503050406030204" pitchFamily="18" charset="0"/>
                            </a:rPr>
                            <m:t>,</m:t>
                          </m:r>
                          <m:r>
                            <a:rPr lang="en-US" altLang="ja-JP" sz="2800" b="1" i="1" dirty="0">
                              <a:solidFill>
                                <a:srgbClr val="082B52"/>
                              </a:solidFill>
                              <a:latin typeface="Cambria Math" panose="02040503050406030204" pitchFamily="18" charset="0"/>
                            </a:rPr>
                            <m:t>𝒔𝒖𝒏𝒇𝒂𝒄𝒆</m:t>
                          </m:r>
                        </m:sub>
                      </m:sSub>
                      <m:r>
                        <a:rPr lang="en-US" altLang="ja-JP" sz="2800" b="1" i="1" dirty="0">
                          <a:solidFill>
                            <a:srgbClr val="082B52"/>
                          </a:solidFill>
                          <a:latin typeface="Cambria Math" panose="02040503050406030204" pitchFamily="18" charset="0"/>
                        </a:rPr>
                        <m:t> + </m:t>
                      </m:r>
                      <m:sSub>
                        <m:sSubPr>
                          <m:ctrlPr>
                            <a:rPr lang="en-US" altLang="ja-JP" sz="2800" b="1" i="1" dirty="0" err="1">
                              <a:solidFill>
                                <a:srgbClr val="082B52"/>
                              </a:solidFill>
                              <a:latin typeface="Cambria Math" panose="02040503050406030204" pitchFamily="18" charset="0"/>
                            </a:rPr>
                          </m:ctrlPr>
                        </m:sSubPr>
                        <m:e>
                          <m:r>
                            <a:rPr lang="en-US" altLang="ja-JP" sz="2800" b="1" i="1" dirty="0" err="1">
                              <a:solidFill>
                                <a:srgbClr val="082B52"/>
                              </a:solidFill>
                              <a:latin typeface="Cambria Math" panose="02040503050406030204" pitchFamily="18" charset="0"/>
                            </a:rPr>
                            <m:t>𝒄</m:t>
                          </m:r>
                        </m:e>
                        <m:sub>
                          <m:r>
                            <a:rPr lang="en-US" altLang="ja-JP" sz="2800" b="1" i="1" dirty="0" err="1">
                              <a:solidFill>
                                <a:srgbClr val="082B52"/>
                              </a:solidFill>
                              <a:latin typeface="Cambria Math" panose="02040503050406030204" pitchFamily="18" charset="0"/>
                            </a:rPr>
                            <m:t>𝑷𝑹𝑶𝑷</m:t>
                          </m:r>
                        </m:sub>
                      </m:sSub>
                      <m:sSub>
                        <m:sSubPr>
                          <m:ctrlPr>
                            <a:rPr lang="en-US" altLang="ja-JP" sz="2800" b="1" i="1" dirty="0">
                              <a:solidFill>
                                <a:srgbClr val="082B52"/>
                              </a:solidFill>
                              <a:latin typeface="Cambria Math" panose="02040503050406030204" pitchFamily="18" charset="0"/>
                            </a:rPr>
                          </m:ctrlPr>
                        </m:sSubPr>
                        <m:e>
                          <m:r>
                            <a:rPr lang="en-US" altLang="ja-JP" sz="2800" b="1" i="1" dirty="0">
                              <a:solidFill>
                                <a:srgbClr val="082B52"/>
                              </a:solidFill>
                              <a:latin typeface="Cambria Math" panose="02040503050406030204" pitchFamily="18" charset="0"/>
                            </a:rPr>
                            <m:t>𝑰</m:t>
                          </m:r>
                        </m:e>
                        <m:sub>
                          <m:r>
                            <a:rPr lang="en-US" altLang="ja-JP" sz="2800" b="1" i="1" dirty="0">
                              <a:solidFill>
                                <a:srgbClr val="082B52"/>
                              </a:solidFill>
                              <a:latin typeface="Cambria Math" panose="02040503050406030204" pitchFamily="18" charset="0"/>
                            </a:rPr>
                            <m:t>𝑷𝑹𝑶𝑷</m:t>
                          </m:r>
                        </m:sub>
                      </m:sSub>
                      <m:r>
                        <a:rPr lang="en-US" altLang="ja-JP" sz="2800" b="1" i="1" dirty="0">
                          <a:solidFill>
                            <a:srgbClr val="082B52"/>
                          </a:solidFill>
                          <a:latin typeface="Cambria Math" panose="02040503050406030204" pitchFamily="18" charset="0"/>
                        </a:rPr>
                        <m:t> + </m:t>
                      </m:r>
                      <m:sSub>
                        <m:sSubPr>
                          <m:ctrlPr>
                            <a:rPr lang="en-US" altLang="ja-JP" sz="2800" b="1" i="1" dirty="0" err="1">
                              <a:solidFill>
                                <a:srgbClr val="082B52"/>
                              </a:solidFill>
                              <a:latin typeface="Cambria Math" panose="02040503050406030204" pitchFamily="18" charset="0"/>
                            </a:rPr>
                          </m:ctrlPr>
                        </m:sSubPr>
                        <m:e>
                          <m:r>
                            <a:rPr lang="en-US" altLang="ja-JP" sz="2800" b="1" i="1" dirty="0" err="1">
                              <a:solidFill>
                                <a:srgbClr val="082B52"/>
                              </a:solidFill>
                              <a:latin typeface="Cambria Math" panose="02040503050406030204" pitchFamily="18" charset="0"/>
                            </a:rPr>
                            <m:t>𝒄</m:t>
                          </m:r>
                        </m:e>
                        <m:sub>
                          <m:r>
                            <a:rPr lang="en-US" altLang="ja-JP" sz="2800" b="1" i="1" dirty="0" err="1">
                              <a:solidFill>
                                <a:srgbClr val="082B52"/>
                              </a:solidFill>
                              <a:latin typeface="Cambria Math" panose="02040503050406030204" pitchFamily="18" charset="0"/>
                            </a:rPr>
                            <m:t>𝑷𝑪𝑫𝑼</m:t>
                          </m:r>
                        </m:sub>
                      </m:sSub>
                      <m:sSub>
                        <m:sSubPr>
                          <m:ctrlPr>
                            <a:rPr lang="en-US" altLang="ja-JP" sz="2800" b="1" i="1" dirty="0">
                              <a:solidFill>
                                <a:srgbClr val="082B52"/>
                              </a:solidFill>
                              <a:latin typeface="Cambria Math" panose="02040503050406030204" pitchFamily="18" charset="0"/>
                            </a:rPr>
                          </m:ctrlPr>
                        </m:sSubPr>
                        <m:e>
                          <m:r>
                            <a:rPr lang="en-US" altLang="ja-JP" sz="2800" b="1" i="1" dirty="0">
                              <a:solidFill>
                                <a:srgbClr val="082B52"/>
                              </a:solidFill>
                              <a:latin typeface="Cambria Math" panose="02040503050406030204" pitchFamily="18" charset="0"/>
                            </a:rPr>
                            <m:t>𝑰</m:t>
                          </m:r>
                        </m:e>
                        <m:sub>
                          <m:r>
                            <a:rPr lang="en-US" altLang="ja-JP" sz="2800" b="1" i="1" dirty="0">
                              <a:solidFill>
                                <a:srgbClr val="082B52"/>
                              </a:solidFill>
                              <a:latin typeface="Cambria Math" panose="02040503050406030204" pitchFamily="18" charset="0"/>
                            </a:rPr>
                            <m:t>𝑷𝑪𝑫𝑼</m:t>
                          </m:r>
                        </m:sub>
                      </m:sSub>
                    </m:oMath>
                  </m:oMathPara>
                </a14:m>
                <a:endParaRPr sz="2800" dirty="0"/>
              </a:p>
            </p:txBody>
          </p:sp>
        </mc:Choice>
        <mc:Fallback xmlns="">
          <p:sp>
            <p:nvSpPr>
              <p:cNvPr id="22" name="TextBox 5">
                <a:extLst>
                  <a:ext uri="{FF2B5EF4-FFF2-40B4-BE49-F238E27FC236}">
                    <a16:creationId xmlns:a16="http://schemas.microsoft.com/office/drawing/2014/main" id="{8CB7D79D-2AF2-A798-8254-04332A599446}"/>
                  </a:ext>
                </a:extLst>
              </p:cNvPr>
              <p:cNvSpPr txBox="1">
                <a:spLocks noRot="1" noChangeAspect="1" noMove="1" noResize="1" noEditPoints="1" noAdjustHandles="1" noChangeArrowheads="1" noChangeShapeType="1" noTextEdit="1"/>
              </p:cNvSpPr>
              <p:nvPr/>
            </p:nvSpPr>
            <p:spPr>
              <a:xfrm>
                <a:off x="13872760" y="9039727"/>
                <a:ext cx="7916078" cy="998863"/>
              </a:xfrm>
              <a:prstGeom prst="rect">
                <a:avLst/>
              </a:prstGeom>
              <a:blipFill>
                <a:blip r:embed="rId6"/>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4" name="TextBox 5">
                <a:extLst>
                  <a:ext uri="{FF2B5EF4-FFF2-40B4-BE49-F238E27FC236}">
                    <a16:creationId xmlns:a16="http://schemas.microsoft.com/office/drawing/2014/main" id="{871BC7F3-CFD6-2181-FEC2-0F7AB8A132AA}"/>
                  </a:ext>
                </a:extLst>
              </p:cNvPr>
              <p:cNvSpPr txBox="1"/>
              <p:nvPr/>
            </p:nvSpPr>
            <p:spPr>
              <a:xfrm>
                <a:off x="2901195" y="9039727"/>
                <a:ext cx="7090659" cy="958019"/>
              </a:xfrm>
              <a:prstGeom prst="rect">
                <a:avLst/>
              </a:prstGeom>
              <a:noFill/>
            </p:spPr>
            <p:txBody>
              <a:bodyPr wrap="none" lIns="36576" tIns="27432" rIns="36576" bIns="27432" anchor="t">
                <a:spAutoFit/>
              </a:bodyPr>
              <a:lstStyle/>
              <a:p>
                <a:pPr algn="ctr"/>
                <a14:m>
                  <m:oMathPara xmlns:m="http://schemas.openxmlformats.org/officeDocument/2006/math">
                    <m:oMath>
                      <m:sSub>
                        <m:sSubPr>
                          <m:ctrlPr>
                            <a:rPr lang="ja-JP" altLang="en-US" sz="2800" b="1" i="1" dirty="0" smtClean="0">
                              <a:solidFill>
                                <a:srgbClr val="082B52"/>
                              </a:solidFill>
                              <a:latin typeface="Cambria Math" panose="02040503050406030204" pitchFamily="18" charset="0"/>
                            </a:rPr>
                          </m:ctrlPr>
                        </m:sSubPr>
                        <m:e>
                          <m:r>
                            <a:rPr lang="ja-JP" altLang="en-US" sz="2800" b="1" i="1" dirty="0" smtClean="0">
                              <a:solidFill>
                                <a:srgbClr val="082B52"/>
                              </a:solidFill>
                              <a:latin typeface="Cambria Math" panose="02040503050406030204" pitchFamily="18" charset="0"/>
                            </a:rPr>
                            <m:t>𝜽</m:t>
                          </m:r>
                        </m:e>
                        <m:sub>
                          <m:r>
                            <a:rPr lang="en-US" altLang="ja-JP" sz="2800" b="1" i="1" dirty="0" smtClean="0">
                              <a:solidFill>
                                <a:srgbClr val="082B52"/>
                              </a:solidFill>
                              <a:latin typeface="Cambria Math" panose="02040503050406030204" pitchFamily="18" charset="0"/>
                            </a:rPr>
                            <m:t>𝑳𝑶𝑺</m:t>
                          </m:r>
                          <m:r>
                            <a:rPr lang="en-US" altLang="ja-JP" sz="2800" b="1" i="1" dirty="0" smtClean="0">
                              <a:solidFill>
                                <a:srgbClr val="082B52"/>
                              </a:solidFill>
                              <a:latin typeface="Cambria Math" panose="02040503050406030204" pitchFamily="18" charset="0"/>
                            </a:rPr>
                            <m:t>, </m:t>
                          </m:r>
                          <m:r>
                            <a:rPr lang="en-US" altLang="ja-JP" sz="2800" b="1" i="1" dirty="0" smtClean="0">
                              <a:solidFill>
                                <a:srgbClr val="082B52"/>
                              </a:solidFill>
                              <a:latin typeface="Cambria Math" panose="02040503050406030204" pitchFamily="18" charset="0"/>
                            </a:rPr>
                            <m:t>𝒚</m:t>
                          </m:r>
                        </m:sub>
                      </m:sSub>
                      <m:d>
                        <m:dPr>
                          <m:ctrlPr>
                            <a:rPr lang="ja-JP" altLang="en-US" sz="2800" b="1" i="1" dirty="0">
                              <a:solidFill>
                                <a:srgbClr val="082B52"/>
                              </a:solidFill>
                              <a:latin typeface="Cambria Math" panose="02040503050406030204" pitchFamily="18" charset="0"/>
                            </a:rPr>
                          </m:ctrlPr>
                        </m:dPr>
                        <m:e>
                          <m:r>
                            <a:rPr lang="ja-JP" altLang="en-US" sz="2800" b="1" i="1" dirty="0">
                              <a:solidFill>
                                <a:srgbClr val="082B52"/>
                              </a:solidFill>
                              <a:latin typeface="Cambria Math" panose="02040503050406030204" pitchFamily="18" charset="0"/>
                            </a:rPr>
                            <m:t>𝒕</m:t>
                          </m:r>
                        </m:e>
                      </m:d>
                      <m:r>
                        <a:rPr lang="en-US" altLang="ja-JP" sz="2800" b="1" i="1" dirty="0">
                          <a:solidFill>
                            <a:srgbClr val="082B52"/>
                          </a:solidFill>
                          <a:latin typeface="Cambria Math" panose="02040503050406030204" pitchFamily="18" charset="0"/>
                        </a:rPr>
                        <m:t>≈</m:t>
                      </m:r>
                      <m:r>
                        <a:rPr lang="en-US" altLang="ja-JP" sz="2800" b="1" i="1" dirty="0" smtClean="0">
                          <a:solidFill>
                            <a:srgbClr val="082B52"/>
                          </a:solidFill>
                          <a:latin typeface="Cambria Math" panose="02040503050406030204" pitchFamily="18" charset="0"/>
                        </a:rPr>
                        <m:t>𝑲</m:t>
                      </m:r>
                      <m:r>
                        <a:rPr lang="en-US" altLang="ja-JP" sz="2800" b="1" i="1" dirty="0">
                          <a:solidFill>
                            <a:srgbClr val="082B52"/>
                          </a:solidFill>
                          <a:latin typeface="Cambria Math" panose="02040503050406030204" pitchFamily="18" charset="0"/>
                        </a:rPr>
                        <m:t>·</m:t>
                      </m:r>
                      <m:r>
                        <a:rPr lang="en-US" altLang="ja-JP" sz="2800" b="1" i="1" dirty="0" smtClean="0">
                          <a:solidFill>
                            <a:srgbClr val="082B52"/>
                          </a:solidFill>
                          <a:latin typeface="Cambria Math" panose="02040503050406030204" pitchFamily="18" charset="0"/>
                        </a:rPr>
                        <m:t>(</m:t>
                      </m:r>
                      <m:sSub>
                        <m:sSubPr>
                          <m:ctrlPr>
                            <a:rPr lang="en-US" altLang="ja-JP" sz="2800" b="1" i="1" dirty="0" smtClean="0">
                              <a:solidFill>
                                <a:srgbClr val="082B52"/>
                              </a:solidFill>
                              <a:latin typeface="Cambria Math" panose="02040503050406030204" pitchFamily="18" charset="0"/>
                            </a:rPr>
                          </m:ctrlPr>
                        </m:sSubPr>
                        <m:e>
                          <m:r>
                            <a:rPr lang="en-US" altLang="ja-JP" sz="2800" b="1" i="1" dirty="0" smtClean="0">
                              <a:solidFill>
                                <a:srgbClr val="082B52"/>
                              </a:solidFill>
                              <a:latin typeface="Cambria Math" panose="02040503050406030204" pitchFamily="18" charset="0"/>
                            </a:rPr>
                            <m:t>𝑻</m:t>
                          </m:r>
                        </m:e>
                        <m:sub>
                          <m:r>
                            <a:rPr lang="en-US" altLang="ja-JP" sz="2800" b="1" i="1" dirty="0" smtClean="0">
                              <a:solidFill>
                                <a:srgbClr val="082B52"/>
                              </a:solidFill>
                              <a:latin typeface="Cambria Math" panose="02040503050406030204" pitchFamily="18" charset="0"/>
                            </a:rPr>
                            <m:t>𝒐𝒑𝒕𝒊𝒄𝒂𝒍</m:t>
                          </m:r>
                          <m:r>
                            <a:rPr lang="en-US" altLang="ja-JP" sz="2800" b="1" i="1" dirty="0" smtClean="0">
                              <a:solidFill>
                                <a:srgbClr val="082B52"/>
                              </a:solidFill>
                              <a:latin typeface="Cambria Math" panose="02040503050406030204" pitchFamily="18" charset="0"/>
                            </a:rPr>
                            <m:t>,  </m:t>
                          </m:r>
                          <m:r>
                            <a:rPr lang="en-US" altLang="ja-JP" sz="2800" b="1" i="1" dirty="0" smtClean="0">
                              <a:solidFill>
                                <a:srgbClr val="082B52"/>
                              </a:solidFill>
                              <a:latin typeface="Cambria Math" panose="02040503050406030204" pitchFamily="18" charset="0"/>
                            </a:rPr>
                            <m:t>𝑾𝑨𝑳𝑳</m:t>
                          </m:r>
                        </m:sub>
                      </m:sSub>
                      <m:r>
                        <a:rPr lang="en-US" altLang="ja-JP" sz="2800" b="1" i="1" dirty="0" smtClean="0">
                          <a:solidFill>
                            <a:srgbClr val="082B52"/>
                          </a:solidFill>
                          <a:latin typeface="Cambria Math" panose="02040503050406030204" pitchFamily="18" charset="0"/>
                        </a:rPr>
                        <m:t>−</m:t>
                      </m:r>
                      <m:sSub>
                        <m:sSubPr>
                          <m:ctrlPr>
                            <a:rPr lang="en-US" altLang="ja-JP" sz="2800" b="1" i="1" dirty="0" smtClean="0">
                              <a:solidFill>
                                <a:srgbClr val="082B52"/>
                              </a:solidFill>
                              <a:latin typeface="Cambria Math" panose="02040503050406030204" pitchFamily="18" charset="0"/>
                            </a:rPr>
                          </m:ctrlPr>
                        </m:sSubPr>
                        <m:e>
                          <m:r>
                            <a:rPr lang="en-US" altLang="ja-JP" sz="2800" b="1" i="1" dirty="0" smtClean="0">
                              <a:solidFill>
                                <a:srgbClr val="082B52"/>
                              </a:solidFill>
                              <a:latin typeface="Cambria Math" panose="02040503050406030204" pitchFamily="18" charset="0"/>
                            </a:rPr>
                            <m:t>𝑻</m:t>
                          </m:r>
                        </m:e>
                        <m:sub>
                          <m:r>
                            <a:rPr lang="en-US" altLang="ja-JP" sz="2800" b="1" i="1" dirty="0" smtClean="0">
                              <a:solidFill>
                                <a:srgbClr val="082B52"/>
                              </a:solidFill>
                              <a:latin typeface="Cambria Math" panose="02040503050406030204" pitchFamily="18" charset="0"/>
                            </a:rPr>
                            <m:t>𝒃𝒖𝒇𝒇𝒍𝒆</m:t>
                          </m:r>
                          <m:r>
                            <a:rPr lang="en-US" altLang="ja-JP" sz="2800" b="1" i="1" dirty="0" smtClean="0">
                              <a:solidFill>
                                <a:srgbClr val="082B52"/>
                              </a:solidFill>
                              <a:latin typeface="Cambria Math" panose="02040503050406030204" pitchFamily="18" charset="0"/>
                            </a:rPr>
                            <m:t>, </m:t>
                          </m:r>
                          <m:r>
                            <a:rPr lang="en-US" altLang="ja-JP" sz="2800" b="1" i="1" dirty="0" smtClean="0">
                              <a:solidFill>
                                <a:srgbClr val="082B52"/>
                              </a:solidFill>
                              <a:latin typeface="Cambria Math" panose="02040503050406030204" pitchFamily="18" charset="0"/>
                            </a:rPr>
                            <m:t>𝑾𝑨𝑳𝑳</m:t>
                          </m:r>
                        </m:sub>
                      </m:sSub>
                      <m:r>
                        <a:rPr lang="en-US" altLang="ja-JP" sz="2800" b="1" i="1" dirty="0" smtClean="0">
                          <a:solidFill>
                            <a:srgbClr val="082B52"/>
                          </a:solidFill>
                          <a:latin typeface="Cambria Math" panose="02040503050406030204" pitchFamily="18" charset="0"/>
                        </a:rPr>
                        <m:t>)</m:t>
                      </m:r>
                    </m:oMath>
                  </m:oMathPara>
                </a14:m>
                <a:endParaRPr lang="en-US" altLang="ja-JP" sz="2800" b="1" dirty="0">
                  <a:solidFill>
                    <a:srgbClr val="082B52"/>
                  </a:solidFill>
                </a:endParaRPr>
              </a:p>
              <a:p>
                <a:pPr algn="ctr"/>
                <a:endParaRPr lang="en-US" altLang="ja-JP" sz="2800" b="1" dirty="0">
                  <a:solidFill>
                    <a:srgbClr val="082B52"/>
                  </a:solidFill>
                </a:endParaRPr>
              </a:p>
            </p:txBody>
          </p:sp>
        </mc:Choice>
        <mc:Fallback xmlns="">
          <p:sp>
            <p:nvSpPr>
              <p:cNvPr id="24" name="TextBox 5">
                <a:extLst>
                  <a:ext uri="{FF2B5EF4-FFF2-40B4-BE49-F238E27FC236}">
                    <a16:creationId xmlns:a16="http://schemas.microsoft.com/office/drawing/2014/main" id="{871BC7F3-CFD6-2181-FEC2-0F7AB8A132AA}"/>
                  </a:ext>
                </a:extLst>
              </p:cNvPr>
              <p:cNvSpPr txBox="1">
                <a:spLocks noRot="1" noChangeAspect="1" noMove="1" noResize="1" noEditPoints="1" noAdjustHandles="1" noChangeArrowheads="1" noChangeShapeType="1" noTextEdit="1"/>
              </p:cNvSpPr>
              <p:nvPr/>
            </p:nvSpPr>
            <p:spPr>
              <a:xfrm>
                <a:off x="2901195" y="9039727"/>
                <a:ext cx="7090659" cy="958019"/>
              </a:xfrm>
              <a:prstGeom prst="rect">
                <a:avLst/>
              </a:prstGeom>
              <a:blipFill>
                <a:blip r:embed="rId7"/>
                <a:stretch>
                  <a:fillRect/>
                </a:stretch>
              </a:blipFill>
            </p:spPr>
            <p:txBody>
              <a:bodyPr/>
              <a:lstStyle/>
              <a:p>
                <a:r>
                  <a:rPr lang="ja-JP" altLang="en-US">
                    <a:noFill/>
                  </a:rPr>
                  <a:t> </a:t>
                </a:r>
              </a:p>
            </p:txBody>
          </p:sp>
        </mc:Fallback>
      </mc:AlternateContent>
      <p:cxnSp>
        <p:nvCxnSpPr>
          <p:cNvPr id="26" name="直線矢印コネクタ 25">
            <a:extLst>
              <a:ext uri="{FF2B5EF4-FFF2-40B4-BE49-F238E27FC236}">
                <a16:creationId xmlns:a16="http://schemas.microsoft.com/office/drawing/2014/main" id="{364056D2-83C3-D172-16F3-77222404221A}"/>
              </a:ext>
            </a:extLst>
          </p:cNvPr>
          <p:cNvCxnSpPr>
            <a:cxnSpLocks/>
          </p:cNvCxnSpPr>
          <p:nvPr/>
        </p:nvCxnSpPr>
        <p:spPr>
          <a:xfrm>
            <a:off x="9820002" y="4096848"/>
            <a:ext cx="0" cy="584544"/>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7" name="直線矢印コネクタ 26">
            <a:extLst>
              <a:ext uri="{FF2B5EF4-FFF2-40B4-BE49-F238E27FC236}">
                <a16:creationId xmlns:a16="http://schemas.microsoft.com/office/drawing/2014/main" id="{5D486108-12C4-0CB4-491B-DA4939F62364}"/>
              </a:ext>
            </a:extLst>
          </p:cNvPr>
          <p:cNvCxnSpPr>
            <a:cxnSpLocks/>
          </p:cNvCxnSpPr>
          <p:nvPr/>
        </p:nvCxnSpPr>
        <p:spPr>
          <a:xfrm>
            <a:off x="10881360" y="4096848"/>
            <a:ext cx="0" cy="550289"/>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1" name="テキスト ボックス 30">
            <a:extLst>
              <a:ext uri="{FF2B5EF4-FFF2-40B4-BE49-F238E27FC236}">
                <a16:creationId xmlns:a16="http://schemas.microsoft.com/office/drawing/2014/main" id="{8AAB77A2-36D4-590E-EB94-32592F3A750A}"/>
              </a:ext>
            </a:extLst>
          </p:cNvPr>
          <p:cNvSpPr txBox="1"/>
          <p:nvPr/>
        </p:nvSpPr>
        <p:spPr>
          <a:xfrm>
            <a:off x="10332720" y="3722608"/>
            <a:ext cx="1404257" cy="369332"/>
          </a:xfrm>
          <a:prstGeom prst="rect">
            <a:avLst/>
          </a:prstGeom>
          <a:noFill/>
        </p:spPr>
        <p:txBody>
          <a:bodyPr wrap="square" rtlCol="0">
            <a:spAutoFit/>
          </a:bodyPr>
          <a:lstStyle/>
          <a:p>
            <a:r>
              <a:rPr kumimoji="1" lang="en-US" altLang="ja-JP" dirty="0"/>
              <a:t>Optical Wall</a:t>
            </a:r>
            <a:endParaRPr kumimoji="1" lang="ja-JP" altLang="en-US" dirty="0"/>
          </a:p>
        </p:txBody>
      </p:sp>
      <p:sp>
        <p:nvSpPr>
          <p:cNvPr id="33" name="テキスト ボックス 32">
            <a:extLst>
              <a:ext uri="{FF2B5EF4-FFF2-40B4-BE49-F238E27FC236}">
                <a16:creationId xmlns:a16="http://schemas.microsoft.com/office/drawing/2014/main" id="{E314A410-ACD0-9EDE-1676-7B2BA3D84B5F}"/>
              </a:ext>
            </a:extLst>
          </p:cNvPr>
          <p:cNvSpPr txBox="1"/>
          <p:nvPr/>
        </p:nvSpPr>
        <p:spPr>
          <a:xfrm>
            <a:off x="9068890" y="3732074"/>
            <a:ext cx="1404257" cy="369332"/>
          </a:xfrm>
          <a:prstGeom prst="rect">
            <a:avLst/>
          </a:prstGeom>
          <a:noFill/>
        </p:spPr>
        <p:txBody>
          <a:bodyPr wrap="square" rtlCol="0">
            <a:spAutoFit/>
          </a:bodyPr>
          <a:lstStyle/>
          <a:p>
            <a:r>
              <a:rPr kumimoji="1" lang="en-US" altLang="ja-JP" dirty="0" err="1"/>
              <a:t>Buffle</a:t>
            </a:r>
            <a:r>
              <a:rPr kumimoji="1" lang="en-US" altLang="ja-JP" dirty="0"/>
              <a:t> Wall</a:t>
            </a:r>
            <a:endParaRPr kumimoji="1" lang="ja-JP"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none" lIns="36576" tIns="27432" rIns="36576" bIns="27432" anchor="t">
            <a:spAutoFit/>
          </a:bodyPr>
          <a:lstStyle/>
          <a:p>
            <a:pPr algn="l"/>
            <a:r>
              <a:rPr sz="2000" b="0">
                <a:solidFill>
                  <a:srgbClr val="666F79"/>
                </a:solidFill>
                <a:latin typeface="Yu Gothic"/>
              </a:rPr>
              <a:t>PAT simulation conditions</a:t>
            </a:r>
          </a:p>
        </p:txBody>
      </p:sp>
      <p:sp>
        <p:nvSpPr>
          <p:cNvPr id="3" name="TextBox 2"/>
          <p:cNvSpPr txBox="1"/>
          <p:nvPr/>
        </p:nvSpPr>
        <p:spPr>
          <a:xfrm>
            <a:off x="1536192" y="1298448"/>
            <a:ext cx="9922716" cy="1040285"/>
          </a:xfrm>
          <a:prstGeom prst="rect">
            <a:avLst/>
          </a:prstGeom>
          <a:noFill/>
        </p:spPr>
        <p:txBody>
          <a:bodyPr wrap="none" lIns="36576" tIns="27432" rIns="36576" bIns="27432" anchor="t">
            <a:spAutoFit/>
          </a:bodyPr>
          <a:lstStyle/>
          <a:p>
            <a:pPr algn="l"/>
            <a:endParaRPr lang="en-US" sz="3200" b="1" dirty="0">
              <a:solidFill>
                <a:srgbClr val="082B52"/>
              </a:solidFill>
              <a:latin typeface="Yu Gothic"/>
            </a:endParaRPr>
          </a:p>
          <a:p>
            <a:r>
              <a:rPr lang="ja-JP" altLang="ja-JP" sz="3200" b="1" dirty="0"/>
              <a:t>粗捕捉は矩形スパイラルの離散走査として簡略化する</a:t>
            </a:r>
            <a:endParaRPr lang="ja-JP" altLang="ja-JP" sz="3200" dirty="0"/>
          </a:p>
        </p:txBody>
      </p:sp>
      <p:sp>
        <p:nvSpPr>
          <p:cNvPr id="4" name="TextBox 3"/>
          <p:cNvSpPr txBox="1"/>
          <p:nvPr/>
        </p:nvSpPr>
        <p:spPr>
          <a:xfrm>
            <a:off x="23444053" y="12819888"/>
            <a:ext cx="330347" cy="332399"/>
          </a:xfrm>
          <a:prstGeom prst="rect">
            <a:avLst/>
          </a:prstGeom>
          <a:noFill/>
        </p:spPr>
        <p:txBody>
          <a:bodyPr wrap="none" lIns="36576" tIns="27432" rIns="36576" bIns="27432" anchor="t">
            <a:spAutoFit/>
          </a:bodyPr>
          <a:lstStyle/>
          <a:p>
            <a:pPr algn="r"/>
            <a:r>
              <a:rPr lang="en-US" dirty="0">
                <a:solidFill>
                  <a:srgbClr val="666F79"/>
                </a:solidFill>
                <a:latin typeface="Yu Gothic"/>
              </a:rPr>
              <a:t>25</a:t>
            </a:r>
            <a:endParaRPr sz="1800" b="0" dirty="0">
              <a:solidFill>
                <a:srgbClr val="666F79"/>
              </a:solidFill>
              <a:latin typeface="Yu Gothic"/>
            </a:endParaRPr>
          </a:p>
        </p:txBody>
      </p:sp>
      <p:graphicFrame>
        <p:nvGraphicFramePr>
          <p:cNvPr id="28" name="Table 27"/>
          <p:cNvGraphicFramePr>
            <a:graphicFrameLocks noGrp="1"/>
          </p:cNvGraphicFramePr>
          <p:nvPr/>
        </p:nvGraphicFramePr>
        <p:xfrm>
          <a:off x="12461016" y="2752344"/>
          <a:ext cx="8874189" cy="6309360"/>
        </p:xfrm>
        <a:graphic>
          <a:graphicData uri="http://schemas.openxmlformats.org/drawingml/2006/table">
            <a:tbl>
              <a:tblPr firstRow="1" bandRow="1">
                <a:tableStyleId>{5C22544A-7EE6-4342-B048-85BDC9FD1C3A}</a:tableStyleId>
              </a:tblPr>
              <a:tblGrid>
                <a:gridCol w="4641883">
                  <a:extLst>
                    <a:ext uri="{9D8B030D-6E8A-4147-A177-3AD203B41FA5}">
                      <a16:colId xmlns:a16="http://schemas.microsoft.com/office/drawing/2014/main" val="20000"/>
                    </a:ext>
                  </a:extLst>
                </a:gridCol>
                <a:gridCol w="4232306">
                  <a:extLst>
                    <a:ext uri="{9D8B030D-6E8A-4147-A177-3AD203B41FA5}">
                      <a16:colId xmlns:a16="http://schemas.microsoft.com/office/drawing/2014/main" val="20001"/>
                    </a:ext>
                  </a:extLst>
                </a:gridCol>
              </a:tblGrid>
              <a:tr h="901337">
                <a:tc>
                  <a:txBody>
                    <a:bodyPr/>
                    <a:lstStyle/>
                    <a:p>
                      <a:pPr algn="l">
                        <a:buNone/>
                      </a:pPr>
                      <a:r>
                        <a:rPr lang="ja-JP" sz="2400" dirty="0"/>
                        <a:t>パラメータ</a:t>
                      </a:r>
                    </a:p>
                  </a:txBody>
                  <a:tcPr anchor="ctr">
                    <a:solidFill>
                      <a:srgbClr val="082B52"/>
                    </a:solidFill>
                  </a:tcPr>
                </a:tc>
                <a:tc>
                  <a:txBody>
                    <a:bodyPr/>
                    <a:lstStyle/>
                    <a:p>
                      <a:pPr algn="l">
                        <a:buNone/>
                      </a:pPr>
                      <a:r>
                        <a:rPr lang="ja-JP" sz="2400"/>
                        <a:t>設定値</a:t>
                      </a:r>
                    </a:p>
                  </a:txBody>
                  <a:tcPr anchor="ctr">
                    <a:solidFill>
                      <a:srgbClr val="082B52"/>
                    </a:solidFill>
                  </a:tcPr>
                </a:tc>
                <a:extLst>
                  <a:ext uri="{0D108BD9-81ED-4DB2-BD59-A6C34878D82A}">
                    <a16:rowId xmlns:a16="http://schemas.microsoft.com/office/drawing/2014/main" val="10000"/>
                  </a:ext>
                </a:extLst>
              </a:tr>
              <a:tr h="901337">
                <a:tc>
                  <a:txBody>
                    <a:bodyPr/>
                    <a:lstStyle/>
                    <a:p>
                      <a:pPr algn="l">
                        <a:buNone/>
                      </a:pPr>
                      <a:r>
                        <a:rPr lang="ja-JP" sz="2400" dirty="0"/>
                        <a:t>走査範囲</a:t>
                      </a:r>
                    </a:p>
                  </a:txBody>
                  <a:tcPr anchor="ctr">
                    <a:solidFill>
                      <a:srgbClr val="FFFFFF"/>
                    </a:solidFill>
                  </a:tcPr>
                </a:tc>
                <a:tc>
                  <a:txBody>
                    <a:bodyPr/>
                    <a:lstStyle/>
                    <a:p>
                      <a:pPr algn="l">
                        <a:buNone/>
                      </a:pPr>
                      <a:r>
                        <a:rPr lang="ja-JP" sz="2400"/>
                        <a:t>±1600 µrad</a:t>
                      </a:r>
                    </a:p>
                  </a:txBody>
                  <a:tcPr anchor="ctr">
                    <a:solidFill>
                      <a:srgbClr val="EBF6FB"/>
                    </a:solidFill>
                  </a:tcPr>
                </a:tc>
                <a:extLst>
                  <a:ext uri="{0D108BD9-81ED-4DB2-BD59-A6C34878D82A}">
                    <a16:rowId xmlns:a16="http://schemas.microsoft.com/office/drawing/2014/main" val="10001"/>
                  </a:ext>
                </a:extLst>
              </a:tr>
              <a:tr h="901337">
                <a:tc>
                  <a:txBody>
                    <a:bodyPr/>
                    <a:lstStyle/>
                    <a:p>
                      <a:pPr algn="l">
                        <a:buNone/>
                      </a:pPr>
                      <a:r>
                        <a:rPr lang="ja-JP" sz="2400" dirty="0"/>
                        <a:t>点間隔</a:t>
                      </a:r>
                    </a:p>
                  </a:txBody>
                  <a:tcPr anchor="ctr">
                    <a:solidFill>
                      <a:srgbClr val="F4F6F8"/>
                    </a:solidFill>
                  </a:tcPr>
                </a:tc>
                <a:tc>
                  <a:txBody>
                    <a:bodyPr/>
                    <a:lstStyle/>
                    <a:p>
                      <a:pPr algn="l">
                        <a:buNone/>
                      </a:pPr>
                      <a:r>
                        <a:rPr lang="ja-JP" sz="2400" dirty="0"/>
                        <a:t>40 µrad</a:t>
                      </a:r>
                    </a:p>
                  </a:txBody>
                  <a:tcPr anchor="ctr">
                    <a:solidFill>
                      <a:srgbClr val="EBF6FB"/>
                    </a:solidFill>
                  </a:tcPr>
                </a:tc>
                <a:extLst>
                  <a:ext uri="{0D108BD9-81ED-4DB2-BD59-A6C34878D82A}">
                    <a16:rowId xmlns:a16="http://schemas.microsoft.com/office/drawing/2014/main" val="10002"/>
                  </a:ext>
                </a:extLst>
              </a:tr>
              <a:tr h="901337">
                <a:tc>
                  <a:txBody>
                    <a:bodyPr/>
                    <a:lstStyle/>
                    <a:p>
                      <a:pPr algn="l">
                        <a:buNone/>
                      </a:pPr>
                      <a:r>
                        <a:rPr lang="ja-JP" sz="2400" dirty="0"/>
                        <a:t>検出半径</a:t>
                      </a:r>
                    </a:p>
                  </a:txBody>
                  <a:tcPr anchor="ctr">
                    <a:solidFill>
                      <a:srgbClr val="FFFFFF"/>
                    </a:solidFill>
                  </a:tcPr>
                </a:tc>
                <a:tc>
                  <a:txBody>
                    <a:bodyPr/>
                    <a:lstStyle/>
                    <a:p>
                      <a:pPr algn="l">
                        <a:buNone/>
                      </a:pPr>
                      <a:r>
                        <a:rPr lang="ja-JP" sz="2400"/>
                        <a:t>25 µrad</a:t>
                      </a:r>
                    </a:p>
                  </a:txBody>
                  <a:tcPr anchor="ctr">
                    <a:solidFill>
                      <a:srgbClr val="EBF6FB"/>
                    </a:solidFill>
                  </a:tcPr>
                </a:tc>
                <a:extLst>
                  <a:ext uri="{0D108BD9-81ED-4DB2-BD59-A6C34878D82A}">
                    <a16:rowId xmlns:a16="http://schemas.microsoft.com/office/drawing/2014/main" val="10003"/>
                  </a:ext>
                </a:extLst>
              </a:tr>
              <a:tr h="901337">
                <a:tc>
                  <a:txBody>
                    <a:bodyPr/>
                    <a:lstStyle/>
                    <a:p>
                      <a:pPr algn="l">
                        <a:buNone/>
                      </a:pPr>
                      <a:r>
                        <a:rPr lang="ja-JP" sz="2400" dirty="0"/>
                        <a:t>滞在時間</a:t>
                      </a:r>
                    </a:p>
                  </a:txBody>
                  <a:tcPr anchor="ctr">
                    <a:solidFill>
                      <a:srgbClr val="F4F6F8"/>
                    </a:solidFill>
                  </a:tcPr>
                </a:tc>
                <a:tc>
                  <a:txBody>
                    <a:bodyPr/>
                    <a:lstStyle/>
                    <a:p>
                      <a:pPr algn="l">
                        <a:buNone/>
                      </a:pPr>
                      <a:r>
                        <a:rPr lang="ja-JP" sz="2400" dirty="0"/>
                        <a:t>0.1 s / 点</a:t>
                      </a:r>
                    </a:p>
                  </a:txBody>
                  <a:tcPr anchor="ctr">
                    <a:solidFill>
                      <a:srgbClr val="EBF6FB"/>
                    </a:solidFill>
                  </a:tcPr>
                </a:tc>
                <a:extLst>
                  <a:ext uri="{0D108BD9-81ED-4DB2-BD59-A6C34878D82A}">
                    <a16:rowId xmlns:a16="http://schemas.microsoft.com/office/drawing/2014/main" val="10004"/>
                  </a:ext>
                </a:extLst>
              </a:tr>
              <a:tr h="901337">
                <a:tc>
                  <a:txBody>
                    <a:bodyPr/>
                    <a:lstStyle/>
                    <a:p>
                      <a:pPr algn="l">
                        <a:buNone/>
                      </a:pPr>
                      <a:r>
                        <a:rPr lang="ja-JP" sz="2400"/>
                        <a:t>総走査点数</a:t>
                      </a:r>
                    </a:p>
                  </a:txBody>
                  <a:tcPr anchor="ctr">
                    <a:solidFill>
                      <a:srgbClr val="FFFFFF"/>
                    </a:solidFill>
                  </a:tcPr>
                </a:tc>
                <a:tc>
                  <a:txBody>
                    <a:bodyPr/>
                    <a:lstStyle/>
                    <a:p>
                      <a:pPr algn="l">
                        <a:buNone/>
                      </a:pPr>
                      <a:r>
                        <a:rPr lang="ja-JP" sz="2400" dirty="0"/>
                        <a:t>6561点</a:t>
                      </a:r>
                    </a:p>
                  </a:txBody>
                  <a:tcPr anchor="ctr">
                    <a:solidFill>
                      <a:srgbClr val="EBF6FB"/>
                    </a:solidFill>
                  </a:tcPr>
                </a:tc>
                <a:extLst>
                  <a:ext uri="{0D108BD9-81ED-4DB2-BD59-A6C34878D82A}">
                    <a16:rowId xmlns:a16="http://schemas.microsoft.com/office/drawing/2014/main" val="10005"/>
                  </a:ext>
                </a:extLst>
              </a:tr>
              <a:tr h="901338">
                <a:tc>
                  <a:txBody>
                    <a:bodyPr/>
                    <a:lstStyle/>
                    <a:p>
                      <a:pPr algn="l">
                        <a:buNone/>
                      </a:pPr>
                      <a:r>
                        <a:rPr lang="ja-JP" sz="2400"/>
                        <a:t>最大走査時間</a:t>
                      </a:r>
                    </a:p>
                  </a:txBody>
                  <a:tcPr anchor="ctr">
                    <a:solidFill>
                      <a:srgbClr val="F4F6F8"/>
                    </a:solidFill>
                  </a:tcPr>
                </a:tc>
                <a:tc>
                  <a:txBody>
                    <a:bodyPr/>
                    <a:lstStyle/>
                    <a:p>
                      <a:pPr algn="l">
                        <a:buNone/>
                      </a:pPr>
                      <a:r>
                        <a:rPr lang="ja-JP" sz="2400" dirty="0"/>
                        <a:t>656.1 s</a:t>
                      </a:r>
                    </a:p>
                  </a:txBody>
                  <a:tcPr anchor="ctr">
                    <a:solidFill>
                      <a:srgbClr val="EBF6FB"/>
                    </a:solidFill>
                  </a:tcPr>
                </a:tc>
                <a:extLst>
                  <a:ext uri="{0D108BD9-81ED-4DB2-BD59-A6C34878D82A}">
                    <a16:rowId xmlns:a16="http://schemas.microsoft.com/office/drawing/2014/main" val="10006"/>
                  </a:ext>
                </a:extLst>
              </a:tr>
            </a:tbl>
          </a:graphicData>
        </a:graphic>
      </p:graphicFrame>
      <p:sp>
        <p:nvSpPr>
          <p:cNvPr id="29" name="Rounded Rectangle 28"/>
          <p:cNvSpPr/>
          <p:nvPr/>
        </p:nvSpPr>
        <p:spPr>
          <a:xfrm>
            <a:off x="12256522" y="10179232"/>
            <a:ext cx="9253796" cy="1828800"/>
          </a:xfrm>
          <a:prstGeom prst="roundRect">
            <a:avLst/>
          </a:prstGeom>
          <a:solidFill>
            <a:srgbClr val="FDEFF0"/>
          </a:solidFill>
          <a:ln w="16510">
            <a:solidFill>
              <a:srgbClr val="D03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2510930" y="10711372"/>
            <a:ext cx="8999388" cy="794064"/>
          </a:xfrm>
          <a:prstGeom prst="rect">
            <a:avLst/>
          </a:prstGeom>
          <a:noFill/>
        </p:spPr>
        <p:txBody>
          <a:bodyPr wrap="none" lIns="36576" tIns="27432" rIns="36576" bIns="27432" anchor="t">
            <a:spAutoFit/>
          </a:bodyPr>
          <a:lstStyle/>
          <a:p>
            <a:pPr algn="ctr"/>
            <a:r>
              <a:rPr lang="ja-JP" altLang="ja-JP" sz="2400" b="1" dirty="0">
                <a:solidFill>
                  <a:schemeClr val="accent2"/>
                </a:solidFill>
              </a:rPr>
              <a:t>簡略化：点間移動・整定時間・受光強度の確率変動は考慮しない</a:t>
            </a:r>
            <a:br>
              <a:rPr lang="ja-JP" altLang="ja-JP" sz="2400" dirty="0">
                <a:solidFill>
                  <a:schemeClr val="accent2"/>
                </a:solidFill>
              </a:rPr>
            </a:br>
            <a:r>
              <a:rPr lang="ja-JP" altLang="ja-JP" sz="2400" b="1" dirty="0">
                <a:solidFill>
                  <a:schemeClr val="accent2"/>
                </a:solidFill>
              </a:rPr>
              <a:t>各走査点を独立な捕捉機会として評価する</a:t>
            </a:r>
            <a:endParaRPr sz="2400" b="1" dirty="0">
              <a:solidFill>
                <a:schemeClr val="accent2"/>
              </a:solidFill>
              <a:latin typeface="Yu Gothic"/>
            </a:endParaRPr>
          </a:p>
        </p:txBody>
      </p:sp>
      <p:sp>
        <p:nvSpPr>
          <p:cNvPr id="32" name="テキスト ボックス 31">
            <a:extLst>
              <a:ext uri="{FF2B5EF4-FFF2-40B4-BE49-F238E27FC236}">
                <a16:creationId xmlns:a16="http://schemas.microsoft.com/office/drawing/2014/main" id="{37EE8180-2C54-474D-D777-0D6C6E0E04A0}"/>
              </a:ext>
            </a:extLst>
          </p:cNvPr>
          <p:cNvSpPr txBox="1"/>
          <p:nvPr/>
        </p:nvSpPr>
        <p:spPr>
          <a:xfrm>
            <a:off x="1779568" y="11264499"/>
            <a:ext cx="8437790" cy="954107"/>
          </a:xfrm>
          <a:prstGeom prst="rect">
            <a:avLst/>
          </a:prstGeom>
          <a:noFill/>
        </p:spPr>
        <p:txBody>
          <a:bodyPr wrap="square">
            <a:spAutoFit/>
          </a:bodyPr>
          <a:lstStyle/>
          <a:p>
            <a:r>
              <a:rPr lang="ja-JP" altLang="ja-JP" sz="2800" b="1" dirty="0"/>
              <a:t>真の指向誤差が検出半径内に入った最初の走査点を捕捉時刻とする</a:t>
            </a:r>
            <a:endParaRPr lang="ja-JP" altLang="en-US" sz="2800" b="1" dirty="0"/>
          </a:p>
        </p:txBody>
      </p:sp>
      <p:sp>
        <p:nvSpPr>
          <p:cNvPr id="34" name="テキスト ボックス 33">
            <a:extLst>
              <a:ext uri="{FF2B5EF4-FFF2-40B4-BE49-F238E27FC236}">
                <a16:creationId xmlns:a16="http://schemas.microsoft.com/office/drawing/2014/main" id="{E3A91E62-EA26-8151-3428-B86760823F25}"/>
              </a:ext>
            </a:extLst>
          </p:cNvPr>
          <p:cNvSpPr txBox="1"/>
          <p:nvPr/>
        </p:nvSpPr>
        <p:spPr>
          <a:xfrm>
            <a:off x="12461016" y="9105638"/>
            <a:ext cx="5255484" cy="369332"/>
          </a:xfrm>
          <a:prstGeom prst="rect">
            <a:avLst/>
          </a:prstGeom>
          <a:noFill/>
        </p:spPr>
        <p:txBody>
          <a:bodyPr wrap="square">
            <a:spAutoFit/>
          </a:bodyPr>
          <a:lstStyle/>
          <a:p>
            <a:r>
              <a:rPr lang="en-US" altLang="ja-JP" dirty="0"/>
              <a:t>※</a:t>
            </a:r>
            <a:r>
              <a:rPr lang="ja-JP" altLang="en-US" dirty="0"/>
              <a:t>妥当な</a:t>
            </a:r>
            <a:r>
              <a:rPr lang="ja-JP" altLang="ja-JP" dirty="0"/>
              <a:t>検出半径またはstep</a:t>
            </a:r>
            <a:r>
              <a:rPr lang="ja-JP" altLang="en-US" dirty="0"/>
              <a:t>は</a:t>
            </a:r>
            <a:r>
              <a:rPr lang="ja-JP" altLang="ja-JP" dirty="0"/>
              <a:t>後で再検討する</a:t>
            </a:r>
            <a:endParaRPr lang="ja-JP" altLang="en-US" dirty="0"/>
          </a:p>
        </p:txBody>
      </p:sp>
      <p:pic>
        <p:nvPicPr>
          <p:cNvPr id="33" name="図 32">
            <a:extLst>
              <a:ext uri="{FF2B5EF4-FFF2-40B4-BE49-F238E27FC236}">
                <a16:creationId xmlns:a16="http://schemas.microsoft.com/office/drawing/2014/main" id="{7F87C8AD-757E-FFE0-B245-95A29790F9FC}"/>
              </a:ext>
            </a:extLst>
          </p:cNvPr>
          <p:cNvPicPr>
            <a:picLocks noChangeAspect="1"/>
          </p:cNvPicPr>
          <p:nvPr/>
        </p:nvPicPr>
        <p:blipFill>
          <a:blip r:embed="rId3"/>
          <a:stretch>
            <a:fillRect/>
          </a:stretch>
        </p:blipFill>
        <p:spPr>
          <a:xfrm>
            <a:off x="1075418" y="3235223"/>
            <a:ext cx="8437790" cy="760984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none" lIns="36576" tIns="27432" rIns="36576" bIns="27432" anchor="t">
            <a:spAutoFit/>
          </a:bodyPr>
          <a:lstStyle/>
          <a:p>
            <a:pPr algn="l"/>
            <a:r>
              <a:rPr sz="2000" b="0">
                <a:solidFill>
                  <a:srgbClr val="666F79"/>
                </a:solidFill>
                <a:latin typeface="Yu Gothic"/>
              </a:rPr>
              <a:t>Orbit prediction error</a:t>
            </a:r>
          </a:p>
        </p:txBody>
      </p:sp>
      <p:sp>
        <p:nvSpPr>
          <p:cNvPr id="3" name="TextBox 2"/>
          <p:cNvSpPr txBox="1"/>
          <p:nvPr/>
        </p:nvSpPr>
        <p:spPr>
          <a:xfrm>
            <a:off x="1536192" y="1298448"/>
            <a:ext cx="18962050" cy="1040285"/>
          </a:xfrm>
          <a:prstGeom prst="rect">
            <a:avLst/>
          </a:prstGeom>
          <a:noFill/>
        </p:spPr>
        <p:txBody>
          <a:bodyPr wrap="none" lIns="36576" tIns="27432" rIns="36576" bIns="27432" anchor="t">
            <a:spAutoFit/>
          </a:bodyPr>
          <a:lstStyle/>
          <a:p>
            <a:pPr algn="l"/>
            <a:endParaRPr lang="en-US" sz="3200" b="1" dirty="0">
              <a:solidFill>
                <a:srgbClr val="082B52"/>
              </a:solidFill>
              <a:latin typeface="Yu Gothic"/>
            </a:endParaRPr>
          </a:p>
          <a:p>
            <a:pPr algn="l"/>
            <a:r>
              <a:rPr lang="ja-JP" altLang="en-US" sz="3200" b="1" dirty="0">
                <a:solidFill>
                  <a:srgbClr val="082B52"/>
                </a:solidFill>
                <a:latin typeface="Yu Gothic"/>
              </a:rPr>
              <a:t>軌道予測誤差：自身の</a:t>
            </a:r>
            <a:r>
              <a:rPr sz="3200" b="1" dirty="0" err="1">
                <a:solidFill>
                  <a:srgbClr val="082B52"/>
                </a:solidFill>
                <a:latin typeface="Yu Gothic"/>
              </a:rPr>
              <a:t>位置誤差をリンクLOS横断面へ投影し</a:t>
            </a:r>
            <a:r>
              <a:rPr sz="3200" b="1" dirty="0">
                <a:solidFill>
                  <a:srgbClr val="082B52"/>
                </a:solidFill>
                <a:latin typeface="Yu Gothic"/>
              </a:rPr>
              <a:t>、</a:t>
            </a:r>
            <a:r>
              <a:rPr lang="ja-JP" altLang="en-US" sz="3200" b="1" dirty="0">
                <a:solidFill>
                  <a:srgbClr val="082B52"/>
                </a:solidFill>
                <a:latin typeface="Yu Gothic"/>
              </a:rPr>
              <a:t>衛星の座標系 </a:t>
            </a:r>
            <a:r>
              <a:rPr sz="3200" b="1" dirty="0">
                <a:solidFill>
                  <a:srgbClr val="082B52"/>
                </a:solidFill>
                <a:latin typeface="Yu Gothic"/>
              </a:rPr>
              <a:t>STT/body x–</a:t>
            </a:r>
            <a:r>
              <a:rPr sz="3200" b="1" dirty="0" err="1">
                <a:solidFill>
                  <a:srgbClr val="082B52"/>
                </a:solidFill>
                <a:latin typeface="Yu Gothic"/>
              </a:rPr>
              <a:t>yへ変換する</a:t>
            </a:r>
            <a:endParaRPr sz="3200" b="1" dirty="0">
              <a:solidFill>
                <a:srgbClr val="082B52"/>
              </a:solidFill>
              <a:latin typeface="Yu Gothic"/>
            </a:endParaRPr>
          </a:p>
        </p:txBody>
      </p:sp>
      <p:sp>
        <p:nvSpPr>
          <p:cNvPr id="4" name="TextBox 3"/>
          <p:cNvSpPr txBox="1"/>
          <p:nvPr/>
        </p:nvSpPr>
        <p:spPr>
          <a:xfrm>
            <a:off x="23444052" y="12819888"/>
            <a:ext cx="330348" cy="332399"/>
          </a:xfrm>
          <a:prstGeom prst="rect">
            <a:avLst/>
          </a:prstGeom>
          <a:noFill/>
        </p:spPr>
        <p:txBody>
          <a:bodyPr wrap="none" lIns="36576" tIns="27432" rIns="36576" bIns="27432" anchor="t">
            <a:spAutoFit/>
          </a:bodyPr>
          <a:lstStyle/>
          <a:p>
            <a:pPr algn="r"/>
            <a:r>
              <a:rPr lang="en-US" dirty="0">
                <a:solidFill>
                  <a:srgbClr val="666F79"/>
                </a:solidFill>
                <a:latin typeface="Yu Gothic"/>
              </a:rPr>
              <a:t>26</a:t>
            </a:r>
            <a:endParaRPr sz="1800" b="0" dirty="0">
              <a:solidFill>
                <a:srgbClr val="666F79"/>
              </a:solidFill>
              <a:latin typeface="Yu Gothic"/>
            </a:endParaRPr>
          </a:p>
        </p:txBody>
      </p:sp>
      <p:sp>
        <p:nvSpPr>
          <p:cNvPr id="5" name="Rounded Rectangle 4"/>
          <p:cNvSpPr/>
          <p:nvPr/>
        </p:nvSpPr>
        <p:spPr>
          <a:xfrm>
            <a:off x="1097280" y="2834640"/>
            <a:ext cx="9692640" cy="7589520"/>
          </a:xfrm>
          <a:prstGeom prst="roundRect">
            <a:avLst/>
          </a:prstGeom>
          <a:solidFill>
            <a:srgbClr val="F4F6F8"/>
          </a:solidFill>
          <a:ln w="1651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6" name="TextBox 5"/>
              <p:cNvSpPr txBox="1"/>
              <p:nvPr/>
            </p:nvSpPr>
            <p:spPr>
              <a:xfrm>
                <a:off x="3859119" y="3931920"/>
                <a:ext cx="4168962" cy="573427"/>
              </a:xfrm>
              <a:prstGeom prst="rect">
                <a:avLst/>
              </a:prstGeom>
              <a:noFill/>
            </p:spPr>
            <p:txBody>
              <a:bodyPr wrap="none" lIns="36576" tIns="27432" rIns="36576" bIns="27432" anchor="t">
                <a:spAutoFit/>
              </a:bodyPr>
              <a:lstStyle/>
              <a:p>
                <a:pPr algn="ctr"/>
                <a14:m>
                  <m:oMathPara xmlns:m="http://schemas.openxmlformats.org/officeDocument/2006/math">
                    <m:oMath>
                      <m:r>
                        <a:rPr lang="ja-JP" altLang="en-US" sz="3000" b="1" i="1" dirty="0" smtClean="0">
                          <a:solidFill>
                            <a:srgbClr val="082B52"/>
                          </a:solidFill>
                          <a:latin typeface="Cambria Math" panose="02040503050406030204" pitchFamily="18" charset="0"/>
                        </a:rPr>
                        <m:t>𝜹</m:t>
                      </m:r>
                      <m:r>
                        <a:rPr lang="ja-JP" altLang="en-US" sz="3000" b="1" i="1" dirty="0" smtClean="0">
                          <a:solidFill>
                            <a:srgbClr val="082B52"/>
                          </a:solidFill>
                          <a:latin typeface="Cambria Math" panose="02040503050406030204" pitchFamily="18" charset="0"/>
                        </a:rPr>
                        <m:t>𝒓</m:t>
                      </m:r>
                      <m:r>
                        <a:rPr lang="ja-JP" altLang="en-US" sz="3000" b="1" i="1" dirty="0">
                          <a:solidFill>
                            <a:srgbClr val="082B52"/>
                          </a:solidFill>
                          <a:latin typeface="Cambria Math" panose="02040503050406030204" pitchFamily="18" charset="0"/>
                        </a:rPr>
                        <m:t>⊥ </m:t>
                      </m:r>
                      <m:r>
                        <a:rPr lang="en-US" altLang="ja-JP" sz="3000" b="1" i="1" dirty="0">
                          <a:solidFill>
                            <a:srgbClr val="082B52"/>
                          </a:solidFill>
                          <a:latin typeface="Cambria Math" panose="02040503050406030204" pitchFamily="18" charset="0"/>
                        </a:rPr>
                        <m:t>= </m:t>
                      </m:r>
                      <m:r>
                        <a:rPr lang="ja-JP" altLang="en-US" sz="3000" b="1" i="1" dirty="0" err="1">
                          <a:solidFill>
                            <a:srgbClr val="082B52"/>
                          </a:solidFill>
                          <a:latin typeface="Cambria Math" panose="02040503050406030204" pitchFamily="18" charset="0"/>
                        </a:rPr>
                        <m:t>𝜹</m:t>
                      </m:r>
                      <m:r>
                        <a:rPr lang="ja-JP" altLang="en-US" sz="3000" b="1" i="1" dirty="0" err="1">
                          <a:solidFill>
                            <a:srgbClr val="082B52"/>
                          </a:solidFill>
                          <a:latin typeface="Cambria Math" panose="02040503050406030204" pitchFamily="18" charset="0"/>
                        </a:rPr>
                        <m:t>𝒓</m:t>
                      </m:r>
                      <m:r>
                        <a:rPr lang="ja-JP" altLang="en-US" sz="3000" b="1" i="1" dirty="0">
                          <a:solidFill>
                            <a:srgbClr val="082B52"/>
                          </a:solidFill>
                          <a:latin typeface="Cambria Math" panose="02040503050406030204" pitchFamily="18" charset="0"/>
                        </a:rPr>
                        <m:t> − </m:t>
                      </m:r>
                      <m:r>
                        <a:rPr lang="en-US" altLang="ja-JP" sz="3000" b="1" i="1" dirty="0">
                          <a:solidFill>
                            <a:srgbClr val="082B52"/>
                          </a:solidFill>
                          <a:latin typeface="Cambria Math" panose="02040503050406030204" pitchFamily="18" charset="0"/>
                        </a:rPr>
                        <m:t>(</m:t>
                      </m:r>
                      <m:r>
                        <a:rPr lang="ja-JP" altLang="en-US" sz="3000" b="1" i="1" dirty="0" err="1">
                          <a:solidFill>
                            <a:srgbClr val="082B52"/>
                          </a:solidFill>
                          <a:latin typeface="Cambria Math" panose="02040503050406030204" pitchFamily="18" charset="0"/>
                        </a:rPr>
                        <m:t>𝜹</m:t>
                      </m:r>
                      <m:r>
                        <a:rPr lang="ja-JP" altLang="en-US" sz="3000" b="1" i="1" dirty="0" err="1">
                          <a:solidFill>
                            <a:srgbClr val="082B52"/>
                          </a:solidFill>
                          <a:latin typeface="Cambria Math" panose="02040503050406030204" pitchFamily="18" charset="0"/>
                        </a:rPr>
                        <m:t>𝒓</m:t>
                      </m:r>
                      <m:r>
                        <a:rPr lang="en-US" altLang="ja-JP" sz="3000" b="1" i="1" dirty="0">
                          <a:solidFill>
                            <a:srgbClr val="082B52"/>
                          </a:solidFill>
                          <a:latin typeface="Cambria Math" panose="02040503050406030204" pitchFamily="18" charset="0"/>
                        </a:rPr>
                        <m:t>·</m:t>
                      </m:r>
                      <m:r>
                        <m:rPr>
                          <m:sty m:val="p"/>
                        </m:rPr>
                        <a:rPr lang="en-US" altLang="ja-JP" sz="3000" b="1" i="1" dirty="0">
                          <a:solidFill>
                            <a:srgbClr val="082B52"/>
                          </a:solidFill>
                          <a:latin typeface="Cambria Math" panose="02040503050406030204" pitchFamily="18" charset="0"/>
                        </a:rPr>
                        <m:t>ℓ</m:t>
                      </m:r>
                      <m:r>
                        <a:rPr lang="en-US" altLang="ja-JP" sz="3000" b="1" i="1" dirty="0">
                          <a:solidFill>
                            <a:srgbClr val="082B52"/>
                          </a:solidFill>
                          <a:latin typeface="Cambria Math" panose="02040503050406030204" pitchFamily="18" charset="0"/>
                        </a:rPr>
                        <m:t> ̂)</m:t>
                      </m:r>
                      <m:r>
                        <m:rPr>
                          <m:sty m:val="p"/>
                        </m:rPr>
                        <a:rPr lang="en-US" altLang="ja-JP" sz="3000" b="1" i="1" dirty="0">
                          <a:solidFill>
                            <a:srgbClr val="082B52"/>
                          </a:solidFill>
                          <a:latin typeface="Cambria Math" panose="02040503050406030204" pitchFamily="18" charset="0"/>
                        </a:rPr>
                        <m:t>ℓ</m:t>
                      </m:r>
                      <m:r>
                        <a:rPr lang="en-US" altLang="ja-JP" sz="3000" b="1" i="1" dirty="0">
                          <a:solidFill>
                            <a:srgbClr val="082B52"/>
                          </a:solidFill>
                          <a:latin typeface="Cambria Math" panose="02040503050406030204" pitchFamily="18" charset="0"/>
                        </a:rPr>
                        <m:t> ̂</m:t>
                      </m:r>
                    </m:oMath>
                  </m:oMathPara>
                </a14:m>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3859119" y="3931920"/>
                <a:ext cx="4168962" cy="573427"/>
              </a:xfrm>
              <a:prstGeom prst="rect">
                <a:avLst/>
              </a:prstGeom>
              <a:blipFill>
                <a:blip r:embed="rId3"/>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4450243" y="5303520"/>
                <a:ext cx="2986715" cy="1040285"/>
              </a:xfrm>
              <a:prstGeom prst="rect">
                <a:avLst/>
              </a:prstGeom>
              <a:noFill/>
            </p:spPr>
            <p:txBody>
              <a:bodyPr wrap="none" lIns="36576" tIns="27432" rIns="36576" bIns="27432" anchor="t">
                <a:spAutoFit/>
              </a:bodyPr>
              <a:lstStyle/>
              <a:p>
                <a:pPr algn="ctr"/>
                <a14:m>
                  <m:oMathPara xmlns:m="http://schemas.openxmlformats.org/officeDocument/2006/math">
                    <m:oMath>
                      <m:r>
                        <a:rPr lang="ja-JP" altLang="en-US" sz="3200" b="1" i="1" dirty="0" smtClean="0">
                          <a:solidFill>
                            <a:srgbClr val="1B74AA"/>
                          </a:solidFill>
                          <a:latin typeface="Cambria Math" panose="02040503050406030204" pitchFamily="18" charset="0"/>
                        </a:rPr>
                        <m:t>𝜽</m:t>
                      </m:r>
                      <m:r>
                        <a:rPr lang="ja-JP" altLang="en-US" sz="3200" b="1" i="1" dirty="0" smtClean="0">
                          <a:solidFill>
                            <a:srgbClr val="1B74AA"/>
                          </a:solidFill>
                          <a:latin typeface="Cambria Math" panose="02040503050406030204" pitchFamily="18" charset="0"/>
                        </a:rPr>
                        <m:t> ≈ </m:t>
                      </m:r>
                      <m:r>
                        <a:rPr lang="ja-JP" altLang="en-US" sz="3200" b="1" i="1" dirty="0" err="1">
                          <a:solidFill>
                            <a:srgbClr val="1B74AA"/>
                          </a:solidFill>
                          <a:latin typeface="Cambria Math" panose="02040503050406030204" pitchFamily="18" charset="0"/>
                        </a:rPr>
                        <m:t>𝜹</m:t>
                      </m:r>
                      <m:r>
                        <a:rPr lang="ja-JP" altLang="en-US" sz="3200" b="1" i="1" dirty="0" err="1">
                          <a:solidFill>
                            <a:srgbClr val="1B74AA"/>
                          </a:solidFill>
                          <a:latin typeface="Cambria Math" panose="02040503050406030204" pitchFamily="18" charset="0"/>
                        </a:rPr>
                        <m:t>𝒓</m:t>
                      </m:r>
                      <m:r>
                        <a:rPr lang="ja-JP" altLang="en-US" sz="3200" b="1" i="1" dirty="0">
                          <a:solidFill>
                            <a:srgbClr val="1B74AA"/>
                          </a:solidFill>
                          <a:latin typeface="Cambria Math" panose="02040503050406030204" pitchFamily="18" charset="0"/>
                        </a:rPr>
                        <m:t>⊥</m:t>
                      </m:r>
                      <m:sSub>
                        <m:sSubPr>
                          <m:ctrlPr>
                            <a:rPr lang="ja-JP" altLang="en-US" sz="3200" b="1" i="1" dirty="0" err="1">
                              <a:solidFill>
                                <a:srgbClr val="1B74AA"/>
                              </a:solidFill>
                              <a:latin typeface="Cambria Math" panose="02040503050406030204" pitchFamily="18" charset="0"/>
                            </a:rPr>
                          </m:ctrlPr>
                        </m:sSubPr>
                        <m:e>
                          <m:r>
                            <a:rPr lang="ja-JP" altLang="en-US" sz="3200" b="1" i="1" dirty="0" err="1">
                              <a:solidFill>
                                <a:srgbClr val="1B74AA"/>
                              </a:solidFill>
                              <a:latin typeface="Cambria Math" panose="02040503050406030204" pitchFamily="18" charset="0"/>
                            </a:rPr>
                            <m:t>𝑹</m:t>
                          </m:r>
                        </m:e>
                        <m:sub>
                          <m:r>
                            <a:rPr lang="ja-JP" altLang="en-US" sz="3200" b="1" i="1" dirty="0" err="1">
                              <a:solidFill>
                                <a:srgbClr val="1B74AA"/>
                              </a:solidFill>
                              <a:latin typeface="Cambria Math" panose="02040503050406030204" pitchFamily="18" charset="0"/>
                            </a:rPr>
                            <m:t>𝒍𝒊𝒏𝒌</m:t>
                          </m:r>
                        </m:sub>
                      </m:sSub>
                    </m:oMath>
                  </m:oMathPara>
                </a14:m>
                <a:endParaRPr lang="en-US" altLang="ja-JP" sz="3200" b="1" i="1" dirty="0">
                  <a:solidFill>
                    <a:srgbClr val="1B74AA"/>
                  </a:solidFill>
                  <a:latin typeface="Cambria Math" panose="02040503050406030204" pitchFamily="18" charset="0"/>
                </a:endParaRPr>
              </a:p>
              <a:p>
                <a:pPr algn="ctr"/>
                <a:endParaRPr lang="en-US" altLang="ja-JP" sz="3200" b="1" i="1" dirty="0">
                  <a:solidFill>
                    <a:srgbClr val="1B74AA"/>
                  </a:solidFill>
                  <a:latin typeface="Cambria Math" panose="02040503050406030204" pitchFamily="18"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4450243" y="5303520"/>
                <a:ext cx="2986715" cy="1040285"/>
              </a:xfrm>
              <a:prstGeom prst="rect">
                <a:avLst/>
              </a:prstGeom>
              <a:blipFill>
                <a:blip r:embed="rId4"/>
                <a:stretch>
                  <a:fillRect/>
                </a:stretch>
              </a:blipFill>
            </p:spPr>
            <p:txBody>
              <a:bodyPr/>
              <a:lstStyle/>
              <a:p>
                <a:r>
                  <a:rPr lang="ja-JP" altLang="en-US">
                    <a:noFill/>
                  </a:rPr>
                  <a:t> </a:t>
                </a:r>
              </a:p>
            </p:txBody>
          </p:sp>
        </mc:Fallback>
      </mc:AlternateContent>
      <p:sp>
        <p:nvSpPr>
          <p:cNvPr id="8" name="TextBox 7"/>
          <p:cNvSpPr txBox="1"/>
          <p:nvPr/>
        </p:nvSpPr>
        <p:spPr>
          <a:xfrm>
            <a:off x="1737360" y="6766560"/>
            <a:ext cx="8412480" cy="2468880"/>
          </a:xfrm>
          <a:prstGeom prst="rect">
            <a:avLst/>
          </a:prstGeom>
          <a:noFill/>
        </p:spPr>
        <p:txBody>
          <a:bodyPr wrap="square" lIns="27432" rIns="27432">
            <a:spAutoFit/>
          </a:bodyPr>
          <a:lstStyle/>
          <a:p>
            <a:pPr>
              <a:spcAft>
                <a:spcPts val="800"/>
              </a:spcAft>
            </a:pPr>
            <a:r>
              <a:rPr sz="2400" b="1">
                <a:solidFill>
                  <a:srgbClr val="1B74AA"/>
                </a:solidFill>
                <a:latin typeface="Yu Gothic"/>
              </a:rPr>
              <a:t>• </a:t>
            </a:r>
            <a:r>
              <a:rPr sz="2400">
                <a:solidFill>
                  <a:srgbClr val="232B34"/>
                </a:solidFill>
                <a:latin typeface="Yu Gothic"/>
              </a:rPr>
              <a:t>orbit catalogから姿勢を構成</a:t>
            </a:r>
          </a:p>
          <a:p>
            <a:pPr>
              <a:spcAft>
                <a:spcPts val="800"/>
              </a:spcAft>
            </a:pPr>
            <a:r>
              <a:rPr sz="2400" b="1">
                <a:solidFill>
                  <a:srgbClr val="1B74AA"/>
                </a:solidFill>
                <a:latin typeface="Yu Gothic"/>
              </a:rPr>
              <a:t>• </a:t>
            </a:r>
            <a:r>
              <a:rPr sz="2400">
                <a:solidFill>
                  <a:srgbClr val="232B34"/>
                </a:solidFill>
                <a:latin typeface="Yu Gothic"/>
              </a:rPr>
              <a:t>STT/body x–yへ射影</a:t>
            </a:r>
          </a:p>
          <a:p>
            <a:pPr>
              <a:spcAft>
                <a:spcPts val="800"/>
              </a:spcAft>
            </a:pPr>
            <a:r>
              <a:rPr sz="2400" b="1">
                <a:solidFill>
                  <a:srgbClr val="1B74AA"/>
                </a:solidFill>
                <a:latin typeface="Yu Gothic"/>
              </a:rPr>
              <a:t>• </a:t>
            </a:r>
            <a:r>
              <a:rPr sz="2400">
                <a:solidFill>
                  <a:srgbClr val="232B34"/>
                </a:solidFill>
                <a:latin typeface="Yu Gothic"/>
              </a:rPr>
              <a:t>熱LOSと同じ2成分で加算</a:t>
            </a:r>
          </a:p>
        </p:txBody>
      </p:sp>
      <p:graphicFrame>
        <p:nvGraphicFramePr>
          <p:cNvPr id="9" name="Table 8"/>
          <p:cNvGraphicFramePr>
            <a:graphicFrameLocks noGrp="1"/>
          </p:cNvGraphicFramePr>
          <p:nvPr/>
        </p:nvGraphicFramePr>
        <p:xfrm>
          <a:off x="11430000" y="2834640"/>
          <a:ext cx="11704320" cy="630936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630936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1261872">
                <a:tc>
                  <a:txBody>
                    <a:bodyPr/>
                    <a:lstStyle/>
                    <a:p>
                      <a:pPr algn="l"/>
                      <a:r>
                        <a:rPr sz="2100" b="1">
                          <a:solidFill>
                            <a:srgbClr val="FFFFFF"/>
                          </a:solidFill>
                          <a:latin typeface="Yu Gothic"/>
                        </a:rPr>
                        <a:t>Sun</a:t>
                      </a:r>
                    </a:p>
                  </a:txBody>
                  <a:tcPr marL="64008" marR="64008" marT="27432" marB="27432" anchor="ctr">
                    <a:solidFill>
                      <a:srgbClr val="082B52"/>
                    </a:solidFill>
                  </a:tcPr>
                </a:tc>
                <a:tc>
                  <a:txBody>
                    <a:bodyPr/>
                    <a:lstStyle/>
                    <a:p>
                      <a:pPr algn="ctr"/>
                      <a:r>
                        <a:rPr sz="2100" b="1">
                          <a:solidFill>
                            <a:srgbClr val="FFFFFF"/>
                          </a:solidFill>
                          <a:latin typeface="Yu Gothic"/>
                        </a:rPr>
                        <a:t>Partner / link</a:t>
                      </a:r>
                    </a:p>
                  </a:txBody>
                  <a:tcPr marL="64008" marR="64008" marT="27432" marB="27432" anchor="ctr">
                    <a:solidFill>
                      <a:srgbClr val="082B52"/>
                    </a:solidFill>
                  </a:tcPr>
                </a:tc>
                <a:tc>
                  <a:txBody>
                    <a:bodyPr/>
                    <a:lstStyle/>
                    <a:p>
                      <a:pPr algn="ctr"/>
                      <a:r>
                        <a:rPr sz="2100" b="1">
                          <a:solidFill>
                            <a:srgbClr val="FFFFFF"/>
                          </a:solidFill>
                          <a:latin typeface="Yu Gothic"/>
                        </a:rPr>
                        <a:t>Status</a:t>
                      </a:r>
                    </a:p>
                  </a:txBody>
                  <a:tcPr marL="64008" marR="64008" marT="27432" marB="27432" anchor="ctr">
                    <a:solidFill>
                      <a:srgbClr val="082B52"/>
                    </a:solidFill>
                  </a:tcPr>
                </a:tc>
                <a:extLst>
                  <a:ext uri="{0D108BD9-81ED-4DB2-BD59-A6C34878D82A}">
                    <a16:rowId xmlns:a16="http://schemas.microsoft.com/office/drawing/2014/main" val="10000"/>
                  </a:ext>
                </a:extLst>
              </a:tr>
              <a:tr h="1261872">
                <a:tc>
                  <a:txBody>
                    <a:bodyPr/>
                    <a:lstStyle/>
                    <a:p>
                      <a:pPr algn="l"/>
                      <a:r>
                        <a:rPr sz="2100" b="0">
                          <a:solidFill>
                            <a:srgbClr val="232B34"/>
                          </a:solidFill>
                          <a:latin typeface="Yu Gothic"/>
                        </a:rPr>
                        <a:t>MY</a:t>
                      </a:r>
                    </a:p>
                  </a:txBody>
                  <a:tcPr marL="64008" marR="64008" marT="27432" marB="27432" anchor="ctr">
                    <a:solidFill>
                      <a:srgbClr val="FFFFFF"/>
                    </a:solidFill>
                  </a:tcPr>
                </a:tc>
                <a:tc>
                  <a:txBody>
                    <a:bodyPr/>
                    <a:lstStyle/>
                    <a:p>
                      <a:pPr algn="ctr"/>
                      <a:r>
                        <a:rPr sz="2100" b="0">
                          <a:solidFill>
                            <a:srgbClr val="232B34"/>
                          </a:solidFill>
                          <a:latin typeface="Yu Gothic"/>
                        </a:rPr>
                        <a:t>along-track ISL 800 km</a:t>
                      </a:r>
                    </a:p>
                  </a:txBody>
                  <a:tcPr marL="64008" marR="64008" marT="27432" marB="27432" anchor="ctr">
                    <a:solidFill>
                      <a:srgbClr val="FFFFFF"/>
                    </a:solidFill>
                  </a:tcPr>
                </a:tc>
                <a:tc>
                  <a:txBody>
                    <a:bodyPr/>
                    <a:lstStyle/>
                    <a:p>
                      <a:pPr algn="ctr"/>
                      <a:r>
                        <a:rPr sz="2100" b="0">
                          <a:solidFill>
                            <a:srgbClr val="232B34"/>
                          </a:solidFill>
                          <a:latin typeface="Yu Gothic"/>
                        </a:rPr>
                        <a:t>ready</a:t>
                      </a:r>
                    </a:p>
                  </a:txBody>
                  <a:tcPr marL="64008" marR="64008" marT="27432" marB="27432" anchor="ctr">
                    <a:solidFill>
                      <a:srgbClr val="EBF6FB"/>
                    </a:solidFill>
                  </a:tcPr>
                </a:tc>
                <a:extLst>
                  <a:ext uri="{0D108BD9-81ED-4DB2-BD59-A6C34878D82A}">
                    <a16:rowId xmlns:a16="http://schemas.microsoft.com/office/drawing/2014/main" val="10001"/>
                  </a:ext>
                </a:extLst>
              </a:tr>
              <a:tr h="1261872">
                <a:tc>
                  <a:txBody>
                    <a:bodyPr/>
                    <a:lstStyle/>
                    <a:p>
                      <a:pPr algn="l"/>
                      <a:r>
                        <a:rPr sz="2100" b="0">
                          <a:solidFill>
                            <a:srgbClr val="232B34"/>
                          </a:solidFill>
                          <a:latin typeface="Yu Gothic"/>
                        </a:rPr>
                        <a:t>PY</a:t>
                      </a:r>
                    </a:p>
                  </a:txBody>
                  <a:tcPr marL="64008" marR="64008" marT="27432" marB="27432" anchor="ctr">
                    <a:solidFill>
                      <a:srgbClr val="F4F6F8"/>
                    </a:solidFill>
                  </a:tcPr>
                </a:tc>
                <a:tc>
                  <a:txBody>
                    <a:bodyPr/>
                    <a:lstStyle/>
                    <a:p>
                      <a:pPr algn="ctr"/>
                      <a:r>
                        <a:rPr sz="2100" b="0">
                          <a:solidFill>
                            <a:srgbClr val="232B34"/>
                          </a:solidFill>
                          <a:latin typeface="Yu Gothic"/>
                        </a:rPr>
                        <a:t>anti-along ISL 800 km</a:t>
                      </a:r>
                    </a:p>
                  </a:txBody>
                  <a:tcPr marL="64008" marR="64008" marT="27432" marB="27432" anchor="ctr">
                    <a:solidFill>
                      <a:srgbClr val="F4F6F8"/>
                    </a:solidFill>
                  </a:tcPr>
                </a:tc>
                <a:tc>
                  <a:txBody>
                    <a:bodyPr/>
                    <a:lstStyle/>
                    <a:p>
                      <a:pPr algn="ctr"/>
                      <a:r>
                        <a:rPr sz="2100" b="0">
                          <a:solidFill>
                            <a:srgbClr val="232B34"/>
                          </a:solidFill>
                          <a:latin typeface="Yu Gothic"/>
                        </a:rPr>
                        <a:t>ready</a:t>
                      </a:r>
                    </a:p>
                  </a:txBody>
                  <a:tcPr marL="64008" marR="64008" marT="27432" marB="27432" anchor="ctr">
                    <a:solidFill>
                      <a:srgbClr val="EBF6FB"/>
                    </a:solidFill>
                  </a:tcPr>
                </a:tc>
                <a:extLst>
                  <a:ext uri="{0D108BD9-81ED-4DB2-BD59-A6C34878D82A}">
                    <a16:rowId xmlns:a16="http://schemas.microsoft.com/office/drawing/2014/main" val="10002"/>
                  </a:ext>
                </a:extLst>
              </a:tr>
              <a:tr h="1261872">
                <a:tc>
                  <a:txBody>
                    <a:bodyPr/>
                    <a:lstStyle/>
                    <a:p>
                      <a:pPr algn="l"/>
                      <a:r>
                        <a:rPr sz="2100" b="0">
                          <a:solidFill>
                            <a:srgbClr val="232B34"/>
                          </a:solidFill>
                          <a:latin typeface="Yu Gothic"/>
                        </a:rPr>
                        <a:t>PX</a:t>
                      </a:r>
                    </a:p>
                  </a:txBody>
                  <a:tcPr marL="64008" marR="64008" marT="27432" marB="27432" anchor="ctr">
                    <a:solidFill>
                      <a:srgbClr val="FFFFFF"/>
                    </a:solidFill>
                  </a:tcPr>
                </a:tc>
                <a:tc>
                  <a:txBody>
                    <a:bodyPr/>
                    <a:lstStyle/>
                    <a:p>
                      <a:pPr algn="ctr"/>
                      <a:r>
                        <a:rPr sz="2100" b="0">
                          <a:solidFill>
                            <a:srgbClr val="232B34"/>
                          </a:solidFill>
                          <a:latin typeface="Yu Gothic"/>
                        </a:rPr>
                        <a:t>nadir ground ~695 km</a:t>
                      </a:r>
                    </a:p>
                  </a:txBody>
                  <a:tcPr marL="64008" marR="64008" marT="27432" marB="27432" anchor="ctr">
                    <a:solidFill>
                      <a:srgbClr val="FFFFFF"/>
                    </a:solidFill>
                  </a:tcPr>
                </a:tc>
                <a:tc>
                  <a:txBody>
                    <a:bodyPr/>
                    <a:lstStyle/>
                    <a:p>
                      <a:pPr algn="ctr"/>
                      <a:r>
                        <a:rPr sz="2100" b="0">
                          <a:solidFill>
                            <a:srgbClr val="232B34"/>
                          </a:solidFill>
                          <a:latin typeface="Yu Gothic"/>
                        </a:rPr>
                        <a:t>ready</a:t>
                      </a:r>
                    </a:p>
                  </a:txBody>
                  <a:tcPr marL="64008" marR="64008" marT="27432" marB="27432" anchor="ctr">
                    <a:solidFill>
                      <a:srgbClr val="EBF6FB"/>
                    </a:solidFill>
                  </a:tcPr>
                </a:tc>
                <a:extLst>
                  <a:ext uri="{0D108BD9-81ED-4DB2-BD59-A6C34878D82A}">
                    <a16:rowId xmlns:a16="http://schemas.microsoft.com/office/drawing/2014/main" val="10003"/>
                  </a:ext>
                </a:extLst>
              </a:tr>
              <a:tr h="1261872">
                <a:tc>
                  <a:txBody>
                    <a:bodyPr/>
                    <a:lstStyle/>
                    <a:p>
                      <a:pPr algn="l"/>
                      <a:r>
                        <a:rPr sz="2100" b="0">
                          <a:solidFill>
                            <a:srgbClr val="232B34"/>
                          </a:solidFill>
                          <a:latin typeface="Yu Gothic"/>
                        </a:rPr>
                        <a:t>MX</a:t>
                      </a:r>
                    </a:p>
                  </a:txBody>
                  <a:tcPr marL="64008" marR="64008" marT="27432" marB="27432" anchor="ctr">
                    <a:solidFill>
                      <a:srgbClr val="F4F6F8"/>
                    </a:solidFill>
                  </a:tcPr>
                </a:tc>
                <a:tc>
                  <a:txBody>
                    <a:bodyPr/>
                    <a:lstStyle/>
                    <a:p>
                      <a:pPr algn="ctr"/>
                      <a:r>
                        <a:rPr sz="2100" b="0">
                          <a:solidFill>
                            <a:srgbClr val="232B34"/>
                          </a:solidFill>
                          <a:latin typeface="Yu Gothic"/>
                        </a:rPr>
                        <a:t>zenith proxy 800 km</a:t>
                      </a:r>
                    </a:p>
                  </a:txBody>
                  <a:tcPr marL="64008" marR="64008" marT="27432" marB="27432" anchor="ctr">
                    <a:solidFill>
                      <a:srgbClr val="F4F6F8"/>
                    </a:solidFill>
                  </a:tcPr>
                </a:tc>
                <a:tc>
                  <a:txBody>
                    <a:bodyPr/>
                    <a:lstStyle/>
                    <a:p>
                      <a:pPr algn="ctr"/>
                      <a:r>
                        <a:rPr sz="2100" b="0">
                          <a:solidFill>
                            <a:srgbClr val="232B34"/>
                          </a:solidFill>
                          <a:latin typeface="Yu Gothic"/>
                        </a:rPr>
                        <a:t>unrealistic</a:t>
                      </a:r>
                    </a:p>
                  </a:txBody>
                  <a:tcPr marL="64008" marR="64008" marT="27432" marB="27432" anchor="ctr">
                    <a:solidFill>
                      <a:srgbClr val="EBF6FB"/>
                    </a:solidFill>
                  </a:tcPr>
                </a:tc>
                <a:extLst>
                  <a:ext uri="{0D108BD9-81ED-4DB2-BD59-A6C34878D82A}">
                    <a16:rowId xmlns:a16="http://schemas.microsoft.com/office/drawing/2014/main" val="10004"/>
                  </a:ext>
                </a:extLst>
              </a:tr>
            </a:tbl>
          </a:graphicData>
        </a:graphic>
      </p:graphicFrame>
      <p:sp>
        <p:nvSpPr>
          <p:cNvPr id="11" name="TextBox 10"/>
          <p:cNvSpPr txBox="1"/>
          <p:nvPr/>
        </p:nvSpPr>
        <p:spPr>
          <a:xfrm>
            <a:off x="11430000" y="9406890"/>
            <a:ext cx="10464531" cy="794064"/>
          </a:xfrm>
          <a:prstGeom prst="rect">
            <a:avLst/>
          </a:prstGeom>
          <a:noFill/>
        </p:spPr>
        <p:txBody>
          <a:bodyPr wrap="none" lIns="36576" tIns="27432" rIns="36576" bIns="27432" anchor="t">
            <a:spAutoFit/>
          </a:bodyPr>
          <a:lstStyle/>
          <a:p>
            <a:r>
              <a:rPr lang="en-US" altLang="ja-JP" sz="2400" dirty="0">
                <a:solidFill>
                  <a:schemeClr val="tx2">
                    <a:lumMod val="50000"/>
                  </a:schemeClr>
                </a:solidFill>
                <a:latin typeface="Yu Gothic"/>
              </a:rPr>
              <a:t>※</a:t>
            </a:r>
            <a:r>
              <a:rPr lang="ja-JP" altLang="en-US" sz="2400" dirty="0">
                <a:solidFill>
                  <a:schemeClr val="tx2">
                    <a:lumMod val="50000"/>
                  </a:schemeClr>
                </a:solidFill>
                <a:latin typeface="Yu Gothic"/>
              </a:rPr>
              <a:t> </a:t>
            </a:r>
            <a:r>
              <a:rPr lang="en-US" altLang="ja-JP" sz="2400" dirty="0">
                <a:solidFill>
                  <a:schemeClr val="tx2">
                    <a:lumMod val="50000"/>
                  </a:schemeClr>
                </a:solidFill>
                <a:latin typeface="Yu Gothic"/>
              </a:rPr>
              <a:t>LCT</a:t>
            </a:r>
            <a:r>
              <a:rPr lang="ja-JP" altLang="en-US" sz="2400" dirty="0">
                <a:solidFill>
                  <a:schemeClr val="tx2">
                    <a:lumMod val="50000"/>
                  </a:schemeClr>
                </a:solidFill>
                <a:latin typeface="Yu Gothic"/>
              </a:rPr>
              <a:t>の指向面ごとに、通信相手は地上局</a:t>
            </a:r>
            <a:r>
              <a:rPr lang="en-US" altLang="ja-JP" sz="2400" dirty="0">
                <a:solidFill>
                  <a:schemeClr val="tx2">
                    <a:lumMod val="50000"/>
                  </a:schemeClr>
                </a:solidFill>
                <a:latin typeface="Yu Gothic"/>
              </a:rPr>
              <a:t>/</a:t>
            </a:r>
            <a:r>
              <a:rPr lang="ja-JP" altLang="en-US" sz="2400" dirty="0">
                <a:solidFill>
                  <a:schemeClr val="tx2">
                    <a:lumMod val="50000"/>
                  </a:schemeClr>
                </a:solidFill>
                <a:latin typeface="Yu Gothic"/>
              </a:rPr>
              <a:t>衛星をそれぞれ設定</a:t>
            </a:r>
            <a:endParaRPr lang="en-US" altLang="ja-JP" sz="2400" dirty="0">
              <a:solidFill>
                <a:schemeClr val="tx2">
                  <a:lumMod val="50000"/>
                </a:schemeClr>
              </a:solidFill>
              <a:latin typeface="Yu Gothic"/>
            </a:endParaRPr>
          </a:p>
          <a:p>
            <a:r>
              <a:rPr lang="en-US" altLang="ja-JP" sz="2400" dirty="0">
                <a:solidFill>
                  <a:schemeClr val="tx2">
                    <a:lumMod val="50000"/>
                  </a:schemeClr>
                </a:solidFill>
                <a:latin typeface="Yu Gothic"/>
              </a:rPr>
              <a:t>※ </a:t>
            </a:r>
            <a:r>
              <a:rPr sz="2400" dirty="0" err="1">
                <a:solidFill>
                  <a:schemeClr val="tx2">
                    <a:lumMod val="50000"/>
                  </a:schemeClr>
                </a:solidFill>
                <a:latin typeface="Yu Gothic"/>
              </a:rPr>
              <a:t>MXは角度計算可能だが</a:t>
            </a:r>
            <a:r>
              <a:rPr lang="ja-JP" altLang="en-US" sz="2400" dirty="0">
                <a:solidFill>
                  <a:schemeClr val="tx2">
                    <a:lumMod val="50000"/>
                  </a:schemeClr>
                </a:solidFill>
                <a:latin typeface="Yu Gothic"/>
              </a:rPr>
              <a:t>、</a:t>
            </a:r>
            <a:r>
              <a:rPr lang="en-US" altLang="ja-JP" sz="2400" dirty="0">
                <a:solidFill>
                  <a:schemeClr val="tx2">
                    <a:lumMod val="50000"/>
                  </a:schemeClr>
                </a:solidFill>
                <a:latin typeface="Yu Gothic"/>
              </a:rPr>
              <a:t>LCT</a:t>
            </a:r>
            <a:r>
              <a:rPr lang="ja-JP" altLang="en-US" sz="2400" dirty="0">
                <a:solidFill>
                  <a:schemeClr val="tx2">
                    <a:lumMod val="50000"/>
                  </a:schemeClr>
                </a:solidFill>
                <a:latin typeface="Yu Gothic"/>
              </a:rPr>
              <a:t>が天頂方向のため、</a:t>
            </a:r>
            <a:r>
              <a:rPr sz="2400" dirty="0" err="1">
                <a:solidFill>
                  <a:schemeClr val="tx2">
                    <a:lumMod val="50000"/>
                  </a:schemeClr>
                </a:solidFill>
                <a:latin typeface="Yu Gothic"/>
              </a:rPr>
              <a:t>現実的リンクではない</a:t>
            </a:r>
            <a:endParaRPr sz="2400" dirty="0">
              <a:solidFill>
                <a:schemeClr val="tx2">
                  <a:lumMod val="50000"/>
                </a:schemeClr>
              </a:solidFill>
              <a:latin typeface="Yu Gothic"/>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Yu Gothic"/>
                <a:ea typeface="Yu Gothic"/>
              </a:rPr>
              <a:t>補足</a:t>
            </a:r>
          </a:p>
        </p:txBody>
      </p:sp>
      <p:sp>
        <p:nvSpPr>
          <p:cNvPr id="3" name="TextBox 2"/>
          <p:cNvSpPr txBox="1"/>
          <p:nvPr/>
        </p:nvSpPr>
        <p:spPr>
          <a:xfrm>
            <a:off x="1536192" y="1298448"/>
            <a:ext cx="22037040" cy="960120"/>
          </a:xfrm>
          <a:prstGeom prst="rect">
            <a:avLst/>
          </a:prstGeom>
          <a:noFill/>
        </p:spPr>
        <p:txBody>
          <a:bodyPr wrap="square" lIns="36576" tIns="27432" rIns="36576" bIns="27432" anchor="t">
            <a:spAutoFit/>
          </a:bodyPr>
          <a:lstStyle/>
          <a:p>
            <a:pPr algn="l">
              <a:spcAft>
                <a:spcPts val="0"/>
              </a:spcAft>
            </a:pPr>
            <a:r>
              <a:rPr sz="3200" b="1">
                <a:solidFill>
                  <a:srgbClr val="082B52"/>
                </a:solidFill>
                <a:latin typeface="Yu Gothic"/>
                <a:ea typeface="Yu Gothic"/>
              </a:rPr>
              <a:t>B1｜21ケースの内訳と評価ID</a:t>
            </a:r>
          </a:p>
        </p:txBody>
      </p:sp>
      <p:sp>
        <p:nvSpPr>
          <p:cNvPr id="4" name="TextBox 3"/>
          <p:cNvSpPr txBox="1"/>
          <p:nvPr/>
        </p:nvSpPr>
        <p:spPr>
          <a:xfrm>
            <a:off x="21762720" y="12819888"/>
            <a:ext cx="2011680" cy="384048"/>
          </a:xfrm>
          <a:prstGeom prst="rect">
            <a:avLst/>
          </a:prstGeom>
          <a:noFill/>
        </p:spPr>
        <p:txBody>
          <a:bodyPr wrap="square" lIns="36576" tIns="27432" rIns="36576" bIns="27432" anchor="t">
            <a:spAutoFit/>
          </a:bodyPr>
          <a:lstStyle/>
          <a:p>
            <a:pPr algn="r">
              <a:spcAft>
                <a:spcPts val="0"/>
              </a:spcAft>
            </a:pPr>
            <a:r>
              <a:rPr sz="1800" b="0">
                <a:solidFill>
                  <a:srgbClr val="666F79"/>
                </a:solidFill>
                <a:latin typeface="Yu Gothic"/>
                <a:ea typeface="Yu Gothic"/>
              </a:rPr>
              <a:t>B1</a:t>
            </a:r>
          </a:p>
        </p:txBody>
      </p:sp>
      <p:graphicFrame>
        <p:nvGraphicFramePr>
          <p:cNvPr id="5" name="Table 4"/>
          <p:cNvGraphicFramePr>
            <a:graphicFrameLocks noGrp="1"/>
          </p:cNvGraphicFramePr>
          <p:nvPr/>
        </p:nvGraphicFramePr>
        <p:xfrm>
          <a:off x="1280160" y="2834640"/>
          <a:ext cx="21762720" cy="73152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14904720">
                  <a:extLst>
                    <a:ext uri="{9D8B030D-6E8A-4147-A177-3AD203B41FA5}">
                      <a16:colId xmlns:a16="http://schemas.microsoft.com/office/drawing/2014/main" val="20002"/>
                    </a:ext>
                  </a:extLst>
                </a:gridCol>
              </a:tblGrid>
              <a:tr h="914400">
                <a:tc>
                  <a:txBody>
                    <a:bodyPr/>
                    <a:lstStyle/>
                    <a:p>
                      <a:pPr algn="l">
                        <a:spcAft>
                          <a:spcPts val="0"/>
                        </a:spcAft>
                      </a:pPr>
                      <a:r>
                        <a:rPr sz="2300" b="1">
                          <a:solidFill>
                            <a:srgbClr val="FFFFFF"/>
                          </a:solidFill>
                          <a:latin typeface="Yu Gothic"/>
                          <a:ea typeface="Yu Gothic"/>
                        </a:rPr>
                        <a:t>ケース</a:t>
                      </a:r>
                    </a:p>
                  </a:txBody>
                  <a:tcPr marL="64008" marR="64008" marT="27432" marB="27432" anchor="ctr">
                    <a:solidFill>
                      <a:srgbClr val="5D4084"/>
                    </a:solidFill>
                  </a:tcPr>
                </a:tc>
                <a:tc>
                  <a:txBody>
                    <a:bodyPr/>
                    <a:lstStyle/>
                    <a:p>
                      <a:pPr algn="ctr">
                        <a:spcAft>
                          <a:spcPts val="0"/>
                        </a:spcAft>
                      </a:pPr>
                      <a:r>
                        <a:rPr sz="2300" b="1">
                          <a:solidFill>
                            <a:srgbClr val="FFFFFF"/>
                          </a:solidFill>
                          <a:latin typeface="Yu Gothic"/>
                          <a:ea typeface="Yu Gothic"/>
                        </a:rPr>
                        <a:t>太陽指向面</a:t>
                      </a:r>
                    </a:p>
                  </a:txBody>
                  <a:tcPr marL="64008" marR="64008" marT="27432" marB="27432" anchor="ctr">
                    <a:solidFill>
                      <a:srgbClr val="5D4084"/>
                    </a:solidFill>
                  </a:tcPr>
                </a:tc>
                <a:tc>
                  <a:txBody>
                    <a:bodyPr/>
                    <a:lstStyle/>
                    <a:p>
                      <a:pPr algn="ctr">
                        <a:spcAft>
                          <a:spcPts val="0"/>
                        </a:spcAft>
                      </a:pPr>
                      <a:r>
                        <a:rPr sz="2300" b="1">
                          <a:solidFill>
                            <a:srgbClr val="FFFFFF"/>
                          </a:solidFill>
                          <a:latin typeface="Yu Gothic"/>
                          <a:ea typeface="Yu Gothic"/>
                        </a:rPr>
                        <a:t>発熱・条件</a:t>
                      </a:r>
                    </a:p>
                  </a:txBody>
                  <a:tcPr marL="64008" marR="64008" marT="27432" marB="27432" anchor="ctr">
                    <a:solidFill>
                      <a:srgbClr val="5D4084"/>
                    </a:solidFill>
                  </a:tcPr>
                </a:tc>
                <a:extLst>
                  <a:ext uri="{0D108BD9-81ED-4DB2-BD59-A6C34878D82A}">
                    <a16:rowId xmlns:a16="http://schemas.microsoft.com/office/drawing/2014/main" val="10000"/>
                  </a:ext>
                </a:extLst>
              </a:tr>
              <a:tr h="914400">
                <a:tc>
                  <a:txBody>
                    <a:bodyPr/>
                    <a:lstStyle/>
                    <a:p>
                      <a:pPr algn="l">
                        <a:spcAft>
                          <a:spcPts val="0"/>
                        </a:spcAft>
                      </a:pPr>
                      <a:r>
                        <a:rPr sz="2300" b="0">
                          <a:solidFill>
                            <a:srgbClr val="232B34"/>
                          </a:solidFill>
                          <a:latin typeface="Yu Gothic"/>
                          <a:ea typeface="Yu Gothic"/>
                        </a:rPr>
                        <a:t>04, 13–15</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MY</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全発熱 / +PROP / +PCDU / STT・LCTのみ</a:t>
                      </a:r>
                    </a:p>
                  </a:txBody>
                  <a:tcPr marL="64008" marR="64008" marT="27432" marB="27432" anchor="ctr">
                    <a:solidFill>
                      <a:srgbClr val="EBF6FB"/>
                    </a:solidFill>
                  </a:tcPr>
                </a:tc>
                <a:extLst>
                  <a:ext uri="{0D108BD9-81ED-4DB2-BD59-A6C34878D82A}">
                    <a16:rowId xmlns:a16="http://schemas.microsoft.com/office/drawing/2014/main" val="10001"/>
                  </a:ext>
                </a:extLst>
              </a:tr>
              <a:tr h="914400">
                <a:tc>
                  <a:txBody>
                    <a:bodyPr/>
                    <a:lstStyle/>
                    <a:p>
                      <a:pPr algn="l">
                        <a:spcAft>
                          <a:spcPts val="0"/>
                        </a:spcAft>
                      </a:pPr>
                      <a:r>
                        <a:rPr sz="2300" b="0">
                          <a:solidFill>
                            <a:srgbClr val="232B34"/>
                          </a:solidFill>
                          <a:latin typeface="Yu Gothic"/>
                          <a:ea typeface="Yu Gothic"/>
                        </a:rPr>
                        <a:t>08, 16, 18, 19</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PY</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全発熱 / STT・LCTのみ / +PROP / +PCDU</a:t>
                      </a:r>
                    </a:p>
                  </a:txBody>
                  <a:tcPr marL="64008" marR="64008" marT="27432" marB="27432" anchor="ctr">
                    <a:solidFill>
                      <a:srgbClr val="EBF6FB"/>
                    </a:solidFill>
                  </a:tcPr>
                </a:tc>
                <a:extLst>
                  <a:ext uri="{0D108BD9-81ED-4DB2-BD59-A6C34878D82A}">
                    <a16:rowId xmlns:a16="http://schemas.microsoft.com/office/drawing/2014/main" val="10002"/>
                  </a:ext>
                </a:extLst>
              </a:tr>
              <a:tr h="914400">
                <a:tc>
                  <a:txBody>
                    <a:bodyPr/>
                    <a:lstStyle/>
                    <a:p>
                      <a:pPr algn="l">
                        <a:spcAft>
                          <a:spcPts val="0"/>
                        </a:spcAft>
                      </a:pPr>
                      <a:r>
                        <a:rPr sz="2300" b="0">
                          <a:solidFill>
                            <a:srgbClr val="232B34"/>
                          </a:solidFill>
                          <a:latin typeface="Yu Gothic"/>
                          <a:ea typeface="Yu Gothic"/>
                        </a:rPr>
                        <a:t>05, 06, 20, 21</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PX</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全発熱 / STT・LCTのみ / +PROP / +PCDU</a:t>
                      </a:r>
                    </a:p>
                  </a:txBody>
                  <a:tcPr marL="64008" marR="64008" marT="27432" marB="27432" anchor="ctr">
                    <a:solidFill>
                      <a:srgbClr val="EBF6FB"/>
                    </a:solidFill>
                  </a:tcPr>
                </a:tc>
                <a:extLst>
                  <a:ext uri="{0D108BD9-81ED-4DB2-BD59-A6C34878D82A}">
                    <a16:rowId xmlns:a16="http://schemas.microsoft.com/office/drawing/2014/main" val="10003"/>
                  </a:ext>
                </a:extLst>
              </a:tr>
              <a:tr h="914400">
                <a:tc>
                  <a:txBody>
                    <a:bodyPr/>
                    <a:lstStyle/>
                    <a:p>
                      <a:pPr algn="l">
                        <a:spcAft>
                          <a:spcPts val="0"/>
                        </a:spcAft>
                      </a:pPr>
                      <a:r>
                        <a:rPr sz="2300" b="0">
                          <a:solidFill>
                            <a:srgbClr val="232B34"/>
                          </a:solidFill>
                          <a:latin typeface="Yu Gothic"/>
                          <a:ea typeface="Yu Gothic"/>
                        </a:rPr>
                        <a:t>09, 17, 23, 24</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MX</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全発熱 / STT・LCTのみ / +PROP / +PCDU</a:t>
                      </a:r>
                    </a:p>
                  </a:txBody>
                  <a:tcPr marL="64008" marR="64008" marT="27432" marB="27432" anchor="ctr">
                    <a:solidFill>
                      <a:srgbClr val="EBF6FB"/>
                    </a:solidFill>
                  </a:tcPr>
                </a:tc>
                <a:extLst>
                  <a:ext uri="{0D108BD9-81ED-4DB2-BD59-A6C34878D82A}">
                    <a16:rowId xmlns:a16="http://schemas.microsoft.com/office/drawing/2014/main" val="10004"/>
                  </a:ext>
                </a:extLst>
              </a:tr>
              <a:tr h="914400">
                <a:tc>
                  <a:txBody>
                    <a:bodyPr/>
                    <a:lstStyle/>
                    <a:p>
                      <a:pPr algn="l">
                        <a:spcAft>
                          <a:spcPts val="0"/>
                        </a:spcAft>
                      </a:pPr>
                      <a:r>
                        <a:rPr sz="2300" b="0">
                          <a:solidFill>
                            <a:srgbClr val="232B34"/>
                          </a:solidFill>
                          <a:latin typeface="Yu Gothic"/>
                          <a:ea typeface="Yu Gothic"/>
                        </a:rPr>
                        <a:t>10–12</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MY</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全日照 / 太陽面Black / 全面Alodine</a:t>
                      </a:r>
                    </a:p>
                  </a:txBody>
                  <a:tcPr marL="64008" marR="64008" marT="27432" marB="27432" anchor="ctr">
                    <a:solidFill>
                      <a:srgbClr val="EBF6FB"/>
                    </a:solidFill>
                  </a:tcPr>
                </a:tc>
                <a:extLst>
                  <a:ext uri="{0D108BD9-81ED-4DB2-BD59-A6C34878D82A}">
                    <a16:rowId xmlns:a16="http://schemas.microsoft.com/office/drawing/2014/main" val="10005"/>
                  </a:ext>
                </a:extLst>
              </a:tr>
              <a:tr h="914400">
                <a:tc>
                  <a:txBody>
                    <a:bodyPr/>
                    <a:lstStyle/>
                    <a:p>
                      <a:pPr algn="l">
                        <a:spcAft>
                          <a:spcPts val="0"/>
                        </a:spcAft>
                      </a:pPr>
                      <a:r>
                        <a:rPr sz="2300" b="0">
                          <a:solidFill>
                            <a:srgbClr val="232B34"/>
                          </a:solidFill>
                          <a:latin typeface="Yu Gothic"/>
                          <a:ea typeface="Yu Gothic"/>
                        </a:rPr>
                        <a:t>22</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MY</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PROP 12.5 W（半電力）</a:t>
                      </a:r>
                    </a:p>
                  </a:txBody>
                  <a:tcPr marL="64008" marR="64008" marT="27432" marB="27432" anchor="ctr">
                    <a:solidFill>
                      <a:srgbClr val="EBF6FB"/>
                    </a:solidFill>
                  </a:tcPr>
                </a:tc>
                <a:extLst>
                  <a:ext uri="{0D108BD9-81ED-4DB2-BD59-A6C34878D82A}">
                    <a16:rowId xmlns:a16="http://schemas.microsoft.com/office/drawing/2014/main" val="10006"/>
                  </a:ext>
                </a:extLst>
              </a:tr>
              <a:tr h="914400">
                <a:tc>
                  <a:txBody>
                    <a:bodyPr/>
                    <a:lstStyle/>
                    <a:p>
                      <a:pPr algn="l">
                        <a:spcAft>
                          <a:spcPts val="0"/>
                        </a:spcAft>
                      </a:pPr>
                      <a:r>
                        <a:rPr sz="2300" b="0">
                          <a:solidFill>
                            <a:srgbClr val="232B34"/>
                          </a:solidFill>
                          <a:latin typeface="Yu Gothic"/>
                          <a:ea typeface="Yu Gothic"/>
                        </a:rPr>
                        <a:t>25</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MY</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LTAN18 / 高度693 km</a:t>
                      </a:r>
                    </a:p>
                  </a:txBody>
                  <a:tcPr marL="64008" marR="64008" marT="27432" marB="27432" anchor="ctr">
                    <a:solidFill>
                      <a:srgbClr val="EBF6FB"/>
                    </a:solidFill>
                  </a:tcPr>
                </a:tc>
                <a:extLst>
                  <a:ext uri="{0D108BD9-81ED-4DB2-BD59-A6C34878D82A}">
                    <a16:rowId xmlns:a16="http://schemas.microsoft.com/office/drawing/2014/main" val="10007"/>
                  </a:ext>
                </a:extLst>
              </a:tr>
            </a:tbl>
          </a:graphicData>
        </a:graphic>
      </p:graphicFrame>
      <p:sp>
        <p:nvSpPr>
          <p:cNvPr id="6" name="TextBox 5"/>
          <p:cNvSpPr txBox="1"/>
          <p:nvPr/>
        </p:nvSpPr>
        <p:spPr>
          <a:xfrm>
            <a:off x="1280160" y="10424160"/>
            <a:ext cx="21762720" cy="1828800"/>
          </a:xfrm>
          <a:prstGeom prst="rect">
            <a:avLst/>
          </a:prstGeom>
          <a:noFill/>
        </p:spPr>
        <p:txBody>
          <a:bodyPr wrap="square" lIns="45720" tIns="18288" rIns="45720" bIns="18288" anchor="t">
            <a:spAutoFit/>
          </a:bodyPr>
          <a:lstStyle/>
          <a:p>
            <a:pPr algn="l">
              <a:lnSpc>
                <a:spcPct val="125000"/>
              </a:lnSpc>
              <a:spcAft>
                <a:spcPts val="0"/>
              </a:spcAft>
            </a:pPr>
            <a:r>
              <a:rPr sz="2300" b="0">
                <a:solidFill>
                  <a:srgbClr val="666F79"/>
                </a:solidFill>
                <a:latin typeface="Yu Gothic"/>
                <a:ea typeface="Yu Gothic"/>
              </a:rPr>
              <a:t>評価IDは 04–06 と 08–25。01–03 と 07 はMZ太陽や設定確認のケースで除外</a:t>
            </a:r>
          </a:p>
          <a:p>
            <a:pPr algn="l">
              <a:lnSpc>
                <a:spcPct val="125000"/>
              </a:lnSpc>
              <a:spcAft>
                <a:spcPts val="0"/>
              </a:spcAft>
            </a:pPr>
            <a:r>
              <a:rPr sz="2300" b="0">
                <a:solidFill>
                  <a:srgbClr val="666F79"/>
                </a:solidFill>
                <a:latin typeface="Yu Gothic"/>
                <a:ea typeface="Yu Gothic"/>
              </a:rPr>
              <a:t>PZ/MZを太陽面にするケースは、その面にSTT/LCTがあるので設定しない</a:t>
            </a:r>
          </a:p>
          <a:p>
            <a:pPr algn="l">
              <a:lnSpc>
                <a:spcPct val="125000"/>
              </a:lnSpc>
              <a:spcAft>
                <a:spcPts val="0"/>
              </a:spcAft>
            </a:pPr>
            <a:r>
              <a:rPr sz="2300" b="0">
                <a:solidFill>
                  <a:srgbClr val="666F79"/>
                </a:solidFill>
                <a:latin typeface="Yu Gothic"/>
                <a:ea typeface="Yu Gothic"/>
              </a:rPr>
              <a:t>捕捉時間の見出しは、COLD・標準表面の14ケース（04–06, 08–09, 13–21）</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Yu Gothic"/>
                <a:ea typeface="Yu Gothic"/>
              </a:rPr>
              <a:t>補足</a:t>
            </a:r>
          </a:p>
        </p:txBody>
      </p:sp>
      <p:sp>
        <p:nvSpPr>
          <p:cNvPr id="3" name="TextBox 2"/>
          <p:cNvSpPr txBox="1"/>
          <p:nvPr/>
        </p:nvSpPr>
        <p:spPr>
          <a:xfrm>
            <a:off x="1536192" y="1298448"/>
            <a:ext cx="9922716" cy="1040285"/>
          </a:xfrm>
          <a:prstGeom prst="rect">
            <a:avLst/>
          </a:prstGeom>
          <a:noFill/>
        </p:spPr>
        <p:txBody>
          <a:bodyPr wrap="square" lIns="36576" tIns="27432" rIns="36576" bIns="27432" anchor="t">
            <a:spAutoFit/>
          </a:bodyPr>
          <a:lstStyle/>
          <a:p>
            <a:pPr algn="l">
              <a:spcAft>
                <a:spcPts val="0"/>
              </a:spcAft>
            </a:pPr>
            <a:r>
              <a:rPr sz="3200" b="1">
                <a:solidFill>
                  <a:srgbClr val="082B52"/>
                </a:solidFill>
                <a:latin typeface="Yu Gothic"/>
                <a:ea typeface="Yu Gothic"/>
              </a:rPr>
              <a:t>B2｜矩形スパイラル走査の幾何</a:t>
            </a:r>
            <a:endParaRPr lang="en-US" sz="3200" b="1" dirty="0">
              <a:solidFill>
                <a:srgbClr val="082B52"/>
              </a:solidFill>
              <a:latin typeface="Yu Gothic"/>
            </a:endParaRPr>
          </a:p>
        </p:txBody>
      </p:sp>
      <p:sp>
        <p:nvSpPr>
          <p:cNvPr id="4" name="TextBox 3"/>
          <p:cNvSpPr txBox="1"/>
          <p:nvPr/>
        </p:nvSpPr>
        <p:spPr>
          <a:xfrm>
            <a:off x="21762720" y="12819888"/>
            <a:ext cx="2011680" cy="384048"/>
          </a:xfrm>
          <a:prstGeom prst="rect">
            <a:avLst/>
          </a:prstGeom>
          <a:noFill/>
        </p:spPr>
        <p:txBody>
          <a:bodyPr wrap="square" lIns="36576" tIns="27432" rIns="36576" bIns="27432" anchor="t">
            <a:spAutoFit/>
          </a:bodyPr>
          <a:lstStyle/>
          <a:p>
            <a:pPr algn="r">
              <a:spcAft>
                <a:spcPts val="0"/>
              </a:spcAft>
            </a:pPr>
            <a:r>
              <a:rPr sz="1800" b="0">
                <a:solidFill>
                  <a:srgbClr val="666F79"/>
                </a:solidFill>
                <a:latin typeface="Yu Gothic"/>
                <a:ea typeface="Yu Gothic"/>
              </a:rPr>
              <a:t>B2</a:t>
            </a:r>
          </a:p>
        </p:txBody>
      </p:sp>
      <p:sp>
        <p:nvSpPr>
          <p:cNvPr id="5" name="Rounded Rectangle 4"/>
          <p:cNvSpPr/>
          <p:nvPr/>
        </p:nvSpPr>
        <p:spPr>
          <a:xfrm>
            <a:off x="1097280" y="2834640"/>
            <a:ext cx="9326880" cy="7772400"/>
          </a:xfrm>
          <a:prstGeom prst="roundRect">
            <a:avLst/>
          </a:prstGeom>
          <a:solidFill>
            <a:srgbClr val="F4F6F8"/>
          </a:solidFill>
          <a:ln w="1651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669280" y="6492240"/>
            <a:ext cx="658368" cy="0"/>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6327648" y="5833872"/>
            <a:ext cx="0" cy="658368"/>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5010912" y="5833872"/>
            <a:ext cx="1316736" cy="0"/>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010912" y="5833872"/>
            <a:ext cx="0" cy="1316735"/>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010912" y="7150607"/>
            <a:ext cx="1975104" cy="0"/>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6986016" y="5175504"/>
            <a:ext cx="0" cy="1975103"/>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4352544" y="5175504"/>
            <a:ext cx="2633472" cy="0"/>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352544" y="5175504"/>
            <a:ext cx="0" cy="2633471"/>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352544" y="7808975"/>
            <a:ext cx="3291839" cy="0"/>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7644383" y="4517136"/>
            <a:ext cx="0" cy="3291839"/>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5596128" y="6419088"/>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254496" y="6419088"/>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254496" y="5760720"/>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4937760" y="5760720"/>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4937760" y="7077455"/>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912864" y="7077455"/>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6912864" y="5102352"/>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4279392" y="5102352"/>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4279392" y="7735823"/>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7571231" y="7735823"/>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571231" y="4443983"/>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7086600" y="4892040"/>
            <a:ext cx="457200" cy="457200"/>
          </a:xfrm>
          <a:prstGeom prst="ellipse">
            <a:avLst/>
          </a:prstGeom>
          <a:solidFill>
            <a:srgbClr val="FEF5E6"/>
          </a:solidFill>
          <a:ln>
            <a:solidFill>
              <a:srgbClr val="EC94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8" name="Table 27"/>
          <p:cNvGraphicFramePr>
            <a:graphicFrameLocks noGrp="1"/>
          </p:cNvGraphicFramePr>
          <p:nvPr>
            <p:extLst>
              <p:ext uri="{D42A27DB-BD31-4B8C-83A1-F6EECF244321}">
                <p14:modId xmlns:p14="http://schemas.microsoft.com/office/powerpoint/2010/main" val="2133534431"/>
              </p:ext>
            </p:extLst>
          </p:nvPr>
        </p:nvGraphicFramePr>
        <p:xfrm>
          <a:off x="12461016" y="2752344"/>
          <a:ext cx="8874189" cy="6309360"/>
        </p:xfrm>
        <a:graphic>
          <a:graphicData uri="http://schemas.openxmlformats.org/drawingml/2006/table">
            <a:tbl>
              <a:tblPr firstRow="1" bandRow="1">
                <a:tableStyleId>{5C22544A-7EE6-4342-B048-85BDC9FD1C3A}</a:tableStyleId>
              </a:tblPr>
              <a:tblGrid>
                <a:gridCol w="4641883">
                  <a:extLst>
                    <a:ext uri="{9D8B030D-6E8A-4147-A177-3AD203B41FA5}">
                      <a16:colId xmlns:a16="http://schemas.microsoft.com/office/drawing/2014/main" val="20000"/>
                    </a:ext>
                  </a:extLst>
                </a:gridCol>
                <a:gridCol w="4232306">
                  <a:extLst>
                    <a:ext uri="{9D8B030D-6E8A-4147-A177-3AD203B41FA5}">
                      <a16:colId xmlns:a16="http://schemas.microsoft.com/office/drawing/2014/main" val="20001"/>
                    </a:ext>
                  </a:extLst>
                </a:gridCol>
              </a:tblGrid>
              <a:tr h="901337">
                <a:tc>
                  <a:txBody>
                    <a:bodyPr/>
                    <a:lstStyle/>
                    <a:p>
                      <a:pPr algn="l">
                        <a:spcAft>
                          <a:spcPts val="0"/>
                        </a:spcAft>
                        <a:buNone/>
                      </a:pPr>
                      <a:r>
                        <a:rPr sz="2400">
                          <a:solidFill>
                            <a:srgbClr val="FFFFFF"/>
                          </a:solidFill>
                          <a:latin typeface="Yu Gothic"/>
                          <a:ea typeface="Yu Gothic"/>
                        </a:rPr>
                        <a:t>パラメータ</a:t>
                      </a:r>
                    </a:p>
                  </a:txBody>
                  <a:tcPr anchor="ctr">
                    <a:solidFill>
                      <a:srgbClr val="082B52"/>
                    </a:solidFill>
                  </a:tcPr>
                </a:tc>
                <a:tc>
                  <a:txBody>
                    <a:bodyPr/>
                    <a:lstStyle/>
                    <a:p>
                      <a:pPr algn="l">
                        <a:spcAft>
                          <a:spcPts val="0"/>
                        </a:spcAft>
                        <a:buNone/>
                      </a:pPr>
                      <a:r>
                        <a:rPr sz="2400">
                          <a:solidFill>
                            <a:srgbClr val="FFFFFF"/>
                          </a:solidFill>
                          <a:latin typeface="Yu Gothic"/>
                          <a:ea typeface="Yu Gothic"/>
                        </a:rPr>
                        <a:t>設定値</a:t>
                      </a:r>
                    </a:p>
                  </a:txBody>
                  <a:tcPr anchor="ctr">
                    <a:solidFill>
                      <a:srgbClr val="082B52"/>
                    </a:solidFill>
                  </a:tcPr>
                </a:tc>
                <a:extLst>
                  <a:ext uri="{0D108BD9-81ED-4DB2-BD59-A6C34878D82A}">
                    <a16:rowId xmlns:a16="http://schemas.microsoft.com/office/drawing/2014/main" val="10000"/>
                  </a:ext>
                </a:extLst>
              </a:tr>
              <a:tr h="901337">
                <a:tc>
                  <a:txBody>
                    <a:bodyPr/>
                    <a:lstStyle/>
                    <a:p>
                      <a:pPr algn="l">
                        <a:spcAft>
                          <a:spcPts val="0"/>
                        </a:spcAft>
                        <a:buNone/>
                      </a:pPr>
                      <a:r>
                        <a:rPr sz="2400">
                          <a:solidFill>
                            <a:srgbClr val="232B34"/>
                          </a:solidFill>
                          <a:latin typeface="Yu Gothic"/>
                          <a:ea typeface="Yu Gothic"/>
                        </a:rPr>
                        <a:t>走査範囲</a:t>
                      </a:r>
                    </a:p>
                  </a:txBody>
                  <a:tcPr anchor="ctr">
                    <a:solidFill>
                      <a:srgbClr val="FFFFFF"/>
                    </a:solidFill>
                  </a:tcPr>
                </a:tc>
                <a:tc>
                  <a:txBody>
                    <a:bodyPr/>
                    <a:lstStyle/>
                    <a:p>
                      <a:pPr algn="l">
                        <a:spcAft>
                          <a:spcPts val="0"/>
                        </a:spcAft>
                        <a:buNone/>
                      </a:pPr>
                      <a:r>
                        <a:rPr sz="2400">
                          <a:solidFill>
                            <a:srgbClr val="232B34"/>
                          </a:solidFill>
                          <a:latin typeface="Yu Gothic"/>
                          <a:ea typeface="Yu Gothic"/>
                        </a:rPr>
                        <a:t>±1600 µrad</a:t>
                      </a:r>
                    </a:p>
                  </a:txBody>
                  <a:tcPr anchor="ctr">
                    <a:solidFill>
                      <a:srgbClr val="EBF6FB"/>
                    </a:solidFill>
                  </a:tcPr>
                </a:tc>
                <a:extLst>
                  <a:ext uri="{0D108BD9-81ED-4DB2-BD59-A6C34878D82A}">
                    <a16:rowId xmlns:a16="http://schemas.microsoft.com/office/drawing/2014/main" val="10001"/>
                  </a:ext>
                </a:extLst>
              </a:tr>
              <a:tr h="901337">
                <a:tc>
                  <a:txBody>
                    <a:bodyPr/>
                    <a:lstStyle/>
                    <a:p>
                      <a:pPr algn="l">
                        <a:spcAft>
                          <a:spcPts val="0"/>
                        </a:spcAft>
                        <a:buNone/>
                      </a:pPr>
                      <a:r>
                        <a:rPr sz="2400">
                          <a:solidFill>
                            <a:srgbClr val="232B34"/>
                          </a:solidFill>
                          <a:latin typeface="Yu Gothic"/>
                          <a:ea typeface="Yu Gothic"/>
                        </a:rPr>
                        <a:t>点間隔</a:t>
                      </a:r>
                    </a:p>
                  </a:txBody>
                  <a:tcPr anchor="ctr">
                    <a:solidFill>
                      <a:srgbClr val="F4F6F8"/>
                    </a:solidFill>
                  </a:tcPr>
                </a:tc>
                <a:tc>
                  <a:txBody>
                    <a:bodyPr/>
                    <a:lstStyle/>
                    <a:p>
                      <a:pPr algn="l">
                        <a:spcAft>
                          <a:spcPts val="0"/>
                        </a:spcAft>
                        <a:buNone/>
                      </a:pPr>
                      <a:r>
                        <a:rPr sz="2400">
                          <a:solidFill>
                            <a:srgbClr val="232B34"/>
                          </a:solidFill>
                          <a:latin typeface="Yu Gothic"/>
                          <a:ea typeface="Yu Gothic"/>
                        </a:rPr>
                        <a:t>120 µrad</a:t>
                      </a:r>
                    </a:p>
                  </a:txBody>
                  <a:tcPr anchor="ctr">
                    <a:solidFill>
                      <a:srgbClr val="EBF6FB"/>
                    </a:solidFill>
                  </a:tcPr>
                </a:tc>
                <a:extLst>
                  <a:ext uri="{0D108BD9-81ED-4DB2-BD59-A6C34878D82A}">
                    <a16:rowId xmlns:a16="http://schemas.microsoft.com/office/drawing/2014/main" val="10002"/>
                  </a:ext>
                </a:extLst>
              </a:tr>
              <a:tr h="901337">
                <a:tc>
                  <a:txBody>
                    <a:bodyPr/>
                    <a:lstStyle/>
                    <a:p>
                      <a:pPr algn="l">
                        <a:spcAft>
                          <a:spcPts val="0"/>
                        </a:spcAft>
                        <a:buNone/>
                      </a:pPr>
                      <a:r>
                        <a:rPr sz="2400">
                          <a:solidFill>
                            <a:srgbClr val="232B34"/>
                          </a:solidFill>
                          <a:latin typeface="Yu Gothic"/>
                          <a:ea typeface="Yu Gothic"/>
                        </a:rPr>
                        <a:t>検出半径</a:t>
                      </a:r>
                    </a:p>
                  </a:txBody>
                  <a:tcPr anchor="ctr">
                    <a:solidFill>
                      <a:srgbClr val="FFFFFF"/>
                    </a:solidFill>
                  </a:tcPr>
                </a:tc>
                <a:tc>
                  <a:txBody>
                    <a:bodyPr/>
                    <a:lstStyle/>
                    <a:p>
                      <a:pPr algn="l">
                        <a:spcAft>
                          <a:spcPts val="0"/>
                        </a:spcAft>
                        <a:buNone/>
                      </a:pPr>
                      <a:r>
                        <a:rPr sz="2400">
                          <a:solidFill>
                            <a:srgbClr val="232B34"/>
                          </a:solidFill>
                          <a:latin typeface="Yu Gothic"/>
                          <a:ea typeface="Yu Gothic"/>
                        </a:rPr>
                        <a:t>150 µrad</a:t>
                      </a:r>
                    </a:p>
                  </a:txBody>
                  <a:tcPr anchor="ctr">
                    <a:solidFill>
                      <a:srgbClr val="EBF6FB"/>
                    </a:solidFill>
                  </a:tcPr>
                </a:tc>
                <a:extLst>
                  <a:ext uri="{0D108BD9-81ED-4DB2-BD59-A6C34878D82A}">
                    <a16:rowId xmlns:a16="http://schemas.microsoft.com/office/drawing/2014/main" val="10003"/>
                  </a:ext>
                </a:extLst>
              </a:tr>
              <a:tr h="901337">
                <a:tc>
                  <a:txBody>
                    <a:bodyPr/>
                    <a:lstStyle/>
                    <a:p>
                      <a:pPr algn="l">
                        <a:spcAft>
                          <a:spcPts val="0"/>
                        </a:spcAft>
                        <a:buNone/>
                      </a:pPr>
                      <a:r>
                        <a:rPr sz="2400">
                          <a:solidFill>
                            <a:srgbClr val="232B34"/>
                          </a:solidFill>
                          <a:latin typeface="Yu Gothic"/>
                          <a:ea typeface="Yu Gothic"/>
                        </a:rPr>
                        <a:t>滞在時間</a:t>
                      </a:r>
                    </a:p>
                  </a:txBody>
                  <a:tcPr anchor="ctr">
                    <a:solidFill>
                      <a:srgbClr val="F4F6F8"/>
                    </a:solidFill>
                  </a:tcPr>
                </a:tc>
                <a:tc>
                  <a:txBody>
                    <a:bodyPr/>
                    <a:lstStyle/>
                    <a:p>
                      <a:pPr algn="l">
                        <a:spcAft>
                          <a:spcPts val="0"/>
                        </a:spcAft>
                        <a:buNone/>
                      </a:pPr>
                      <a:r>
                        <a:rPr sz="2400">
                          <a:solidFill>
                            <a:srgbClr val="232B34"/>
                          </a:solidFill>
                          <a:latin typeface="Yu Gothic"/>
                          <a:ea typeface="Yu Gothic"/>
                        </a:rPr>
                        <a:t>0.1 s / 点</a:t>
                      </a:r>
                    </a:p>
                  </a:txBody>
                  <a:tcPr anchor="ctr">
                    <a:solidFill>
                      <a:srgbClr val="EBF6FB"/>
                    </a:solidFill>
                  </a:tcPr>
                </a:tc>
                <a:extLst>
                  <a:ext uri="{0D108BD9-81ED-4DB2-BD59-A6C34878D82A}">
                    <a16:rowId xmlns:a16="http://schemas.microsoft.com/office/drawing/2014/main" val="10004"/>
                  </a:ext>
                </a:extLst>
              </a:tr>
              <a:tr h="901337">
                <a:tc>
                  <a:txBody>
                    <a:bodyPr/>
                    <a:lstStyle/>
                    <a:p>
                      <a:pPr algn="l">
                        <a:spcAft>
                          <a:spcPts val="0"/>
                        </a:spcAft>
                        <a:buNone/>
                      </a:pPr>
                      <a:r>
                        <a:rPr sz="2400">
                          <a:solidFill>
                            <a:srgbClr val="232B34"/>
                          </a:solidFill>
                          <a:latin typeface="Yu Gothic"/>
                          <a:ea typeface="Yu Gothic"/>
                        </a:rPr>
                        <a:t>総走査点数</a:t>
                      </a:r>
                    </a:p>
                  </a:txBody>
                  <a:tcPr anchor="ctr">
                    <a:solidFill>
                      <a:srgbClr val="FFFFFF"/>
                    </a:solidFill>
                  </a:tcPr>
                </a:tc>
                <a:tc>
                  <a:txBody>
                    <a:bodyPr/>
                    <a:lstStyle/>
                    <a:p>
                      <a:pPr algn="l">
                        <a:spcAft>
                          <a:spcPts val="0"/>
                        </a:spcAft>
                        <a:buNone/>
                      </a:pPr>
                      <a:r>
                        <a:rPr sz="2400">
                          <a:solidFill>
                            <a:srgbClr val="232B34"/>
                          </a:solidFill>
                          <a:latin typeface="Yu Gothic"/>
                          <a:ea typeface="Yu Gothic"/>
                        </a:rPr>
                        <a:t>27 × 27 = 729点</a:t>
                      </a:r>
                    </a:p>
                  </a:txBody>
                  <a:tcPr anchor="ctr">
                    <a:solidFill>
                      <a:srgbClr val="EBF6FB"/>
                    </a:solidFill>
                  </a:tcPr>
                </a:tc>
                <a:extLst>
                  <a:ext uri="{0D108BD9-81ED-4DB2-BD59-A6C34878D82A}">
                    <a16:rowId xmlns:a16="http://schemas.microsoft.com/office/drawing/2014/main" val="10005"/>
                  </a:ext>
                </a:extLst>
              </a:tr>
              <a:tr h="901338">
                <a:tc>
                  <a:txBody>
                    <a:bodyPr/>
                    <a:lstStyle/>
                    <a:p>
                      <a:pPr algn="l">
                        <a:spcAft>
                          <a:spcPts val="0"/>
                        </a:spcAft>
                        <a:buNone/>
                      </a:pPr>
                      <a:r>
                        <a:rPr sz="2400">
                          <a:solidFill>
                            <a:srgbClr val="232B34"/>
                          </a:solidFill>
                          <a:latin typeface="Yu Gothic"/>
                          <a:ea typeface="Yu Gothic"/>
                        </a:rPr>
                        <a:t>最大走査時間</a:t>
                      </a:r>
                    </a:p>
                  </a:txBody>
                  <a:tcPr anchor="ctr">
                    <a:solidFill>
                      <a:srgbClr val="F4F6F8"/>
                    </a:solidFill>
                  </a:tcPr>
                </a:tc>
                <a:tc>
                  <a:txBody>
                    <a:bodyPr/>
                    <a:lstStyle/>
                    <a:p>
                      <a:pPr algn="l">
                        <a:spcAft>
                          <a:spcPts val="0"/>
                        </a:spcAft>
                        <a:buNone/>
                      </a:pPr>
                      <a:r>
                        <a:rPr sz="2400">
                          <a:solidFill>
                            <a:srgbClr val="232B34"/>
                          </a:solidFill>
                          <a:latin typeface="Yu Gothic"/>
                          <a:ea typeface="Yu Gothic"/>
                        </a:rPr>
                        <a:t>72.9 s</a:t>
                      </a:r>
                    </a:p>
                  </a:txBody>
                  <a:tcPr anchor="ctr">
                    <a:solidFill>
                      <a:srgbClr val="EBF6FB"/>
                    </a:solidFill>
                  </a:tcPr>
                </a:tc>
                <a:extLst>
                  <a:ext uri="{0D108BD9-81ED-4DB2-BD59-A6C34878D82A}">
                    <a16:rowId xmlns:a16="http://schemas.microsoft.com/office/drawing/2014/main" val="10006"/>
                  </a:ext>
                </a:extLst>
              </a:tr>
            </a:tbl>
          </a:graphicData>
        </a:graphic>
      </p:graphicFrame>
      <p:sp>
        <p:nvSpPr>
          <p:cNvPr id="29" name="Rounded Rectangle 28"/>
          <p:cNvSpPr/>
          <p:nvPr/>
        </p:nvSpPr>
        <p:spPr>
          <a:xfrm>
            <a:off x="12256522" y="10179232"/>
            <a:ext cx="9253796" cy="1828800"/>
          </a:xfrm>
          <a:prstGeom prst="roundRect">
            <a:avLst/>
          </a:prstGeom>
          <a:solidFill>
            <a:srgbClr val="FDEFF0"/>
          </a:solidFill>
          <a:ln w="16510">
            <a:solidFill>
              <a:srgbClr val="D03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2510930" y="10711372"/>
            <a:ext cx="8999388" cy="794064"/>
          </a:xfrm>
          <a:prstGeom prst="rect">
            <a:avLst/>
          </a:prstGeom>
          <a:noFill/>
        </p:spPr>
        <p:txBody>
          <a:bodyPr wrap="none" lIns="36576" tIns="27432" rIns="36576" bIns="27432" anchor="t">
            <a:spAutoFit/>
          </a:bodyPr>
          <a:lstStyle/>
          <a:p>
            <a:pPr algn="ctr"/>
            <a:r>
              <a:rPr lang="ja-JP" altLang="ja-JP" sz="2400" b="1" dirty="0">
                <a:solidFill>
                  <a:schemeClr val="accent2"/>
                </a:solidFill>
              </a:rPr>
              <a:t>簡略化：点間移動・整定時間・受光強度の確率変動は考慮しない</a:t>
            </a:r>
            <a:br>
              <a:rPr lang="ja-JP" altLang="ja-JP" sz="2400" dirty="0">
                <a:solidFill>
                  <a:schemeClr val="accent2"/>
                </a:solidFill>
              </a:rPr>
            </a:br>
            <a:r>
              <a:rPr lang="ja-JP" altLang="ja-JP" sz="2400" b="1" dirty="0">
                <a:solidFill>
                  <a:schemeClr val="accent2"/>
                </a:solidFill>
              </a:rPr>
              <a:t>各走査点を独立な捕捉機会として評価する</a:t>
            </a:r>
            <a:endParaRPr sz="2400" b="1" dirty="0">
              <a:solidFill>
                <a:schemeClr val="accent2"/>
              </a:solidFill>
              <a:latin typeface="Yu Gothic"/>
            </a:endParaRPr>
          </a:p>
        </p:txBody>
      </p:sp>
      <p:sp>
        <p:nvSpPr>
          <p:cNvPr id="32" name="テキスト ボックス 31">
            <a:extLst>
              <a:ext uri="{FF2B5EF4-FFF2-40B4-BE49-F238E27FC236}">
                <a16:creationId xmlns:a16="http://schemas.microsoft.com/office/drawing/2014/main" id="{37EE8180-2C54-474D-D777-0D6C6E0E04A0}"/>
              </a:ext>
            </a:extLst>
          </p:cNvPr>
          <p:cNvSpPr txBox="1"/>
          <p:nvPr/>
        </p:nvSpPr>
        <p:spPr>
          <a:xfrm>
            <a:off x="1779568" y="10881359"/>
            <a:ext cx="8437790" cy="954107"/>
          </a:xfrm>
          <a:prstGeom prst="rect">
            <a:avLst/>
          </a:prstGeom>
          <a:noFill/>
        </p:spPr>
        <p:txBody>
          <a:bodyPr wrap="square">
            <a:spAutoFit/>
          </a:bodyPr>
          <a:lstStyle/>
          <a:p>
            <a:r>
              <a:rPr lang="ja-JP" altLang="ja-JP" sz="2800" b="1" dirty="0"/>
              <a:t>真の指向誤差が検出半径内に入った最初の走査点を捕捉時刻とする</a:t>
            </a:r>
            <a:endParaRPr lang="ja-JP" altLang="en-US" sz="2800" b="1" dirty="0"/>
          </a:p>
        </p:txBody>
      </p:sp>
      <p:sp>
        <p:nvSpPr>
          <p:cNvPr id="33" name="TextBox 32"/>
          <p:cNvSpPr txBox="1"/>
          <p:nvPr/>
        </p:nvSpPr>
        <p:spPr>
          <a:xfrm>
            <a:off x="12252960" y="9052560"/>
            <a:ext cx="10881360" cy="914400"/>
          </a:xfrm>
          <a:prstGeom prst="rect">
            <a:avLst/>
          </a:prstGeom>
          <a:noFill/>
        </p:spPr>
        <p:txBody>
          <a:bodyPr wrap="square" lIns="45720" tIns="18288" rIns="45720" bIns="18288" anchor="t">
            <a:spAutoFit/>
          </a:bodyPr>
          <a:lstStyle/>
          <a:p>
            <a:pPr algn="l">
              <a:lnSpc>
                <a:spcPct val="120000"/>
              </a:lnSpc>
              <a:spcAft>
                <a:spcPts val="0"/>
              </a:spcAft>
            </a:pPr>
            <a:r>
              <a:rPr sz="2300" b="1">
                <a:solidFill>
                  <a:srgbClr val="239571"/>
                </a:solidFill>
                <a:latin typeface="Yu Gothic"/>
                <a:ea typeface="Yu Gothic"/>
              </a:rPr>
              <a:t>格子対角の半分 120/√2 ≈ 85 µrad &lt; 検出半径 150 µrad なので掃き残しは無い</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Yu Gothic"/>
                <a:ea typeface="Yu Gothic"/>
              </a:rPr>
              <a:t>補足</a:t>
            </a:r>
          </a:p>
        </p:txBody>
      </p:sp>
      <p:sp>
        <p:nvSpPr>
          <p:cNvPr id="3" name="TextBox 2"/>
          <p:cNvSpPr txBox="1"/>
          <p:nvPr/>
        </p:nvSpPr>
        <p:spPr>
          <a:xfrm>
            <a:off x="1536192" y="1298448"/>
            <a:ext cx="18962050" cy="1040285"/>
          </a:xfrm>
          <a:prstGeom prst="rect">
            <a:avLst/>
          </a:prstGeom>
          <a:noFill/>
        </p:spPr>
        <p:txBody>
          <a:bodyPr wrap="square" lIns="36576" tIns="27432" rIns="36576" bIns="27432" anchor="t">
            <a:spAutoFit/>
          </a:bodyPr>
          <a:lstStyle/>
          <a:p>
            <a:pPr algn="l">
              <a:spcAft>
                <a:spcPts val="0"/>
              </a:spcAft>
            </a:pPr>
            <a:r>
              <a:rPr sz="3200" b="1">
                <a:solidFill>
                  <a:srgbClr val="082B52"/>
                </a:solidFill>
                <a:latin typeface="Yu Gothic"/>
                <a:ea typeface="Yu Gothic"/>
              </a:rPr>
              <a:t>B3｜軌道予測誤差の作り方と、リンク横断面への射影</a:t>
            </a:r>
            <a:endParaRPr lang="en-US" sz="3200" b="1" dirty="0">
              <a:solidFill>
                <a:srgbClr val="082B52"/>
              </a:solidFill>
              <a:latin typeface="Yu Gothic"/>
            </a:endParaRPr>
          </a:p>
        </p:txBody>
      </p:sp>
      <p:sp>
        <p:nvSpPr>
          <p:cNvPr id="4" name="TextBox 3"/>
          <p:cNvSpPr txBox="1"/>
          <p:nvPr/>
        </p:nvSpPr>
        <p:spPr>
          <a:xfrm>
            <a:off x="21762720" y="12819888"/>
            <a:ext cx="2011680" cy="384048"/>
          </a:xfrm>
          <a:prstGeom prst="rect">
            <a:avLst/>
          </a:prstGeom>
          <a:noFill/>
        </p:spPr>
        <p:txBody>
          <a:bodyPr wrap="square" lIns="36576" tIns="27432" rIns="36576" bIns="27432" anchor="t">
            <a:spAutoFit/>
          </a:bodyPr>
          <a:lstStyle/>
          <a:p>
            <a:pPr algn="r">
              <a:spcAft>
                <a:spcPts val="0"/>
              </a:spcAft>
            </a:pPr>
            <a:r>
              <a:rPr sz="1800" b="0">
                <a:solidFill>
                  <a:srgbClr val="666F79"/>
                </a:solidFill>
                <a:latin typeface="Yu Gothic"/>
                <a:ea typeface="Yu Gothic"/>
              </a:rPr>
              <a:t>B3</a:t>
            </a:r>
          </a:p>
        </p:txBody>
      </p:sp>
      <p:sp>
        <p:nvSpPr>
          <p:cNvPr id="5" name="Rounded Rectangle 4"/>
          <p:cNvSpPr/>
          <p:nvPr/>
        </p:nvSpPr>
        <p:spPr>
          <a:xfrm>
            <a:off x="1097280" y="2834640"/>
            <a:ext cx="9692640" cy="7589520"/>
          </a:xfrm>
          <a:prstGeom prst="roundRect">
            <a:avLst/>
          </a:prstGeom>
          <a:solidFill>
            <a:srgbClr val="F4F6F8"/>
          </a:solidFill>
          <a:ln w="1651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6" name="TextBox 5"/>
              <p:cNvSpPr txBox="1"/>
              <p:nvPr/>
            </p:nvSpPr>
            <p:spPr>
              <a:xfrm>
                <a:off x="3859119" y="3931920"/>
                <a:ext cx="4168962" cy="573427"/>
              </a:xfrm>
              <a:prstGeom prst="rect">
                <a:avLst/>
              </a:prstGeom>
              <a:noFill/>
            </p:spPr>
            <p:txBody>
              <a:bodyPr wrap="none" lIns="36576" tIns="27432" rIns="36576" bIns="27432" anchor="t">
                <a:spAutoFit/>
              </a:bodyPr>
              <a:lstStyle/>
              <a:p>
                <a:pPr algn="ctr"/>
                <a14:m>
                  <m:oMathPara xmlns:m="http://schemas.openxmlformats.org/officeDocument/2006/math">
                    <m:oMath>
                      <m:r>
                        <a:rPr lang="ja-JP" altLang="en-US" sz="3000" b="1" i="1" dirty="0" smtClean="0">
                          <a:solidFill>
                            <a:srgbClr val="082B52"/>
                          </a:solidFill>
                          <a:latin typeface="Cambria Math" panose="02040503050406030204" pitchFamily="18" charset="0"/>
                        </a:rPr>
                        <m:t>𝜹</m:t>
                      </m:r>
                      <m:r>
                        <a:rPr lang="ja-JP" altLang="en-US" sz="3000" b="1" i="1" dirty="0" smtClean="0">
                          <a:solidFill>
                            <a:srgbClr val="082B52"/>
                          </a:solidFill>
                          <a:latin typeface="Cambria Math" panose="02040503050406030204" pitchFamily="18" charset="0"/>
                        </a:rPr>
                        <m:t>𝒓</m:t>
                      </m:r>
                      <m:r>
                        <a:rPr lang="ja-JP" altLang="en-US" sz="3000" b="1" i="1" dirty="0">
                          <a:solidFill>
                            <a:srgbClr val="082B52"/>
                          </a:solidFill>
                          <a:latin typeface="Cambria Math" panose="02040503050406030204" pitchFamily="18" charset="0"/>
                        </a:rPr>
                        <m:t>⊥ </m:t>
                      </m:r>
                      <m:r>
                        <a:rPr lang="en-US" altLang="ja-JP" sz="3000" b="1" i="1" dirty="0">
                          <a:solidFill>
                            <a:srgbClr val="082B52"/>
                          </a:solidFill>
                          <a:latin typeface="Cambria Math" panose="02040503050406030204" pitchFamily="18" charset="0"/>
                        </a:rPr>
                        <m:t>= </m:t>
                      </m:r>
                      <m:r>
                        <a:rPr lang="ja-JP" altLang="en-US" sz="3000" b="1" i="1" dirty="0" err="1">
                          <a:solidFill>
                            <a:srgbClr val="082B52"/>
                          </a:solidFill>
                          <a:latin typeface="Cambria Math" panose="02040503050406030204" pitchFamily="18" charset="0"/>
                        </a:rPr>
                        <m:t>𝜹</m:t>
                      </m:r>
                      <m:r>
                        <a:rPr lang="ja-JP" altLang="en-US" sz="3000" b="1" i="1" dirty="0" err="1">
                          <a:solidFill>
                            <a:srgbClr val="082B52"/>
                          </a:solidFill>
                          <a:latin typeface="Cambria Math" panose="02040503050406030204" pitchFamily="18" charset="0"/>
                        </a:rPr>
                        <m:t>𝒓</m:t>
                      </m:r>
                      <m:r>
                        <a:rPr lang="ja-JP" altLang="en-US" sz="3000" b="1" i="1" dirty="0">
                          <a:solidFill>
                            <a:srgbClr val="082B52"/>
                          </a:solidFill>
                          <a:latin typeface="Cambria Math" panose="02040503050406030204" pitchFamily="18" charset="0"/>
                        </a:rPr>
                        <m:t> − </m:t>
                      </m:r>
                      <m:r>
                        <a:rPr lang="en-US" altLang="ja-JP" sz="3000" b="1" i="1" dirty="0">
                          <a:solidFill>
                            <a:srgbClr val="082B52"/>
                          </a:solidFill>
                          <a:latin typeface="Cambria Math" panose="02040503050406030204" pitchFamily="18" charset="0"/>
                        </a:rPr>
                        <m:t>(</m:t>
                      </m:r>
                      <m:r>
                        <a:rPr lang="ja-JP" altLang="en-US" sz="3000" b="1" i="1" dirty="0" err="1">
                          <a:solidFill>
                            <a:srgbClr val="082B52"/>
                          </a:solidFill>
                          <a:latin typeface="Cambria Math" panose="02040503050406030204" pitchFamily="18" charset="0"/>
                        </a:rPr>
                        <m:t>𝜹</m:t>
                      </m:r>
                      <m:r>
                        <a:rPr lang="ja-JP" altLang="en-US" sz="3000" b="1" i="1" dirty="0" err="1">
                          <a:solidFill>
                            <a:srgbClr val="082B52"/>
                          </a:solidFill>
                          <a:latin typeface="Cambria Math" panose="02040503050406030204" pitchFamily="18" charset="0"/>
                        </a:rPr>
                        <m:t>𝒓</m:t>
                      </m:r>
                      <m:r>
                        <a:rPr lang="en-US" altLang="ja-JP" sz="3000" b="1" i="1" dirty="0">
                          <a:solidFill>
                            <a:srgbClr val="082B52"/>
                          </a:solidFill>
                          <a:latin typeface="Cambria Math" panose="02040503050406030204" pitchFamily="18" charset="0"/>
                        </a:rPr>
                        <m:t>·</m:t>
                      </m:r>
                      <m:r>
                        <m:rPr>
                          <m:sty m:val="p"/>
                        </m:rPr>
                        <a:rPr lang="en-US" altLang="ja-JP" sz="3000" b="1" i="1" dirty="0">
                          <a:solidFill>
                            <a:srgbClr val="082B52"/>
                          </a:solidFill>
                          <a:latin typeface="Cambria Math" panose="02040503050406030204" pitchFamily="18" charset="0"/>
                        </a:rPr>
                        <m:t>ℓ</m:t>
                      </m:r>
                      <m:r>
                        <a:rPr lang="en-US" altLang="ja-JP" sz="3000" b="1" i="1" dirty="0">
                          <a:solidFill>
                            <a:srgbClr val="082B52"/>
                          </a:solidFill>
                          <a:latin typeface="Cambria Math" panose="02040503050406030204" pitchFamily="18" charset="0"/>
                        </a:rPr>
                        <m:t> ̂)</m:t>
                      </m:r>
                      <m:r>
                        <m:rPr>
                          <m:sty m:val="p"/>
                        </m:rPr>
                        <a:rPr lang="en-US" altLang="ja-JP" sz="3000" b="1" i="1" dirty="0">
                          <a:solidFill>
                            <a:srgbClr val="082B52"/>
                          </a:solidFill>
                          <a:latin typeface="Cambria Math" panose="02040503050406030204" pitchFamily="18" charset="0"/>
                        </a:rPr>
                        <m:t>ℓ</m:t>
                      </m:r>
                      <m:r>
                        <a:rPr lang="en-US" altLang="ja-JP" sz="3000" b="1" i="1" dirty="0">
                          <a:solidFill>
                            <a:srgbClr val="082B52"/>
                          </a:solidFill>
                          <a:latin typeface="Cambria Math" panose="02040503050406030204" pitchFamily="18" charset="0"/>
                        </a:rPr>
                        <m:t> ̂</m:t>
                      </m:r>
                    </m:oMath>
                  </m:oMathPara>
                </a14:m>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3859119" y="3931920"/>
                <a:ext cx="4168962" cy="573427"/>
              </a:xfrm>
              <a:prstGeom prst="rect">
                <a:avLst/>
              </a:prstGeom>
              <a:blipFill>
                <a:blip r:embed="rId3"/>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4450243" y="5303520"/>
                <a:ext cx="2986715" cy="1040285"/>
              </a:xfrm>
              <a:prstGeom prst="rect">
                <a:avLst/>
              </a:prstGeom>
              <a:noFill/>
            </p:spPr>
            <p:txBody>
              <a:bodyPr wrap="none" lIns="36576" tIns="27432" rIns="36576" bIns="27432" anchor="t">
                <a:spAutoFit/>
              </a:bodyPr>
              <a:lstStyle/>
              <a:p>
                <a:pPr algn="ctr"/>
                <a14:m>
                  <m:oMathPara xmlns:m="http://schemas.openxmlformats.org/officeDocument/2006/math">
                    <m:oMath>
                      <m:r>
                        <a:rPr lang="ja-JP" altLang="en-US" sz="3200" b="1" i="1" dirty="0" smtClean="0">
                          <a:solidFill>
                            <a:srgbClr val="1B74AA"/>
                          </a:solidFill>
                          <a:latin typeface="Cambria Math" panose="02040503050406030204" pitchFamily="18" charset="0"/>
                        </a:rPr>
                        <m:t>𝜽</m:t>
                      </m:r>
                      <m:r>
                        <a:rPr lang="ja-JP" altLang="en-US" sz="3200" b="1" i="1" dirty="0" smtClean="0">
                          <a:solidFill>
                            <a:srgbClr val="1B74AA"/>
                          </a:solidFill>
                          <a:latin typeface="Cambria Math" panose="02040503050406030204" pitchFamily="18" charset="0"/>
                        </a:rPr>
                        <m:t> ≈ </m:t>
                      </m:r>
                      <m:r>
                        <a:rPr lang="ja-JP" altLang="en-US" sz="3200" b="1" i="1" dirty="0" err="1">
                          <a:solidFill>
                            <a:srgbClr val="1B74AA"/>
                          </a:solidFill>
                          <a:latin typeface="Cambria Math" panose="02040503050406030204" pitchFamily="18" charset="0"/>
                        </a:rPr>
                        <m:t>𝜹</m:t>
                      </m:r>
                      <m:r>
                        <a:rPr lang="ja-JP" altLang="en-US" sz="3200" b="1" i="1" dirty="0" err="1">
                          <a:solidFill>
                            <a:srgbClr val="1B74AA"/>
                          </a:solidFill>
                          <a:latin typeface="Cambria Math" panose="02040503050406030204" pitchFamily="18" charset="0"/>
                        </a:rPr>
                        <m:t>𝒓</m:t>
                      </m:r>
                      <m:r>
                        <a:rPr lang="ja-JP" altLang="en-US" sz="3200" b="1" i="1" dirty="0">
                          <a:solidFill>
                            <a:srgbClr val="1B74AA"/>
                          </a:solidFill>
                          <a:latin typeface="Cambria Math" panose="02040503050406030204" pitchFamily="18" charset="0"/>
                        </a:rPr>
                        <m:t>⊥</m:t>
                      </m:r>
                      <m:sSub>
                        <m:sSubPr>
                          <m:ctrlPr>
                            <a:rPr lang="ja-JP" altLang="en-US" sz="3200" b="1" i="1" dirty="0" err="1">
                              <a:solidFill>
                                <a:srgbClr val="1B74AA"/>
                              </a:solidFill>
                              <a:latin typeface="Cambria Math" panose="02040503050406030204" pitchFamily="18" charset="0"/>
                            </a:rPr>
                          </m:ctrlPr>
                        </m:sSubPr>
                        <m:e>
                          <m:r>
                            <a:rPr lang="ja-JP" altLang="en-US" sz="3200" b="1" i="1" dirty="0" err="1">
                              <a:solidFill>
                                <a:srgbClr val="1B74AA"/>
                              </a:solidFill>
                              <a:latin typeface="Cambria Math" panose="02040503050406030204" pitchFamily="18" charset="0"/>
                            </a:rPr>
                            <m:t>𝑹</m:t>
                          </m:r>
                        </m:e>
                        <m:sub>
                          <m:r>
                            <a:rPr lang="ja-JP" altLang="en-US" sz="3200" b="1" i="1" dirty="0" err="1">
                              <a:solidFill>
                                <a:srgbClr val="1B74AA"/>
                              </a:solidFill>
                              <a:latin typeface="Cambria Math" panose="02040503050406030204" pitchFamily="18" charset="0"/>
                            </a:rPr>
                            <m:t>𝒍𝒊𝒏𝒌</m:t>
                          </m:r>
                        </m:sub>
                      </m:sSub>
                    </m:oMath>
                  </m:oMathPara>
                </a14:m>
                <a:endParaRPr lang="en-US" altLang="ja-JP" sz="3200" b="1" i="1" dirty="0">
                  <a:solidFill>
                    <a:srgbClr val="1B74AA"/>
                  </a:solidFill>
                  <a:latin typeface="Cambria Math" panose="02040503050406030204" pitchFamily="18" charset="0"/>
                </a:endParaRPr>
              </a:p>
              <a:p>
                <a:pPr algn="ctr"/>
                <a:endParaRPr lang="en-US" altLang="ja-JP" sz="3200" b="1" i="1" dirty="0">
                  <a:solidFill>
                    <a:srgbClr val="1B74AA"/>
                  </a:solidFill>
                  <a:latin typeface="Cambria Math" panose="02040503050406030204" pitchFamily="18"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4450243" y="5303520"/>
                <a:ext cx="2986715" cy="1040285"/>
              </a:xfrm>
              <a:prstGeom prst="rect">
                <a:avLst/>
              </a:prstGeom>
              <a:blipFill>
                <a:blip r:embed="rId4"/>
                <a:stretch>
                  <a:fillRect/>
                </a:stretch>
              </a:blipFill>
            </p:spPr>
            <p:txBody>
              <a:bodyPr/>
              <a:lstStyle/>
              <a:p>
                <a:r>
                  <a:rPr lang="ja-JP" altLang="en-US">
                    <a:noFill/>
                  </a:rPr>
                  <a:t> </a:t>
                </a:r>
              </a:p>
            </p:txBody>
          </p:sp>
        </mc:Fallback>
      </mc:AlternateContent>
      <p:sp>
        <p:nvSpPr>
          <p:cNvPr id="8" name="TextBox 7"/>
          <p:cNvSpPr txBox="1"/>
          <p:nvPr/>
        </p:nvSpPr>
        <p:spPr>
          <a:xfrm>
            <a:off x="1737360" y="6766560"/>
            <a:ext cx="8412480" cy="2468880"/>
          </a:xfrm>
          <a:prstGeom prst="rect">
            <a:avLst/>
          </a:prstGeom>
          <a:noFill/>
        </p:spPr>
        <p:txBody>
          <a:bodyPr wrap="square" lIns="27432" rIns="27432">
            <a:spAutoFit/>
          </a:bodyPr>
          <a:lstStyle/>
          <a:p>
            <a:pPr>
              <a:lnSpc>
                <a:spcPct val="110000"/>
              </a:lnSpc>
              <a:spcAft>
                <a:spcPts val="1000"/>
              </a:spcAft>
            </a:pPr>
            <a:r>
              <a:rPr sz="2400" b="0">
                <a:solidFill>
                  <a:srgbClr val="232B34"/>
                </a:solidFill>
                <a:latin typeface="Yu Gothic"/>
                <a:ea typeface="Yu Gothic"/>
              </a:rPr>
              <a:t>• 真値は Sentinel-1 の高精度暦 POEORB</a:t>
            </a:r>
          </a:p>
          <a:p>
            <a:pPr>
              <a:lnSpc>
                <a:spcPct val="110000"/>
              </a:lnSpc>
              <a:spcAft>
                <a:spcPts val="1000"/>
              </a:spcAft>
            </a:pPr>
            <a:r>
              <a:rPr sz="2400" b="0">
                <a:solidFill>
                  <a:srgbClr val="232B34"/>
                </a:solidFill>
                <a:latin typeface="Yu Gothic"/>
                <a:ea typeface="Yu Gothic"/>
              </a:rPr>
              <a:t>• 予測は直近のTLEを SGP4 で前方伝播</a:t>
            </a:r>
          </a:p>
          <a:p>
            <a:pPr>
              <a:lnSpc>
                <a:spcPct val="110000"/>
              </a:lnSpc>
              <a:spcAft>
                <a:spcPts val="1000"/>
              </a:spcAft>
            </a:pPr>
            <a:r>
              <a:rPr sz="2400" b="0">
                <a:solidFill>
                  <a:srgbClr val="232B34"/>
                </a:solidFill>
                <a:latin typeface="Yu Gothic"/>
                <a:ea typeface="Yu Gothic"/>
              </a:rPr>
              <a:t>• 差をリンク横断面へ射影し、x–y の2成分にする</a:t>
            </a:r>
          </a:p>
          <a:p>
            <a:pPr>
              <a:lnSpc>
                <a:spcPct val="110000"/>
              </a:lnSpc>
              <a:spcAft>
                <a:spcPts val="1000"/>
              </a:spcAft>
            </a:pPr>
            <a:r>
              <a:rPr sz="2400" b="0">
                <a:solidFill>
                  <a:srgbClr val="232B34"/>
                </a:solidFill>
                <a:latin typeface="Yu Gothic"/>
                <a:ea typeface="Yu Gothic"/>
              </a:rPr>
              <a:t>• 熱LOSと同じ2成分で足し合わせる</a:t>
            </a:r>
          </a:p>
          <a:p>
            <a:pPr>
              <a:lnSpc>
                <a:spcPct val="110000"/>
              </a:lnSpc>
              <a:spcAft>
                <a:spcPts val="1000"/>
              </a:spcAft>
            </a:pPr>
            <a:r>
              <a:rPr sz="2400" b="0">
                <a:solidFill>
                  <a:srgbClr val="232B34"/>
                </a:solidFill>
                <a:latin typeface="Yu Gothic"/>
                <a:ea typeface="Yu Gothic"/>
              </a:rPr>
              <a:t>• 時系列の不連続は、TLEが更新された時刻</a:t>
            </a:r>
          </a:p>
        </p:txBody>
      </p:sp>
      <p:graphicFrame>
        <p:nvGraphicFramePr>
          <p:cNvPr id="9" name="Table 8"/>
          <p:cNvGraphicFramePr>
            <a:graphicFrameLocks noGrp="1"/>
          </p:cNvGraphicFramePr>
          <p:nvPr/>
        </p:nvGraphicFramePr>
        <p:xfrm>
          <a:off x="11430000" y="2834640"/>
          <a:ext cx="11704320" cy="630936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630936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1261872">
                <a:tc>
                  <a:txBody>
                    <a:bodyPr/>
                    <a:lstStyle/>
                    <a:p>
                      <a:pPr algn="l">
                        <a:spcAft>
                          <a:spcPts val="0"/>
                        </a:spcAft>
                      </a:pPr>
                      <a:r>
                        <a:rPr sz="2100" b="1">
                          <a:solidFill>
                            <a:srgbClr val="FFFFFF"/>
                          </a:solidFill>
                          <a:latin typeface="Yu Gothic"/>
                          <a:ea typeface="Yu Gothic"/>
                        </a:rPr>
                        <a:t>太陽指向面</a:t>
                      </a:r>
                    </a:p>
                  </a:txBody>
                  <a:tcPr marL="64008" marR="64008" marT="27432" marB="27432" anchor="ctr">
                    <a:solidFill>
                      <a:srgbClr val="082B52"/>
                    </a:solidFill>
                  </a:tcPr>
                </a:tc>
                <a:tc>
                  <a:txBody>
                    <a:bodyPr/>
                    <a:lstStyle/>
                    <a:p>
                      <a:pPr algn="ctr">
                        <a:spcAft>
                          <a:spcPts val="0"/>
                        </a:spcAft>
                      </a:pPr>
                      <a:r>
                        <a:rPr sz="2100" b="1">
                          <a:solidFill>
                            <a:srgbClr val="FFFFFF"/>
                          </a:solidFill>
                          <a:latin typeface="Yu Gothic"/>
                          <a:ea typeface="Yu Gothic"/>
                        </a:rPr>
                        <a:t>通信相手とリンク</a:t>
                      </a:r>
                    </a:p>
                  </a:txBody>
                  <a:tcPr marL="64008" marR="64008" marT="27432" marB="27432" anchor="ctr">
                    <a:solidFill>
                      <a:srgbClr val="082B52"/>
                    </a:solidFill>
                  </a:tcPr>
                </a:tc>
                <a:tc>
                  <a:txBody>
                    <a:bodyPr/>
                    <a:lstStyle/>
                    <a:p>
                      <a:pPr algn="ctr">
                        <a:spcAft>
                          <a:spcPts val="0"/>
                        </a:spcAft>
                      </a:pPr>
                      <a:r>
                        <a:rPr sz="2100" b="1">
                          <a:solidFill>
                            <a:srgbClr val="FFFFFF"/>
                          </a:solidFill>
                          <a:latin typeface="Yu Gothic"/>
                          <a:ea typeface="Yu Gothic"/>
                        </a:rPr>
                        <a:t>扱い</a:t>
                      </a:r>
                    </a:p>
                  </a:txBody>
                  <a:tcPr marL="64008" marR="64008" marT="27432" marB="27432" anchor="ctr">
                    <a:solidFill>
                      <a:srgbClr val="082B52"/>
                    </a:solidFill>
                  </a:tcPr>
                </a:tc>
                <a:extLst>
                  <a:ext uri="{0D108BD9-81ED-4DB2-BD59-A6C34878D82A}">
                    <a16:rowId xmlns:a16="http://schemas.microsoft.com/office/drawing/2014/main" val="10000"/>
                  </a:ext>
                </a:extLst>
              </a:tr>
              <a:tr h="1261872">
                <a:tc>
                  <a:txBody>
                    <a:bodyPr/>
                    <a:lstStyle/>
                    <a:p>
                      <a:pPr algn="l">
                        <a:spcAft>
                          <a:spcPts val="0"/>
                        </a:spcAft>
                      </a:pPr>
                      <a:r>
                        <a:rPr sz="2100" b="0">
                          <a:solidFill>
                            <a:srgbClr val="232B34"/>
                          </a:solidFill>
                          <a:latin typeface="Yu Gothic"/>
                          <a:ea typeface="Yu Gothic"/>
                        </a:rPr>
                        <a:t>MY</a:t>
                      </a:r>
                    </a:p>
                  </a:txBody>
                  <a:tcPr marL="64008" marR="64008" marT="27432" marB="27432" anchor="ctr">
                    <a:solidFill>
                      <a:srgbClr val="FFFFFF"/>
                    </a:solidFill>
                  </a:tcPr>
                </a:tc>
                <a:tc>
                  <a:txBody>
                    <a:bodyPr/>
                    <a:lstStyle/>
                    <a:p>
                      <a:pPr algn="ctr">
                        <a:spcAft>
                          <a:spcPts val="0"/>
                        </a:spcAft>
                      </a:pPr>
                      <a:r>
                        <a:rPr sz="2100" b="0">
                          <a:solidFill>
                            <a:srgbClr val="232B34"/>
                          </a:solidFill>
                          <a:latin typeface="Yu Gothic"/>
                          <a:ea typeface="Yu Gothic"/>
                        </a:rPr>
                        <a:t>進行方向の衛星（高度800 km）</a:t>
                      </a:r>
                    </a:p>
                  </a:txBody>
                  <a:tcPr marL="64008" marR="64008" marT="27432" marB="27432" anchor="ctr">
                    <a:solidFill>
                      <a:srgbClr val="FFFFFF"/>
                    </a:solidFill>
                  </a:tcPr>
                </a:tc>
                <a:tc>
                  <a:txBody>
                    <a:bodyPr/>
                    <a:lstStyle/>
                    <a:p>
                      <a:pPr algn="ctr">
                        <a:spcAft>
                          <a:spcPts val="0"/>
                        </a:spcAft>
                      </a:pPr>
                      <a:r>
                        <a:rPr sz="2100" b="0">
                          <a:solidFill>
                            <a:srgbClr val="232B34"/>
                          </a:solidFill>
                          <a:latin typeface="Yu Gothic"/>
                          <a:ea typeface="Yu Gothic"/>
                        </a:rPr>
                        <a:t>評価に使う</a:t>
                      </a:r>
                    </a:p>
                  </a:txBody>
                  <a:tcPr marL="64008" marR="64008" marT="27432" marB="27432" anchor="ctr">
                    <a:solidFill>
                      <a:srgbClr val="EBF6FB"/>
                    </a:solidFill>
                  </a:tcPr>
                </a:tc>
                <a:extLst>
                  <a:ext uri="{0D108BD9-81ED-4DB2-BD59-A6C34878D82A}">
                    <a16:rowId xmlns:a16="http://schemas.microsoft.com/office/drawing/2014/main" val="10001"/>
                  </a:ext>
                </a:extLst>
              </a:tr>
              <a:tr h="1261872">
                <a:tc>
                  <a:txBody>
                    <a:bodyPr/>
                    <a:lstStyle/>
                    <a:p>
                      <a:pPr algn="l">
                        <a:spcAft>
                          <a:spcPts val="0"/>
                        </a:spcAft>
                      </a:pPr>
                      <a:r>
                        <a:rPr sz="2100" b="0">
                          <a:solidFill>
                            <a:srgbClr val="232B34"/>
                          </a:solidFill>
                          <a:latin typeface="Yu Gothic"/>
                          <a:ea typeface="Yu Gothic"/>
                        </a:rPr>
                        <a:t>PY</a:t>
                      </a:r>
                    </a:p>
                  </a:txBody>
                  <a:tcPr marL="64008" marR="64008" marT="27432" marB="27432" anchor="ctr">
                    <a:solidFill>
                      <a:srgbClr val="F4F6F8"/>
                    </a:solidFill>
                  </a:tcPr>
                </a:tc>
                <a:tc>
                  <a:txBody>
                    <a:bodyPr/>
                    <a:lstStyle/>
                    <a:p>
                      <a:pPr algn="ctr">
                        <a:spcAft>
                          <a:spcPts val="0"/>
                        </a:spcAft>
                      </a:pPr>
                      <a:r>
                        <a:rPr sz="2100" b="0">
                          <a:solidFill>
                            <a:srgbClr val="232B34"/>
                          </a:solidFill>
                          <a:latin typeface="Yu Gothic"/>
                          <a:ea typeface="Yu Gothic"/>
                        </a:rPr>
                        <a:t>逆進行方向の衛星（高度800 km）</a:t>
                      </a:r>
                    </a:p>
                  </a:txBody>
                  <a:tcPr marL="64008" marR="64008" marT="27432" marB="27432" anchor="ctr">
                    <a:solidFill>
                      <a:srgbClr val="F4F6F8"/>
                    </a:solidFill>
                  </a:tcPr>
                </a:tc>
                <a:tc>
                  <a:txBody>
                    <a:bodyPr/>
                    <a:lstStyle/>
                    <a:p>
                      <a:pPr algn="ctr">
                        <a:spcAft>
                          <a:spcPts val="0"/>
                        </a:spcAft>
                      </a:pPr>
                      <a:r>
                        <a:rPr sz="2100" b="0">
                          <a:solidFill>
                            <a:srgbClr val="232B34"/>
                          </a:solidFill>
                          <a:latin typeface="Yu Gothic"/>
                          <a:ea typeface="Yu Gothic"/>
                        </a:rPr>
                        <a:t>評価に使う</a:t>
                      </a:r>
                    </a:p>
                  </a:txBody>
                  <a:tcPr marL="64008" marR="64008" marT="27432" marB="27432" anchor="ctr">
                    <a:solidFill>
                      <a:srgbClr val="EBF6FB"/>
                    </a:solidFill>
                  </a:tcPr>
                </a:tc>
                <a:extLst>
                  <a:ext uri="{0D108BD9-81ED-4DB2-BD59-A6C34878D82A}">
                    <a16:rowId xmlns:a16="http://schemas.microsoft.com/office/drawing/2014/main" val="10002"/>
                  </a:ext>
                </a:extLst>
              </a:tr>
              <a:tr h="1261872">
                <a:tc>
                  <a:txBody>
                    <a:bodyPr/>
                    <a:lstStyle/>
                    <a:p>
                      <a:pPr algn="l">
                        <a:spcAft>
                          <a:spcPts val="0"/>
                        </a:spcAft>
                      </a:pPr>
                      <a:r>
                        <a:rPr sz="2100" b="0">
                          <a:solidFill>
                            <a:srgbClr val="232B34"/>
                          </a:solidFill>
                          <a:latin typeface="Yu Gothic"/>
                          <a:ea typeface="Yu Gothic"/>
                        </a:rPr>
                        <a:t>PX</a:t>
                      </a:r>
                    </a:p>
                  </a:txBody>
                  <a:tcPr marL="64008" marR="64008" marT="27432" marB="27432" anchor="ctr">
                    <a:solidFill>
                      <a:srgbClr val="FFFFFF"/>
                    </a:solidFill>
                  </a:tcPr>
                </a:tc>
                <a:tc>
                  <a:txBody>
                    <a:bodyPr/>
                    <a:lstStyle/>
                    <a:p>
                      <a:pPr algn="ctr">
                        <a:spcAft>
                          <a:spcPts val="0"/>
                        </a:spcAft>
                      </a:pPr>
                      <a:r>
                        <a:rPr sz="2100" b="0">
                          <a:solidFill>
                            <a:srgbClr val="232B34"/>
                          </a:solidFill>
                          <a:latin typeface="Yu Gothic"/>
                          <a:ea typeface="Yu Gothic"/>
                        </a:rPr>
                        <a:t>直下の地上局（約695 km）</a:t>
                      </a:r>
                    </a:p>
                  </a:txBody>
                  <a:tcPr marL="64008" marR="64008" marT="27432" marB="27432" anchor="ctr">
                    <a:solidFill>
                      <a:srgbClr val="FFFFFF"/>
                    </a:solidFill>
                  </a:tcPr>
                </a:tc>
                <a:tc>
                  <a:txBody>
                    <a:bodyPr/>
                    <a:lstStyle/>
                    <a:p>
                      <a:pPr algn="ctr">
                        <a:spcAft>
                          <a:spcPts val="0"/>
                        </a:spcAft>
                      </a:pPr>
                      <a:r>
                        <a:rPr sz="2100" b="0">
                          <a:solidFill>
                            <a:srgbClr val="232B34"/>
                          </a:solidFill>
                          <a:latin typeface="Yu Gothic"/>
                          <a:ea typeface="Yu Gothic"/>
                        </a:rPr>
                        <a:t>評価に使う</a:t>
                      </a:r>
                    </a:p>
                  </a:txBody>
                  <a:tcPr marL="64008" marR="64008" marT="27432" marB="27432" anchor="ctr">
                    <a:solidFill>
                      <a:srgbClr val="EBF6FB"/>
                    </a:solidFill>
                  </a:tcPr>
                </a:tc>
                <a:extLst>
                  <a:ext uri="{0D108BD9-81ED-4DB2-BD59-A6C34878D82A}">
                    <a16:rowId xmlns:a16="http://schemas.microsoft.com/office/drawing/2014/main" val="10003"/>
                  </a:ext>
                </a:extLst>
              </a:tr>
              <a:tr h="1261872">
                <a:tc>
                  <a:txBody>
                    <a:bodyPr/>
                    <a:lstStyle/>
                    <a:p>
                      <a:pPr algn="l">
                        <a:spcAft>
                          <a:spcPts val="0"/>
                        </a:spcAft>
                      </a:pPr>
                      <a:r>
                        <a:rPr sz="2100" b="0">
                          <a:solidFill>
                            <a:srgbClr val="232B34"/>
                          </a:solidFill>
                          <a:latin typeface="Yu Gothic"/>
                          <a:ea typeface="Yu Gothic"/>
                        </a:rPr>
                        <a:t>MX</a:t>
                      </a:r>
                    </a:p>
                  </a:txBody>
                  <a:tcPr marL="64008" marR="64008" marT="27432" marB="27432" anchor="ctr">
                    <a:solidFill>
                      <a:srgbClr val="F4F6F8"/>
                    </a:solidFill>
                  </a:tcPr>
                </a:tc>
                <a:tc>
                  <a:txBody>
                    <a:bodyPr/>
                    <a:lstStyle/>
                    <a:p>
                      <a:pPr algn="ctr">
                        <a:spcAft>
                          <a:spcPts val="0"/>
                        </a:spcAft>
                      </a:pPr>
                      <a:r>
                        <a:rPr sz="2100" b="0">
                          <a:solidFill>
                            <a:srgbClr val="232B34"/>
                          </a:solidFill>
                          <a:latin typeface="Yu Gothic"/>
                          <a:ea typeface="Yu Gothic"/>
                        </a:rPr>
                        <a:t>天頂側に置いた仮想の相手（800 km）</a:t>
                      </a:r>
                    </a:p>
                  </a:txBody>
                  <a:tcPr marL="64008" marR="64008" marT="27432" marB="27432" anchor="ctr">
                    <a:solidFill>
                      <a:srgbClr val="F4F6F8"/>
                    </a:solidFill>
                  </a:tcPr>
                </a:tc>
                <a:tc>
                  <a:txBody>
                    <a:bodyPr/>
                    <a:lstStyle/>
                    <a:p>
                      <a:pPr algn="ctr">
                        <a:spcAft>
                          <a:spcPts val="0"/>
                        </a:spcAft>
                      </a:pPr>
                      <a:r>
                        <a:rPr sz="2100" b="0">
                          <a:solidFill>
                            <a:srgbClr val="232B34"/>
                          </a:solidFill>
                          <a:latin typeface="Yu Gothic"/>
                          <a:ea typeface="Yu Gothic"/>
                        </a:rPr>
                        <a:t>幾何のみ・非現実的</a:t>
                      </a:r>
                    </a:p>
                  </a:txBody>
                  <a:tcPr marL="64008" marR="64008" marT="27432" marB="27432" anchor="ctr">
                    <a:solidFill>
                      <a:srgbClr val="EBF6FB"/>
                    </a:solidFill>
                  </a:tcPr>
                </a:tc>
                <a:extLst>
                  <a:ext uri="{0D108BD9-81ED-4DB2-BD59-A6C34878D82A}">
                    <a16:rowId xmlns:a16="http://schemas.microsoft.com/office/drawing/2014/main" val="10004"/>
                  </a:ext>
                </a:extLst>
              </a:tr>
            </a:tbl>
          </a:graphicData>
        </a:graphic>
      </p:graphicFrame>
      <p:sp>
        <p:nvSpPr>
          <p:cNvPr id="11" name="TextBox 10"/>
          <p:cNvSpPr txBox="1"/>
          <p:nvPr/>
        </p:nvSpPr>
        <p:spPr>
          <a:xfrm>
            <a:off x="11430000" y="9406890"/>
            <a:ext cx="10464531" cy="794064"/>
          </a:xfrm>
          <a:prstGeom prst="rect">
            <a:avLst/>
          </a:prstGeom>
          <a:noFill/>
        </p:spPr>
        <p:txBody>
          <a:bodyPr wrap="none" lIns="36576" tIns="27432" rIns="36576" bIns="27432" anchor="t">
            <a:spAutoFit/>
          </a:bodyPr>
          <a:lstStyle/>
          <a:p>
            <a:r>
              <a:rPr lang="en-US" altLang="ja-JP" sz="2400" dirty="0">
                <a:solidFill>
                  <a:schemeClr val="tx2">
                    <a:lumMod val="50000"/>
                  </a:schemeClr>
                </a:solidFill>
                <a:latin typeface="Yu Gothic"/>
              </a:rPr>
              <a:t>※</a:t>
            </a:r>
            <a:r>
              <a:rPr lang="ja-JP" altLang="en-US" sz="2400" dirty="0">
                <a:solidFill>
                  <a:schemeClr val="tx2">
                    <a:lumMod val="50000"/>
                  </a:schemeClr>
                </a:solidFill>
                <a:latin typeface="Yu Gothic"/>
              </a:rPr>
              <a:t> </a:t>
            </a:r>
            <a:r>
              <a:rPr lang="en-US" altLang="ja-JP" sz="2400" dirty="0">
                <a:solidFill>
                  <a:schemeClr val="tx2">
                    <a:lumMod val="50000"/>
                  </a:schemeClr>
                </a:solidFill>
                <a:latin typeface="Yu Gothic"/>
              </a:rPr>
              <a:t>LCT</a:t>
            </a:r>
            <a:r>
              <a:rPr lang="ja-JP" altLang="en-US" sz="2400" dirty="0">
                <a:solidFill>
                  <a:schemeClr val="tx2">
                    <a:lumMod val="50000"/>
                  </a:schemeClr>
                </a:solidFill>
                <a:latin typeface="Yu Gothic"/>
              </a:rPr>
              <a:t>の指向面ごとに、通信相手は地上局</a:t>
            </a:r>
            <a:r>
              <a:rPr lang="en-US" altLang="ja-JP" sz="2400" dirty="0">
                <a:solidFill>
                  <a:schemeClr val="tx2">
                    <a:lumMod val="50000"/>
                  </a:schemeClr>
                </a:solidFill>
                <a:latin typeface="Yu Gothic"/>
              </a:rPr>
              <a:t>/</a:t>
            </a:r>
            <a:r>
              <a:rPr lang="ja-JP" altLang="en-US" sz="2400" dirty="0">
                <a:solidFill>
                  <a:schemeClr val="tx2">
                    <a:lumMod val="50000"/>
                  </a:schemeClr>
                </a:solidFill>
                <a:latin typeface="Yu Gothic"/>
              </a:rPr>
              <a:t>衛星をそれぞれ設定</a:t>
            </a:r>
            <a:endParaRPr lang="en-US" altLang="ja-JP" sz="2400" dirty="0">
              <a:solidFill>
                <a:schemeClr val="tx2">
                  <a:lumMod val="50000"/>
                </a:schemeClr>
              </a:solidFill>
              <a:latin typeface="Yu Gothic"/>
            </a:endParaRPr>
          </a:p>
          <a:p>
            <a:r>
              <a:rPr lang="en-US" altLang="ja-JP" sz="2400" dirty="0">
                <a:solidFill>
                  <a:schemeClr val="tx2">
                    <a:lumMod val="50000"/>
                  </a:schemeClr>
                </a:solidFill>
                <a:latin typeface="Yu Gothic"/>
              </a:rPr>
              <a:t>※ </a:t>
            </a:r>
            <a:r>
              <a:rPr sz="2400" dirty="0" err="1">
                <a:solidFill>
                  <a:schemeClr val="tx2">
                    <a:lumMod val="50000"/>
                  </a:schemeClr>
                </a:solidFill>
                <a:latin typeface="Yu Gothic"/>
              </a:rPr>
              <a:t>MXは角度計算可能だが</a:t>
            </a:r>
            <a:r>
              <a:rPr lang="ja-JP" altLang="en-US" sz="2400" dirty="0">
                <a:solidFill>
                  <a:schemeClr val="tx2">
                    <a:lumMod val="50000"/>
                  </a:schemeClr>
                </a:solidFill>
                <a:latin typeface="Yu Gothic"/>
              </a:rPr>
              <a:t>、</a:t>
            </a:r>
            <a:r>
              <a:rPr lang="en-US" altLang="ja-JP" sz="2400" dirty="0">
                <a:solidFill>
                  <a:schemeClr val="tx2">
                    <a:lumMod val="50000"/>
                  </a:schemeClr>
                </a:solidFill>
                <a:latin typeface="Yu Gothic"/>
              </a:rPr>
              <a:t>LCT</a:t>
            </a:r>
            <a:r>
              <a:rPr lang="ja-JP" altLang="en-US" sz="2400" dirty="0">
                <a:solidFill>
                  <a:schemeClr val="tx2">
                    <a:lumMod val="50000"/>
                  </a:schemeClr>
                </a:solidFill>
                <a:latin typeface="Yu Gothic"/>
              </a:rPr>
              <a:t>が天頂方向のため、</a:t>
            </a:r>
            <a:r>
              <a:rPr sz="2400" dirty="0" err="1">
                <a:solidFill>
                  <a:schemeClr val="tx2">
                    <a:lumMod val="50000"/>
                  </a:schemeClr>
                </a:solidFill>
                <a:latin typeface="Yu Gothic"/>
              </a:rPr>
              <a:t>現実的リンクではない</a:t>
            </a:r>
            <a:endParaRPr sz="2400" dirty="0">
              <a:solidFill>
                <a:schemeClr val="tx2">
                  <a:lumMod val="50000"/>
                </a:schemeClr>
              </a:solidFill>
              <a:latin typeface="Yu Gothic"/>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Yu Gothic"/>
                <a:ea typeface="Yu Gothic"/>
              </a:rPr>
              <a:t>補足</a:t>
            </a:r>
          </a:p>
        </p:txBody>
      </p:sp>
      <p:sp>
        <p:nvSpPr>
          <p:cNvPr id="3" name="TextBox 2"/>
          <p:cNvSpPr txBox="1"/>
          <p:nvPr/>
        </p:nvSpPr>
        <p:spPr>
          <a:xfrm>
            <a:off x="1536192" y="1298448"/>
            <a:ext cx="10525445" cy="1040285"/>
          </a:xfrm>
          <a:prstGeom prst="rect">
            <a:avLst/>
          </a:prstGeom>
          <a:noFill/>
        </p:spPr>
        <p:txBody>
          <a:bodyPr wrap="square" lIns="36576" tIns="27432" rIns="36576" bIns="27432" anchor="t">
            <a:spAutoFit/>
          </a:bodyPr>
          <a:lstStyle/>
          <a:p>
            <a:pPr algn="l">
              <a:spcAft>
                <a:spcPts val="0"/>
              </a:spcAft>
            </a:pPr>
            <a:r>
              <a:rPr sz="3200" b="1">
                <a:solidFill>
                  <a:srgbClr val="082B52"/>
                </a:solidFill>
                <a:latin typeface="Yu Gothic"/>
                <a:ea typeface="Yu Gothic"/>
              </a:rPr>
              <a:t>B4｜熱と軌道予測は同じ軌道周期。周波数では分けない</a:t>
            </a:r>
            <a:endParaRPr lang="en-US" sz="3200" b="1" dirty="0">
              <a:solidFill>
                <a:srgbClr val="082B52"/>
              </a:solidFill>
              <a:latin typeface="Yu Gothic"/>
            </a:endParaRPr>
          </a:p>
        </p:txBody>
      </p:sp>
      <p:sp>
        <p:nvSpPr>
          <p:cNvPr id="4" name="TextBox 3"/>
          <p:cNvSpPr txBox="1"/>
          <p:nvPr/>
        </p:nvSpPr>
        <p:spPr>
          <a:xfrm>
            <a:off x="21762720" y="12819888"/>
            <a:ext cx="2011680" cy="384048"/>
          </a:xfrm>
          <a:prstGeom prst="rect">
            <a:avLst/>
          </a:prstGeom>
          <a:noFill/>
        </p:spPr>
        <p:txBody>
          <a:bodyPr wrap="square" lIns="36576" tIns="27432" rIns="36576" bIns="27432" anchor="t">
            <a:spAutoFit/>
          </a:bodyPr>
          <a:lstStyle/>
          <a:p>
            <a:pPr algn="r">
              <a:spcAft>
                <a:spcPts val="0"/>
              </a:spcAft>
            </a:pPr>
            <a:r>
              <a:rPr sz="1800" b="0">
                <a:solidFill>
                  <a:srgbClr val="666F79"/>
                </a:solidFill>
                <a:latin typeface="Yu Gothic"/>
                <a:ea typeface="Yu Gothic"/>
              </a:rPr>
              <a:t>B4</a:t>
            </a:r>
          </a:p>
        </p:txBody>
      </p:sp>
      <p:sp>
        <p:nvSpPr>
          <p:cNvPr id="5" name="Rectangle 4"/>
          <p:cNvSpPr/>
          <p:nvPr/>
        </p:nvSpPr>
        <p:spPr>
          <a:xfrm>
            <a:off x="914400" y="2743200"/>
            <a:ext cx="14813280" cy="8046720"/>
          </a:xfrm>
          <a:prstGeom prst="rect">
            <a:avLst/>
          </a:prstGeom>
          <a:noFill/>
          <a:ln w="1270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orbit_error_stt_LTAN06_800km_1213COLD_MY_SUN_3orbits.png"/>
          <p:cNvPicPr>
            <a:picLocks noChangeAspect="1"/>
          </p:cNvPicPr>
          <p:nvPr/>
        </p:nvPicPr>
        <p:blipFill>
          <a:blip r:embed="rId3"/>
          <a:stretch>
            <a:fillRect/>
          </a:stretch>
        </p:blipFill>
        <p:spPr>
          <a:xfrm>
            <a:off x="4297679" y="2743200"/>
            <a:ext cx="8046720" cy="8046720"/>
          </a:xfrm>
          <a:prstGeom prst="rect">
            <a:avLst/>
          </a:prstGeom>
        </p:spPr>
      </p:pic>
      <p:graphicFrame>
        <p:nvGraphicFramePr>
          <p:cNvPr id="7" name="Table 6"/>
          <p:cNvGraphicFramePr>
            <a:graphicFrameLocks noGrp="1"/>
          </p:cNvGraphicFramePr>
          <p:nvPr/>
        </p:nvGraphicFramePr>
        <p:xfrm>
          <a:off x="16367759" y="2926080"/>
          <a:ext cx="6583680" cy="4754880"/>
        </p:xfrm>
        <a:graphic>
          <a:graphicData uri="http://schemas.openxmlformats.org/drawingml/2006/table">
            <a:tbl>
              <a:tblPr firstRow="1" bandRow="1">
                <a:tableStyleId>{5C22544A-7EE6-4342-B048-85BDC9FD1C3A}</a:tableStyleId>
              </a:tblPr>
              <a:tblGrid>
                <a:gridCol w="347472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tblGrid>
              <a:tr h="950976">
                <a:tc>
                  <a:txBody>
                    <a:bodyPr/>
                    <a:lstStyle/>
                    <a:p>
                      <a:pPr algn="l">
                        <a:spcAft>
                          <a:spcPts val="0"/>
                        </a:spcAft>
                      </a:pPr>
                      <a:r>
                        <a:rPr sz="2300" b="1">
                          <a:solidFill>
                            <a:srgbClr val="FFFFFF"/>
                          </a:solidFill>
                          <a:latin typeface="Yu Gothic"/>
                          <a:ea typeface="Yu Gothic"/>
                        </a:rPr>
                        <a:t>リンク</a:t>
                      </a:r>
                    </a:p>
                  </a:txBody>
                  <a:tcPr marL="64008" marR="64008" marT="27432" marB="27432" anchor="ctr">
                    <a:solidFill>
                      <a:srgbClr val="082B52"/>
                    </a:solidFill>
                  </a:tcPr>
                </a:tc>
                <a:tc>
                  <a:txBody>
                    <a:bodyPr/>
                    <a:lstStyle/>
                    <a:p>
                      <a:pPr algn="ctr">
                        <a:spcAft>
                          <a:spcPts val="0"/>
                        </a:spcAft>
                      </a:pPr>
                      <a:r>
                        <a:rPr sz="2300" b="1">
                          <a:solidFill>
                            <a:srgbClr val="FFFFFF"/>
                          </a:solidFill>
                          <a:latin typeface="Yu Gothic"/>
                          <a:ea typeface="Yu Gothic"/>
                        </a:rPr>
                        <a:t>位置誤差の平均</a:t>
                      </a:r>
                    </a:p>
                  </a:txBody>
                  <a:tcPr marL="64008" marR="64008" marT="27432" marB="27432" anchor="ctr">
                    <a:solidFill>
                      <a:srgbClr val="082B52"/>
                    </a:solidFill>
                  </a:tcPr>
                </a:tc>
                <a:extLst>
                  <a:ext uri="{0D108BD9-81ED-4DB2-BD59-A6C34878D82A}">
                    <a16:rowId xmlns:a16="http://schemas.microsoft.com/office/drawing/2014/main" val="10000"/>
                  </a:ext>
                </a:extLst>
              </a:tr>
              <a:tr h="950976">
                <a:tc>
                  <a:txBody>
                    <a:bodyPr/>
                    <a:lstStyle/>
                    <a:p>
                      <a:pPr algn="l">
                        <a:spcAft>
                          <a:spcPts val="0"/>
                        </a:spcAft>
                      </a:pPr>
                      <a:r>
                        <a:rPr sz="2300" b="0">
                          <a:solidFill>
                            <a:srgbClr val="232B34"/>
                          </a:solidFill>
                          <a:latin typeface="Yu Gothic"/>
                          <a:ea typeface="Yu Gothic"/>
                        </a:rPr>
                        <a:t>MY：進行方向の衛星</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約285 µrad</a:t>
                      </a:r>
                    </a:p>
                  </a:txBody>
                  <a:tcPr marL="64008" marR="64008" marT="27432" marB="27432" anchor="ctr">
                    <a:solidFill>
                      <a:srgbClr val="EBF6FB"/>
                    </a:solidFill>
                  </a:tcPr>
                </a:tc>
                <a:extLst>
                  <a:ext uri="{0D108BD9-81ED-4DB2-BD59-A6C34878D82A}">
                    <a16:rowId xmlns:a16="http://schemas.microsoft.com/office/drawing/2014/main" val="10001"/>
                  </a:ext>
                </a:extLst>
              </a:tr>
              <a:tr h="950976">
                <a:tc>
                  <a:txBody>
                    <a:bodyPr/>
                    <a:lstStyle/>
                    <a:p>
                      <a:pPr algn="l">
                        <a:spcAft>
                          <a:spcPts val="0"/>
                        </a:spcAft>
                      </a:pPr>
                      <a:r>
                        <a:rPr sz="2300" b="0">
                          <a:solidFill>
                            <a:srgbClr val="232B34"/>
                          </a:solidFill>
                          <a:latin typeface="Yu Gothic"/>
                          <a:ea typeface="Yu Gothic"/>
                        </a:rPr>
                        <a:t>PY：逆方向の衛星</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約285 µrad</a:t>
                      </a:r>
                    </a:p>
                  </a:txBody>
                  <a:tcPr marL="64008" marR="64008" marT="27432" marB="27432" anchor="ctr">
                    <a:solidFill>
                      <a:srgbClr val="EBF6FB"/>
                    </a:solidFill>
                  </a:tcPr>
                </a:tc>
                <a:extLst>
                  <a:ext uri="{0D108BD9-81ED-4DB2-BD59-A6C34878D82A}">
                    <a16:rowId xmlns:a16="http://schemas.microsoft.com/office/drawing/2014/main" val="10002"/>
                  </a:ext>
                </a:extLst>
              </a:tr>
              <a:tr h="950976">
                <a:tc>
                  <a:txBody>
                    <a:bodyPr/>
                    <a:lstStyle/>
                    <a:p>
                      <a:pPr algn="l">
                        <a:spcAft>
                          <a:spcPts val="0"/>
                        </a:spcAft>
                      </a:pPr>
                      <a:r>
                        <a:rPr sz="2300" b="0">
                          <a:solidFill>
                            <a:srgbClr val="232B34"/>
                          </a:solidFill>
                          <a:latin typeface="Yu Gothic"/>
                          <a:ea typeface="Yu Gothic"/>
                        </a:rPr>
                        <a:t>PX：直下の地上局</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約694 µrad</a:t>
                      </a:r>
                    </a:p>
                  </a:txBody>
                  <a:tcPr marL="64008" marR="64008" marT="27432" marB="27432" anchor="ctr">
                    <a:solidFill>
                      <a:srgbClr val="EBF6FB"/>
                    </a:solidFill>
                  </a:tcPr>
                </a:tc>
                <a:extLst>
                  <a:ext uri="{0D108BD9-81ED-4DB2-BD59-A6C34878D82A}">
                    <a16:rowId xmlns:a16="http://schemas.microsoft.com/office/drawing/2014/main" val="10003"/>
                  </a:ext>
                </a:extLst>
              </a:tr>
              <a:tr h="950976">
                <a:tc>
                  <a:txBody>
                    <a:bodyPr/>
                    <a:lstStyle/>
                    <a:p>
                      <a:pPr algn="l">
                        <a:spcAft>
                          <a:spcPts val="0"/>
                        </a:spcAft>
                      </a:pPr>
                      <a:r>
                        <a:rPr sz="2300" b="0">
                          <a:solidFill>
                            <a:srgbClr val="232B34"/>
                          </a:solidFill>
                          <a:latin typeface="Yu Gothic"/>
                          <a:ea typeface="Yu Gothic"/>
                        </a:rPr>
                        <a:t>MX：天頂側の仮想</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約612 µrad</a:t>
                      </a:r>
                    </a:p>
                  </a:txBody>
                  <a:tcPr marL="64008" marR="64008" marT="27432" marB="27432" anchor="ctr">
                    <a:solidFill>
                      <a:srgbClr val="EBF6FB"/>
                    </a:solidFill>
                  </a:tcPr>
                </a:tc>
                <a:extLst>
                  <a:ext uri="{0D108BD9-81ED-4DB2-BD59-A6C34878D82A}">
                    <a16:rowId xmlns:a16="http://schemas.microsoft.com/office/drawing/2014/main" val="10004"/>
                  </a:ext>
                </a:extLst>
              </a:tr>
            </a:tbl>
          </a:graphicData>
        </a:graphic>
      </p:graphicFrame>
      <p:sp>
        <p:nvSpPr>
          <p:cNvPr id="8" name="Rounded Rectangle 7"/>
          <p:cNvSpPr/>
          <p:nvPr/>
        </p:nvSpPr>
        <p:spPr>
          <a:xfrm>
            <a:off x="16367759" y="8229600"/>
            <a:ext cx="6583680" cy="2194560"/>
          </a:xfrm>
          <a:prstGeom prst="roundRect">
            <a:avLst/>
          </a:prstGeom>
          <a:solidFill>
            <a:srgbClr val="FEF5E6"/>
          </a:solidFill>
          <a:ln w="16510">
            <a:solidFill>
              <a:srgbClr val="EC94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6733520" y="8641080"/>
            <a:ext cx="5852160" cy="1097280"/>
          </a:xfrm>
          <a:prstGeom prst="rect">
            <a:avLst/>
          </a:prstGeom>
          <a:noFill/>
        </p:spPr>
        <p:txBody>
          <a:bodyPr wrap="square" lIns="36576" tIns="27432" rIns="36576" bIns="27432" anchor="t">
            <a:spAutoFit/>
          </a:bodyPr>
          <a:lstStyle/>
          <a:p>
            <a:pPr algn="ctr">
              <a:lnSpc>
                <a:spcPct val="120000"/>
              </a:lnSpc>
              <a:spcAft>
                <a:spcPts val="0"/>
              </a:spcAft>
            </a:pPr>
            <a:r>
              <a:rPr sz="2400" b="1">
                <a:solidFill>
                  <a:srgbClr val="EC9427"/>
                </a:solidFill>
                <a:latin typeface="Yu Gothic"/>
                <a:ea typeface="Yu Gothic"/>
              </a:rPr>
              <a:t>熱：約101分</a:t>
            </a:r>
          </a:p>
          <a:p>
            <a:pPr algn="ctr">
              <a:lnSpc>
                <a:spcPct val="120000"/>
              </a:lnSpc>
              <a:spcAft>
                <a:spcPts val="0"/>
              </a:spcAft>
            </a:pPr>
            <a:r>
              <a:rPr sz="2400" b="1">
                <a:solidFill>
                  <a:srgbClr val="EC9427"/>
                </a:solidFill>
                <a:latin typeface="Yu Gothic"/>
                <a:ea typeface="Yu Gothic"/>
              </a:rPr>
              <a:t>軌道予測：約101分 と約50分</a:t>
            </a:r>
          </a:p>
        </p:txBody>
      </p:sp>
      <p:sp>
        <p:nvSpPr>
          <p:cNvPr id="10" name="TextBox 9"/>
          <p:cNvSpPr txBox="1"/>
          <p:nvPr/>
        </p:nvSpPr>
        <p:spPr>
          <a:xfrm>
            <a:off x="1097280" y="11247120"/>
            <a:ext cx="22128480" cy="1188720"/>
          </a:xfrm>
          <a:prstGeom prst="rect">
            <a:avLst/>
          </a:prstGeom>
          <a:noFill/>
        </p:spPr>
        <p:txBody>
          <a:bodyPr wrap="square" lIns="36576" tIns="27432" rIns="36576" bIns="27432" anchor="t">
            <a:spAutoFit/>
          </a:bodyPr>
          <a:lstStyle/>
          <a:p>
            <a:pPr algn="ctr">
              <a:lnSpc>
                <a:spcPct val="120000"/>
              </a:lnSpc>
              <a:spcAft>
                <a:spcPts val="0"/>
              </a:spcAft>
            </a:pPr>
            <a:r>
              <a:rPr sz="2500" b="1">
                <a:solidFill>
                  <a:srgbClr val="082B52"/>
                </a:solidFill>
                <a:latin typeface="Yu Gothic"/>
                <a:ea typeface="Yu Gothic"/>
              </a:rPr>
              <a:t>熱ひずみと軌道予測誤差は、大きさも周波数帯も同程度</a:t>
            </a:r>
            <a:endParaRPr lang="en-US" sz="2900" b="1" dirty="0">
              <a:solidFill>
                <a:srgbClr val="D03B46"/>
              </a:solidFill>
              <a:latin typeface="Yu Gothic"/>
            </a:endParaRPr>
          </a:p>
          <a:p>
            <a:pPr algn="ctr">
              <a:lnSpc>
                <a:spcPct val="120000"/>
              </a:lnSpc>
              <a:spcAft>
                <a:spcPts val="0"/>
              </a:spcAft>
            </a:pPr>
            <a:r>
              <a:rPr sz="2500" b="1">
                <a:solidFill>
                  <a:srgbClr val="082B52"/>
                </a:solidFill>
                <a:latin typeface="Yu Gothic"/>
                <a:ea typeface="Yu Gothic"/>
              </a:rPr>
              <a:t>『低周波＝熱』という分離は主張しない。温度という別入力で捕捉前に引く</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Yu Gothic"/>
                <a:ea typeface="Yu Gothic"/>
              </a:rPr>
              <a:t>補足</a:t>
            </a:r>
          </a:p>
        </p:txBody>
      </p:sp>
      <p:sp>
        <p:nvSpPr>
          <p:cNvPr id="3" name="TextBox 2"/>
          <p:cNvSpPr txBox="1"/>
          <p:nvPr/>
        </p:nvSpPr>
        <p:spPr>
          <a:xfrm>
            <a:off x="1536192" y="1298448"/>
            <a:ext cx="22037040" cy="960120"/>
          </a:xfrm>
          <a:prstGeom prst="rect">
            <a:avLst/>
          </a:prstGeom>
          <a:noFill/>
        </p:spPr>
        <p:txBody>
          <a:bodyPr wrap="square" lIns="36576" tIns="27432" rIns="36576" bIns="27432" anchor="t">
            <a:spAutoFit/>
          </a:bodyPr>
          <a:lstStyle/>
          <a:p>
            <a:pPr algn="l">
              <a:spcAft>
                <a:spcPts val="0"/>
              </a:spcAft>
            </a:pPr>
            <a:r>
              <a:rPr sz="3200" b="1">
                <a:solidFill>
                  <a:srgbClr val="082B52"/>
                </a:solidFill>
                <a:latin typeface="Yu Gothic"/>
                <a:ea typeface="Yu Gothic"/>
              </a:rPr>
              <a:t>B5｜LOS定義の比較と、並進を入れない理由</a:t>
            </a:r>
          </a:p>
        </p:txBody>
      </p:sp>
      <p:sp>
        <p:nvSpPr>
          <p:cNvPr id="4" name="TextBox 3"/>
          <p:cNvSpPr txBox="1"/>
          <p:nvPr/>
        </p:nvSpPr>
        <p:spPr>
          <a:xfrm>
            <a:off x="21762720" y="12819888"/>
            <a:ext cx="2011680" cy="384048"/>
          </a:xfrm>
          <a:prstGeom prst="rect">
            <a:avLst/>
          </a:prstGeom>
          <a:noFill/>
        </p:spPr>
        <p:txBody>
          <a:bodyPr wrap="square" lIns="36576" tIns="27432" rIns="36576" bIns="27432" anchor="t">
            <a:spAutoFit/>
          </a:bodyPr>
          <a:lstStyle/>
          <a:p>
            <a:pPr algn="r">
              <a:spcAft>
                <a:spcPts val="0"/>
              </a:spcAft>
            </a:pPr>
            <a:r>
              <a:rPr sz="1800" b="0">
                <a:solidFill>
                  <a:srgbClr val="666F79"/>
                </a:solidFill>
                <a:latin typeface="Yu Gothic"/>
                <a:ea typeface="Yu Gothic"/>
              </a:rPr>
              <a:t>B5</a:t>
            </a:r>
          </a:p>
        </p:txBody>
      </p:sp>
      <p:sp>
        <p:nvSpPr>
          <p:cNvPr id="5" name="Rectangle 4"/>
          <p:cNvSpPr/>
          <p:nvPr/>
        </p:nvSpPr>
        <p:spPr>
          <a:xfrm>
            <a:off x="1097280" y="2743200"/>
            <a:ext cx="21945600" cy="8412480"/>
          </a:xfrm>
          <a:prstGeom prst="rect">
            <a:avLst/>
          </a:prstGeom>
          <a:noFill/>
          <a:ln w="1270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los_definition_comparison.png"/>
          <p:cNvPicPr>
            <a:picLocks noChangeAspect="1"/>
          </p:cNvPicPr>
          <p:nvPr/>
        </p:nvPicPr>
        <p:blipFill>
          <a:blip r:embed="rId3"/>
          <a:stretch>
            <a:fillRect/>
          </a:stretch>
        </p:blipFill>
        <p:spPr>
          <a:xfrm>
            <a:off x="7443216" y="2743200"/>
            <a:ext cx="9253728" cy="8412480"/>
          </a:xfrm>
          <a:prstGeom prst="rect">
            <a:avLst/>
          </a:prstGeom>
        </p:spPr>
      </p:pic>
      <p:sp>
        <p:nvSpPr>
          <p:cNvPr id="7" name="TextBox 6"/>
          <p:cNvSpPr txBox="1"/>
          <p:nvPr/>
        </p:nvSpPr>
        <p:spPr>
          <a:xfrm>
            <a:off x="1097280" y="11338560"/>
            <a:ext cx="21945600" cy="1188720"/>
          </a:xfrm>
          <a:prstGeom prst="rect">
            <a:avLst/>
          </a:prstGeom>
          <a:noFill/>
        </p:spPr>
        <p:txBody>
          <a:bodyPr wrap="square" lIns="45720" tIns="18288" rIns="45720" bIns="18288" anchor="t">
            <a:spAutoFit/>
          </a:bodyPr>
          <a:lstStyle/>
          <a:p>
            <a:pPr algn="l">
              <a:lnSpc>
                <a:spcPct val="125000"/>
              </a:lnSpc>
              <a:spcAft>
                <a:spcPts val="0"/>
              </a:spcAft>
            </a:pPr>
            <a:r>
              <a:rPr sz="2300" b="0">
                <a:solidFill>
                  <a:srgbClr val="666F79"/>
                </a:solidFill>
                <a:latin typeface="Yu Gothic"/>
                <a:ea typeface="Yu Gothic"/>
              </a:rPr>
              <a:t>代表節点の回転を機器姿勢の代理にしている。取付面全体の剛体フィットは今後</a:t>
            </a:r>
          </a:p>
          <a:p>
            <a:pPr algn="l">
              <a:lnSpc>
                <a:spcPct val="125000"/>
              </a:lnSpc>
              <a:spcAft>
                <a:spcPts val="0"/>
              </a:spcAft>
            </a:pPr>
            <a:r>
              <a:rPr sz="2300" b="0">
                <a:solidFill>
                  <a:srgbClr val="666F79"/>
                </a:solidFill>
                <a:latin typeface="Yu Gothic"/>
                <a:ea typeface="Yu Gothic"/>
              </a:rPr>
              <a:t>代表点間の並進による傾きは、衛星間距離で割ると小さいので捕捉評価には入れていない</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45720" tIns="18288" rIns="45720" bIns="18288" anchor="ctr">
            <a:spAutoFit/>
          </a:bodyPr>
          <a:lstStyle/>
          <a:p>
            <a:pPr algn="l">
              <a:spcAft>
                <a:spcPts val="0"/>
              </a:spcAft>
            </a:pPr>
            <a:r>
              <a:rPr sz="2000" b="0">
                <a:solidFill>
                  <a:srgbClr val="666F79"/>
                </a:solidFill>
                <a:latin typeface="Yu Gothic"/>
                <a:ea typeface="Yu Gothic"/>
              </a:rPr>
              <a:t>補足</a:t>
            </a:r>
          </a:p>
        </p:txBody>
      </p:sp>
      <p:sp>
        <p:nvSpPr>
          <p:cNvPr id="3" name="TextBox 2"/>
          <p:cNvSpPr txBox="1"/>
          <p:nvPr/>
        </p:nvSpPr>
        <p:spPr>
          <a:xfrm>
            <a:off x="1536192" y="1298448"/>
            <a:ext cx="22037040" cy="1188720"/>
          </a:xfrm>
          <a:prstGeom prst="rect">
            <a:avLst/>
          </a:prstGeom>
          <a:noFill/>
        </p:spPr>
        <p:txBody>
          <a:bodyPr wrap="square" lIns="45720" tIns="18288" rIns="45720" bIns="18288" anchor="ctr">
            <a:spAutoFit/>
          </a:bodyPr>
          <a:lstStyle/>
          <a:p>
            <a:pPr algn="l">
              <a:lnSpc>
                <a:spcPct val="110000"/>
              </a:lnSpc>
              <a:spcAft>
                <a:spcPts val="0"/>
              </a:spcAft>
            </a:pPr>
            <a:r>
              <a:rPr sz="3200" b="1">
                <a:solidFill>
                  <a:srgbClr val="082B52"/>
                </a:solidFill>
                <a:latin typeface="Yu Gothic"/>
                <a:ea typeface="Yu Gothic"/>
              </a:rPr>
              <a:t>B6（1/2）｜モデルが難しいケース</a:t>
            </a:r>
          </a:p>
        </p:txBody>
      </p:sp>
      <p:sp>
        <p:nvSpPr>
          <p:cNvPr id="4" name="TextBox 3"/>
          <p:cNvSpPr txBox="1"/>
          <p:nvPr/>
        </p:nvSpPr>
        <p:spPr>
          <a:xfrm>
            <a:off x="21762720" y="12819888"/>
            <a:ext cx="2011680" cy="384048"/>
          </a:xfrm>
          <a:prstGeom prst="rect">
            <a:avLst/>
          </a:prstGeom>
          <a:noFill/>
        </p:spPr>
        <p:txBody>
          <a:bodyPr wrap="square" lIns="45720" tIns="18288" rIns="45720" bIns="18288" anchor="t">
            <a:spAutoFit/>
          </a:bodyPr>
          <a:lstStyle/>
          <a:p>
            <a:pPr algn="r">
              <a:spcAft>
                <a:spcPts val="0"/>
              </a:spcAft>
            </a:pPr>
            <a:r>
              <a:rPr sz="1800" b="0">
                <a:solidFill>
                  <a:srgbClr val="666F79"/>
                </a:solidFill>
                <a:latin typeface="Yu Gothic"/>
                <a:ea typeface="Yu Gothic"/>
              </a:rPr>
              <a:t>B6</a:t>
            </a:r>
          </a:p>
        </p:txBody>
      </p:sp>
      <p:graphicFrame>
        <p:nvGraphicFramePr>
          <p:cNvPr id="5" name="Table 4"/>
          <p:cNvGraphicFramePr>
            <a:graphicFrameLocks noGrp="1"/>
          </p:cNvGraphicFramePr>
          <p:nvPr/>
        </p:nvGraphicFramePr>
        <p:xfrm>
          <a:off x="1463040" y="3291840"/>
          <a:ext cx="21396960" cy="4754880"/>
        </p:xfrm>
        <a:graphic>
          <a:graphicData uri="http://schemas.openxmlformats.org/drawingml/2006/table">
            <a:tbl>
              <a:tblPr firstRow="1" bandRow="1">
                <a:tableStyleId>{5C22544A-7EE6-4342-B048-85BDC9FD1C3A}</a:tableStyleId>
              </a:tblPr>
              <a:tblGrid>
                <a:gridCol w="5349240">
                  <a:extLst>
                    <a:ext uri="{9D8B030D-6E8A-4147-A177-3AD203B41FA5}">
                      <a16:colId xmlns:a16="http://schemas.microsoft.com/office/drawing/2014/main" val="20000"/>
                    </a:ext>
                  </a:extLst>
                </a:gridCol>
                <a:gridCol w="3209544">
                  <a:extLst>
                    <a:ext uri="{9D8B030D-6E8A-4147-A177-3AD203B41FA5}">
                      <a16:colId xmlns:a16="http://schemas.microsoft.com/office/drawing/2014/main" val="20001"/>
                    </a:ext>
                  </a:extLst>
                </a:gridCol>
                <a:gridCol w="12838176">
                  <a:extLst>
                    <a:ext uri="{9D8B030D-6E8A-4147-A177-3AD203B41FA5}">
                      <a16:colId xmlns:a16="http://schemas.microsoft.com/office/drawing/2014/main" val="20002"/>
                    </a:ext>
                  </a:extLst>
                </a:gridCol>
              </a:tblGrid>
              <a:tr h="1188720">
                <a:tc>
                  <a:txBody>
                    <a:bodyPr/>
                    <a:lstStyle/>
                    <a:p>
                      <a:pPr algn="l">
                        <a:spcAft>
                          <a:spcPts val="0"/>
                        </a:spcAft>
                      </a:pPr>
                      <a:r>
                        <a:rPr sz="2400" b="1">
                          <a:solidFill>
                            <a:srgbClr val="FFFFFF"/>
                          </a:solidFill>
                          <a:latin typeface="Yu Gothic"/>
                          <a:ea typeface="Yu Gothic"/>
                        </a:rPr>
                        <a:t>ケース</a:t>
                      </a:r>
                    </a:p>
                  </a:txBody>
                  <a:tcPr marL="128016" marR="128016" anchor="ctr">
                    <a:solidFill>
                      <a:srgbClr val="082B52"/>
                    </a:solidFill>
                  </a:tcPr>
                </a:tc>
                <a:tc>
                  <a:txBody>
                    <a:bodyPr/>
                    <a:lstStyle/>
                    <a:p>
                      <a:pPr algn="ctr">
                        <a:spcAft>
                          <a:spcPts val="0"/>
                        </a:spcAft>
                      </a:pPr>
                      <a:r>
                        <a:rPr sz="2400" b="1">
                          <a:solidFill>
                            <a:srgbClr val="FFFFFF"/>
                          </a:solidFill>
                          <a:latin typeface="Yu Gothic"/>
                          <a:ea typeface="Yu Gothic"/>
                        </a:rPr>
                        <a:t>残差</a:t>
                      </a:r>
                    </a:p>
                  </a:txBody>
                  <a:tcPr marL="128016" marR="128016" anchor="ctr">
                    <a:solidFill>
                      <a:srgbClr val="082B52"/>
                    </a:solidFill>
                  </a:tcPr>
                </a:tc>
                <a:tc>
                  <a:txBody>
                    <a:bodyPr/>
                    <a:lstStyle/>
                    <a:p>
                      <a:pPr algn="ctr">
                        <a:spcAft>
                          <a:spcPts val="0"/>
                        </a:spcAft>
                      </a:pPr>
                      <a:r>
                        <a:rPr sz="2400" b="1">
                          <a:solidFill>
                            <a:srgbClr val="FFFFFF"/>
                          </a:solidFill>
                          <a:latin typeface="Yu Gothic"/>
                          <a:ea typeface="Yu Gothic"/>
                        </a:rPr>
                        <a:t>何が表せていないか</a:t>
                      </a:r>
                    </a:p>
                  </a:txBody>
                  <a:tcPr marL="128016" marR="128016" anchor="ctr">
                    <a:solidFill>
                      <a:srgbClr val="082B52"/>
                    </a:solidFill>
                  </a:tcPr>
                </a:tc>
                <a:extLst>
                  <a:ext uri="{0D108BD9-81ED-4DB2-BD59-A6C34878D82A}">
                    <a16:rowId xmlns:a16="http://schemas.microsoft.com/office/drawing/2014/main" val="10000"/>
                  </a:ext>
                </a:extLst>
              </a:tr>
              <a:tr h="1188720">
                <a:tc>
                  <a:txBody>
                    <a:bodyPr/>
                    <a:lstStyle/>
                    <a:p>
                      <a:pPr algn="l">
                        <a:spcAft>
                          <a:spcPts val="0"/>
                        </a:spcAft>
                      </a:pPr>
                      <a:r>
                        <a:rPr sz="2400" b="0">
                          <a:solidFill>
                            <a:srgbClr val="232B34"/>
                          </a:solidFill>
                          <a:latin typeface="Yu Gothic"/>
                          <a:ea typeface="Yu Gothic"/>
                        </a:rPr>
                        <a:t>太陽面Black被覆</a:t>
                      </a:r>
                    </a:p>
                  </a:txBody>
                  <a:tcPr marL="128016" marR="128016" anchor="ctr">
                    <a:solidFill>
                      <a:srgbClr val="FFFFFF"/>
                    </a:solidFill>
                  </a:tcPr>
                </a:tc>
                <a:tc>
                  <a:txBody>
                    <a:bodyPr/>
                    <a:lstStyle/>
                    <a:p>
                      <a:pPr algn="ctr">
                        <a:spcAft>
                          <a:spcPts val="0"/>
                        </a:spcAft>
                      </a:pPr>
                      <a:r>
                        <a:rPr sz="2400" b="0">
                          <a:solidFill>
                            <a:srgbClr val="232B34"/>
                          </a:solidFill>
                          <a:latin typeface="Yu Gothic"/>
                          <a:ea typeface="Yu Gothic"/>
                        </a:rPr>
                        <a:t>約13 µrad</a:t>
                      </a:r>
                    </a:p>
                  </a:txBody>
                  <a:tcPr marL="128016" marR="128016" anchor="ctr">
                    <a:solidFill>
                      <a:srgbClr val="FFFFFF"/>
                    </a:solidFill>
                  </a:tcPr>
                </a:tc>
                <a:tc>
                  <a:txBody>
                    <a:bodyPr/>
                    <a:lstStyle/>
                    <a:p>
                      <a:pPr algn="ctr">
                        <a:spcAft>
                          <a:spcPts val="0"/>
                        </a:spcAft>
                      </a:pPr>
                      <a:r>
                        <a:rPr sz="2400" b="0">
                          <a:solidFill>
                            <a:srgbClr val="232B34"/>
                          </a:solidFill>
                          <a:latin typeface="Yu Gothic"/>
                          <a:ea typeface="Yu Gothic"/>
                        </a:rPr>
                        <a:t>被覆を変えると感度と変動幅が動く。係数は標準表面で決めている</a:t>
                      </a:r>
                    </a:p>
                  </a:txBody>
                  <a:tcPr marL="128016" marR="128016" anchor="ctr">
                    <a:solidFill>
                      <a:srgbClr val="EBF6FB"/>
                    </a:solidFill>
                  </a:tcPr>
                </a:tc>
                <a:extLst>
                  <a:ext uri="{0D108BD9-81ED-4DB2-BD59-A6C34878D82A}">
                    <a16:rowId xmlns:a16="http://schemas.microsoft.com/office/drawing/2014/main" val="10001"/>
                  </a:ext>
                </a:extLst>
              </a:tr>
              <a:tr h="1188720">
                <a:tc>
                  <a:txBody>
                    <a:bodyPr/>
                    <a:lstStyle/>
                    <a:p>
                      <a:pPr algn="l">
                        <a:spcAft>
                          <a:spcPts val="0"/>
                        </a:spcAft>
                      </a:pPr>
                      <a:r>
                        <a:rPr sz="2400" b="0">
                          <a:solidFill>
                            <a:srgbClr val="232B34"/>
                          </a:solidFill>
                          <a:latin typeface="Yu Gothic"/>
                          <a:ea typeface="Yu Gothic"/>
                        </a:rPr>
                        <a:t>PROP半電力（12.5 W）</a:t>
                      </a:r>
                    </a:p>
                  </a:txBody>
                  <a:tcPr marL="128016" marR="128016" anchor="ctr">
                    <a:solidFill>
                      <a:srgbClr val="F4F6F8"/>
                    </a:solidFill>
                  </a:tcPr>
                </a:tc>
                <a:tc>
                  <a:txBody>
                    <a:bodyPr/>
                    <a:lstStyle/>
                    <a:p>
                      <a:pPr algn="ctr">
                        <a:spcAft>
                          <a:spcPts val="0"/>
                        </a:spcAft>
                      </a:pPr>
                      <a:r>
                        <a:rPr sz="2400" b="0">
                          <a:solidFill>
                            <a:srgbClr val="232B34"/>
                          </a:solidFill>
                          <a:latin typeface="Yu Gothic"/>
                          <a:ea typeface="Yu Gothic"/>
                        </a:rPr>
                        <a:t>約16 µrad</a:t>
                      </a:r>
                    </a:p>
                  </a:txBody>
                  <a:tcPr marL="128016" marR="128016" anchor="ctr">
                    <a:solidFill>
                      <a:srgbClr val="F4F6F8"/>
                    </a:solidFill>
                  </a:tcPr>
                </a:tc>
                <a:tc>
                  <a:txBody>
                    <a:bodyPr/>
                    <a:lstStyle/>
                    <a:p>
                      <a:pPr algn="ctr">
                        <a:spcAft>
                          <a:spcPts val="0"/>
                        </a:spcAft>
                      </a:pPr>
                      <a:r>
                        <a:rPr sz="2400" b="0">
                          <a:solidFill>
                            <a:srgbClr val="232B34"/>
                          </a:solidFill>
                          <a:latin typeface="Yu Gothic"/>
                          <a:ea typeface="Yu Gothic"/>
                        </a:rPr>
                        <a:t>ON/OFFの二値フラグでは25 Wと12.5 Wを区別できない</a:t>
                      </a:r>
                    </a:p>
                  </a:txBody>
                  <a:tcPr marL="128016" marR="128016" anchor="ctr">
                    <a:solidFill>
                      <a:srgbClr val="EBF6FB"/>
                    </a:solidFill>
                  </a:tcPr>
                </a:tc>
                <a:extLst>
                  <a:ext uri="{0D108BD9-81ED-4DB2-BD59-A6C34878D82A}">
                    <a16:rowId xmlns:a16="http://schemas.microsoft.com/office/drawing/2014/main" val="10002"/>
                  </a:ext>
                </a:extLst>
              </a:tr>
              <a:tr h="1188720">
                <a:tc>
                  <a:txBody>
                    <a:bodyPr/>
                    <a:lstStyle/>
                    <a:p>
                      <a:pPr algn="l">
                        <a:spcAft>
                          <a:spcPts val="0"/>
                        </a:spcAft>
                      </a:pPr>
                      <a:r>
                        <a:rPr sz="2400" b="0">
                          <a:solidFill>
                            <a:srgbClr val="232B34"/>
                          </a:solidFill>
                          <a:latin typeface="Yu Gothic"/>
                          <a:ea typeface="Yu Gothic"/>
                        </a:rPr>
                        <a:t>全日照（HOT）軌道</a:t>
                      </a:r>
                    </a:p>
                  </a:txBody>
                  <a:tcPr marL="128016" marR="128016" anchor="ctr">
                    <a:solidFill>
                      <a:srgbClr val="FFFFFF"/>
                    </a:solidFill>
                  </a:tcPr>
                </a:tc>
                <a:tc>
                  <a:txBody>
                    <a:bodyPr/>
                    <a:lstStyle/>
                    <a:p>
                      <a:pPr algn="ctr">
                        <a:spcAft>
                          <a:spcPts val="0"/>
                        </a:spcAft>
                      </a:pPr>
                      <a:r>
                        <a:rPr sz="2400" b="0">
                          <a:solidFill>
                            <a:srgbClr val="232B34"/>
                          </a:solidFill>
                          <a:latin typeface="Yu Gothic"/>
                          <a:ea typeface="Yu Gothic"/>
                        </a:rPr>
                        <a:t>DCが数µrad</a:t>
                      </a:r>
                    </a:p>
                  </a:txBody>
                  <a:tcPr marL="128016" marR="128016" anchor="ctr">
                    <a:solidFill>
                      <a:srgbClr val="FFFFFF"/>
                    </a:solidFill>
                  </a:tcPr>
                </a:tc>
                <a:tc>
                  <a:txBody>
                    <a:bodyPr/>
                    <a:lstStyle/>
                    <a:p>
                      <a:pPr algn="ctr">
                        <a:spcAft>
                          <a:spcPts val="0"/>
                        </a:spcAft>
                      </a:pPr>
                      <a:r>
                        <a:rPr sz="2400" b="0">
                          <a:solidFill>
                            <a:srgbClr val="232B34"/>
                          </a:solidFill>
                          <a:latin typeface="Yu Gothic"/>
                          <a:ea typeface="Yu Gothic"/>
                        </a:rPr>
                        <a:t>蝕がなく熱がほぼ一定。平均の予測が軌道条件の外へ出ている</a:t>
                      </a:r>
                    </a:p>
                  </a:txBody>
                  <a:tcPr marL="128016" marR="128016" anchor="ctr">
                    <a:solidFill>
                      <a:srgbClr val="EBF6FB"/>
                    </a:solidFill>
                  </a:tcPr>
                </a:tc>
                <a:extLst>
                  <a:ext uri="{0D108BD9-81ED-4DB2-BD59-A6C34878D82A}">
                    <a16:rowId xmlns:a16="http://schemas.microsoft.com/office/drawing/2014/main" val="10003"/>
                  </a:ext>
                </a:extLst>
              </a:tr>
            </a:tbl>
          </a:graphicData>
        </a:graphic>
      </p:graphicFrame>
      <p:sp>
        <p:nvSpPr>
          <p:cNvPr id="6" name="Rounded Rectangle 5"/>
          <p:cNvSpPr/>
          <p:nvPr/>
        </p:nvSpPr>
        <p:spPr>
          <a:xfrm>
            <a:off x="1463040" y="8778240"/>
            <a:ext cx="10424160" cy="2926080"/>
          </a:xfrm>
          <a:prstGeom prst="roundRect">
            <a:avLst/>
          </a:prstGeom>
          <a:solidFill>
            <a:srgbClr val="EBF6FB"/>
          </a:solidFill>
          <a:ln w="22860">
            <a:solidFill>
              <a:srgbClr val="5BB5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828800" y="9006840"/>
            <a:ext cx="9692640" cy="502920"/>
          </a:xfrm>
          <a:prstGeom prst="rect">
            <a:avLst/>
          </a:prstGeom>
          <a:noFill/>
        </p:spPr>
        <p:txBody>
          <a:bodyPr wrap="square" lIns="45720" tIns="18288" rIns="45720" bIns="18288" anchor="t">
            <a:spAutoFit/>
          </a:bodyPr>
          <a:lstStyle/>
          <a:p>
            <a:pPr algn="l">
              <a:spcAft>
                <a:spcPts val="0"/>
              </a:spcAft>
            </a:pPr>
            <a:r>
              <a:rPr sz="2600" b="1">
                <a:solidFill>
                  <a:srgbClr val="082B52"/>
                </a:solidFill>
                <a:latin typeface="Yu Gothic"/>
                <a:ea typeface="Yu Gothic"/>
              </a:rPr>
              <a:t>共通する構図</a:t>
            </a:r>
          </a:p>
        </p:txBody>
      </p:sp>
      <p:sp>
        <p:nvSpPr>
          <p:cNvPr id="8" name="TextBox 7"/>
          <p:cNvSpPr txBox="1"/>
          <p:nvPr/>
        </p:nvSpPr>
        <p:spPr>
          <a:xfrm>
            <a:off x="1828800" y="9646920"/>
            <a:ext cx="9692640" cy="1828800"/>
          </a:xfrm>
          <a:prstGeom prst="rect">
            <a:avLst/>
          </a:prstGeom>
          <a:noFill/>
        </p:spPr>
        <p:txBody>
          <a:bodyPr wrap="square" lIns="45720" tIns="18288" rIns="45720" bIns="18288" anchor="t">
            <a:spAutoFit/>
          </a:bodyPr>
          <a:lstStyle/>
          <a:p>
            <a:pPr algn="l">
              <a:lnSpc>
                <a:spcPct val="125000"/>
              </a:lnSpc>
              <a:spcAft>
                <a:spcPts val="0"/>
              </a:spcAft>
            </a:pPr>
            <a:r>
              <a:rPr sz="2400" b="0">
                <a:solidFill>
                  <a:srgbClr val="232B34"/>
                </a:solidFill>
                <a:latin typeface="Yu Gothic"/>
                <a:ea typeface="Yu Gothic"/>
              </a:rPr>
              <a:t>時変の項ではなく、ケース平均の側が外れている。</a:t>
            </a:r>
          </a:p>
          <a:p>
            <a:pPr algn="l">
              <a:lnSpc>
                <a:spcPct val="125000"/>
              </a:lnSpc>
              <a:spcAft>
                <a:spcPts val="0"/>
              </a:spcAft>
            </a:pPr>
            <a:r>
              <a:rPr sz="2400" b="0">
                <a:solidFill>
                  <a:srgbClr val="232B34"/>
                </a:solidFill>
                <a:latin typeface="Yu Gothic"/>
                <a:ea typeface="Yu Gothic"/>
              </a:rPr>
              <a:t>被覆・軌道・連続発熱量はいまの入力に入っていない</a:t>
            </a:r>
          </a:p>
        </p:txBody>
      </p:sp>
      <p:sp>
        <p:nvSpPr>
          <p:cNvPr id="9" name="Rounded Rectangle 8"/>
          <p:cNvSpPr/>
          <p:nvPr/>
        </p:nvSpPr>
        <p:spPr>
          <a:xfrm>
            <a:off x="12435840" y="8778240"/>
            <a:ext cx="10424160" cy="2926080"/>
          </a:xfrm>
          <a:prstGeom prst="roundRect">
            <a:avLst/>
          </a:prstGeom>
          <a:solidFill>
            <a:srgbClr val="EAF8F1"/>
          </a:solidFill>
          <a:ln w="22860">
            <a:solidFill>
              <a:srgbClr val="23957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2801600" y="9006840"/>
            <a:ext cx="9692640" cy="502920"/>
          </a:xfrm>
          <a:prstGeom prst="rect">
            <a:avLst/>
          </a:prstGeom>
          <a:noFill/>
        </p:spPr>
        <p:txBody>
          <a:bodyPr wrap="square" lIns="45720" tIns="18288" rIns="45720" bIns="18288" anchor="t">
            <a:spAutoFit/>
          </a:bodyPr>
          <a:lstStyle/>
          <a:p>
            <a:pPr algn="l">
              <a:spcAft>
                <a:spcPts val="0"/>
              </a:spcAft>
            </a:pPr>
            <a:r>
              <a:rPr sz="2600" b="1">
                <a:solidFill>
                  <a:srgbClr val="239571"/>
                </a:solidFill>
                <a:latin typeface="Yu Gothic"/>
                <a:ea typeface="Yu Gothic"/>
              </a:rPr>
              <a:t>主結果の範囲</a:t>
            </a:r>
          </a:p>
        </p:txBody>
      </p:sp>
      <p:sp>
        <p:nvSpPr>
          <p:cNvPr id="11" name="TextBox 10"/>
          <p:cNvSpPr txBox="1"/>
          <p:nvPr/>
        </p:nvSpPr>
        <p:spPr>
          <a:xfrm>
            <a:off x="12801600" y="9646920"/>
            <a:ext cx="9692640" cy="1828800"/>
          </a:xfrm>
          <a:prstGeom prst="rect">
            <a:avLst/>
          </a:prstGeom>
          <a:noFill/>
        </p:spPr>
        <p:txBody>
          <a:bodyPr wrap="square" lIns="45720" tIns="18288" rIns="45720" bIns="18288" anchor="t">
            <a:spAutoFit/>
          </a:bodyPr>
          <a:lstStyle/>
          <a:p>
            <a:pPr algn="l">
              <a:lnSpc>
                <a:spcPct val="125000"/>
              </a:lnSpc>
              <a:spcAft>
                <a:spcPts val="0"/>
              </a:spcAft>
            </a:pPr>
            <a:r>
              <a:rPr sz="2400" b="0">
                <a:solidFill>
                  <a:srgbClr val="232B34"/>
                </a:solidFill>
                <a:latin typeface="Yu Gothic"/>
                <a:ea typeface="Yu Gothic"/>
              </a:rPr>
              <a:t>標準COLD・標準表面の条件で、固定16係数のまま</a:t>
            </a:r>
          </a:p>
          <a:p>
            <a:pPr algn="l">
              <a:lnSpc>
                <a:spcPct val="125000"/>
              </a:lnSpc>
              <a:spcAft>
                <a:spcPts val="0"/>
              </a:spcAft>
            </a:pPr>
            <a:r>
              <a:rPr sz="2400" b="0">
                <a:solidFill>
                  <a:srgbClr val="232B34"/>
                </a:solidFill>
                <a:latin typeface="Yu Gothic"/>
                <a:ea typeface="Yu Gothic"/>
              </a:rPr>
              <a:t>1〜2桁の低減。被覆・軌道・連続量の明示は今後</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Yu Gothic"/>
                <a:ea typeface="Yu Gothic"/>
              </a:rPr>
              <a:t>補足</a:t>
            </a:r>
          </a:p>
        </p:txBody>
      </p:sp>
      <p:sp>
        <p:nvSpPr>
          <p:cNvPr id="3" name="TextBox 2"/>
          <p:cNvSpPr txBox="1"/>
          <p:nvPr/>
        </p:nvSpPr>
        <p:spPr>
          <a:xfrm>
            <a:off x="1536192" y="1298448"/>
            <a:ext cx="10390793" cy="1040285"/>
          </a:xfrm>
          <a:prstGeom prst="rect">
            <a:avLst/>
          </a:prstGeom>
          <a:noFill/>
        </p:spPr>
        <p:txBody>
          <a:bodyPr wrap="square" lIns="36576" tIns="27432" rIns="36576" bIns="27432" anchor="t">
            <a:spAutoFit/>
          </a:bodyPr>
          <a:lstStyle/>
          <a:p>
            <a:pPr algn="l">
              <a:spcAft>
                <a:spcPts val="0"/>
              </a:spcAft>
            </a:pPr>
            <a:r>
              <a:rPr sz="3200" b="1">
                <a:solidFill>
                  <a:srgbClr val="082B52"/>
                </a:solidFill>
                <a:latin typeface="Yu Gothic"/>
                <a:ea typeface="Yu Gothic"/>
              </a:rPr>
              <a:t>B6（2/2）｜取付点の温度を足すと係数が壊れる</a:t>
            </a:r>
            <a:endParaRPr lang="en-US" sz="3200" b="1" dirty="0">
              <a:solidFill>
                <a:srgbClr val="082B52"/>
              </a:solidFill>
              <a:latin typeface="Yu Gothic"/>
            </a:endParaRPr>
          </a:p>
        </p:txBody>
      </p:sp>
      <p:sp>
        <p:nvSpPr>
          <p:cNvPr id="4" name="TextBox 3"/>
          <p:cNvSpPr txBox="1"/>
          <p:nvPr/>
        </p:nvSpPr>
        <p:spPr>
          <a:xfrm>
            <a:off x="21762720" y="12819888"/>
            <a:ext cx="2011680" cy="384048"/>
          </a:xfrm>
          <a:prstGeom prst="rect">
            <a:avLst/>
          </a:prstGeom>
          <a:noFill/>
        </p:spPr>
        <p:txBody>
          <a:bodyPr wrap="square" lIns="36576" tIns="27432" rIns="36576" bIns="27432" anchor="t">
            <a:spAutoFit/>
          </a:bodyPr>
          <a:lstStyle/>
          <a:p>
            <a:pPr algn="r">
              <a:spcAft>
                <a:spcPts val="0"/>
              </a:spcAft>
            </a:pPr>
            <a:r>
              <a:rPr sz="1800" b="0">
                <a:solidFill>
                  <a:srgbClr val="666F79"/>
                </a:solidFill>
                <a:latin typeface="Yu Gothic"/>
                <a:ea typeface="Yu Gothic"/>
              </a:rPr>
              <a:t>B6</a:t>
            </a:r>
          </a:p>
        </p:txBody>
      </p:sp>
      <p:sp>
        <p:nvSpPr>
          <p:cNvPr id="5" name="Rounded Rectangle 4"/>
          <p:cNvSpPr/>
          <p:nvPr/>
        </p:nvSpPr>
        <p:spPr>
          <a:xfrm>
            <a:off x="1188720" y="2834640"/>
            <a:ext cx="10332720" cy="7132320"/>
          </a:xfrm>
          <a:prstGeom prst="roundRect">
            <a:avLst/>
          </a:prstGeom>
          <a:solidFill>
            <a:srgbClr val="FDEFF0"/>
          </a:solidFill>
          <a:ln w="16510">
            <a:solidFill>
              <a:srgbClr val="D03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645920" y="3291840"/>
            <a:ext cx="9418320" cy="548640"/>
          </a:xfrm>
          <a:prstGeom prst="rect">
            <a:avLst/>
          </a:prstGeom>
          <a:noFill/>
        </p:spPr>
        <p:txBody>
          <a:bodyPr wrap="square" lIns="36576" tIns="27432" rIns="36576" bIns="27432" anchor="t">
            <a:spAutoFit/>
          </a:bodyPr>
          <a:lstStyle/>
          <a:p>
            <a:pPr algn="ctr">
              <a:spcAft>
                <a:spcPts val="0"/>
              </a:spcAft>
            </a:pPr>
            <a:r>
              <a:rPr sz="2700" b="1">
                <a:solidFill>
                  <a:srgbClr val="082B52"/>
                </a:solidFill>
                <a:latin typeface="Yu Gothic"/>
                <a:ea typeface="Yu Gothic"/>
              </a:rPr>
              <a:t>試したこと</a:t>
            </a:r>
          </a:p>
        </p:txBody>
      </p:sp>
      <p:sp>
        <p:nvSpPr>
          <p:cNvPr id="7" name="TextBox 6"/>
          <p:cNvSpPr txBox="1"/>
          <p:nvPr/>
        </p:nvSpPr>
        <p:spPr>
          <a:xfrm>
            <a:off x="1828800" y="4434840"/>
            <a:ext cx="9052560" cy="1188720"/>
          </a:xfrm>
          <a:prstGeom prst="rect">
            <a:avLst/>
          </a:prstGeom>
          <a:noFill/>
        </p:spPr>
        <p:txBody>
          <a:bodyPr wrap="none" lIns="36576" tIns="27432" rIns="36576" bIns="27432" anchor="t">
            <a:spAutoFit/>
          </a:bodyPr>
          <a:lstStyle/>
          <a:p>
            <a:pPr algn="ctr"/>
            <a:r>
              <a:rPr sz="3100" b="1">
                <a:solidFill>
                  <a:srgbClr val="082B52"/>
                </a:solidFill>
                <a:latin typeface="Yu Gothic"/>
              </a:rPr>
              <a:t>LOS = b + a·ΔT
+ c·(Tattach−Tref)</a:t>
            </a:r>
          </a:p>
        </p:txBody>
      </p:sp>
      <p:sp>
        <p:nvSpPr>
          <p:cNvPr id="8" name="TextBox 7"/>
          <p:cNvSpPr txBox="1"/>
          <p:nvPr/>
        </p:nvSpPr>
        <p:spPr>
          <a:xfrm>
            <a:off x="1828800" y="6217920"/>
            <a:ext cx="9052560" cy="2743200"/>
          </a:xfrm>
          <a:prstGeom prst="rect">
            <a:avLst/>
          </a:prstGeom>
          <a:noFill/>
        </p:spPr>
        <p:txBody>
          <a:bodyPr wrap="square" lIns="27432" rIns="27432">
            <a:spAutoFit/>
          </a:bodyPr>
          <a:lstStyle/>
          <a:p>
            <a:pPr>
              <a:lnSpc>
                <a:spcPct val="110000"/>
              </a:lnSpc>
              <a:spcAft>
                <a:spcPts val="1200"/>
              </a:spcAft>
            </a:pPr>
            <a:r>
              <a:rPr sz="2500" b="0">
                <a:solidFill>
                  <a:srgbClr val="232B34"/>
                </a:solidFill>
                <a:latin typeface="Yu Gothic"/>
                <a:ea typeface="Yu Gothic"/>
              </a:rPr>
              <a:t>• 温度差と取付点温度の相関が 0.995</a:t>
            </a:r>
          </a:p>
          <a:p>
            <a:pPr>
              <a:lnSpc>
                <a:spcPct val="110000"/>
              </a:lnSpc>
              <a:spcAft>
                <a:spcPts val="1200"/>
              </a:spcAft>
            </a:pPr>
            <a:r>
              <a:rPr sz="2500" b="0">
                <a:solidFill>
                  <a:srgbClr val="232B34"/>
                </a:solidFill>
                <a:latin typeface="Yu Gothic"/>
                <a:ea typeface="Yu Gothic"/>
              </a:rPr>
              <a:t>• 取付点まわりの温度のばらつきは 0.1 K 程度</a:t>
            </a:r>
          </a:p>
          <a:p>
            <a:pPr>
              <a:lnSpc>
                <a:spcPct val="110000"/>
              </a:lnSpc>
              <a:spcAft>
                <a:spcPts val="1200"/>
              </a:spcAft>
            </a:pPr>
            <a:r>
              <a:rPr sz="2500" b="0">
                <a:solidFill>
                  <a:srgbClr val="232B34"/>
                </a:solidFill>
                <a:latin typeface="Yu Gothic"/>
                <a:ea typeface="Yu Gothic"/>
              </a:rPr>
              <a:t>• 係数が巨大化し、ケース間で不安定になる</a:t>
            </a:r>
          </a:p>
        </p:txBody>
      </p:sp>
      <p:cxnSp>
        <p:nvCxnSpPr>
          <p:cNvPr id="9" name="Connector 8"/>
          <p:cNvCxnSpPr/>
          <p:nvPr/>
        </p:nvCxnSpPr>
        <p:spPr>
          <a:xfrm>
            <a:off x="11887200" y="6217920"/>
            <a:ext cx="1280160" cy="0"/>
          </a:xfrm>
          <a:prstGeom prst="line">
            <a:avLst/>
          </a:prstGeom>
          <a:ln w="50800">
            <a:solidFill>
              <a:srgbClr val="5BB5D8"/>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13533120" y="2834640"/>
            <a:ext cx="9509760" cy="7132320"/>
          </a:xfrm>
          <a:prstGeom prst="roundRect">
            <a:avLst/>
          </a:prstGeom>
          <a:solidFill>
            <a:srgbClr val="EAF8F1"/>
          </a:solidFill>
          <a:ln w="1651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3990320" y="3291840"/>
            <a:ext cx="8595360" cy="548640"/>
          </a:xfrm>
          <a:prstGeom prst="rect">
            <a:avLst/>
          </a:prstGeom>
          <a:noFill/>
        </p:spPr>
        <p:txBody>
          <a:bodyPr wrap="square" lIns="36576" tIns="27432" rIns="36576" bIns="27432" anchor="t">
            <a:spAutoFit/>
          </a:bodyPr>
          <a:lstStyle/>
          <a:p>
            <a:pPr algn="ctr">
              <a:spcAft>
                <a:spcPts val="0"/>
              </a:spcAft>
            </a:pPr>
            <a:r>
              <a:rPr sz="2700" b="1">
                <a:solidFill>
                  <a:srgbClr val="082B52"/>
                </a:solidFill>
                <a:latin typeface="Yu Gothic"/>
                <a:ea typeface="Yu Gothic"/>
              </a:rPr>
              <a:t>解釈</a:t>
            </a:r>
          </a:p>
        </p:txBody>
      </p:sp>
      <p:sp>
        <p:nvSpPr>
          <p:cNvPr id="12" name="TextBox 11"/>
          <p:cNvSpPr txBox="1"/>
          <p:nvPr/>
        </p:nvSpPr>
        <p:spPr>
          <a:xfrm>
            <a:off x="14356080" y="4572000"/>
            <a:ext cx="7863840" cy="2011680"/>
          </a:xfrm>
          <a:prstGeom prst="rect">
            <a:avLst/>
          </a:prstGeom>
          <a:noFill/>
        </p:spPr>
        <p:txBody>
          <a:bodyPr wrap="square" lIns="36576" tIns="27432" rIns="36576" bIns="27432" anchor="t">
            <a:spAutoFit/>
          </a:bodyPr>
          <a:lstStyle/>
          <a:p>
            <a:pPr algn="ctr">
              <a:spcAft>
                <a:spcPts val="0"/>
              </a:spcAft>
            </a:pPr>
            <a:r>
              <a:rPr sz="2600" b="0">
                <a:solidFill>
                  <a:srgbClr val="232B34"/>
                </a:solidFill>
                <a:latin typeface="Yu Gothic"/>
                <a:ea typeface="Yu Gothic"/>
              </a:rPr>
              <a:t>効いていたのは軌道内の変動ではなく</a:t>
            </a:r>
          </a:p>
          <a:p>
            <a:pPr algn="ctr">
              <a:spcAft>
                <a:spcPts val="0"/>
              </a:spcAft>
            </a:pPr>
            <a:r>
              <a:rPr sz="2600" b="0">
                <a:solidFill>
                  <a:srgbClr val="232B34"/>
                </a:solidFill>
                <a:latin typeface="Yu Gothic"/>
                <a:ea typeface="Yu Gothic"/>
              </a:rPr>
              <a:t>ケース平均のDCだった</a:t>
            </a:r>
          </a:p>
        </p:txBody>
      </p:sp>
      <p:sp>
        <p:nvSpPr>
          <p:cNvPr id="13" name="TextBox 12"/>
          <p:cNvSpPr txBox="1"/>
          <p:nvPr/>
        </p:nvSpPr>
        <p:spPr>
          <a:xfrm>
            <a:off x="14721840" y="7543800"/>
            <a:ext cx="7132320" cy="594360"/>
          </a:xfrm>
          <a:prstGeom prst="rect">
            <a:avLst/>
          </a:prstGeom>
          <a:noFill/>
        </p:spPr>
        <p:txBody>
          <a:bodyPr wrap="square" lIns="36576" tIns="27432" rIns="36576" bIns="27432" anchor="t">
            <a:spAutoFit/>
          </a:bodyPr>
          <a:lstStyle/>
          <a:p>
            <a:pPr algn="ctr">
              <a:spcAft>
                <a:spcPts val="0"/>
              </a:spcAft>
            </a:pPr>
            <a:r>
              <a:rPr sz="2700" b="1">
                <a:solidFill>
                  <a:srgbClr val="239571"/>
                </a:solidFill>
                <a:latin typeface="Yu Gothic"/>
                <a:ea typeface="Yu Gothic"/>
              </a:rPr>
              <a:t>→ b_case 側へ分離した</a:t>
            </a:r>
          </a:p>
        </p:txBody>
      </p:sp>
      <p:sp>
        <p:nvSpPr>
          <p:cNvPr id="14" name="TextBox 13"/>
          <p:cNvSpPr txBox="1"/>
          <p:nvPr/>
        </p:nvSpPr>
        <p:spPr>
          <a:xfrm>
            <a:off x="3840480" y="10652760"/>
            <a:ext cx="16642080" cy="640080"/>
          </a:xfrm>
          <a:prstGeom prst="rect">
            <a:avLst/>
          </a:prstGeom>
          <a:noFill/>
        </p:spPr>
        <p:txBody>
          <a:bodyPr wrap="square" lIns="36576" tIns="27432" rIns="36576" bIns="27432" anchor="t">
            <a:spAutoFit/>
          </a:bodyPr>
          <a:lstStyle/>
          <a:p>
            <a:pPr algn="ctr">
              <a:spcAft>
                <a:spcPts val="0"/>
              </a:spcAft>
            </a:pPr>
            <a:r>
              <a:rPr sz="2800" b="1">
                <a:solidFill>
                  <a:srgbClr val="082B52"/>
                </a:solidFill>
                <a:latin typeface="Yu Gothic"/>
                <a:ea typeface="Yu Gothic"/>
              </a:rPr>
              <a:t>RMSEだけでなく、係数の安定性と運用上の解釈でモデルを選んだ</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45720" tIns="18288" rIns="45720" bIns="18288" anchor="ctr">
            <a:spAutoFit/>
          </a:bodyPr>
          <a:lstStyle/>
          <a:p>
            <a:pPr algn="l">
              <a:spcAft>
                <a:spcPts val="0"/>
              </a:spcAft>
            </a:pPr>
            <a:r>
              <a:rPr sz="2000" b="0">
                <a:solidFill>
                  <a:srgbClr val="666F79"/>
                </a:solidFill>
                <a:latin typeface="Yu Gothic"/>
                <a:ea typeface="Yu Gothic"/>
              </a:rPr>
              <a:t>補足</a:t>
            </a:r>
          </a:p>
        </p:txBody>
      </p:sp>
      <p:sp>
        <p:nvSpPr>
          <p:cNvPr id="3" name="TextBox 2"/>
          <p:cNvSpPr txBox="1"/>
          <p:nvPr/>
        </p:nvSpPr>
        <p:spPr>
          <a:xfrm>
            <a:off x="1536192" y="1298448"/>
            <a:ext cx="22037040" cy="1188720"/>
          </a:xfrm>
          <a:prstGeom prst="rect">
            <a:avLst/>
          </a:prstGeom>
          <a:noFill/>
        </p:spPr>
        <p:txBody>
          <a:bodyPr wrap="square" lIns="45720" tIns="18288" rIns="45720" bIns="18288" anchor="ctr">
            <a:spAutoFit/>
          </a:bodyPr>
          <a:lstStyle/>
          <a:p>
            <a:pPr algn="l">
              <a:lnSpc>
                <a:spcPct val="110000"/>
              </a:lnSpc>
              <a:spcAft>
                <a:spcPts val="0"/>
              </a:spcAft>
            </a:pPr>
            <a:r>
              <a:rPr sz="3200" b="1">
                <a:solidFill>
                  <a:srgbClr val="082B52"/>
                </a:solidFill>
                <a:latin typeface="Yu Gothic"/>
                <a:ea typeface="Yu Gothic"/>
              </a:rPr>
              <a:t>B7｜平均だけを引いた場合（定数バイアスのみ）は未計算</a:t>
            </a:r>
          </a:p>
        </p:txBody>
      </p:sp>
      <p:sp>
        <p:nvSpPr>
          <p:cNvPr id="4" name="TextBox 3"/>
          <p:cNvSpPr txBox="1"/>
          <p:nvPr/>
        </p:nvSpPr>
        <p:spPr>
          <a:xfrm>
            <a:off x="21762720" y="12819888"/>
            <a:ext cx="2011680" cy="384048"/>
          </a:xfrm>
          <a:prstGeom prst="rect">
            <a:avLst/>
          </a:prstGeom>
          <a:noFill/>
        </p:spPr>
        <p:txBody>
          <a:bodyPr wrap="square" lIns="45720" tIns="18288" rIns="45720" bIns="18288" anchor="t">
            <a:spAutoFit/>
          </a:bodyPr>
          <a:lstStyle/>
          <a:p>
            <a:pPr algn="r">
              <a:spcAft>
                <a:spcPts val="0"/>
              </a:spcAft>
            </a:pPr>
            <a:r>
              <a:rPr sz="1800" b="0">
                <a:solidFill>
                  <a:srgbClr val="666F79"/>
                </a:solidFill>
                <a:latin typeface="Yu Gothic"/>
                <a:ea typeface="Yu Gothic"/>
              </a:rPr>
              <a:t>B7</a:t>
            </a:r>
          </a:p>
        </p:txBody>
      </p:sp>
      <p:sp>
        <p:nvSpPr>
          <p:cNvPr id="5" name="Rounded Rectangle 4"/>
          <p:cNvSpPr/>
          <p:nvPr/>
        </p:nvSpPr>
        <p:spPr>
          <a:xfrm>
            <a:off x="2926080" y="3840480"/>
            <a:ext cx="18470880" cy="4206240"/>
          </a:xfrm>
          <a:prstGeom prst="roundRect">
            <a:avLst/>
          </a:prstGeom>
          <a:solidFill>
            <a:srgbClr val="F4F6F8"/>
          </a:solidFill>
          <a:ln w="22860">
            <a:solidFill>
              <a:srgbClr val="B8D5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2926080" y="4480560"/>
            <a:ext cx="18470880" cy="1097280"/>
          </a:xfrm>
          <a:prstGeom prst="rect">
            <a:avLst/>
          </a:prstGeom>
          <a:noFill/>
        </p:spPr>
        <p:txBody>
          <a:bodyPr wrap="square" lIns="45720" tIns="18288" rIns="45720" bIns="18288" anchor="t">
            <a:spAutoFit/>
          </a:bodyPr>
          <a:lstStyle/>
          <a:p>
            <a:pPr algn="ctr">
              <a:spcAft>
                <a:spcPts val="0"/>
              </a:spcAft>
            </a:pPr>
            <a:r>
              <a:rPr sz="4800" b="1">
                <a:solidFill>
                  <a:srgbClr val="666F79"/>
                </a:solidFill>
                <a:latin typeface="Yu Gothic"/>
                <a:ea typeface="Yu Gothic"/>
              </a:rPr>
              <a:t>未計算</a:t>
            </a:r>
          </a:p>
        </p:txBody>
      </p:sp>
      <p:sp>
        <p:nvSpPr>
          <p:cNvPr id="7" name="TextBox 6"/>
          <p:cNvSpPr txBox="1"/>
          <p:nvPr/>
        </p:nvSpPr>
        <p:spPr>
          <a:xfrm>
            <a:off x="2926080" y="5852160"/>
            <a:ext cx="18470880" cy="1645920"/>
          </a:xfrm>
          <a:prstGeom prst="rect">
            <a:avLst/>
          </a:prstGeom>
          <a:noFill/>
        </p:spPr>
        <p:txBody>
          <a:bodyPr wrap="square" lIns="45720" tIns="18288" rIns="45720" bIns="18288" anchor="t">
            <a:spAutoFit/>
          </a:bodyPr>
          <a:lstStyle/>
          <a:p>
            <a:pPr algn="ctr">
              <a:lnSpc>
                <a:spcPct val="125000"/>
              </a:lnSpc>
              <a:spcAft>
                <a:spcPts val="0"/>
              </a:spcAft>
            </a:pPr>
            <a:r>
              <a:rPr sz="2700" b="0">
                <a:solidFill>
                  <a:srgbClr val="232B34"/>
                </a:solidFill>
                <a:latin typeface="Yu Gothic"/>
                <a:ea typeface="Yu Gothic"/>
              </a:rPr>
              <a:t>ΔT(t) を 0 とし、予測したケース平均DCだけを引いた場合の捕捉時間は、</a:t>
            </a:r>
          </a:p>
          <a:p>
            <a:pPr algn="ctr">
              <a:lnSpc>
                <a:spcPct val="125000"/>
              </a:lnSpc>
              <a:spcAft>
                <a:spcPts val="0"/>
              </a:spcAft>
            </a:pPr>
            <a:r>
              <a:rPr sz="2700" b="0">
                <a:solidFill>
                  <a:srgbClr val="232B34"/>
                </a:solidFill>
                <a:latin typeface="Yu Gothic"/>
                <a:ea typeface="Yu Gothic"/>
              </a:rPr>
              <a:t>今回の走査条件ではまだ計算していない</a:t>
            </a:r>
          </a:p>
        </p:txBody>
      </p:sp>
      <p:sp>
        <p:nvSpPr>
          <p:cNvPr id="8" name="Rounded Rectangle 7"/>
          <p:cNvSpPr/>
          <p:nvPr/>
        </p:nvSpPr>
        <p:spPr>
          <a:xfrm>
            <a:off x="2926080" y="8503920"/>
            <a:ext cx="8869680" cy="2560320"/>
          </a:xfrm>
          <a:prstGeom prst="roundRect">
            <a:avLst/>
          </a:prstGeom>
          <a:solidFill>
            <a:srgbClr val="FFFFFF"/>
          </a:solidFill>
          <a:ln w="22860">
            <a:solidFill>
              <a:srgbClr val="1B74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3127248" y="8796528"/>
            <a:ext cx="8467344" cy="640080"/>
          </a:xfrm>
          <a:prstGeom prst="rect">
            <a:avLst/>
          </a:prstGeom>
          <a:noFill/>
        </p:spPr>
        <p:txBody>
          <a:bodyPr wrap="square" lIns="45720" tIns="18288" rIns="45720" bIns="18288" anchor="t">
            <a:spAutoFit/>
          </a:bodyPr>
          <a:lstStyle/>
          <a:p>
            <a:pPr algn="ctr">
              <a:spcAft>
                <a:spcPts val="0"/>
              </a:spcAft>
            </a:pPr>
            <a:r>
              <a:rPr sz="2500" b="1">
                <a:solidFill>
                  <a:srgbClr val="1B74AA"/>
                </a:solidFill>
                <a:latin typeface="Yu Gothic"/>
                <a:ea typeface="Yu Gothic"/>
              </a:rPr>
              <a:t>この列が示すはずのこと</a:t>
            </a:r>
          </a:p>
        </p:txBody>
      </p:sp>
      <p:sp>
        <p:nvSpPr>
          <p:cNvPr id="10" name="TextBox 9"/>
          <p:cNvSpPr txBox="1"/>
          <p:nvPr/>
        </p:nvSpPr>
        <p:spPr>
          <a:xfrm>
            <a:off x="3200400" y="9601200"/>
            <a:ext cx="8321040" cy="1280160"/>
          </a:xfrm>
          <a:prstGeom prst="rect">
            <a:avLst/>
          </a:prstGeom>
          <a:noFill/>
        </p:spPr>
        <p:txBody>
          <a:bodyPr wrap="square" lIns="45720" tIns="18288" rIns="45720" bIns="18288" anchor="t">
            <a:spAutoFit/>
          </a:bodyPr>
          <a:lstStyle/>
          <a:p>
            <a:pPr algn="ctr">
              <a:lnSpc>
                <a:spcPct val="115000"/>
              </a:lnSpc>
              <a:spcAft>
                <a:spcPts val="0"/>
              </a:spcAft>
            </a:pPr>
            <a:r>
              <a:rPr sz="2200" b="0">
                <a:solidFill>
                  <a:srgbClr val="232B34"/>
                </a:solidFill>
                <a:latin typeface="Yu Gothic"/>
                <a:ea typeface="Yu Gothic"/>
              </a:rPr>
              <a:t>改善のどれだけが平均の除去で、
どれだけが軌道内の時変項によるのかを分ける</a:t>
            </a:r>
          </a:p>
        </p:txBody>
      </p:sp>
      <p:sp>
        <p:nvSpPr>
          <p:cNvPr id="11" name="Rounded Rectangle 10"/>
          <p:cNvSpPr/>
          <p:nvPr/>
        </p:nvSpPr>
        <p:spPr>
          <a:xfrm>
            <a:off x="12527280" y="8503920"/>
            <a:ext cx="8869680" cy="2560320"/>
          </a:xfrm>
          <a:prstGeom prst="roundRect">
            <a:avLst/>
          </a:prstGeom>
          <a:solidFill>
            <a:srgbClr val="FDEFF0"/>
          </a:solidFill>
          <a:ln w="22860">
            <a:solidFill>
              <a:srgbClr val="D03B4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2728448" y="8796528"/>
            <a:ext cx="8467344" cy="640080"/>
          </a:xfrm>
          <a:prstGeom prst="rect">
            <a:avLst/>
          </a:prstGeom>
          <a:noFill/>
        </p:spPr>
        <p:txBody>
          <a:bodyPr wrap="square" lIns="45720" tIns="18288" rIns="45720" bIns="18288" anchor="t">
            <a:spAutoFit/>
          </a:bodyPr>
          <a:lstStyle/>
          <a:p>
            <a:pPr algn="ctr">
              <a:spcAft>
                <a:spcPts val="0"/>
              </a:spcAft>
            </a:pPr>
            <a:r>
              <a:rPr sz="2500" b="1">
                <a:solidFill>
                  <a:srgbClr val="D03B46"/>
                </a:solidFill>
                <a:latin typeface="Yu Gothic"/>
                <a:ea typeface="Yu Gothic"/>
              </a:rPr>
              <a:t>7月に出した秒は流用しない</a:t>
            </a:r>
          </a:p>
        </p:txBody>
      </p:sp>
      <p:sp>
        <p:nvSpPr>
          <p:cNvPr id="13" name="TextBox 12"/>
          <p:cNvSpPr txBox="1"/>
          <p:nvPr/>
        </p:nvSpPr>
        <p:spPr>
          <a:xfrm>
            <a:off x="12801600" y="9601200"/>
            <a:ext cx="8321040" cy="1280160"/>
          </a:xfrm>
          <a:prstGeom prst="rect">
            <a:avLst/>
          </a:prstGeom>
          <a:noFill/>
        </p:spPr>
        <p:txBody>
          <a:bodyPr wrap="square" lIns="45720" tIns="18288" rIns="45720" bIns="18288" anchor="t">
            <a:spAutoFit/>
          </a:bodyPr>
          <a:lstStyle/>
          <a:p>
            <a:pPr algn="ctr">
              <a:lnSpc>
                <a:spcPct val="115000"/>
              </a:lnSpc>
              <a:spcAft>
                <a:spcPts val="0"/>
              </a:spcAft>
            </a:pPr>
            <a:r>
              <a:rPr sz="2200" b="0">
                <a:solidFill>
                  <a:srgbClr val="232B34"/>
                </a:solidFill>
                <a:latin typeface="Yu Gothic"/>
                <a:ea typeface="Yu Gothic"/>
              </a:rPr>
              <a:t>あのときの走査は点間隔と検出半径が
通信ビーム級に細かく、今日の条件とは別</a:t>
            </a:r>
          </a:p>
        </p:txBody>
      </p:sp>
      <p:sp>
        <p:nvSpPr>
          <p:cNvPr id="14" name="TextBox 13"/>
          <p:cNvSpPr txBox="1"/>
          <p:nvPr/>
        </p:nvSpPr>
        <p:spPr>
          <a:xfrm>
            <a:off x="2926080" y="11430000"/>
            <a:ext cx="18470880" cy="548640"/>
          </a:xfrm>
          <a:prstGeom prst="rect">
            <a:avLst/>
          </a:prstGeom>
          <a:noFill/>
        </p:spPr>
        <p:txBody>
          <a:bodyPr wrap="square" lIns="45720" tIns="18288" rIns="45720" bIns="18288" anchor="t">
            <a:spAutoFit/>
          </a:bodyPr>
          <a:lstStyle/>
          <a:p>
            <a:pPr algn="ctr">
              <a:spcAft>
                <a:spcPts val="0"/>
              </a:spcAft>
            </a:pPr>
            <a:r>
              <a:rPr sz="2400" b="1">
                <a:solidFill>
                  <a:srgbClr val="D03B46"/>
                </a:solidFill>
                <a:latin typeface="Yu Gothic"/>
                <a:ea typeface="Yu Gothic"/>
              </a:rPr>
              <a:t>本編の結論には、この未計算の列の数字を一切使っていない</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Yu Gothic"/>
                <a:ea typeface="Yu Gothic"/>
              </a:rPr>
              <a:t>補足</a:t>
            </a:r>
          </a:p>
        </p:txBody>
      </p:sp>
      <p:sp>
        <p:nvSpPr>
          <p:cNvPr id="3" name="TextBox 2"/>
          <p:cNvSpPr txBox="1"/>
          <p:nvPr/>
        </p:nvSpPr>
        <p:spPr>
          <a:xfrm>
            <a:off x="1536192" y="1298448"/>
            <a:ext cx="22037040" cy="960120"/>
          </a:xfrm>
          <a:prstGeom prst="rect">
            <a:avLst/>
          </a:prstGeom>
          <a:noFill/>
        </p:spPr>
        <p:txBody>
          <a:bodyPr wrap="square" lIns="36576" tIns="27432" rIns="36576" bIns="27432" anchor="t">
            <a:spAutoFit/>
          </a:bodyPr>
          <a:lstStyle/>
          <a:p>
            <a:pPr algn="l">
              <a:spcAft>
                <a:spcPts val="0"/>
              </a:spcAft>
            </a:pPr>
            <a:r>
              <a:rPr sz="3200" b="1">
                <a:solidFill>
                  <a:srgbClr val="082B52"/>
                </a:solidFill>
                <a:latin typeface="Yu Gothic"/>
                <a:ea typeface="Yu Gothic"/>
              </a:rPr>
              <a:t>B8｜先行研究の位置づけ（2軸で見る）</a:t>
            </a:r>
          </a:p>
        </p:txBody>
      </p:sp>
      <p:sp>
        <p:nvSpPr>
          <p:cNvPr id="4" name="TextBox 3"/>
          <p:cNvSpPr txBox="1"/>
          <p:nvPr/>
        </p:nvSpPr>
        <p:spPr>
          <a:xfrm>
            <a:off x="21762720" y="12819888"/>
            <a:ext cx="2011680" cy="384048"/>
          </a:xfrm>
          <a:prstGeom prst="rect">
            <a:avLst/>
          </a:prstGeom>
          <a:noFill/>
        </p:spPr>
        <p:txBody>
          <a:bodyPr wrap="square" lIns="36576" tIns="27432" rIns="36576" bIns="27432" anchor="t">
            <a:spAutoFit/>
          </a:bodyPr>
          <a:lstStyle/>
          <a:p>
            <a:pPr algn="r">
              <a:spcAft>
                <a:spcPts val="0"/>
              </a:spcAft>
            </a:pPr>
            <a:r>
              <a:rPr sz="1800" b="0">
                <a:solidFill>
                  <a:srgbClr val="666F79"/>
                </a:solidFill>
                <a:latin typeface="Yu Gothic"/>
                <a:ea typeface="Yu Gothic"/>
              </a:rPr>
              <a:t>B8</a:t>
            </a:r>
          </a:p>
        </p:txBody>
      </p:sp>
      <p:graphicFrame>
        <p:nvGraphicFramePr>
          <p:cNvPr id="5" name="Table 4"/>
          <p:cNvGraphicFramePr>
            <a:graphicFrameLocks noGrp="1"/>
          </p:cNvGraphicFramePr>
          <p:nvPr/>
        </p:nvGraphicFramePr>
        <p:xfrm>
          <a:off x="1828800" y="2926080"/>
          <a:ext cx="20665440" cy="7360919"/>
        </p:xfrm>
        <a:graphic>
          <a:graphicData uri="http://schemas.openxmlformats.org/drawingml/2006/table">
            <a:tbl>
              <a:tblPr firstRow="1" bandRow="1">
                <a:tableStyleId>{5C22544A-7EE6-4342-B048-85BDC9FD1C3A}</a:tableStyleId>
              </a:tblPr>
              <a:tblGrid>
                <a:gridCol w="6400800">
                  <a:extLst>
                    <a:ext uri="{9D8B030D-6E8A-4147-A177-3AD203B41FA5}">
                      <a16:colId xmlns:a16="http://schemas.microsoft.com/office/drawing/2014/main" val="20000"/>
                    </a:ext>
                  </a:extLst>
                </a:gridCol>
                <a:gridCol w="14264640">
                  <a:extLst>
                    <a:ext uri="{9D8B030D-6E8A-4147-A177-3AD203B41FA5}">
                      <a16:colId xmlns:a16="http://schemas.microsoft.com/office/drawing/2014/main" val="20001"/>
                    </a:ext>
                  </a:extLst>
                </a:gridCol>
              </a:tblGrid>
              <a:tr h="1051559">
                <a:tc>
                  <a:txBody>
                    <a:bodyPr/>
                    <a:lstStyle/>
                    <a:p>
                      <a:pPr algn="l">
                        <a:spcAft>
                          <a:spcPts val="0"/>
                        </a:spcAft>
                      </a:pPr>
                      <a:r>
                        <a:rPr sz="2300" b="1">
                          <a:solidFill>
                            <a:srgbClr val="FFFFFF"/>
                          </a:solidFill>
                          <a:latin typeface="Yu Gothic"/>
                          <a:ea typeface="Yu Gothic"/>
                        </a:rPr>
                        <a:t>研究</a:t>
                      </a:r>
                    </a:p>
                  </a:txBody>
                  <a:tcPr marL="64008" marR="64008" marT="27432" marB="27432" anchor="ctr">
                    <a:solidFill>
                      <a:srgbClr val="5D4084"/>
                    </a:solidFill>
                  </a:tcPr>
                </a:tc>
                <a:tc>
                  <a:txBody>
                    <a:bodyPr/>
                    <a:lstStyle/>
                    <a:p>
                      <a:pPr algn="ctr">
                        <a:spcAft>
                          <a:spcPts val="0"/>
                        </a:spcAft>
                      </a:pPr>
                      <a:r>
                        <a:rPr sz="2300" b="1">
                          <a:solidFill>
                            <a:srgbClr val="FFFFFF"/>
                          </a:solidFill>
                          <a:latin typeface="Yu Gothic"/>
                          <a:ea typeface="Yu Gothic"/>
                        </a:rPr>
                        <a:t>熱状態からLOSを予測するか / 粗捕捉時間を評価するか</a:t>
                      </a:r>
                    </a:p>
                  </a:txBody>
                  <a:tcPr marL="64008" marR="64008" marT="27432" marB="27432" anchor="ctr">
                    <a:solidFill>
                      <a:srgbClr val="5D4084"/>
                    </a:solidFill>
                  </a:tcPr>
                </a:tc>
                <a:extLst>
                  <a:ext uri="{0D108BD9-81ED-4DB2-BD59-A6C34878D82A}">
                    <a16:rowId xmlns:a16="http://schemas.microsoft.com/office/drawing/2014/main" val="10000"/>
                  </a:ext>
                </a:extLst>
              </a:tr>
              <a:tr h="1051559">
                <a:tc>
                  <a:txBody>
                    <a:bodyPr/>
                    <a:lstStyle/>
                    <a:p>
                      <a:pPr algn="l">
                        <a:spcAft>
                          <a:spcPts val="0"/>
                        </a:spcAft>
                      </a:pPr>
                      <a:r>
                        <a:rPr sz="2300" b="0">
                          <a:solidFill>
                            <a:srgbClr val="232B34"/>
                          </a:solidFill>
                          <a:latin typeface="Yu Gothic"/>
                          <a:ea typeface="Yu Gothic"/>
                        </a:rPr>
                        <a:t>Riesing 2023（TBIRD）</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熱は明示せず姿勢系で吸収 / 軌道上で捕捉を評価</a:t>
                      </a:r>
                    </a:p>
                  </a:txBody>
                  <a:tcPr marL="64008" marR="64008" marT="27432" marB="27432" anchor="ctr">
                    <a:solidFill>
                      <a:srgbClr val="EBF6FB"/>
                    </a:solidFill>
                  </a:tcPr>
                </a:tc>
                <a:extLst>
                  <a:ext uri="{0D108BD9-81ED-4DB2-BD59-A6C34878D82A}">
                    <a16:rowId xmlns:a16="http://schemas.microsoft.com/office/drawing/2014/main" val="10001"/>
                  </a:ext>
                </a:extLst>
              </a:tr>
              <a:tr h="1051559">
                <a:tc>
                  <a:txBody>
                    <a:bodyPr/>
                    <a:lstStyle/>
                    <a:p>
                      <a:pPr algn="l">
                        <a:spcAft>
                          <a:spcPts val="0"/>
                        </a:spcAft>
                      </a:pPr>
                      <a:r>
                        <a:rPr sz="2300" b="0">
                          <a:solidFill>
                            <a:srgbClr val="232B34"/>
                          </a:solidFill>
                          <a:latin typeface="Yu Gothic"/>
                          <a:ea typeface="Yu Gothic"/>
                        </a:rPr>
                        <a:t>Shi 2023</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構造設計で熱変形を小さくする / 捕捉時間を評価</a:t>
                      </a:r>
                    </a:p>
                  </a:txBody>
                  <a:tcPr marL="64008" marR="64008" marT="27432" marB="27432" anchor="ctr">
                    <a:solidFill>
                      <a:srgbClr val="EBF6FB"/>
                    </a:solidFill>
                  </a:tcPr>
                </a:tc>
                <a:extLst>
                  <a:ext uri="{0D108BD9-81ED-4DB2-BD59-A6C34878D82A}">
                    <a16:rowId xmlns:a16="http://schemas.microsoft.com/office/drawing/2014/main" val="10002"/>
                  </a:ext>
                </a:extLst>
              </a:tr>
              <a:tr h="1051559">
                <a:tc>
                  <a:txBody>
                    <a:bodyPr/>
                    <a:lstStyle/>
                    <a:p>
                      <a:pPr algn="l">
                        <a:spcAft>
                          <a:spcPts val="0"/>
                        </a:spcAft>
                      </a:pPr>
                      <a:r>
                        <a:rPr sz="2300" b="0">
                          <a:solidFill>
                            <a:srgbClr val="232B34"/>
                          </a:solidFill>
                          <a:latin typeface="Yu Gothic"/>
                          <a:ea typeface="Yu Gothic"/>
                        </a:rPr>
                        <a:t>Hu 2022（GEO）</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周期モデルで熱LOSを補正 / 粗捕捉は評価しない</a:t>
                      </a:r>
                    </a:p>
                  </a:txBody>
                  <a:tcPr marL="64008" marR="64008" marT="27432" marB="27432" anchor="ctr">
                    <a:solidFill>
                      <a:srgbClr val="EBF6FB"/>
                    </a:solidFill>
                  </a:tcPr>
                </a:tc>
                <a:extLst>
                  <a:ext uri="{0D108BD9-81ED-4DB2-BD59-A6C34878D82A}">
                    <a16:rowId xmlns:a16="http://schemas.microsoft.com/office/drawing/2014/main" val="10003"/>
                  </a:ext>
                </a:extLst>
              </a:tr>
              <a:tr h="1051559">
                <a:tc>
                  <a:txBody>
                    <a:bodyPr/>
                    <a:lstStyle/>
                    <a:p>
                      <a:pPr algn="l">
                        <a:spcAft>
                          <a:spcPts val="0"/>
                        </a:spcAft>
                      </a:pPr>
                      <a:r>
                        <a:rPr sz="2300" b="0">
                          <a:solidFill>
                            <a:srgbClr val="232B34"/>
                          </a:solidFill>
                          <a:latin typeface="Yu Gothic"/>
                          <a:ea typeface="Yu Gothic"/>
                        </a:rPr>
                        <a:t>Li 2025（LEO）</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ニューラルネットで熱LOSを補正 / 粗捕捉は評価しない</a:t>
                      </a:r>
                    </a:p>
                  </a:txBody>
                  <a:tcPr marL="64008" marR="64008" marT="27432" marB="27432" anchor="ctr">
                    <a:solidFill>
                      <a:srgbClr val="EBF6FB"/>
                    </a:solidFill>
                  </a:tcPr>
                </a:tc>
                <a:extLst>
                  <a:ext uri="{0D108BD9-81ED-4DB2-BD59-A6C34878D82A}">
                    <a16:rowId xmlns:a16="http://schemas.microsoft.com/office/drawing/2014/main" val="10004"/>
                  </a:ext>
                </a:extLst>
              </a:tr>
              <a:tr h="1051559">
                <a:tc>
                  <a:txBody>
                    <a:bodyPr/>
                    <a:lstStyle/>
                    <a:p>
                      <a:pPr algn="l">
                        <a:spcAft>
                          <a:spcPts val="0"/>
                        </a:spcAft>
                      </a:pPr>
                      <a:r>
                        <a:rPr sz="2300" b="0">
                          <a:solidFill>
                            <a:srgbClr val="232B34"/>
                          </a:solidFill>
                          <a:latin typeface="Yu Gothic"/>
                          <a:ea typeface="Yu Gothic"/>
                        </a:rPr>
                        <a:t>JANUS（Turella）</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壁面温度差に比例する一次式 / 粗捕捉は評価しない</a:t>
                      </a:r>
                    </a:p>
                  </a:txBody>
                  <a:tcPr marL="64008" marR="64008" marT="27432" marB="27432" anchor="ctr">
                    <a:solidFill>
                      <a:srgbClr val="EBF6FB"/>
                    </a:solidFill>
                  </a:tcPr>
                </a:tc>
                <a:extLst>
                  <a:ext uri="{0D108BD9-81ED-4DB2-BD59-A6C34878D82A}">
                    <a16:rowId xmlns:a16="http://schemas.microsoft.com/office/drawing/2014/main" val="10005"/>
                  </a:ext>
                </a:extLst>
              </a:tr>
              <a:tr h="1051565">
                <a:tc>
                  <a:txBody>
                    <a:bodyPr/>
                    <a:lstStyle/>
                    <a:p>
                      <a:pPr algn="l">
                        <a:spcAft>
                          <a:spcPts val="0"/>
                        </a:spcAft>
                      </a:pPr>
                      <a:r>
                        <a:rPr sz="2300" b="0">
                          <a:solidFill>
                            <a:srgbClr val="232B34"/>
                          </a:solidFill>
                          <a:latin typeface="Yu Gothic"/>
                          <a:ea typeface="Yu Gothic"/>
                        </a:rPr>
                        <a:t>本研究</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太陽面温度差と運用フラグで予測する / 捕捉時間まで評価する</a:t>
                      </a:r>
                    </a:p>
                  </a:txBody>
                  <a:tcPr marL="64008" marR="64008" marT="27432" marB="27432" anchor="ctr">
                    <a:solidFill>
                      <a:srgbClr val="EBF6FB"/>
                    </a:solidFill>
                  </a:tcPr>
                </a:tc>
                <a:extLst>
                  <a:ext uri="{0D108BD9-81ED-4DB2-BD59-A6C34878D82A}">
                    <a16:rowId xmlns:a16="http://schemas.microsoft.com/office/drawing/2014/main" val="10006"/>
                  </a:ext>
                </a:extLst>
              </a:tr>
            </a:tbl>
          </a:graphicData>
        </a:graphic>
      </p:graphicFrame>
      <p:sp>
        <p:nvSpPr>
          <p:cNvPr id="6" name="TextBox 5"/>
          <p:cNvSpPr txBox="1"/>
          <p:nvPr/>
        </p:nvSpPr>
        <p:spPr>
          <a:xfrm>
            <a:off x="1280160" y="10698480"/>
            <a:ext cx="21762720" cy="640080"/>
          </a:xfrm>
          <a:prstGeom prst="rect">
            <a:avLst/>
          </a:prstGeom>
          <a:noFill/>
        </p:spPr>
        <p:txBody>
          <a:bodyPr wrap="square" lIns="45720" tIns="18288" rIns="45720" bIns="18288" anchor="t">
            <a:spAutoFit/>
          </a:bodyPr>
          <a:lstStyle/>
          <a:p>
            <a:pPr algn="ctr">
              <a:spcAft>
                <a:spcPts val="0"/>
              </a:spcAft>
            </a:pPr>
            <a:r>
              <a:rPr sz="2400" b="1">
                <a:solidFill>
                  <a:srgbClr val="082B52"/>
                </a:solidFill>
                <a:latin typeface="Yu Gothic"/>
                <a:ea typeface="Yu Gothic"/>
              </a:rPr>
              <a:t>新しいのは一次関係そのものではなく、バス上のSTT–LCTへの適用、条件横断の係数共有、捕捉時間への接続</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45720" tIns="18288" rIns="45720" bIns="18288" anchor="ctr">
            <a:spAutoFit/>
          </a:bodyPr>
          <a:lstStyle/>
          <a:p>
            <a:pPr algn="l">
              <a:spcAft>
                <a:spcPts val="0"/>
              </a:spcAft>
            </a:pPr>
            <a:r>
              <a:rPr sz="2000" b="0">
                <a:solidFill>
                  <a:srgbClr val="666F79"/>
                </a:solidFill>
                <a:latin typeface="Yu Gothic"/>
                <a:ea typeface="Yu Gothic"/>
              </a:rPr>
              <a:t>補足</a:t>
            </a:r>
          </a:p>
        </p:txBody>
      </p:sp>
      <p:sp>
        <p:nvSpPr>
          <p:cNvPr id="3" name="TextBox 2"/>
          <p:cNvSpPr txBox="1"/>
          <p:nvPr/>
        </p:nvSpPr>
        <p:spPr>
          <a:xfrm>
            <a:off x="1536192" y="1298448"/>
            <a:ext cx="22037040" cy="1188720"/>
          </a:xfrm>
          <a:prstGeom prst="rect">
            <a:avLst/>
          </a:prstGeom>
          <a:noFill/>
        </p:spPr>
        <p:txBody>
          <a:bodyPr wrap="square" lIns="45720" tIns="18288" rIns="45720" bIns="18288" anchor="ctr">
            <a:spAutoFit/>
          </a:bodyPr>
          <a:lstStyle/>
          <a:p>
            <a:pPr algn="l">
              <a:lnSpc>
                <a:spcPct val="110000"/>
              </a:lnSpc>
              <a:spcAft>
                <a:spcPts val="0"/>
              </a:spcAft>
            </a:pPr>
            <a:r>
              <a:rPr sz="3200" b="1">
                <a:solidFill>
                  <a:srgbClr val="082B52"/>
                </a:solidFill>
                <a:latin typeface="Yu Gothic"/>
                <a:ea typeface="Yu Gothic"/>
              </a:rPr>
              <a:t>B9｜解析モデルの妥当性をどう検証するか</a:t>
            </a:r>
          </a:p>
        </p:txBody>
      </p:sp>
      <p:sp>
        <p:nvSpPr>
          <p:cNvPr id="4" name="TextBox 3"/>
          <p:cNvSpPr txBox="1"/>
          <p:nvPr/>
        </p:nvSpPr>
        <p:spPr>
          <a:xfrm>
            <a:off x="21762720" y="12819888"/>
            <a:ext cx="2011680" cy="384048"/>
          </a:xfrm>
          <a:prstGeom prst="rect">
            <a:avLst/>
          </a:prstGeom>
          <a:noFill/>
        </p:spPr>
        <p:txBody>
          <a:bodyPr wrap="square" lIns="45720" tIns="18288" rIns="45720" bIns="18288" anchor="t">
            <a:spAutoFit/>
          </a:bodyPr>
          <a:lstStyle/>
          <a:p>
            <a:pPr algn="r">
              <a:spcAft>
                <a:spcPts val="0"/>
              </a:spcAft>
            </a:pPr>
            <a:r>
              <a:rPr sz="1800" b="0">
                <a:solidFill>
                  <a:srgbClr val="666F79"/>
                </a:solidFill>
                <a:latin typeface="Yu Gothic"/>
                <a:ea typeface="Yu Gothic"/>
              </a:rPr>
              <a:t>B9</a:t>
            </a:r>
          </a:p>
        </p:txBody>
      </p:sp>
      <p:sp>
        <p:nvSpPr>
          <p:cNvPr id="5" name="Rounded Rectangle 4"/>
          <p:cNvSpPr/>
          <p:nvPr/>
        </p:nvSpPr>
        <p:spPr>
          <a:xfrm>
            <a:off x="1463040" y="3291840"/>
            <a:ext cx="10607040" cy="3566160"/>
          </a:xfrm>
          <a:prstGeom prst="roundRect">
            <a:avLst/>
          </a:prstGeom>
          <a:solidFill>
            <a:srgbClr val="EBF6FB"/>
          </a:solidFill>
          <a:ln w="22860">
            <a:solidFill>
              <a:srgbClr val="1B74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664208" y="3584448"/>
            <a:ext cx="10204704" cy="640080"/>
          </a:xfrm>
          <a:prstGeom prst="rect">
            <a:avLst/>
          </a:prstGeom>
          <a:noFill/>
        </p:spPr>
        <p:txBody>
          <a:bodyPr wrap="square" lIns="45720" tIns="18288" rIns="45720" bIns="18288" anchor="t">
            <a:spAutoFit/>
          </a:bodyPr>
          <a:lstStyle/>
          <a:p>
            <a:pPr algn="l">
              <a:spcAft>
                <a:spcPts val="0"/>
              </a:spcAft>
            </a:pPr>
            <a:r>
              <a:rPr sz="2700" b="1">
                <a:solidFill>
                  <a:srgbClr val="1B74AA"/>
                </a:solidFill>
                <a:latin typeface="Yu Gothic"/>
                <a:ea typeface="Yu Gothic"/>
              </a:rPr>
              <a:t>今日の主張の範囲</a:t>
            </a:r>
          </a:p>
        </p:txBody>
      </p:sp>
      <p:sp>
        <p:nvSpPr>
          <p:cNvPr id="7" name="TextBox 6"/>
          <p:cNvSpPr txBox="1"/>
          <p:nvPr/>
        </p:nvSpPr>
        <p:spPr>
          <a:xfrm>
            <a:off x="1737360" y="4434840"/>
            <a:ext cx="10058400" cy="2240279"/>
          </a:xfrm>
          <a:prstGeom prst="rect">
            <a:avLst/>
          </a:prstGeom>
          <a:noFill/>
        </p:spPr>
        <p:txBody>
          <a:bodyPr wrap="square" lIns="45720" tIns="18288" rIns="45720" bIns="18288" anchor="t">
            <a:spAutoFit/>
          </a:bodyPr>
          <a:lstStyle/>
          <a:p>
            <a:pPr algn="l">
              <a:lnSpc>
                <a:spcPct val="115000"/>
              </a:lnSpc>
              <a:spcAft>
                <a:spcPts val="0"/>
              </a:spcAft>
            </a:pPr>
            <a:r>
              <a:rPr sz="2300" b="0">
                <a:solidFill>
                  <a:srgbClr val="232B34"/>
                </a:solidFill>
                <a:latin typeface="Yu Gothic"/>
                <a:ea typeface="Yu Gothic"/>
              </a:rPr>
              <a:t>同一の解析チェーン（Thermal Desktop / Femap）の中での数値評価である。
外しているのはケースであって、構造やLOS定義ではない</a:t>
            </a:r>
          </a:p>
        </p:txBody>
      </p:sp>
      <p:sp>
        <p:nvSpPr>
          <p:cNvPr id="8" name="Rounded Rectangle 7"/>
          <p:cNvSpPr/>
          <p:nvPr/>
        </p:nvSpPr>
        <p:spPr>
          <a:xfrm>
            <a:off x="12801600" y="3291840"/>
            <a:ext cx="10424160" cy="3566160"/>
          </a:xfrm>
          <a:prstGeom prst="roundRect">
            <a:avLst/>
          </a:prstGeom>
          <a:solidFill>
            <a:srgbClr val="FEF5E6"/>
          </a:solidFill>
          <a:ln w="22860">
            <a:solidFill>
              <a:srgbClr val="EC942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3002768" y="3584448"/>
            <a:ext cx="10021824" cy="640080"/>
          </a:xfrm>
          <a:prstGeom prst="rect">
            <a:avLst/>
          </a:prstGeom>
          <a:noFill/>
        </p:spPr>
        <p:txBody>
          <a:bodyPr wrap="square" lIns="45720" tIns="18288" rIns="45720" bIns="18288" anchor="t">
            <a:spAutoFit/>
          </a:bodyPr>
          <a:lstStyle/>
          <a:p>
            <a:pPr algn="l">
              <a:spcAft>
                <a:spcPts val="0"/>
              </a:spcAft>
            </a:pPr>
            <a:r>
              <a:rPr sz="2700" b="1">
                <a:solidFill>
                  <a:srgbClr val="EC9427"/>
                </a:solidFill>
                <a:latin typeface="Yu Gothic"/>
                <a:ea typeface="Yu Gothic"/>
              </a:rPr>
              <a:t>入っていないもの</a:t>
            </a:r>
          </a:p>
        </p:txBody>
      </p:sp>
      <p:sp>
        <p:nvSpPr>
          <p:cNvPr id="10" name="TextBox 9"/>
          <p:cNvSpPr txBox="1"/>
          <p:nvPr/>
        </p:nvSpPr>
        <p:spPr>
          <a:xfrm>
            <a:off x="13075920" y="4434840"/>
            <a:ext cx="9875520" cy="2240279"/>
          </a:xfrm>
          <a:prstGeom prst="rect">
            <a:avLst/>
          </a:prstGeom>
          <a:noFill/>
        </p:spPr>
        <p:txBody>
          <a:bodyPr wrap="square" lIns="45720" tIns="18288" rIns="45720" bIns="18288" anchor="t">
            <a:spAutoFit/>
          </a:bodyPr>
          <a:lstStyle/>
          <a:p>
            <a:pPr algn="l">
              <a:lnSpc>
                <a:spcPct val="115000"/>
              </a:lnSpc>
              <a:spcAft>
                <a:spcPts val="0"/>
              </a:spcAft>
            </a:pPr>
            <a:r>
              <a:rPr sz="2300" b="0">
                <a:solidFill>
                  <a:srgbClr val="232B34"/>
                </a:solidFill>
                <a:latin typeface="Yu Gothic"/>
                <a:ea typeface="Yu Gothic"/>
              </a:rPr>
              <a:t>打上げ後のアライメント変化、実機の剛性差、組立公差、
軌道上での経年変化</a:t>
            </a:r>
          </a:p>
        </p:txBody>
      </p:sp>
      <p:sp>
        <p:nvSpPr>
          <p:cNvPr id="11" name="Rounded Rectangle 10"/>
          <p:cNvSpPr/>
          <p:nvPr/>
        </p:nvSpPr>
        <p:spPr>
          <a:xfrm>
            <a:off x="1463040" y="7315200"/>
            <a:ext cx="21762720" cy="3108960"/>
          </a:xfrm>
          <a:prstGeom prst="roundRect">
            <a:avLst/>
          </a:prstGeom>
          <a:solidFill>
            <a:srgbClr val="EAF8F1"/>
          </a:solidFill>
          <a:ln w="22860">
            <a:solidFill>
              <a:srgbClr val="23957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664208" y="7607808"/>
            <a:ext cx="21360384" cy="640080"/>
          </a:xfrm>
          <a:prstGeom prst="rect">
            <a:avLst/>
          </a:prstGeom>
          <a:noFill/>
        </p:spPr>
        <p:txBody>
          <a:bodyPr wrap="square" lIns="45720" tIns="18288" rIns="45720" bIns="18288" anchor="t">
            <a:spAutoFit/>
          </a:bodyPr>
          <a:lstStyle/>
          <a:p>
            <a:pPr algn="l">
              <a:spcAft>
                <a:spcPts val="0"/>
              </a:spcAft>
            </a:pPr>
            <a:r>
              <a:rPr sz="2700" b="1">
                <a:solidFill>
                  <a:srgbClr val="239571"/>
                </a:solidFill>
                <a:latin typeface="Yu Gothic"/>
                <a:ea typeface="Yu Gothic"/>
              </a:rPr>
              <a:t>今後の検証</a:t>
            </a:r>
          </a:p>
        </p:txBody>
      </p:sp>
      <p:sp>
        <p:nvSpPr>
          <p:cNvPr id="13" name="TextBox 12"/>
          <p:cNvSpPr txBox="1"/>
          <p:nvPr/>
        </p:nvSpPr>
        <p:spPr>
          <a:xfrm>
            <a:off x="1737360" y="8458200"/>
            <a:ext cx="21214080" cy="1783080"/>
          </a:xfrm>
          <a:prstGeom prst="rect">
            <a:avLst/>
          </a:prstGeom>
          <a:noFill/>
        </p:spPr>
        <p:txBody>
          <a:bodyPr wrap="square" lIns="45720" tIns="18288" rIns="45720" bIns="18288" anchor="t">
            <a:spAutoFit/>
          </a:bodyPr>
          <a:lstStyle/>
          <a:p>
            <a:pPr algn="l">
              <a:lnSpc>
                <a:spcPct val="115000"/>
              </a:lnSpc>
              <a:spcAft>
                <a:spcPts val="0"/>
              </a:spcAft>
            </a:pPr>
            <a:r>
              <a:rPr sz="2400" b="0">
                <a:solidFill>
                  <a:srgbClr val="232B34"/>
                </a:solidFill>
                <a:latin typeface="Yu Gothic"/>
                <a:ea typeface="Yu Gothic"/>
              </a:rPr>
              <a:t>地上の熱真空試験で温度と変位を同時に測り、感度 a を実測で確かめる。
係数の取り直しが前提であり、式の形が移せるかを見る</a:t>
            </a:r>
          </a:p>
        </p:txBody>
      </p:sp>
      <p:sp>
        <p:nvSpPr>
          <p:cNvPr id="14" name="TextBox 13"/>
          <p:cNvSpPr txBox="1"/>
          <p:nvPr/>
        </p:nvSpPr>
        <p:spPr>
          <a:xfrm>
            <a:off x="1463040" y="10881360"/>
            <a:ext cx="21762720" cy="640080"/>
          </a:xfrm>
          <a:prstGeom prst="rect">
            <a:avLst/>
          </a:prstGeom>
          <a:noFill/>
        </p:spPr>
        <p:txBody>
          <a:bodyPr wrap="square" lIns="45720" tIns="18288" rIns="45720" bIns="18288" anchor="t">
            <a:spAutoFit/>
          </a:bodyPr>
          <a:lstStyle/>
          <a:p>
            <a:pPr algn="ctr">
              <a:spcAft>
                <a:spcPts val="0"/>
              </a:spcAft>
            </a:pPr>
            <a:r>
              <a:rPr sz="2600" b="1">
                <a:solidFill>
                  <a:srgbClr val="082B52"/>
                </a:solidFill>
                <a:latin typeface="Yu Gothic"/>
                <a:ea typeface="Yu Gothic"/>
              </a:rPr>
              <a:t>主張を『解析を真値として完璧に当てる』に置いていない</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45720" tIns="18288" rIns="45720" bIns="18288" anchor="ctr">
            <a:spAutoFit/>
          </a:bodyPr>
          <a:lstStyle/>
          <a:p>
            <a:pPr algn="l">
              <a:spcAft>
                <a:spcPts val="0"/>
              </a:spcAft>
            </a:pPr>
            <a:r>
              <a:rPr sz="2000" b="0">
                <a:solidFill>
                  <a:srgbClr val="666F79"/>
                </a:solidFill>
                <a:latin typeface="Yu Gothic"/>
                <a:ea typeface="Yu Gothic"/>
              </a:rPr>
              <a:t>補足</a:t>
            </a:r>
          </a:p>
        </p:txBody>
      </p:sp>
      <p:sp>
        <p:nvSpPr>
          <p:cNvPr id="3" name="TextBox 2"/>
          <p:cNvSpPr txBox="1"/>
          <p:nvPr/>
        </p:nvSpPr>
        <p:spPr>
          <a:xfrm>
            <a:off x="1536192" y="1298448"/>
            <a:ext cx="22037040" cy="1188720"/>
          </a:xfrm>
          <a:prstGeom prst="rect">
            <a:avLst/>
          </a:prstGeom>
          <a:noFill/>
        </p:spPr>
        <p:txBody>
          <a:bodyPr wrap="square" lIns="45720" tIns="18288" rIns="45720" bIns="18288" anchor="ctr">
            <a:spAutoFit/>
          </a:bodyPr>
          <a:lstStyle/>
          <a:p>
            <a:pPr algn="l">
              <a:lnSpc>
                <a:spcPct val="110000"/>
              </a:lnSpc>
              <a:spcAft>
                <a:spcPts val="0"/>
              </a:spcAft>
            </a:pPr>
            <a:r>
              <a:rPr sz="3200" b="1">
                <a:solidFill>
                  <a:srgbClr val="082B52"/>
                </a:solidFill>
                <a:latin typeface="Yu Gothic"/>
                <a:ea typeface="Yu Gothic"/>
              </a:rPr>
              <a:t>B10｜姿勢の前提と、変わる頻度</a:t>
            </a:r>
          </a:p>
        </p:txBody>
      </p:sp>
      <p:sp>
        <p:nvSpPr>
          <p:cNvPr id="4" name="TextBox 3"/>
          <p:cNvSpPr txBox="1"/>
          <p:nvPr/>
        </p:nvSpPr>
        <p:spPr>
          <a:xfrm>
            <a:off x="21762720" y="12819888"/>
            <a:ext cx="2011680" cy="384048"/>
          </a:xfrm>
          <a:prstGeom prst="rect">
            <a:avLst/>
          </a:prstGeom>
          <a:noFill/>
        </p:spPr>
        <p:txBody>
          <a:bodyPr wrap="square" lIns="45720" tIns="18288" rIns="45720" bIns="18288" anchor="t">
            <a:spAutoFit/>
          </a:bodyPr>
          <a:lstStyle/>
          <a:p>
            <a:pPr algn="r">
              <a:spcAft>
                <a:spcPts val="0"/>
              </a:spcAft>
            </a:pPr>
            <a:r>
              <a:rPr sz="1800" b="0">
                <a:solidFill>
                  <a:srgbClr val="666F79"/>
                </a:solidFill>
                <a:latin typeface="Yu Gothic"/>
                <a:ea typeface="Yu Gothic"/>
              </a:rPr>
              <a:t>B10</a:t>
            </a:r>
          </a:p>
        </p:txBody>
      </p:sp>
      <p:sp>
        <p:nvSpPr>
          <p:cNvPr id="5" name="Rounded Rectangle 4"/>
          <p:cNvSpPr/>
          <p:nvPr/>
        </p:nvSpPr>
        <p:spPr>
          <a:xfrm>
            <a:off x="1463040" y="3383280"/>
            <a:ext cx="10607040" cy="3840480"/>
          </a:xfrm>
          <a:prstGeom prst="roundRect">
            <a:avLst/>
          </a:prstGeom>
          <a:solidFill>
            <a:srgbClr val="EBF6FB"/>
          </a:solidFill>
          <a:ln w="22860">
            <a:solidFill>
              <a:srgbClr val="1B74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664208" y="3675888"/>
            <a:ext cx="10204704" cy="640080"/>
          </a:xfrm>
          <a:prstGeom prst="rect">
            <a:avLst/>
          </a:prstGeom>
          <a:noFill/>
        </p:spPr>
        <p:txBody>
          <a:bodyPr wrap="square" lIns="45720" tIns="18288" rIns="45720" bIns="18288" anchor="t">
            <a:spAutoFit/>
          </a:bodyPr>
          <a:lstStyle/>
          <a:p>
            <a:pPr algn="l">
              <a:spcAft>
                <a:spcPts val="0"/>
              </a:spcAft>
            </a:pPr>
            <a:r>
              <a:rPr sz="2700" b="1">
                <a:solidFill>
                  <a:srgbClr val="1B74AA"/>
                </a:solidFill>
                <a:latin typeface="Yu Gothic"/>
                <a:ea typeface="Yu Gothic"/>
              </a:rPr>
              <a:t>前提</a:t>
            </a:r>
          </a:p>
        </p:txBody>
      </p:sp>
      <p:sp>
        <p:nvSpPr>
          <p:cNvPr id="7" name="TextBox 6"/>
          <p:cNvSpPr txBox="1"/>
          <p:nvPr/>
        </p:nvSpPr>
        <p:spPr>
          <a:xfrm>
            <a:off x="1737360" y="4526280"/>
            <a:ext cx="10058400" cy="2514600"/>
          </a:xfrm>
          <a:prstGeom prst="rect">
            <a:avLst/>
          </a:prstGeom>
          <a:noFill/>
        </p:spPr>
        <p:txBody>
          <a:bodyPr wrap="square" lIns="45720" tIns="18288" rIns="45720" bIns="18288" anchor="t">
            <a:spAutoFit/>
          </a:bodyPr>
          <a:lstStyle/>
          <a:p>
            <a:pPr algn="l">
              <a:lnSpc>
                <a:spcPct val="115000"/>
              </a:lnSpc>
              <a:spcAft>
                <a:spcPts val="0"/>
              </a:spcAft>
            </a:pPr>
            <a:r>
              <a:rPr sz="2300" b="0">
                <a:solidFill>
                  <a:srgbClr val="232B34"/>
                </a:solidFill>
                <a:latin typeface="Yu Gothic"/>
                <a:ea typeface="Yu Gothic"/>
              </a:rPr>
              <a:t>本体指向を想定し、ケース内では太陽指向面を固定している。
通信中に構体の太陽面が入れ替わる時系列は解析していない</a:t>
            </a:r>
          </a:p>
        </p:txBody>
      </p:sp>
      <p:sp>
        <p:nvSpPr>
          <p:cNvPr id="8" name="Rounded Rectangle 7"/>
          <p:cNvSpPr/>
          <p:nvPr/>
        </p:nvSpPr>
        <p:spPr>
          <a:xfrm>
            <a:off x="12801600" y="3383280"/>
            <a:ext cx="10424160" cy="3840480"/>
          </a:xfrm>
          <a:prstGeom prst="roundRect">
            <a:avLst/>
          </a:prstGeom>
          <a:solidFill>
            <a:srgbClr val="EAF8F1"/>
          </a:solidFill>
          <a:ln w="22860">
            <a:solidFill>
              <a:srgbClr val="23957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3002768" y="3675888"/>
            <a:ext cx="10021824" cy="640080"/>
          </a:xfrm>
          <a:prstGeom prst="rect">
            <a:avLst/>
          </a:prstGeom>
          <a:noFill/>
        </p:spPr>
        <p:txBody>
          <a:bodyPr wrap="square" lIns="45720" tIns="18288" rIns="45720" bIns="18288" anchor="t">
            <a:spAutoFit/>
          </a:bodyPr>
          <a:lstStyle/>
          <a:p>
            <a:pPr algn="l">
              <a:spcAft>
                <a:spcPts val="0"/>
              </a:spcAft>
            </a:pPr>
            <a:r>
              <a:rPr sz="2700" b="1">
                <a:solidFill>
                  <a:srgbClr val="239571"/>
                </a:solidFill>
                <a:latin typeface="Yu Gothic"/>
                <a:ea typeface="Yu Gothic"/>
              </a:rPr>
              <a:t>ジンバルの場合</a:t>
            </a:r>
          </a:p>
        </p:txBody>
      </p:sp>
      <p:sp>
        <p:nvSpPr>
          <p:cNvPr id="10" name="TextBox 9"/>
          <p:cNvSpPr txBox="1"/>
          <p:nvPr/>
        </p:nvSpPr>
        <p:spPr>
          <a:xfrm>
            <a:off x="13075920" y="4526280"/>
            <a:ext cx="9875520" cy="2514600"/>
          </a:xfrm>
          <a:prstGeom prst="rect">
            <a:avLst/>
          </a:prstGeom>
          <a:noFill/>
        </p:spPr>
        <p:txBody>
          <a:bodyPr wrap="square" lIns="45720" tIns="18288" rIns="45720" bIns="18288" anchor="t">
            <a:spAutoFit/>
          </a:bodyPr>
          <a:lstStyle/>
          <a:p>
            <a:pPr algn="l">
              <a:lnSpc>
                <a:spcPct val="115000"/>
              </a:lnSpc>
              <a:spcAft>
                <a:spcPts val="0"/>
              </a:spcAft>
            </a:pPr>
            <a:r>
              <a:rPr sz="2300" b="0">
                <a:solidFill>
                  <a:srgbClr val="232B34"/>
                </a:solidFill>
                <a:latin typeface="Yu Gothic"/>
                <a:ea typeface="Yu Gothic"/>
              </a:rPr>
              <a:t>構体姿勢がほぼ一定なら、このケース行列の中では同じ扱いになる。
熱はバス側の温度場で決まるため</a:t>
            </a:r>
          </a:p>
        </p:txBody>
      </p:sp>
      <p:sp>
        <p:nvSpPr>
          <p:cNvPr id="11" name="Rounded Rectangle 10"/>
          <p:cNvSpPr/>
          <p:nvPr/>
        </p:nvSpPr>
        <p:spPr>
          <a:xfrm>
            <a:off x="1463040" y="7680960"/>
            <a:ext cx="21762720" cy="2926080"/>
          </a:xfrm>
          <a:prstGeom prst="roundRect">
            <a:avLst/>
          </a:prstGeom>
          <a:solidFill>
            <a:srgbClr val="FEF5E6"/>
          </a:solidFill>
          <a:ln w="22860">
            <a:solidFill>
              <a:srgbClr val="EC942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664208" y="7973568"/>
            <a:ext cx="21360384" cy="640080"/>
          </a:xfrm>
          <a:prstGeom prst="rect">
            <a:avLst/>
          </a:prstGeom>
          <a:noFill/>
        </p:spPr>
        <p:txBody>
          <a:bodyPr wrap="square" lIns="45720" tIns="18288" rIns="45720" bIns="18288" anchor="t">
            <a:spAutoFit/>
          </a:bodyPr>
          <a:lstStyle/>
          <a:p>
            <a:pPr algn="l">
              <a:spcAft>
                <a:spcPts val="0"/>
              </a:spcAft>
            </a:pPr>
            <a:r>
              <a:rPr sz="2700" b="1">
                <a:solidFill>
                  <a:srgbClr val="EC9427"/>
                </a:solidFill>
                <a:latin typeface="Yu Gothic"/>
                <a:ea typeface="Yu Gothic"/>
              </a:rPr>
              <a:t>未解析</a:t>
            </a:r>
          </a:p>
        </p:txBody>
      </p:sp>
      <p:sp>
        <p:nvSpPr>
          <p:cNvPr id="13" name="TextBox 12"/>
          <p:cNvSpPr txBox="1"/>
          <p:nvPr/>
        </p:nvSpPr>
        <p:spPr>
          <a:xfrm>
            <a:off x="1737360" y="8823960"/>
            <a:ext cx="21214080" cy="1600200"/>
          </a:xfrm>
          <a:prstGeom prst="rect">
            <a:avLst/>
          </a:prstGeom>
          <a:noFill/>
        </p:spPr>
        <p:txBody>
          <a:bodyPr wrap="square" lIns="45720" tIns="18288" rIns="45720" bIns="18288" anchor="t">
            <a:spAutoFit/>
          </a:bodyPr>
          <a:lstStyle/>
          <a:p>
            <a:pPr algn="l">
              <a:lnSpc>
                <a:spcPct val="115000"/>
              </a:lnSpc>
              <a:spcAft>
                <a:spcPts val="0"/>
              </a:spcAft>
            </a:pPr>
            <a:r>
              <a:rPr sz="2400" b="0">
                <a:solidFill>
                  <a:srgbClr val="232B34"/>
                </a:solidFill>
                <a:latin typeface="Yu Gothic"/>
                <a:ea typeface="Yu Gothic"/>
              </a:rPr>
              <a:t>相手を追い続ける body pointing の時系列、および軌道の途中で発熱機器の電源が入る過渡。どちらも温度場の履歴が変わるため、別に解析が要る</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45720" tIns="18288" rIns="45720" bIns="18288" anchor="ctr">
            <a:spAutoFit/>
          </a:bodyPr>
          <a:lstStyle/>
          <a:p>
            <a:pPr algn="l">
              <a:spcAft>
                <a:spcPts val="0"/>
              </a:spcAft>
            </a:pPr>
            <a:r>
              <a:rPr sz="2000" b="0">
                <a:solidFill>
                  <a:srgbClr val="666F79"/>
                </a:solidFill>
                <a:latin typeface="Yu Gothic"/>
                <a:ea typeface="Yu Gothic"/>
              </a:rPr>
              <a:t>補足</a:t>
            </a:r>
          </a:p>
        </p:txBody>
      </p:sp>
      <p:sp>
        <p:nvSpPr>
          <p:cNvPr id="3" name="TextBox 2"/>
          <p:cNvSpPr txBox="1"/>
          <p:nvPr/>
        </p:nvSpPr>
        <p:spPr>
          <a:xfrm>
            <a:off x="1536192" y="1298448"/>
            <a:ext cx="22037040" cy="1188720"/>
          </a:xfrm>
          <a:prstGeom prst="rect">
            <a:avLst/>
          </a:prstGeom>
          <a:noFill/>
        </p:spPr>
        <p:txBody>
          <a:bodyPr wrap="square" lIns="45720" tIns="18288" rIns="45720" bIns="18288" anchor="ctr">
            <a:spAutoFit/>
          </a:bodyPr>
          <a:lstStyle/>
          <a:p>
            <a:pPr algn="l">
              <a:lnSpc>
                <a:spcPct val="110000"/>
              </a:lnSpc>
              <a:spcAft>
                <a:spcPts val="0"/>
              </a:spcAft>
            </a:pPr>
            <a:r>
              <a:rPr sz="3200" b="1">
                <a:solidFill>
                  <a:srgbClr val="082B52"/>
                </a:solidFill>
                <a:latin typeface="Yu Gothic"/>
                <a:ea typeface="Yu Gothic"/>
              </a:rPr>
              <a:t>B11｜残差Fourier更新の数値（予備）</a:t>
            </a:r>
          </a:p>
        </p:txBody>
      </p:sp>
      <p:sp>
        <p:nvSpPr>
          <p:cNvPr id="4" name="TextBox 3"/>
          <p:cNvSpPr txBox="1"/>
          <p:nvPr/>
        </p:nvSpPr>
        <p:spPr>
          <a:xfrm>
            <a:off x="21762720" y="12819888"/>
            <a:ext cx="2011680" cy="384048"/>
          </a:xfrm>
          <a:prstGeom prst="rect">
            <a:avLst/>
          </a:prstGeom>
          <a:noFill/>
        </p:spPr>
        <p:txBody>
          <a:bodyPr wrap="square" lIns="45720" tIns="18288" rIns="45720" bIns="18288" anchor="t">
            <a:spAutoFit/>
          </a:bodyPr>
          <a:lstStyle/>
          <a:p>
            <a:pPr algn="r">
              <a:spcAft>
                <a:spcPts val="0"/>
              </a:spcAft>
            </a:pPr>
            <a:r>
              <a:rPr sz="1800" b="0">
                <a:solidFill>
                  <a:srgbClr val="666F79"/>
                </a:solidFill>
                <a:latin typeface="Yu Gothic"/>
                <a:ea typeface="Yu Gothic"/>
              </a:rPr>
              <a:t>B11</a:t>
            </a:r>
          </a:p>
        </p:txBody>
      </p:sp>
      <p:graphicFrame>
        <p:nvGraphicFramePr>
          <p:cNvPr id="5" name="Table 4"/>
          <p:cNvGraphicFramePr>
            <a:graphicFrameLocks noGrp="1"/>
          </p:cNvGraphicFramePr>
          <p:nvPr/>
        </p:nvGraphicFramePr>
        <p:xfrm>
          <a:off x="1463040" y="3291840"/>
          <a:ext cx="21396958" cy="4572000"/>
        </p:xfrm>
        <a:graphic>
          <a:graphicData uri="http://schemas.openxmlformats.org/drawingml/2006/table">
            <a:tbl>
              <a:tblPr firstRow="1" bandRow="1">
                <a:tableStyleId>{5C22544A-7EE6-4342-B048-85BDC9FD1C3A}</a:tableStyleId>
              </a:tblPr>
              <a:tblGrid>
                <a:gridCol w="10480143">
                  <a:extLst>
                    <a:ext uri="{9D8B030D-6E8A-4147-A177-3AD203B41FA5}">
                      <a16:colId xmlns:a16="http://schemas.microsoft.com/office/drawing/2014/main" val="20000"/>
                    </a:ext>
                  </a:extLst>
                </a:gridCol>
                <a:gridCol w="3493381">
                  <a:extLst>
                    <a:ext uri="{9D8B030D-6E8A-4147-A177-3AD203B41FA5}">
                      <a16:colId xmlns:a16="http://schemas.microsoft.com/office/drawing/2014/main" val="20001"/>
                    </a:ext>
                  </a:extLst>
                </a:gridCol>
                <a:gridCol w="3493381">
                  <a:extLst>
                    <a:ext uri="{9D8B030D-6E8A-4147-A177-3AD203B41FA5}">
                      <a16:colId xmlns:a16="http://schemas.microsoft.com/office/drawing/2014/main" val="20002"/>
                    </a:ext>
                  </a:extLst>
                </a:gridCol>
                <a:gridCol w="3930053">
                  <a:extLst>
                    <a:ext uri="{9D8B030D-6E8A-4147-A177-3AD203B41FA5}">
                      <a16:colId xmlns:a16="http://schemas.microsoft.com/office/drawing/2014/main" val="20003"/>
                    </a:ext>
                  </a:extLst>
                </a:gridCol>
              </a:tblGrid>
              <a:tr h="914400">
                <a:tc>
                  <a:txBody>
                    <a:bodyPr/>
                    <a:lstStyle/>
                    <a:p>
                      <a:pPr algn="l">
                        <a:spcAft>
                          <a:spcPts val="0"/>
                        </a:spcAft>
                      </a:pPr>
                      <a:r>
                        <a:rPr sz="2300" b="1">
                          <a:solidFill>
                            <a:srgbClr val="FFFFFF"/>
                          </a:solidFill>
                          <a:latin typeface="Yu Gothic"/>
                          <a:ea typeface="Yu Gothic"/>
                        </a:rPr>
                        <a:t>条件</a:t>
                      </a:r>
                    </a:p>
                  </a:txBody>
                  <a:tcPr marL="128016" marR="128016" anchor="ctr">
                    <a:solidFill>
                      <a:srgbClr val="082B52"/>
                    </a:solidFill>
                  </a:tcPr>
                </a:tc>
                <a:tc>
                  <a:txBody>
                    <a:bodyPr/>
                    <a:lstStyle/>
                    <a:p>
                      <a:pPr algn="ctr">
                        <a:spcAft>
                          <a:spcPts val="0"/>
                        </a:spcAft>
                      </a:pPr>
                      <a:r>
                        <a:rPr sz="2300" b="1">
                          <a:solidFill>
                            <a:srgbClr val="FFFFFF"/>
                          </a:solidFill>
                          <a:latin typeface="Yu Gothic"/>
                          <a:ea typeface="Yu Gothic"/>
                        </a:rPr>
                        <a:t>全区間</a:t>
                      </a:r>
                    </a:p>
                  </a:txBody>
                  <a:tcPr marL="128016" marR="128016" anchor="ctr">
                    <a:solidFill>
                      <a:srgbClr val="082B52"/>
                    </a:solidFill>
                  </a:tcPr>
                </a:tc>
                <a:tc>
                  <a:txBody>
                    <a:bodyPr/>
                    <a:lstStyle/>
                    <a:p>
                      <a:pPr algn="ctr">
                        <a:spcAft>
                          <a:spcPts val="0"/>
                        </a:spcAft>
                      </a:pPr>
                      <a:r>
                        <a:rPr sz="2300" b="1">
                          <a:solidFill>
                            <a:srgbClr val="FFFFFF"/>
                          </a:solidFill>
                          <a:latin typeface="Yu Gothic"/>
                          <a:ea typeface="Yu Gothic"/>
                        </a:rPr>
                        <a:t>初周</a:t>
                      </a:r>
                    </a:p>
                  </a:txBody>
                  <a:tcPr marL="128016" marR="128016" anchor="ctr">
                    <a:solidFill>
                      <a:srgbClr val="082B52"/>
                    </a:solidFill>
                  </a:tcPr>
                </a:tc>
                <a:tc>
                  <a:txBody>
                    <a:bodyPr/>
                    <a:lstStyle/>
                    <a:p>
                      <a:pPr algn="ctr">
                        <a:spcAft>
                          <a:spcPts val="0"/>
                        </a:spcAft>
                      </a:pPr>
                      <a:r>
                        <a:rPr sz="2300" b="1">
                          <a:solidFill>
                            <a:srgbClr val="FFFFFF"/>
                          </a:solidFill>
                          <a:latin typeface="Yu Gothic"/>
                          <a:ea typeface="Yu Gothic"/>
                        </a:rPr>
                        <a:t>周1以降</a:t>
                      </a:r>
                    </a:p>
                  </a:txBody>
                  <a:tcPr marL="128016" marR="128016" anchor="ctr">
                    <a:solidFill>
                      <a:srgbClr val="082B52"/>
                    </a:solidFill>
                  </a:tcPr>
                </a:tc>
                <a:extLst>
                  <a:ext uri="{0D108BD9-81ED-4DB2-BD59-A6C34878D82A}">
                    <a16:rowId xmlns:a16="http://schemas.microsoft.com/office/drawing/2014/main" val="10000"/>
                  </a:ext>
                </a:extLst>
              </a:tr>
              <a:tr h="914400">
                <a:tc>
                  <a:txBody>
                    <a:bodyPr/>
                    <a:lstStyle/>
                    <a:p>
                      <a:pPr algn="l">
                        <a:spcAft>
                          <a:spcPts val="0"/>
                        </a:spcAft>
                      </a:pPr>
                      <a:r>
                        <a:rPr sz="2300" b="0">
                          <a:solidFill>
                            <a:srgbClr val="232B34"/>
                          </a:solidFill>
                          <a:latin typeface="Yu Gothic"/>
                          <a:ea typeface="Yu Gothic"/>
                        </a:rPr>
                        <a:t>Case 13（MY）全誤差を直接Fourier</a:t>
                      </a:r>
                    </a:p>
                  </a:txBody>
                  <a:tcPr marL="128016" marR="128016" anchor="ctr">
                    <a:solidFill>
                      <a:srgbClr val="FFFFFF"/>
                    </a:solidFill>
                  </a:tcPr>
                </a:tc>
                <a:tc>
                  <a:txBody>
                    <a:bodyPr/>
                    <a:lstStyle/>
                    <a:p>
                      <a:pPr algn="ctr">
                        <a:spcAft>
                          <a:spcPts val="0"/>
                        </a:spcAft>
                      </a:pPr>
                      <a:r>
                        <a:rPr sz="2300" b="0">
                          <a:solidFill>
                            <a:srgbClr val="232B34"/>
                          </a:solidFill>
                          <a:latin typeface="Yu Gothic"/>
                          <a:ea typeface="Yu Gothic"/>
                        </a:rPr>
                        <a:t>1.39 s</a:t>
                      </a:r>
                    </a:p>
                  </a:txBody>
                  <a:tcPr marL="128016" marR="128016" anchor="ctr">
                    <a:solidFill>
                      <a:srgbClr val="FFFFFF"/>
                    </a:solidFill>
                  </a:tcPr>
                </a:tc>
                <a:tc>
                  <a:txBody>
                    <a:bodyPr/>
                    <a:lstStyle/>
                    <a:p>
                      <a:pPr algn="ctr">
                        <a:spcAft>
                          <a:spcPts val="0"/>
                        </a:spcAft>
                      </a:pPr>
                      <a:r>
                        <a:rPr sz="2300" b="0">
                          <a:solidFill>
                            <a:srgbClr val="232B34"/>
                          </a:solidFill>
                          <a:latin typeface="Yu Gothic"/>
                          <a:ea typeface="Yu Gothic"/>
                        </a:rPr>
                        <a:t>3.37 s</a:t>
                      </a:r>
                    </a:p>
                  </a:txBody>
                  <a:tcPr marL="128016" marR="128016" anchor="ctr">
                    <a:solidFill>
                      <a:srgbClr val="FFFFFF"/>
                    </a:solidFill>
                  </a:tcPr>
                </a:tc>
                <a:tc>
                  <a:txBody>
                    <a:bodyPr/>
                    <a:lstStyle/>
                    <a:p>
                      <a:pPr algn="ctr">
                        <a:spcAft>
                          <a:spcPts val="0"/>
                        </a:spcAft>
                      </a:pPr>
                      <a:r>
                        <a:rPr sz="2300" b="0">
                          <a:solidFill>
                            <a:srgbClr val="232B34"/>
                          </a:solidFill>
                          <a:latin typeface="Yu Gothic"/>
                          <a:ea typeface="Yu Gothic"/>
                        </a:rPr>
                        <a:t>0.39 s</a:t>
                      </a:r>
                    </a:p>
                  </a:txBody>
                  <a:tcPr marL="128016" marR="128016" anchor="ctr">
                    <a:solidFill>
                      <a:srgbClr val="EBF6FB"/>
                    </a:solidFill>
                  </a:tcPr>
                </a:tc>
                <a:extLst>
                  <a:ext uri="{0D108BD9-81ED-4DB2-BD59-A6C34878D82A}">
                    <a16:rowId xmlns:a16="http://schemas.microsoft.com/office/drawing/2014/main" val="10001"/>
                  </a:ext>
                </a:extLst>
              </a:tr>
              <a:tr h="914400">
                <a:tc>
                  <a:txBody>
                    <a:bodyPr/>
                    <a:lstStyle/>
                    <a:p>
                      <a:pPr algn="l">
                        <a:spcAft>
                          <a:spcPts val="0"/>
                        </a:spcAft>
                      </a:pPr>
                      <a:r>
                        <a:rPr sz="2300" b="0">
                          <a:solidFill>
                            <a:srgbClr val="232B34"/>
                          </a:solidFill>
                          <a:latin typeface="Yu Gothic"/>
                          <a:ea typeface="Yu Gothic"/>
                        </a:rPr>
                        <a:t>Case 13（MY）階層モデル＋残差Fourier</a:t>
                      </a:r>
                    </a:p>
                  </a:txBody>
                  <a:tcPr marL="128016" marR="128016" anchor="ctr">
                    <a:solidFill>
                      <a:srgbClr val="F4F6F8"/>
                    </a:solidFill>
                  </a:tcPr>
                </a:tc>
                <a:tc>
                  <a:txBody>
                    <a:bodyPr/>
                    <a:lstStyle/>
                    <a:p>
                      <a:pPr algn="ctr">
                        <a:spcAft>
                          <a:spcPts val="0"/>
                        </a:spcAft>
                      </a:pPr>
                      <a:r>
                        <a:rPr sz="2300" b="0">
                          <a:solidFill>
                            <a:srgbClr val="232B34"/>
                          </a:solidFill>
                          <a:latin typeface="Yu Gothic"/>
                          <a:ea typeface="Yu Gothic"/>
                        </a:rPr>
                        <a:t>0.79 s</a:t>
                      </a:r>
                    </a:p>
                  </a:txBody>
                  <a:tcPr marL="128016" marR="128016" anchor="ctr">
                    <a:solidFill>
                      <a:srgbClr val="F4F6F8"/>
                    </a:solidFill>
                  </a:tcPr>
                </a:tc>
                <a:tc>
                  <a:txBody>
                    <a:bodyPr/>
                    <a:lstStyle/>
                    <a:p>
                      <a:pPr algn="ctr">
                        <a:spcAft>
                          <a:spcPts val="0"/>
                        </a:spcAft>
                      </a:pPr>
                      <a:r>
                        <a:rPr sz="2300" b="0">
                          <a:solidFill>
                            <a:srgbClr val="232B34"/>
                          </a:solidFill>
                          <a:latin typeface="Yu Gothic"/>
                          <a:ea typeface="Yu Gothic"/>
                        </a:rPr>
                        <a:t>1.60 s</a:t>
                      </a:r>
                    </a:p>
                  </a:txBody>
                  <a:tcPr marL="128016" marR="128016" anchor="ctr">
                    <a:solidFill>
                      <a:srgbClr val="F4F6F8"/>
                    </a:solidFill>
                  </a:tcPr>
                </a:tc>
                <a:tc>
                  <a:txBody>
                    <a:bodyPr/>
                    <a:lstStyle/>
                    <a:p>
                      <a:pPr algn="ctr">
                        <a:spcAft>
                          <a:spcPts val="0"/>
                        </a:spcAft>
                      </a:pPr>
                      <a:r>
                        <a:rPr sz="2300" b="0">
                          <a:solidFill>
                            <a:srgbClr val="232B34"/>
                          </a:solidFill>
                          <a:latin typeface="Yu Gothic"/>
                          <a:ea typeface="Yu Gothic"/>
                        </a:rPr>
                        <a:t>0.38 s</a:t>
                      </a:r>
                    </a:p>
                  </a:txBody>
                  <a:tcPr marL="128016" marR="128016" anchor="ctr">
                    <a:solidFill>
                      <a:srgbClr val="EBF6FB"/>
                    </a:solidFill>
                  </a:tcPr>
                </a:tc>
                <a:extLst>
                  <a:ext uri="{0D108BD9-81ED-4DB2-BD59-A6C34878D82A}">
                    <a16:rowId xmlns:a16="http://schemas.microsoft.com/office/drawing/2014/main" val="10002"/>
                  </a:ext>
                </a:extLst>
              </a:tr>
              <a:tr h="914400">
                <a:tc>
                  <a:txBody>
                    <a:bodyPr/>
                    <a:lstStyle/>
                    <a:p>
                      <a:pPr algn="l">
                        <a:spcAft>
                          <a:spcPts val="0"/>
                        </a:spcAft>
                      </a:pPr>
                      <a:r>
                        <a:rPr sz="2300" b="0">
                          <a:solidFill>
                            <a:srgbClr val="232B34"/>
                          </a:solidFill>
                          <a:latin typeface="Yu Gothic"/>
                          <a:ea typeface="Yu Gothic"/>
                        </a:rPr>
                        <a:t>Case 16（PY）全誤差を直接Fourier</a:t>
                      </a:r>
                    </a:p>
                  </a:txBody>
                  <a:tcPr marL="128016" marR="128016" anchor="ctr">
                    <a:solidFill>
                      <a:srgbClr val="FFFFFF"/>
                    </a:solidFill>
                  </a:tcPr>
                </a:tc>
                <a:tc>
                  <a:txBody>
                    <a:bodyPr/>
                    <a:lstStyle/>
                    <a:p>
                      <a:pPr algn="ctr">
                        <a:spcAft>
                          <a:spcPts val="0"/>
                        </a:spcAft>
                      </a:pPr>
                      <a:r>
                        <a:rPr sz="2300" b="0">
                          <a:solidFill>
                            <a:srgbClr val="232B34"/>
                          </a:solidFill>
                          <a:latin typeface="Yu Gothic"/>
                          <a:ea typeface="Yu Gothic"/>
                        </a:rPr>
                        <a:t>13.2 s</a:t>
                      </a:r>
                    </a:p>
                  </a:txBody>
                  <a:tcPr marL="128016" marR="128016" anchor="ctr">
                    <a:solidFill>
                      <a:srgbClr val="FFFFFF"/>
                    </a:solidFill>
                  </a:tcPr>
                </a:tc>
                <a:tc>
                  <a:txBody>
                    <a:bodyPr/>
                    <a:lstStyle/>
                    <a:p>
                      <a:pPr algn="ctr">
                        <a:spcAft>
                          <a:spcPts val="0"/>
                        </a:spcAft>
                      </a:pPr>
                      <a:r>
                        <a:rPr sz="2300" b="0">
                          <a:solidFill>
                            <a:srgbClr val="232B34"/>
                          </a:solidFill>
                          <a:latin typeface="Yu Gothic"/>
                          <a:ea typeface="Yu Gothic"/>
                        </a:rPr>
                        <a:t>39.5 s</a:t>
                      </a:r>
                    </a:p>
                  </a:txBody>
                  <a:tcPr marL="128016" marR="128016" anchor="ctr">
                    <a:solidFill>
                      <a:srgbClr val="FFFFFF"/>
                    </a:solidFill>
                  </a:tcPr>
                </a:tc>
                <a:tc>
                  <a:txBody>
                    <a:bodyPr/>
                    <a:lstStyle/>
                    <a:p>
                      <a:pPr algn="ctr">
                        <a:spcAft>
                          <a:spcPts val="0"/>
                        </a:spcAft>
                      </a:pPr>
                      <a:r>
                        <a:rPr sz="2300" b="0">
                          <a:solidFill>
                            <a:srgbClr val="232B34"/>
                          </a:solidFill>
                          <a:latin typeface="Yu Gothic"/>
                          <a:ea typeface="Yu Gothic"/>
                        </a:rPr>
                        <a:t>0.38 s</a:t>
                      </a:r>
                    </a:p>
                  </a:txBody>
                  <a:tcPr marL="128016" marR="128016" anchor="ctr">
                    <a:solidFill>
                      <a:srgbClr val="EBF6FB"/>
                    </a:solidFill>
                  </a:tcPr>
                </a:tc>
                <a:extLst>
                  <a:ext uri="{0D108BD9-81ED-4DB2-BD59-A6C34878D82A}">
                    <a16:rowId xmlns:a16="http://schemas.microsoft.com/office/drawing/2014/main" val="10003"/>
                  </a:ext>
                </a:extLst>
              </a:tr>
              <a:tr h="914400">
                <a:tc>
                  <a:txBody>
                    <a:bodyPr/>
                    <a:lstStyle/>
                    <a:p>
                      <a:pPr algn="l">
                        <a:spcAft>
                          <a:spcPts val="0"/>
                        </a:spcAft>
                      </a:pPr>
                      <a:r>
                        <a:rPr sz="2300" b="0">
                          <a:solidFill>
                            <a:srgbClr val="232B34"/>
                          </a:solidFill>
                          <a:latin typeface="Yu Gothic"/>
                          <a:ea typeface="Yu Gothic"/>
                        </a:rPr>
                        <a:t>Case 16（PY）階層モデル＋残差Fourier</a:t>
                      </a:r>
                    </a:p>
                  </a:txBody>
                  <a:tcPr marL="128016" marR="128016" anchor="ctr">
                    <a:solidFill>
                      <a:srgbClr val="F4F6F8"/>
                    </a:solidFill>
                  </a:tcPr>
                </a:tc>
                <a:tc>
                  <a:txBody>
                    <a:bodyPr/>
                    <a:lstStyle/>
                    <a:p>
                      <a:pPr algn="ctr">
                        <a:spcAft>
                          <a:spcPts val="0"/>
                        </a:spcAft>
                      </a:pPr>
                      <a:r>
                        <a:rPr sz="2300" b="0">
                          <a:solidFill>
                            <a:srgbClr val="232B34"/>
                          </a:solidFill>
                          <a:latin typeface="Yu Gothic"/>
                          <a:ea typeface="Yu Gothic"/>
                        </a:rPr>
                        <a:t>0.76 s</a:t>
                      </a:r>
                    </a:p>
                  </a:txBody>
                  <a:tcPr marL="128016" marR="128016" anchor="ctr">
                    <a:solidFill>
                      <a:srgbClr val="F4F6F8"/>
                    </a:solidFill>
                  </a:tcPr>
                </a:tc>
                <a:tc>
                  <a:txBody>
                    <a:bodyPr/>
                    <a:lstStyle/>
                    <a:p>
                      <a:pPr algn="ctr">
                        <a:spcAft>
                          <a:spcPts val="0"/>
                        </a:spcAft>
                      </a:pPr>
                      <a:r>
                        <a:rPr sz="2300" b="0">
                          <a:solidFill>
                            <a:srgbClr val="232B34"/>
                          </a:solidFill>
                          <a:latin typeface="Yu Gothic"/>
                          <a:ea typeface="Yu Gothic"/>
                        </a:rPr>
                        <a:t>1.47 s</a:t>
                      </a:r>
                    </a:p>
                  </a:txBody>
                  <a:tcPr marL="128016" marR="128016" anchor="ctr">
                    <a:solidFill>
                      <a:srgbClr val="F4F6F8"/>
                    </a:solidFill>
                  </a:tcPr>
                </a:tc>
                <a:tc>
                  <a:txBody>
                    <a:bodyPr/>
                    <a:lstStyle/>
                    <a:p>
                      <a:pPr algn="ctr">
                        <a:spcAft>
                          <a:spcPts val="0"/>
                        </a:spcAft>
                      </a:pPr>
                      <a:r>
                        <a:rPr sz="2300" b="0">
                          <a:solidFill>
                            <a:srgbClr val="232B34"/>
                          </a:solidFill>
                          <a:latin typeface="Yu Gothic"/>
                          <a:ea typeface="Yu Gothic"/>
                        </a:rPr>
                        <a:t>0.40 s</a:t>
                      </a:r>
                    </a:p>
                  </a:txBody>
                  <a:tcPr marL="128016" marR="128016" anchor="ctr">
                    <a:solidFill>
                      <a:srgbClr val="EBF6FB"/>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1463040" y="8092440"/>
            <a:ext cx="21396960" cy="457200"/>
          </a:xfrm>
          <a:prstGeom prst="rect">
            <a:avLst/>
          </a:prstGeom>
          <a:noFill/>
        </p:spPr>
        <p:txBody>
          <a:bodyPr wrap="square" lIns="45720" tIns="18288" rIns="45720" bIns="18288" anchor="t">
            <a:spAutoFit/>
          </a:bodyPr>
          <a:lstStyle/>
          <a:p>
            <a:pPr algn="l">
              <a:spcAft>
                <a:spcPts val="0"/>
              </a:spcAft>
            </a:pPr>
            <a:r>
              <a:rPr sz="2100" b="0">
                <a:solidFill>
                  <a:srgbClr val="666F79"/>
                </a:solidFill>
                <a:latin typeface="Yu Gothic"/>
                <a:ea typeface="Yu Gothic"/>
              </a:rPr>
              <a:t>Case 16 の直接Fourier は成功率 98.7%。他は 100%</a:t>
            </a:r>
          </a:p>
        </p:txBody>
      </p:sp>
      <p:sp>
        <p:nvSpPr>
          <p:cNvPr id="7" name="Rounded Rectangle 6"/>
          <p:cNvSpPr/>
          <p:nvPr/>
        </p:nvSpPr>
        <p:spPr>
          <a:xfrm>
            <a:off x="1463040" y="8961120"/>
            <a:ext cx="10607040" cy="2468880"/>
          </a:xfrm>
          <a:prstGeom prst="roundRect">
            <a:avLst/>
          </a:prstGeom>
          <a:solidFill>
            <a:srgbClr val="FEF5E6"/>
          </a:solidFill>
          <a:ln w="22860">
            <a:solidFill>
              <a:srgbClr val="EC942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664208" y="9253728"/>
            <a:ext cx="10204704" cy="640080"/>
          </a:xfrm>
          <a:prstGeom prst="rect">
            <a:avLst/>
          </a:prstGeom>
          <a:noFill/>
        </p:spPr>
        <p:txBody>
          <a:bodyPr wrap="square" lIns="45720" tIns="18288" rIns="45720" bIns="18288" anchor="t">
            <a:spAutoFit/>
          </a:bodyPr>
          <a:lstStyle/>
          <a:p>
            <a:pPr algn="l">
              <a:spcAft>
                <a:spcPts val="0"/>
              </a:spcAft>
            </a:pPr>
            <a:r>
              <a:rPr sz="2500" b="1">
                <a:solidFill>
                  <a:srgbClr val="EC9427"/>
                </a:solidFill>
                <a:latin typeface="Yu Gothic"/>
                <a:ea typeface="Yu Gothic"/>
              </a:rPr>
              <a:t>定数の残差更新との差</a:t>
            </a:r>
          </a:p>
        </p:txBody>
      </p:sp>
      <p:sp>
        <p:nvSpPr>
          <p:cNvPr id="9" name="TextBox 8"/>
          <p:cNvSpPr txBox="1"/>
          <p:nvPr/>
        </p:nvSpPr>
        <p:spPr>
          <a:xfrm>
            <a:off x="1737360" y="10012680"/>
            <a:ext cx="10058400" cy="1234440"/>
          </a:xfrm>
          <a:prstGeom prst="rect">
            <a:avLst/>
          </a:prstGeom>
          <a:noFill/>
        </p:spPr>
        <p:txBody>
          <a:bodyPr wrap="square" lIns="45720" tIns="18288" rIns="45720" bIns="18288" anchor="t">
            <a:spAutoFit/>
          </a:bodyPr>
          <a:lstStyle/>
          <a:p>
            <a:pPr algn="l">
              <a:lnSpc>
                <a:spcPct val="115000"/>
              </a:lnSpc>
              <a:spcAft>
                <a:spcPts val="0"/>
              </a:spcAft>
            </a:pPr>
            <a:r>
              <a:rPr sz="2200" b="0">
                <a:solidFill>
                  <a:srgbClr val="232B34"/>
                </a:solidFill>
                <a:latin typeface="Yu Gothic"/>
                <a:ea typeface="Yu Gothic"/>
              </a:rPr>
              <a:t>Case 13 の周1以降は 1.66 → 1.35 s までしか落ちない。軌道周期の山が残る</a:t>
            </a:r>
          </a:p>
        </p:txBody>
      </p:sp>
      <p:sp>
        <p:nvSpPr>
          <p:cNvPr id="10" name="Rounded Rectangle 9"/>
          <p:cNvSpPr/>
          <p:nvPr/>
        </p:nvSpPr>
        <p:spPr>
          <a:xfrm>
            <a:off x="12801600" y="8961120"/>
            <a:ext cx="10424160" cy="2468880"/>
          </a:xfrm>
          <a:prstGeom prst="roundRect">
            <a:avLst/>
          </a:prstGeom>
          <a:solidFill>
            <a:srgbClr val="FDEFF0"/>
          </a:solidFill>
          <a:ln w="22860">
            <a:solidFill>
              <a:srgbClr val="D03B4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3002768" y="9253728"/>
            <a:ext cx="10021824" cy="640080"/>
          </a:xfrm>
          <a:prstGeom prst="rect">
            <a:avLst/>
          </a:prstGeom>
          <a:noFill/>
        </p:spPr>
        <p:txBody>
          <a:bodyPr wrap="square" lIns="45720" tIns="18288" rIns="45720" bIns="18288" anchor="t">
            <a:spAutoFit/>
          </a:bodyPr>
          <a:lstStyle/>
          <a:p>
            <a:pPr algn="l">
              <a:spcAft>
                <a:spcPts val="0"/>
              </a:spcAft>
            </a:pPr>
            <a:r>
              <a:rPr sz="2500" b="1">
                <a:solidFill>
                  <a:srgbClr val="D03B46"/>
                </a:solidFill>
                <a:latin typeface="Yu Gothic"/>
                <a:ea typeface="Yu Gothic"/>
              </a:rPr>
              <a:t>限界</a:t>
            </a:r>
          </a:p>
        </p:txBody>
      </p:sp>
      <p:sp>
        <p:nvSpPr>
          <p:cNvPr id="12" name="TextBox 11"/>
          <p:cNvSpPr txBox="1"/>
          <p:nvPr/>
        </p:nvSpPr>
        <p:spPr>
          <a:xfrm>
            <a:off x="13075920" y="10012680"/>
            <a:ext cx="9875520" cy="1234440"/>
          </a:xfrm>
          <a:prstGeom prst="rect">
            <a:avLst/>
          </a:prstGeom>
          <a:noFill/>
        </p:spPr>
        <p:txBody>
          <a:bodyPr wrap="square" lIns="45720" tIns="18288" rIns="45720" bIns="18288" anchor="t">
            <a:spAutoFit/>
          </a:bodyPr>
          <a:lstStyle/>
          <a:p>
            <a:pPr algn="l">
              <a:lnSpc>
                <a:spcPct val="115000"/>
              </a:lnSpc>
              <a:spcAft>
                <a:spcPts val="0"/>
              </a:spcAft>
            </a:pPr>
            <a:r>
              <a:rPr sz="2200" b="0">
                <a:solidFill>
                  <a:srgbClr val="232B34"/>
                </a:solidFill>
                <a:latin typeface="Yu Gothic"/>
                <a:ea typeface="Yu Gothic"/>
              </a:rPr>
              <a:t>2ケースのみ。causal、K=2。60秒刻みの全点を使っており、実センサの疎な成功点では未検証</a:t>
            </a:r>
          </a:p>
        </p:txBody>
      </p:sp>
      <p:sp>
        <p:nvSpPr>
          <p:cNvPr id="13" name="TextBox 12"/>
          <p:cNvSpPr txBox="1"/>
          <p:nvPr/>
        </p:nvSpPr>
        <p:spPr>
          <a:xfrm>
            <a:off x="1463040" y="11704320"/>
            <a:ext cx="21396960" cy="548640"/>
          </a:xfrm>
          <a:prstGeom prst="rect">
            <a:avLst/>
          </a:prstGeom>
          <a:noFill/>
        </p:spPr>
        <p:txBody>
          <a:bodyPr wrap="square" lIns="45720" tIns="18288" rIns="45720" bIns="18288" anchor="t">
            <a:spAutoFit/>
          </a:bodyPr>
          <a:lstStyle/>
          <a:p>
            <a:pPr algn="ctr">
              <a:spcAft>
                <a:spcPts val="0"/>
              </a:spcAft>
            </a:pPr>
            <a:r>
              <a:rPr sz="2300" b="0">
                <a:solidFill>
                  <a:srgbClr val="666F79"/>
                </a:solidFill>
                <a:latin typeface="Yu Gothic"/>
                <a:ea typeface="Yu Gothic"/>
              </a:rPr>
              <a:t>熱モデルの係数は更新していない。捕捉後の全指向残差に対する予備実験</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45720" tIns="18288" rIns="45720" bIns="18288" anchor="ctr">
            <a:spAutoFit/>
          </a:bodyPr>
          <a:lstStyle/>
          <a:p>
            <a:pPr algn="l">
              <a:spcAft>
                <a:spcPts val="0"/>
              </a:spcAft>
            </a:pPr>
            <a:r>
              <a:rPr sz="2000" b="0">
                <a:solidFill>
                  <a:srgbClr val="666F79"/>
                </a:solidFill>
                <a:latin typeface="Yu Gothic"/>
                <a:ea typeface="Yu Gothic"/>
              </a:rPr>
              <a:t>補足</a:t>
            </a:r>
          </a:p>
        </p:txBody>
      </p:sp>
      <p:sp>
        <p:nvSpPr>
          <p:cNvPr id="3" name="TextBox 2"/>
          <p:cNvSpPr txBox="1"/>
          <p:nvPr/>
        </p:nvSpPr>
        <p:spPr>
          <a:xfrm>
            <a:off x="1536192" y="1298448"/>
            <a:ext cx="22037040" cy="1188720"/>
          </a:xfrm>
          <a:prstGeom prst="rect">
            <a:avLst/>
          </a:prstGeom>
          <a:noFill/>
        </p:spPr>
        <p:txBody>
          <a:bodyPr wrap="square" lIns="45720" tIns="18288" rIns="45720" bIns="18288" anchor="ctr">
            <a:spAutoFit/>
          </a:bodyPr>
          <a:lstStyle/>
          <a:p>
            <a:pPr algn="l">
              <a:lnSpc>
                <a:spcPct val="110000"/>
              </a:lnSpc>
              <a:spcAft>
                <a:spcPts val="0"/>
              </a:spcAft>
            </a:pPr>
            <a:r>
              <a:rPr sz="3200" b="1">
                <a:solidFill>
                  <a:srgbClr val="082B52"/>
                </a:solidFill>
                <a:latin typeface="Yu Gothic"/>
                <a:ea typeface="Yu Gothic"/>
              </a:rPr>
              <a:t>B12｜前に聞いた秒と、今日の秒の対応</a:t>
            </a:r>
          </a:p>
        </p:txBody>
      </p:sp>
      <p:sp>
        <p:nvSpPr>
          <p:cNvPr id="4" name="TextBox 3"/>
          <p:cNvSpPr txBox="1"/>
          <p:nvPr/>
        </p:nvSpPr>
        <p:spPr>
          <a:xfrm>
            <a:off x="21762720" y="12819888"/>
            <a:ext cx="2011680" cy="384048"/>
          </a:xfrm>
          <a:prstGeom prst="rect">
            <a:avLst/>
          </a:prstGeom>
          <a:noFill/>
        </p:spPr>
        <p:txBody>
          <a:bodyPr wrap="square" lIns="45720" tIns="18288" rIns="45720" bIns="18288" anchor="t">
            <a:spAutoFit/>
          </a:bodyPr>
          <a:lstStyle/>
          <a:p>
            <a:pPr algn="r">
              <a:spcAft>
                <a:spcPts val="0"/>
              </a:spcAft>
            </a:pPr>
            <a:r>
              <a:rPr sz="1800" b="0">
                <a:solidFill>
                  <a:srgbClr val="666F79"/>
                </a:solidFill>
                <a:latin typeface="Yu Gothic"/>
                <a:ea typeface="Yu Gothic"/>
              </a:rPr>
              <a:t>B12</a:t>
            </a:r>
          </a:p>
        </p:txBody>
      </p:sp>
      <p:graphicFrame>
        <p:nvGraphicFramePr>
          <p:cNvPr id="5" name="Table 4"/>
          <p:cNvGraphicFramePr>
            <a:graphicFrameLocks noGrp="1"/>
          </p:cNvGraphicFramePr>
          <p:nvPr/>
        </p:nvGraphicFramePr>
        <p:xfrm>
          <a:off x="1463040" y="3291840"/>
          <a:ext cx="21396959" cy="6035035"/>
        </p:xfrm>
        <a:graphic>
          <a:graphicData uri="http://schemas.openxmlformats.org/drawingml/2006/table">
            <a:tbl>
              <a:tblPr firstRow="1" bandRow="1">
                <a:tableStyleId>{5C22544A-7EE6-4342-B048-85BDC9FD1C3A}</a:tableStyleId>
              </a:tblPr>
              <a:tblGrid>
                <a:gridCol w="4195482">
                  <a:extLst>
                    <a:ext uri="{9D8B030D-6E8A-4147-A177-3AD203B41FA5}">
                      <a16:colId xmlns:a16="http://schemas.microsoft.com/office/drawing/2014/main" val="20000"/>
                    </a:ext>
                  </a:extLst>
                </a:gridCol>
                <a:gridCol w="6293223">
                  <a:extLst>
                    <a:ext uri="{9D8B030D-6E8A-4147-A177-3AD203B41FA5}">
                      <a16:colId xmlns:a16="http://schemas.microsoft.com/office/drawing/2014/main" val="20001"/>
                    </a:ext>
                  </a:extLst>
                </a:gridCol>
                <a:gridCol w="10908254">
                  <a:extLst>
                    <a:ext uri="{9D8B030D-6E8A-4147-A177-3AD203B41FA5}">
                      <a16:colId xmlns:a16="http://schemas.microsoft.com/office/drawing/2014/main" val="20002"/>
                    </a:ext>
                  </a:extLst>
                </a:gridCol>
              </a:tblGrid>
              <a:tr h="1207007">
                <a:tc>
                  <a:txBody>
                    <a:bodyPr/>
                    <a:lstStyle/>
                    <a:p>
                      <a:pPr algn="l">
                        <a:spcAft>
                          <a:spcPts val="0"/>
                        </a:spcAft>
                      </a:pPr>
                      <a:r>
                        <a:rPr sz="2300" b="1">
                          <a:solidFill>
                            <a:srgbClr val="FFFFFF"/>
                          </a:solidFill>
                          <a:latin typeface="Yu Gothic"/>
                          <a:ea typeface="Yu Gothic"/>
                        </a:rPr>
                        <a:t>いつ</a:t>
                      </a:r>
                    </a:p>
                  </a:txBody>
                  <a:tcPr marL="128016" marR="128016" anchor="ctr">
                    <a:solidFill>
                      <a:srgbClr val="082B52"/>
                    </a:solidFill>
                  </a:tcPr>
                </a:tc>
                <a:tc>
                  <a:txBody>
                    <a:bodyPr/>
                    <a:lstStyle/>
                    <a:p>
                      <a:pPr algn="l">
                        <a:spcAft>
                          <a:spcPts val="0"/>
                        </a:spcAft>
                      </a:pPr>
                      <a:r>
                        <a:rPr sz="2300" b="1">
                          <a:solidFill>
                            <a:srgbClr val="FFFFFF"/>
                          </a:solidFill>
                          <a:latin typeface="Yu Gothic"/>
                          <a:ea typeface="Yu Gothic"/>
                        </a:rPr>
                        <a:t>何の秒だったか</a:t>
                      </a:r>
                    </a:p>
                  </a:txBody>
                  <a:tcPr marL="128016" marR="128016" anchor="ctr">
                    <a:solidFill>
                      <a:srgbClr val="082B52"/>
                    </a:solidFill>
                  </a:tcPr>
                </a:tc>
                <a:tc>
                  <a:txBody>
                    <a:bodyPr/>
                    <a:lstStyle/>
                    <a:p>
                      <a:pPr algn="l">
                        <a:spcAft>
                          <a:spcPts val="0"/>
                        </a:spcAft>
                      </a:pPr>
                      <a:r>
                        <a:rPr sz="2300" b="1">
                          <a:solidFill>
                            <a:srgbClr val="FFFFFF"/>
                          </a:solidFill>
                          <a:latin typeface="Yu Gothic"/>
                          <a:ea typeface="Yu Gothic"/>
                        </a:rPr>
                        <a:t>今日の秒と違う理由</a:t>
                      </a:r>
                    </a:p>
                  </a:txBody>
                  <a:tcPr marL="128016" marR="128016" anchor="ctr">
                    <a:solidFill>
                      <a:srgbClr val="082B52"/>
                    </a:solidFill>
                  </a:tcPr>
                </a:tc>
                <a:extLst>
                  <a:ext uri="{0D108BD9-81ED-4DB2-BD59-A6C34878D82A}">
                    <a16:rowId xmlns:a16="http://schemas.microsoft.com/office/drawing/2014/main" val="10000"/>
                  </a:ext>
                </a:extLst>
              </a:tr>
              <a:tr h="1207007">
                <a:tc>
                  <a:txBody>
                    <a:bodyPr/>
                    <a:lstStyle/>
                    <a:p>
                      <a:pPr algn="l">
                        <a:spcAft>
                          <a:spcPts val="0"/>
                        </a:spcAft>
                      </a:pPr>
                      <a:r>
                        <a:rPr sz="2200" b="0">
                          <a:solidFill>
                            <a:srgbClr val="232B34"/>
                          </a:solidFill>
                          <a:latin typeface="Yu Gothic"/>
                          <a:ea typeface="Yu Gothic"/>
                        </a:rPr>
                        <a:t>2026-05 全体輪講</a:t>
                      </a:r>
                    </a:p>
                  </a:txBody>
                  <a:tcPr marL="128016" marR="128016" anchor="ctr">
                    <a:solidFill>
                      <a:srgbClr val="FFFFFF"/>
                    </a:solidFill>
                  </a:tcPr>
                </a:tc>
                <a:tc>
                  <a:txBody>
                    <a:bodyPr/>
                    <a:lstStyle/>
                    <a:p>
                      <a:pPr algn="l">
                        <a:spcAft>
                          <a:spcPts val="0"/>
                        </a:spcAft>
                      </a:pPr>
                      <a:r>
                        <a:rPr sz="2200" b="0">
                          <a:solidFill>
                            <a:srgbClr val="232B34"/>
                          </a:solidFill>
                          <a:latin typeface="Yu Gothic"/>
                          <a:ea typeface="Yu Gothic"/>
                        </a:rPr>
                        <a:t>仮想の熱バイアスでの捕捉時間と成功率</a:t>
                      </a:r>
                    </a:p>
                  </a:txBody>
                  <a:tcPr marL="128016" marR="128016" anchor="ctr">
                    <a:solidFill>
                      <a:srgbClr val="FFFFFF"/>
                    </a:solidFill>
                  </a:tcPr>
                </a:tc>
                <a:tc>
                  <a:txBody>
                    <a:bodyPr/>
                    <a:lstStyle/>
                    <a:p>
                      <a:pPr algn="l">
                        <a:spcAft>
                          <a:spcPts val="0"/>
                        </a:spcAft>
                      </a:pPr>
                      <a:r>
                        <a:rPr sz="2200" b="0">
                          <a:solidFill>
                            <a:srgbClr val="232B34"/>
                          </a:solidFill>
                          <a:latin typeface="Yu Gothic"/>
                          <a:ea typeface="Yu Gothic"/>
                        </a:rPr>
                        <a:t>熱構造解析ではなく、置いた値での試算だった</a:t>
                      </a:r>
                    </a:p>
                  </a:txBody>
                  <a:tcPr marL="128016" marR="128016" anchor="ctr">
                    <a:solidFill>
                      <a:srgbClr val="EBF6FB"/>
                    </a:solidFill>
                  </a:tcPr>
                </a:tc>
                <a:extLst>
                  <a:ext uri="{0D108BD9-81ED-4DB2-BD59-A6C34878D82A}">
                    <a16:rowId xmlns:a16="http://schemas.microsoft.com/office/drawing/2014/main" val="10001"/>
                  </a:ext>
                </a:extLst>
              </a:tr>
              <a:tr h="1207007">
                <a:tc>
                  <a:txBody>
                    <a:bodyPr/>
                    <a:lstStyle/>
                    <a:p>
                      <a:pPr algn="l">
                        <a:spcAft>
                          <a:spcPts val="0"/>
                        </a:spcAft>
                      </a:pPr>
                      <a:r>
                        <a:rPr sz="2200" b="0">
                          <a:solidFill>
                            <a:srgbClr val="232B34"/>
                          </a:solidFill>
                          <a:latin typeface="Yu Gothic"/>
                          <a:ea typeface="Yu Gothic"/>
                        </a:rPr>
                        <a:t>2026-07 光通信RG</a:t>
                      </a:r>
                    </a:p>
                  </a:txBody>
                  <a:tcPr marL="128016" marR="128016" anchor="ctr">
                    <a:solidFill>
                      <a:srgbClr val="F4F6F8"/>
                    </a:solidFill>
                  </a:tcPr>
                </a:tc>
                <a:tc>
                  <a:txBody>
                    <a:bodyPr/>
                    <a:lstStyle/>
                    <a:p>
                      <a:pPr algn="l">
                        <a:spcAft>
                          <a:spcPts val="0"/>
                        </a:spcAft>
                      </a:pPr>
                      <a:r>
                        <a:rPr sz="2200" b="0">
                          <a:solidFill>
                            <a:srgbClr val="232B34"/>
                          </a:solidFill>
                          <a:latin typeface="Yu Gothic"/>
                          <a:ea typeface="Yu Gothic"/>
                        </a:rPr>
                        <a:t>密な走査での捕捉時間</a:t>
                      </a:r>
                    </a:p>
                  </a:txBody>
                  <a:tcPr marL="128016" marR="128016" anchor="ctr">
                    <a:solidFill>
                      <a:srgbClr val="F4F6F8"/>
                    </a:solidFill>
                  </a:tcPr>
                </a:tc>
                <a:tc>
                  <a:txBody>
                    <a:bodyPr/>
                    <a:lstStyle/>
                    <a:p>
                      <a:pPr algn="l">
                        <a:spcAft>
                          <a:spcPts val="0"/>
                        </a:spcAft>
                      </a:pPr>
                      <a:r>
                        <a:rPr sz="2200" b="0">
                          <a:solidFill>
                            <a:srgbClr val="232B34"/>
                          </a:solidFill>
                          <a:latin typeface="Yu Gothic"/>
                          <a:ea typeface="Yu Gothic"/>
                        </a:rPr>
                        <a:t>点間隔と検出半径が通信ビーム級で、走査の格子に穴があった</a:t>
                      </a:r>
                    </a:p>
                  </a:txBody>
                  <a:tcPr marL="128016" marR="128016" anchor="ctr">
                    <a:solidFill>
                      <a:srgbClr val="EBF6FB"/>
                    </a:solidFill>
                  </a:tcPr>
                </a:tc>
                <a:extLst>
                  <a:ext uri="{0D108BD9-81ED-4DB2-BD59-A6C34878D82A}">
                    <a16:rowId xmlns:a16="http://schemas.microsoft.com/office/drawing/2014/main" val="10002"/>
                  </a:ext>
                </a:extLst>
              </a:tr>
              <a:tr h="1207007">
                <a:tc>
                  <a:txBody>
                    <a:bodyPr/>
                    <a:lstStyle/>
                    <a:p>
                      <a:pPr algn="l">
                        <a:spcAft>
                          <a:spcPts val="0"/>
                        </a:spcAft>
                      </a:pPr>
                      <a:r>
                        <a:rPr sz="2200" b="0">
                          <a:solidFill>
                            <a:srgbClr val="232B34"/>
                          </a:solidFill>
                          <a:latin typeface="Yu Gothic"/>
                          <a:ea typeface="Yu Gothic"/>
                        </a:rPr>
                        <a:t>2026-08-16 中間メモ</a:t>
                      </a:r>
                    </a:p>
                  </a:txBody>
                  <a:tcPr marL="128016" marR="128016" anchor="ctr">
                    <a:solidFill>
                      <a:srgbClr val="FFFFFF"/>
                    </a:solidFill>
                  </a:tcPr>
                </a:tc>
                <a:tc>
                  <a:txBody>
                    <a:bodyPr/>
                    <a:lstStyle/>
                    <a:p>
                      <a:pPr algn="l">
                        <a:spcAft>
                          <a:spcPts val="0"/>
                        </a:spcAft>
                      </a:pPr>
                      <a:r>
                        <a:rPr sz="2200" b="0">
                          <a:solidFill>
                            <a:srgbClr val="232B34"/>
                          </a:solidFill>
                          <a:latin typeface="Yu Gothic"/>
                          <a:ea typeface="Yu Gothic"/>
                        </a:rPr>
                        <a:t>17ケース集計での捕捉時間</a:t>
                      </a:r>
                    </a:p>
                  </a:txBody>
                  <a:tcPr marL="128016" marR="128016" anchor="ctr">
                    <a:solidFill>
                      <a:srgbClr val="FFFFFF"/>
                    </a:solidFill>
                  </a:tcPr>
                </a:tc>
                <a:tc>
                  <a:txBody>
                    <a:bodyPr/>
                    <a:lstStyle/>
                    <a:p>
                      <a:pPr algn="l">
                        <a:spcAft>
                          <a:spcPts val="0"/>
                        </a:spcAft>
                      </a:pPr>
                      <a:r>
                        <a:rPr sz="2200" b="0">
                          <a:solidFill>
                            <a:srgbClr val="232B34"/>
                          </a:solidFill>
                          <a:latin typeface="Yu Gothic"/>
                          <a:ea typeface="Yu Gothic"/>
                        </a:rPr>
                        <a:t>提出稿はCOLD標準表面の14ケースに絞ったあとの数字が正</a:t>
                      </a:r>
                    </a:p>
                  </a:txBody>
                  <a:tcPr marL="128016" marR="128016" anchor="ctr">
                    <a:solidFill>
                      <a:srgbClr val="EBF6FB"/>
                    </a:solidFill>
                  </a:tcPr>
                </a:tc>
                <a:extLst>
                  <a:ext uri="{0D108BD9-81ED-4DB2-BD59-A6C34878D82A}">
                    <a16:rowId xmlns:a16="http://schemas.microsoft.com/office/drawing/2014/main" val="10003"/>
                  </a:ext>
                </a:extLst>
              </a:tr>
              <a:tr h="1207007">
                <a:tc>
                  <a:txBody>
                    <a:bodyPr/>
                    <a:lstStyle/>
                    <a:p>
                      <a:pPr algn="l">
                        <a:spcAft>
                          <a:spcPts val="0"/>
                        </a:spcAft>
                      </a:pPr>
                      <a:r>
                        <a:rPr sz="2200" b="1">
                          <a:solidFill>
                            <a:srgbClr val="232B34"/>
                          </a:solidFill>
                          <a:latin typeface="Yu Gothic"/>
                          <a:ea typeface="Yu Gothic"/>
                        </a:rPr>
                        <a:t>今日（提出稿）</a:t>
                      </a:r>
                    </a:p>
                  </a:txBody>
                  <a:tcPr marL="128016" marR="128016" anchor="ctr">
                    <a:solidFill>
                      <a:srgbClr val="EAF8F1"/>
                    </a:solidFill>
                  </a:tcPr>
                </a:tc>
                <a:tc>
                  <a:txBody>
                    <a:bodyPr/>
                    <a:lstStyle/>
                    <a:p>
                      <a:pPr algn="l">
                        <a:spcAft>
                          <a:spcPts val="0"/>
                        </a:spcAft>
                      </a:pPr>
                      <a:r>
                        <a:rPr sz="2200" b="1">
                          <a:solidFill>
                            <a:srgbClr val="232B34"/>
                          </a:solidFill>
                          <a:latin typeface="Yu Gothic"/>
                          <a:ea typeface="Yu Gothic"/>
                        </a:rPr>
                        <a:t>14.6 → 0.10 s、19.2 → 5.45 s</a:t>
                      </a:r>
                    </a:p>
                  </a:txBody>
                  <a:tcPr marL="128016" marR="128016" anchor="ctr">
                    <a:solidFill>
                      <a:srgbClr val="EAF8F1"/>
                    </a:solidFill>
                  </a:tcPr>
                </a:tc>
                <a:tc>
                  <a:txBody>
                    <a:bodyPr/>
                    <a:lstStyle/>
                    <a:p>
                      <a:pPr algn="l">
                        <a:spcAft>
                          <a:spcPts val="0"/>
                        </a:spcAft>
                      </a:pPr>
                      <a:r>
                        <a:rPr sz="2200" b="1">
                          <a:solidFill>
                            <a:srgbClr val="232B34"/>
                          </a:solidFill>
                          <a:latin typeface="Yu Gothic"/>
                          <a:ea typeface="Yu Gothic"/>
                        </a:rPr>
                        <a:t>±1600 µrad・120 µradステップ・検出半径150 µrad、14ケース平均</a:t>
                      </a:r>
                    </a:p>
                  </a:txBody>
                  <a:tcPr marL="128016" marR="128016" anchor="ctr">
                    <a:solidFill>
                      <a:srgbClr val="EAF8F1"/>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1463040" y="9875520"/>
            <a:ext cx="21396960" cy="1371600"/>
          </a:xfrm>
          <a:prstGeom prst="rect">
            <a:avLst/>
          </a:prstGeom>
          <a:noFill/>
        </p:spPr>
        <p:txBody>
          <a:bodyPr wrap="square" lIns="45720" tIns="18288" rIns="45720" bIns="18288" anchor="t">
            <a:spAutoFit/>
          </a:bodyPr>
          <a:lstStyle/>
          <a:p>
            <a:pPr algn="ctr">
              <a:lnSpc>
                <a:spcPct val="125000"/>
              </a:lnSpc>
              <a:spcAft>
                <a:spcPts val="0"/>
              </a:spcAft>
            </a:pPr>
            <a:r>
              <a:rPr sz="2500" b="1">
                <a:solidFill>
                  <a:srgbClr val="082B52"/>
                </a:solidFill>
                <a:latin typeface="Yu Gothic"/>
                <a:ea typeface="Yu Gothic"/>
              </a:rPr>
              <a:t>走査条件が違えば秒は変わる。比べてよいのは、同じ走査条件の中での補正方式どうし</a:t>
            </a:r>
          </a:p>
          <a:p>
            <a:pPr algn="ctr">
              <a:lnSpc>
                <a:spcPct val="125000"/>
              </a:lnSpc>
              <a:spcAft>
                <a:spcPts val="0"/>
              </a:spcAft>
            </a:pPr>
            <a:r>
              <a:rPr sz="2500" b="1">
                <a:solidFill>
                  <a:srgbClr val="082B52"/>
                </a:solidFill>
                <a:latin typeface="Yu Gothic"/>
                <a:ea typeface="Yu Gothic"/>
              </a:rPr>
              <a:t>旧い秒はスクリーンに出さない。対応は口頭で答える</a:t>
            </a:r>
          </a:p>
        </p:txBody>
      </p:sp>
    </p:spTree>
  </p:cSld>
  <p:clrMapOvr>
    <a:masterClrMapping/>
  </p:clrMapOvr>
</p:sld>
</file>

<file path=ppt/theme/theme1.xml><?xml version="1.0" encoding="utf-8"?>
<a:theme xmlns:a="http://schemas.openxmlformats.org/drawingml/2006/main" name="Office テーマ">
  <a:themeElements>
    <a:clrScheme name="ISSL true">
      <a:dk1>
        <a:srgbClr val="062654"/>
      </a:dk1>
      <a:lt1>
        <a:srgbClr val="FFFFFF"/>
      </a:lt1>
      <a:dk2>
        <a:srgbClr val="4B4B4B"/>
      </a:dk2>
      <a:lt2>
        <a:srgbClr val="8D8D8D"/>
      </a:lt2>
      <a:accent1>
        <a:srgbClr val="067BCA"/>
      </a:accent1>
      <a:accent2>
        <a:srgbClr val="C95656"/>
      </a:accent2>
      <a:accent3>
        <a:srgbClr val="EBA123"/>
      </a:accent3>
      <a:accent4>
        <a:srgbClr val="87AC70"/>
      </a:accent4>
      <a:accent5>
        <a:srgbClr val="B3618D"/>
      </a:accent5>
      <a:accent6>
        <a:srgbClr val="D16449"/>
      </a:accent6>
      <a:hlink>
        <a:srgbClr val="467886"/>
      </a:hlink>
      <a:folHlink>
        <a:srgbClr val="96607D"/>
      </a:folHlink>
    </a:clrScheme>
    <a:fontScheme name="Office テーマ">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ssl-template-ja-16-9" id="{4C5265F7-3B2E-5145-B81F-B8693CA354B3}" vid="{5C8F6914-05D8-EA47-8853-1E6EC346794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issl-template-ja-16-9</Template>
  <TotalTime>3252</TotalTime>
  <Words>4081</Words>
  <Application>Microsoft Office PowerPoint</Application>
  <PresentationFormat>ユーザー設定</PresentationFormat>
  <Paragraphs>832</Paragraphs>
  <Slides>45</Slides>
  <Notes>45</Notes>
  <HiddenSlides>14</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45</vt:i4>
      </vt:variant>
    </vt:vector>
  </HeadingPairs>
  <TitlesOfParts>
    <vt:vector size="52" baseType="lpstr">
      <vt:lpstr>游ゴシック</vt:lpstr>
      <vt:lpstr>游ゴシック</vt:lpstr>
      <vt:lpstr>Yu Gothic Medium</vt:lpstr>
      <vt:lpstr>Aptos</vt:lpstr>
      <vt:lpstr>Arial</vt:lpstr>
      <vt:lpstr>Cambria Math</vt:lpstr>
      <vt:lpstr>Office テーマ</vt:lpstr>
      <vt:lpstr>衛星光通信の粗捕捉に向けた 時変熱バイアスのフィードフォワード補正</vt:lpstr>
      <vt:lpstr>01</vt:lpstr>
      <vt:lpstr>粗捕捉では相手の光がまだ無く、走査中心のずれが探索時間を決める</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衛星光通信の粗捕捉に向けた時変熱バイアスのフィードフォワード補正</dc:title>
  <dc:subject>2026-09-28 全体輪講</dc:subject>
  <dc:creator>高本 英熙</dc:creator>
  <dc:description>260927_labseminar_slide_outline.md と papers/icso/main.typ から作成。土台は 20260721_optcommrg_takamoto_v3_issl.pptx。</dc:description>
  <cp:lastModifiedBy>高本　英熙</cp:lastModifiedBy>
  <cp:revision>31</cp:revision>
  <cp:lastPrinted>2026-09-28T02:03:37Z</cp:lastPrinted>
  <dcterms:created xsi:type="dcterms:W3CDTF">2026-05-11T08:23:04Z</dcterms:created>
  <dcterms:modified xsi:type="dcterms:W3CDTF">2026-10-04T09:59:36Z</dcterms:modified>
</cp:coreProperties>
</file>