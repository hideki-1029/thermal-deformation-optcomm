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9"/>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43" r:id="rId14"/>
    <p:sldId id="285" r:id="rId15"/>
    <p:sldId id="321" r:id="rId16"/>
    <p:sldId id="322" r:id="rId17"/>
    <p:sldId id="327" r:id="rId18"/>
    <p:sldId id="344" r:id="rId19"/>
    <p:sldId id="297" r:id="rId20"/>
    <p:sldId id="299" r:id="rId21"/>
    <p:sldId id="304" r:id="rId22"/>
    <p:sldId id="345" r:id="rId23"/>
    <p:sldId id="331" r:id="rId24"/>
    <p:sldId id="309" r:id="rId25"/>
    <p:sldId id="294" r:id="rId26"/>
    <p:sldId id="339" r:id="rId27"/>
    <p:sldId id="340" r:id="rId28"/>
    <p:sldId id="330" r:id="rId29"/>
    <p:sldId id="326" r:id="rId30"/>
    <p:sldId id="329" r:id="rId31"/>
    <p:sldId id="346" r:id="rId32"/>
    <p:sldId id="328" r:id="rId33"/>
    <p:sldId id="347" r:id="rId34"/>
    <p:sldId id="303" r:id="rId35"/>
    <p:sldId id="311" r:id="rId36"/>
    <p:sldId id="298" r:id="rId37"/>
    <p:sldId id="301" r:id="rId38"/>
    <p:sldId id="302" r:id="rId39"/>
    <p:sldId id="313" r:id="rId40"/>
    <p:sldId id="332" r:id="rId41"/>
    <p:sldId id="286" r:id="rId42"/>
    <p:sldId id="333" r:id="rId43"/>
    <p:sldId id="310" r:id="rId44"/>
    <p:sldId id="334" r:id="rId45"/>
    <p:sldId id="335" r:id="rId46"/>
    <p:sldId id="336" r:id="rId47"/>
    <p:sldId id="337" r:id="rId48"/>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B66B"/>
    <a:srgbClr val="1B74AA"/>
    <a:srgbClr val="F4F6F8"/>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62895" autoAdjust="0"/>
  </p:normalViewPr>
  <p:slideViewPr>
    <p:cSldViewPr snapToGrid="0">
      <p:cViewPr varScale="1">
        <p:scale>
          <a:sx n="23" d="100"/>
          <a:sy n="23" d="100"/>
        </p:scale>
        <p:origin x="1228" y="44"/>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Good afternoon.</a:t>
            </a:r>
          </a:p>
          <a:p>
            <a:pPr>
              <a:spcAft>
                <a:spcPts val="600"/>
              </a:spcAft>
            </a:pPr>
            <a:r>
              <a:rPr sz="1600" dirty="0">
                <a:latin typeface="Calibri"/>
              </a:rPr>
              <a:t>My name is Hideki Takamoto.</a:t>
            </a:r>
            <a:r>
              <a:rPr lang="ja-JP" altLang="en-US" sz="1600" dirty="0">
                <a:latin typeface="Calibri"/>
              </a:rPr>
              <a:t>　</a:t>
            </a:r>
            <a:r>
              <a:rPr lang="en-US" altLang="ja-JP" sz="1600" dirty="0">
                <a:latin typeface="Calibri"/>
              </a:rPr>
              <a:t>I’m a master course student</a:t>
            </a:r>
            <a:r>
              <a:rPr lang="ja-JP" altLang="en-US" sz="1600" dirty="0">
                <a:latin typeface="Calibri"/>
              </a:rPr>
              <a:t> </a:t>
            </a:r>
            <a:r>
              <a:rPr lang="en-US" altLang="ja-JP" sz="1600" dirty="0">
                <a:latin typeface="Calibri"/>
              </a:rPr>
              <a:t>at</a:t>
            </a:r>
            <a:r>
              <a:rPr lang="ja-JP" altLang="en-US" sz="1600" dirty="0">
                <a:latin typeface="Calibri"/>
              </a:rPr>
              <a:t> </a:t>
            </a:r>
            <a:r>
              <a:rPr lang="en-US" altLang="ja-JP" sz="1600" dirty="0">
                <a:latin typeface="Calibri"/>
              </a:rPr>
              <a:t>the University of Tokyo.</a:t>
            </a:r>
            <a:endParaRPr sz="1600" dirty="0">
              <a:latin typeface="Calibri"/>
            </a:endParaRPr>
          </a:p>
          <a:p>
            <a:pPr>
              <a:spcAft>
                <a:spcPts val="600"/>
              </a:spcAft>
            </a:pPr>
            <a:r>
              <a:rPr sz="1600" dirty="0">
                <a:latin typeface="Calibri"/>
              </a:rPr>
              <a:t>Today, I will present our work on hierarchical</a:t>
            </a:r>
            <a:r>
              <a:rPr lang="en-US" sz="1600" dirty="0">
                <a:latin typeface="Calibri"/>
              </a:rPr>
              <a:t>(</a:t>
            </a:r>
            <a:r>
              <a:rPr lang="ja-JP" altLang="en-US" sz="1600" dirty="0">
                <a:latin typeface="Calibri"/>
              </a:rPr>
              <a:t>ハイらーきかる</a:t>
            </a:r>
            <a:r>
              <a:rPr lang="en-US" sz="1600" dirty="0">
                <a:latin typeface="Calibri"/>
              </a:rPr>
              <a:t>)</a:t>
            </a:r>
            <a:r>
              <a:rPr sz="1600" dirty="0">
                <a:latin typeface="Calibri"/>
              </a:rPr>
              <a:t>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First, let me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This table summarizes the main error sources contributing to the scan-center LOS error during coarse acquisition.</a:t>
            </a:r>
          </a:p>
          <a:p>
            <a:pPr>
              <a:spcAft>
                <a:spcPts val="600"/>
              </a:spcAft>
            </a:pPr>
            <a:r>
              <a:rPr sz="1600" dirty="0">
                <a:latin typeface="Calibri"/>
              </a:rPr>
              <a:t>Among these components, thermal LOS error can be comparable to, or even larger than, orbit-prediction error.</a:t>
            </a:r>
          </a:p>
          <a:p>
            <a:pPr>
              <a:spcAft>
                <a:spcPts val="600"/>
              </a:spcAft>
            </a:pPr>
            <a:r>
              <a:rPr sz="1600" dirty="0">
                <a:latin typeface="Calibri"/>
              </a:rPr>
              <a:t>Another important point is that thermal LOS error and orbit-prediction error vary on similar orbital time scales.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Therefore, after acquisition, we cannot simply identify the thermal component from the pointing residual based on frequency.</a:t>
            </a:r>
          </a:p>
          <a:p>
            <a:pPr>
              <a:spcAft>
                <a:spcPts val="600"/>
              </a:spcAft>
            </a:pPr>
            <a:r>
              <a:rPr sz="1600" dirty="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This slide shows the overall workflow of this study.</a:t>
            </a:r>
          </a:p>
          <a:p>
            <a:pPr>
              <a:spcAft>
                <a:spcPts val="600"/>
              </a:spcAft>
            </a:pPr>
            <a:r>
              <a:rPr sz="1600" dirty="0">
                <a:latin typeface="Calibri"/>
              </a:rPr>
              <a:t>On the ground, we first define the orbit, attitude, thermal environment, equipment layout, and surface properties.</a:t>
            </a:r>
          </a:p>
          <a:p>
            <a:pPr>
              <a:spcAft>
                <a:spcPts val="600"/>
              </a:spcAft>
            </a:pPr>
            <a:r>
              <a:rPr sz="1600" dirty="0">
                <a:latin typeface="Calibri"/>
              </a:rPr>
              <a:t>Thermal Desktop is then used to calculate the spacecraft temperature field.</a:t>
            </a:r>
          </a:p>
          <a:p>
            <a:pPr>
              <a:spcAft>
                <a:spcPts val="600"/>
              </a:spcAft>
            </a:pPr>
            <a:r>
              <a:rPr sz="1600" dirty="0">
                <a:latin typeface="Calibri"/>
              </a:rPr>
              <a:t>The temperature field is transferred to </a:t>
            </a:r>
            <a:r>
              <a:rPr sz="1600" dirty="0" err="1">
                <a:latin typeface="Calibri"/>
              </a:rPr>
              <a:t>Femap</a:t>
            </a:r>
            <a:r>
              <a:rPr sz="1600" dirty="0">
                <a:latin typeface="Calibri"/>
              </a:rPr>
              <a:t> and Nastran to calculate thermoelastic deformation and the relative rotation between the star tracker and the laser communication terminal.</a:t>
            </a:r>
          </a:p>
          <a:p>
            <a:pPr>
              <a:spcAft>
                <a:spcPts val="600"/>
              </a:spcAft>
            </a:pPr>
            <a:r>
              <a:rPr sz="1600" dirty="0">
                <a:latin typeface="Calibri"/>
              </a:rPr>
              <a:t>From these high-fidelity simulation results, we generate reference thermal-LOS time series and construct a reduced-order prediction model.</a:t>
            </a:r>
          </a:p>
          <a:p>
            <a:pPr>
              <a:spcAft>
                <a:spcPts val="600"/>
              </a:spcAft>
            </a:pPr>
            <a:r>
              <a:rPr sz="1600" dirty="0">
                <a:latin typeface="Calibri"/>
              </a:rPr>
              <a:t>On orbit, Thermal Desktop and </a:t>
            </a:r>
            <a:r>
              <a:rPr sz="1600" dirty="0" err="1">
                <a:latin typeface="Calibri"/>
              </a:rPr>
              <a:t>Femap</a:t>
            </a:r>
            <a:r>
              <a:rPr sz="1600" dirty="0">
                <a:latin typeface="Calibri"/>
              </a:rPr>
              <a:t> are not used.</a:t>
            </a:r>
          </a:p>
          <a:p>
            <a:pPr>
              <a:spcAft>
                <a:spcPts val="600"/>
              </a:spcAft>
            </a:pPr>
            <a:r>
              <a:rPr sz="1600" dirty="0">
                <a:latin typeface="Calibri"/>
              </a:rPr>
              <a:t>Only temperature measurements and operating-state information are input to the reduced-order model, and the predicted thermal LOS is used to correct the scan center.</a:t>
            </a:r>
          </a:p>
          <a:p>
            <a:pPr>
              <a:spcAft>
                <a:spcPts val="600"/>
              </a:spcAft>
            </a:pPr>
            <a:r>
              <a:rPr sz="1600" dirty="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r>
              <a:rPr lang="ja-JP" altLang="ja-JP" sz="1600" dirty="0"/>
              <a:t>Next, I will explain how we evaluate thermal deformation and the resulting LOS error using thermo-structural analysis.</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lang="en-US" sz="1600" dirty="0">
                <a:latin typeface="Calibri"/>
              </a:rPr>
              <a:t>The setting for thermal analysis is shown as table.</a:t>
            </a:r>
            <a:endParaRPr sz="1600" dirty="0">
              <a:latin typeface="Calibri"/>
            </a:endParaRPr>
          </a:p>
          <a:p>
            <a:pPr>
              <a:spcAft>
                <a:spcPts val="600"/>
              </a:spcAft>
            </a:pPr>
            <a:r>
              <a:rPr sz="1600" dirty="0">
                <a:latin typeface="Calibri"/>
              </a:rPr>
              <a:t>Across the analysis cases, we vary </a:t>
            </a:r>
            <a:r>
              <a:rPr lang="en-US" sz="1600" dirty="0">
                <a:latin typeface="Calibri"/>
              </a:rPr>
              <a:t>the orbital conditions, </a:t>
            </a:r>
            <a:r>
              <a:rPr sz="1600" dirty="0">
                <a:latin typeface="Calibri"/>
              </a:rPr>
              <a:t>the sun-facing panel, </a:t>
            </a:r>
            <a:r>
              <a:rPr lang="en-US" sz="1600" dirty="0">
                <a:latin typeface="Calibri"/>
              </a:rPr>
              <a:t>the </a:t>
            </a:r>
            <a:r>
              <a:rPr sz="1600" dirty="0">
                <a:latin typeface="Calibri"/>
              </a:rPr>
              <a:t>optical properties</a:t>
            </a:r>
            <a:r>
              <a:rPr lang="en-US" sz="1600" dirty="0">
                <a:latin typeface="Calibri"/>
              </a:rPr>
              <a:t> of panels</a:t>
            </a:r>
            <a:r>
              <a:rPr sz="1600" dirty="0">
                <a:latin typeface="Calibri"/>
              </a:rPr>
              <a:t>,</a:t>
            </a:r>
            <a:r>
              <a:rPr lang="en-US" sz="1600" dirty="0">
                <a:latin typeface="Calibri"/>
              </a:rPr>
              <a:t> and</a:t>
            </a:r>
            <a:r>
              <a:rPr sz="1600" dirty="0">
                <a:latin typeface="Calibri"/>
              </a:rPr>
              <a:t> internal equipment dissipation</a:t>
            </a:r>
            <a:r>
              <a:rPr 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resulting temperature </a:t>
            </a:r>
            <a:r>
              <a:rPr lang="en-US" sz="1600" dirty="0">
                <a:latin typeface="Calibri"/>
              </a:rPr>
              <a:t>time-series </a:t>
            </a:r>
            <a:r>
              <a:rPr sz="1600" dirty="0">
                <a:latin typeface="Calibri"/>
              </a:rPr>
              <a:t>field is then transferred to </a:t>
            </a:r>
            <a:r>
              <a:rPr sz="1600" dirty="0" err="1">
                <a:latin typeface="Calibri"/>
              </a:rPr>
              <a:t>Femap</a:t>
            </a:r>
            <a:r>
              <a:rPr sz="1600" dirty="0">
                <a:latin typeface="Calibri"/>
              </a:rPr>
              <a:t> for thermoelastic structural analysis.</a:t>
            </a:r>
          </a:p>
          <a:p>
            <a:pPr>
              <a:spcAft>
                <a:spcPts val="600"/>
              </a:spcAft>
            </a:pPr>
            <a:r>
              <a:rPr sz="1600" dirty="0">
                <a:latin typeface="Calibri"/>
              </a:rPr>
              <a:t>The spacecraft structure is modeled with the material properties shown here.</a:t>
            </a:r>
          </a:p>
          <a:p>
            <a:pPr>
              <a:spcAft>
                <a:spcPts val="600"/>
              </a:spcAft>
            </a:pPr>
            <a:r>
              <a:rPr sz="1600" dirty="0">
                <a:latin typeface="Calibri"/>
              </a:rPr>
              <a:t>From this analysis, we obtain the translations and rotations of the star-tracker and laser-terminal mounting locations.</a:t>
            </a:r>
          </a:p>
          <a:p>
            <a:pPr>
              <a:spcAft>
                <a:spcPts val="600"/>
              </a:spcAft>
            </a:pPr>
            <a:r>
              <a:rPr lang="ja-JP" altLang="en-US" sz="1600" dirty="0">
                <a:latin typeface="Calibri"/>
              </a:rPr>
              <a:t>（</a:t>
            </a:r>
            <a:r>
              <a:rPr sz="1600" dirty="0">
                <a:latin typeface="Calibri"/>
              </a:rPr>
              <a:t>Thermal Desktop and </a:t>
            </a:r>
            <a:r>
              <a:rPr sz="1600" dirty="0" err="1">
                <a:latin typeface="Calibri"/>
              </a:rPr>
              <a:t>Femap</a:t>
            </a:r>
            <a:r>
              <a:rPr sz="1600" dirty="0">
                <a:latin typeface="Calibri"/>
              </a:rPr>
              <a:t> are therefore used only to generate the high-fidelity reference dataset for model development.</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r>
              <a:rPr lang="ja-JP" altLang="ja-JP" sz="1600" dirty="0"/>
              <a:t>Based on these analysis results, we develop a simplified model to predict thermal LOS error using onboard temperature measurements.</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Here, I compare four cases with the same sun-facing panel but different equipment dissipation states.</a:t>
            </a:r>
          </a:p>
          <a:p>
            <a:r>
              <a:rPr lang="ja-JP" altLang="ja-JP" sz="1600" dirty="0"/>
              <a:t>As you can see, the within-orbit waveforms are very similar, while their mean LOS levels differ substantially between cases.</a:t>
            </a:r>
          </a:p>
          <a:p>
            <a:r>
              <a:rPr lang="ja-JP" altLang="ja-JP" sz="1600" dirty="0"/>
              <a:t>This suggests that thermal LOS error can be separated into two components: a time-varying component within each orbit and a case-dependent offset.</a:t>
            </a:r>
          </a:p>
          <a:p>
            <a:r>
              <a:rPr lang="ja-JP" altLang="ja-JP" sz="1600" dirty="0"/>
              <a:t>We therefore aim to predict these two components separately using a reduced-order model.</a:t>
            </a:r>
          </a:p>
          <a:p>
            <a:r>
              <a:rPr lang="ja-JP" altLang="ja-JP" sz="1600" dirty="0"/>
              <a:t>First, let us examine how we can describe the time-varying component.</a:t>
            </a:r>
          </a:p>
          <a:p>
            <a:endParaRPr lang="ja-JP" altLang="ja-JP" sz="1600" dirty="0"/>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rPr lang="ja-JP" altLang="ja-JP" sz="1600" dirty="0"/>
              <a:t>Next, we examine the relationship between panel temperature differences and thermal LOS variation.</a:t>
            </a:r>
          </a:p>
          <a:p>
            <a:r>
              <a:rPr lang="ja-JP" altLang="ja-JP" sz="1600" dirty="0"/>
              <a:t>The left figure shows the temperature difference between the sun-facing and opposite panels, while the right figure shows the corresponding thermal LOS error.</a:t>
            </a:r>
          </a:p>
          <a:p>
            <a:r>
              <a:rPr lang="ja-JP" altLang="ja-JP" sz="1600" dirty="0"/>
              <a:t>As you can see, both signals exhibit nearly identical variations over the orbital period.</a:t>
            </a:r>
          </a:p>
          <a:p>
            <a:r>
              <a:rPr lang="ja-JP" altLang="ja-JP" sz="1600" dirty="0"/>
              <a:t>This suggests that the temperature difference between opposite panels can serve as a simple predictor of the time-varying thermal LOS component.</a:t>
            </a:r>
          </a:p>
          <a:p>
            <a:r>
              <a:rPr lang="ja-JP" altLang="ja-JP" sz="1600" dirty="0"/>
              <a:t>In the next slide, we use this relationship to formulate our reduced-order prediction model.</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rPr lang="ja-JP" altLang="ja-JP" sz="1600" dirty="0"/>
              <a:t>Based on these observations, we developed a hierarchical temperature-difference model.</a:t>
            </a:r>
          </a:p>
          <a:p>
            <a:r>
              <a:rPr lang="ja-JP" altLang="ja-JP" sz="1600" dirty="0"/>
              <a:t>The model predicts thermal LOS error as the sum of two components.</a:t>
            </a:r>
            <a:endParaRPr lang="en-US" altLang="ja-JP" sz="1600" dirty="0"/>
          </a:p>
          <a:p>
            <a:endParaRPr lang="ja-JP" altLang="ja-JP" sz="1600" dirty="0"/>
          </a:p>
          <a:p>
            <a:r>
              <a:rPr lang="ja-JP" altLang="ja-JP" sz="1600" dirty="0"/>
              <a:t>The first component describes the time-varying error using the temperature difference between the sun-facing and opposite panels. The thermal sensitivity is shared across cases with the same sun-facing panel.</a:t>
            </a:r>
            <a:endParaRPr lang="en-US" altLang="ja-JP" sz="1600" dirty="0"/>
          </a:p>
          <a:p>
            <a:endParaRPr lang="ja-JP" altLang="ja-JP" sz="1600" dirty="0"/>
          </a:p>
          <a:p>
            <a:r>
              <a:rPr lang="ja-JP" altLang="ja-JP" sz="1600" dirty="0"/>
              <a:t>The second component is a case-dependent offset, modeled using the sun-facing panel and the ON/OFF states of two onboard units.</a:t>
            </a:r>
          </a:p>
          <a:p>
            <a:r>
              <a:rPr lang="ja-JP" altLang="ja-JP" sz="1600" dirty="0"/>
              <a:t>The dominant LOS axis depends on the sun-facing panel. For MX and PX, it is the x-axis, while for MY and PY, it is the y-axis.</a:t>
            </a:r>
            <a:endParaRPr lang="en-US" altLang="ja-JP" sz="1600" dirty="0"/>
          </a:p>
          <a:p>
            <a:endParaRPr lang="ja-JP" altLang="ja-JP" sz="1600" dirty="0"/>
          </a:p>
          <a:p>
            <a:r>
              <a:rPr lang="ja-JP" altLang="ja-JP" sz="1600" dirty="0"/>
              <a:t>For the non-dominant axis, the time variation is much smaller. Therefore, we model it using only a case-dependent offset, without the temperature-difference term.</a:t>
            </a:r>
          </a:p>
          <a:p>
            <a:r>
              <a:rPr lang="ja-JP" altLang="ja-JP" sz="1600" dirty="0"/>
              <a:t>This simple model allows us to predict thermal LOS error using onboard temperature measurements and operating-state information.</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dirty="0">
                <a:latin typeface="Calibri"/>
              </a:rPr>
              <a:t>Here I summarize the prediction performance of the hierarchical model under unseen operating conditions.</a:t>
            </a:r>
          </a:p>
          <a:p>
            <a:pPr>
              <a:spcAft>
                <a:spcPts val="600"/>
              </a:spcAft>
            </a:pPr>
            <a:r>
              <a:rPr lang="en-US" sz="1600" dirty="0">
                <a:latin typeface="Calibri"/>
              </a:rPr>
              <a:t>We evaluate the model using leave-one-case-out validation. In each trial, the test case is completely excluded from all coefficient estimation, and its next two orbits are predicted using the fixed model.</a:t>
            </a:r>
          </a:p>
          <a:p>
            <a:pPr>
              <a:spcAft>
                <a:spcPts val="600"/>
              </a:spcAft>
            </a:pPr>
            <a:r>
              <a:rPr lang="en-US" sz="1600" dirty="0">
                <a:latin typeface="Calibri"/>
              </a:rPr>
              <a:t>The bar chart compares the raw dominant-axis thermal LOS RMS with the prediction RMSE for each case.</a:t>
            </a:r>
          </a:p>
          <a:p>
            <a:pPr>
              <a:spcAft>
                <a:spcPts val="600"/>
              </a:spcAft>
            </a:pPr>
            <a:r>
              <a:rPr lang="en-US" sz="1600" dirty="0">
                <a:latin typeface="Calibri"/>
              </a:rPr>
              <a:t>Across the evaluated cases, the median raw thermal LOS is 615 microradians, while the median prediction RMSE is only 4.9 microradians.</a:t>
            </a:r>
          </a:p>
          <a:p>
            <a:pPr>
              <a:spcAft>
                <a:spcPts val="600"/>
              </a:spcAft>
            </a:pPr>
            <a:r>
              <a:rPr lang="en-US" sz="1600" dirty="0">
                <a:latin typeface="Calibri"/>
              </a:rPr>
              <a:t>This shows that the reduced-order model can predict thermal LOS under unseen operating conditions with residual errors of only a few microradians.</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r>
              <a:rPr lang="ja-JP" altLang="ja-JP" sz="1600" dirty="0"/>
              <a:t>Next, we evaluate how the predicted thermal LOS correction improves coarse-acquisition performance.</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The predicted thermal LOS is used to shift the center of the coarse-acquisition scan.</a:t>
            </a:r>
          </a:p>
          <a:p>
            <a:pPr>
              <a:spcAft>
                <a:spcPts val="600"/>
              </a:spcAft>
            </a:pPr>
            <a:r>
              <a:rPr lang="en-US" sz="1600" dirty="0">
                <a:latin typeface="Calibri"/>
              </a:rPr>
              <a:t>As shown in the equation, the remaining scan-center error consists of nonthermal pointing errors and the difference between the true and predicted thermal LOS.</a:t>
            </a:r>
          </a:p>
          <a:p>
            <a:pPr>
              <a:spcAft>
                <a:spcPts val="600"/>
              </a:spcAft>
            </a:pPr>
            <a:r>
              <a:rPr lang="en-US" sz="1600" dirty="0">
                <a:latin typeface="Calibri"/>
              </a:rPr>
              <a:t>We evaluate acquisition using a simplified rectangular spiral scan.</a:t>
            </a:r>
          </a:p>
          <a:p>
            <a:pPr>
              <a:spcAft>
                <a:spcPts val="600"/>
              </a:spcAft>
            </a:pPr>
            <a:r>
              <a:rPr lang="en-US" sz="1600" dirty="0">
                <a:latin typeface="Calibri"/>
              </a:rPr>
              <a:t>The scan range is plus or minus 1600 microradians, with a step of 120 microradians and a detection radius of 150 microradians. Each scan point has a dwell time of 0.1 seconds.</a:t>
            </a:r>
          </a:p>
          <a:p>
            <a:pPr>
              <a:spcAft>
                <a:spcPts val="600"/>
              </a:spcAft>
            </a:pPr>
            <a:r>
              <a:rPr lang="en-US" sz="1600" dirty="0">
                <a:latin typeface="Calibri"/>
              </a:rPr>
              <a:t>The scan contains 729 points, and the detection radius is sufficiently large to avoid gaps between neighboring scan points.</a:t>
            </a:r>
          </a:p>
          <a:p>
            <a:pPr>
              <a:spcAft>
                <a:spcPts val="600"/>
              </a:spcAft>
            </a:pPr>
            <a:r>
              <a:rPr lang="en-US" sz="1600" dirty="0">
                <a:latin typeface="Calibri"/>
              </a:rPr>
              <a:t>In this simplified evaluation, inter-point motion, settling time, and probabilistic detection are neglected. Therefore, the acquisition times should be interpreted as comparative values under the same scan conditions.</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In addition to the thermal LOS error, we include four nonthermal pointing-error components in the acquisition evaluation.</a:t>
            </a:r>
          </a:p>
          <a:p>
            <a:pPr>
              <a:spcAft>
                <a:spcPts val="600"/>
              </a:spcAft>
            </a:pPr>
            <a:r>
              <a:rPr lang="en-US" sz="1600" dirty="0">
                <a:latin typeface="Calibri"/>
              </a:rPr>
              <a:t>These are orbit-prediction error, alignment error, attitude error, and low-frequency drift.</a:t>
            </a:r>
          </a:p>
          <a:p>
            <a:pPr>
              <a:spcAft>
                <a:spcPts val="600"/>
              </a:spcAft>
            </a:pPr>
            <a:r>
              <a:rPr lang="en-US" sz="1600" dirty="0">
                <a:latin typeface="Calibri"/>
              </a:rPr>
              <a:t>The orbit-prediction error is generated by comparing Sentinel-1 TLE propagation using SGP4 with precise POEORB ephemeris data, and projecting the difference onto the link transverse plane.</a:t>
            </a:r>
          </a:p>
          <a:p>
            <a:pPr>
              <a:spcAft>
                <a:spcPts val="600"/>
              </a:spcAft>
            </a:pPr>
            <a:r>
              <a:rPr lang="en-US" sz="1600" dirty="0">
                <a:latin typeface="Calibri"/>
              </a:rPr>
              <a:t>The other components are modeled as a constant alignment error, random attitude error, and sinusoidal drift.</a:t>
            </a:r>
          </a:p>
          <a:p>
            <a:pPr>
              <a:spcAft>
                <a:spcPts val="600"/>
              </a:spcAft>
            </a:pPr>
            <a:r>
              <a:rPr lang="en-US" sz="1600" dirty="0">
                <a:latin typeface="Calibri"/>
              </a:rPr>
              <a:t>The orbit-prediction error is relatively large, with a mean magnitude of approximately 280 to 700 microradians depending on the link geometry.</a:t>
            </a:r>
          </a:p>
          <a:p>
            <a:pPr>
              <a:spcAft>
                <a:spcPts val="600"/>
              </a:spcAft>
            </a:pPr>
            <a:r>
              <a:rPr lang="en-US" sz="1600" dirty="0">
                <a:latin typeface="Calibri"/>
              </a:rPr>
              <a:t>This is not a spacecraft-specific error budget. Instead, it represents a generic GNSS-denied small-LEO scenario.</a:t>
            </a:r>
          </a:p>
          <a:p>
            <a:pPr>
              <a:spcAft>
                <a:spcPts val="600"/>
              </a:spcAft>
            </a:pPr>
            <a:r>
              <a:rPr lang="en-US" sz="1600" dirty="0">
                <a:latin typeface="Calibri"/>
              </a:rPr>
              <a:t>The numerical evaluation uses one random seed per case, so statistical variation across different noise realizations is not assessed.</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Finally, I present the acquisition results with nonthermal pointing errors included.</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This graph compares acquisition time with and without thermal feedforward correction across fourteen operating cases.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Without thermal correction, the mean acquisition time is 19.2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 the hierarchical model, it decreases to 5.45 seconds, corresponding to a 72 percent reduction.</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acquisition success rate also increases from 98 percent to 100 percent.</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improvement is particularly large for the PY sun-facing cases, where the thermal LOS error is approximately 1.2 milliradians. In these cases, acquisition time decreases from around 40 seconds to approximately 1 to 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After correction, the remaining pointing error is dominated by nonthermal components.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Therefore, our approach does not eliminate all pointing errors, but significantly reduces the acquisition burden by removing the predictable thermal component before optical feedback becomes available.</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r>
              <a:rPr lang="ja-JP" altLang="ja-JP" sz="1600" dirty="0"/>
              <a:t>Finally, let me summarize the main findings and limitations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dirty="0">
                <a:latin typeface="Calibri"/>
              </a:rPr>
              <a:t>To summarize, we developed a physics-informed reduced-order model to predict thermal LOS error before optical acquisition.</a:t>
            </a:r>
          </a:p>
          <a:p>
            <a:pPr>
              <a:spcAft>
                <a:spcPts val="600"/>
              </a:spcAft>
            </a:pPr>
            <a:r>
              <a:rPr lang="en-US" sz="1600" dirty="0">
                <a:latin typeface="Calibri"/>
              </a:rPr>
              <a:t>The model achieved a median prediction RMSE of 4.9 microradians under unseen operating conditions, and reduced the mean acquisition time by 72 percent in our numerical evaluation.</a:t>
            </a:r>
          </a:p>
          <a:p>
            <a:pPr>
              <a:spcAft>
                <a:spcPts val="600"/>
              </a:spcAft>
            </a:pPr>
            <a:r>
              <a:rPr lang="en-US" sz="1600" dirty="0">
                <a:latin typeface="Calibri"/>
              </a:rPr>
              <a:t>However, two important challenges remain.</a:t>
            </a:r>
          </a:p>
          <a:p>
            <a:pPr>
              <a:spcAft>
                <a:spcPts val="600"/>
              </a:spcAft>
            </a:pPr>
            <a:r>
              <a:rPr lang="en-US" sz="1600" dirty="0">
                <a:latin typeface="Calibri"/>
              </a:rPr>
              <a:t>First, the model has only been validated numerically for a simplified spacecraft structure and a fixed STT–LCT configuration. We need to examine whether the same model structure works for more realistic spacecraft and different equipment placements, and validate the predictions through ground testing.</a:t>
            </a:r>
          </a:p>
          <a:p>
            <a:pPr>
              <a:spcAft>
                <a:spcPts val="600"/>
              </a:spcAft>
            </a:pPr>
            <a:r>
              <a:rPr lang="en-US" sz="1600" dirty="0">
                <a:latin typeface="Calibri"/>
              </a:rPr>
              <a:t>Second, the model currently relies on fixed coefficients identified on the ground. For practical onboard use, we need adaptive updates based on post-acquisition measurements, while distinguishing thermal error from other pointing errors.</a:t>
            </a:r>
          </a:p>
          <a:p>
            <a:pPr>
              <a:spcAft>
                <a:spcPts val="600"/>
              </a:spcAft>
            </a:pPr>
            <a:r>
              <a:rPr lang="en-US" sz="1600" dirty="0">
                <a:latin typeface="Calibri"/>
              </a:rPr>
              <a:t>Our main message is that thermal deformation can be treated as a predictable bias and corrected before optical feedback becomes available.</a:t>
            </a:r>
          </a:p>
          <a:p>
            <a:pPr>
              <a:spcAft>
                <a:spcPts val="600"/>
              </a:spcAft>
            </a:pPr>
            <a:r>
              <a:rPr lang="en-US" sz="1600" dirty="0">
                <a:latin typeface="Calibri"/>
              </a:rPr>
              <a:t>Thank you for your attention.</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60672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Appendix. These plots check the shared sun-face sensitivity and the case bias predicted from the sun face and the dissipation flags.</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Appendix. Case 08 is one of the largest raw thermal LOS cases. The fixed model predicts its next two orbits with a test RMSE of 3.9 microradians.</a:t>
            </a:r>
            <a:endParaRPr sz="160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atin typeface="Arial" panose="020B0604020202020204" pitchFamily="34" charset="0"/>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latin typeface="Arial" panose="020B0604020202020204" pitchFamily="34" charset="0"/>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23E69BD-F0A9-D945-85B5-A92D8C4A6243}"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latin typeface="Arial" panose="020B0604020202020204" pitchFamily="34" charset="0"/>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B9E95FB-2235-2F42-91D0-8B9F16BE7B80}"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Arial" panose="020B0604020202020204" pitchFamily="34" charset="0"/>
                <a:ea typeface="Yu Gothic" panose="020B0400000000000000" pitchFamily="34" charset="-128"/>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CB8ED544-ACEE-1142-A4DF-052F81DCAF13}"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55A8DA76-1C10-5547-91CE-253BD16E32D7}"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3DC3E895-CCE5-A241-A85F-670DB4C916C8}"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9F4C7F2-45E9-0742-99C2-D62F245DFEC9}"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C579897-8C2A-CB44-93BE-9BFBC7559B74}"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7DD96E1F-697B-864D-A8BC-B9F203AEA5AC}"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33846FE-1092-FD42-9AC0-B69E5809E0EF}"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lvl1pPr>
              <a:defRPr>
                <a:latin typeface="Arial" panose="020B0604020202020204" pitchFamily="34" charset="0"/>
              </a:defRPr>
            </a:lvl1pPr>
          </a:lstStyle>
          <a:p>
            <a:fld id="{7A6230E5-DC19-8048-9011-93E4E558FEAD}" type="datetime1">
              <a:rPr kumimoji="1" lang="en-US" altLang="ja-JP" smtClean="0"/>
              <a:pPr/>
              <a:t>10/13/2026</a:t>
            </a:fld>
            <a:endParaRPr kumimoji="1" lang="en-US" altLang="ja-JP" dirty="0"/>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latin typeface="Arial" panose="020B0604020202020204" pitchFamily="34" charset="0"/>
              </a:defRPr>
            </a:lvl1pPr>
          </a:lstStyle>
          <a:p>
            <a:fld id="{7A6230E5-DC19-8048-9011-93E4E558FEAD}" type="datetime1">
              <a:rPr kumimoji="1" lang="en-US" altLang="ja-JP" smtClean="0"/>
              <a:pPr/>
              <a:t>10/13/2026</a:t>
            </a:fld>
            <a:endParaRPr kumimoji="1" lang="en-US" altLang="ja-JP" dirty="0">
              <a:latin typeface="Arial" panose="020B0604020202020204" pitchFamily="34" charset="0"/>
            </a:endParaRPr>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latin typeface="Arial" panose="020B0604020202020204" pitchFamily="34" charset="0"/>
              </a:defRPr>
            </a:lvl1pPr>
          </a:lstStyle>
          <a:p>
            <a:fld id="{E67BFEE9-6A35-CF42-A39A-CD481C3507E3}" type="slidenum">
              <a:rPr kumimoji="1" lang="en-US" altLang="ja-JP" smtClean="0"/>
              <a:pPr/>
              <a:t>‹#›</a:t>
            </a:fld>
            <a:endParaRPr kumimoji="1" lang="en-US" altLang="ja-JP" dirty="0">
              <a:latin typeface="Arial" panose="020B0604020202020204" pitchFamily="34" charset="0"/>
            </a:endParaRPr>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Arial" panose="020B0604020202020204" pitchFamily="34" charset="0"/>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Arial" panose="020B0604020202020204" pitchFamily="34" charset="0"/>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5.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en-US" altLang="ja-JP" sz="4400" b="0">
                <a:latin typeface="Arial" panose="020B0604020202020204" pitchFamily="34" charset="0"/>
                <a:cs typeface="Arial" panose="020B0604020202020204" pitchFamily="34" charset="0"/>
              </a:rPr>
            </a:br>
            <a:r>
              <a:rPr lang="en-US" altLang="ja-JP" sz="4400">
                <a:latin typeface="Arial" panose="020B0604020202020204" pitchFamily="34" charset="0"/>
                <a:cs typeface="Arial" panose="020B0604020202020204" pitchFamily="34" charset="0"/>
              </a:rPr>
              <a:t>Hierarchical </a:t>
            </a:r>
            <a:r>
              <a:rPr lang="en-US" altLang="ja-JP" sz="4400" dirty="0">
                <a:latin typeface="Arial" panose="020B0604020202020204" pitchFamily="34" charset="0"/>
                <a:cs typeface="Arial" panose="020B0604020202020204" pitchFamily="34" charset="0"/>
              </a:rPr>
              <a:t>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lang="en-US" sz="3600" b="0">
                <a:solidFill>
                  <a:schemeClr val="tx2">
                    <a:lumMod val="50000"/>
                  </a:schemeClr>
                </a:solidFill>
                <a:latin typeface="Arial" panose="020B0604020202020204" pitchFamily="34" charset="0"/>
                <a:ea typeface="Yu Gothic"/>
                <a:cs typeface="Arial" panose="020B0604020202020204" pitchFamily="34" charset="0"/>
              </a:rPr>
              <a:t>ICSO</a:t>
            </a:r>
            <a:r>
              <a:rPr lang="en-US" altLang="ja-JP" sz="3600">
                <a:solidFill>
                  <a:schemeClr val="tx2">
                    <a:lumMod val="50000"/>
                  </a:schemeClr>
                </a:solidFill>
                <a:latin typeface="Arial" panose="020B0604020202020204" pitchFamily="34" charset="0"/>
                <a:ea typeface="Yu Gothic"/>
                <a:cs typeface="Arial" panose="020B0604020202020204" pitchFamily="34" charset="0"/>
              </a:rPr>
              <a:t> 2026 |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01</a:t>
            </a:r>
            <a:endParaRPr lang="en-US"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en-US" altLang="ja-JP" sz="4800" b="1">
                <a:solidFill>
                  <a:srgbClr val="FFFFFF"/>
                </a:solidFill>
                <a:latin typeface="Arial" panose="020B0604020202020204" pitchFamily="34" charset="0"/>
                <a:cs typeface="Arial" panose="020B0604020202020204" pitchFamily="34" charset="0"/>
              </a:rPr>
              <a:t>Background</a:t>
            </a:r>
            <a:endParaRPr lang="en-US"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lang="en-US" altLang="ja-JP" sz="1800" b="0" dirty="0">
                <a:solidFill>
                  <a:srgbClr val="666F79"/>
                </a:solidFill>
                <a:latin typeface="Arial" panose="020B0604020202020204" pitchFamily="34" charset="0"/>
                <a:ea typeface="Yu Gothic"/>
                <a:cs typeface="Arial" panose="020B0604020202020204" pitchFamily="34" charset="0"/>
              </a:rPr>
              <a:t>3</a:t>
            </a:r>
            <a:endParaRPr sz="1800" b="0" dirty="0">
              <a:solidFill>
                <a:srgbClr val="666F79"/>
              </a:solidFill>
              <a:latin typeface="Arial" panose="020B0604020202020204" pitchFamily="34" charset="0"/>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lang="en-US" sz="3200" b="0" dirty="0">
                <a:solidFill>
                  <a:srgbClr val="232B34"/>
                </a:solidFill>
                <a:latin typeface="Arial" panose="020B0604020202020204" pitchFamily="34" charset="0"/>
                <a:ea typeface="Yu Gothic"/>
                <a:cs typeface="Arial" panose="020B0604020202020204" pitchFamily="34" charset="0"/>
              </a:rPr>
              <a:t>attitude, and orbit errors</a:t>
            </a: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Illumination / eclipse</a:t>
            </a:r>
          </a:p>
          <a:p>
            <a:pPr algn="ctr"/>
            <a:r>
              <a:rPr lang="en-US" sz="3200" b="1" dirty="0">
                <a:solidFill>
                  <a:srgbClr val="1B74AA"/>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706962"/>
            <a:ext cx="5060808" cy="1532727"/>
          </a:xfrm>
          <a:prstGeom prst="rect">
            <a:avLst/>
          </a:prstGeom>
          <a:noFill/>
        </p:spPr>
        <p:txBody>
          <a:bodyPr wrap="none" lIns="36576" tIns="27432" rIns="36576" bIns="27432" anchor="t">
            <a:spAutoFit/>
          </a:bodyPr>
          <a:lstStyle/>
          <a:p>
            <a:pPr algn="ctr"/>
            <a:r>
              <a:rPr lang="en-US" sz="3200" b="0" dirty="0">
                <a:solidFill>
                  <a:srgbClr val="232B34"/>
                </a:solidFill>
                <a:latin typeface="Arial" panose="020B0604020202020204" pitchFamily="34" charset="0"/>
                <a:cs typeface="Arial" panose="020B0604020202020204" pitchFamily="34" charset="0"/>
              </a:rPr>
              <a:t>Temperature field </a:t>
            </a:r>
          </a:p>
          <a:p>
            <a:pPr algn="ctr"/>
            <a:r>
              <a:rPr lang="en-US" sz="3200" b="0" dirty="0">
                <a:solidFill>
                  <a:srgbClr val="232B34"/>
                </a:solidFill>
                <a:latin typeface="Arial" panose="020B0604020202020204" pitchFamily="34" charset="0"/>
                <a:cs typeface="Arial" panose="020B0604020202020204" pitchFamily="34" charset="0"/>
              </a:rPr>
              <a:t>→ thermal expansion
→ </a:t>
            </a:r>
            <a:r>
              <a:rPr lang="en-US" altLang="ja-JP" sz="3200" dirty="0">
                <a:solidFill>
                  <a:srgbClr val="232B34"/>
                </a:solidFill>
                <a:latin typeface="Arial" panose="020B0604020202020204" pitchFamily="34" charset="0"/>
                <a:cs typeface="Arial" panose="020B0604020202020204" pitchFamily="34" charset="0"/>
              </a:rPr>
              <a:t>spacecraft-bus distortion</a:t>
            </a:r>
            <a:endParaRPr lang="en-US"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lang="en-US" sz="28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sz="2800" b="1">
                <a:solidFill>
                  <a:schemeClr val="accent6">
                    <a:lumMod val="75000"/>
                  </a:schemeClr>
                </a:solidFill>
                <a:latin typeface="Arial" panose="020B0604020202020204" pitchFamily="34" charset="0"/>
                <a:ea typeface="Yu Gothic"/>
                <a:cs typeface="Arial" panose="020B0604020202020204" pitchFamily="34" charset="0"/>
              </a:rPr>
              <a:t>: 100 µrad to 1 mrad</a:t>
            </a:r>
            <a:endParaRPr lang="en-US"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424428"/>
            <a:ext cx="5760720" cy="1532727"/>
          </a:xfrm>
          <a:prstGeom prst="rect">
            <a:avLst/>
          </a:prstGeom>
          <a:noFill/>
        </p:spPr>
        <p:txBody>
          <a:bodyPr wrap="square" lIns="36576" tIns="27432" rIns="36576" bIns="27432" anchor="t">
            <a:spAutoFit/>
          </a:bodyPr>
          <a:lstStyle/>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Our approach: </a:t>
            </a:r>
          </a:p>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Pre-acquisition predictive correction </a:t>
            </a:r>
            <a:endParaRPr lang="en-US"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Subtract </a:t>
            </a:r>
            <a:r>
              <a:rPr lang="en-US" sz="3200" b="1">
                <a:solidFill>
                  <a:schemeClr val="accent6">
                    <a:lumMod val="75000"/>
                  </a:schemeClr>
                </a:solidFill>
                <a:latin typeface="Arial" panose="020B0604020202020204" pitchFamily="34" charset="0"/>
                <a:ea typeface="Yu Gothic"/>
                <a:cs typeface="Arial" panose="020B0604020202020204" pitchFamily="34" charset="0"/>
              </a:rPr>
              <a:t>thermal LOS</a:t>
            </a:r>
            <a:r>
              <a:rPr lang="en-US" sz="3200" b="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to reduce search time</a:t>
            </a:r>
            <a:endParaRPr lang="en-US"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en-US" altLang="ja-JP" sz="320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en-US" altLang="ja-JP" sz="3200">
                <a:solidFill>
                  <a:srgbClr val="082B52"/>
                </a:solidFill>
                <a:latin typeface="Arial" panose="020B0604020202020204" pitchFamily="34" charset="0"/>
                <a:cs typeface="Arial" panose="020B0604020202020204" pitchFamily="34" charset="0"/>
              </a:rPr>
              <a:t> </a:t>
            </a:r>
            <a:r>
              <a:rPr lang="en-US" sz="3200" b="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lang="en-US" sz="2000" b="0">
                <a:solidFill>
                  <a:srgbClr val="666F79"/>
                </a:solidFill>
                <a:latin typeface="Arial" panose="020B0604020202020204" pitchFamily="34" charset="0"/>
                <a:ea typeface="Yu Gothic"/>
                <a:cs typeface="Arial" panose="020B0604020202020204" pitchFamily="34" charset="0"/>
              </a:rPr>
              <a:t>Background</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 error</a:t>
            </a:r>
            <a:r>
              <a:rPr lang="en-US" sz="3200" b="1" dirty="0">
                <a:solidFill>
                  <a:srgbClr val="082B52"/>
                </a:solidFill>
                <a:latin typeface="Arial" panose="020B0604020202020204" pitchFamily="34" charset="0"/>
                <a:ea typeface="Yu Gothic"/>
                <a:cs typeface="Arial" panose="020B0604020202020204" pitchFamily="34" charset="0"/>
              </a:rPr>
              <a:t> can match or exceed orbit-prediction error</a:t>
            </a:r>
            <a:r>
              <a:rPr lang="en-US" altLang="ja-JP" sz="3200" b="1" dirty="0">
                <a:solidFill>
                  <a:srgbClr val="082B52"/>
                </a:solidFill>
                <a:latin typeface="Arial" panose="020B0604020202020204" pitchFamily="34" charset="0"/>
                <a:ea typeface="Yu Gothic"/>
                <a:cs typeface="Arial" panose="020B0604020202020204" pitchFamily="34" charset="0"/>
              </a:rPr>
              <a:t>—</a:t>
            </a:r>
            <a:r>
              <a:rPr lang="en-US" sz="3200" b="1" dirty="0">
                <a:solidFill>
                  <a:srgbClr val="082B52"/>
                </a:solidFill>
                <a:latin typeface="Arial" panose="020B0604020202020204" pitchFamily="34" charset="0"/>
                <a:ea typeface="Yu Gothic"/>
                <a:cs typeface="Arial" panose="020B0604020202020204" pitchFamily="34" charset="0"/>
              </a:rPr>
              <a:t>and cannot be optically separated before acquisition</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cs typeface="Arial" panose="020B0604020202020204" pitchFamily="34" charset="0"/>
              </a:rPr>
              <a:t>4</a:t>
            </a:r>
            <a:endParaRPr lang="en-US" sz="1800" b="0" dirty="0">
              <a:solidFill>
                <a:srgbClr val="666F79"/>
              </a:solidFill>
              <a:latin typeface="Arial" panose="020B0604020202020204" pitchFamily="34" charset="0"/>
              <a:ea typeface="Yu Gothic"/>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044274270"/>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lang="en-US" sz="2800" b="1">
                          <a:solidFill>
                            <a:srgbClr val="FFFFFF"/>
                          </a:solidFill>
                          <a:latin typeface="Arial" panose="020B0604020202020204" pitchFamily="34" charset="0"/>
                          <a:ea typeface="Yu Gothic"/>
                          <a:cs typeface="Arial" panose="020B0604020202020204" pitchFamily="34" charset="0"/>
                        </a:rPr>
                        <a:t>Error source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Approximate magnitude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Time variation</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Thermal LOS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150 µrad–1000 µrad (this analysis)</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Orbit prediction</a:t>
                      </a:r>
                    </a:p>
                  </a:txBody>
                  <a:tcPr marL="128016" marR="128016" anchor="ctr">
                    <a:solidFill>
                      <a:schemeClr val="accent6">
                        <a:lumMod val="20000"/>
                        <a:lumOff val="80000"/>
                      </a:schemeClr>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hundred µrad (TLE propagation vs. precise GPS ephemeris)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Attitude and calibrated alignment</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Tens of µrad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DC to broadband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Mechanical vibration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lang="en-US" sz="2000" b="0" dirty="0">
                <a:solidFill>
                  <a:srgbClr val="666F79"/>
                </a:solidFill>
                <a:latin typeface="Arial" panose="020B0604020202020204" pitchFamily="34" charset="0"/>
                <a:ea typeface="Yu Gothic"/>
                <a:cs typeface="Arial" panose="020B0604020202020204" pitchFamily="34" charset="0"/>
              </a:rPr>
              <a:t>* Thermal LOS</a:t>
            </a:r>
            <a:r>
              <a:rPr lang="en-US" altLang="ja-JP" sz="2000" b="0" dirty="0">
                <a:solidFill>
                  <a:srgbClr val="666F79"/>
                </a:solidFill>
                <a:latin typeface="Arial" panose="020B0604020202020204" pitchFamily="34" charset="0"/>
                <a:ea typeface="Yu Gothic"/>
                <a:cs typeface="Arial" panose="020B0604020202020204" pitchFamily="34" charset="0"/>
              </a:rPr>
              <a:t> and orbit-prediction error are from this analysis</a:t>
            </a:r>
            <a:r>
              <a:rPr lang="en-US" altLang="ja-JP" sz="2000" b="0">
                <a:solidFill>
                  <a:srgbClr val="666F79"/>
                </a:solidFill>
                <a:latin typeface="Arial" panose="020B0604020202020204" pitchFamily="34" charset="0"/>
                <a:ea typeface="Yu Gothic"/>
                <a:cs typeface="Arial" panose="020B0604020202020204" pitchFamily="34" charset="0"/>
              </a:rPr>
              <a:t>; </a:t>
            </a:r>
            <a:r>
              <a:rPr lang="en-US" sz="2000" b="0">
                <a:solidFill>
                  <a:srgbClr val="666F79"/>
                </a:solidFill>
                <a:latin typeface="Arial" panose="020B0604020202020204" pitchFamily="34" charset="0"/>
                <a:ea typeface="Yu Gothic"/>
                <a:cs typeface="Arial" panose="020B0604020202020204" pitchFamily="34" charset="0"/>
              </a:rPr>
              <a:t>other values are literature-based order-of-magnitude estimates.</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Thermal LOS and orbit prediction share </a:t>
            </a:r>
            <a:r>
              <a:rPr lang="en-US" altLang="ja-JP" sz="3200" dirty="0">
                <a:solidFill>
                  <a:srgbClr val="082B52"/>
                </a:solidFill>
                <a:latin typeface="Arial" panose="020B0604020202020204" pitchFamily="34" charset="0"/>
                <a:ea typeface="Yu Gothic"/>
                <a:cs typeface="Arial" panose="020B0604020202020204" pitchFamily="34" charset="0"/>
              </a:rPr>
              <a:t>similar</a:t>
            </a:r>
            <a:r>
              <a:rPr lang="en-US" sz="3200" dirty="0">
                <a:solidFill>
                  <a:srgbClr val="082B52"/>
                </a:solidFill>
                <a:latin typeface="Arial" panose="020B0604020202020204" pitchFamily="34" charset="0"/>
                <a:ea typeface="Yu Gothic"/>
                <a:cs typeface="Arial" panose="020B0604020202020204" pitchFamily="34" charset="0"/>
              </a:rPr>
              <a:t> orbital periods</a:t>
            </a:r>
          </a:p>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lang="en-US" sz="3200" b="1" dirty="0">
                <a:latin typeface="Arial" panose="020B0604020202020204" pitchFamily="34" charset="0"/>
                <a:ea typeface="Yu Gothic"/>
                <a:cs typeface="Arial" panose="020B0604020202020204" pitchFamily="34" charset="0"/>
              </a:rPr>
              <a:t>Do not </a:t>
            </a:r>
            <a:r>
              <a:rPr lang="en-US" altLang="ja-JP" sz="3200" b="1" dirty="0">
                <a:latin typeface="Arial" panose="020B0604020202020204" pitchFamily="34" charset="0"/>
                <a:ea typeface="Yu Gothic"/>
                <a:cs typeface="Arial" panose="020B0604020202020204" pitchFamily="34" charset="0"/>
              </a:rPr>
              <a:t>separate thermal effects retrospectively</a:t>
            </a:r>
            <a:r>
              <a:rPr lang="en-US" sz="3200" b="1" dirty="0">
                <a:latin typeface="Arial" panose="020B0604020202020204" pitchFamily="34" charset="0"/>
                <a:ea typeface="Yu Gothic"/>
                <a:cs typeface="Arial" panose="020B0604020202020204" pitchFamily="34" charset="0"/>
              </a:rPr>
              <a:t> from observations</a:t>
            </a:r>
          </a:p>
          <a:p>
            <a:pPr algn="ctr">
              <a:spcAft>
                <a:spcPts val="0"/>
              </a:spcAft>
            </a:pPr>
            <a:r>
              <a:rPr lang="en-US" sz="3200" b="1" dirty="0">
                <a:latin typeface="Arial" panose="020B0604020202020204" pitchFamily="34" charset="0"/>
                <a:ea typeface="Yu Gothic"/>
                <a:cs typeface="Arial" panose="020B0604020202020204" pitchFamily="34" charset="0"/>
              </a:rPr>
              <a:t>Use temperature and operating state</a:t>
            </a:r>
            <a:r>
              <a:rPr lang="en-US" altLang="ja-JP" sz="3200" b="1" dirty="0">
                <a:latin typeface="Arial" panose="020B0604020202020204" pitchFamily="34" charset="0"/>
                <a:ea typeface="Yu Gothic"/>
                <a:cs typeface="Arial" panose="020B0604020202020204" pitchFamily="34" charset="0"/>
              </a:rPr>
              <a:t> </a:t>
            </a:r>
            <a:r>
              <a:rPr lang="en-US" sz="3200" b="1" dirty="0">
                <a:latin typeface="Arial" panose="020B0604020202020204" pitchFamily="34" charset="0"/>
                <a:ea typeface="Yu Gothic"/>
                <a:cs typeface="Arial" panose="020B0604020202020204" pitchFamily="34" charset="0"/>
              </a:rPr>
              <a:t>to subtract them before acquisition</a:t>
            </a: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en-US" altLang="ja-JP" sz="2800" b="1">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en-US"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altLang="ja-JP" sz="3200" b="1" dirty="0">
                <a:solidFill>
                  <a:srgbClr val="082B52"/>
                </a:solidFill>
                <a:latin typeface="Arial" panose="020B0604020202020204" pitchFamily="34" charset="0"/>
                <a:ea typeface="Yu Gothic"/>
                <a:cs typeface="Arial" panose="020B0604020202020204" pitchFamily="34" charset="0"/>
              </a:rPr>
              <a:t>Prior work on thermal-deformation LOS error prediction and this study</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5</a:t>
            </a:r>
            <a:endParaRPr lang="en-US" sz="1800" b="0" dirty="0">
              <a:solidFill>
                <a:srgbClr val="666F79"/>
              </a:solidFill>
              <a:latin typeface="Arial" panose="020B0604020202020204" pitchFamily="34" charset="0"/>
              <a:ea typeface="Yu Gothic"/>
            </a:endParaRP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4086940554"/>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en-US" altLang="ja-JP" sz="2800" b="0">
                          <a:solidFill>
                            <a:schemeClr val="bg1"/>
                          </a:solidFill>
                          <a:latin typeface="Arial" panose="020B0604020202020204" pitchFamily="34" charset="0"/>
                          <a:cs typeface="Arial" panose="020B0604020202020204" pitchFamily="34" charset="0"/>
                        </a:rPr>
                        <a:t>Field</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Conventional PAT design</a:t>
                      </a:r>
                      <a:endParaRPr 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Earth observation / optics</a:t>
                      </a:r>
                    </a:p>
                  </a:txBody>
                  <a:tcPr anchor="ctr">
                    <a:solidFill>
                      <a:schemeClr val="bg1">
                        <a:lumMod val="85000"/>
                      </a:schemeClr>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This study’s PAT design </a:t>
                      </a:r>
                      <a:endParaRPr lang="ja-JP" sz="2800" b="1"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en-US" altLang="ja-JP" sz="2800" b="0">
                          <a:solidFill>
                            <a:schemeClr val="bg1"/>
                          </a:solidFill>
                          <a:latin typeface="Arial" panose="020B0604020202020204" pitchFamily="34" charset="0"/>
                          <a:cs typeface="Arial" panose="020B0604020202020204" pitchFamily="34" charset="0"/>
                        </a:rPr>
                        <a:t>Approach to thermal deformation</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a:solidFill>
                            <a:schemeClr val="tx1"/>
                          </a:solidFill>
                          <a:latin typeface="Arial" panose="020B0604020202020204" pitchFamily="34" charset="0"/>
                          <a:cs typeface="Arial" panose="020B0604020202020204" pitchFamily="34" charset="0"/>
                        </a:rPr>
                        <a:t>Reduce thermal deformation through structure </a:t>
                      </a:r>
                      <a:r>
                        <a:rPr lang="en-US" altLang="ja-JP" sz="2800" b="0" dirty="0">
                          <a:solidFill>
                            <a:schemeClr val="tx1"/>
                          </a:solidFill>
                          <a:latin typeface="Arial" panose="020B0604020202020204" pitchFamily="34" charset="0"/>
                          <a:cs typeface="Arial" panose="020B0604020202020204" pitchFamily="34" charset="0"/>
                        </a:rPr>
                        <a:t>and materials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Main target</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en-US" altLang="ja-JP" sz="2800" b="0">
                          <a:latin typeface="Arial" panose="020B0604020202020204" pitchFamily="34" charset="0"/>
                          <a:cs typeface="Arial" panose="020B0604020202020204" pitchFamily="34" charset="0"/>
                        </a:rPr>
                        <a:t>STT–LCT relative LOS across the spacecraft bus</a:t>
                      </a:r>
                      <a:endParaRPr lang="en-US" altLang="ja-JP" sz="2800" b="0" dirty="0">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Evaluation metric</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Thermal stability, pointing error, link establishment</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Coarse-acquisition time and success rate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en-US" altLang="ja-JP" sz="2800" b="0">
                          <a:solidFill>
                            <a:schemeClr val="bg1"/>
                          </a:solidFill>
                          <a:latin typeface="Arial" panose="020B0604020202020204" pitchFamily="34" charset="0"/>
                          <a:cs typeface="Arial" panose="020B0604020202020204" pitchFamily="34" charset="0"/>
                        </a:rPr>
                        <a:t>Remaining gap</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Limited frameworks for </a:t>
                      </a:r>
                      <a:r>
                        <a:rPr lang="en-US" altLang="ja-JP" sz="2800" b="1">
                          <a:solidFill>
                            <a:schemeClr val="tx1"/>
                          </a:solidFill>
                          <a:latin typeface="Arial" panose="020B0604020202020204" pitchFamily="34" charset="0"/>
                          <a:cs typeface="Arial" panose="020B0604020202020204" pitchFamily="34" charset="0"/>
                        </a:rPr>
                        <a:t>predicting residual thermal LOS error during operations</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Not linked to </a:t>
                      </a:r>
                      <a:r>
                        <a:rPr lang="en-US" altLang="ja-JP" sz="2800" b="1">
                          <a:solidFill>
                            <a:schemeClr val="tx1"/>
                          </a:solidFill>
                          <a:latin typeface="Arial" panose="020B0604020202020204" pitchFamily="34" charset="0"/>
                          <a:cs typeface="Arial" panose="020B0604020202020204" pitchFamily="34" charset="0"/>
                        </a:rPr>
                        <a:t>spacecraft-bus LOS error or coarse-acquisition performance</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en-US" altLang="ja-JP">
                <a:latin typeface="Arial" panose="020B0604020202020204" pitchFamily="34" charset="0"/>
              </a:rPr>
              <a:t>References:</a:t>
            </a:r>
            <a:endParaRPr lang="en-US" altLang="ja-JP" dirty="0">
              <a:latin typeface="Arial" panose="020B0604020202020204" pitchFamily="34" charset="0"/>
            </a:endParaRPr>
          </a:p>
          <a:p>
            <a:pPr marL="342900" lvl="0" indent="-342900">
              <a:buFont typeface="Arial" panose="020B0604020202020204" pitchFamily="34" charset="0"/>
              <a:buChar char="•"/>
            </a:pPr>
            <a:r>
              <a:rPr lang="en-US" altLang="ja-JP">
                <a:latin typeface="Arial" panose="020B0604020202020204" pitchFamily="34" charset="0"/>
              </a:rPr>
              <a:t>Optical comm.: Shi et al. 2023; Zhang et al. 2025</a:t>
            </a:r>
          </a:p>
          <a:p>
            <a:pPr marL="342900" lvl="0" indent="-342900">
              <a:buFont typeface="Arial" panose="020B0604020202020204" pitchFamily="34" charset="0"/>
              <a:buChar char="•"/>
            </a:pPr>
            <a:r>
              <a:rPr lang="en-US" altLang="ja-JP">
                <a:latin typeface="Arial" panose="020B0604020202020204" pitchFamily="34" charset="0"/>
              </a:rPr>
              <a:t>EO/optics</a:t>
            </a:r>
            <a:r>
              <a:rPr lang="ja-JP" altLang="ja-JP">
                <a:latin typeface="Arial" panose="020B0604020202020204" pitchFamily="34" charset="0"/>
              </a:rPr>
              <a:t>: </a:t>
            </a:r>
            <a:r>
              <a:rPr lang="ja-JP" altLang="ja-JP" dirty="0">
                <a:latin typeface="Arial" panose="020B0604020202020204" pitchFamily="34" charset="0"/>
              </a:rPr>
              <a:t>Li et al. 2025; Hu et al. 2022</a:t>
            </a:r>
            <a:r>
              <a:rPr lang="en-US" altLang="ja-JP">
                <a:latin typeface="Arial" panose="020B0604020202020204" pitchFamily="34" charset="0"/>
              </a:rPr>
              <a:t>; Turella et al. 2019/2021</a:t>
            </a:r>
            <a:endParaRPr lang="en-US" altLang="ja-JP" dirty="0">
              <a:latin typeface="Arial" panose="020B0604020202020204" pitchFamily="34" charset="0"/>
            </a:endParaRP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en-US" altLang="ja-JP" sz="3200" b="1">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en-US" altLang="ja-JP" sz="3200" b="1"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en-US" altLang="ja-JP" sz="3200" b="1" dirty="0">
                <a:latin typeface="Arial" panose="020B0604020202020204" pitchFamily="34" charset="0"/>
                <a:cs typeface="Arial" panose="020B0604020202020204" pitchFamily="34" charset="0"/>
              </a:rPr>
              <a:t>Research overview: from thermoelastic truth generation and model construction to evaluation</a:t>
            </a:r>
            <a:endParaRPr lang="en-US" altLang="ja-JP" sz="3200" dirty="0">
              <a:latin typeface="Arial" panose="020B0604020202020204" pitchFamily="34" charset="0"/>
              <a:cs typeface="Arial" panose="020B0604020202020204" pitchFamily="34" charset="0"/>
            </a:endParaRPr>
          </a:p>
        </p:txBody>
      </p:sp>
      <p:sp>
        <p:nvSpPr>
          <p:cNvPr id="4" name="TextBox 3"/>
          <p:cNvSpPr txBox="1"/>
          <p:nvPr/>
        </p:nvSpPr>
        <p:spPr>
          <a:xfrm>
            <a:off x="23572293" y="12819888"/>
            <a:ext cx="202107"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6</a:t>
            </a:r>
            <a:endParaRPr lang="en-US" sz="1800" b="0" dirty="0">
              <a:solidFill>
                <a:srgbClr val="666F79"/>
              </a:solidFill>
              <a:latin typeface="Arial" panose="020B0604020202020204" pitchFamily="34" charset="0"/>
            </a:endParaRP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71447" y="3329594"/>
            <a:ext cx="1930144"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Orbit / attitude
heat &amp; coating</a:t>
            </a:r>
            <a:endParaRPr lang="en-US" sz="2100" b="1" dirty="0">
              <a:solidFill>
                <a:srgbClr val="FFFFFF"/>
              </a:solidFill>
              <a:latin typeface="Arial" panose="020B0604020202020204" pitchFamily="34" charset="0"/>
            </a:endParaRP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36229" y="3329594"/>
            <a:ext cx="2257156"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Thermal Desktop
temperature</a:t>
            </a:r>
            <a:endParaRPr lang="en-US" sz="2100" b="1" dirty="0">
              <a:solidFill>
                <a:srgbClr val="FFFFFF"/>
              </a:solidFill>
              <a:latin typeface="Arial" panose="020B0604020202020204" pitchFamily="34" charset="0"/>
            </a:endParaRP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9401" y="3329594"/>
            <a:ext cx="2167388"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Femap / Nastran
rotation</a:t>
            </a:r>
            <a:endParaRPr lang="en-US" sz="2100" b="1" dirty="0">
              <a:solidFill>
                <a:srgbClr val="FFFFFF"/>
              </a:solidFill>
              <a:latin typeface="Arial" panose="020B0604020202020204" pitchFamily="34" charset="0"/>
            </a:endParaRP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83749" y="3329594"/>
            <a:ext cx="1675267"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STT–LCT
thermal LOS</a:t>
            </a:r>
            <a:endParaRPr lang="en-US" sz="2100" b="1" dirty="0">
              <a:solidFill>
                <a:srgbClr val="FFFFFF"/>
              </a:solidFill>
              <a:latin typeface="Arial" panose="020B0604020202020204" pitchFamily="34" charset="0"/>
            </a:endParaRP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55744" y="3329594"/>
            <a:ext cx="1987852"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Reduced-order
model</a:t>
            </a:r>
            <a:endParaRPr lang="en-US" sz="2100" b="1" dirty="0">
              <a:solidFill>
                <a:srgbClr val="FFFFFF"/>
              </a:solidFill>
              <a:latin typeface="Arial" panose="020B0604020202020204" pitchFamily="34" charset="0"/>
            </a:endParaRP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4027" y="3329594"/>
            <a:ext cx="1567865"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PAT
scan center</a:t>
            </a:r>
            <a:endParaRPr lang="en-US" sz="2100" b="1" dirty="0">
              <a:solidFill>
                <a:srgbClr val="FFFFFF"/>
              </a:solidFill>
              <a:latin typeface="Arial" panose="020B0604020202020204" pitchFamily="34" charset="0"/>
            </a:endParaRP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4846007" cy="486287"/>
          </a:xfrm>
          <a:prstGeom prst="rect">
            <a:avLst/>
          </a:prstGeom>
          <a:noFill/>
        </p:spPr>
        <p:txBody>
          <a:bodyPr wrap="none" lIns="36576" tIns="27432" rIns="36576" bIns="27432" anchor="t">
            <a:spAutoFit/>
          </a:bodyPr>
          <a:lstStyle/>
          <a:p>
            <a:r>
              <a:rPr lang="en-US" altLang="ja-JP" sz="2800" b="1">
                <a:latin typeface="Arial" panose="020B0604020202020204" pitchFamily="34" charset="0"/>
              </a:rPr>
              <a:t>Ground model development</a:t>
            </a:r>
            <a:endParaRPr lang="en-US" sz="2700" b="1" dirty="0">
              <a:solidFill>
                <a:srgbClr val="082B52"/>
              </a:solidFill>
              <a:latin typeface="Arial" panose="020B0604020202020204" pitchFamily="34" charset="0"/>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altLang="ja-JP" sz="2800">
                <a:latin typeface="Arial" panose="020B0604020202020204" pitchFamily="34" charset="0"/>
              </a:rPr>
              <a:t>Input orbit, attitude, and thermal environment</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Compute temperature fields and thermoelastic deformation with TD/Femap</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Generate reference STT–LCT relative-LOS time series</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Train and evaluate the reduced-order model</a:t>
            </a:r>
            <a:endParaRPr lang="en-US" sz="2600" dirty="0">
              <a:solidFill>
                <a:srgbClr val="232B34"/>
              </a:solidFill>
              <a:latin typeface="Arial" panose="020B0604020202020204" pitchFamily="34" charset="0"/>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en-US" altLang="ja-JP" sz="2700" b="1">
                <a:solidFill>
                  <a:srgbClr val="1B74AA"/>
                </a:solidFill>
                <a:latin typeface="Arial" panose="020B0604020202020204" pitchFamily="34" charset="0"/>
              </a:rPr>
              <a:t>On-orbit correction</a:t>
            </a:r>
            <a:endParaRPr lang="en-US" sz="2700" b="1" dirty="0">
              <a:solidFill>
                <a:srgbClr val="1B74AA"/>
              </a:solidFill>
              <a:latin typeface="Arial" panose="020B0604020202020204" pitchFamily="34" charset="0"/>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Temperature / operating state</a:t>
            </a:r>
          </a:p>
          <a:p>
            <a:pPr>
              <a:spcAft>
                <a:spcPts val="800"/>
              </a:spcAft>
            </a:pPr>
            <a:r>
              <a:rPr lang="en-US" sz="2600" b="1">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Predict thermal LOS</a:t>
            </a:r>
            <a:endParaRPr lang="en-US" altLang="ja-JP" sz="2600" dirty="0">
              <a:solidFill>
                <a:srgbClr val="232B34"/>
              </a:solidFill>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en-US" sz="2600" dirty="0">
                <a:solidFill>
                  <a:srgbClr val="232B34"/>
                </a:solidFill>
                <a:latin typeface="Arial" panose="020B0604020202020204" pitchFamily="34" charset="0"/>
              </a:rPr>
              <a:t>Correct the scan center</a:t>
            </a:r>
            <a:endParaRPr lang="en-US" altLang="ja-JP" sz="2600" dirty="0">
              <a:solidFill>
                <a:srgbClr val="232B34"/>
              </a:solidFill>
              <a:latin typeface="Arial" panose="020B0604020202020204" pitchFamily="34" charset="0"/>
            </a:endParaRPr>
          </a:p>
          <a:p>
            <a:pPr>
              <a:spcAft>
                <a:spcPts val="800"/>
              </a:spcAft>
            </a:pPr>
            <a:r>
              <a:rPr lang="en-US" altLang="ja-JP" sz="2600">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Include nonthermal errors</a:t>
            </a:r>
            <a:endParaRPr lang="en-US" sz="2600">
              <a:solidFill>
                <a:srgbClr val="232B34"/>
              </a:solidFill>
              <a:latin typeface="Arial" panose="020B0604020202020204" pitchFamily="34" charset="0"/>
            </a:endParaRPr>
          </a:p>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Residual update</a:t>
            </a:r>
            <a:endParaRPr lang="en-US" sz="2600" dirty="0">
              <a:solidFill>
                <a:srgbClr val="232B34"/>
              </a:solidFill>
              <a:latin typeface="Arial" panose="020B0604020202020204" pitchFamily="34" charset="0"/>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Evaluate LOS error, acquisition success, and acquisition time</a:t>
            </a:r>
            <a:endParaRPr lang="en-US"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en-US" altLang="ja-JP" sz="2800">
                <a:latin typeface="Arial" panose="020B0604020202020204" pitchFamily="34" charset="0"/>
              </a:rPr>
              <a:t>• Orbit</a:t>
            </a:r>
            <a:endParaRPr kumimoji="1" lang="en-US" altLang="ja-JP" sz="2800" dirty="0">
              <a:latin typeface="Arial" panose="020B0604020202020204" pitchFamily="34" charset="0"/>
            </a:endParaRPr>
          </a:p>
          <a:p>
            <a:r>
              <a:rPr kumimoji="1" lang="en-US" altLang="ja-JP" sz="2800">
                <a:latin typeface="Arial" panose="020B0604020202020204" pitchFamily="34" charset="0"/>
              </a:rPr>
              <a:t>• Attitude</a:t>
            </a:r>
            <a:endParaRPr kumimoji="1" lang="en-US" altLang="ja-JP" sz="2800" dirty="0">
              <a:latin typeface="Arial" panose="020B0604020202020204" pitchFamily="34" charset="0"/>
            </a:endParaRPr>
          </a:p>
          <a:p>
            <a:r>
              <a:rPr kumimoji="1" lang="en-US" altLang="ja-JP" sz="2800">
                <a:latin typeface="Arial" panose="020B0604020202020204" pitchFamily="34" charset="0"/>
              </a:rPr>
              <a:t>• Equipment layout</a:t>
            </a:r>
            <a:endParaRPr kumimoji="1" lang="en-US" altLang="ja-JP" sz="2800" dirty="0">
              <a:latin typeface="Arial" panose="020B0604020202020204" pitchFamily="34" charset="0"/>
            </a:endParaRPr>
          </a:p>
          <a:p>
            <a:r>
              <a:rPr kumimoji="1" lang="en-US" altLang="ja-JP" sz="2800">
                <a:latin typeface="Arial" panose="020B0604020202020204" pitchFamily="34" charset="0"/>
              </a:rPr>
              <a:t>• Surface properties</a:t>
            </a:r>
            <a:endParaRPr kumimoji="1" lang="en-US" altLang="ja-JP" sz="2800" dirty="0">
              <a:latin typeface="Arial" panose="020B0604020202020204" pitchFamily="34" charset="0"/>
            </a:endParaRPr>
          </a:p>
          <a:p>
            <a:r>
              <a:rPr kumimoji="1" lang="en-US" altLang="ja-JP" sz="2800">
                <a:latin typeface="Arial" panose="020B0604020202020204" pitchFamily="34" charset="0"/>
              </a:rPr>
              <a:t>• Dissipation</a:t>
            </a:r>
            <a:endParaRPr kumimoji="1" lang="en-US" altLang="ja-JP" sz="28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6"/>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7"/>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altLang="ja-JP"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Thermoelastic Analysis</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We evaluate a box-structure LEO spacecraft with the STT and LCT on different panels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Arial" panose="020B0604020202020204" pitchFamily="34" charset="0"/>
                <a:ea typeface="Yu Gothic"/>
              </a:rPr>
              <a:t>7</a:t>
            </a:r>
            <a:endParaRPr sz="1800" b="0" dirty="0">
              <a:solidFill>
                <a:srgbClr val="666F79"/>
              </a:solidFill>
              <a:latin typeface="Arial" panose="020B0604020202020204" pitchFamily="34" charset="0"/>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91740603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lang="en-US" sz="2300" b="1">
                          <a:solidFill>
                            <a:srgbClr val="FFFFFF"/>
                          </a:solidFill>
                          <a:latin typeface="Arial" panose="020B0604020202020204" pitchFamily="34" charset="0"/>
                          <a:ea typeface="Yu Gothic"/>
                        </a:rPr>
                        <a:t>Item</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lang="en-US" sz="2300" b="0">
                          <a:solidFill>
                            <a:srgbClr val="232B34"/>
                          </a:solidFill>
                          <a:latin typeface="Arial" panose="020B0604020202020204" pitchFamily="34" charset="0"/>
                          <a:ea typeface="Yu Gothic"/>
                        </a:rPr>
                        <a:t>Bus dimensions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lang="en-US" sz="2300" b="0">
                          <a:solidFill>
                            <a:srgbClr val="232B34"/>
                          </a:solidFill>
                          <a:latin typeface="Arial" panose="020B0604020202020204" pitchFamily="34" charset="0"/>
                          <a:ea typeface="Yu Gothic"/>
                        </a:rPr>
                        <a:t>Panels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10-mm-thick shell elements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lang="en-US" sz="2300" b="0">
                          <a:solidFill>
                            <a:srgbClr val="232B34"/>
                          </a:solidFill>
                          <a:latin typeface="Arial" panose="020B0604020202020204" pitchFamily="34" charset="0"/>
                          <a:ea typeface="Yu Gothic"/>
                        </a:rPr>
                        <a:t>Material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A5052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lang="en-US" sz="2300" b="0">
                          <a:solidFill>
                            <a:srgbClr val="232B34"/>
                          </a:solidFill>
                          <a:latin typeface="Arial" panose="020B0604020202020204" pitchFamily="34" charset="0"/>
                          <a:ea typeface="Yu Gothic"/>
                        </a:rPr>
                        <a:t>LCT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MZ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lang="en-US" sz="2300" b="0">
                          <a:solidFill>
                            <a:srgbClr val="232B34"/>
                          </a:solidFill>
                          <a:latin typeface="Arial" panose="020B0604020202020204" pitchFamily="34" charset="0"/>
                          <a:ea typeface="Yu Gothic"/>
                        </a:rPr>
                        <a:t>STT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884409"/>
          </a:xfrm>
          <a:prstGeom prst="rect">
            <a:avLst/>
          </a:prstGeom>
          <a:noFill/>
        </p:spPr>
        <p:txBody>
          <a:bodyPr wrap="square" lIns="36576" tIns="27432" rIns="36576" bIns="27432" anchor="t">
            <a:spAutoFit/>
          </a:bodyPr>
          <a:lstStyle/>
          <a:p>
            <a:pPr>
              <a:lnSpc>
                <a:spcPct val="115000"/>
              </a:lnSpc>
              <a:spcAft>
                <a:spcPts val="0"/>
              </a:spcAft>
            </a:pPr>
            <a:r>
              <a:rPr lang="en-US" sz="2400" b="1">
                <a:solidFill>
                  <a:srgbClr val="082B52"/>
                </a:solidFill>
                <a:latin typeface="Arial" panose="020B0604020202020204" pitchFamily="34" charset="0"/>
                <a:ea typeface="Yu Gothic"/>
              </a:rPr>
              <a:t>Not a specific-spacecraft design review.</a:t>
            </a:r>
            <a:endParaRPr lang="en-US" altLang="ja-JP" sz="3200" b="1" dirty="0">
              <a:solidFill>
                <a:srgbClr val="082B52"/>
              </a:solidFill>
              <a:latin typeface="Arial" panose="020B0604020202020204" pitchFamily="34" charset="0"/>
            </a:endParaRPr>
          </a:p>
          <a:p>
            <a:pPr>
              <a:lnSpc>
                <a:spcPct val="115000"/>
              </a:lnSpc>
              <a:spcAft>
                <a:spcPts val="0"/>
              </a:spcAft>
            </a:pPr>
            <a:r>
              <a:rPr lang="en-US" sz="2400" b="1">
                <a:solidFill>
                  <a:srgbClr val="082B52"/>
                </a:solidFill>
                <a:latin typeface="Arial" panose="020B0604020202020204" pitchFamily="34" charset="0"/>
                <a:ea typeface="Yu Gothic"/>
              </a:rPr>
              <a:t>Fixed structure; sun face and dissipation vary.</a:t>
            </a:r>
            <a:endParaRPr lang="en-US" sz="2400" b="1" dirty="0">
              <a:solidFill>
                <a:srgbClr val="082B52"/>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lang="en-US" sz="2400" b="1">
                <a:solidFill>
                  <a:srgbClr val="FF0000"/>
                </a:solidFill>
                <a:latin typeface="Arial" panose="020B0604020202020204" pitchFamily="34" charset="0"/>
              </a:rPr>
              <a:t>PZ: STT</a:t>
            </a:r>
            <a:endParaRPr lang="en-US" sz="2400" b="1" dirty="0">
              <a:solidFill>
                <a:srgbClr val="FF0000"/>
              </a:solidFill>
              <a:latin typeface="Arial" panose="020B0604020202020204" pitchFamily="34" charset="0"/>
            </a:endParaRPr>
          </a:p>
        </p:txBody>
      </p:sp>
      <p:sp>
        <p:nvSpPr>
          <p:cNvPr id="19" name="TextBox 7"/>
          <p:cNvSpPr txBox="1"/>
          <p:nvPr/>
        </p:nvSpPr>
        <p:spPr>
          <a:xfrm>
            <a:off x="2760309" y="10894945"/>
            <a:ext cx="1405961" cy="455509"/>
          </a:xfrm>
          <a:prstGeom prst="rect">
            <a:avLst/>
          </a:prstGeom>
          <a:noFill/>
        </p:spPr>
        <p:txBody>
          <a:bodyPr wrap="none" lIns="36576" tIns="27432" rIns="36576" bIns="27432" anchor="t">
            <a:spAutoFit/>
          </a:bodyPr>
          <a:lstStyle/>
          <a:p>
            <a:pPr algn="ctr"/>
            <a:r>
              <a:rPr lang="en-US" sz="2600" b="1">
                <a:solidFill>
                  <a:srgbClr val="082B52"/>
                </a:solidFill>
                <a:latin typeface="Arial" panose="020B0604020202020204" pitchFamily="34" charset="0"/>
              </a:rPr>
              <a:t>MZ: LCT</a:t>
            </a:r>
            <a:endParaRPr lang="en-US" sz="2600" b="1" dirty="0">
              <a:solidFill>
                <a:srgbClr val="082B52"/>
              </a:solidFill>
              <a:latin typeface="Arial" panose="020B0604020202020204" pitchFamily="34" charset="0"/>
            </a:endParaRPr>
          </a:p>
        </p:txBody>
      </p:sp>
      <p:sp>
        <p:nvSpPr>
          <p:cNvPr id="20" name="TextBox 8"/>
          <p:cNvSpPr txBox="1"/>
          <p:nvPr/>
        </p:nvSpPr>
        <p:spPr>
          <a:xfrm>
            <a:off x="3507104" y="5259118"/>
            <a:ext cx="1447512" cy="393954"/>
          </a:xfrm>
          <a:prstGeom prst="rect">
            <a:avLst/>
          </a:prstGeom>
          <a:noFill/>
        </p:spPr>
        <p:txBody>
          <a:bodyPr wrap="none" lIns="36576" tIns="27432" rIns="36576" bIns="27432" anchor="t">
            <a:spAutoFit/>
          </a:bodyPr>
          <a:lstStyle/>
          <a:p>
            <a:pPr algn="l"/>
            <a:r>
              <a:rPr lang="en-US" sz="2200" b="1">
                <a:solidFill>
                  <a:srgbClr val="EC9427"/>
                </a:solidFill>
                <a:latin typeface="Arial" panose="020B0604020202020204" pitchFamily="34" charset="0"/>
              </a:rPr>
              <a:t>MY: PCDU</a:t>
            </a:r>
            <a:endParaRPr lang="en-US" sz="2200" b="1" dirty="0">
              <a:solidFill>
                <a:srgbClr val="EC9427"/>
              </a:solidFill>
              <a:latin typeface="Arial" panose="020B0604020202020204" pitchFamily="34" charset="0"/>
            </a:endParaRP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lang="en-US" sz="2200" b="1">
                <a:solidFill>
                  <a:srgbClr val="EF25D7"/>
                </a:solidFill>
                <a:latin typeface="Arial" panose="020B0604020202020204" pitchFamily="34" charset="0"/>
              </a:rPr>
              <a:t>PY: PROP</a:t>
            </a:r>
            <a:endParaRPr lang="en-US" sz="2200" b="1" dirty="0">
              <a:solidFill>
                <a:srgbClr val="EF25D7"/>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00219"/>
          </a:xfrm>
          <a:prstGeom prst="rect">
            <a:avLst/>
          </a:prstGeom>
          <a:noFill/>
        </p:spPr>
        <p:txBody>
          <a:bodyPr wrap="square">
            <a:spAutoFit/>
          </a:bodyPr>
          <a:lstStyle/>
          <a:p>
            <a:pPr>
              <a:spcAft>
                <a:spcPts val="0"/>
              </a:spcAft>
            </a:pPr>
            <a:r>
              <a:rPr lang="en-US" sz="2300" b="1">
                <a:solidFill>
                  <a:srgbClr val="232B34"/>
                </a:solidFill>
                <a:latin typeface="Arial" panose="020B0604020202020204" pitchFamily="34" charset="0"/>
                <a:ea typeface="Yu Gothic"/>
              </a:rPr>
              <a:t>LOS</a:t>
            </a:r>
          </a:p>
          <a:p>
            <a:pPr>
              <a:spcAft>
                <a:spcPts val="0"/>
              </a:spcAft>
            </a:pPr>
            <a:r>
              <a:rPr lang="en-US" sz="2300" b="1">
                <a:solidFill>
                  <a:srgbClr val="232B34"/>
                </a:solidFill>
                <a:latin typeface="Arial" panose="020B0604020202020204" pitchFamily="34" charset="0"/>
                <a:ea typeface="Yu Gothic"/>
              </a:rPr>
              <a:t>Boresight ≈ −Z</a:t>
            </a:r>
            <a:endParaRPr lang="en-US" sz="2300" b="1" dirty="0">
              <a:solidFill>
                <a:srgbClr val="232B34"/>
              </a:solidFill>
              <a:latin typeface="Arial" panose="020B0604020202020204" pitchFamily="34" charset="0"/>
              <a:ea typeface="Yu Gothic"/>
            </a:endParaRP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latin typeface="Arial" panose="020B0604020202020204" pitchFamily="34" charset="0"/>
              </a:rPr>
              <a:t>Thermal Desktop</a:t>
            </a:r>
            <a:endParaRPr kumimoji="1" lang="ja-JP" altLang="en-US" sz="2800"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954107"/>
          </a:xfrm>
          <a:prstGeom prst="rect">
            <a:avLst/>
          </a:prstGeom>
          <a:noFill/>
        </p:spPr>
        <p:txBody>
          <a:bodyPr wrap="square" rtlCol="0">
            <a:spAutoFit/>
          </a:bodyPr>
          <a:lstStyle/>
          <a:p>
            <a:r>
              <a:rPr kumimoji="1" lang="en-US" altLang="ja-JP" sz="2800" dirty="0">
                <a:latin typeface="Arial" panose="020B0604020202020204" pitchFamily="34" charset="0"/>
              </a:rPr>
              <a:t>Femap</a:t>
            </a:r>
            <a:endParaRPr kumimoji="1" lang="ja-JP" altLang="en-US" sz="2800" dirty="0">
              <a:latin typeface="Arial" panose="020B0604020202020204" pitchFamily="34" charset="0"/>
            </a:endParaRPr>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analysis-model settings</a:t>
            </a:r>
            <a:endParaRPr kumimoji="1" lang="en-US" altLang="ja-JP" sz="2800" dirty="0">
              <a:latin typeface="Arial" panose="020B0604020202020204" pitchFamily="34" charset="0"/>
            </a:endParaRPr>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Thermal Desktop generates temperature-field time series from orbit, attitude, surface, and dissipation inputs</a:t>
            </a:r>
            <a:endParaRPr lang="en-US" sz="3200" b="1" dirty="0">
              <a:solidFill>
                <a:srgbClr val="082B52"/>
              </a:solidFill>
              <a:latin typeface="Arial" panose="020B0604020202020204" pitchFamily="34" charset="0"/>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8</a:t>
            </a:r>
            <a:endParaRPr sz="1800" b="0" dirty="0">
              <a:solidFill>
                <a:srgbClr val="666F79"/>
              </a:solidFill>
              <a:latin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46066623"/>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lang="en-US" sz="2300" b="1">
                          <a:solidFill>
                            <a:srgbClr val="FFFFFF"/>
                          </a:solidFill>
                          <a:latin typeface="Arial" panose="020B0604020202020204" pitchFamily="34" charset="0"/>
                          <a:ea typeface="Yu Gothic"/>
                        </a:rPr>
                        <a:t>Input</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lang="en-US" sz="2300" b="0">
                          <a:solidFill>
                            <a:srgbClr val="232B34"/>
                          </a:solidFill>
                          <a:latin typeface="Arial" panose="020B0604020202020204" pitchFamily="34" charset="0"/>
                          <a:ea typeface="Yu Gothic"/>
                        </a:rPr>
                        <a:t>Orbit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Sun-synchronous, LTAN06 / 800 km / COLD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lang="en-US" sz="2300" b="0">
                          <a:solidFill>
                            <a:srgbClr val="232B34"/>
                          </a:solidFill>
                          <a:latin typeface="Arial" panose="020B0604020202020204" pitchFamily="34" charset="0"/>
                          <a:ea typeface="Yu Gothic"/>
                        </a:rPr>
                        <a:t>Period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≈6050 s (≈101 min)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lang="en-US" sz="2300" b="0">
                          <a:solidFill>
                            <a:srgbClr val="232B34"/>
                          </a:solidFill>
                          <a:latin typeface="Arial" panose="020B0604020202020204" pitchFamily="34" charset="0"/>
                          <a:ea typeface="Yu Gothic"/>
                        </a:rPr>
                        <a:t>Analysis duration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≈18,157 s (3 orbits)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lang="en-US" sz="2300" b="0" dirty="0">
                          <a:solidFill>
                            <a:srgbClr val="232B34"/>
                          </a:solidFill>
                          <a:latin typeface="Arial" panose="020B0604020202020204" pitchFamily="34" charset="0"/>
                          <a:ea typeface="Yu Gothic"/>
                        </a:rPr>
                        <a:t>Sampling</a:t>
                      </a: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Every ≈60.5 s, 301 points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lang="en-US" sz="2300" b="0">
                          <a:solidFill>
                            <a:srgbClr val="232B34"/>
                          </a:solidFill>
                          <a:latin typeface="Arial" panose="020B0604020202020204" pitchFamily="34" charset="0"/>
                          <a:ea typeface="Yu Gothic"/>
                        </a:rPr>
                        <a:t>Illumination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Eclipse / continuous illumination</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dirty="0">
                          <a:solidFill>
                            <a:srgbClr val="232B34"/>
                          </a:solidFill>
                          <a:latin typeface="Arial" panose="020B0604020202020204" pitchFamily="34" charset="0"/>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lang="en-US" sz="2300" b="0">
                          <a:solidFill>
                            <a:srgbClr val="232B34"/>
                          </a:solidFill>
                          <a:latin typeface="Arial" panose="020B0604020202020204" pitchFamily="34" charset="0"/>
                          <a:ea typeface="Yu Gothic"/>
                        </a:rPr>
                        <a:t>Number of nodes</a:t>
                      </a:r>
                      <a:endParaRPr lang="en-US" sz="2300" b="0" dirty="0">
                        <a:solidFill>
                          <a:srgbClr val="232B34"/>
                        </a:solidFill>
                        <a:latin typeface="Arial" panose="020B0604020202020204" pitchFamily="34" charset="0"/>
                      </a:endParaRPr>
                    </a:p>
                  </a:txBody>
                  <a:tcPr marL="64008" marR="64008" marT="27432" marB="27432" anchor="ctr">
                    <a:solidFill>
                      <a:schemeClr val="bg1"/>
                    </a:solidFill>
                  </a:tcPr>
                </a:tc>
                <a:tc>
                  <a:txBody>
                    <a:bodyPr/>
                    <a:lstStyle/>
                    <a:p>
                      <a:pPr algn="ctr">
                        <a:spcAft>
                          <a:spcPts val="0"/>
                        </a:spcAft>
                      </a:pPr>
                      <a:r>
                        <a:rPr lang="en-US" sz="2300" b="0" dirty="0">
                          <a:solidFill>
                            <a:srgbClr val="232B34"/>
                          </a:solidFill>
                          <a:latin typeface="Arial" panose="020B0604020202020204" pitchFamily="34" charset="0"/>
                          <a:ea typeface="Yu Gothic"/>
                        </a:rPr>
                        <a:t>125</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Environmental conditions varied by case</a:t>
            </a:r>
            <a:endParaRPr lang="en-US" sz="2700" b="1" dirty="0">
              <a:solidFill>
                <a:srgbClr val="1B74AA"/>
              </a:solidFill>
              <a:latin typeface="Arial" panose="020B0604020202020204" pitchFamily="34" charset="0"/>
              <a:ea typeface="Yu Gothic"/>
            </a:endParaRPr>
          </a:p>
        </p:txBody>
      </p:sp>
      <p:sp>
        <p:nvSpPr>
          <p:cNvPr id="8" name="TextBox 7"/>
          <p:cNvSpPr txBox="1"/>
          <p:nvPr/>
        </p:nvSpPr>
        <p:spPr>
          <a:xfrm>
            <a:off x="13258800" y="4729416"/>
            <a:ext cx="9052560" cy="2010359"/>
          </a:xfrm>
          <a:prstGeom prst="rect">
            <a:avLst/>
          </a:prstGeom>
          <a:noFill/>
        </p:spPr>
        <p:txBody>
          <a:bodyPr wrap="square" lIns="27432" rIns="27432">
            <a:spAutoFit/>
          </a:bodyPr>
          <a:lstStyle/>
          <a:p>
            <a:pPr>
              <a:lnSpc>
                <a:spcPct val="110000"/>
              </a:lnSpc>
              <a:spcAft>
                <a:spcPts val="800"/>
              </a:spcAft>
            </a:pPr>
            <a:r>
              <a:rPr lang="en-US" sz="2400" b="0" dirty="0">
                <a:solidFill>
                  <a:srgbClr val="232B34"/>
                </a:solidFill>
                <a:latin typeface="Arial" panose="020B0604020202020204" pitchFamily="34" charset="0"/>
                <a:ea typeface="Yu Gothic"/>
              </a:rPr>
              <a:t>• Orbita</a:t>
            </a:r>
            <a:r>
              <a:rPr lang="en-US" sz="2400" dirty="0">
                <a:solidFill>
                  <a:srgbClr val="232B34"/>
                </a:solidFill>
                <a:latin typeface="Arial" panose="020B0604020202020204" pitchFamily="34" charset="0"/>
                <a:ea typeface="Yu Gothic"/>
              </a:rPr>
              <a:t>l Conditions</a:t>
            </a:r>
            <a:endParaRPr lang="en-US" sz="2600" dirty="0">
              <a:solidFill>
                <a:srgbClr val="232B34"/>
              </a:solidFill>
              <a:latin typeface="Arial" panose="020B0604020202020204" pitchFamily="34" charset="0"/>
            </a:endParaRPr>
          </a:p>
          <a:p>
            <a:pPr>
              <a:lnSpc>
                <a:spcPct val="110000"/>
              </a:lnSpc>
              <a:spcAft>
                <a:spcPts val="800"/>
              </a:spcAft>
            </a:pPr>
            <a:r>
              <a:rPr lang="en-US" sz="2400" b="0" dirty="0">
                <a:solidFill>
                  <a:srgbClr val="232B34"/>
                </a:solidFill>
                <a:latin typeface="Arial" panose="020B0604020202020204" pitchFamily="34" charset="0"/>
                <a:ea typeface="Yu Gothic"/>
              </a:rPr>
              <a:t>• Sun-facing panel</a:t>
            </a:r>
          </a:p>
          <a:p>
            <a:pPr>
              <a:lnSpc>
                <a:spcPct val="110000"/>
              </a:lnSpc>
              <a:spcAft>
                <a:spcPts val="800"/>
              </a:spcAft>
            </a:pPr>
            <a:r>
              <a:rPr lang="en-US" sz="2400" b="0" dirty="0">
                <a:solidFill>
                  <a:srgbClr val="232B34"/>
                </a:solidFill>
                <a:ea typeface="Yu Gothic"/>
              </a:rPr>
              <a:t>• Optical properties of panels</a:t>
            </a:r>
          </a:p>
          <a:p>
            <a:pPr>
              <a:lnSpc>
                <a:spcPct val="110000"/>
              </a:lnSpc>
              <a:spcAft>
                <a:spcPts val="800"/>
              </a:spcAft>
            </a:pPr>
            <a:r>
              <a:rPr lang="en-US" altLang="ja-JP" sz="2400" dirty="0">
                <a:solidFill>
                  <a:srgbClr val="232B34"/>
                </a:solidFill>
                <a:latin typeface="Arial" panose="020B0604020202020204" pitchFamily="34" charset="0"/>
                <a:ea typeface="Yu Gothic"/>
              </a:rPr>
              <a:t>• Internal Equipment dissipation</a:t>
            </a:r>
            <a:endParaRPr lang="en-US" sz="2400" dirty="0">
              <a:solidFill>
                <a:srgbClr val="232B34"/>
              </a:solidFill>
              <a:latin typeface="Arial" panose="020B0604020202020204" pitchFamily="34" charset="0"/>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thermal-analysis inputs</a:t>
            </a:r>
            <a:endParaRPr kumimoji="1" lang="en-US" altLang="ja-JP" sz="2800" dirty="0">
              <a:latin typeface="Arial" panose="020B0604020202020204" pitchFamily="34" charset="0"/>
            </a:endParaRPr>
          </a:p>
        </p:txBody>
      </p:sp>
      <p:sp>
        <p:nvSpPr>
          <p:cNvPr id="16" name="TextBox 15"/>
          <p:cNvSpPr txBox="1"/>
          <p:nvPr/>
        </p:nvSpPr>
        <p:spPr>
          <a:xfrm>
            <a:off x="1335024" y="11978640"/>
            <a:ext cx="109728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Output: panel temperature field T(t), computed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panose="020B0400000000000000" pitchFamily="50" charset="-128"/>
              </a:rPr>
              <a:t>Thermoelastic analysis</a:t>
            </a:r>
            <a:endParaRPr lang="en-US" sz="2000" b="0" dirty="0">
              <a:solidFill>
                <a:srgbClr val="666F79"/>
              </a:solidFill>
              <a:latin typeface="Arial" panose="020B0604020202020204" pitchFamily="34" charset="0"/>
              <a:ea typeface="Yu Gothic" panose="020B0400000000000000" pitchFamily="50" charset="-128"/>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temperature field is mapped into Femap to obtain STT and LCT translations and rotations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9</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28505672"/>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lang="en-US" sz="2200" b="1">
                          <a:solidFill>
                            <a:srgbClr val="FFFFFF"/>
                          </a:solidFill>
                          <a:latin typeface="Arial" panose="020B0604020202020204" pitchFamily="34" charset="0"/>
                          <a:ea typeface="Yu Gothic"/>
                        </a:rPr>
                        <a:t>Structural-analysis setting</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200" b="1">
                          <a:solidFill>
                            <a:srgbClr val="FFFFFF"/>
                          </a:solidFill>
                          <a:latin typeface="Arial" panose="020B0604020202020204" pitchFamily="34" charset="0"/>
                          <a:ea typeface="Yu Gothic"/>
                        </a:rPr>
                        <a:t>Value</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lang="en-US" sz="2200" b="0">
                          <a:solidFill>
                            <a:srgbClr val="232B34"/>
                          </a:solidFill>
                          <a:latin typeface="Arial" panose="020B0604020202020204" pitchFamily="34" charset="0"/>
                          <a:ea typeface="Yu Gothic"/>
                        </a:rPr>
                        <a:t>Material</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Aluminum A5052</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lang="en-US" sz="2200" b="0" dirty="0">
                          <a:solidFill>
                            <a:srgbClr val="232B34"/>
                          </a:solidFill>
                          <a:latin typeface="Arial" panose="020B0604020202020204" pitchFamily="34" charset="0"/>
                          <a:ea typeface="Yu Gothic"/>
                        </a:rPr>
                        <a:t>Young's modulus</a:t>
                      </a: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70.327 GPa</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lang="en-US" sz="2200" b="0">
                          <a:solidFill>
                            <a:srgbClr val="232B34"/>
                          </a:solidFill>
                          <a:latin typeface="Arial" panose="020B0604020202020204" pitchFamily="34" charset="0"/>
                          <a:ea typeface="Yu Gothic"/>
                        </a:rPr>
                        <a:t>Poisson's ratio</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0.33</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lang="en-US" sz="2200" b="0">
                          <a:solidFill>
                            <a:srgbClr val="232B34"/>
                          </a:solidFill>
                          <a:latin typeface="Arial" panose="020B0604020202020204" pitchFamily="34" charset="0"/>
                          <a:ea typeface="Yu Gothic"/>
                        </a:rPr>
                        <a:t>Coefficient of thermal expansion</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dirty="0">
                          <a:solidFill>
                            <a:srgbClr val="232B34"/>
                          </a:solidFill>
                          <a:latin typeface="Arial" panose="020B0604020202020204" pitchFamily="34" charset="0"/>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lang="en-US" sz="2200" b="0">
                          <a:solidFill>
                            <a:srgbClr val="232B34"/>
                          </a:solidFill>
                          <a:latin typeface="Arial" panose="020B0604020202020204" pitchFamily="34" charset="0"/>
                          <a:ea typeface="Yu Gothic"/>
                        </a:rPr>
                        <a:t>Density</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dirty="0">
                          <a:solidFill>
                            <a:srgbClr val="232B34"/>
                          </a:solidFill>
                          <a:latin typeface="Arial" panose="020B0604020202020204" pitchFamily="34" charset="0"/>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lang="en-US" sz="2200" b="0">
                          <a:solidFill>
                            <a:srgbClr val="232B34"/>
                          </a:solidFill>
                          <a:latin typeface="Arial" panose="020B0604020202020204" pitchFamily="34" charset="0"/>
                          <a:ea typeface="Yu Gothic"/>
                        </a:rPr>
                        <a:t>Reference temperature</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23.9 ℃</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lang="en-US" sz="2200" b="0">
                          <a:solidFill>
                            <a:srgbClr val="232B34"/>
                          </a:solidFill>
                          <a:latin typeface="Arial" panose="020B0604020202020204" pitchFamily="34" charset="0"/>
                          <a:ea typeface="Yu Gothic"/>
                        </a:rPr>
                        <a:t>Constraint</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dirty="0">
                          <a:solidFill>
                            <a:srgbClr val="232B34"/>
                          </a:solidFill>
                          <a:latin typeface="Arial" panose="020B0604020202020204" pitchFamily="34" charset="0"/>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structural-analysis settings</a:t>
            </a:r>
            <a:endParaRPr kumimoji="1" lang="en-US" altLang="ja-JP" sz="2800" dirty="0">
              <a:latin typeface="Arial" panose="020B0604020202020204" pitchFamily="34" charset="0"/>
            </a:endParaRPr>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430887"/>
          </a:xfrm>
          <a:prstGeom prst="rect">
            <a:avLst/>
          </a:prstGeom>
          <a:noFill/>
        </p:spPr>
        <p:txBody>
          <a:bodyPr wrap="square" rtlCol="0">
            <a:spAutoFit/>
          </a:bodyPr>
          <a:lstStyle/>
          <a:p>
            <a:pPr>
              <a:spcAft>
                <a:spcPts val="0"/>
              </a:spcAft>
            </a:pPr>
            <a:r>
              <a:rPr lang="en-US" sz="2200" b="1">
                <a:solidFill>
                  <a:srgbClr val="1B74AA"/>
                </a:solidFill>
                <a:latin typeface="Arial" panose="020B0604020202020204" pitchFamily="34" charset="0"/>
                <a:ea typeface="Yu Gothic"/>
              </a:rPr>
              <a:t> </a:t>
            </a:r>
            <a:r>
              <a:rPr lang="en-US" sz="2200" b="1" dirty="0">
                <a:solidFill>
                  <a:srgbClr val="1B74AA"/>
                </a:solidFill>
                <a:latin typeface="Arial" panose="020B0604020202020204" pitchFamily="34" charset="0"/>
                <a:ea typeface="Yu Gothic"/>
              </a:rPr>
              <a:t>T(</a:t>
            </a:r>
            <a:r>
              <a:rPr lang="en-US" sz="2200" b="1" dirty="0" err="1">
                <a:solidFill>
                  <a:srgbClr val="1B74AA"/>
                </a:solidFill>
                <a:latin typeface="Arial" panose="020B0604020202020204" pitchFamily="34" charset="0"/>
                <a:ea typeface="Yu Gothic"/>
              </a:rPr>
              <a:t>t</a:t>
            </a:r>
            <a:r>
              <a:rPr lang="en-US" sz="2200" b="1" err="1">
                <a:solidFill>
                  <a:srgbClr val="1B74AA"/>
                </a:solidFill>
                <a:latin typeface="Arial" panose="020B0604020202020204" pitchFamily="34" charset="0"/>
                <a:ea typeface="Yu Gothic"/>
              </a:rPr>
              <a:t>,</a:t>
            </a:r>
            <a:r>
              <a:rPr lang="en-US" sz="2200" b="1">
                <a:solidFill>
                  <a:srgbClr val="1B74AA"/>
                </a:solidFill>
                <a:latin typeface="Arial" panose="020B0604020202020204" pitchFamily="34" charset="0"/>
                <a:ea typeface="Yu Gothic"/>
              </a:rPr>
              <a:t>x) </a:t>
            </a:r>
            <a:r>
              <a:rPr lang="en-US" sz="2200" b="1" dirty="0">
                <a:solidFill>
                  <a:srgbClr val="1B74AA"/>
                </a:solidFill>
                <a:latin typeface="Arial" panose="020B0604020202020204" pitchFamily="34" charset="0"/>
                <a:ea typeface="Yu Gothic"/>
              </a:rPr>
              <a:t>from TD</a:t>
            </a:r>
            <a:endParaRPr sz="2200" b="1" dirty="0">
              <a:solidFill>
                <a:srgbClr val="1B74AA"/>
              </a:solidFill>
              <a:latin typeface="Arial" panose="020B0604020202020204" pitchFamily="34" charset="0"/>
              <a:ea typeface="Yu Gothic"/>
            </a:endParaRPr>
          </a:p>
        </p:txBody>
      </p:sp>
      <p:sp>
        <p:nvSpPr>
          <p:cNvPr id="22" name="TextBox 21"/>
          <p:cNvSpPr txBox="1"/>
          <p:nvPr/>
        </p:nvSpPr>
        <p:spPr>
          <a:xfrm>
            <a:off x="1197864" y="11887200"/>
            <a:ext cx="114300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Thermal Desktop and Femap generate training data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rPr>
              <a:t>Calculate thermal LOS error through rotation of STT and LCT </a:t>
            </a: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10</a:t>
            </a:r>
            <a:endParaRPr sz="1800" b="0" dirty="0">
              <a:solidFill>
                <a:srgbClr val="666F79"/>
              </a:solidFill>
              <a:latin typeface="Arial" panose="020B0604020202020204" pitchFamily="34" charset="0"/>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LOS-error definition</a:t>
            </a:r>
            <a:endParaRPr lang="en-US" sz="2800" b="1" dirty="0">
              <a:solidFill>
                <a:srgbClr val="1B74AA"/>
              </a:solidFill>
              <a:latin typeface="Arial" panose="020B0604020202020204" pitchFamily="34" charset="0"/>
            </a:endParaRPr>
          </a:p>
        </p:txBody>
      </p:sp>
      <p:sp>
        <p:nvSpPr>
          <p:cNvPr id="9" name="TextBox 8"/>
          <p:cNvSpPr txBox="1"/>
          <p:nvPr/>
        </p:nvSpPr>
        <p:spPr>
          <a:xfrm>
            <a:off x="16001999" y="4297680"/>
            <a:ext cx="7040879" cy="1876155"/>
          </a:xfrm>
          <a:prstGeom prst="rect">
            <a:avLst/>
          </a:prstGeom>
          <a:noFill/>
        </p:spPr>
        <p:txBody>
          <a:bodyPr wrap="square" lIns="27432" rIns="27432">
            <a:spAutoFit/>
          </a:bodyPr>
          <a:lstStyle/>
          <a:p>
            <a:pPr>
              <a:lnSpc>
                <a:spcPct val="110000"/>
              </a:lnSpc>
              <a:spcAft>
                <a:spcPts val="800"/>
              </a:spcAft>
            </a:pPr>
            <a:r>
              <a:rPr lang="en-US" sz="2200" b="0">
                <a:solidFill>
                  <a:srgbClr val="232B34"/>
                </a:solidFill>
                <a:latin typeface="Arial" panose="020B0604020202020204" pitchFamily="34" charset="0"/>
                <a:ea typeface="Yu Gothic"/>
              </a:rPr>
              <a:t>• LCT optical-axis rotation − STT reference rotation</a:t>
            </a:r>
            <a:endParaRPr lang="en-US" sz="2400" dirty="0">
              <a:solidFill>
                <a:srgbClr val="232B34"/>
              </a:solidFill>
              <a:latin typeface="Arial" panose="020B0604020202020204" pitchFamily="34" charset="0"/>
            </a:endParaRPr>
          </a:p>
          <a:p>
            <a:pPr>
              <a:lnSpc>
                <a:spcPct val="110000"/>
              </a:lnSpc>
              <a:spcAft>
                <a:spcPts val="800"/>
              </a:spcAft>
            </a:pPr>
            <a:r>
              <a:rPr lang="en-US" sz="2200" b="0">
                <a:solidFill>
                  <a:srgbClr val="232B34"/>
                </a:solidFill>
                <a:latin typeface="Arial" panose="020B0604020202020204" pitchFamily="34" charset="0"/>
                <a:ea typeface="Yu Gothic"/>
              </a:rPr>
              <a:t>• STT thermal rotation is absorbed into attitude</a:t>
            </a:r>
          </a:p>
          <a:p>
            <a:pPr>
              <a:lnSpc>
                <a:spcPct val="110000"/>
              </a:lnSpc>
              <a:spcAft>
                <a:spcPts val="800"/>
              </a:spcAft>
            </a:pPr>
            <a:r>
              <a:rPr lang="en-US" sz="2200" b="0">
                <a:solidFill>
                  <a:srgbClr val="232B34"/>
                </a:solidFill>
                <a:latin typeface="Arial" panose="020B0604020202020204" pitchFamily="34" charset="0"/>
                <a:ea typeface="Yu Gothic"/>
              </a:rPr>
              <a:t>• Directly gives far-field scan-center error</a:t>
            </a:r>
          </a:p>
          <a:p>
            <a:pPr>
              <a:lnSpc>
                <a:spcPct val="110000"/>
              </a:lnSpc>
              <a:spcAft>
                <a:spcPts val="800"/>
              </a:spcAft>
            </a:pPr>
            <a:r>
              <a:rPr lang="en-US" sz="2200" b="0">
                <a:solidFill>
                  <a:srgbClr val="232B34"/>
                </a:solidFill>
                <a:latin typeface="Arial" panose="020B0604020202020204" pitchFamily="34" charset="0"/>
                <a:ea typeface="Yu Gothic"/>
              </a:rPr>
              <a:t>• Excludes translation-induced tilt</a:t>
            </a:r>
            <a:endParaRPr lang="en-US" sz="2200" b="0" dirty="0">
              <a:solidFill>
                <a:srgbClr val="232B34"/>
              </a:solidFill>
              <a:latin typeface="Arial" panose="020B0604020202020204" pitchFamily="34" charset="0"/>
              <a:ea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latin typeface="Arial" panose="020B0604020202020204" pitchFamily="34" charset="0"/>
              </a:rPr>
              <a:t>STT</a:t>
            </a:r>
            <a:endParaRPr kumimoji="1" lang="ja-JP" altLang="en-US" sz="3200" dirty="0">
              <a:latin typeface="Arial" panose="020B0604020202020204" pitchFamily="34" charset="0"/>
            </a:endParaRPr>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latin typeface="Arial" panose="020B0604020202020204" pitchFamily="34" charset="0"/>
              </a:rPr>
              <a:t>LCT</a:t>
            </a:r>
            <a:endParaRPr kumimoji="1" lang="ja-JP" altLang="en-US" sz="3200" dirty="0">
              <a:latin typeface="Arial" panose="020B0604020202020204" pitchFamily="34" charset="0"/>
            </a:endParaRPr>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538609"/>
          </a:xfrm>
          <a:prstGeom prst="rect">
            <a:avLst/>
          </a:prstGeom>
          <a:noFill/>
        </p:spPr>
        <p:txBody>
          <a:bodyPr wrap="square">
            <a:spAutoFit/>
          </a:bodyPr>
          <a:lstStyle/>
          <a:p>
            <a:pPr>
              <a:spcAft>
                <a:spcPts val="0"/>
              </a:spcAft>
            </a:pPr>
            <a:r>
              <a:rPr lang="en-US" sz="2900" b="1">
                <a:solidFill>
                  <a:srgbClr val="082B52"/>
                </a:solidFill>
                <a:latin typeface="Arial" panose="020B0604020202020204" pitchFamily="34" charset="0"/>
                <a:ea typeface="Yu Gothic"/>
              </a:rPr>
              <a:t>Far-field LOS error = STT-relative LCT optical-axis rotation, not translation</a:t>
            </a:r>
            <a:endParaRPr lang="en-US" altLang="ja-JP" sz="32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Arial" panose="020B0604020202020204" pitchFamily="34" charset="0"/>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Arial" panose="020B0604020202020204" pitchFamily="34" charset="0"/>
                </a:endParaRPr>
              </a:p>
              <a:p>
                <a:pPr algn="ctr"/>
                <a:r>
                  <a:rPr lang="en-US" sz="3600" b="1" i="1" dirty="0">
                    <a:solidFill>
                      <a:srgbClr val="082B52"/>
                    </a:solidFill>
                    <a:latin typeface="Arial" panose="020B0604020202020204" pitchFamily="34" charset="0"/>
                  </a:rPr>
                  <a:t> </a:t>
                </a:r>
                <a:endParaRPr sz="3600" b="1" i="1" dirty="0">
                  <a:solidFill>
                    <a:srgbClr val="082B52"/>
                  </a:solidFill>
                  <a:latin typeface="Arial" panose="020B0604020202020204" pitchFamily="34" charset="0"/>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Arial" panose="020B0604020202020204" pitchFamily="34" charset="0"/>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Arial" panose="020B0604020202020204" pitchFamily="34" charset="0"/>
                </a:endParaRPr>
              </a:p>
              <a:p>
                <a:pPr algn="ctr"/>
                <a:endParaRPr lang="en-US" altLang="ja-JP" sz="3200" b="1" i="1" dirty="0">
                  <a:solidFill>
                    <a:srgbClr val="082B52"/>
                  </a:solidFill>
                  <a:latin typeface="Arial" panose="020B0604020202020204" pitchFamily="34" charset="0"/>
                </a:endParaRPr>
              </a:p>
              <a:p>
                <a:pPr algn="ctr"/>
                <a:r>
                  <a:rPr lang="en-US" sz="3200" b="1" i="1" dirty="0">
                    <a:solidFill>
                      <a:srgbClr val="082B52"/>
                    </a:solidFill>
                    <a:latin typeface="Arial" panose="020B0604020202020204" pitchFamily="34" charset="0"/>
                  </a:rPr>
                  <a:t> </a:t>
                </a:r>
                <a:endParaRPr sz="3200" b="1" i="1" dirty="0">
                  <a:solidFill>
                    <a:srgbClr val="082B52"/>
                  </a:solidFill>
                  <a:latin typeface="Arial" panose="020B0604020202020204" pitchFamily="34" charset="0"/>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5"/>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6"/>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915160"/>
            <a:ext cx="21844000" cy="6096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We evaluate 21 cases across four thermal and operating conditions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11</a:t>
            </a:r>
            <a:endParaRPr sz="1800" b="0" dirty="0">
              <a:solidFill>
                <a:srgbClr val="666F79"/>
              </a:solidFill>
              <a:latin typeface="Arial" panose="020B0604020202020204" pitchFamily="34" charset="0"/>
              <a:ea typeface="Yu Gothic"/>
            </a:endParaRPr>
          </a:p>
        </p:txBody>
      </p:sp>
      <p:sp>
        <p:nvSpPr>
          <p:cNvPr id="6" name="テキスト ボックス 5">
            <a:extLst>
              <a:ext uri="{FF2B5EF4-FFF2-40B4-BE49-F238E27FC236}">
                <a16:creationId xmlns:a16="http://schemas.microsoft.com/office/drawing/2014/main" id="{F812C021-EB3E-24E5-7F1D-6D205A212F96}"/>
              </a:ext>
            </a:extLst>
          </p:cNvPr>
          <p:cNvSpPr txBox="1"/>
          <p:nvPr/>
        </p:nvSpPr>
        <p:spPr>
          <a:xfrm>
            <a:off x="2540000" y="3065780"/>
            <a:ext cx="19304000" cy="1066800"/>
          </a:xfrm>
          <a:prstGeom prst="rect">
            <a:avLst/>
          </a:prstGeom>
          <a:noFill/>
        </p:spPr>
        <p:txBody>
          <a:bodyPr vert="horz" wrap="square" lIns="152400" tIns="0" rIns="152400" bIns="0" rtlCol="0" anchor="ctr">
            <a:noAutofit/>
          </a:bodyPr>
          <a:lstStyle/>
          <a:p>
            <a:pPr algn="ctr"/>
            <a:r>
              <a:rPr kumimoji="1" lang="en-US" altLang="ja-JP" sz="6800" b="1">
                <a:solidFill>
                  <a:srgbClr val="082B52"/>
                </a:solidFill>
                <a:latin typeface="Arial" panose="020B0604020202020204" pitchFamily="34" charset="0"/>
              </a:rPr>
              <a:t>21 cases</a:t>
            </a:r>
            <a:endParaRPr kumimoji="1" lang="en-US" altLang="ja-JP" sz="6800" b="1" dirty="0">
              <a:solidFill>
                <a:srgbClr val="082B52"/>
              </a:solidFill>
              <a:latin typeface="Arial" panose="020B0604020202020204" pitchFamily="34" charset="0"/>
            </a:endParaRPr>
          </a:p>
        </p:txBody>
      </p:sp>
      <p:sp>
        <p:nvSpPr>
          <p:cNvPr id="8" name="テキスト ボックス 7">
            <a:extLst>
              <a:ext uri="{FF2B5EF4-FFF2-40B4-BE49-F238E27FC236}">
                <a16:creationId xmlns:a16="http://schemas.microsoft.com/office/drawing/2014/main" id="{D3349CEF-F05B-741C-D26E-D16CD5D16F17}"/>
              </a:ext>
            </a:extLst>
          </p:cNvPr>
          <p:cNvSpPr txBox="1"/>
          <p:nvPr/>
        </p:nvSpPr>
        <p:spPr>
          <a:xfrm>
            <a:off x="2540000" y="4183380"/>
            <a:ext cx="19304000" cy="508000"/>
          </a:xfrm>
          <a:prstGeom prst="rect">
            <a:avLst/>
          </a:prstGeom>
          <a:noFill/>
        </p:spPr>
        <p:txBody>
          <a:bodyPr vert="horz" wrap="square" lIns="152400" tIns="0" rIns="152400" bIns="0" rtlCol="0" anchor="ctr">
            <a:noAutofit/>
          </a:bodyPr>
          <a:lstStyle/>
          <a:p>
            <a:pPr algn="ctr"/>
            <a:r>
              <a:rPr kumimoji="1" lang="en-US" altLang="ja-JP" sz="2800" dirty="0">
                <a:solidFill>
                  <a:srgbClr val="232B34"/>
                </a:solidFill>
                <a:latin typeface="Arial" panose="020B0604020202020204" pitchFamily="34" charset="0"/>
              </a:rPr>
              <a:t>Thermoelastic analysis across different </a:t>
            </a:r>
            <a:r>
              <a:rPr kumimoji="1" lang="en-US" altLang="ja-JP" sz="2800">
                <a:solidFill>
                  <a:srgbClr val="232B34"/>
                </a:solidFill>
                <a:latin typeface="Arial" panose="020B0604020202020204" pitchFamily="34" charset="0"/>
              </a:rPr>
              <a:t>operating conditions</a:t>
            </a:r>
            <a:endParaRPr kumimoji="1" lang="en-US" altLang="ja-JP" sz="2800" dirty="0">
              <a:solidFill>
                <a:srgbClr val="232B34"/>
              </a:solidFill>
              <a:latin typeface="Arial" panose="020B0604020202020204" pitchFamily="34" charset="0"/>
            </a:endParaRPr>
          </a:p>
        </p:txBody>
      </p:sp>
      <p:sp>
        <p:nvSpPr>
          <p:cNvPr id="11" name="四角形: 角を丸くする 10">
            <a:extLst>
              <a:ext uri="{FF2B5EF4-FFF2-40B4-BE49-F238E27FC236}">
                <a16:creationId xmlns:a16="http://schemas.microsoft.com/office/drawing/2014/main" id="{79DC3E62-8A04-3396-2AC9-C96D8E778E82}"/>
              </a:ext>
            </a:extLst>
          </p:cNvPr>
          <p:cNvSpPr/>
          <p:nvPr/>
        </p:nvSpPr>
        <p:spPr>
          <a:xfrm>
            <a:off x="914400" y="4996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802937D-6CBA-994A-8E93-04192C2681FD}"/>
              </a:ext>
            </a:extLst>
          </p:cNvPr>
          <p:cNvSpPr txBox="1"/>
          <p:nvPr/>
        </p:nvSpPr>
        <p:spPr>
          <a:xfrm>
            <a:off x="1219200" y="5453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Sun-facing panel</a:t>
            </a:r>
            <a:endParaRPr kumimoji="1" lang="en-US" altLang="ja-JP" sz="3200" b="1" dirty="0">
              <a:solidFill>
                <a:srgbClr val="082B52"/>
              </a:solidFill>
              <a:latin typeface="Arial" panose="020B0604020202020204" pitchFamily="34" charset="0"/>
            </a:endParaRPr>
          </a:p>
        </p:txBody>
      </p:sp>
      <p:sp>
        <p:nvSpPr>
          <p:cNvPr id="13" name="テキスト ボックス 12">
            <a:extLst>
              <a:ext uri="{FF2B5EF4-FFF2-40B4-BE49-F238E27FC236}">
                <a16:creationId xmlns:a16="http://schemas.microsoft.com/office/drawing/2014/main" id="{3582A9A8-5E7F-A360-2E20-BF1A0DE9F54E}"/>
              </a:ext>
            </a:extLst>
          </p:cNvPr>
          <p:cNvSpPr txBox="1"/>
          <p:nvPr/>
        </p:nvSpPr>
        <p:spPr>
          <a:xfrm>
            <a:off x="1219200" y="6418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MX / MY / PX </a:t>
            </a:r>
            <a:r>
              <a:rPr kumimoji="1" lang="en-US" altLang="ja-JP" sz="3200">
                <a:solidFill>
                  <a:srgbClr val="232B34"/>
                </a:solidFill>
                <a:latin typeface="Arial" panose="020B0604020202020204" pitchFamily="34" charset="0"/>
              </a:rPr>
              <a:t>/ PY</a:t>
            </a:r>
            <a:endParaRPr kumimoji="1" lang="en-US" altLang="ja-JP" sz="3200" dirty="0">
              <a:solidFill>
                <a:srgbClr val="232B34"/>
              </a:solidFill>
              <a:latin typeface="Arial" panose="020B0604020202020204" pitchFamily="34" charset="0"/>
            </a:endParaRPr>
          </a:p>
        </p:txBody>
      </p:sp>
      <p:sp>
        <p:nvSpPr>
          <p:cNvPr id="14" name="四角形: 角を丸くする 13">
            <a:extLst>
              <a:ext uri="{FF2B5EF4-FFF2-40B4-BE49-F238E27FC236}">
                <a16:creationId xmlns:a16="http://schemas.microsoft.com/office/drawing/2014/main" id="{D52C217C-13B8-807C-0662-CEA946350246}"/>
              </a:ext>
            </a:extLst>
          </p:cNvPr>
          <p:cNvSpPr/>
          <p:nvPr/>
        </p:nvSpPr>
        <p:spPr>
          <a:xfrm>
            <a:off x="12446000" y="4996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8567FD8-EB95-B128-A723-72DB348688B8}"/>
              </a:ext>
            </a:extLst>
          </p:cNvPr>
          <p:cNvSpPr txBox="1"/>
          <p:nvPr/>
        </p:nvSpPr>
        <p:spPr>
          <a:xfrm>
            <a:off x="12750800" y="5453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Internal dissipation</a:t>
            </a:r>
            <a:endParaRPr kumimoji="1" lang="en-US" altLang="ja-JP" sz="3200" b="1" dirty="0">
              <a:solidFill>
                <a:srgbClr val="082B52"/>
              </a:solidFill>
              <a:latin typeface="Arial" panose="020B0604020202020204" pitchFamily="34" charset="0"/>
            </a:endParaRPr>
          </a:p>
        </p:txBody>
      </p:sp>
      <p:sp>
        <p:nvSpPr>
          <p:cNvPr id="16" name="テキスト ボックス 15">
            <a:extLst>
              <a:ext uri="{FF2B5EF4-FFF2-40B4-BE49-F238E27FC236}">
                <a16:creationId xmlns:a16="http://schemas.microsoft.com/office/drawing/2014/main" id="{C59D7869-D33D-1378-6827-937290A31FDD}"/>
              </a:ext>
            </a:extLst>
          </p:cNvPr>
          <p:cNvSpPr txBox="1"/>
          <p:nvPr/>
        </p:nvSpPr>
        <p:spPr>
          <a:xfrm>
            <a:off x="12750800" y="6418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Equipment ON/</a:t>
            </a:r>
            <a:r>
              <a:rPr kumimoji="1" lang="en-US" altLang="ja-JP" sz="3200">
                <a:solidFill>
                  <a:srgbClr val="232B34"/>
                </a:solidFill>
                <a:latin typeface="Arial" panose="020B0604020202020204" pitchFamily="34" charset="0"/>
              </a:rPr>
              <a:t>OFF states</a:t>
            </a:r>
            <a:endParaRPr kumimoji="1" lang="en-US" altLang="ja-JP" sz="3200" dirty="0">
              <a:solidFill>
                <a:srgbClr val="232B34"/>
              </a:solidFill>
              <a:latin typeface="Arial" panose="020B0604020202020204" pitchFamily="34" charset="0"/>
            </a:endParaRPr>
          </a:p>
        </p:txBody>
      </p:sp>
      <p:sp>
        <p:nvSpPr>
          <p:cNvPr id="17" name="四角形: 角を丸くする 16">
            <a:extLst>
              <a:ext uri="{FF2B5EF4-FFF2-40B4-BE49-F238E27FC236}">
                <a16:creationId xmlns:a16="http://schemas.microsoft.com/office/drawing/2014/main" id="{C4DC1285-C950-D1A7-82F0-21479349D6A2}"/>
              </a:ext>
            </a:extLst>
          </p:cNvPr>
          <p:cNvSpPr/>
          <p:nvPr/>
        </p:nvSpPr>
        <p:spPr>
          <a:xfrm>
            <a:off x="914400" y="8044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5FA8F193-E565-7F4C-CCE5-D1B869C53562}"/>
              </a:ext>
            </a:extLst>
          </p:cNvPr>
          <p:cNvSpPr txBox="1"/>
          <p:nvPr/>
        </p:nvSpPr>
        <p:spPr>
          <a:xfrm>
            <a:off x="1219200" y="8501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Surface properties</a:t>
            </a:r>
            <a:endParaRPr kumimoji="1" lang="en-US" altLang="ja-JP" sz="3200" b="1" dirty="0">
              <a:solidFill>
                <a:srgbClr val="082B52"/>
              </a:solidFill>
              <a:latin typeface="Arial" panose="020B0604020202020204" pitchFamily="34" charset="0"/>
            </a:endParaRPr>
          </a:p>
        </p:txBody>
      </p:sp>
      <p:sp>
        <p:nvSpPr>
          <p:cNvPr id="19" name="テキスト ボックス 18">
            <a:extLst>
              <a:ext uri="{FF2B5EF4-FFF2-40B4-BE49-F238E27FC236}">
                <a16:creationId xmlns:a16="http://schemas.microsoft.com/office/drawing/2014/main" id="{D8D30FF0-B76B-8F1C-1E77-8EC399A8BC07}"/>
              </a:ext>
            </a:extLst>
          </p:cNvPr>
          <p:cNvSpPr txBox="1"/>
          <p:nvPr/>
        </p:nvSpPr>
        <p:spPr>
          <a:xfrm>
            <a:off x="1219200" y="9466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Baseline / Black </a:t>
            </a:r>
            <a:r>
              <a:rPr kumimoji="1" lang="en-US" altLang="ja-JP" sz="3200">
                <a:solidFill>
                  <a:srgbClr val="232B34"/>
                </a:solidFill>
                <a:latin typeface="Arial" panose="020B0604020202020204" pitchFamily="34" charset="0"/>
              </a:rPr>
              <a:t>/ Alodine</a:t>
            </a:r>
            <a:endParaRPr kumimoji="1" lang="en-US" altLang="ja-JP" sz="3200" dirty="0">
              <a:solidFill>
                <a:srgbClr val="232B34"/>
              </a:solidFill>
              <a:latin typeface="Arial" panose="020B0604020202020204" pitchFamily="34" charset="0"/>
            </a:endParaRPr>
          </a:p>
        </p:txBody>
      </p:sp>
      <p:sp>
        <p:nvSpPr>
          <p:cNvPr id="20" name="四角形: 角を丸くする 19">
            <a:extLst>
              <a:ext uri="{FF2B5EF4-FFF2-40B4-BE49-F238E27FC236}">
                <a16:creationId xmlns:a16="http://schemas.microsoft.com/office/drawing/2014/main" id="{7FB410F1-97D8-62D9-2485-9004E8DF7F35}"/>
              </a:ext>
            </a:extLst>
          </p:cNvPr>
          <p:cNvSpPr/>
          <p:nvPr/>
        </p:nvSpPr>
        <p:spPr>
          <a:xfrm>
            <a:off x="12446000" y="8044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C6A9C423-D009-C641-1A41-16433FA7C6A8}"/>
              </a:ext>
            </a:extLst>
          </p:cNvPr>
          <p:cNvSpPr txBox="1"/>
          <p:nvPr/>
        </p:nvSpPr>
        <p:spPr>
          <a:xfrm>
            <a:off x="12750800" y="8501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Orbital environment</a:t>
            </a:r>
            <a:endParaRPr kumimoji="1" lang="en-US" altLang="ja-JP" sz="3200" b="1" dirty="0">
              <a:solidFill>
                <a:srgbClr val="082B52"/>
              </a:solidFill>
              <a:latin typeface="Arial" panose="020B0604020202020204" pitchFamily="34" charset="0"/>
            </a:endParaRPr>
          </a:p>
        </p:txBody>
      </p:sp>
      <p:sp>
        <p:nvSpPr>
          <p:cNvPr id="22" name="テキスト ボックス 21">
            <a:extLst>
              <a:ext uri="{FF2B5EF4-FFF2-40B4-BE49-F238E27FC236}">
                <a16:creationId xmlns:a16="http://schemas.microsoft.com/office/drawing/2014/main" id="{4BEAD937-4CE3-4080-7FD2-28E0BCF873F7}"/>
              </a:ext>
            </a:extLst>
          </p:cNvPr>
          <p:cNvSpPr txBox="1"/>
          <p:nvPr/>
        </p:nvSpPr>
        <p:spPr>
          <a:xfrm>
            <a:off x="12750800" y="9466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Eclipse / </a:t>
            </a:r>
            <a:r>
              <a:rPr kumimoji="1" lang="en-US" altLang="ja-JP" sz="3200">
                <a:solidFill>
                  <a:srgbClr val="232B34"/>
                </a:solidFill>
                <a:latin typeface="Arial" panose="020B0604020202020204" pitchFamily="34" charset="0"/>
              </a:rPr>
              <a:t>Continuous illumination</a:t>
            </a:r>
            <a:endParaRPr kumimoji="1" lang="en-US" altLang="ja-JP" sz="3200" dirty="0">
              <a:solidFill>
                <a:srgbClr val="232B34"/>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68DE9F6F-C92C-34D1-85C8-86B4FAE0BE93}"/>
              </a:ext>
            </a:extLst>
          </p:cNvPr>
          <p:cNvSpPr txBox="1"/>
          <p:nvPr/>
        </p:nvSpPr>
        <p:spPr>
          <a:xfrm>
            <a:off x="1016000" y="11142980"/>
            <a:ext cx="22352000" cy="609600"/>
          </a:xfrm>
          <a:prstGeom prst="rect">
            <a:avLst/>
          </a:prstGeom>
          <a:noFill/>
        </p:spPr>
        <p:txBody>
          <a:bodyPr vert="horz" wrap="square" lIns="152400" tIns="0" rIns="152400" bIns="0" rtlCol="0" anchor="ctr">
            <a:noAutofit/>
          </a:bodyPr>
          <a:lstStyle/>
          <a:p>
            <a:pPr algn="ctr"/>
            <a:r>
              <a:rPr kumimoji="1" lang="en-US" altLang="ja-JP" sz="3200" b="1" dirty="0">
                <a:solidFill>
                  <a:srgbClr val="082B52"/>
                </a:solidFill>
                <a:latin typeface="Arial" panose="020B0604020202020204" pitchFamily="34" charset="0"/>
              </a:rPr>
              <a:t>Same spacecraft structure and LOS definition across all </a:t>
            </a:r>
            <a:r>
              <a:rPr kumimoji="1" lang="en-US" altLang="ja-JP" sz="3200" b="1">
                <a:solidFill>
                  <a:srgbClr val="082B52"/>
                </a:solidFill>
                <a:latin typeface="Arial" panose="020B0604020202020204" pitchFamily="34" charset="0"/>
              </a:rPr>
              <a:t>cases.</a:t>
            </a:r>
            <a:endParaRPr kumimoji="1" lang="en-US" altLang="ja-JP" sz="3200" b="1" dirty="0">
              <a:solidFill>
                <a:srgbClr val="082B52"/>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A5B09AA5-9FD6-8D60-3F8B-91006EC162FE}"/>
              </a:ext>
            </a:extLst>
          </p:cNvPr>
          <p:cNvSpPr txBox="1"/>
          <p:nvPr/>
        </p:nvSpPr>
        <p:spPr>
          <a:xfrm>
            <a:off x="1016000" y="11854180"/>
            <a:ext cx="22352000" cy="558800"/>
          </a:xfrm>
          <a:prstGeom prst="rect">
            <a:avLst/>
          </a:prstGeom>
          <a:noFill/>
        </p:spPr>
        <p:txBody>
          <a:bodyPr vert="horz" wrap="square" lIns="152400" tIns="0" rIns="152400" bIns="0" rtlCol="0" anchor="ctr">
            <a:noAutofit/>
          </a:bodyPr>
          <a:lstStyle/>
          <a:p>
            <a:pPr algn="ctr"/>
            <a:r>
              <a:rPr kumimoji="1" lang="en-US" altLang="ja-JP" sz="2800" dirty="0">
                <a:solidFill>
                  <a:srgbClr val="666F79"/>
                </a:solidFill>
                <a:latin typeface="Arial" panose="020B0604020202020204" pitchFamily="34" charset="0"/>
              </a:rPr>
              <a:t>Validation across operating conditions, not across different spacecraft </a:t>
            </a:r>
            <a:r>
              <a:rPr kumimoji="1" lang="en-US" altLang="ja-JP" sz="2800">
                <a:solidFill>
                  <a:srgbClr val="666F79"/>
                </a:solidFill>
                <a:latin typeface="Arial" panose="020B0604020202020204" pitchFamily="34" charset="0"/>
              </a:rPr>
              <a:t>structures.</a:t>
            </a:r>
            <a:endParaRPr kumimoji="1" lang="en-US" altLang="ja-JP" sz="2800" dirty="0">
              <a:solidFill>
                <a:srgbClr val="666F79"/>
              </a:solidFill>
              <a:latin typeface="Arial" panose="020B0604020202020204" pitchFamily="34" charset="0"/>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Reduced-orde</a:t>
            </a:r>
            <a:r>
              <a:rPr lang="en-US" altLang="ja-JP" sz="4800" dirty="0">
                <a:solidFill>
                  <a:srgbClr val="FFFFFF"/>
                </a:solidFill>
                <a:latin typeface="Arial" panose="020B0604020202020204" pitchFamily="34" charset="0"/>
                <a:cs typeface="Arial" panose="020B0604020202020204" pitchFamily="34" charset="0"/>
              </a:rPr>
              <a:t>r model</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13</a:t>
            </a:r>
            <a:endParaRPr sz="1800" b="0" dirty="0">
              <a:solidFill>
                <a:srgbClr val="666F79"/>
              </a:solidFill>
              <a:latin typeface="Arial" panose="020B0604020202020204" pitchFamily="34" charset="0"/>
              <a:ea typeface="Yu Gothic"/>
            </a:endParaRPr>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7"/>
            <a:ext cx="22037040" cy="1040285"/>
          </a:xfrm>
          <a:prstGeom prst="rect">
            <a:avLst/>
          </a:prstGeom>
          <a:noFill/>
        </p:spPr>
        <p:txBody>
          <a:bodyPr wrap="square" lIns="0" tIns="27432" rIns="0" bIns="27432" anchor="t">
            <a:spAutoFit/>
          </a:bodyPr>
          <a:lstStyle/>
          <a:p>
            <a:pPr algn="l">
              <a:spcAft>
                <a:spcPts val="0"/>
              </a:spcAft>
            </a:pPr>
            <a:endParaRPr lang="en-US" altLang="ja-JP" sz="3200" b="1" dirty="0">
              <a:solidFill>
                <a:srgbClr val="082B52"/>
              </a:solidFill>
              <a:latin typeface="Arial" panose="020B0604020202020204" pitchFamily="34" charset="0"/>
            </a:endParaRPr>
          </a:p>
          <a:p>
            <a:pPr algn="l">
              <a:spcAft>
                <a:spcPts val="0"/>
              </a:spcAft>
            </a:pPr>
            <a:r>
              <a:rPr lang="en-US" altLang="ja-JP" sz="3200" b="1" dirty="0">
                <a:solidFill>
                  <a:srgbClr val="082B52"/>
                </a:solidFill>
                <a:latin typeface="Arial" panose="020B0604020202020204" pitchFamily="34" charset="0"/>
              </a:rPr>
              <a:t>Thermal LOS shows similar orbital variations but different offsets across operating conditions</a:t>
            </a:r>
          </a:p>
        </p:txBody>
      </p:sp>
      <p:pic>
        <p:nvPicPr>
          <p:cNvPr id="21" name="図 20">
            <a:extLst>
              <a:ext uri="{FF2B5EF4-FFF2-40B4-BE49-F238E27FC236}">
                <a16:creationId xmlns:a16="http://schemas.microsoft.com/office/drawing/2014/main" id="{73024BC2-000B-22A8-CC84-A9E292B1E482}"/>
              </a:ext>
            </a:extLst>
          </p:cNvPr>
          <p:cNvPicPr>
            <a:picLocks/>
          </p:cNvPicPr>
          <p:nvPr/>
        </p:nvPicPr>
        <p:blipFill>
          <a:blip r:embed="rId3"/>
          <a:stretch>
            <a:fillRect/>
          </a:stretch>
        </p:blipFill>
        <p:spPr>
          <a:xfrm>
            <a:off x="457200" y="2641600"/>
            <a:ext cx="14173200" cy="6997700"/>
          </a:xfrm>
          <a:prstGeom prst="rect">
            <a:avLst/>
          </a:prstGeom>
        </p:spPr>
      </p:pic>
      <p:sp>
        <p:nvSpPr>
          <p:cNvPr id="22" name="テキスト ボックス 21">
            <a:extLst>
              <a:ext uri="{FF2B5EF4-FFF2-40B4-BE49-F238E27FC236}">
                <a16:creationId xmlns:a16="http://schemas.microsoft.com/office/drawing/2014/main" id="{81F0F569-CAAC-2847-C29F-DD3224303F03}"/>
              </a:ext>
            </a:extLst>
          </p:cNvPr>
          <p:cNvSpPr txBox="1"/>
          <p:nvPr/>
        </p:nvSpPr>
        <p:spPr>
          <a:xfrm>
            <a:off x="457200" y="9753600"/>
            <a:ext cx="13817600" cy="353943"/>
          </a:xfrm>
          <a:prstGeom prst="rect">
            <a:avLst/>
          </a:prstGeom>
          <a:noFill/>
        </p:spPr>
        <p:txBody>
          <a:bodyPr vert="horz" wrap="square" lIns="0" tIns="0" rIns="0" rtlCol="0">
            <a:spAutoFit/>
          </a:bodyPr>
          <a:lstStyle/>
          <a:p>
            <a:pPr algn="ctr"/>
            <a:r>
              <a:rPr kumimoji="1" lang="en-US" altLang="ja-JP" sz="2000">
                <a:solidFill>
                  <a:srgbClr val="666F79"/>
                </a:solidFill>
                <a:latin typeface="Arial" panose="020B0604020202020204" pitchFamily="34" charset="0"/>
              </a:rPr>
              <a:t>Same sun face, different dissipation states</a:t>
            </a:r>
            <a:endParaRPr kumimoji="1" lang="ja-JP" altLang="en-US" sz="2000">
              <a:solidFill>
                <a:srgbClr val="666F79"/>
              </a:solidFill>
              <a:latin typeface="Arial" panose="020B0604020202020204" pitchFamily="34" charset="0"/>
            </a:endParaRPr>
          </a:p>
        </p:txBody>
      </p:sp>
      <p:sp>
        <p:nvSpPr>
          <p:cNvPr id="23" name="四角形: 角を丸くする 22">
            <a:extLst>
              <a:ext uri="{FF2B5EF4-FFF2-40B4-BE49-F238E27FC236}">
                <a16:creationId xmlns:a16="http://schemas.microsoft.com/office/drawing/2014/main" id="{DD4DC98C-9606-8B55-EA1F-84EC0CF1E39B}"/>
              </a:ext>
            </a:extLst>
          </p:cNvPr>
          <p:cNvSpPr/>
          <p:nvPr/>
        </p:nvSpPr>
        <p:spPr>
          <a:xfrm>
            <a:off x="14630400" y="26416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0EE92B3-B8C2-95DE-ED43-23C53F0D6F13}"/>
              </a:ext>
            </a:extLst>
          </p:cNvPr>
          <p:cNvSpPr txBox="1"/>
          <p:nvPr/>
        </p:nvSpPr>
        <p:spPr>
          <a:xfrm>
            <a:off x="15036800" y="2997200"/>
            <a:ext cx="84582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25" name="テキスト ボックス 24">
            <a:extLst>
              <a:ext uri="{FF2B5EF4-FFF2-40B4-BE49-F238E27FC236}">
                <a16:creationId xmlns:a16="http://schemas.microsoft.com/office/drawing/2014/main" id="{FC947A9B-DBDD-2C41-4E24-14423AC74B7A}"/>
              </a:ext>
            </a:extLst>
          </p:cNvPr>
          <p:cNvSpPr txBox="1"/>
          <p:nvPr/>
        </p:nvSpPr>
        <p:spPr>
          <a:xfrm>
            <a:off x="15036800" y="38608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Similar within-orbit waveform, different mean offsets</a:t>
            </a:r>
            <a:endParaRPr kumimoji="1" lang="ja-JP" altLang="en-US" sz="3200" dirty="0">
              <a:solidFill>
                <a:srgbClr val="232B34"/>
              </a:solidFill>
              <a:latin typeface="Arial" panose="020B0604020202020204" pitchFamily="34" charset="0"/>
            </a:endParaRPr>
          </a:p>
        </p:txBody>
      </p:sp>
      <p:sp>
        <p:nvSpPr>
          <p:cNvPr id="26" name="四角形: 角を丸くする 25">
            <a:extLst>
              <a:ext uri="{FF2B5EF4-FFF2-40B4-BE49-F238E27FC236}">
                <a16:creationId xmlns:a16="http://schemas.microsoft.com/office/drawing/2014/main" id="{4FBD414F-76AA-36B7-986F-1D7C3D1C3025}"/>
              </a:ext>
            </a:extLst>
          </p:cNvPr>
          <p:cNvSpPr/>
          <p:nvPr/>
        </p:nvSpPr>
        <p:spPr>
          <a:xfrm>
            <a:off x="14630400" y="63500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C9D77C1-6123-F76E-5F55-E5C4ED516CCD}"/>
              </a:ext>
            </a:extLst>
          </p:cNvPr>
          <p:cNvSpPr txBox="1"/>
          <p:nvPr/>
        </p:nvSpPr>
        <p:spPr>
          <a:xfrm>
            <a:off x="15036800" y="6705600"/>
            <a:ext cx="8458200" cy="538609"/>
          </a:xfrm>
          <a:prstGeom prst="rect">
            <a:avLst/>
          </a:prstGeom>
          <a:noFill/>
        </p:spPr>
        <p:txBody>
          <a:bodyPr vert="horz" wrap="square" lIns="0" tIns="0" rtlCol="0">
            <a:spAutoFit/>
          </a:bodyPr>
          <a:lstStyle/>
          <a:p>
            <a:r>
              <a:rPr kumimoji="1" lang="en-US" altLang="ja-JP" sz="3200" b="1">
                <a:solidFill>
                  <a:srgbClr val="1B74AA"/>
                </a:solidFill>
                <a:latin typeface="Arial" panose="020B0604020202020204" pitchFamily="34" charset="0"/>
              </a:rPr>
              <a:t>Interpretation</a:t>
            </a:r>
            <a:endParaRPr kumimoji="1" lang="ja-JP" altLang="en-US" sz="3200" b="1">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80E50AB4-CF08-D5A2-9AFD-10047BB40ADA}"/>
              </a:ext>
            </a:extLst>
          </p:cNvPr>
          <p:cNvSpPr txBox="1"/>
          <p:nvPr/>
        </p:nvSpPr>
        <p:spPr>
          <a:xfrm>
            <a:off x="15036800" y="75692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Orbital variation is largely shared:</a:t>
            </a:r>
          </a:p>
          <a:p>
            <a:r>
              <a:rPr kumimoji="1" lang="en-US" altLang="ja-JP" sz="3200" dirty="0">
                <a:solidFill>
                  <a:srgbClr val="232B34"/>
                </a:solidFill>
                <a:latin typeface="Arial" panose="020B0604020202020204" pitchFamily="34" charset="0"/>
              </a:rPr>
              <a:t>Equipment dissipation shifts the mean level</a:t>
            </a:r>
            <a:endParaRPr kumimoji="1" lang="ja-JP" altLang="en-US"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FC333D9-28DE-C5D6-F940-2FE716237A0F}"/>
              </a:ext>
            </a:extLst>
          </p:cNvPr>
          <p:cNvSpPr txBox="1"/>
          <p:nvPr/>
        </p:nvSpPr>
        <p:spPr>
          <a:xfrm>
            <a:off x="1016000" y="10975340"/>
            <a:ext cx="22352000" cy="477054"/>
          </a:xfrm>
          <a:prstGeom prst="rect">
            <a:avLst/>
          </a:prstGeom>
          <a:noFill/>
        </p:spPr>
        <p:txBody>
          <a:bodyPr vert="horz" wrap="square" lIns="0" tIns="0" rtlCol="0">
            <a:spAutoFit/>
          </a:bodyPr>
          <a:lstStyle/>
          <a:p>
            <a:pPr algn="ctr"/>
            <a:r>
              <a:rPr kumimoji="1" lang="en-US" altLang="ja-JP" sz="2800" b="1" dirty="0">
                <a:solidFill>
                  <a:srgbClr val="232B34"/>
                </a:solidFill>
                <a:latin typeface="Arial" panose="020B0604020202020204" pitchFamily="34" charset="0"/>
              </a:rPr>
              <a:t>Modeling choice</a:t>
            </a:r>
            <a:endParaRPr kumimoji="1" lang="ja-JP" altLang="en-US" sz="2800" b="1" dirty="0">
              <a:solidFill>
                <a:srgbClr val="232B34"/>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641413B7-9739-75B8-4AE7-C1B238DFD044}"/>
              </a:ext>
            </a:extLst>
          </p:cNvPr>
          <p:cNvSpPr txBox="1"/>
          <p:nvPr/>
        </p:nvSpPr>
        <p:spPr>
          <a:xfrm>
            <a:off x="762000" y="11498580"/>
            <a:ext cx="22860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Thermal LOS  =  Time-varying term  +  Case-dependent bias</a:t>
            </a:r>
            <a:endParaRPr kumimoji="1" lang="ja-JP" altLang="en-US" sz="4000" b="1" dirty="0">
              <a:solidFill>
                <a:srgbClr val="082B52"/>
              </a:solidFill>
              <a:latin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69999"/>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Thermal LOS variation closely follows the sun-facing–opposite-panel temperature difference</a:t>
            </a:r>
            <a:endParaRPr lang="en-US" sz="3200" b="1" dirty="0">
              <a:solidFill>
                <a:srgbClr val="082B52"/>
              </a:solidFill>
              <a:latin typeface="Arial" panose="020B0604020202020204" pitchFamily="34" charset="0"/>
            </a:endParaRPr>
          </a:p>
        </p:txBody>
      </p:sp>
      <p:sp>
        <p:nvSpPr>
          <p:cNvPr id="19" name="TextBox 8">
            <a:extLst>
              <a:ext uri="{FF2B5EF4-FFF2-40B4-BE49-F238E27FC236}">
                <a16:creationId xmlns:a16="http://schemas.microsoft.com/office/drawing/2014/main" id="{E5AE464D-DFE6-09C6-65DA-8D2CC851F626}"/>
              </a:ext>
            </a:extLst>
          </p:cNvPr>
          <p:cNvSpPr txBox="1"/>
          <p:nvPr/>
        </p:nvSpPr>
        <p:spPr>
          <a:xfrm>
            <a:off x="12192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Far-field LOS, Y axis (MY-PY)</a:t>
            </a:r>
            <a:endParaRPr lang="en-US" sz="2200" dirty="0">
              <a:solidFill>
                <a:srgbClr val="232B34"/>
              </a:solidFill>
              <a:latin typeface="Arial" panose="020B0604020202020204" pitchFamily="34" charset="0"/>
              <a:ea typeface="Yu Gothic"/>
            </a:endParaRPr>
          </a:p>
        </p:txBody>
      </p:sp>
      <p:sp>
        <p:nvSpPr>
          <p:cNvPr id="21" name="TextBox 9">
            <a:extLst>
              <a:ext uri="{FF2B5EF4-FFF2-40B4-BE49-F238E27FC236}">
                <a16:creationId xmlns:a16="http://schemas.microsoft.com/office/drawing/2014/main" id="{E830988C-07D9-F5B9-9874-7C1D60418F77}"/>
              </a:ext>
            </a:extLst>
          </p:cNvPr>
          <p:cNvSpPr txBox="1"/>
          <p:nvPr/>
        </p:nvSpPr>
        <p:spPr>
          <a:xfrm>
            <a:off x="3556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MY center - PY center</a:t>
            </a:r>
            <a:endParaRPr lang="en-US" sz="2200" dirty="0">
              <a:solidFill>
                <a:srgbClr val="232B34"/>
              </a:solidFill>
              <a:latin typeface="Arial" panose="020B0604020202020204" pitchFamily="34" charset="0"/>
              <a:ea typeface="Yu Gothic"/>
            </a:endParaRP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pic>
        <p:nvPicPr>
          <p:cNvPr id="5" name="図 4">
            <a:extLst>
              <a:ext uri="{FF2B5EF4-FFF2-40B4-BE49-F238E27FC236}">
                <a16:creationId xmlns:a16="http://schemas.microsoft.com/office/drawing/2014/main" id="{55E02E62-9C27-6F62-21F1-013F7AF88BB1}"/>
              </a:ext>
            </a:extLst>
          </p:cNvPr>
          <p:cNvPicPr>
            <a:picLocks/>
          </p:cNvPicPr>
          <p:nvPr/>
        </p:nvPicPr>
        <p:blipFill>
          <a:blip r:embed="rId3"/>
          <a:stretch>
            <a:fillRect/>
          </a:stretch>
        </p:blipFill>
        <p:spPr>
          <a:xfrm>
            <a:off x="3556000" y="2514600"/>
            <a:ext cx="17272000" cy="6337300"/>
          </a:xfrm>
          <a:prstGeom prst="rect">
            <a:avLst/>
          </a:prstGeom>
        </p:spPr>
      </p:pic>
      <p:sp>
        <p:nvSpPr>
          <p:cNvPr id="6" name="テキスト ボックス 5">
            <a:extLst>
              <a:ext uri="{FF2B5EF4-FFF2-40B4-BE49-F238E27FC236}">
                <a16:creationId xmlns:a16="http://schemas.microsoft.com/office/drawing/2014/main" id="{54644474-2800-11CD-2A9F-BA8FABCE5C2D}"/>
              </a:ext>
            </a:extLst>
          </p:cNvPr>
          <p:cNvSpPr txBox="1"/>
          <p:nvPr/>
        </p:nvSpPr>
        <p:spPr>
          <a:xfrm>
            <a:off x="23333254" y="12819888"/>
            <a:ext cx="441146" cy="369332"/>
          </a:xfrm>
          <a:prstGeom prst="rect">
            <a:avLst/>
          </a:prstGeom>
          <a:noFill/>
        </p:spPr>
        <p:txBody>
          <a:bodyPr vert="horz" wrap="none" rtlCol="0">
            <a:spAutoFit/>
          </a:bodyPr>
          <a:lstStyle/>
          <a:p>
            <a:pPr algn="r"/>
            <a:r>
              <a:rPr kumimoji="1" lang="en-US" altLang="ja-JP">
                <a:solidFill>
                  <a:srgbClr val="666F79"/>
                </a:solidFill>
                <a:latin typeface="Arial" panose="020B0604020202020204" pitchFamily="34" charset="0"/>
              </a:rPr>
              <a:t>12</a:t>
            </a:r>
            <a:endParaRPr kumimoji="1" lang="ja-JP" altLang="en-US">
              <a:solidFill>
                <a:srgbClr val="666F79"/>
              </a:solidFill>
              <a:latin typeface="Arial" panose="020B0604020202020204" pitchFamily="34" charset="0"/>
            </a:endParaRPr>
          </a:p>
        </p:txBody>
      </p:sp>
      <p:sp>
        <p:nvSpPr>
          <p:cNvPr id="2" name="四角形: 角を丸くする 1">
            <a:extLst>
              <a:ext uri="{FF2B5EF4-FFF2-40B4-BE49-F238E27FC236}">
                <a16:creationId xmlns:a16="http://schemas.microsoft.com/office/drawing/2014/main" id="{EBFDC49E-42C3-3E76-07A5-0A35A981641D}"/>
              </a:ext>
            </a:extLst>
          </p:cNvPr>
          <p:cNvSpPr/>
          <p:nvPr/>
        </p:nvSpPr>
        <p:spPr>
          <a:xfrm>
            <a:off x="15494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3E24CA26-54E3-ECAC-C341-8B856C2CCF4F}"/>
              </a:ext>
            </a:extLst>
          </p:cNvPr>
          <p:cNvSpPr txBox="1"/>
          <p:nvPr/>
        </p:nvSpPr>
        <p:spPr>
          <a:xfrm>
            <a:off x="18542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7" name="テキスト ボックス 6">
            <a:extLst>
              <a:ext uri="{FF2B5EF4-FFF2-40B4-BE49-F238E27FC236}">
                <a16:creationId xmlns:a16="http://schemas.microsoft.com/office/drawing/2014/main" id="{3F8614E5-7D34-D641-F722-C386D55F2E7B}"/>
              </a:ext>
            </a:extLst>
          </p:cNvPr>
          <p:cNvSpPr txBox="1"/>
          <p:nvPr/>
        </p:nvSpPr>
        <p:spPr>
          <a:xfrm>
            <a:off x="1854200" y="10147300"/>
            <a:ext cx="98044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Panel ΔT and thermal LOS show nearly identical orbital variations.</a:t>
            </a:r>
            <a:endParaRPr kumimoji="1" lang="ja-JP" altLang="en-US" sz="3200" dirty="0">
              <a:solidFill>
                <a:srgbClr val="232B34"/>
              </a:solidFill>
              <a:latin typeface="Arial" panose="020B0604020202020204" pitchFamily="34" charset="0"/>
            </a:endParaRPr>
          </a:p>
        </p:txBody>
      </p:sp>
      <p:sp>
        <p:nvSpPr>
          <p:cNvPr id="8" name="四角形: 角を丸くする 7">
            <a:extLst>
              <a:ext uri="{FF2B5EF4-FFF2-40B4-BE49-F238E27FC236}">
                <a16:creationId xmlns:a16="http://schemas.microsoft.com/office/drawing/2014/main" id="{EA25FFBB-4051-0301-E72A-13F241E15A87}"/>
              </a:ext>
            </a:extLst>
          </p:cNvPr>
          <p:cNvSpPr/>
          <p:nvPr/>
        </p:nvSpPr>
        <p:spPr>
          <a:xfrm>
            <a:off x="124206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BF882E8-D503-C866-6FA9-3C117439925C}"/>
              </a:ext>
            </a:extLst>
          </p:cNvPr>
          <p:cNvSpPr txBox="1"/>
          <p:nvPr/>
        </p:nvSpPr>
        <p:spPr>
          <a:xfrm>
            <a:off x="127254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Interpretation</a:t>
            </a:r>
            <a:endParaRPr kumimoji="1" lang="ja-JP" altLang="en-US" sz="3200" b="1" dirty="0">
              <a:solidFill>
                <a:srgbClr val="1B74AA"/>
              </a:solidFill>
              <a:latin typeface="Arial" panose="020B0604020202020204" pitchFamily="34" charset="0"/>
            </a:endParaRPr>
          </a:p>
        </p:txBody>
      </p:sp>
      <p:sp>
        <p:nvSpPr>
          <p:cNvPr id="10" name="テキスト ボックス 9">
            <a:extLst>
              <a:ext uri="{FF2B5EF4-FFF2-40B4-BE49-F238E27FC236}">
                <a16:creationId xmlns:a16="http://schemas.microsoft.com/office/drawing/2014/main" id="{18352675-40F2-C1A8-0CA3-01EABCB77E42}"/>
              </a:ext>
            </a:extLst>
          </p:cNvPr>
          <p:cNvSpPr txBox="1"/>
          <p:nvPr/>
        </p:nvSpPr>
        <p:spPr>
          <a:xfrm>
            <a:off x="12725400" y="10147300"/>
            <a:ext cx="9804400" cy="1031051"/>
          </a:xfrm>
          <a:prstGeom prst="rect">
            <a:avLst/>
          </a:prstGeom>
          <a:noFill/>
        </p:spPr>
        <p:txBody>
          <a:bodyPr vert="horz" wrap="square" lIns="0" tIns="0" rtlCol="0">
            <a:spAutoFit/>
          </a:bodyPr>
          <a:lstStyle/>
          <a:p>
            <a:r>
              <a:rPr kumimoji="1" lang="en-US" altLang="ja-JP" sz="3200">
                <a:solidFill>
                  <a:srgbClr val="232B34"/>
                </a:solidFill>
                <a:latin typeface="Arial" panose="020B0604020202020204" pitchFamily="34" charset="0"/>
              </a:rPr>
              <a:t>Panel ΔT is a promising predictor of time-varying thermal LOS.</a:t>
            </a:r>
            <a:endParaRPr kumimoji="1" lang="ja-JP" altLang="en-US" sz="3200">
              <a:solidFill>
                <a:srgbClr val="232B34"/>
              </a:solidFill>
              <a:latin typeface="Arial" panose="020B0604020202020204" pitchFamily="34" charset="0"/>
            </a:endParaRPr>
          </a:p>
        </p:txBody>
      </p:sp>
      <p:sp>
        <p:nvSpPr>
          <p:cNvPr id="11" name="テキスト ボックス 10">
            <a:extLst>
              <a:ext uri="{FF2B5EF4-FFF2-40B4-BE49-F238E27FC236}">
                <a16:creationId xmlns:a16="http://schemas.microsoft.com/office/drawing/2014/main" id="{ECAD0B94-16B8-C068-4413-C72F39D059A8}"/>
              </a:ext>
            </a:extLst>
          </p:cNvPr>
          <p:cNvSpPr txBox="1"/>
          <p:nvPr/>
        </p:nvSpPr>
        <p:spPr>
          <a:xfrm>
            <a:off x="1016000" y="12019280"/>
            <a:ext cx="22352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Time-varying thermal LOS  ∝  Panel ΔT</a:t>
            </a:r>
            <a:endParaRPr kumimoji="1" lang="ja-JP" altLang="en-US" sz="4000" b="1" dirty="0">
              <a:solidFill>
                <a:srgbClr val="082B52"/>
              </a:solidFill>
              <a:latin typeface="Arial" panose="020B0604020202020204" pitchFamily="34" charset="0"/>
            </a:endParaRP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A hierarchical model predicts thermal LOS using panel ΔT and operating states</a:t>
            </a:r>
            <a:endParaRPr lang="en-US" altLang="ja-JP" sz="3200" b="1" dirty="0">
              <a:solidFill>
                <a:srgbClr val="082B52"/>
              </a:solidFill>
              <a:latin typeface="Arial" panose="020B0604020202020204" pitchFamily="34" charset="0"/>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14</a:t>
            </a:r>
            <a:endParaRPr sz="1800" b="0" dirty="0">
              <a:solidFill>
                <a:srgbClr val="666F79"/>
              </a:solidFill>
              <a:latin typeface="Arial" panose="020B0604020202020204" pitchFamily="34" charset="0"/>
              <a:ea typeface="Yu Gothic"/>
            </a:endParaRPr>
          </a:p>
        </p:txBody>
      </p:sp>
      <p:sp>
        <p:nvSpPr>
          <p:cNvPr id="52" name="テキスト ボックス 51">
            <a:extLst>
              <a:ext uri="{FF2B5EF4-FFF2-40B4-BE49-F238E27FC236}">
                <a16:creationId xmlns:a16="http://schemas.microsoft.com/office/drawing/2014/main" id="{3955A62B-4A75-CEB7-EAB9-614B6031AE0A}"/>
              </a:ext>
            </a:extLst>
          </p:cNvPr>
          <p:cNvSpPr txBox="1"/>
          <p:nvPr/>
        </p:nvSpPr>
        <p:spPr>
          <a:xfrm>
            <a:off x="1016000" y="4615180"/>
            <a:ext cx="22352000" cy="5842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      </a:t>
            </a: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3" name="四角形: 角を丸くする 52">
            <a:extLst>
              <a:ext uri="{FF2B5EF4-FFF2-40B4-BE49-F238E27FC236}">
                <a16:creationId xmlns:a16="http://schemas.microsoft.com/office/drawing/2014/main" id="{DF004FA0-42CA-1CD8-FC09-7607D9F53F40}"/>
              </a:ext>
            </a:extLst>
          </p:cNvPr>
          <p:cNvSpPr/>
          <p:nvPr/>
        </p:nvSpPr>
        <p:spPr>
          <a:xfrm>
            <a:off x="8128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角を丸くする 53">
            <a:extLst>
              <a:ext uri="{FF2B5EF4-FFF2-40B4-BE49-F238E27FC236}">
                <a16:creationId xmlns:a16="http://schemas.microsoft.com/office/drawing/2014/main" id="{33F1985C-181D-6A6F-401F-59751EE1DD4C}"/>
              </a:ext>
            </a:extLst>
          </p:cNvPr>
          <p:cNvSpPr/>
          <p:nvPr/>
        </p:nvSpPr>
        <p:spPr>
          <a:xfrm>
            <a:off x="123952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3366D19E-618F-9175-3EF1-98B12DEAF33B}"/>
              </a:ext>
            </a:extLst>
          </p:cNvPr>
          <p:cNvSpPr txBox="1"/>
          <p:nvPr/>
        </p:nvSpPr>
        <p:spPr>
          <a:xfrm>
            <a:off x="1168400" y="5681980"/>
            <a:ext cx="10464800" cy="6096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a:t>
            </a:r>
            <a:endParaRPr kumimoji="1" lang="ja-JP" altLang="en-US" sz="3200">
              <a:solidFill>
                <a:srgbClr val="1B74AA"/>
              </a:solidFill>
              <a:latin typeface="Arial" panose="020B0604020202020204" pitchFamily="34" charset="0"/>
            </a:endParaRPr>
          </a:p>
        </p:txBody>
      </p:sp>
      <p:sp>
        <p:nvSpPr>
          <p:cNvPr id="56" name="テキスト ボックス 55">
            <a:extLst>
              <a:ext uri="{FF2B5EF4-FFF2-40B4-BE49-F238E27FC236}">
                <a16:creationId xmlns:a16="http://schemas.microsoft.com/office/drawing/2014/main" id="{FD8CEFE9-D406-B6DC-E53D-E7B7FF9DF519}"/>
              </a:ext>
            </a:extLst>
          </p:cNvPr>
          <p:cNvSpPr txBox="1"/>
          <p:nvPr/>
        </p:nvSpPr>
        <p:spPr>
          <a:xfrm>
            <a:off x="12750800" y="5681980"/>
            <a:ext cx="10464800" cy="609600"/>
          </a:xfrm>
          <a:prstGeom prst="rect">
            <a:avLst/>
          </a:prstGeom>
          <a:noFill/>
        </p:spPr>
        <p:txBody>
          <a:bodyPr vert="horz" wrap="square" lIns="0" tIns="0" rIns="0" bIns="0" rtlCol="0">
            <a:noAutofit/>
          </a:bodyPr>
          <a:lstStyle/>
          <a:p>
            <a:pPr algn="ct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9" name="テキスト ボックス 58">
            <a:extLst>
              <a:ext uri="{FF2B5EF4-FFF2-40B4-BE49-F238E27FC236}">
                <a16:creationId xmlns:a16="http://schemas.microsoft.com/office/drawing/2014/main" id="{54D7A6D4-D811-FE0E-E035-B75C97B1FB91}"/>
              </a:ext>
            </a:extLst>
          </p:cNvPr>
          <p:cNvSpPr txBox="1"/>
          <p:nvPr/>
        </p:nvSpPr>
        <p:spPr>
          <a:xfrm>
            <a:off x="12192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Thermal sensitivity is shared across cases with the same sun-facing panel.</a:t>
            </a:r>
            <a:endParaRPr kumimoji="1" lang="ja-JP" altLang="en-US" sz="3200" dirty="0">
              <a:solidFill>
                <a:srgbClr val="232B34"/>
              </a:solidFill>
              <a:latin typeface="Arial" panose="020B0604020202020204" pitchFamily="34" charset="0"/>
            </a:endParaRPr>
          </a:p>
        </p:txBody>
      </p:sp>
      <p:sp>
        <p:nvSpPr>
          <p:cNvPr id="60" name="テキスト ボックス 59">
            <a:extLst>
              <a:ext uri="{FF2B5EF4-FFF2-40B4-BE49-F238E27FC236}">
                <a16:creationId xmlns:a16="http://schemas.microsoft.com/office/drawing/2014/main" id="{EEB14079-1657-0596-C786-7576ADF87021}"/>
              </a:ext>
            </a:extLst>
          </p:cNvPr>
          <p:cNvSpPr txBox="1"/>
          <p:nvPr/>
        </p:nvSpPr>
        <p:spPr>
          <a:xfrm>
            <a:off x="128016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Baseline offset by sun face + equipment ON/OFF states</a:t>
            </a:r>
            <a:endParaRPr kumimoji="1" lang="ja-JP" altLang="en-US" sz="3200" dirty="0">
              <a:solidFill>
                <a:srgbClr val="232B34"/>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65" name="TextBox 5">
                <a:extLst>
                  <a:ext uri="{FF2B5EF4-FFF2-40B4-BE49-F238E27FC236}">
                    <a16:creationId xmlns:a16="http://schemas.microsoft.com/office/drawing/2014/main" id="{931F66EB-B5E0-F6D1-15E4-26E467FF6666}"/>
                  </a:ext>
                </a:extLst>
              </p:cNvPr>
              <p:cNvSpPr txBox="1"/>
              <p:nvPr/>
            </p:nvSpPr>
            <p:spPr>
              <a:xfrm>
                <a:off x="7161047" y="3314700"/>
                <a:ext cx="10060318" cy="863954"/>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800" b="1" i="1" dirty="0" smtClean="0">
                              <a:solidFill>
                                <a:srgbClr val="082B52"/>
                              </a:solidFill>
                              <a:latin typeface="Cambria Math" panose="02040503050406030204" pitchFamily="18" charset="0"/>
                            </a:rPr>
                          </m:ctrlPr>
                        </m:sSubPr>
                        <m:e>
                          <m:r>
                            <a:rPr lang="ja-JP" altLang="en-US" sz="4800" b="1" i="1" dirty="0" smtClean="0">
                              <a:solidFill>
                                <a:srgbClr val="082B52"/>
                              </a:solidFill>
                              <a:latin typeface="Cambria Math" panose="02040503050406030204" pitchFamily="18" charset="0"/>
                            </a:rPr>
                            <m:t>𝜽</m:t>
                          </m:r>
                        </m:e>
                        <m:sub>
                          <m:r>
                            <a:rPr lang="ja-JP" altLang="en-US" sz="4800" b="1" i="1" dirty="0" smtClean="0">
                              <a:solidFill>
                                <a:srgbClr val="082B52"/>
                              </a:solidFill>
                              <a:latin typeface="Cambria Math" panose="02040503050406030204" pitchFamily="18" charset="0"/>
                            </a:rPr>
                            <m:t>𝒅𝒐𝒎</m:t>
                          </m:r>
                        </m:sub>
                      </m:sSub>
                      <m:d>
                        <m:dPr>
                          <m:ctrlPr>
                            <a:rPr lang="ja-JP" altLang="en-US" sz="4800" b="1" i="1" dirty="0">
                              <a:solidFill>
                                <a:srgbClr val="082B52"/>
                              </a:solidFill>
                              <a:latin typeface="Cambria Math" panose="02040503050406030204" pitchFamily="18" charset="0"/>
                            </a:rPr>
                          </m:ctrlPr>
                        </m:dPr>
                        <m:e>
                          <m:r>
                            <a:rPr lang="ja-JP" altLang="en-US" sz="4800" b="1" i="1" dirty="0">
                              <a:solidFill>
                                <a:srgbClr val="082B52"/>
                              </a:solidFill>
                              <a:latin typeface="Cambria Math" panose="02040503050406030204" pitchFamily="18" charset="0"/>
                            </a:rPr>
                            <m:t>𝒕</m:t>
                          </m:r>
                        </m:e>
                      </m:d>
                      <m:r>
                        <a:rPr lang="en-US" altLang="ja-JP" sz="4800" b="1" i="1" dirty="0">
                          <a:solidFill>
                            <a:srgbClr val="082B52"/>
                          </a:solidFill>
                          <a:latin typeface="Cambria Math" panose="02040503050406030204" pitchFamily="18" charset="0"/>
                        </a:rPr>
                        <m:t>≈ </m:t>
                      </m:r>
                      <m:sSub>
                        <m:sSubPr>
                          <m:ctrlPr>
                            <a:rPr lang="ja-JP" altLang="en-US" sz="4800" b="1" i="1" dirty="0" err="1">
                              <a:solidFill>
                                <a:srgbClr val="1B74AA"/>
                              </a:solidFill>
                              <a:latin typeface="Cambria Math" panose="02040503050406030204" pitchFamily="18" charset="0"/>
                            </a:rPr>
                          </m:ctrlPr>
                        </m:sSubPr>
                        <m:e>
                          <m:r>
                            <a:rPr lang="ja-JP" altLang="en-US" sz="4800" b="1" i="1" dirty="0" err="1">
                              <a:solidFill>
                                <a:srgbClr val="1B74AA"/>
                              </a:solidFill>
                              <a:latin typeface="Cambria Math" panose="02040503050406030204" pitchFamily="18" charset="0"/>
                            </a:rPr>
                            <m:t>𝒂</m:t>
                          </m:r>
                        </m:e>
                        <m:sub>
                          <m:r>
                            <a:rPr lang="ja-JP" altLang="en-US" sz="4800" b="1" i="1" dirty="0" err="1">
                              <a:solidFill>
                                <a:srgbClr val="1B74AA"/>
                              </a:solidFill>
                              <a:latin typeface="Cambria Math" panose="02040503050406030204" pitchFamily="18" charset="0"/>
                            </a:rPr>
                            <m:t>𝒔𝒖𝒏𝒇𝒂𝒄𝒆</m:t>
                          </m:r>
                        </m:sub>
                      </m:sSub>
                      <m:r>
                        <a:rPr lang="ja-JP" altLang="en-US" sz="4800" b="1" i="1" dirty="0">
                          <a:solidFill>
                            <a:srgbClr val="1B74AA"/>
                          </a:solidFill>
                          <a:latin typeface="Cambria Math" panose="02040503050406030204" pitchFamily="18" charset="0"/>
                        </a:rPr>
                        <m:t> </m:t>
                      </m:r>
                      <m:r>
                        <a:rPr lang="en-US" altLang="ja-JP" sz="4800" b="1" i="1" dirty="0">
                          <a:solidFill>
                            <a:srgbClr val="1B74AA"/>
                          </a:solidFill>
                          <a:latin typeface="Cambria Math" panose="02040503050406030204" pitchFamily="18" charset="0"/>
                        </a:rPr>
                        <m:t>· </m:t>
                      </m:r>
                      <m:r>
                        <a:rPr lang="ja-JP" altLang="en-US" sz="4800" b="1" i="0" dirty="0">
                          <a:solidFill>
                            <a:srgbClr val="1B74AA"/>
                          </a:solidFill>
                          <a:latin typeface="Cambria Math" panose="02040503050406030204" pitchFamily="18" charset="0"/>
                        </a:rPr>
                        <m:t>𝚫</m:t>
                      </m:r>
                      <m:r>
                        <a:rPr lang="ja-JP" altLang="en-US" sz="4800" b="1" i="1" dirty="0">
                          <a:solidFill>
                            <a:srgbClr val="1B74AA"/>
                          </a:solidFill>
                          <a:latin typeface="Cambria Math" panose="02040503050406030204" pitchFamily="18" charset="0"/>
                        </a:rPr>
                        <m:t>𝑻</m:t>
                      </m:r>
                      <m:d>
                        <m:dPr>
                          <m:ctrlPr>
                            <a:rPr lang="ja-JP" altLang="en-US" sz="4800" b="1" i="1" dirty="0">
                              <a:solidFill>
                                <a:srgbClr val="1B74AA"/>
                              </a:solidFill>
                              <a:latin typeface="Cambria Math" panose="02040503050406030204" pitchFamily="18" charset="0"/>
                            </a:rPr>
                          </m:ctrlPr>
                        </m:dPr>
                        <m:e>
                          <m:r>
                            <a:rPr lang="ja-JP" altLang="en-US" sz="4800" b="1" i="1" dirty="0">
                              <a:solidFill>
                                <a:srgbClr val="1B74AA"/>
                              </a:solidFill>
                              <a:latin typeface="Cambria Math" panose="02040503050406030204" pitchFamily="18" charset="0"/>
                            </a:rPr>
                            <m:t>𝒕</m:t>
                          </m:r>
                        </m:e>
                      </m:d>
                      <m:r>
                        <a:rPr lang="en-US" altLang="ja-JP" sz="4800" b="1" i="1" dirty="0" smtClean="0">
                          <a:solidFill>
                            <a:srgbClr val="082B52"/>
                          </a:solidFill>
                          <a:latin typeface="Cambria Math" panose="02040503050406030204" pitchFamily="18" charset="0"/>
                        </a:rPr>
                        <m:t>+</m:t>
                      </m:r>
                      <m:sSub>
                        <m:sSubPr>
                          <m:ctrlPr>
                            <a:rPr lang="ja-JP" altLang="en-US" sz="4800" b="1" i="1" dirty="0" err="1">
                              <a:solidFill>
                                <a:srgbClr val="F2B66B"/>
                              </a:solidFill>
                              <a:latin typeface="Cambria Math" panose="02040503050406030204" pitchFamily="18" charset="0"/>
                            </a:rPr>
                          </m:ctrlPr>
                        </m:sSubPr>
                        <m:e>
                          <m:r>
                            <a:rPr lang="ja-JP" altLang="en-US" sz="4800" b="1" i="1" dirty="0" err="1">
                              <a:solidFill>
                                <a:srgbClr val="F2B66B"/>
                              </a:solidFill>
                              <a:latin typeface="Cambria Math" panose="02040503050406030204" pitchFamily="18" charset="0"/>
                            </a:rPr>
                            <m:t>𝒃</m:t>
                          </m:r>
                        </m:e>
                        <m:sub>
                          <m:r>
                            <a:rPr lang="ja-JP" altLang="en-US" sz="4800" b="1" i="1" dirty="0" err="1">
                              <a:solidFill>
                                <a:srgbClr val="F2B66B"/>
                              </a:solidFill>
                              <a:latin typeface="Cambria Math" panose="02040503050406030204" pitchFamily="18" charset="0"/>
                            </a:rPr>
                            <m:t>𝒄𝒂𝒔𝒆</m:t>
                          </m:r>
                        </m:sub>
                      </m:sSub>
                      <m:r>
                        <a:rPr lang="ja-JP" altLang="en-US" sz="4800" b="1" i="1" dirty="0">
                          <a:solidFill>
                            <a:srgbClr val="F2B66B"/>
                          </a:solidFill>
                          <a:latin typeface="Cambria Math" panose="02040503050406030204" pitchFamily="18" charset="0"/>
                        </a:rPr>
                        <m:t> </m:t>
                      </m:r>
                    </m:oMath>
                  </m:oMathPara>
                </a14:m>
                <a:endParaRPr sz="4800" dirty="0"/>
              </a:p>
            </p:txBody>
          </p:sp>
        </mc:Choice>
        <mc:Fallback xmlns="">
          <p:sp>
            <p:nvSpPr>
              <p:cNvPr id="65" name="TextBox 5">
                <a:extLst>
                  <a:ext uri="{FF2B5EF4-FFF2-40B4-BE49-F238E27FC236}">
                    <a16:creationId xmlns:a16="http://schemas.microsoft.com/office/drawing/2014/main" id="{931F66EB-B5E0-F6D1-15E4-26E467FF6666}"/>
                  </a:ext>
                </a:extLst>
              </p:cNvPr>
              <p:cNvSpPr txBox="1">
                <a:spLocks noRot="1" noChangeAspect="1" noMove="1" noResize="1" noEditPoints="1" noAdjustHandles="1" noChangeArrowheads="1" noChangeShapeType="1" noTextEdit="1"/>
              </p:cNvSpPr>
              <p:nvPr/>
            </p:nvSpPr>
            <p:spPr>
              <a:xfrm>
                <a:off x="7161047" y="3314700"/>
                <a:ext cx="10060318" cy="863954"/>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F36C4E8E-6213-C83C-E4A8-62919192B1F0}"/>
                  </a:ext>
                </a:extLst>
              </p:cNvPr>
              <p:cNvSpPr txBox="1"/>
              <p:nvPr/>
            </p:nvSpPr>
            <p:spPr>
              <a:xfrm>
                <a:off x="548640" y="6685280"/>
                <a:ext cx="12195810" cy="698846"/>
              </a:xfrm>
              <a:prstGeom prst="rect">
                <a:avLst/>
              </a:prstGeom>
              <a:noFill/>
            </p:spPr>
            <p:txBody>
              <a:bodyPr wrap="square">
                <a:spAutoFit/>
              </a:bodyPr>
              <a:lstStyle/>
              <a:p>
                <a:pPr/>
                <a14:m>
                  <m:oMathPara xmlns:m="http://schemas.openxmlformats.org/officeDocument/2006/math">
                    <m:oMath>
                      <m:r>
                        <a:rPr lang="ja-JP" altLang="en-US" sz="3600" b="1" i="0" dirty="0" smtClean="0">
                          <a:solidFill>
                            <a:srgbClr val="1B74AA"/>
                          </a:solidFill>
                          <a:latin typeface="Cambria Math" panose="02040503050406030204" pitchFamily="18" charset="0"/>
                        </a:rPr>
                        <m:t>𝚫</m:t>
                      </m:r>
                      <m:r>
                        <a:rPr lang="ja-JP" altLang="en-US" sz="3600" b="1" i="1" dirty="0" smtClean="0">
                          <a:solidFill>
                            <a:srgbClr val="1B74AA"/>
                          </a:solidFill>
                          <a:latin typeface="Cambria Math" panose="02040503050406030204" pitchFamily="18" charset="0"/>
                        </a:rPr>
                        <m:t>𝑻</m:t>
                      </m:r>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𝒔𝒖𝒏𝒇𝒂𝒄𝒆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𝒐𝒑𝒑𝒐𝒔𝒊𝒕𝒆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ja-JP" altLang="en-US" sz="3600" b="1" i="1" dirty="0">
                          <a:solidFill>
                            <a:srgbClr val="1B74AA"/>
                          </a:solidFill>
                          <a:latin typeface="Cambria Math" panose="02040503050406030204" pitchFamily="18" charset="0"/>
                        </a:rPr>
                        <m:t> </m:t>
                      </m:r>
                    </m:oMath>
                  </m:oMathPara>
                </a14:m>
                <a:endParaRPr lang="ja-JP" altLang="en-US" sz="3600" dirty="0"/>
              </a:p>
            </p:txBody>
          </p:sp>
        </mc:Choice>
        <mc:Fallback xmlns="">
          <p:sp>
            <p:nvSpPr>
              <p:cNvPr id="67" name="テキスト ボックス 66">
                <a:extLst>
                  <a:ext uri="{FF2B5EF4-FFF2-40B4-BE49-F238E27FC236}">
                    <a16:creationId xmlns:a16="http://schemas.microsoft.com/office/drawing/2014/main" id="{F36C4E8E-6213-C83C-E4A8-62919192B1F0}"/>
                  </a:ext>
                </a:extLst>
              </p:cNvPr>
              <p:cNvSpPr txBox="1">
                <a:spLocks noRot="1" noChangeAspect="1" noMove="1" noResize="1" noEditPoints="1" noAdjustHandles="1" noChangeArrowheads="1" noChangeShapeType="1" noTextEdit="1"/>
              </p:cNvSpPr>
              <p:nvPr/>
            </p:nvSpPr>
            <p:spPr>
              <a:xfrm>
                <a:off x="548640" y="6685280"/>
                <a:ext cx="12195810" cy="698846"/>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A3C40BCF-AE4C-9B60-387A-A45B239D9C97}"/>
                  </a:ext>
                </a:extLst>
              </p:cNvPr>
              <p:cNvSpPr txBox="1"/>
              <p:nvPr/>
            </p:nvSpPr>
            <p:spPr>
              <a:xfrm>
                <a:off x="11633200" y="6570980"/>
                <a:ext cx="13104495" cy="698846"/>
              </a:xfrm>
              <a:prstGeom prst="rect">
                <a:avLst/>
              </a:prstGeom>
              <a:noFill/>
            </p:spPr>
            <p:txBody>
              <a:bodyPr wrap="square">
                <a:spAutoFit/>
              </a:bodyPr>
              <a:lstStyle/>
              <a:p>
                <a:pPr algn="ctr"/>
                <a14:m>
                  <m:oMathPara xmlns:m="http://schemas.openxmlformats.org/officeDocument/2006/math">
                    <m:oMath>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err="1" smtClean="0">
                              <a:solidFill>
                                <a:srgbClr val="F2B66B"/>
                              </a:solidFill>
                              <a:latin typeface="Cambria Math" panose="02040503050406030204" pitchFamily="18" charset="0"/>
                            </a:rPr>
                            <m:t>𝒄𝒂𝒔𝒆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smtClean="0">
                              <a:solidFill>
                                <a:srgbClr val="F2B66B"/>
                              </a:solidFill>
                              <a:latin typeface="Cambria Math" panose="02040503050406030204" pitchFamily="18" charset="0"/>
                            </a:rPr>
                            <m:t>𝟎</m:t>
                          </m:r>
                          <m:r>
                            <a:rPr lang="en-US" altLang="ja-JP" sz="3600" b="1" i="1" dirty="0" smtClean="0">
                              <a:solidFill>
                                <a:srgbClr val="F2B66B"/>
                              </a:solidFill>
                              <a:latin typeface="Cambria Math" panose="02040503050406030204" pitchFamily="18" charset="0"/>
                            </a:rPr>
                            <m:t>,</m:t>
                          </m:r>
                          <m:r>
                            <a:rPr lang="en-US" altLang="ja-JP" sz="3600" b="1" i="1" dirty="0" smtClean="0">
                              <a:solidFill>
                                <a:srgbClr val="F2B66B"/>
                              </a:solidFill>
                              <a:latin typeface="Cambria Math" panose="02040503050406030204" pitchFamily="18" charset="0"/>
                            </a:rPr>
                            <m:t>𝒔𝒖𝒏𝒇𝒂𝒄𝒆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𝑷𝑹𝑶𝑷</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𝑷𝑹𝑶𝑷</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𝑷𝑪𝑫𝑼</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𝑷𝑪𝑫𝑼</m:t>
                          </m:r>
                        </m:sub>
                      </m:sSub>
                    </m:oMath>
                  </m:oMathPara>
                </a14:m>
                <a:endParaRPr lang="en-US" altLang="ja-JP" sz="3600" b="1" i="1" dirty="0">
                  <a:solidFill>
                    <a:srgbClr val="F2B66B"/>
                  </a:solidFill>
                  <a:latin typeface="Cambria Math" panose="02040503050406030204" pitchFamily="18" charset="0"/>
                </a:endParaRPr>
              </a:p>
            </p:txBody>
          </p:sp>
        </mc:Choice>
        <mc:Fallback xmlns="">
          <p:sp>
            <p:nvSpPr>
              <p:cNvPr id="69" name="テキスト ボックス 68">
                <a:extLst>
                  <a:ext uri="{FF2B5EF4-FFF2-40B4-BE49-F238E27FC236}">
                    <a16:creationId xmlns:a16="http://schemas.microsoft.com/office/drawing/2014/main" id="{A3C40BCF-AE4C-9B60-387A-A45B239D9C97}"/>
                  </a:ext>
                </a:extLst>
              </p:cNvPr>
              <p:cNvSpPr txBox="1">
                <a:spLocks noRot="1" noChangeAspect="1" noMove="1" noResize="1" noEditPoints="1" noAdjustHandles="1" noChangeArrowheads="1" noChangeShapeType="1" noTextEdit="1"/>
              </p:cNvSpPr>
              <p:nvPr/>
            </p:nvSpPr>
            <p:spPr>
              <a:xfrm>
                <a:off x="11633200" y="6570980"/>
                <a:ext cx="13104495" cy="698846"/>
              </a:xfrm>
              <a:prstGeom prst="rect">
                <a:avLst/>
              </a:prstGeom>
              <a:blipFill>
                <a:blip r:embed="rId5"/>
                <a:stretch>
                  <a:fillRect/>
                </a:stretch>
              </a:blipFill>
            </p:spPr>
            <p:txBody>
              <a:bodyPr/>
              <a:lstStyle/>
              <a:p>
                <a:r>
                  <a:rPr lang="ja-JP" altLang="en-US">
                    <a:noFill/>
                  </a:rPr>
                  <a:t> </a:t>
                </a:r>
              </a:p>
            </p:txBody>
          </p:sp>
        </mc:Fallback>
      </mc:AlternateContent>
      <p:sp>
        <p:nvSpPr>
          <p:cNvPr id="73" name="テキスト ボックス 72">
            <a:extLst>
              <a:ext uri="{FF2B5EF4-FFF2-40B4-BE49-F238E27FC236}">
                <a16:creationId xmlns:a16="http://schemas.microsoft.com/office/drawing/2014/main" id="{91EF2A0F-5545-F390-13C5-181EFF721AD9}"/>
              </a:ext>
            </a:extLst>
          </p:cNvPr>
          <p:cNvSpPr txBox="1"/>
          <p:nvPr/>
        </p:nvSpPr>
        <p:spPr>
          <a:xfrm>
            <a:off x="5969393" y="10890265"/>
            <a:ext cx="12443625" cy="2062103"/>
          </a:xfrm>
          <a:prstGeom prst="rect">
            <a:avLst/>
          </a:prstGeom>
          <a:noFill/>
        </p:spPr>
        <p:txBody>
          <a:bodyPr wrap="square" rtlCol="0">
            <a:spAutoFit/>
          </a:bodyPr>
          <a:lstStyle/>
          <a:p>
            <a:pPr algn="ctr"/>
            <a:r>
              <a:rPr kumimoji="1" lang="en-US" altLang="ja-JP" sz="3200" i="1" dirty="0"/>
              <a:t>Dom</a:t>
            </a:r>
            <a:r>
              <a:rPr kumimoji="1" lang="en-US" altLang="ja-JP" sz="3200" dirty="0"/>
              <a:t>inant LOS axis depends on the sun-facing panel:</a:t>
            </a:r>
          </a:p>
          <a:p>
            <a:pPr algn="ctr"/>
            <a:r>
              <a:rPr kumimoji="1" lang="en-US" altLang="ja-JP" sz="3200" dirty="0"/>
              <a:t>MX/PX → x-axis, MY/PY → y-axis</a:t>
            </a:r>
          </a:p>
          <a:p>
            <a:pPr algn="ctr"/>
            <a:endParaRPr kumimoji="1" lang="en-US" altLang="ja-JP" sz="3200" dirty="0"/>
          </a:p>
          <a:p>
            <a:pPr algn="ctr"/>
            <a:r>
              <a:rPr kumimoji="1" lang="en-US" altLang="ja-JP" sz="3200" dirty="0"/>
              <a:t>Non-dominant axis: Case-dependent offset only</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803400"/>
            <a:ext cx="21336000" cy="711200"/>
          </a:xfrm>
          <a:prstGeom prst="rect">
            <a:avLst/>
          </a:prstGeom>
          <a:noFill/>
        </p:spPr>
        <p:txBody>
          <a:bodyPr wrap="square" lIns="0" tIns="25400" rIns="0" bIns="25400" anchor="ctr">
            <a:noAutofit/>
          </a:bodyPr>
          <a:lstStyle/>
          <a:p>
            <a:pPr>
              <a:lnSpc>
                <a:spcPct val="110000"/>
              </a:lnSpc>
            </a:pPr>
            <a:r>
              <a:rPr lang="en-US" sz="3200" b="1" dirty="0">
                <a:solidFill>
                  <a:srgbClr val="082B52"/>
                </a:solidFill>
                <a:latin typeface="Arial" panose="020B0604020202020204" pitchFamily="34" charset="0"/>
                <a:ea typeface="Yu Gothic"/>
              </a:rPr>
              <a:t>The hierarchical model predicts unseen thermal LOS with a median </a:t>
            </a:r>
            <a:r>
              <a:rPr lang="en-US" altLang="ja-JP" sz="3200" b="1" dirty="0">
                <a:solidFill>
                  <a:srgbClr val="082B52"/>
                </a:solidFill>
                <a:latin typeface="Arial" panose="020B0604020202020204" pitchFamily="34" charset="0"/>
                <a:ea typeface="Yu Gothic"/>
              </a:rPr>
              <a:t>RMSE</a:t>
            </a:r>
            <a:r>
              <a:rPr lang="en-US" sz="3200" b="1" dirty="0">
                <a:solidFill>
                  <a:srgbClr val="082B52"/>
                </a:solidFill>
                <a:latin typeface="Arial" panose="020B0604020202020204" pitchFamily="34" charset="0"/>
                <a:ea typeface="Yu Gothic"/>
              </a:rPr>
              <a:t> of 4.9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16</a:t>
            </a:r>
            <a:endParaRPr sz="1800" b="0" dirty="0">
              <a:solidFill>
                <a:srgbClr val="666F79"/>
              </a:solidFill>
              <a:latin typeface="Arial" panose="020B0604020202020204" pitchFamily="34" charset="0"/>
              <a:ea typeface="Yu Gothic"/>
            </a:endParaRPr>
          </a:p>
        </p:txBody>
      </p:sp>
      <p:sp>
        <p:nvSpPr>
          <p:cNvPr id="22" name="テキスト ボックス 21">
            <a:extLst>
              <a:ext uri="{FF2B5EF4-FFF2-40B4-BE49-F238E27FC236}">
                <a16:creationId xmlns:a16="http://schemas.microsoft.com/office/drawing/2014/main" id="{06FF6BB2-0549-E90A-ECA4-F9252B9B5B95}"/>
              </a:ext>
            </a:extLst>
          </p:cNvPr>
          <p:cNvSpPr txBox="1"/>
          <p:nvPr/>
        </p:nvSpPr>
        <p:spPr>
          <a:xfrm>
            <a:off x="1168400" y="3251200"/>
            <a:ext cx="21336000" cy="1320800"/>
          </a:xfrm>
          <a:prstGeom prst="rect">
            <a:avLst/>
          </a:prstGeom>
          <a:noFill/>
        </p:spPr>
        <p:txBody>
          <a:bodyPr vert="horz" wrap="square" lIns="0" rIns="0" rtlCol="0">
            <a:noAutofit/>
          </a:bodyPr>
          <a:lstStyle/>
          <a:p>
            <a:r>
              <a:rPr kumimoji="1" lang="en-US" altLang="ja-JP" sz="3200" dirty="0">
                <a:solidFill>
                  <a:srgbClr val="232B34"/>
                </a:solidFill>
                <a:latin typeface="Arial" panose="020B0604020202020204" pitchFamily="34" charset="0"/>
              </a:rPr>
              <a:t>Leave-one-case-out validation: each test case is excluded from all coefficient estimation.</a:t>
            </a:r>
          </a:p>
          <a:p>
            <a:r>
              <a:rPr kumimoji="1" lang="en-US" altLang="ja-JP" sz="3200" dirty="0">
                <a:solidFill>
                  <a:srgbClr val="232B34"/>
                </a:solidFill>
                <a:latin typeface="Arial" panose="020B0604020202020204" pitchFamily="34" charset="0"/>
              </a:rPr>
              <a:t>The next two orbits are then predicted using the fixed model.</a:t>
            </a:r>
          </a:p>
        </p:txBody>
      </p:sp>
      <p:sp>
        <p:nvSpPr>
          <p:cNvPr id="25" name="四角形: 角を丸くする 24">
            <a:extLst>
              <a:ext uri="{FF2B5EF4-FFF2-40B4-BE49-F238E27FC236}">
                <a16:creationId xmlns:a16="http://schemas.microsoft.com/office/drawing/2014/main" id="{9330E7DE-5204-498E-9EBE-17B5C338C06F}"/>
              </a:ext>
            </a:extLst>
          </p:cNvPr>
          <p:cNvSpPr/>
          <p:nvPr/>
        </p:nvSpPr>
        <p:spPr>
          <a:xfrm>
            <a:off x="15849600" y="4157328"/>
            <a:ext cx="7747000" cy="2192671"/>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C75B16F-D397-DA24-9DB1-85F4EEC3BA59}"/>
              </a:ext>
            </a:extLst>
          </p:cNvPr>
          <p:cNvSpPr txBox="1"/>
          <p:nvPr/>
        </p:nvSpPr>
        <p:spPr>
          <a:xfrm>
            <a:off x="16052800" y="4419600"/>
            <a:ext cx="7340600" cy="1371600"/>
          </a:xfrm>
          <a:prstGeom prst="rect">
            <a:avLst/>
          </a:prstGeom>
          <a:noFill/>
        </p:spPr>
        <p:txBody>
          <a:bodyPr vert="horz" wrap="square" lIns="0" rIns="0" rtlCol="0">
            <a:noAutofit/>
          </a:bodyPr>
          <a:lstStyle/>
          <a:p>
            <a:pPr algn="ctr"/>
            <a:r>
              <a:rPr kumimoji="1" lang="en-US" altLang="ja-JP" sz="7200" b="1">
                <a:solidFill>
                  <a:srgbClr val="666F79"/>
                </a:solidFill>
                <a:latin typeface="Arial" panose="020B0604020202020204" pitchFamily="34" charset="0"/>
              </a:rPr>
              <a:t>615 µrad</a:t>
            </a:r>
            <a:endParaRPr kumimoji="1" lang="en-US" altLang="ja-JP" sz="7200" b="1" dirty="0">
              <a:solidFill>
                <a:srgbClr val="666F79"/>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C10C07CD-A6F9-3FCE-8582-012C9F26DF28}"/>
              </a:ext>
            </a:extLst>
          </p:cNvPr>
          <p:cNvSpPr txBox="1"/>
          <p:nvPr/>
        </p:nvSpPr>
        <p:spPr>
          <a:xfrm>
            <a:off x="16103600" y="565785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raw dominant-axis RMS</a:t>
            </a:r>
          </a:p>
        </p:txBody>
      </p:sp>
      <p:sp>
        <p:nvSpPr>
          <p:cNvPr id="28" name="四角形: 角を丸くする 27">
            <a:extLst>
              <a:ext uri="{FF2B5EF4-FFF2-40B4-BE49-F238E27FC236}">
                <a16:creationId xmlns:a16="http://schemas.microsoft.com/office/drawing/2014/main" id="{6F13F99B-2D36-4EA9-ED47-1DB495EE727A}"/>
              </a:ext>
            </a:extLst>
          </p:cNvPr>
          <p:cNvSpPr/>
          <p:nvPr/>
        </p:nvSpPr>
        <p:spPr>
          <a:xfrm>
            <a:off x="15849600" y="7340600"/>
            <a:ext cx="7747000" cy="3175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B2C59734-9378-31D2-8E2E-8D4180E9A6EA}"/>
              </a:ext>
            </a:extLst>
          </p:cNvPr>
          <p:cNvSpPr txBox="1"/>
          <p:nvPr/>
        </p:nvSpPr>
        <p:spPr>
          <a:xfrm>
            <a:off x="16052800" y="7797800"/>
            <a:ext cx="7340600" cy="1371600"/>
          </a:xfrm>
          <a:prstGeom prst="rect">
            <a:avLst/>
          </a:prstGeom>
          <a:noFill/>
        </p:spPr>
        <p:txBody>
          <a:bodyPr vert="horz" wrap="square" lIns="0" rIns="0" rtlCol="0">
            <a:noAutofit/>
          </a:bodyPr>
          <a:lstStyle/>
          <a:p>
            <a:pPr algn="ctr"/>
            <a:r>
              <a:rPr kumimoji="1" lang="en-US" altLang="ja-JP" sz="7200" b="1">
                <a:solidFill>
                  <a:srgbClr val="1B74AA"/>
                </a:solidFill>
                <a:latin typeface="Arial" panose="020B0604020202020204" pitchFamily="34" charset="0"/>
              </a:rPr>
              <a:t>4.9 µrad</a:t>
            </a:r>
            <a:endParaRPr kumimoji="1" lang="en-US" altLang="ja-JP" sz="7200" b="1" dirty="0">
              <a:solidFill>
                <a:srgbClr val="1B74AA"/>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F195AFA0-83B8-62D5-B548-EA478A83DCD0}"/>
              </a:ext>
            </a:extLst>
          </p:cNvPr>
          <p:cNvSpPr txBox="1"/>
          <p:nvPr/>
        </p:nvSpPr>
        <p:spPr>
          <a:xfrm>
            <a:off x="16103600" y="924560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a:t>
            </a:r>
            <a:r>
              <a:rPr kumimoji="1" lang="en-US" altLang="ja-JP" sz="2800" dirty="0">
                <a:solidFill>
                  <a:srgbClr val="FF0000"/>
                </a:solidFill>
                <a:latin typeface="Arial" panose="020B0604020202020204" pitchFamily="34" charset="0"/>
              </a:rPr>
              <a:t>prediction</a:t>
            </a:r>
            <a:r>
              <a:rPr kumimoji="1" lang="en-US" altLang="ja-JP" sz="2800" dirty="0">
                <a:solidFill>
                  <a:srgbClr val="232B34"/>
                </a:solidFill>
                <a:latin typeface="Arial" panose="020B0604020202020204" pitchFamily="34" charset="0"/>
              </a:rPr>
              <a:t> RMSE on unseen cases</a:t>
            </a:r>
          </a:p>
        </p:txBody>
      </p:sp>
      <p:sp>
        <p:nvSpPr>
          <p:cNvPr id="31" name="テキスト ボックス 30">
            <a:extLst>
              <a:ext uri="{FF2B5EF4-FFF2-40B4-BE49-F238E27FC236}">
                <a16:creationId xmlns:a16="http://schemas.microsoft.com/office/drawing/2014/main" id="{C33686D3-FEB9-CFB4-A43A-CEAB9698A499}"/>
              </a:ext>
            </a:extLst>
          </p:cNvPr>
          <p:cNvSpPr txBox="1"/>
          <p:nvPr/>
        </p:nvSpPr>
        <p:spPr>
          <a:xfrm>
            <a:off x="812800" y="11099800"/>
            <a:ext cx="22860000" cy="812800"/>
          </a:xfrm>
          <a:prstGeom prst="rect">
            <a:avLst/>
          </a:prstGeom>
          <a:noFill/>
        </p:spPr>
        <p:txBody>
          <a:bodyPr vert="horz" wrap="square" lIns="0" rIns="0" rtlCol="0">
            <a:noAutofit/>
          </a:bodyPr>
          <a:lstStyle/>
          <a:p>
            <a:pPr algn="ctr"/>
            <a:r>
              <a:rPr kumimoji="1" lang="en-US" altLang="ja-JP" sz="3200" b="1" dirty="0">
                <a:solidFill>
                  <a:srgbClr val="082B52"/>
                </a:solidFill>
                <a:latin typeface="Arial" panose="020B0604020202020204" pitchFamily="34" charset="0"/>
              </a:rPr>
              <a:t>The prediction residual is roughly one to two orders of magnitude smaller than the raw thermal </a:t>
            </a:r>
            <a:r>
              <a:rPr kumimoji="1" lang="en-US" altLang="ja-JP" sz="3200" b="1">
                <a:solidFill>
                  <a:srgbClr val="082B52"/>
                </a:solidFill>
                <a:latin typeface="Arial" panose="020B0604020202020204" pitchFamily="34" charset="0"/>
              </a:rPr>
              <a:t>LOS.</a:t>
            </a:r>
            <a:endParaRPr kumimoji="1" lang="en-US" altLang="ja-JP" sz="3200" b="1" dirty="0">
              <a:solidFill>
                <a:srgbClr val="082B5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E2DCBE9C-C98D-1628-793A-90143D925CDA}"/>
              </a:ext>
            </a:extLst>
          </p:cNvPr>
          <p:cNvSpPr txBox="1"/>
          <p:nvPr/>
        </p:nvSpPr>
        <p:spPr>
          <a:xfrm>
            <a:off x="812800" y="12217400"/>
            <a:ext cx="22860000" cy="508000"/>
          </a:xfrm>
          <a:prstGeom prst="rect">
            <a:avLst/>
          </a:prstGeom>
          <a:noFill/>
        </p:spPr>
        <p:txBody>
          <a:bodyPr vert="horz" wrap="square" rtlCol="0">
            <a:noAutofit/>
          </a:bodyPr>
          <a:lstStyle/>
          <a:p>
            <a:pPr algn="ctr"/>
            <a:r>
              <a:rPr kumimoji="1" lang="en-US" altLang="ja-JP" sz="2800" dirty="0">
                <a:solidFill>
                  <a:srgbClr val="666F79"/>
                </a:solidFill>
                <a:latin typeface="Arial" panose="020B0604020202020204" pitchFamily="34" charset="0"/>
              </a:rPr>
              <a:t>Evaluated within the same spacecraft structure and LOS </a:t>
            </a:r>
            <a:r>
              <a:rPr kumimoji="1" lang="en-US" altLang="ja-JP" sz="2800">
                <a:solidFill>
                  <a:srgbClr val="666F79"/>
                </a:solidFill>
                <a:latin typeface="Arial" panose="020B0604020202020204" pitchFamily="34" charset="0"/>
              </a:rPr>
              <a:t>definition.</a:t>
            </a:r>
            <a:endParaRPr kumimoji="1" lang="en-US" altLang="ja-JP" sz="2800" dirty="0">
              <a:solidFill>
                <a:srgbClr val="666F79"/>
              </a:solidFill>
              <a:latin typeface="Arial" panose="020B0604020202020204" pitchFamily="34" charset="0"/>
            </a:endParaRPr>
          </a:p>
        </p:txBody>
      </p:sp>
      <p:pic>
        <p:nvPicPr>
          <p:cNvPr id="39" name="図 38">
            <a:extLst>
              <a:ext uri="{FF2B5EF4-FFF2-40B4-BE49-F238E27FC236}">
                <a16:creationId xmlns:a16="http://schemas.microsoft.com/office/drawing/2014/main" id="{4E03188F-D841-375E-AAC3-7FF09731EEC8}"/>
              </a:ext>
            </a:extLst>
          </p:cNvPr>
          <p:cNvPicPr>
            <a:picLocks/>
          </p:cNvPicPr>
          <p:nvPr/>
        </p:nvPicPr>
        <p:blipFill>
          <a:blip r:embed="rId3"/>
          <a:stretch>
            <a:fillRect/>
          </a:stretch>
        </p:blipFill>
        <p:spPr>
          <a:xfrm>
            <a:off x="609600" y="4165600"/>
            <a:ext cx="14732000" cy="6489700"/>
          </a:xfrm>
          <a:prstGeom prst="rect">
            <a:avLst/>
          </a:prstGeom>
        </p:spPr>
      </p:pic>
      <p:sp>
        <p:nvSpPr>
          <p:cNvPr id="40" name="矢印: 下 39">
            <a:extLst>
              <a:ext uri="{FF2B5EF4-FFF2-40B4-BE49-F238E27FC236}">
                <a16:creationId xmlns:a16="http://schemas.microsoft.com/office/drawing/2014/main" id="{5E505C25-17E9-800A-12C3-13D6CDDB30D1}"/>
              </a:ext>
            </a:extLst>
          </p:cNvPr>
          <p:cNvSpPr/>
          <p:nvPr/>
        </p:nvSpPr>
        <p:spPr>
          <a:xfrm>
            <a:off x="19202400" y="6572250"/>
            <a:ext cx="1085850" cy="6738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Coarse-acquisition evaluation</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
        <p:nvSpPr>
          <p:cNvPr id="6" name="テキスト ボックス 5">
            <a:extLst>
              <a:ext uri="{FF2B5EF4-FFF2-40B4-BE49-F238E27FC236}">
                <a16:creationId xmlns:a16="http://schemas.microsoft.com/office/drawing/2014/main" id="{EB85C39D-26C2-FF8A-6AD3-C2430D8D39CB}"/>
              </a:ext>
            </a:extLst>
          </p:cNvPr>
          <p:cNvSpPr txBox="1"/>
          <p:nvPr/>
        </p:nvSpPr>
        <p:spPr>
          <a:xfrm>
            <a:off x="2311400" y="2502932"/>
            <a:ext cx="3200400" cy="1569660"/>
          </a:xfrm>
          <a:prstGeom prst="rect">
            <a:avLst/>
          </a:prstGeom>
          <a:noFill/>
        </p:spPr>
        <p:txBody>
          <a:bodyPr wrap="square" rtlCol="0">
            <a:spAutoFit/>
          </a:bodyPr>
          <a:lstStyle/>
          <a:p>
            <a:r>
              <a:rPr kumimoji="1" lang="ja-JP" altLang="en-US" sz="4800" dirty="0">
                <a:solidFill>
                  <a:srgbClr val="FF0000"/>
                </a:solidFill>
              </a:rPr>
              <a:t>ここまで約</a:t>
            </a:r>
            <a:r>
              <a:rPr kumimoji="1" lang="en-US" altLang="ja-JP" sz="4800" dirty="0">
                <a:solidFill>
                  <a:srgbClr val="FF0000"/>
                </a:solidFill>
              </a:rPr>
              <a:t>9</a:t>
            </a:r>
            <a:r>
              <a:rPr kumimoji="1" lang="ja-JP" altLang="en-US" sz="4800" dirty="0">
                <a:solidFill>
                  <a:srgbClr val="FF0000"/>
                </a:solidFill>
              </a:rPr>
              <a:t>分</a:t>
            </a:r>
          </a:p>
        </p:txBody>
      </p:sp>
    </p:spTree>
    <p:extLst>
      <p:ext uri="{BB962C8B-B14F-4D97-AF65-F5344CB8AC3E}">
        <p14:creationId xmlns:p14="http://schemas.microsoft.com/office/powerpoint/2010/main" val="3389633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7420"/>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the scan-center error before acquisition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18</a:t>
            </a:r>
            <a:endParaRPr sz="1800" b="0" dirty="0">
              <a:solidFill>
                <a:srgbClr val="666F79"/>
              </a:solidFill>
              <a:latin typeface="Arial" panose="020B0604020202020204" pitchFamily="34" charset="0"/>
              <a:ea typeface="Yu Gothic"/>
            </a:endParaRPr>
          </a:p>
        </p:txBody>
      </p:sp>
      <p:sp>
        <p:nvSpPr>
          <p:cNvPr id="24" name="テキスト ボックス 23">
            <a:extLst>
              <a:ext uri="{FF2B5EF4-FFF2-40B4-BE49-F238E27FC236}">
                <a16:creationId xmlns:a16="http://schemas.microsoft.com/office/drawing/2014/main" id="{675C5842-DCD9-A659-788A-AE50A5363437}"/>
              </a:ext>
            </a:extLst>
          </p:cNvPr>
          <p:cNvSpPr txBox="1"/>
          <p:nvPr/>
        </p:nvSpPr>
        <p:spPr>
          <a:xfrm>
            <a:off x="-1385343" y="4517816"/>
            <a:ext cx="22352000" cy="5588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Scan-center error    ·Nonthermal pointing errors    True thermal LOS    ·    Predicted thermal LOS</a:t>
            </a:r>
          </a:p>
        </p:txBody>
      </p:sp>
      <p:sp>
        <p:nvSpPr>
          <p:cNvPr id="25" name="四角形: 角を丸くする 24">
            <a:extLst>
              <a:ext uri="{FF2B5EF4-FFF2-40B4-BE49-F238E27FC236}">
                <a16:creationId xmlns:a16="http://schemas.microsoft.com/office/drawing/2014/main" id="{35122DDD-2BE4-3692-3849-176071055CCF}"/>
              </a:ext>
            </a:extLst>
          </p:cNvPr>
          <p:cNvSpPr/>
          <p:nvPr/>
        </p:nvSpPr>
        <p:spPr>
          <a:xfrm>
            <a:off x="8128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4D2E6F81-C4CA-5898-5C2D-354B079DB350}"/>
              </a:ext>
            </a:extLst>
          </p:cNvPr>
          <p:cNvSpPr txBox="1"/>
          <p:nvPr/>
        </p:nvSpPr>
        <p:spPr>
          <a:xfrm>
            <a:off x="10160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Thermal LOS residual</a:t>
            </a:r>
            <a:br>
              <a:rPr kumimoji="1" lang="en-US" altLang="ja-JP" sz="3200" dirty="0">
                <a:solidFill>
                  <a:srgbClr val="232B34"/>
                </a:solidFill>
                <a:latin typeface="Arial" panose="020B0604020202020204" pitchFamily="34" charset="0"/>
              </a:rPr>
            </a:br>
            <a:r>
              <a:rPr kumimoji="1" lang="en-US" altLang="ja-JP" sz="3200" dirty="0">
                <a:solidFill>
                  <a:srgbClr val="232B34"/>
                </a:solidFill>
                <a:latin typeface="Arial" panose="020B0604020202020204" pitchFamily="34" charset="0"/>
              </a:rPr>
              <a:t>+ </a:t>
            </a:r>
            <a:r>
              <a:rPr kumimoji="1" lang="en-US" altLang="ja-JP" sz="3200">
                <a:solidFill>
                  <a:srgbClr val="232B34"/>
                </a:solidFill>
                <a:latin typeface="Arial" panose="020B0604020202020204" pitchFamily="34" charset="0"/>
              </a:rPr>
              <a:t>nonthermal errors</a:t>
            </a:r>
            <a:endParaRPr kumimoji="1" lang="en-US" altLang="ja-JP" sz="3200" dirty="0">
              <a:solidFill>
                <a:srgbClr val="232B34"/>
              </a:solidFill>
              <a:latin typeface="Arial" panose="020B0604020202020204" pitchFamily="34" charset="0"/>
            </a:endParaRPr>
          </a:p>
        </p:txBody>
      </p:sp>
      <p:sp>
        <p:nvSpPr>
          <p:cNvPr id="28" name="四角形: 角を丸くする 27">
            <a:extLst>
              <a:ext uri="{FF2B5EF4-FFF2-40B4-BE49-F238E27FC236}">
                <a16:creationId xmlns:a16="http://schemas.microsoft.com/office/drawing/2014/main" id="{CCAD04CB-CF06-6E94-FBC9-9821EB0702A4}"/>
              </a:ext>
            </a:extLst>
          </p:cNvPr>
          <p:cNvSpPr/>
          <p:nvPr/>
        </p:nvSpPr>
        <p:spPr>
          <a:xfrm>
            <a:off x="88900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83524872-8790-24D3-AE6A-9BCBF0C9C4DF}"/>
              </a:ext>
            </a:extLst>
          </p:cNvPr>
          <p:cNvSpPr txBox="1"/>
          <p:nvPr/>
        </p:nvSpPr>
        <p:spPr>
          <a:xfrm>
            <a:off x="90932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Rectangular </a:t>
            </a:r>
            <a:r>
              <a:rPr kumimoji="1" lang="en-US" altLang="ja-JP" sz="3200">
                <a:solidFill>
                  <a:srgbClr val="232B34"/>
                </a:solidFill>
                <a:latin typeface="Arial" panose="020B0604020202020204" pitchFamily="34" charset="0"/>
              </a:rPr>
              <a:t>spiral scan</a:t>
            </a:r>
            <a:endParaRPr kumimoji="1" lang="en-US" altLang="ja-JP" sz="3200" dirty="0">
              <a:solidFill>
                <a:srgbClr val="232B34"/>
              </a:solidFill>
              <a:latin typeface="Arial" panose="020B0604020202020204" pitchFamily="34" charset="0"/>
            </a:endParaRPr>
          </a:p>
        </p:txBody>
      </p:sp>
      <p:sp>
        <p:nvSpPr>
          <p:cNvPr id="33" name="四角形: 角を丸くする 32">
            <a:extLst>
              <a:ext uri="{FF2B5EF4-FFF2-40B4-BE49-F238E27FC236}">
                <a16:creationId xmlns:a16="http://schemas.microsoft.com/office/drawing/2014/main" id="{6F3BEA4E-BFF5-A67A-EADF-77B9F32E4586}"/>
              </a:ext>
            </a:extLst>
          </p:cNvPr>
          <p:cNvSpPr/>
          <p:nvPr/>
        </p:nvSpPr>
        <p:spPr>
          <a:xfrm>
            <a:off x="169672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EF46721-AD03-8DC6-5477-691640E1525A}"/>
              </a:ext>
            </a:extLst>
          </p:cNvPr>
          <p:cNvSpPr txBox="1"/>
          <p:nvPr/>
        </p:nvSpPr>
        <p:spPr>
          <a:xfrm>
            <a:off x="171704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Acquisition time </a:t>
            </a:r>
            <a:r>
              <a:rPr kumimoji="1" lang="en-US" altLang="ja-JP" sz="3200">
                <a:solidFill>
                  <a:srgbClr val="232B34"/>
                </a:solidFill>
                <a:latin typeface="Arial" panose="020B0604020202020204" pitchFamily="34" charset="0"/>
              </a:rPr>
              <a:t>and success</a:t>
            </a:r>
            <a:endParaRPr kumimoji="1" lang="en-US" altLang="ja-JP" sz="3200" dirty="0">
              <a:solidFill>
                <a:srgbClr val="232B34"/>
              </a:solidFill>
              <a:latin typeface="Arial" panose="020B0604020202020204" pitchFamily="34" charset="0"/>
            </a:endParaRPr>
          </a:p>
        </p:txBody>
      </p:sp>
      <p:sp>
        <p:nvSpPr>
          <p:cNvPr id="35" name="矢印: 右 34">
            <a:extLst>
              <a:ext uri="{FF2B5EF4-FFF2-40B4-BE49-F238E27FC236}">
                <a16:creationId xmlns:a16="http://schemas.microsoft.com/office/drawing/2014/main" id="{BDC4C066-5B88-10F0-F1AB-7F703D86FD5C}"/>
              </a:ext>
            </a:extLst>
          </p:cNvPr>
          <p:cNvSpPr/>
          <p:nvPr/>
        </p:nvSpPr>
        <p:spPr>
          <a:xfrm>
            <a:off x="75692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右 36">
            <a:extLst>
              <a:ext uri="{FF2B5EF4-FFF2-40B4-BE49-F238E27FC236}">
                <a16:creationId xmlns:a16="http://schemas.microsoft.com/office/drawing/2014/main" id="{C19EAE89-073C-E998-ABB6-A1B070B6ED56}"/>
              </a:ext>
            </a:extLst>
          </p:cNvPr>
          <p:cNvSpPr/>
          <p:nvPr/>
        </p:nvSpPr>
        <p:spPr>
          <a:xfrm>
            <a:off x="156464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57437F3B-F74E-615E-C016-FF5EE407BCBC}"/>
              </a:ext>
            </a:extLst>
          </p:cNvPr>
          <p:cNvSpPr/>
          <p:nvPr/>
        </p:nvSpPr>
        <p:spPr>
          <a:xfrm>
            <a:off x="8128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D972B8E-C965-A3AB-3194-BCDE3D727D4A}"/>
              </a:ext>
            </a:extLst>
          </p:cNvPr>
          <p:cNvSpPr txBox="1"/>
          <p:nvPr/>
        </p:nvSpPr>
        <p:spPr>
          <a:xfrm>
            <a:off x="9652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a:t>
            </a:r>
            <a:r>
              <a:rPr kumimoji="1" lang="en-US" altLang="ja-JP" sz="4400" b="1">
                <a:solidFill>
                  <a:srgbClr val="082B52"/>
                </a:solidFill>
                <a:latin typeface="Arial" panose="020B0604020202020204" pitchFamily="34" charset="0"/>
              </a:rPr>
              <a:t>1600 µrad</a:t>
            </a:r>
            <a:endParaRPr kumimoji="1" lang="en-US" altLang="ja-JP" sz="4400" b="1" dirty="0">
              <a:solidFill>
                <a:srgbClr val="082B52"/>
              </a:solidFill>
              <a:latin typeface="Arial" panose="020B0604020202020204" pitchFamily="34" charset="0"/>
            </a:endParaRPr>
          </a:p>
        </p:txBody>
      </p:sp>
      <p:sp>
        <p:nvSpPr>
          <p:cNvPr id="40" name="テキスト ボックス 39">
            <a:extLst>
              <a:ext uri="{FF2B5EF4-FFF2-40B4-BE49-F238E27FC236}">
                <a16:creationId xmlns:a16="http://schemas.microsoft.com/office/drawing/2014/main" id="{F4A1E820-9BFE-0A1B-ACF9-4669432194FC}"/>
              </a:ext>
            </a:extLst>
          </p:cNvPr>
          <p:cNvSpPr txBox="1"/>
          <p:nvPr/>
        </p:nvSpPr>
        <p:spPr>
          <a:xfrm>
            <a:off x="9652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range</a:t>
            </a:r>
            <a:endParaRPr kumimoji="1" lang="en-US" altLang="ja-JP" sz="3200" dirty="0">
              <a:solidFill>
                <a:srgbClr val="232B34"/>
              </a:solidFill>
              <a:latin typeface="Arial" panose="020B0604020202020204" pitchFamily="34" charset="0"/>
            </a:endParaRPr>
          </a:p>
        </p:txBody>
      </p:sp>
      <p:sp>
        <p:nvSpPr>
          <p:cNvPr id="41" name="四角形: 角を丸くする 40">
            <a:extLst>
              <a:ext uri="{FF2B5EF4-FFF2-40B4-BE49-F238E27FC236}">
                <a16:creationId xmlns:a16="http://schemas.microsoft.com/office/drawing/2014/main" id="{742B04A1-B101-B7C6-60D3-7028B463ED4B}"/>
              </a:ext>
            </a:extLst>
          </p:cNvPr>
          <p:cNvSpPr/>
          <p:nvPr/>
        </p:nvSpPr>
        <p:spPr>
          <a:xfrm>
            <a:off x="65786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CF0A08AF-F305-A5DA-A519-E4E011803761}"/>
              </a:ext>
            </a:extLst>
          </p:cNvPr>
          <p:cNvSpPr txBox="1"/>
          <p:nvPr/>
        </p:nvSpPr>
        <p:spPr>
          <a:xfrm>
            <a:off x="67310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120 µrad</a:t>
            </a:r>
            <a:endParaRPr kumimoji="1" lang="en-US" altLang="ja-JP" sz="4400" b="1" dirty="0">
              <a:solidFill>
                <a:srgbClr val="082B52"/>
              </a:solidFill>
              <a:latin typeface="Arial" panose="020B0604020202020204" pitchFamily="34" charset="0"/>
            </a:endParaRPr>
          </a:p>
        </p:txBody>
      </p:sp>
      <p:sp>
        <p:nvSpPr>
          <p:cNvPr id="43" name="テキスト ボックス 42">
            <a:extLst>
              <a:ext uri="{FF2B5EF4-FFF2-40B4-BE49-F238E27FC236}">
                <a16:creationId xmlns:a16="http://schemas.microsoft.com/office/drawing/2014/main" id="{3A9E193F-F1A3-4ACA-A173-8EDBFD42D4C3}"/>
              </a:ext>
            </a:extLst>
          </p:cNvPr>
          <p:cNvSpPr txBox="1"/>
          <p:nvPr/>
        </p:nvSpPr>
        <p:spPr>
          <a:xfrm>
            <a:off x="67310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step</a:t>
            </a:r>
            <a:endParaRPr kumimoji="1" lang="en-US" altLang="ja-JP" sz="3200" dirty="0">
              <a:solidFill>
                <a:srgbClr val="232B34"/>
              </a:solidFill>
              <a:latin typeface="Arial" panose="020B0604020202020204" pitchFamily="34" charset="0"/>
            </a:endParaRPr>
          </a:p>
        </p:txBody>
      </p:sp>
      <p:sp>
        <p:nvSpPr>
          <p:cNvPr id="44" name="四角形: 角を丸くする 43">
            <a:extLst>
              <a:ext uri="{FF2B5EF4-FFF2-40B4-BE49-F238E27FC236}">
                <a16:creationId xmlns:a16="http://schemas.microsoft.com/office/drawing/2014/main" id="{6CF9140D-BB44-F400-B929-C899238A7488}"/>
              </a:ext>
            </a:extLst>
          </p:cNvPr>
          <p:cNvSpPr/>
          <p:nvPr/>
        </p:nvSpPr>
        <p:spPr>
          <a:xfrm>
            <a:off x="123444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266C109C-54FE-08C4-9055-7269BEFCA963}"/>
              </a:ext>
            </a:extLst>
          </p:cNvPr>
          <p:cNvSpPr txBox="1"/>
          <p:nvPr/>
        </p:nvSpPr>
        <p:spPr>
          <a:xfrm>
            <a:off x="124968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150 µrad</a:t>
            </a:r>
            <a:endParaRPr kumimoji="1" lang="en-US" altLang="ja-JP" sz="4400" b="1" dirty="0">
              <a:solidFill>
                <a:srgbClr val="082B52"/>
              </a:solidFill>
              <a:latin typeface="Arial" panose="020B0604020202020204" pitchFamily="34" charset="0"/>
            </a:endParaRPr>
          </a:p>
        </p:txBody>
      </p:sp>
      <p:sp>
        <p:nvSpPr>
          <p:cNvPr id="49" name="テキスト ボックス 48">
            <a:extLst>
              <a:ext uri="{FF2B5EF4-FFF2-40B4-BE49-F238E27FC236}">
                <a16:creationId xmlns:a16="http://schemas.microsoft.com/office/drawing/2014/main" id="{F1FC6BF4-C7BB-5D7F-9DC0-F2C041F7A3F5}"/>
              </a:ext>
            </a:extLst>
          </p:cNvPr>
          <p:cNvSpPr txBox="1"/>
          <p:nvPr/>
        </p:nvSpPr>
        <p:spPr>
          <a:xfrm>
            <a:off x="124968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Detection radius</a:t>
            </a:r>
            <a:endParaRPr kumimoji="1" lang="en-US" altLang="ja-JP" sz="3200" dirty="0">
              <a:solidFill>
                <a:srgbClr val="232B34"/>
              </a:solidFill>
              <a:latin typeface="Arial" panose="020B0604020202020204" pitchFamily="34" charset="0"/>
            </a:endParaRPr>
          </a:p>
        </p:txBody>
      </p:sp>
      <p:sp>
        <p:nvSpPr>
          <p:cNvPr id="51" name="四角形: 角を丸くする 50">
            <a:extLst>
              <a:ext uri="{FF2B5EF4-FFF2-40B4-BE49-F238E27FC236}">
                <a16:creationId xmlns:a16="http://schemas.microsoft.com/office/drawing/2014/main" id="{9C263403-3D4E-4E10-F598-4F4AE957ADF8}"/>
              </a:ext>
            </a:extLst>
          </p:cNvPr>
          <p:cNvSpPr/>
          <p:nvPr/>
        </p:nvSpPr>
        <p:spPr>
          <a:xfrm>
            <a:off x="181102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82D9D416-23AB-E81F-8CF6-A02DFA9777EB}"/>
              </a:ext>
            </a:extLst>
          </p:cNvPr>
          <p:cNvSpPr txBox="1"/>
          <p:nvPr/>
        </p:nvSpPr>
        <p:spPr>
          <a:xfrm>
            <a:off x="182626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0.1 s </a:t>
            </a:r>
            <a:r>
              <a:rPr kumimoji="1" lang="en-US" altLang="ja-JP" sz="4400" b="1">
                <a:solidFill>
                  <a:srgbClr val="082B52"/>
                </a:solidFill>
                <a:latin typeface="Arial" panose="020B0604020202020204" pitchFamily="34" charset="0"/>
              </a:rPr>
              <a:t>/ point</a:t>
            </a:r>
            <a:endParaRPr kumimoji="1" lang="en-US" altLang="ja-JP" sz="4400" b="1" dirty="0">
              <a:solidFill>
                <a:srgbClr val="082B52"/>
              </a:solidFill>
              <a:latin typeface="Arial" panose="020B0604020202020204" pitchFamily="34" charset="0"/>
            </a:endParaRPr>
          </a:p>
        </p:txBody>
      </p:sp>
      <p:sp>
        <p:nvSpPr>
          <p:cNvPr id="53" name="テキスト ボックス 52">
            <a:extLst>
              <a:ext uri="{FF2B5EF4-FFF2-40B4-BE49-F238E27FC236}">
                <a16:creationId xmlns:a16="http://schemas.microsoft.com/office/drawing/2014/main" id="{5EA84CD9-F25A-21B4-6E69-49404831622D}"/>
              </a:ext>
            </a:extLst>
          </p:cNvPr>
          <p:cNvSpPr txBox="1"/>
          <p:nvPr/>
        </p:nvSpPr>
        <p:spPr>
          <a:xfrm>
            <a:off x="182626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Dwell time</a:t>
            </a:r>
            <a:endParaRPr kumimoji="1" lang="en-US" altLang="ja-JP" sz="3200" dirty="0">
              <a:solidFill>
                <a:srgbClr val="232B34"/>
              </a:solidFill>
              <a:latin typeface="Arial" panose="020B0604020202020204" pitchFamily="34" charset="0"/>
            </a:endParaRPr>
          </a:p>
        </p:txBody>
      </p:sp>
      <p:sp>
        <p:nvSpPr>
          <p:cNvPr id="55" name="テキスト ボックス 54">
            <a:extLst>
              <a:ext uri="{FF2B5EF4-FFF2-40B4-BE49-F238E27FC236}">
                <a16:creationId xmlns:a16="http://schemas.microsoft.com/office/drawing/2014/main" id="{07ED7B7A-A629-4A76-3A90-23EB385C1916}"/>
              </a:ext>
            </a:extLst>
          </p:cNvPr>
          <p:cNvSpPr txBox="1"/>
          <p:nvPr/>
        </p:nvSpPr>
        <p:spPr>
          <a:xfrm>
            <a:off x="1016000" y="115973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No coverage holes: half the grid diagonal ≈ 85 µrad &lt; 150 µrad detection </a:t>
            </a:r>
            <a:r>
              <a:rPr kumimoji="1" lang="en-US" altLang="ja-JP" sz="2800">
                <a:solidFill>
                  <a:srgbClr val="666F79"/>
                </a:solidFill>
                <a:latin typeface="Arial" panose="020B0604020202020204" pitchFamily="34" charset="0"/>
              </a:rPr>
              <a:t>radius.</a:t>
            </a:r>
            <a:endParaRPr kumimoji="1" lang="en-US" altLang="ja-JP" sz="2800" dirty="0">
              <a:solidFill>
                <a:srgbClr val="666F79"/>
              </a:solidFill>
              <a:latin typeface="Arial" panose="020B0604020202020204" pitchFamily="34" charset="0"/>
            </a:endParaRPr>
          </a:p>
        </p:txBody>
      </p:sp>
      <p:sp>
        <p:nvSpPr>
          <p:cNvPr id="57" name="テキスト ボックス 56">
            <a:extLst>
              <a:ext uri="{FF2B5EF4-FFF2-40B4-BE49-F238E27FC236}">
                <a16:creationId xmlns:a16="http://schemas.microsoft.com/office/drawing/2014/main" id="{8626C565-7B50-9605-A002-E5DDE04CEAB2}"/>
              </a:ext>
            </a:extLst>
          </p:cNvPr>
          <p:cNvSpPr txBox="1"/>
          <p:nvPr/>
        </p:nvSpPr>
        <p:spPr>
          <a:xfrm>
            <a:off x="1016000" y="121561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Inter-point slew, settling time, and stochastic detection are </a:t>
            </a:r>
            <a:r>
              <a:rPr kumimoji="1" lang="en-US" altLang="ja-JP" sz="2800">
                <a:solidFill>
                  <a:srgbClr val="666F79"/>
                </a:solidFill>
                <a:latin typeface="Arial" panose="020B0604020202020204" pitchFamily="34" charset="0"/>
              </a:rPr>
              <a:t>neglected.</a:t>
            </a:r>
            <a:endParaRPr kumimoji="1" lang="en-US" altLang="ja-JP" sz="2800" dirty="0">
              <a:solidFill>
                <a:srgbClr val="666F79"/>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7" name="TextBox 5">
                <a:extLst>
                  <a:ext uri="{FF2B5EF4-FFF2-40B4-BE49-F238E27FC236}">
                    <a16:creationId xmlns:a16="http://schemas.microsoft.com/office/drawing/2014/main" id="{B2F8E3D3-81C0-1E44-CB8E-ECA1663B07EE}"/>
                  </a:ext>
                </a:extLst>
              </p:cNvPr>
              <p:cNvSpPr txBox="1"/>
              <p:nvPr/>
            </p:nvSpPr>
            <p:spPr>
              <a:xfrm>
                <a:off x="2295912" y="3605597"/>
                <a:ext cx="15483854" cy="89389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𝒔𝒄𝒂𝒏</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𝜽</m:t>
                          </m:r>
                        </m:e>
                        <m:sub>
                          <m:r>
                            <a:rPr lang="en-US" sz="4800" b="1" i="1" dirty="0" err="1" smtClean="0">
                              <a:solidFill>
                                <a:srgbClr val="082B52"/>
                              </a:solidFill>
                              <a:latin typeface="Cambria Math" panose="02040503050406030204" pitchFamily="18" charset="0"/>
                            </a:rPr>
                            <m:t>𝒕𝒉𝒆𝒓𝒎𝒂𝒍</m:t>
                          </m:r>
                          <m:r>
                            <a:rPr lang="en-US" sz="4800" b="1" i="1" dirty="0" smtClean="0">
                              <a:solidFill>
                                <a:srgbClr val="082B52"/>
                              </a:solidFill>
                              <a:latin typeface="Cambria Math" panose="02040503050406030204" pitchFamily="18" charset="0"/>
                            </a:rPr>
                            <m:t>, </m:t>
                          </m:r>
                          <m:r>
                            <a:rPr lang="en-US" sz="4800" b="1" i="1" dirty="0" smtClean="0">
                              <a:solidFill>
                                <a:srgbClr val="082B52"/>
                              </a:solidFill>
                              <a:latin typeface="Cambria Math" panose="02040503050406030204" pitchFamily="18" charset="0"/>
                            </a:rPr>
                            <m:t>𝒕𝒓𝒖𝒆</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r>
                        <a:rPr lang="en-US" sz="4800" b="1" i="1" dirty="0">
                          <a:solidFill>
                            <a:srgbClr val="082B52"/>
                          </a:solidFill>
                          <a:latin typeface="Cambria Math" panose="02040503050406030204" pitchFamily="18" charset="0"/>
                        </a:rPr>
                        <m:t>− </m:t>
                      </m:r>
                      <m:sSub>
                        <m:sSubPr>
                          <m:ctrlPr>
                            <a:rPr lang="en-US" sz="4800" b="1" i="1" dirty="0" err="1">
                              <a:solidFill>
                                <a:srgbClr val="082B52"/>
                              </a:solidFill>
                              <a:latin typeface="Cambria Math" panose="02040503050406030204" pitchFamily="18" charset="0"/>
                            </a:rPr>
                          </m:ctrlPr>
                        </m:sSubPr>
                        <m:e>
                          <m:acc>
                            <m:accPr>
                              <m:chr m:val="̂"/>
                              <m:ctrlPr>
                                <a:rPr lang="en-US" sz="4800" b="1" i="1" dirty="0" err="1">
                                  <a:solidFill>
                                    <a:srgbClr val="082B52"/>
                                  </a:solidFill>
                                  <a:latin typeface="Cambria Math" panose="02040503050406030204" pitchFamily="18" charset="0"/>
                                </a:rPr>
                              </m:ctrlPr>
                            </m:accPr>
                            <m:e>
                              <m:r>
                                <a:rPr lang="en-US" sz="4800" b="1" i="1" dirty="0" err="1">
                                  <a:solidFill>
                                    <a:srgbClr val="082B52"/>
                                  </a:solidFill>
                                  <a:latin typeface="Cambria Math" panose="02040503050406030204" pitchFamily="18" charset="0"/>
                                </a:rPr>
                                <m:t>𝜽</m:t>
                              </m:r>
                            </m:e>
                          </m:acc>
                        </m:e>
                        <m:sub>
                          <m:r>
                            <a:rPr lang="en-US" sz="4800" b="1" i="1" dirty="0" err="1" smtClean="0">
                              <a:solidFill>
                                <a:srgbClr val="082B52"/>
                              </a:solidFill>
                              <a:latin typeface="Cambria Math" panose="02040503050406030204" pitchFamily="18" charset="0"/>
                            </a:rPr>
                            <m:t>𝒕𝒉𝒆𝒓𝒎𝒂𝒍</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oMath>
                  </m:oMathPara>
                </a14:m>
                <a:endParaRPr lang="en-US" sz="4800" b="1" i="1" dirty="0">
                  <a:solidFill>
                    <a:srgbClr val="082B52"/>
                  </a:solidFill>
                  <a:latin typeface="Cambria Math" panose="02040503050406030204" pitchFamily="18" charset="0"/>
                </a:endParaRPr>
              </a:p>
            </p:txBody>
          </p:sp>
        </mc:Choice>
        <mc:Fallback xmlns="">
          <p:sp>
            <p:nvSpPr>
              <p:cNvPr id="77" name="TextBox 5">
                <a:extLst>
                  <a:ext uri="{FF2B5EF4-FFF2-40B4-BE49-F238E27FC236}">
                    <a16:creationId xmlns:a16="http://schemas.microsoft.com/office/drawing/2014/main" id="{B2F8E3D3-81C0-1E44-CB8E-ECA1663B07EE}"/>
                  </a:ext>
                </a:extLst>
              </p:cNvPr>
              <p:cNvSpPr txBox="1">
                <a:spLocks noRot="1" noChangeAspect="1" noMove="1" noResize="1" noEditPoints="1" noAdjustHandles="1" noChangeArrowheads="1" noChangeShapeType="1" noTextEdit="1"/>
              </p:cNvSpPr>
              <p:nvPr/>
            </p:nvSpPr>
            <p:spPr>
              <a:xfrm>
                <a:off x="2295912" y="3605597"/>
                <a:ext cx="15483854" cy="893899"/>
              </a:xfrm>
              <a:prstGeom prst="rect">
                <a:avLst/>
              </a:prstGeom>
              <a:blipFill>
                <a:blip r:embed="rId3"/>
                <a:stretch>
                  <a:fillRect/>
                </a:stretch>
              </a:blipFill>
            </p:spPr>
            <p:txBody>
              <a:bodyPr/>
              <a:lstStyle/>
              <a:p>
                <a:r>
                  <a:rPr lang="ja-JP" altLang="en-US">
                    <a:noFill/>
                  </a:rPr>
                  <a:t> </a:t>
                </a:r>
              </a:p>
            </p:txBody>
          </p:sp>
        </mc:Fallback>
      </mc:AlternateContent>
      <p:pic>
        <p:nvPicPr>
          <p:cNvPr id="79" name="図 78">
            <a:extLst>
              <a:ext uri="{FF2B5EF4-FFF2-40B4-BE49-F238E27FC236}">
                <a16:creationId xmlns:a16="http://schemas.microsoft.com/office/drawing/2014/main" id="{5AC411ED-DF28-70EC-BD22-B980F7ABCB24}"/>
              </a:ext>
            </a:extLst>
          </p:cNvPr>
          <p:cNvPicPr>
            <a:picLocks noChangeAspect="1"/>
          </p:cNvPicPr>
          <p:nvPr/>
        </p:nvPicPr>
        <p:blipFill>
          <a:blip r:embed="rId4"/>
          <a:stretch>
            <a:fillRect/>
          </a:stretch>
        </p:blipFill>
        <p:spPr>
          <a:xfrm>
            <a:off x="18949987" y="1815094"/>
            <a:ext cx="4621213" cy="416776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2938"/>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We include orbit, alignment, attitude, and drift errors in the acquisition evaluation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19</a:t>
            </a:r>
            <a:endParaRPr sz="1800" b="0" dirty="0">
              <a:solidFill>
                <a:srgbClr val="666F79"/>
              </a:solidFill>
              <a:latin typeface="Arial" panose="020B0604020202020204" pitchFamily="34" charset="0"/>
              <a:ea typeface="Yu Gothic"/>
            </a:endParaRPr>
          </a:p>
        </p:txBody>
      </p:sp>
      <p:graphicFrame>
        <p:nvGraphicFramePr>
          <p:cNvPr id="13" name="表 12">
            <a:extLst>
              <a:ext uri="{FF2B5EF4-FFF2-40B4-BE49-F238E27FC236}">
                <a16:creationId xmlns:a16="http://schemas.microsoft.com/office/drawing/2014/main" id="{C0ACC8E1-D0C7-EA93-5B8E-741058484602}"/>
              </a:ext>
            </a:extLst>
          </p:cNvPr>
          <p:cNvGraphicFramePr>
            <a:graphicFrameLocks noGrp="1"/>
          </p:cNvGraphicFramePr>
          <p:nvPr>
            <p:extLst>
              <p:ext uri="{D42A27DB-BD31-4B8C-83A1-F6EECF244321}">
                <p14:modId xmlns:p14="http://schemas.microsoft.com/office/powerpoint/2010/main" val="3640323695"/>
              </p:ext>
            </p:extLst>
          </p:nvPr>
        </p:nvGraphicFramePr>
        <p:xfrm>
          <a:off x="3175000" y="5484903"/>
          <a:ext cx="18034000" cy="584200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430506109"/>
                    </a:ext>
                  </a:extLst>
                </a:gridCol>
                <a:gridCol w="9906000">
                  <a:extLst>
                    <a:ext uri="{9D8B030D-6E8A-4147-A177-3AD203B41FA5}">
                      <a16:colId xmlns:a16="http://schemas.microsoft.com/office/drawing/2014/main" val="2795157317"/>
                    </a:ext>
                  </a:extLst>
                </a:gridCol>
              </a:tblGrid>
              <a:tr h="1168400">
                <a:tc>
                  <a:txBody>
                    <a:bodyPr/>
                    <a:lstStyle/>
                    <a:p>
                      <a:pPr algn="ctr"/>
                      <a:r>
                        <a:rPr kumimoji="1" lang="en-US" altLang="ja-JP" sz="3200" b="1">
                          <a:solidFill>
                            <a:srgbClr val="082B52"/>
                          </a:solidFill>
                          <a:latin typeface="Arial" panose="020B0604020202020204" pitchFamily="34" charset="0"/>
                        </a:rPr>
                        <a:t>Error source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a:solidFill>
                            <a:srgbClr val="082B52"/>
                          </a:solidFill>
                          <a:latin typeface="Arial" panose="020B0604020202020204" pitchFamily="34" charset="0"/>
                        </a:rPr>
                        <a:t>Magnitude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1150445863"/>
                  </a:ext>
                </a:extLst>
              </a:tr>
              <a:tr h="1168400">
                <a:tc>
                  <a:txBody>
                    <a:bodyPr/>
                    <a:lstStyle/>
                    <a:p>
                      <a:pPr algn="ctr"/>
                      <a:r>
                        <a:rPr kumimoji="1" lang="en-US" altLang="ja-JP" sz="3200" b="0">
                          <a:solidFill>
                            <a:srgbClr val="232B34"/>
                          </a:solidFill>
                          <a:latin typeface="Arial" panose="020B0604020202020204" pitchFamily="34" charset="0"/>
                        </a:rPr>
                        <a:t>Orbit prediction</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dirty="0">
                          <a:solidFill>
                            <a:srgbClr val="1B74AA"/>
                          </a:solidFill>
                          <a:latin typeface="Arial" panose="020B0604020202020204" pitchFamily="34" charset="0"/>
                        </a:rPr>
                        <a:t>Mean </a:t>
                      </a:r>
                      <a:r>
                        <a:rPr kumimoji="1" lang="en-US" altLang="ja-JP" sz="3200" b="1">
                          <a:solidFill>
                            <a:srgbClr val="1B74AA"/>
                          </a:solidFill>
                          <a:latin typeface="Arial" panose="020B0604020202020204" pitchFamily="34" charset="0"/>
                        </a:rPr>
                        <a:t>280–700 µrad</a:t>
                      </a:r>
                      <a:endParaRPr kumimoji="1" lang="en-US" altLang="ja-JP" sz="3200" b="1" dirty="0">
                        <a:solidFill>
                          <a:srgbClr val="1B74AA"/>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999867178"/>
                  </a:ext>
                </a:extLst>
              </a:tr>
              <a:tr h="1168400">
                <a:tc>
                  <a:txBody>
                    <a:bodyPr/>
                    <a:lstStyle/>
                    <a:p>
                      <a:pPr algn="ctr"/>
                      <a:r>
                        <a:rPr kumimoji="1" lang="en-US" altLang="ja-JP" sz="3200" b="0">
                          <a:solidFill>
                            <a:srgbClr val="232B34"/>
                          </a:solidFill>
                          <a:latin typeface="Arial" panose="020B0604020202020204" pitchFamily="34" charset="0"/>
                        </a:rPr>
                        <a:t>Alignment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731625157"/>
                  </a:ext>
                </a:extLst>
              </a:tr>
              <a:tr h="1168400">
                <a:tc>
                  <a:txBody>
                    <a:bodyPr/>
                    <a:lstStyle/>
                    <a:p>
                      <a:pPr algn="ctr"/>
                      <a:r>
                        <a:rPr kumimoji="1" lang="en-US" altLang="ja-JP" sz="3200" b="0">
                          <a:solidFill>
                            <a:srgbClr val="232B34"/>
                          </a:solidFill>
                          <a:latin typeface="Arial" panose="020B0604020202020204" pitchFamily="34" charset="0"/>
                        </a:rPr>
                        <a:t>Attitude</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944470620"/>
                  </a:ext>
                </a:extLst>
              </a:tr>
              <a:tr h="1168400">
                <a:tc>
                  <a:txBody>
                    <a:bodyPr/>
                    <a:lstStyle/>
                    <a:p>
                      <a:pPr algn="ctr"/>
                      <a:r>
                        <a:rPr kumimoji="1" lang="en-US" altLang="ja-JP" sz="3200" b="0">
                          <a:solidFill>
                            <a:srgbClr val="232B34"/>
                          </a:solidFill>
                          <a:latin typeface="Arial" panose="020B0604020202020204" pitchFamily="34" charset="0"/>
                        </a:rPr>
                        <a:t>Drift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30 µrad amplitude</a:t>
                      </a: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633072742"/>
                  </a:ext>
                </a:extLst>
              </a:tr>
            </a:tbl>
          </a:graphicData>
        </a:graphic>
      </p:graphicFrame>
      <p:sp>
        <p:nvSpPr>
          <p:cNvPr id="14" name="テキスト ボックス 13">
            <a:extLst>
              <a:ext uri="{FF2B5EF4-FFF2-40B4-BE49-F238E27FC236}">
                <a16:creationId xmlns:a16="http://schemas.microsoft.com/office/drawing/2014/main" id="{F1BE47D1-00FB-3C2F-2517-72B2281E8DB4}"/>
              </a:ext>
            </a:extLst>
          </p:cNvPr>
          <p:cNvSpPr txBox="1"/>
          <p:nvPr/>
        </p:nvSpPr>
        <p:spPr>
          <a:xfrm>
            <a:off x="1016000" y="11700433"/>
            <a:ext cx="22352000" cy="609600"/>
          </a:xfrm>
          <a:prstGeom prst="rect">
            <a:avLst/>
          </a:prstGeom>
          <a:noFill/>
        </p:spPr>
        <p:txBody>
          <a:bodyPr vert="horz" wrap="square" lIns="0" tIns="0" rIns="0" bIns="0" rtlCol="0" anchor="ctr">
            <a:noAutofit/>
          </a:bodyPr>
          <a:lstStyle/>
          <a:p>
            <a:pPr algn="ctr"/>
            <a:r>
              <a:rPr kumimoji="1" lang="en-US" altLang="ja-JP" sz="3200" b="1" dirty="0">
                <a:solidFill>
                  <a:srgbClr val="082B52"/>
                </a:solidFill>
                <a:latin typeface="Arial" panose="020B0604020202020204" pitchFamily="34" charset="0"/>
              </a:rPr>
              <a:t>Representative GNSS-denied LEO scenario — not a spacecraft-specific error budget.</a:t>
            </a:r>
          </a:p>
        </p:txBody>
      </p:sp>
      <p:sp>
        <p:nvSpPr>
          <p:cNvPr id="15" name="テキスト ボックス 14">
            <a:extLst>
              <a:ext uri="{FF2B5EF4-FFF2-40B4-BE49-F238E27FC236}">
                <a16:creationId xmlns:a16="http://schemas.microsoft.com/office/drawing/2014/main" id="{889D80FF-0406-03F1-6A4D-18482338098A}"/>
              </a:ext>
            </a:extLst>
          </p:cNvPr>
          <p:cNvSpPr txBox="1"/>
          <p:nvPr/>
        </p:nvSpPr>
        <p:spPr>
          <a:xfrm>
            <a:off x="1016000" y="12437033"/>
            <a:ext cx="22352000" cy="584200"/>
          </a:xfrm>
          <a:prstGeom prst="rect">
            <a:avLst/>
          </a:prstGeom>
          <a:noFill/>
        </p:spPr>
        <p:txBody>
          <a:bodyPr vert="horz" wrap="square" lIns="0" tIns="0" rIns="0" bIns="0" rtlCol="0" anchor="ctr">
            <a:noAutofit/>
          </a:bodyPr>
          <a:lstStyle/>
          <a:p>
            <a:pPr algn="ctr"/>
            <a:r>
              <a:rPr kumimoji="1" lang="en-US" altLang="ja-JP" sz="3200" dirty="0">
                <a:solidFill>
                  <a:srgbClr val="666F79"/>
                </a:solidFill>
                <a:latin typeface="Arial" panose="020B0604020202020204" pitchFamily="34" charset="0"/>
              </a:rPr>
              <a:t>Orbit error: TLE/SGP4 prediction vs. Sentinel-1 precise </a:t>
            </a:r>
            <a:r>
              <a:rPr kumimoji="1" lang="en-US" altLang="ja-JP" sz="3200">
                <a:solidFill>
                  <a:srgbClr val="666F79"/>
                </a:solidFill>
                <a:latin typeface="Arial" panose="020B0604020202020204" pitchFamily="34" charset="0"/>
              </a:rPr>
              <a:t>ephemeris.</a:t>
            </a:r>
            <a:endParaRPr kumimoji="1" lang="en-US" altLang="ja-JP" sz="3200" dirty="0">
              <a:solidFill>
                <a:srgbClr val="666F79"/>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17" name="TextBox 5">
                <a:extLst>
                  <a:ext uri="{FF2B5EF4-FFF2-40B4-BE49-F238E27FC236}">
                    <a16:creationId xmlns:a16="http://schemas.microsoft.com/office/drawing/2014/main" id="{877B3AB5-E05C-3982-5B86-493D685B53C1}"/>
                  </a:ext>
                </a:extLst>
              </p:cNvPr>
              <p:cNvSpPr txBox="1"/>
              <p:nvPr/>
            </p:nvSpPr>
            <p:spPr>
              <a:xfrm>
                <a:off x="4815793" y="3383280"/>
                <a:ext cx="14691458" cy="864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𝒐𝒓𝒃𝒊𝒕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𝒂𝒍𝒊𝒈𝒏𝒎𝒆𝒏𝒕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𝒂𝒕𝒕𝒊𝒕𝒖𝒅𝒆</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𝒅𝒓𝒊𝒇𝒕</m:t>
                          </m:r>
                        </m:sub>
                      </m:sSub>
                    </m:oMath>
                  </m:oMathPara>
                </a14:m>
                <a:endParaRPr lang="en-US" sz="4800" b="1" i="1" dirty="0" err="1">
                  <a:solidFill>
                    <a:srgbClr val="082B52"/>
                  </a:solidFill>
                  <a:latin typeface="Cambria Math" panose="02040503050406030204" pitchFamily="18" charset="0"/>
                </a:endParaRPr>
              </a:p>
            </p:txBody>
          </p:sp>
        </mc:Choice>
        <mc:Fallback xmlns="">
          <p:sp>
            <p:nvSpPr>
              <p:cNvPr id="17" name="TextBox 5">
                <a:extLst>
                  <a:ext uri="{FF2B5EF4-FFF2-40B4-BE49-F238E27FC236}">
                    <a16:creationId xmlns:a16="http://schemas.microsoft.com/office/drawing/2014/main" id="{877B3AB5-E05C-3982-5B86-493D685B53C1}"/>
                  </a:ext>
                </a:extLst>
              </p:cNvPr>
              <p:cNvSpPr txBox="1">
                <a:spLocks noRot="1" noChangeAspect="1" noMove="1" noResize="1" noEditPoints="1" noAdjustHandles="1" noChangeArrowheads="1" noChangeShapeType="1" noTextEdit="1"/>
              </p:cNvSpPr>
              <p:nvPr/>
            </p:nvSpPr>
            <p:spPr>
              <a:xfrm>
                <a:off x="4815793" y="3383280"/>
                <a:ext cx="14691458" cy="864019"/>
              </a:xfrm>
              <a:prstGeom prst="rect">
                <a:avLst/>
              </a:prstGeom>
              <a:blipFill>
                <a:blip r:embed="rId3"/>
                <a:stretch>
                  <a:fillRect/>
                </a:stretch>
              </a:blipFill>
            </p:spPr>
            <p:txBody>
              <a:bodyPr/>
              <a:lstStyle/>
              <a:p>
                <a:r>
                  <a:rPr lang="ja-JP" alt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75010"/>
            <a:ext cx="21844000" cy="6096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acquisition time across operating conditions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21</a:t>
            </a:r>
            <a:endParaRPr sz="1800" b="0" dirty="0">
              <a:solidFill>
                <a:srgbClr val="666F79"/>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73FDF8B9-5D7E-679E-1223-C845D75806E9}"/>
              </a:ext>
            </a:extLst>
          </p:cNvPr>
          <p:cNvPicPr>
            <a:picLocks/>
          </p:cNvPicPr>
          <p:nvPr/>
        </p:nvPicPr>
        <p:blipFill>
          <a:blip r:embed="rId3"/>
          <a:stretch>
            <a:fillRect/>
          </a:stretch>
        </p:blipFill>
        <p:spPr>
          <a:xfrm>
            <a:off x="355600" y="3585876"/>
            <a:ext cx="14732000" cy="7188200"/>
          </a:xfrm>
          <a:prstGeom prst="rect">
            <a:avLst/>
          </a:prstGeom>
        </p:spPr>
      </p:pic>
      <p:sp>
        <p:nvSpPr>
          <p:cNvPr id="18" name="四角形: 角を丸くする 17">
            <a:extLst>
              <a:ext uri="{FF2B5EF4-FFF2-40B4-BE49-F238E27FC236}">
                <a16:creationId xmlns:a16="http://schemas.microsoft.com/office/drawing/2014/main" id="{36216BD0-556A-025E-B88A-42FAE746AEB7}"/>
              </a:ext>
            </a:extLst>
          </p:cNvPr>
          <p:cNvSpPr/>
          <p:nvPr/>
        </p:nvSpPr>
        <p:spPr>
          <a:xfrm>
            <a:off x="15595600" y="3397620"/>
            <a:ext cx="8001000" cy="2667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0627827-40C4-8797-C4D0-6F1CC410939F}"/>
              </a:ext>
            </a:extLst>
          </p:cNvPr>
          <p:cNvSpPr txBox="1"/>
          <p:nvPr/>
        </p:nvSpPr>
        <p:spPr>
          <a:xfrm>
            <a:off x="15798800" y="3651620"/>
            <a:ext cx="7594600" cy="1219200"/>
          </a:xfrm>
          <a:prstGeom prst="rect">
            <a:avLst/>
          </a:prstGeom>
          <a:noFill/>
        </p:spPr>
        <p:txBody>
          <a:bodyPr vert="horz" wrap="square" lIns="101600" tIns="0" rIns="101600" bIns="0" rtlCol="0" anchor="ctr">
            <a:noAutofit/>
          </a:bodyPr>
          <a:lstStyle/>
          <a:p>
            <a:pPr algn="ctr"/>
            <a:r>
              <a:rPr kumimoji="1" lang="en-US" altLang="ja-JP" sz="4000" b="1" dirty="0">
                <a:solidFill>
                  <a:srgbClr val="082B52"/>
                </a:solidFill>
                <a:latin typeface="Arial" panose="020B0604020202020204" pitchFamily="34" charset="0"/>
              </a:rPr>
              <a:t>19.2 → </a:t>
            </a:r>
            <a:r>
              <a:rPr kumimoji="1" lang="en-US" altLang="ja-JP" sz="4000" b="1">
                <a:solidFill>
                  <a:srgbClr val="082B52"/>
                </a:solidFill>
                <a:latin typeface="Arial" panose="020B0604020202020204" pitchFamily="34" charset="0"/>
              </a:rPr>
              <a:t>5.45 s</a:t>
            </a:r>
            <a:endParaRPr kumimoji="1" lang="en-US" altLang="ja-JP" sz="4000" b="1" dirty="0">
              <a:solidFill>
                <a:srgbClr val="082B52"/>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A8F485EF-D3DB-938E-DA83-4F672D12640E}"/>
              </a:ext>
            </a:extLst>
          </p:cNvPr>
          <p:cNvSpPr txBox="1"/>
          <p:nvPr/>
        </p:nvSpPr>
        <p:spPr>
          <a:xfrm>
            <a:off x="15798800" y="49724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Mean acquisition time</a:t>
            </a:r>
          </a:p>
        </p:txBody>
      </p:sp>
      <p:sp>
        <p:nvSpPr>
          <p:cNvPr id="24" name="四角形: 角を丸くする 23">
            <a:extLst>
              <a:ext uri="{FF2B5EF4-FFF2-40B4-BE49-F238E27FC236}">
                <a16:creationId xmlns:a16="http://schemas.microsoft.com/office/drawing/2014/main" id="{75CA85EA-B92C-4BA4-CA1E-D0121504F78E}"/>
              </a:ext>
            </a:extLst>
          </p:cNvPr>
          <p:cNvSpPr/>
          <p:nvPr/>
        </p:nvSpPr>
        <p:spPr>
          <a:xfrm>
            <a:off x="15595600" y="6318620"/>
            <a:ext cx="8001000" cy="2413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A9B50A9A-429A-D85F-0096-36B7EB036D06}"/>
              </a:ext>
            </a:extLst>
          </p:cNvPr>
          <p:cNvSpPr txBox="1"/>
          <p:nvPr/>
        </p:nvSpPr>
        <p:spPr>
          <a:xfrm>
            <a:off x="15798800" y="6521820"/>
            <a:ext cx="7594600" cy="1117600"/>
          </a:xfrm>
          <a:prstGeom prst="rect">
            <a:avLst/>
          </a:prstGeom>
          <a:noFill/>
        </p:spPr>
        <p:txBody>
          <a:bodyPr vert="horz" wrap="square" lIns="101600" tIns="0" rIns="101600" bIns="0" rtlCol="0" anchor="ctr">
            <a:noAutofit/>
          </a:bodyPr>
          <a:lstStyle/>
          <a:p>
            <a:pPr algn="ctr"/>
            <a:r>
              <a:rPr kumimoji="1" lang="en-US" altLang="ja-JP" sz="5600" b="1">
                <a:solidFill>
                  <a:srgbClr val="239571"/>
                </a:solidFill>
                <a:latin typeface="Arial" panose="020B0604020202020204" pitchFamily="34" charset="0"/>
              </a:rPr>
              <a:t>−72%</a:t>
            </a:r>
            <a:endParaRPr kumimoji="1" lang="en-US" altLang="ja-JP" sz="5600" b="1" dirty="0">
              <a:solidFill>
                <a:srgbClr val="239571"/>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B704AC9-3483-6325-DAC2-8EA3D605B894}"/>
              </a:ext>
            </a:extLst>
          </p:cNvPr>
          <p:cNvSpPr txBox="1"/>
          <p:nvPr/>
        </p:nvSpPr>
        <p:spPr>
          <a:xfrm>
            <a:off x="15798800" y="77156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Reduction in mean </a:t>
            </a:r>
            <a:r>
              <a:rPr kumimoji="1" lang="en-US" altLang="ja-JP" sz="2800">
                <a:solidFill>
                  <a:srgbClr val="232B34"/>
                </a:solidFill>
                <a:latin typeface="Arial" panose="020B0604020202020204" pitchFamily="34" charset="0"/>
              </a:rPr>
              <a:t>acquisition time</a:t>
            </a:r>
            <a:endParaRPr kumimoji="1" lang="en-US" altLang="ja-JP" sz="28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6638E8FD-A054-4563-5388-047D87559C0C}"/>
              </a:ext>
            </a:extLst>
          </p:cNvPr>
          <p:cNvSpPr txBox="1"/>
          <p:nvPr/>
        </p:nvSpPr>
        <p:spPr>
          <a:xfrm>
            <a:off x="15595600" y="8985620"/>
            <a:ext cx="8001000" cy="6604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Success rate: 98% → </a:t>
            </a:r>
            <a:r>
              <a:rPr kumimoji="1" lang="en-US" altLang="ja-JP" sz="3200" b="1">
                <a:solidFill>
                  <a:srgbClr val="082B52"/>
                </a:solidFill>
                <a:latin typeface="Arial" panose="020B0604020202020204" pitchFamily="34" charset="0"/>
              </a:rPr>
              <a:t>100%</a:t>
            </a:r>
            <a:endParaRPr kumimoji="1" lang="en-US" altLang="ja-JP" sz="3200" b="1" dirty="0">
              <a:solidFill>
                <a:srgbClr val="082B52"/>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D99163D0-3C5F-053E-FDA7-3DA21DC1712A}"/>
              </a:ext>
            </a:extLst>
          </p:cNvPr>
          <p:cNvSpPr txBox="1"/>
          <p:nvPr/>
        </p:nvSpPr>
        <p:spPr>
          <a:xfrm>
            <a:off x="812800" y="11297020"/>
            <a:ext cx="22860000" cy="8128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Thermal correction reduces acquisition time even when nonthermal pointing errors </a:t>
            </a:r>
            <a:r>
              <a:rPr kumimoji="1" lang="en-US" altLang="ja-JP" sz="3200" b="1">
                <a:solidFill>
                  <a:srgbClr val="082B52"/>
                </a:solidFill>
                <a:latin typeface="Arial" panose="020B0604020202020204" pitchFamily="34" charset="0"/>
              </a:rPr>
              <a:t>remain.</a:t>
            </a:r>
            <a:endParaRPr kumimoji="1" lang="en-US" altLang="ja-JP" sz="3200" b="1" dirty="0">
              <a:solidFill>
                <a:srgbClr val="082B52"/>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BB33C62-F459-3D69-D9F0-D8B029CF23BC}"/>
              </a:ext>
            </a:extLst>
          </p:cNvPr>
          <p:cNvSpPr txBox="1"/>
          <p:nvPr/>
        </p:nvSpPr>
        <p:spPr>
          <a:xfrm>
            <a:off x="812800" y="12211420"/>
            <a:ext cx="22860000" cy="5588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After correction, the residual pointing error is dominated by nonthermal </a:t>
            </a:r>
            <a:r>
              <a:rPr kumimoji="1" lang="en-US" altLang="ja-JP" sz="2800">
                <a:solidFill>
                  <a:srgbClr val="666F79"/>
                </a:solidFill>
                <a:latin typeface="Arial" panose="020B0604020202020204" pitchFamily="34" charset="0"/>
              </a:rPr>
              <a:t>components.</a:t>
            </a:r>
            <a:endParaRPr kumimoji="1" lang="en-US" altLang="ja-JP" sz="2800" dirty="0">
              <a:solidFill>
                <a:srgbClr val="666F79"/>
              </a:solidFill>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Summary</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73200" y="1752600"/>
            <a:ext cx="21844000" cy="660400"/>
          </a:xfrm>
          <a:prstGeom prst="rect">
            <a:avLst/>
          </a:prstGeom>
          <a:noFill/>
        </p:spPr>
        <p:txBody>
          <a:bodyPr wrap="square" lIns="0" tIns="0" rIns="0" bIns="0"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Thermal LOS prediction improves coarse acquisition, with further validation needed for flight applications</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23</a:t>
            </a:r>
            <a:endParaRPr lang="en-US" sz="1800" b="0" dirty="0">
              <a:solidFill>
                <a:srgbClr val="666F79"/>
              </a:solidFill>
              <a:latin typeface="Arial" panose="020B0604020202020204" pitchFamily="34" charset="0"/>
              <a:ea typeface="Yu Gothic"/>
            </a:endParaRPr>
          </a:p>
        </p:txBody>
      </p:sp>
      <p:sp>
        <p:nvSpPr>
          <p:cNvPr id="9" name="テキスト ボックス 8">
            <a:extLst>
              <a:ext uri="{FF2B5EF4-FFF2-40B4-BE49-F238E27FC236}">
                <a16:creationId xmlns:a16="http://schemas.microsoft.com/office/drawing/2014/main" id="{9C3B6D75-74A1-685C-AD47-32DC11171D17}"/>
              </a:ext>
            </a:extLst>
          </p:cNvPr>
          <p:cNvSpPr txBox="1"/>
          <p:nvPr/>
        </p:nvSpPr>
        <p:spPr>
          <a:xfrm>
            <a:off x="1003300" y="3378200"/>
            <a:ext cx="21336000" cy="533400"/>
          </a:xfrm>
          <a:prstGeom prst="rect">
            <a:avLst/>
          </a:prstGeom>
          <a:noFill/>
        </p:spPr>
        <p:txBody>
          <a:bodyPr vert="horz" wrap="square" lIns="0" tIns="0" rIns="0" bIns="0" rtlCol="0">
            <a:noAutofit/>
          </a:bodyPr>
          <a:lstStyle/>
          <a:p>
            <a:r>
              <a:rPr kumimoji="1" lang="en-US" altLang="ja-JP" sz="3200" b="1" dirty="0">
                <a:solidFill>
                  <a:srgbClr val="082B52"/>
                </a:solidFill>
                <a:latin typeface="Arial" panose="020B0604020202020204" pitchFamily="34" charset="0"/>
              </a:rPr>
              <a:t>Key Findings</a:t>
            </a:r>
          </a:p>
        </p:txBody>
      </p:sp>
      <p:sp>
        <p:nvSpPr>
          <p:cNvPr id="10" name="テキスト ボックス 9">
            <a:extLst>
              <a:ext uri="{FF2B5EF4-FFF2-40B4-BE49-F238E27FC236}">
                <a16:creationId xmlns:a16="http://schemas.microsoft.com/office/drawing/2014/main" id="{53E85712-3144-CCA6-C415-5D6B60792708}"/>
              </a:ext>
            </a:extLst>
          </p:cNvPr>
          <p:cNvSpPr txBox="1"/>
          <p:nvPr/>
        </p:nvSpPr>
        <p:spPr>
          <a:xfrm>
            <a:off x="1003300" y="3987800"/>
            <a:ext cx="21336000" cy="11684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A physics-informed reduced-order model predicts thermal LOS from panel temperatures and operating states, enabling feedforward correction before optical </a:t>
            </a:r>
            <a:r>
              <a:rPr kumimoji="1" lang="en-US" altLang="ja-JP" sz="3200">
                <a:solidFill>
                  <a:srgbClr val="232B34"/>
                </a:solidFill>
                <a:latin typeface="Arial" panose="020B0604020202020204" pitchFamily="34" charset="0"/>
              </a:rPr>
              <a:t>feedback.</a:t>
            </a:r>
            <a:endParaRPr kumimoji="1" lang="en-US" altLang="ja-JP" sz="3200" dirty="0">
              <a:solidFill>
                <a:srgbClr val="232B34"/>
              </a:solidFill>
              <a:latin typeface="Arial" panose="020B0604020202020204" pitchFamily="34" charset="0"/>
            </a:endParaRPr>
          </a:p>
        </p:txBody>
      </p:sp>
      <p:sp>
        <p:nvSpPr>
          <p:cNvPr id="16" name="テキスト ボックス 15">
            <a:extLst>
              <a:ext uri="{FF2B5EF4-FFF2-40B4-BE49-F238E27FC236}">
                <a16:creationId xmlns:a16="http://schemas.microsoft.com/office/drawing/2014/main" id="{DF45693D-14A1-11AC-7D27-C5C8156004F8}"/>
              </a:ext>
            </a:extLst>
          </p:cNvPr>
          <p:cNvSpPr txBox="1"/>
          <p:nvPr/>
        </p:nvSpPr>
        <p:spPr>
          <a:xfrm>
            <a:off x="1003300" y="5073650"/>
            <a:ext cx="21336000" cy="5842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4.9 µrad</a:t>
            </a:r>
            <a:r>
              <a:rPr kumimoji="1" lang="en-US" altLang="ja-JP" sz="3200" dirty="0">
                <a:solidFill>
                  <a:srgbClr val="232B34"/>
                </a:solidFill>
                <a:latin typeface="Arial" panose="020B0604020202020204" pitchFamily="34" charset="0"/>
              </a:rPr>
              <a:t>  median prediction RMSE    |    </a:t>
            </a:r>
            <a:r>
              <a:rPr kumimoji="1" lang="en-US" altLang="ja-JP" sz="3200" b="1" dirty="0">
                <a:solidFill>
                  <a:srgbClr val="1B74AA"/>
                </a:solidFill>
                <a:latin typeface="Arial" panose="020B0604020202020204" pitchFamily="34" charset="0"/>
              </a:rPr>
              <a:t>72%</a:t>
            </a:r>
            <a:r>
              <a:rPr kumimoji="1" lang="en-US" altLang="ja-JP" sz="3200" dirty="0">
                <a:solidFill>
                  <a:srgbClr val="232B34"/>
                </a:solidFill>
                <a:latin typeface="Arial" panose="020B0604020202020204" pitchFamily="34" charset="0"/>
              </a:rPr>
              <a:t>  reduction in mean acquisition time</a:t>
            </a:r>
          </a:p>
        </p:txBody>
      </p:sp>
      <p:sp>
        <p:nvSpPr>
          <p:cNvPr id="17" name="四角形: 角を丸くする 16">
            <a:extLst>
              <a:ext uri="{FF2B5EF4-FFF2-40B4-BE49-F238E27FC236}">
                <a16:creationId xmlns:a16="http://schemas.microsoft.com/office/drawing/2014/main" id="{E0D3DFAD-BCA5-D445-01A7-84E11328703F}"/>
              </a:ext>
            </a:extLst>
          </p:cNvPr>
          <p:cNvSpPr/>
          <p:nvPr/>
        </p:nvSpPr>
        <p:spPr>
          <a:xfrm>
            <a:off x="812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3A327490-44AF-5D61-8C64-A0B857B59E9E}"/>
              </a:ext>
            </a:extLst>
          </p:cNvPr>
          <p:cNvSpPr/>
          <p:nvPr/>
        </p:nvSpPr>
        <p:spPr>
          <a:xfrm>
            <a:off x="12496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7FDC837-C1D1-6419-9DC3-AFDFF7955A38}"/>
              </a:ext>
            </a:extLst>
          </p:cNvPr>
          <p:cNvSpPr txBox="1"/>
          <p:nvPr/>
        </p:nvSpPr>
        <p:spPr>
          <a:xfrm>
            <a:off x="1168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01:</a:t>
            </a:r>
            <a:r>
              <a:rPr kumimoji="1" lang="en-US" altLang="ja-JP" sz="3200" b="1" dirty="0">
                <a:solidFill>
                  <a:srgbClr val="082B52"/>
                </a:solidFill>
                <a:latin typeface="Arial" panose="020B0604020202020204" pitchFamily="34" charset="0"/>
              </a:rPr>
              <a:t>  Model generalization</a:t>
            </a:r>
          </a:p>
        </p:txBody>
      </p:sp>
      <p:sp>
        <p:nvSpPr>
          <p:cNvPr id="20" name="テキスト ボックス 19">
            <a:extLst>
              <a:ext uri="{FF2B5EF4-FFF2-40B4-BE49-F238E27FC236}">
                <a16:creationId xmlns:a16="http://schemas.microsoft.com/office/drawing/2014/main" id="{861D23DF-6A80-0350-1F3D-93523DDD3056}"/>
              </a:ext>
            </a:extLst>
          </p:cNvPr>
          <p:cNvSpPr txBox="1"/>
          <p:nvPr/>
        </p:nvSpPr>
        <p:spPr>
          <a:xfrm>
            <a:off x="12852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02:</a:t>
            </a:r>
            <a:r>
              <a:rPr kumimoji="1" lang="en-US" altLang="ja-JP" sz="3200" b="1" dirty="0">
                <a:solidFill>
                  <a:srgbClr val="082B52"/>
                </a:solidFill>
                <a:latin typeface="Arial" panose="020B0604020202020204" pitchFamily="34" charset="0"/>
              </a:rPr>
              <a:t>  Onboard adaptation</a:t>
            </a:r>
          </a:p>
        </p:txBody>
      </p:sp>
      <p:sp>
        <p:nvSpPr>
          <p:cNvPr id="21" name="テキスト ボックス 20">
            <a:extLst>
              <a:ext uri="{FF2B5EF4-FFF2-40B4-BE49-F238E27FC236}">
                <a16:creationId xmlns:a16="http://schemas.microsoft.com/office/drawing/2014/main" id="{4F7DC16A-3BF0-8866-AE18-11D109FC55F8}"/>
              </a:ext>
            </a:extLst>
          </p:cNvPr>
          <p:cNvSpPr txBox="1"/>
          <p:nvPr/>
        </p:nvSpPr>
        <p:spPr>
          <a:xfrm>
            <a:off x="1168400" y="7035800"/>
            <a:ext cx="10109200" cy="533400"/>
          </a:xfrm>
          <a:prstGeom prst="rect">
            <a:avLst/>
          </a:prstGeom>
          <a:noFill/>
        </p:spPr>
        <p:txBody>
          <a:bodyPr vert="horz" wrap="square" lIns="0" tIns="0" rIns="0" bIns="0" rtlCol="0">
            <a:noAutofit/>
          </a:bodyPr>
          <a:lstStyle/>
          <a:p>
            <a:r>
              <a:rPr kumimoji="1" lang="en-US" altLang="ja-JP" sz="3200" b="1">
                <a:solidFill>
                  <a:srgbClr val="666F79"/>
                </a:solidFill>
                <a:latin typeface="Arial" panose="020B0604020202020204" pitchFamily="34" charset="0"/>
              </a:rPr>
              <a:t>Current limitation</a:t>
            </a:r>
            <a:endParaRPr kumimoji="1" lang="en-US" altLang="ja-JP" sz="3200" b="1" dirty="0">
              <a:solidFill>
                <a:srgbClr val="666F79"/>
              </a:solidFill>
              <a:latin typeface="Arial" panose="020B0604020202020204" pitchFamily="34" charset="0"/>
            </a:endParaRPr>
          </a:p>
        </p:txBody>
      </p:sp>
      <p:sp>
        <p:nvSpPr>
          <p:cNvPr id="22" name="テキスト ボックス 21">
            <a:extLst>
              <a:ext uri="{FF2B5EF4-FFF2-40B4-BE49-F238E27FC236}">
                <a16:creationId xmlns:a16="http://schemas.microsoft.com/office/drawing/2014/main" id="{9FA9FF72-8DE6-D011-0DE3-505EBFCDB1C5}"/>
              </a:ext>
            </a:extLst>
          </p:cNvPr>
          <p:cNvSpPr txBox="1"/>
          <p:nvPr/>
        </p:nvSpPr>
        <p:spPr>
          <a:xfrm>
            <a:off x="1168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Numerically validated on one simplified box bus with a fixed STT–LCT </a:t>
            </a:r>
            <a:r>
              <a:rPr kumimoji="1" lang="en-US" altLang="ja-JP" sz="3200">
                <a:solidFill>
                  <a:srgbClr val="232B34"/>
                </a:solidFill>
                <a:latin typeface="Arial" panose="020B0604020202020204" pitchFamily="34" charset="0"/>
              </a:rPr>
              <a:t>placement.</a:t>
            </a:r>
            <a:endParaRPr kumimoji="1" lang="en-US" altLang="ja-JP" sz="3200" dirty="0">
              <a:solidFill>
                <a:srgbClr val="232B34"/>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475F95F1-680D-A4F2-6C36-A6C99BE1D645}"/>
              </a:ext>
            </a:extLst>
          </p:cNvPr>
          <p:cNvSpPr txBox="1"/>
          <p:nvPr/>
        </p:nvSpPr>
        <p:spPr>
          <a:xfrm>
            <a:off x="1168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43DE4781-EB39-2A1E-D98E-47D4A919F4C1}"/>
              </a:ext>
            </a:extLst>
          </p:cNvPr>
          <p:cNvSpPr txBox="1"/>
          <p:nvPr/>
        </p:nvSpPr>
        <p:spPr>
          <a:xfrm>
            <a:off x="1168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Test whether panel ΔT plus a case bias still holds for realistic structures and different equipment placements and validate it by ground testing.</a:t>
            </a:r>
          </a:p>
        </p:txBody>
      </p:sp>
      <p:sp>
        <p:nvSpPr>
          <p:cNvPr id="25" name="テキスト ボックス 24">
            <a:extLst>
              <a:ext uri="{FF2B5EF4-FFF2-40B4-BE49-F238E27FC236}">
                <a16:creationId xmlns:a16="http://schemas.microsoft.com/office/drawing/2014/main" id="{32098170-21DB-D063-3F2F-D012628F4B6D}"/>
              </a:ext>
            </a:extLst>
          </p:cNvPr>
          <p:cNvSpPr txBox="1"/>
          <p:nvPr/>
        </p:nvSpPr>
        <p:spPr>
          <a:xfrm>
            <a:off x="12852400" y="7035800"/>
            <a:ext cx="10109200" cy="533400"/>
          </a:xfrm>
          <a:prstGeom prst="rect">
            <a:avLst/>
          </a:prstGeom>
          <a:noFill/>
        </p:spPr>
        <p:txBody>
          <a:bodyPr vert="horz" wrap="square" lIns="0" tIns="0" rIns="0" bIns="0" rtlCol="0">
            <a:noAutofit/>
          </a:bodyPr>
          <a:lstStyle/>
          <a:p>
            <a:r>
              <a:rPr kumimoji="1" lang="en-US" altLang="ja-JP" sz="3200" b="1">
                <a:solidFill>
                  <a:srgbClr val="666F79"/>
                </a:solidFill>
                <a:latin typeface="Arial" panose="020B0604020202020204" pitchFamily="34" charset="0"/>
              </a:rPr>
              <a:t>Current limitation</a:t>
            </a:r>
            <a:endParaRPr kumimoji="1" lang="en-US" altLang="ja-JP" sz="3200" b="1" dirty="0">
              <a:solidFill>
                <a:srgbClr val="666F79"/>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A42CDC0-A482-57F6-6E42-B15C578926AB}"/>
              </a:ext>
            </a:extLst>
          </p:cNvPr>
          <p:cNvSpPr txBox="1"/>
          <p:nvPr/>
        </p:nvSpPr>
        <p:spPr>
          <a:xfrm>
            <a:off x="12852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Fixed coefficients rely on ground-based thermo-structural </a:t>
            </a:r>
            <a:r>
              <a:rPr kumimoji="1" lang="en-US" altLang="ja-JP" sz="3200">
                <a:solidFill>
                  <a:srgbClr val="232B34"/>
                </a:solidFill>
                <a:latin typeface="Arial" panose="020B0604020202020204" pitchFamily="34" charset="0"/>
              </a:rPr>
              <a:t>predictions.</a:t>
            </a:r>
            <a:endParaRPr kumimoji="1" lang="en-US" altLang="ja-JP" sz="32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24A183CC-69F2-D8AE-E093-FD8A58CAF336}"/>
              </a:ext>
            </a:extLst>
          </p:cNvPr>
          <p:cNvSpPr txBox="1"/>
          <p:nvPr/>
        </p:nvSpPr>
        <p:spPr>
          <a:xfrm>
            <a:off x="12852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318A50DE-1C43-56DA-986B-7DF728C55BFC}"/>
              </a:ext>
            </a:extLst>
          </p:cNvPr>
          <p:cNvSpPr txBox="1"/>
          <p:nvPr/>
        </p:nvSpPr>
        <p:spPr>
          <a:xfrm>
            <a:off x="12852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Update the model using post-acquisition observations while separating thermal and nonthermal pointing </a:t>
            </a:r>
            <a:r>
              <a:rPr kumimoji="1" lang="en-US" altLang="ja-JP" sz="3200">
                <a:solidFill>
                  <a:srgbClr val="232B34"/>
                </a:solidFill>
                <a:latin typeface="Arial" panose="020B0604020202020204" pitchFamily="34" charset="0"/>
              </a:rPr>
              <a:t>errors.</a:t>
            </a:r>
            <a:endParaRPr kumimoji="1" lang="en-US" altLang="ja-JP"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89627B55-F6EA-CDD8-4D97-F50346145211}"/>
              </a:ext>
            </a:extLst>
          </p:cNvPr>
          <p:cNvSpPr txBox="1"/>
          <p:nvPr/>
        </p:nvSpPr>
        <p:spPr>
          <a:xfrm>
            <a:off x="1016000" y="11633200"/>
            <a:ext cx="22352000" cy="711200"/>
          </a:xfrm>
          <a:prstGeom prst="rect">
            <a:avLst/>
          </a:prstGeom>
          <a:noFill/>
        </p:spPr>
        <p:txBody>
          <a:bodyPr vert="horz" wrap="square" lIns="0" tIns="0" rIns="0" bIns="0" rtlCol="0">
            <a:noAutofit/>
          </a:bodyPr>
          <a:lstStyle/>
          <a:p>
            <a:pPr algn="ctr"/>
            <a:r>
              <a:rPr kumimoji="1" lang="en-US" altLang="ja-JP" sz="3200" b="1" dirty="0">
                <a:solidFill>
                  <a:srgbClr val="082B52"/>
                </a:solidFill>
                <a:latin typeface="Arial" panose="020B0604020202020204" pitchFamily="34" charset="0"/>
              </a:rPr>
              <a:t>Thermal distortion can be treated as a predictable bias—not merely an acquisition </a:t>
            </a:r>
            <a:r>
              <a:rPr kumimoji="1" lang="en-US" altLang="ja-JP" sz="3200" b="1">
                <a:solidFill>
                  <a:srgbClr val="082B52"/>
                </a:solidFill>
                <a:latin typeface="Arial" panose="020B0604020202020204" pitchFamily="34" charset="0"/>
              </a:rPr>
              <a:t>uncertainty.</a:t>
            </a:r>
            <a:endParaRPr kumimoji="1" lang="en-US" altLang="ja-JP" sz="3200" b="1" dirty="0">
              <a:solidFill>
                <a:srgbClr val="082B52"/>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1F94413F-41C3-266A-C40F-9B027DE83D4F}"/>
              </a:ext>
            </a:extLst>
          </p:cNvPr>
          <p:cNvSpPr txBox="1"/>
          <p:nvPr/>
        </p:nvSpPr>
        <p:spPr>
          <a:xfrm>
            <a:off x="1016000" y="12649200"/>
            <a:ext cx="22352000" cy="5588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Thank you for your </a:t>
            </a:r>
            <a:r>
              <a:rPr kumimoji="1" lang="en-US" altLang="ja-JP" sz="3200">
                <a:solidFill>
                  <a:srgbClr val="232B34"/>
                </a:solidFill>
                <a:latin typeface="Arial" panose="020B0604020202020204" pitchFamily="34" charset="0"/>
              </a:rPr>
              <a:t>attention.</a:t>
            </a:r>
            <a:endParaRPr kumimoji="1" lang="en-US" altLang="ja-JP" sz="3200" dirty="0">
              <a:solidFill>
                <a:srgbClr val="232B34"/>
              </a:solidFill>
              <a:latin typeface="Arial" panose="020B0604020202020204" pitchFamily="3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47842"/>
          </a:xfrm>
          <a:prstGeom prst="rect">
            <a:avLst/>
          </a:prstGeom>
          <a:noFill/>
        </p:spPr>
        <p:txBody>
          <a:bodyPr wrap="square" lIns="36576" tIns="27432" rIns="36576" bIns="27432" anchor="t">
            <a:spAutoFit/>
          </a:bodyPr>
          <a:lstStyle/>
          <a:p>
            <a:pPr algn="ctr">
              <a:spcAft>
                <a:spcPts val="0"/>
              </a:spcAft>
            </a:pPr>
            <a:r>
              <a:rPr lang="en-US" sz="3200" b="1">
                <a:solidFill>
                  <a:srgbClr val="5BB5D8"/>
                </a:solidFill>
                <a:latin typeface="Arial" panose="020B0604020202020204" pitchFamily="34" charset="0"/>
                <a:ea typeface="Yu Gothic"/>
              </a:rPr>
              <a:t>B</a:t>
            </a:r>
            <a:endParaRPr lang="en-US" sz="3200" b="1" dirty="0">
              <a:solidFill>
                <a:srgbClr val="5BB5D8"/>
              </a:solidFill>
              <a:latin typeface="Arial" panose="020B0604020202020204" pitchFamily="34" charset="0"/>
              <a:ea typeface="Yu Gothic"/>
            </a:endParaRP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Arial" panose="020B0604020202020204" pitchFamily="34" charset="0"/>
                <a:ea typeface="Yu Gothic"/>
              </a:rPr>
              <a:t>Appendix</a:t>
            </a:r>
            <a:endParaRPr sz="4400" b="1" dirty="0">
              <a:solidFill>
                <a:srgbClr val="FFFFFF"/>
              </a:solidFill>
              <a:latin typeface="Arial" panose="020B0604020202020204" pitchFamily="34" charset="0"/>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784545"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Positioning &amp; limitations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en-US" sz="3200" b="1" dirty="0">
                <a:solidFill>
                  <a:srgbClr val="082B52"/>
                </a:solidFill>
                <a:latin typeface="Arial" panose="020B0604020202020204" pitchFamily="34" charset="0"/>
              </a:rPr>
              <a:t>先行研究の存在：</a:t>
            </a:r>
            <a:r>
              <a:rPr lang="ja-JP" altLang="ja-JP" sz="3200" b="1" dirty="0">
                <a:latin typeface="Arial" panose="020B0604020202020204" pitchFamily="34" charset="0"/>
              </a:rPr>
              <a:t>温度差とLOSの一次関係は光学機器内でも報告されている</a:t>
            </a:r>
            <a:endParaRPr lang="ja-JP" altLang="ja-JP" sz="3200" dirty="0">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24</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962876" y="3246120"/>
            <a:ext cx="2967287"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JANUS / prior art</a:t>
            </a:r>
            <a:endParaRPr lang="en-US" sz="28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3098284"/>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a:t>
                </a:r>
                <a:r>
                  <a:rPr lang="en-US" altLang="ja-JP" sz="2600" b="1">
                    <a:solidFill>
                      <a:srgbClr val="1B74AA"/>
                    </a:solidFill>
                    <a:latin typeface="Arial" panose="020B0604020202020204" pitchFamily="34" charset="0"/>
                  </a:rPr>
                  <a:t> </a:t>
                </a:r>
                <a:r>
                  <a:rPr lang="ja-JP" altLang="ja-JP" sz="2600" dirty="0">
                    <a:latin typeface="Arial" panose="020B0604020202020204" pitchFamily="34" charset="0"/>
                  </a:rPr>
                  <a:t>光学ヘッド内部の壁面温度差から</a:t>
                </a:r>
                <a:r>
                  <a:rPr lang="ja-JP" altLang="en-US" sz="2600">
                    <a:latin typeface="Arial" panose="020B0604020202020204" pitchFamily="34" charset="0"/>
                  </a:rPr>
                  <a:t>熱ひずみ由来</a:t>
                </a:r>
                <a:r>
                  <a:rPr lang="en-US" altLang="ja-JP" sz="2600">
                    <a:latin typeface="Arial" panose="020B0604020202020204" pitchFamily="34" charset="0"/>
                  </a:rPr>
                  <a:t>LOS</a:t>
                </a:r>
                <a:r>
                  <a:rPr lang="ja-JP" altLang="en-US" sz="2600">
                    <a:latin typeface="Arial" panose="020B0604020202020204" pitchFamily="34" charset="0"/>
                  </a:rPr>
                  <a:t>誤差</a:t>
                </a:r>
                <a:r>
                  <a:rPr lang="ja-JP" altLang="ja-JP" sz="2600" dirty="0">
                    <a:latin typeface="Arial" panose="020B0604020202020204" pitchFamily="34" charset="0"/>
                  </a:rPr>
                  <a:t>を推定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latin typeface="Arial" panose="020B0604020202020204" pitchFamily="34" charset="0"/>
                  </a:rPr>
                  <a:t>の一次関係</a:t>
                </a:r>
                <a:r>
                  <a:rPr lang="ja-JP" altLang="en-US" sz="2600" dirty="0">
                    <a:latin typeface="Arial" panose="020B0604020202020204" pitchFamily="34" charset="0"/>
                  </a:rPr>
                  <a:t>とその係数</a:t>
                </a:r>
                <a:r>
                  <a:rPr lang="en-US" altLang="ja-JP" sz="2600" dirty="0">
                    <a:latin typeface="Arial" panose="020B0604020202020204" pitchFamily="34" charset="0"/>
                  </a:rPr>
                  <a:t>K</a:t>
                </a:r>
                <a:r>
                  <a:rPr lang="ja-JP" altLang="ja-JP" sz="2600" dirty="0">
                    <a:latin typeface="Arial" panose="020B0604020202020204" pitchFamily="34" charset="0"/>
                  </a:rPr>
                  <a:t>を地上試験で検証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温度センサ値からリアルタイムLOS推定を想定</a:t>
                </a:r>
                <a:r>
                  <a:rPr lang="ja-JP" altLang="en-US" sz="2600" dirty="0">
                    <a:latin typeface="Arial" panose="020B0604020202020204" pitchFamily="34" charset="0"/>
                  </a:rPr>
                  <a:t>する点で本研究に近い</a:t>
                </a:r>
                <a:endParaRPr sz="2600" dirty="0">
                  <a:solidFill>
                    <a:srgbClr val="232B34"/>
                  </a:solidFill>
                  <a:latin typeface="Arial" panose="020B0604020202020204" pitchFamily="34"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3098284"/>
              </a:xfrm>
              <a:prstGeom prst="rect">
                <a:avLst/>
              </a:prstGeom>
              <a:blipFill>
                <a:blip r:embed="rId3"/>
                <a:stretch>
                  <a:fillRect l="-3215" t="-2362" b="-4134"/>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latin typeface="Arial" panose="020B0604020202020204" pitchFamily="34" charset="0"/>
              </a:rPr>
              <a:t>本研究の貢献は、</a:t>
            </a:r>
            <a:endParaRPr lang="en-US" altLang="ja-JP" sz="2800" b="1" dirty="0">
              <a:solidFill>
                <a:schemeClr val="accent2"/>
              </a:solidFill>
              <a:latin typeface="Arial" panose="020B0604020202020204" pitchFamily="34" charset="0"/>
            </a:endParaRPr>
          </a:p>
          <a:p>
            <a:pPr algn="ctr"/>
            <a:r>
              <a:rPr lang="ja-JP" altLang="ja-JP" sz="2800" b="1" dirty="0">
                <a:solidFill>
                  <a:schemeClr val="accent2"/>
                </a:solidFill>
                <a:latin typeface="Arial" panose="020B0604020202020204" pitchFamily="34" charset="0"/>
              </a:rPr>
              <a:t>温度差–LOS</a:t>
            </a:r>
            <a:r>
              <a:rPr lang="ja-JP" altLang="en-US" sz="2800" b="1" dirty="0">
                <a:solidFill>
                  <a:schemeClr val="accent2"/>
                </a:solidFill>
                <a:latin typeface="Arial" panose="020B0604020202020204" pitchFamily="34" charset="0"/>
              </a:rPr>
              <a:t>の一次</a:t>
            </a:r>
            <a:r>
              <a:rPr lang="ja-JP" altLang="ja-JP" sz="2800" b="1" dirty="0">
                <a:solidFill>
                  <a:schemeClr val="accent2"/>
                </a:solidFill>
                <a:latin typeface="Arial" panose="020B0604020202020204" pitchFamily="34" charset="0"/>
              </a:rPr>
              <a:t>関係を衛星バス上のSTT–LCT相対LOS</a:t>
            </a:r>
            <a:r>
              <a:rPr lang="ja-JP" altLang="en-US" sz="2800" b="1" dirty="0">
                <a:solidFill>
                  <a:schemeClr val="accent2"/>
                </a:solidFill>
                <a:latin typeface="Arial" panose="020B0604020202020204" pitchFamily="34" charset="0"/>
              </a:rPr>
              <a:t>予測</a:t>
            </a:r>
            <a:r>
              <a:rPr lang="ja-JP" altLang="ja-JP" sz="2800" b="1" dirty="0">
                <a:solidFill>
                  <a:schemeClr val="accent2"/>
                </a:solidFill>
                <a:latin typeface="Arial" panose="020B0604020202020204" pitchFamily="34" charset="0"/>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955496" y="3246120"/>
            <a:ext cx="1750607" cy="486287"/>
          </a:xfrm>
          <a:prstGeom prst="rect">
            <a:avLst/>
          </a:prstGeom>
          <a:noFill/>
        </p:spPr>
        <p:txBody>
          <a:bodyPr wrap="none" lIns="36576" tIns="27432" rIns="36576" bIns="27432" anchor="t">
            <a:spAutoFit/>
          </a:bodyPr>
          <a:lstStyle/>
          <a:p>
            <a:pPr algn="ctr"/>
            <a:r>
              <a:rPr lang="en-US" sz="2800" b="1">
                <a:solidFill>
                  <a:srgbClr val="1B74AA"/>
                </a:solidFill>
                <a:latin typeface="Arial" panose="020B0604020202020204" pitchFamily="34" charset="0"/>
              </a:rPr>
              <a:t>This work</a:t>
            </a:r>
            <a:endParaRPr lang="en-US" sz="2800" b="1" dirty="0">
              <a:solidFill>
                <a:srgbClr val="1B74AA"/>
              </a:solidFill>
              <a:latin typeface="Arial" panose="020B0604020202020204" pitchFamily="34" charset="0"/>
            </a:endParaRP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ja-JP" altLang="ja-JP" sz="2600" dirty="0">
                <a:latin typeface="Arial" panose="020B0604020202020204" pitchFamily="34" charset="0"/>
              </a:rPr>
              <a:t>衛星バス上のSTT–LCT相対LOSを対象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太陽指向面–反対面温度差から軌道内変動を予測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発熱・被覆・軌道条件によるケースDCを階層化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予測LOSをscan center補正へ入力 捕捉成功率・捕捉時間まで評価</a:t>
            </a:r>
            <a:endParaRPr lang="en-US" altLang="ja-JP" sz="2600" dirty="0">
              <a:latin typeface="Arial" panose="020B0604020202020204" pitchFamily="34" charset="0"/>
            </a:endParaRPr>
          </a:p>
          <a:p>
            <a:pPr>
              <a:spcAft>
                <a:spcPts val="800"/>
              </a:spcAft>
            </a:pPr>
            <a:r>
              <a:rPr lang="en-US" altLang="ja-JP" sz="2600" b="1">
                <a:solidFill>
                  <a:srgbClr val="1B74AA"/>
                </a:solidFill>
                <a:latin typeface="Arial" panose="020B0604020202020204" pitchFamily="34" charset="0"/>
              </a:rPr>
              <a:t>• </a:t>
            </a:r>
            <a:r>
              <a:rPr lang="en-US" altLang="ja-JP" sz="2600">
                <a:latin typeface="Arial" panose="020B0604020202020204" pitchFamily="34" charset="0"/>
              </a:rPr>
              <a:t>※</a:t>
            </a:r>
            <a:r>
              <a:rPr lang="ja-JP" altLang="en-US" sz="2600" dirty="0">
                <a:latin typeface="Arial" panose="020B0604020202020204" pitchFamily="34" charset="0"/>
              </a:rPr>
              <a:t>非支配軸・別構造・飛行実証は未評価</a:t>
            </a:r>
            <a:endParaRPr sz="2600" dirty="0">
              <a:latin typeface="Arial" panose="020B0604020202020204" pitchFamily="34" charset="0"/>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latin typeface="Arial" panose="020B0604020202020204" pitchFamily="34" charset="0"/>
              </a:rPr>
              <a:t>25 cm</a:t>
            </a:r>
            <a:r>
              <a:rPr kumimoji="1" lang="ja-JP" altLang="en-US" dirty="0">
                <a:latin typeface="Arial" panose="020B0604020202020204" pitchFamily="34" charset="0"/>
              </a:rPr>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latin typeface="Arial" panose="020B0604020202020204" pitchFamily="34" charset="0"/>
                </a:endParaRPr>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latin typeface="Arial" panose="020B0604020202020204" pitchFamily="34" charset="0"/>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latin typeface="Arial" panose="020B0604020202020204" pitchFamily="34" charset="0"/>
              </a:rPr>
              <a:t>Optical Wall</a:t>
            </a:r>
            <a:endParaRPr kumimoji="1" lang="ja-JP" altLang="en-US" dirty="0">
              <a:latin typeface="Arial" panose="020B0604020202020204" pitchFamily="34" charset="0"/>
            </a:endParaRPr>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latin typeface="Arial" panose="020B0604020202020204" pitchFamily="34" charset="0"/>
              </a:rPr>
              <a:t>Buffle</a:t>
            </a:r>
            <a:r>
              <a:rPr kumimoji="1" lang="en-US" altLang="ja-JP" dirty="0">
                <a:latin typeface="Arial" panose="020B0604020202020204" pitchFamily="34" charset="0"/>
              </a:rPr>
              <a:t> Wall</a:t>
            </a:r>
            <a:endParaRPr kumimoji="1" lang="ja-JP" altLang="en-US" dirty="0">
              <a:latin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983894"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PAT simulation conditions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ja-JP" sz="3200" b="1" dirty="0">
                <a:latin typeface="Arial" panose="020B0604020202020204" pitchFamily="34" charset="0"/>
              </a:rPr>
              <a:t>粗捕捉は矩形スパイラルの離散走査として簡略化する</a:t>
            </a:r>
            <a:endParaRPr lang="ja-JP" altLang="ja-JP" sz="3200" dirty="0">
              <a:latin typeface="Arial" panose="020B0604020202020204" pitchFamily="34" charset="0"/>
            </a:endParaRPr>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25</a:t>
            </a:r>
            <a:endParaRPr sz="1800" b="0" dirty="0">
              <a:solidFill>
                <a:srgbClr val="666F79"/>
              </a:solidFill>
              <a:latin typeface="Arial" panose="020B0604020202020204" pitchFamily="34" charset="0"/>
            </a:endParaRPr>
          </a:p>
        </p:txBody>
      </p:sp>
      <p:graphicFrame>
        <p:nvGraphicFramePr>
          <p:cNvPr id="28" name="Table 27"/>
          <p:cNvGraphicFramePr>
            <a:graphicFrameLocks noGrp="1"/>
          </p:cNvGraphicFramePr>
          <p:nvPr>
            <p:extLst>
              <p:ext uri="{D42A27DB-BD31-4B8C-83A1-F6EECF244321}">
                <p14:modId xmlns:p14="http://schemas.microsoft.com/office/powerpoint/2010/main" val="2038516894"/>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latin typeface="Arial" panose="020B0604020202020204" pitchFamily="34" charset="0"/>
                        </a:rPr>
                        <a:t>パラメータ</a:t>
                      </a:r>
                    </a:p>
                  </a:txBody>
                  <a:tcPr anchor="ctr">
                    <a:solidFill>
                      <a:srgbClr val="082B52"/>
                    </a:solidFill>
                  </a:tcPr>
                </a:tc>
                <a:tc>
                  <a:txBody>
                    <a:bodyPr/>
                    <a:lstStyle/>
                    <a:p>
                      <a:pPr algn="l">
                        <a:buNone/>
                      </a:pPr>
                      <a:r>
                        <a:rPr lang="ja-JP" sz="2400">
                          <a:latin typeface="Arial" panose="020B0604020202020204" pitchFamily="34" charset="0"/>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latin typeface="Arial" panose="020B0604020202020204" pitchFamily="34" charset="0"/>
                        </a:rPr>
                        <a:t>走査範囲</a:t>
                      </a:r>
                    </a:p>
                  </a:txBody>
                  <a:tcPr anchor="ctr">
                    <a:solidFill>
                      <a:srgbClr val="FFFFFF"/>
                    </a:solidFill>
                  </a:tcPr>
                </a:tc>
                <a:tc>
                  <a:txBody>
                    <a:bodyPr/>
                    <a:lstStyle/>
                    <a:p>
                      <a:pPr algn="l">
                        <a:buNone/>
                      </a:pPr>
                      <a:r>
                        <a:rPr lang="en-US" altLang="ja-JP" sz="2400">
                          <a:latin typeface="Arial" panose="020B0604020202020204" pitchFamily="34" charset="0"/>
                        </a:rPr>
                        <a:t>±1600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latin typeface="Arial" panose="020B0604020202020204" pitchFamily="34" charset="0"/>
                        </a:rPr>
                        <a:t>点間隔</a:t>
                      </a:r>
                    </a:p>
                  </a:txBody>
                  <a:tcPr anchor="ctr">
                    <a:solidFill>
                      <a:srgbClr val="F4F6F8"/>
                    </a:solidFill>
                  </a:tcPr>
                </a:tc>
                <a:tc>
                  <a:txBody>
                    <a:bodyPr/>
                    <a:lstStyle/>
                    <a:p>
                      <a:pPr algn="l">
                        <a:buNone/>
                      </a:pPr>
                      <a:r>
                        <a:rPr lang="en-US" altLang="ja-JP" sz="2400">
                          <a:latin typeface="Arial" panose="020B0604020202020204" pitchFamily="34" charset="0"/>
                        </a:rPr>
                        <a:t>40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latin typeface="Arial" panose="020B0604020202020204" pitchFamily="34" charset="0"/>
                        </a:rPr>
                        <a:t>検出半径</a:t>
                      </a:r>
                    </a:p>
                  </a:txBody>
                  <a:tcPr anchor="ctr">
                    <a:solidFill>
                      <a:srgbClr val="FFFFFF"/>
                    </a:solidFill>
                  </a:tcPr>
                </a:tc>
                <a:tc>
                  <a:txBody>
                    <a:bodyPr/>
                    <a:lstStyle/>
                    <a:p>
                      <a:pPr algn="l">
                        <a:buNone/>
                      </a:pPr>
                      <a:r>
                        <a:rPr lang="en-US" altLang="ja-JP" sz="2400">
                          <a:latin typeface="Arial" panose="020B0604020202020204" pitchFamily="34" charset="0"/>
                        </a:rPr>
                        <a:t>25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latin typeface="Arial" panose="020B0604020202020204" pitchFamily="34" charset="0"/>
                        </a:rPr>
                        <a:t>滞在時間</a:t>
                      </a:r>
                    </a:p>
                  </a:txBody>
                  <a:tcPr anchor="ctr">
                    <a:solidFill>
                      <a:srgbClr val="F4F6F8"/>
                    </a:solidFill>
                  </a:tcPr>
                </a:tc>
                <a:tc>
                  <a:txBody>
                    <a:bodyPr/>
                    <a:lstStyle/>
                    <a:p>
                      <a:pPr algn="l">
                        <a:buNone/>
                      </a:pPr>
                      <a:r>
                        <a:rPr lang="ja-JP" sz="2400" dirty="0">
                          <a:latin typeface="Arial" panose="020B0604020202020204" pitchFamily="34" charset="0"/>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latin typeface="Arial" panose="020B0604020202020204" pitchFamily="34" charset="0"/>
                        </a:rPr>
                        <a:t>総走査点数</a:t>
                      </a:r>
                    </a:p>
                  </a:txBody>
                  <a:tcPr anchor="ctr">
                    <a:solidFill>
                      <a:srgbClr val="FFFFFF"/>
                    </a:solidFill>
                  </a:tcPr>
                </a:tc>
                <a:tc>
                  <a:txBody>
                    <a:bodyPr/>
                    <a:lstStyle/>
                    <a:p>
                      <a:pPr algn="l">
                        <a:buNone/>
                      </a:pPr>
                      <a:r>
                        <a:rPr lang="ja-JP" sz="2400" dirty="0">
                          <a:latin typeface="Arial" panose="020B0604020202020204" pitchFamily="34" charset="0"/>
                        </a:rPr>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latin typeface="Arial" panose="020B0604020202020204" pitchFamily="34" charset="0"/>
                        </a:rPr>
                        <a:t>最大走査時間</a:t>
                      </a:r>
                    </a:p>
                  </a:txBody>
                  <a:tcPr anchor="ctr">
                    <a:solidFill>
                      <a:srgbClr val="F4F6F8"/>
                    </a:solidFill>
                  </a:tcPr>
                </a:tc>
                <a:tc>
                  <a:txBody>
                    <a:bodyPr/>
                    <a:lstStyle/>
                    <a:p>
                      <a:pPr algn="l">
                        <a:buNone/>
                      </a:pPr>
                      <a:r>
                        <a:rPr lang="en-US" altLang="ja-JP" sz="2400">
                          <a:latin typeface="Arial" panose="020B0604020202020204" pitchFamily="34" charset="0"/>
                        </a:rPr>
                        <a:t>656.1 s</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妥当な</a:t>
            </a:r>
            <a:r>
              <a:rPr lang="ja-JP" altLang="ja-JP" dirty="0">
                <a:latin typeface="Arial" panose="020B0604020202020204" pitchFamily="34" charset="0"/>
              </a:rPr>
              <a:t>検出半径またはstep</a:t>
            </a:r>
            <a:r>
              <a:rPr lang="ja-JP" altLang="en-US" dirty="0">
                <a:latin typeface="Arial" panose="020B0604020202020204" pitchFamily="34" charset="0"/>
              </a:rPr>
              <a:t>は</a:t>
            </a:r>
            <a:r>
              <a:rPr lang="ja-JP" altLang="ja-JP" dirty="0">
                <a:latin typeface="Arial" panose="020B0604020202020204" pitchFamily="34" charset="0"/>
              </a:rPr>
              <a:t>後で再検討する</a:t>
            </a:r>
            <a:endParaRPr lang="ja-JP" altLang="en-US" dirty="0">
              <a:latin typeface="Arial" panose="020B0604020202020204" pitchFamily="34" charset="0"/>
            </a:endParaRPr>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422266"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Orbit prediction error</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pPr algn="l"/>
            <a:r>
              <a:rPr lang="ja-JP" altLang="en-US" sz="3200" b="1" dirty="0">
                <a:solidFill>
                  <a:srgbClr val="082B52"/>
                </a:solidFill>
                <a:latin typeface="Arial" panose="020B0604020202020204" pitchFamily="34" charset="0"/>
              </a:rPr>
              <a:t>軌道予測誤差：自身の</a:t>
            </a:r>
            <a:r>
              <a:rPr sz="3200" b="1" dirty="0" err="1">
                <a:solidFill>
                  <a:srgbClr val="082B52"/>
                </a:solidFill>
                <a:latin typeface="Arial" panose="020B0604020202020204" pitchFamily="34" charset="0"/>
              </a:rPr>
              <a:t>位置誤差をリンクLOS横断面へ投影し</a:t>
            </a:r>
            <a:r>
              <a:rPr sz="3200" b="1" dirty="0">
                <a:solidFill>
                  <a:srgbClr val="082B52"/>
                </a:solidFill>
                <a:latin typeface="Arial" panose="020B0604020202020204" pitchFamily="34" charset="0"/>
              </a:rPr>
              <a:t>、</a:t>
            </a:r>
            <a:r>
              <a:rPr lang="ja-JP" altLang="en-US" sz="3200" b="1" dirty="0">
                <a:solidFill>
                  <a:srgbClr val="082B52"/>
                </a:solidFill>
                <a:latin typeface="Arial" panose="020B0604020202020204" pitchFamily="34" charset="0"/>
              </a:rPr>
              <a:t>衛星の座標系 </a:t>
            </a:r>
            <a:r>
              <a:rPr sz="3200" b="1" dirty="0">
                <a:solidFill>
                  <a:srgbClr val="082B52"/>
                </a:solidFill>
                <a:latin typeface="Arial" panose="020B0604020202020204" pitchFamily="34" charset="0"/>
              </a:rPr>
              <a:t>STT/body x–</a:t>
            </a:r>
            <a:r>
              <a:rPr sz="3200" b="1" dirty="0" err="1">
                <a:solidFill>
                  <a:srgbClr val="082B52"/>
                </a:solidFill>
                <a:latin typeface="Arial" panose="020B0604020202020204" pitchFamily="34" charset="0"/>
              </a:rPr>
              <a:t>yへ変換する</a:t>
            </a:r>
            <a:endParaRPr sz="3200" b="1" dirty="0">
              <a:solidFill>
                <a:srgbClr val="082B52"/>
              </a:solidFill>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26</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1405513"/>
          </a:xfrm>
          <a:prstGeom prst="rect">
            <a:avLst/>
          </a:prstGeom>
          <a:noFill/>
        </p:spPr>
        <p:txBody>
          <a:bodyPr wrap="square" lIns="27432" rIns="27432">
            <a:spAutoFit/>
          </a:bodyPr>
          <a:lstStyle/>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orbit </a:t>
            </a:r>
            <a:r>
              <a:rPr sz="2400" dirty="0" err="1">
                <a:solidFill>
                  <a:srgbClr val="232B34"/>
                </a:solidFill>
                <a:latin typeface="Arial" panose="020B0604020202020204" pitchFamily="34" charset="0"/>
              </a:rPr>
              <a:t>catalogから姿勢を構成</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STT</a:t>
            </a:r>
            <a:r>
              <a:rPr sz="2400" dirty="0">
                <a:solidFill>
                  <a:srgbClr val="232B34"/>
                </a:solidFill>
                <a:latin typeface="Arial" panose="020B0604020202020204" pitchFamily="34" charset="0"/>
              </a:rPr>
              <a:t>/body x–</a:t>
            </a:r>
            <a:r>
              <a:rPr sz="2400" dirty="0" err="1">
                <a:solidFill>
                  <a:srgbClr val="232B34"/>
                </a:solidFill>
                <a:latin typeface="Arial" panose="020B0604020202020204" pitchFamily="34" charset="0"/>
              </a:rPr>
              <a:t>yへ射影</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熱</a:t>
            </a:r>
            <a:r>
              <a:rPr sz="2400" dirty="0">
                <a:solidFill>
                  <a:srgbClr val="232B34"/>
                </a:solidFill>
                <a:latin typeface="Arial" panose="020B0604020202020204" pitchFamily="34" charset="0"/>
              </a:rPr>
              <a:t>LOSと同じ2成分で加算</a:t>
            </a:r>
          </a:p>
        </p:txBody>
      </p:sp>
      <p:graphicFrame>
        <p:nvGraphicFramePr>
          <p:cNvPr id="9" name="Table 8"/>
          <p:cNvGraphicFramePr>
            <a:graphicFrameLocks noGrp="1"/>
          </p:cNvGraphicFramePr>
          <p:nvPr>
            <p:extLst>
              <p:ext uri="{D42A27DB-BD31-4B8C-83A1-F6EECF244321}">
                <p14:modId xmlns:p14="http://schemas.microsoft.com/office/powerpoint/2010/main" val="1704364385"/>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lang="en-US" sz="2100" b="1">
                          <a:solidFill>
                            <a:srgbClr val="FFFFFF"/>
                          </a:solidFill>
                          <a:latin typeface="Arial" panose="020B0604020202020204" pitchFamily="34" charset="0"/>
                        </a:rPr>
                        <a:t>Sun</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Partner / link</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Status</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lang="en-US" sz="2100" b="0">
                          <a:solidFill>
                            <a:srgbClr val="232B34"/>
                          </a:solidFill>
                          <a:latin typeface="Arial" panose="020B0604020202020204" pitchFamily="34" charset="0"/>
                        </a:rPr>
                        <a:t>MY</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along-track ISL 800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lang="en-US" sz="2100" b="0">
                          <a:solidFill>
                            <a:srgbClr val="232B34"/>
                          </a:solidFill>
                          <a:latin typeface="Arial" panose="020B0604020202020204" pitchFamily="34" charset="0"/>
                        </a:rPr>
                        <a:t>PY</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anti-along ISL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lang="en-US" sz="2100" b="0">
                          <a:solidFill>
                            <a:srgbClr val="232B34"/>
                          </a:solidFill>
                          <a:latin typeface="Arial" panose="020B0604020202020204" pitchFamily="34" charset="0"/>
                        </a:rPr>
                        <a:t>PX</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nadir ground ~695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lang="en-US" sz="2100" b="0">
                          <a:solidFill>
                            <a:srgbClr val="232B34"/>
                          </a:solidFill>
                          <a:latin typeface="Arial" panose="020B0604020202020204" pitchFamily="34" charset="0"/>
                        </a:rPr>
                        <a:t>MX</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zenith proxy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unrealistic</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Arial" panose="020B0604020202020204" pitchFamily="34" charset="0"/>
              <a:ea typeface="Yu Gothic"/>
            </a:endParaRPr>
          </a:p>
          <a:p>
            <a:pPr algn="l">
              <a:lnSpc>
                <a:spcPct val="110000"/>
              </a:lnSpc>
              <a:spcAft>
                <a:spcPts val="0"/>
              </a:spcAft>
            </a:pPr>
            <a:r>
              <a:rPr lang="en-US" altLang="ja-JP" sz="3200" b="1">
                <a:solidFill>
                  <a:srgbClr val="082B52"/>
                </a:solidFill>
                <a:latin typeface="Arial" panose="020B0604020202020204" pitchFamily="34" charset="0"/>
                <a:ea typeface="Yu Gothic"/>
              </a:rPr>
              <a:t>Limitations of this study </a:t>
            </a:r>
            <a:r>
              <a:rPr lang="ja-JP" altLang="en-US" sz="3200" b="1">
                <a:solidFill>
                  <a:srgbClr val="082B52"/>
                </a:solidFill>
                <a:latin typeface="Arial" panose="020B0604020202020204" pitchFamily="34" charset="0"/>
                <a:ea typeface="Yu Gothic"/>
              </a:rPr>
              <a:t>＆ </a:t>
            </a:r>
            <a:r>
              <a:rPr lang="en-US" altLang="ja-JP" sz="3200" b="1">
                <a:solidFill>
                  <a:srgbClr val="082B52"/>
                </a:solidFill>
                <a:latin typeface="Arial" panose="020B0604020202020204" pitchFamily="34" charset="0"/>
                <a:ea typeface="Yu Gothic"/>
              </a:rPr>
              <a:t>Future </a:t>
            </a:r>
            <a:r>
              <a:rPr lang="en-US" altLang="ja-JP" sz="3200" b="1" dirty="0">
                <a:solidFill>
                  <a:srgbClr val="082B52"/>
                </a:solidFill>
                <a:latin typeface="Arial" panose="020B0604020202020204" pitchFamily="34" charset="0"/>
                <a:ea typeface="Yu Gothic"/>
              </a:rPr>
              <a:t>work</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1B74AA"/>
                </a:solidFill>
                <a:latin typeface="Arial" panose="020B0604020202020204" pitchFamily="34" charset="0"/>
                <a:ea typeface="Yu Gothic"/>
              </a:rPr>
              <a:t>Validation scope</a:t>
            </a:r>
            <a:endParaRPr lang="en-US" sz="2600" b="1" dirty="0">
              <a:solidFill>
                <a:srgbClr val="1B74AA"/>
              </a:solidFill>
              <a:latin typeface="Arial" panose="020B0604020202020204" pitchFamily="34" charset="0"/>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Numerical evaluation: same structure and LOS definition</a:t>
            </a:r>
            <a:endParaRPr lang="en-US" sz="2800" b="0" dirty="0">
              <a:solidFill>
                <a:srgbClr val="232B34"/>
              </a:solidFill>
              <a:latin typeface="Arial" panose="020B0604020202020204" pitchFamily="34" charset="0"/>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EC9427"/>
                </a:solidFill>
                <a:latin typeface="Arial" panose="020B0604020202020204" pitchFamily="34" charset="0"/>
                <a:ea typeface="Yu Gothic"/>
              </a:rPr>
              <a:t>Model applicability</a:t>
            </a:r>
            <a:endParaRPr lang="en-US" sz="2600" b="1" dirty="0">
              <a:solidFill>
                <a:srgbClr val="EC9427"/>
              </a:solidFill>
              <a:latin typeface="Arial" panose="020B0604020202020204" pitchFamily="34" charset="0"/>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en-US" altLang="ja-JP" sz="2800">
                <a:latin typeface="Arial" panose="020B0604020202020204" pitchFamily="34" charset="0"/>
              </a:rPr>
              <a:t>No ground test; flight relevance of the analysis model and sensitivities remains unvalidated</a:t>
            </a:r>
            <a:endParaRPr lang="en-US" altLang="ja-JP" sz="2800" dirty="0">
              <a:latin typeface="Arial" panose="020B0604020202020204" pitchFamily="34" charset="0"/>
            </a:endParaRP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Arial" panose="020B0604020202020204" pitchFamily="34" charset="0"/>
                <a:ea typeface="Yu Gothic"/>
              </a:rPr>
              <a:t>LOS extraction</a:t>
            </a:r>
            <a:endParaRPr sz="2600" b="1" dirty="0">
              <a:solidFill>
                <a:srgbClr val="D03B46"/>
              </a:solidFill>
              <a:latin typeface="Arial" panose="020B0604020202020204" pitchFamily="34" charset="0"/>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Representative-node rotations; no interface rigid-body fit or internal STT/LCT deformation</a:t>
            </a:r>
            <a:endParaRPr lang="en-US" sz="2800" b="0" dirty="0">
              <a:solidFill>
                <a:srgbClr val="232B34"/>
              </a:solidFill>
              <a:latin typeface="Arial" panose="020B0604020202020204" pitchFamily="34" charset="0"/>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lang="en-US" sz="2600" b="1">
                <a:solidFill>
                  <a:srgbClr val="239571"/>
                </a:solidFill>
                <a:latin typeface="Arial" panose="020B0604020202020204" pitchFamily="34" charset="0"/>
                <a:ea typeface="Yu Gothic"/>
              </a:rPr>
              <a:t>Acquisition evaluation</a:t>
            </a:r>
            <a:endParaRPr lang="en-US" sz="2600" b="1" dirty="0">
              <a:solidFill>
                <a:srgbClr val="239571"/>
              </a:solidFill>
              <a:latin typeface="Arial" panose="020B0604020202020204" pitchFamily="34" charset="0"/>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en-US" altLang="ja-JP" sz="2800">
                <a:latin typeface="Arial" panose="020B0604020202020204" pitchFamily="34" charset="0"/>
              </a:rPr>
              <a:t>One nonthermal seed; simplified scan dynamics</a:t>
            </a:r>
            <a:endParaRPr lang="en-US" altLang="ja-JP" sz="2800" dirty="0">
              <a:latin typeface="Arial" panose="020B0604020202020204" pitchFamily="34" charset="0"/>
            </a:endParaRP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latin typeface="Arial" panose="020B0604020202020204" pitchFamily="34" charset="0"/>
              </a:rPr>
              <a:t>Future Work</a:t>
            </a:r>
            <a:r>
              <a:rPr lang="en-US" altLang="ja-JP" sz="2800" b="1">
                <a:latin typeface="Arial" panose="020B0604020202020204" pitchFamily="34" charset="0"/>
              </a:rPr>
              <a:t>: ground-test validation, coefficient re-identification for real spacecraft,</a:t>
            </a:r>
            <a:endParaRPr lang="en-US" altLang="ja-JP" sz="2800" b="1" dirty="0">
              <a:latin typeface="Arial" panose="020B0604020202020204" pitchFamily="34" charset="0"/>
            </a:endParaRPr>
          </a:p>
          <a:p>
            <a:pPr algn="ctr"/>
            <a:r>
              <a:rPr lang="en-US" altLang="ja-JP" sz="2800" b="1">
                <a:latin typeface="Arial" panose="020B0604020202020204" pitchFamily="34" charset="0"/>
              </a:rPr>
              <a:t> and onboard adaptation using post-acquisition residuals</a:t>
            </a:r>
            <a:endParaRPr lang="en-US" altLang="ja-JP" sz="2800" b="1" dirty="0">
              <a:latin typeface="Arial" panose="020B0604020202020204" pitchFamily="34" charset="0"/>
            </a:endParaRP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406265"/>
          </a:xfrm>
          <a:prstGeom prst="rect">
            <a:avLst/>
          </a:prstGeom>
          <a:noFill/>
        </p:spPr>
        <p:txBody>
          <a:bodyPr wrap="square" lIns="45720" tIns="18288" rIns="45720" bIns="18288" anchor="t">
            <a:spAutoFit/>
          </a:bodyPr>
          <a:lstStyle/>
          <a:p>
            <a:pPr algn="ctr">
              <a:spcAft>
                <a:spcPts val="0"/>
              </a:spcAft>
            </a:pPr>
            <a:r>
              <a:rPr lang="en-US" sz="2400" b="0">
                <a:solidFill>
                  <a:srgbClr val="666F79"/>
                </a:solidFill>
                <a:latin typeface="Arial" panose="020B0604020202020204" pitchFamily="34" charset="0"/>
                <a:ea typeface="Yu Gothic"/>
              </a:rPr>
              <a:t>Oral presentation at ICSO 2026 on October 15</a:t>
            </a:r>
            <a:endParaRPr lang="en-US" sz="2400" b="0" dirty="0">
              <a:solidFill>
                <a:srgbClr val="666F79"/>
              </a:solidFill>
              <a:latin typeface="Arial" panose="020B0604020202020204" pitchFamily="34" charset="0"/>
              <a:ea typeface="Yu Gothic"/>
            </a:endParaRP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498598"/>
          </a:xfrm>
          <a:prstGeom prst="rect">
            <a:avLst/>
          </a:prstGeom>
          <a:noFill/>
        </p:spPr>
        <p:txBody>
          <a:bodyPr wrap="square" lIns="45720" tIns="18288" rIns="45720" bIns="18288" anchor="t">
            <a:spAutoFit/>
          </a:bodyPr>
          <a:lstStyle/>
          <a:p>
            <a:pPr algn="ctr">
              <a:spcAft>
                <a:spcPts val="0"/>
              </a:spcAft>
            </a:pPr>
            <a:r>
              <a:rPr lang="en-US" sz="3000" b="1">
                <a:solidFill>
                  <a:srgbClr val="1B74AA"/>
                </a:solidFill>
                <a:latin typeface="Arial" panose="020B0604020202020204" pitchFamily="34" charset="0"/>
                <a:ea typeface="Yu Gothic"/>
              </a:rPr>
              <a:t>Thank you for your attention</a:t>
            </a:r>
            <a:endParaRPr lang="en-US" sz="3000" b="1" dirty="0">
              <a:solidFill>
                <a:srgbClr val="1B74AA"/>
              </a:solidFill>
              <a:latin typeface="Arial" panose="020B0604020202020204" pitchFamily="34" charset="0"/>
              <a:ea typeface="Yu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r>
              <a:rPr lang="en-US" altLang="ja-JP" sz="3200" b="1">
                <a:latin typeface="Arial" panose="020B0604020202020204" pitchFamily="34" charset="0"/>
              </a:rPr>
              <a:t>The test case is excluded from all coefficient estimates to evaluate prediction under unseen conditions</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15</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452432"/>
          </a:xfrm>
          <a:prstGeom prst="rect">
            <a:avLst/>
          </a:prstGeom>
          <a:noFill/>
        </p:spPr>
        <p:txBody>
          <a:bodyPr wrap="square" lIns="45720" tIns="18288" rIns="45720" bIns="18288" anchor="t">
            <a:spAutoFit/>
          </a:bodyPr>
          <a:lstStyle/>
          <a:p>
            <a:pPr algn="ctr">
              <a:spcAft>
                <a:spcPts val="0"/>
              </a:spcAft>
            </a:pPr>
            <a:r>
              <a:rPr lang="en-US" sz="2700" b="1">
                <a:solidFill>
                  <a:srgbClr val="239571"/>
                </a:solidFill>
                <a:latin typeface="Arial" panose="020B0604020202020204" pitchFamily="34" charset="0"/>
                <a:ea typeface="Yu Gothic"/>
              </a:rPr>
              <a:t>① Fit each case</a:t>
            </a:r>
            <a:endParaRPr lang="en-US" sz="2700" b="1" dirty="0">
              <a:solidFill>
                <a:srgbClr val="239571"/>
              </a:solidFill>
              <a:latin typeface="Arial" panose="020B0604020202020204" pitchFamily="34" charset="0"/>
              <a:ea typeface="Yu Gothic"/>
            </a:endParaRPr>
          </a:p>
        </p:txBody>
      </p:sp>
      <p:sp>
        <p:nvSpPr>
          <p:cNvPr id="7" name="TextBox 6"/>
          <p:cNvSpPr txBox="1"/>
          <p:nvPr/>
        </p:nvSpPr>
        <p:spPr>
          <a:xfrm>
            <a:off x="1856231" y="4617720"/>
            <a:ext cx="5641848" cy="1274964"/>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Use the first orbit of each case
to estimate its sensitivity a
and mean b</a:t>
            </a:r>
            <a:endParaRPr lang="en-US" sz="2400" b="0" dirty="0">
              <a:solidFill>
                <a:srgbClr val="232B34"/>
              </a:solidFill>
              <a:latin typeface="Arial" panose="020B0604020202020204" pitchFamily="34" charset="0"/>
              <a:ea typeface="Yu Gothic"/>
            </a:endParaRP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452432"/>
          </a:xfrm>
          <a:prstGeom prst="rect">
            <a:avLst/>
          </a:prstGeom>
          <a:noFill/>
        </p:spPr>
        <p:txBody>
          <a:bodyPr wrap="square" lIns="45720" tIns="18288" rIns="45720" bIns="18288" anchor="t">
            <a:spAutoFit/>
          </a:bodyPr>
          <a:lstStyle/>
          <a:p>
            <a:pPr algn="ctr">
              <a:spcAft>
                <a:spcPts val="0"/>
              </a:spcAft>
            </a:pPr>
            <a:r>
              <a:rPr lang="en-US" sz="2700" b="1">
                <a:solidFill>
                  <a:srgbClr val="1B74AA"/>
                </a:solidFill>
                <a:latin typeface="Arial" panose="020B0604020202020204" pitchFamily="34" charset="0"/>
                <a:ea typeface="Yu Gothic"/>
              </a:rPr>
              <a:t>② Share within each sun face</a:t>
            </a:r>
            <a:endParaRPr lang="en-US" sz="2700" b="1" dirty="0">
              <a:solidFill>
                <a:srgbClr val="1B74AA"/>
              </a:solidFill>
              <a:latin typeface="Arial" panose="020B0604020202020204" pitchFamily="34" charset="0"/>
              <a:ea typeface="Yu Gothic"/>
            </a:endParaRPr>
          </a:p>
        </p:txBody>
      </p:sp>
      <p:sp>
        <p:nvSpPr>
          <p:cNvPr id="10" name="TextBox 9"/>
          <p:cNvSpPr txBox="1"/>
          <p:nvPr/>
        </p:nvSpPr>
        <p:spPr>
          <a:xfrm>
            <a:off x="8732520" y="4617720"/>
            <a:ext cx="6108192" cy="2124428"/>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Median a within each sun face
becomes the shared sensitivity
Fit mean b across cases from
sun face and dissipation flags</a:t>
            </a:r>
            <a:endParaRPr lang="en-US" sz="2400" b="0" dirty="0">
              <a:solidFill>
                <a:srgbClr val="232B34"/>
              </a:solidFill>
              <a:latin typeface="Arial" panose="020B0604020202020204" pitchFamily="34" charset="0"/>
              <a:ea typeface="Yu Gothic"/>
            </a:endParaRP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452432"/>
          </a:xfrm>
          <a:prstGeom prst="rect">
            <a:avLst/>
          </a:prstGeom>
          <a:noFill/>
        </p:spPr>
        <p:txBody>
          <a:bodyPr wrap="square" lIns="45720" tIns="18288" rIns="45720" bIns="18288" anchor="t">
            <a:spAutoFit/>
          </a:bodyPr>
          <a:lstStyle/>
          <a:p>
            <a:pPr algn="ctr">
              <a:spcAft>
                <a:spcPts val="0"/>
              </a:spcAft>
            </a:pPr>
            <a:r>
              <a:rPr lang="en-US" sz="2700" b="1">
                <a:solidFill>
                  <a:srgbClr val="EC9427"/>
                </a:solidFill>
                <a:latin typeface="Arial" panose="020B0604020202020204" pitchFamily="34" charset="0"/>
                <a:ea typeface="Yu Gothic"/>
              </a:rPr>
              <a:t>③ Test an unseen case</a:t>
            </a:r>
            <a:endParaRPr lang="en-US" sz="2700" b="1" dirty="0">
              <a:solidFill>
                <a:srgbClr val="EC9427"/>
              </a:solidFill>
              <a:latin typeface="Arial" panose="020B0604020202020204" pitchFamily="34" charset="0"/>
              <a:ea typeface="Yu Gothic"/>
            </a:endParaRPr>
          </a:p>
        </p:txBody>
      </p:sp>
      <p:sp>
        <p:nvSpPr>
          <p:cNvPr id="13" name="TextBox 12"/>
          <p:cNvSpPr txBox="1"/>
          <p:nvPr/>
        </p:nvSpPr>
        <p:spPr>
          <a:xfrm>
            <a:off x="16056864" y="4617720"/>
            <a:ext cx="6464808" cy="2549159"/>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nested leave-one-case-out
Exclude the test case from shared sensitivity
and both-axis mean models
Evaluate its next two orbits</a:t>
            </a:r>
            <a:endParaRPr lang="en-US" sz="2400" b="0" dirty="0">
              <a:solidFill>
                <a:srgbClr val="232B34"/>
              </a:solidFill>
              <a:latin typeface="Arial" panose="020B0604020202020204" pitchFamily="34" charset="0"/>
              <a:ea typeface="Yu Gothic"/>
            </a:endParaRP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en-US" altLang="ja-JP" sz="2800" b="1">
                <a:latin typeface="Arial" panose="020B0604020202020204" pitchFamily="34" charset="0"/>
              </a:rPr>
              <a:t>Evaluate how well fixed shared coefficients predict unseen operating conditions</a:t>
            </a:r>
            <a:endParaRPr lang="en-US" altLang="ja-JP" sz="2800" dirty="0">
              <a:latin typeface="Arial" panose="020B0604020202020204" pitchFamily="34" charset="0"/>
            </a:endParaRPr>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en-US" altLang="ja-JP" sz="2400">
                <a:latin typeface="Arial" panose="020B0604020202020204" pitchFamily="34" charset="0"/>
              </a:rPr>
              <a:t>Across-condition evaluation within the same structure and LOS definition</a:t>
            </a:r>
            <a:endParaRPr lang="en-US" altLang="ja-JP" sz="2400" dirty="0">
              <a:latin typeface="Arial" panose="020B0604020202020204" pitchFamily="34" charset="0"/>
            </a:endParaRPr>
          </a:p>
        </p:txBody>
      </p:sp>
    </p:spTree>
    <p:extLst>
      <p:ext uri="{BB962C8B-B14F-4D97-AF65-F5344CB8AC3E}">
        <p14:creationId xmlns:p14="http://schemas.microsoft.com/office/powerpoint/2010/main" val="473768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Temperature prediction helps the first acquisition; residual updates lower the later-orbit floor</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21</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958290513"/>
              </p:ext>
            </p:extLst>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lang="en-US" sz="2100" b="1">
                          <a:solidFill>
                            <a:srgbClr val="FFFFFF"/>
                          </a:solidFill>
                          <a:latin typeface="Arial" panose="020B0604020202020204" pitchFamily="34" charset="0"/>
                          <a:ea typeface="Yu Gothic"/>
                        </a:rPr>
                        <a:t>Case 16 (PY)</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First orbit</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Orbit 1 onward</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lang="en-US" sz="2100" b="0">
                          <a:solidFill>
                            <a:srgbClr val="232B34"/>
                          </a:solidFill>
                          <a:latin typeface="Arial" panose="020B0604020202020204" pitchFamily="34" charset="0"/>
                          <a:ea typeface="Yu Gothic"/>
                        </a:rPr>
                        <a:t>Direct Fourier fit to total error</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39.5 s</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0.38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lang="en-US" sz="2100" b="0">
                          <a:solidFill>
                            <a:srgbClr val="232B34"/>
                          </a:solidFill>
                          <a:latin typeface="Arial" panose="020B0604020202020204" pitchFamily="34" charset="0"/>
                          <a:ea typeface="Yu Gothic"/>
                        </a:rPr>
                        <a:t>Hierarchical model + residual Fourier</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1.47 s</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0.40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EC9427"/>
                </a:solidFill>
                <a:latin typeface="Arial" panose="020B0604020202020204" pitchFamily="34" charset="0"/>
                <a:ea typeface="Yu Gothic"/>
              </a:rPr>
              <a:t>A constant residual update is insufficient</a:t>
            </a:r>
            <a:endParaRPr lang="en-US" sz="2400" b="1" dirty="0">
              <a:solidFill>
                <a:srgbClr val="EC9427"/>
              </a:solidFill>
              <a:latin typeface="Arial" panose="020B0604020202020204" pitchFamily="34" charset="0"/>
              <a:ea typeface="Yu Gothic"/>
            </a:endParaRPr>
          </a:p>
        </p:txBody>
      </p:sp>
      <p:sp>
        <p:nvSpPr>
          <p:cNvPr id="10" name="TextBox 9"/>
          <p:cNvSpPr txBox="1"/>
          <p:nvPr/>
        </p:nvSpPr>
        <p:spPr>
          <a:xfrm>
            <a:off x="15544800" y="7726679"/>
            <a:ext cx="7589520" cy="782458"/>
          </a:xfrm>
          <a:prstGeom prst="rect">
            <a:avLst/>
          </a:prstGeom>
          <a:noFill/>
        </p:spPr>
        <p:txBody>
          <a:bodyPr wrap="square" lIns="45720" tIns="18288" rIns="45720" bIns="18288" anchor="t">
            <a:spAutoFit/>
          </a:bodyPr>
          <a:lstStyle/>
          <a:p>
            <a:pPr algn="ctr">
              <a:lnSpc>
                <a:spcPct val="115000"/>
              </a:lnSpc>
              <a:spcAft>
                <a:spcPts val="0"/>
              </a:spcAft>
            </a:pPr>
            <a:r>
              <a:rPr lang="en-US" sz="2200" b="0">
                <a:solidFill>
                  <a:srgbClr val="232B34"/>
                </a:solidFill>
                <a:latin typeface="Arial" panose="020B0604020202020204" pitchFamily="34" charset="0"/>
                <a:ea typeface="Yu Gothic"/>
              </a:rPr>
              <a:t>Case 13, orbit 1 onward: 1.66 → 1.35 s;
above the 0.38 s Fourier result.</a:t>
            </a:r>
            <a:endParaRPr lang="en-US" sz="2200" b="0" dirty="0">
              <a:solidFill>
                <a:srgbClr val="232B34"/>
              </a:solidFill>
              <a:latin typeface="Arial" panose="020B0604020202020204" pitchFamily="34" charset="0"/>
              <a:ea typeface="Yu Gothic"/>
            </a:endParaRP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666F79"/>
                </a:solidFill>
                <a:latin typeface="Arial" panose="020B0604020202020204" pitchFamily="34" charset="0"/>
                <a:ea typeface="Yu Gothic"/>
              </a:rPr>
              <a:t>Scope of this section</a:t>
            </a:r>
            <a:endParaRPr lang="en-US" sz="2400" b="1" dirty="0">
              <a:solidFill>
                <a:srgbClr val="666F79"/>
              </a:solidFill>
              <a:latin typeface="Arial" panose="020B0604020202020204" pitchFamily="34" charset="0"/>
              <a:ea typeface="Yu Gothic"/>
            </a:endParaRPr>
          </a:p>
        </p:txBody>
      </p:sp>
      <p:sp>
        <p:nvSpPr>
          <p:cNvPr id="13" name="TextBox 12"/>
          <p:cNvSpPr txBox="1"/>
          <p:nvPr/>
        </p:nvSpPr>
        <p:spPr>
          <a:xfrm>
            <a:off x="15544800" y="10469880"/>
            <a:ext cx="7589520" cy="1120243"/>
          </a:xfrm>
          <a:prstGeom prst="rect">
            <a:avLst/>
          </a:prstGeom>
          <a:noFill/>
        </p:spPr>
        <p:txBody>
          <a:bodyPr wrap="square" lIns="45720" tIns="18288" rIns="45720" bIns="18288" anchor="t">
            <a:spAutoFit/>
          </a:bodyPr>
          <a:lstStyle/>
          <a:p>
            <a:pPr algn="ctr">
              <a:lnSpc>
                <a:spcPct val="115000"/>
              </a:lnSpc>
              <a:spcAft>
                <a:spcPts val="0"/>
              </a:spcAft>
            </a:pPr>
            <a:r>
              <a:rPr lang="en-US" sz="2100" b="0">
                <a:solidFill>
                  <a:srgbClr val="232B34"/>
                </a:solidFill>
                <a:latin typeface="Arial" panose="020B0604020202020204" pitchFamily="34" charset="0"/>
                <a:ea typeface="Yu Gothic"/>
              </a:rPr>
              <a:t>Thermal-model coefficients are fixed.
Preliminary update of total pointing residual
after acquisition (two cases, dense sampling).</a:t>
            </a:r>
            <a:endParaRPr lang="en-US" sz="2100" b="0" dirty="0">
              <a:solidFill>
                <a:srgbClr val="232B34"/>
              </a:solidFill>
              <a:latin typeface="Arial" panose="020B0604020202020204" pitchFamily="34" charset="0"/>
              <a:ea typeface="Yu Gothic"/>
            </a:endParaRPr>
          </a:p>
        </p:txBody>
      </p:sp>
      <p:sp>
        <p:nvSpPr>
          <p:cNvPr id="14" name="TextBox 13"/>
          <p:cNvSpPr txBox="1"/>
          <p:nvPr/>
        </p:nvSpPr>
        <p:spPr>
          <a:xfrm>
            <a:off x="1005840" y="10241280"/>
            <a:ext cx="13716000" cy="914866"/>
          </a:xfrm>
          <a:prstGeom prst="rect">
            <a:avLst/>
          </a:prstGeom>
          <a:noFill/>
        </p:spPr>
        <p:txBody>
          <a:bodyPr wrap="square" lIns="45720" tIns="18288" rIns="45720" bIns="18288" anchor="t">
            <a:spAutoFit/>
          </a:bodyPr>
          <a:lstStyle/>
          <a:p>
            <a:pPr algn="ctr">
              <a:lnSpc>
                <a:spcPct val="125000"/>
              </a:lnSpc>
              <a:spcAft>
                <a:spcPts val="0"/>
              </a:spcAft>
            </a:pPr>
            <a:r>
              <a:rPr lang="en-US" sz="2400" b="1">
                <a:solidFill>
                  <a:srgbClr val="082B52"/>
                </a:solidFill>
                <a:latin typeface="Arial" panose="020B0604020202020204" pitchFamily="34" charset="0"/>
                <a:ea typeface="Yu Gothic"/>
              </a:rPr>
              <a:t>Primary result: temperature/operating-state feedforward.</a:t>
            </a:r>
          </a:p>
          <a:p>
            <a:pPr algn="ctr">
              <a:lnSpc>
                <a:spcPct val="125000"/>
              </a:lnSpc>
              <a:spcAft>
                <a:spcPts val="0"/>
              </a:spcAft>
            </a:pPr>
            <a:r>
              <a:rPr lang="en-US" sz="2400" b="1">
                <a:solidFill>
                  <a:srgbClr val="082B52"/>
                </a:solidFill>
                <a:latin typeface="Arial" panose="020B0604020202020204" pitchFamily="34" charset="0"/>
                <a:ea typeface="Yu Gothic"/>
              </a:rPr>
              <a:t>Repeated links may reduce the floor further.</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016000" y="1219200"/>
            <a:ext cx="22352000" cy="711200"/>
          </a:xfrm>
          <a:prstGeom prst="rect">
            <a:avLst/>
          </a:prstGeom>
          <a:noFill/>
        </p:spPr>
        <p:txBody>
          <a:bodyPr wrap="square" lIns="45720" tIns="18288" rIns="45720" bIns="18288"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Shared sensitivity and the predicted case bias</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1B74AA"/>
                </a:solidFill>
                <a:latin typeface="Arial" panose="020B0604020202020204" pitchFamily="34" charset="0"/>
                <a:ea typeface="Yu Gothic"/>
              </a:rPr>
              <a:t>Sun-face sensitivities a (case-specific and shared)</a:t>
            </a:r>
            <a:endParaRPr lang="en-US" sz="2100" b="1" dirty="0" err="1">
              <a:solidFill>
                <a:srgbClr val="1B74AA"/>
              </a:solidFill>
              <a:latin typeface="Arial" panose="020B0604020202020204" pitchFamily="34" charset="0"/>
              <a:ea typeface="Yu Gothic"/>
            </a:endParaRP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239571"/>
                </a:solidFill>
                <a:latin typeface="Arial" panose="020B0604020202020204" pitchFamily="34" charset="0"/>
                <a:ea typeface="Yu Gothic"/>
              </a:rPr>
              <a:t>Case bias b: empirical versus predicted</a:t>
            </a:r>
            <a:endParaRPr lang="en-US" sz="2100" b="1" dirty="0">
              <a:solidFill>
                <a:srgbClr val="239571"/>
              </a:solidFill>
              <a:latin typeface="Arial" panose="020B0604020202020204" pitchFamily="34" charset="0"/>
              <a:ea typeface="Yu Gothic"/>
            </a:endParaRPr>
          </a:p>
        </p:txBody>
      </p:sp>
      <p:sp>
        <p:nvSpPr>
          <p:cNvPr id="20" name="TextBox 19"/>
          <p:cNvSpPr txBox="1"/>
          <p:nvPr/>
        </p:nvSpPr>
        <p:spPr>
          <a:xfrm>
            <a:off x="1463040" y="10312400"/>
            <a:ext cx="21396960" cy="375487"/>
          </a:xfrm>
          <a:prstGeom prst="rect">
            <a:avLst/>
          </a:prstGeom>
          <a:noFill/>
        </p:spPr>
        <p:txBody>
          <a:bodyPr wrap="square" lIns="45720" tIns="18288" rIns="45720" bIns="18288" anchor="t">
            <a:spAutoFit/>
          </a:bodyPr>
          <a:lstStyle/>
          <a:p>
            <a:pPr algn="ctr">
              <a:spcAft>
                <a:spcPts val="0"/>
              </a:spcAft>
            </a:pPr>
            <a:r>
              <a:rPr lang="en-US" sz="2200" b="0">
                <a:solidFill>
                  <a:srgbClr val="666F79"/>
                </a:solidFill>
                <a:latin typeface="Arial" panose="020B0604020202020204" pitchFamily="34" charset="0"/>
                <a:ea typeface="Yu Gothic"/>
              </a:rPr>
              <a:t>Shared sensitivity: MX +30.6 / MY +28.6 / PX −28.1 / PY −28.7 µrad/K</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1031398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lang="en-US" sz="3200" b="1" dirty="0">
                <a:solidFill>
                  <a:srgbClr val="082B52"/>
                </a:solidFill>
                <a:latin typeface="Arial" panose="020B0604020202020204" pitchFamily="34" charset="0"/>
                <a:ea typeface="Yu Gothic"/>
              </a:rPr>
              <a:t>Even </a:t>
            </a:r>
            <a:r>
              <a:rPr lang="en-US" sz="3200" b="1">
                <a:solidFill>
                  <a:srgbClr val="082B52"/>
                </a:solidFill>
                <a:latin typeface="Arial" panose="020B0604020202020204" pitchFamily="34" charset="0"/>
                <a:ea typeface="Yu Gothic"/>
              </a:rPr>
              <a:t>for the Case with one of the largest thermal LOS errors, 1250 µrad falls to 3.9 µrad</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375487"/>
          </a:xfrm>
          <a:prstGeom prst="rect">
            <a:avLst/>
          </a:prstGeom>
          <a:noFill/>
        </p:spPr>
        <p:txBody>
          <a:bodyPr wrap="square" lIns="45720" tIns="18288" rIns="45720" bIns="18288" anchor="t">
            <a:spAutoFit/>
          </a:bodyPr>
          <a:lstStyle/>
          <a:p>
            <a:pPr algn="ctr">
              <a:spcAft>
                <a:spcPts val="0"/>
              </a:spcAft>
            </a:pPr>
            <a:r>
              <a:rPr lang="en-US" sz="2200" b="1">
                <a:solidFill>
                  <a:srgbClr val="1B74AA"/>
                </a:solidFill>
                <a:latin typeface="Arial" panose="020B0604020202020204" pitchFamily="34" charset="0"/>
                <a:ea typeface="Yu Gothic"/>
              </a:rPr>
              <a:t>Case 08 (PY sun face, all units dissipating)</a:t>
            </a:r>
            <a:endParaRPr lang="en-US" sz="2200" b="1" dirty="0">
              <a:solidFill>
                <a:srgbClr val="1B74AA"/>
              </a:solidFill>
              <a:latin typeface="Arial" panose="020B0604020202020204" pitchFamily="34" charset="0"/>
              <a:ea typeface="Yu Gothic"/>
            </a:endParaRP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D03B46"/>
                </a:solidFill>
                <a:latin typeface="Arial" panose="020B0604020202020204" pitchFamily="34" charset="0"/>
                <a:ea typeface="Yu Gothic"/>
              </a:rPr>
              <a:t>1250 µrad</a:t>
            </a:r>
            <a:endParaRPr lang="en-US" sz="3600" b="1" dirty="0">
              <a:solidFill>
                <a:srgbClr val="D03B46"/>
              </a:solidFill>
              <a:latin typeface="Arial" panose="020B0604020202020204" pitchFamily="34" charset="0"/>
              <a:ea typeface="Yu Gothic"/>
            </a:endParaRPr>
          </a:p>
        </p:txBody>
      </p:sp>
      <p:sp>
        <p:nvSpPr>
          <p:cNvPr id="10" name="TextBox 9"/>
          <p:cNvSpPr txBox="1"/>
          <p:nvPr/>
        </p:nvSpPr>
        <p:spPr>
          <a:xfrm>
            <a:off x="15837408" y="465246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Raw dominant-axis RMS</a:t>
            </a:r>
            <a:endParaRPr lang="en-US" sz="1900" b="0" dirty="0">
              <a:solidFill>
                <a:srgbClr val="666F79"/>
              </a:solidFill>
              <a:latin typeface="Arial" panose="020B0604020202020204" pitchFamily="34" charset="0"/>
              <a:ea typeface="Yu Gothic"/>
            </a:endParaRP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239571"/>
                </a:solidFill>
                <a:latin typeface="Arial" panose="020B0604020202020204" pitchFamily="34" charset="0"/>
                <a:ea typeface="Yu Gothic"/>
              </a:rPr>
              <a:t>3.9 µrad</a:t>
            </a:r>
            <a:endParaRPr lang="en-US" sz="3600" b="1" dirty="0">
              <a:solidFill>
                <a:srgbClr val="239571"/>
              </a:solidFill>
              <a:latin typeface="Arial" panose="020B0604020202020204" pitchFamily="34" charset="0"/>
              <a:ea typeface="Yu Gothic"/>
            </a:endParaRPr>
          </a:p>
        </p:txBody>
      </p:sp>
      <p:sp>
        <p:nvSpPr>
          <p:cNvPr id="13" name="TextBox 12"/>
          <p:cNvSpPr txBox="1"/>
          <p:nvPr/>
        </p:nvSpPr>
        <p:spPr>
          <a:xfrm>
            <a:off x="15837408" y="702990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Test RMSE for an unseen case</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421654"/>
          </a:xfrm>
          <a:prstGeom prst="rect">
            <a:avLst/>
          </a:prstGeom>
          <a:noFill/>
        </p:spPr>
        <p:txBody>
          <a:bodyPr wrap="square" lIns="45720" tIns="18288" rIns="45720" bIns="18288" anchor="t">
            <a:spAutoFit/>
          </a:bodyPr>
          <a:lstStyle/>
          <a:p>
            <a:pPr algn="ctr">
              <a:spcAft>
                <a:spcPts val="0"/>
              </a:spcAft>
            </a:pPr>
            <a:r>
              <a:rPr lang="en-US" sz="2500" b="1">
                <a:solidFill>
                  <a:srgbClr val="1B74AA"/>
                </a:solidFill>
                <a:latin typeface="Arial" panose="020B0604020202020204" pitchFamily="34" charset="0"/>
                <a:ea typeface="Yu Gothic"/>
              </a:rPr>
              <a:t>First scan point is sufficient</a:t>
            </a:r>
            <a:endParaRPr lang="en-US" sz="2500" b="1" dirty="0">
              <a:solidFill>
                <a:srgbClr val="1B74AA"/>
              </a:solidFill>
              <a:latin typeface="Arial" panose="020B0604020202020204" pitchFamily="34" charset="0"/>
              <a:ea typeface="Yu Gothic"/>
            </a:endParaRPr>
          </a:p>
        </p:txBody>
      </p:sp>
      <p:sp>
        <p:nvSpPr>
          <p:cNvPr id="16" name="TextBox 15"/>
          <p:cNvSpPr txBox="1"/>
          <p:nvPr/>
        </p:nvSpPr>
        <p:spPr>
          <a:xfrm>
            <a:off x="16002000" y="9326880"/>
            <a:ext cx="6949440" cy="816377"/>
          </a:xfrm>
          <a:prstGeom prst="rect">
            <a:avLst/>
          </a:prstGeom>
          <a:noFill/>
        </p:spPr>
        <p:txBody>
          <a:bodyPr wrap="square" lIns="45720" tIns="18288" rIns="45720" bIns="18288" anchor="t">
            <a:spAutoFit/>
          </a:bodyPr>
          <a:lstStyle/>
          <a:p>
            <a:pPr algn="ctr">
              <a:lnSpc>
                <a:spcPct val="115000"/>
              </a:lnSpc>
              <a:spcAft>
                <a:spcPts val="0"/>
              </a:spcAft>
            </a:pPr>
            <a:r>
              <a:rPr lang="en-US" sz="2300" b="0">
                <a:solidFill>
                  <a:srgbClr val="232B34"/>
                </a:solidFill>
                <a:latin typeface="Arial" panose="020B0604020202020204" pitchFamily="34" charset="0"/>
                <a:ea typeface="Yu Gothic"/>
              </a:rPr>
              <a:t>Corrected residual is well below
the 150 µrad detection radius</a:t>
            </a:r>
            <a:endParaRPr lang="en-US" sz="2300" b="0" dirty="0">
              <a:solidFill>
                <a:srgbClr val="232B34"/>
              </a:solidFill>
              <a:latin typeface="Arial" panose="020B0604020202020204" pitchFamily="34" charset="0"/>
              <a:ea typeface="Yu Gothic"/>
            </a:endParaRPr>
          </a:p>
        </p:txBody>
      </p:sp>
      <p:sp>
        <p:nvSpPr>
          <p:cNvPr id="17" name="TextBox 16"/>
          <p:cNvSpPr txBox="1"/>
          <p:nvPr/>
        </p:nvSpPr>
        <p:spPr>
          <a:xfrm>
            <a:off x="15727680" y="10835640"/>
            <a:ext cx="7498079" cy="406265"/>
          </a:xfrm>
          <a:prstGeom prst="rect">
            <a:avLst/>
          </a:prstGeom>
          <a:noFill/>
        </p:spPr>
        <p:txBody>
          <a:bodyPr wrap="square" lIns="45720" tIns="18288" rIns="45720" bIns="18288" anchor="t">
            <a:spAutoFit/>
          </a:bodyPr>
          <a:lstStyle/>
          <a:p>
            <a:pPr algn="ctr">
              <a:spcAft>
                <a:spcPts val="0"/>
              </a:spcAft>
            </a:pPr>
            <a:r>
              <a:rPr lang="en-US" sz="2400" b="1">
                <a:solidFill>
                  <a:srgbClr val="082B52"/>
                </a:solidFill>
                <a:latin typeface="Arial" panose="020B0604020202020204" pitchFamily="34" charset="0"/>
                <a:ea typeface="Yu Gothic"/>
              </a:rPr>
              <a:t>ΔT follows the within-orbit variation</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nonthermal LOS error, the mean drops from 19.2 to 5.45 s; the residual is governed by nonthermal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TextBox 4"/>
          <p:cNvSpPr txBox="1"/>
          <p:nvPr/>
        </p:nvSpPr>
        <p:spPr>
          <a:xfrm>
            <a:off x="1371600" y="39101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9178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19.2 s</a:t>
            </a:r>
            <a:endParaRPr lang="en-US" sz="2200" b="1" dirty="0">
              <a:solidFill>
                <a:srgbClr val="D03B46"/>
              </a:solidFill>
              <a:latin typeface="Arial" panose="020B0604020202020204" pitchFamily="34" charset="0"/>
              <a:ea typeface="Yu Gothic"/>
            </a:endParaRPr>
          </a:p>
        </p:txBody>
      </p:sp>
      <p:sp>
        <p:nvSpPr>
          <p:cNvPr id="9" name="TextBox 8"/>
          <p:cNvSpPr txBox="1"/>
          <p:nvPr/>
        </p:nvSpPr>
        <p:spPr>
          <a:xfrm>
            <a:off x="1371600" y="57389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7466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5.45 s</a:t>
            </a:r>
            <a:endParaRPr lang="en-US" sz="2200" b="1" dirty="0">
              <a:solidFill>
                <a:srgbClr val="239571"/>
              </a:solidFill>
              <a:latin typeface="Arial" panose="020B0604020202020204" pitchFamily="34" charset="0"/>
              <a:ea typeface="Yu Gothic"/>
            </a:endParaRP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−72%</a:t>
            </a:r>
            <a:endParaRPr lang="en-US" sz="3400" b="1" dirty="0">
              <a:solidFill>
                <a:srgbClr val="239571"/>
              </a:solidFill>
              <a:latin typeface="Arial" panose="020B0604020202020204" pitchFamily="34" charset="0"/>
              <a:ea typeface="Yu Gothic"/>
            </a:endParaRP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acquisition time</a:t>
            </a:r>
            <a:endParaRPr lang="en-US" sz="2000" b="0" dirty="0">
              <a:solidFill>
                <a:srgbClr val="666F79"/>
              </a:solidFill>
              <a:latin typeface="Arial" panose="020B0604020202020204" pitchFamily="34" charset="0"/>
              <a:ea typeface="Yu Gothic"/>
            </a:endParaRPr>
          </a:p>
        </p:txBody>
      </p:sp>
      <p:graphicFrame>
        <p:nvGraphicFramePr>
          <p:cNvPr id="19" name="Table 18"/>
          <p:cNvGraphicFramePr>
            <a:graphicFrameLocks noGrp="1"/>
          </p:cNvGraphicFramePr>
          <p:nvPr>
            <p:extLst>
              <p:ext uri="{D42A27DB-BD31-4B8C-83A1-F6EECF244321}">
                <p14:modId xmlns:p14="http://schemas.microsoft.com/office/powerpoint/2010/main" val="2224568494"/>
              </p:ext>
            </p:extLst>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lang="en-US" sz="2100" b="1">
                          <a:solidFill>
                            <a:srgbClr val="FFFFFF"/>
                          </a:solidFill>
                          <a:latin typeface="Arial" panose="020B0604020202020204" pitchFamily="34" charset="0"/>
                          <a:ea typeface="Yu Gothic"/>
                        </a:rPr>
                        <a:t>Metric</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No correction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Hierarchical model (feedforward)</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lang="en-US" sz="2100" b="0">
                          <a:solidFill>
                            <a:srgbClr val="232B34"/>
                          </a:solidFill>
                          <a:latin typeface="Arial" panose="020B0604020202020204" pitchFamily="34" charset="0"/>
                          <a:ea typeface="Yu Gothic"/>
                        </a:rPr>
                        <a:t>Success rate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98%</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acquisition time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19.2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5.45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initial error after correction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448 µrad (almost entirely nonthermal)</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lang="en-US" sz="2100" b="0">
                          <a:solidFill>
                            <a:srgbClr val="232B34"/>
                          </a:solidFill>
                          <a:latin typeface="Arial" panose="020B0604020202020204" pitchFamily="34" charset="0"/>
                          <a:ea typeface="Yu Gothic"/>
                        </a:rPr>
                        <a:t>PY sun face (thermal ≈1.2 mrad)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37.3–39.5 s / 88–97%</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1.3–1.8 s / 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en-US" altLang="ja-JP" sz="2800" b="1">
                <a:latin typeface="Arial" panose="020B0604020202020204" pitchFamily="34" charset="0"/>
              </a:rPr>
              <a:t>Predicting and removing thermal error shifts the coarse-acquisition limit from thermal to nonthermal error</a:t>
            </a:r>
            <a:endParaRPr lang="en-US" altLang="ja-JP" sz="2800" dirty="0">
              <a:latin typeface="Arial" panose="020B0604020202020204" pitchFamily="34" charset="0"/>
            </a:endParaRPr>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39617870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thermal LOS error only, mean acquisition time drops from 14.6 to 0.10 s, matching thermal-truth correction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20</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188720" y="3738678"/>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74637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14.6 s</a:t>
            </a:r>
            <a:endParaRPr lang="en-US" sz="2200" b="1" dirty="0">
              <a:solidFill>
                <a:srgbClr val="D03B46"/>
              </a:solidFill>
              <a:latin typeface="Arial" panose="020B0604020202020204" pitchFamily="34" charset="0"/>
              <a:ea typeface="Yu Gothic"/>
            </a:endParaRPr>
          </a:p>
        </p:txBody>
      </p:sp>
      <p:sp>
        <p:nvSpPr>
          <p:cNvPr id="13" name="TextBox 12"/>
          <p:cNvSpPr txBox="1"/>
          <p:nvPr/>
        </p:nvSpPr>
        <p:spPr>
          <a:xfrm>
            <a:off x="1188720" y="5229150"/>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52368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0.10 s</a:t>
            </a:r>
            <a:endParaRPr lang="en-US" sz="2200" b="1" dirty="0">
              <a:solidFill>
                <a:srgbClr val="239571"/>
              </a:solidFill>
              <a:latin typeface="Arial" panose="020B0604020202020204" pitchFamily="34" charset="0"/>
              <a:ea typeface="Yu Gothic"/>
            </a:endParaRPr>
          </a:p>
        </p:txBody>
      </p:sp>
      <p:sp>
        <p:nvSpPr>
          <p:cNvPr id="17" name="TextBox 16"/>
          <p:cNvSpPr txBox="1"/>
          <p:nvPr/>
        </p:nvSpPr>
        <p:spPr>
          <a:xfrm>
            <a:off x="1188720" y="6715049"/>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Thermal-truth upper bound</a:t>
            </a:r>
            <a:endParaRPr lang="en-US" sz="2300" b="0" dirty="0">
              <a:solidFill>
                <a:srgbClr val="232B34"/>
              </a:solidFill>
              <a:latin typeface="Arial" panose="020B0604020202020204" pitchFamily="34" charset="0"/>
              <a:ea typeface="Yu Gothic"/>
            </a:endParaRP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7227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1B74AA"/>
                </a:solidFill>
                <a:latin typeface="Arial" panose="020B0604020202020204" pitchFamily="34" charset="0"/>
                <a:ea typeface="Yu Gothic"/>
              </a:rPr>
              <a:t>0.10 s</a:t>
            </a:r>
            <a:endParaRPr lang="en-US" sz="2200" b="1" dirty="0">
              <a:solidFill>
                <a:srgbClr val="1B74AA"/>
              </a:solidFill>
              <a:latin typeface="Arial" panose="020B0604020202020204" pitchFamily="34" charset="0"/>
              <a:ea typeface="Yu Gothic"/>
            </a:endParaRPr>
          </a:p>
        </p:txBody>
      </p:sp>
      <p:graphicFrame>
        <p:nvGraphicFramePr>
          <p:cNvPr id="21" name="Table 20"/>
          <p:cNvGraphicFramePr>
            <a:graphicFrameLocks noGrp="1"/>
          </p:cNvGraphicFramePr>
          <p:nvPr>
            <p:extLst>
              <p:ext uri="{D42A27DB-BD31-4B8C-83A1-F6EECF244321}">
                <p14:modId xmlns:p14="http://schemas.microsoft.com/office/powerpoint/2010/main" val="2449627809"/>
              </p:ext>
            </p:extLst>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lang="en-US" sz="2000" b="1">
                          <a:solidFill>
                            <a:srgbClr val="FFFFFF"/>
                          </a:solidFill>
                          <a:latin typeface="Arial" panose="020B0604020202020204" pitchFamily="34" charset="0"/>
                          <a:ea typeface="Yu Gothic"/>
                        </a:rPr>
                        <a:t>Correction</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Success rate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Mean acquisition time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lang="en-US" sz="2000" b="0">
                          <a:solidFill>
                            <a:srgbClr val="232B34"/>
                          </a:solidFill>
                          <a:latin typeface="Arial" panose="020B0604020202020204" pitchFamily="34" charset="0"/>
                          <a:ea typeface="Yu Gothic"/>
                        </a:rPr>
                        <a:t>No correction</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14.6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lang="en-US" sz="2000" b="0">
                          <a:solidFill>
                            <a:srgbClr val="232B34"/>
                          </a:solidFill>
                          <a:latin typeface="Arial" panose="020B0604020202020204" pitchFamily="34" charset="0"/>
                          <a:ea typeface="Yu Gothic"/>
                        </a:rPr>
                        <a:t>Hierarchical model</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lang="en-US" sz="2000" b="0">
                          <a:solidFill>
                            <a:srgbClr val="232B34"/>
                          </a:solidFill>
                          <a:latin typeface="Arial" panose="020B0604020202020204" pitchFamily="34" charset="0"/>
                          <a:ea typeface="Yu Gothic"/>
                        </a:rPr>
                        <a:t>Thermal truth</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9.3 µrad</a:t>
            </a:r>
            <a:endParaRPr lang="en-US" sz="3400" b="1" dirty="0">
              <a:solidFill>
                <a:srgbClr val="239571"/>
              </a:solidFill>
              <a:latin typeface="Arial" panose="020B0604020202020204" pitchFamily="34" charset="0"/>
              <a:ea typeface="Yu Gothic"/>
            </a:endParaRP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thermal residual after correction</a:t>
            </a:r>
            <a:endParaRPr lang="en-US" sz="2000" b="0" dirty="0">
              <a:solidFill>
                <a:srgbClr val="666F79"/>
              </a:solidFill>
              <a:latin typeface="Arial" panose="020B0604020202020204" pitchFamily="34" charset="0"/>
              <a:ea typeface="Yu Gothic"/>
            </a:endParaRPr>
          </a:p>
        </p:txBody>
      </p:sp>
      <p:sp>
        <p:nvSpPr>
          <p:cNvPr id="25" name="TextBox 24"/>
          <p:cNvSpPr txBox="1"/>
          <p:nvPr/>
        </p:nvSpPr>
        <p:spPr>
          <a:xfrm>
            <a:off x="2011680" y="10424160"/>
            <a:ext cx="20299680" cy="902683"/>
          </a:xfrm>
          <a:prstGeom prst="rect">
            <a:avLst/>
          </a:prstGeom>
          <a:noFill/>
        </p:spPr>
        <p:txBody>
          <a:bodyPr wrap="square" lIns="36576" tIns="27432" rIns="36576" bIns="27432" anchor="t">
            <a:spAutoFit/>
          </a:bodyPr>
          <a:lstStyle/>
          <a:p>
            <a:pPr algn="ctr">
              <a:lnSpc>
                <a:spcPct val="115000"/>
              </a:lnSpc>
              <a:spcAft>
                <a:spcPts val="0"/>
              </a:spcAft>
            </a:pPr>
            <a:r>
              <a:rPr lang="en-US" sz="2500" b="0">
                <a:solidFill>
                  <a:srgbClr val="666F79"/>
                </a:solidFill>
                <a:latin typeface="Arial" panose="020B0604020202020204" pitchFamily="34" charset="0"/>
                <a:ea typeface="Yu Gothic"/>
              </a:rPr>
              <a:t>The residual is far below the 150 µrad detection radius, so acquisition occurs in one dwell.</a:t>
            </a:r>
          </a:p>
          <a:p>
            <a:pPr algn="ctr">
              <a:lnSpc>
                <a:spcPct val="115000"/>
              </a:lnSpc>
              <a:spcAft>
                <a:spcPts val="0"/>
              </a:spcAft>
            </a:pPr>
            <a:r>
              <a:rPr lang="en-US" sz="2500" b="0">
                <a:solidFill>
                  <a:srgbClr val="666F79"/>
                </a:solidFill>
                <a:latin typeface="Arial" panose="020B0604020202020204" pitchFamily="34" charset="0"/>
                <a:ea typeface="Yu Gothic"/>
              </a:rPr>
              <a:t>Mean over 14 COLD baseline-surface cases; the main result includes nonthermal error on the next slide.</a:t>
            </a:r>
            <a:endParaRPr lang="en-US" sz="2500" b="0" dirty="0">
              <a:solidFill>
                <a:srgbClr val="666F79"/>
              </a:solidFill>
              <a:latin typeface="Arial" panose="020B0604020202020204" pitchFamily="34" charset="0"/>
              <a:ea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B1｜21ケースの内訳と評価ID</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351869942"/>
              </p:ext>
            </p:extLst>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lang="en-US" sz="2300" b="0">
                          <a:solidFill>
                            <a:srgbClr val="232B34"/>
                          </a:solidFill>
                          <a:latin typeface="Arial" panose="020B0604020202020204" pitchFamily="34" charset="0"/>
                          <a:ea typeface="Yu Gothic"/>
                        </a:rPr>
                        <a:t>04, 13–15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lang="en-US" sz="2300" b="0">
                          <a:solidFill>
                            <a:srgbClr val="232B34"/>
                          </a:solidFill>
                          <a:latin typeface="Arial" panose="020B0604020202020204" pitchFamily="34" charset="0"/>
                          <a:ea typeface="Yu Gothic"/>
                        </a:rPr>
                        <a:t>08, 16, 18, 19</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lang="en-US" sz="2300" b="0">
                          <a:solidFill>
                            <a:srgbClr val="232B34"/>
                          </a:solidFill>
                          <a:latin typeface="Arial" panose="020B0604020202020204" pitchFamily="34" charset="0"/>
                          <a:ea typeface="Yu Gothic"/>
                        </a:rPr>
                        <a:t>05, 06, 20, 21</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PX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lang="en-US" sz="2300" b="0">
                          <a:solidFill>
                            <a:srgbClr val="232B34"/>
                          </a:solidFill>
                          <a:latin typeface="Arial" panose="020B0604020202020204" pitchFamily="34" charset="0"/>
                          <a:ea typeface="Yu Gothic"/>
                        </a:rPr>
                        <a:t>09, 17, 23, 24</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lang="en-US" sz="2300" b="0">
                          <a:solidFill>
                            <a:srgbClr val="232B34"/>
                          </a:solidFill>
                          <a:latin typeface="Arial" panose="020B0604020202020204" pitchFamily="34" charset="0"/>
                          <a:ea typeface="Yu Gothic"/>
                        </a:rPr>
                        <a:t>10–12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lang="en-US" sz="2300" b="0">
                          <a:solidFill>
                            <a:srgbClr val="232B34"/>
                          </a:solidFill>
                          <a:latin typeface="Arial" panose="020B0604020202020204" pitchFamily="34" charset="0"/>
                          <a:ea typeface="Yu Gothic"/>
                        </a:rPr>
                        <a:t>22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lang="en-US" sz="2300" b="0">
                          <a:solidFill>
                            <a:srgbClr val="232B34"/>
                          </a:solidFill>
                          <a:latin typeface="Arial" panose="020B0604020202020204" pitchFamily="34" charset="0"/>
                          <a:ea typeface="Yu Gothic"/>
                        </a:rPr>
                        <a:t>25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333122"/>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評価IDは 04–06 と 08–25。01–03 と 07 はMZ太陽や設定確認のケースで除外</a:t>
            </a:r>
          </a:p>
          <a:p>
            <a:pPr algn="l">
              <a:lnSpc>
                <a:spcPct val="125000"/>
              </a:lnSpc>
              <a:spcAft>
                <a:spcPts val="0"/>
              </a:spcAft>
            </a:pPr>
            <a:r>
              <a:rPr sz="2300" b="0">
                <a:solidFill>
                  <a:srgbClr val="666F79"/>
                </a:solidFill>
                <a:latin typeface="Arial" panose="020B0604020202020204" pitchFamily="34" charset="0"/>
                <a:ea typeface="Yu Gothic"/>
              </a:rPr>
              <a:t>PZ/MZを太陽面にするケースは、その面にSTT/LCTがあるので設定しない</a:t>
            </a:r>
          </a:p>
          <a:p>
            <a:pPr algn="l">
              <a:lnSpc>
                <a:spcPct val="125000"/>
              </a:lnSpc>
              <a:spcAft>
                <a:spcPts val="0"/>
              </a:spcAft>
            </a:pPr>
            <a:r>
              <a:rPr sz="2300" b="0">
                <a:solidFill>
                  <a:srgbClr val="666F79"/>
                </a:solidFill>
                <a:latin typeface="Arial" panose="020B0604020202020204" pitchFamily="34" charset="0"/>
                <a:ea typeface="Yu Gothic"/>
              </a:rPr>
              <a:t>捕捉時間の見出しは、COLD・標準表面の14ケース（04–06, 08–09, 13–21）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9922716"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B2｜矩形スパイラル走査の幾何</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794375970"/>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Arial" panose="020B0604020202020204" pitchFamily="34" charset="0"/>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Arial" panose="020B0604020202020204" pitchFamily="34" charset="0"/>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Arial" panose="020B0604020202020204" pitchFamily="34" charset="0"/>
                          <a:ea typeface="Yu Gothic"/>
                        </a:rPr>
                        <a:t>走査範囲</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±1600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Arial" panose="020B0604020202020204" pitchFamily="34" charset="0"/>
                          <a:ea typeface="Yu Gothic"/>
                        </a:rPr>
                        <a:t>点間隔</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120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Arial" panose="020B0604020202020204" pitchFamily="34" charset="0"/>
                          <a:ea typeface="Yu Gothic"/>
                        </a:rPr>
                        <a:t>検出半径</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150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Arial" panose="020B0604020202020204" pitchFamily="34" charset="0"/>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Arial" panose="020B0604020202020204" pitchFamily="34" charset="0"/>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Arial" panose="020B0604020202020204" pitchFamily="34" charset="0"/>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Arial" panose="020B0604020202020204" pitchFamily="34" charset="0"/>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Arial" panose="020B0604020202020204" pitchFamily="34" charset="0"/>
                          <a:ea typeface="Yu Gothic"/>
                        </a:rPr>
                        <a:t>最大走査時間</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72.9 s</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3" name="TextBox 32"/>
          <p:cNvSpPr txBox="1"/>
          <p:nvPr/>
        </p:nvSpPr>
        <p:spPr>
          <a:xfrm>
            <a:off x="12252960" y="9052560"/>
            <a:ext cx="10881360" cy="43435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Arial" panose="020B0604020202020204" pitchFamily="34" charset="0"/>
                <a:ea typeface="Yu Gothic"/>
              </a:rPr>
              <a:t>格子対角の半分 120/√2 ≈ 85 µrad &lt; 検出半径 150 µrad なので掃き残しは無い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896205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B3｜軌道予測誤差の作り方と、リンク横断面への射影</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618024"/>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Arial" panose="020B0604020202020204" pitchFamily="34" charset="0"/>
                <a:ea typeface="Yu Gothic"/>
              </a:rPr>
              <a:t>• 真値は Sentinel-1 の高精度暦 POEORB</a:t>
            </a:r>
          </a:p>
          <a:p>
            <a:pPr>
              <a:lnSpc>
                <a:spcPct val="110000"/>
              </a:lnSpc>
              <a:spcAft>
                <a:spcPts val="1000"/>
              </a:spcAft>
            </a:pPr>
            <a:r>
              <a:rPr sz="2400" b="0">
                <a:solidFill>
                  <a:srgbClr val="232B34"/>
                </a:solidFill>
                <a:latin typeface="Arial" panose="020B0604020202020204" pitchFamily="34" charset="0"/>
                <a:ea typeface="Yu Gothic"/>
              </a:rPr>
              <a:t>• 予測は直近のTLEを SGP4 で前方伝播</a:t>
            </a:r>
          </a:p>
          <a:p>
            <a:pPr>
              <a:lnSpc>
                <a:spcPct val="110000"/>
              </a:lnSpc>
              <a:spcAft>
                <a:spcPts val="1000"/>
              </a:spcAft>
            </a:pPr>
            <a:r>
              <a:rPr sz="2400" b="0">
                <a:solidFill>
                  <a:srgbClr val="232B34"/>
                </a:solidFill>
                <a:latin typeface="Arial" panose="020B0604020202020204" pitchFamily="34" charset="0"/>
                <a:ea typeface="Yu Gothic"/>
              </a:rPr>
              <a:t>• 差をリンク横断面へ射影し、x–y の2成分にする</a:t>
            </a:r>
          </a:p>
          <a:p>
            <a:pPr>
              <a:lnSpc>
                <a:spcPct val="110000"/>
              </a:lnSpc>
              <a:spcAft>
                <a:spcPts val="1000"/>
              </a:spcAft>
            </a:pPr>
            <a:r>
              <a:rPr sz="2400" b="0">
                <a:solidFill>
                  <a:srgbClr val="232B34"/>
                </a:solidFill>
                <a:latin typeface="Arial" panose="020B0604020202020204" pitchFamily="34" charset="0"/>
                <a:ea typeface="Yu Gothic"/>
              </a:rPr>
              <a:t>• 熱LOSと同じ2成分で足し合わせる</a:t>
            </a:r>
          </a:p>
          <a:p>
            <a:pPr>
              <a:lnSpc>
                <a:spcPct val="110000"/>
              </a:lnSpc>
              <a:spcAft>
                <a:spcPts val="1000"/>
              </a:spcAft>
            </a:pPr>
            <a:r>
              <a:rPr sz="2400" b="0">
                <a:solidFill>
                  <a:srgbClr val="232B34"/>
                </a:solidFill>
                <a:latin typeface="Arial" panose="020B0604020202020204" pitchFamily="34" charset="0"/>
                <a:ea typeface="Yu Gothic"/>
              </a:rPr>
              <a:t>• 時系列の不連続は、TLEが更新された時刻</a:t>
            </a:r>
          </a:p>
        </p:txBody>
      </p:sp>
      <p:graphicFrame>
        <p:nvGraphicFramePr>
          <p:cNvPr id="9" name="Table 8"/>
          <p:cNvGraphicFramePr>
            <a:graphicFrameLocks noGrp="1"/>
          </p:cNvGraphicFramePr>
          <p:nvPr>
            <p:extLst>
              <p:ext uri="{D42A27DB-BD31-4B8C-83A1-F6EECF244321}">
                <p14:modId xmlns:p14="http://schemas.microsoft.com/office/powerpoint/2010/main" val="1382675216"/>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Arial" panose="020B0604020202020204" pitchFamily="34" charset="0"/>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lang="en-US" sz="2100" b="0">
                          <a:solidFill>
                            <a:srgbClr val="232B34"/>
                          </a:solidFill>
                          <a:latin typeface="Arial" panose="020B0604020202020204" pitchFamily="34" charset="0"/>
                          <a:ea typeface="Yu Gothic"/>
                        </a:rPr>
                        <a:t>MY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lang="en-US" sz="2100" b="0">
                          <a:solidFill>
                            <a:srgbClr val="232B34"/>
                          </a:solidFill>
                          <a:latin typeface="Arial" panose="020B0604020202020204" pitchFamily="34" charset="0"/>
                          <a:ea typeface="Yu Gothic"/>
                        </a:rPr>
                        <a:t>PY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lang="en-US" sz="2100" b="0">
                          <a:solidFill>
                            <a:srgbClr val="232B34"/>
                          </a:solidFill>
                          <a:latin typeface="Arial" panose="020B0604020202020204" pitchFamily="34" charset="0"/>
                          <a:ea typeface="Yu Gothic"/>
                        </a:rPr>
                        <a:t>PX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lang="en-US" sz="2100" b="0">
                          <a:solidFill>
                            <a:srgbClr val="232B34"/>
                          </a:solidFill>
                          <a:latin typeface="Arial" panose="020B0604020202020204" pitchFamily="34" charset="0"/>
                          <a:ea typeface="Yu Gothic"/>
                        </a:rPr>
                        <a:t>MX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525445"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B4｜熱と軌道予測は同じ軌道周期。周波数では分けない</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B4</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945079221"/>
              </p:ext>
            </p:extLst>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Arial" panose="020B0604020202020204" pitchFamily="34" charset="0"/>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Arial" panose="020B0604020202020204" pitchFamily="34" charset="0"/>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Arial" panose="020B0604020202020204" pitchFamily="34" charset="0"/>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Arial" panose="020B0604020202020204" pitchFamily="34" charset="0"/>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Arial" panose="020B0604020202020204" pitchFamily="34" charset="0"/>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913199"/>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Arial" panose="020B0604020202020204" pitchFamily="34" charset="0"/>
                <a:ea typeface="Yu Gothic"/>
              </a:rPr>
              <a:t>熱：約101分</a:t>
            </a:r>
          </a:p>
          <a:p>
            <a:pPr algn="ctr">
              <a:lnSpc>
                <a:spcPct val="120000"/>
              </a:lnSpc>
              <a:spcAft>
                <a:spcPts val="0"/>
              </a:spcAft>
            </a:pPr>
            <a:r>
              <a:rPr sz="2400" b="1">
                <a:solidFill>
                  <a:srgbClr val="EC9427"/>
                </a:solidFill>
                <a:latin typeface="Arial" panose="020B0604020202020204" pitchFamily="34" charset="0"/>
                <a:ea typeface="Yu Gothic"/>
              </a:rPr>
              <a:t>軌道予測：約101分 と約50分</a:t>
            </a:r>
          </a:p>
        </p:txBody>
      </p:sp>
      <p:sp>
        <p:nvSpPr>
          <p:cNvPr id="10" name="TextBox 9"/>
          <p:cNvSpPr txBox="1"/>
          <p:nvPr/>
        </p:nvSpPr>
        <p:spPr>
          <a:xfrm>
            <a:off x="1097280" y="11247120"/>
            <a:ext cx="22128480" cy="952633"/>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Arial" panose="020B0604020202020204" pitchFamily="34" charset="0"/>
                <a:ea typeface="Yu Gothic"/>
              </a:rPr>
              <a:t>熱ひずみと軌道予測誤差は、大きさも周波数帯も同程度</a:t>
            </a:r>
            <a:endParaRPr lang="en-US" sz="2900" b="1" dirty="0">
              <a:solidFill>
                <a:srgbClr val="D03B46"/>
              </a:solidFill>
              <a:latin typeface="Arial" panose="020B0604020202020204" pitchFamily="34" charset="0"/>
            </a:endParaRPr>
          </a:p>
          <a:p>
            <a:pPr algn="ctr">
              <a:lnSpc>
                <a:spcPct val="120000"/>
              </a:lnSpc>
              <a:spcAft>
                <a:spcPts val="0"/>
              </a:spcAft>
            </a:pPr>
            <a:r>
              <a:rPr sz="2500" b="1">
                <a:solidFill>
                  <a:srgbClr val="082B52"/>
                </a:solidFill>
                <a:latin typeface="Arial" panose="020B0604020202020204" pitchFamily="34" charset="0"/>
                <a:ea typeface="Yu Gothic"/>
              </a:rPr>
              <a:t>『低周波＝熱』という分離は主張しない。温度という別入力で捕捉前に引く</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B5｜LOS定義の比較と、並進を入れない理由</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B5</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890693"/>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Arial" panose="020B0604020202020204" pitchFamily="34" charset="0"/>
                <a:ea typeface="Yu Gothic"/>
              </a:rPr>
              <a:t>代表点間の並進による傾きは、衛星間距離で割ると小さいので捕捉評価には入れていない</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B6（1/2）｜モデルが難しいケース</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459569381"/>
              </p:ext>
            </p:extLst>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Arial" panose="020B0604020202020204" pitchFamily="34" charset="0"/>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Arial" panose="020B0604020202020204" pitchFamily="34" charset="0"/>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Arial" panose="020B0604020202020204" pitchFamily="34" charset="0"/>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Arial" panose="020B0604020202020204" pitchFamily="34" charset="0"/>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Arial" panose="020B0604020202020204" pitchFamily="34" charset="0"/>
                <a:ea typeface="Yu Gothic"/>
              </a:rPr>
              <a:t>共通する構図</a:t>
            </a:r>
          </a:p>
        </p:txBody>
      </p:sp>
      <p:sp>
        <p:nvSpPr>
          <p:cNvPr id="8" name="TextBox 7"/>
          <p:cNvSpPr txBox="1"/>
          <p:nvPr/>
        </p:nvSpPr>
        <p:spPr>
          <a:xfrm>
            <a:off x="18288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時変の項ではなく、ケース平均の側が外れている。</a:t>
            </a:r>
          </a:p>
          <a:p>
            <a:pPr algn="l">
              <a:lnSpc>
                <a:spcPct val="125000"/>
              </a:lnSpc>
              <a:spcAft>
                <a:spcPts val="0"/>
              </a:spcAft>
            </a:pPr>
            <a:r>
              <a:rPr sz="2400" b="0">
                <a:solidFill>
                  <a:srgbClr val="232B34"/>
                </a:solidFill>
                <a:latin typeface="Arial" panose="020B0604020202020204" pitchFamily="34" charset="0"/>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Arial" panose="020B0604020202020204" pitchFamily="34" charset="0"/>
                <a:ea typeface="Yu Gothic"/>
              </a:rPr>
              <a:t>主結果の範囲</a:t>
            </a:r>
          </a:p>
        </p:txBody>
      </p:sp>
      <p:sp>
        <p:nvSpPr>
          <p:cNvPr id="11" name="TextBox 10"/>
          <p:cNvSpPr txBox="1"/>
          <p:nvPr/>
        </p:nvSpPr>
        <p:spPr>
          <a:xfrm>
            <a:off x="128016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標準COLD・標準表面の条件で、固定16係数のまま</a:t>
            </a:r>
          </a:p>
          <a:p>
            <a:pPr algn="l">
              <a:lnSpc>
                <a:spcPct val="125000"/>
              </a:lnSpc>
              <a:spcAft>
                <a:spcPts val="0"/>
              </a:spcAft>
            </a:pPr>
            <a:r>
              <a:rPr sz="2400" b="0">
                <a:solidFill>
                  <a:srgbClr val="232B34"/>
                </a:solidFill>
                <a:latin typeface="Arial" panose="020B0604020202020204" pitchFamily="34" charset="0"/>
                <a:ea typeface="Yu Gothic"/>
              </a:rPr>
              <a:t>1〜2桁の低減。被覆・軌道・連続量の明示は今後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390793"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B6（2/2）｜取付点の温度を足すと係数が壊れる</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試したこと</a:t>
            </a:r>
          </a:p>
        </p:txBody>
      </p:sp>
      <p:sp>
        <p:nvSpPr>
          <p:cNvPr id="7" name="TextBox 6"/>
          <p:cNvSpPr txBox="1"/>
          <p:nvPr/>
        </p:nvSpPr>
        <p:spPr>
          <a:xfrm>
            <a:off x="4663110" y="4434840"/>
            <a:ext cx="3383940" cy="1009507"/>
          </a:xfrm>
          <a:prstGeom prst="rect">
            <a:avLst/>
          </a:prstGeom>
          <a:noFill/>
        </p:spPr>
        <p:txBody>
          <a:bodyPr wrap="none" lIns="36576" tIns="27432" rIns="36576" bIns="27432" anchor="t">
            <a:spAutoFit/>
          </a:bodyPr>
          <a:lstStyle/>
          <a:p>
            <a:pPr algn="ctr"/>
            <a:r>
              <a:rPr lang="en-US" sz="3100" b="1">
                <a:solidFill>
                  <a:srgbClr val="082B52"/>
                </a:solidFill>
                <a:latin typeface="Arial" panose="020B0604020202020204" pitchFamily="34" charset="0"/>
              </a:rPr>
              <a:t>LOS = b + a·ΔT
+ c·(Tattach−Tref)</a:t>
            </a:r>
            <a:endParaRPr lang="en-US" sz="3100" b="1" dirty="0">
              <a:solidFill>
                <a:srgbClr val="082B52"/>
              </a:solidFill>
              <a:latin typeface="Arial" panose="020B0604020202020204" pitchFamily="34" charset="0"/>
            </a:endParaRPr>
          </a:p>
        </p:txBody>
      </p:sp>
      <p:sp>
        <p:nvSpPr>
          <p:cNvPr id="8" name="TextBox 7"/>
          <p:cNvSpPr txBox="1"/>
          <p:nvPr/>
        </p:nvSpPr>
        <p:spPr>
          <a:xfrm>
            <a:off x="1828800" y="6217920"/>
            <a:ext cx="9052560" cy="1650324"/>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Arial" panose="020B0604020202020204" pitchFamily="34" charset="0"/>
                <a:ea typeface="Yu Gothic"/>
              </a:rPr>
              <a:t>• 温度差と取付点温度の相関が 0.995</a:t>
            </a:r>
          </a:p>
          <a:p>
            <a:pPr>
              <a:lnSpc>
                <a:spcPct val="110000"/>
              </a:lnSpc>
              <a:spcAft>
                <a:spcPts val="1200"/>
              </a:spcAft>
            </a:pPr>
            <a:r>
              <a:rPr sz="2500" b="0">
                <a:solidFill>
                  <a:srgbClr val="232B34"/>
                </a:solidFill>
                <a:latin typeface="Arial" panose="020B0604020202020204" pitchFamily="34" charset="0"/>
                <a:ea typeface="Yu Gothic"/>
              </a:rPr>
              <a:t>• 取付点まわりの温度のばらつきは 0.1 K 程度</a:t>
            </a:r>
          </a:p>
          <a:p>
            <a:pPr>
              <a:lnSpc>
                <a:spcPct val="110000"/>
              </a:lnSpc>
              <a:spcAft>
                <a:spcPts val="1200"/>
              </a:spcAft>
            </a:pPr>
            <a:r>
              <a:rPr sz="2500" b="0">
                <a:solidFill>
                  <a:srgbClr val="232B34"/>
                </a:solidFill>
                <a:latin typeface="Arial" panose="020B0604020202020204" pitchFamily="34" charset="0"/>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解釈</a:t>
            </a:r>
          </a:p>
        </p:txBody>
      </p:sp>
      <p:sp>
        <p:nvSpPr>
          <p:cNvPr id="12" name="TextBox 11"/>
          <p:cNvSpPr txBox="1"/>
          <p:nvPr/>
        </p:nvSpPr>
        <p:spPr>
          <a:xfrm>
            <a:off x="14356080" y="4572000"/>
            <a:ext cx="7863840" cy="855619"/>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Arial" panose="020B0604020202020204" pitchFamily="34" charset="0"/>
                <a:ea typeface="Yu Gothic"/>
              </a:rPr>
              <a:t>効いていたのは軌道内の変動ではなく</a:t>
            </a:r>
          </a:p>
          <a:p>
            <a:pPr algn="ctr">
              <a:spcAft>
                <a:spcPts val="0"/>
              </a:spcAft>
            </a:pPr>
            <a:r>
              <a:rPr sz="2600" b="0">
                <a:solidFill>
                  <a:srgbClr val="232B34"/>
                </a:solidFill>
                <a:latin typeface="Arial" panose="020B0604020202020204" pitchFamily="34" charset="0"/>
                <a:ea typeface="Yu Gothic"/>
              </a:rPr>
              <a:t>ケース平均のDCだった</a:t>
            </a:r>
          </a:p>
        </p:txBody>
      </p:sp>
      <p:sp>
        <p:nvSpPr>
          <p:cNvPr id="13" name="TextBox 12"/>
          <p:cNvSpPr txBox="1"/>
          <p:nvPr/>
        </p:nvSpPr>
        <p:spPr>
          <a:xfrm>
            <a:off x="14721840" y="7543800"/>
            <a:ext cx="7132320" cy="470898"/>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Arial" panose="020B0604020202020204" pitchFamily="34" charset="0"/>
                <a:ea typeface="Yu Gothic"/>
              </a:rPr>
              <a:t>→ b_case 側へ分離した</a:t>
            </a:r>
          </a:p>
        </p:txBody>
      </p:sp>
      <p:sp>
        <p:nvSpPr>
          <p:cNvPr id="14" name="TextBox 13"/>
          <p:cNvSpPr txBox="1"/>
          <p:nvPr/>
        </p:nvSpPr>
        <p:spPr>
          <a:xfrm>
            <a:off x="3840480" y="10652760"/>
            <a:ext cx="16642080" cy="486287"/>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Arial" panose="020B0604020202020204" pitchFamily="34" charset="0"/>
                <a:ea typeface="Yu Gothic"/>
              </a:rPr>
              <a:t>RMSEだけでなく、係数の安定性と運用上の解釈でモデルを選んだ</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B7｜平均だけを引いた場合（定数バイアスのみ）は未計算</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B7</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775597"/>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Arial" panose="020B0604020202020204" pitchFamily="34" charset="0"/>
                <a:ea typeface="Yu Gothic"/>
              </a:rPr>
              <a:t>未計算</a:t>
            </a:r>
          </a:p>
        </p:txBody>
      </p:sp>
      <p:sp>
        <p:nvSpPr>
          <p:cNvPr id="7" name="TextBox 6"/>
          <p:cNvSpPr txBox="1"/>
          <p:nvPr/>
        </p:nvSpPr>
        <p:spPr>
          <a:xfrm>
            <a:off x="2926080" y="5852160"/>
            <a:ext cx="18470880" cy="1039195"/>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Arial" panose="020B0604020202020204" pitchFamily="34" charset="0"/>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Arial" panose="020B0604020202020204" pitchFamily="34" charset="0"/>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Arial" panose="020B0604020202020204" pitchFamily="34" charset="0"/>
                <a:ea typeface="Yu Gothic"/>
              </a:rPr>
              <a:t>この列が示すはずのこと</a:t>
            </a:r>
          </a:p>
        </p:txBody>
      </p:sp>
      <p:sp>
        <p:nvSpPr>
          <p:cNvPr id="10" name="TextBox 9"/>
          <p:cNvSpPr txBox="1"/>
          <p:nvPr/>
        </p:nvSpPr>
        <p:spPr>
          <a:xfrm>
            <a:off x="32004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Arial" panose="020B0604020202020204" pitchFamily="34" charset="0"/>
                <a:ea typeface="Yu Gothic"/>
              </a:rPr>
              <a:t>7月に出した秒は流用しない</a:t>
            </a:r>
          </a:p>
        </p:txBody>
      </p:sp>
      <p:sp>
        <p:nvSpPr>
          <p:cNvPr id="13" name="TextBox 12"/>
          <p:cNvSpPr txBox="1"/>
          <p:nvPr/>
        </p:nvSpPr>
        <p:spPr>
          <a:xfrm>
            <a:off x="128016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406265"/>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Arial" panose="020B0604020202020204" pitchFamily="34" charset="0"/>
                <a:ea typeface="Yu Gothic"/>
              </a:rPr>
              <a:t>本編の結論には、この未計算の列の数字を一切使っていない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B8｜先行研究の位置づけ（2軸で見る）</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B8</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059908121"/>
              </p:ext>
            </p:extLst>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Arial" panose="020B0604020202020204" pitchFamily="34" charset="0"/>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lang="en-US" sz="2300" b="0">
                          <a:solidFill>
                            <a:srgbClr val="232B34"/>
                          </a:solidFill>
                          <a:latin typeface="Arial" panose="020B0604020202020204" pitchFamily="34" charset="0"/>
                          <a:ea typeface="Yu Gothic"/>
                        </a:rPr>
                        <a:t>Riesing 2023（TBIRD）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lang="en-US" sz="2300" b="0">
                          <a:solidFill>
                            <a:srgbClr val="232B34"/>
                          </a:solidFill>
                          <a:latin typeface="Arial" panose="020B0604020202020204" pitchFamily="34" charset="0"/>
                          <a:ea typeface="Yu Gothic"/>
                        </a:rPr>
                        <a:t>Shi 2023</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lang="en-US" sz="2300" b="0">
                          <a:solidFill>
                            <a:srgbClr val="232B34"/>
                          </a:solidFill>
                          <a:latin typeface="Arial" panose="020B0604020202020204" pitchFamily="34" charset="0"/>
                          <a:ea typeface="Yu Gothic"/>
                        </a:rPr>
                        <a:t>Hu 2022（GEO）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lang="en-US" sz="2300" b="0">
                          <a:solidFill>
                            <a:srgbClr val="232B34"/>
                          </a:solidFill>
                          <a:latin typeface="Arial" panose="020B0604020202020204" pitchFamily="34" charset="0"/>
                          <a:ea typeface="Yu Gothic"/>
                        </a:rPr>
                        <a:t>Li 2025（LEO）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lang="en-US" sz="2300" b="0">
                          <a:solidFill>
                            <a:srgbClr val="232B34"/>
                          </a:solidFill>
                          <a:latin typeface="Arial" panose="020B0604020202020204" pitchFamily="34" charset="0"/>
                          <a:ea typeface="Yu Gothic"/>
                        </a:rPr>
                        <a:t>JANUS（Turella）</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Arial" panose="020B0604020202020204" pitchFamily="34" charset="0"/>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406265"/>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Arial" panose="020B0604020202020204" pitchFamily="34" charset="0"/>
                <a:ea typeface="Yu Gothic"/>
              </a:rPr>
              <a:t>新しいのは一次関係そのものではなく、バス上のSTT–LCTへの適用、条件横断の係数共有、捕捉時間への接続</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B9｜解析モデルの妥当性をどう検証するか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B9</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今日の主張の範囲</a:t>
            </a:r>
          </a:p>
        </p:txBody>
      </p:sp>
      <p:sp>
        <p:nvSpPr>
          <p:cNvPr id="7" name="TextBox 6"/>
          <p:cNvSpPr txBox="1"/>
          <p:nvPr/>
        </p:nvSpPr>
        <p:spPr>
          <a:xfrm>
            <a:off x="1737360" y="4434840"/>
            <a:ext cx="10058400" cy="1235788"/>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入っていないもの</a:t>
            </a:r>
          </a:p>
        </p:txBody>
      </p:sp>
      <p:sp>
        <p:nvSpPr>
          <p:cNvPr id="10" name="TextBox 9"/>
          <p:cNvSpPr txBox="1"/>
          <p:nvPr/>
        </p:nvSpPr>
        <p:spPr>
          <a:xfrm>
            <a:off x="13075920" y="443484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今後の検証</a:t>
            </a:r>
          </a:p>
        </p:txBody>
      </p:sp>
      <p:sp>
        <p:nvSpPr>
          <p:cNvPr id="13" name="TextBox 12"/>
          <p:cNvSpPr txBox="1"/>
          <p:nvPr/>
        </p:nvSpPr>
        <p:spPr>
          <a:xfrm>
            <a:off x="1737360" y="8458200"/>
            <a:ext cx="21214080" cy="863185"/>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437043"/>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Arial" panose="020B0604020202020204" pitchFamily="34" charset="0"/>
                <a:ea typeface="Yu Gothic"/>
              </a:rPr>
              <a:t>主張を『解析を真値として完璧に当てる』に置いていない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B10｜姿勢の前提と、変わる頻度</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B10</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前提</a:t>
            </a:r>
          </a:p>
        </p:txBody>
      </p:sp>
      <p:sp>
        <p:nvSpPr>
          <p:cNvPr id="7" name="TextBox 6"/>
          <p:cNvSpPr txBox="1"/>
          <p:nvPr/>
        </p:nvSpPr>
        <p:spPr>
          <a:xfrm>
            <a:off x="1737360" y="4526280"/>
            <a:ext cx="1005840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ジンバルの場合</a:t>
            </a:r>
          </a:p>
        </p:txBody>
      </p:sp>
      <p:sp>
        <p:nvSpPr>
          <p:cNvPr id="10" name="TextBox 9"/>
          <p:cNvSpPr txBox="1"/>
          <p:nvPr/>
        </p:nvSpPr>
        <p:spPr>
          <a:xfrm>
            <a:off x="13075920" y="452628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未解析</a:t>
            </a:r>
          </a:p>
        </p:txBody>
      </p:sp>
      <p:sp>
        <p:nvSpPr>
          <p:cNvPr id="13" name="TextBox 12"/>
          <p:cNvSpPr txBox="1"/>
          <p:nvPr/>
        </p:nvSpPr>
        <p:spPr>
          <a:xfrm>
            <a:off x="1737360" y="8823960"/>
            <a:ext cx="21214080" cy="438453"/>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B11｜残差Fourier更新の数値（予備）</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724011825"/>
              </p:ext>
            </p:extLst>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Arial" panose="020B0604020202020204" pitchFamily="34" charset="0"/>
                          <a:ea typeface="Yu Gothic"/>
                        </a:rPr>
                        <a:t>Case 13（MY）全誤差を直接Fourier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1.39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3.37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0.39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Arial" panose="020B0604020202020204" pitchFamily="34" charset="0"/>
                          <a:ea typeface="Yu Gothic"/>
                        </a:rPr>
                        <a:t>Case 13（MY）階層モデル＋残差Fourier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0.79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1.60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Arial" panose="020B0604020202020204" pitchFamily="34" charset="0"/>
                          <a:ea typeface="Yu Gothic"/>
                        </a:rPr>
                        <a:t>Case 16（PY）全誤差を直接Fourier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13.2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39.5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Arial" panose="020B0604020202020204" pitchFamily="34" charset="0"/>
                          <a:ea typeface="Yu Gothic"/>
                        </a:rPr>
                        <a:t>Case 16（PY）階層モデル＋残差Fourier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0.76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1.47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0.40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360099"/>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Arial" panose="020B0604020202020204" pitchFamily="34" charset="0"/>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421654"/>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Arial" panose="020B0604020202020204" pitchFamily="34" charset="0"/>
                <a:ea typeface="Yu Gothic"/>
              </a:rPr>
              <a:t>定数の残差更新との差</a:t>
            </a:r>
          </a:p>
        </p:txBody>
      </p:sp>
      <p:sp>
        <p:nvSpPr>
          <p:cNvPr id="9" name="TextBox 8"/>
          <p:cNvSpPr txBox="1"/>
          <p:nvPr/>
        </p:nvSpPr>
        <p:spPr>
          <a:xfrm>
            <a:off x="1737360" y="10012680"/>
            <a:ext cx="10058400" cy="404983"/>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421654"/>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Arial" panose="020B0604020202020204" pitchFamily="34" charset="0"/>
                <a:ea typeface="Yu Gothic"/>
              </a:rPr>
              <a:t>限界</a:t>
            </a:r>
          </a:p>
        </p:txBody>
      </p:sp>
      <p:sp>
        <p:nvSpPr>
          <p:cNvPr id="12" name="TextBox 11"/>
          <p:cNvSpPr txBox="1"/>
          <p:nvPr/>
        </p:nvSpPr>
        <p:spPr>
          <a:xfrm>
            <a:off x="13075920" y="10012680"/>
            <a:ext cx="9875520" cy="79432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390876"/>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Arial" panose="020B0604020202020204" pitchFamily="34" charset="0"/>
                <a:ea typeface="Yu Gothic"/>
              </a:rPr>
              <a:t>熱モデルの係数は更新していない。捕捉後の全指向残差に対する予備実験</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B12｜前に聞いた秒と、今日の秒の対応</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B12</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2831917550"/>
              </p:ext>
            </p:extLst>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Arial" panose="020B0604020202020204" pitchFamily="34" charset="0"/>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Arial" panose="020B0604020202020204" pitchFamily="34" charset="0"/>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Arial" panose="020B0604020202020204" pitchFamily="34" charset="0"/>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Arial" panose="020B0604020202020204" pitchFamily="34" charset="0"/>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Arial" panose="020B0604020202020204" pitchFamily="34" charset="0"/>
                          <a:ea typeface="Yu Gothic"/>
                        </a:rPr>
                        <a:t>今日（提出稿）</a:t>
                      </a:r>
                    </a:p>
                  </a:txBody>
                  <a:tcPr marL="128016" marR="128016" anchor="ctr">
                    <a:solidFill>
                      <a:srgbClr val="EAF8F1"/>
                    </a:solidFill>
                  </a:tcPr>
                </a:tc>
                <a:tc>
                  <a:txBody>
                    <a:bodyPr/>
                    <a:lstStyle/>
                    <a:p>
                      <a:pPr algn="l">
                        <a:spcAft>
                          <a:spcPts val="0"/>
                        </a:spcAft>
                      </a:pPr>
                      <a:r>
                        <a:rPr lang="en-US" sz="2200" b="1">
                          <a:solidFill>
                            <a:srgbClr val="232B34"/>
                          </a:solidFill>
                          <a:latin typeface="Arial" panose="020B0604020202020204" pitchFamily="34" charset="0"/>
                          <a:ea typeface="Yu Gothic"/>
                        </a:rPr>
                        <a:t>14.6 → 0.10 s、19.2 → 5.45 s</a:t>
                      </a:r>
                      <a:endParaRPr lang="en-US" sz="2200" b="1" dirty="0">
                        <a:solidFill>
                          <a:srgbClr val="232B34"/>
                        </a:solidFill>
                        <a:latin typeface="Arial" panose="020B0604020202020204" pitchFamily="34" charset="0"/>
                        <a:ea typeface="Yu Gothic"/>
                      </a:endParaRPr>
                    </a:p>
                  </a:txBody>
                  <a:tcPr marL="128016" marR="128016" anchor="ctr">
                    <a:solidFill>
                      <a:srgbClr val="EAF8F1"/>
                    </a:solidFill>
                  </a:tcPr>
                </a:tc>
                <a:tc>
                  <a:txBody>
                    <a:bodyPr/>
                    <a:lstStyle/>
                    <a:p>
                      <a:pPr algn="l">
                        <a:spcAft>
                          <a:spcPts val="0"/>
                        </a:spcAft>
                      </a:pPr>
                      <a:r>
                        <a:rPr sz="2200" b="1">
                          <a:solidFill>
                            <a:srgbClr val="232B34"/>
                          </a:solidFill>
                          <a:latin typeface="Arial" panose="020B0604020202020204" pitchFamily="34" charset="0"/>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964175"/>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Arial" panose="020B0604020202020204" pitchFamily="34" charset="0"/>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Arial" panose="020B0604020202020204" pitchFamily="34" charset="0"/>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7029</TotalTime>
  <Words>6837</Words>
  <Application>Microsoft Office PowerPoint</Application>
  <PresentationFormat>ユーザー設定</PresentationFormat>
  <Paragraphs>932</Paragraphs>
  <Slides>47</Slides>
  <Notes>47</Notes>
  <HiddenSlides>15</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47</vt:i4>
      </vt:variant>
    </vt:vector>
  </HeadingPairs>
  <TitlesOfParts>
    <vt:vector size="53" baseType="lpstr">
      <vt:lpstr>游ゴシック</vt:lpstr>
      <vt:lpstr>游ゴシック</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87</cp:revision>
  <cp:lastPrinted>2026-10-05T01:11:06Z</cp:lastPrinted>
  <dcterms:created xsi:type="dcterms:W3CDTF">2026-05-11T08:23:04Z</dcterms:created>
  <dcterms:modified xsi:type="dcterms:W3CDTF">2026-10-13T15:15:37Z</dcterms:modified>
</cp:coreProperties>
</file>