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9"/>
  </p:notesMasterIdLst>
  <p:sldIdLst>
    <p:sldId id="263" r:id="rId2"/>
    <p:sldId id="257" r:id="rId3"/>
    <p:sldId id="282" r:id="rId4"/>
    <p:sldId id="324" r:id="rId5"/>
    <p:sldId id="325" r:id="rId6"/>
    <p:sldId id="266" r:id="rId7"/>
    <p:sldId id="342" r:id="rId8"/>
    <p:sldId id="283" r:id="rId9"/>
    <p:sldId id="268" r:id="rId10"/>
    <p:sldId id="269" r:id="rId11"/>
    <p:sldId id="275" r:id="rId12"/>
    <p:sldId id="271" r:id="rId13"/>
    <p:sldId id="343" r:id="rId14"/>
    <p:sldId id="285" r:id="rId15"/>
    <p:sldId id="321" r:id="rId16"/>
    <p:sldId id="322" r:id="rId17"/>
    <p:sldId id="327" r:id="rId18"/>
    <p:sldId id="344" r:id="rId19"/>
    <p:sldId id="297" r:id="rId20"/>
    <p:sldId id="299" r:id="rId21"/>
    <p:sldId id="304" r:id="rId22"/>
    <p:sldId id="345" r:id="rId23"/>
    <p:sldId id="331" r:id="rId24"/>
    <p:sldId id="309" r:id="rId25"/>
    <p:sldId id="294" r:id="rId26"/>
    <p:sldId id="339" r:id="rId27"/>
    <p:sldId id="340" r:id="rId28"/>
    <p:sldId id="330" r:id="rId29"/>
    <p:sldId id="326" r:id="rId30"/>
    <p:sldId id="329" r:id="rId31"/>
    <p:sldId id="346" r:id="rId32"/>
    <p:sldId id="328" r:id="rId33"/>
    <p:sldId id="347" r:id="rId34"/>
    <p:sldId id="303" r:id="rId35"/>
    <p:sldId id="311" r:id="rId36"/>
    <p:sldId id="298" r:id="rId37"/>
    <p:sldId id="301" r:id="rId38"/>
    <p:sldId id="302" r:id="rId39"/>
    <p:sldId id="313" r:id="rId40"/>
    <p:sldId id="332" r:id="rId41"/>
    <p:sldId id="286" r:id="rId42"/>
    <p:sldId id="333" r:id="rId43"/>
    <p:sldId id="310" r:id="rId44"/>
    <p:sldId id="334" r:id="rId45"/>
    <p:sldId id="335" r:id="rId46"/>
    <p:sldId id="336" r:id="rId47"/>
    <p:sldId id="337" r:id="rId48"/>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B66B"/>
    <a:srgbClr val="1B74AA"/>
    <a:srgbClr val="F4F6F8"/>
    <a:srgbClr val="EF25D7"/>
    <a:srgbClr val="66A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37" autoAdjust="0"/>
    <p:restoredTop sz="91971" autoAdjust="0"/>
  </p:normalViewPr>
  <p:slideViewPr>
    <p:cSldViewPr snapToGrid="0">
      <p:cViewPr varScale="1">
        <p:scale>
          <a:sx n="34" d="100"/>
          <a:sy n="34" d="100"/>
        </p:scale>
        <p:origin x="428" y="72"/>
      </p:cViewPr>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80C97-2400-5344-89F3-3CED47A68B44}"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C54EC6-2177-1447-9798-A1A3B8046948}" type="slidenum">
              <a:rPr kumimoji="1" lang="ja-JP" altLang="en-US" smtClean="0"/>
              <a:t>‹#›</a:t>
            </a:fld>
            <a:endParaRPr kumimoji="1" lang="ja-JP" altLang="en-US"/>
          </a:p>
        </p:txBody>
      </p:sp>
    </p:spTree>
    <p:extLst>
      <p:ext uri="{BB962C8B-B14F-4D97-AF65-F5344CB8AC3E}">
        <p14:creationId xmlns:p14="http://schemas.microsoft.com/office/powerpoint/2010/main" val="38536270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Good afternoon.</a:t>
            </a:r>
          </a:p>
          <a:p>
            <a:pPr>
              <a:spcAft>
                <a:spcPts val="600"/>
              </a:spcAft>
            </a:pPr>
            <a:r>
              <a:rPr sz="1600" dirty="0">
                <a:latin typeface="Calibri"/>
              </a:rPr>
              <a:t>My name is Hideki Takamoto.</a:t>
            </a:r>
            <a:r>
              <a:rPr lang="ja-JP" altLang="en-US" sz="1600" dirty="0">
                <a:latin typeface="Calibri"/>
              </a:rPr>
              <a:t>　</a:t>
            </a:r>
            <a:r>
              <a:rPr lang="en-US" altLang="ja-JP" sz="1600" dirty="0">
                <a:latin typeface="Calibri"/>
              </a:rPr>
              <a:t>I’m a master course student</a:t>
            </a:r>
            <a:r>
              <a:rPr lang="ja-JP" altLang="en-US" sz="1600" dirty="0">
                <a:latin typeface="Calibri"/>
              </a:rPr>
              <a:t> </a:t>
            </a:r>
            <a:r>
              <a:rPr lang="en-US" altLang="ja-JP" sz="1600" dirty="0">
                <a:latin typeface="Calibri"/>
              </a:rPr>
              <a:t>at</a:t>
            </a:r>
            <a:r>
              <a:rPr lang="ja-JP" altLang="en-US" sz="1600" dirty="0">
                <a:latin typeface="Calibri"/>
              </a:rPr>
              <a:t> </a:t>
            </a:r>
            <a:r>
              <a:rPr lang="en-US" altLang="ja-JP" sz="1600" dirty="0">
                <a:latin typeface="Calibri"/>
              </a:rPr>
              <a:t>the University of Tokyo.</a:t>
            </a:r>
            <a:endParaRPr sz="1600" dirty="0">
              <a:latin typeface="Calibri"/>
            </a:endParaRPr>
          </a:p>
          <a:p>
            <a:pPr>
              <a:spcAft>
                <a:spcPts val="600"/>
              </a:spcAft>
            </a:pPr>
            <a:r>
              <a:rPr sz="1600" dirty="0">
                <a:latin typeface="Calibri"/>
              </a:rPr>
              <a:t>Today, I will present our work on hierarchical</a:t>
            </a:r>
            <a:r>
              <a:rPr lang="en-US" sz="1600" dirty="0">
                <a:latin typeface="Calibri"/>
              </a:rPr>
              <a:t>(</a:t>
            </a:r>
            <a:r>
              <a:rPr lang="ja-JP" altLang="en-US" sz="1600" dirty="0">
                <a:latin typeface="Calibri"/>
              </a:rPr>
              <a:t>ハイらーきかる</a:t>
            </a:r>
            <a:r>
              <a:rPr lang="en-US" sz="1600" dirty="0">
                <a:latin typeface="Calibri"/>
              </a:rPr>
              <a:t>)</a:t>
            </a:r>
            <a:r>
              <a:rPr sz="1600" dirty="0">
                <a:latin typeface="Calibri"/>
              </a:rPr>
              <a:t> prediction and feedforward correction of time-varying thermal line-of-sight bias for coarse acquisition in satellite optical communications.</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lang="ja-JP" altLang="ja-JP" sz="1600" dirty="0"/>
              <a:t>First, let me briefly explain the background and motivation of this study.</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Before acquisition</a:t>
            </a:r>
            <a:r>
              <a:rPr lang="en-US" sz="1600" dirty="0">
                <a:latin typeface="Calibri"/>
              </a:rPr>
              <a:t> in optical communications</a:t>
            </a:r>
            <a:r>
              <a:rPr sz="1600" dirty="0">
                <a:latin typeface="Calibri"/>
              </a:rPr>
              <a:t>, optical feedback from the other terminal is not yet available.</a:t>
            </a:r>
          </a:p>
          <a:p>
            <a:pPr>
              <a:spcAft>
                <a:spcPts val="600"/>
              </a:spcAft>
            </a:pPr>
            <a:r>
              <a:rPr sz="1600" dirty="0">
                <a:latin typeface="Calibri"/>
              </a:rPr>
              <a:t>Therefore, the terminal has to search an uncertainty region that includes thermal LOS error, attitude error, and orbit-prediction error.</a:t>
            </a:r>
            <a:endParaRPr lang="en-US" sz="1600" dirty="0">
              <a:latin typeface="Calibri"/>
            </a:endParaRPr>
          </a:p>
          <a:p>
            <a:pPr>
              <a:spcAft>
                <a:spcPts val="600"/>
              </a:spcAft>
            </a:pPr>
            <a:endParaRPr sz="1600" dirty="0">
              <a:latin typeface="Calibri"/>
            </a:endParaRPr>
          </a:p>
          <a:p>
            <a:pPr>
              <a:spcAft>
                <a:spcPts val="600"/>
              </a:spcAft>
            </a:pPr>
            <a:r>
              <a:rPr sz="1600" dirty="0">
                <a:latin typeface="Calibri"/>
              </a:rPr>
              <a:t>In particular, illumination, eclipse, and internal dissipation generate temperature gradients in the spacecraft.</a:t>
            </a:r>
          </a:p>
          <a:p>
            <a:pPr>
              <a:spcAft>
                <a:spcPts val="600"/>
              </a:spcAft>
            </a:pPr>
            <a:r>
              <a:rPr sz="1600" dirty="0">
                <a:latin typeface="Calibri"/>
              </a:rPr>
              <a:t>These gradients cause thermal expansion and spacecraft-bus distortion, which can result in thermal LOS errors on the order of hundreds of microradians or even more than one milliradian.</a:t>
            </a:r>
            <a:endParaRPr lang="en-US" sz="1600" dirty="0">
              <a:latin typeface="Calibri"/>
            </a:endParaRPr>
          </a:p>
          <a:p>
            <a:pPr>
              <a:spcAft>
                <a:spcPts val="600"/>
              </a:spcAft>
            </a:pPr>
            <a:endParaRPr sz="1600" dirty="0">
              <a:latin typeface="Calibri"/>
            </a:endParaRPr>
          </a:p>
          <a:p>
            <a:pPr>
              <a:spcAft>
                <a:spcPts val="600"/>
              </a:spcAft>
            </a:pPr>
            <a:r>
              <a:rPr sz="1600" dirty="0">
                <a:latin typeface="Calibri"/>
              </a:rPr>
              <a:t>Our approach is to predict this thermal component before acquisition and subtract it from the scan center.</a:t>
            </a:r>
          </a:p>
          <a:p>
            <a:pPr>
              <a:spcAft>
                <a:spcPts val="600"/>
              </a:spcAft>
            </a:pPr>
            <a:r>
              <a:rPr sz="1600" dirty="0">
                <a:latin typeface="Calibri"/>
              </a:rPr>
              <a:t>The important point is that this is an operational correction.</a:t>
            </a:r>
          </a:p>
          <a:p>
            <a:pPr>
              <a:spcAft>
                <a:spcPts val="600"/>
              </a:spcAft>
            </a:pPr>
            <a:r>
              <a:rPr sz="1600" dirty="0">
                <a:latin typeface="Calibri"/>
              </a:rPr>
              <a:t>It does not require modification of the spacecraft structure or the laser communication terminal.</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ja-JP" sz="1600" dirty="0"/>
              <a:t>Thermal LOS error can be comparable to, or even larger than, orbit-prediction error.</a:t>
            </a:r>
          </a:p>
          <a:p>
            <a:r>
              <a:rPr lang="ja-JP" altLang="ja-JP" sz="1600" dirty="0"/>
              <a:t>Importantly, both errors vary on similar orbital time scales, making it difficult to separate them from pointing residuals based on frequency alone.</a:t>
            </a:r>
          </a:p>
          <a:p>
            <a:r>
              <a:rPr lang="ja-JP" altLang="ja-JP" sz="1600" dirty="0"/>
              <a:t>Therefore, we use temperature and operating-state information to predict and correct the thermal component before acquisition.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kumimoji="1" lang="ja-JP" altLang="ja-JP" sz="1200" b="0" kern="1200" dirty="0">
                <a:solidFill>
                  <a:schemeClr val="tx1"/>
                </a:solidFill>
                <a:effectLst/>
                <a:latin typeface="+mn-lt"/>
                <a:ea typeface="+mn-ea"/>
                <a:cs typeface="+mn-cs"/>
              </a:rPr>
              <a:t>Previous work can be roughly divided into two approaches.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0" kern="1200" dirty="0">
                <a:solidFill>
                  <a:schemeClr val="tx1"/>
                </a:solidFill>
                <a:effectLst/>
                <a:latin typeface="+mn-lt"/>
                <a:ea typeface="+mn-ea"/>
                <a:cs typeface="+mn-cs"/>
              </a:rPr>
              <a:t>In </a:t>
            </a:r>
            <a:r>
              <a:rPr kumimoji="1" lang="en-US" altLang="ja-JP" sz="1200" b="0" kern="1200" dirty="0">
                <a:solidFill>
                  <a:schemeClr val="tx1"/>
                </a:solidFill>
                <a:effectLst/>
                <a:latin typeface="+mn-lt"/>
                <a:ea typeface="+mn-ea"/>
                <a:cs typeface="+mn-cs"/>
              </a:rPr>
              <a:t>conventional PAT design of </a:t>
            </a:r>
            <a:r>
              <a:rPr kumimoji="1" lang="ja-JP" altLang="ja-JP" sz="1200" b="0" kern="1200" dirty="0">
                <a:solidFill>
                  <a:schemeClr val="tx1"/>
                </a:solidFill>
                <a:effectLst/>
                <a:latin typeface="+mn-lt"/>
                <a:ea typeface="+mn-ea"/>
                <a:cs typeface="+mn-cs"/>
              </a:rPr>
              <a:t>optical communications, thermal deformation is mainly </a:t>
            </a:r>
            <a:r>
              <a:rPr kumimoji="1" lang="en-US" altLang="ja-JP" sz="1200" b="0" kern="1200" dirty="0">
                <a:solidFill>
                  <a:schemeClr val="tx1"/>
                </a:solidFill>
                <a:effectLst/>
                <a:latin typeface="+mn-lt"/>
                <a:ea typeface="+mn-ea"/>
                <a:cs typeface="+mn-cs"/>
              </a:rPr>
              <a:t>absorbed through </a:t>
            </a:r>
            <a:r>
              <a:rPr lang="en-US" altLang="ja-JP" sz="1200" b="0" dirty="0">
                <a:solidFill>
                  <a:schemeClr val="tx1"/>
                </a:solidFill>
              </a:rPr>
              <a:t>scan range or beam divergence,  or </a:t>
            </a:r>
            <a:r>
              <a:rPr kumimoji="1" lang="ja-JP" altLang="ja-JP" sz="1200" b="0" kern="1200" dirty="0">
                <a:solidFill>
                  <a:schemeClr val="tx1"/>
                </a:solidFill>
                <a:effectLst/>
                <a:latin typeface="+mn-lt"/>
                <a:ea typeface="+mn-ea"/>
                <a:cs typeface="+mn-cs"/>
              </a:rPr>
              <a:t>mitigated through structural design, material selection, and equipment placement.</a:t>
            </a:r>
            <a:r>
              <a:rPr kumimoji="1" lang="ja-JP" altLang="en-US" sz="1200" b="0" kern="1200" dirty="0">
                <a:solidFill>
                  <a:schemeClr val="tx1"/>
                </a:solidFill>
                <a:effectLst/>
                <a:latin typeface="+mn-lt"/>
                <a:ea typeface="+mn-ea"/>
                <a:cs typeface="+mn-cs"/>
              </a:rPr>
              <a:t>　</a:t>
            </a:r>
            <a:endParaRPr kumimoji="1" lang="ja-JP" altLang="ja-JP" sz="1200" b="0" kern="1200" dirty="0">
              <a:solidFill>
                <a:schemeClr val="tx1"/>
              </a:solidFill>
              <a:effectLst/>
              <a:latin typeface="+mn-lt"/>
              <a:ea typeface="+mn-ea"/>
              <a:cs typeface="+mn-cs"/>
            </a:endParaRPr>
          </a:p>
          <a:p>
            <a:endParaRPr kumimoji="1" lang="ja-JP" altLang="ja-JP" sz="1200" b="0" kern="1200" dirty="0">
              <a:solidFill>
                <a:schemeClr val="tx1"/>
              </a:solidFill>
              <a:effectLst/>
              <a:latin typeface="+mn-lt"/>
              <a:ea typeface="+mn-ea"/>
              <a:cs typeface="+mn-cs"/>
            </a:endParaRPr>
          </a:p>
          <a:p>
            <a:r>
              <a:rPr kumimoji="1" lang="ja-JP" altLang="ja-JP" sz="1200" b="0" kern="1200" dirty="0">
                <a:solidFill>
                  <a:schemeClr val="tx1"/>
                </a:solidFill>
                <a:effectLst/>
                <a:latin typeface="+mn-lt"/>
                <a:ea typeface="+mn-ea"/>
                <a:cs typeface="+mn-cs"/>
              </a:rPr>
              <a:t>In Earth observation and optical instruments, thermal LOS variation is predicted and corrected using temperature, orbital phase, or observation geometry, but these models are typically tied to a specific optical instrument or observation system</a:t>
            </a:r>
            <a:r>
              <a:rPr kumimoji="1" lang="en-US" altLang="ja-JP" sz="1200" b="0" kern="1200" dirty="0">
                <a:solidFill>
                  <a:schemeClr val="tx1"/>
                </a:solidFill>
                <a:effectLst/>
                <a:latin typeface="+mn-lt"/>
                <a:ea typeface="+mn-ea"/>
                <a:cs typeface="+mn-cs"/>
              </a:rPr>
              <a:t> and not connected to Optical Communications</a:t>
            </a:r>
            <a:r>
              <a:rPr kumimoji="1" lang="ja-JP" altLang="ja-JP" sz="1200" b="0" kern="1200" dirty="0">
                <a:solidFill>
                  <a:schemeClr val="tx1"/>
                </a:solidFill>
                <a:effectLst/>
                <a:latin typeface="+mn-lt"/>
                <a:ea typeface="+mn-ea"/>
                <a:cs typeface="+mn-cs"/>
              </a:rPr>
              <a:t>.  </a:t>
            </a:r>
          </a:p>
          <a:p>
            <a:endParaRPr kumimoji="1" lang="ja-JP" altLang="ja-JP" sz="1200" b="0" kern="1200" dirty="0">
              <a:solidFill>
                <a:schemeClr val="tx1"/>
              </a:solidFill>
              <a:effectLst/>
              <a:latin typeface="+mn-lt"/>
              <a:ea typeface="+mn-ea"/>
              <a:cs typeface="+mn-cs"/>
            </a:endParaRPr>
          </a:p>
          <a:p>
            <a:r>
              <a:rPr kumimoji="1" lang="ja-JP" altLang="ja-JP" sz="1200" b="0" kern="1200" dirty="0">
                <a:solidFill>
                  <a:schemeClr val="tx1"/>
                </a:solidFill>
                <a:effectLst/>
                <a:latin typeface="+mn-lt"/>
                <a:ea typeface="+mn-ea"/>
                <a:cs typeface="+mn-cs"/>
              </a:rPr>
              <a:t>In this study, we instead predict the relative LOS between the STT and LCT across the spacecraft bus using a physics-based model, and then use that prediction directly for coarse optical acquisition.</a:t>
            </a:r>
          </a:p>
          <a:p>
            <a:pPr>
              <a:spcAft>
                <a:spcPts val="600"/>
              </a:spcAft>
            </a:pPr>
            <a:endParaRPr sz="1600" dirty="0">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lang="ja-JP" altLang="ja-JP" sz="1600" dirty="0"/>
              <a:t>This slide shows the overall workflow of our study.</a:t>
            </a:r>
          </a:p>
          <a:p>
            <a:r>
              <a:rPr lang="ja-JP" altLang="ja-JP" sz="1600" dirty="0"/>
              <a:t>On the ground, Thermal Desktop and Femap generate reference thermal LOS data, which we use to develop a reduced-order model.</a:t>
            </a:r>
          </a:p>
          <a:p>
            <a:r>
              <a:rPr lang="ja-JP" altLang="ja-JP" sz="1600" dirty="0"/>
              <a:t>On orbit, the model predicts thermal LOS from temperature and operating-state information and corrects the scan center before acquisition.</a:t>
            </a:r>
          </a:p>
          <a:p>
            <a:r>
              <a:rPr lang="ja-JP" altLang="ja-JP" sz="1600" dirty="0"/>
              <a:t>We then evaluate the model's prediction accuracy and its impact on acquisition performance.</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168C1-CAE2-B26B-2CDC-972315F9A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2DE14-7AE6-1F04-DA3D-C4DD1D415B30}"/>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26E6972E-6F08-976C-489A-D198874BB47E}"/>
              </a:ext>
            </a:extLst>
          </p:cNvPr>
          <p:cNvSpPr>
            <a:spLocks noGrp="1"/>
          </p:cNvSpPr>
          <p:nvPr>
            <p:ph type="body" sz="quarter" idx="3"/>
          </p:nvPr>
        </p:nvSpPr>
        <p:spPr/>
        <p:txBody>
          <a:bodyPr/>
          <a:lstStyle/>
          <a:p>
            <a:r>
              <a:rPr lang="ja-JP" altLang="ja-JP" sz="1600" dirty="0"/>
              <a:t>Next, I will explain how we evaluate thermal deformation and the resulting LOS error using thermo-structural analysis.</a:t>
            </a:r>
          </a:p>
        </p:txBody>
      </p:sp>
      <p:sp>
        <p:nvSpPr>
          <p:cNvPr id="4" name="Slide Number Placeholder 3">
            <a:extLst>
              <a:ext uri="{FF2B5EF4-FFF2-40B4-BE49-F238E27FC236}">
                <a16:creationId xmlns:a16="http://schemas.microsoft.com/office/drawing/2014/main" id="{E10530D4-27A8-6EE2-F8E4-003DAA04517A}"/>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849678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We evaluate a simple box-structure LEO spacecraft</a:t>
            </a:r>
            <a:r>
              <a:rPr lang="ja-JP" altLang="en-US" sz="1600" dirty="0">
                <a:latin typeface="Calibri"/>
              </a:rPr>
              <a:t> </a:t>
            </a:r>
            <a:r>
              <a:rPr lang="en-US" altLang="ja-JP" sz="1600" dirty="0">
                <a:latin typeface="Calibri"/>
              </a:rPr>
              <a:t>as</a:t>
            </a:r>
            <a:r>
              <a:rPr lang="ja-JP" altLang="en-US" sz="1600" dirty="0">
                <a:latin typeface="Calibri"/>
              </a:rPr>
              <a:t> </a:t>
            </a:r>
            <a:r>
              <a:rPr lang="en-US" altLang="ja-JP" sz="1600" dirty="0">
                <a:latin typeface="Calibri"/>
              </a:rPr>
              <a:t>a test model</a:t>
            </a:r>
            <a:r>
              <a:rPr sz="1600" dirty="0">
                <a:latin typeface="Calibri"/>
              </a:rPr>
              <a:t>, with the star tracker and the laser communication terminal mounted on </a:t>
            </a:r>
            <a:r>
              <a:rPr lang="en-US" sz="1600" dirty="0">
                <a:latin typeface="Calibri"/>
              </a:rPr>
              <a:t>opposite </a:t>
            </a:r>
            <a:r>
              <a:rPr sz="1600" dirty="0">
                <a:latin typeface="Calibri"/>
              </a:rPr>
              <a:t>panels.</a:t>
            </a:r>
          </a:p>
          <a:p>
            <a:pPr>
              <a:spcAft>
                <a:spcPts val="600"/>
              </a:spcAft>
            </a:pPr>
            <a:r>
              <a:rPr lang="en-US" sz="1600" dirty="0">
                <a:latin typeface="Calibri"/>
              </a:rPr>
              <a:t>The </a:t>
            </a:r>
            <a:r>
              <a:rPr sz="1600" dirty="0">
                <a:latin typeface="Calibri"/>
              </a:rPr>
              <a:t>spacecraft bus is </a:t>
            </a:r>
            <a:r>
              <a:rPr lang="en-US" sz="1600" dirty="0">
                <a:latin typeface="Calibri"/>
              </a:rPr>
              <a:t>modeled as a 1meter-class satellite</a:t>
            </a:r>
            <a:r>
              <a:rPr sz="1600" dirty="0">
                <a:latin typeface="Calibri"/>
              </a:rPr>
              <a:t> using aluminum shell elements</a:t>
            </a:r>
            <a:r>
              <a:rPr lang="en-US" sz="1600" dirty="0">
                <a:latin typeface="Calibri"/>
              </a:rPr>
              <a:t> on both of thermal desktop and </a:t>
            </a:r>
            <a:r>
              <a:rPr lang="en-US" sz="1600" dirty="0" err="1">
                <a:latin typeface="Calibri"/>
              </a:rPr>
              <a:t>Femap</a:t>
            </a:r>
            <a:r>
              <a:rPr sz="1600" dirty="0">
                <a:latin typeface="Calibri"/>
              </a:rPr>
              <a:t>.</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First, Thermal Desktop is used to calculate the time history of the spacecraft temperature field.</a:t>
            </a:r>
          </a:p>
          <a:p>
            <a:pPr>
              <a:spcAft>
                <a:spcPts val="600"/>
              </a:spcAft>
            </a:pPr>
            <a:r>
              <a:rPr lang="en-US" sz="1600" dirty="0">
                <a:latin typeface="Calibri"/>
              </a:rPr>
              <a:t>The setting for thermal analysis is shown as table.</a:t>
            </a:r>
            <a:endParaRPr sz="1600" dirty="0">
              <a:latin typeface="Calibri"/>
            </a:endParaRPr>
          </a:p>
          <a:p>
            <a:pPr>
              <a:spcAft>
                <a:spcPts val="600"/>
              </a:spcAft>
            </a:pPr>
            <a:r>
              <a:rPr sz="1600" dirty="0">
                <a:latin typeface="Calibri"/>
              </a:rPr>
              <a:t>Across the analysis cases, we vary </a:t>
            </a:r>
            <a:r>
              <a:rPr lang="en-US" sz="1600" dirty="0">
                <a:latin typeface="Calibri"/>
              </a:rPr>
              <a:t>the orbital conditions, </a:t>
            </a:r>
            <a:r>
              <a:rPr sz="1600" dirty="0">
                <a:latin typeface="Calibri"/>
              </a:rPr>
              <a:t>the sun-facing panel, </a:t>
            </a:r>
            <a:r>
              <a:rPr lang="en-US" sz="1600" dirty="0">
                <a:latin typeface="Calibri"/>
              </a:rPr>
              <a:t>the </a:t>
            </a:r>
            <a:r>
              <a:rPr sz="1600" dirty="0">
                <a:latin typeface="Calibri"/>
              </a:rPr>
              <a:t>optical properties</a:t>
            </a:r>
            <a:r>
              <a:rPr lang="en-US" sz="1600" dirty="0">
                <a:latin typeface="Calibri"/>
              </a:rPr>
              <a:t> of panels</a:t>
            </a:r>
            <a:r>
              <a:rPr sz="1600" dirty="0">
                <a:latin typeface="Calibri"/>
              </a:rPr>
              <a:t>,</a:t>
            </a:r>
            <a:r>
              <a:rPr lang="en-US" sz="1600" dirty="0">
                <a:latin typeface="Calibri"/>
              </a:rPr>
              <a:t> and</a:t>
            </a:r>
            <a:r>
              <a:rPr sz="1600" dirty="0">
                <a:latin typeface="Calibri"/>
              </a:rPr>
              <a:t> internal equipment dissipation</a:t>
            </a:r>
            <a:r>
              <a:rPr lang="en-US" sz="1600" dirty="0">
                <a:latin typeface="Calibri"/>
              </a:rPr>
              <a:t>.</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The resulting temperature </a:t>
            </a:r>
            <a:r>
              <a:rPr lang="en-US" sz="1600" dirty="0">
                <a:latin typeface="Calibri"/>
              </a:rPr>
              <a:t>time-series </a:t>
            </a:r>
            <a:r>
              <a:rPr sz="1600" dirty="0">
                <a:latin typeface="Calibri"/>
              </a:rPr>
              <a:t>field is then transferred to </a:t>
            </a:r>
            <a:r>
              <a:rPr sz="1600" dirty="0" err="1">
                <a:latin typeface="Calibri"/>
              </a:rPr>
              <a:t>Femap</a:t>
            </a:r>
            <a:r>
              <a:rPr sz="1600" dirty="0">
                <a:latin typeface="Calibri"/>
              </a:rPr>
              <a:t> for thermoelastic structural analysis.</a:t>
            </a:r>
          </a:p>
          <a:p>
            <a:pPr>
              <a:spcAft>
                <a:spcPts val="600"/>
              </a:spcAft>
            </a:pPr>
            <a:r>
              <a:rPr sz="1600" dirty="0">
                <a:latin typeface="Calibri"/>
              </a:rPr>
              <a:t>The spacecraft structure is modeled with the material properties shown here.</a:t>
            </a:r>
          </a:p>
          <a:p>
            <a:pPr>
              <a:spcAft>
                <a:spcPts val="600"/>
              </a:spcAft>
            </a:pPr>
            <a:r>
              <a:rPr sz="1600" dirty="0">
                <a:latin typeface="Calibri"/>
              </a:rPr>
              <a:t>From this analysis, we obtain the translations and rotations of the star-tracker and laser-terminal mounting locations.</a:t>
            </a:r>
          </a:p>
          <a:p>
            <a:pPr>
              <a:spcAft>
                <a:spcPts val="600"/>
              </a:spcAft>
            </a:pPr>
            <a:r>
              <a:rPr lang="ja-JP" altLang="en-US" sz="1600" dirty="0">
                <a:latin typeface="Calibri"/>
              </a:rPr>
              <a:t>（</a:t>
            </a:r>
            <a:r>
              <a:rPr sz="1600" dirty="0">
                <a:latin typeface="Calibri"/>
              </a:rPr>
              <a:t>Thermal Desktop and </a:t>
            </a:r>
            <a:r>
              <a:rPr sz="1600" dirty="0" err="1">
                <a:latin typeface="Calibri"/>
              </a:rPr>
              <a:t>Femap</a:t>
            </a:r>
            <a:r>
              <a:rPr sz="1600" dirty="0">
                <a:latin typeface="Calibri"/>
              </a:rPr>
              <a:t> are therefore used only to generate the high-fidelity reference dataset for model development.</a:t>
            </a:r>
            <a:r>
              <a:rPr lang="ja-JP" altLang="en-US" sz="1600" dirty="0">
                <a:latin typeface="Calibri"/>
              </a:rPr>
              <a:t>）</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For a far-field optical link, the relevant quantity is not simply the translation of the mounting points.</a:t>
            </a:r>
          </a:p>
          <a:p>
            <a:pPr>
              <a:spcAft>
                <a:spcPts val="600"/>
              </a:spcAft>
            </a:pPr>
            <a:r>
              <a:rPr sz="1600" dirty="0">
                <a:latin typeface="Calibri"/>
              </a:rPr>
              <a:t>What matters is the relative rotation of the laser communication terminal optical axis with respect to the star-tracker attitude reference.</a:t>
            </a:r>
          </a:p>
          <a:p>
            <a:pPr>
              <a:spcAft>
                <a:spcPts val="600"/>
              </a:spcAft>
            </a:pPr>
            <a:r>
              <a:rPr sz="1600" dirty="0">
                <a:latin typeface="Calibri"/>
              </a:rPr>
              <a:t>Therefore, we define the thermal LOS error as the LCT optical-axis rotation minus the STT reference rotation.</a:t>
            </a:r>
          </a:p>
          <a:p>
            <a:pPr>
              <a:spcAft>
                <a:spcPts val="600"/>
              </a:spcAft>
            </a:pPr>
            <a:r>
              <a:rPr sz="1600" dirty="0">
                <a:latin typeface="Calibri"/>
              </a:rPr>
              <a:t>The thermal rotation of the star tracker itself is absorbed into the attitude reference.</a:t>
            </a:r>
          </a:p>
          <a:p>
            <a:pPr>
              <a:spcAft>
                <a:spcPts val="600"/>
              </a:spcAft>
            </a:pPr>
            <a:r>
              <a:rPr lang="ja-JP" altLang="en-US" sz="1600" dirty="0">
                <a:latin typeface="Calibri"/>
              </a:rPr>
              <a:t>（</a:t>
            </a:r>
            <a:r>
              <a:rPr sz="1600" dirty="0">
                <a:latin typeface="Calibri"/>
              </a:rPr>
              <a:t>In this study, translation-induced tilt and the internal thermal deformation of the optical terminals are not included.</a:t>
            </a:r>
            <a:r>
              <a:rPr lang="ja-JP" altLang="en-US" sz="1600" dirty="0">
                <a:latin typeface="Calibri"/>
              </a:rPr>
              <a:t>）</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a:latin typeface="Calibri"/>
              </a:rPr>
              <a:t>With the spacecraft structure and LOS definition fixed, we vary four groups of conditions.</a:t>
            </a:r>
          </a:p>
          <a:p>
            <a:pPr>
              <a:spcAft>
                <a:spcPts val="600"/>
              </a:spcAft>
            </a:pPr>
            <a:r>
              <a:rPr sz="1600">
                <a:latin typeface="Calibri"/>
              </a:rPr>
              <a:t>These are the sun-facing panel, internal equipment dissipation, surface properties, and orbital thermal environment.</a:t>
            </a:r>
          </a:p>
          <a:p>
            <a:pPr>
              <a:spcAft>
                <a:spcPts val="600"/>
              </a:spcAft>
            </a:pPr>
            <a:r>
              <a:rPr sz="1600">
                <a:latin typeface="Calibri"/>
              </a:rPr>
              <a:t>In total, we analyze 21 cases.</a:t>
            </a:r>
          </a:p>
          <a:p>
            <a:pPr>
              <a:spcAft>
                <a:spcPts val="600"/>
              </a:spcAft>
            </a:pPr>
            <a:r>
              <a:rPr sz="1600">
                <a:latin typeface="Calibri"/>
              </a:rPr>
              <a:t>The important point is that these are different thermal and operating conditions within the same spacecraft configuration.</a:t>
            </a:r>
          </a:p>
          <a:p>
            <a:pPr>
              <a:spcAft>
                <a:spcPts val="600"/>
              </a:spcAft>
            </a:pPr>
            <a:r>
              <a:rPr sz="1600">
                <a:latin typeface="Calibri"/>
              </a:rPr>
              <a:t>We are not assuming that the numerical coefficients identified here can be transferred unchanged to a completely different spacecraft.</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F6780-497A-6364-27F0-BAAA41BE4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80E1EB-8B2C-7D4E-E84D-EDCF197FFEAF}"/>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DF4A9AB9-36A8-2B43-5763-BF0F4B81836D}"/>
              </a:ext>
            </a:extLst>
          </p:cNvPr>
          <p:cNvSpPr>
            <a:spLocks noGrp="1"/>
          </p:cNvSpPr>
          <p:nvPr>
            <p:ph type="body" sz="quarter" idx="3"/>
          </p:nvPr>
        </p:nvSpPr>
        <p:spPr/>
        <p:txBody>
          <a:bodyPr/>
          <a:lstStyle/>
          <a:p>
            <a:r>
              <a:rPr lang="ja-JP" altLang="ja-JP" sz="1600" dirty="0"/>
              <a:t>Based on these analysis results, we develop a simplified model to predict thermal LOS error using onboard temperature measurements.</a:t>
            </a:r>
          </a:p>
        </p:txBody>
      </p:sp>
      <p:sp>
        <p:nvSpPr>
          <p:cNvPr id="4" name="Slide Number Placeholder 3">
            <a:extLst>
              <a:ext uri="{FF2B5EF4-FFF2-40B4-BE49-F238E27FC236}">
                <a16:creationId xmlns:a16="http://schemas.microsoft.com/office/drawing/2014/main" id="{E619A70E-5124-D353-8FBE-D5530B989FCA}"/>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734677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lang="ja-JP" altLang="ja-JP" sz="1600" dirty="0"/>
              <a:t>Here, I compare four cases with the same sun-facing panel but different equipment dissipation states.</a:t>
            </a:r>
          </a:p>
          <a:p>
            <a:r>
              <a:rPr lang="ja-JP" altLang="ja-JP" sz="1600" dirty="0"/>
              <a:t>As you can see, the within-orbit waveforms are very similar, while their mean LOS levels differ substantially between cases.</a:t>
            </a:r>
          </a:p>
          <a:p>
            <a:r>
              <a:rPr lang="ja-JP" altLang="ja-JP" sz="1600" dirty="0"/>
              <a:t>This suggests that thermal LOS error can be separated into two components: a time-varying component within each orbit and a case-dependent offset.</a:t>
            </a:r>
          </a:p>
          <a:p>
            <a:r>
              <a:rPr lang="ja-JP" altLang="ja-JP" sz="1600" dirty="0"/>
              <a:t>We therefore aim to predict these two components separately using a reduced-order model.</a:t>
            </a:r>
          </a:p>
          <a:p>
            <a:r>
              <a:rPr lang="ja-JP" altLang="ja-JP" sz="1600" dirty="0"/>
              <a:t>First, let us examine how we can describe the time-varying component.</a:t>
            </a:r>
          </a:p>
          <a:p>
            <a:endParaRPr lang="ja-JP" altLang="ja-JP" sz="1600" dirty="0"/>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02541-F1A3-D1BA-31E3-AEDFAF8D0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83E82-966C-7F11-55A4-B9E813E6A98F}"/>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13536858-E9C3-BFD0-3D28-CF5344F9C22E}"/>
              </a:ext>
            </a:extLst>
          </p:cNvPr>
          <p:cNvSpPr>
            <a:spLocks noGrp="1"/>
          </p:cNvSpPr>
          <p:nvPr>
            <p:ph type="body" sz="quarter" idx="3"/>
          </p:nvPr>
        </p:nvSpPr>
        <p:spPr/>
        <p:txBody>
          <a:bodyPr/>
          <a:lstStyle/>
          <a:p>
            <a:r>
              <a:rPr lang="ja-JP" altLang="ja-JP" sz="1600" dirty="0"/>
              <a:t>Next, we examine the relationship between panel temperature differences and thermal LOS variation.</a:t>
            </a:r>
          </a:p>
          <a:p>
            <a:r>
              <a:rPr lang="ja-JP" altLang="ja-JP" sz="1600" dirty="0"/>
              <a:t>The left figure shows the temperature difference between the sun-facing and opposite panels, while the right figure shows the corresponding thermal LOS error.</a:t>
            </a:r>
          </a:p>
          <a:p>
            <a:r>
              <a:rPr lang="ja-JP" altLang="ja-JP" sz="1600" dirty="0"/>
              <a:t>As you can see, both signals exhibit nearly identical variations over the orbital period.</a:t>
            </a:r>
          </a:p>
          <a:p>
            <a:r>
              <a:rPr lang="ja-JP" altLang="ja-JP" sz="1600" dirty="0"/>
              <a:t>This suggests that the temperature difference between opposite panels can serve as a simple predictor of the time-varying thermal LOS component.</a:t>
            </a:r>
          </a:p>
          <a:p>
            <a:r>
              <a:rPr lang="ja-JP" altLang="ja-JP" sz="1600" dirty="0"/>
              <a:t>In the next slide, we use this relationship to formulate our reduced-order prediction model.</a:t>
            </a:r>
          </a:p>
          <a:p>
            <a:pPr>
              <a:spcAft>
                <a:spcPts val="600"/>
              </a:spcAft>
            </a:pPr>
            <a:endParaRPr sz="1600" dirty="0">
              <a:latin typeface="Calibri"/>
            </a:endParaRPr>
          </a:p>
        </p:txBody>
      </p:sp>
      <p:sp>
        <p:nvSpPr>
          <p:cNvPr id="4" name="Slide Number Placeholder 3">
            <a:extLst>
              <a:ext uri="{FF2B5EF4-FFF2-40B4-BE49-F238E27FC236}">
                <a16:creationId xmlns:a16="http://schemas.microsoft.com/office/drawing/2014/main" id="{4988FFD8-2563-0C26-AF09-06CC675A6156}"/>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578787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B42EA-D360-34D6-60C7-03B284699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F6A70-B226-B8D0-76C5-5C29EF418310}"/>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8F2AF636-D9A0-B111-F11B-3033CC3C424E}"/>
              </a:ext>
            </a:extLst>
          </p:cNvPr>
          <p:cNvSpPr>
            <a:spLocks noGrp="1"/>
          </p:cNvSpPr>
          <p:nvPr>
            <p:ph type="body" sz="quarter" idx="3"/>
          </p:nvPr>
        </p:nvSpPr>
        <p:spPr/>
        <p:txBody>
          <a:bodyPr/>
          <a:lstStyle/>
          <a:p>
            <a:r>
              <a:rPr lang="ja-JP" altLang="ja-JP" sz="1600" dirty="0"/>
              <a:t>Based on these observations, we developed a hierarchical temperature-difference model.</a:t>
            </a:r>
          </a:p>
          <a:p>
            <a:r>
              <a:rPr lang="ja-JP" altLang="ja-JP" sz="1600" dirty="0"/>
              <a:t>The model predicts thermal LOS error as the sum of two components.</a:t>
            </a:r>
            <a:endParaRPr lang="en-US" altLang="ja-JP" sz="1600" dirty="0"/>
          </a:p>
          <a:p>
            <a:endParaRPr lang="ja-JP" altLang="ja-JP" sz="1600" dirty="0"/>
          </a:p>
          <a:p>
            <a:r>
              <a:rPr lang="ja-JP" altLang="ja-JP" sz="1600" dirty="0"/>
              <a:t>The first component describes the time-varying error using the temperature difference between the sun-facing and opposite panels. The thermal sensitivity is shared across cases with the same sun-facing panel.</a:t>
            </a:r>
            <a:endParaRPr lang="en-US" altLang="ja-JP" sz="1600" dirty="0"/>
          </a:p>
          <a:p>
            <a:endParaRPr lang="ja-JP" altLang="ja-JP" sz="1600" dirty="0"/>
          </a:p>
          <a:p>
            <a:r>
              <a:rPr lang="ja-JP" altLang="ja-JP" sz="1600" dirty="0"/>
              <a:t>The second component is a case-dependent offset, modeled using the sun-facing panel and the ON/OFF states of two onboard units.</a:t>
            </a:r>
          </a:p>
          <a:p>
            <a:r>
              <a:rPr lang="ja-JP" altLang="ja-JP" sz="1600" dirty="0"/>
              <a:t>The dominant LOS axis depends on the sun-facing panel. For MX and PX, it is the x-axis, while for MY and PY, it is the y-axis.</a:t>
            </a:r>
            <a:endParaRPr lang="en-US" altLang="ja-JP" sz="1600" dirty="0"/>
          </a:p>
          <a:p>
            <a:endParaRPr lang="ja-JP" altLang="ja-JP" sz="1600" dirty="0"/>
          </a:p>
          <a:p>
            <a:r>
              <a:rPr lang="ja-JP" altLang="ja-JP" sz="1600" dirty="0"/>
              <a:t>For the non-dominant axis, the time variation is much smaller. Therefore, we model it using only a case-dependent offset, without the temperature-difference term.</a:t>
            </a:r>
          </a:p>
          <a:p>
            <a:r>
              <a:rPr lang="ja-JP" altLang="ja-JP" sz="1600" dirty="0"/>
              <a:t>This simple model allows us to predict thermal LOS error using onboard temperature measurements and operating-state information.</a:t>
            </a:r>
          </a:p>
          <a:p>
            <a:pPr>
              <a:spcAft>
                <a:spcPts val="600"/>
              </a:spcAft>
            </a:pPr>
            <a:endParaRPr sz="1600" dirty="0">
              <a:latin typeface="Calibri"/>
            </a:endParaRPr>
          </a:p>
        </p:txBody>
      </p:sp>
      <p:sp>
        <p:nvSpPr>
          <p:cNvPr id="4" name="Slide Number Placeholder 3">
            <a:extLst>
              <a:ext uri="{FF2B5EF4-FFF2-40B4-BE49-F238E27FC236}">
                <a16:creationId xmlns:a16="http://schemas.microsoft.com/office/drawing/2014/main" id="{4E4A3804-A38E-981D-0A3F-5E89C2E6D807}"/>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790608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lang="en-US" sz="1600" dirty="0">
                <a:latin typeface="Calibri"/>
              </a:rPr>
              <a:t>Here I summarize the prediction performance of the hierarchical model under unseen operating conditions.</a:t>
            </a:r>
          </a:p>
          <a:p>
            <a:pPr>
              <a:spcAft>
                <a:spcPts val="600"/>
              </a:spcAft>
            </a:pPr>
            <a:r>
              <a:rPr lang="en-US" sz="1600" dirty="0">
                <a:latin typeface="Calibri"/>
              </a:rPr>
              <a:t>We evaluate the model using leave-one-case-out validation. In each trial, the test case is completely excluded from all coefficient estimation, and its next two orbits are predicted using the fixed model.</a:t>
            </a:r>
          </a:p>
          <a:p>
            <a:pPr>
              <a:spcAft>
                <a:spcPts val="600"/>
              </a:spcAft>
            </a:pPr>
            <a:r>
              <a:rPr lang="en-US" sz="1600" dirty="0">
                <a:latin typeface="Calibri"/>
              </a:rPr>
              <a:t>The bar chart compares the raw dominant-axis thermal LOS RMS with the prediction RMSE for each case.</a:t>
            </a:r>
          </a:p>
          <a:p>
            <a:pPr>
              <a:spcAft>
                <a:spcPts val="600"/>
              </a:spcAft>
            </a:pPr>
            <a:r>
              <a:rPr lang="en-US" sz="1600" dirty="0">
                <a:latin typeface="Calibri"/>
              </a:rPr>
              <a:t>Across the evaluated cases, the median raw thermal LOS is 615 microradians, while the median prediction RMSE is only 4.9 microradians.</a:t>
            </a:r>
          </a:p>
          <a:p>
            <a:pPr>
              <a:spcAft>
                <a:spcPts val="600"/>
              </a:spcAft>
            </a:pPr>
            <a:r>
              <a:rPr lang="en-US" sz="1600" dirty="0">
                <a:latin typeface="Calibri"/>
              </a:rPr>
              <a:t>This shows that the reduced-order model can predict thermal LOS under unseen operating conditions with residual errors of only a few microradians.</a:t>
            </a:r>
            <a:endParaRPr sz="1600" dirty="0">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52224-2406-C2DC-2EDE-07ADBA512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BD7CF-C364-ABAE-949B-31841A713D3D}"/>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AE6452E9-11E0-B4E7-2181-92EC8DC09D9F}"/>
              </a:ext>
            </a:extLst>
          </p:cNvPr>
          <p:cNvSpPr>
            <a:spLocks noGrp="1"/>
          </p:cNvSpPr>
          <p:nvPr>
            <p:ph type="body" sz="quarter" idx="3"/>
          </p:nvPr>
        </p:nvSpPr>
        <p:spPr/>
        <p:txBody>
          <a:bodyPr/>
          <a:lstStyle/>
          <a:p>
            <a:r>
              <a:rPr lang="ja-JP" altLang="ja-JP" sz="1600" dirty="0"/>
              <a:t>Next, we evaluate how the predicted thermal LOS correction improves coarse-acquisition performance.</a:t>
            </a:r>
          </a:p>
        </p:txBody>
      </p:sp>
      <p:sp>
        <p:nvSpPr>
          <p:cNvPr id="4" name="Slide Number Placeholder 3">
            <a:extLst>
              <a:ext uri="{FF2B5EF4-FFF2-40B4-BE49-F238E27FC236}">
                <a16:creationId xmlns:a16="http://schemas.microsoft.com/office/drawing/2014/main" id="{00F27468-412A-D2BC-2F0A-FCA43543C94D}"/>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576620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lang="en-US" sz="1600" dirty="0">
                <a:latin typeface="Calibri"/>
              </a:rPr>
              <a:t>The predicted thermal LOS is used to shift the center of the coarse-acquisition scan.</a:t>
            </a:r>
          </a:p>
          <a:p>
            <a:pPr>
              <a:spcAft>
                <a:spcPts val="600"/>
              </a:spcAft>
            </a:pPr>
            <a:r>
              <a:rPr lang="en-US" sz="1600" dirty="0">
                <a:latin typeface="Calibri"/>
              </a:rPr>
              <a:t>As shown in the equation, the remaining scan-center error consists of nonthermal pointing errors and the difference between the true and predicted thermal LOS.</a:t>
            </a:r>
          </a:p>
          <a:p>
            <a:pPr>
              <a:spcAft>
                <a:spcPts val="600"/>
              </a:spcAft>
            </a:pPr>
            <a:r>
              <a:rPr lang="en-US" sz="1600" dirty="0">
                <a:latin typeface="Calibri"/>
              </a:rPr>
              <a:t>We evaluate acquisition using a simplified rectangular spiral scan.</a:t>
            </a:r>
          </a:p>
          <a:p>
            <a:pPr>
              <a:spcAft>
                <a:spcPts val="600"/>
              </a:spcAft>
            </a:pPr>
            <a:r>
              <a:rPr lang="en-US" sz="1600" dirty="0">
                <a:latin typeface="Calibri"/>
              </a:rPr>
              <a:t>The scan range is plus or minus 1600 microradians, with a step of 120 microradians and a detection radius of 150 microradians. Each scan point has a dwell time of 0.1 seconds.</a:t>
            </a:r>
          </a:p>
          <a:p>
            <a:pPr>
              <a:spcAft>
                <a:spcPts val="600"/>
              </a:spcAft>
            </a:pPr>
            <a:r>
              <a:rPr lang="en-US" sz="1600" dirty="0">
                <a:latin typeface="Calibri"/>
              </a:rPr>
              <a:t>The scan contains 729 points, and the detection radius is sufficiently large to avoid gaps between neighboring scan points.</a:t>
            </a:r>
          </a:p>
          <a:p>
            <a:pPr>
              <a:spcAft>
                <a:spcPts val="600"/>
              </a:spcAft>
            </a:pPr>
            <a:r>
              <a:rPr lang="en-US" sz="1600" dirty="0">
                <a:latin typeface="Calibri"/>
              </a:rPr>
              <a:t>In this simplified evaluation, inter-point motion, settling time, and probabilistic detection are neglected. Therefore, the acquisition times should be interpreted as comparative values under the same scan conditions.</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lang="en-US" sz="1600" dirty="0">
                <a:latin typeface="Calibri"/>
              </a:rPr>
              <a:t>In addition to the thermal LOS error, we include four nonthermal pointing-error components in the acquisition evaluation.</a:t>
            </a:r>
          </a:p>
          <a:p>
            <a:pPr>
              <a:spcAft>
                <a:spcPts val="600"/>
              </a:spcAft>
            </a:pPr>
            <a:r>
              <a:rPr lang="en-US" sz="1600" dirty="0">
                <a:latin typeface="Calibri"/>
              </a:rPr>
              <a:t>These are orbit-prediction error, alignment error, attitude error, and low-frequency drift.</a:t>
            </a:r>
          </a:p>
          <a:p>
            <a:pPr>
              <a:spcAft>
                <a:spcPts val="600"/>
              </a:spcAft>
            </a:pPr>
            <a:r>
              <a:rPr lang="en-US" sz="1600" dirty="0">
                <a:latin typeface="Calibri"/>
              </a:rPr>
              <a:t>The orbit-prediction error is generated by comparing Sentinel-1 TLE propagation using SGP4 with precise POEORB ephemeris data, and projecting the difference onto the link transverse plane.</a:t>
            </a:r>
          </a:p>
          <a:p>
            <a:pPr>
              <a:spcAft>
                <a:spcPts val="600"/>
              </a:spcAft>
            </a:pPr>
            <a:r>
              <a:rPr lang="en-US" sz="1600" dirty="0">
                <a:latin typeface="Calibri"/>
              </a:rPr>
              <a:t>The other components are modeled as a constant alignment error, random attitude error, and sinusoidal drift.</a:t>
            </a:r>
          </a:p>
          <a:p>
            <a:pPr>
              <a:spcAft>
                <a:spcPts val="600"/>
              </a:spcAft>
            </a:pPr>
            <a:r>
              <a:rPr lang="en-US" sz="1600" dirty="0">
                <a:latin typeface="Calibri"/>
              </a:rPr>
              <a:t>The orbit-prediction error is relatively large, with a mean magnitude of approximately 280 to 700 microradians depending on the link geometry.</a:t>
            </a:r>
          </a:p>
          <a:p>
            <a:pPr>
              <a:spcAft>
                <a:spcPts val="600"/>
              </a:spcAft>
            </a:pPr>
            <a:r>
              <a:rPr lang="en-US" sz="1600" dirty="0">
                <a:latin typeface="Calibri"/>
              </a:rPr>
              <a:t>This is not a spacecraft-specific error budget. Instead, it represents a generic GNSS-denied small-LEO scenario.</a:t>
            </a:r>
          </a:p>
          <a:p>
            <a:pPr>
              <a:spcAft>
                <a:spcPts val="600"/>
              </a:spcAft>
            </a:pPr>
            <a:r>
              <a:rPr lang="en-US" sz="1600" dirty="0">
                <a:latin typeface="Calibri"/>
              </a:rPr>
              <a:t>The numerical evaluation uses one random seed per case, so statistical variation across different noise realizations is not assessed.</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Finally, I present the acquisition results with nonthermal pointing errors included.</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This graph compares acquisition time with and without thermal feedforward correction across fourteen operating cases.</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Without thermal correction, the mean acquisition time is 19.2 seconds.</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With the hierarchical model, it decreases to 5.45 seconds, corresponding to a 72 percent reduction.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The acquisition success rate also increases from 98 percent to 100 percent.</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The improvement is particularly large for the PY sun-facing cases, where the thermal LOS error is approximately 1.2 milliradians. In these cases, acquisition time decreases from around 40 seconds to approximately 1 to 2 seconds.</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After correction, the remaining pointing error is dominated by nonthermal components.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Therefore, our approach does not eliminate all pointing errors, but significantly reduces the acquisition burden by removing the predictable thermal component before optical feedback becomes available.</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410-D6C4-C29F-898B-168C66770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F61FE-FA76-3670-970E-48BE36541DFE}"/>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D9639460-F670-4213-1C95-B03C1CB9A504}"/>
              </a:ext>
            </a:extLst>
          </p:cNvPr>
          <p:cNvSpPr>
            <a:spLocks noGrp="1"/>
          </p:cNvSpPr>
          <p:nvPr>
            <p:ph type="body" sz="quarter" idx="3"/>
          </p:nvPr>
        </p:nvSpPr>
        <p:spPr/>
        <p:txBody>
          <a:bodyPr/>
          <a:lstStyle/>
          <a:p>
            <a:r>
              <a:rPr lang="ja-JP" altLang="ja-JP" sz="1600" dirty="0"/>
              <a:t>Finally, let me summarize the main findings and limitations of this study.</a:t>
            </a:r>
          </a:p>
        </p:txBody>
      </p:sp>
      <p:sp>
        <p:nvSpPr>
          <p:cNvPr id="4" name="Slide Number Placeholder 3">
            <a:extLst>
              <a:ext uri="{FF2B5EF4-FFF2-40B4-BE49-F238E27FC236}">
                <a16:creationId xmlns:a16="http://schemas.microsoft.com/office/drawing/2014/main" id="{2B2322B1-6D4A-1828-04E7-5055022E0EBB}"/>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5022003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lang="en-US" sz="1600" dirty="0">
                <a:latin typeface="Calibri"/>
              </a:rPr>
              <a:t>To summarize, we developed a physics-informed reduced-order model to predict thermal LOS error before optical acquisition.</a:t>
            </a:r>
          </a:p>
          <a:p>
            <a:pPr>
              <a:spcAft>
                <a:spcPts val="600"/>
              </a:spcAft>
            </a:pPr>
            <a:r>
              <a:rPr lang="en-US" sz="1600" dirty="0">
                <a:latin typeface="Calibri"/>
              </a:rPr>
              <a:t>The model achieved a median prediction RMSE of 4.9 microradians under unseen operating conditions, and reduced the mean acquisition time by 72 percent in our numerical evaluation.</a:t>
            </a:r>
          </a:p>
          <a:p>
            <a:pPr>
              <a:spcAft>
                <a:spcPts val="600"/>
              </a:spcAft>
            </a:pPr>
            <a:r>
              <a:rPr lang="en-US" sz="1600" dirty="0">
                <a:latin typeface="Calibri"/>
              </a:rPr>
              <a:t>However, two important challenges remain.</a:t>
            </a:r>
          </a:p>
          <a:p>
            <a:pPr>
              <a:spcAft>
                <a:spcPts val="600"/>
              </a:spcAft>
            </a:pPr>
            <a:r>
              <a:rPr lang="en-US" sz="1600" dirty="0">
                <a:latin typeface="Calibri"/>
              </a:rPr>
              <a:t>First, the model has only been validated numerically for a simplified spacecraft structure and a fixed STT–LCT configuration. We need to examine whether the same model structure works for more realistic spacecraft and different equipment placements, and validate the predictions through ground testing.</a:t>
            </a:r>
          </a:p>
          <a:p>
            <a:pPr>
              <a:spcAft>
                <a:spcPts val="600"/>
              </a:spcAft>
            </a:pPr>
            <a:r>
              <a:rPr lang="en-US" sz="1600" dirty="0">
                <a:latin typeface="Calibri"/>
              </a:rPr>
              <a:t>Second, the model currently relies on fixed coefficients identified on the ground. For practical onboard use, we need adaptive updates based on post-acquisition measurements, while distinguishing thermal error from other pointing errors.</a:t>
            </a:r>
          </a:p>
          <a:p>
            <a:pPr>
              <a:spcAft>
                <a:spcPts val="600"/>
              </a:spcAft>
            </a:pPr>
            <a:r>
              <a:rPr lang="en-US" sz="1600" dirty="0">
                <a:latin typeface="Calibri"/>
              </a:rPr>
              <a:t>Our main message is that thermal deformation can be treated as a predictable bias and corrected before optical feedback becomes available.</a:t>
            </a:r>
          </a:p>
          <a:p>
            <a:pPr>
              <a:spcAft>
                <a:spcPts val="600"/>
              </a:spcAft>
            </a:pPr>
            <a:r>
              <a:rPr lang="en-US" sz="1600" dirty="0">
                <a:latin typeface="Calibri"/>
              </a:rPr>
              <a:t>Thank you for your attention.</a:t>
            </a:r>
            <a:endParaRPr sz="1600" dirty="0">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A: Appendix</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ΔT一次関係はJANUSにある。差分はバス相対LOS、階層DC、粗捕捉性能への接続。</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平均捕捉時間は成功試行のみの条件付き平均。成功率を併記する。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以前の任意ECEF-Z基底からSTT/bodyへ接続。MX proxyに注意。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sz="1600" dirty="0">
                <a:latin typeface="Calibri"/>
              </a:rPr>
              <a:t>There are several limitations to the current study.</a:t>
            </a:r>
          </a:p>
          <a:p>
            <a:pPr>
              <a:spcAft>
                <a:spcPts val="600"/>
              </a:spcAft>
            </a:pPr>
            <a:r>
              <a:rPr sz="1600" dirty="0">
                <a:latin typeface="Calibri"/>
              </a:rPr>
              <a:t>First, the validation is entirely numerical and is limited to the same spacecraft structure and LOS definition.</a:t>
            </a:r>
          </a:p>
          <a:p>
            <a:pPr>
              <a:spcAft>
                <a:spcPts val="600"/>
              </a:spcAft>
            </a:pPr>
            <a:r>
              <a:rPr sz="1600" dirty="0">
                <a:latin typeface="Calibri"/>
              </a:rPr>
              <a:t>Second, ground-test validation has not yet been performed, so the flight relevance of the thermo-structural model and the identified thermal sensitivities remains to be demonstrated.</a:t>
            </a:r>
          </a:p>
          <a:p>
            <a:pPr>
              <a:spcAft>
                <a:spcPts val="600"/>
              </a:spcAft>
            </a:pPr>
            <a:r>
              <a:rPr sz="1600" dirty="0">
                <a:latin typeface="Calibri"/>
              </a:rPr>
              <a:t>Third, the LOS is calculated using representative-node rotations.</a:t>
            </a:r>
          </a:p>
          <a:p>
            <a:pPr>
              <a:spcAft>
                <a:spcPts val="600"/>
              </a:spcAft>
            </a:pPr>
            <a:r>
              <a:rPr sz="1600" dirty="0">
                <a:latin typeface="Calibri"/>
              </a:rPr>
              <a:t>A rigid-body fit of the mounting interface and internal thermal deformation of the STT and LCT are not included.</a:t>
            </a:r>
          </a:p>
          <a:p>
            <a:pPr>
              <a:spcAft>
                <a:spcPts val="600"/>
              </a:spcAft>
            </a:pPr>
            <a:r>
              <a:rPr sz="1600" dirty="0">
                <a:latin typeface="Calibri"/>
              </a:rPr>
              <a:t>Finally, the acquisition simulation uses one nonthermal-error realization and simplified scan dynamics.</a:t>
            </a:r>
          </a:p>
          <a:p>
            <a:pPr>
              <a:spcAft>
                <a:spcPts val="600"/>
              </a:spcAft>
            </a:pPr>
            <a:endParaRPr sz="1600" dirty="0">
              <a:latin typeface="Calibri"/>
            </a:endParaRPr>
          </a:p>
          <a:p>
            <a:pPr>
              <a:spcAft>
                <a:spcPts val="600"/>
              </a:spcAft>
            </a:pPr>
            <a:r>
              <a:rPr sz="1600" dirty="0">
                <a:latin typeface="Calibri"/>
              </a:rPr>
              <a:t>There are three main directions for future work.</a:t>
            </a:r>
          </a:p>
          <a:p>
            <a:pPr>
              <a:spcAft>
                <a:spcPts val="600"/>
              </a:spcAft>
            </a:pPr>
            <a:r>
              <a:rPr sz="1600" dirty="0">
                <a:latin typeface="Calibri"/>
              </a:rPr>
              <a:t>First, we plan to validate the thermo-structural sensitivities through ground thermal testing.</a:t>
            </a:r>
          </a:p>
          <a:p>
            <a:pPr>
              <a:spcAft>
                <a:spcPts val="600"/>
              </a:spcAft>
            </a:pPr>
            <a:r>
              <a:rPr sz="1600" dirty="0">
                <a:latin typeface="Calibri"/>
              </a:rPr>
              <a:t>Second, for application to an actual spacecraft, the coefficients must be re-identified for the real structure and mounting configuration, while we investigate whether the same model structure can be retained.</a:t>
            </a:r>
          </a:p>
          <a:p>
            <a:pPr marL="0" marR="0" lvl="0" indent="0" algn="l" defTabSz="914400" rtl="0" eaLnBrk="1" fontAlgn="auto" latinLnBrk="0" hangingPunct="1">
              <a:lnSpc>
                <a:spcPct val="100000"/>
              </a:lnSpc>
              <a:spcBef>
                <a:spcPts val="0"/>
              </a:spcBef>
              <a:spcAft>
                <a:spcPts val="600"/>
              </a:spcAft>
              <a:buClrTx/>
              <a:buSzTx/>
              <a:buFontTx/>
              <a:buNone/>
              <a:tabLst/>
              <a:defRPr/>
            </a:pPr>
            <a:r>
              <a:rPr sz="1600" dirty="0">
                <a:latin typeface="Calibri"/>
              </a:rPr>
              <a:t>Third, after successful acquisition, optical pointing residuals could be used to adapt or update the prediction for repeated links.</a:t>
            </a:r>
            <a:br>
              <a:rPr lang="en-US" sz="1600" dirty="0">
                <a:latin typeface="Calibri"/>
              </a:rPr>
            </a:br>
            <a:br>
              <a:rPr lang="en-US" sz="1600" dirty="0">
                <a:latin typeface="Calibri"/>
              </a:rPr>
            </a:br>
            <a:r>
              <a:rPr lang="en-US" altLang="ja-JP" sz="1600" dirty="0">
                <a:latin typeface="Calibri"/>
              </a:rPr>
              <a:t>Thank you very much for your attention.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sz="1600">
                <a:latin typeface="Calibri"/>
              </a:rPr>
              <a:t>Let me briefly explain how the coefficients a and b are determined.</a:t>
            </a:r>
          </a:p>
          <a:p>
            <a:pPr>
              <a:spcAft>
                <a:spcPts val="600"/>
              </a:spcAft>
            </a:pPr>
            <a:r>
              <a:rPr sz="1600">
                <a:latin typeface="Calibri"/>
              </a:rPr>
              <a:t>First, for each analysis case, we use the first orbit to fit the relationship between the panel temperature difference and the thermal LOS.</a:t>
            </a:r>
          </a:p>
          <a:p>
            <a:pPr>
              <a:spcAft>
                <a:spcPts val="600"/>
              </a:spcAft>
            </a:pPr>
            <a:r>
              <a:rPr sz="1600">
                <a:latin typeface="Calibri"/>
              </a:rPr>
              <a:t>This gives a case-specific thermal sensitivity, a, and a mean offset, b.</a:t>
            </a:r>
          </a:p>
          <a:p>
            <a:pPr>
              <a:spcAft>
                <a:spcPts val="600"/>
              </a:spcAft>
            </a:pPr>
            <a:r>
              <a:rPr sz="1600">
                <a:latin typeface="Calibri"/>
              </a:rPr>
              <a:t>Next, the thermal sensitivity a is shared across cases with the same sun-facing panel.</a:t>
            </a:r>
          </a:p>
          <a:p>
            <a:pPr>
              <a:spcAft>
                <a:spcPts val="600"/>
              </a:spcAft>
            </a:pPr>
            <a:r>
              <a:rPr sz="1600">
                <a:latin typeface="Calibri"/>
              </a:rPr>
              <a:t>We use the median sensitivity of those cases as the shared coefficient.</a:t>
            </a:r>
          </a:p>
          <a:p>
            <a:pPr>
              <a:spcAft>
                <a:spcPts val="600"/>
              </a:spcAft>
            </a:pPr>
            <a:r>
              <a:rPr sz="1600">
                <a:latin typeface="Calibri"/>
              </a:rPr>
              <a:t>The mean offset b is treated differently.</a:t>
            </a:r>
          </a:p>
          <a:p>
            <a:pPr>
              <a:spcAft>
                <a:spcPts val="600"/>
              </a:spcAft>
            </a:pPr>
            <a:r>
              <a:rPr sz="1600">
                <a:latin typeface="Calibri"/>
              </a:rPr>
              <a:t>Instead of assigning an independent offset to every case, we model it using the sun-facing panel and equipment ON/OFF states.</a:t>
            </a:r>
          </a:p>
          <a:p>
            <a:pPr>
              <a:spcAft>
                <a:spcPts val="600"/>
              </a:spcAft>
            </a:pPr>
            <a:r>
              <a:rPr sz="1600">
                <a:latin typeface="Calibri"/>
              </a:rPr>
              <a:t>Therefore, the final onboard model does not require independent coefficients for every operating condition.</a:t>
            </a:r>
          </a:p>
          <a:p>
            <a:pPr>
              <a:spcAft>
                <a:spcPts val="600"/>
              </a:spcAft>
            </a:pPr>
            <a:r>
              <a:rPr sz="1600">
                <a:latin typeface="Calibri"/>
              </a:rPr>
              <a:t>To evaluate prediction under unseen conditions, we use a nested leave-one-case-out procedure.</a:t>
            </a:r>
          </a:p>
          <a:p>
            <a:pPr>
              <a:spcAft>
                <a:spcPts val="600"/>
              </a:spcAft>
            </a:pPr>
            <a:r>
              <a:rPr sz="1600">
                <a:latin typeface="Calibri"/>
              </a:rPr>
              <a:t>The test case is completely excluded from both the shared thermal-sensitivity estimation and the DC-bias model.</a:t>
            </a:r>
          </a:p>
          <a:p>
            <a:pPr>
              <a:spcAft>
                <a:spcPts val="600"/>
              </a:spcAft>
            </a:pPr>
            <a:r>
              <a:rPr sz="1600">
                <a:latin typeface="Calibri"/>
              </a:rPr>
              <a:t>Then, using only the fixed coefficients obtained from the remaining cases, we predict the excluded case and evaluate its next two orbits.</a:t>
            </a:r>
          </a:p>
          <a:p>
            <a:pPr>
              <a:spcAft>
                <a:spcPts val="600"/>
              </a:spcAft>
            </a:pPr>
            <a:r>
              <a:rPr sz="1600">
                <a:latin typeface="Calibri"/>
              </a:rPr>
              <a:t>So, this evaluates generalization to an unseen operating condition within the same spacecraft configuration.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56067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sz="1600">
                <a:latin typeface="Calibri"/>
              </a:rPr>
              <a:t>Finally, as a preliminary extension, we also examined the use of post-acquisition pointing residuals for repeated links.</a:t>
            </a:r>
          </a:p>
          <a:p>
            <a:pPr>
              <a:spcAft>
                <a:spcPts val="600"/>
              </a:spcAft>
            </a:pPr>
            <a:r>
              <a:rPr sz="1600">
                <a:latin typeface="Calibri"/>
              </a:rPr>
              <a:t>For the first acquisition, temperature-based prediction is important because previous optical residuals may not be available.</a:t>
            </a:r>
          </a:p>
          <a:p>
            <a:pPr>
              <a:spcAft>
                <a:spcPts val="600"/>
              </a:spcAft>
            </a:pPr>
            <a:r>
              <a:rPr sz="1600">
                <a:latin typeface="Calibri"/>
              </a:rPr>
              <a:t>After successful acquisition, however, periodic information contained in the residual can be used to reduce the remaining error in later orbits.</a:t>
            </a:r>
          </a:p>
          <a:p>
            <a:pPr>
              <a:spcAft>
                <a:spcPts val="600"/>
              </a:spcAft>
            </a:pPr>
            <a:r>
              <a:rPr sz="1600">
                <a:latin typeface="Calibri"/>
              </a:rPr>
              <a:t>In the two numerical cases shown here, combining the feedforward thermal model with a Fourier model of the residual reduces later-orbit acquisition time further.</a:t>
            </a:r>
          </a:p>
          <a:p>
            <a:pPr>
              <a:spcAft>
                <a:spcPts val="600"/>
              </a:spcAft>
            </a:pPr>
            <a:r>
              <a:rPr sz="1600">
                <a:latin typeface="Calibri"/>
              </a:rPr>
              <a:t>However, this is only a preliminary study.</a:t>
            </a:r>
          </a:p>
          <a:p>
            <a:pPr>
              <a:spcAft>
                <a:spcPts val="600"/>
              </a:spcAft>
            </a:pPr>
            <a:r>
              <a:rPr sz="1600">
                <a:latin typeface="Calibri"/>
              </a:rPr>
              <a:t>The thermal-model coefficients themselves are not updated, and the analysis currently uses only two cases with densely sampled residual data.</a:t>
            </a:r>
          </a:p>
          <a:p>
            <a:pPr>
              <a:spcAft>
                <a:spcPts val="600"/>
              </a:spcAft>
            </a:pPr>
            <a:r>
              <a:rPr sz="1600">
                <a:latin typeface="Calibri"/>
              </a:rPr>
              <a:t>Therefore, the primary result of this work remains the pre-acquisition feedforward correction based on temperature and operating-state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lang="en-US" sz="1600">
                <a:latin typeface="Calibri"/>
              </a:rPr>
              <a:t>Appendix. These plots check the shared sun-face sensitivity and the case bias predicted from the sun face and the dissipation flags.</a:t>
            </a:r>
            <a:endParaRPr sz="1600" dirty="0">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lang="en-US" sz="1600">
                <a:latin typeface="Calibri"/>
              </a:rPr>
              <a:t>Appendix. Case 08 is one of the largest raw thermal LOS cases. The fixed model predicts its next two orbits with a test RMSE of 3.9 microradians.</a:t>
            </a:r>
            <a:endParaRPr sz="1600">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I show the acquisition result when the nonthermal errors are included.</a:t>
            </a:r>
          </a:p>
          <a:p>
            <a:pPr marL="0" marR="0" lvl="0" indent="0" algn="l" defTabSz="914400" rtl="0" eaLnBrk="1" fontAlgn="auto" latinLnBrk="0" hangingPunct="1">
              <a:lnSpc>
                <a:spcPct val="100000"/>
              </a:lnSpc>
              <a:spcBef>
                <a:spcPts val="0"/>
              </a:spcBef>
              <a:spcAft>
                <a:spcPts val="600"/>
              </a:spcAft>
              <a:buClrTx/>
              <a:buSzTx/>
              <a:buFontTx/>
              <a:buNone/>
              <a:tabLst/>
              <a:defRPr/>
            </a:pPr>
            <a:endParaRPr sz="1600" dirty="0">
              <a:latin typeface="Calibri"/>
            </a:endParaRPr>
          </a:p>
          <a:p>
            <a:pPr>
              <a:spcAft>
                <a:spcPts val="600"/>
              </a:spcAft>
            </a:pPr>
            <a:r>
              <a:rPr sz="1600" dirty="0">
                <a:latin typeface="Calibri"/>
              </a:rPr>
              <a:t>Without thermal correction, the mean acquisition time is 19.2 seconds, with a success rate of 98 percent.</a:t>
            </a:r>
          </a:p>
          <a:p>
            <a:pPr>
              <a:spcAft>
                <a:spcPts val="600"/>
              </a:spcAft>
            </a:pPr>
            <a:r>
              <a:rPr sz="1600" dirty="0">
                <a:latin typeface="Calibri"/>
              </a:rPr>
              <a:t>With the feedforward thermal correction, the mean acquisition time decreases to 5.45 seconds.</a:t>
            </a:r>
          </a:p>
          <a:p>
            <a:pPr>
              <a:spcAft>
                <a:spcPts val="600"/>
              </a:spcAft>
            </a:pPr>
            <a:r>
              <a:rPr sz="1600" dirty="0">
                <a:latin typeface="Calibri"/>
              </a:rPr>
              <a:t>This corresponds to a 72 percent reduction, and the success rate increases to 100 percent.</a:t>
            </a:r>
          </a:p>
          <a:p>
            <a:pPr>
              <a:spcAft>
                <a:spcPts val="600"/>
              </a:spcAft>
            </a:pPr>
            <a:r>
              <a:rPr sz="1600" dirty="0">
                <a:latin typeface="Calibri"/>
              </a:rPr>
              <a:t>For the PY sun-facing cases, where the thermal LOS reaches approximately 1.2 milliradians, the acquisition time decreases from around 40 seconds to approximately 1 to 2 seconds.</a:t>
            </a:r>
          </a:p>
          <a:p>
            <a:pPr>
              <a:spcAft>
                <a:spcPts val="600"/>
              </a:spcAft>
            </a:pPr>
            <a:r>
              <a:rPr sz="1600" dirty="0">
                <a:latin typeface="Calibri"/>
              </a:rPr>
              <a:t>After correction, the remaining initial pointing error is about 448 microradians and is almost entirely determined by the nonthermal components.</a:t>
            </a:r>
          </a:p>
          <a:p>
            <a:pPr>
              <a:spcAft>
                <a:spcPts val="600"/>
              </a:spcAft>
            </a:pPr>
            <a:r>
              <a:rPr sz="1600" dirty="0">
                <a:latin typeface="Calibri"/>
              </a:rPr>
              <a:t>Therefore, the role of this method is not to eliminate every pointing error.</a:t>
            </a:r>
          </a:p>
          <a:p>
            <a:pPr>
              <a:spcAft>
                <a:spcPts val="600"/>
              </a:spcAft>
            </a:pPr>
            <a:r>
              <a:rPr sz="1600" dirty="0">
                <a:latin typeface="Calibri"/>
              </a:rPr>
              <a:t>Instead, it removes the predictable thermal component before optical feedback becomes available, shifting the dominant acquisition limitation from thermal error to nonthermal error.</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First, I show the acquisition result when only thermal LOS error is included.</a:t>
            </a:r>
          </a:p>
          <a:p>
            <a:pPr>
              <a:spcAft>
                <a:spcPts val="600"/>
              </a:spcAft>
            </a:pPr>
            <a:r>
              <a:rPr sz="1600" dirty="0">
                <a:latin typeface="Calibri"/>
              </a:rPr>
              <a:t>Without correction, the mean acquisition time is 14.6 seconds.</a:t>
            </a:r>
          </a:p>
          <a:p>
            <a:pPr>
              <a:spcAft>
                <a:spcPts val="600"/>
              </a:spcAft>
            </a:pPr>
            <a:r>
              <a:rPr sz="1600" dirty="0">
                <a:latin typeface="Calibri"/>
              </a:rPr>
              <a:t>With the hierarchical reduced-order model, the mean acquisition time decreases to 0.10 seconds.</a:t>
            </a:r>
          </a:p>
          <a:p>
            <a:pPr>
              <a:spcAft>
                <a:spcPts val="600"/>
              </a:spcAft>
            </a:pPr>
            <a:r>
              <a:rPr sz="1600" dirty="0">
                <a:latin typeface="Calibri"/>
              </a:rPr>
              <a:t>This is the same acquisition time obtained when the true thermal LOS is directly removed.</a:t>
            </a:r>
          </a:p>
          <a:p>
            <a:pPr>
              <a:spcAft>
                <a:spcPts val="600"/>
              </a:spcAft>
            </a:pPr>
            <a:r>
              <a:rPr sz="1600" dirty="0">
                <a:latin typeface="Calibri"/>
              </a:rPr>
              <a:t>However, this does not mean that the predicted waveform is perfectly identical to the thermal truth.</a:t>
            </a:r>
          </a:p>
          <a:p>
            <a:pPr>
              <a:spcAft>
                <a:spcPts val="600"/>
              </a:spcAft>
            </a:pPr>
            <a:r>
              <a:rPr sz="1600" dirty="0">
                <a:latin typeface="Calibri"/>
              </a:rPr>
              <a:t>It simply means that the remaining thermal residual, about 9 microradians on average, is already well inside the 150-microradian detection radius.</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全解析ケースの設計</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平均捕捉時間は成功試行のみの条件付き平均。成功率を併記する。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以前の任意ECEF-Z基底からSTT/bodyへ接続。MX proxyに注意。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熱も軌道も軌道位相依存。低周波残差を熱として取り込む説明は修正する。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LOS定義の比較</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被覆や半電力を聞かれたときの枚。発熱の係数を太陽面に依らず共有している点は、まだ検証していないと正直に言う。</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見かけのRMSE改善より、共線で係数解釈が壊れることを問題視した。</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聞かれたら、平均だけを引いた列は未計算だと答える。7月の静的バイアス補正の秒は、点間隔40 µrad・検出半径25 µradの旧走査のもので、今日の条件では比較にならない。</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何が新しいのかを聞かれたときの枚。予測するか、捕捉時間まで見るか、の2軸で置く。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5月に出たモデルの妥当性の問いへの答え。同じ解析の中の評価であることを認めた上で、地上試験で感度を確かめる筋を示す。</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姿勢の頻度を聞かれたときの枚。ケース内で太陽面を固定している前提を先に言い、変わる場合は別解析が要ると答える。</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5月に構想した適応補正がどこまで進んだかを聞かれたときの枚。本編Slide 21の数値の全文。</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旧い秒を聞かれたときの手元用。5月は2.43 s → 0.74 s・成功率97.5%で仮想バイアス。7月光RGは124.6 s と 156.9 → 59.6 s で、点間隔40 µrad・検出半径25 µradの密走査。8月16日のメモは12.1 s と 16.3 → 4.75 s で17ケース集計。いずれも走査条件かケース集合が今日と違う。</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77201" y="7340600"/>
            <a:ext cx="12431685" cy="2125436"/>
          </a:xfrm>
        </p:spPr>
        <p:txBody>
          <a:bodyPr anchor="b"/>
          <a:lstStyle>
            <a:lvl1pPr algn="l">
              <a:defRPr sz="4800" spc="300">
                <a:latin typeface="Arial" panose="020B0604020202020204" pitchFamily="34" charset="0"/>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9677201" y="9794966"/>
            <a:ext cx="12431684" cy="2351314"/>
          </a:xfrm>
        </p:spPr>
        <p:txBody>
          <a:bodyPr/>
          <a:lstStyle>
            <a:lvl1pPr marL="0" indent="0" algn="l">
              <a:lnSpc>
                <a:spcPct val="50000"/>
              </a:lnSpc>
              <a:buNone/>
              <a:defRPr sz="3600" b="0">
                <a:solidFill>
                  <a:schemeClr val="tx2"/>
                </a:solidFill>
                <a:latin typeface="Arial" panose="020B0604020202020204" pitchFamily="34" charset="0"/>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923E69BD-F0A9-D945-85B5-A92D8C4A6243}"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9" name="テキスト プレースホルダー 8">
            <a:extLst>
              <a:ext uri="{FF2B5EF4-FFF2-40B4-BE49-F238E27FC236}">
                <a16:creationId xmlns:a16="http://schemas.microsoft.com/office/drawing/2014/main" id="{ADAD6F10-9E3C-081C-FAC9-2F96D835D91D}"/>
              </a:ext>
            </a:extLst>
          </p:cNvPr>
          <p:cNvSpPr>
            <a:spLocks noGrp="1"/>
          </p:cNvSpPr>
          <p:nvPr>
            <p:ph type="body" sz="quarter" idx="13"/>
          </p:nvPr>
        </p:nvSpPr>
        <p:spPr>
          <a:xfrm>
            <a:off x="16483539" y="6261101"/>
            <a:ext cx="5625347" cy="698499"/>
          </a:xfrm>
        </p:spPr>
        <p:txBody>
          <a:bodyPr/>
          <a:lstStyle>
            <a:lvl1pPr algn="r">
              <a:buNone/>
              <a:defRPr sz="4000" b="0">
                <a:solidFill>
                  <a:schemeClr val="tx2"/>
                </a:solidFill>
                <a:latin typeface="Arial" panose="020B0604020202020204" pitchFamily="34" charset="0"/>
              </a:defRPr>
            </a:lvl1pPr>
          </a:lstStyle>
          <a:p>
            <a:pPr lvl="0"/>
            <a:r>
              <a:rPr kumimoji="1" lang="ja-JP" altLang="en-US"/>
              <a:t>マスター テキストの書式設定</a:t>
            </a:r>
          </a:p>
        </p:txBody>
      </p:sp>
      <p:sp>
        <p:nvSpPr>
          <p:cNvPr id="10" name="テキスト プレースホルダー 8">
            <a:extLst>
              <a:ext uri="{FF2B5EF4-FFF2-40B4-BE49-F238E27FC236}">
                <a16:creationId xmlns:a16="http://schemas.microsoft.com/office/drawing/2014/main" id="{3A47DA29-0B22-B527-E246-85A23FDB4324}"/>
              </a:ext>
            </a:extLst>
          </p:cNvPr>
          <p:cNvSpPr>
            <a:spLocks noGrp="1"/>
          </p:cNvSpPr>
          <p:nvPr>
            <p:ph type="body" sz="quarter" idx="14"/>
          </p:nvPr>
        </p:nvSpPr>
        <p:spPr>
          <a:xfrm>
            <a:off x="9677201" y="6261101"/>
            <a:ext cx="5625347" cy="698499"/>
          </a:xfrm>
        </p:spPr>
        <p:txBody>
          <a:bodyPr/>
          <a:lstStyle>
            <a:lvl1pPr algn="l">
              <a:buNone/>
              <a:defRPr sz="4000" b="0">
                <a:solidFill>
                  <a:schemeClr val="tx2"/>
                </a:solidFill>
                <a:latin typeface="Arial" panose="020B0604020202020204" pitchFamily="34" charset="0"/>
              </a:defRPr>
            </a:lvl1pPr>
          </a:lstStyle>
          <a:p>
            <a:pPr lvl="0"/>
            <a:r>
              <a:rPr kumimoji="1" lang="ja-JP" altLang="en-US"/>
              <a:t>マスター テキストの書式設定</a:t>
            </a:r>
          </a:p>
        </p:txBody>
      </p:sp>
      <p:sp>
        <p:nvSpPr>
          <p:cNvPr id="11" name="テキスト プレースホルダー 8">
            <a:extLst>
              <a:ext uri="{FF2B5EF4-FFF2-40B4-BE49-F238E27FC236}">
                <a16:creationId xmlns:a16="http://schemas.microsoft.com/office/drawing/2014/main" id="{3ABD93C0-C51C-2948-0F33-2EF4B6841AEC}"/>
              </a:ext>
            </a:extLst>
          </p:cNvPr>
          <p:cNvSpPr>
            <a:spLocks noGrp="1"/>
          </p:cNvSpPr>
          <p:nvPr>
            <p:ph type="body" sz="quarter" idx="15"/>
          </p:nvPr>
        </p:nvSpPr>
        <p:spPr>
          <a:xfrm>
            <a:off x="16483538" y="5413377"/>
            <a:ext cx="5625347" cy="698499"/>
          </a:xfrm>
        </p:spPr>
        <p:txBody>
          <a:bodyPr/>
          <a:lstStyle>
            <a:lvl1pPr algn="r">
              <a:buNone/>
              <a:defRPr sz="4000" b="0">
                <a:solidFill>
                  <a:schemeClr val="tx2"/>
                </a:solidFill>
                <a:latin typeface="Arial" panose="020B0604020202020204" pitchFamily="34" charset="0"/>
              </a:defRPr>
            </a:lvl1pPr>
          </a:lstStyle>
          <a:p>
            <a:pPr lvl="0"/>
            <a:r>
              <a:rPr kumimoji="1" lang="ja-JP" altLang="en-US"/>
              <a:t>マスター テキストの書式設定</a:t>
            </a:r>
          </a:p>
        </p:txBody>
      </p:sp>
    </p:spTree>
    <p:extLst>
      <p:ext uri="{BB962C8B-B14F-4D97-AF65-F5344CB8AC3E}">
        <p14:creationId xmlns:p14="http://schemas.microsoft.com/office/powerpoint/2010/main" val="299124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08300" y="4192765"/>
            <a:ext cx="4965808" cy="1795335"/>
          </a:xfrm>
        </p:spPr>
        <p:txBody>
          <a:bodyPr anchor="b"/>
          <a:lstStyle>
            <a:lvl1pPr algn="ctr">
              <a:defRPr sz="5600">
                <a:solidFill>
                  <a:schemeClr val="bg1"/>
                </a:solidFill>
                <a:latin typeface="Arial" panose="020B0604020202020204" pitchFamily="34" charset="0"/>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676289" y="7727900"/>
            <a:ext cx="21029831" cy="3000374"/>
          </a:xfrm>
        </p:spPr>
        <p:txBody>
          <a:bodyPr/>
          <a:lstStyle>
            <a:lvl1pPr marL="0" indent="0" algn="ctr">
              <a:buNone/>
              <a:defRPr sz="5600" spc="300">
                <a:solidFill>
                  <a:schemeClr val="bg1"/>
                </a:solidFill>
                <a:latin typeface="Arial" panose="020B0604020202020204" pitchFamily="34" charset="0"/>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FB9E95FB-2235-2F42-91D0-8B9F16BE7B80}"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cxnSp>
        <p:nvCxnSpPr>
          <p:cNvPr id="9" name="直線コネクタ 8">
            <a:extLst>
              <a:ext uri="{FF2B5EF4-FFF2-40B4-BE49-F238E27FC236}">
                <a16:creationId xmlns:a16="http://schemas.microsoft.com/office/drawing/2014/main" id="{872E8AAC-513B-BB73-EF3E-6F21C4AF6A77}"/>
              </a:ext>
            </a:extLst>
          </p:cNvPr>
          <p:cNvCxnSpPr>
            <a:cxnSpLocks/>
          </p:cNvCxnSpPr>
          <p:nvPr userDrawn="1"/>
        </p:nvCxnSpPr>
        <p:spPr>
          <a:xfrm>
            <a:off x="11254952" y="6858000"/>
            <a:ext cx="1872509"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0003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815378" y="3104147"/>
            <a:ext cx="23020980" cy="9249779"/>
          </a:xfrm>
        </p:spPr>
        <p:txBody>
          <a:bodyPr/>
          <a:lstStyle>
            <a:lvl1pPr>
              <a:defRPr b="1" i="0">
                <a:latin typeface="Arial" panose="020B0604020202020204" pitchFamily="34" charset="0"/>
                <a:ea typeface="Yu Gothic" panose="020B0400000000000000" pitchFamily="34" charset="-128"/>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CB8ED544-ACEE-1142-A4DF-052F81DCAF13}"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9" name="正方形/長方形 8">
            <a:extLst>
              <a:ext uri="{FF2B5EF4-FFF2-40B4-BE49-F238E27FC236}">
                <a16:creationId xmlns:a16="http://schemas.microsoft.com/office/drawing/2014/main" id="{71B145F9-61C6-1870-CE50-37506B7E4EF4}"/>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57968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55A8DA76-1C10-5547-91CE-253BD16E32D7}"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182735"/>
            <a:ext cx="11364543" cy="9287866"/>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3182735"/>
            <a:ext cx="11364543" cy="9287866"/>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9D7CF2C5-496E-3F41-87A5-8BF20107D1CA}"/>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8D55661E-ACB1-18CB-79CA-CE03DAB48599}"/>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37148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3DC3E895-CCE5-A241-A85F-670DB4C916C8}"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92833"/>
            <a:ext cx="11364543" cy="8377768"/>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4092833"/>
            <a:ext cx="11364543" cy="8377768"/>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1" name="テキスト プレースホルダー 10">
            <a:extLst>
              <a:ext uri="{FF2B5EF4-FFF2-40B4-BE49-F238E27FC236}">
                <a16:creationId xmlns:a16="http://schemas.microsoft.com/office/drawing/2014/main" id="{685F9C02-29EC-4168-A599-AFD3B71ED232}"/>
              </a:ext>
            </a:extLst>
          </p:cNvPr>
          <p:cNvSpPr>
            <a:spLocks noGrp="1"/>
          </p:cNvSpPr>
          <p:nvPr>
            <p:ph type="body" sz="quarter" idx="14"/>
          </p:nvPr>
        </p:nvSpPr>
        <p:spPr>
          <a:xfrm>
            <a:off x="504114" y="3213462"/>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2" name="テキスト プレースホルダー 10">
            <a:extLst>
              <a:ext uri="{FF2B5EF4-FFF2-40B4-BE49-F238E27FC236}">
                <a16:creationId xmlns:a16="http://schemas.microsoft.com/office/drawing/2014/main" id="{6165EC21-36B4-4CED-0569-C34ACFFC9B2E}"/>
              </a:ext>
            </a:extLst>
          </p:cNvPr>
          <p:cNvSpPr>
            <a:spLocks noGrp="1"/>
          </p:cNvSpPr>
          <p:nvPr>
            <p:ph type="body" sz="quarter" idx="15"/>
          </p:nvPr>
        </p:nvSpPr>
        <p:spPr>
          <a:xfrm>
            <a:off x="12429459" y="3213462"/>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BD06260A-761F-95EE-B2CA-F7236CCF8AA8}"/>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3" name="正方形/長方形 12">
            <a:extLst>
              <a:ext uri="{FF2B5EF4-FFF2-40B4-BE49-F238E27FC236}">
                <a16:creationId xmlns:a16="http://schemas.microsoft.com/office/drawing/2014/main" id="{3685353A-F7C6-F829-267C-FA087B7BBA8F}"/>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06196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F9F4C7F2-45E9-0742-99C2-D62F245DFEC9}"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3198393"/>
            <a:ext cx="7448868" cy="9287866"/>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Content Placeholder 2">
            <a:extLst>
              <a:ext uri="{FF2B5EF4-FFF2-40B4-BE49-F238E27FC236}">
                <a16:creationId xmlns:a16="http://schemas.microsoft.com/office/drawing/2014/main" id="{9D8C0F6B-7CC3-BA66-8706-C8D1A03DEF88}"/>
              </a:ext>
            </a:extLst>
          </p:cNvPr>
          <p:cNvSpPr>
            <a:spLocks noGrp="1"/>
          </p:cNvSpPr>
          <p:nvPr>
            <p:ph sz="half" idx="14"/>
          </p:nvPr>
        </p:nvSpPr>
        <p:spPr>
          <a:xfrm>
            <a:off x="8466772" y="3198393"/>
            <a:ext cx="7448868" cy="9287866"/>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Content Placeholder 2">
            <a:extLst>
              <a:ext uri="{FF2B5EF4-FFF2-40B4-BE49-F238E27FC236}">
                <a16:creationId xmlns:a16="http://schemas.microsoft.com/office/drawing/2014/main" id="{E8965DEA-F2AC-C400-E7ED-BAFF867547B1}"/>
              </a:ext>
            </a:extLst>
          </p:cNvPr>
          <p:cNvSpPr>
            <a:spLocks noGrp="1"/>
          </p:cNvSpPr>
          <p:nvPr>
            <p:ph sz="half" idx="15"/>
          </p:nvPr>
        </p:nvSpPr>
        <p:spPr>
          <a:xfrm>
            <a:off x="16387489" y="3198393"/>
            <a:ext cx="7448868" cy="9287866"/>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Title 1">
            <a:extLst>
              <a:ext uri="{FF2B5EF4-FFF2-40B4-BE49-F238E27FC236}">
                <a16:creationId xmlns:a16="http://schemas.microsoft.com/office/drawing/2014/main" id="{BD0E9647-9028-AEF2-D4FC-0AC5B2CFAF7E}"/>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93A54D1E-D7CD-DFE1-2E29-70A06AFEC982}"/>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8178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9C579897-8C2A-CB44-93BE-9BFBC7559B74}"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4119925"/>
            <a:ext cx="7448868" cy="8366333"/>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テキスト プレースホルダー 10">
            <a:extLst>
              <a:ext uri="{FF2B5EF4-FFF2-40B4-BE49-F238E27FC236}">
                <a16:creationId xmlns:a16="http://schemas.microsoft.com/office/drawing/2014/main" id="{2D417ACA-1B7B-F655-60FA-EDD80F82E67F}"/>
              </a:ext>
            </a:extLst>
          </p:cNvPr>
          <p:cNvSpPr>
            <a:spLocks noGrp="1"/>
          </p:cNvSpPr>
          <p:nvPr>
            <p:ph type="body" sz="quarter" idx="16"/>
          </p:nvPr>
        </p:nvSpPr>
        <p:spPr>
          <a:xfrm>
            <a:off x="504114" y="3234978"/>
            <a:ext cx="7572561"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4" name="Content Placeholder 2">
            <a:extLst>
              <a:ext uri="{FF2B5EF4-FFF2-40B4-BE49-F238E27FC236}">
                <a16:creationId xmlns:a16="http://schemas.microsoft.com/office/drawing/2014/main" id="{D98EEB2B-456E-ACC0-29AE-C347BAE7F46F}"/>
              </a:ext>
            </a:extLst>
          </p:cNvPr>
          <p:cNvSpPr>
            <a:spLocks noGrp="1"/>
          </p:cNvSpPr>
          <p:nvPr>
            <p:ph sz="half" idx="17"/>
          </p:nvPr>
        </p:nvSpPr>
        <p:spPr>
          <a:xfrm>
            <a:off x="8449492" y="4119925"/>
            <a:ext cx="7448868" cy="8366333"/>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テキスト プレースホルダー 10">
            <a:extLst>
              <a:ext uri="{FF2B5EF4-FFF2-40B4-BE49-F238E27FC236}">
                <a16:creationId xmlns:a16="http://schemas.microsoft.com/office/drawing/2014/main" id="{6F409C7A-D2E8-2D36-6086-331B6DCB40DF}"/>
              </a:ext>
            </a:extLst>
          </p:cNvPr>
          <p:cNvSpPr>
            <a:spLocks noGrp="1"/>
          </p:cNvSpPr>
          <p:nvPr>
            <p:ph type="body" sz="quarter" idx="18"/>
          </p:nvPr>
        </p:nvSpPr>
        <p:spPr>
          <a:xfrm>
            <a:off x="8404925" y="3234978"/>
            <a:ext cx="7572561"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6" name="Content Placeholder 2">
            <a:extLst>
              <a:ext uri="{FF2B5EF4-FFF2-40B4-BE49-F238E27FC236}">
                <a16:creationId xmlns:a16="http://schemas.microsoft.com/office/drawing/2014/main" id="{206D87F6-15FE-35D7-1017-BB745C23F612}"/>
              </a:ext>
            </a:extLst>
          </p:cNvPr>
          <p:cNvSpPr>
            <a:spLocks noGrp="1"/>
          </p:cNvSpPr>
          <p:nvPr>
            <p:ph sz="half" idx="19"/>
          </p:nvPr>
        </p:nvSpPr>
        <p:spPr>
          <a:xfrm>
            <a:off x="16350303" y="4119925"/>
            <a:ext cx="7448868" cy="8366333"/>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テキスト プレースホルダー 10">
            <a:extLst>
              <a:ext uri="{FF2B5EF4-FFF2-40B4-BE49-F238E27FC236}">
                <a16:creationId xmlns:a16="http://schemas.microsoft.com/office/drawing/2014/main" id="{3B277172-6A10-80CC-49F6-E3A8C9458398}"/>
              </a:ext>
            </a:extLst>
          </p:cNvPr>
          <p:cNvSpPr>
            <a:spLocks noGrp="1"/>
          </p:cNvSpPr>
          <p:nvPr>
            <p:ph type="body" sz="quarter" idx="20"/>
          </p:nvPr>
        </p:nvSpPr>
        <p:spPr>
          <a:xfrm>
            <a:off x="16305736" y="3234978"/>
            <a:ext cx="7572561"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2194081A-47C8-EFEA-0CF4-1F31377C0986}"/>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34DF2C9F-ACE0-585B-AAD3-3DD14251BADD}"/>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5588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BA509540-48D4-DC4E-A020-784E13A6C686}"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283060"/>
            <a:ext cx="11364543" cy="4306755"/>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3283060"/>
            <a:ext cx="11364543" cy="4306755"/>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184309"/>
            <a:ext cx="11364543" cy="4306755"/>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184309"/>
            <a:ext cx="11364543" cy="4306755"/>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3F385C3C-D291-ECD3-9330-C9FEFA38FAEF}"/>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2AA52CC1-C979-7DAC-F8FF-07CEF0898376}"/>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7493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BA509540-48D4-DC4E-A020-784E13A6C686}"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63353"/>
            <a:ext cx="11364543" cy="3526461"/>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テキスト プレースホルダー 10">
            <a:extLst>
              <a:ext uri="{FF2B5EF4-FFF2-40B4-BE49-F238E27FC236}">
                <a16:creationId xmlns:a16="http://schemas.microsoft.com/office/drawing/2014/main" id="{C9B2C448-12D1-42AE-F7D0-C8AED70F60CB}"/>
              </a:ext>
            </a:extLst>
          </p:cNvPr>
          <p:cNvSpPr>
            <a:spLocks noGrp="1"/>
          </p:cNvSpPr>
          <p:nvPr>
            <p:ph type="body" sz="quarter" idx="16"/>
          </p:nvPr>
        </p:nvSpPr>
        <p:spPr>
          <a:xfrm>
            <a:off x="504114" y="3176140"/>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4063353"/>
            <a:ext cx="11364543" cy="3526461"/>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テキスト プレースホルダー 10">
            <a:extLst>
              <a:ext uri="{FF2B5EF4-FFF2-40B4-BE49-F238E27FC236}">
                <a16:creationId xmlns:a16="http://schemas.microsoft.com/office/drawing/2014/main" id="{C1871C9F-CBB5-6510-4C84-37F671317ED2}"/>
              </a:ext>
            </a:extLst>
          </p:cNvPr>
          <p:cNvSpPr>
            <a:spLocks noGrp="1"/>
          </p:cNvSpPr>
          <p:nvPr>
            <p:ph type="body" sz="quarter" idx="18"/>
          </p:nvPr>
        </p:nvSpPr>
        <p:spPr>
          <a:xfrm>
            <a:off x="12432350" y="3176140"/>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964602"/>
            <a:ext cx="11364543" cy="3526461"/>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テキスト プレースホルダー 10">
            <a:extLst>
              <a:ext uri="{FF2B5EF4-FFF2-40B4-BE49-F238E27FC236}">
                <a16:creationId xmlns:a16="http://schemas.microsoft.com/office/drawing/2014/main" id="{E5E7CD5A-D74B-3BF3-1D34-C6BC3F85556B}"/>
              </a:ext>
            </a:extLst>
          </p:cNvPr>
          <p:cNvSpPr>
            <a:spLocks noGrp="1"/>
          </p:cNvSpPr>
          <p:nvPr>
            <p:ph type="body" sz="quarter" idx="20"/>
          </p:nvPr>
        </p:nvSpPr>
        <p:spPr>
          <a:xfrm>
            <a:off x="504114" y="8077389"/>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964602"/>
            <a:ext cx="11364543" cy="3526461"/>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8" name="テキスト プレースホルダー 10">
            <a:extLst>
              <a:ext uri="{FF2B5EF4-FFF2-40B4-BE49-F238E27FC236}">
                <a16:creationId xmlns:a16="http://schemas.microsoft.com/office/drawing/2014/main" id="{2F9C9DEC-0751-3E49-640C-C623BA98351A}"/>
              </a:ext>
            </a:extLst>
          </p:cNvPr>
          <p:cNvSpPr>
            <a:spLocks noGrp="1"/>
          </p:cNvSpPr>
          <p:nvPr>
            <p:ph type="body" sz="quarter" idx="22"/>
          </p:nvPr>
        </p:nvSpPr>
        <p:spPr>
          <a:xfrm>
            <a:off x="12432350" y="8077389"/>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4428B87E-4E5C-BD4A-B7B9-5CD017C2316F}"/>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67564866-3642-1515-F78F-EBC63CFFFD78}"/>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78096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76291" y="5357813"/>
            <a:ext cx="21029831" cy="3000374"/>
          </a:xfrm>
        </p:spPr>
        <p:txBody>
          <a:bodyPr anchor="ctr"/>
          <a:lstStyle>
            <a:lvl1pPr marL="0" indent="0" algn="ctr">
              <a:buNone/>
              <a:defRPr sz="5600" spc="300">
                <a:solidFill>
                  <a:schemeClr val="bg1"/>
                </a:solidFill>
                <a:latin typeface="Arial" panose="020B0604020202020204" pitchFamily="34" charset="0"/>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7DD96E1F-697B-864D-A8BC-B9F203AEA5AC}"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Tree>
    <p:extLst>
      <p:ext uri="{BB962C8B-B14F-4D97-AF65-F5344CB8AC3E}">
        <p14:creationId xmlns:p14="http://schemas.microsoft.com/office/powerpoint/2010/main" val="2341924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052" y="1391479"/>
            <a:ext cx="23290306" cy="10962448"/>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F33846FE-1092-FD42-9AC0-B69E5809E0EF}"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Tree>
    <p:extLst>
      <p:ext uri="{BB962C8B-B14F-4D97-AF65-F5344CB8AC3E}">
        <p14:creationId xmlns:p14="http://schemas.microsoft.com/office/powerpoint/2010/main" val="908457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A1A28FF6-6ABD-05E0-14A5-3CA8FD766292}"/>
              </a:ext>
            </a:extLst>
          </p:cNvPr>
          <p:cNvSpPr>
            <a:spLocks noGrp="1"/>
          </p:cNvSpPr>
          <p:nvPr>
            <p:ph type="dt" sz="half" idx="10"/>
          </p:nvPr>
        </p:nvSpPr>
        <p:spPr/>
        <p:txBody>
          <a:bodyPr/>
          <a:lstStyle>
            <a:lvl1pPr>
              <a:defRPr>
                <a:latin typeface="Arial" panose="020B0604020202020204" pitchFamily="34" charset="0"/>
              </a:defRPr>
            </a:lvl1pPr>
          </a:lstStyle>
          <a:p>
            <a:fld id="{7A6230E5-DC19-8048-9011-93E4E558FEAD}" type="datetime1">
              <a:rPr kumimoji="1" lang="en-US" altLang="ja-JP" smtClean="0"/>
              <a:pPr/>
              <a:t>10/14/2026</a:t>
            </a:fld>
            <a:endParaRPr kumimoji="1" lang="en-US" altLang="ja-JP" dirty="0"/>
          </a:p>
        </p:txBody>
      </p:sp>
      <p:sp>
        <p:nvSpPr>
          <p:cNvPr id="4" name="フッター プレースホルダー 3">
            <a:extLst>
              <a:ext uri="{FF2B5EF4-FFF2-40B4-BE49-F238E27FC236}">
                <a16:creationId xmlns:a16="http://schemas.microsoft.com/office/drawing/2014/main" id="{5FB69A14-0AF9-A649-3ABB-D4052E786CE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06DBC31-6D39-6C3E-5F31-00E86E0A20B1}"/>
              </a:ext>
            </a:extLst>
          </p:cNvPr>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Tree>
    <p:extLst>
      <p:ext uri="{BB962C8B-B14F-4D97-AF65-F5344CB8AC3E}">
        <p14:creationId xmlns:p14="http://schemas.microsoft.com/office/powerpoint/2010/main" val="2870487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355492" y="12744452"/>
            <a:ext cx="5486043" cy="730250"/>
          </a:xfrm>
          <a:prstGeom prst="rect">
            <a:avLst/>
          </a:prstGeom>
        </p:spPr>
        <p:txBody>
          <a:bodyPr vert="horz" lIns="91440" tIns="45720" rIns="91440" bIns="45720" rtlCol="0" anchor="ctr"/>
          <a:lstStyle>
            <a:lvl1pPr algn="l">
              <a:defRPr sz="2400">
                <a:solidFill>
                  <a:schemeClr val="tx1">
                    <a:tint val="82000"/>
                  </a:schemeClr>
                </a:solidFill>
                <a:latin typeface="Arial" panose="020B0604020202020204" pitchFamily="34" charset="0"/>
              </a:defRPr>
            </a:lvl1pPr>
          </a:lstStyle>
          <a:p>
            <a:fld id="{7A6230E5-DC19-8048-9011-93E4E558FEAD}" type="datetime1">
              <a:rPr kumimoji="1" lang="en-US" altLang="ja-JP" smtClean="0"/>
              <a:pPr/>
              <a:t>10/14/2026</a:t>
            </a:fld>
            <a:endParaRPr kumimoji="1" lang="en-US" altLang="ja-JP" dirty="0">
              <a:latin typeface="Arial" panose="020B0604020202020204" pitchFamily="34" charset="0"/>
            </a:endParaRPr>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18540879" y="12712701"/>
            <a:ext cx="5486043" cy="730250"/>
          </a:xfrm>
          <a:prstGeom prst="rect">
            <a:avLst/>
          </a:prstGeom>
        </p:spPr>
        <p:txBody>
          <a:bodyPr vert="horz" lIns="91440" tIns="45720" rIns="91440" bIns="45720" rtlCol="0" anchor="ctr"/>
          <a:lstStyle>
            <a:lvl1pPr algn="r">
              <a:defRPr sz="3600">
                <a:solidFill>
                  <a:schemeClr val="tx1">
                    <a:tint val="82000"/>
                  </a:schemeClr>
                </a:solidFill>
                <a:latin typeface="Arial" panose="020B0604020202020204" pitchFamily="34" charset="0"/>
              </a:defRPr>
            </a:lvl1pPr>
          </a:lstStyle>
          <a:p>
            <a:fld id="{E67BFEE9-6A35-CF42-A39A-CD481C3507E3}" type="slidenum">
              <a:rPr kumimoji="1" lang="en-US" altLang="ja-JP" smtClean="0"/>
              <a:pPr/>
              <a:t>‹#›</a:t>
            </a:fld>
            <a:endParaRPr kumimoji="1" lang="en-US" altLang="ja-JP" dirty="0">
              <a:latin typeface="Arial" panose="020B0604020202020204" pitchFamily="34" charset="0"/>
            </a:endParaRPr>
          </a:p>
        </p:txBody>
      </p:sp>
    </p:spTree>
    <p:extLst>
      <p:ext uri="{BB962C8B-B14F-4D97-AF65-F5344CB8AC3E}">
        <p14:creationId xmlns:p14="http://schemas.microsoft.com/office/powerpoint/2010/main" val="616459202"/>
      </p:ext>
    </p:extLst>
  </p:cSld>
  <p:clrMap bg1="lt1" tx1="dk1" bg2="lt2" tx2="dk2" accent1="accent1" accent2="accent2" accent3="accent3" accent4="accent4" accent5="accent5" accent6="accent6" hlink="hlink" folHlink="folHlink"/>
  <p:sldLayoutIdLst>
    <p:sldLayoutId id="2147483673" r:id="rId1"/>
    <p:sldLayoutId id="2147483675" r:id="rId2"/>
    <p:sldLayoutId id="2147483674" r:id="rId3"/>
    <p:sldLayoutId id="2147483679" r:id="rId4"/>
    <p:sldLayoutId id="2147483683" r:id="rId5"/>
    <p:sldLayoutId id="2147483684" r:id="rId6"/>
    <p:sldLayoutId id="2147483680" r:id="rId7"/>
    <p:sldLayoutId id="2147483681" r:id="rId8"/>
    <p:sldLayoutId id="2147483686" r:id="rId9"/>
    <p:sldLayoutId id="2147483685" r:id="rId10"/>
    <p:sldLayoutId id="2147483682" r:id="rId11"/>
    <p:sldLayoutId id="2147483687" r:id="rId12"/>
  </p:sldLayoutIdLst>
  <p:hf hdr="0" ftr="0" dt="0"/>
  <p:txStyles>
    <p:titleStyle>
      <a:lvl1pPr algn="l" defTabSz="1828709" rtl="0" eaLnBrk="1" latinLnBrk="0" hangingPunct="1">
        <a:lnSpc>
          <a:spcPct val="90000"/>
        </a:lnSpc>
        <a:spcBef>
          <a:spcPct val="0"/>
        </a:spcBef>
        <a:buNone/>
        <a:defRPr kumimoji="1" sz="6400" b="1" kern="1200" spc="300">
          <a:solidFill>
            <a:schemeClr val="tx1"/>
          </a:solidFill>
          <a:latin typeface="Arial" panose="020B0604020202020204" pitchFamily="34" charset="0"/>
          <a:ea typeface="+mn-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kumimoji="1" sz="4800" b="1" kern="1200">
          <a:solidFill>
            <a:schemeClr val="tx1"/>
          </a:solidFill>
          <a:latin typeface="Arial" panose="020B0604020202020204" pitchFamily="34" charset="0"/>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Arial" panose="020B0604020202020204" pitchFamily="34" charset="0"/>
          <a:ea typeface="Yu Gothic Medium" panose="020B0400000000000000" pitchFamily="34" charset="-128"/>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Arial" panose="020B0604020202020204" pitchFamily="34" charset="0"/>
          <a:ea typeface="Yu Gothic Medium" panose="020B0400000000000000" pitchFamily="34" charset="-128"/>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Arial" panose="020B0604020202020204" pitchFamily="34" charset="0"/>
          <a:ea typeface="Yu Gothic Medium" panose="020B0400000000000000" pitchFamily="34" charset="-128"/>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Arial" panose="020B0604020202020204" pitchFamily="34" charset="0"/>
          <a:ea typeface="Yu Gothic Medium" panose="020B0400000000000000" pitchFamily="34" charset="-128"/>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en-US"/>
      </a:defPPr>
      <a:lvl1pPr marL="0" algn="l" defTabSz="1828709" rtl="0" eaLnBrk="1" latinLnBrk="0" hangingPunct="1">
        <a:defRPr kumimoji="1" sz="3600" kern="1200">
          <a:solidFill>
            <a:schemeClr val="tx1"/>
          </a:solidFill>
          <a:latin typeface="+mn-lt"/>
          <a:ea typeface="+mn-ea"/>
          <a:cs typeface="+mn-cs"/>
        </a:defRPr>
      </a:lvl1pPr>
      <a:lvl2pPr marL="914354" algn="l" defTabSz="1828709" rtl="0" eaLnBrk="1" latinLnBrk="0" hangingPunct="1">
        <a:defRPr kumimoji="1" sz="3600" kern="1200">
          <a:solidFill>
            <a:schemeClr val="tx1"/>
          </a:solidFill>
          <a:latin typeface="+mn-lt"/>
          <a:ea typeface="+mn-ea"/>
          <a:cs typeface="+mn-cs"/>
        </a:defRPr>
      </a:lvl2pPr>
      <a:lvl3pPr marL="1828709" algn="l" defTabSz="1828709" rtl="0" eaLnBrk="1" latinLnBrk="0" hangingPunct="1">
        <a:defRPr kumimoji="1" sz="3600" kern="1200">
          <a:solidFill>
            <a:schemeClr val="tx1"/>
          </a:solidFill>
          <a:latin typeface="+mn-lt"/>
          <a:ea typeface="+mn-ea"/>
          <a:cs typeface="+mn-cs"/>
        </a:defRPr>
      </a:lvl3pPr>
      <a:lvl4pPr marL="2743063" algn="l" defTabSz="1828709" rtl="0" eaLnBrk="1" latinLnBrk="0" hangingPunct="1">
        <a:defRPr kumimoji="1" sz="3600" kern="1200">
          <a:solidFill>
            <a:schemeClr val="tx1"/>
          </a:solidFill>
          <a:latin typeface="+mn-lt"/>
          <a:ea typeface="+mn-ea"/>
          <a:cs typeface="+mn-cs"/>
        </a:defRPr>
      </a:lvl4pPr>
      <a:lvl5pPr marL="3657417" algn="l" defTabSz="1828709" rtl="0" eaLnBrk="1" latinLnBrk="0" hangingPunct="1">
        <a:defRPr kumimoji="1" sz="3600" kern="1200">
          <a:solidFill>
            <a:schemeClr val="tx1"/>
          </a:solidFill>
          <a:latin typeface="+mn-lt"/>
          <a:ea typeface="+mn-ea"/>
          <a:cs typeface="+mn-cs"/>
        </a:defRPr>
      </a:lvl5pPr>
      <a:lvl6pPr marL="4571771" algn="l" defTabSz="1828709" rtl="0" eaLnBrk="1" latinLnBrk="0" hangingPunct="1">
        <a:defRPr kumimoji="1" sz="3600" kern="1200">
          <a:solidFill>
            <a:schemeClr val="tx1"/>
          </a:solidFill>
          <a:latin typeface="+mn-lt"/>
          <a:ea typeface="+mn-ea"/>
          <a:cs typeface="+mn-cs"/>
        </a:defRPr>
      </a:lvl6pPr>
      <a:lvl7pPr marL="5486126" algn="l" defTabSz="1828709" rtl="0" eaLnBrk="1" latinLnBrk="0" hangingPunct="1">
        <a:defRPr kumimoji="1" sz="3600" kern="1200">
          <a:solidFill>
            <a:schemeClr val="tx1"/>
          </a:solidFill>
          <a:latin typeface="+mn-lt"/>
          <a:ea typeface="+mn-ea"/>
          <a:cs typeface="+mn-cs"/>
        </a:defRPr>
      </a:lvl7pPr>
      <a:lvl8pPr marL="6400480" algn="l" defTabSz="1828709" rtl="0" eaLnBrk="1" latinLnBrk="0" hangingPunct="1">
        <a:defRPr kumimoji="1" sz="3600" kern="1200">
          <a:solidFill>
            <a:schemeClr val="tx1"/>
          </a:solidFill>
          <a:latin typeface="+mn-lt"/>
          <a:ea typeface="+mn-ea"/>
          <a:cs typeface="+mn-cs"/>
        </a:defRPr>
      </a:lvl8pPr>
      <a:lvl9pPr marL="7314834" algn="l" defTabSz="1828709" rtl="0" eaLnBrk="1" latinLnBrk="0" hangingPunct="1">
        <a:defRPr kumimoji="1"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5.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680.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EF8D53-DFAD-2781-7D58-CDDA68ED3053}"/>
              </a:ext>
            </a:extLst>
          </p:cNvPr>
          <p:cNvSpPr>
            <a:spLocks noGrp="1"/>
          </p:cNvSpPr>
          <p:nvPr>
            <p:ph type="ctrTitle"/>
          </p:nvPr>
        </p:nvSpPr>
        <p:spPr>
          <a:xfrm>
            <a:off x="9274602" y="6201682"/>
            <a:ext cx="14020800" cy="2125436"/>
          </a:xfrm>
        </p:spPr>
        <p:txBody>
          <a:bodyPr wrap="square">
            <a:noAutofit/>
          </a:bodyPr>
          <a:lstStyle/>
          <a:p>
            <a:pPr algn="r"/>
            <a:br>
              <a:rPr lang="en-US" altLang="ja-JP" sz="4400" b="0">
                <a:latin typeface="Arial" panose="020B0604020202020204" pitchFamily="34" charset="0"/>
                <a:cs typeface="Arial" panose="020B0604020202020204" pitchFamily="34" charset="0"/>
              </a:rPr>
            </a:br>
            <a:r>
              <a:rPr lang="en-US" altLang="ja-JP" sz="4400">
                <a:latin typeface="Arial" panose="020B0604020202020204" pitchFamily="34" charset="0"/>
                <a:cs typeface="Arial" panose="020B0604020202020204" pitchFamily="34" charset="0"/>
              </a:rPr>
              <a:t>Hierarchical </a:t>
            </a:r>
            <a:r>
              <a:rPr lang="en-US" altLang="ja-JP" sz="4400" dirty="0">
                <a:latin typeface="Arial" panose="020B0604020202020204" pitchFamily="34" charset="0"/>
                <a:cs typeface="Arial" panose="020B0604020202020204" pitchFamily="34" charset="0"/>
              </a:rPr>
              <a:t>Prediction </a:t>
            </a:r>
            <a:br>
              <a:rPr lang="en-US" altLang="ja-JP" sz="4400" dirty="0">
                <a:latin typeface="Arial" panose="020B0604020202020204" pitchFamily="34" charset="0"/>
                <a:cs typeface="Arial" panose="020B0604020202020204" pitchFamily="34" charset="0"/>
              </a:rPr>
            </a:br>
            <a:r>
              <a:rPr lang="en-US" altLang="ja-JP" sz="4400" dirty="0">
                <a:latin typeface="Arial" panose="020B0604020202020204" pitchFamily="34" charset="0"/>
                <a:cs typeface="Arial" panose="020B0604020202020204" pitchFamily="34" charset="0"/>
              </a:rPr>
              <a:t>and Feedforward Correction </a:t>
            </a:r>
            <a:br>
              <a:rPr lang="en-US" altLang="ja-JP" sz="4400" dirty="0">
                <a:latin typeface="Arial" panose="020B0604020202020204" pitchFamily="34" charset="0"/>
                <a:cs typeface="Arial" panose="020B0604020202020204" pitchFamily="34" charset="0"/>
              </a:rPr>
            </a:br>
            <a:r>
              <a:rPr lang="en-US" altLang="ja-JP" sz="4400" dirty="0">
                <a:latin typeface="Arial" panose="020B0604020202020204" pitchFamily="34" charset="0"/>
                <a:cs typeface="Arial" panose="020B0604020202020204" pitchFamily="34" charset="0"/>
              </a:rPr>
              <a:t>of Time-Varying Thermal Line-of-Sight Bias </a:t>
            </a:r>
            <a:br>
              <a:rPr lang="en-US" altLang="ja-JP" sz="4400" dirty="0">
                <a:latin typeface="Arial" panose="020B0604020202020204" pitchFamily="34" charset="0"/>
                <a:cs typeface="Arial" panose="020B0604020202020204" pitchFamily="34" charset="0"/>
              </a:rPr>
            </a:br>
            <a:r>
              <a:rPr lang="en-US" altLang="ja-JP" sz="4400" dirty="0">
                <a:latin typeface="Arial" panose="020B0604020202020204" pitchFamily="34" charset="0"/>
                <a:cs typeface="Arial" panose="020B0604020202020204" pitchFamily="34" charset="0"/>
              </a:rPr>
              <a:t>for Coarse Acquisition </a:t>
            </a:r>
            <a:br>
              <a:rPr lang="en-US" altLang="ja-JP" sz="4400" dirty="0">
                <a:latin typeface="Arial" panose="020B0604020202020204" pitchFamily="34" charset="0"/>
                <a:cs typeface="Arial" panose="020B0604020202020204" pitchFamily="34" charset="0"/>
              </a:rPr>
            </a:br>
            <a:r>
              <a:rPr lang="en-US" altLang="ja-JP" sz="4400" dirty="0">
                <a:latin typeface="Arial" panose="020B0604020202020204" pitchFamily="34" charset="0"/>
                <a:cs typeface="Arial" panose="020B0604020202020204" pitchFamily="34" charset="0"/>
              </a:rPr>
              <a:t>in Satellite Optical Communications</a:t>
            </a:r>
            <a:endParaRPr sz="4400" b="1" dirty="0">
              <a:solidFill>
                <a:srgbClr val="082B52"/>
              </a:solidFill>
              <a:latin typeface="Arial" panose="020B0604020202020204" pitchFamily="34" charset="0"/>
              <a:ea typeface="Yu Gothic"/>
              <a:cs typeface="Arial" panose="020B0604020202020204" pitchFamily="34" charset="0"/>
            </a:endParaRPr>
          </a:p>
        </p:txBody>
      </p:sp>
      <p:sp>
        <p:nvSpPr>
          <p:cNvPr id="9" name="TextBox 8"/>
          <p:cNvSpPr txBox="1"/>
          <p:nvPr/>
        </p:nvSpPr>
        <p:spPr>
          <a:xfrm>
            <a:off x="8787606" y="11617362"/>
            <a:ext cx="7132320" cy="590931"/>
          </a:xfrm>
          <a:prstGeom prst="rect">
            <a:avLst/>
          </a:prstGeom>
          <a:noFill/>
        </p:spPr>
        <p:txBody>
          <a:bodyPr wrap="square" lIns="45720" tIns="18288" rIns="45720" bIns="18288" anchor="t">
            <a:spAutoFit/>
          </a:bodyPr>
          <a:lstStyle/>
          <a:p>
            <a:pPr algn="r">
              <a:spcAft>
                <a:spcPts val="0"/>
              </a:spcAft>
            </a:pPr>
            <a:r>
              <a:rPr lang="en-US" sz="3600" b="0">
                <a:solidFill>
                  <a:schemeClr val="tx2">
                    <a:lumMod val="50000"/>
                  </a:schemeClr>
                </a:solidFill>
                <a:latin typeface="Arial" panose="020B0604020202020204" pitchFamily="34" charset="0"/>
                <a:ea typeface="Yu Gothic"/>
                <a:cs typeface="Arial" panose="020B0604020202020204" pitchFamily="34" charset="0"/>
              </a:rPr>
              <a:t>ICSO</a:t>
            </a:r>
            <a:r>
              <a:rPr lang="en-US" altLang="ja-JP" sz="3600">
                <a:solidFill>
                  <a:schemeClr val="tx2">
                    <a:lumMod val="50000"/>
                  </a:schemeClr>
                </a:solidFill>
                <a:latin typeface="Arial" panose="020B0604020202020204" pitchFamily="34" charset="0"/>
                <a:ea typeface="Yu Gothic"/>
                <a:cs typeface="Arial" panose="020B0604020202020204" pitchFamily="34" charset="0"/>
              </a:rPr>
              <a:t> 2026 | </a:t>
            </a:r>
            <a:r>
              <a:rPr lang="en-US" altLang="ja-JP" sz="3600" dirty="0">
                <a:solidFill>
                  <a:schemeClr val="tx2">
                    <a:lumMod val="50000"/>
                  </a:schemeClr>
                </a:solidFill>
                <a:latin typeface="Arial" panose="020B0604020202020204" pitchFamily="34" charset="0"/>
                <a:ea typeface="Yu Gothic"/>
                <a:cs typeface="Arial" panose="020B0604020202020204" pitchFamily="34" charset="0"/>
              </a:rPr>
              <a:t>October 15, 2026</a:t>
            </a:r>
            <a:endParaRPr lang="en-US" sz="3600" b="0" dirty="0">
              <a:solidFill>
                <a:schemeClr val="tx2">
                  <a:lumMod val="50000"/>
                </a:schemeClr>
              </a:solidFill>
              <a:latin typeface="Arial" panose="020B0604020202020204" pitchFamily="34" charset="0"/>
              <a:ea typeface="Yu Gothic"/>
              <a:cs typeface="Arial" panose="020B0604020202020204" pitchFamily="34" charset="0"/>
            </a:endParaRPr>
          </a:p>
        </p:txBody>
      </p:sp>
      <p:sp>
        <p:nvSpPr>
          <p:cNvPr id="6" name="Google Shape;70;p1">
            <a:extLst>
              <a:ext uri="{FF2B5EF4-FFF2-40B4-BE49-F238E27FC236}">
                <a16:creationId xmlns:a16="http://schemas.microsoft.com/office/drawing/2014/main" id="{8F5F23AD-2C62-83A6-047B-A7631094E474}"/>
              </a:ext>
            </a:extLst>
          </p:cNvPr>
          <p:cNvSpPr txBox="1">
            <a:spLocks/>
          </p:cNvSpPr>
          <p:nvPr/>
        </p:nvSpPr>
        <p:spPr>
          <a:xfrm>
            <a:off x="9551077" y="8993448"/>
            <a:ext cx="15340923" cy="1389189"/>
          </a:xfrm>
          <a:prstGeom prst="rect">
            <a:avLst/>
          </a:prstGeom>
          <a:noFill/>
          <a:ln>
            <a:noFill/>
          </a:ln>
        </p:spPr>
        <p:txBody>
          <a:bodyPr spcFirstLastPara="1" vert="horz" wrap="square" lIns="91425" tIns="91425" rIns="91425" bIns="91425" rtlCol="0" anchor="t" anchorCtr="0">
            <a:noAutofit/>
          </a:bodyPr>
          <a:lstStyle>
            <a:lvl1pPr marL="0" indent="0" algn="l" defTabSz="1828709" rtl="0" eaLnBrk="1" latinLnBrk="0" hangingPunct="1">
              <a:lnSpc>
                <a:spcPct val="50000"/>
              </a:lnSpc>
              <a:spcBef>
                <a:spcPts val="2000"/>
              </a:spcBef>
              <a:buFont typeface="Arial" panose="020B0604020202020204" pitchFamily="34" charset="0"/>
              <a:buNone/>
              <a:defRPr kumimoji="1" sz="3600" b="0" kern="1200">
                <a:solidFill>
                  <a:schemeClr val="tx2"/>
                </a:solidFill>
                <a:latin typeface="+mn-lt"/>
                <a:ea typeface="+mn-ea"/>
                <a:cs typeface="+mn-cs"/>
              </a:defRPr>
            </a:lvl1pPr>
            <a:lvl2pPr marL="914354" indent="0" algn="ctr" defTabSz="1828709" rtl="0" eaLnBrk="1" latinLnBrk="0" hangingPunct="1">
              <a:lnSpc>
                <a:spcPct val="90000"/>
              </a:lnSpc>
              <a:spcBef>
                <a:spcPts val="1000"/>
              </a:spcBef>
              <a:buFont typeface="Arial" panose="020B0604020202020204" pitchFamily="34" charset="0"/>
              <a:buNone/>
              <a:defRPr kumimoji="1" sz="4000" b="0" i="0" kern="1200">
                <a:solidFill>
                  <a:schemeClr val="tx2"/>
                </a:solidFill>
                <a:latin typeface="Yu Gothic Medium" panose="020B0400000000000000" pitchFamily="34" charset="-128"/>
                <a:ea typeface="Yu Gothic Medium" panose="020B0400000000000000" pitchFamily="34" charset="-128"/>
                <a:cs typeface="+mn-cs"/>
              </a:defRPr>
            </a:lvl2pPr>
            <a:lvl3pPr marL="1828709" indent="0" algn="ctr" defTabSz="1828709" rtl="0" eaLnBrk="1" latinLnBrk="0" hangingPunct="1">
              <a:lnSpc>
                <a:spcPct val="90000"/>
              </a:lnSpc>
              <a:spcBef>
                <a:spcPts val="1000"/>
              </a:spcBef>
              <a:buFont typeface="Arial" panose="020B0604020202020204" pitchFamily="34" charset="0"/>
              <a:buNone/>
              <a:defRPr kumimoji="1" sz="3600" b="0" i="0" kern="1200">
                <a:solidFill>
                  <a:schemeClr val="tx2"/>
                </a:solidFill>
                <a:latin typeface="Yu Gothic Medium" panose="020B0400000000000000" pitchFamily="34" charset="-128"/>
                <a:ea typeface="Yu Gothic Medium" panose="020B0400000000000000" pitchFamily="34" charset="-128"/>
                <a:cs typeface="+mn-cs"/>
              </a:defRPr>
            </a:lvl3pPr>
            <a:lvl4pPr marL="2743063" indent="0" algn="ctr" defTabSz="1828709" rtl="0" eaLnBrk="1" latinLnBrk="0" hangingPunct="1">
              <a:lnSpc>
                <a:spcPct val="90000"/>
              </a:lnSpc>
              <a:spcBef>
                <a:spcPts val="1000"/>
              </a:spcBef>
              <a:buFont typeface="Arial" panose="020B0604020202020204" pitchFamily="34" charset="0"/>
              <a:buNone/>
              <a:defRPr kumimoji="1" sz="3200" b="0" i="0" kern="1200">
                <a:solidFill>
                  <a:schemeClr val="tx2"/>
                </a:solidFill>
                <a:latin typeface="Yu Gothic Medium" panose="020B0400000000000000" pitchFamily="34" charset="-128"/>
                <a:ea typeface="Yu Gothic Medium" panose="020B0400000000000000" pitchFamily="34" charset="-128"/>
                <a:cs typeface="+mn-cs"/>
              </a:defRPr>
            </a:lvl4pPr>
            <a:lvl5pPr marL="3657417" indent="0" algn="ctr" defTabSz="1828709" rtl="0" eaLnBrk="1" latinLnBrk="0" hangingPunct="1">
              <a:lnSpc>
                <a:spcPct val="90000"/>
              </a:lnSpc>
              <a:spcBef>
                <a:spcPts val="1000"/>
              </a:spcBef>
              <a:buFont typeface="Arial" panose="020B0604020202020204" pitchFamily="34" charset="0"/>
              <a:buNone/>
              <a:defRPr kumimoji="1" sz="3200" b="0" i="0" kern="1200">
                <a:solidFill>
                  <a:schemeClr val="tx2"/>
                </a:solidFill>
                <a:latin typeface="Yu Gothic Medium" panose="020B0400000000000000" pitchFamily="34" charset="-128"/>
                <a:ea typeface="Yu Gothic Medium" panose="020B0400000000000000" pitchFamily="34" charset="-128"/>
                <a:cs typeface="+mn-cs"/>
              </a:defRPr>
            </a:lvl5pPr>
            <a:lvl6pPr marL="4571771" indent="0" algn="ctr" defTabSz="1828709"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6pPr>
            <a:lvl7pPr marL="5486126" indent="0" algn="ctr" defTabSz="1828709"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7pPr>
            <a:lvl8pPr marL="6400480" indent="0" algn="ctr" defTabSz="1828709"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8pPr>
            <a:lvl9pPr marL="7314834" indent="0" algn="ctr" defTabSz="1828709"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9pPr>
          </a:lstStyle>
          <a:p>
            <a:r>
              <a:rPr lang="en-US" altLang="ja-JP" sz="3200" b="1" u="sng" dirty="0">
                <a:latin typeface="Arial" panose="020B0604020202020204" pitchFamily="34" charset="0"/>
                <a:cs typeface="Arial" panose="020B0604020202020204" pitchFamily="34" charset="0"/>
              </a:rPr>
              <a:t>H. TAKAMOTO</a:t>
            </a:r>
            <a:r>
              <a:rPr lang="en-US" altLang="ja-JP" sz="3200" dirty="0">
                <a:latin typeface="Arial" panose="020B0604020202020204" pitchFamily="34" charset="0"/>
                <a:cs typeface="Arial" panose="020B0604020202020204" pitchFamily="34" charset="0"/>
              </a:rPr>
              <a:t>, K. Takashima,</a:t>
            </a:r>
            <a:r>
              <a:rPr lang="en-US" altLang="ja-JP" sz="3200" baseline="30000" dirty="0">
                <a:latin typeface="Arial" panose="020B0604020202020204" pitchFamily="34" charset="0"/>
                <a:cs typeface="Arial" panose="020B0604020202020204" pitchFamily="34" charset="0"/>
              </a:rPr>
              <a:t> </a:t>
            </a:r>
            <a:r>
              <a:rPr lang="en-US" altLang="ja-JP" sz="3200" dirty="0">
                <a:latin typeface="Arial" panose="020B0604020202020204" pitchFamily="34" charset="0"/>
                <a:cs typeface="Arial" panose="020B0604020202020204" pitchFamily="34" charset="0"/>
              </a:rPr>
              <a:t>Y. Kusano,</a:t>
            </a:r>
            <a:r>
              <a:rPr lang="en-US" altLang="ja-JP" sz="3200" baseline="30000" dirty="0">
                <a:latin typeface="Arial" panose="020B0604020202020204" pitchFamily="34" charset="0"/>
                <a:cs typeface="Arial" panose="020B0604020202020204" pitchFamily="34" charset="0"/>
              </a:rPr>
              <a:t> </a:t>
            </a:r>
            <a:r>
              <a:rPr lang="en-US" altLang="ja-JP" sz="3200" dirty="0">
                <a:latin typeface="Arial" panose="020B0604020202020204" pitchFamily="34" charset="0"/>
                <a:cs typeface="Arial" panose="020B0604020202020204" pitchFamily="34" charset="0"/>
              </a:rPr>
              <a:t>S. Ikari, R. </a:t>
            </a:r>
            <a:r>
              <a:rPr lang="en-US" altLang="ja-JP" sz="3200" dirty="0" err="1">
                <a:latin typeface="Arial" panose="020B0604020202020204" pitchFamily="34" charset="0"/>
                <a:cs typeface="Arial" panose="020B0604020202020204" pitchFamily="34" charset="0"/>
              </a:rPr>
              <a:t>Funase</a:t>
            </a:r>
            <a:r>
              <a:rPr lang="en-US" altLang="ja-JP" sz="3200" dirty="0">
                <a:latin typeface="Arial" panose="020B0604020202020204" pitchFamily="34" charset="0"/>
                <a:cs typeface="Arial" panose="020B0604020202020204" pitchFamily="34" charset="0"/>
              </a:rPr>
              <a:t> </a:t>
            </a:r>
          </a:p>
          <a:p>
            <a:endParaRPr lang="en-US" altLang="ja-JP" sz="3200" dirty="0">
              <a:latin typeface="Arial" panose="020B0604020202020204" pitchFamily="34" charset="0"/>
              <a:cs typeface="Arial" panose="020B0604020202020204" pitchFamily="34" charset="0"/>
            </a:endParaRPr>
          </a:p>
          <a:p>
            <a:r>
              <a:rPr lang="en-US" altLang="ja-JP" sz="3200" dirty="0">
                <a:latin typeface="Arial" panose="020B0604020202020204" pitchFamily="34" charset="0"/>
                <a:cs typeface="Arial" panose="020B0604020202020204" pitchFamily="34" charset="0"/>
              </a:rPr>
              <a:t>(The University of Tokyo)</a:t>
            </a:r>
          </a:p>
        </p:txBody>
      </p:sp>
      <p:pic>
        <p:nvPicPr>
          <p:cNvPr id="10" name="Picture 2" descr="東大マーク | 東京大学">
            <a:extLst>
              <a:ext uri="{FF2B5EF4-FFF2-40B4-BE49-F238E27FC236}">
                <a16:creationId xmlns:a16="http://schemas.microsoft.com/office/drawing/2014/main" id="{37C6FA94-99DF-BA36-379D-FD90F4ED5F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193" t="11512" r="27198" b="14363"/>
          <a:stretch>
            <a:fillRect/>
          </a:stretch>
        </p:blipFill>
        <p:spPr bwMode="auto">
          <a:xfrm>
            <a:off x="20664408" y="9784542"/>
            <a:ext cx="3419664" cy="3665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341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635D3E-6BA3-A5CE-2210-317DCBD6F138}"/>
              </a:ext>
            </a:extLst>
          </p:cNvPr>
          <p:cNvSpPr>
            <a:spLocks noGrp="1"/>
          </p:cNvSpPr>
          <p:nvPr>
            <p:ph type="title"/>
          </p:nvPr>
        </p:nvSpPr>
        <p:spPr/>
        <p:txBody>
          <a:bodyPr>
            <a:normAutofit/>
          </a:bodyPr>
          <a:lstStyle/>
          <a:p>
            <a:r>
              <a:rPr lang="en-US" sz="4800" b="0">
                <a:solidFill>
                  <a:srgbClr val="FFFFFF"/>
                </a:solidFill>
                <a:latin typeface="Arial" panose="020B0604020202020204" pitchFamily="34" charset="0"/>
                <a:cs typeface="Arial" panose="020B0604020202020204" pitchFamily="34" charset="0"/>
              </a:rPr>
              <a:t>01</a:t>
            </a:r>
            <a:endParaRPr lang="en-US" sz="4800" b="0" dirty="0">
              <a:solidFill>
                <a:srgbClr val="FFFFFF"/>
              </a:solidFill>
              <a:latin typeface="Arial" panose="020B0604020202020204" pitchFamily="34" charset="0"/>
              <a:cs typeface="Arial" panose="020B0604020202020204" pitchFamily="34" charset="0"/>
            </a:endParaRPr>
          </a:p>
        </p:txBody>
      </p:sp>
      <p:sp>
        <p:nvSpPr>
          <p:cNvPr id="3" name="テキスト プレースホルダー 2">
            <a:extLst>
              <a:ext uri="{FF2B5EF4-FFF2-40B4-BE49-F238E27FC236}">
                <a16:creationId xmlns:a16="http://schemas.microsoft.com/office/drawing/2014/main" id="{BC4F4820-6A4B-21DF-1929-82AC7C54B27D}"/>
              </a:ext>
            </a:extLst>
          </p:cNvPr>
          <p:cNvSpPr>
            <a:spLocks noGrp="1"/>
          </p:cNvSpPr>
          <p:nvPr>
            <p:ph type="body" idx="1"/>
          </p:nvPr>
        </p:nvSpPr>
        <p:spPr/>
        <p:txBody>
          <a:bodyPr>
            <a:normAutofit/>
          </a:bodyPr>
          <a:lstStyle/>
          <a:p>
            <a:r>
              <a:rPr lang="en-US" altLang="ja-JP" sz="4800" b="1">
                <a:solidFill>
                  <a:srgbClr val="FFFFFF"/>
                </a:solidFill>
                <a:latin typeface="Arial" panose="020B0604020202020204" pitchFamily="34" charset="0"/>
                <a:cs typeface="Arial" panose="020B0604020202020204" pitchFamily="34" charset="0"/>
              </a:rPr>
              <a:t>Background</a:t>
            </a:r>
            <a:endParaRPr lang="en-US" sz="4800" b="1" dirty="0">
              <a:solidFill>
                <a:srgbClr val="FFFFFF"/>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3915B39E-8BAD-5C9C-E46E-51EE9D9101C0}"/>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3345895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2755A-CE30-29D5-66D8-858C1044B084}"/>
              </a:ext>
            </a:extLst>
          </p:cNvPr>
          <p:cNvSpPr>
            <a:spLocks noGrp="1"/>
          </p:cNvSpPr>
          <p:nvPr>
            <p:ph type="title"/>
          </p:nvPr>
        </p:nvSpPr>
        <p:spPr/>
        <p:txBody>
          <a:bodyPr wrap="square"/>
          <a:lstStyle/>
          <a:p>
            <a:pPr>
              <a:spcAft>
                <a:spcPts val="0"/>
              </a:spcAft>
            </a:pPr>
            <a:r>
              <a:rPr lang="en-US" sz="3200" dirty="0">
                <a:solidFill>
                  <a:srgbClr val="082B52"/>
                </a:solidFill>
                <a:latin typeface="Arial" panose="020B0604020202020204" pitchFamily="34" charset="0"/>
                <a:ea typeface="Yu Gothic"/>
                <a:cs typeface="Arial" panose="020B0604020202020204" pitchFamily="34" charset="0"/>
              </a:rPr>
              <a:t>Reduce scan time b</a:t>
            </a:r>
            <a:r>
              <a:rPr lang="en-US" sz="3200" b="1" dirty="0">
                <a:solidFill>
                  <a:srgbClr val="082B52"/>
                </a:solidFill>
                <a:latin typeface="Arial" panose="020B0604020202020204" pitchFamily="34" charset="0"/>
                <a:ea typeface="Yu Gothic"/>
                <a:cs typeface="Arial" panose="020B0604020202020204" pitchFamily="34" charset="0"/>
              </a:rPr>
              <a:t>y predicting thermal LOS error in optical communications </a:t>
            </a:r>
            <a:endParaRPr sz="3200" b="1" dirty="0">
              <a:solidFill>
                <a:srgbClr val="082B52"/>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7335B153-B47B-237D-12A8-7E5DB77621F1}"/>
              </a:ext>
            </a:extLst>
          </p:cNvPr>
          <p:cNvSpPr>
            <a:spLocks noGrp="1"/>
          </p:cNvSpPr>
          <p:nvPr>
            <p:ph type="sldNum" sz="quarter" idx="12"/>
          </p:nvPr>
        </p:nvSpPr>
        <p:spPr>
          <a:xfrm>
            <a:off x="20828000" y="12700000"/>
            <a:ext cx="2946400" cy="508000"/>
          </a:xfrm>
        </p:spPr>
        <p:txBody>
          <a:bodyPr wrap="square"/>
          <a:lstStyle/>
          <a:p>
            <a:pPr>
              <a:spcAft>
                <a:spcPts val="0"/>
              </a:spcAft>
            </a:pPr>
            <a:r>
              <a:rPr lang="en-US" altLang="ja-JP" sz="2800" dirty="0">
                <a:solidFill>
                  <a:srgbClr val="666F79"/>
                </a:solidFill>
                <a:ea typeface="Yu Gothic"/>
                <a:cs typeface="Arial" panose="020B0604020202020204" pitchFamily="34" charset="0"/>
              </a:rPr>
              <a:t>1/17</a:t>
            </a:r>
            <a:endParaRPr lang="en-US" sz="2800" dirty="0">
              <a:solidFill>
                <a:srgbClr val="666F79"/>
              </a:solidFill>
              <a:ea typeface="Yu Gothic"/>
              <a:cs typeface="Arial" panose="020B0604020202020204" pitchFamily="34" charset="0"/>
            </a:endParaRPr>
          </a:p>
        </p:txBody>
      </p:sp>
      <p:sp>
        <p:nvSpPr>
          <p:cNvPr id="5" name="テキスト プレースホルダー 4">
            <a:extLst>
              <a:ext uri="{FF2B5EF4-FFF2-40B4-BE49-F238E27FC236}">
                <a16:creationId xmlns:a16="http://schemas.microsoft.com/office/drawing/2014/main" id="{A906C556-D817-34D8-3FEC-80F456E48CE2}"/>
              </a:ext>
            </a:extLst>
          </p:cNvPr>
          <p:cNvSpPr>
            <a:spLocks noGrp="1"/>
          </p:cNvSpPr>
          <p:nvPr>
            <p:ph type="body" sz="quarter" idx="13"/>
          </p:nvPr>
        </p:nvSpPr>
        <p:spPr/>
        <p:txBody>
          <a:bodyPr wrap="square"/>
          <a:lstStyle/>
          <a:p>
            <a:pPr>
              <a:spcAft>
                <a:spcPts val="0"/>
              </a:spcAft>
            </a:pPr>
            <a:r>
              <a:rPr lang="en-US" sz="2000" b="0">
                <a:solidFill>
                  <a:srgbClr val="666F79"/>
                </a:solidFill>
                <a:latin typeface="Arial" panose="020B0604020202020204" pitchFamily="34" charset="0"/>
                <a:ea typeface="Yu Gothic"/>
              </a:rPr>
              <a:t>Background</a:t>
            </a:r>
            <a:endParaRPr lang="en-US" sz="2000" b="0" dirty="0">
              <a:solidFill>
                <a:srgbClr val="666F79"/>
              </a:solidFill>
              <a:latin typeface="Arial" panose="020B0604020202020204" pitchFamily="34" charset="0"/>
              <a:ea typeface="Yu Gothic"/>
            </a:endParaRPr>
          </a:p>
        </p:txBody>
      </p:sp>
      <p:sp>
        <p:nvSpPr>
          <p:cNvPr id="6" name="Rounded Rectangle 5"/>
          <p:cNvSpPr/>
          <p:nvPr/>
        </p:nvSpPr>
        <p:spPr>
          <a:xfrm>
            <a:off x="1097280" y="3383280"/>
            <a:ext cx="6492240" cy="3200398"/>
          </a:xfrm>
          <a:prstGeom prst="roundRect">
            <a:avLst/>
          </a:prstGeom>
          <a:solidFill>
            <a:srgbClr val="F4F6F8"/>
          </a:solidFill>
          <a:ln w="2540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7" name="TextBox 6"/>
          <p:cNvSpPr txBox="1"/>
          <p:nvPr/>
        </p:nvSpPr>
        <p:spPr>
          <a:xfrm>
            <a:off x="1996539" y="3685032"/>
            <a:ext cx="4693721" cy="547842"/>
          </a:xfrm>
          <a:prstGeom prst="rect">
            <a:avLst/>
          </a:prstGeom>
          <a:noFill/>
        </p:spPr>
        <p:txBody>
          <a:bodyPr wrap="none" lIns="36576" tIns="27432" rIns="36576" bIns="27432" anchor="t">
            <a:spAutoFit/>
          </a:bodyPr>
          <a:lstStyle/>
          <a:p>
            <a:pPr algn="ctr"/>
            <a:r>
              <a:rPr lang="en-US" sz="3200" b="1" dirty="0">
                <a:solidFill>
                  <a:srgbClr val="1B74AA"/>
                </a:solidFill>
                <a:latin typeface="Arial" panose="020B0604020202020204" pitchFamily="34" charset="0"/>
                <a:cs typeface="Arial" panose="020B0604020202020204" pitchFamily="34" charset="0"/>
              </a:rPr>
              <a:t>Before optical feedback</a:t>
            </a:r>
          </a:p>
        </p:txBody>
      </p:sp>
      <p:sp>
        <p:nvSpPr>
          <p:cNvPr id="8" name="TextBox 7"/>
          <p:cNvSpPr txBox="1"/>
          <p:nvPr/>
        </p:nvSpPr>
        <p:spPr>
          <a:xfrm>
            <a:off x="1463040" y="4416552"/>
            <a:ext cx="5760720" cy="2025170"/>
          </a:xfrm>
          <a:prstGeom prst="rect">
            <a:avLst/>
          </a:prstGeom>
          <a:noFill/>
        </p:spPr>
        <p:txBody>
          <a:bodyPr wrap="square" lIns="36576" tIns="27432" rIns="36576" bIns="27432" anchor="t">
            <a:spAutoFit/>
          </a:bodyPr>
          <a:lstStyle/>
          <a:p>
            <a:pPr algn="ctr">
              <a:spcAft>
                <a:spcPts val="0"/>
              </a:spcAft>
            </a:pPr>
            <a:r>
              <a:rPr lang="en-US" sz="3200" b="0" dirty="0">
                <a:solidFill>
                  <a:srgbClr val="232B34"/>
                </a:solidFill>
                <a:latin typeface="Arial" panose="020B0604020202020204" pitchFamily="34" charset="0"/>
                <a:ea typeface="Yu Gothic"/>
                <a:cs typeface="Arial" panose="020B0604020202020204" pitchFamily="34" charset="0"/>
              </a:rPr>
              <a:t>Search an uncertainty region including </a:t>
            </a:r>
            <a:r>
              <a:rPr lang="en-US" altLang="ja-JP" sz="3200" b="1" dirty="0">
                <a:solidFill>
                  <a:schemeClr val="accent6">
                    <a:lumMod val="75000"/>
                  </a:schemeClr>
                </a:solidFill>
                <a:latin typeface="Arial" panose="020B0604020202020204" pitchFamily="34" charset="0"/>
                <a:ea typeface="Yu Gothic"/>
                <a:cs typeface="Arial" panose="020B0604020202020204" pitchFamily="34" charset="0"/>
              </a:rPr>
              <a:t>thermal LOS</a:t>
            </a:r>
            <a:r>
              <a:rPr lang="en-US" altLang="ja-JP" sz="3200" dirty="0">
                <a:solidFill>
                  <a:srgbClr val="232B34"/>
                </a:solidFill>
                <a:latin typeface="Arial" panose="020B0604020202020204" pitchFamily="34" charset="0"/>
                <a:ea typeface="Yu Gothic"/>
                <a:cs typeface="Arial" panose="020B0604020202020204" pitchFamily="34" charset="0"/>
              </a:rPr>
              <a:t>, </a:t>
            </a:r>
            <a:r>
              <a:rPr lang="en-US" sz="3200" b="0" dirty="0">
                <a:solidFill>
                  <a:srgbClr val="232B34"/>
                </a:solidFill>
                <a:latin typeface="Arial" panose="020B0604020202020204" pitchFamily="34" charset="0"/>
                <a:ea typeface="Yu Gothic"/>
                <a:cs typeface="Arial" panose="020B0604020202020204" pitchFamily="34" charset="0"/>
              </a:rPr>
              <a:t>attitude, and orbit errors</a:t>
            </a:r>
          </a:p>
          <a:p>
            <a:pPr algn="ctr">
              <a:spcAft>
                <a:spcPts val="0"/>
              </a:spcAft>
            </a:pPr>
            <a:endParaRPr sz="3200" b="0" dirty="0">
              <a:solidFill>
                <a:srgbClr val="232B34"/>
              </a:solidFill>
              <a:latin typeface="Arial" panose="020B0604020202020204" pitchFamily="34" charset="0"/>
              <a:ea typeface="Yu Gothic"/>
              <a:cs typeface="Arial" panose="020B0604020202020204" pitchFamily="34" charset="0"/>
            </a:endParaRPr>
          </a:p>
        </p:txBody>
      </p:sp>
      <p:sp>
        <p:nvSpPr>
          <p:cNvPr id="10" name="Rounded Rectangle 9"/>
          <p:cNvSpPr/>
          <p:nvPr/>
        </p:nvSpPr>
        <p:spPr>
          <a:xfrm>
            <a:off x="8732519" y="3383279"/>
            <a:ext cx="6492240" cy="3697255"/>
          </a:xfrm>
          <a:prstGeom prst="roundRect">
            <a:avLst/>
          </a:prstGeom>
          <a:solidFill>
            <a:srgbClr val="F4F6F8"/>
          </a:solidFill>
          <a:ln w="254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1" name="TextBox 10"/>
          <p:cNvSpPr txBox="1"/>
          <p:nvPr/>
        </p:nvSpPr>
        <p:spPr>
          <a:xfrm>
            <a:off x="9497928" y="3648456"/>
            <a:ext cx="4961423" cy="1040285"/>
          </a:xfrm>
          <a:prstGeom prst="rect">
            <a:avLst/>
          </a:prstGeom>
          <a:noFill/>
        </p:spPr>
        <p:txBody>
          <a:bodyPr wrap="square" lIns="36576" tIns="27432" rIns="36576" bIns="27432" anchor="t">
            <a:spAutoFit/>
          </a:bodyPr>
          <a:lstStyle/>
          <a:p>
            <a:pPr algn="ctr"/>
            <a:r>
              <a:rPr lang="en-US" sz="3200" b="1" dirty="0">
                <a:solidFill>
                  <a:srgbClr val="1B74AA"/>
                </a:solidFill>
                <a:latin typeface="Arial" panose="020B0604020202020204" pitchFamily="34" charset="0"/>
                <a:cs typeface="Arial" panose="020B0604020202020204" pitchFamily="34" charset="0"/>
              </a:rPr>
              <a:t>Illumination / eclipse</a:t>
            </a:r>
          </a:p>
          <a:p>
            <a:pPr algn="ctr"/>
            <a:r>
              <a:rPr lang="en-US" sz="3200" b="1" dirty="0">
                <a:solidFill>
                  <a:srgbClr val="1B74AA"/>
                </a:solidFill>
                <a:latin typeface="Arial" panose="020B0604020202020204" pitchFamily="34" charset="0"/>
                <a:cs typeface="Arial" panose="020B0604020202020204" pitchFamily="34" charset="0"/>
              </a:rPr>
              <a:t>/ dissipation</a:t>
            </a:r>
          </a:p>
        </p:txBody>
      </p:sp>
      <p:sp>
        <p:nvSpPr>
          <p:cNvPr id="12" name="TextBox 11"/>
          <p:cNvSpPr txBox="1"/>
          <p:nvPr/>
        </p:nvSpPr>
        <p:spPr>
          <a:xfrm>
            <a:off x="9471098" y="4706962"/>
            <a:ext cx="5060808" cy="1532727"/>
          </a:xfrm>
          <a:prstGeom prst="rect">
            <a:avLst/>
          </a:prstGeom>
          <a:noFill/>
        </p:spPr>
        <p:txBody>
          <a:bodyPr wrap="none" lIns="36576" tIns="27432" rIns="36576" bIns="27432" anchor="t">
            <a:spAutoFit/>
          </a:bodyPr>
          <a:lstStyle/>
          <a:p>
            <a:pPr algn="ctr"/>
            <a:r>
              <a:rPr lang="en-US" sz="3200" b="0" dirty="0">
                <a:solidFill>
                  <a:srgbClr val="232B34"/>
                </a:solidFill>
                <a:latin typeface="Arial" panose="020B0604020202020204" pitchFamily="34" charset="0"/>
                <a:cs typeface="Arial" panose="020B0604020202020204" pitchFamily="34" charset="0"/>
              </a:rPr>
              <a:t>Temperature field </a:t>
            </a:r>
          </a:p>
          <a:p>
            <a:pPr algn="ctr"/>
            <a:r>
              <a:rPr lang="en-US" sz="3200" b="0" dirty="0">
                <a:solidFill>
                  <a:srgbClr val="232B34"/>
                </a:solidFill>
                <a:latin typeface="Arial" panose="020B0604020202020204" pitchFamily="34" charset="0"/>
                <a:cs typeface="Arial" panose="020B0604020202020204" pitchFamily="34" charset="0"/>
              </a:rPr>
              <a:t>→ thermal expansion
→ </a:t>
            </a:r>
            <a:r>
              <a:rPr lang="en-US" altLang="ja-JP" sz="3200" dirty="0">
                <a:solidFill>
                  <a:srgbClr val="232B34"/>
                </a:solidFill>
                <a:latin typeface="Arial" panose="020B0604020202020204" pitchFamily="34" charset="0"/>
                <a:cs typeface="Arial" panose="020B0604020202020204" pitchFamily="34" charset="0"/>
              </a:rPr>
              <a:t>spacecraft-bus distortion</a:t>
            </a:r>
            <a:endParaRPr lang="en-US" sz="3200" b="0" dirty="0">
              <a:solidFill>
                <a:srgbClr val="232B34"/>
              </a:solidFill>
              <a:latin typeface="Arial" panose="020B0604020202020204" pitchFamily="34" charset="0"/>
              <a:cs typeface="Arial" panose="020B0604020202020204" pitchFamily="34" charset="0"/>
            </a:endParaRPr>
          </a:p>
        </p:txBody>
      </p:sp>
      <p:sp>
        <p:nvSpPr>
          <p:cNvPr id="13" name="TextBox 12"/>
          <p:cNvSpPr txBox="1"/>
          <p:nvPr/>
        </p:nvSpPr>
        <p:spPr>
          <a:xfrm>
            <a:off x="8477314" y="6355052"/>
            <a:ext cx="6979245" cy="486287"/>
          </a:xfrm>
          <a:prstGeom prst="rect">
            <a:avLst/>
          </a:prstGeom>
          <a:noFill/>
        </p:spPr>
        <p:txBody>
          <a:bodyPr wrap="square" lIns="36576" tIns="27432" rIns="36576" bIns="27432" anchor="t">
            <a:spAutoFit/>
          </a:bodyPr>
          <a:lstStyle/>
          <a:p>
            <a:pPr algn="ctr">
              <a:spcAft>
                <a:spcPts val="0"/>
              </a:spcAft>
            </a:pPr>
            <a:r>
              <a:rPr lang="en-US" sz="2800" b="1" dirty="0">
                <a:solidFill>
                  <a:schemeClr val="accent6">
                    <a:lumMod val="75000"/>
                  </a:schemeClr>
                </a:solidFill>
                <a:latin typeface="Arial" panose="020B0604020202020204" pitchFamily="34" charset="0"/>
                <a:ea typeface="Yu Gothic"/>
                <a:cs typeface="Arial" panose="020B0604020202020204" pitchFamily="34" charset="0"/>
              </a:rPr>
              <a:t>Thermal LOS</a:t>
            </a:r>
            <a:r>
              <a:rPr lang="en-US" sz="2800" b="1">
                <a:solidFill>
                  <a:schemeClr val="accent6">
                    <a:lumMod val="75000"/>
                  </a:schemeClr>
                </a:solidFill>
                <a:latin typeface="Arial" panose="020B0604020202020204" pitchFamily="34" charset="0"/>
                <a:ea typeface="Yu Gothic"/>
                <a:cs typeface="Arial" panose="020B0604020202020204" pitchFamily="34" charset="0"/>
              </a:rPr>
              <a:t>: 100 µrad to 1 mrad</a:t>
            </a:r>
            <a:endParaRPr lang="en-US" sz="2800" b="1" dirty="0">
              <a:solidFill>
                <a:schemeClr val="accent6">
                  <a:lumMod val="75000"/>
                </a:schemeClr>
              </a:solidFill>
              <a:latin typeface="Arial" panose="020B0604020202020204" pitchFamily="34" charset="0"/>
              <a:cs typeface="Arial" panose="020B0604020202020204" pitchFamily="34" charset="0"/>
            </a:endParaRPr>
          </a:p>
        </p:txBody>
      </p:sp>
      <p:sp>
        <p:nvSpPr>
          <p:cNvPr id="15" name="Rounded Rectangle 14"/>
          <p:cNvSpPr/>
          <p:nvPr/>
        </p:nvSpPr>
        <p:spPr>
          <a:xfrm>
            <a:off x="16367759" y="3383280"/>
            <a:ext cx="6492240" cy="3474720"/>
          </a:xfrm>
          <a:prstGeom prst="roundRect">
            <a:avLst/>
          </a:prstGeom>
          <a:solidFill>
            <a:srgbClr val="F4F6F8"/>
          </a:solidFill>
          <a:ln w="2540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F0000"/>
              </a:solidFill>
              <a:latin typeface="Arial" panose="020B0604020202020204" pitchFamily="34" charset="0"/>
              <a:cs typeface="Arial" panose="020B0604020202020204" pitchFamily="34" charset="0"/>
            </a:endParaRPr>
          </a:p>
        </p:txBody>
      </p:sp>
      <p:sp>
        <p:nvSpPr>
          <p:cNvPr id="16" name="TextBox 15"/>
          <p:cNvSpPr txBox="1"/>
          <p:nvPr/>
        </p:nvSpPr>
        <p:spPr>
          <a:xfrm>
            <a:off x="16733520" y="3424428"/>
            <a:ext cx="5760720" cy="1532727"/>
          </a:xfrm>
          <a:prstGeom prst="rect">
            <a:avLst/>
          </a:prstGeom>
          <a:noFill/>
        </p:spPr>
        <p:txBody>
          <a:bodyPr wrap="square" lIns="36576" tIns="27432" rIns="36576" bIns="27432" anchor="t">
            <a:spAutoFit/>
          </a:bodyPr>
          <a:lstStyle/>
          <a:p>
            <a:pPr algn="ctr">
              <a:spcAft>
                <a:spcPts val="0"/>
              </a:spcAft>
            </a:pPr>
            <a:r>
              <a:rPr lang="en-US" sz="3200" b="1" dirty="0">
                <a:solidFill>
                  <a:srgbClr val="FF0000"/>
                </a:solidFill>
                <a:latin typeface="Arial" panose="020B0604020202020204" pitchFamily="34" charset="0"/>
                <a:ea typeface="Yu Gothic"/>
                <a:cs typeface="Arial" panose="020B0604020202020204" pitchFamily="34" charset="0"/>
              </a:rPr>
              <a:t>Our approach: </a:t>
            </a:r>
          </a:p>
          <a:p>
            <a:pPr algn="ctr">
              <a:spcAft>
                <a:spcPts val="0"/>
              </a:spcAft>
            </a:pPr>
            <a:r>
              <a:rPr lang="en-US" sz="3200" b="1" dirty="0">
                <a:solidFill>
                  <a:srgbClr val="FF0000"/>
                </a:solidFill>
                <a:latin typeface="Arial" panose="020B0604020202020204" pitchFamily="34" charset="0"/>
                <a:ea typeface="Yu Gothic"/>
                <a:cs typeface="Arial" panose="020B0604020202020204" pitchFamily="34" charset="0"/>
              </a:rPr>
              <a:t>Pre-acquisition predictive correction </a:t>
            </a:r>
            <a:endParaRPr lang="en-US" sz="3200" b="1" dirty="0">
              <a:solidFill>
                <a:srgbClr val="FF0000"/>
              </a:solidFill>
              <a:latin typeface="Arial" panose="020B0604020202020204" pitchFamily="34" charset="0"/>
              <a:cs typeface="Arial" panose="020B0604020202020204" pitchFamily="34" charset="0"/>
            </a:endParaRPr>
          </a:p>
        </p:txBody>
      </p:sp>
      <p:sp>
        <p:nvSpPr>
          <p:cNvPr id="17" name="TextBox 16"/>
          <p:cNvSpPr txBox="1"/>
          <p:nvPr/>
        </p:nvSpPr>
        <p:spPr>
          <a:xfrm>
            <a:off x="16733519" y="5074920"/>
            <a:ext cx="5760720" cy="1532727"/>
          </a:xfrm>
          <a:prstGeom prst="rect">
            <a:avLst/>
          </a:prstGeom>
          <a:noFill/>
        </p:spPr>
        <p:txBody>
          <a:bodyPr wrap="square" lIns="36576" tIns="27432" rIns="36576" bIns="27432" anchor="t">
            <a:spAutoFit/>
          </a:bodyPr>
          <a:lstStyle/>
          <a:p>
            <a:pPr algn="ctr">
              <a:spcAft>
                <a:spcPts val="0"/>
              </a:spcAft>
            </a:pPr>
            <a:r>
              <a:rPr lang="en-US" sz="3200" b="0" dirty="0">
                <a:solidFill>
                  <a:srgbClr val="232B34"/>
                </a:solidFill>
                <a:latin typeface="Arial" panose="020B0604020202020204" pitchFamily="34" charset="0"/>
                <a:ea typeface="Yu Gothic"/>
                <a:cs typeface="Arial" panose="020B0604020202020204" pitchFamily="34" charset="0"/>
              </a:rPr>
              <a:t>Subtract </a:t>
            </a:r>
            <a:r>
              <a:rPr lang="en-US" sz="3200" b="1">
                <a:solidFill>
                  <a:schemeClr val="accent6">
                    <a:lumMod val="75000"/>
                  </a:schemeClr>
                </a:solidFill>
                <a:latin typeface="Arial" panose="020B0604020202020204" pitchFamily="34" charset="0"/>
                <a:ea typeface="Yu Gothic"/>
                <a:cs typeface="Arial" panose="020B0604020202020204" pitchFamily="34" charset="0"/>
              </a:rPr>
              <a:t>thermal LOS</a:t>
            </a:r>
            <a:r>
              <a:rPr lang="en-US" sz="3200" b="0">
                <a:solidFill>
                  <a:srgbClr val="232B34"/>
                </a:solidFill>
                <a:latin typeface="Arial" panose="020B0604020202020204" pitchFamily="34" charset="0"/>
                <a:ea typeface="Yu Gothic"/>
                <a:cs typeface="Arial" panose="020B0604020202020204" pitchFamily="34" charset="0"/>
              </a:rPr>
              <a:t> </a:t>
            </a:r>
            <a:endParaRPr lang="en-US" sz="3200" b="0" dirty="0">
              <a:solidFill>
                <a:srgbClr val="232B34"/>
              </a:solidFill>
              <a:latin typeface="Arial" panose="020B0604020202020204" pitchFamily="34" charset="0"/>
              <a:ea typeface="Yu Gothic"/>
              <a:cs typeface="Arial" panose="020B0604020202020204" pitchFamily="34" charset="0"/>
            </a:endParaRPr>
          </a:p>
          <a:p>
            <a:pPr algn="ctr">
              <a:spcAft>
                <a:spcPts val="0"/>
              </a:spcAft>
            </a:pPr>
            <a:r>
              <a:rPr lang="en-US" sz="3200" b="0">
                <a:solidFill>
                  <a:srgbClr val="232B34"/>
                </a:solidFill>
                <a:latin typeface="Arial" panose="020B0604020202020204" pitchFamily="34" charset="0"/>
                <a:ea typeface="Yu Gothic"/>
                <a:cs typeface="Arial" panose="020B0604020202020204" pitchFamily="34" charset="0"/>
              </a:rPr>
              <a:t>from the scan center</a:t>
            </a:r>
          </a:p>
          <a:p>
            <a:pPr algn="ctr">
              <a:spcAft>
                <a:spcPts val="0"/>
              </a:spcAft>
            </a:pPr>
            <a:r>
              <a:rPr lang="en-US" sz="3200" b="0">
                <a:solidFill>
                  <a:srgbClr val="232B34"/>
                </a:solidFill>
                <a:latin typeface="Arial" panose="020B0604020202020204" pitchFamily="34" charset="0"/>
                <a:ea typeface="Yu Gothic"/>
                <a:cs typeface="Arial" panose="020B0604020202020204" pitchFamily="34" charset="0"/>
              </a:rPr>
              <a:t>to reduce search time</a:t>
            </a:r>
            <a:endParaRPr lang="en-US" sz="3200" b="0" dirty="0">
              <a:solidFill>
                <a:srgbClr val="232B34"/>
              </a:solidFill>
              <a:latin typeface="Arial" panose="020B0604020202020204" pitchFamily="34" charset="0"/>
              <a:ea typeface="Yu Gothic"/>
              <a:cs typeface="Arial" panose="020B0604020202020204" pitchFamily="34" charset="0"/>
            </a:endParaRPr>
          </a:p>
        </p:txBody>
      </p:sp>
      <p:sp>
        <p:nvSpPr>
          <p:cNvPr id="18" name="TextBox 17"/>
          <p:cNvSpPr txBox="1"/>
          <p:nvPr/>
        </p:nvSpPr>
        <p:spPr>
          <a:xfrm>
            <a:off x="3842801" y="12321036"/>
            <a:ext cx="16696815" cy="1040285"/>
          </a:xfrm>
          <a:prstGeom prst="rect">
            <a:avLst/>
          </a:prstGeom>
          <a:noFill/>
        </p:spPr>
        <p:txBody>
          <a:bodyPr wrap="none" lIns="36576" tIns="27432" rIns="36576" bIns="27432" anchor="t">
            <a:spAutoFit/>
          </a:bodyPr>
          <a:lstStyle/>
          <a:p>
            <a:pPr algn="ctr"/>
            <a:r>
              <a:rPr lang="en-US" altLang="ja-JP" sz="3200">
                <a:solidFill>
                  <a:srgbClr val="082B52"/>
                </a:solidFill>
                <a:latin typeface="Arial" panose="020B0604020202020204" pitchFamily="34" charset="0"/>
                <a:cs typeface="Arial" panose="020B0604020202020204" pitchFamily="34" charset="0"/>
              </a:rPr>
              <a:t>Without modifying the spacecraft or LCT,</a:t>
            </a:r>
            <a:endParaRPr lang="en-US" altLang="ja-JP" sz="3200" dirty="0">
              <a:solidFill>
                <a:srgbClr val="082B52"/>
              </a:solidFill>
              <a:latin typeface="Arial" panose="020B0604020202020204" pitchFamily="34" charset="0"/>
              <a:cs typeface="Arial" panose="020B0604020202020204" pitchFamily="34" charset="0"/>
            </a:endParaRPr>
          </a:p>
          <a:p>
            <a:pPr algn="ctr"/>
            <a:r>
              <a:rPr lang="en-US" altLang="ja-JP" sz="3200">
                <a:solidFill>
                  <a:srgbClr val="082B52"/>
                </a:solidFill>
                <a:latin typeface="Arial" panose="020B0604020202020204" pitchFamily="34" charset="0"/>
                <a:cs typeface="Arial" panose="020B0604020202020204" pitchFamily="34" charset="0"/>
              </a:rPr>
              <a:t> </a:t>
            </a:r>
            <a:r>
              <a:rPr lang="en-US" sz="3200" b="1">
                <a:solidFill>
                  <a:srgbClr val="082B52"/>
                </a:solidFill>
                <a:latin typeface="Arial" panose="020B0604020202020204" pitchFamily="34" charset="0"/>
                <a:cs typeface="Arial" panose="020B0604020202020204" pitchFamily="34" charset="0"/>
              </a:rPr>
              <a:t>operationally remove only predictable thermal deformation from the initial LOS error.</a:t>
            </a:r>
            <a:endParaRPr lang="en-US" sz="3200" b="1" dirty="0">
              <a:solidFill>
                <a:srgbClr val="082B52"/>
              </a:solidFill>
              <a:latin typeface="Arial" panose="020B0604020202020204" pitchFamily="34" charset="0"/>
              <a:cs typeface="Arial" panose="020B0604020202020204" pitchFamily="34" charset="0"/>
            </a:endParaRPr>
          </a:p>
        </p:txBody>
      </p:sp>
      <p:pic>
        <p:nvPicPr>
          <p:cNvPr id="20" name="図 19">
            <a:extLst>
              <a:ext uri="{FF2B5EF4-FFF2-40B4-BE49-F238E27FC236}">
                <a16:creationId xmlns:a16="http://schemas.microsoft.com/office/drawing/2014/main" id="{191BBC5C-178E-661F-128A-D617E934A20F}"/>
              </a:ext>
            </a:extLst>
          </p:cNvPr>
          <p:cNvPicPr>
            <a:picLocks noChangeAspect="1"/>
          </p:cNvPicPr>
          <p:nvPr/>
        </p:nvPicPr>
        <p:blipFill>
          <a:blip r:embed="rId3"/>
          <a:stretch>
            <a:fillRect/>
          </a:stretch>
        </p:blipFill>
        <p:spPr>
          <a:xfrm>
            <a:off x="16472889" y="7038281"/>
            <a:ext cx="6647102" cy="5590102"/>
          </a:xfrm>
          <a:prstGeom prst="rect">
            <a:avLst/>
          </a:prstGeom>
        </p:spPr>
      </p:pic>
      <p:pic>
        <p:nvPicPr>
          <p:cNvPr id="22" name="図 21">
            <a:extLst>
              <a:ext uri="{FF2B5EF4-FFF2-40B4-BE49-F238E27FC236}">
                <a16:creationId xmlns:a16="http://schemas.microsoft.com/office/drawing/2014/main" id="{498CF50A-5A18-B28F-3BD0-637684E7A9B3}"/>
              </a:ext>
            </a:extLst>
          </p:cNvPr>
          <p:cNvPicPr>
            <a:picLocks noChangeAspect="1"/>
          </p:cNvPicPr>
          <p:nvPr/>
        </p:nvPicPr>
        <p:blipFill>
          <a:blip r:embed="rId4"/>
          <a:stretch>
            <a:fillRect/>
          </a:stretch>
        </p:blipFill>
        <p:spPr>
          <a:xfrm>
            <a:off x="1062273" y="7102959"/>
            <a:ext cx="6647102" cy="5786247"/>
          </a:xfrm>
          <a:prstGeom prst="rect">
            <a:avLst/>
          </a:prstGeom>
        </p:spPr>
      </p:pic>
      <p:sp>
        <p:nvSpPr>
          <p:cNvPr id="19" name="矢印: 右 18">
            <a:extLst>
              <a:ext uri="{FF2B5EF4-FFF2-40B4-BE49-F238E27FC236}">
                <a16:creationId xmlns:a16="http://schemas.microsoft.com/office/drawing/2014/main" id="{ED170B76-4559-B87C-F49C-D7A69F01E9F7}"/>
              </a:ext>
            </a:extLst>
          </p:cNvPr>
          <p:cNvSpPr/>
          <p:nvPr/>
        </p:nvSpPr>
        <p:spPr>
          <a:xfrm>
            <a:off x="7863839" y="4638382"/>
            <a:ext cx="685800" cy="547842"/>
          </a:xfrm>
          <a:prstGeom prst="rightArrow">
            <a:avLst>
              <a:gd name="adj1" fmla="val 42972"/>
              <a:gd name="adj2" fmla="val 4648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23" name="矢印: 右 22">
            <a:extLst>
              <a:ext uri="{FF2B5EF4-FFF2-40B4-BE49-F238E27FC236}">
                <a16:creationId xmlns:a16="http://schemas.microsoft.com/office/drawing/2014/main" id="{7CE29811-2011-943C-9089-640BA482954F}"/>
              </a:ext>
            </a:extLst>
          </p:cNvPr>
          <p:cNvSpPr/>
          <p:nvPr/>
        </p:nvSpPr>
        <p:spPr>
          <a:xfrm>
            <a:off x="15523349" y="4592657"/>
            <a:ext cx="685800" cy="547842"/>
          </a:xfrm>
          <a:prstGeom prst="rightArrow">
            <a:avLst>
              <a:gd name="adj1" fmla="val 42972"/>
              <a:gd name="adj2" fmla="val 4648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grpSp>
        <p:nvGrpSpPr>
          <p:cNvPr id="9" name="グループ化 8">
            <a:extLst>
              <a:ext uri="{FF2B5EF4-FFF2-40B4-BE49-F238E27FC236}">
                <a16:creationId xmlns:a16="http://schemas.microsoft.com/office/drawing/2014/main" id="{5C8AB17C-24EC-1D70-A57C-9F0A856596A9}"/>
              </a:ext>
            </a:extLst>
          </p:cNvPr>
          <p:cNvGrpSpPr/>
          <p:nvPr/>
        </p:nvGrpSpPr>
        <p:grpSpPr>
          <a:xfrm>
            <a:off x="9418920" y="10282390"/>
            <a:ext cx="4001416" cy="1293583"/>
            <a:chOff x="16462856" y="9295630"/>
            <a:chExt cx="5142607" cy="1784823"/>
          </a:xfrm>
        </p:grpSpPr>
        <p:sp>
          <p:nvSpPr>
            <p:cNvPr id="14" name="正方形/長方形 13">
              <a:extLst>
                <a:ext uri="{FF2B5EF4-FFF2-40B4-BE49-F238E27FC236}">
                  <a16:creationId xmlns:a16="http://schemas.microsoft.com/office/drawing/2014/main" id="{3746836C-83E0-C89B-8D50-FAAC411517D8}"/>
                </a:ext>
              </a:extLst>
            </p:cNvPr>
            <p:cNvSpPr/>
            <p:nvPr/>
          </p:nvSpPr>
          <p:spPr>
            <a:xfrm>
              <a:off x="16462856" y="9494484"/>
              <a:ext cx="4041648" cy="12935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21" name="正方形/長方形 20">
              <a:extLst>
                <a:ext uri="{FF2B5EF4-FFF2-40B4-BE49-F238E27FC236}">
                  <a16:creationId xmlns:a16="http://schemas.microsoft.com/office/drawing/2014/main" id="{2483BE21-E883-1C39-D881-D8A104083EB1}"/>
                </a:ext>
              </a:extLst>
            </p:cNvPr>
            <p:cNvSpPr/>
            <p:nvPr/>
          </p:nvSpPr>
          <p:spPr>
            <a:xfrm rot="20616866">
              <a:off x="19346287" y="9295630"/>
              <a:ext cx="2259176" cy="149655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25" name="正方形/長方形 24">
              <a:extLst>
                <a:ext uri="{FF2B5EF4-FFF2-40B4-BE49-F238E27FC236}">
                  <a16:creationId xmlns:a16="http://schemas.microsoft.com/office/drawing/2014/main" id="{02CF46DB-EF65-6EE1-AA3D-F75678EF70A2}"/>
                </a:ext>
              </a:extLst>
            </p:cNvPr>
            <p:cNvSpPr/>
            <p:nvPr/>
          </p:nvSpPr>
          <p:spPr>
            <a:xfrm>
              <a:off x="16462856" y="9833739"/>
              <a:ext cx="3178456" cy="124671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Arial" panose="020B0604020202020204" pitchFamily="34" charset="0"/>
                <a:cs typeface="Arial" panose="020B0604020202020204" pitchFamily="34" charset="0"/>
              </a:endParaRPr>
            </a:p>
          </p:txBody>
        </p:sp>
      </p:grpSp>
      <p:sp>
        <p:nvSpPr>
          <p:cNvPr id="26" name="正方形/長方形 25">
            <a:extLst>
              <a:ext uri="{FF2B5EF4-FFF2-40B4-BE49-F238E27FC236}">
                <a16:creationId xmlns:a16="http://schemas.microsoft.com/office/drawing/2014/main" id="{F9F08B1E-D52A-72C0-F516-C359D0969945}"/>
              </a:ext>
            </a:extLst>
          </p:cNvPr>
          <p:cNvSpPr/>
          <p:nvPr/>
        </p:nvSpPr>
        <p:spPr>
          <a:xfrm>
            <a:off x="9418920" y="7692650"/>
            <a:ext cx="3690520" cy="12935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latin typeface="Arial" panose="020B0604020202020204" pitchFamily="34" charset="0"/>
                <a:cs typeface="Arial" panose="020B0604020202020204" pitchFamily="34" charset="0"/>
              </a:rPr>
              <a:t>satellite</a:t>
            </a:r>
            <a:endParaRPr kumimoji="1" lang="ja-JP" altLang="en-US" sz="3200" dirty="0">
              <a:latin typeface="Arial" panose="020B0604020202020204" pitchFamily="34" charset="0"/>
              <a:cs typeface="Arial" panose="020B0604020202020204" pitchFamily="34" charset="0"/>
            </a:endParaRPr>
          </a:p>
        </p:txBody>
      </p:sp>
      <p:cxnSp>
        <p:nvCxnSpPr>
          <p:cNvPr id="27" name="直線コネクタ 26">
            <a:extLst>
              <a:ext uri="{FF2B5EF4-FFF2-40B4-BE49-F238E27FC236}">
                <a16:creationId xmlns:a16="http://schemas.microsoft.com/office/drawing/2014/main" id="{DA3A1181-3F38-A986-20EA-E6256C7726FB}"/>
              </a:ext>
            </a:extLst>
          </p:cNvPr>
          <p:cNvCxnSpPr>
            <a:stCxn id="26" idx="3"/>
          </p:cNvCxnSpPr>
          <p:nvPr/>
        </p:nvCxnSpPr>
        <p:spPr>
          <a:xfrm flipV="1">
            <a:off x="13109440" y="8339441"/>
            <a:ext cx="2573873" cy="1"/>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32D63509-9AA5-4C46-AFF5-31500EE5B4EE}"/>
              </a:ext>
            </a:extLst>
          </p:cNvPr>
          <p:cNvCxnSpPr>
            <a:cxnSpLocks/>
          </p:cNvCxnSpPr>
          <p:nvPr/>
        </p:nvCxnSpPr>
        <p:spPr>
          <a:xfrm flipV="1">
            <a:off x="13313306" y="9908027"/>
            <a:ext cx="2166139" cy="714885"/>
          </a:xfrm>
          <a:prstGeom prst="line">
            <a:avLst/>
          </a:prstGeom>
          <a:ln w="381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2BB53D9F-20D7-AC68-2C16-3BC7C9CD5BF1}"/>
              </a:ext>
            </a:extLst>
          </p:cNvPr>
          <p:cNvSpPr txBox="1"/>
          <p:nvPr/>
        </p:nvSpPr>
        <p:spPr>
          <a:xfrm>
            <a:off x="14396375" y="7491220"/>
            <a:ext cx="1700784" cy="646331"/>
          </a:xfrm>
          <a:prstGeom prst="rect">
            <a:avLst/>
          </a:prstGeom>
          <a:noFill/>
        </p:spPr>
        <p:txBody>
          <a:bodyPr wrap="square" rtlCol="0">
            <a:spAutoFit/>
          </a:bodyPr>
          <a:lstStyle/>
          <a:p>
            <a:r>
              <a:rPr kumimoji="1" lang="en-US" altLang="ja-JP" sz="3600" dirty="0">
                <a:solidFill>
                  <a:schemeClr val="tx1">
                    <a:lumMod val="75000"/>
                    <a:lumOff val="25000"/>
                  </a:schemeClr>
                </a:solidFill>
                <a:latin typeface="Arial" panose="020B0604020202020204" pitchFamily="34" charset="0"/>
                <a:cs typeface="Arial" panose="020B0604020202020204" pitchFamily="34" charset="0"/>
              </a:rPr>
              <a:t>LOS</a:t>
            </a:r>
            <a:endParaRPr kumimoji="1" lang="ja-JP" altLang="en-US" sz="3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0" name="テキスト ボックス 29">
            <a:extLst>
              <a:ext uri="{FF2B5EF4-FFF2-40B4-BE49-F238E27FC236}">
                <a16:creationId xmlns:a16="http://schemas.microsoft.com/office/drawing/2014/main" id="{DEEBAA38-44FB-A72D-F047-CAF18749F345}"/>
              </a:ext>
            </a:extLst>
          </p:cNvPr>
          <p:cNvSpPr txBox="1"/>
          <p:nvPr/>
        </p:nvSpPr>
        <p:spPr>
          <a:xfrm>
            <a:off x="15456559" y="9306877"/>
            <a:ext cx="1700784" cy="646331"/>
          </a:xfrm>
          <a:prstGeom prst="rect">
            <a:avLst/>
          </a:prstGeom>
          <a:noFill/>
        </p:spPr>
        <p:txBody>
          <a:bodyPr wrap="square" rtlCol="0">
            <a:spAutoFit/>
          </a:bodyPr>
          <a:lstStyle/>
          <a:p>
            <a:r>
              <a:rPr kumimoji="1" lang="en-US" altLang="ja-JP" sz="3600" dirty="0">
                <a:solidFill>
                  <a:srgbClr val="FF0000"/>
                </a:solidFill>
                <a:latin typeface="Arial" panose="020B0604020202020204" pitchFamily="34" charset="0"/>
                <a:cs typeface="Arial" panose="020B0604020202020204" pitchFamily="34" charset="0"/>
              </a:rPr>
              <a:t>LOS</a:t>
            </a:r>
            <a:endParaRPr kumimoji="1" lang="ja-JP" altLang="en-US" sz="3600" dirty="0">
              <a:solidFill>
                <a:srgbClr val="FF0000"/>
              </a:solidFill>
              <a:latin typeface="Arial" panose="020B0604020202020204" pitchFamily="34" charset="0"/>
              <a:cs typeface="Arial" panose="020B0604020202020204" pitchFamily="34" charset="0"/>
            </a:endParaRPr>
          </a:p>
        </p:txBody>
      </p:sp>
      <p:cxnSp>
        <p:nvCxnSpPr>
          <p:cNvPr id="31" name="直線コネクタ 30">
            <a:extLst>
              <a:ext uri="{FF2B5EF4-FFF2-40B4-BE49-F238E27FC236}">
                <a16:creationId xmlns:a16="http://schemas.microsoft.com/office/drawing/2014/main" id="{0FC76142-7A1B-8A9E-0887-07C215A349F8}"/>
              </a:ext>
            </a:extLst>
          </p:cNvPr>
          <p:cNvCxnSpPr>
            <a:cxnSpLocks/>
          </p:cNvCxnSpPr>
          <p:nvPr/>
        </p:nvCxnSpPr>
        <p:spPr>
          <a:xfrm flipV="1">
            <a:off x="13410779" y="10665214"/>
            <a:ext cx="2573873" cy="1"/>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sp>
        <p:nvSpPr>
          <p:cNvPr id="32" name="矢印: 下 31">
            <a:extLst>
              <a:ext uri="{FF2B5EF4-FFF2-40B4-BE49-F238E27FC236}">
                <a16:creationId xmlns:a16="http://schemas.microsoft.com/office/drawing/2014/main" id="{130A2CF9-0DFD-ED8B-DE73-F812611C58A0}"/>
              </a:ext>
            </a:extLst>
          </p:cNvPr>
          <p:cNvSpPr/>
          <p:nvPr/>
        </p:nvSpPr>
        <p:spPr>
          <a:xfrm>
            <a:off x="10949121" y="9212676"/>
            <a:ext cx="900743" cy="937547"/>
          </a:xfrm>
          <a:prstGeom prst="downArrow">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33" name="テキスト ボックス 32">
            <a:extLst>
              <a:ext uri="{FF2B5EF4-FFF2-40B4-BE49-F238E27FC236}">
                <a16:creationId xmlns:a16="http://schemas.microsoft.com/office/drawing/2014/main" id="{04857D43-A2DA-1C29-51E8-BB7CC106C3AB}"/>
              </a:ext>
            </a:extLst>
          </p:cNvPr>
          <p:cNvSpPr txBox="1"/>
          <p:nvPr/>
        </p:nvSpPr>
        <p:spPr>
          <a:xfrm>
            <a:off x="8108355" y="10665214"/>
            <a:ext cx="1700784" cy="646331"/>
          </a:xfrm>
          <a:prstGeom prst="rect">
            <a:avLst/>
          </a:prstGeom>
          <a:noFill/>
        </p:spPr>
        <p:txBody>
          <a:bodyPr wrap="square" rtlCol="0">
            <a:spAutoFit/>
          </a:bodyPr>
          <a:lstStyle/>
          <a:p>
            <a:r>
              <a:rPr kumimoji="1" lang="en-US" altLang="ja-JP" sz="3600" dirty="0">
                <a:solidFill>
                  <a:schemeClr val="tx2">
                    <a:lumMod val="50000"/>
                  </a:schemeClr>
                </a:solidFill>
                <a:latin typeface="Arial" panose="020B0604020202020204" pitchFamily="34" charset="0"/>
                <a:cs typeface="Arial" panose="020B0604020202020204" pitchFamily="34" charset="0"/>
              </a:rPr>
              <a:t>real:</a:t>
            </a:r>
            <a:endParaRPr kumimoji="1" lang="ja-JP" altLang="en-US" sz="3600" dirty="0">
              <a:solidFill>
                <a:schemeClr val="tx2">
                  <a:lumMod val="50000"/>
                </a:schemeClr>
              </a:solidFill>
              <a:latin typeface="Arial" panose="020B0604020202020204" pitchFamily="34" charset="0"/>
              <a:cs typeface="Arial" panose="020B0604020202020204" pitchFamily="34" charset="0"/>
            </a:endParaRPr>
          </a:p>
        </p:txBody>
      </p:sp>
      <p:sp>
        <p:nvSpPr>
          <p:cNvPr id="34" name="テキスト ボックス 33">
            <a:extLst>
              <a:ext uri="{FF2B5EF4-FFF2-40B4-BE49-F238E27FC236}">
                <a16:creationId xmlns:a16="http://schemas.microsoft.com/office/drawing/2014/main" id="{110E13BC-76D1-CCF7-01CC-A941E9F2A1DD}"/>
              </a:ext>
            </a:extLst>
          </p:cNvPr>
          <p:cNvSpPr txBox="1"/>
          <p:nvPr/>
        </p:nvSpPr>
        <p:spPr>
          <a:xfrm>
            <a:off x="7927536" y="8127803"/>
            <a:ext cx="1700784" cy="646331"/>
          </a:xfrm>
          <a:prstGeom prst="rect">
            <a:avLst/>
          </a:prstGeom>
          <a:noFill/>
        </p:spPr>
        <p:txBody>
          <a:bodyPr wrap="square" rtlCol="0">
            <a:spAutoFit/>
          </a:bodyPr>
          <a:lstStyle/>
          <a:p>
            <a:r>
              <a:rPr kumimoji="1" lang="en-US" altLang="ja-JP" sz="3600" dirty="0">
                <a:solidFill>
                  <a:schemeClr val="tx2">
                    <a:lumMod val="50000"/>
                  </a:schemeClr>
                </a:solidFill>
                <a:latin typeface="Arial" panose="020B0604020202020204" pitchFamily="34" charset="0"/>
                <a:cs typeface="Arial" panose="020B0604020202020204" pitchFamily="34" charset="0"/>
              </a:rPr>
              <a:t>ideal:</a:t>
            </a:r>
            <a:endParaRPr kumimoji="1" lang="ja-JP" altLang="en-US" sz="3600" dirty="0">
              <a:solidFill>
                <a:schemeClr val="tx2">
                  <a:lumMod val="50000"/>
                </a:schemeClr>
              </a:solidFill>
              <a:latin typeface="Arial" panose="020B0604020202020204" pitchFamily="34" charset="0"/>
              <a:cs typeface="Arial" panose="020B0604020202020204" pitchFamily="34" charset="0"/>
            </a:endParaRPr>
          </a:p>
        </p:txBody>
      </p:sp>
      <p:sp>
        <p:nvSpPr>
          <p:cNvPr id="35" name="円弧 34">
            <a:extLst>
              <a:ext uri="{FF2B5EF4-FFF2-40B4-BE49-F238E27FC236}">
                <a16:creationId xmlns:a16="http://schemas.microsoft.com/office/drawing/2014/main" id="{92C183A9-6F38-013B-73E5-155B562B5AE9}"/>
              </a:ext>
            </a:extLst>
          </p:cNvPr>
          <p:cNvSpPr/>
          <p:nvPr/>
        </p:nvSpPr>
        <p:spPr>
          <a:xfrm rot="1912678">
            <a:off x="14120040" y="10170660"/>
            <a:ext cx="651647" cy="634508"/>
          </a:xfrm>
          <a:prstGeom prst="arc">
            <a:avLst>
              <a:gd name="adj1" fmla="val 16200000"/>
              <a:gd name="adj2" fmla="val 21382646"/>
            </a:avLst>
          </a:prstGeom>
          <a:ln w="762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40" name="テキスト ボックス 39">
            <a:extLst>
              <a:ext uri="{FF2B5EF4-FFF2-40B4-BE49-F238E27FC236}">
                <a16:creationId xmlns:a16="http://schemas.microsoft.com/office/drawing/2014/main" id="{577CA35F-9BE4-78AD-5047-860378EAC713}"/>
              </a:ext>
            </a:extLst>
          </p:cNvPr>
          <p:cNvSpPr txBox="1"/>
          <p:nvPr/>
        </p:nvSpPr>
        <p:spPr>
          <a:xfrm>
            <a:off x="11892048" y="9396919"/>
            <a:ext cx="3144770" cy="523220"/>
          </a:xfrm>
          <a:prstGeom prst="rect">
            <a:avLst/>
          </a:prstGeom>
          <a:noFill/>
        </p:spPr>
        <p:txBody>
          <a:bodyPr wrap="square" rtlCol="0">
            <a:spAutoFit/>
          </a:bodyPr>
          <a:lstStyle/>
          <a:p>
            <a:r>
              <a:rPr kumimoji="1" lang="en-US" altLang="ja-JP" sz="2800" dirty="0">
                <a:latin typeface="Arial" panose="020B0604020202020204" pitchFamily="34" charset="0"/>
                <a:cs typeface="Arial" panose="020B0604020202020204" pitchFamily="34" charset="0"/>
              </a:rPr>
              <a:t>Thermal distortion</a:t>
            </a:r>
            <a:endParaRPr kumimoji="1" lang="ja-JP" altLang="en-US" sz="2800" dirty="0">
              <a:latin typeface="Arial" panose="020B0604020202020204" pitchFamily="34" charset="0"/>
              <a:cs typeface="Arial" panose="020B0604020202020204" pitchFamily="34" charset="0"/>
            </a:endParaRPr>
          </a:p>
        </p:txBody>
      </p:sp>
      <p:sp>
        <p:nvSpPr>
          <p:cNvPr id="42" name="テキスト ボックス 41">
            <a:extLst>
              <a:ext uri="{FF2B5EF4-FFF2-40B4-BE49-F238E27FC236}">
                <a16:creationId xmlns:a16="http://schemas.microsoft.com/office/drawing/2014/main" id="{667603CC-24F4-588D-5DAF-CBA089AB0ACD}"/>
              </a:ext>
            </a:extLst>
          </p:cNvPr>
          <p:cNvSpPr txBox="1"/>
          <p:nvPr/>
        </p:nvSpPr>
        <p:spPr>
          <a:xfrm>
            <a:off x="10284672" y="10681272"/>
            <a:ext cx="1843992" cy="584775"/>
          </a:xfrm>
          <a:prstGeom prst="rect">
            <a:avLst/>
          </a:prstGeom>
          <a:noFill/>
        </p:spPr>
        <p:txBody>
          <a:bodyPr wrap="square">
            <a:spAutoFit/>
          </a:bodyPr>
          <a:lstStyle/>
          <a:p>
            <a:pPr algn="ctr"/>
            <a:r>
              <a:rPr kumimoji="1" lang="en-US" altLang="ja-JP" sz="3200" dirty="0">
                <a:solidFill>
                  <a:schemeClr val="bg1"/>
                </a:solidFill>
                <a:latin typeface="Arial" panose="020B0604020202020204" pitchFamily="34" charset="0"/>
                <a:cs typeface="Arial" panose="020B0604020202020204" pitchFamily="34" charset="0"/>
              </a:rPr>
              <a:t>satellite</a:t>
            </a:r>
            <a:endParaRPr kumimoji="1" lang="ja-JP" altLang="en-US" sz="3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717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44673"/>
            <a:ext cx="15910559" cy="652486"/>
          </a:xfrm>
          <a:prstGeom prst="rect">
            <a:avLst/>
          </a:prstGeom>
          <a:noFill/>
        </p:spPr>
        <p:txBody>
          <a:bodyPr wrap="square" lIns="45720" tIns="18288" rIns="45720" bIns="18288" anchor="ctr">
            <a:spAutoFit/>
          </a:bodyPr>
          <a:lstStyle/>
          <a:p>
            <a:pPr algn="l">
              <a:spcAft>
                <a:spcPts val="0"/>
              </a:spcAft>
            </a:pPr>
            <a:endParaRPr lang="en-US" sz="2000" b="0" dirty="0">
              <a:solidFill>
                <a:srgbClr val="666F79"/>
              </a:solidFill>
              <a:latin typeface="Arial" panose="020B0604020202020204" pitchFamily="34" charset="0"/>
              <a:ea typeface="Yu Gothic"/>
              <a:cs typeface="Arial" panose="020B0604020202020204" pitchFamily="34" charset="0"/>
            </a:endParaRPr>
          </a:p>
          <a:p>
            <a:pPr algn="l">
              <a:spcAft>
                <a:spcPts val="0"/>
              </a:spcAft>
            </a:pPr>
            <a:r>
              <a:rPr lang="en-US" sz="2000" b="0">
                <a:solidFill>
                  <a:srgbClr val="666F79"/>
                </a:solidFill>
                <a:latin typeface="Arial" panose="020B0604020202020204" pitchFamily="34" charset="0"/>
                <a:ea typeface="Yu Gothic"/>
                <a:cs typeface="Arial" panose="020B0604020202020204" pitchFamily="34" charset="0"/>
              </a:rPr>
              <a:t>Background</a:t>
            </a:r>
            <a:endParaRPr lang="en-US" sz="2000" b="0" dirty="0">
              <a:solidFill>
                <a:srgbClr val="666F79"/>
              </a:solidFill>
              <a:latin typeface="Arial" panose="020B0604020202020204" pitchFamily="34" charset="0"/>
              <a:ea typeface="Yu Gothic"/>
              <a:cs typeface="Arial" panose="020B0604020202020204" pitchFamily="34" charset="0"/>
            </a:endParaRPr>
          </a:p>
        </p:txBody>
      </p:sp>
      <p:sp>
        <p:nvSpPr>
          <p:cNvPr id="3" name="TextBox 2"/>
          <p:cNvSpPr txBox="1"/>
          <p:nvPr/>
        </p:nvSpPr>
        <p:spPr>
          <a:xfrm>
            <a:off x="1536192" y="1082811"/>
            <a:ext cx="22037040" cy="1619995"/>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Arial" panose="020B0604020202020204" pitchFamily="34" charset="0"/>
              <a:ea typeface="Yu Gothic"/>
              <a:cs typeface="Arial" panose="020B0604020202020204" pitchFamily="34" charset="0"/>
            </a:endParaRPr>
          </a:p>
          <a:p>
            <a:pPr algn="l">
              <a:lnSpc>
                <a:spcPct val="110000"/>
              </a:lnSpc>
              <a:spcAft>
                <a:spcPts val="0"/>
              </a:spcAft>
            </a:pPr>
            <a:r>
              <a:rPr lang="en-US" sz="3200" b="1" dirty="0">
                <a:solidFill>
                  <a:srgbClr val="082B52"/>
                </a:solidFill>
                <a:latin typeface="Arial" panose="020B0604020202020204" pitchFamily="34" charset="0"/>
                <a:ea typeface="Yu Gothic"/>
                <a:cs typeface="Arial" panose="020B0604020202020204" pitchFamily="34" charset="0"/>
              </a:rPr>
              <a:t>Thermal </a:t>
            </a:r>
            <a:r>
              <a:rPr lang="en-US" altLang="ja-JP" sz="3200" b="1" dirty="0">
                <a:solidFill>
                  <a:srgbClr val="082B52"/>
                </a:solidFill>
                <a:latin typeface="Arial" panose="020B0604020202020204" pitchFamily="34" charset="0"/>
                <a:ea typeface="Yu Gothic"/>
                <a:cs typeface="Arial" panose="020B0604020202020204" pitchFamily="34" charset="0"/>
              </a:rPr>
              <a:t>LOS error</a:t>
            </a:r>
            <a:r>
              <a:rPr lang="en-US" sz="3200" b="1" dirty="0">
                <a:solidFill>
                  <a:srgbClr val="082B52"/>
                </a:solidFill>
                <a:latin typeface="Arial" panose="020B0604020202020204" pitchFamily="34" charset="0"/>
                <a:ea typeface="Yu Gothic"/>
                <a:cs typeface="Arial" panose="020B0604020202020204" pitchFamily="34" charset="0"/>
              </a:rPr>
              <a:t> can match or exceed orbit-prediction error</a:t>
            </a:r>
            <a:r>
              <a:rPr lang="en-US" altLang="ja-JP" sz="3200" b="1" dirty="0">
                <a:solidFill>
                  <a:srgbClr val="082B52"/>
                </a:solidFill>
                <a:latin typeface="Arial" panose="020B0604020202020204" pitchFamily="34" charset="0"/>
                <a:ea typeface="Yu Gothic"/>
                <a:cs typeface="Arial" panose="020B0604020202020204" pitchFamily="34" charset="0"/>
              </a:rPr>
              <a:t>—</a:t>
            </a:r>
            <a:r>
              <a:rPr lang="en-US" sz="3200" b="1" dirty="0">
                <a:solidFill>
                  <a:srgbClr val="082B52"/>
                </a:solidFill>
                <a:latin typeface="Arial" panose="020B0604020202020204" pitchFamily="34" charset="0"/>
                <a:ea typeface="Yu Gothic"/>
                <a:cs typeface="Arial" panose="020B0604020202020204" pitchFamily="34" charset="0"/>
              </a:rPr>
              <a:t>and cannot be optically separated before acquisition</a:t>
            </a:r>
          </a:p>
        </p:txBody>
      </p:sp>
      <p:sp>
        <p:nvSpPr>
          <p:cNvPr id="4" name="TextBox 3"/>
          <p:cNvSpPr txBox="1"/>
          <p:nvPr/>
        </p:nvSpPr>
        <p:spPr>
          <a:xfrm>
            <a:off x="20828000" y="12700000"/>
            <a:ext cx="2946400" cy="467820"/>
          </a:xfrm>
          <a:prstGeom prst="rect">
            <a:avLst/>
          </a:prstGeom>
          <a:noFill/>
        </p:spPr>
        <p:txBody>
          <a:bodyPr wrap="square" lIns="45720" tIns="18288" rIns="45720" bIns="18288" anchor="t">
            <a:spAutoFit/>
          </a:bodyPr>
          <a:lstStyle/>
          <a:p>
            <a:pPr algn="r">
              <a:spcAft>
                <a:spcPts val="0"/>
              </a:spcAft>
            </a:pPr>
            <a:r>
              <a:rPr lang="en-US" sz="2800" dirty="0">
                <a:solidFill>
                  <a:srgbClr val="666F79"/>
                </a:solidFill>
                <a:latin typeface="Arial" panose="020B0604020202020204" pitchFamily="34" charset="0"/>
                <a:ea typeface="Yu Gothic"/>
                <a:cs typeface="Arial" panose="020B0604020202020204" pitchFamily="34" charset="0"/>
              </a:rPr>
              <a:t>2/17</a:t>
            </a:r>
          </a:p>
        </p:txBody>
      </p:sp>
      <p:graphicFrame>
        <p:nvGraphicFramePr>
          <p:cNvPr id="5" name="Table 4"/>
          <p:cNvGraphicFramePr>
            <a:graphicFrameLocks noGrp="1"/>
          </p:cNvGraphicFramePr>
          <p:nvPr>
            <p:extLst>
              <p:ext uri="{D42A27DB-BD31-4B8C-83A1-F6EECF244321}">
                <p14:modId xmlns:p14="http://schemas.microsoft.com/office/powerpoint/2010/main" val="3044274270"/>
              </p:ext>
            </p:extLst>
          </p:nvPr>
        </p:nvGraphicFramePr>
        <p:xfrm>
          <a:off x="1463040" y="3200400"/>
          <a:ext cx="21396958" cy="5120635"/>
        </p:xfrm>
        <a:graphic>
          <a:graphicData uri="http://schemas.openxmlformats.org/drawingml/2006/table">
            <a:tbl>
              <a:tblPr firstRow="1" bandRow="1">
                <a:tableStyleId>{5C22544A-7EE6-4342-B048-85BDC9FD1C3A}</a:tableStyleId>
              </a:tblPr>
              <a:tblGrid>
                <a:gridCol w="7509510">
                  <a:extLst>
                    <a:ext uri="{9D8B030D-6E8A-4147-A177-3AD203B41FA5}">
                      <a16:colId xmlns:a16="http://schemas.microsoft.com/office/drawing/2014/main" val="20000"/>
                    </a:ext>
                  </a:extLst>
                </a:gridCol>
                <a:gridCol w="7349488">
                  <a:extLst>
                    <a:ext uri="{9D8B030D-6E8A-4147-A177-3AD203B41FA5}">
                      <a16:colId xmlns:a16="http://schemas.microsoft.com/office/drawing/2014/main" val="20001"/>
                    </a:ext>
                  </a:extLst>
                </a:gridCol>
                <a:gridCol w="6537960">
                  <a:extLst>
                    <a:ext uri="{9D8B030D-6E8A-4147-A177-3AD203B41FA5}">
                      <a16:colId xmlns:a16="http://schemas.microsoft.com/office/drawing/2014/main" val="20002"/>
                    </a:ext>
                  </a:extLst>
                </a:gridCol>
              </a:tblGrid>
              <a:tr h="1024127">
                <a:tc>
                  <a:txBody>
                    <a:bodyPr/>
                    <a:lstStyle/>
                    <a:p>
                      <a:pPr algn="l">
                        <a:spcAft>
                          <a:spcPts val="0"/>
                        </a:spcAft>
                      </a:pPr>
                      <a:r>
                        <a:rPr lang="en-US" sz="2800" b="1">
                          <a:solidFill>
                            <a:srgbClr val="FFFFFF"/>
                          </a:solidFill>
                          <a:latin typeface="Arial" panose="020B0604020202020204" pitchFamily="34" charset="0"/>
                          <a:ea typeface="Yu Gothic"/>
                          <a:cs typeface="Arial" panose="020B0604020202020204" pitchFamily="34" charset="0"/>
                        </a:rPr>
                        <a:t>Error source</a:t>
                      </a:r>
                      <a:endParaRPr lang="en-US" sz="2800" b="1" dirty="0">
                        <a:solidFill>
                          <a:srgbClr val="FFFFFF"/>
                        </a:solidFill>
                        <a:latin typeface="Arial" panose="020B0604020202020204" pitchFamily="34" charset="0"/>
                        <a:ea typeface="Yu Gothic"/>
                        <a:cs typeface="Arial" panose="020B0604020202020204" pitchFamily="34" charset="0"/>
                      </a:endParaRPr>
                    </a:p>
                  </a:txBody>
                  <a:tcPr marL="128016" marR="128016" anchor="ctr">
                    <a:solidFill>
                      <a:srgbClr val="082B52"/>
                    </a:solidFill>
                  </a:tcPr>
                </a:tc>
                <a:tc>
                  <a:txBody>
                    <a:bodyPr/>
                    <a:lstStyle/>
                    <a:p>
                      <a:pPr algn="ctr">
                        <a:spcAft>
                          <a:spcPts val="0"/>
                        </a:spcAft>
                      </a:pPr>
                      <a:r>
                        <a:rPr lang="en-US" sz="2800" b="1">
                          <a:solidFill>
                            <a:srgbClr val="FFFFFF"/>
                          </a:solidFill>
                          <a:latin typeface="Arial" panose="020B0604020202020204" pitchFamily="34" charset="0"/>
                          <a:ea typeface="Yu Gothic"/>
                          <a:cs typeface="Arial" panose="020B0604020202020204" pitchFamily="34" charset="0"/>
                        </a:rPr>
                        <a:t>Approximate magnitude</a:t>
                      </a:r>
                      <a:endParaRPr lang="en-US" sz="2800" b="1" dirty="0">
                        <a:solidFill>
                          <a:srgbClr val="FFFFFF"/>
                        </a:solidFill>
                        <a:latin typeface="Arial" panose="020B0604020202020204" pitchFamily="34" charset="0"/>
                        <a:ea typeface="Yu Gothic"/>
                        <a:cs typeface="Arial" panose="020B0604020202020204" pitchFamily="34" charset="0"/>
                      </a:endParaRPr>
                    </a:p>
                  </a:txBody>
                  <a:tcPr marL="128016" marR="128016" anchor="ctr">
                    <a:solidFill>
                      <a:srgbClr val="082B52"/>
                    </a:solidFill>
                  </a:tcPr>
                </a:tc>
                <a:tc>
                  <a:txBody>
                    <a:bodyPr/>
                    <a:lstStyle/>
                    <a:p>
                      <a:pPr algn="ctr">
                        <a:spcAft>
                          <a:spcPts val="0"/>
                        </a:spcAft>
                      </a:pPr>
                      <a:r>
                        <a:rPr lang="en-US" sz="2800" b="1">
                          <a:solidFill>
                            <a:srgbClr val="FFFFFF"/>
                          </a:solidFill>
                          <a:latin typeface="Arial" panose="020B0604020202020204" pitchFamily="34" charset="0"/>
                          <a:ea typeface="Yu Gothic"/>
                          <a:cs typeface="Arial" panose="020B0604020202020204" pitchFamily="34" charset="0"/>
                        </a:rPr>
                        <a:t>Time variation</a:t>
                      </a:r>
                      <a:endParaRPr lang="en-US" sz="2800" b="1" dirty="0">
                        <a:solidFill>
                          <a:srgbClr val="FFFFFF"/>
                        </a:solidFill>
                        <a:latin typeface="Arial" panose="020B0604020202020204" pitchFamily="34" charset="0"/>
                        <a:ea typeface="Yu Gothic"/>
                        <a:cs typeface="Arial" panose="020B0604020202020204" pitchFamily="34" charset="0"/>
                      </a:endParaRPr>
                    </a:p>
                  </a:txBody>
                  <a:tcPr marL="128016" marR="128016" anchor="ctr">
                    <a:solidFill>
                      <a:srgbClr val="082B52"/>
                    </a:solidFill>
                  </a:tcPr>
                </a:tc>
                <a:extLst>
                  <a:ext uri="{0D108BD9-81ED-4DB2-BD59-A6C34878D82A}">
                    <a16:rowId xmlns:a16="http://schemas.microsoft.com/office/drawing/2014/main" val="10000"/>
                  </a:ext>
                </a:extLst>
              </a:tr>
              <a:tr h="1024127">
                <a:tc>
                  <a:txBody>
                    <a:bodyPr/>
                    <a:lstStyle/>
                    <a:p>
                      <a:pPr algn="l">
                        <a:spcAft>
                          <a:spcPts val="0"/>
                        </a:spcAft>
                      </a:pPr>
                      <a:r>
                        <a:rPr lang="en-US" sz="2800" b="0" dirty="0">
                          <a:solidFill>
                            <a:srgbClr val="232B34"/>
                          </a:solidFill>
                          <a:latin typeface="Arial" panose="020B0604020202020204" pitchFamily="34" charset="0"/>
                          <a:ea typeface="Yu Gothic"/>
                          <a:cs typeface="Arial" panose="020B0604020202020204" pitchFamily="34" charset="0"/>
                        </a:rPr>
                        <a:t>Thermal LOS</a:t>
                      </a:r>
                    </a:p>
                  </a:txBody>
                  <a:tcPr marL="128016" marR="128016" anchor="ctr">
                    <a:solidFill>
                      <a:schemeClr val="accent6">
                        <a:lumMod val="20000"/>
                        <a:lumOff val="80000"/>
                      </a:schemeClr>
                    </a:solidFill>
                  </a:tcPr>
                </a:tc>
                <a:tc>
                  <a:txBody>
                    <a:bodyPr/>
                    <a:lstStyle/>
                    <a:p>
                      <a:pPr algn="ctr">
                        <a:spcAft>
                          <a:spcPts val="0"/>
                        </a:spcAft>
                      </a:pPr>
                      <a:r>
                        <a:rPr lang="en-US" sz="2800" b="0">
                          <a:solidFill>
                            <a:srgbClr val="232B34"/>
                          </a:solidFill>
                          <a:latin typeface="Arial" panose="020B0604020202020204" pitchFamily="34" charset="0"/>
                          <a:ea typeface="Yu Gothic"/>
                          <a:cs typeface="Arial" panose="020B0604020202020204" pitchFamily="34" charset="0"/>
                        </a:rPr>
                        <a:t>150 µrad–1000 µrad (this analysis)</a:t>
                      </a:r>
                      <a:endParaRPr lang="en-US" sz="2800" b="0" dirty="0">
                        <a:solidFill>
                          <a:srgbClr val="232B34"/>
                        </a:solidFill>
                        <a:latin typeface="Arial" panose="020B0604020202020204" pitchFamily="34" charset="0"/>
                        <a:ea typeface="Yu Gothic"/>
                        <a:cs typeface="Arial" panose="020B0604020202020204" pitchFamily="34" charset="0"/>
                      </a:endParaRPr>
                    </a:p>
                  </a:txBody>
                  <a:tcPr marL="128016" marR="128016" anchor="ctr">
                    <a:solidFill>
                      <a:schemeClr val="accent6">
                        <a:lumMod val="20000"/>
                        <a:lumOff val="80000"/>
                      </a:schemeClr>
                    </a:solidFill>
                  </a:tcPr>
                </a:tc>
                <a:tc>
                  <a:txBody>
                    <a:bodyPr/>
                    <a:lstStyle/>
                    <a:p>
                      <a:pPr algn="ctr">
                        <a:spcAft>
                          <a:spcPts val="0"/>
                        </a:spcAft>
                      </a:pPr>
                      <a:r>
                        <a:rPr lang="en-US" sz="2800" b="0">
                          <a:solidFill>
                            <a:srgbClr val="232B34"/>
                          </a:solidFill>
                          <a:latin typeface="Arial" panose="020B0604020202020204" pitchFamily="34" charset="0"/>
                          <a:ea typeface="Yu Gothic"/>
                          <a:cs typeface="Arial" panose="020B0604020202020204" pitchFamily="34" charset="0"/>
                        </a:rPr>
                        <a:t>Orbital period (~100 min in LEO)</a:t>
                      </a:r>
                      <a:endParaRPr lang="en-US" sz="2800" b="0" dirty="0" err="1">
                        <a:solidFill>
                          <a:srgbClr val="232B34"/>
                        </a:solidFill>
                        <a:latin typeface="Arial" panose="020B0604020202020204" pitchFamily="34" charset="0"/>
                        <a:ea typeface="Yu Gothic"/>
                        <a:cs typeface="Arial" panose="020B0604020202020204" pitchFamily="34" charset="0"/>
                      </a:endParaRPr>
                    </a:p>
                  </a:txBody>
                  <a:tcPr marL="128016" marR="128016" anchor="ctr">
                    <a:solidFill>
                      <a:schemeClr val="accent6">
                        <a:lumMod val="20000"/>
                        <a:lumOff val="80000"/>
                      </a:schemeClr>
                    </a:solidFill>
                  </a:tcPr>
                </a:tc>
                <a:extLst>
                  <a:ext uri="{0D108BD9-81ED-4DB2-BD59-A6C34878D82A}">
                    <a16:rowId xmlns:a16="http://schemas.microsoft.com/office/drawing/2014/main" val="10001"/>
                  </a:ext>
                </a:extLst>
              </a:tr>
              <a:tr h="1024127">
                <a:tc>
                  <a:txBody>
                    <a:bodyPr/>
                    <a:lstStyle/>
                    <a:p>
                      <a:pPr algn="l">
                        <a:spcAft>
                          <a:spcPts val="0"/>
                        </a:spcAft>
                      </a:pPr>
                      <a:r>
                        <a:rPr lang="en-US" sz="2800" b="0" dirty="0">
                          <a:solidFill>
                            <a:srgbClr val="232B34"/>
                          </a:solidFill>
                          <a:latin typeface="Arial" panose="020B0604020202020204" pitchFamily="34" charset="0"/>
                          <a:ea typeface="Yu Gothic"/>
                          <a:cs typeface="Arial" panose="020B0604020202020204" pitchFamily="34" charset="0"/>
                        </a:rPr>
                        <a:t>Orbit prediction</a:t>
                      </a:r>
                    </a:p>
                  </a:txBody>
                  <a:tcPr marL="128016" marR="128016" anchor="ctr">
                    <a:solidFill>
                      <a:schemeClr val="accent6">
                        <a:lumMod val="20000"/>
                        <a:lumOff val="80000"/>
                      </a:schemeClr>
                    </a:solidFill>
                  </a:tcPr>
                </a:tc>
                <a:tc>
                  <a:txBody>
                    <a:bodyPr/>
                    <a:lstStyle/>
                    <a:p>
                      <a:pPr algn="ctr">
                        <a:spcAft>
                          <a:spcPts val="0"/>
                        </a:spcAft>
                      </a:pPr>
                      <a:r>
                        <a:rPr lang="en-US" sz="2800" b="0" dirty="0">
                          <a:solidFill>
                            <a:srgbClr val="232B34"/>
                          </a:solidFill>
                          <a:latin typeface="Arial" panose="020B0604020202020204" pitchFamily="34" charset="0"/>
                          <a:ea typeface="Yu Gothic"/>
                          <a:cs typeface="Arial" panose="020B0604020202020204" pitchFamily="34" charset="0"/>
                        </a:rPr>
                        <a:t>Several hundred µrad (TLE propagation vs. precise GPS ephemeris)</a:t>
                      </a:r>
                    </a:p>
                  </a:txBody>
                  <a:tcPr marL="128016" marR="128016" anchor="ctr">
                    <a:solidFill>
                      <a:schemeClr val="accent6">
                        <a:lumMod val="20000"/>
                        <a:lumOff val="80000"/>
                      </a:schemeClr>
                    </a:solidFill>
                  </a:tcPr>
                </a:tc>
                <a:tc>
                  <a:txBody>
                    <a:bodyPr/>
                    <a:lstStyle/>
                    <a:p>
                      <a:pPr algn="ctr">
                        <a:spcAft>
                          <a:spcPts val="0"/>
                        </a:spcAft>
                      </a:pPr>
                      <a:r>
                        <a:rPr lang="en-US" sz="2800" b="0">
                          <a:solidFill>
                            <a:srgbClr val="232B34"/>
                          </a:solidFill>
                          <a:latin typeface="Arial" panose="020B0604020202020204" pitchFamily="34" charset="0"/>
                          <a:ea typeface="Yu Gothic"/>
                          <a:cs typeface="Arial" panose="020B0604020202020204" pitchFamily="34" charset="0"/>
                        </a:rPr>
                        <a:t>Orbital period (~100 min in LEO)</a:t>
                      </a:r>
                      <a:endParaRPr lang="en-US" sz="2800" b="0" dirty="0" err="1">
                        <a:solidFill>
                          <a:srgbClr val="232B34"/>
                        </a:solidFill>
                        <a:latin typeface="Arial" panose="020B0604020202020204" pitchFamily="34" charset="0"/>
                        <a:ea typeface="Yu Gothic"/>
                        <a:cs typeface="Arial" panose="020B0604020202020204" pitchFamily="34" charset="0"/>
                      </a:endParaRPr>
                    </a:p>
                  </a:txBody>
                  <a:tcPr marL="128016" marR="128016" anchor="ctr">
                    <a:solidFill>
                      <a:schemeClr val="accent6">
                        <a:lumMod val="20000"/>
                        <a:lumOff val="80000"/>
                      </a:schemeClr>
                    </a:solidFill>
                  </a:tcPr>
                </a:tc>
                <a:extLst>
                  <a:ext uri="{0D108BD9-81ED-4DB2-BD59-A6C34878D82A}">
                    <a16:rowId xmlns:a16="http://schemas.microsoft.com/office/drawing/2014/main" val="10002"/>
                  </a:ext>
                </a:extLst>
              </a:tr>
              <a:tr h="1024127">
                <a:tc>
                  <a:txBody>
                    <a:bodyPr/>
                    <a:lstStyle/>
                    <a:p>
                      <a:pPr algn="l">
                        <a:spcAft>
                          <a:spcPts val="0"/>
                        </a:spcAft>
                      </a:pPr>
                      <a:r>
                        <a:rPr lang="en-US" sz="2800" b="0">
                          <a:solidFill>
                            <a:srgbClr val="232B34"/>
                          </a:solidFill>
                          <a:latin typeface="Arial" panose="020B0604020202020204" pitchFamily="34" charset="0"/>
                          <a:ea typeface="Yu Gothic"/>
                          <a:cs typeface="Arial" panose="020B0604020202020204" pitchFamily="34" charset="0"/>
                        </a:rPr>
                        <a:t>Attitude and calibrated alignment</a:t>
                      </a:r>
                      <a:endParaRPr lang="en-US" sz="2800" b="0" dirty="0">
                        <a:solidFill>
                          <a:srgbClr val="232B34"/>
                        </a:solidFill>
                        <a:latin typeface="Arial" panose="020B0604020202020204" pitchFamily="34" charset="0"/>
                        <a:ea typeface="Yu Gothic"/>
                        <a:cs typeface="Arial" panose="020B0604020202020204" pitchFamily="34" charset="0"/>
                      </a:endParaRPr>
                    </a:p>
                  </a:txBody>
                  <a:tcPr marL="128016" marR="128016" anchor="ctr">
                    <a:solidFill>
                      <a:srgbClr val="FFFFFF"/>
                    </a:solidFill>
                  </a:tcPr>
                </a:tc>
                <a:tc>
                  <a:txBody>
                    <a:bodyPr/>
                    <a:lstStyle/>
                    <a:p>
                      <a:pPr algn="ctr">
                        <a:spcAft>
                          <a:spcPts val="0"/>
                        </a:spcAft>
                      </a:pPr>
                      <a:r>
                        <a:rPr lang="en-US" sz="2800" b="0">
                          <a:solidFill>
                            <a:srgbClr val="232B34"/>
                          </a:solidFill>
                          <a:latin typeface="Arial" panose="020B0604020202020204" pitchFamily="34" charset="0"/>
                          <a:ea typeface="Yu Gothic"/>
                          <a:cs typeface="Arial" panose="020B0604020202020204" pitchFamily="34" charset="0"/>
                        </a:rPr>
                        <a:t>Tens of µrad</a:t>
                      </a:r>
                      <a:endParaRPr lang="en-US" sz="2800" b="0" dirty="0">
                        <a:solidFill>
                          <a:srgbClr val="232B34"/>
                        </a:solidFill>
                        <a:latin typeface="Arial" panose="020B0604020202020204" pitchFamily="34" charset="0"/>
                        <a:ea typeface="Yu Gothic"/>
                        <a:cs typeface="Arial" panose="020B0604020202020204" pitchFamily="34" charset="0"/>
                      </a:endParaRPr>
                    </a:p>
                  </a:txBody>
                  <a:tcPr marL="128016" marR="128016" anchor="ctr">
                    <a:solidFill>
                      <a:srgbClr val="FFFFFF"/>
                    </a:solidFill>
                  </a:tcPr>
                </a:tc>
                <a:tc>
                  <a:txBody>
                    <a:bodyPr/>
                    <a:lstStyle/>
                    <a:p>
                      <a:pPr algn="ctr">
                        <a:spcAft>
                          <a:spcPts val="0"/>
                        </a:spcAft>
                      </a:pPr>
                      <a:r>
                        <a:rPr lang="en-US" sz="2800" b="0">
                          <a:solidFill>
                            <a:srgbClr val="232B34"/>
                          </a:solidFill>
                          <a:latin typeface="Arial" panose="020B0604020202020204" pitchFamily="34" charset="0"/>
                          <a:ea typeface="Yu Gothic"/>
                          <a:cs typeface="Arial" panose="020B0604020202020204" pitchFamily="34" charset="0"/>
                        </a:rPr>
                        <a:t>DC to broadband</a:t>
                      </a:r>
                      <a:endParaRPr lang="en-US" sz="2800" b="0" dirty="0">
                        <a:solidFill>
                          <a:srgbClr val="232B34"/>
                        </a:solidFill>
                        <a:latin typeface="Arial" panose="020B0604020202020204" pitchFamily="34" charset="0"/>
                        <a:ea typeface="Yu Gothic"/>
                        <a:cs typeface="Arial" panose="020B0604020202020204" pitchFamily="34" charset="0"/>
                      </a:endParaRPr>
                    </a:p>
                  </a:txBody>
                  <a:tcPr marL="128016" marR="128016" anchor="ctr">
                    <a:solidFill>
                      <a:srgbClr val="EBF6FB"/>
                    </a:solidFill>
                  </a:tcPr>
                </a:tc>
                <a:extLst>
                  <a:ext uri="{0D108BD9-81ED-4DB2-BD59-A6C34878D82A}">
                    <a16:rowId xmlns:a16="http://schemas.microsoft.com/office/drawing/2014/main" val="10003"/>
                  </a:ext>
                </a:extLst>
              </a:tr>
              <a:tr h="1024127">
                <a:tc>
                  <a:txBody>
                    <a:bodyPr/>
                    <a:lstStyle/>
                    <a:p>
                      <a:pPr algn="l">
                        <a:spcAft>
                          <a:spcPts val="0"/>
                        </a:spcAft>
                      </a:pPr>
                      <a:r>
                        <a:rPr lang="en-US" sz="2800" b="0">
                          <a:solidFill>
                            <a:srgbClr val="232B34"/>
                          </a:solidFill>
                          <a:latin typeface="Arial" panose="020B0604020202020204" pitchFamily="34" charset="0"/>
                          <a:ea typeface="Yu Gothic"/>
                          <a:cs typeface="Arial" panose="020B0604020202020204" pitchFamily="34" charset="0"/>
                        </a:rPr>
                        <a:t>Mechanical vibration</a:t>
                      </a:r>
                      <a:endParaRPr lang="en-US" sz="2800" b="0" dirty="0">
                        <a:solidFill>
                          <a:srgbClr val="232B34"/>
                        </a:solidFill>
                        <a:latin typeface="Arial" panose="020B0604020202020204" pitchFamily="34" charset="0"/>
                        <a:ea typeface="Yu Gothic"/>
                        <a:cs typeface="Arial" panose="020B0604020202020204" pitchFamily="34" charset="0"/>
                      </a:endParaRPr>
                    </a:p>
                  </a:txBody>
                  <a:tcPr marL="128016" marR="128016" anchor="ctr">
                    <a:solidFill>
                      <a:srgbClr val="F4F6F8"/>
                    </a:solidFill>
                  </a:tcPr>
                </a:tc>
                <a:tc>
                  <a:txBody>
                    <a:bodyPr/>
                    <a:lstStyle/>
                    <a:p>
                      <a:pPr algn="ctr">
                        <a:spcAft>
                          <a:spcPts val="0"/>
                        </a:spcAft>
                      </a:pPr>
                      <a:r>
                        <a:rPr lang="en-US" sz="2800" b="0" dirty="0">
                          <a:solidFill>
                            <a:srgbClr val="232B34"/>
                          </a:solidFill>
                          <a:latin typeface="Arial" panose="020B0604020202020204" pitchFamily="34" charset="0"/>
                          <a:ea typeface="Yu Gothic"/>
                          <a:cs typeface="Arial" panose="020B0604020202020204" pitchFamily="34" charset="0"/>
                        </a:rPr>
                        <a:t>Several to tens of µrad</a:t>
                      </a:r>
                    </a:p>
                  </a:txBody>
                  <a:tcPr marL="128016" marR="128016" anchor="ctr">
                    <a:solidFill>
                      <a:srgbClr val="F4F6F8"/>
                    </a:solidFill>
                  </a:tcPr>
                </a:tc>
                <a:tc>
                  <a:txBody>
                    <a:bodyPr/>
                    <a:lstStyle/>
                    <a:p>
                      <a:pPr algn="ctr">
                        <a:spcAft>
                          <a:spcPts val="0"/>
                        </a:spcAft>
                      </a:pPr>
                      <a:r>
                        <a:rPr lang="en-US" sz="2800" b="0" dirty="0">
                          <a:solidFill>
                            <a:srgbClr val="232B34"/>
                          </a:solidFill>
                          <a:latin typeface="Arial" panose="020B0604020202020204" pitchFamily="34" charset="0"/>
                          <a:ea typeface="Yu Gothic"/>
                          <a:cs typeface="Arial" panose="020B0604020202020204" pitchFamily="34" charset="0"/>
                        </a:rPr>
                        <a:t>High frequency (post-acquisition fine tracking)</a:t>
                      </a:r>
                    </a:p>
                  </a:txBody>
                  <a:tcPr marL="128016" marR="128016" anchor="ctr">
                    <a:solidFill>
                      <a:srgbClr val="EBF6FB"/>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8458200"/>
            <a:ext cx="21396960" cy="344710"/>
          </a:xfrm>
          <a:prstGeom prst="rect">
            <a:avLst/>
          </a:prstGeom>
          <a:noFill/>
        </p:spPr>
        <p:txBody>
          <a:bodyPr wrap="square" lIns="45720" tIns="18288" rIns="45720" bIns="18288" anchor="t">
            <a:spAutoFit/>
          </a:bodyPr>
          <a:lstStyle/>
          <a:p>
            <a:pPr algn="l">
              <a:spcAft>
                <a:spcPts val="0"/>
              </a:spcAft>
            </a:pPr>
            <a:r>
              <a:rPr lang="en-US" sz="2000" b="0" dirty="0">
                <a:solidFill>
                  <a:srgbClr val="666F79"/>
                </a:solidFill>
                <a:latin typeface="Arial" panose="020B0604020202020204" pitchFamily="34" charset="0"/>
                <a:ea typeface="Yu Gothic"/>
                <a:cs typeface="Arial" panose="020B0604020202020204" pitchFamily="34" charset="0"/>
              </a:rPr>
              <a:t>* Thermal LOS</a:t>
            </a:r>
            <a:r>
              <a:rPr lang="en-US" altLang="ja-JP" sz="2000" b="0" dirty="0">
                <a:solidFill>
                  <a:srgbClr val="666F79"/>
                </a:solidFill>
                <a:latin typeface="Arial" panose="020B0604020202020204" pitchFamily="34" charset="0"/>
                <a:ea typeface="Yu Gothic"/>
                <a:cs typeface="Arial" panose="020B0604020202020204" pitchFamily="34" charset="0"/>
              </a:rPr>
              <a:t> and orbit-prediction error are from this analysis</a:t>
            </a:r>
            <a:r>
              <a:rPr lang="en-US" altLang="ja-JP" sz="2000" b="0">
                <a:solidFill>
                  <a:srgbClr val="666F79"/>
                </a:solidFill>
                <a:latin typeface="Arial" panose="020B0604020202020204" pitchFamily="34" charset="0"/>
                <a:ea typeface="Yu Gothic"/>
                <a:cs typeface="Arial" panose="020B0604020202020204" pitchFamily="34" charset="0"/>
              </a:rPr>
              <a:t>; </a:t>
            </a:r>
            <a:r>
              <a:rPr lang="en-US" sz="2000" b="0">
                <a:solidFill>
                  <a:srgbClr val="666F79"/>
                </a:solidFill>
                <a:latin typeface="Arial" panose="020B0604020202020204" pitchFamily="34" charset="0"/>
                <a:ea typeface="Yu Gothic"/>
                <a:cs typeface="Arial" panose="020B0604020202020204" pitchFamily="34" charset="0"/>
              </a:rPr>
              <a:t>other values are literature-based order-of-magnitude estimates.</a:t>
            </a:r>
            <a:endParaRPr lang="en-US" sz="2000" b="0" dirty="0">
              <a:solidFill>
                <a:srgbClr val="666F79"/>
              </a:solidFill>
              <a:latin typeface="Arial" panose="020B0604020202020204" pitchFamily="34" charset="0"/>
              <a:ea typeface="Yu Gothic"/>
              <a:cs typeface="Arial" panose="020B0604020202020204" pitchFamily="34" charset="0"/>
            </a:endParaRPr>
          </a:p>
        </p:txBody>
      </p:sp>
      <p:sp>
        <p:nvSpPr>
          <p:cNvPr id="7" name="Rounded Rectangle 6"/>
          <p:cNvSpPr/>
          <p:nvPr/>
        </p:nvSpPr>
        <p:spPr>
          <a:xfrm>
            <a:off x="1463040" y="9418320"/>
            <a:ext cx="21396960" cy="3785616"/>
          </a:xfrm>
          <a:prstGeom prst="roundRect">
            <a:avLst/>
          </a:prstGeom>
          <a:solidFill>
            <a:srgbClr val="EBF6FB"/>
          </a:solidFill>
          <a:ln w="22860">
            <a:solidFill>
              <a:srgbClr val="5BB5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8" name="TextBox 7"/>
          <p:cNvSpPr txBox="1"/>
          <p:nvPr/>
        </p:nvSpPr>
        <p:spPr>
          <a:xfrm>
            <a:off x="1828800" y="9646920"/>
            <a:ext cx="20665440" cy="1185389"/>
          </a:xfrm>
          <a:prstGeom prst="rect">
            <a:avLst/>
          </a:prstGeom>
          <a:noFill/>
        </p:spPr>
        <p:txBody>
          <a:bodyPr wrap="square" lIns="45720" tIns="18288" rIns="45720" bIns="18288" anchor="t">
            <a:spAutoFit/>
          </a:bodyPr>
          <a:lstStyle/>
          <a:p>
            <a:pPr algn="ctr">
              <a:lnSpc>
                <a:spcPct val="120000"/>
              </a:lnSpc>
              <a:spcAft>
                <a:spcPts val="0"/>
              </a:spcAft>
            </a:pPr>
            <a:r>
              <a:rPr lang="en-US" sz="3200" dirty="0">
                <a:solidFill>
                  <a:srgbClr val="082B52"/>
                </a:solidFill>
                <a:latin typeface="Arial" panose="020B0604020202020204" pitchFamily="34" charset="0"/>
                <a:ea typeface="Yu Gothic"/>
                <a:cs typeface="Arial" panose="020B0604020202020204" pitchFamily="34" charset="0"/>
              </a:rPr>
              <a:t>Thermal LOS and orbit prediction share </a:t>
            </a:r>
            <a:r>
              <a:rPr lang="en-US" altLang="ja-JP" sz="3200" dirty="0">
                <a:solidFill>
                  <a:srgbClr val="082B52"/>
                </a:solidFill>
                <a:latin typeface="Arial" panose="020B0604020202020204" pitchFamily="34" charset="0"/>
                <a:ea typeface="Yu Gothic"/>
                <a:cs typeface="Arial" panose="020B0604020202020204" pitchFamily="34" charset="0"/>
              </a:rPr>
              <a:t>similar</a:t>
            </a:r>
            <a:r>
              <a:rPr lang="en-US" sz="3200" dirty="0">
                <a:solidFill>
                  <a:srgbClr val="082B52"/>
                </a:solidFill>
                <a:latin typeface="Arial" panose="020B0604020202020204" pitchFamily="34" charset="0"/>
                <a:ea typeface="Yu Gothic"/>
                <a:cs typeface="Arial" panose="020B0604020202020204" pitchFamily="34" charset="0"/>
              </a:rPr>
              <a:t> orbital periods</a:t>
            </a:r>
          </a:p>
          <a:p>
            <a:pPr algn="ctr">
              <a:lnSpc>
                <a:spcPct val="120000"/>
              </a:lnSpc>
              <a:spcAft>
                <a:spcPts val="0"/>
              </a:spcAft>
            </a:pPr>
            <a:r>
              <a:rPr lang="en-US" sz="3200" dirty="0">
                <a:solidFill>
                  <a:srgbClr val="082B52"/>
                </a:solidFill>
                <a:latin typeface="Arial" panose="020B0604020202020204" pitchFamily="34" charset="0"/>
                <a:ea typeface="Yu Gothic"/>
                <a:cs typeface="Arial" panose="020B0604020202020204" pitchFamily="34" charset="0"/>
              </a:rPr>
              <a:t>Frequency separation of post-acquisition residuals cannot isolate the thermal component</a:t>
            </a:r>
          </a:p>
        </p:txBody>
      </p:sp>
      <p:sp>
        <p:nvSpPr>
          <p:cNvPr id="9" name="TextBox 8"/>
          <p:cNvSpPr txBox="1"/>
          <p:nvPr/>
        </p:nvSpPr>
        <p:spPr>
          <a:xfrm>
            <a:off x="1463040" y="11772900"/>
            <a:ext cx="21396960" cy="1021818"/>
          </a:xfrm>
          <a:prstGeom prst="rect">
            <a:avLst/>
          </a:prstGeom>
          <a:noFill/>
        </p:spPr>
        <p:txBody>
          <a:bodyPr wrap="square" lIns="45720" tIns="18288" rIns="45720" bIns="18288" anchor="t">
            <a:spAutoFit/>
          </a:bodyPr>
          <a:lstStyle/>
          <a:p>
            <a:pPr algn="ctr">
              <a:spcAft>
                <a:spcPts val="0"/>
              </a:spcAft>
            </a:pPr>
            <a:r>
              <a:rPr lang="en-US" sz="3200" b="1" dirty="0">
                <a:latin typeface="Arial" panose="020B0604020202020204" pitchFamily="34" charset="0"/>
                <a:ea typeface="Yu Gothic"/>
                <a:cs typeface="Arial" panose="020B0604020202020204" pitchFamily="34" charset="0"/>
              </a:rPr>
              <a:t>Do not </a:t>
            </a:r>
            <a:r>
              <a:rPr lang="en-US" altLang="ja-JP" sz="3200" b="1" dirty="0">
                <a:latin typeface="Arial" panose="020B0604020202020204" pitchFamily="34" charset="0"/>
                <a:ea typeface="Yu Gothic"/>
                <a:cs typeface="Arial" panose="020B0604020202020204" pitchFamily="34" charset="0"/>
              </a:rPr>
              <a:t>separate thermal effects retrospectively</a:t>
            </a:r>
            <a:r>
              <a:rPr lang="en-US" sz="3200" b="1" dirty="0">
                <a:latin typeface="Arial" panose="020B0604020202020204" pitchFamily="34" charset="0"/>
                <a:ea typeface="Yu Gothic"/>
                <a:cs typeface="Arial" panose="020B0604020202020204" pitchFamily="34" charset="0"/>
              </a:rPr>
              <a:t> from observations</a:t>
            </a:r>
          </a:p>
          <a:p>
            <a:pPr algn="ctr">
              <a:spcAft>
                <a:spcPts val="0"/>
              </a:spcAft>
            </a:pPr>
            <a:r>
              <a:rPr lang="en-US" sz="3200" b="1" dirty="0">
                <a:latin typeface="Arial" panose="020B0604020202020204" pitchFamily="34" charset="0"/>
                <a:ea typeface="Yu Gothic"/>
                <a:cs typeface="Arial" panose="020B0604020202020204" pitchFamily="34" charset="0"/>
              </a:rPr>
              <a:t>Use temperature and operating state</a:t>
            </a:r>
            <a:r>
              <a:rPr lang="en-US" altLang="ja-JP" sz="3200" b="1" dirty="0">
                <a:latin typeface="Arial" panose="020B0604020202020204" pitchFamily="34" charset="0"/>
                <a:ea typeface="Yu Gothic"/>
                <a:cs typeface="Arial" panose="020B0604020202020204" pitchFamily="34" charset="0"/>
              </a:rPr>
              <a:t> </a:t>
            </a:r>
            <a:r>
              <a:rPr lang="en-US" sz="3200" b="1" dirty="0">
                <a:latin typeface="Arial" panose="020B0604020202020204" pitchFamily="34" charset="0"/>
                <a:ea typeface="Yu Gothic"/>
                <a:cs typeface="Arial" panose="020B0604020202020204" pitchFamily="34" charset="0"/>
              </a:rPr>
              <a:t>to subtract them before acquisition</a:t>
            </a:r>
          </a:p>
        </p:txBody>
      </p:sp>
      <p:sp>
        <p:nvSpPr>
          <p:cNvPr id="11" name="矢印: 右 10">
            <a:extLst>
              <a:ext uri="{FF2B5EF4-FFF2-40B4-BE49-F238E27FC236}">
                <a16:creationId xmlns:a16="http://schemas.microsoft.com/office/drawing/2014/main" id="{94240433-D79D-CFAB-63F5-3885639F5032}"/>
              </a:ext>
            </a:extLst>
          </p:cNvPr>
          <p:cNvSpPr/>
          <p:nvPr/>
        </p:nvSpPr>
        <p:spPr>
          <a:xfrm rot="5400000">
            <a:off x="11918047" y="11028683"/>
            <a:ext cx="685800" cy="5478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cs typeface="Arial" panose="020B0604020202020204" pitchFamily="34" charset="0"/>
            </a:endParaRPr>
          </a:p>
        </p:txBody>
      </p:sp>
      <p:sp>
        <p:nvSpPr>
          <p:cNvPr id="12" name="テキスト ボックス 11">
            <a:extLst>
              <a:ext uri="{FF2B5EF4-FFF2-40B4-BE49-F238E27FC236}">
                <a16:creationId xmlns:a16="http://schemas.microsoft.com/office/drawing/2014/main" id="{98366AD8-6DF9-7CF4-554B-CA06B88994F7}"/>
              </a:ext>
            </a:extLst>
          </p:cNvPr>
          <p:cNvSpPr txBox="1"/>
          <p:nvPr/>
        </p:nvSpPr>
        <p:spPr>
          <a:xfrm>
            <a:off x="5619750" y="2707542"/>
            <a:ext cx="12192000" cy="523220"/>
          </a:xfrm>
          <a:prstGeom prst="rect">
            <a:avLst/>
          </a:prstGeom>
          <a:noFill/>
        </p:spPr>
        <p:txBody>
          <a:bodyPr wrap="square">
            <a:spAutoFit/>
          </a:bodyPr>
          <a:lstStyle/>
          <a:p>
            <a:pPr algn="ctr">
              <a:buNone/>
            </a:pPr>
            <a:r>
              <a:rPr lang="en-US" altLang="ja-JP" sz="2800" b="1">
                <a:solidFill>
                  <a:schemeClr val="tx2">
                    <a:lumMod val="50000"/>
                  </a:schemeClr>
                </a:solidFill>
                <a:latin typeface="Arial" panose="020B0604020202020204" pitchFamily="34" charset="0"/>
                <a:cs typeface="Arial" panose="020B0604020202020204" pitchFamily="34" charset="0"/>
              </a:rPr>
              <a:t>Main contributors to scan-center LOS error during coarse acquisition</a:t>
            </a:r>
            <a:endParaRPr lang="en-US" altLang="ja-JP" sz="2800" dirty="0">
              <a:solidFill>
                <a:schemeClr val="tx2">
                  <a:lumMod val="50000"/>
                </a:schemeClr>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a:solidFill>
                  <a:srgbClr val="666F79"/>
                </a:solidFill>
                <a:latin typeface="Arial" panose="020B0604020202020204" pitchFamily="34" charset="0"/>
                <a:ea typeface="Yu Gothic"/>
              </a:rPr>
              <a:t>Background</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Arial" panose="020B0604020202020204" pitchFamily="34" charset="0"/>
              <a:ea typeface="Yu Gothic"/>
              <a:cs typeface="Arial" panose="020B0604020202020204" pitchFamily="34" charset="0"/>
            </a:endParaRPr>
          </a:p>
          <a:p>
            <a:pPr algn="l">
              <a:lnSpc>
                <a:spcPct val="110000"/>
              </a:lnSpc>
              <a:spcAft>
                <a:spcPts val="0"/>
              </a:spcAft>
            </a:pPr>
            <a:r>
              <a:rPr lang="en-US" altLang="ja-JP" sz="3200" b="1" dirty="0">
                <a:solidFill>
                  <a:srgbClr val="082B52"/>
                </a:solidFill>
                <a:latin typeface="Arial" panose="020B0604020202020204" pitchFamily="34" charset="0"/>
                <a:ea typeface="Yu Gothic"/>
                <a:cs typeface="Arial" panose="020B0604020202020204" pitchFamily="34" charset="0"/>
              </a:rPr>
              <a:t>Prior work on thermal-deformation LOS error prediction and this study</a:t>
            </a:r>
            <a:endParaRPr lang="en-US" sz="3200" b="1" dirty="0">
              <a:solidFill>
                <a:srgbClr val="082B52"/>
              </a:solidFill>
              <a:latin typeface="Arial" panose="020B0604020202020204" pitchFamily="34" charset="0"/>
              <a:ea typeface="Yu Gothic"/>
              <a:cs typeface="Arial" panose="020B0604020202020204" pitchFamily="34" charset="0"/>
            </a:endParaRPr>
          </a:p>
        </p:txBody>
      </p:sp>
      <p:sp>
        <p:nvSpPr>
          <p:cNvPr id="4" name="TextBox 3"/>
          <p:cNvSpPr txBox="1"/>
          <p:nvPr/>
        </p:nvSpPr>
        <p:spPr>
          <a:xfrm>
            <a:off x="20828000" y="12700000"/>
            <a:ext cx="2946400" cy="467820"/>
          </a:xfrm>
          <a:prstGeom prst="rect">
            <a:avLst/>
          </a:prstGeom>
          <a:noFill/>
        </p:spPr>
        <p:txBody>
          <a:bodyPr wrap="square" lIns="45720" tIns="18288" rIns="45720" bIns="18288" anchor="t">
            <a:spAutoFit/>
          </a:bodyPr>
          <a:lstStyle/>
          <a:p>
            <a:pPr algn="r">
              <a:spcAft>
                <a:spcPts val="0"/>
              </a:spcAft>
            </a:pPr>
            <a:r>
              <a:rPr lang="en-US" sz="2800" dirty="0">
                <a:solidFill>
                  <a:srgbClr val="666F79"/>
                </a:solidFill>
                <a:latin typeface="Arial" panose="020B0604020202020204" pitchFamily="34" charset="0"/>
                <a:ea typeface="Yu Gothic"/>
              </a:rPr>
              <a:t>3/17</a:t>
            </a:r>
          </a:p>
        </p:txBody>
      </p:sp>
      <p:graphicFrame>
        <p:nvGraphicFramePr>
          <p:cNvPr id="10" name="表 9">
            <a:extLst>
              <a:ext uri="{FF2B5EF4-FFF2-40B4-BE49-F238E27FC236}">
                <a16:creationId xmlns:a16="http://schemas.microsoft.com/office/drawing/2014/main" id="{A46055EF-9EAE-9D40-A161-EC7FBD1C0AFE}"/>
              </a:ext>
            </a:extLst>
          </p:cNvPr>
          <p:cNvGraphicFramePr>
            <a:graphicFrameLocks noGrp="1"/>
          </p:cNvGraphicFramePr>
          <p:nvPr>
            <p:extLst>
              <p:ext uri="{D42A27DB-BD31-4B8C-83A1-F6EECF244321}">
                <p14:modId xmlns:p14="http://schemas.microsoft.com/office/powerpoint/2010/main" val="4086940554"/>
              </p:ext>
            </p:extLst>
          </p:nvPr>
        </p:nvGraphicFramePr>
        <p:xfrm>
          <a:off x="2160290" y="3045590"/>
          <a:ext cx="20474920" cy="6989418"/>
        </p:xfrm>
        <a:graphic>
          <a:graphicData uri="http://schemas.openxmlformats.org/drawingml/2006/table">
            <a:tbl>
              <a:tblPr firstRow="1" bandRow="1">
                <a:tableStyleId>{5C22544A-7EE6-4342-B048-85BDC9FD1C3A}</a:tableStyleId>
              </a:tblPr>
              <a:tblGrid>
                <a:gridCol w="4507210">
                  <a:extLst>
                    <a:ext uri="{9D8B030D-6E8A-4147-A177-3AD203B41FA5}">
                      <a16:colId xmlns:a16="http://schemas.microsoft.com/office/drawing/2014/main" val="1548032301"/>
                    </a:ext>
                  </a:extLst>
                </a:gridCol>
                <a:gridCol w="5730250">
                  <a:extLst>
                    <a:ext uri="{9D8B030D-6E8A-4147-A177-3AD203B41FA5}">
                      <a16:colId xmlns:a16="http://schemas.microsoft.com/office/drawing/2014/main" val="2689480544"/>
                    </a:ext>
                  </a:extLst>
                </a:gridCol>
                <a:gridCol w="5118730">
                  <a:extLst>
                    <a:ext uri="{9D8B030D-6E8A-4147-A177-3AD203B41FA5}">
                      <a16:colId xmlns:a16="http://schemas.microsoft.com/office/drawing/2014/main" val="3075504841"/>
                    </a:ext>
                  </a:extLst>
                </a:gridCol>
                <a:gridCol w="5118730">
                  <a:extLst>
                    <a:ext uri="{9D8B030D-6E8A-4147-A177-3AD203B41FA5}">
                      <a16:colId xmlns:a16="http://schemas.microsoft.com/office/drawing/2014/main" val="39855268"/>
                    </a:ext>
                  </a:extLst>
                </a:gridCol>
              </a:tblGrid>
              <a:tr h="649290">
                <a:tc>
                  <a:txBody>
                    <a:bodyPr/>
                    <a:lstStyle/>
                    <a:p>
                      <a:pPr>
                        <a:buNone/>
                      </a:pPr>
                      <a:r>
                        <a:rPr lang="en-US" altLang="ja-JP" sz="2800" b="0">
                          <a:solidFill>
                            <a:schemeClr val="bg1"/>
                          </a:solidFill>
                          <a:latin typeface="Arial" panose="020B0604020202020204" pitchFamily="34" charset="0"/>
                          <a:cs typeface="Arial" panose="020B0604020202020204" pitchFamily="34" charset="0"/>
                        </a:rPr>
                        <a:t>Field</a:t>
                      </a:r>
                      <a:endParaRPr lang="en-US" altLang="ja-JP" sz="2800" b="0" dirty="0">
                        <a:solidFill>
                          <a:schemeClr val="bg1"/>
                        </a:solidFill>
                        <a:latin typeface="Arial" panose="020B0604020202020204" pitchFamily="34" charset="0"/>
                        <a:cs typeface="Arial" panose="020B0604020202020204" pitchFamily="34" charset="0"/>
                      </a:endParaRPr>
                    </a:p>
                  </a:txBody>
                  <a:tcPr anchor="ctr">
                    <a:solidFill>
                      <a:schemeClr val="tx1"/>
                    </a:solidFill>
                  </a:tcPr>
                </a:tc>
                <a:tc>
                  <a:txBody>
                    <a:bodyPr/>
                    <a:lstStyle/>
                    <a:p>
                      <a:pPr>
                        <a:buNone/>
                      </a:pPr>
                      <a:r>
                        <a:rPr lang="en-US" altLang="ja-JP" sz="2800" b="1" dirty="0">
                          <a:solidFill>
                            <a:schemeClr val="tx1"/>
                          </a:solidFill>
                          <a:latin typeface="Arial" panose="020B0604020202020204" pitchFamily="34" charset="0"/>
                          <a:cs typeface="Arial" panose="020B0604020202020204" pitchFamily="34" charset="0"/>
                        </a:rPr>
                        <a:t>Conventional PAT design</a:t>
                      </a:r>
                      <a:endParaRPr lang="ja-JP" sz="2800" b="1" dirty="0">
                        <a:solidFill>
                          <a:schemeClr val="tx1"/>
                        </a:solidFill>
                        <a:latin typeface="Arial" panose="020B0604020202020204" pitchFamily="34" charset="0"/>
                        <a:cs typeface="Arial" panose="020B0604020202020204" pitchFamily="34" charset="0"/>
                      </a:endParaRPr>
                    </a:p>
                  </a:txBody>
                  <a:tcPr anchor="ctr">
                    <a:solidFill>
                      <a:schemeClr val="bg1">
                        <a:lumMod val="95000"/>
                      </a:schemeClr>
                    </a:solidFill>
                  </a:tcPr>
                </a:tc>
                <a:tc>
                  <a:txBody>
                    <a:bodyPr/>
                    <a:lstStyle/>
                    <a:p>
                      <a:pPr>
                        <a:buNone/>
                      </a:pPr>
                      <a:r>
                        <a:rPr lang="en-US" altLang="ja-JP" sz="2800" b="1" dirty="0">
                          <a:solidFill>
                            <a:schemeClr val="tx1"/>
                          </a:solidFill>
                          <a:latin typeface="Arial" panose="020B0604020202020204" pitchFamily="34" charset="0"/>
                          <a:cs typeface="Arial" panose="020B0604020202020204" pitchFamily="34" charset="0"/>
                        </a:rPr>
                        <a:t>Earth observation / optics</a:t>
                      </a:r>
                    </a:p>
                  </a:txBody>
                  <a:tcPr anchor="ctr">
                    <a:solidFill>
                      <a:schemeClr val="bg1">
                        <a:lumMod val="85000"/>
                      </a:schemeClr>
                    </a:solidFill>
                  </a:tcPr>
                </a:tc>
                <a:tc>
                  <a:txBody>
                    <a:bodyPr/>
                    <a:lstStyle/>
                    <a:p>
                      <a:pPr>
                        <a:buNone/>
                      </a:pPr>
                      <a:r>
                        <a:rPr lang="en-US" altLang="ja-JP" sz="2800" b="1" dirty="0">
                          <a:solidFill>
                            <a:schemeClr val="tx1"/>
                          </a:solidFill>
                          <a:latin typeface="Arial" panose="020B0604020202020204" pitchFamily="34" charset="0"/>
                          <a:cs typeface="Arial" panose="020B0604020202020204" pitchFamily="34" charset="0"/>
                        </a:rPr>
                        <a:t>This study’s PAT design </a:t>
                      </a:r>
                      <a:endParaRPr lang="ja-JP" sz="2800" b="1" dirty="0">
                        <a:solidFill>
                          <a:schemeClr val="tx1"/>
                        </a:solidFill>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866067178"/>
                  </a:ext>
                </a:extLst>
              </a:tr>
              <a:tr h="2253419">
                <a:tc>
                  <a:txBody>
                    <a:bodyPr/>
                    <a:lstStyle/>
                    <a:p>
                      <a:pPr>
                        <a:buNone/>
                      </a:pPr>
                      <a:r>
                        <a:rPr lang="en-US" altLang="ja-JP" sz="2800" b="0">
                          <a:solidFill>
                            <a:schemeClr val="bg1"/>
                          </a:solidFill>
                          <a:latin typeface="Arial" panose="020B0604020202020204" pitchFamily="34" charset="0"/>
                          <a:cs typeface="Arial" panose="020B0604020202020204" pitchFamily="34" charset="0"/>
                        </a:rPr>
                        <a:t>Approach to thermal deformation</a:t>
                      </a:r>
                      <a:endParaRPr lang="en-US" altLang="ja-JP" sz="2800" b="0" dirty="0">
                        <a:solidFill>
                          <a:schemeClr val="bg1"/>
                        </a:solidFill>
                        <a:latin typeface="Arial" panose="020B0604020202020204" pitchFamily="34" charset="0"/>
                        <a:cs typeface="Arial" panose="020B0604020202020204" pitchFamily="34" charset="0"/>
                      </a:endParaRPr>
                    </a:p>
                  </a:txBody>
                  <a:tcPr anchor="ctr">
                    <a:solidFill>
                      <a:schemeClr val="tx1"/>
                    </a:solidFill>
                  </a:tcPr>
                </a:tc>
                <a:tc>
                  <a:txBody>
                    <a:bodyPr/>
                    <a:lstStyle/>
                    <a:p>
                      <a:pPr marL="457200" marR="0" lvl="0" indent="-457200" algn="l" defTabSz="1828709" rtl="0" eaLnBrk="1" fontAlgn="auto" latinLnBrk="0" hangingPunct="1">
                        <a:lnSpc>
                          <a:spcPct val="100000"/>
                        </a:lnSpc>
                        <a:spcBef>
                          <a:spcPts val="0"/>
                        </a:spcBef>
                        <a:spcAft>
                          <a:spcPts val="0"/>
                        </a:spcAft>
                        <a:buClrTx/>
                        <a:buSzTx/>
                        <a:buFontTx/>
                        <a:buChar char="-"/>
                        <a:tabLst/>
                        <a:defRPr/>
                      </a:pPr>
                      <a:r>
                        <a:rPr lang="en-US" altLang="ja-JP" sz="2800" b="0" dirty="0">
                          <a:solidFill>
                            <a:schemeClr val="tx1"/>
                          </a:solidFill>
                          <a:latin typeface="Arial" panose="020B0604020202020204" pitchFamily="34" charset="0"/>
                          <a:cs typeface="Arial" panose="020B0604020202020204" pitchFamily="34" charset="0"/>
                        </a:rPr>
                        <a:t>Absorb thermal error through scan range or beam divergence</a:t>
                      </a:r>
                    </a:p>
                    <a:p>
                      <a:pPr marL="457200" marR="0" lvl="0" indent="-457200" algn="l" defTabSz="1828709" rtl="0" eaLnBrk="1" fontAlgn="auto" latinLnBrk="0" hangingPunct="1">
                        <a:lnSpc>
                          <a:spcPct val="100000"/>
                        </a:lnSpc>
                        <a:spcBef>
                          <a:spcPts val="0"/>
                        </a:spcBef>
                        <a:spcAft>
                          <a:spcPts val="0"/>
                        </a:spcAft>
                        <a:buClrTx/>
                        <a:buSzTx/>
                        <a:buFontTx/>
                        <a:buChar char="-"/>
                        <a:tabLst/>
                        <a:defRPr/>
                      </a:pPr>
                      <a:r>
                        <a:rPr lang="en-US" altLang="ja-JP" sz="2800" b="0">
                          <a:solidFill>
                            <a:schemeClr val="tx1"/>
                          </a:solidFill>
                          <a:latin typeface="Arial" panose="020B0604020202020204" pitchFamily="34" charset="0"/>
                          <a:cs typeface="Arial" panose="020B0604020202020204" pitchFamily="34" charset="0"/>
                        </a:rPr>
                        <a:t>Reduce thermal deformation through structure </a:t>
                      </a:r>
                      <a:r>
                        <a:rPr lang="en-US" altLang="ja-JP" sz="2800" b="0" dirty="0">
                          <a:solidFill>
                            <a:schemeClr val="tx1"/>
                          </a:solidFill>
                          <a:latin typeface="Arial" panose="020B0604020202020204" pitchFamily="34" charset="0"/>
                          <a:cs typeface="Arial" panose="020B0604020202020204" pitchFamily="34" charset="0"/>
                        </a:rPr>
                        <a:t>and materials</a:t>
                      </a:r>
                    </a:p>
                  </a:txBody>
                  <a:tcPr anchor="ctr">
                    <a:solidFill>
                      <a:schemeClr val="bg1">
                        <a:lumMod val="95000"/>
                      </a:schemeClr>
                    </a:solidFill>
                  </a:tcPr>
                </a:tc>
                <a:tc>
                  <a:txBody>
                    <a:bodyPr/>
                    <a:lstStyle/>
                    <a:p>
                      <a:pPr>
                        <a:buNone/>
                      </a:pPr>
                      <a:r>
                        <a:rPr lang="en-US" altLang="ja-JP" sz="2800" b="0" dirty="0">
                          <a:solidFill>
                            <a:schemeClr val="tx1"/>
                          </a:solidFill>
                          <a:latin typeface="Arial" panose="020B0604020202020204" pitchFamily="34" charset="0"/>
                          <a:cs typeface="Arial" panose="020B0604020202020204" pitchFamily="34" charset="0"/>
                        </a:rPr>
                        <a:t>Predict and correct LOS variation from temperature, orbital phase, and observation geometry</a:t>
                      </a:r>
                    </a:p>
                  </a:txBody>
                  <a:tcPr anchor="ctr">
                    <a:solidFill>
                      <a:schemeClr val="bg1">
                        <a:lumMod val="85000"/>
                      </a:schemeClr>
                    </a:solidFill>
                  </a:tcPr>
                </a:tc>
                <a:tc>
                  <a:txBody>
                    <a:bodyPr/>
                    <a:lstStyle/>
                    <a:p>
                      <a:pPr>
                        <a:buNone/>
                      </a:pPr>
                      <a:r>
                        <a:rPr lang="en-US" altLang="ja-JP" sz="2800" b="0" dirty="0">
                          <a:solidFill>
                            <a:schemeClr val="tx1"/>
                          </a:solidFill>
                          <a:latin typeface="Arial" panose="020B0604020202020204" pitchFamily="34" charset="0"/>
                          <a:cs typeface="Arial" panose="020B0604020202020204" pitchFamily="34" charset="0"/>
                        </a:rPr>
                        <a:t>Predict spacecraft-bus relative LOS from temperature and operating state</a:t>
                      </a:r>
                    </a:p>
                  </a:txBody>
                  <a:tcPr anchor="ctr">
                    <a:solidFill>
                      <a:schemeClr val="accent6">
                        <a:lumMod val="20000"/>
                        <a:lumOff val="80000"/>
                      </a:schemeClr>
                    </a:solidFill>
                  </a:tcPr>
                </a:tc>
                <a:extLst>
                  <a:ext uri="{0D108BD9-81ED-4DB2-BD59-A6C34878D82A}">
                    <a16:rowId xmlns:a16="http://schemas.microsoft.com/office/drawing/2014/main" val="2469285297"/>
                  </a:ext>
                </a:extLst>
              </a:tr>
              <a:tr h="1184000">
                <a:tc>
                  <a:txBody>
                    <a:bodyPr/>
                    <a:lstStyle/>
                    <a:p>
                      <a:pPr>
                        <a:buNone/>
                      </a:pPr>
                      <a:r>
                        <a:rPr lang="en-US" altLang="ja-JP" sz="2800" b="0">
                          <a:solidFill>
                            <a:schemeClr val="bg1"/>
                          </a:solidFill>
                          <a:latin typeface="Arial" panose="020B0604020202020204" pitchFamily="34" charset="0"/>
                          <a:cs typeface="Arial" panose="020B0604020202020204" pitchFamily="34" charset="0"/>
                        </a:rPr>
                        <a:t>Main target</a:t>
                      </a:r>
                      <a:endParaRPr lang="en-US" altLang="ja-JP" sz="2800" b="0" dirty="0">
                        <a:solidFill>
                          <a:schemeClr val="bg1"/>
                        </a:solidFill>
                        <a:latin typeface="Arial" panose="020B0604020202020204" pitchFamily="34" charset="0"/>
                        <a:cs typeface="Arial" panose="020B0604020202020204" pitchFamily="34" charset="0"/>
                      </a:endParaRPr>
                    </a:p>
                  </a:txBody>
                  <a:tcPr anchor="ctr">
                    <a:solidFill>
                      <a:schemeClr val="tx1"/>
                    </a:solidFill>
                  </a:tcPr>
                </a:tc>
                <a:tc>
                  <a:txBody>
                    <a:bodyPr/>
                    <a:lstStyle/>
                    <a:p>
                      <a:pPr>
                        <a:buNone/>
                      </a:pPr>
                      <a:r>
                        <a:rPr lang="en-US" altLang="ja-JP" sz="2800" b="0" dirty="0">
                          <a:solidFill>
                            <a:schemeClr val="tx1"/>
                          </a:solidFill>
                          <a:latin typeface="Arial" panose="020B0604020202020204" pitchFamily="34" charset="0"/>
                          <a:cs typeface="Arial" panose="020B0604020202020204" pitchFamily="34" charset="0"/>
                        </a:rPr>
                        <a:t>Optical terminals / spacecraft structures</a:t>
                      </a:r>
                    </a:p>
                  </a:txBody>
                  <a:tcPr anchor="ctr">
                    <a:solidFill>
                      <a:schemeClr val="bg1">
                        <a:lumMod val="95000"/>
                      </a:schemeClr>
                    </a:solidFill>
                  </a:tcPr>
                </a:tc>
                <a:tc>
                  <a:txBody>
                    <a:bodyPr/>
                    <a:lstStyle/>
                    <a:p>
                      <a:pPr>
                        <a:buNone/>
                      </a:pPr>
                      <a:r>
                        <a:rPr lang="en-US" altLang="ja-JP" sz="2800" b="0" dirty="0">
                          <a:solidFill>
                            <a:schemeClr val="tx1"/>
                          </a:solidFill>
                          <a:latin typeface="Arial" panose="020B0604020202020204" pitchFamily="34" charset="0"/>
                          <a:cs typeface="Arial" panose="020B0604020202020204" pitchFamily="34" charset="0"/>
                        </a:rPr>
                        <a:t>Cameras / remote-sensing optical systems</a:t>
                      </a:r>
                    </a:p>
                  </a:txBody>
                  <a:tcPr anchor="ctr">
                    <a:solidFill>
                      <a:schemeClr val="bg1">
                        <a:lumMod val="85000"/>
                      </a:schemeClr>
                    </a:solidFill>
                  </a:tcPr>
                </a:tc>
                <a:tc>
                  <a:txBody>
                    <a:bodyPr/>
                    <a:lstStyle/>
                    <a:p>
                      <a:r>
                        <a:rPr lang="en-US" altLang="ja-JP" sz="2800" b="0">
                          <a:latin typeface="Arial" panose="020B0604020202020204" pitchFamily="34" charset="0"/>
                          <a:cs typeface="Arial" panose="020B0604020202020204" pitchFamily="34" charset="0"/>
                        </a:rPr>
                        <a:t>STT–LCT relative LOS across the spacecraft bus</a:t>
                      </a:r>
                      <a:endParaRPr lang="en-US" altLang="ja-JP" sz="2800" b="0" dirty="0">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300502729"/>
                  </a:ext>
                </a:extLst>
              </a:tr>
              <a:tr h="1184000">
                <a:tc>
                  <a:txBody>
                    <a:bodyPr/>
                    <a:lstStyle/>
                    <a:p>
                      <a:pPr>
                        <a:buNone/>
                      </a:pPr>
                      <a:r>
                        <a:rPr lang="en-US" altLang="ja-JP" sz="2800" b="0">
                          <a:solidFill>
                            <a:schemeClr val="bg1"/>
                          </a:solidFill>
                          <a:latin typeface="Arial" panose="020B0604020202020204" pitchFamily="34" charset="0"/>
                          <a:cs typeface="Arial" panose="020B0604020202020204" pitchFamily="34" charset="0"/>
                        </a:rPr>
                        <a:t>Evaluation metric</a:t>
                      </a:r>
                      <a:endParaRPr lang="en-US" altLang="ja-JP" sz="2800" b="0" dirty="0">
                        <a:solidFill>
                          <a:schemeClr val="bg1"/>
                        </a:solidFill>
                        <a:latin typeface="Arial" panose="020B0604020202020204" pitchFamily="34" charset="0"/>
                        <a:cs typeface="Arial" panose="020B0604020202020204" pitchFamily="34" charset="0"/>
                      </a:endParaRPr>
                    </a:p>
                  </a:txBody>
                  <a:tcPr anchor="ctr">
                    <a:solidFill>
                      <a:schemeClr val="tx1"/>
                    </a:solidFill>
                  </a:tcPr>
                </a:tc>
                <a:tc>
                  <a:txBody>
                    <a:bodyPr/>
                    <a:lstStyle/>
                    <a:p>
                      <a:pPr>
                        <a:buNone/>
                      </a:pPr>
                      <a:r>
                        <a:rPr lang="en-US" altLang="ja-JP" sz="2800" b="0">
                          <a:solidFill>
                            <a:schemeClr val="tx1"/>
                          </a:solidFill>
                          <a:latin typeface="Arial" panose="020B0604020202020204" pitchFamily="34" charset="0"/>
                          <a:cs typeface="Arial" panose="020B0604020202020204" pitchFamily="34" charset="0"/>
                        </a:rPr>
                        <a:t>Thermal stability, pointing error, link establishment</a:t>
                      </a:r>
                      <a:endParaRPr lang="en-US" altLang="ja-JP" sz="2800" b="0" dirty="0">
                        <a:solidFill>
                          <a:schemeClr val="tx1"/>
                        </a:solidFill>
                        <a:latin typeface="Arial" panose="020B0604020202020204" pitchFamily="34" charset="0"/>
                        <a:cs typeface="Arial" panose="020B0604020202020204" pitchFamily="34" charset="0"/>
                      </a:endParaRPr>
                    </a:p>
                  </a:txBody>
                  <a:tcPr anchor="ctr">
                    <a:solidFill>
                      <a:schemeClr val="bg1">
                        <a:lumMod val="95000"/>
                      </a:schemeClr>
                    </a:solidFill>
                  </a:tcPr>
                </a:tc>
                <a:tc>
                  <a:txBody>
                    <a:bodyPr/>
                    <a:lstStyle/>
                    <a:p>
                      <a:pPr>
                        <a:buNone/>
                      </a:pPr>
                      <a:r>
                        <a:rPr lang="en-US" altLang="ja-JP" sz="2800" b="0" dirty="0">
                          <a:solidFill>
                            <a:schemeClr val="tx1"/>
                          </a:solidFill>
                          <a:latin typeface="Arial" panose="020B0604020202020204" pitchFamily="34" charset="0"/>
                          <a:cs typeface="Arial" panose="020B0604020202020204" pitchFamily="34" charset="0"/>
                        </a:rPr>
                        <a:t>LOS prediction error, image-pointing accuracy</a:t>
                      </a:r>
                    </a:p>
                  </a:txBody>
                  <a:tcPr anchor="ctr">
                    <a:solidFill>
                      <a:schemeClr val="bg1">
                        <a:lumMod val="85000"/>
                      </a:schemeClr>
                    </a:solidFill>
                  </a:tcPr>
                </a:tc>
                <a:tc>
                  <a:txBody>
                    <a:bodyPr/>
                    <a:lstStyle/>
                    <a:p>
                      <a:pPr>
                        <a:buNone/>
                      </a:pPr>
                      <a:r>
                        <a:rPr lang="en-US" altLang="ja-JP" sz="2800" b="0">
                          <a:solidFill>
                            <a:schemeClr val="tx1"/>
                          </a:solidFill>
                          <a:latin typeface="Arial" panose="020B0604020202020204" pitchFamily="34" charset="0"/>
                          <a:cs typeface="Arial" panose="020B0604020202020204" pitchFamily="34" charset="0"/>
                        </a:rPr>
                        <a:t>Coarse-acquisition time and success rate</a:t>
                      </a:r>
                      <a:endParaRPr lang="en-US" altLang="ja-JP" sz="2800" b="0" dirty="0">
                        <a:solidFill>
                          <a:schemeClr val="tx1"/>
                        </a:solidFill>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788446176"/>
                  </a:ext>
                </a:extLst>
              </a:tr>
              <a:tr h="1718709">
                <a:tc>
                  <a:txBody>
                    <a:bodyPr/>
                    <a:lstStyle/>
                    <a:p>
                      <a:pPr>
                        <a:buNone/>
                      </a:pPr>
                      <a:r>
                        <a:rPr lang="en-US" altLang="ja-JP" sz="2800" b="0">
                          <a:solidFill>
                            <a:schemeClr val="bg1"/>
                          </a:solidFill>
                          <a:latin typeface="Arial" panose="020B0604020202020204" pitchFamily="34" charset="0"/>
                          <a:cs typeface="Arial" panose="020B0604020202020204" pitchFamily="34" charset="0"/>
                        </a:rPr>
                        <a:t>Remaining gap</a:t>
                      </a:r>
                      <a:endParaRPr lang="en-US" altLang="ja-JP" sz="2800" b="0" dirty="0">
                        <a:solidFill>
                          <a:schemeClr val="bg1"/>
                        </a:solidFill>
                        <a:latin typeface="Arial" panose="020B0604020202020204" pitchFamily="34" charset="0"/>
                        <a:cs typeface="Arial" panose="020B0604020202020204" pitchFamily="34" charset="0"/>
                      </a:endParaRPr>
                    </a:p>
                  </a:txBody>
                  <a:tcPr anchor="ctr">
                    <a:solidFill>
                      <a:schemeClr val="tx1"/>
                    </a:solidFill>
                  </a:tcPr>
                </a:tc>
                <a:tc>
                  <a:txBody>
                    <a:bodyPr/>
                    <a:lstStyle/>
                    <a:p>
                      <a:pPr>
                        <a:buNone/>
                      </a:pPr>
                      <a:r>
                        <a:rPr lang="en-US" altLang="ja-JP" sz="2800" b="0">
                          <a:solidFill>
                            <a:schemeClr val="tx1"/>
                          </a:solidFill>
                          <a:latin typeface="Arial" panose="020B0604020202020204" pitchFamily="34" charset="0"/>
                          <a:cs typeface="Arial" panose="020B0604020202020204" pitchFamily="34" charset="0"/>
                        </a:rPr>
                        <a:t>Limited frameworks for </a:t>
                      </a:r>
                      <a:r>
                        <a:rPr lang="en-US" altLang="ja-JP" sz="2800" b="1">
                          <a:solidFill>
                            <a:schemeClr val="tx1"/>
                          </a:solidFill>
                          <a:latin typeface="Arial" panose="020B0604020202020204" pitchFamily="34" charset="0"/>
                          <a:cs typeface="Arial" panose="020B0604020202020204" pitchFamily="34" charset="0"/>
                        </a:rPr>
                        <a:t>predicting residual thermal LOS error during operations</a:t>
                      </a:r>
                      <a:endParaRPr lang="en-US" altLang="ja-JP" sz="2800" b="1" dirty="0">
                        <a:solidFill>
                          <a:schemeClr val="tx1"/>
                        </a:solidFill>
                        <a:latin typeface="Arial" panose="020B0604020202020204" pitchFamily="34" charset="0"/>
                        <a:cs typeface="Arial" panose="020B0604020202020204" pitchFamily="34" charset="0"/>
                      </a:endParaRPr>
                    </a:p>
                  </a:txBody>
                  <a:tcPr anchor="ctr">
                    <a:solidFill>
                      <a:schemeClr val="bg1">
                        <a:lumMod val="95000"/>
                      </a:schemeClr>
                    </a:solidFill>
                  </a:tcPr>
                </a:tc>
                <a:tc>
                  <a:txBody>
                    <a:bodyPr/>
                    <a:lstStyle/>
                    <a:p>
                      <a:pPr>
                        <a:buNone/>
                      </a:pPr>
                      <a:r>
                        <a:rPr lang="en-US" altLang="ja-JP" sz="2800" b="0">
                          <a:solidFill>
                            <a:schemeClr val="tx1"/>
                          </a:solidFill>
                          <a:latin typeface="Arial" panose="020B0604020202020204" pitchFamily="34" charset="0"/>
                          <a:cs typeface="Arial" panose="020B0604020202020204" pitchFamily="34" charset="0"/>
                        </a:rPr>
                        <a:t>Not linked to </a:t>
                      </a:r>
                      <a:r>
                        <a:rPr lang="en-US" altLang="ja-JP" sz="2800" b="1">
                          <a:solidFill>
                            <a:schemeClr val="tx1"/>
                          </a:solidFill>
                          <a:latin typeface="Arial" panose="020B0604020202020204" pitchFamily="34" charset="0"/>
                          <a:cs typeface="Arial" panose="020B0604020202020204" pitchFamily="34" charset="0"/>
                        </a:rPr>
                        <a:t>spacecraft-bus LOS error or coarse-acquisition performance</a:t>
                      </a:r>
                      <a:endParaRPr lang="en-US" altLang="ja-JP" sz="2800" b="1" dirty="0">
                        <a:solidFill>
                          <a:schemeClr val="tx1"/>
                        </a:solidFill>
                        <a:latin typeface="Arial" panose="020B0604020202020204" pitchFamily="34" charset="0"/>
                        <a:cs typeface="Arial" panose="020B0604020202020204" pitchFamily="34" charset="0"/>
                      </a:endParaRPr>
                    </a:p>
                  </a:txBody>
                  <a:tcPr anchor="ctr">
                    <a:solidFill>
                      <a:schemeClr val="bg1">
                        <a:lumMod val="85000"/>
                      </a:schemeClr>
                    </a:solidFill>
                  </a:tcPr>
                </a:tc>
                <a:tc>
                  <a:txBody>
                    <a:bodyPr/>
                    <a:lstStyle/>
                    <a:p>
                      <a:pPr>
                        <a:buNone/>
                      </a:pPr>
                      <a:r>
                        <a:rPr lang="en-US" altLang="ja-JP" sz="2800" b="0" dirty="0">
                          <a:solidFill>
                            <a:schemeClr val="tx1"/>
                          </a:solidFill>
                          <a:latin typeface="Arial" panose="020B0604020202020204" pitchFamily="34" charset="0"/>
                          <a:cs typeface="Arial" panose="020B0604020202020204" pitchFamily="34" charset="0"/>
                        </a:rPr>
                        <a:t>—</a:t>
                      </a:r>
                    </a:p>
                  </a:txBody>
                  <a:tcPr anchor="ctr">
                    <a:solidFill>
                      <a:schemeClr val="accent6">
                        <a:lumMod val="20000"/>
                        <a:lumOff val="80000"/>
                      </a:schemeClr>
                    </a:solidFill>
                  </a:tcPr>
                </a:tc>
                <a:extLst>
                  <a:ext uri="{0D108BD9-81ED-4DB2-BD59-A6C34878D82A}">
                    <a16:rowId xmlns:a16="http://schemas.microsoft.com/office/drawing/2014/main" val="3137187714"/>
                  </a:ext>
                </a:extLst>
              </a:tr>
            </a:tbl>
          </a:graphicData>
        </a:graphic>
      </p:graphicFrame>
      <p:sp>
        <p:nvSpPr>
          <p:cNvPr id="12" name="テキスト ボックス 11">
            <a:extLst>
              <a:ext uri="{FF2B5EF4-FFF2-40B4-BE49-F238E27FC236}">
                <a16:creationId xmlns:a16="http://schemas.microsoft.com/office/drawing/2014/main" id="{D62851C0-F2CB-95B5-2980-85533DC73702}"/>
              </a:ext>
            </a:extLst>
          </p:cNvPr>
          <p:cNvSpPr txBox="1"/>
          <p:nvPr/>
        </p:nvSpPr>
        <p:spPr>
          <a:xfrm>
            <a:off x="14268450" y="10176519"/>
            <a:ext cx="8500110" cy="923330"/>
          </a:xfrm>
          <a:prstGeom prst="rect">
            <a:avLst/>
          </a:prstGeom>
          <a:noFill/>
        </p:spPr>
        <p:txBody>
          <a:bodyPr wrap="square">
            <a:spAutoFit/>
          </a:bodyPr>
          <a:lstStyle/>
          <a:p>
            <a:pPr lvl="0"/>
            <a:r>
              <a:rPr lang="en-US" altLang="ja-JP">
                <a:latin typeface="Arial" panose="020B0604020202020204" pitchFamily="34" charset="0"/>
              </a:rPr>
              <a:t>References:</a:t>
            </a:r>
            <a:endParaRPr lang="en-US" altLang="ja-JP" dirty="0">
              <a:latin typeface="Arial" panose="020B0604020202020204" pitchFamily="34" charset="0"/>
            </a:endParaRPr>
          </a:p>
          <a:p>
            <a:pPr marL="342900" lvl="0" indent="-342900">
              <a:buFont typeface="Arial" panose="020B0604020202020204" pitchFamily="34" charset="0"/>
              <a:buChar char="•"/>
            </a:pPr>
            <a:r>
              <a:rPr lang="en-US" altLang="ja-JP">
                <a:latin typeface="Arial" panose="020B0604020202020204" pitchFamily="34" charset="0"/>
              </a:rPr>
              <a:t>Optical comm.: Shi et al. 2023; Zhang et al. 2025</a:t>
            </a:r>
          </a:p>
          <a:p>
            <a:pPr marL="342900" lvl="0" indent="-342900">
              <a:buFont typeface="Arial" panose="020B0604020202020204" pitchFamily="34" charset="0"/>
              <a:buChar char="•"/>
            </a:pPr>
            <a:r>
              <a:rPr lang="en-US" altLang="ja-JP">
                <a:latin typeface="Arial" panose="020B0604020202020204" pitchFamily="34" charset="0"/>
              </a:rPr>
              <a:t>EO/optics</a:t>
            </a:r>
            <a:r>
              <a:rPr lang="ja-JP" altLang="ja-JP">
                <a:latin typeface="Arial" panose="020B0604020202020204" pitchFamily="34" charset="0"/>
              </a:rPr>
              <a:t>: </a:t>
            </a:r>
            <a:r>
              <a:rPr lang="ja-JP" altLang="ja-JP" dirty="0">
                <a:latin typeface="Arial" panose="020B0604020202020204" pitchFamily="34" charset="0"/>
              </a:rPr>
              <a:t>Li et al. 2025; Hu et al. 2022</a:t>
            </a:r>
            <a:r>
              <a:rPr lang="en-US" altLang="ja-JP">
                <a:latin typeface="Arial" panose="020B0604020202020204" pitchFamily="34" charset="0"/>
              </a:rPr>
              <a:t>; Turella et al. 2019/2021</a:t>
            </a:r>
            <a:endParaRPr lang="en-US" altLang="ja-JP" dirty="0">
              <a:latin typeface="Arial" panose="020B0604020202020204" pitchFamily="34" charset="0"/>
            </a:endParaRPr>
          </a:p>
        </p:txBody>
      </p:sp>
      <p:sp>
        <p:nvSpPr>
          <p:cNvPr id="9" name="テキスト ボックス 8">
            <a:extLst>
              <a:ext uri="{FF2B5EF4-FFF2-40B4-BE49-F238E27FC236}">
                <a16:creationId xmlns:a16="http://schemas.microsoft.com/office/drawing/2014/main" id="{A579EAF2-D38E-DE80-8D0F-6C285F3EB458}"/>
              </a:ext>
            </a:extLst>
          </p:cNvPr>
          <p:cNvSpPr txBox="1"/>
          <p:nvPr/>
        </p:nvSpPr>
        <p:spPr>
          <a:xfrm>
            <a:off x="2653675" y="11742670"/>
            <a:ext cx="19488150" cy="1077218"/>
          </a:xfrm>
          <a:prstGeom prst="rect">
            <a:avLst/>
          </a:prstGeom>
          <a:noFill/>
        </p:spPr>
        <p:txBody>
          <a:bodyPr wrap="square">
            <a:spAutoFit/>
          </a:bodyPr>
          <a:lstStyle/>
          <a:p>
            <a:pPr algn="ctr"/>
            <a:r>
              <a:rPr lang="en-US" altLang="ja-JP" sz="3200" b="1">
                <a:latin typeface="Arial" panose="020B0604020202020204" pitchFamily="34" charset="0"/>
                <a:cs typeface="Arial" panose="020B0604020202020204" pitchFamily="34" charset="0"/>
              </a:rPr>
              <a:t>From structural mitigation to instrument-specific LOS correction, this study develops a physics-based bus-level LOS model for coarse optical acquisition.</a:t>
            </a:r>
            <a:endParaRPr lang="en-US" altLang="ja-JP" sz="3200" b="1"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6188-687C-CACF-8E62-FDA47B400589}"/>
            </a:ext>
          </a:extLst>
        </p:cNvPr>
        <p:cNvGrpSpPr/>
        <p:nvPr/>
      </p:nvGrpSpPr>
      <p:grpSpPr>
        <a:xfrm>
          <a:off x="0" y="0"/>
          <a:ext cx="0" cy="0"/>
          <a:chOff x="0" y="0"/>
          <a:chExt cx="0" cy="0"/>
        </a:xfrm>
      </p:grpSpPr>
      <p:sp>
        <p:nvSpPr>
          <p:cNvPr id="3" name="TextBox 2"/>
          <p:cNvSpPr txBox="1"/>
          <p:nvPr/>
        </p:nvSpPr>
        <p:spPr>
          <a:xfrm>
            <a:off x="1536192" y="1810512"/>
            <a:ext cx="18782514" cy="547842"/>
          </a:xfrm>
          <a:prstGeom prst="rect">
            <a:avLst/>
          </a:prstGeom>
          <a:noFill/>
        </p:spPr>
        <p:txBody>
          <a:bodyPr wrap="none" lIns="36576" tIns="27432" rIns="36576" bIns="27432" anchor="t">
            <a:spAutoFit/>
          </a:bodyPr>
          <a:lstStyle/>
          <a:p>
            <a:r>
              <a:rPr lang="en-US" altLang="ja-JP" sz="3200" b="1" dirty="0">
                <a:latin typeface="Arial" panose="020B0604020202020204" pitchFamily="34" charset="0"/>
                <a:cs typeface="Arial" panose="020B0604020202020204" pitchFamily="34" charset="0"/>
              </a:rPr>
              <a:t>Research overview: from thermoelastic truth generation and model construction to evaluation</a:t>
            </a:r>
            <a:endParaRPr lang="en-US" altLang="ja-JP" sz="3200" dirty="0">
              <a:latin typeface="Arial" panose="020B0604020202020204" pitchFamily="34" charset="0"/>
              <a:cs typeface="Arial" panose="020B0604020202020204" pitchFamily="34" charset="0"/>
            </a:endParaRPr>
          </a:p>
        </p:txBody>
      </p:sp>
      <p:sp>
        <p:nvSpPr>
          <p:cNvPr id="4" name="TextBox 3"/>
          <p:cNvSpPr txBox="1"/>
          <p:nvPr/>
        </p:nvSpPr>
        <p:spPr>
          <a:xfrm>
            <a:off x="23000020" y="12699999"/>
            <a:ext cx="774379" cy="486287"/>
          </a:xfrm>
          <a:prstGeom prst="rect">
            <a:avLst/>
          </a:prstGeom>
          <a:noFill/>
        </p:spPr>
        <p:txBody>
          <a:bodyPr wrap="none" lIns="36576" tIns="27432" rIns="36576" bIns="27432" anchor="t">
            <a:spAutoFit/>
          </a:bodyPr>
          <a:lstStyle/>
          <a:p>
            <a:pPr algn="r"/>
            <a:r>
              <a:rPr lang="en-US" sz="2800" dirty="0">
                <a:solidFill>
                  <a:srgbClr val="666F79"/>
                </a:solidFill>
                <a:latin typeface="Arial" panose="020B0604020202020204" pitchFamily="34" charset="0"/>
              </a:rPr>
              <a:t>4/17</a:t>
            </a:r>
          </a:p>
        </p:txBody>
      </p:sp>
      <p:sp>
        <p:nvSpPr>
          <p:cNvPr id="5" name="Rectangle 4"/>
          <p:cNvSpPr/>
          <p:nvPr/>
        </p:nvSpPr>
        <p:spPr>
          <a:xfrm>
            <a:off x="91440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71447" y="3329594"/>
            <a:ext cx="1930144"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Orbit / attitude
heat &amp; coating</a:t>
            </a:r>
            <a:endParaRPr lang="en-US" sz="2100" b="1" dirty="0">
              <a:solidFill>
                <a:srgbClr val="FFFFFF"/>
              </a:solidFill>
              <a:latin typeface="Arial" panose="020B0604020202020204" pitchFamily="34" charset="0"/>
            </a:endParaRPr>
          </a:p>
        </p:txBody>
      </p:sp>
      <p:sp>
        <p:nvSpPr>
          <p:cNvPr id="8" name="Rectangle 7"/>
          <p:cNvSpPr/>
          <p:nvPr/>
        </p:nvSpPr>
        <p:spPr>
          <a:xfrm>
            <a:off x="4742688" y="3063240"/>
            <a:ext cx="3444239" cy="123444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36229" y="3329594"/>
            <a:ext cx="2257156"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Thermal Desktop
temperature</a:t>
            </a:r>
            <a:endParaRPr lang="en-US" sz="2100" b="1" dirty="0">
              <a:solidFill>
                <a:srgbClr val="FFFFFF"/>
              </a:solidFill>
              <a:latin typeface="Arial" panose="020B0604020202020204" pitchFamily="34" charset="0"/>
            </a:endParaRPr>
          </a:p>
        </p:txBody>
      </p:sp>
      <p:cxnSp>
        <p:nvCxnSpPr>
          <p:cNvPr id="10" name="Connector 9"/>
          <p:cNvCxnSpPr/>
          <p:nvPr/>
        </p:nvCxnSpPr>
        <p:spPr>
          <a:xfrm>
            <a:off x="8241792" y="368046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570976" y="3063240"/>
            <a:ext cx="3444239"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09401" y="3329594"/>
            <a:ext cx="2167388"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Femap / Nastran
rotation</a:t>
            </a:r>
            <a:endParaRPr lang="en-US" sz="2100" b="1" dirty="0">
              <a:solidFill>
                <a:srgbClr val="FFFFFF"/>
              </a:solidFill>
              <a:latin typeface="Arial" panose="020B0604020202020204" pitchFamily="34" charset="0"/>
            </a:endParaRPr>
          </a:p>
        </p:txBody>
      </p:sp>
      <p:cxnSp>
        <p:nvCxnSpPr>
          <p:cNvPr id="13" name="Connector 12"/>
          <p:cNvCxnSpPr/>
          <p:nvPr/>
        </p:nvCxnSpPr>
        <p:spPr>
          <a:xfrm>
            <a:off x="12070080" y="3680460"/>
            <a:ext cx="274319"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2399263" y="3063240"/>
            <a:ext cx="3444239"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283749" y="3329594"/>
            <a:ext cx="1675267"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STT–LCT
thermal LOS</a:t>
            </a:r>
            <a:endParaRPr lang="en-US" sz="2100" b="1" dirty="0">
              <a:solidFill>
                <a:srgbClr val="FFFFFF"/>
              </a:solidFill>
              <a:latin typeface="Arial" panose="020B0604020202020204" pitchFamily="34" charset="0"/>
            </a:endParaRPr>
          </a:p>
        </p:txBody>
      </p:sp>
      <p:cxnSp>
        <p:nvCxnSpPr>
          <p:cNvPr id="16" name="Connector 15"/>
          <p:cNvCxnSpPr/>
          <p:nvPr/>
        </p:nvCxnSpPr>
        <p:spPr>
          <a:xfrm>
            <a:off x="15898367"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6227552" y="3063240"/>
            <a:ext cx="3444239"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955744" y="3329594"/>
            <a:ext cx="1987852"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Reduced-order
model</a:t>
            </a:r>
            <a:endParaRPr lang="en-US" sz="2100" b="1" dirty="0">
              <a:solidFill>
                <a:srgbClr val="FFFFFF"/>
              </a:solidFill>
              <a:latin typeface="Arial" panose="020B0604020202020204" pitchFamily="34" charset="0"/>
            </a:endParaRPr>
          </a:p>
        </p:txBody>
      </p:sp>
      <p:cxnSp>
        <p:nvCxnSpPr>
          <p:cNvPr id="19" name="Connector 18"/>
          <p:cNvCxnSpPr/>
          <p:nvPr/>
        </p:nvCxnSpPr>
        <p:spPr>
          <a:xfrm>
            <a:off x="19726655"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005584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994027" y="3329594"/>
            <a:ext cx="1567865"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PAT
scan center</a:t>
            </a:r>
            <a:endParaRPr lang="en-US" sz="2100" b="1" dirty="0">
              <a:solidFill>
                <a:srgbClr val="FFFFFF"/>
              </a:solidFill>
              <a:latin typeface="Arial" panose="020B0604020202020204" pitchFamily="34" charset="0"/>
            </a:endParaRPr>
          </a:p>
        </p:txBody>
      </p:sp>
      <p:sp>
        <p:nvSpPr>
          <p:cNvPr id="22" name="Rectangle 21"/>
          <p:cNvSpPr/>
          <p:nvPr/>
        </p:nvSpPr>
        <p:spPr>
          <a:xfrm>
            <a:off x="914400" y="7188743"/>
            <a:ext cx="15700443" cy="3959156"/>
          </a:xfrm>
          <a:prstGeom prst="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2457" y="7600223"/>
            <a:ext cx="4846007" cy="486287"/>
          </a:xfrm>
          <a:prstGeom prst="rect">
            <a:avLst/>
          </a:prstGeom>
          <a:noFill/>
        </p:spPr>
        <p:txBody>
          <a:bodyPr wrap="none" lIns="36576" tIns="27432" rIns="36576" bIns="27432" anchor="t">
            <a:spAutoFit/>
          </a:bodyPr>
          <a:lstStyle/>
          <a:p>
            <a:r>
              <a:rPr lang="en-US" altLang="ja-JP" sz="2800" b="1">
                <a:latin typeface="Arial" panose="020B0604020202020204" pitchFamily="34" charset="0"/>
              </a:rPr>
              <a:t>Ground model development</a:t>
            </a:r>
            <a:endParaRPr lang="en-US" sz="2700" b="1" dirty="0">
              <a:solidFill>
                <a:srgbClr val="082B52"/>
              </a:solidFill>
              <a:latin typeface="Arial" panose="020B0604020202020204" pitchFamily="34" charset="0"/>
            </a:endParaRPr>
          </a:p>
        </p:txBody>
      </p:sp>
      <p:sp>
        <p:nvSpPr>
          <p:cNvPr id="24" name="TextBox 23"/>
          <p:cNvSpPr txBox="1"/>
          <p:nvPr/>
        </p:nvSpPr>
        <p:spPr>
          <a:xfrm>
            <a:off x="1595336" y="8560343"/>
            <a:ext cx="12825513" cy="2123658"/>
          </a:xfrm>
          <a:prstGeom prst="rect">
            <a:avLst/>
          </a:prstGeom>
          <a:noFill/>
        </p:spPr>
        <p:txBody>
          <a:bodyPr wrap="square" lIns="27432" rIns="27432">
            <a:spAutoFit/>
          </a:bodyPr>
          <a:lstStyle/>
          <a:p>
            <a:pPr>
              <a:spcAft>
                <a:spcPts val="800"/>
              </a:spcAft>
            </a:pPr>
            <a:r>
              <a:rPr lang="en-US" sz="2600" b="1">
                <a:solidFill>
                  <a:srgbClr val="1B74AA"/>
                </a:solidFill>
                <a:latin typeface="Arial" panose="020B0604020202020204" pitchFamily="34" charset="0"/>
              </a:rPr>
              <a:t>• </a:t>
            </a:r>
            <a:r>
              <a:rPr lang="en-US" altLang="ja-JP" sz="2800">
                <a:latin typeface="Arial" panose="020B0604020202020204" pitchFamily="34" charset="0"/>
              </a:rPr>
              <a:t>Input orbit, attitude, and thermal environment</a:t>
            </a:r>
            <a:endParaRPr lang="en-US" altLang="ja-JP" sz="2800" dirty="0">
              <a:latin typeface="Arial" panose="020B0604020202020204" pitchFamily="34" charset="0"/>
            </a:endParaRPr>
          </a:p>
          <a:p>
            <a:pPr>
              <a:spcAft>
                <a:spcPts val="800"/>
              </a:spcAft>
            </a:pPr>
            <a:r>
              <a:rPr lang="en-US" altLang="ja-JP" sz="2800" b="1">
                <a:solidFill>
                  <a:srgbClr val="1B74AA"/>
                </a:solidFill>
                <a:latin typeface="Arial" panose="020B0604020202020204" pitchFamily="34" charset="0"/>
              </a:rPr>
              <a:t>• </a:t>
            </a:r>
            <a:r>
              <a:rPr lang="en-US" altLang="ja-JP" sz="2800">
                <a:latin typeface="Arial" panose="020B0604020202020204" pitchFamily="34" charset="0"/>
              </a:rPr>
              <a:t>Compute temperature fields and thermoelastic deformation with TD/Femap</a:t>
            </a:r>
            <a:endParaRPr lang="en-US" altLang="ja-JP" sz="2800" dirty="0">
              <a:latin typeface="Arial" panose="020B0604020202020204" pitchFamily="34" charset="0"/>
            </a:endParaRPr>
          </a:p>
          <a:p>
            <a:pPr>
              <a:spcAft>
                <a:spcPts val="800"/>
              </a:spcAft>
            </a:pPr>
            <a:r>
              <a:rPr lang="en-US" altLang="ja-JP" sz="2800" b="1">
                <a:solidFill>
                  <a:srgbClr val="1B74AA"/>
                </a:solidFill>
                <a:latin typeface="Arial" panose="020B0604020202020204" pitchFamily="34" charset="0"/>
              </a:rPr>
              <a:t>• </a:t>
            </a:r>
            <a:r>
              <a:rPr lang="en-US" altLang="ja-JP" sz="2800">
                <a:latin typeface="Arial" panose="020B0604020202020204" pitchFamily="34" charset="0"/>
              </a:rPr>
              <a:t>Generate reference STT–LCT relative-LOS time series</a:t>
            </a:r>
            <a:endParaRPr lang="en-US" altLang="ja-JP" sz="2800" dirty="0">
              <a:latin typeface="Arial" panose="020B0604020202020204" pitchFamily="34" charset="0"/>
            </a:endParaRPr>
          </a:p>
          <a:p>
            <a:pPr>
              <a:spcAft>
                <a:spcPts val="800"/>
              </a:spcAft>
            </a:pPr>
            <a:r>
              <a:rPr lang="en-US" altLang="ja-JP" sz="2800" b="1">
                <a:solidFill>
                  <a:srgbClr val="1B74AA"/>
                </a:solidFill>
                <a:latin typeface="Arial" panose="020B0604020202020204" pitchFamily="34" charset="0"/>
              </a:rPr>
              <a:t>• </a:t>
            </a:r>
            <a:r>
              <a:rPr lang="en-US" altLang="ja-JP" sz="2800">
                <a:latin typeface="Arial" panose="020B0604020202020204" pitchFamily="34" charset="0"/>
              </a:rPr>
              <a:t>Train and evaluate the reduced-order model</a:t>
            </a:r>
            <a:endParaRPr lang="en-US" sz="2600" dirty="0">
              <a:solidFill>
                <a:srgbClr val="232B34"/>
              </a:solidFill>
              <a:latin typeface="Arial" panose="020B0604020202020204" pitchFamily="34" charset="0"/>
            </a:endParaRPr>
          </a:p>
        </p:txBody>
      </p:sp>
      <p:sp>
        <p:nvSpPr>
          <p:cNvPr id="25" name="Rectangle 24"/>
          <p:cNvSpPr/>
          <p:nvPr/>
        </p:nvSpPr>
        <p:spPr>
          <a:xfrm>
            <a:off x="16848306" y="7188743"/>
            <a:ext cx="6651773" cy="3959154"/>
          </a:xfrm>
          <a:prstGeom prst="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151000" y="7600223"/>
            <a:ext cx="6085786" cy="470956"/>
          </a:xfrm>
          <a:prstGeom prst="rect">
            <a:avLst/>
          </a:prstGeom>
          <a:noFill/>
        </p:spPr>
        <p:txBody>
          <a:bodyPr wrap="square" lIns="36576" tIns="27432" rIns="36576" bIns="27432" anchor="t">
            <a:spAutoFit/>
          </a:bodyPr>
          <a:lstStyle/>
          <a:p>
            <a:r>
              <a:rPr lang="en-US" altLang="ja-JP" sz="2700" b="1">
                <a:solidFill>
                  <a:srgbClr val="1B74AA"/>
                </a:solidFill>
                <a:latin typeface="Arial" panose="020B0604020202020204" pitchFamily="34" charset="0"/>
              </a:rPr>
              <a:t>On-orbit correction</a:t>
            </a:r>
            <a:endParaRPr lang="en-US" sz="2700" b="1" dirty="0">
              <a:solidFill>
                <a:srgbClr val="1B74AA"/>
              </a:solidFill>
              <a:latin typeface="Arial" panose="020B0604020202020204" pitchFamily="34" charset="0"/>
            </a:endParaRPr>
          </a:p>
        </p:txBody>
      </p:sp>
      <p:sp>
        <p:nvSpPr>
          <p:cNvPr id="27" name="TextBox 26"/>
          <p:cNvSpPr txBox="1"/>
          <p:nvPr/>
        </p:nvSpPr>
        <p:spPr>
          <a:xfrm>
            <a:off x="17225771" y="8446043"/>
            <a:ext cx="5806441" cy="2503249"/>
          </a:xfrm>
          <a:prstGeom prst="rect">
            <a:avLst/>
          </a:prstGeom>
          <a:noFill/>
        </p:spPr>
        <p:txBody>
          <a:bodyPr wrap="square" lIns="27432" rIns="27432">
            <a:spAutoFit/>
          </a:bodyPr>
          <a:lstStyle/>
          <a:p>
            <a:pPr>
              <a:spcAft>
                <a:spcPts val="800"/>
              </a:spcAft>
            </a:pPr>
            <a:r>
              <a:rPr lang="en-US" sz="2600" b="1">
                <a:solidFill>
                  <a:srgbClr val="1B74AA"/>
                </a:solidFill>
                <a:latin typeface="Arial" panose="020B0604020202020204" pitchFamily="34" charset="0"/>
              </a:rPr>
              <a:t>• </a:t>
            </a:r>
            <a:r>
              <a:rPr lang="en-US" sz="2600">
                <a:solidFill>
                  <a:srgbClr val="232B34"/>
                </a:solidFill>
                <a:latin typeface="Arial" panose="020B0604020202020204" pitchFamily="34" charset="0"/>
              </a:rPr>
              <a:t>Temperature / operating state</a:t>
            </a:r>
          </a:p>
          <a:p>
            <a:pPr>
              <a:spcAft>
                <a:spcPts val="800"/>
              </a:spcAft>
            </a:pPr>
            <a:r>
              <a:rPr lang="en-US" sz="2600" b="1">
                <a:solidFill>
                  <a:srgbClr val="1B74AA"/>
                </a:solidFill>
                <a:latin typeface="Arial" panose="020B0604020202020204" pitchFamily="34" charset="0"/>
              </a:rPr>
              <a:t>• </a:t>
            </a:r>
            <a:r>
              <a:rPr lang="en-US" altLang="ja-JP" sz="2600">
                <a:solidFill>
                  <a:srgbClr val="232B34"/>
                </a:solidFill>
                <a:latin typeface="Arial" panose="020B0604020202020204" pitchFamily="34" charset="0"/>
              </a:rPr>
              <a:t>Predict thermal LOS</a:t>
            </a:r>
            <a:endParaRPr lang="en-US" altLang="ja-JP" sz="2600" dirty="0">
              <a:solidFill>
                <a:srgbClr val="232B34"/>
              </a:solidFill>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r>
              <a:rPr lang="en-US" sz="2600" dirty="0">
                <a:solidFill>
                  <a:srgbClr val="232B34"/>
                </a:solidFill>
                <a:latin typeface="Arial" panose="020B0604020202020204" pitchFamily="34" charset="0"/>
              </a:rPr>
              <a:t>Correct the scan center</a:t>
            </a:r>
            <a:endParaRPr lang="en-US" altLang="ja-JP" sz="2600" dirty="0">
              <a:solidFill>
                <a:srgbClr val="232B34"/>
              </a:solidFill>
              <a:latin typeface="Arial" panose="020B0604020202020204" pitchFamily="34" charset="0"/>
            </a:endParaRPr>
          </a:p>
          <a:p>
            <a:pPr>
              <a:spcAft>
                <a:spcPts val="800"/>
              </a:spcAft>
            </a:pPr>
            <a:r>
              <a:rPr lang="en-US" altLang="ja-JP" sz="2600">
                <a:solidFill>
                  <a:srgbClr val="1B74AA"/>
                </a:solidFill>
                <a:latin typeface="Arial" panose="020B0604020202020204" pitchFamily="34" charset="0"/>
              </a:rPr>
              <a:t>• </a:t>
            </a:r>
            <a:r>
              <a:rPr lang="en-US" altLang="ja-JP" sz="2600">
                <a:solidFill>
                  <a:srgbClr val="232B34"/>
                </a:solidFill>
                <a:latin typeface="Arial" panose="020B0604020202020204" pitchFamily="34" charset="0"/>
              </a:rPr>
              <a:t>Include nonthermal errors</a:t>
            </a:r>
            <a:endParaRPr lang="en-US" sz="2600">
              <a:solidFill>
                <a:srgbClr val="232B34"/>
              </a:solidFill>
              <a:latin typeface="Arial" panose="020B0604020202020204" pitchFamily="34" charset="0"/>
            </a:endParaRPr>
          </a:p>
          <a:p>
            <a:pPr>
              <a:spcAft>
                <a:spcPts val="800"/>
              </a:spcAft>
            </a:pPr>
            <a:r>
              <a:rPr lang="en-US" sz="2600" b="1">
                <a:solidFill>
                  <a:srgbClr val="1B74AA"/>
                </a:solidFill>
                <a:latin typeface="Arial" panose="020B0604020202020204" pitchFamily="34" charset="0"/>
              </a:rPr>
              <a:t>• </a:t>
            </a:r>
            <a:r>
              <a:rPr lang="en-US" sz="2600">
                <a:solidFill>
                  <a:srgbClr val="232B34"/>
                </a:solidFill>
                <a:latin typeface="Arial" panose="020B0604020202020204" pitchFamily="34" charset="0"/>
              </a:rPr>
              <a:t>Residual update</a:t>
            </a:r>
            <a:endParaRPr lang="en-US" sz="2600" dirty="0">
              <a:solidFill>
                <a:srgbClr val="232B34"/>
              </a:solidFill>
              <a:latin typeface="Arial" panose="020B0604020202020204" pitchFamily="34" charset="0"/>
            </a:endParaRPr>
          </a:p>
        </p:txBody>
      </p:sp>
      <p:sp>
        <p:nvSpPr>
          <p:cNvPr id="28" name="TextBox 27"/>
          <p:cNvSpPr txBox="1"/>
          <p:nvPr/>
        </p:nvSpPr>
        <p:spPr>
          <a:xfrm>
            <a:off x="3052664" y="11835849"/>
            <a:ext cx="15922757" cy="1040285"/>
          </a:xfrm>
          <a:prstGeom prst="rect">
            <a:avLst/>
          </a:prstGeom>
          <a:noFill/>
        </p:spPr>
        <p:txBody>
          <a:bodyPr wrap="none" lIns="36576" tIns="27432" rIns="36576" bIns="27432" anchor="t">
            <a:spAutoFit/>
          </a:bodyPr>
          <a:lstStyle/>
          <a:p>
            <a:r>
              <a:rPr lang="en-US" altLang="ja-JP" sz="3200" b="1">
                <a:solidFill>
                  <a:srgbClr val="1B74AA"/>
                </a:solidFill>
                <a:latin typeface="Arial" panose="020B0604020202020204" pitchFamily="34" charset="0"/>
                <a:cs typeface="Arial" panose="020B0604020202020204" pitchFamily="34" charset="0"/>
              </a:rPr>
              <a:t>• </a:t>
            </a:r>
            <a:r>
              <a:rPr lang="en-US" altLang="ja-JP" sz="3200" b="1">
                <a:latin typeface="Arial" panose="020B0604020202020204" pitchFamily="34" charset="0"/>
                <a:cs typeface="Arial" panose="020B0604020202020204" pitchFamily="34" charset="0"/>
              </a:rPr>
              <a:t>TD/Femap runs only on the ground; only the reduced-order model runs onboard</a:t>
            </a:r>
            <a:endParaRPr lang="en-US" altLang="ja-JP" sz="3200" b="1" dirty="0">
              <a:latin typeface="Arial" panose="020B0604020202020204" pitchFamily="34" charset="0"/>
              <a:cs typeface="Arial" panose="020B0604020202020204" pitchFamily="34" charset="0"/>
            </a:endParaRPr>
          </a:p>
          <a:p>
            <a:r>
              <a:rPr lang="en-US" altLang="ja-JP" sz="3200" b="1">
                <a:solidFill>
                  <a:srgbClr val="1B74AA"/>
                </a:solidFill>
                <a:latin typeface="Arial" panose="020B0604020202020204" pitchFamily="34" charset="0"/>
                <a:cs typeface="Arial" panose="020B0604020202020204" pitchFamily="34" charset="0"/>
              </a:rPr>
              <a:t>• </a:t>
            </a:r>
            <a:r>
              <a:rPr lang="en-US" altLang="ja-JP" sz="3200" b="1">
                <a:latin typeface="Arial" panose="020B0604020202020204" pitchFamily="34" charset="0"/>
                <a:cs typeface="Arial" panose="020B0604020202020204" pitchFamily="34" charset="0"/>
              </a:rPr>
              <a:t>Evaluate LOS error, acquisition success, and acquisition time</a:t>
            </a:r>
            <a:endParaRPr lang="en-US" altLang="ja-JP" sz="3200" b="1" dirty="0">
              <a:latin typeface="Arial" panose="020B0604020202020204" pitchFamily="34" charset="0"/>
              <a:cs typeface="Arial" panose="020B0604020202020204" pitchFamily="34" charset="0"/>
            </a:endParaRPr>
          </a:p>
        </p:txBody>
      </p:sp>
      <p:pic>
        <p:nvPicPr>
          <p:cNvPr id="32" name="図 31">
            <a:extLst>
              <a:ext uri="{FF2B5EF4-FFF2-40B4-BE49-F238E27FC236}">
                <a16:creationId xmlns:a16="http://schemas.microsoft.com/office/drawing/2014/main" id="{3715A86D-4060-9A30-BCAB-A905AF739052}"/>
              </a:ext>
            </a:extLst>
          </p:cNvPr>
          <p:cNvPicPr>
            <a:picLocks noChangeAspect="1"/>
          </p:cNvPicPr>
          <p:nvPr/>
        </p:nvPicPr>
        <p:blipFill>
          <a:blip r:embed="rId3"/>
          <a:srcRect t="14987" b="12995"/>
          <a:stretch>
            <a:fillRect/>
          </a:stretch>
        </p:blipFill>
        <p:spPr>
          <a:xfrm>
            <a:off x="4668368" y="4428721"/>
            <a:ext cx="3295472" cy="2714577"/>
          </a:xfrm>
          <a:prstGeom prst="rect">
            <a:avLst/>
          </a:prstGeom>
        </p:spPr>
      </p:pic>
      <p:pic>
        <p:nvPicPr>
          <p:cNvPr id="34" name="図 33">
            <a:extLst>
              <a:ext uri="{FF2B5EF4-FFF2-40B4-BE49-F238E27FC236}">
                <a16:creationId xmlns:a16="http://schemas.microsoft.com/office/drawing/2014/main" id="{F956818A-24FB-86DE-EFEF-CDBD09D72D2F}"/>
              </a:ext>
            </a:extLst>
          </p:cNvPr>
          <p:cNvPicPr>
            <a:picLocks noChangeAspect="1"/>
          </p:cNvPicPr>
          <p:nvPr/>
        </p:nvPicPr>
        <p:blipFill>
          <a:blip r:embed="rId4"/>
          <a:srcRect l="4933"/>
          <a:stretch>
            <a:fillRect/>
          </a:stretch>
        </p:blipFill>
        <p:spPr>
          <a:xfrm rot="5400000">
            <a:off x="8975763" y="4844559"/>
            <a:ext cx="2594268" cy="1769750"/>
          </a:xfrm>
          <a:prstGeom prst="rect">
            <a:avLst/>
          </a:prstGeom>
        </p:spPr>
      </p:pic>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C89755C7-CE55-00F5-650C-D30D48A9F5CB}"/>
                  </a:ext>
                </a:extLst>
              </p:cNvPr>
              <p:cNvSpPr txBox="1"/>
              <p:nvPr/>
            </p:nvSpPr>
            <p:spPr>
              <a:xfrm>
                <a:off x="16227552" y="5285419"/>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𝑎</m:t>
                      </m:r>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r>
                        <a:rPr kumimoji="1" lang="en-US" altLang="ja-JP" sz="3200" b="0" i="1" smtClean="0">
                          <a:latin typeface="Cambria Math" panose="02040503050406030204" pitchFamily="18" charset="0"/>
                        </a:rPr>
                        <m:t>𝑇</m:t>
                      </m:r>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𝑏</m:t>
                          </m:r>
                        </m:e>
                        <m:sub>
                          <m:r>
                            <a:rPr kumimoji="1" lang="en-US" altLang="ja-JP" sz="3200" i="1">
                              <a:latin typeface="Cambria Math" panose="02040503050406030204" pitchFamily="18" charset="0"/>
                            </a:rPr>
                            <m:t>𝑐𝑎𝑠𝑒</m:t>
                          </m:r>
                        </m:sub>
                      </m:sSub>
                    </m:oMath>
                  </m:oMathPara>
                </a14:m>
                <a:endParaRPr kumimoji="1" lang="en-US" altLang="ja-JP" sz="3200" b="0" i="1" dirty="0">
                  <a:latin typeface="Arial" panose="020B0604020202020204" pitchFamily="34" charset="0"/>
                </a:endParaRPr>
              </a:p>
              <a:p>
                <a:endParaRPr kumimoji="1" lang="ja-JP" altLang="en-US" sz="3200" i="1" dirty="0"/>
              </a:p>
            </p:txBody>
          </p:sp>
        </mc:Choice>
        <mc:Fallback xmlns="">
          <p:sp>
            <p:nvSpPr>
              <p:cNvPr id="39" name="テキスト ボックス 38">
                <a:extLst>
                  <a:ext uri="{FF2B5EF4-FFF2-40B4-BE49-F238E27FC236}">
                    <a16:creationId xmlns:a16="http://schemas.microsoft.com/office/drawing/2014/main" id="{C89755C7-CE55-00F5-650C-D30D48A9F5CB}"/>
                  </a:ext>
                </a:extLst>
              </p:cNvPr>
              <p:cNvSpPr txBox="1">
                <a:spLocks noRot="1" noChangeAspect="1" noMove="1" noResize="1" noEditPoints="1" noAdjustHandles="1" noChangeArrowheads="1" noChangeShapeType="1" noTextEdit="1"/>
              </p:cNvSpPr>
              <p:nvPr/>
            </p:nvSpPr>
            <p:spPr>
              <a:xfrm>
                <a:off x="16227552" y="5285419"/>
                <a:ext cx="3499103" cy="1097993"/>
              </a:xfrm>
              <a:prstGeom prst="rect">
                <a:avLst/>
              </a:prstGeom>
              <a:blipFill>
                <a:blip r:embed="rId5"/>
                <a:stretch>
                  <a:fillRect/>
                </a:stretch>
              </a:blipFill>
            </p:spPr>
            <p:txBody>
              <a:bodyPr/>
              <a:lstStyle/>
              <a:p>
                <a:r>
                  <a:rPr lang="ja-JP" altLang="en-US">
                    <a:noFill/>
                  </a:rPr>
                  <a:t> </a:t>
                </a:r>
              </a:p>
            </p:txBody>
          </p:sp>
        </mc:Fallback>
      </mc:AlternateContent>
      <p:sp>
        <p:nvSpPr>
          <p:cNvPr id="40" name="テキスト ボックス 39">
            <a:extLst>
              <a:ext uri="{FF2B5EF4-FFF2-40B4-BE49-F238E27FC236}">
                <a16:creationId xmlns:a16="http://schemas.microsoft.com/office/drawing/2014/main" id="{8A071E9D-0A17-5410-CA66-EB4C2E4AC8F6}"/>
              </a:ext>
            </a:extLst>
          </p:cNvPr>
          <p:cNvSpPr txBox="1"/>
          <p:nvPr/>
        </p:nvSpPr>
        <p:spPr>
          <a:xfrm>
            <a:off x="914400" y="4611231"/>
            <a:ext cx="3444239" cy="2246769"/>
          </a:xfrm>
          <a:prstGeom prst="rect">
            <a:avLst/>
          </a:prstGeom>
          <a:noFill/>
          <a:ln>
            <a:solidFill>
              <a:schemeClr val="tx2"/>
            </a:solidFill>
          </a:ln>
        </p:spPr>
        <p:txBody>
          <a:bodyPr wrap="square" rtlCol="0">
            <a:spAutoFit/>
          </a:bodyPr>
          <a:lstStyle/>
          <a:p>
            <a:r>
              <a:rPr kumimoji="1" lang="en-US" altLang="ja-JP" sz="2800">
                <a:latin typeface="Arial" panose="020B0604020202020204" pitchFamily="34" charset="0"/>
              </a:rPr>
              <a:t>• Orbit</a:t>
            </a:r>
            <a:endParaRPr kumimoji="1" lang="en-US" altLang="ja-JP" sz="2800" dirty="0">
              <a:latin typeface="Arial" panose="020B0604020202020204" pitchFamily="34" charset="0"/>
            </a:endParaRPr>
          </a:p>
          <a:p>
            <a:r>
              <a:rPr kumimoji="1" lang="en-US" altLang="ja-JP" sz="2800">
                <a:latin typeface="Arial" panose="020B0604020202020204" pitchFamily="34" charset="0"/>
              </a:rPr>
              <a:t>• Attitude</a:t>
            </a:r>
            <a:endParaRPr kumimoji="1" lang="en-US" altLang="ja-JP" sz="2800" dirty="0">
              <a:latin typeface="Arial" panose="020B0604020202020204" pitchFamily="34" charset="0"/>
            </a:endParaRPr>
          </a:p>
          <a:p>
            <a:r>
              <a:rPr kumimoji="1" lang="en-US" altLang="ja-JP" sz="2800">
                <a:latin typeface="Arial" panose="020B0604020202020204" pitchFamily="34" charset="0"/>
              </a:rPr>
              <a:t>• Equipment layout</a:t>
            </a:r>
            <a:endParaRPr kumimoji="1" lang="en-US" altLang="ja-JP" sz="2800" dirty="0">
              <a:latin typeface="Arial" panose="020B0604020202020204" pitchFamily="34" charset="0"/>
            </a:endParaRPr>
          </a:p>
          <a:p>
            <a:r>
              <a:rPr kumimoji="1" lang="en-US" altLang="ja-JP" sz="2800">
                <a:latin typeface="Arial" panose="020B0604020202020204" pitchFamily="34" charset="0"/>
              </a:rPr>
              <a:t>• Surface properties</a:t>
            </a:r>
            <a:endParaRPr kumimoji="1" lang="en-US" altLang="ja-JP" sz="2800" dirty="0">
              <a:latin typeface="Arial" panose="020B0604020202020204" pitchFamily="34" charset="0"/>
            </a:endParaRPr>
          </a:p>
          <a:p>
            <a:r>
              <a:rPr kumimoji="1" lang="en-US" altLang="ja-JP" sz="2800">
                <a:latin typeface="Arial" panose="020B0604020202020204" pitchFamily="34" charset="0"/>
              </a:rPr>
              <a:t>• Dissipation</a:t>
            </a:r>
            <a:endParaRPr kumimoji="1" lang="en-US" altLang="ja-JP" sz="2800" dirty="0">
              <a:latin typeface="Arial" panose="020B0604020202020204" pitchFamily="34" charset="0"/>
            </a:endParaRPr>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6F7F0EF8-C4CA-F7FC-D1B9-80BBC6B4DBEE}"/>
                  </a:ext>
                </a:extLst>
              </p:cNvPr>
              <p:cNvSpPr txBox="1"/>
              <p:nvPr/>
            </p:nvSpPr>
            <p:spPr>
              <a:xfrm>
                <a:off x="20097212" y="5262967"/>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𝜃</m:t>
                      </m:r>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𝜃</m:t>
                          </m:r>
                        </m:e>
                        <m:sub>
                          <m:r>
                            <a:rPr kumimoji="1" lang="en-US" altLang="ja-JP" sz="3200" b="0" i="1" smtClean="0">
                              <a:latin typeface="Cambria Math" panose="02040503050406030204" pitchFamily="18" charset="0"/>
                            </a:rPr>
                            <m:t>𝑐</m:t>
                          </m:r>
                        </m:sub>
                      </m:sSub>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oMath>
                  </m:oMathPara>
                </a14:m>
                <a:endParaRPr kumimoji="1" lang="en-US" altLang="ja-JP" sz="3200" b="0" i="1" dirty="0">
                  <a:latin typeface="Arial" panose="020B0604020202020204" pitchFamily="34" charset="0"/>
                </a:endParaRPr>
              </a:p>
              <a:p>
                <a:endParaRPr kumimoji="1" lang="ja-JP" altLang="en-US" sz="3200" i="1" dirty="0"/>
              </a:p>
            </p:txBody>
          </p:sp>
        </mc:Choice>
        <mc:Fallback xmlns="">
          <p:sp>
            <p:nvSpPr>
              <p:cNvPr id="46" name="テキスト ボックス 45">
                <a:extLst>
                  <a:ext uri="{FF2B5EF4-FFF2-40B4-BE49-F238E27FC236}">
                    <a16:creationId xmlns:a16="http://schemas.microsoft.com/office/drawing/2014/main" id="{6F7F0EF8-C4CA-F7FC-D1B9-80BBC6B4DBEE}"/>
                  </a:ext>
                </a:extLst>
              </p:cNvPr>
              <p:cNvSpPr txBox="1">
                <a:spLocks noRot="1" noChangeAspect="1" noMove="1" noResize="1" noEditPoints="1" noAdjustHandles="1" noChangeArrowheads="1" noChangeShapeType="1" noTextEdit="1"/>
              </p:cNvSpPr>
              <p:nvPr/>
            </p:nvSpPr>
            <p:spPr>
              <a:xfrm>
                <a:off x="20097212" y="5262967"/>
                <a:ext cx="3499103" cy="1097993"/>
              </a:xfrm>
              <a:prstGeom prst="rect">
                <a:avLst/>
              </a:prstGeom>
              <a:blipFill>
                <a:blip r:embed="rId6"/>
                <a:stretch>
                  <a:fillRect/>
                </a:stretch>
              </a:blipFill>
            </p:spPr>
            <p:txBody>
              <a:bodyPr/>
              <a:lstStyle/>
              <a:p>
                <a:r>
                  <a:rPr lang="ja-JP" altLang="en-US">
                    <a:noFill/>
                  </a:rPr>
                  <a:t> </a:t>
                </a:r>
              </a:p>
            </p:txBody>
          </p:sp>
        </mc:Fallback>
      </mc:AlternateContent>
      <p:pic>
        <p:nvPicPr>
          <p:cNvPr id="30" name="図 29">
            <a:extLst>
              <a:ext uri="{FF2B5EF4-FFF2-40B4-BE49-F238E27FC236}">
                <a16:creationId xmlns:a16="http://schemas.microsoft.com/office/drawing/2014/main" id="{358AC5E1-7ED0-4F63-A640-E1FBA9092487}"/>
              </a:ext>
            </a:extLst>
          </p:cNvPr>
          <p:cNvPicPr>
            <a:picLocks noChangeAspect="1"/>
          </p:cNvPicPr>
          <p:nvPr/>
        </p:nvPicPr>
        <p:blipFill>
          <a:blip r:embed="rId7"/>
          <a:stretch>
            <a:fillRect/>
          </a:stretch>
        </p:blipFill>
        <p:spPr>
          <a:xfrm>
            <a:off x="12581954" y="4507858"/>
            <a:ext cx="2977135" cy="2518710"/>
          </a:xfrm>
          <a:prstGeom prst="rect">
            <a:avLst/>
          </a:prstGeom>
        </p:spPr>
      </p:pic>
      <p:cxnSp>
        <p:nvCxnSpPr>
          <p:cNvPr id="33" name="直線矢印コネクタ 32">
            <a:extLst>
              <a:ext uri="{FF2B5EF4-FFF2-40B4-BE49-F238E27FC236}">
                <a16:creationId xmlns:a16="http://schemas.microsoft.com/office/drawing/2014/main" id="{1DCE9196-C7D7-872B-D045-F82596F94B28}"/>
              </a:ext>
            </a:extLst>
          </p:cNvPr>
          <p:cNvCxnSpPr/>
          <p:nvPr/>
        </p:nvCxnSpPr>
        <p:spPr>
          <a:xfrm>
            <a:off x="4417662"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直線矢印コネクタ 34">
            <a:extLst>
              <a:ext uri="{FF2B5EF4-FFF2-40B4-BE49-F238E27FC236}">
                <a16:creationId xmlns:a16="http://schemas.microsoft.com/office/drawing/2014/main" id="{C3F539BC-335B-005F-652D-A5DDAFB3B955}"/>
              </a:ext>
            </a:extLst>
          </p:cNvPr>
          <p:cNvCxnSpPr/>
          <p:nvPr/>
        </p:nvCxnSpPr>
        <p:spPr>
          <a:xfrm>
            <a:off x="8251886"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8F083C85-1959-4396-1842-E99064584238}"/>
              </a:ext>
            </a:extLst>
          </p:cNvPr>
          <p:cNvCxnSpPr/>
          <p:nvPr/>
        </p:nvCxnSpPr>
        <p:spPr>
          <a:xfrm>
            <a:off x="12098948"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直線矢印コネクタ 37">
            <a:extLst>
              <a:ext uri="{FF2B5EF4-FFF2-40B4-BE49-F238E27FC236}">
                <a16:creationId xmlns:a16="http://schemas.microsoft.com/office/drawing/2014/main" id="{070BA75E-7B73-DCCF-5536-8984CC6E57C7}"/>
              </a:ext>
            </a:extLst>
          </p:cNvPr>
          <p:cNvCxnSpPr/>
          <p:nvPr/>
        </p:nvCxnSpPr>
        <p:spPr>
          <a:xfrm>
            <a:off x="15898367"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E1DEB9D1-AAC3-1A56-67DB-4238E795C90F}"/>
              </a:ext>
            </a:extLst>
          </p:cNvPr>
          <p:cNvCxnSpPr/>
          <p:nvPr/>
        </p:nvCxnSpPr>
        <p:spPr>
          <a:xfrm>
            <a:off x="19726655"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TextBox 1">
            <a:extLst>
              <a:ext uri="{FF2B5EF4-FFF2-40B4-BE49-F238E27FC236}">
                <a16:creationId xmlns:a16="http://schemas.microsoft.com/office/drawing/2014/main" id="{38DB7F46-25D7-2099-9429-B3FBA207AC94}"/>
              </a:ext>
            </a:extLst>
          </p:cNvPr>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altLang="ja-JP" sz="2000" b="0">
                <a:solidFill>
                  <a:srgbClr val="666F79"/>
                </a:solidFill>
                <a:latin typeface="Arial" panose="020B0604020202020204" pitchFamily="34" charset="0"/>
                <a:ea typeface="Yu Gothic"/>
              </a:rPr>
              <a:t>Background</a:t>
            </a:r>
            <a:endParaRPr lang="en-US" sz="2000" b="0" dirty="0">
              <a:solidFill>
                <a:srgbClr val="666F79"/>
              </a:solidFill>
              <a:latin typeface="Arial" panose="020B0604020202020204" pitchFamily="34" charset="0"/>
              <a:ea typeface="Yu Gothic"/>
            </a:endParaRPr>
          </a:p>
        </p:txBody>
      </p:sp>
    </p:spTree>
    <p:extLst>
      <p:ext uri="{BB962C8B-B14F-4D97-AF65-F5344CB8AC3E}">
        <p14:creationId xmlns:p14="http://schemas.microsoft.com/office/powerpoint/2010/main" val="343285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97D2E-EE4C-6864-E091-29ED8542D1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C65F31-16F0-0F0B-B262-B7B55B1CBEE9}"/>
              </a:ext>
            </a:extLst>
          </p:cNvPr>
          <p:cNvSpPr>
            <a:spLocks noGrp="1"/>
          </p:cNvSpPr>
          <p:nvPr>
            <p:ph type="title"/>
          </p:nvPr>
        </p:nvSpPr>
        <p:spPr/>
        <p:txBody>
          <a:bodyPr>
            <a:normAutofit/>
          </a:bodyPr>
          <a:lstStyle/>
          <a:p>
            <a:r>
              <a:rPr lang="en-US" sz="4800" b="0">
                <a:solidFill>
                  <a:srgbClr val="FFFFFF"/>
                </a:solidFill>
                <a:latin typeface="Arial" panose="020B0604020202020204" pitchFamily="34" charset="0"/>
                <a:cs typeface="Arial" panose="020B0604020202020204" pitchFamily="34" charset="0"/>
              </a:rPr>
              <a:t>02</a:t>
            </a:r>
            <a:endParaRPr sz="4800" b="0" dirty="0">
              <a:solidFill>
                <a:srgbClr val="FFFFFF"/>
              </a:solidFill>
              <a:latin typeface="Arial" panose="020B0604020202020204" pitchFamily="34" charset="0"/>
              <a:cs typeface="Arial" panose="020B0604020202020204" pitchFamily="34" charset="0"/>
            </a:endParaRPr>
          </a:p>
        </p:txBody>
      </p:sp>
      <p:sp>
        <p:nvSpPr>
          <p:cNvPr id="3" name="テキスト プレースホルダー 2">
            <a:extLst>
              <a:ext uri="{FF2B5EF4-FFF2-40B4-BE49-F238E27FC236}">
                <a16:creationId xmlns:a16="http://schemas.microsoft.com/office/drawing/2014/main" id="{81A17A4B-80F0-CB64-6693-69D53F63BF1C}"/>
              </a:ext>
            </a:extLst>
          </p:cNvPr>
          <p:cNvSpPr>
            <a:spLocks noGrp="1"/>
          </p:cNvSpPr>
          <p:nvPr>
            <p:ph type="body" idx="1"/>
          </p:nvPr>
        </p:nvSpPr>
        <p:spPr/>
        <p:txBody>
          <a:bodyPr>
            <a:normAutofit/>
          </a:bodyPr>
          <a:lstStyle/>
          <a:p>
            <a:r>
              <a:rPr lang="en-US" altLang="ja-JP" sz="4800" b="1" dirty="0">
                <a:solidFill>
                  <a:srgbClr val="FFFFFF"/>
                </a:solidFill>
                <a:latin typeface="Arial" panose="020B0604020202020204" pitchFamily="34" charset="0"/>
                <a:cs typeface="Arial" panose="020B0604020202020204" pitchFamily="34" charset="0"/>
              </a:rPr>
              <a:t>Thermoelastic Analysis</a:t>
            </a:r>
            <a:endParaRPr sz="4800" b="1" dirty="0">
              <a:solidFill>
                <a:srgbClr val="FFFFFF"/>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242C795B-7F6C-CF95-3769-F196E7D33204}"/>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3157091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Thermoelastic analysis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a:solidFill>
                  <a:srgbClr val="082B52"/>
                </a:solidFill>
                <a:latin typeface="Arial" panose="020B0604020202020204" pitchFamily="34" charset="0"/>
                <a:ea typeface="Yu Gothic"/>
              </a:rPr>
              <a:t>We evaluate a box-structure LEO spacecraft with the STT and LCT on different panels</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5/17</a:t>
            </a:r>
          </a:p>
        </p:txBody>
      </p:sp>
      <p:graphicFrame>
        <p:nvGraphicFramePr>
          <p:cNvPr id="12" name="Table 11"/>
          <p:cNvGraphicFramePr>
            <a:graphicFrameLocks noGrp="1"/>
          </p:cNvGraphicFramePr>
          <p:nvPr>
            <p:extLst>
              <p:ext uri="{D42A27DB-BD31-4B8C-83A1-F6EECF244321}">
                <p14:modId xmlns:p14="http://schemas.microsoft.com/office/powerpoint/2010/main" val="3917406033"/>
              </p:ext>
            </p:extLst>
          </p:nvPr>
        </p:nvGraphicFramePr>
        <p:xfrm>
          <a:off x="17411701" y="3764280"/>
          <a:ext cx="6362700" cy="7193514"/>
        </p:xfrm>
        <a:graphic>
          <a:graphicData uri="http://schemas.openxmlformats.org/drawingml/2006/table">
            <a:tbl>
              <a:tblPr firstRow="1" bandRow="1">
                <a:tableStyleId>{5C22544A-7EE6-4342-B048-85BDC9FD1C3A}</a:tableStyleId>
              </a:tblPr>
              <a:tblGrid>
                <a:gridCol w="2261123">
                  <a:extLst>
                    <a:ext uri="{9D8B030D-6E8A-4147-A177-3AD203B41FA5}">
                      <a16:colId xmlns:a16="http://schemas.microsoft.com/office/drawing/2014/main" val="20000"/>
                    </a:ext>
                  </a:extLst>
                </a:gridCol>
                <a:gridCol w="4101577">
                  <a:extLst>
                    <a:ext uri="{9D8B030D-6E8A-4147-A177-3AD203B41FA5}">
                      <a16:colId xmlns:a16="http://schemas.microsoft.com/office/drawing/2014/main" val="20001"/>
                    </a:ext>
                  </a:extLst>
                </a:gridCol>
              </a:tblGrid>
              <a:tr h="1198919">
                <a:tc>
                  <a:txBody>
                    <a:bodyPr/>
                    <a:lstStyle/>
                    <a:p>
                      <a:pPr algn="l">
                        <a:spcAft>
                          <a:spcPts val="0"/>
                        </a:spcAft>
                      </a:pPr>
                      <a:r>
                        <a:rPr lang="en-US" sz="2300" b="1">
                          <a:solidFill>
                            <a:srgbClr val="FFFFFF"/>
                          </a:solidFill>
                          <a:latin typeface="Arial" panose="020B0604020202020204" pitchFamily="34" charset="0"/>
                          <a:ea typeface="Yu Gothic"/>
                        </a:rPr>
                        <a:t>Item</a:t>
                      </a:r>
                      <a:endParaRPr lang="en-US" sz="23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300" b="1">
                          <a:solidFill>
                            <a:srgbClr val="FFFFFF"/>
                          </a:solidFill>
                          <a:latin typeface="Arial" panose="020B0604020202020204" pitchFamily="34" charset="0"/>
                          <a:ea typeface="Yu Gothic"/>
                        </a:rPr>
                        <a:t>Setting</a:t>
                      </a:r>
                      <a:endParaRPr lang="en-US" sz="2300" b="1" dirty="0">
                        <a:solidFill>
                          <a:srgbClr val="FFFFFF"/>
                        </a:solidFill>
                        <a:latin typeface="Arial" panose="020B0604020202020204" pitchFamily="34" charset="0"/>
                        <a:ea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1198919">
                <a:tc>
                  <a:txBody>
                    <a:bodyPr/>
                    <a:lstStyle/>
                    <a:p>
                      <a:pPr algn="l">
                        <a:spcAft>
                          <a:spcPts val="0"/>
                        </a:spcAft>
                      </a:pPr>
                      <a:r>
                        <a:rPr lang="en-US" sz="2300" b="0">
                          <a:solidFill>
                            <a:srgbClr val="232B34"/>
                          </a:solidFill>
                          <a:latin typeface="Arial" panose="020B0604020202020204" pitchFamily="34" charset="0"/>
                          <a:ea typeface="Yu Gothic"/>
                        </a:rPr>
                        <a:t>Bus dimensions</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dirty="0">
                          <a:solidFill>
                            <a:srgbClr val="232B34"/>
                          </a:solidFill>
                          <a:latin typeface="Arial" panose="020B0604020202020204" pitchFamily="34" charset="0"/>
                          <a:ea typeface="Yu Gothic"/>
                        </a:rPr>
                        <a:t>590 × 600 × 990 mm</a:t>
                      </a:r>
                    </a:p>
                  </a:txBody>
                  <a:tcPr marL="64008" marR="64008" marT="27432" marB="27432" anchor="ctr">
                    <a:solidFill>
                      <a:srgbClr val="EBF6FB"/>
                    </a:solidFill>
                  </a:tcPr>
                </a:tc>
                <a:extLst>
                  <a:ext uri="{0D108BD9-81ED-4DB2-BD59-A6C34878D82A}">
                    <a16:rowId xmlns:a16="http://schemas.microsoft.com/office/drawing/2014/main" val="10001"/>
                  </a:ext>
                </a:extLst>
              </a:tr>
              <a:tr h="1198919">
                <a:tc>
                  <a:txBody>
                    <a:bodyPr/>
                    <a:lstStyle/>
                    <a:p>
                      <a:pPr algn="l">
                        <a:spcAft>
                          <a:spcPts val="0"/>
                        </a:spcAft>
                      </a:pPr>
                      <a:r>
                        <a:rPr lang="en-US" sz="2300" b="0">
                          <a:solidFill>
                            <a:srgbClr val="232B34"/>
                          </a:solidFill>
                          <a:latin typeface="Arial" panose="020B0604020202020204" pitchFamily="34" charset="0"/>
                          <a:ea typeface="Yu Gothic"/>
                        </a:rPr>
                        <a:t>Panels</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10-mm-thick shell elements</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1198919">
                <a:tc>
                  <a:txBody>
                    <a:bodyPr/>
                    <a:lstStyle/>
                    <a:p>
                      <a:pPr algn="l">
                        <a:spcAft>
                          <a:spcPts val="0"/>
                        </a:spcAft>
                      </a:pPr>
                      <a:r>
                        <a:rPr lang="en-US" sz="2300" b="0">
                          <a:solidFill>
                            <a:srgbClr val="232B34"/>
                          </a:solidFill>
                          <a:latin typeface="Arial" panose="020B0604020202020204" pitchFamily="34" charset="0"/>
                          <a:ea typeface="Yu Gothic"/>
                        </a:rPr>
                        <a:t>Material</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A5052</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1198919">
                <a:tc>
                  <a:txBody>
                    <a:bodyPr/>
                    <a:lstStyle/>
                    <a:p>
                      <a:pPr algn="l">
                        <a:spcAft>
                          <a:spcPts val="0"/>
                        </a:spcAft>
                      </a:pPr>
                      <a:r>
                        <a:rPr lang="en-US" sz="2300" b="0">
                          <a:solidFill>
                            <a:srgbClr val="232B34"/>
                          </a:solidFill>
                          <a:latin typeface="Arial" panose="020B0604020202020204" pitchFamily="34" charset="0"/>
                          <a:ea typeface="Yu Gothic"/>
                        </a:rPr>
                        <a:t>LCT</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Center of MZ panel</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r h="1198919">
                <a:tc>
                  <a:txBody>
                    <a:bodyPr/>
                    <a:lstStyle/>
                    <a:p>
                      <a:pPr algn="l">
                        <a:spcAft>
                          <a:spcPts val="0"/>
                        </a:spcAft>
                      </a:pPr>
                      <a:r>
                        <a:rPr lang="en-US" sz="2300" b="0">
                          <a:solidFill>
                            <a:srgbClr val="232B34"/>
                          </a:solidFill>
                          <a:latin typeface="Arial" panose="020B0604020202020204" pitchFamily="34" charset="0"/>
                          <a:ea typeface="Yu Gothic"/>
                        </a:rPr>
                        <a:t>STT</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dirty="0">
                          <a:solidFill>
                            <a:srgbClr val="232B34"/>
                          </a:solidFill>
                          <a:latin typeface="Arial" panose="020B0604020202020204" pitchFamily="34" charset="0"/>
                          <a:ea typeface="Yu Gothic"/>
                        </a:rPr>
                        <a:t>Center of PZ panel</a:t>
                      </a:r>
                    </a:p>
                  </a:txBody>
                  <a:tcPr marL="64008" marR="64008" marT="27432" marB="27432" anchor="ctr">
                    <a:solidFill>
                      <a:srgbClr val="EBF6FB"/>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16824960" y="11430000"/>
            <a:ext cx="6949440" cy="884409"/>
          </a:xfrm>
          <a:prstGeom prst="rect">
            <a:avLst/>
          </a:prstGeom>
          <a:noFill/>
        </p:spPr>
        <p:txBody>
          <a:bodyPr wrap="square" lIns="36576" tIns="27432" rIns="36576" bIns="27432" anchor="t">
            <a:spAutoFit/>
          </a:bodyPr>
          <a:lstStyle/>
          <a:p>
            <a:pPr>
              <a:lnSpc>
                <a:spcPct val="115000"/>
              </a:lnSpc>
              <a:spcAft>
                <a:spcPts val="0"/>
              </a:spcAft>
            </a:pPr>
            <a:r>
              <a:rPr lang="en-US" sz="2400" b="1">
                <a:solidFill>
                  <a:srgbClr val="082B52"/>
                </a:solidFill>
                <a:latin typeface="Arial" panose="020B0604020202020204" pitchFamily="34" charset="0"/>
                <a:ea typeface="Yu Gothic"/>
              </a:rPr>
              <a:t>Not a specific-spacecraft design review.</a:t>
            </a:r>
            <a:endParaRPr lang="en-US" altLang="ja-JP" sz="3200" b="1" dirty="0">
              <a:solidFill>
                <a:srgbClr val="082B52"/>
              </a:solidFill>
              <a:latin typeface="Arial" panose="020B0604020202020204" pitchFamily="34" charset="0"/>
            </a:endParaRPr>
          </a:p>
          <a:p>
            <a:pPr>
              <a:lnSpc>
                <a:spcPct val="115000"/>
              </a:lnSpc>
              <a:spcAft>
                <a:spcPts val="0"/>
              </a:spcAft>
            </a:pPr>
            <a:r>
              <a:rPr lang="en-US" sz="2400" b="1">
                <a:solidFill>
                  <a:srgbClr val="082B52"/>
                </a:solidFill>
                <a:latin typeface="Arial" panose="020B0604020202020204" pitchFamily="34" charset="0"/>
                <a:ea typeface="Yu Gothic"/>
              </a:rPr>
              <a:t>Fixed structure; sun face and dissipation vary.</a:t>
            </a:r>
            <a:endParaRPr lang="en-US" sz="2400" b="1" dirty="0">
              <a:solidFill>
                <a:srgbClr val="082B52"/>
              </a:solidFill>
              <a:latin typeface="Arial" panose="020B0604020202020204" pitchFamily="34" charset="0"/>
              <a:ea typeface="Yu Gothic"/>
            </a:endParaRPr>
          </a:p>
        </p:txBody>
      </p:sp>
      <p:pic>
        <p:nvPicPr>
          <p:cNvPr id="17" name="図 16">
            <a:extLst>
              <a:ext uri="{FF2B5EF4-FFF2-40B4-BE49-F238E27FC236}">
                <a16:creationId xmlns:a16="http://schemas.microsoft.com/office/drawing/2014/main" id="{CCEF93ED-B9FC-B970-0B05-59AC1CDB4FC7}"/>
              </a:ext>
            </a:extLst>
          </p:cNvPr>
          <p:cNvPicPr>
            <a:picLocks noChangeAspect="1"/>
          </p:cNvPicPr>
          <p:nvPr/>
        </p:nvPicPr>
        <p:blipFill>
          <a:blip r:embed="rId3"/>
          <a:stretch>
            <a:fillRect/>
          </a:stretch>
        </p:blipFill>
        <p:spPr>
          <a:xfrm>
            <a:off x="1141093" y="3764280"/>
            <a:ext cx="4377691" cy="6995395"/>
          </a:xfrm>
          <a:prstGeom prst="rect">
            <a:avLst/>
          </a:prstGeom>
        </p:spPr>
      </p:pic>
      <p:sp>
        <p:nvSpPr>
          <p:cNvPr id="18" name="TextBox 6"/>
          <p:cNvSpPr txBox="1"/>
          <p:nvPr/>
        </p:nvSpPr>
        <p:spPr>
          <a:xfrm>
            <a:off x="2646962" y="3261360"/>
            <a:ext cx="1274516" cy="424732"/>
          </a:xfrm>
          <a:prstGeom prst="rect">
            <a:avLst/>
          </a:prstGeom>
          <a:noFill/>
        </p:spPr>
        <p:txBody>
          <a:bodyPr wrap="none" lIns="36576" tIns="27432" rIns="36576" bIns="27432" anchor="t">
            <a:spAutoFit/>
          </a:bodyPr>
          <a:lstStyle/>
          <a:p>
            <a:pPr algn="ctr"/>
            <a:r>
              <a:rPr lang="en-US" sz="2400" b="1">
                <a:solidFill>
                  <a:srgbClr val="FF0000"/>
                </a:solidFill>
                <a:latin typeface="Arial" panose="020B0604020202020204" pitchFamily="34" charset="0"/>
              </a:rPr>
              <a:t>PZ: STT</a:t>
            </a:r>
            <a:endParaRPr lang="en-US" sz="2400" b="1" dirty="0">
              <a:solidFill>
                <a:srgbClr val="FF0000"/>
              </a:solidFill>
              <a:latin typeface="Arial" panose="020B0604020202020204" pitchFamily="34" charset="0"/>
            </a:endParaRPr>
          </a:p>
        </p:txBody>
      </p:sp>
      <p:sp>
        <p:nvSpPr>
          <p:cNvPr id="19" name="TextBox 7"/>
          <p:cNvSpPr txBox="1"/>
          <p:nvPr/>
        </p:nvSpPr>
        <p:spPr>
          <a:xfrm>
            <a:off x="2760309" y="10894945"/>
            <a:ext cx="1405961" cy="455509"/>
          </a:xfrm>
          <a:prstGeom prst="rect">
            <a:avLst/>
          </a:prstGeom>
          <a:noFill/>
        </p:spPr>
        <p:txBody>
          <a:bodyPr wrap="none" lIns="36576" tIns="27432" rIns="36576" bIns="27432" anchor="t">
            <a:spAutoFit/>
          </a:bodyPr>
          <a:lstStyle/>
          <a:p>
            <a:pPr algn="ctr"/>
            <a:r>
              <a:rPr lang="en-US" sz="2600" b="1">
                <a:solidFill>
                  <a:srgbClr val="082B52"/>
                </a:solidFill>
                <a:latin typeface="Arial" panose="020B0604020202020204" pitchFamily="34" charset="0"/>
              </a:rPr>
              <a:t>MZ: LCT</a:t>
            </a:r>
            <a:endParaRPr lang="en-US" sz="2600" b="1" dirty="0">
              <a:solidFill>
                <a:srgbClr val="082B52"/>
              </a:solidFill>
              <a:latin typeface="Arial" panose="020B0604020202020204" pitchFamily="34" charset="0"/>
            </a:endParaRPr>
          </a:p>
        </p:txBody>
      </p:sp>
      <p:sp>
        <p:nvSpPr>
          <p:cNvPr id="20" name="TextBox 8"/>
          <p:cNvSpPr txBox="1"/>
          <p:nvPr/>
        </p:nvSpPr>
        <p:spPr>
          <a:xfrm>
            <a:off x="3507104" y="5259118"/>
            <a:ext cx="1447512" cy="393954"/>
          </a:xfrm>
          <a:prstGeom prst="rect">
            <a:avLst/>
          </a:prstGeom>
          <a:noFill/>
        </p:spPr>
        <p:txBody>
          <a:bodyPr wrap="none" lIns="36576" tIns="27432" rIns="36576" bIns="27432" anchor="t">
            <a:spAutoFit/>
          </a:bodyPr>
          <a:lstStyle/>
          <a:p>
            <a:pPr algn="l"/>
            <a:r>
              <a:rPr lang="en-US" sz="2200" b="1">
                <a:solidFill>
                  <a:srgbClr val="EC9427"/>
                </a:solidFill>
                <a:latin typeface="Arial" panose="020B0604020202020204" pitchFamily="34" charset="0"/>
              </a:rPr>
              <a:t>MY: PCDU</a:t>
            </a:r>
            <a:endParaRPr lang="en-US" sz="2200" b="1" dirty="0">
              <a:solidFill>
                <a:srgbClr val="EC9427"/>
              </a:solidFill>
              <a:latin typeface="Arial" panose="020B0604020202020204" pitchFamily="34" charset="0"/>
            </a:endParaRPr>
          </a:p>
        </p:txBody>
      </p:sp>
      <p:sp>
        <p:nvSpPr>
          <p:cNvPr id="21" name="TextBox 9"/>
          <p:cNvSpPr txBox="1"/>
          <p:nvPr/>
        </p:nvSpPr>
        <p:spPr>
          <a:xfrm>
            <a:off x="1929554" y="8298180"/>
            <a:ext cx="1434816" cy="393954"/>
          </a:xfrm>
          <a:prstGeom prst="rect">
            <a:avLst/>
          </a:prstGeom>
          <a:noFill/>
        </p:spPr>
        <p:txBody>
          <a:bodyPr wrap="none" lIns="36576" tIns="27432" rIns="36576" bIns="27432" anchor="t">
            <a:spAutoFit/>
          </a:bodyPr>
          <a:lstStyle/>
          <a:p>
            <a:pPr algn="l"/>
            <a:r>
              <a:rPr lang="en-US" sz="2200" b="1">
                <a:solidFill>
                  <a:srgbClr val="EF25D7"/>
                </a:solidFill>
                <a:latin typeface="Arial" panose="020B0604020202020204" pitchFamily="34" charset="0"/>
              </a:rPr>
              <a:t>PY: PROP</a:t>
            </a:r>
            <a:endParaRPr lang="en-US" sz="2200" b="1" dirty="0">
              <a:solidFill>
                <a:srgbClr val="EF25D7"/>
              </a:solidFill>
              <a:latin typeface="Arial" panose="020B0604020202020204" pitchFamily="34" charset="0"/>
            </a:endParaRPr>
          </a:p>
        </p:txBody>
      </p:sp>
      <p:sp>
        <p:nvSpPr>
          <p:cNvPr id="24" name="テキスト ボックス 23">
            <a:extLst>
              <a:ext uri="{FF2B5EF4-FFF2-40B4-BE49-F238E27FC236}">
                <a16:creationId xmlns:a16="http://schemas.microsoft.com/office/drawing/2014/main" id="{59F82260-522D-6761-0595-3DE00DE7B20B}"/>
              </a:ext>
            </a:extLst>
          </p:cNvPr>
          <p:cNvSpPr txBox="1"/>
          <p:nvPr/>
        </p:nvSpPr>
        <p:spPr>
          <a:xfrm>
            <a:off x="3921478" y="11736067"/>
            <a:ext cx="3027363" cy="800219"/>
          </a:xfrm>
          <a:prstGeom prst="rect">
            <a:avLst/>
          </a:prstGeom>
          <a:noFill/>
        </p:spPr>
        <p:txBody>
          <a:bodyPr wrap="square">
            <a:spAutoFit/>
          </a:bodyPr>
          <a:lstStyle/>
          <a:p>
            <a:pPr>
              <a:spcAft>
                <a:spcPts val="0"/>
              </a:spcAft>
            </a:pPr>
            <a:r>
              <a:rPr lang="en-US" sz="2300" b="1">
                <a:solidFill>
                  <a:srgbClr val="232B34"/>
                </a:solidFill>
                <a:latin typeface="Arial" panose="020B0604020202020204" pitchFamily="34" charset="0"/>
                <a:ea typeface="Yu Gothic"/>
              </a:rPr>
              <a:t>LOS</a:t>
            </a:r>
          </a:p>
          <a:p>
            <a:pPr>
              <a:spcAft>
                <a:spcPts val="0"/>
              </a:spcAft>
            </a:pPr>
            <a:r>
              <a:rPr lang="en-US" sz="2300" b="1">
                <a:solidFill>
                  <a:srgbClr val="232B34"/>
                </a:solidFill>
                <a:latin typeface="Arial" panose="020B0604020202020204" pitchFamily="34" charset="0"/>
                <a:ea typeface="Yu Gothic"/>
              </a:rPr>
              <a:t>Boresight ≈ −Z</a:t>
            </a:r>
            <a:endParaRPr lang="en-US" sz="2300" b="1" dirty="0">
              <a:solidFill>
                <a:srgbClr val="232B34"/>
              </a:solidFill>
              <a:latin typeface="Arial" panose="020B0604020202020204" pitchFamily="34" charset="0"/>
              <a:ea typeface="Yu Gothic"/>
            </a:endParaRPr>
          </a:p>
        </p:txBody>
      </p:sp>
      <p:sp>
        <p:nvSpPr>
          <p:cNvPr id="27" name="矢印: 下 26">
            <a:extLst>
              <a:ext uri="{FF2B5EF4-FFF2-40B4-BE49-F238E27FC236}">
                <a16:creationId xmlns:a16="http://schemas.microsoft.com/office/drawing/2014/main" id="{3ABEA4DE-C3B5-7BEA-4021-0D8E1D0BB0E3}"/>
              </a:ext>
            </a:extLst>
          </p:cNvPr>
          <p:cNvSpPr/>
          <p:nvPr/>
        </p:nvSpPr>
        <p:spPr>
          <a:xfrm>
            <a:off x="2893199" y="11612814"/>
            <a:ext cx="873478" cy="1123188"/>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9" name="図 28">
            <a:extLst>
              <a:ext uri="{FF2B5EF4-FFF2-40B4-BE49-F238E27FC236}">
                <a16:creationId xmlns:a16="http://schemas.microsoft.com/office/drawing/2014/main" id="{757886C6-D7F5-0F38-ACF6-8EA5310D4B71}"/>
              </a:ext>
            </a:extLst>
          </p:cNvPr>
          <p:cNvPicPr>
            <a:picLocks noChangeAspect="1"/>
          </p:cNvPicPr>
          <p:nvPr/>
        </p:nvPicPr>
        <p:blipFill>
          <a:blip r:embed="rId4"/>
          <a:stretch>
            <a:fillRect/>
          </a:stretch>
        </p:blipFill>
        <p:spPr>
          <a:xfrm>
            <a:off x="5745235" y="3766102"/>
            <a:ext cx="4658580" cy="6944390"/>
          </a:xfrm>
          <a:prstGeom prst="rect">
            <a:avLst/>
          </a:prstGeom>
        </p:spPr>
      </p:pic>
      <p:pic>
        <p:nvPicPr>
          <p:cNvPr id="31" name="図 30">
            <a:extLst>
              <a:ext uri="{FF2B5EF4-FFF2-40B4-BE49-F238E27FC236}">
                <a16:creationId xmlns:a16="http://schemas.microsoft.com/office/drawing/2014/main" id="{02DA67B2-8B68-27F3-69F6-53903FB72656}"/>
              </a:ext>
            </a:extLst>
          </p:cNvPr>
          <p:cNvPicPr>
            <a:picLocks noChangeAspect="1"/>
          </p:cNvPicPr>
          <p:nvPr/>
        </p:nvPicPr>
        <p:blipFill>
          <a:blip r:embed="rId5"/>
          <a:stretch>
            <a:fillRect/>
          </a:stretch>
        </p:blipFill>
        <p:spPr>
          <a:xfrm>
            <a:off x="10768621" y="3764280"/>
            <a:ext cx="5428009" cy="6395069"/>
          </a:xfrm>
          <a:prstGeom prst="rect">
            <a:avLst/>
          </a:prstGeom>
        </p:spPr>
      </p:pic>
      <p:sp>
        <p:nvSpPr>
          <p:cNvPr id="32" name="テキスト ボックス 31">
            <a:extLst>
              <a:ext uri="{FF2B5EF4-FFF2-40B4-BE49-F238E27FC236}">
                <a16:creationId xmlns:a16="http://schemas.microsoft.com/office/drawing/2014/main" id="{8598F395-2105-83B7-C6FD-2BE0EC3D3A1F}"/>
              </a:ext>
            </a:extLst>
          </p:cNvPr>
          <p:cNvSpPr txBox="1"/>
          <p:nvPr/>
        </p:nvSpPr>
        <p:spPr>
          <a:xfrm>
            <a:off x="7569857" y="3275705"/>
            <a:ext cx="3202915" cy="523220"/>
          </a:xfrm>
          <a:prstGeom prst="rect">
            <a:avLst/>
          </a:prstGeom>
          <a:noFill/>
        </p:spPr>
        <p:txBody>
          <a:bodyPr wrap="square" rtlCol="0">
            <a:spAutoFit/>
          </a:bodyPr>
          <a:lstStyle/>
          <a:p>
            <a:r>
              <a:rPr kumimoji="1" lang="en-US" altLang="ja-JP" sz="2800" dirty="0">
                <a:latin typeface="Arial" panose="020B0604020202020204" pitchFamily="34" charset="0"/>
              </a:rPr>
              <a:t>Thermal Desktop</a:t>
            </a:r>
            <a:endParaRPr kumimoji="1" lang="ja-JP" altLang="en-US" sz="2800" dirty="0">
              <a:latin typeface="Arial" panose="020B0604020202020204" pitchFamily="34" charset="0"/>
            </a:endParaRPr>
          </a:p>
        </p:txBody>
      </p:sp>
      <p:sp>
        <p:nvSpPr>
          <p:cNvPr id="34" name="テキスト ボックス 33">
            <a:extLst>
              <a:ext uri="{FF2B5EF4-FFF2-40B4-BE49-F238E27FC236}">
                <a16:creationId xmlns:a16="http://schemas.microsoft.com/office/drawing/2014/main" id="{A6373989-AC26-4AC6-D467-74D9A3AB9AD8}"/>
              </a:ext>
            </a:extLst>
          </p:cNvPr>
          <p:cNvSpPr txBox="1"/>
          <p:nvPr/>
        </p:nvSpPr>
        <p:spPr>
          <a:xfrm>
            <a:off x="14922114" y="3275705"/>
            <a:ext cx="1274516" cy="954107"/>
          </a:xfrm>
          <a:prstGeom prst="rect">
            <a:avLst/>
          </a:prstGeom>
          <a:noFill/>
        </p:spPr>
        <p:txBody>
          <a:bodyPr wrap="square" rtlCol="0">
            <a:spAutoFit/>
          </a:bodyPr>
          <a:lstStyle/>
          <a:p>
            <a:r>
              <a:rPr kumimoji="1" lang="en-US" altLang="ja-JP" sz="2800" dirty="0">
                <a:latin typeface="Arial" panose="020B0604020202020204" pitchFamily="34" charset="0"/>
              </a:rPr>
              <a:t>Femap</a:t>
            </a:r>
            <a:endParaRPr kumimoji="1" lang="ja-JP" altLang="en-US" sz="2800" dirty="0">
              <a:latin typeface="Arial" panose="020B0604020202020204" pitchFamily="34" charset="0"/>
            </a:endParaRPr>
          </a:p>
        </p:txBody>
      </p:sp>
      <p:sp>
        <p:nvSpPr>
          <p:cNvPr id="36" name="テキスト ボックス 35">
            <a:extLst>
              <a:ext uri="{FF2B5EF4-FFF2-40B4-BE49-F238E27FC236}">
                <a16:creationId xmlns:a16="http://schemas.microsoft.com/office/drawing/2014/main" id="{674E08F0-D963-68BA-D4B8-F9D37A3BD261}"/>
              </a:ext>
            </a:extLst>
          </p:cNvPr>
          <p:cNvSpPr txBox="1"/>
          <p:nvPr/>
        </p:nvSpPr>
        <p:spPr>
          <a:xfrm>
            <a:off x="17410176" y="3154680"/>
            <a:ext cx="6364224" cy="430887"/>
          </a:xfrm>
          <a:prstGeom prst="rect">
            <a:avLst/>
          </a:prstGeom>
          <a:noFill/>
        </p:spPr>
        <p:txBody>
          <a:bodyPr wrap="square" rtlCol="0">
            <a:spAutoFit/>
          </a:bodyPr>
          <a:lstStyle/>
          <a:p>
            <a:pPr algn="ctr">
              <a:spcAft>
                <a:spcPts val="0"/>
              </a:spcAft>
            </a:pPr>
            <a:r>
              <a:rPr lang="en-US" sz="2200" b="0">
                <a:solidFill>
                  <a:srgbClr val="666F79"/>
                </a:solidFill>
                <a:latin typeface="Arial" panose="020B0604020202020204" pitchFamily="34" charset="0"/>
                <a:ea typeface="Yu Gothic"/>
              </a:rPr>
              <a:t>Main analysis-model settings</a:t>
            </a:r>
            <a:endParaRPr kumimoji="1" lang="en-US" altLang="ja-JP" sz="2800" dirty="0">
              <a:latin typeface="Arial" panose="020B0604020202020204" pitchFamily="34" charset="0"/>
            </a:endParaRPr>
          </a:p>
        </p:txBody>
      </p:sp>
    </p:spTree>
    <p:extLst>
      <p:ext uri="{BB962C8B-B14F-4D97-AF65-F5344CB8AC3E}">
        <p14:creationId xmlns:p14="http://schemas.microsoft.com/office/powerpoint/2010/main" val="236690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Thermoelastic analysis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a:solidFill>
                  <a:srgbClr val="082B52"/>
                </a:solidFill>
                <a:latin typeface="Arial" panose="020B0604020202020204" pitchFamily="34" charset="0"/>
                <a:ea typeface="Yu Gothic"/>
              </a:rPr>
              <a:t>Thermal Desktop generates temperature-field time series from orbit, attitude, surface, and dissipation inputs</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6/17</a:t>
            </a:r>
            <a:endParaRPr lang="en-US" sz="2800" dirty="0">
              <a:solidFill>
                <a:srgbClr val="666F79"/>
              </a:solidFill>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46066623"/>
              </p:ext>
            </p:extLst>
          </p:nvPr>
        </p:nvGraphicFramePr>
        <p:xfrm>
          <a:off x="1339533" y="3597098"/>
          <a:ext cx="10789920" cy="825573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1031965">
                <a:tc>
                  <a:txBody>
                    <a:bodyPr/>
                    <a:lstStyle/>
                    <a:p>
                      <a:pPr algn="l">
                        <a:spcAft>
                          <a:spcPts val="0"/>
                        </a:spcAft>
                      </a:pPr>
                      <a:r>
                        <a:rPr lang="en-US" sz="2300" b="1">
                          <a:solidFill>
                            <a:srgbClr val="FFFFFF"/>
                          </a:solidFill>
                          <a:latin typeface="Arial" panose="020B0604020202020204" pitchFamily="34" charset="0"/>
                          <a:ea typeface="Yu Gothic"/>
                        </a:rPr>
                        <a:t>Input</a:t>
                      </a:r>
                      <a:endParaRPr lang="en-US" sz="23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300" b="1">
                          <a:solidFill>
                            <a:srgbClr val="FFFFFF"/>
                          </a:solidFill>
                          <a:latin typeface="Arial" panose="020B0604020202020204" pitchFamily="34" charset="0"/>
                          <a:ea typeface="Yu Gothic"/>
                        </a:rPr>
                        <a:t>Setting</a:t>
                      </a:r>
                      <a:endParaRPr lang="en-US" sz="2300" b="1" dirty="0">
                        <a:solidFill>
                          <a:srgbClr val="FFFFFF"/>
                        </a:solidFill>
                        <a:latin typeface="Arial" panose="020B0604020202020204" pitchFamily="34" charset="0"/>
                        <a:ea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1031965">
                <a:tc>
                  <a:txBody>
                    <a:bodyPr/>
                    <a:lstStyle/>
                    <a:p>
                      <a:pPr algn="l">
                        <a:spcAft>
                          <a:spcPts val="0"/>
                        </a:spcAft>
                      </a:pPr>
                      <a:r>
                        <a:rPr lang="en-US" sz="2300" b="0">
                          <a:solidFill>
                            <a:srgbClr val="232B34"/>
                          </a:solidFill>
                          <a:latin typeface="Arial" panose="020B0604020202020204" pitchFamily="34" charset="0"/>
                          <a:ea typeface="Yu Gothic"/>
                        </a:rPr>
                        <a:t>Orbit</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Sun-synchronous, LTAN06 / 800 km / COLD</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1031965">
                <a:tc>
                  <a:txBody>
                    <a:bodyPr/>
                    <a:lstStyle/>
                    <a:p>
                      <a:pPr algn="l">
                        <a:spcAft>
                          <a:spcPts val="0"/>
                        </a:spcAft>
                      </a:pPr>
                      <a:r>
                        <a:rPr lang="en-US" sz="2300" b="0">
                          <a:solidFill>
                            <a:srgbClr val="232B34"/>
                          </a:solidFill>
                          <a:latin typeface="Arial" panose="020B0604020202020204" pitchFamily="34" charset="0"/>
                          <a:ea typeface="Yu Gothic"/>
                        </a:rPr>
                        <a:t>Period</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≈6050 s (≈101 min)</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1031965">
                <a:tc>
                  <a:txBody>
                    <a:bodyPr/>
                    <a:lstStyle/>
                    <a:p>
                      <a:pPr algn="l">
                        <a:spcAft>
                          <a:spcPts val="0"/>
                        </a:spcAft>
                      </a:pPr>
                      <a:r>
                        <a:rPr lang="en-US" sz="2300" b="0">
                          <a:solidFill>
                            <a:srgbClr val="232B34"/>
                          </a:solidFill>
                          <a:latin typeface="Arial" panose="020B0604020202020204" pitchFamily="34" charset="0"/>
                          <a:ea typeface="Yu Gothic"/>
                        </a:rPr>
                        <a:t>Analysis duration</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≈18,157 s (3 orbits)</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1031965">
                <a:tc>
                  <a:txBody>
                    <a:bodyPr/>
                    <a:lstStyle/>
                    <a:p>
                      <a:pPr algn="l">
                        <a:spcAft>
                          <a:spcPts val="0"/>
                        </a:spcAft>
                      </a:pPr>
                      <a:r>
                        <a:rPr lang="en-US" sz="2300" b="0" dirty="0">
                          <a:solidFill>
                            <a:srgbClr val="232B34"/>
                          </a:solidFill>
                          <a:latin typeface="Arial" panose="020B0604020202020204" pitchFamily="34" charset="0"/>
                          <a:ea typeface="Yu Gothic"/>
                        </a:rPr>
                        <a:t>Sampling</a:t>
                      </a:r>
                    </a:p>
                  </a:txBody>
                  <a:tcPr marL="64008" marR="64008" marT="27432" marB="27432"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Every ≈60.5 s, 301 points</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r h="1031965">
                <a:tc>
                  <a:txBody>
                    <a:bodyPr/>
                    <a:lstStyle/>
                    <a:p>
                      <a:pPr algn="l">
                        <a:spcAft>
                          <a:spcPts val="0"/>
                        </a:spcAft>
                      </a:pPr>
                      <a:r>
                        <a:rPr lang="en-US" sz="2300" b="0">
                          <a:solidFill>
                            <a:srgbClr val="232B34"/>
                          </a:solidFill>
                          <a:latin typeface="Arial" panose="020B0604020202020204" pitchFamily="34" charset="0"/>
                          <a:ea typeface="Yu Gothic"/>
                        </a:rPr>
                        <a:t>Illumination</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dirty="0">
                          <a:solidFill>
                            <a:srgbClr val="232B34"/>
                          </a:solidFill>
                          <a:latin typeface="Arial" panose="020B0604020202020204" pitchFamily="34" charset="0"/>
                          <a:ea typeface="Yu Gothic"/>
                        </a:rPr>
                        <a:t>Eclipse / continuous illumination</a:t>
                      </a:r>
                      <a:endParaRPr lang="en-US" sz="23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10005"/>
                  </a:ext>
                </a:extLst>
              </a:tr>
              <a:tr h="1031970">
                <a:tc>
                  <a:txBody>
                    <a:bodyPr/>
                    <a:lstStyle/>
                    <a:p>
                      <a:pPr algn="l">
                        <a:spcAft>
                          <a:spcPts val="0"/>
                        </a:spcAft>
                      </a:pPr>
                      <a:r>
                        <a:rPr lang="en-US" sz="2300" b="0">
                          <a:solidFill>
                            <a:srgbClr val="232B34"/>
                          </a:solidFill>
                          <a:latin typeface="Arial" panose="020B0604020202020204" pitchFamily="34" charset="0"/>
                          <a:ea typeface="Yu Gothic"/>
                        </a:rPr>
                        <a:t>Sun face</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300" b="0" dirty="0">
                          <a:solidFill>
                            <a:srgbClr val="232B34"/>
                          </a:solidFill>
                          <a:latin typeface="Arial" panose="020B0604020202020204" pitchFamily="34" charset="0"/>
                          <a:ea typeface="Yu Gothic"/>
                        </a:rPr>
                        <a:t>MX / MY / PX / PY</a:t>
                      </a:r>
                    </a:p>
                  </a:txBody>
                  <a:tcPr marL="64008" marR="64008" marT="27432" marB="27432" anchor="ctr">
                    <a:solidFill>
                      <a:srgbClr val="EBF6FB"/>
                    </a:solidFill>
                  </a:tcPr>
                </a:tc>
                <a:extLst>
                  <a:ext uri="{0D108BD9-81ED-4DB2-BD59-A6C34878D82A}">
                    <a16:rowId xmlns:a16="http://schemas.microsoft.com/office/drawing/2014/main" val="10006"/>
                  </a:ext>
                </a:extLst>
              </a:tr>
              <a:tr h="1031970">
                <a:tc>
                  <a:txBody>
                    <a:bodyPr/>
                    <a:lstStyle/>
                    <a:p>
                      <a:pPr algn="l">
                        <a:spcAft>
                          <a:spcPts val="0"/>
                        </a:spcAft>
                      </a:pPr>
                      <a:r>
                        <a:rPr lang="en-US" sz="2300" b="0">
                          <a:solidFill>
                            <a:srgbClr val="232B34"/>
                          </a:solidFill>
                          <a:latin typeface="Arial" panose="020B0604020202020204" pitchFamily="34" charset="0"/>
                          <a:ea typeface="Yu Gothic"/>
                        </a:rPr>
                        <a:t>Number of nodes</a:t>
                      </a:r>
                      <a:endParaRPr lang="en-US" sz="2300" b="0" dirty="0">
                        <a:solidFill>
                          <a:srgbClr val="232B34"/>
                        </a:solidFill>
                        <a:latin typeface="Arial" panose="020B0604020202020204" pitchFamily="34" charset="0"/>
                      </a:endParaRPr>
                    </a:p>
                  </a:txBody>
                  <a:tcPr marL="64008" marR="64008" marT="27432" marB="27432" anchor="ctr">
                    <a:solidFill>
                      <a:schemeClr val="bg1"/>
                    </a:solidFill>
                  </a:tcPr>
                </a:tc>
                <a:tc>
                  <a:txBody>
                    <a:bodyPr/>
                    <a:lstStyle/>
                    <a:p>
                      <a:pPr algn="ctr">
                        <a:spcAft>
                          <a:spcPts val="0"/>
                        </a:spcAft>
                      </a:pPr>
                      <a:r>
                        <a:rPr lang="en-US" sz="2300" b="0" dirty="0">
                          <a:solidFill>
                            <a:srgbClr val="232B34"/>
                          </a:solidFill>
                          <a:latin typeface="Arial" panose="020B0604020202020204" pitchFamily="34" charset="0"/>
                          <a:ea typeface="Yu Gothic"/>
                        </a:rPr>
                        <a:t>125</a:t>
                      </a:r>
                      <a:endParaRPr lang="en-US" sz="23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4106942852"/>
                  </a:ext>
                </a:extLst>
              </a:tr>
            </a:tbl>
          </a:graphicData>
        </a:graphic>
      </p:graphicFrame>
      <p:sp>
        <p:nvSpPr>
          <p:cNvPr id="6" name="Rounded Rectangle 5"/>
          <p:cNvSpPr/>
          <p:nvPr/>
        </p:nvSpPr>
        <p:spPr>
          <a:xfrm>
            <a:off x="12618720" y="3608070"/>
            <a:ext cx="10424160" cy="324993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030200" y="4065270"/>
            <a:ext cx="9601200" cy="470898"/>
          </a:xfrm>
          <a:prstGeom prst="rect">
            <a:avLst/>
          </a:prstGeom>
          <a:noFill/>
        </p:spPr>
        <p:txBody>
          <a:bodyPr wrap="square" lIns="36576" tIns="27432" rIns="36576" bIns="27432" anchor="t">
            <a:spAutoFit/>
          </a:bodyPr>
          <a:lstStyle/>
          <a:p>
            <a:pPr algn="ctr">
              <a:spcAft>
                <a:spcPts val="0"/>
              </a:spcAft>
            </a:pPr>
            <a:r>
              <a:rPr lang="en-US" sz="2700" b="1">
                <a:solidFill>
                  <a:srgbClr val="1B74AA"/>
                </a:solidFill>
                <a:latin typeface="Arial" panose="020B0604020202020204" pitchFamily="34" charset="0"/>
                <a:ea typeface="Yu Gothic"/>
              </a:rPr>
              <a:t>Environmental conditions varied by case</a:t>
            </a:r>
            <a:endParaRPr lang="en-US" sz="2700" b="1" dirty="0">
              <a:solidFill>
                <a:srgbClr val="1B74AA"/>
              </a:solidFill>
              <a:latin typeface="Arial" panose="020B0604020202020204" pitchFamily="34" charset="0"/>
              <a:ea typeface="Yu Gothic"/>
            </a:endParaRPr>
          </a:p>
        </p:txBody>
      </p:sp>
      <p:sp>
        <p:nvSpPr>
          <p:cNvPr id="8" name="TextBox 7"/>
          <p:cNvSpPr txBox="1"/>
          <p:nvPr/>
        </p:nvSpPr>
        <p:spPr>
          <a:xfrm>
            <a:off x="13258800" y="4729416"/>
            <a:ext cx="9052560" cy="2010359"/>
          </a:xfrm>
          <a:prstGeom prst="rect">
            <a:avLst/>
          </a:prstGeom>
          <a:noFill/>
        </p:spPr>
        <p:txBody>
          <a:bodyPr wrap="square" lIns="27432" rIns="27432">
            <a:spAutoFit/>
          </a:bodyPr>
          <a:lstStyle/>
          <a:p>
            <a:pPr>
              <a:lnSpc>
                <a:spcPct val="110000"/>
              </a:lnSpc>
              <a:spcAft>
                <a:spcPts val="800"/>
              </a:spcAft>
            </a:pPr>
            <a:r>
              <a:rPr lang="en-US" sz="2400" b="0" dirty="0">
                <a:solidFill>
                  <a:srgbClr val="232B34"/>
                </a:solidFill>
                <a:latin typeface="Arial" panose="020B0604020202020204" pitchFamily="34" charset="0"/>
                <a:ea typeface="Yu Gothic"/>
              </a:rPr>
              <a:t>• Orbita</a:t>
            </a:r>
            <a:r>
              <a:rPr lang="en-US" sz="2400" dirty="0">
                <a:solidFill>
                  <a:srgbClr val="232B34"/>
                </a:solidFill>
                <a:latin typeface="Arial" panose="020B0604020202020204" pitchFamily="34" charset="0"/>
                <a:ea typeface="Yu Gothic"/>
              </a:rPr>
              <a:t>l Conditions</a:t>
            </a:r>
            <a:endParaRPr lang="en-US" sz="2600" dirty="0">
              <a:solidFill>
                <a:srgbClr val="232B34"/>
              </a:solidFill>
              <a:latin typeface="Arial" panose="020B0604020202020204" pitchFamily="34" charset="0"/>
            </a:endParaRPr>
          </a:p>
          <a:p>
            <a:pPr>
              <a:lnSpc>
                <a:spcPct val="110000"/>
              </a:lnSpc>
              <a:spcAft>
                <a:spcPts val="800"/>
              </a:spcAft>
            </a:pPr>
            <a:r>
              <a:rPr lang="en-US" sz="2400" b="0" dirty="0">
                <a:solidFill>
                  <a:srgbClr val="232B34"/>
                </a:solidFill>
                <a:latin typeface="Arial" panose="020B0604020202020204" pitchFamily="34" charset="0"/>
                <a:ea typeface="Yu Gothic"/>
              </a:rPr>
              <a:t>• Sun-facing panel</a:t>
            </a:r>
          </a:p>
          <a:p>
            <a:pPr>
              <a:lnSpc>
                <a:spcPct val="110000"/>
              </a:lnSpc>
              <a:spcAft>
                <a:spcPts val="800"/>
              </a:spcAft>
            </a:pPr>
            <a:r>
              <a:rPr lang="en-US" sz="2400" b="0" dirty="0">
                <a:solidFill>
                  <a:srgbClr val="232B34"/>
                </a:solidFill>
                <a:ea typeface="Yu Gothic"/>
              </a:rPr>
              <a:t>• Optical properties of panels</a:t>
            </a:r>
          </a:p>
          <a:p>
            <a:pPr>
              <a:lnSpc>
                <a:spcPct val="110000"/>
              </a:lnSpc>
              <a:spcAft>
                <a:spcPts val="800"/>
              </a:spcAft>
            </a:pPr>
            <a:r>
              <a:rPr lang="en-US" altLang="ja-JP" sz="2400" dirty="0">
                <a:solidFill>
                  <a:srgbClr val="232B34"/>
                </a:solidFill>
                <a:latin typeface="Arial" panose="020B0604020202020204" pitchFamily="34" charset="0"/>
                <a:ea typeface="Yu Gothic"/>
              </a:rPr>
              <a:t>• Internal Equipment dissipation</a:t>
            </a:r>
            <a:endParaRPr lang="en-US" sz="2400" dirty="0">
              <a:solidFill>
                <a:srgbClr val="232B34"/>
              </a:solidFill>
              <a:latin typeface="Arial" panose="020B0604020202020204" pitchFamily="34" charset="0"/>
              <a:ea typeface="Yu Gothic"/>
            </a:endParaRPr>
          </a:p>
        </p:txBody>
      </p:sp>
      <p:pic>
        <p:nvPicPr>
          <p:cNvPr id="11" name="図 10">
            <a:extLst>
              <a:ext uri="{FF2B5EF4-FFF2-40B4-BE49-F238E27FC236}">
                <a16:creationId xmlns:a16="http://schemas.microsoft.com/office/drawing/2014/main" id="{5385EA07-7CC6-CA16-E9A6-96A7DDD83B7D}"/>
              </a:ext>
            </a:extLst>
          </p:cNvPr>
          <p:cNvPicPr>
            <a:picLocks noChangeAspect="1"/>
          </p:cNvPicPr>
          <p:nvPr/>
        </p:nvPicPr>
        <p:blipFill>
          <a:blip r:embed="rId3"/>
          <a:stretch>
            <a:fillRect/>
          </a:stretch>
        </p:blipFill>
        <p:spPr>
          <a:xfrm>
            <a:off x="12762613" y="7209036"/>
            <a:ext cx="5106287" cy="5760251"/>
          </a:xfrm>
          <a:prstGeom prst="rect">
            <a:avLst/>
          </a:prstGeom>
        </p:spPr>
      </p:pic>
      <p:pic>
        <p:nvPicPr>
          <p:cNvPr id="13" name="図 12">
            <a:extLst>
              <a:ext uri="{FF2B5EF4-FFF2-40B4-BE49-F238E27FC236}">
                <a16:creationId xmlns:a16="http://schemas.microsoft.com/office/drawing/2014/main" id="{11BA4D21-78E8-44D2-D440-0C5D426F9686}"/>
              </a:ext>
            </a:extLst>
          </p:cNvPr>
          <p:cNvPicPr>
            <a:picLocks noChangeAspect="1"/>
          </p:cNvPicPr>
          <p:nvPr/>
        </p:nvPicPr>
        <p:blipFill>
          <a:blip r:embed="rId4"/>
          <a:stretch>
            <a:fillRect/>
          </a:stretch>
        </p:blipFill>
        <p:spPr>
          <a:xfrm>
            <a:off x="17898011" y="7209035"/>
            <a:ext cx="4845671" cy="5760251"/>
          </a:xfrm>
          <a:prstGeom prst="rect">
            <a:avLst/>
          </a:prstGeom>
        </p:spPr>
      </p:pic>
      <p:sp>
        <p:nvSpPr>
          <p:cNvPr id="15" name="テキスト ボックス 14">
            <a:extLst>
              <a:ext uri="{FF2B5EF4-FFF2-40B4-BE49-F238E27FC236}">
                <a16:creationId xmlns:a16="http://schemas.microsoft.com/office/drawing/2014/main" id="{0A0CDADD-D375-9200-9F52-3AD6FA1CF093}"/>
              </a:ext>
            </a:extLst>
          </p:cNvPr>
          <p:cNvSpPr txBox="1"/>
          <p:nvPr/>
        </p:nvSpPr>
        <p:spPr>
          <a:xfrm>
            <a:off x="1335024" y="3017520"/>
            <a:ext cx="10789920" cy="430887"/>
          </a:xfrm>
          <a:prstGeom prst="rect">
            <a:avLst/>
          </a:prstGeom>
          <a:noFill/>
        </p:spPr>
        <p:txBody>
          <a:bodyPr wrap="square" rtlCol="0">
            <a:spAutoFit/>
          </a:bodyPr>
          <a:lstStyle/>
          <a:p>
            <a:pPr algn="ctr">
              <a:spcAft>
                <a:spcPts val="0"/>
              </a:spcAft>
            </a:pPr>
            <a:r>
              <a:rPr lang="en-US" sz="2200" b="0">
                <a:solidFill>
                  <a:srgbClr val="666F79"/>
                </a:solidFill>
                <a:latin typeface="Arial" panose="020B0604020202020204" pitchFamily="34" charset="0"/>
                <a:ea typeface="Yu Gothic"/>
              </a:rPr>
              <a:t>Main thermal-analysis inputs</a:t>
            </a:r>
            <a:endParaRPr kumimoji="1" lang="en-US" altLang="ja-JP" sz="2800" dirty="0">
              <a:latin typeface="Arial" panose="020B0604020202020204" pitchFamily="34" charset="0"/>
            </a:endParaRPr>
          </a:p>
        </p:txBody>
      </p:sp>
      <p:sp>
        <p:nvSpPr>
          <p:cNvPr id="16" name="TextBox 15"/>
          <p:cNvSpPr txBox="1"/>
          <p:nvPr/>
        </p:nvSpPr>
        <p:spPr>
          <a:xfrm>
            <a:off x="1335024" y="11978640"/>
            <a:ext cx="10972800" cy="375487"/>
          </a:xfrm>
          <a:prstGeom prst="rect">
            <a:avLst/>
          </a:prstGeom>
          <a:noFill/>
        </p:spPr>
        <p:txBody>
          <a:bodyPr wrap="square" lIns="45720" tIns="18288" rIns="45720" bIns="18288" anchor="t">
            <a:spAutoFit/>
          </a:bodyPr>
          <a:lstStyle/>
          <a:p>
            <a:pPr algn="l">
              <a:spcAft>
                <a:spcPts val="0"/>
              </a:spcAft>
            </a:pPr>
            <a:r>
              <a:rPr lang="en-US" sz="2200" b="0">
                <a:solidFill>
                  <a:srgbClr val="666F79"/>
                </a:solidFill>
                <a:latin typeface="Arial" panose="020B0604020202020204" pitchFamily="34" charset="0"/>
                <a:ea typeface="Yu Gothic"/>
              </a:rPr>
              <a:t>Output: panel temperature field T(t), computed on the ground.</a:t>
            </a:r>
            <a:endParaRPr lang="en-US" sz="2200" b="0" dirty="0">
              <a:solidFill>
                <a:srgbClr val="666F79"/>
              </a:solidFill>
              <a:latin typeface="Arial" panose="020B0604020202020204" pitchFamily="34" charset="0"/>
              <a:ea typeface="Yu Gothic"/>
            </a:endParaRPr>
          </a:p>
        </p:txBody>
      </p:sp>
    </p:spTree>
    <p:extLst>
      <p:ext uri="{BB962C8B-B14F-4D97-AF65-F5344CB8AC3E}">
        <p14:creationId xmlns:p14="http://schemas.microsoft.com/office/powerpoint/2010/main" val="3490187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panose="020B0400000000000000" pitchFamily="50" charset="-128"/>
              </a:rPr>
              <a:t>Thermoelastic analysis</a:t>
            </a:r>
            <a:endParaRPr lang="en-US" sz="2000" b="0" dirty="0">
              <a:solidFill>
                <a:srgbClr val="666F79"/>
              </a:solidFill>
              <a:latin typeface="Arial" panose="020B0604020202020204" pitchFamily="34" charset="0"/>
              <a:ea typeface="Yu Gothic" panose="020B0400000000000000" pitchFamily="50" charset="-128"/>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a:solidFill>
                  <a:srgbClr val="082B52"/>
                </a:solidFill>
                <a:latin typeface="Arial" panose="020B0604020202020204" pitchFamily="34" charset="0"/>
                <a:ea typeface="Yu Gothic"/>
              </a:rPr>
              <a:t>The temperature field is mapped into Femap to obtain STT and LCT translations and rotations</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7/17</a:t>
            </a:r>
          </a:p>
        </p:txBody>
      </p:sp>
      <p:graphicFrame>
        <p:nvGraphicFramePr>
          <p:cNvPr id="5" name="Table 4"/>
          <p:cNvGraphicFramePr>
            <a:graphicFrameLocks noGrp="1"/>
          </p:cNvGraphicFramePr>
          <p:nvPr>
            <p:extLst>
              <p:ext uri="{D42A27DB-BD31-4B8C-83A1-F6EECF244321}">
                <p14:modId xmlns:p14="http://schemas.microsoft.com/office/powerpoint/2010/main" val="128505672"/>
              </p:ext>
            </p:extLst>
          </p:nvPr>
        </p:nvGraphicFramePr>
        <p:xfrm>
          <a:off x="1197699" y="3836670"/>
          <a:ext cx="10881360" cy="7772400"/>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971550">
                <a:tc>
                  <a:txBody>
                    <a:bodyPr/>
                    <a:lstStyle/>
                    <a:p>
                      <a:pPr algn="l">
                        <a:spcAft>
                          <a:spcPts val="0"/>
                        </a:spcAft>
                      </a:pPr>
                      <a:r>
                        <a:rPr lang="en-US" sz="2200" b="1">
                          <a:solidFill>
                            <a:srgbClr val="FFFFFF"/>
                          </a:solidFill>
                          <a:latin typeface="Arial" panose="020B0604020202020204" pitchFamily="34" charset="0"/>
                          <a:ea typeface="Yu Gothic"/>
                        </a:rPr>
                        <a:t>Structural-analysis setting</a:t>
                      </a:r>
                      <a:endParaRPr lang="en-US" sz="22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200" b="1">
                          <a:solidFill>
                            <a:srgbClr val="FFFFFF"/>
                          </a:solidFill>
                          <a:latin typeface="Arial" panose="020B0604020202020204" pitchFamily="34" charset="0"/>
                          <a:ea typeface="Yu Gothic"/>
                        </a:rPr>
                        <a:t>Value</a:t>
                      </a:r>
                      <a:endParaRPr lang="en-US" sz="2200" b="1" dirty="0">
                        <a:solidFill>
                          <a:srgbClr val="FFFFFF"/>
                        </a:solidFill>
                        <a:latin typeface="Arial" panose="020B0604020202020204" pitchFamily="34" charset="0"/>
                        <a:ea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971550">
                <a:tc>
                  <a:txBody>
                    <a:bodyPr/>
                    <a:lstStyle/>
                    <a:p>
                      <a:pPr algn="l">
                        <a:spcAft>
                          <a:spcPts val="0"/>
                        </a:spcAft>
                      </a:pPr>
                      <a:r>
                        <a:rPr lang="en-US" sz="2200" b="0">
                          <a:solidFill>
                            <a:srgbClr val="232B34"/>
                          </a:solidFill>
                          <a:latin typeface="Arial" panose="020B0604020202020204" pitchFamily="34" charset="0"/>
                          <a:ea typeface="Yu Gothic"/>
                        </a:rPr>
                        <a:t>Material</a:t>
                      </a:r>
                      <a:endParaRPr lang="en-US" sz="22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200" b="0">
                          <a:solidFill>
                            <a:srgbClr val="232B34"/>
                          </a:solidFill>
                          <a:latin typeface="Arial" panose="020B0604020202020204" pitchFamily="34" charset="0"/>
                          <a:ea typeface="Yu Gothic"/>
                        </a:rPr>
                        <a:t>Aluminum A5052</a:t>
                      </a:r>
                      <a:endParaRPr lang="en-US" sz="22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971550">
                <a:tc>
                  <a:txBody>
                    <a:bodyPr/>
                    <a:lstStyle/>
                    <a:p>
                      <a:pPr algn="l">
                        <a:spcAft>
                          <a:spcPts val="0"/>
                        </a:spcAft>
                      </a:pPr>
                      <a:r>
                        <a:rPr lang="en-US" sz="2200" b="0" dirty="0">
                          <a:solidFill>
                            <a:srgbClr val="232B34"/>
                          </a:solidFill>
                          <a:latin typeface="Arial" panose="020B0604020202020204" pitchFamily="34" charset="0"/>
                          <a:ea typeface="Yu Gothic"/>
                        </a:rPr>
                        <a:t>Young's modulus</a:t>
                      </a:r>
                    </a:p>
                  </a:txBody>
                  <a:tcPr marL="64008" marR="64008" marT="27432" marB="27432" anchor="ctr">
                    <a:solidFill>
                      <a:srgbClr val="F4F6F8"/>
                    </a:solidFill>
                  </a:tcPr>
                </a:tc>
                <a:tc>
                  <a:txBody>
                    <a:bodyPr/>
                    <a:lstStyle/>
                    <a:p>
                      <a:pPr algn="ctr">
                        <a:spcAft>
                          <a:spcPts val="0"/>
                        </a:spcAft>
                      </a:pPr>
                      <a:r>
                        <a:rPr lang="en-US" sz="2200" b="0" dirty="0">
                          <a:solidFill>
                            <a:srgbClr val="232B34"/>
                          </a:solidFill>
                          <a:latin typeface="Arial" panose="020B0604020202020204" pitchFamily="34" charset="0"/>
                          <a:ea typeface="Yu Gothic"/>
                        </a:rPr>
                        <a:t>70.327 </a:t>
                      </a:r>
                      <a:r>
                        <a:rPr lang="en-US" sz="2200" b="0" dirty="0" err="1">
                          <a:solidFill>
                            <a:srgbClr val="232B34"/>
                          </a:solidFill>
                          <a:latin typeface="Arial" panose="020B0604020202020204" pitchFamily="34" charset="0"/>
                          <a:ea typeface="Yu Gothic"/>
                        </a:rPr>
                        <a:t>GPa</a:t>
                      </a:r>
                      <a:endParaRPr lang="en-US" sz="22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971550">
                <a:tc>
                  <a:txBody>
                    <a:bodyPr/>
                    <a:lstStyle/>
                    <a:p>
                      <a:pPr algn="l">
                        <a:spcAft>
                          <a:spcPts val="0"/>
                        </a:spcAft>
                      </a:pPr>
                      <a:r>
                        <a:rPr lang="en-US" sz="2200" b="0">
                          <a:solidFill>
                            <a:srgbClr val="232B34"/>
                          </a:solidFill>
                          <a:latin typeface="Arial" panose="020B0604020202020204" pitchFamily="34" charset="0"/>
                          <a:ea typeface="Yu Gothic"/>
                        </a:rPr>
                        <a:t>Poisson's ratio</a:t>
                      </a:r>
                      <a:endParaRPr lang="en-US" sz="22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200" b="0">
                          <a:solidFill>
                            <a:srgbClr val="232B34"/>
                          </a:solidFill>
                          <a:latin typeface="Arial" panose="020B0604020202020204" pitchFamily="34" charset="0"/>
                          <a:ea typeface="Yu Gothic"/>
                        </a:rPr>
                        <a:t>0.33</a:t>
                      </a:r>
                      <a:endParaRPr lang="en-US" sz="22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971550">
                <a:tc>
                  <a:txBody>
                    <a:bodyPr/>
                    <a:lstStyle/>
                    <a:p>
                      <a:pPr algn="l">
                        <a:spcAft>
                          <a:spcPts val="0"/>
                        </a:spcAft>
                      </a:pPr>
                      <a:r>
                        <a:rPr lang="en-US" sz="2200" b="0">
                          <a:solidFill>
                            <a:srgbClr val="232B34"/>
                          </a:solidFill>
                          <a:latin typeface="Arial" panose="020B0604020202020204" pitchFamily="34" charset="0"/>
                          <a:ea typeface="Yu Gothic"/>
                        </a:rPr>
                        <a:t>Coefficient of thermal expansion</a:t>
                      </a:r>
                      <a:endParaRPr lang="en-US" sz="22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200" b="0" dirty="0">
                          <a:solidFill>
                            <a:srgbClr val="232B34"/>
                          </a:solidFill>
                          <a:latin typeface="Arial" panose="020B0604020202020204" pitchFamily="34" charset="0"/>
                          <a:ea typeface="Yu Gothic"/>
                        </a:rPr>
                        <a:t>2.376×10⁻⁵ /K</a:t>
                      </a:r>
                    </a:p>
                  </a:txBody>
                  <a:tcPr marL="64008" marR="64008" marT="27432" marB="27432" anchor="ctr">
                    <a:solidFill>
                      <a:srgbClr val="EBF6FB"/>
                    </a:solidFill>
                  </a:tcPr>
                </a:tc>
                <a:extLst>
                  <a:ext uri="{0D108BD9-81ED-4DB2-BD59-A6C34878D82A}">
                    <a16:rowId xmlns:a16="http://schemas.microsoft.com/office/drawing/2014/main" val="10004"/>
                  </a:ext>
                </a:extLst>
              </a:tr>
              <a:tr h="971550">
                <a:tc>
                  <a:txBody>
                    <a:bodyPr/>
                    <a:lstStyle/>
                    <a:p>
                      <a:pPr algn="l">
                        <a:spcAft>
                          <a:spcPts val="0"/>
                        </a:spcAft>
                      </a:pPr>
                      <a:r>
                        <a:rPr lang="en-US" sz="2200" b="0">
                          <a:solidFill>
                            <a:srgbClr val="232B34"/>
                          </a:solidFill>
                          <a:latin typeface="Arial" panose="020B0604020202020204" pitchFamily="34" charset="0"/>
                          <a:ea typeface="Yu Gothic"/>
                        </a:rPr>
                        <a:t>Density</a:t>
                      </a:r>
                      <a:endParaRPr lang="en-US" sz="22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200" b="0" dirty="0">
                          <a:solidFill>
                            <a:srgbClr val="232B34"/>
                          </a:solidFill>
                          <a:latin typeface="Arial" panose="020B0604020202020204" pitchFamily="34" charset="0"/>
                          <a:ea typeface="Yu Gothic"/>
                        </a:rPr>
                        <a:t>2685 kg/m³</a:t>
                      </a:r>
                    </a:p>
                  </a:txBody>
                  <a:tcPr marL="64008" marR="64008" marT="27432" marB="27432" anchor="ctr">
                    <a:solidFill>
                      <a:srgbClr val="EBF6FB"/>
                    </a:solidFill>
                  </a:tcPr>
                </a:tc>
                <a:extLst>
                  <a:ext uri="{0D108BD9-81ED-4DB2-BD59-A6C34878D82A}">
                    <a16:rowId xmlns:a16="http://schemas.microsoft.com/office/drawing/2014/main" val="10005"/>
                  </a:ext>
                </a:extLst>
              </a:tr>
              <a:tr h="971550">
                <a:tc>
                  <a:txBody>
                    <a:bodyPr/>
                    <a:lstStyle/>
                    <a:p>
                      <a:pPr algn="l">
                        <a:spcAft>
                          <a:spcPts val="0"/>
                        </a:spcAft>
                      </a:pPr>
                      <a:r>
                        <a:rPr lang="en-US" sz="2200" b="0">
                          <a:solidFill>
                            <a:srgbClr val="232B34"/>
                          </a:solidFill>
                          <a:latin typeface="Arial" panose="020B0604020202020204" pitchFamily="34" charset="0"/>
                          <a:ea typeface="Yu Gothic"/>
                        </a:rPr>
                        <a:t>Reference temperature</a:t>
                      </a:r>
                      <a:endParaRPr lang="en-US" sz="22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200" b="0">
                          <a:solidFill>
                            <a:srgbClr val="232B34"/>
                          </a:solidFill>
                          <a:latin typeface="Arial" panose="020B0604020202020204" pitchFamily="34" charset="0"/>
                          <a:ea typeface="Yu Gothic"/>
                        </a:rPr>
                        <a:t>23.9 ℃</a:t>
                      </a:r>
                      <a:endParaRPr lang="en-US" sz="22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6"/>
                  </a:ext>
                </a:extLst>
              </a:tr>
              <a:tr h="971550">
                <a:tc>
                  <a:txBody>
                    <a:bodyPr/>
                    <a:lstStyle/>
                    <a:p>
                      <a:pPr algn="l">
                        <a:spcAft>
                          <a:spcPts val="0"/>
                        </a:spcAft>
                      </a:pPr>
                      <a:r>
                        <a:rPr lang="en-US" sz="2200" b="0">
                          <a:solidFill>
                            <a:srgbClr val="232B34"/>
                          </a:solidFill>
                          <a:latin typeface="Arial" panose="020B0604020202020204" pitchFamily="34" charset="0"/>
                          <a:ea typeface="Yu Gothic"/>
                        </a:rPr>
                        <a:t>Constraint</a:t>
                      </a:r>
                      <a:endParaRPr lang="en-US" sz="22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200" b="0" dirty="0">
                          <a:solidFill>
                            <a:srgbClr val="232B34"/>
                          </a:solidFill>
                          <a:latin typeface="Arial" panose="020B0604020202020204" pitchFamily="34" charset="0"/>
                          <a:ea typeface="Yu Gothic"/>
                        </a:rPr>
                        <a:t>Small region near the STT</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pic>
        <p:nvPicPr>
          <p:cNvPr id="11" name="図 10">
            <a:extLst>
              <a:ext uri="{FF2B5EF4-FFF2-40B4-BE49-F238E27FC236}">
                <a16:creationId xmlns:a16="http://schemas.microsoft.com/office/drawing/2014/main" id="{33EA1EC9-3A8D-5610-E95D-DAD2EA5D39A2}"/>
              </a:ext>
            </a:extLst>
          </p:cNvPr>
          <p:cNvPicPr>
            <a:picLocks noChangeAspect="1"/>
          </p:cNvPicPr>
          <p:nvPr/>
        </p:nvPicPr>
        <p:blipFill>
          <a:blip r:embed="rId3"/>
          <a:stretch>
            <a:fillRect/>
          </a:stretch>
        </p:blipFill>
        <p:spPr>
          <a:xfrm>
            <a:off x="18341942" y="3905404"/>
            <a:ext cx="5432458" cy="5394601"/>
          </a:xfrm>
          <a:prstGeom prst="rect">
            <a:avLst/>
          </a:prstGeom>
        </p:spPr>
      </p:pic>
      <p:pic>
        <p:nvPicPr>
          <p:cNvPr id="13" name="図 12">
            <a:extLst>
              <a:ext uri="{FF2B5EF4-FFF2-40B4-BE49-F238E27FC236}">
                <a16:creationId xmlns:a16="http://schemas.microsoft.com/office/drawing/2014/main" id="{9819C62F-71DC-7E63-A5D1-87F199B5835C}"/>
              </a:ext>
            </a:extLst>
          </p:cNvPr>
          <p:cNvPicPr>
            <a:picLocks noChangeAspect="1"/>
          </p:cNvPicPr>
          <p:nvPr/>
        </p:nvPicPr>
        <p:blipFill>
          <a:blip r:embed="rId4"/>
          <a:stretch>
            <a:fillRect/>
          </a:stretch>
        </p:blipFill>
        <p:spPr>
          <a:xfrm>
            <a:off x="12605704" y="3905404"/>
            <a:ext cx="4858544" cy="5394601"/>
          </a:xfrm>
          <a:prstGeom prst="rect">
            <a:avLst/>
          </a:prstGeom>
        </p:spPr>
      </p:pic>
      <p:sp>
        <p:nvSpPr>
          <p:cNvPr id="14" name="矢印: 右 13">
            <a:extLst>
              <a:ext uri="{FF2B5EF4-FFF2-40B4-BE49-F238E27FC236}">
                <a16:creationId xmlns:a16="http://schemas.microsoft.com/office/drawing/2014/main" id="{274F2E0C-AA92-CDB0-DFC5-34073207F1FB}"/>
              </a:ext>
            </a:extLst>
          </p:cNvPr>
          <p:cNvSpPr/>
          <p:nvPr/>
        </p:nvSpPr>
        <p:spPr>
          <a:xfrm>
            <a:off x="17681719" y="6406172"/>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926A544-E0FB-FDB4-1194-CFA22C5E6846}"/>
              </a:ext>
            </a:extLst>
          </p:cNvPr>
          <p:cNvSpPr txBox="1"/>
          <p:nvPr/>
        </p:nvSpPr>
        <p:spPr>
          <a:xfrm>
            <a:off x="1197864" y="3273552"/>
            <a:ext cx="10881360" cy="430887"/>
          </a:xfrm>
          <a:prstGeom prst="rect">
            <a:avLst/>
          </a:prstGeom>
          <a:noFill/>
        </p:spPr>
        <p:txBody>
          <a:bodyPr wrap="square" rtlCol="0">
            <a:spAutoFit/>
          </a:bodyPr>
          <a:lstStyle/>
          <a:p>
            <a:pPr algn="ctr">
              <a:spcAft>
                <a:spcPts val="0"/>
              </a:spcAft>
            </a:pPr>
            <a:r>
              <a:rPr lang="en-US" sz="2200" b="0">
                <a:solidFill>
                  <a:srgbClr val="666F79"/>
                </a:solidFill>
                <a:latin typeface="Arial" panose="020B0604020202020204" pitchFamily="34" charset="0"/>
                <a:ea typeface="Yu Gothic"/>
              </a:rPr>
              <a:t>Main structural-analysis settings</a:t>
            </a:r>
            <a:endParaRPr kumimoji="1" lang="en-US" altLang="ja-JP" sz="2800" dirty="0">
              <a:latin typeface="Arial" panose="020B0604020202020204" pitchFamily="34" charset="0"/>
            </a:endParaRPr>
          </a:p>
        </p:txBody>
      </p:sp>
      <p:pic>
        <p:nvPicPr>
          <p:cNvPr id="18" name="図 17">
            <a:extLst>
              <a:ext uri="{FF2B5EF4-FFF2-40B4-BE49-F238E27FC236}">
                <a16:creationId xmlns:a16="http://schemas.microsoft.com/office/drawing/2014/main" id="{041DF615-0588-9513-FBA8-0B01D88C40DE}"/>
              </a:ext>
            </a:extLst>
          </p:cNvPr>
          <p:cNvPicPr>
            <a:picLocks noChangeAspect="1"/>
          </p:cNvPicPr>
          <p:nvPr/>
        </p:nvPicPr>
        <p:blipFill>
          <a:blip r:embed="rId5"/>
          <a:stretch>
            <a:fillRect/>
          </a:stretch>
        </p:blipFill>
        <p:spPr>
          <a:xfrm>
            <a:off x="16694545" y="10012017"/>
            <a:ext cx="2523589" cy="2999895"/>
          </a:xfrm>
          <a:prstGeom prst="rect">
            <a:avLst/>
          </a:prstGeom>
        </p:spPr>
      </p:pic>
      <p:cxnSp>
        <p:nvCxnSpPr>
          <p:cNvPr id="20" name="直線矢印コネクタ 19">
            <a:extLst>
              <a:ext uri="{FF2B5EF4-FFF2-40B4-BE49-F238E27FC236}">
                <a16:creationId xmlns:a16="http://schemas.microsoft.com/office/drawing/2014/main" id="{DB910861-8EB1-0B83-13D2-A55697BCFD48}"/>
              </a:ext>
            </a:extLst>
          </p:cNvPr>
          <p:cNvCxnSpPr/>
          <p:nvPr/>
        </p:nvCxnSpPr>
        <p:spPr>
          <a:xfrm flipV="1">
            <a:off x="17956339" y="7524750"/>
            <a:ext cx="0" cy="22669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A8BC2C95-4E51-07EA-299C-28233B3B7BA8}"/>
              </a:ext>
            </a:extLst>
          </p:cNvPr>
          <p:cNvSpPr txBox="1"/>
          <p:nvPr/>
        </p:nvSpPr>
        <p:spPr>
          <a:xfrm>
            <a:off x="19491981" y="12280232"/>
            <a:ext cx="2523589" cy="430887"/>
          </a:xfrm>
          <a:prstGeom prst="rect">
            <a:avLst/>
          </a:prstGeom>
          <a:noFill/>
        </p:spPr>
        <p:txBody>
          <a:bodyPr wrap="square" rtlCol="0">
            <a:spAutoFit/>
          </a:bodyPr>
          <a:lstStyle/>
          <a:p>
            <a:pPr>
              <a:spcAft>
                <a:spcPts val="0"/>
              </a:spcAft>
            </a:pPr>
            <a:r>
              <a:rPr lang="en-US" sz="2200" b="1">
                <a:solidFill>
                  <a:srgbClr val="1B74AA"/>
                </a:solidFill>
                <a:latin typeface="Arial" panose="020B0604020202020204" pitchFamily="34" charset="0"/>
                <a:ea typeface="Yu Gothic"/>
              </a:rPr>
              <a:t> </a:t>
            </a:r>
            <a:r>
              <a:rPr lang="en-US" sz="2200" b="1" dirty="0">
                <a:solidFill>
                  <a:srgbClr val="1B74AA"/>
                </a:solidFill>
                <a:latin typeface="Arial" panose="020B0604020202020204" pitchFamily="34" charset="0"/>
                <a:ea typeface="Yu Gothic"/>
              </a:rPr>
              <a:t>T(</a:t>
            </a:r>
            <a:r>
              <a:rPr lang="en-US" sz="2200" b="1" dirty="0" err="1">
                <a:solidFill>
                  <a:srgbClr val="1B74AA"/>
                </a:solidFill>
                <a:latin typeface="Arial" panose="020B0604020202020204" pitchFamily="34" charset="0"/>
                <a:ea typeface="Yu Gothic"/>
              </a:rPr>
              <a:t>t</a:t>
            </a:r>
            <a:r>
              <a:rPr lang="en-US" sz="2200" b="1" err="1">
                <a:solidFill>
                  <a:srgbClr val="1B74AA"/>
                </a:solidFill>
                <a:latin typeface="Arial" panose="020B0604020202020204" pitchFamily="34" charset="0"/>
                <a:ea typeface="Yu Gothic"/>
              </a:rPr>
              <a:t>,</a:t>
            </a:r>
            <a:r>
              <a:rPr lang="en-US" sz="2200" b="1">
                <a:solidFill>
                  <a:srgbClr val="1B74AA"/>
                </a:solidFill>
                <a:latin typeface="Arial" panose="020B0604020202020204" pitchFamily="34" charset="0"/>
                <a:ea typeface="Yu Gothic"/>
              </a:rPr>
              <a:t>x) </a:t>
            </a:r>
            <a:r>
              <a:rPr lang="en-US" sz="2200" b="1" dirty="0">
                <a:solidFill>
                  <a:srgbClr val="1B74AA"/>
                </a:solidFill>
                <a:latin typeface="Arial" panose="020B0604020202020204" pitchFamily="34" charset="0"/>
                <a:ea typeface="Yu Gothic"/>
              </a:rPr>
              <a:t>from TD</a:t>
            </a:r>
            <a:endParaRPr sz="2200" b="1" dirty="0">
              <a:solidFill>
                <a:srgbClr val="1B74AA"/>
              </a:solidFill>
              <a:latin typeface="Arial" panose="020B0604020202020204" pitchFamily="34" charset="0"/>
              <a:ea typeface="Yu Gothic"/>
            </a:endParaRPr>
          </a:p>
        </p:txBody>
      </p:sp>
      <p:sp>
        <p:nvSpPr>
          <p:cNvPr id="22" name="TextBox 21"/>
          <p:cNvSpPr txBox="1"/>
          <p:nvPr/>
        </p:nvSpPr>
        <p:spPr>
          <a:xfrm>
            <a:off x="1197864" y="11887200"/>
            <a:ext cx="11430000" cy="375487"/>
          </a:xfrm>
          <a:prstGeom prst="rect">
            <a:avLst/>
          </a:prstGeom>
          <a:noFill/>
        </p:spPr>
        <p:txBody>
          <a:bodyPr wrap="square" lIns="45720" tIns="18288" rIns="45720" bIns="18288" anchor="t">
            <a:spAutoFit/>
          </a:bodyPr>
          <a:lstStyle/>
          <a:p>
            <a:pPr algn="l">
              <a:spcAft>
                <a:spcPts val="0"/>
              </a:spcAft>
            </a:pPr>
            <a:r>
              <a:rPr lang="en-US" sz="2200" b="0">
                <a:solidFill>
                  <a:srgbClr val="666F79"/>
                </a:solidFill>
                <a:latin typeface="Arial" panose="020B0604020202020204" pitchFamily="34" charset="0"/>
                <a:ea typeface="Yu Gothic"/>
              </a:rPr>
              <a:t>Thermal Desktop and Femap generate training data on the ground.</a:t>
            </a:r>
            <a:endParaRPr lang="en-US" sz="2200" b="0" dirty="0">
              <a:solidFill>
                <a:srgbClr val="666F79"/>
              </a:solidFill>
              <a:latin typeface="Arial" panose="020B0604020202020204" pitchFamily="34" charset="0"/>
              <a:ea typeface="Yu Gothic"/>
            </a:endParaRPr>
          </a:p>
        </p:txBody>
      </p:sp>
    </p:spTree>
    <p:extLst>
      <p:ext uri="{BB962C8B-B14F-4D97-AF65-F5344CB8AC3E}">
        <p14:creationId xmlns:p14="http://schemas.microsoft.com/office/powerpoint/2010/main" val="4083775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Thermoelastic analysis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dirty="0">
                <a:solidFill>
                  <a:srgbClr val="082B52"/>
                </a:solidFill>
                <a:latin typeface="Arial" panose="020B0604020202020204" pitchFamily="34" charset="0"/>
              </a:rPr>
              <a:t>Calculate thermal LOS error through rotation of STT and LCT </a:t>
            </a: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8/17</a:t>
            </a:r>
            <a:endParaRPr lang="en-US" sz="2800" dirty="0">
              <a:solidFill>
                <a:srgbClr val="666F79"/>
              </a:solidFill>
              <a:latin typeface="Arial" panose="020B0604020202020204" pitchFamily="34" charset="0"/>
            </a:endParaRPr>
          </a:p>
        </p:txBody>
      </p:sp>
      <p:sp>
        <p:nvSpPr>
          <p:cNvPr id="7" name="Rounded Rectangle 6"/>
          <p:cNvSpPr/>
          <p:nvPr/>
        </p:nvSpPr>
        <p:spPr>
          <a:xfrm>
            <a:off x="15544800" y="2788920"/>
            <a:ext cx="7753350" cy="822960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0" y="3246120"/>
            <a:ext cx="6839712" cy="470898"/>
          </a:xfrm>
          <a:prstGeom prst="rect">
            <a:avLst/>
          </a:prstGeom>
          <a:noFill/>
        </p:spPr>
        <p:txBody>
          <a:bodyPr wrap="square" lIns="36576" tIns="27432" rIns="36576" bIns="27432" anchor="t">
            <a:spAutoFit/>
          </a:bodyPr>
          <a:lstStyle/>
          <a:p>
            <a:pPr algn="ctr">
              <a:spcAft>
                <a:spcPts val="0"/>
              </a:spcAft>
            </a:pPr>
            <a:r>
              <a:rPr lang="en-US" sz="2700" b="1">
                <a:solidFill>
                  <a:srgbClr val="1B74AA"/>
                </a:solidFill>
                <a:latin typeface="Arial" panose="020B0604020202020204" pitchFamily="34" charset="0"/>
                <a:ea typeface="Yu Gothic"/>
              </a:rPr>
              <a:t>LOS-error definition</a:t>
            </a:r>
            <a:endParaRPr lang="en-US" sz="2800" b="1" dirty="0">
              <a:solidFill>
                <a:srgbClr val="1B74AA"/>
              </a:solidFill>
              <a:latin typeface="Arial" panose="020B0604020202020204" pitchFamily="34" charset="0"/>
            </a:endParaRPr>
          </a:p>
        </p:txBody>
      </p:sp>
      <p:sp>
        <p:nvSpPr>
          <p:cNvPr id="9" name="TextBox 8"/>
          <p:cNvSpPr txBox="1"/>
          <p:nvPr/>
        </p:nvSpPr>
        <p:spPr>
          <a:xfrm>
            <a:off x="16001999" y="4297680"/>
            <a:ext cx="7040879" cy="1876155"/>
          </a:xfrm>
          <a:prstGeom prst="rect">
            <a:avLst/>
          </a:prstGeom>
          <a:noFill/>
        </p:spPr>
        <p:txBody>
          <a:bodyPr wrap="square" lIns="27432" rIns="27432">
            <a:spAutoFit/>
          </a:bodyPr>
          <a:lstStyle/>
          <a:p>
            <a:pPr>
              <a:lnSpc>
                <a:spcPct val="110000"/>
              </a:lnSpc>
              <a:spcAft>
                <a:spcPts val="800"/>
              </a:spcAft>
            </a:pPr>
            <a:r>
              <a:rPr lang="en-US" sz="2200" b="0">
                <a:solidFill>
                  <a:srgbClr val="232B34"/>
                </a:solidFill>
                <a:latin typeface="Arial" panose="020B0604020202020204" pitchFamily="34" charset="0"/>
                <a:ea typeface="Yu Gothic"/>
              </a:rPr>
              <a:t>• LCT optical-axis rotation − STT reference rotation</a:t>
            </a:r>
            <a:endParaRPr lang="en-US" sz="2400" dirty="0">
              <a:solidFill>
                <a:srgbClr val="232B34"/>
              </a:solidFill>
              <a:latin typeface="Arial" panose="020B0604020202020204" pitchFamily="34" charset="0"/>
            </a:endParaRPr>
          </a:p>
          <a:p>
            <a:pPr>
              <a:lnSpc>
                <a:spcPct val="110000"/>
              </a:lnSpc>
              <a:spcAft>
                <a:spcPts val="800"/>
              </a:spcAft>
            </a:pPr>
            <a:r>
              <a:rPr lang="en-US" sz="2200" b="0">
                <a:solidFill>
                  <a:srgbClr val="232B34"/>
                </a:solidFill>
                <a:latin typeface="Arial" panose="020B0604020202020204" pitchFamily="34" charset="0"/>
                <a:ea typeface="Yu Gothic"/>
              </a:rPr>
              <a:t>• STT thermal rotation is absorbed into attitude</a:t>
            </a:r>
          </a:p>
          <a:p>
            <a:pPr>
              <a:lnSpc>
                <a:spcPct val="110000"/>
              </a:lnSpc>
              <a:spcAft>
                <a:spcPts val="800"/>
              </a:spcAft>
            </a:pPr>
            <a:r>
              <a:rPr lang="en-US" sz="2200" b="0">
                <a:solidFill>
                  <a:srgbClr val="232B34"/>
                </a:solidFill>
                <a:latin typeface="Arial" panose="020B0604020202020204" pitchFamily="34" charset="0"/>
                <a:ea typeface="Yu Gothic"/>
              </a:rPr>
              <a:t>• Directly gives far-field scan-center error</a:t>
            </a:r>
          </a:p>
          <a:p>
            <a:pPr>
              <a:lnSpc>
                <a:spcPct val="110000"/>
              </a:lnSpc>
              <a:spcAft>
                <a:spcPts val="800"/>
              </a:spcAft>
            </a:pPr>
            <a:r>
              <a:rPr lang="en-US" sz="2200" b="0">
                <a:solidFill>
                  <a:srgbClr val="232B34"/>
                </a:solidFill>
                <a:latin typeface="Arial" panose="020B0604020202020204" pitchFamily="34" charset="0"/>
                <a:ea typeface="Yu Gothic"/>
              </a:rPr>
              <a:t>• Excludes translation-induced tilt</a:t>
            </a:r>
            <a:endParaRPr lang="en-US" sz="2200" b="0" dirty="0">
              <a:solidFill>
                <a:srgbClr val="232B34"/>
              </a:solidFill>
              <a:latin typeface="Arial" panose="020B0604020202020204" pitchFamily="34" charset="0"/>
              <a:ea typeface="Yu Gothic"/>
            </a:endParaRPr>
          </a:p>
        </p:txBody>
      </p:sp>
      <p:pic>
        <p:nvPicPr>
          <p:cNvPr id="12" name="図 11">
            <a:extLst>
              <a:ext uri="{FF2B5EF4-FFF2-40B4-BE49-F238E27FC236}">
                <a16:creationId xmlns:a16="http://schemas.microsoft.com/office/drawing/2014/main" id="{3B09D20F-F818-E6BB-4A04-9D0C10968E16}"/>
              </a:ext>
            </a:extLst>
          </p:cNvPr>
          <p:cNvPicPr>
            <a:picLocks noChangeAspect="1"/>
          </p:cNvPicPr>
          <p:nvPr/>
        </p:nvPicPr>
        <p:blipFill>
          <a:blip r:embed="rId3"/>
          <a:stretch>
            <a:fillRect/>
          </a:stretch>
        </p:blipFill>
        <p:spPr>
          <a:xfrm>
            <a:off x="1339534" y="3840480"/>
            <a:ext cx="4959858" cy="4925293"/>
          </a:xfrm>
          <a:prstGeom prst="rect">
            <a:avLst/>
          </a:prstGeom>
        </p:spPr>
      </p:pic>
      <p:sp>
        <p:nvSpPr>
          <p:cNvPr id="18" name="矢印: 右 17">
            <a:extLst>
              <a:ext uri="{FF2B5EF4-FFF2-40B4-BE49-F238E27FC236}">
                <a16:creationId xmlns:a16="http://schemas.microsoft.com/office/drawing/2014/main" id="{E8A036E3-901B-13D6-50ED-4213CF64C986}"/>
              </a:ext>
            </a:extLst>
          </p:cNvPr>
          <p:cNvSpPr/>
          <p:nvPr/>
        </p:nvSpPr>
        <p:spPr>
          <a:xfrm>
            <a:off x="6956602" y="6031204"/>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DFCAD75C-E1E5-BAB9-ED79-8FB22B4FA1E6}"/>
              </a:ext>
            </a:extLst>
          </p:cNvPr>
          <p:cNvCxnSpPr/>
          <p:nvPr/>
        </p:nvCxnSpPr>
        <p:spPr>
          <a:xfrm>
            <a:off x="5162550" y="8096250"/>
            <a:ext cx="209550" cy="164211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79843408-97F9-6B75-249B-559F34913E3D}"/>
              </a:ext>
            </a:extLst>
          </p:cNvPr>
          <p:cNvCxnSpPr>
            <a:cxnSpLocks/>
          </p:cNvCxnSpPr>
          <p:nvPr/>
        </p:nvCxnSpPr>
        <p:spPr>
          <a:xfrm flipH="1">
            <a:off x="3009900" y="3246120"/>
            <a:ext cx="1123950" cy="1310795"/>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B184EC83-A793-1DED-82CE-9E07315E52C8}"/>
              </a:ext>
            </a:extLst>
          </p:cNvPr>
          <p:cNvSpPr txBox="1"/>
          <p:nvPr/>
        </p:nvSpPr>
        <p:spPr>
          <a:xfrm>
            <a:off x="4133850" y="2856893"/>
            <a:ext cx="2381250" cy="584775"/>
          </a:xfrm>
          <a:prstGeom prst="rect">
            <a:avLst/>
          </a:prstGeom>
          <a:noFill/>
        </p:spPr>
        <p:txBody>
          <a:bodyPr wrap="square" rtlCol="0">
            <a:spAutoFit/>
          </a:bodyPr>
          <a:lstStyle/>
          <a:p>
            <a:r>
              <a:rPr kumimoji="1" lang="en-US" altLang="ja-JP" sz="3200" dirty="0">
                <a:latin typeface="Arial" panose="020B0604020202020204" pitchFamily="34" charset="0"/>
              </a:rPr>
              <a:t>STT</a:t>
            </a:r>
            <a:endParaRPr kumimoji="1" lang="ja-JP" altLang="en-US" sz="3200" dirty="0">
              <a:latin typeface="Arial" panose="020B0604020202020204" pitchFamily="34" charset="0"/>
            </a:endParaRPr>
          </a:p>
        </p:txBody>
      </p:sp>
      <p:sp>
        <p:nvSpPr>
          <p:cNvPr id="25" name="テキスト ボックス 24">
            <a:extLst>
              <a:ext uri="{FF2B5EF4-FFF2-40B4-BE49-F238E27FC236}">
                <a16:creationId xmlns:a16="http://schemas.microsoft.com/office/drawing/2014/main" id="{84993092-E9AF-32CC-CA46-5B89D3B7856E}"/>
              </a:ext>
            </a:extLst>
          </p:cNvPr>
          <p:cNvSpPr txBox="1"/>
          <p:nvPr/>
        </p:nvSpPr>
        <p:spPr>
          <a:xfrm>
            <a:off x="5267325" y="9738360"/>
            <a:ext cx="2381250" cy="584775"/>
          </a:xfrm>
          <a:prstGeom prst="rect">
            <a:avLst/>
          </a:prstGeom>
          <a:noFill/>
        </p:spPr>
        <p:txBody>
          <a:bodyPr wrap="square" rtlCol="0">
            <a:spAutoFit/>
          </a:bodyPr>
          <a:lstStyle/>
          <a:p>
            <a:r>
              <a:rPr kumimoji="1" lang="en-US" altLang="ja-JP" sz="3200" dirty="0">
                <a:latin typeface="Arial" panose="020B0604020202020204" pitchFamily="34" charset="0"/>
              </a:rPr>
              <a:t>LCT</a:t>
            </a:r>
            <a:endParaRPr kumimoji="1" lang="ja-JP" altLang="en-US" sz="3200" dirty="0">
              <a:latin typeface="Arial" panose="020B0604020202020204" pitchFamily="34" charset="0"/>
            </a:endParaRPr>
          </a:p>
        </p:txBody>
      </p:sp>
      <p:sp>
        <p:nvSpPr>
          <p:cNvPr id="27" name="テキスト ボックス 26">
            <a:extLst>
              <a:ext uri="{FF2B5EF4-FFF2-40B4-BE49-F238E27FC236}">
                <a16:creationId xmlns:a16="http://schemas.microsoft.com/office/drawing/2014/main" id="{EBF1EEF1-B803-E3EF-7B07-EF16B7C0DEB8}"/>
              </a:ext>
            </a:extLst>
          </p:cNvPr>
          <p:cNvSpPr txBox="1"/>
          <p:nvPr/>
        </p:nvSpPr>
        <p:spPr>
          <a:xfrm>
            <a:off x="1097280" y="10607040"/>
            <a:ext cx="14081760" cy="538609"/>
          </a:xfrm>
          <a:prstGeom prst="rect">
            <a:avLst/>
          </a:prstGeom>
          <a:noFill/>
        </p:spPr>
        <p:txBody>
          <a:bodyPr wrap="square">
            <a:spAutoFit/>
          </a:bodyPr>
          <a:lstStyle/>
          <a:p>
            <a:pPr>
              <a:spcAft>
                <a:spcPts val="0"/>
              </a:spcAft>
            </a:pPr>
            <a:r>
              <a:rPr lang="en-US" sz="2900" b="1">
                <a:solidFill>
                  <a:srgbClr val="082B52"/>
                </a:solidFill>
                <a:latin typeface="Arial" panose="020B0604020202020204" pitchFamily="34" charset="0"/>
                <a:ea typeface="Yu Gothic"/>
              </a:rPr>
              <a:t>Far-field LOS error = STT-relative LCT optical-axis rotation, not translation</a:t>
            </a:r>
            <a:endParaRPr lang="en-US" altLang="ja-JP" sz="3200" b="1" dirty="0">
              <a:solidFill>
                <a:srgbClr val="082B52"/>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31" name="TextBox 9">
                <a:extLst>
                  <a:ext uri="{FF2B5EF4-FFF2-40B4-BE49-F238E27FC236}">
                    <a16:creationId xmlns:a16="http://schemas.microsoft.com/office/drawing/2014/main" id="{1D5E19C6-D5A3-C347-891E-06621B675036}"/>
                  </a:ext>
                </a:extLst>
              </p:cNvPr>
              <p:cNvSpPr txBox="1"/>
              <p:nvPr/>
            </p:nvSpPr>
            <p:spPr>
              <a:xfrm>
                <a:off x="16004709" y="7034356"/>
                <a:ext cx="6833537" cy="1187761"/>
              </a:xfrm>
              <a:prstGeom prst="rect">
                <a:avLst/>
              </a:prstGeom>
              <a:noFill/>
            </p:spPr>
            <p:txBody>
              <a:bodyPr wrap="none" lIns="36576" tIns="27432" rIns="36576" bIns="27432" anchor="t">
                <a:spAutoFit/>
              </a:bodyPr>
              <a:lstStyle/>
              <a:p>
                <a:pPr algn="ctr"/>
                <a:r>
                  <a:rPr lang="en-US" sz="3600" b="1" i="1" dirty="0">
                    <a:solidFill>
                      <a:srgbClr val="082B52"/>
                    </a:solidFill>
                    <a:latin typeface="Arial" panose="020B0604020202020204" pitchFamily="34" charset="0"/>
                  </a:rPr>
                  <a:t> </a:t>
                </a:r>
                <a14:m>
                  <m:oMath xmlns:m="http://schemas.openxmlformats.org/officeDocument/2006/math">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𝒕𝒉𝒆𝒓𝒎𝒂𝒍</m:t>
                        </m:r>
                        <m:r>
                          <a:rPr lang="en-US" altLang="ja-JP" sz="3600" b="1" i="1" smtClean="0">
                            <a:solidFill>
                              <a:srgbClr val="082B52"/>
                            </a:solidFill>
                            <a:latin typeface="Cambria Math" panose="02040503050406030204" pitchFamily="18" charset="0"/>
                          </a:rPr>
                          <m:t>,</m:t>
                        </m:r>
                        <m:r>
                          <a:rPr lang="en-US" altLang="ja-JP" sz="3600" b="1" i="1" smtClean="0">
                            <a:solidFill>
                              <a:srgbClr val="082B52"/>
                            </a:solidFill>
                            <a:latin typeface="Cambria Math" panose="02040503050406030204" pitchFamily="18" charset="0"/>
                          </a:rPr>
                          <m:t>𝒕𝒓𝒖𝒆</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𝑳𝑪𝑻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𝑺𝑻𝑻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oMath>
                </a14:m>
                <a:endParaRPr lang="en-US" altLang="ja-JP" sz="3600" b="1" i="1" dirty="0">
                  <a:solidFill>
                    <a:srgbClr val="082B52"/>
                  </a:solidFill>
                  <a:latin typeface="Arial" panose="020B0604020202020204" pitchFamily="34" charset="0"/>
                </a:endParaRPr>
              </a:p>
              <a:p>
                <a:pPr algn="ctr"/>
                <a:r>
                  <a:rPr lang="en-US" sz="3600" b="1" i="1" dirty="0">
                    <a:solidFill>
                      <a:srgbClr val="082B52"/>
                    </a:solidFill>
                    <a:latin typeface="Arial" panose="020B0604020202020204" pitchFamily="34" charset="0"/>
                  </a:rPr>
                  <a:t> </a:t>
                </a:r>
                <a:endParaRPr sz="3600" b="1" i="1" dirty="0">
                  <a:solidFill>
                    <a:srgbClr val="082B52"/>
                  </a:solidFill>
                  <a:latin typeface="Arial" panose="020B0604020202020204" pitchFamily="34" charset="0"/>
                </a:endParaRPr>
              </a:p>
            </p:txBody>
          </p:sp>
        </mc:Choice>
        <mc:Fallback xmlns="">
          <p:sp>
            <p:nvSpPr>
              <p:cNvPr id="31" name="TextBox 9">
                <a:extLst>
                  <a:ext uri="{FF2B5EF4-FFF2-40B4-BE49-F238E27FC236}">
                    <a16:creationId xmlns:a16="http://schemas.microsoft.com/office/drawing/2014/main" id="{1D5E19C6-D5A3-C347-891E-06621B675036}"/>
                  </a:ext>
                </a:extLst>
              </p:cNvPr>
              <p:cNvSpPr txBox="1">
                <a:spLocks noRot="1" noChangeAspect="1" noMove="1" noResize="1" noEditPoints="1" noAdjustHandles="1" noChangeArrowheads="1" noChangeShapeType="1" noTextEdit="1"/>
              </p:cNvSpPr>
              <p:nvPr/>
            </p:nvSpPr>
            <p:spPr>
              <a:xfrm>
                <a:off x="16004709" y="7034356"/>
                <a:ext cx="6833537" cy="1187761"/>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3" name="TextBox 9">
                <a:extLst>
                  <a:ext uri="{FF2B5EF4-FFF2-40B4-BE49-F238E27FC236}">
                    <a16:creationId xmlns:a16="http://schemas.microsoft.com/office/drawing/2014/main" id="{C6979E3C-0BB9-6EF7-CE62-35CD169FE964}"/>
                  </a:ext>
                </a:extLst>
              </p:cNvPr>
              <p:cNvSpPr txBox="1"/>
              <p:nvPr/>
            </p:nvSpPr>
            <p:spPr>
              <a:xfrm>
                <a:off x="17297234" y="7976871"/>
                <a:ext cx="4259051" cy="1577804"/>
              </a:xfrm>
              <a:prstGeom prst="rect">
                <a:avLst/>
              </a:prstGeom>
              <a:noFill/>
            </p:spPr>
            <p:txBody>
              <a:bodyPr wrap="none" lIns="36576" tIns="27432" rIns="36576" bIns="27432" anchor="t">
                <a:spAutoFit/>
              </a:bodyPr>
              <a:lstStyle/>
              <a:p>
                <a:pPr algn="ctr"/>
                <a:r>
                  <a:rPr lang="en-US" sz="3200" b="1" i="1" dirty="0">
                    <a:solidFill>
                      <a:srgbClr val="082B52"/>
                    </a:solidFill>
                    <a:latin typeface="Arial" panose="020B0604020202020204" pitchFamily="34" charset="0"/>
                  </a:rPr>
                  <a:t> </a:t>
                </a:r>
                <a14:m>
                  <m:oMath xmlns:m="http://schemas.openxmlformats.org/officeDocument/2006/math">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𝒕𝒉𝒆𝒓𝒎𝒂𝒍</m:t>
                        </m:r>
                        <m:r>
                          <a:rPr lang="en-US" altLang="ja-JP" sz="3200" b="1" i="1" smtClean="0">
                            <a:solidFill>
                              <a:srgbClr val="082B52"/>
                            </a:solidFill>
                            <a:latin typeface="Cambria Math" panose="02040503050406030204" pitchFamily="18" charset="0"/>
                          </a:rPr>
                          <m:t>,</m:t>
                        </m:r>
                        <m:r>
                          <a:rPr lang="en-US" altLang="ja-JP" sz="3200" b="1" i="1" smtClean="0">
                            <a:solidFill>
                              <a:srgbClr val="082B52"/>
                            </a:solidFill>
                            <a:latin typeface="Cambria Math" panose="02040503050406030204" pitchFamily="18" charset="0"/>
                          </a:rPr>
                          <m:t>𝒕𝒓𝒖𝒆</m:t>
                        </m:r>
                      </m:sub>
                    </m:sSub>
                    <m:r>
                      <a:rPr lang="en-US" altLang="ja-JP" sz="3200" b="1" i="1" smtClean="0">
                        <a:solidFill>
                          <a:srgbClr val="082B52"/>
                        </a:solidFill>
                        <a:latin typeface="Cambria Math" panose="02040503050406030204" pitchFamily="18" charset="0"/>
                      </a:rPr>
                      <m:t>=</m:t>
                    </m:r>
                    <m:sSub>
                      <m:sSubPr>
                        <m:ctrlPr>
                          <a:rPr lang="en-US" altLang="ja-JP" sz="3200" b="1" i="1" smtClean="0">
                            <a:solidFill>
                              <a:srgbClr val="082B52"/>
                            </a:solidFill>
                            <a:latin typeface="Cambria Math" panose="02040503050406030204" pitchFamily="18" charset="0"/>
                          </a:rPr>
                        </m:ctrlPr>
                      </m:sSubPr>
                      <m:e>
                        <m:r>
                          <a:rPr lang="en-US" altLang="ja-JP" sz="3200" b="1" i="1" smtClean="0">
                            <a:solidFill>
                              <a:srgbClr val="082B52"/>
                            </a:solidFill>
                            <a:latin typeface="Cambria Math" panose="02040503050406030204" pitchFamily="18" charset="0"/>
                          </a:rPr>
                          <m:t>[</m:t>
                        </m:r>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𝒙</m:t>
                        </m:r>
                      </m:sub>
                    </m:sSub>
                    <m:r>
                      <a:rPr lang="en-US" altLang="ja-JP" sz="3200" b="1" i="1" smtClean="0">
                        <a:solidFill>
                          <a:srgbClr val="082B52"/>
                        </a:solidFill>
                        <a:latin typeface="Cambria Math" panose="02040503050406030204" pitchFamily="18" charset="0"/>
                      </a:rPr>
                      <m:t>, </m:t>
                    </m:r>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𝒚</m:t>
                        </m:r>
                      </m:sub>
                    </m:sSub>
                    <m:r>
                      <a:rPr lang="en-US" altLang="ja-JP" sz="3200" b="1" i="1" smtClean="0">
                        <a:solidFill>
                          <a:srgbClr val="082B52"/>
                        </a:solidFill>
                        <a:latin typeface="Cambria Math" panose="02040503050406030204" pitchFamily="18" charset="0"/>
                      </a:rPr>
                      <m:t>]</m:t>
                    </m:r>
                  </m:oMath>
                </a14:m>
                <a:endParaRPr lang="en-US" altLang="ja-JP" sz="3200" b="1" i="1" dirty="0">
                  <a:solidFill>
                    <a:srgbClr val="082B52"/>
                  </a:solidFill>
                  <a:latin typeface="Arial" panose="020B0604020202020204" pitchFamily="34" charset="0"/>
                </a:endParaRPr>
              </a:p>
              <a:p>
                <a:pPr algn="ctr"/>
                <a:endParaRPr lang="en-US" altLang="ja-JP" sz="3200" b="1" i="1" dirty="0">
                  <a:solidFill>
                    <a:srgbClr val="082B52"/>
                  </a:solidFill>
                  <a:latin typeface="Arial" panose="020B0604020202020204" pitchFamily="34" charset="0"/>
                </a:endParaRPr>
              </a:p>
              <a:p>
                <a:pPr algn="ctr"/>
                <a:r>
                  <a:rPr lang="en-US" sz="3200" b="1" i="1" dirty="0">
                    <a:solidFill>
                      <a:srgbClr val="082B52"/>
                    </a:solidFill>
                    <a:latin typeface="Arial" panose="020B0604020202020204" pitchFamily="34" charset="0"/>
                  </a:rPr>
                  <a:t> </a:t>
                </a:r>
                <a:endParaRPr sz="3200" b="1" i="1" dirty="0">
                  <a:solidFill>
                    <a:srgbClr val="082B52"/>
                  </a:solidFill>
                  <a:latin typeface="Arial" panose="020B0604020202020204" pitchFamily="34" charset="0"/>
                </a:endParaRPr>
              </a:p>
            </p:txBody>
          </p:sp>
        </mc:Choice>
        <mc:Fallback xmlns="">
          <p:sp>
            <p:nvSpPr>
              <p:cNvPr id="33" name="TextBox 9">
                <a:extLst>
                  <a:ext uri="{FF2B5EF4-FFF2-40B4-BE49-F238E27FC236}">
                    <a16:creationId xmlns:a16="http://schemas.microsoft.com/office/drawing/2014/main" id="{C6979E3C-0BB9-6EF7-CE62-35CD169FE964}"/>
                  </a:ext>
                </a:extLst>
              </p:cNvPr>
              <p:cNvSpPr txBox="1">
                <a:spLocks noRot="1" noChangeAspect="1" noMove="1" noResize="1" noEditPoints="1" noAdjustHandles="1" noChangeArrowheads="1" noChangeShapeType="1" noTextEdit="1"/>
              </p:cNvSpPr>
              <p:nvPr/>
            </p:nvSpPr>
            <p:spPr>
              <a:xfrm>
                <a:off x="17297234" y="7976871"/>
                <a:ext cx="4259051" cy="1577804"/>
              </a:xfrm>
              <a:prstGeom prst="rect">
                <a:avLst/>
              </a:prstGeom>
              <a:blipFill>
                <a:blip r:embed="rId5"/>
                <a:stretch>
                  <a:fillRect/>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DC33983D-AC0D-18DB-72E9-DF2EB746875E}"/>
              </a:ext>
            </a:extLst>
          </p:cNvPr>
          <p:cNvPicPr>
            <a:picLocks noChangeAspect="1"/>
          </p:cNvPicPr>
          <p:nvPr/>
        </p:nvPicPr>
        <p:blipFill>
          <a:blip r:embed="rId6"/>
          <a:stretch>
            <a:fillRect/>
          </a:stretch>
        </p:blipFill>
        <p:spPr>
          <a:xfrm>
            <a:off x="7916399" y="3441668"/>
            <a:ext cx="6803639" cy="6537732"/>
          </a:xfrm>
          <a:prstGeom prst="rect">
            <a:avLst/>
          </a:prstGeom>
        </p:spPr>
      </p:pic>
    </p:spTree>
    <p:extLst>
      <p:ext uri="{BB962C8B-B14F-4D97-AF65-F5344CB8AC3E}">
        <p14:creationId xmlns:p14="http://schemas.microsoft.com/office/powerpoint/2010/main" val="3691856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Thermoelastic analysis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98600" y="1915160"/>
            <a:ext cx="21844000" cy="609600"/>
          </a:xfrm>
          <a:prstGeom prst="rect">
            <a:avLst/>
          </a:prstGeom>
          <a:noFill/>
        </p:spPr>
        <p:txBody>
          <a:bodyPr wrap="square" lIns="0" tIns="0" rIns="0" bIns="0" anchor="t">
            <a:noAutofit/>
          </a:bodyPr>
          <a:lstStyle/>
          <a:p>
            <a:pPr>
              <a:spcAft>
                <a:spcPts val="0"/>
              </a:spcAft>
            </a:pPr>
            <a:r>
              <a:rPr lang="en-US" sz="3200" b="1" dirty="0">
                <a:solidFill>
                  <a:srgbClr val="082B52"/>
                </a:solidFill>
                <a:latin typeface="Arial" panose="020B0604020202020204" pitchFamily="34" charset="0"/>
                <a:ea typeface="Yu Gothic"/>
              </a:rPr>
              <a:t>We evaluate 21 cases across four thermal and operating conditions</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9/17</a:t>
            </a:r>
          </a:p>
        </p:txBody>
      </p:sp>
      <p:sp>
        <p:nvSpPr>
          <p:cNvPr id="6" name="テキスト ボックス 5">
            <a:extLst>
              <a:ext uri="{FF2B5EF4-FFF2-40B4-BE49-F238E27FC236}">
                <a16:creationId xmlns:a16="http://schemas.microsoft.com/office/drawing/2014/main" id="{F812C021-EB3E-24E5-7F1D-6D205A212F96}"/>
              </a:ext>
            </a:extLst>
          </p:cNvPr>
          <p:cNvSpPr txBox="1"/>
          <p:nvPr/>
        </p:nvSpPr>
        <p:spPr>
          <a:xfrm>
            <a:off x="2540000" y="3065780"/>
            <a:ext cx="19304000" cy="1066800"/>
          </a:xfrm>
          <a:prstGeom prst="rect">
            <a:avLst/>
          </a:prstGeom>
          <a:noFill/>
        </p:spPr>
        <p:txBody>
          <a:bodyPr vert="horz" wrap="square" lIns="152400" tIns="0" rIns="152400" bIns="0" rtlCol="0" anchor="ctr">
            <a:noAutofit/>
          </a:bodyPr>
          <a:lstStyle/>
          <a:p>
            <a:pPr algn="ctr"/>
            <a:r>
              <a:rPr kumimoji="1" lang="en-US" altLang="ja-JP" sz="6800" b="1">
                <a:solidFill>
                  <a:srgbClr val="082B52"/>
                </a:solidFill>
                <a:latin typeface="Arial" panose="020B0604020202020204" pitchFamily="34" charset="0"/>
              </a:rPr>
              <a:t>21 cases</a:t>
            </a:r>
            <a:endParaRPr kumimoji="1" lang="en-US" altLang="ja-JP" sz="6800" b="1" dirty="0">
              <a:solidFill>
                <a:srgbClr val="082B52"/>
              </a:solidFill>
              <a:latin typeface="Arial" panose="020B0604020202020204" pitchFamily="34" charset="0"/>
            </a:endParaRPr>
          </a:p>
        </p:txBody>
      </p:sp>
      <p:sp>
        <p:nvSpPr>
          <p:cNvPr id="8" name="テキスト ボックス 7">
            <a:extLst>
              <a:ext uri="{FF2B5EF4-FFF2-40B4-BE49-F238E27FC236}">
                <a16:creationId xmlns:a16="http://schemas.microsoft.com/office/drawing/2014/main" id="{D3349CEF-F05B-741C-D26E-D16CD5D16F17}"/>
              </a:ext>
            </a:extLst>
          </p:cNvPr>
          <p:cNvSpPr txBox="1"/>
          <p:nvPr/>
        </p:nvSpPr>
        <p:spPr>
          <a:xfrm>
            <a:off x="2540000" y="4183380"/>
            <a:ext cx="19304000" cy="508000"/>
          </a:xfrm>
          <a:prstGeom prst="rect">
            <a:avLst/>
          </a:prstGeom>
          <a:noFill/>
        </p:spPr>
        <p:txBody>
          <a:bodyPr vert="horz" wrap="square" lIns="152400" tIns="0" rIns="152400" bIns="0" rtlCol="0" anchor="ctr">
            <a:noAutofit/>
          </a:bodyPr>
          <a:lstStyle/>
          <a:p>
            <a:pPr algn="ctr"/>
            <a:r>
              <a:rPr kumimoji="1" lang="en-US" altLang="ja-JP" sz="2800" dirty="0">
                <a:solidFill>
                  <a:srgbClr val="232B34"/>
                </a:solidFill>
                <a:latin typeface="Arial" panose="020B0604020202020204" pitchFamily="34" charset="0"/>
              </a:rPr>
              <a:t>Thermoelastic analysis across different </a:t>
            </a:r>
            <a:r>
              <a:rPr kumimoji="1" lang="en-US" altLang="ja-JP" sz="2800">
                <a:solidFill>
                  <a:srgbClr val="232B34"/>
                </a:solidFill>
                <a:latin typeface="Arial" panose="020B0604020202020204" pitchFamily="34" charset="0"/>
              </a:rPr>
              <a:t>operating conditions</a:t>
            </a:r>
            <a:endParaRPr kumimoji="1" lang="en-US" altLang="ja-JP" sz="2800" dirty="0">
              <a:solidFill>
                <a:srgbClr val="232B34"/>
              </a:solidFill>
              <a:latin typeface="Arial" panose="020B0604020202020204" pitchFamily="34" charset="0"/>
            </a:endParaRPr>
          </a:p>
        </p:txBody>
      </p:sp>
      <p:sp>
        <p:nvSpPr>
          <p:cNvPr id="11" name="四角形: 角を丸くする 10">
            <a:extLst>
              <a:ext uri="{FF2B5EF4-FFF2-40B4-BE49-F238E27FC236}">
                <a16:creationId xmlns:a16="http://schemas.microsoft.com/office/drawing/2014/main" id="{79DC3E62-8A04-3396-2AC9-C96D8E778E82}"/>
              </a:ext>
            </a:extLst>
          </p:cNvPr>
          <p:cNvSpPr/>
          <p:nvPr/>
        </p:nvSpPr>
        <p:spPr>
          <a:xfrm>
            <a:off x="914400" y="4996180"/>
            <a:ext cx="11023600" cy="2743200"/>
          </a:xfrm>
          <a:prstGeom prst="roundRect">
            <a:avLst>
              <a:gd name="adj" fmla="val 8000"/>
            </a:avLst>
          </a:prstGeom>
          <a:solidFill>
            <a:srgbClr val="E7F3FA"/>
          </a:solidFill>
          <a:ln w="19050">
            <a:solidFill>
              <a:srgbClr val="1B7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802937D-6CBA-994A-8E93-04192C2681FD}"/>
              </a:ext>
            </a:extLst>
          </p:cNvPr>
          <p:cNvSpPr txBox="1"/>
          <p:nvPr/>
        </p:nvSpPr>
        <p:spPr>
          <a:xfrm>
            <a:off x="1219200" y="5453380"/>
            <a:ext cx="10414000" cy="660400"/>
          </a:xfrm>
          <a:prstGeom prst="rect">
            <a:avLst/>
          </a:prstGeom>
          <a:noFill/>
        </p:spPr>
        <p:txBody>
          <a:bodyPr vert="horz" wrap="square" lIns="152400" tIns="0" rIns="152400" bIns="0" rtlCol="0" anchor="ctr">
            <a:noAutofit/>
          </a:bodyPr>
          <a:lstStyle/>
          <a:p>
            <a:pPr algn="ctr"/>
            <a:r>
              <a:rPr kumimoji="1" lang="en-US" altLang="ja-JP" sz="3200" b="1">
                <a:solidFill>
                  <a:srgbClr val="082B52"/>
                </a:solidFill>
                <a:latin typeface="Arial" panose="020B0604020202020204" pitchFamily="34" charset="0"/>
              </a:rPr>
              <a:t>Sun-facing panel</a:t>
            </a:r>
            <a:endParaRPr kumimoji="1" lang="en-US" altLang="ja-JP" sz="3200" b="1" dirty="0">
              <a:solidFill>
                <a:srgbClr val="082B52"/>
              </a:solidFill>
              <a:latin typeface="Arial" panose="020B0604020202020204" pitchFamily="34" charset="0"/>
            </a:endParaRPr>
          </a:p>
        </p:txBody>
      </p:sp>
      <p:sp>
        <p:nvSpPr>
          <p:cNvPr id="13" name="テキスト ボックス 12">
            <a:extLst>
              <a:ext uri="{FF2B5EF4-FFF2-40B4-BE49-F238E27FC236}">
                <a16:creationId xmlns:a16="http://schemas.microsoft.com/office/drawing/2014/main" id="{3582A9A8-5E7F-A360-2E20-BF1A0DE9F54E}"/>
              </a:ext>
            </a:extLst>
          </p:cNvPr>
          <p:cNvSpPr txBox="1"/>
          <p:nvPr/>
        </p:nvSpPr>
        <p:spPr>
          <a:xfrm>
            <a:off x="1219200" y="6418580"/>
            <a:ext cx="10414000" cy="711200"/>
          </a:xfrm>
          <a:prstGeom prst="rect">
            <a:avLst/>
          </a:prstGeom>
          <a:noFill/>
        </p:spPr>
        <p:txBody>
          <a:bodyPr vert="horz" wrap="square" lIns="152400" tIns="0" rIns="152400" bIns="0" rtlCol="0" anchor="ctr">
            <a:noAutofit/>
          </a:bodyPr>
          <a:lstStyle/>
          <a:p>
            <a:pPr algn="ctr"/>
            <a:r>
              <a:rPr kumimoji="1" lang="en-US" altLang="ja-JP" sz="3200" dirty="0">
                <a:solidFill>
                  <a:srgbClr val="232B34"/>
                </a:solidFill>
                <a:latin typeface="Arial" panose="020B0604020202020204" pitchFamily="34" charset="0"/>
              </a:rPr>
              <a:t>MX / MY / PX </a:t>
            </a:r>
            <a:r>
              <a:rPr kumimoji="1" lang="en-US" altLang="ja-JP" sz="3200">
                <a:solidFill>
                  <a:srgbClr val="232B34"/>
                </a:solidFill>
                <a:latin typeface="Arial" panose="020B0604020202020204" pitchFamily="34" charset="0"/>
              </a:rPr>
              <a:t>/ PY</a:t>
            </a:r>
            <a:endParaRPr kumimoji="1" lang="en-US" altLang="ja-JP" sz="3200" dirty="0">
              <a:solidFill>
                <a:srgbClr val="232B34"/>
              </a:solidFill>
              <a:latin typeface="Arial" panose="020B0604020202020204" pitchFamily="34" charset="0"/>
            </a:endParaRPr>
          </a:p>
        </p:txBody>
      </p:sp>
      <p:sp>
        <p:nvSpPr>
          <p:cNvPr id="14" name="四角形: 角を丸くする 13">
            <a:extLst>
              <a:ext uri="{FF2B5EF4-FFF2-40B4-BE49-F238E27FC236}">
                <a16:creationId xmlns:a16="http://schemas.microsoft.com/office/drawing/2014/main" id="{D52C217C-13B8-807C-0662-CEA946350246}"/>
              </a:ext>
            </a:extLst>
          </p:cNvPr>
          <p:cNvSpPr/>
          <p:nvPr/>
        </p:nvSpPr>
        <p:spPr>
          <a:xfrm>
            <a:off x="12446000" y="4996180"/>
            <a:ext cx="11023600" cy="2743200"/>
          </a:xfrm>
          <a:prstGeom prst="roundRect">
            <a:avLst>
              <a:gd name="adj" fmla="val 8000"/>
            </a:avLst>
          </a:prstGeom>
          <a:solidFill>
            <a:srgbClr val="E7F3FA"/>
          </a:solidFill>
          <a:ln w="19050">
            <a:solidFill>
              <a:srgbClr val="1B7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8567FD8-EB95-B128-A723-72DB348688B8}"/>
              </a:ext>
            </a:extLst>
          </p:cNvPr>
          <p:cNvSpPr txBox="1"/>
          <p:nvPr/>
        </p:nvSpPr>
        <p:spPr>
          <a:xfrm>
            <a:off x="12750800" y="5453380"/>
            <a:ext cx="10414000" cy="660400"/>
          </a:xfrm>
          <a:prstGeom prst="rect">
            <a:avLst/>
          </a:prstGeom>
          <a:noFill/>
        </p:spPr>
        <p:txBody>
          <a:bodyPr vert="horz" wrap="square" lIns="152400" tIns="0" rIns="152400" bIns="0" rtlCol="0" anchor="ctr">
            <a:noAutofit/>
          </a:bodyPr>
          <a:lstStyle/>
          <a:p>
            <a:pPr algn="ctr"/>
            <a:r>
              <a:rPr kumimoji="1" lang="en-US" altLang="ja-JP" sz="3200" b="1">
                <a:solidFill>
                  <a:srgbClr val="082B52"/>
                </a:solidFill>
                <a:latin typeface="Arial" panose="020B0604020202020204" pitchFamily="34" charset="0"/>
              </a:rPr>
              <a:t>Internal dissipation</a:t>
            </a:r>
            <a:endParaRPr kumimoji="1" lang="en-US" altLang="ja-JP" sz="3200" b="1" dirty="0">
              <a:solidFill>
                <a:srgbClr val="082B52"/>
              </a:solidFill>
              <a:latin typeface="Arial" panose="020B0604020202020204" pitchFamily="34" charset="0"/>
            </a:endParaRPr>
          </a:p>
        </p:txBody>
      </p:sp>
      <p:sp>
        <p:nvSpPr>
          <p:cNvPr id="16" name="テキスト ボックス 15">
            <a:extLst>
              <a:ext uri="{FF2B5EF4-FFF2-40B4-BE49-F238E27FC236}">
                <a16:creationId xmlns:a16="http://schemas.microsoft.com/office/drawing/2014/main" id="{C59D7869-D33D-1378-6827-937290A31FDD}"/>
              </a:ext>
            </a:extLst>
          </p:cNvPr>
          <p:cNvSpPr txBox="1"/>
          <p:nvPr/>
        </p:nvSpPr>
        <p:spPr>
          <a:xfrm>
            <a:off x="12750800" y="6418580"/>
            <a:ext cx="10414000" cy="711200"/>
          </a:xfrm>
          <a:prstGeom prst="rect">
            <a:avLst/>
          </a:prstGeom>
          <a:noFill/>
        </p:spPr>
        <p:txBody>
          <a:bodyPr vert="horz" wrap="square" lIns="152400" tIns="0" rIns="152400" bIns="0" rtlCol="0" anchor="ctr">
            <a:noAutofit/>
          </a:bodyPr>
          <a:lstStyle/>
          <a:p>
            <a:pPr algn="ctr"/>
            <a:r>
              <a:rPr kumimoji="1" lang="en-US" altLang="ja-JP" sz="3200" dirty="0">
                <a:solidFill>
                  <a:srgbClr val="232B34"/>
                </a:solidFill>
                <a:latin typeface="Arial" panose="020B0604020202020204" pitchFamily="34" charset="0"/>
              </a:rPr>
              <a:t>Equipment ON/</a:t>
            </a:r>
            <a:r>
              <a:rPr kumimoji="1" lang="en-US" altLang="ja-JP" sz="3200">
                <a:solidFill>
                  <a:srgbClr val="232B34"/>
                </a:solidFill>
                <a:latin typeface="Arial" panose="020B0604020202020204" pitchFamily="34" charset="0"/>
              </a:rPr>
              <a:t>OFF states</a:t>
            </a:r>
            <a:endParaRPr kumimoji="1" lang="en-US" altLang="ja-JP" sz="3200" dirty="0">
              <a:solidFill>
                <a:srgbClr val="232B34"/>
              </a:solidFill>
              <a:latin typeface="Arial" panose="020B0604020202020204" pitchFamily="34" charset="0"/>
            </a:endParaRPr>
          </a:p>
        </p:txBody>
      </p:sp>
      <p:sp>
        <p:nvSpPr>
          <p:cNvPr id="17" name="四角形: 角を丸くする 16">
            <a:extLst>
              <a:ext uri="{FF2B5EF4-FFF2-40B4-BE49-F238E27FC236}">
                <a16:creationId xmlns:a16="http://schemas.microsoft.com/office/drawing/2014/main" id="{C4DC1285-C950-D1A7-82F0-21479349D6A2}"/>
              </a:ext>
            </a:extLst>
          </p:cNvPr>
          <p:cNvSpPr/>
          <p:nvPr/>
        </p:nvSpPr>
        <p:spPr>
          <a:xfrm>
            <a:off x="914400" y="8044180"/>
            <a:ext cx="11023600" cy="2743200"/>
          </a:xfrm>
          <a:prstGeom prst="roundRect">
            <a:avLst>
              <a:gd name="adj" fmla="val 8000"/>
            </a:avLst>
          </a:prstGeom>
          <a:solidFill>
            <a:srgbClr val="E7F3FA"/>
          </a:solidFill>
          <a:ln w="19050">
            <a:solidFill>
              <a:srgbClr val="1B7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5FA8F193-E565-7F4C-CCE5-D1B869C53562}"/>
              </a:ext>
            </a:extLst>
          </p:cNvPr>
          <p:cNvSpPr txBox="1"/>
          <p:nvPr/>
        </p:nvSpPr>
        <p:spPr>
          <a:xfrm>
            <a:off x="1219200" y="8501380"/>
            <a:ext cx="10414000" cy="660400"/>
          </a:xfrm>
          <a:prstGeom prst="rect">
            <a:avLst/>
          </a:prstGeom>
          <a:noFill/>
        </p:spPr>
        <p:txBody>
          <a:bodyPr vert="horz" wrap="square" lIns="152400" tIns="0" rIns="152400" bIns="0" rtlCol="0" anchor="ctr">
            <a:noAutofit/>
          </a:bodyPr>
          <a:lstStyle/>
          <a:p>
            <a:pPr algn="ctr"/>
            <a:r>
              <a:rPr kumimoji="1" lang="en-US" altLang="ja-JP" sz="3200" b="1">
                <a:solidFill>
                  <a:srgbClr val="082B52"/>
                </a:solidFill>
                <a:latin typeface="Arial" panose="020B0604020202020204" pitchFamily="34" charset="0"/>
              </a:rPr>
              <a:t>Surface properties</a:t>
            </a:r>
            <a:endParaRPr kumimoji="1" lang="en-US" altLang="ja-JP" sz="3200" b="1" dirty="0">
              <a:solidFill>
                <a:srgbClr val="082B52"/>
              </a:solidFill>
              <a:latin typeface="Arial" panose="020B0604020202020204" pitchFamily="34" charset="0"/>
            </a:endParaRPr>
          </a:p>
        </p:txBody>
      </p:sp>
      <p:sp>
        <p:nvSpPr>
          <p:cNvPr id="19" name="テキスト ボックス 18">
            <a:extLst>
              <a:ext uri="{FF2B5EF4-FFF2-40B4-BE49-F238E27FC236}">
                <a16:creationId xmlns:a16="http://schemas.microsoft.com/office/drawing/2014/main" id="{D8D30FF0-B76B-8F1C-1E77-8EC399A8BC07}"/>
              </a:ext>
            </a:extLst>
          </p:cNvPr>
          <p:cNvSpPr txBox="1"/>
          <p:nvPr/>
        </p:nvSpPr>
        <p:spPr>
          <a:xfrm>
            <a:off x="1219200" y="9466580"/>
            <a:ext cx="10414000" cy="711200"/>
          </a:xfrm>
          <a:prstGeom prst="rect">
            <a:avLst/>
          </a:prstGeom>
          <a:noFill/>
        </p:spPr>
        <p:txBody>
          <a:bodyPr vert="horz" wrap="square" lIns="152400" tIns="0" rIns="152400" bIns="0" rtlCol="0" anchor="ctr">
            <a:noAutofit/>
          </a:bodyPr>
          <a:lstStyle/>
          <a:p>
            <a:pPr algn="ctr"/>
            <a:r>
              <a:rPr kumimoji="1" lang="en-US" altLang="ja-JP" sz="3200" dirty="0">
                <a:solidFill>
                  <a:srgbClr val="232B34"/>
                </a:solidFill>
                <a:latin typeface="Arial" panose="020B0604020202020204" pitchFamily="34" charset="0"/>
              </a:rPr>
              <a:t>Baseline / Black </a:t>
            </a:r>
            <a:r>
              <a:rPr kumimoji="1" lang="en-US" altLang="ja-JP" sz="3200">
                <a:solidFill>
                  <a:srgbClr val="232B34"/>
                </a:solidFill>
                <a:latin typeface="Arial" panose="020B0604020202020204" pitchFamily="34" charset="0"/>
              </a:rPr>
              <a:t>/ Alodine</a:t>
            </a:r>
            <a:endParaRPr kumimoji="1" lang="en-US" altLang="ja-JP" sz="3200" dirty="0">
              <a:solidFill>
                <a:srgbClr val="232B34"/>
              </a:solidFill>
              <a:latin typeface="Arial" panose="020B0604020202020204" pitchFamily="34" charset="0"/>
            </a:endParaRPr>
          </a:p>
        </p:txBody>
      </p:sp>
      <p:sp>
        <p:nvSpPr>
          <p:cNvPr id="20" name="四角形: 角を丸くする 19">
            <a:extLst>
              <a:ext uri="{FF2B5EF4-FFF2-40B4-BE49-F238E27FC236}">
                <a16:creationId xmlns:a16="http://schemas.microsoft.com/office/drawing/2014/main" id="{7FB410F1-97D8-62D9-2485-9004E8DF7F35}"/>
              </a:ext>
            </a:extLst>
          </p:cNvPr>
          <p:cNvSpPr/>
          <p:nvPr/>
        </p:nvSpPr>
        <p:spPr>
          <a:xfrm>
            <a:off x="12446000" y="8044180"/>
            <a:ext cx="11023600" cy="2743200"/>
          </a:xfrm>
          <a:prstGeom prst="roundRect">
            <a:avLst>
              <a:gd name="adj" fmla="val 8000"/>
            </a:avLst>
          </a:prstGeom>
          <a:solidFill>
            <a:srgbClr val="E7F3FA"/>
          </a:solidFill>
          <a:ln w="19050">
            <a:solidFill>
              <a:srgbClr val="1B7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C6A9C423-D009-C641-1A41-16433FA7C6A8}"/>
              </a:ext>
            </a:extLst>
          </p:cNvPr>
          <p:cNvSpPr txBox="1"/>
          <p:nvPr/>
        </p:nvSpPr>
        <p:spPr>
          <a:xfrm>
            <a:off x="12750800" y="8501380"/>
            <a:ext cx="10414000" cy="660400"/>
          </a:xfrm>
          <a:prstGeom prst="rect">
            <a:avLst/>
          </a:prstGeom>
          <a:noFill/>
        </p:spPr>
        <p:txBody>
          <a:bodyPr vert="horz" wrap="square" lIns="152400" tIns="0" rIns="152400" bIns="0" rtlCol="0" anchor="ctr">
            <a:noAutofit/>
          </a:bodyPr>
          <a:lstStyle/>
          <a:p>
            <a:pPr algn="ctr"/>
            <a:r>
              <a:rPr kumimoji="1" lang="en-US" altLang="ja-JP" sz="3200" b="1">
                <a:solidFill>
                  <a:srgbClr val="082B52"/>
                </a:solidFill>
                <a:latin typeface="Arial" panose="020B0604020202020204" pitchFamily="34" charset="0"/>
              </a:rPr>
              <a:t>Orbital environment</a:t>
            </a:r>
            <a:endParaRPr kumimoji="1" lang="en-US" altLang="ja-JP" sz="3200" b="1" dirty="0">
              <a:solidFill>
                <a:srgbClr val="082B52"/>
              </a:solidFill>
              <a:latin typeface="Arial" panose="020B0604020202020204" pitchFamily="34" charset="0"/>
            </a:endParaRPr>
          </a:p>
        </p:txBody>
      </p:sp>
      <p:sp>
        <p:nvSpPr>
          <p:cNvPr id="22" name="テキスト ボックス 21">
            <a:extLst>
              <a:ext uri="{FF2B5EF4-FFF2-40B4-BE49-F238E27FC236}">
                <a16:creationId xmlns:a16="http://schemas.microsoft.com/office/drawing/2014/main" id="{4BEAD937-4CE3-4080-7FD2-28E0BCF873F7}"/>
              </a:ext>
            </a:extLst>
          </p:cNvPr>
          <p:cNvSpPr txBox="1"/>
          <p:nvPr/>
        </p:nvSpPr>
        <p:spPr>
          <a:xfrm>
            <a:off x="12750800" y="9466580"/>
            <a:ext cx="10414000" cy="711200"/>
          </a:xfrm>
          <a:prstGeom prst="rect">
            <a:avLst/>
          </a:prstGeom>
          <a:noFill/>
        </p:spPr>
        <p:txBody>
          <a:bodyPr vert="horz" wrap="square" lIns="152400" tIns="0" rIns="152400" bIns="0" rtlCol="0" anchor="ctr">
            <a:noAutofit/>
          </a:bodyPr>
          <a:lstStyle/>
          <a:p>
            <a:pPr algn="ctr"/>
            <a:r>
              <a:rPr kumimoji="1" lang="en-US" altLang="ja-JP" sz="3200" dirty="0">
                <a:solidFill>
                  <a:srgbClr val="232B34"/>
                </a:solidFill>
                <a:latin typeface="Arial" panose="020B0604020202020204" pitchFamily="34" charset="0"/>
              </a:rPr>
              <a:t>Eclipse / </a:t>
            </a:r>
            <a:r>
              <a:rPr kumimoji="1" lang="en-US" altLang="ja-JP" sz="3200">
                <a:solidFill>
                  <a:srgbClr val="232B34"/>
                </a:solidFill>
                <a:latin typeface="Arial" panose="020B0604020202020204" pitchFamily="34" charset="0"/>
              </a:rPr>
              <a:t>Continuous illumination</a:t>
            </a:r>
            <a:endParaRPr kumimoji="1" lang="en-US" altLang="ja-JP" sz="3200" dirty="0">
              <a:solidFill>
                <a:srgbClr val="232B34"/>
              </a:solidFill>
              <a:latin typeface="Arial" panose="020B0604020202020204" pitchFamily="34" charset="0"/>
            </a:endParaRPr>
          </a:p>
        </p:txBody>
      </p:sp>
      <p:sp>
        <p:nvSpPr>
          <p:cNvPr id="23" name="テキスト ボックス 22">
            <a:extLst>
              <a:ext uri="{FF2B5EF4-FFF2-40B4-BE49-F238E27FC236}">
                <a16:creationId xmlns:a16="http://schemas.microsoft.com/office/drawing/2014/main" id="{68DE9F6F-C92C-34D1-85C8-86B4FAE0BE93}"/>
              </a:ext>
            </a:extLst>
          </p:cNvPr>
          <p:cNvSpPr txBox="1"/>
          <p:nvPr/>
        </p:nvSpPr>
        <p:spPr>
          <a:xfrm>
            <a:off x="1016000" y="11142980"/>
            <a:ext cx="22352000" cy="609600"/>
          </a:xfrm>
          <a:prstGeom prst="rect">
            <a:avLst/>
          </a:prstGeom>
          <a:noFill/>
        </p:spPr>
        <p:txBody>
          <a:bodyPr vert="horz" wrap="square" lIns="152400" tIns="0" rIns="152400" bIns="0" rtlCol="0" anchor="ctr">
            <a:noAutofit/>
          </a:bodyPr>
          <a:lstStyle/>
          <a:p>
            <a:pPr algn="ctr"/>
            <a:r>
              <a:rPr kumimoji="1" lang="en-US" altLang="ja-JP" sz="3200" b="1" dirty="0">
                <a:solidFill>
                  <a:srgbClr val="082B52"/>
                </a:solidFill>
                <a:latin typeface="Arial" panose="020B0604020202020204" pitchFamily="34" charset="0"/>
              </a:rPr>
              <a:t>Same spacecraft structure and LOS definition across all </a:t>
            </a:r>
            <a:r>
              <a:rPr kumimoji="1" lang="en-US" altLang="ja-JP" sz="3200" b="1">
                <a:solidFill>
                  <a:srgbClr val="082B52"/>
                </a:solidFill>
                <a:latin typeface="Arial" panose="020B0604020202020204" pitchFamily="34" charset="0"/>
              </a:rPr>
              <a:t>cases.</a:t>
            </a:r>
            <a:endParaRPr kumimoji="1" lang="en-US" altLang="ja-JP" sz="3200" b="1" dirty="0">
              <a:solidFill>
                <a:srgbClr val="082B52"/>
              </a:solidFill>
              <a:latin typeface="Arial" panose="020B0604020202020204" pitchFamily="34" charset="0"/>
            </a:endParaRPr>
          </a:p>
        </p:txBody>
      </p:sp>
      <p:sp>
        <p:nvSpPr>
          <p:cNvPr id="24" name="テキスト ボックス 23">
            <a:extLst>
              <a:ext uri="{FF2B5EF4-FFF2-40B4-BE49-F238E27FC236}">
                <a16:creationId xmlns:a16="http://schemas.microsoft.com/office/drawing/2014/main" id="{A5B09AA5-9FD6-8D60-3F8B-91006EC162FE}"/>
              </a:ext>
            </a:extLst>
          </p:cNvPr>
          <p:cNvSpPr txBox="1"/>
          <p:nvPr/>
        </p:nvSpPr>
        <p:spPr>
          <a:xfrm>
            <a:off x="1016000" y="11854180"/>
            <a:ext cx="22352000" cy="558800"/>
          </a:xfrm>
          <a:prstGeom prst="rect">
            <a:avLst/>
          </a:prstGeom>
          <a:noFill/>
        </p:spPr>
        <p:txBody>
          <a:bodyPr vert="horz" wrap="square" lIns="152400" tIns="0" rIns="152400" bIns="0" rtlCol="0" anchor="ctr">
            <a:noAutofit/>
          </a:bodyPr>
          <a:lstStyle/>
          <a:p>
            <a:pPr algn="ctr"/>
            <a:r>
              <a:rPr kumimoji="1" lang="en-US" altLang="ja-JP" sz="2800" dirty="0">
                <a:solidFill>
                  <a:srgbClr val="666F79"/>
                </a:solidFill>
                <a:latin typeface="Arial" panose="020B0604020202020204" pitchFamily="34" charset="0"/>
              </a:rPr>
              <a:t>Validation across operating conditions, not across different spacecraft </a:t>
            </a:r>
            <a:r>
              <a:rPr kumimoji="1" lang="en-US" altLang="ja-JP" sz="2800">
                <a:solidFill>
                  <a:srgbClr val="666F79"/>
                </a:solidFill>
                <a:latin typeface="Arial" panose="020B0604020202020204" pitchFamily="34" charset="0"/>
              </a:rPr>
              <a:t>structures.</a:t>
            </a:r>
            <a:endParaRPr kumimoji="1" lang="en-US" altLang="ja-JP" sz="2800" dirty="0">
              <a:solidFill>
                <a:srgbClr val="666F79"/>
              </a:solidFill>
              <a:latin typeface="Arial" panose="020B0604020202020204" pitchFamily="34" charset="0"/>
            </a:endParaRPr>
          </a:p>
        </p:txBody>
      </p:sp>
    </p:spTree>
    <p:extLst>
      <p:ext uri="{BB962C8B-B14F-4D97-AF65-F5344CB8AC3E}">
        <p14:creationId xmlns:p14="http://schemas.microsoft.com/office/powerpoint/2010/main" val="2385323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A057F-DCF1-6E39-54A9-E6F0694682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374F04-0A41-3729-1974-27E20239906C}"/>
              </a:ext>
            </a:extLst>
          </p:cNvPr>
          <p:cNvSpPr>
            <a:spLocks noGrp="1"/>
          </p:cNvSpPr>
          <p:nvPr>
            <p:ph type="title"/>
          </p:nvPr>
        </p:nvSpPr>
        <p:spPr/>
        <p:txBody>
          <a:bodyPr>
            <a:normAutofit/>
          </a:bodyPr>
          <a:lstStyle/>
          <a:p>
            <a:r>
              <a:rPr lang="en-US" sz="4800" b="0">
                <a:solidFill>
                  <a:srgbClr val="FFFFFF"/>
                </a:solidFill>
                <a:latin typeface="Arial" panose="020B0604020202020204" pitchFamily="34" charset="0"/>
                <a:cs typeface="Arial" panose="020B0604020202020204" pitchFamily="34" charset="0"/>
              </a:rPr>
              <a:t>03</a:t>
            </a:r>
            <a:endParaRPr sz="4800" b="0" dirty="0">
              <a:solidFill>
                <a:srgbClr val="FFFFFF"/>
              </a:solidFill>
              <a:latin typeface="Arial" panose="020B0604020202020204" pitchFamily="34" charset="0"/>
              <a:cs typeface="Arial" panose="020B0604020202020204" pitchFamily="34" charset="0"/>
            </a:endParaRPr>
          </a:p>
        </p:txBody>
      </p:sp>
      <p:sp>
        <p:nvSpPr>
          <p:cNvPr id="3" name="テキスト プレースホルダー 2">
            <a:extLst>
              <a:ext uri="{FF2B5EF4-FFF2-40B4-BE49-F238E27FC236}">
                <a16:creationId xmlns:a16="http://schemas.microsoft.com/office/drawing/2014/main" id="{531B5912-5AC4-3FF6-4101-82BE892654CC}"/>
              </a:ext>
            </a:extLst>
          </p:cNvPr>
          <p:cNvSpPr>
            <a:spLocks noGrp="1"/>
          </p:cNvSpPr>
          <p:nvPr>
            <p:ph type="body" idx="1"/>
          </p:nvPr>
        </p:nvSpPr>
        <p:spPr/>
        <p:txBody>
          <a:bodyPr>
            <a:normAutofit/>
          </a:bodyPr>
          <a:lstStyle/>
          <a:p>
            <a:r>
              <a:rPr lang="en-US" altLang="ja-JP" sz="4800" b="1" dirty="0">
                <a:solidFill>
                  <a:srgbClr val="FFFFFF"/>
                </a:solidFill>
                <a:latin typeface="Arial" panose="020B0604020202020204" pitchFamily="34" charset="0"/>
                <a:cs typeface="Arial" panose="020B0604020202020204" pitchFamily="34" charset="0"/>
              </a:rPr>
              <a:t>Reduced-orde</a:t>
            </a:r>
            <a:r>
              <a:rPr lang="en-US" altLang="ja-JP" sz="4800" dirty="0">
                <a:solidFill>
                  <a:srgbClr val="FFFFFF"/>
                </a:solidFill>
                <a:latin typeface="Arial" panose="020B0604020202020204" pitchFamily="34" charset="0"/>
                <a:cs typeface="Arial" panose="020B0604020202020204" pitchFamily="34" charset="0"/>
              </a:rPr>
              <a:t>r model</a:t>
            </a:r>
            <a:endParaRPr sz="4800" b="1" dirty="0">
              <a:solidFill>
                <a:srgbClr val="FFFFFF"/>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58C68F76-E521-BBBA-3069-24EB0790BF4F}"/>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1656671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Reduced-order model</a:t>
            </a:r>
            <a:endParaRPr lang="en-US" sz="2000" b="0" dirty="0">
              <a:solidFill>
                <a:srgbClr val="666F79"/>
              </a:solidFill>
              <a:latin typeface="Arial" panose="020B0604020202020204" pitchFamily="34" charset="0"/>
              <a:ea typeface="Yu Gothic"/>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10/17</a:t>
            </a:r>
          </a:p>
        </p:txBody>
      </p:sp>
      <p:sp>
        <p:nvSpPr>
          <p:cNvPr id="12" name="TextBox 2">
            <a:extLst>
              <a:ext uri="{FF2B5EF4-FFF2-40B4-BE49-F238E27FC236}">
                <a16:creationId xmlns:a16="http://schemas.microsoft.com/office/drawing/2014/main" id="{0B50638C-A598-E0CC-394F-5BF42CDB1937}"/>
              </a:ext>
            </a:extLst>
          </p:cNvPr>
          <p:cNvSpPr txBox="1"/>
          <p:nvPr/>
        </p:nvSpPr>
        <p:spPr>
          <a:xfrm>
            <a:off x="1536192" y="1298447"/>
            <a:ext cx="22037040" cy="1040285"/>
          </a:xfrm>
          <a:prstGeom prst="rect">
            <a:avLst/>
          </a:prstGeom>
          <a:noFill/>
        </p:spPr>
        <p:txBody>
          <a:bodyPr wrap="square" lIns="0" tIns="27432" rIns="0" bIns="27432" anchor="t">
            <a:spAutoFit/>
          </a:bodyPr>
          <a:lstStyle/>
          <a:p>
            <a:pPr algn="l">
              <a:spcAft>
                <a:spcPts val="0"/>
              </a:spcAft>
            </a:pPr>
            <a:endParaRPr lang="en-US" altLang="ja-JP" sz="3200" b="1" dirty="0">
              <a:solidFill>
                <a:srgbClr val="082B52"/>
              </a:solidFill>
              <a:latin typeface="Arial" panose="020B0604020202020204" pitchFamily="34" charset="0"/>
            </a:endParaRPr>
          </a:p>
          <a:p>
            <a:pPr algn="l">
              <a:spcAft>
                <a:spcPts val="0"/>
              </a:spcAft>
            </a:pPr>
            <a:r>
              <a:rPr lang="en-US" altLang="ja-JP" sz="3200" b="1" dirty="0">
                <a:solidFill>
                  <a:srgbClr val="082B52"/>
                </a:solidFill>
                <a:latin typeface="Arial" panose="020B0604020202020204" pitchFamily="34" charset="0"/>
              </a:rPr>
              <a:t>Thermal LOS shows similar orbital variations but different offsets across operating conditions</a:t>
            </a:r>
          </a:p>
        </p:txBody>
      </p:sp>
      <p:pic>
        <p:nvPicPr>
          <p:cNvPr id="21" name="図 20">
            <a:extLst>
              <a:ext uri="{FF2B5EF4-FFF2-40B4-BE49-F238E27FC236}">
                <a16:creationId xmlns:a16="http://schemas.microsoft.com/office/drawing/2014/main" id="{73024BC2-000B-22A8-CC84-A9E292B1E482}"/>
              </a:ext>
            </a:extLst>
          </p:cNvPr>
          <p:cNvPicPr>
            <a:picLocks/>
          </p:cNvPicPr>
          <p:nvPr/>
        </p:nvPicPr>
        <p:blipFill>
          <a:blip r:embed="rId3"/>
          <a:stretch>
            <a:fillRect/>
          </a:stretch>
        </p:blipFill>
        <p:spPr>
          <a:xfrm>
            <a:off x="457200" y="2641600"/>
            <a:ext cx="14173200" cy="6997700"/>
          </a:xfrm>
          <a:prstGeom prst="rect">
            <a:avLst/>
          </a:prstGeom>
        </p:spPr>
      </p:pic>
      <p:sp>
        <p:nvSpPr>
          <p:cNvPr id="22" name="テキスト ボックス 21">
            <a:extLst>
              <a:ext uri="{FF2B5EF4-FFF2-40B4-BE49-F238E27FC236}">
                <a16:creationId xmlns:a16="http://schemas.microsoft.com/office/drawing/2014/main" id="{81F0F569-CAAC-2847-C29F-DD3224303F03}"/>
              </a:ext>
            </a:extLst>
          </p:cNvPr>
          <p:cNvSpPr txBox="1"/>
          <p:nvPr/>
        </p:nvSpPr>
        <p:spPr>
          <a:xfrm>
            <a:off x="457200" y="9753600"/>
            <a:ext cx="13817600" cy="353943"/>
          </a:xfrm>
          <a:prstGeom prst="rect">
            <a:avLst/>
          </a:prstGeom>
          <a:noFill/>
        </p:spPr>
        <p:txBody>
          <a:bodyPr vert="horz" wrap="square" lIns="0" tIns="0" rIns="0" rtlCol="0">
            <a:spAutoFit/>
          </a:bodyPr>
          <a:lstStyle/>
          <a:p>
            <a:pPr algn="ctr"/>
            <a:r>
              <a:rPr kumimoji="1" lang="en-US" altLang="ja-JP" sz="2000">
                <a:solidFill>
                  <a:srgbClr val="666F79"/>
                </a:solidFill>
                <a:latin typeface="Arial" panose="020B0604020202020204" pitchFamily="34" charset="0"/>
              </a:rPr>
              <a:t>Same sun face, different dissipation states</a:t>
            </a:r>
            <a:endParaRPr kumimoji="1" lang="ja-JP" altLang="en-US" sz="2000">
              <a:solidFill>
                <a:srgbClr val="666F79"/>
              </a:solidFill>
              <a:latin typeface="Arial" panose="020B0604020202020204" pitchFamily="34" charset="0"/>
            </a:endParaRPr>
          </a:p>
        </p:txBody>
      </p:sp>
      <p:sp>
        <p:nvSpPr>
          <p:cNvPr id="23" name="四角形: 角を丸くする 22">
            <a:extLst>
              <a:ext uri="{FF2B5EF4-FFF2-40B4-BE49-F238E27FC236}">
                <a16:creationId xmlns:a16="http://schemas.microsoft.com/office/drawing/2014/main" id="{DD4DC98C-9606-8B55-EA1F-84EC0CF1E39B}"/>
              </a:ext>
            </a:extLst>
          </p:cNvPr>
          <p:cNvSpPr/>
          <p:nvPr/>
        </p:nvSpPr>
        <p:spPr>
          <a:xfrm>
            <a:off x="14630400" y="2641600"/>
            <a:ext cx="9271000" cy="3403600"/>
          </a:xfrm>
          <a:prstGeom prst="roundRect">
            <a:avLst>
              <a:gd name="adj" fmla="val 8000"/>
            </a:avLst>
          </a:prstGeom>
          <a:solidFill>
            <a:srgbClr val="FFFFFF"/>
          </a:solidFill>
          <a:ln w="15875">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10EE92B3-B8C2-95DE-ED43-23C53F0D6F13}"/>
              </a:ext>
            </a:extLst>
          </p:cNvPr>
          <p:cNvSpPr txBox="1"/>
          <p:nvPr/>
        </p:nvSpPr>
        <p:spPr>
          <a:xfrm>
            <a:off x="15036800" y="2997200"/>
            <a:ext cx="8458200" cy="538609"/>
          </a:xfrm>
          <a:prstGeom prst="rect">
            <a:avLst/>
          </a:prstGeom>
          <a:noFill/>
        </p:spPr>
        <p:txBody>
          <a:bodyPr vert="horz" wrap="square" lIns="0" tIns="0" rtlCol="0">
            <a:spAutoFit/>
          </a:bodyPr>
          <a:lstStyle/>
          <a:p>
            <a:r>
              <a:rPr kumimoji="1" lang="en-US" altLang="ja-JP" sz="3200" b="1" dirty="0">
                <a:solidFill>
                  <a:srgbClr val="1B74AA"/>
                </a:solidFill>
                <a:latin typeface="Arial" panose="020B0604020202020204" pitchFamily="34" charset="0"/>
              </a:rPr>
              <a:t>Observation</a:t>
            </a:r>
            <a:endParaRPr kumimoji="1" lang="ja-JP" altLang="en-US" sz="3200" b="1" dirty="0">
              <a:solidFill>
                <a:srgbClr val="1B74AA"/>
              </a:solidFill>
              <a:latin typeface="Arial" panose="020B0604020202020204" pitchFamily="34" charset="0"/>
            </a:endParaRPr>
          </a:p>
        </p:txBody>
      </p:sp>
      <p:sp>
        <p:nvSpPr>
          <p:cNvPr id="25" name="テキスト ボックス 24">
            <a:extLst>
              <a:ext uri="{FF2B5EF4-FFF2-40B4-BE49-F238E27FC236}">
                <a16:creationId xmlns:a16="http://schemas.microsoft.com/office/drawing/2014/main" id="{FC947A9B-DBDD-2C41-4E24-14423AC74B7A}"/>
              </a:ext>
            </a:extLst>
          </p:cNvPr>
          <p:cNvSpPr txBox="1"/>
          <p:nvPr/>
        </p:nvSpPr>
        <p:spPr>
          <a:xfrm>
            <a:off x="15036800" y="3860800"/>
            <a:ext cx="8458200" cy="1031051"/>
          </a:xfrm>
          <a:prstGeom prst="rect">
            <a:avLst/>
          </a:prstGeom>
          <a:noFill/>
        </p:spPr>
        <p:txBody>
          <a:bodyPr vert="horz" wrap="square" lIns="0" tIns="0" rtlCol="0">
            <a:spAutoFit/>
          </a:bodyPr>
          <a:lstStyle/>
          <a:p>
            <a:r>
              <a:rPr kumimoji="1" lang="en-US" altLang="ja-JP" sz="3200" dirty="0">
                <a:solidFill>
                  <a:srgbClr val="232B34"/>
                </a:solidFill>
                <a:latin typeface="Arial" panose="020B0604020202020204" pitchFamily="34" charset="0"/>
              </a:rPr>
              <a:t>Similar within-orbit waveform, different mean offsets</a:t>
            </a:r>
            <a:endParaRPr kumimoji="1" lang="ja-JP" altLang="en-US" sz="3200" dirty="0">
              <a:solidFill>
                <a:srgbClr val="232B34"/>
              </a:solidFill>
              <a:latin typeface="Arial" panose="020B0604020202020204" pitchFamily="34" charset="0"/>
            </a:endParaRPr>
          </a:p>
        </p:txBody>
      </p:sp>
      <p:sp>
        <p:nvSpPr>
          <p:cNvPr id="26" name="四角形: 角を丸くする 25">
            <a:extLst>
              <a:ext uri="{FF2B5EF4-FFF2-40B4-BE49-F238E27FC236}">
                <a16:creationId xmlns:a16="http://schemas.microsoft.com/office/drawing/2014/main" id="{4FBD414F-76AA-36B7-986F-1D7C3D1C3025}"/>
              </a:ext>
            </a:extLst>
          </p:cNvPr>
          <p:cNvSpPr/>
          <p:nvPr/>
        </p:nvSpPr>
        <p:spPr>
          <a:xfrm>
            <a:off x="14630400" y="6350000"/>
            <a:ext cx="9271000" cy="3403600"/>
          </a:xfrm>
          <a:prstGeom prst="roundRect">
            <a:avLst>
              <a:gd name="adj" fmla="val 8000"/>
            </a:avLst>
          </a:prstGeom>
          <a:solidFill>
            <a:srgbClr val="FFFFFF"/>
          </a:solidFill>
          <a:ln w="15875">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DC9D77C1-6123-F76E-5F55-E5C4ED516CCD}"/>
              </a:ext>
            </a:extLst>
          </p:cNvPr>
          <p:cNvSpPr txBox="1"/>
          <p:nvPr/>
        </p:nvSpPr>
        <p:spPr>
          <a:xfrm>
            <a:off x="15036800" y="6705600"/>
            <a:ext cx="8458200" cy="538609"/>
          </a:xfrm>
          <a:prstGeom prst="rect">
            <a:avLst/>
          </a:prstGeom>
          <a:noFill/>
        </p:spPr>
        <p:txBody>
          <a:bodyPr vert="horz" wrap="square" lIns="0" tIns="0" rtlCol="0">
            <a:spAutoFit/>
          </a:bodyPr>
          <a:lstStyle/>
          <a:p>
            <a:r>
              <a:rPr kumimoji="1" lang="en-US" altLang="ja-JP" sz="3200" b="1">
                <a:solidFill>
                  <a:srgbClr val="1B74AA"/>
                </a:solidFill>
                <a:latin typeface="Arial" panose="020B0604020202020204" pitchFamily="34" charset="0"/>
              </a:rPr>
              <a:t>Interpretation</a:t>
            </a:r>
            <a:endParaRPr kumimoji="1" lang="ja-JP" altLang="en-US" sz="3200" b="1">
              <a:solidFill>
                <a:srgbClr val="1B74AA"/>
              </a:solidFill>
              <a:latin typeface="Arial" panose="020B0604020202020204" pitchFamily="34" charset="0"/>
            </a:endParaRPr>
          </a:p>
        </p:txBody>
      </p:sp>
      <p:sp>
        <p:nvSpPr>
          <p:cNvPr id="28" name="テキスト ボックス 27">
            <a:extLst>
              <a:ext uri="{FF2B5EF4-FFF2-40B4-BE49-F238E27FC236}">
                <a16:creationId xmlns:a16="http://schemas.microsoft.com/office/drawing/2014/main" id="{80E50AB4-CF08-D5A2-9AFD-10047BB40ADA}"/>
              </a:ext>
            </a:extLst>
          </p:cNvPr>
          <p:cNvSpPr txBox="1"/>
          <p:nvPr/>
        </p:nvSpPr>
        <p:spPr>
          <a:xfrm>
            <a:off x="15036800" y="7569200"/>
            <a:ext cx="8458200" cy="1031051"/>
          </a:xfrm>
          <a:prstGeom prst="rect">
            <a:avLst/>
          </a:prstGeom>
          <a:noFill/>
        </p:spPr>
        <p:txBody>
          <a:bodyPr vert="horz" wrap="square" lIns="0" tIns="0" rtlCol="0">
            <a:spAutoFit/>
          </a:bodyPr>
          <a:lstStyle/>
          <a:p>
            <a:r>
              <a:rPr kumimoji="1" lang="en-US" altLang="ja-JP" sz="3200" dirty="0">
                <a:solidFill>
                  <a:srgbClr val="232B34"/>
                </a:solidFill>
                <a:latin typeface="Arial" panose="020B0604020202020204" pitchFamily="34" charset="0"/>
              </a:rPr>
              <a:t>Orbital variation is largely shared:</a:t>
            </a:r>
          </a:p>
          <a:p>
            <a:r>
              <a:rPr kumimoji="1" lang="en-US" altLang="ja-JP" sz="3200" dirty="0">
                <a:solidFill>
                  <a:srgbClr val="232B34"/>
                </a:solidFill>
                <a:latin typeface="Arial" panose="020B0604020202020204" pitchFamily="34" charset="0"/>
              </a:rPr>
              <a:t>Equipment dissipation shifts the mean level</a:t>
            </a:r>
            <a:endParaRPr kumimoji="1" lang="ja-JP" altLang="en-US" sz="3200" dirty="0">
              <a:solidFill>
                <a:srgbClr val="232B34"/>
              </a:solidFill>
              <a:latin typeface="Arial" panose="020B0604020202020204" pitchFamily="34" charset="0"/>
            </a:endParaRPr>
          </a:p>
        </p:txBody>
      </p:sp>
      <p:sp>
        <p:nvSpPr>
          <p:cNvPr id="29" name="テキスト ボックス 28">
            <a:extLst>
              <a:ext uri="{FF2B5EF4-FFF2-40B4-BE49-F238E27FC236}">
                <a16:creationId xmlns:a16="http://schemas.microsoft.com/office/drawing/2014/main" id="{BFC333D9-28DE-C5D6-F940-2FE716237A0F}"/>
              </a:ext>
            </a:extLst>
          </p:cNvPr>
          <p:cNvSpPr txBox="1"/>
          <p:nvPr/>
        </p:nvSpPr>
        <p:spPr>
          <a:xfrm>
            <a:off x="1016000" y="10975340"/>
            <a:ext cx="22352000" cy="477054"/>
          </a:xfrm>
          <a:prstGeom prst="rect">
            <a:avLst/>
          </a:prstGeom>
          <a:noFill/>
        </p:spPr>
        <p:txBody>
          <a:bodyPr vert="horz" wrap="square" lIns="0" tIns="0" rtlCol="0">
            <a:spAutoFit/>
          </a:bodyPr>
          <a:lstStyle/>
          <a:p>
            <a:pPr algn="ctr"/>
            <a:r>
              <a:rPr kumimoji="1" lang="en-US" altLang="ja-JP" sz="2800" b="1" dirty="0">
                <a:solidFill>
                  <a:srgbClr val="232B34"/>
                </a:solidFill>
                <a:latin typeface="Arial" panose="020B0604020202020204" pitchFamily="34" charset="0"/>
              </a:rPr>
              <a:t>Modeling choice</a:t>
            </a:r>
            <a:endParaRPr kumimoji="1" lang="ja-JP" altLang="en-US" sz="2800" b="1" dirty="0">
              <a:solidFill>
                <a:srgbClr val="232B34"/>
              </a:solidFill>
              <a:latin typeface="Arial" panose="020B0604020202020204" pitchFamily="34" charset="0"/>
            </a:endParaRPr>
          </a:p>
        </p:txBody>
      </p:sp>
      <p:sp>
        <p:nvSpPr>
          <p:cNvPr id="30" name="テキスト ボックス 29">
            <a:extLst>
              <a:ext uri="{FF2B5EF4-FFF2-40B4-BE49-F238E27FC236}">
                <a16:creationId xmlns:a16="http://schemas.microsoft.com/office/drawing/2014/main" id="{641413B7-9739-75B8-4AE7-C1B238DFD044}"/>
              </a:ext>
            </a:extLst>
          </p:cNvPr>
          <p:cNvSpPr txBox="1"/>
          <p:nvPr/>
        </p:nvSpPr>
        <p:spPr>
          <a:xfrm>
            <a:off x="762000" y="11498580"/>
            <a:ext cx="22860000" cy="661720"/>
          </a:xfrm>
          <a:prstGeom prst="rect">
            <a:avLst/>
          </a:prstGeom>
          <a:noFill/>
        </p:spPr>
        <p:txBody>
          <a:bodyPr vert="horz" wrap="square" lIns="0" tIns="0" rtlCol="0">
            <a:spAutoFit/>
          </a:bodyPr>
          <a:lstStyle/>
          <a:p>
            <a:pPr algn="ctr"/>
            <a:r>
              <a:rPr kumimoji="1" lang="en-US" altLang="ja-JP" sz="4000" b="1" dirty="0">
                <a:solidFill>
                  <a:srgbClr val="082B52"/>
                </a:solidFill>
                <a:latin typeface="Arial" panose="020B0604020202020204" pitchFamily="34" charset="0"/>
              </a:rPr>
              <a:t>Thermal LOS  =  Time-varying term  +  Case-dependent bias</a:t>
            </a:r>
            <a:endParaRPr kumimoji="1" lang="ja-JP" altLang="en-US" sz="4000" b="1" dirty="0">
              <a:solidFill>
                <a:srgbClr val="082B52"/>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463AB-B8F3-8DC8-987F-A486F27B8B2E}"/>
            </a:ext>
          </a:extLst>
        </p:cNvPr>
        <p:cNvGrpSpPr/>
        <p:nvPr/>
      </p:nvGrpSpPr>
      <p:grpSpPr>
        <a:xfrm>
          <a:off x="0" y="0"/>
          <a:ext cx="0" cy="0"/>
          <a:chOff x="0" y="0"/>
          <a:chExt cx="0" cy="0"/>
        </a:xfrm>
      </p:grpSpPr>
      <p:sp>
        <p:nvSpPr>
          <p:cNvPr id="13" name="TextBox 2">
            <a:extLst>
              <a:ext uri="{FF2B5EF4-FFF2-40B4-BE49-F238E27FC236}">
                <a16:creationId xmlns:a16="http://schemas.microsoft.com/office/drawing/2014/main" id="{DF026E16-6558-6EEA-9100-74BFD8FDF688}"/>
              </a:ext>
            </a:extLst>
          </p:cNvPr>
          <p:cNvSpPr txBox="1"/>
          <p:nvPr/>
        </p:nvSpPr>
        <p:spPr>
          <a:xfrm>
            <a:off x="1536192" y="1269999"/>
            <a:ext cx="22037040" cy="1040285"/>
          </a:xfrm>
          <a:prstGeom prst="rect">
            <a:avLst/>
          </a:prstGeom>
          <a:noFill/>
        </p:spPr>
        <p:txBody>
          <a:bodyPr wrap="square" lIns="0" tIns="27432" rIns="0"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dirty="0">
                <a:solidFill>
                  <a:srgbClr val="082B52"/>
                </a:solidFill>
                <a:latin typeface="Arial" panose="020B0604020202020204" pitchFamily="34" charset="0"/>
                <a:ea typeface="Yu Gothic"/>
              </a:rPr>
              <a:t>Thermal LOS variation closely follows the sun-facing–opposite-panel temperature difference</a:t>
            </a:r>
            <a:endParaRPr lang="en-US" sz="3200" b="1" dirty="0">
              <a:solidFill>
                <a:srgbClr val="082B52"/>
              </a:solidFill>
              <a:latin typeface="Arial" panose="020B0604020202020204" pitchFamily="34" charset="0"/>
            </a:endParaRPr>
          </a:p>
        </p:txBody>
      </p:sp>
      <p:sp>
        <p:nvSpPr>
          <p:cNvPr id="19" name="TextBox 8">
            <a:extLst>
              <a:ext uri="{FF2B5EF4-FFF2-40B4-BE49-F238E27FC236}">
                <a16:creationId xmlns:a16="http://schemas.microsoft.com/office/drawing/2014/main" id="{E5AE464D-DFE6-09C6-65DA-8D2CC851F626}"/>
              </a:ext>
            </a:extLst>
          </p:cNvPr>
          <p:cNvSpPr txBox="1"/>
          <p:nvPr/>
        </p:nvSpPr>
        <p:spPr>
          <a:xfrm>
            <a:off x="12192000" y="8902699"/>
            <a:ext cx="8636000" cy="366254"/>
          </a:xfrm>
          <a:prstGeom prst="rect">
            <a:avLst/>
          </a:prstGeom>
          <a:noFill/>
        </p:spPr>
        <p:txBody>
          <a:bodyPr wrap="square" lIns="0" tIns="0" rIns="0" bIns="27432" anchor="t">
            <a:spAutoFit/>
          </a:bodyPr>
          <a:lstStyle/>
          <a:p>
            <a:pPr algn="ctr">
              <a:spcAft>
                <a:spcPts val="0"/>
              </a:spcAft>
            </a:pPr>
            <a:r>
              <a:rPr lang="en-US" sz="2200">
                <a:solidFill>
                  <a:srgbClr val="232B34"/>
                </a:solidFill>
                <a:latin typeface="Arial" panose="020B0604020202020204" pitchFamily="34" charset="0"/>
                <a:ea typeface="Yu Gothic"/>
              </a:rPr>
              <a:t>Far-field LOS, Y axis (MY-PY)</a:t>
            </a:r>
            <a:endParaRPr lang="en-US" sz="2200" dirty="0">
              <a:solidFill>
                <a:srgbClr val="232B34"/>
              </a:solidFill>
              <a:latin typeface="Arial" panose="020B0604020202020204" pitchFamily="34" charset="0"/>
              <a:ea typeface="Yu Gothic"/>
            </a:endParaRPr>
          </a:p>
        </p:txBody>
      </p:sp>
      <p:sp>
        <p:nvSpPr>
          <p:cNvPr id="21" name="TextBox 9">
            <a:extLst>
              <a:ext uri="{FF2B5EF4-FFF2-40B4-BE49-F238E27FC236}">
                <a16:creationId xmlns:a16="http://schemas.microsoft.com/office/drawing/2014/main" id="{E830988C-07D9-F5B9-9874-7C1D60418F77}"/>
              </a:ext>
            </a:extLst>
          </p:cNvPr>
          <p:cNvSpPr txBox="1"/>
          <p:nvPr/>
        </p:nvSpPr>
        <p:spPr>
          <a:xfrm>
            <a:off x="3556000" y="8902699"/>
            <a:ext cx="8636000" cy="366254"/>
          </a:xfrm>
          <a:prstGeom prst="rect">
            <a:avLst/>
          </a:prstGeom>
          <a:noFill/>
        </p:spPr>
        <p:txBody>
          <a:bodyPr wrap="square" lIns="0" tIns="0" rIns="0" bIns="27432" anchor="t">
            <a:spAutoFit/>
          </a:bodyPr>
          <a:lstStyle/>
          <a:p>
            <a:pPr algn="ctr">
              <a:spcAft>
                <a:spcPts val="0"/>
              </a:spcAft>
            </a:pPr>
            <a:r>
              <a:rPr lang="en-US" sz="2200">
                <a:solidFill>
                  <a:srgbClr val="232B34"/>
                </a:solidFill>
                <a:latin typeface="Arial" panose="020B0604020202020204" pitchFamily="34" charset="0"/>
                <a:ea typeface="Yu Gothic"/>
              </a:rPr>
              <a:t>MY center - PY center</a:t>
            </a:r>
            <a:endParaRPr lang="en-US" sz="2200" dirty="0">
              <a:solidFill>
                <a:srgbClr val="232B34"/>
              </a:solidFill>
              <a:latin typeface="Arial" panose="020B0604020202020204" pitchFamily="34" charset="0"/>
              <a:ea typeface="Yu Gothic"/>
            </a:endParaRPr>
          </a:p>
        </p:txBody>
      </p:sp>
      <p:sp>
        <p:nvSpPr>
          <p:cNvPr id="3" name="TextBox 1">
            <a:extLst>
              <a:ext uri="{FF2B5EF4-FFF2-40B4-BE49-F238E27FC236}">
                <a16:creationId xmlns:a16="http://schemas.microsoft.com/office/drawing/2014/main" id="{EFF92B7E-D74D-E897-B84B-C149C90DF9CC}"/>
              </a:ext>
            </a:extLst>
          </p:cNvPr>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Thermoelastic analysis</a:t>
            </a:r>
            <a:endParaRPr lang="en-US" sz="2000" b="0" dirty="0">
              <a:solidFill>
                <a:srgbClr val="666F79"/>
              </a:solidFill>
              <a:latin typeface="Arial" panose="020B0604020202020204" pitchFamily="34" charset="0"/>
              <a:ea typeface="Yu Gothic"/>
            </a:endParaRPr>
          </a:p>
        </p:txBody>
      </p:sp>
      <p:pic>
        <p:nvPicPr>
          <p:cNvPr id="5" name="図 4">
            <a:extLst>
              <a:ext uri="{FF2B5EF4-FFF2-40B4-BE49-F238E27FC236}">
                <a16:creationId xmlns:a16="http://schemas.microsoft.com/office/drawing/2014/main" id="{55E02E62-9C27-6F62-21F1-013F7AF88BB1}"/>
              </a:ext>
            </a:extLst>
          </p:cNvPr>
          <p:cNvPicPr>
            <a:picLocks/>
          </p:cNvPicPr>
          <p:nvPr/>
        </p:nvPicPr>
        <p:blipFill>
          <a:blip r:embed="rId3"/>
          <a:stretch>
            <a:fillRect/>
          </a:stretch>
        </p:blipFill>
        <p:spPr>
          <a:xfrm>
            <a:off x="3556000" y="2514600"/>
            <a:ext cx="17272000" cy="6337300"/>
          </a:xfrm>
          <a:prstGeom prst="rect">
            <a:avLst/>
          </a:prstGeom>
        </p:spPr>
      </p:pic>
      <p:sp>
        <p:nvSpPr>
          <p:cNvPr id="6" name="テキスト ボックス 5">
            <a:extLst>
              <a:ext uri="{FF2B5EF4-FFF2-40B4-BE49-F238E27FC236}">
                <a16:creationId xmlns:a16="http://schemas.microsoft.com/office/drawing/2014/main" id="{54644474-2800-11CD-2A9F-BA8FABCE5C2D}"/>
              </a:ext>
            </a:extLst>
          </p:cNvPr>
          <p:cNvSpPr txBox="1"/>
          <p:nvPr/>
        </p:nvSpPr>
        <p:spPr>
          <a:xfrm>
            <a:off x="22715519" y="12700000"/>
            <a:ext cx="1058881" cy="523220"/>
          </a:xfrm>
          <a:prstGeom prst="rect">
            <a:avLst/>
          </a:prstGeom>
          <a:noFill/>
        </p:spPr>
        <p:txBody>
          <a:bodyPr vert="horz" wrap="none" rtlCol="0">
            <a:spAutoFit/>
          </a:bodyPr>
          <a:lstStyle/>
          <a:p>
            <a:pPr algn="r"/>
            <a:r>
              <a:rPr kumimoji="1" lang="en-US" altLang="ja-JP" sz="2800" dirty="0">
                <a:solidFill>
                  <a:srgbClr val="666F79"/>
                </a:solidFill>
                <a:latin typeface="Arial" panose="020B0604020202020204" pitchFamily="34" charset="0"/>
              </a:rPr>
              <a:t>11/17</a:t>
            </a:r>
          </a:p>
        </p:txBody>
      </p:sp>
      <p:sp>
        <p:nvSpPr>
          <p:cNvPr id="2" name="四角形: 角を丸くする 1">
            <a:extLst>
              <a:ext uri="{FF2B5EF4-FFF2-40B4-BE49-F238E27FC236}">
                <a16:creationId xmlns:a16="http://schemas.microsoft.com/office/drawing/2014/main" id="{EBFDC49E-42C3-3E76-07A5-0A35A981641D}"/>
              </a:ext>
            </a:extLst>
          </p:cNvPr>
          <p:cNvSpPr/>
          <p:nvPr/>
        </p:nvSpPr>
        <p:spPr>
          <a:xfrm>
            <a:off x="1549400" y="9410700"/>
            <a:ext cx="10414000" cy="1879600"/>
          </a:xfrm>
          <a:prstGeom prst="roundRect">
            <a:avLst>
              <a:gd name="adj" fmla="val 12000"/>
            </a:avLst>
          </a:prstGeom>
          <a:solidFill>
            <a:srgbClr val="FFFFFF"/>
          </a:solidFill>
          <a:ln w="15875">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3E24CA26-54E3-ECAC-C341-8B856C2CCF4F}"/>
              </a:ext>
            </a:extLst>
          </p:cNvPr>
          <p:cNvSpPr txBox="1"/>
          <p:nvPr/>
        </p:nvSpPr>
        <p:spPr>
          <a:xfrm>
            <a:off x="1854200" y="9613900"/>
            <a:ext cx="9804400" cy="538609"/>
          </a:xfrm>
          <a:prstGeom prst="rect">
            <a:avLst/>
          </a:prstGeom>
          <a:noFill/>
        </p:spPr>
        <p:txBody>
          <a:bodyPr vert="horz" wrap="square" lIns="0" tIns="0" rtlCol="0">
            <a:spAutoFit/>
          </a:bodyPr>
          <a:lstStyle/>
          <a:p>
            <a:r>
              <a:rPr kumimoji="1" lang="en-US" altLang="ja-JP" sz="3200" b="1" dirty="0">
                <a:solidFill>
                  <a:srgbClr val="1B74AA"/>
                </a:solidFill>
                <a:latin typeface="Arial" panose="020B0604020202020204" pitchFamily="34" charset="0"/>
              </a:rPr>
              <a:t>Observation</a:t>
            </a:r>
            <a:endParaRPr kumimoji="1" lang="ja-JP" altLang="en-US" sz="3200" b="1" dirty="0">
              <a:solidFill>
                <a:srgbClr val="1B74AA"/>
              </a:solidFill>
              <a:latin typeface="Arial" panose="020B0604020202020204" pitchFamily="34" charset="0"/>
            </a:endParaRPr>
          </a:p>
        </p:txBody>
      </p:sp>
      <p:sp>
        <p:nvSpPr>
          <p:cNvPr id="7" name="テキスト ボックス 6">
            <a:extLst>
              <a:ext uri="{FF2B5EF4-FFF2-40B4-BE49-F238E27FC236}">
                <a16:creationId xmlns:a16="http://schemas.microsoft.com/office/drawing/2014/main" id="{3F8614E5-7D34-D641-F722-C386D55F2E7B}"/>
              </a:ext>
            </a:extLst>
          </p:cNvPr>
          <p:cNvSpPr txBox="1"/>
          <p:nvPr/>
        </p:nvSpPr>
        <p:spPr>
          <a:xfrm>
            <a:off x="1854200" y="10147300"/>
            <a:ext cx="9804400" cy="1031051"/>
          </a:xfrm>
          <a:prstGeom prst="rect">
            <a:avLst/>
          </a:prstGeom>
          <a:noFill/>
        </p:spPr>
        <p:txBody>
          <a:bodyPr vert="horz" wrap="square" lIns="0" tIns="0" rtlCol="0">
            <a:spAutoFit/>
          </a:bodyPr>
          <a:lstStyle/>
          <a:p>
            <a:r>
              <a:rPr kumimoji="1" lang="en-US" altLang="ja-JP" sz="3200" dirty="0">
                <a:solidFill>
                  <a:srgbClr val="232B34"/>
                </a:solidFill>
                <a:latin typeface="Arial" panose="020B0604020202020204" pitchFamily="34" charset="0"/>
              </a:rPr>
              <a:t>Panel ΔT and thermal LOS show nearly identical orbital variations.</a:t>
            </a:r>
            <a:endParaRPr kumimoji="1" lang="ja-JP" altLang="en-US" sz="3200" dirty="0">
              <a:solidFill>
                <a:srgbClr val="232B34"/>
              </a:solidFill>
              <a:latin typeface="Arial" panose="020B0604020202020204" pitchFamily="34" charset="0"/>
            </a:endParaRPr>
          </a:p>
        </p:txBody>
      </p:sp>
      <p:sp>
        <p:nvSpPr>
          <p:cNvPr id="8" name="四角形: 角を丸くする 7">
            <a:extLst>
              <a:ext uri="{FF2B5EF4-FFF2-40B4-BE49-F238E27FC236}">
                <a16:creationId xmlns:a16="http://schemas.microsoft.com/office/drawing/2014/main" id="{EA25FFBB-4051-0301-E72A-13F241E15A87}"/>
              </a:ext>
            </a:extLst>
          </p:cNvPr>
          <p:cNvSpPr/>
          <p:nvPr/>
        </p:nvSpPr>
        <p:spPr>
          <a:xfrm>
            <a:off x="12420600" y="9410700"/>
            <a:ext cx="10414000" cy="1879600"/>
          </a:xfrm>
          <a:prstGeom prst="roundRect">
            <a:avLst>
              <a:gd name="adj" fmla="val 12000"/>
            </a:avLst>
          </a:prstGeom>
          <a:solidFill>
            <a:srgbClr val="FFFFFF"/>
          </a:solidFill>
          <a:ln w="15875">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CBF882E8-D503-C866-6FA9-3C117439925C}"/>
              </a:ext>
            </a:extLst>
          </p:cNvPr>
          <p:cNvSpPr txBox="1"/>
          <p:nvPr/>
        </p:nvSpPr>
        <p:spPr>
          <a:xfrm>
            <a:off x="12725400" y="9613900"/>
            <a:ext cx="9804400" cy="538609"/>
          </a:xfrm>
          <a:prstGeom prst="rect">
            <a:avLst/>
          </a:prstGeom>
          <a:noFill/>
        </p:spPr>
        <p:txBody>
          <a:bodyPr vert="horz" wrap="square" lIns="0" tIns="0" rtlCol="0">
            <a:spAutoFit/>
          </a:bodyPr>
          <a:lstStyle/>
          <a:p>
            <a:r>
              <a:rPr kumimoji="1" lang="en-US" altLang="ja-JP" sz="3200" b="1" dirty="0">
                <a:solidFill>
                  <a:srgbClr val="1B74AA"/>
                </a:solidFill>
                <a:latin typeface="Arial" panose="020B0604020202020204" pitchFamily="34" charset="0"/>
              </a:rPr>
              <a:t>Interpretation</a:t>
            </a:r>
            <a:endParaRPr kumimoji="1" lang="ja-JP" altLang="en-US" sz="3200" b="1" dirty="0">
              <a:solidFill>
                <a:srgbClr val="1B74AA"/>
              </a:solidFill>
              <a:latin typeface="Arial" panose="020B0604020202020204" pitchFamily="34" charset="0"/>
            </a:endParaRPr>
          </a:p>
        </p:txBody>
      </p:sp>
      <p:sp>
        <p:nvSpPr>
          <p:cNvPr id="10" name="テキスト ボックス 9">
            <a:extLst>
              <a:ext uri="{FF2B5EF4-FFF2-40B4-BE49-F238E27FC236}">
                <a16:creationId xmlns:a16="http://schemas.microsoft.com/office/drawing/2014/main" id="{18352675-40F2-C1A8-0CA3-01EABCB77E42}"/>
              </a:ext>
            </a:extLst>
          </p:cNvPr>
          <p:cNvSpPr txBox="1"/>
          <p:nvPr/>
        </p:nvSpPr>
        <p:spPr>
          <a:xfrm>
            <a:off x="12725400" y="10147300"/>
            <a:ext cx="9804400" cy="1031051"/>
          </a:xfrm>
          <a:prstGeom prst="rect">
            <a:avLst/>
          </a:prstGeom>
          <a:noFill/>
        </p:spPr>
        <p:txBody>
          <a:bodyPr vert="horz" wrap="square" lIns="0" tIns="0" rtlCol="0">
            <a:spAutoFit/>
          </a:bodyPr>
          <a:lstStyle/>
          <a:p>
            <a:r>
              <a:rPr kumimoji="1" lang="en-US" altLang="ja-JP" sz="3200">
                <a:solidFill>
                  <a:srgbClr val="232B34"/>
                </a:solidFill>
                <a:latin typeface="Arial" panose="020B0604020202020204" pitchFamily="34" charset="0"/>
              </a:rPr>
              <a:t>Panel ΔT is a promising predictor of time-varying thermal LOS.</a:t>
            </a:r>
            <a:endParaRPr kumimoji="1" lang="ja-JP" altLang="en-US" sz="3200">
              <a:solidFill>
                <a:srgbClr val="232B34"/>
              </a:solidFill>
              <a:latin typeface="Arial" panose="020B0604020202020204" pitchFamily="34" charset="0"/>
            </a:endParaRPr>
          </a:p>
        </p:txBody>
      </p:sp>
      <p:sp>
        <p:nvSpPr>
          <p:cNvPr id="11" name="テキスト ボックス 10">
            <a:extLst>
              <a:ext uri="{FF2B5EF4-FFF2-40B4-BE49-F238E27FC236}">
                <a16:creationId xmlns:a16="http://schemas.microsoft.com/office/drawing/2014/main" id="{ECAD0B94-16B8-C068-4413-C72F39D059A8}"/>
              </a:ext>
            </a:extLst>
          </p:cNvPr>
          <p:cNvSpPr txBox="1"/>
          <p:nvPr/>
        </p:nvSpPr>
        <p:spPr>
          <a:xfrm>
            <a:off x="1016000" y="12019280"/>
            <a:ext cx="22352000" cy="661720"/>
          </a:xfrm>
          <a:prstGeom prst="rect">
            <a:avLst/>
          </a:prstGeom>
          <a:noFill/>
        </p:spPr>
        <p:txBody>
          <a:bodyPr vert="horz" wrap="square" lIns="0" tIns="0" rtlCol="0">
            <a:spAutoFit/>
          </a:bodyPr>
          <a:lstStyle/>
          <a:p>
            <a:pPr algn="ctr"/>
            <a:r>
              <a:rPr kumimoji="1" lang="en-US" altLang="ja-JP" sz="4000" b="1" dirty="0">
                <a:solidFill>
                  <a:srgbClr val="082B52"/>
                </a:solidFill>
                <a:latin typeface="Arial" panose="020B0604020202020204" pitchFamily="34" charset="0"/>
              </a:rPr>
              <a:t>Time-varying thermal LOS  ∝  Panel ΔT</a:t>
            </a:r>
            <a:endParaRPr kumimoji="1" lang="ja-JP" altLang="en-US" sz="4000" b="1" dirty="0">
              <a:solidFill>
                <a:srgbClr val="082B52"/>
              </a:solidFill>
              <a:latin typeface="Arial" panose="020B0604020202020204" pitchFamily="34" charset="0"/>
            </a:endParaRPr>
          </a:p>
        </p:txBody>
      </p:sp>
    </p:spTree>
    <p:extLst>
      <p:ext uri="{BB962C8B-B14F-4D97-AF65-F5344CB8AC3E}">
        <p14:creationId xmlns:p14="http://schemas.microsoft.com/office/powerpoint/2010/main" val="1379133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498A-D134-1DB7-BEEC-89F4ACDABE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132FC5-CEFF-682E-12E1-776DF31BA0AA}"/>
              </a:ext>
            </a:extLst>
          </p:cNvPr>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Reduced-order model</a:t>
            </a:r>
            <a:endParaRPr lang="en-US" sz="2000" b="0" dirty="0">
              <a:solidFill>
                <a:srgbClr val="666F79"/>
              </a:solidFill>
              <a:latin typeface="Arial" panose="020B0604020202020204" pitchFamily="34" charset="0"/>
              <a:ea typeface="Yu Gothic"/>
            </a:endParaRPr>
          </a:p>
        </p:txBody>
      </p:sp>
      <p:sp>
        <p:nvSpPr>
          <p:cNvPr id="3" name="TextBox 2">
            <a:extLst>
              <a:ext uri="{FF2B5EF4-FFF2-40B4-BE49-F238E27FC236}">
                <a16:creationId xmlns:a16="http://schemas.microsoft.com/office/drawing/2014/main" id="{3E06BBAA-7C1E-6C59-0838-394848810869}"/>
              </a:ext>
            </a:extLst>
          </p:cNvPr>
          <p:cNvSpPr txBox="1"/>
          <p:nvPr/>
        </p:nvSpPr>
        <p:spPr>
          <a:xfrm>
            <a:off x="1536192" y="1298448"/>
            <a:ext cx="22037040" cy="1040285"/>
          </a:xfrm>
          <a:prstGeom prst="rect">
            <a:avLst/>
          </a:prstGeom>
          <a:noFill/>
        </p:spPr>
        <p:txBody>
          <a:bodyPr wrap="square" lIns="0" tIns="27432" rIns="0"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dirty="0">
                <a:solidFill>
                  <a:srgbClr val="082B52"/>
                </a:solidFill>
                <a:latin typeface="Arial" panose="020B0604020202020204" pitchFamily="34" charset="0"/>
                <a:ea typeface="Yu Gothic"/>
              </a:rPr>
              <a:t>A hierarchical model predicts thermal LOS using panel ΔT and operating states</a:t>
            </a:r>
            <a:endParaRPr lang="en-US" altLang="ja-JP" sz="3200" b="1" dirty="0">
              <a:solidFill>
                <a:srgbClr val="082B52"/>
              </a:solidFill>
              <a:latin typeface="Arial" panose="020B0604020202020204" pitchFamily="34" charset="0"/>
            </a:endParaRPr>
          </a:p>
        </p:txBody>
      </p:sp>
      <p:sp>
        <p:nvSpPr>
          <p:cNvPr id="4" name="TextBox 3">
            <a:extLst>
              <a:ext uri="{FF2B5EF4-FFF2-40B4-BE49-F238E27FC236}">
                <a16:creationId xmlns:a16="http://schemas.microsoft.com/office/drawing/2014/main" id="{53C37490-C33E-76CF-2AD2-84281E463F88}"/>
              </a:ext>
            </a:extLst>
          </p:cNvPr>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12/17</a:t>
            </a:r>
          </a:p>
        </p:txBody>
      </p:sp>
      <p:sp>
        <p:nvSpPr>
          <p:cNvPr id="52" name="テキスト ボックス 51">
            <a:extLst>
              <a:ext uri="{FF2B5EF4-FFF2-40B4-BE49-F238E27FC236}">
                <a16:creationId xmlns:a16="http://schemas.microsoft.com/office/drawing/2014/main" id="{3955A62B-4A75-CEB7-EAB9-614B6031AE0A}"/>
              </a:ext>
            </a:extLst>
          </p:cNvPr>
          <p:cNvSpPr txBox="1"/>
          <p:nvPr/>
        </p:nvSpPr>
        <p:spPr>
          <a:xfrm>
            <a:off x="1016000" y="4615180"/>
            <a:ext cx="22352000" cy="584200"/>
          </a:xfrm>
          <a:prstGeom prst="rect">
            <a:avLst/>
          </a:prstGeom>
          <a:noFill/>
        </p:spPr>
        <p:txBody>
          <a:bodyPr vert="horz" wrap="square" lIns="0" tIns="0" rIns="0" bIns="0" rtlCol="0">
            <a:noAutofit/>
          </a:bodyPr>
          <a:lstStyle/>
          <a:p>
            <a:pPr algn="ctr"/>
            <a:r>
              <a:rPr kumimoji="1" lang="en-US" altLang="ja-JP" sz="3200">
                <a:solidFill>
                  <a:srgbClr val="1B74AA"/>
                </a:solidFill>
                <a:latin typeface="Arial" panose="020B0604020202020204" pitchFamily="34" charset="0"/>
              </a:rPr>
              <a:t>Time-varying component      </a:t>
            </a:r>
            <a:r>
              <a:rPr kumimoji="1" lang="en-US" altLang="ja-JP" sz="3200">
                <a:solidFill>
                  <a:srgbClr val="EC9427"/>
                </a:solidFill>
                <a:latin typeface="Arial" panose="020B0604020202020204" pitchFamily="34" charset="0"/>
              </a:rPr>
              <a:t>Case-dependent offset</a:t>
            </a:r>
            <a:endParaRPr kumimoji="1" lang="ja-JP" altLang="en-US" sz="3200">
              <a:solidFill>
                <a:srgbClr val="EC9427"/>
              </a:solidFill>
              <a:latin typeface="Arial" panose="020B0604020202020204" pitchFamily="34" charset="0"/>
            </a:endParaRPr>
          </a:p>
        </p:txBody>
      </p:sp>
      <p:sp>
        <p:nvSpPr>
          <p:cNvPr id="53" name="四角形: 角を丸くする 52">
            <a:extLst>
              <a:ext uri="{FF2B5EF4-FFF2-40B4-BE49-F238E27FC236}">
                <a16:creationId xmlns:a16="http://schemas.microsoft.com/office/drawing/2014/main" id="{DF004FA0-42CA-1CD8-FC09-7607D9F53F40}"/>
              </a:ext>
            </a:extLst>
          </p:cNvPr>
          <p:cNvSpPr/>
          <p:nvPr/>
        </p:nvSpPr>
        <p:spPr>
          <a:xfrm>
            <a:off x="812800" y="5402580"/>
            <a:ext cx="11176000" cy="4953000"/>
          </a:xfrm>
          <a:prstGeom prst="roundRect">
            <a:avLst>
              <a:gd name="adj" fmla="val 8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四角形: 角を丸くする 53">
            <a:extLst>
              <a:ext uri="{FF2B5EF4-FFF2-40B4-BE49-F238E27FC236}">
                <a16:creationId xmlns:a16="http://schemas.microsoft.com/office/drawing/2014/main" id="{33F1985C-181D-6A6F-401F-59751EE1DD4C}"/>
              </a:ext>
            </a:extLst>
          </p:cNvPr>
          <p:cNvSpPr/>
          <p:nvPr/>
        </p:nvSpPr>
        <p:spPr>
          <a:xfrm>
            <a:off x="12395200" y="5402580"/>
            <a:ext cx="11176000" cy="4953000"/>
          </a:xfrm>
          <a:prstGeom prst="roundRect">
            <a:avLst>
              <a:gd name="adj" fmla="val 8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3366D19E-618F-9175-3EF1-98B12DEAF33B}"/>
              </a:ext>
            </a:extLst>
          </p:cNvPr>
          <p:cNvSpPr txBox="1"/>
          <p:nvPr/>
        </p:nvSpPr>
        <p:spPr>
          <a:xfrm>
            <a:off x="1168400" y="5681980"/>
            <a:ext cx="10464800" cy="609600"/>
          </a:xfrm>
          <a:prstGeom prst="rect">
            <a:avLst/>
          </a:prstGeom>
          <a:noFill/>
        </p:spPr>
        <p:txBody>
          <a:bodyPr vert="horz" wrap="square" lIns="0" tIns="0" rIns="0" bIns="0" rtlCol="0">
            <a:noAutofit/>
          </a:bodyPr>
          <a:lstStyle/>
          <a:p>
            <a:pPr algn="ctr"/>
            <a:r>
              <a:rPr kumimoji="1" lang="en-US" altLang="ja-JP" sz="3200">
                <a:solidFill>
                  <a:srgbClr val="1B74AA"/>
                </a:solidFill>
                <a:latin typeface="Arial" panose="020B0604020202020204" pitchFamily="34" charset="0"/>
              </a:rPr>
              <a:t>Time-varying component</a:t>
            </a:r>
            <a:endParaRPr kumimoji="1" lang="ja-JP" altLang="en-US" sz="3200">
              <a:solidFill>
                <a:srgbClr val="1B74AA"/>
              </a:solidFill>
              <a:latin typeface="Arial" panose="020B0604020202020204" pitchFamily="34" charset="0"/>
            </a:endParaRPr>
          </a:p>
        </p:txBody>
      </p:sp>
      <p:sp>
        <p:nvSpPr>
          <p:cNvPr id="56" name="テキスト ボックス 55">
            <a:extLst>
              <a:ext uri="{FF2B5EF4-FFF2-40B4-BE49-F238E27FC236}">
                <a16:creationId xmlns:a16="http://schemas.microsoft.com/office/drawing/2014/main" id="{FD8CEFE9-D406-B6DC-E53D-E7B7FF9DF519}"/>
              </a:ext>
            </a:extLst>
          </p:cNvPr>
          <p:cNvSpPr txBox="1"/>
          <p:nvPr/>
        </p:nvSpPr>
        <p:spPr>
          <a:xfrm>
            <a:off x="12750800" y="5681980"/>
            <a:ext cx="10464800" cy="609600"/>
          </a:xfrm>
          <a:prstGeom prst="rect">
            <a:avLst/>
          </a:prstGeom>
          <a:noFill/>
        </p:spPr>
        <p:txBody>
          <a:bodyPr vert="horz" wrap="square" lIns="0" tIns="0" rIns="0" bIns="0" rtlCol="0">
            <a:noAutofit/>
          </a:bodyPr>
          <a:lstStyle/>
          <a:p>
            <a:pPr algn="ctr"/>
            <a:r>
              <a:rPr kumimoji="1" lang="en-US" altLang="ja-JP" sz="3200">
                <a:solidFill>
                  <a:srgbClr val="EC9427"/>
                </a:solidFill>
                <a:latin typeface="Arial" panose="020B0604020202020204" pitchFamily="34" charset="0"/>
              </a:rPr>
              <a:t>Case-dependent offset</a:t>
            </a:r>
            <a:endParaRPr kumimoji="1" lang="ja-JP" altLang="en-US" sz="3200">
              <a:solidFill>
                <a:srgbClr val="EC9427"/>
              </a:solidFill>
              <a:latin typeface="Arial" panose="020B0604020202020204" pitchFamily="34" charset="0"/>
            </a:endParaRPr>
          </a:p>
        </p:txBody>
      </p:sp>
      <p:sp>
        <p:nvSpPr>
          <p:cNvPr id="59" name="テキスト ボックス 58">
            <a:extLst>
              <a:ext uri="{FF2B5EF4-FFF2-40B4-BE49-F238E27FC236}">
                <a16:creationId xmlns:a16="http://schemas.microsoft.com/office/drawing/2014/main" id="{54D7A6D4-D811-FE0E-E035-B75C97B1FB91}"/>
              </a:ext>
            </a:extLst>
          </p:cNvPr>
          <p:cNvSpPr txBox="1"/>
          <p:nvPr/>
        </p:nvSpPr>
        <p:spPr>
          <a:xfrm>
            <a:off x="1219200" y="8323580"/>
            <a:ext cx="10363200" cy="1778000"/>
          </a:xfrm>
          <a:prstGeom prst="rect">
            <a:avLst/>
          </a:prstGeom>
          <a:noFill/>
        </p:spPr>
        <p:txBody>
          <a:bodyPr vert="horz" wrap="square" lIns="0" tIns="0" rIns="0" bIns="0" rtlCol="0">
            <a:noAutofit/>
          </a:bodyPr>
          <a:lstStyle/>
          <a:p>
            <a:pPr algn="ctr"/>
            <a:r>
              <a:rPr kumimoji="1" lang="en-US" altLang="ja-JP" sz="3200" dirty="0">
                <a:solidFill>
                  <a:srgbClr val="232B34"/>
                </a:solidFill>
                <a:latin typeface="Arial" panose="020B0604020202020204" pitchFamily="34" charset="0"/>
              </a:rPr>
              <a:t>Thermal sensitivity is shared across cases with the same sun-facing panel.</a:t>
            </a:r>
            <a:endParaRPr kumimoji="1" lang="ja-JP" altLang="en-US" sz="3200" dirty="0">
              <a:solidFill>
                <a:srgbClr val="232B34"/>
              </a:solidFill>
              <a:latin typeface="Arial" panose="020B0604020202020204" pitchFamily="34" charset="0"/>
            </a:endParaRPr>
          </a:p>
        </p:txBody>
      </p:sp>
      <p:sp>
        <p:nvSpPr>
          <p:cNvPr id="60" name="テキスト ボックス 59">
            <a:extLst>
              <a:ext uri="{FF2B5EF4-FFF2-40B4-BE49-F238E27FC236}">
                <a16:creationId xmlns:a16="http://schemas.microsoft.com/office/drawing/2014/main" id="{EEB14079-1657-0596-C786-7576ADF87021}"/>
              </a:ext>
            </a:extLst>
          </p:cNvPr>
          <p:cNvSpPr txBox="1"/>
          <p:nvPr/>
        </p:nvSpPr>
        <p:spPr>
          <a:xfrm>
            <a:off x="12801600" y="8323580"/>
            <a:ext cx="10363200" cy="1778000"/>
          </a:xfrm>
          <a:prstGeom prst="rect">
            <a:avLst/>
          </a:prstGeom>
          <a:noFill/>
        </p:spPr>
        <p:txBody>
          <a:bodyPr vert="horz" wrap="square" lIns="0" tIns="0" rIns="0" bIns="0" rtlCol="0">
            <a:noAutofit/>
          </a:bodyPr>
          <a:lstStyle/>
          <a:p>
            <a:pPr algn="ctr"/>
            <a:r>
              <a:rPr kumimoji="1" lang="en-US" altLang="ja-JP" sz="3200" dirty="0">
                <a:solidFill>
                  <a:srgbClr val="232B34"/>
                </a:solidFill>
                <a:latin typeface="Arial" panose="020B0604020202020204" pitchFamily="34" charset="0"/>
              </a:rPr>
              <a:t>Baseline offset by sun face + equipment ON/OFF states</a:t>
            </a:r>
            <a:endParaRPr kumimoji="1" lang="ja-JP" altLang="en-US" sz="3200" dirty="0">
              <a:solidFill>
                <a:srgbClr val="232B34"/>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931F66EB-B5E0-F6D1-15E4-26E467FF6666}"/>
                  </a:ext>
                </a:extLst>
              </p:cNvPr>
              <p:cNvSpPr txBox="1"/>
              <p:nvPr/>
            </p:nvSpPr>
            <p:spPr>
              <a:xfrm>
                <a:off x="7161047" y="3314700"/>
                <a:ext cx="10060318" cy="863954"/>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4800" b="1" i="1" dirty="0" smtClean="0">
                              <a:solidFill>
                                <a:srgbClr val="082B52"/>
                              </a:solidFill>
                              <a:latin typeface="Cambria Math" panose="02040503050406030204" pitchFamily="18" charset="0"/>
                            </a:rPr>
                          </m:ctrlPr>
                        </m:sSubPr>
                        <m:e>
                          <m:r>
                            <a:rPr lang="ja-JP" altLang="en-US" sz="4800" b="1" i="1" dirty="0" smtClean="0">
                              <a:solidFill>
                                <a:srgbClr val="082B52"/>
                              </a:solidFill>
                              <a:latin typeface="Cambria Math" panose="02040503050406030204" pitchFamily="18" charset="0"/>
                            </a:rPr>
                            <m:t>𝜽</m:t>
                          </m:r>
                        </m:e>
                        <m:sub>
                          <m:r>
                            <a:rPr lang="ja-JP" altLang="en-US" sz="4800" b="1" i="1" dirty="0" smtClean="0">
                              <a:solidFill>
                                <a:srgbClr val="082B52"/>
                              </a:solidFill>
                              <a:latin typeface="Cambria Math" panose="02040503050406030204" pitchFamily="18" charset="0"/>
                            </a:rPr>
                            <m:t>𝒅𝒐𝒎</m:t>
                          </m:r>
                        </m:sub>
                      </m:sSub>
                      <m:d>
                        <m:dPr>
                          <m:ctrlPr>
                            <a:rPr lang="ja-JP" altLang="en-US" sz="4800" b="1" i="1" dirty="0">
                              <a:solidFill>
                                <a:srgbClr val="082B52"/>
                              </a:solidFill>
                              <a:latin typeface="Cambria Math" panose="02040503050406030204" pitchFamily="18" charset="0"/>
                            </a:rPr>
                          </m:ctrlPr>
                        </m:dPr>
                        <m:e>
                          <m:r>
                            <a:rPr lang="ja-JP" altLang="en-US" sz="4800" b="1" i="1" dirty="0">
                              <a:solidFill>
                                <a:srgbClr val="082B52"/>
                              </a:solidFill>
                              <a:latin typeface="Cambria Math" panose="02040503050406030204" pitchFamily="18" charset="0"/>
                            </a:rPr>
                            <m:t>𝒕</m:t>
                          </m:r>
                        </m:e>
                      </m:d>
                      <m:r>
                        <a:rPr lang="en-US" altLang="ja-JP" sz="4800" b="1" i="1" dirty="0">
                          <a:solidFill>
                            <a:srgbClr val="082B52"/>
                          </a:solidFill>
                          <a:latin typeface="Cambria Math" panose="02040503050406030204" pitchFamily="18" charset="0"/>
                        </a:rPr>
                        <m:t>≈ </m:t>
                      </m:r>
                      <m:sSub>
                        <m:sSubPr>
                          <m:ctrlPr>
                            <a:rPr lang="ja-JP" altLang="en-US" sz="4800" b="1" i="1" dirty="0" err="1">
                              <a:solidFill>
                                <a:srgbClr val="1B74AA"/>
                              </a:solidFill>
                              <a:latin typeface="Cambria Math" panose="02040503050406030204" pitchFamily="18" charset="0"/>
                            </a:rPr>
                          </m:ctrlPr>
                        </m:sSubPr>
                        <m:e>
                          <m:r>
                            <a:rPr lang="ja-JP" altLang="en-US" sz="4800" b="1" i="1" dirty="0" err="1">
                              <a:solidFill>
                                <a:srgbClr val="1B74AA"/>
                              </a:solidFill>
                              <a:latin typeface="Cambria Math" panose="02040503050406030204" pitchFamily="18" charset="0"/>
                            </a:rPr>
                            <m:t>𝒂</m:t>
                          </m:r>
                        </m:e>
                        <m:sub>
                          <m:r>
                            <a:rPr lang="ja-JP" altLang="en-US" sz="4800" b="1" i="1" dirty="0" err="1">
                              <a:solidFill>
                                <a:srgbClr val="1B74AA"/>
                              </a:solidFill>
                              <a:latin typeface="Cambria Math" panose="02040503050406030204" pitchFamily="18" charset="0"/>
                            </a:rPr>
                            <m:t>𝒔𝒖𝒏𝒇𝒂𝒄𝒆</m:t>
                          </m:r>
                        </m:sub>
                      </m:sSub>
                      <m:r>
                        <a:rPr lang="ja-JP" altLang="en-US" sz="4800" b="1" i="1" dirty="0">
                          <a:solidFill>
                            <a:srgbClr val="1B74AA"/>
                          </a:solidFill>
                          <a:latin typeface="Cambria Math" panose="02040503050406030204" pitchFamily="18" charset="0"/>
                        </a:rPr>
                        <m:t> </m:t>
                      </m:r>
                      <m:r>
                        <a:rPr lang="en-US" altLang="ja-JP" sz="4800" b="1" i="1" dirty="0">
                          <a:solidFill>
                            <a:srgbClr val="1B74AA"/>
                          </a:solidFill>
                          <a:latin typeface="Cambria Math" panose="02040503050406030204" pitchFamily="18" charset="0"/>
                        </a:rPr>
                        <m:t>· </m:t>
                      </m:r>
                      <m:r>
                        <a:rPr lang="ja-JP" altLang="en-US" sz="4800" b="1" i="0" dirty="0">
                          <a:solidFill>
                            <a:srgbClr val="1B74AA"/>
                          </a:solidFill>
                          <a:latin typeface="Cambria Math" panose="02040503050406030204" pitchFamily="18" charset="0"/>
                        </a:rPr>
                        <m:t>𝚫</m:t>
                      </m:r>
                      <m:r>
                        <a:rPr lang="ja-JP" altLang="en-US" sz="4800" b="1" i="1" dirty="0">
                          <a:solidFill>
                            <a:srgbClr val="1B74AA"/>
                          </a:solidFill>
                          <a:latin typeface="Cambria Math" panose="02040503050406030204" pitchFamily="18" charset="0"/>
                        </a:rPr>
                        <m:t>𝑻</m:t>
                      </m:r>
                      <m:d>
                        <m:dPr>
                          <m:ctrlPr>
                            <a:rPr lang="ja-JP" altLang="en-US" sz="4800" b="1" i="1" dirty="0">
                              <a:solidFill>
                                <a:srgbClr val="1B74AA"/>
                              </a:solidFill>
                              <a:latin typeface="Cambria Math" panose="02040503050406030204" pitchFamily="18" charset="0"/>
                            </a:rPr>
                          </m:ctrlPr>
                        </m:dPr>
                        <m:e>
                          <m:r>
                            <a:rPr lang="ja-JP" altLang="en-US" sz="4800" b="1" i="1" dirty="0">
                              <a:solidFill>
                                <a:srgbClr val="1B74AA"/>
                              </a:solidFill>
                              <a:latin typeface="Cambria Math" panose="02040503050406030204" pitchFamily="18" charset="0"/>
                            </a:rPr>
                            <m:t>𝒕</m:t>
                          </m:r>
                        </m:e>
                      </m:d>
                      <m:r>
                        <a:rPr lang="en-US" altLang="ja-JP" sz="4800" b="1" i="1" dirty="0" smtClean="0">
                          <a:solidFill>
                            <a:srgbClr val="082B52"/>
                          </a:solidFill>
                          <a:latin typeface="Cambria Math" panose="02040503050406030204" pitchFamily="18" charset="0"/>
                        </a:rPr>
                        <m:t>+</m:t>
                      </m:r>
                      <m:sSub>
                        <m:sSubPr>
                          <m:ctrlPr>
                            <a:rPr lang="ja-JP" altLang="en-US" sz="4800" b="1" i="1" dirty="0" err="1">
                              <a:solidFill>
                                <a:srgbClr val="F2B66B"/>
                              </a:solidFill>
                              <a:latin typeface="Cambria Math" panose="02040503050406030204" pitchFamily="18" charset="0"/>
                            </a:rPr>
                          </m:ctrlPr>
                        </m:sSubPr>
                        <m:e>
                          <m:r>
                            <a:rPr lang="ja-JP" altLang="en-US" sz="4800" b="1" i="1" dirty="0" err="1">
                              <a:solidFill>
                                <a:srgbClr val="F2B66B"/>
                              </a:solidFill>
                              <a:latin typeface="Cambria Math" panose="02040503050406030204" pitchFamily="18" charset="0"/>
                            </a:rPr>
                            <m:t>𝒃</m:t>
                          </m:r>
                        </m:e>
                        <m:sub>
                          <m:r>
                            <a:rPr lang="ja-JP" altLang="en-US" sz="4800" b="1" i="1" dirty="0" err="1">
                              <a:solidFill>
                                <a:srgbClr val="F2B66B"/>
                              </a:solidFill>
                              <a:latin typeface="Cambria Math" panose="02040503050406030204" pitchFamily="18" charset="0"/>
                            </a:rPr>
                            <m:t>𝒄𝒂𝒔𝒆</m:t>
                          </m:r>
                        </m:sub>
                      </m:sSub>
                      <m:r>
                        <a:rPr lang="ja-JP" altLang="en-US" sz="4800" b="1" i="1" dirty="0">
                          <a:solidFill>
                            <a:srgbClr val="F2B66B"/>
                          </a:solidFill>
                          <a:latin typeface="Cambria Math" panose="02040503050406030204" pitchFamily="18" charset="0"/>
                        </a:rPr>
                        <m:t> </m:t>
                      </m:r>
                    </m:oMath>
                  </m:oMathPara>
                </a14:m>
                <a:endParaRPr sz="4800" dirty="0"/>
              </a:p>
            </p:txBody>
          </p:sp>
        </mc:Choice>
        <mc:Fallback xmlns="">
          <p:sp>
            <p:nvSpPr>
              <p:cNvPr id="65" name="TextBox 5">
                <a:extLst>
                  <a:ext uri="{FF2B5EF4-FFF2-40B4-BE49-F238E27FC236}">
                    <a16:creationId xmlns:a16="http://schemas.microsoft.com/office/drawing/2014/main" id="{931F66EB-B5E0-F6D1-15E4-26E467FF6666}"/>
                  </a:ext>
                </a:extLst>
              </p:cNvPr>
              <p:cNvSpPr txBox="1">
                <a:spLocks noRot="1" noChangeAspect="1" noMove="1" noResize="1" noEditPoints="1" noAdjustHandles="1" noChangeArrowheads="1" noChangeShapeType="1" noTextEdit="1"/>
              </p:cNvSpPr>
              <p:nvPr/>
            </p:nvSpPr>
            <p:spPr>
              <a:xfrm>
                <a:off x="7161047" y="3314700"/>
                <a:ext cx="10060318" cy="863954"/>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7" name="テキスト ボックス 66">
                <a:extLst>
                  <a:ext uri="{FF2B5EF4-FFF2-40B4-BE49-F238E27FC236}">
                    <a16:creationId xmlns:a16="http://schemas.microsoft.com/office/drawing/2014/main" id="{F36C4E8E-6213-C83C-E4A8-62919192B1F0}"/>
                  </a:ext>
                </a:extLst>
              </p:cNvPr>
              <p:cNvSpPr txBox="1"/>
              <p:nvPr/>
            </p:nvSpPr>
            <p:spPr>
              <a:xfrm>
                <a:off x="548640" y="6685280"/>
                <a:ext cx="12195810" cy="698846"/>
              </a:xfrm>
              <a:prstGeom prst="rect">
                <a:avLst/>
              </a:prstGeom>
              <a:noFill/>
            </p:spPr>
            <p:txBody>
              <a:bodyPr wrap="square">
                <a:spAutoFit/>
              </a:bodyPr>
              <a:lstStyle/>
              <a:p>
                <a:pPr/>
                <a14:m>
                  <m:oMathPara xmlns:m="http://schemas.openxmlformats.org/officeDocument/2006/math">
                    <m:oMath>
                      <m:r>
                        <a:rPr lang="ja-JP" altLang="en-US" sz="3600" b="1" i="0" dirty="0" smtClean="0">
                          <a:solidFill>
                            <a:srgbClr val="1B74AA"/>
                          </a:solidFill>
                          <a:latin typeface="Cambria Math" panose="02040503050406030204" pitchFamily="18" charset="0"/>
                        </a:rPr>
                        <m:t>𝚫</m:t>
                      </m:r>
                      <m:r>
                        <a:rPr lang="ja-JP" altLang="en-US" sz="3600" b="1" i="1" dirty="0" smtClean="0">
                          <a:solidFill>
                            <a:srgbClr val="1B74AA"/>
                          </a:solidFill>
                          <a:latin typeface="Cambria Math" panose="02040503050406030204" pitchFamily="18" charset="0"/>
                        </a:rPr>
                        <m:t>𝑻</m:t>
                      </m:r>
                      <m:d>
                        <m:dPr>
                          <m:ctrlPr>
                            <a:rPr lang="ja-JP" altLang="en-US" sz="3600" b="1" i="1" dirty="0">
                              <a:solidFill>
                                <a:srgbClr val="1B74AA"/>
                              </a:solidFill>
                              <a:latin typeface="Cambria Math" panose="02040503050406030204" pitchFamily="18" charset="0"/>
                            </a:rPr>
                          </m:ctrlPr>
                        </m:dPr>
                        <m:e>
                          <m:r>
                            <a:rPr lang="ja-JP" altLang="en-US" sz="3600" b="1" i="1" dirty="0">
                              <a:solidFill>
                                <a:srgbClr val="1B74AA"/>
                              </a:solidFill>
                              <a:latin typeface="Cambria Math" panose="02040503050406030204" pitchFamily="18" charset="0"/>
                            </a:rPr>
                            <m:t>𝒕</m:t>
                          </m:r>
                        </m:e>
                      </m:d>
                      <m:r>
                        <a:rPr lang="en-US" altLang="ja-JP" sz="3600" b="1" i="1" dirty="0">
                          <a:solidFill>
                            <a:srgbClr val="1B74AA"/>
                          </a:solidFill>
                          <a:latin typeface="Cambria Math" panose="02040503050406030204" pitchFamily="18" charset="0"/>
                        </a:rPr>
                        <m:t>= </m:t>
                      </m:r>
                      <m:sSub>
                        <m:sSubPr>
                          <m:ctrlPr>
                            <a:rPr lang="ja-JP" altLang="en-US" sz="3600" b="1" i="1" dirty="0" err="1">
                              <a:solidFill>
                                <a:srgbClr val="1B74AA"/>
                              </a:solidFill>
                              <a:latin typeface="Cambria Math" panose="02040503050406030204" pitchFamily="18" charset="0"/>
                            </a:rPr>
                          </m:ctrlPr>
                        </m:sSubPr>
                        <m:e>
                          <m:r>
                            <a:rPr lang="ja-JP" altLang="en-US" sz="3600" b="1" i="1" dirty="0" err="1">
                              <a:solidFill>
                                <a:srgbClr val="1B74AA"/>
                              </a:solidFill>
                              <a:latin typeface="Cambria Math" panose="02040503050406030204" pitchFamily="18" charset="0"/>
                            </a:rPr>
                            <m:t>𝑻</m:t>
                          </m:r>
                        </m:e>
                        <m:sub>
                          <m:r>
                            <a:rPr lang="ja-JP" altLang="en-US" sz="3600" b="1" i="1" dirty="0" err="1">
                              <a:solidFill>
                                <a:srgbClr val="1B74AA"/>
                              </a:solidFill>
                              <a:latin typeface="Cambria Math" panose="02040503050406030204" pitchFamily="18" charset="0"/>
                            </a:rPr>
                            <m:t>𝒔𝒖𝒏𝒇𝒂𝒄𝒆</m:t>
                          </m:r>
                        </m:sub>
                      </m:sSub>
                      <m:d>
                        <m:dPr>
                          <m:ctrlPr>
                            <a:rPr lang="ja-JP" altLang="en-US" sz="3600" b="1" i="1" dirty="0">
                              <a:solidFill>
                                <a:srgbClr val="1B74AA"/>
                              </a:solidFill>
                              <a:latin typeface="Cambria Math" panose="02040503050406030204" pitchFamily="18" charset="0"/>
                            </a:rPr>
                          </m:ctrlPr>
                        </m:dPr>
                        <m:e>
                          <m:r>
                            <a:rPr lang="ja-JP" altLang="en-US" sz="3600" b="1" i="1" dirty="0">
                              <a:solidFill>
                                <a:srgbClr val="1B74AA"/>
                              </a:solidFill>
                              <a:latin typeface="Cambria Math" panose="02040503050406030204" pitchFamily="18" charset="0"/>
                            </a:rPr>
                            <m:t>𝒕</m:t>
                          </m:r>
                        </m:e>
                      </m:d>
                      <m:r>
                        <a:rPr lang="en-US" altLang="ja-JP" sz="3600" b="1" i="1" dirty="0">
                          <a:solidFill>
                            <a:srgbClr val="1B74AA"/>
                          </a:solidFill>
                          <a:latin typeface="Cambria Math" panose="02040503050406030204" pitchFamily="18" charset="0"/>
                        </a:rPr>
                        <m:t>− </m:t>
                      </m:r>
                      <m:sSub>
                        <m:sSubPr>
                          <m:ctrlPr>
                            <a:rPr lang="ja-JP" altLang="en-US" sz="3600" b="1" i="1" dirty="0" err="1">
                              <a:solidFill>
                                <a:srgbClr val="1B74AA"/>
                              </a:solidFill>
                              <a:latin typeface="Cambria Math" panose="02040503050406030204" pitchFamily="18" charset="0"/>
                            </a:rPr>
                          </m:ctrlPr>
                        </m:sSubPr>
                        <m:e>
                          <m:r>
                            <a:rPr lang="ja-JP" altLang="en-US" sz="3600" b="1" i="1" dirty="0" err="1">
                              <a:solidFill>
                                <a:srgbClr val="1B74AA"/>
                              </a:solidFill>
                              <a:latin typeface="Cambria Math" panose="02040503050406030204" pitchFamily="18" charset="0"/>
                            </a:rPr>
                            <m:t>𝑻</m:t>
                          </m:r>
                        </m:e>
                        <m:sub>
                          <m:r>
                            <a:rPr lang="ja-JP" altLang="en-US" sz="3600" b="1" i="1" dirty="0" err="1">
                              <a:solidFill>
                                <a:srgbClr val="1B74AA"/>
                              </a:solidFill>
                              <a:latin typeface="Cambria Math" panose="02040503050406030204" pitchFamily="18" charset="0"/>
                            </a:rPr>
                            <m:t>𝒐𝒑𝒑𝒐𝒔𝒊𝒕𝒆</m:t>
                          </m:r>
                        </m:sub>
                      </m:sSub>
                      <m:d>
                        <m:dPr>
                          <m:ctrlPr>
                            <a:rPr lang="ja-JP" altLang="en-US" sz="3600" b="1" i="1" dirty="0">
                              <a:solidFill>
                                <a:srgbClr val="1B74AA"/>
                              </a:solidFill>
                              <a:latin typeface="Cambria Math" panose="02040503050406030204" pitchFamily="18" charset="0"/>
                            </a:rPr>
                          </m:ctrlPr>
                        </m:dPr>
                        <m:e>
                          <m:r>
                            <a:rPr lang="ja-JP" altLang="en-US" sz="3600" b="1" i="1" dirty="0">
                              <a:solidFill>
                                <a:srgbClr val="1B74AA"/>
                              </a:solidFill>
                              <a:latin typeface="Cambria Math" panose="02040503050406030204" pitchFamily="18" charset="0"/>
                            </a:rPr>
                            <m:t>𝒕</m:t>
                          </m:r>
                        </m:e>
                      </m:d>
                      <m:r>
                        <a:rPr lang="ja-JP" altLang="en-US" sz="3600" b="1" i="1" dirty="0">
                          <a:solidFill>
                            <a:srgbClr val="1B74AA"/>
                          </a:solidFill>
                          <a:latin typeface="Cambria Math" panose="02040503050406030204" pitchFamily="18" charset="0"/>
                        </a:rPr>
                        <m:t> </m:t>
                      </m:r>
                    </m:oMath>
                  </m:oMathPara>
                </a14:m>
                <a:endParaRPr lang="ja-JP" altLang="en-US" sz="3600" dirty="0"/>
              </a:p>
            </p:txBody>
          </p:sp>
        </mc:Choice>
        <mc:Fallback xmlns="">
          <p:sp>
            <p:nvSpPr>
              <p:cNvPr id="67" name="テキスト ボックス 66">
                <a:extLst>
                  <a:ext uri="{FF2B5EF4-FFF2-40B4-BE49-F238E27FC236}">
                    <a16:creationId xmlns:a16="http://schemas.microsoft.com/office/drawing/2014/main" id="{F36C4E8E-6213-C83C-E4A8-62919192B1F0}"/>
                  </a:ext>
                </a:extLst>
              </p:cNvPr>
              <p:cNvSpPr txBox="1">
                <a:spLocks noRot="1" noChangeAspect="1" noMove="1" noResize="1" noEditPoints="1" noAdjustHandles="1" noChangeArrowheads="1" noChangeShapeType="1" noTextEdit="1"/>
              </p:cNvSpPr>
              <p:nvPr/>
            </p:nvSpPr>
            <p:spPr>
              <a:xfrm>
                <a:off x="548640" y="6685280"/>
                <a:ext cx="12195810" cy="698846"/>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A3C40BCF-AE4C-9B60-387A-A45B239D9C97}"/>
                  </a:ext>
                </a:extLst>
              </p:cNvPr>
              <p:cNvSpPr txBox="1"/>
              <p:nvPr/>
            </p:nvSpPr>
            <p:spPr>
              <a:xfrm>
                <a:off x="11633200" y="6570980"/>
                <a:ext cx="13104495" cy="698846"/>
              </a:xfrm>
              <a:prstGeom prst="rect">
                <a:avLst/>
              </a:prstGeom>
              <a:noFill/>
            </p:spPr>
            <p:txBody>
              <a:bodyPr wrap="square">
                <a:spAutoFit/>
              </a:bodyPr>
              <a:lstStyle/>
              <a:p>
                <a:pPr algn="ctr"/>
                <a14:m>
                  <m:oMathPara xmlns:m="http://schemas.openxmlformats.org/officeDocument/2006/math">
                    <m:oMath>
                      <m:sSub>
                        <m:sSubPr>
                          <m:ctrlPr>
                            <a:rPr lang="en-US" altLang="ja-JP" sz="3600" b="1" i="1" dirty="0" smtClean="0">
                              <a:solidFill>
                                <a:srgbClr val="F2B66B"/>
                              </a:solidFill>
                              <a:latin typeface="Cambria Math" panose="02040503050406030204" pitchFamily="18" charset="0"/>
                            </a:rPr>
                          </m:ctrlPr>
                        </m:sSubPr>
                        <m:e>
                          <m:r>
                            <a:rPr lang="en-US" altLang="ja-JP" sz="3600" b="1" i="1" dirty="0" smtClean="0">
                              <a:solidFill>
                                <a:srgbClr val="F2B66B"/>
                              </a:solidFill>
                              <a:latin typeface="Cambria Math" panose="02040503050406030204" pitchFamily="18" charset="0"/>
                            </a:rPr>
                            <m:t>𝒃</m:t>
                          </m:r>
                        </m:e>
                        <m:sub>
                          <m:r>
                            <a:rPr lang="en-US" altLang="ja-JP" sz="3600" b="1" i="1" dirty="0" err="1" smtClean="0">
                              <a:solidFill>
                                <a:srgbClr val="F2B66B"/>
                              </a:solidFill>
                              <a:latin typeface="Cambria Math" panose="02040503050406030204" pitchFamily="18" charset="0"/>
                            </a:rPr>
                            <m:t>𝒄𝒂𝒔𝒆</m:t>
                          </m:r>
                        </m:sub>
                      </m:sSub>
                      <m:r>
                        <a:rPr lang="en-US" altLang="ja-JP" sz="3600" b="1" i="1" dirty="0" smtClean="0">
                          <a:solidFill>
                            <a:srgbClr val="F2B66B"/>
                          </a:solidFill>
                          <a:latin typeface="Cambria Math" panose="02040503050406030204" pitchFamily="18" charset="0"/>
                        </a:rPr>
                        <m:t> </m:t>
                      </m:r>
                      <m:r>
                        <a:rPr lang="en-US" altLang="ja-JP" sz="3600" b="1" i="1" dirty="0">
                          <a:solidFill>
                            <a:srgbClr val="F2B66B"/>
                          </a:solidFill>
                          <a:latin typeface="Cambria Math" panose="02040503050406030204" pitchFamily="18" charset="0"/>
                        </a:rPr>
                        <m:t>≈ </m:t>
                      </m:r>
                      <m:sSub>
                        <m:sSubPr>
                          <m:ctrlPr>
                            <a:rPr lang="en-US" altLang="ja-JP" sz="3600" b="1" i="1" dirty="0" smtClean="0">
                              <a:solidFill>
                                <a:srgbClr val="F2B66B"/>
                              </a:solidFill>
                              <a:latin typeface="Cambria Math" panose="02040503050406030204" pitchFamily="18" charset="0"/>
                            </a:rPr>
                          </m:ctrlPr>
                        </m:sSubPr>
                        <m:e>
                          <m:r>
                            <a:rPr lang="en-US" altLang="ja-JP" sz="3600" b="1" i="1" dirty="0" smtClean="0">
                              <a:solidFill>
                                <a:srgbClr val="F2B66B"/>
                              </a:solidFill>
                              <a:latin typeface="Cambria Math" panose="02040503050406030204" pitchFamily="18" charset="0"/>
                            </a:rPr>
                            <m:t>𝒃</m:t>
                          </m:r>
                        </m:e>
                        <m:sub>
                          <m:r>
                            <a:rPr lang="en-US" altLang="ja-JP" sz="3600" b="1" i="1" dirty="0" smtClean="0">
                              <a:solidFill>
                                <a:srgbClr val="F2B66B"/>
                              </a:solidFill>
                              <a:latin typeface="Cambria Math" panose="02040503050406030204" pitchFamily="18" charset="0"/>
                            </a:rPr>
                            <m:t>𝟎</m:t>
                          </m:r>
                          <m:r>
                            <a:rPr lang="en-US" altLang="ja-JP" sz="3600" b="1" i="1" dirty="0" smtClean="0">
                              <a:solidFill>
                                <a:srgbClr val="F2B66B"/>
                              </a:solidFill>
                              <a:latin typeface="Cambria Math" panose="02040503050406030204" pitchFamily="18" charset="0"/>
                            </a:rPr>
                            <m:t>,</m:t>
                          </m:r>
                          <m:r>
                            <a:rPr lang="en-US" altLang="ja-JP" sz="3600" b="1" i="1" dirty="0" smtClean="0">
                              <a:solidFill>
                                <a:srgbClr val="F2B66B"/>
                              </a:solidFill>
                              <a:latin typeface="Cambria Math" panose="02040503050406030204" pitchFamily="18" charset="0"/>
                            </a:rPr>
                            <m:t>𝒔𝒖𝒏𝒇𝒂𝒄𝒆</m:t>
                          </m:r>
                        </m:sub>
                      </m:sSub>
                      <m:r>
                        <a:rPr lang="en-US" altLang="ja-JP" sz="3600" b="1" i="1" dirty="0" smtClean="0">
                          <a:solidFill>
                            <a:srgbClr val="F2B66B"/>
                          </a:solidFill>
                          <a:latin typeface="Cambria Math" panose="02040503050406030204" pitchFamily="18" charset="0"/>
                        </a:rPr>
                        <m:t> </m:t>
                      </m:r>
                      <m:r>
                        <a:rPr lang="en-US" altLang="ja-JP" sz="3600" b="1" i="1" dirty="0">
                          <a:solidFill>
                            <a:srgbClr val="F2B66B"/>
                          </a:solidFill>
                          <a:latin typeface="Cambria Math" panose="02040503050406030204" pitchFamily="18" charset="0"/>
                        </a:rPr>
                        <m:t>+ </m:t>
                      </m:r>
                      <m:sSub>
                        <m:sSubPr>
                          <m:ctrlPr>
                            <a:rPr lang="en-US" altLang="ja-JP" sz="3600" b="1" i="1" dirty="0" err="1" smtClean="0">
                              <a:solidFill>
                                <a:srgbClr val="F2B66B"/>
                              </a:solidFill>
                              <a:latin typeface="Cambria Math" panose="02040503050406030204" pitchFamily="18" charset="0"/>
                            </a:rPr>
                          </m:ctrlPr>
                        </m:sSubPr>
                        <m:e>
                          <m:r>
                            <a:rPr lang="en-US" altLang="ja-JP" sz="3600" b="1" i="1" dirty="0" err="1" smtClean="0">
                              <a:solidFill>
                                <a:srgbClr val="F2B66B"/>
                              </a:solidFill>
                              <a:latin typeface="Cambria Math" panose="02040503050406030204" pitchFamily="18" charset="0"/>
                            </a:rPr>
                            <m:t>𝒄</m:t>
                          </m:r>
                        </m:e>
                        <m:sub>
                          <m:r>
                            <a:rPr lang="en-US" altLang="ja-JP" sz="3600" b="1" i="1" dirty="0" err="1" smtClean="0">
                              <a:solidFill>
                                <a:srgbClr val="F2B66B"/>
                              </a:solidFill>
                              <a:latin typeface="Cambria Math" panose="02040503050406030204" pitchFamily="18" charset="0"/>
                            </a:rPr>
                            <m:t>𝑷𝑹𝑶𝑷</m:t>
                          </m:r>
                        </m:sub>
                      </m:sSub>
                      <m:sSub>
                        <m:sSubPr>
                          <m:ctrlPr>
                            <a:rPr lang="en-US" altLang="ja-JP" sz="3600" b="1" i="1" dirty="0" smtClean="0">
                              <a:solidFill>
                                <a:srgbClr val="F2B66B"/>
                              </a:solidFill>
                              <a:latin typeface="Cambria Math" panose="02040503050406030204" pitchFamily="18" charset="0"/>
                            </a:rPr>
                          </m:ctrlPr>
                        </m:sSubPr>
                        <m:e>
                          <m:r>
                            <a:rPr lang="en-US" altLang="ja-JP" sz="3600" b="1" i="1" dirty="0" smtClean="0">
                              <a:solidFill>
                                <a:srgbClr val="F2B66B"/>
                              </a:solidFill>
                              <a:latin typeface="Cambria Math" panose="02040503050406030204" pitchFamily="18" charset="0"/>
                            </a:rPr>
                            <m:t>𝑰</m:t>
                          </m:r>
                        </m:e>
                        <m:sub>
                          <m:r>
                            <a:rPr lang="en-US" altLang="ja-JP" sz="3600" b="1" i="1" dirty="0" smtClean="0">
                              <a:solidFill>
                                <a:srgbClr val="F2B66B"/>
                              </a:solidFill>
                              <a:latin typeface="Cambria Math" panose="02040503050406030204" pitchFamily="18" charset="0"/>
                            </a:rPr>
                            <m:t>𝑷𝑹𝑶𝑷</m:t>
                          </m:r>
                        </m:sub>
                      </m:sSub>
                      <m:r>
                        <a:rPr lang="en-US" altLang="ja-JP" sz="3600" b="1" i="1" dirty="0" smtClean="0">
                          <a:solidFill>
                            <a:srgbClr val="F2B66B"/>
                          </a:solidFill>
                          <a:latin typeface="Cambria Math" panose="02040503050406030204" pitchFamily="18" charset="0"/>
                        </a:rPr>
                        <m:t> </m:t>
                      </m:r>
                      <m:r>
                        <a:rPr lang="en-US" altLang="ja-JP" sz="3600" b="1" i="1" dirty="0">
                          <a:solidFill>
                            <a:srgbClr val="F2B66B"/>
                          </a:solidFill>
                          <a:latin typeface="Cambria Math" panose="02040503050406030204" pitchFamily="18" charset="0"/>
                        </a:rPr>
                        <m:t>+ </m:t>
                      </m:r>
                      <m:sSub>
                        <m:sSubPr>
                          <m:ctrlPr>
                            <a:rPr lang="en-US" altLang="ja-JP" sz="3600" b="1" i="1" dirty="0" err="1" smtClean="0">
                              <a:solidFill>
                                <a:srgbClr val="F2B66B"/>
                              </a:solidFill>
                              <a:latin typeface="Cambria Math" panose="02040503050406030204" pitchFamily="18" charset="0"/>
                            </a:rPr>
                          </m:ctrlPr>
                        </m:sSubPr>
                        <m:e>
                          <m:r>
                            <a:rPr lang="en-US" altLang="ja-JP" sz="3600" b="1" i="1" dirty="0" err="1" smtClean="0">
                              <a:solidFill>
                                <a:srgbClr val="F2B66B"/>
                              </a:solidFill>
                              <a:latin typeface="Cambria Math" panose="02040503050406030204" pitchFamily="18" charset="0"/>
                            </a:rPr>
                            <m:t>𝒄</m:t>
                          </m:r>
                        </m:e>
                        <m:sub>
                          <m:r>
                            <a:rPr lang="en-US" altLang="ja-JP" sz="3600" b="1" i="1" dirty="0" err="1" smtClean="0">
                              <a:solidFill>
                                <a:srgbClr val="F2B66B"/>
                              </a:solidFill>
                              <a:latin typeface="Cambria Math" panose="02040503050406030204" pitchFamily="18" charset="0"/>
                            </a:rPr>
                            <m:t>𝑷𝑪𝑫𝑼</m:t>
                          </m:r>
                        </m:sub>
                      </m:sSub>
                      <m:sSub>
                        <m:sSubPr>
                          <m:ctrlPr>
                            <a:rPr lang="en-US" altLang="ja-JP" sz="3600" b="1" i="1" dirty="0" smtClean="0">
                              <a:solidFill>
                                <a:srgbClr val="F2B66B"/>
                              </a:solidFill>
                              <a:latin typeface="Cambria Math" panose="02040503050406030204" pitchFamily="18" charset="0"/>
                            </a:rPr>
                          </m:ctrlPr>
                        </m:sSubPr>
                        <m:e>
                          <m:r>
                            <a:rPr lang="en-US" altLang="ja-JP" sz="3600" b="1" i="1" dirty="0" smtClean="0">
                              <a:solidFill>
                                <a:srgbClr val="F2B66B"/>
                              </a:solidFill>
                              <a:latin typeface="Cambria Math" panose="02040503050406030204" pitchFamily="18" charset="0"/>
                            </a:rPr>
                            <m:t>𝑰</m:t>
                          </m:r>
                        </m:e>
                        <m:sub>
                          <m:r>
                            <a:rPr lang="en-US" altLang="ja-JP" sz="3600" b="1" i="1" dirty="0" smtClean="0">
                              <a:solidFill>
                                <a:srgbClr val="F2B66B"/>
                              </a:solidFill>
                              <a:latin typeface="Cambria Math" panose="02040503050406030204" pitchFamily="18" charset="0"/>
                            </a:rPr>
                            <m:t>𝑷𝑪𝑫𝑼</m:t>
                          </m:r>
                        </m:sub>
                      </m:sSub>
                    </m:oMath>
                  </m:oMathPara>
                </a14:m>
                <a:endParaRPr lang="en-US" altLang="ja-JP" sz="3600" b="1" i="1" dirty="0">
                  <a:solidFill>
                    <a:srgbClr val="F2B66B"/>
                  </a:solidFill>
                  <a:latin typeface="Cambria Math" panose="02040503050406030204" pitchFamily="18" charset="0"/>
                </a:endParaRPr>
              </a:p>
            </p:txBody>
          </p:sp>
        </mc:Choice>
        <mc:Fallback xmlns="">
          <p:sp>
            <p:nvSpPr>
              <p:cNvPr id="69" name="テキスト ボックス 68">
                <a:extLst>
                  <a:ext uri="{FF2B5EF4-FFF2-40B4-BE49-F238E27FC236}">
                    <a16:creationId xmlns:a16="http://schemas.microsoft.com/office/drawing/2014/main" id="{A3C40BCF-AE4C-9B60-387A-A45B239D9C97}"/>
                  </a:ext>
                </a:extLst>
              </p:cNvPr>
              <p:cNvSpPr txBox="1">
                <a:spLocks noRot="1" noChangeAspect="1" noMove="1" noResize="1" noEditPoints="1" noAdjustHandles="1" noChangeArrowheads="1" noChangeShapeType="1" noTextEdit="1"/>
              </p:cNvSpPr>
              <p:nvPr/>
            </p:nvSpPr>
            <p:spPr>
              <a:xfrm>
                <a:off x="11633200" y="6570980"/>
                <a:ext cx="13104495" cy="698846"/>
              </a:xfrm>
              <a:prstGeom prst="rect">
                <a:avLst/>
              </a:prstGeom>
              <a:blipFill>
                <a:blip r:embed="rId5"/>
                <a:stretch>
                  <a:fillRect/>
                </a:stretch>
              </a:blipFill>
            </p:spPr>
            <p:txBody>
              <a:bodyPr/>
              <a:lstStyle/>
              <a:p>
                <a:r>
                  <a:rPr lang="ja-JP" altLang="en-US">
                    <a:noFill/>
                  </a:rPr>
                  <a:t> </a:t>
                </a:r>
              </a:p>
            </p:txBody>
          </p:sp>
        </mc:Fallback>
      </mc:AlternateContent>
      <p:sp>
        <p:nvSpPr>
          <p:cNvPr id="73" name="テキスト ボックス 72">
            <a:extLst>
              <a:ext uri="{FF2B5EF4-FFF2-40B4-BE49-F238E27FC236}">
                <a16:creationId xmlns:a16="http://schemas.microsoft.com/office/drawing/2014/main" id="{91EF2A0F-5545-F390-13C5-181EFF721AD9}"/>
              </a:ext>
            </a:extLst>
          </p:cNvPr>
          <p:cNvSpPr txBox="1"/>
          <p:nvPr/>
        </p:nvSpPr>
        <p:spPr>
          <a:xfrm>
            <a:off x="5969393" y="10890265"/>
            <a:ext cx="12443625" cy="2062103"/>
          </a:xfrm>
          <a:prstGeom prst="rect">
            <a:avLst/>
          </a:prstGeom>
          <a:noFill/>
        </p:spPr>
        <p:txBody>
          <a:bodyPr wrap="square" rtlCol="0">
            <a:spAutoFit/>
          </a:bodyPr>
          <a:lstStyle/>
          <a:p>
            <a:pPr algn="ctr"/>
            <a:r>
              <a:rPr kumimoji="1" lang="en-US" altLang="ja-JP" sz="3200" i="1" dirty="0"/>
              <a:t>Dom</a:t>
            </a:r>
            <a:r>
              <a:rPr kumimoji="1" lang="en-US" altLang="ja-JP" sz="3200" dirty="0"/>
              <a:t>inant LOS axis depends on the sun-facing panel:</a:t>
            </a:r>
          </a:p>
          <a:p>
            <a:pPr algn="ctr"/>
            <a:r>
              <a:rPr kumimoji="1" lang="en-US" altLang="ja-JP" sz="3200" dirty="0"/>
              <a:t>MX/PX → x-axis, MY/PY → y-axis</a:t>
            </a:r>
          </a:p>
          <a:p>
            <a:pPr algn="ctr"/>
            <a:endParaRPr kumimoji="1" lang="en-US" altLang="ja-JP" sz="3200" dirty="0"/>
          </a:p>
          <a:p>
            <a:pPr algn="ctr"/>
            <a:r>
              <a:rPr kumimoji="1" lang="en-US" altLang="ja-JP" sz="3200" dirty="0"/>
              <a:t>Non-dominant axis: Case-dependent offset only</a:t>
            </a:r>
          </a:p>
        </p:txBody>
      </p:sp>
    </p:spTree>
    <p:extLst>
      <p:ext uri="{BB962C8B-B14F-4D97-AF65-F5344CB8AC3E}">
        <p14:creationId xmlns:p14="http://schemas.microsoft.com/office/powerpoint/2010/main" val="3462377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a:solidFill>
                  <a:srgbClr val="666F79"/>
                </a:solidFill>
                <a:latin typeface="Arial" panose="020B0604020202020204" pitchFamily="34" charset="0"/>
                <a:ea typeface="Yu Gothic"/>
              </a:rPr>
              <a:t>Reduced-order model</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98600" y="1803400"/>
            <a:ext cx="21336000" cy="711200"/>
          </a:xfrm>
          <a:prstGeom prst="rect">
            <a:avLst/>
          </a:prstGeom>
          <a:noFill/>
        </p:spPr>
        <p:txBody>
          <a:bodyPr wrap="square" lIns="0" tIns="25400" rIns="0" bIns="25400" anchor="ctr">
            <a:noAutofit/>
          </a:bodyPr>
          <a:lstStyle/>
          <a:p>
            <a:pPr>
              <a:lnSpc>
                <a:spcPct val="110000"/>
              </a:lnSpc>
            </a:pPr>
            <a:r>
              <a:rPr lang="en-US" sz="3200" b="1" dirty="0">
                <a:solidFill>
                  <a:srgbClr val="082B52"/>
                </a:solidFill>
                <a:latin typeface="Arial" panose="020B0604020202020204" pitchFamily="34" charset="0"/>
                <a:ea typeface="Yu Gothic"/>
              </a:rPr>
              <a:t>The hierarchical model predicts unseen thermal LOS with a median </a:t>
            </a:r>
            <a:r>
              <a:rPr lang="en-US" altLang="ja-JP" sz="3200" b="1" dirty="0">
                <a:solidFill>
                  <a:srgbClr val="082B52"/>
                </a:solidFill>
                <a:latin typeface="Arial" panose="020B0604020202020204" pitchFamily="34" charset="0"/>
                <a:ea typeface="Yu Gothic"/>
              </a:rPr>
              <a:t>RMSE</a:t>
            </a:r>
            <a:r>
              <a:rPr lang="en-US" sz="3200" b="1" dirty="0">
                <a:solidFill>
                  <a:srgbClr val="082B52"/>
                </a:solidFill>
                <a:latin typeface="Arial" panose="020B0604020202020204" pitchFamily="34" charset="0"/>
                <a:ea typeface="Yu Gothic"/>
              </a:rPr>
              <a:t> of 4.9 µrad</a:t>
            </a:r>
          </a:p>
        </p:txBody>
      </p:sp>
      <p:sp>
        <p:nvSpPr>
          <p:cNvPr id="4" name="TextBox 3"/>
          <p:cNvSpPr txBox="1"/>
          <p:nvPr/>
        </p:nvSpPr>
        <p:spPr>
          <a:xfrm>
            <a:off x="20828000" y="12700000"/>
            <a:ext cx="2946400" cy="467820"/>
          </a:xfrm>
          <a:prstGeom prst="rect">
            <a:avLst/>
          </a:prstGeom>
          <a:noFill/>
        </p:spPr>
        <p:txBody>
          <a:bodyPr wrap="square" lIns="45720" tIns="18288" rIns="45720" bIns="18288" anchor="t">
            <a:spAutoFit/>
          </a:bodyPr>
          <a:lstStyle/>
          <a:p>
            <a:pPr algn="r">
              <a:spcAft>
                <a:spcPts val="0"/>
              </a:spcAft>
            </a:pPr>
            <a:r>
              <a:rPr lang="en-US" sz="2800" dirty="0">
                <a:solidFill>
                  <a:srgbClr val="666F79"/>
                </a:solidFill>
                <a:latin typeface="Arial" panose="020B0604020202020204" pitchFamily="34" charset="0"/>
                <a:ea typeface="Yu Gothic"/>
              </a:rPr>
              <a:t>13/17</a:t>
            </a:r>
          </a:p>
        </p:txBody>
      </p:sp>
      <p:sp>
        <p:nvSpPr>
          <p:cNvPr id="22" name="テキスト ボックス 21">
            <a:extLst>
              <a:ext uri="{FF2B5EF4-FFF2-40B4-BE49-F238E27FC236}">
                <a16:creationId xmlns:a16="http://schemas.microsoft.com/office/drawing/2014/main" id="{06FF6BB2-0549-E90A-ECA4-F9252B9B5B95}"/>
              </a:ext>
            </a:extLst>
          </p:cNvPr>
          <p:cNvSpPr txBox="1"/>
          <p:nvPr/>
        </p:nvSpPr>
        <p:spPr>
          <a:xfrm>
            <a:off x="1168400" y="3251200"/>
            <a:ext cx="21336000" cy="1320800"/>
          </a:xfrm>
          <a:prstGeom prst="rect">
            <a:avLst/>
          </a:prstGeom>
          <a:noFill/>
        </p:spPr>
        <p:txBody>
          <a:bodyPr vert="horz" wrap="square" lIns="0" rIns="0" rtlCol="0">
            <a:noAutofit/>
          </a:bodyPr>
          <a:lstStyle/>
          <a:p>
            <a:r>
              <a:rPr kumimoji="1" lang="en-US" altLang="ja-JP" sz="3200" dirty="0">
                <a:solidFill>
                  <a:srgbClr val="232B34"/>
                </a:solidFill>
                <a:latin typeface="Arial" panose="020B0604020202020204" pitchFamily="34" charset="0"/>
              </a:rPr>
              <a:t>Leave-one-case-out validation: each test case is excluded from all coefficient estimation.</a:t>
            </a:r>
          </a:p>
          <a:p>
            <a:r>
              <a:rPr kumimoji="1" lang="en-US" altLang="ja-JP" sz="3200" dirty="0">
                <a:solidFill>
                  <a:srgbClr val="232B34"/>
                </a:solidFill>
                <a:latin typeface="Arial" panose="020B0604020202020204" pitchFamily="34" charset="0"/>
              </a:rPr>
              <a:t>The next two orbits are then predicted using the fixed model.</a:t>
            </a:r>
          </a:p>
        </p:txBody>
      </p:sp>
      <p:sp>
        <p:nvSpPr>
          <p:cNvPr id="25" name="四角形: 角を丸くする 24">
            <a:extLst>
              <a:ext uri="{FF2B5EF4-FFF2-40B4-BE49-F238E27FC236}">
                <a16:creationId xmlns:a16="http://schemas.microsoft.com/office/drawing/2014/main" id="{9330E7DE-5204-498E-9EBE-17B5C338C06F}"/>
              </a:ext>
            </a:extLst>
          </p:cNvPr>
          <p:cNvSpPr/>
          <p:nvPr/>
        </p:nvSpPr>
        <p:spPr>
          <a:xfrm>
            <a:off x="15849600" y="4157328"/>
            <a:ext cx="7747000" cy="2192671"/>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BC75B16F-D397-DA24-9DB1-85F4EEC3BA59}"/>
              </a:ext>
            </a:extLst>
          </p:cNvPr>
          <p:cNvSpPr txBox="1"/>
          <p:nvPr/>
        </p:nvSpPr>
        <p:spPr>
          <a:xfrm>
            <a:off x="16052800" y="4419600"/>
            <a:ext cx="7340600" cy="1371600"/>
          </a:xfrm>
          <a:prstGeom prst="rect">
            <a:avLst/>
          </a:prstGeom>
          <a:noFill/>
        </p:spPr>
        <p:txBody>
          <a:bodyPr vert="horz" wrap="square" lIns="0" rIns="0" rtlCol="0">
            <a:noAutofit/>
          </a:bodyPr>
          <a:lstStyle/>
          <a:p>
            <a:pPr algn="ctr"/>
            <a:r>
              <a:rPr kumimoji="1" lang="en-US" altLang="ja-JP" sz="7200" b="1">
                <a:solidFill>
                  <a:srgbClr val="666F79"/>
                </a:solidFill>
                <a:latin typeface="Arial" panose="020B0604020202020204" pitchFamily="34" charset="0"/>
              </a:rPr>
              <a:t>615 µrad</a:t>
            </a:r>
            <a:endParaRPr kumimoji="1" lang="en-US" altLang="ja-JP" sz="7200" b="1" dirty="0">
              <a:solidFill>
                <a:srgbClr val="666F79"/>
              </a:solidFill>
              <a:latin typeface="Arial" panose="020B0604020202020204" pitchFamily="34" charset="0"/>
            </a:endParaRPr>
          </a:p>
        </p:txBody>
      </p:sp>
      <p:sp>
        <p:nvSpPr>
          <p:cNvPr id="27" name="テキスト ボックス 26">
            <a:extLst>
              <a:ext uri="{FF2B5EF4-FFF2-40B4-BE49-F238E27FC236}">
                <a16:creationId xmlns:a16="http://schemas.microsoft.com/office/drawing/2014/main" id="{C10C07CD-A6F9-3FCE-8582-012C9F26DF28}"/>
              </a:ext>
            </a:extLst>
          </p:cNvPr>
          <p:cNvSpPr txBox="1"/>
          <p:nvPr/>
        </p:nvSpPr>
        <p:spPr>
          <a:xfrm>
            <a:off x="16103600" y="5657850"/>
            <a:ext cx="7239000" cy="914400"/>
          </a:xfrm>
          <a:prstGeom prst="rect">
            <a:avLst/>
          </a:prstGeom>
          <a:noFill/>
        </p:spPr>
        <p:txBody>
          <a:bodyPr vert="horz" wrap="square" lIns="0" rIns="0" rtlCol="0">
            <a:noAutofit/>
          </a:bodyPr>
          <a:lstStyle/>
          <a:p>
            <a:pPr algn="ctr"/>
            <a:r>
              <a:rPr kumimoji="1" lang="en-US" altLang="ja-JP" sz="2800" dirty="0">
                <a:solidFill>
                  <a:srgbClr val="232B34"/>
                </a:solidFill>
                <a:latin typeface="Arial" panose="020B0604020202020204" pitchFamily="34" charset="0"/>
              </a:rPr>
              <a:t>Median raw dominant-axis RMS</a:t>
            </a:r>
          </a:p>
        </p:txBody>
      </p:sp>
      <p:sp>
        <p:nvSpPr>
          <p:cNvPr id="28" name="四角形: 角を丸くする 27">
            <a:extLst>
              <a:ext uri="{FF2B5EF4-FFF2-40B4-BE49-F238E27FC236}">
                <a16:creationId xmlns:a16="http://schemas.microsoft.com/office/drawing/2014/main" id="{6F13F99B-2D36-4EA9-ED47-1DB495EE727A}"/>
              </a:ext>
            </a:extLst>
          </p:cNvPr>
          <p:cNvSpPr/>
          <p:nvPr/>
        </p:nvSpPr>
        <p:spPr>
          <a:xfrm>
            <a:off x="15849600" y="7340600"/>
            <a:ext cx="7747000" cy="31750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B2C59734-9378-31D2-8E2E-8D4180E9A6EA}"/>
              </a:ext>
            </a:extLst>
          </p:cNvPr>
          <p:cNvSpPr txBox="1"/>
          <p:nvPr/>
        </p:nvSpPr>
        <p:spPr>
          <a:xfrm>
            <a:off x="16052800" y="7797800"/>
            <a:ext cx="7340600" cy="1371600"/>
          </a:xfrm>
          <a:prstGeom prst="rect">
            <a:avLst/>
          </a:prstGeom>
          <a:noFill/>
        </p:spPr>
        <p:txBody>
          <a:bodyPr vert="horz" wrap="square" lIns="0" rIns="0" rtlCol="0">
            <a:noAutofit/>
          </a:bodyPr>
          <a:lstStyle/>
          <a:p>
            <a:pPr algn="ctr"/>
            <a:r>
              <a:rPr kumimoji="1" lang="en-US" altLang="ja-JP" sz="7200" b="1">
                <a:solidFill>
                  <a:srgbClr val="1B74AA"/>
                </a:solidFill>
                <a:latin typeface="Arial" panose="020B0604020202020204" pitchFamily="34" charset="0"/>
              </a:rPr>
              <a:t>4.9 µrad</a:t>
            </a:r>
            <a:endParaRPr kumimoji="1" lang="en-US" altLang="ja-JP" sz="7200" b="1" dirty="0">
              <a:solidFill>
                <a:srgbClr val="1B74AA"/>
              </a:solidFill>
              <a:latin typeface="Arial" panose="020B0604020202020204" pitchFamily="34" charset="0"/>
            </a:endParaRPr>
          </a:p>
        </p:txBody>
      </p:sp>
      <p:sp>
        <p:nvSpPr>
          <p:cNvPr id="30" name="テキスト ボックス 29">
            <a:extLst>
              <a:ext uri="{FF2B5EF4-FFF2-40B4-BE49-F238E27FC236}">
                <a16:creationId xmlns:a16="http://schemas.microsoft.com/office/drawing/2014/main" id="{F195AFA0-83B8-62D5-B548-EA478A83DCD0}"/>
              </a:ext>
            </a:extLst>
          </p:cNvPr>
          <p:cNvSpPr txBox="1"/>
          <p:nvPr/>
        </p:nvSpPr>
        <p:spPr>
          <a:xfrm>
            <a:off x="16103600" y="9245600"/>
            <a:ext cx="7239000" cy="914400"/>
          </a:xfrm>
          <a:prstGeom prst="rect">
            <a:avLst/>
          </a:prstGeom>
          <a:noFill/>
        </p:spPr>
        <p:txBody>
          <a:bodyPr vert="horz" wrap="square" lIns="0" rIns="0" rtlCol="0">
            <a:noAutofit/>
          </a:bodyPr>
          <a:lstStyle/>
          <a:p>
            <a:pPr algn="ctr"/>
            <a:r>
              <a:rPr kumimoji="1" lang="en-US" altLang="ja-JP" sz="2800" dirty="0">
                <a:solidFill>
                  <a:srgbClr val="232B34"/>
                </a:solidFill>
                <a:latin typeface="Arial" panose="020B0604020202020204" pitchFamily="34" charset="0"/>
              </a:rPr>
              <a:t>Median </a:t>
            </a:r>
            <a:r>
              <a:rPr kumimoji="1" lang="en-US" altLang="ja-JP" sz="2800" dirty="0">
                <a:solidFill>
                  <a:srgbClr val="FF0000"/>
                </a:solidFill>
                <a:latin typeface="Arial" panose="020B0604020202020204" pitchFamily="34" charset="0"/>
              </a:rPr>
              <a:t>prediction</a:t>
            </a:r>
            <a:r>
              <a:rPr kumimoji="1" lang="en-US" altLang="ja-JP" sz="2800" dirty="0">
                <a:solidFill>
                  <a:srgbClr val="232B34"/>
                </a:solidFill>
                <a:latin typeface="Arial" panose="020B0604020202020204" pitchFamily="34" charset="0"/>
              </a:rPr>
              <a:t> RMSE on unseen cases</a:t>
            </a:r>
          </a:p>
        </p:txBody>
      </p:sp>
      <p:sp>
        <p:nvSpPr>
          <p:cNvPr id="31" name="テキスト ボックス 30">
            <a:extLst>
              <a:ext uri="{FF2B5EF4-FFF2-40B4-BE49-F238E27FC236}">
                <a16:creationId xmlns:a16="http://schemas.microsoft.com/office/drawing/2014/main" id="{C33686D3-FEB9-CFB4-A43A-CEAB9698A499}"/>
              </a:ext>
            </a:extLst>
          </p:cNvPr>
          <p:cNvSpPr txBox="1"/>
          <p:nvPr/>
        </p:nvSpPr>
        <p:spPr>
          <a:xfrm>
            <a:off x="812800" y="11099800"/>
            <a:ext cx="22860000" cy="812800"/>
          </a:xfrm>
          <a:prstGeom prst="rect">
            <a:avLst/>
          </a:prstGeom>
          <a:noFill/>
        </p:spPr>
        <p:txBody>
          <a:bodyPr vert="horz" wrap="square" lIns="0" rIns="0" rtlCol="0">
            <a:noAutofit/>
          </a:bodyPr>
          <a:lstStyle/>
          <a:p>
            <a:pPr algn="ctr"/>
            <a:r>
              <a:rPr kumimoji="1" lang="en-US" altLang="ja-JP" sz="3200" b="1" dirty="0">
                <a:solidFill>
                  <a:srgbClr val="082B52"/>
                </a:solidFill>
                <a:latin typeface="Arial" panose="020B0604020202020204" pitchFamily="34" charset="0"/>
              </a:rPr>
              <a:t>The prediction residual is roughly one to two orders of magnitude smaller than the raw thermal </a:t>
            </a:r>
            <a:r>
              <a:rPr kumimoji="1" lang="en-US" altLang="ja-JP" sz="3200" b="1">
                <a:solidFill>
                  <a:srgbClr val="082B52"/>
                </a:solidFill>
                <a:latin typeface="Arial" panose="020B0604020202020204" pitchFamily="34" charset="0"/>
              </a:rPr>
              <a:t>LOS.</a:t>
            </a:r>
            <a:endParaRPr kumimoji="1" lang="en-US" altLang="ja-JP" sz="3200" b="1" dirty="0">
              <a:solidFill>
                <a:srgbClr val="082B52"/>
              </a:solidFill>
              <a:latin typeface="Arial" panose="020B0604020202020204" pitchFamily="34" charset="0"/>
            </a:endParaRPr>
          </a:p>
        </p:txBody>
      </p:sp>
      <p:sp>
        <p:nvSpPr>
          <p:cNvPr id="32" name="テキスト ボックス 31">
            <a:extLst>
              <a:ext uri="{FF2B5EF4-FFF2-40B4-BE49-F238E27FC236}">
                <a16:creationId xmlns:a16="http://schemas.microsoft.com/office/drawing/2014/main" id="{E2DCBE9C-C98D-1628-793A-90143D925CDA}"/>
              </a:ext>
            </a:extLst>
          </p:cNvPr>
          <p:cNvSpPr txBox="1"/>
          <p:nvPr/>
        </p:nvSpPr>
        <p:spPr>
          <a:xfrm>
            <a:off x="812800" y="12217400"/>
            <a:ext cx="22860000" cy="508000"/>
          </a:xfrm>
          <a:prstGeom prst="rect">
            <a:avLst/>
          </a:prstGeom>
          <a:noFill/>
        </p:spPr>
        <p:txBody>
          <a:bodyPr vert="horz" wrap="square" rtlCol="0">
            <a:noAutofit/>
          </a:bodyPr>
          <a:lstStyle/>
          <a:p>
            <a:pPr algn="ctr"/>
            <a:r>
              <a:rPr kumimoji="1" lang="en-US" altLang="ja-JP" sz="2800" dirty="0">
                <a:solidFill>
                  <a:srgbClr val="666F79"/>
                </a:solidFill>
                <a:latin typeface="Arial" panose="020B0604020202020204" pitchFamily="34" charset="0"/>
              </a:rPr>
              <a:t>Evaluated within the same spacecraft structure and LOS </a:t>
            </a:r>
            <a:r>
              <a:rPr kumimoji="1" lang="en-US" altLang="ja-JP" sz="2800">
                <a:solidFill>
                  <a:srgbClr val="666F79"/>
                </a:solidFill>
                <a:latin typeface="Arial" panose="020B0604020202020204" pitchFamily="34" charset="0"/>
              </a:rPr>
              <a:t>definition.</a:t>
            </a:r>
            <a:endParaRPr kumimoji="1" lang="en-US" altLang="ja-JP" sz="2800" dirty="0">
              <a:solidFill>
                <a:srgbClr val="666F79"/>
              </a:solidFill>
              <a:latin typeface="Arial" panose="020B0604020202020204" pitchFamily="34" charset="0"/>
            </a:endParaRPr>
          </a:p>
        </p:txBody>
      </p:sp>
      <p:pic>
        <p:nvPicPr>
          <p:cNvPr id="39" name="図 38">
            <a:extLst>
              <a:ext uri="{FF2B5EF4-FFF2-40B4-BE49-F238E27FC236}">
                <a16:creationId xmlns:a16="http://schemas.microsoft.com/office/drawing/2014/main" id="{4E03188F-D841-375E-AAC3-7FF09731EEC8}"/>
              </a:ext>
            </a:extLst>
          </p:cNvPr>
          <p:cNvPicPr>
            <a:picLocks/>
          </p:cNvPicPr>
          <p:nvPr/>
        </p:nvPicPr>
        <p:blipFill>
          <a:blip r:embed="rId3"/>
          <a:stretch>
            <a:fillRect/>
          </a:stretch>
        </p:blipFill>
        <p:spPr>
          <a:xfrm>
            <a:off x="609600" y="4165600"/>
            <a:ext cx="14732000" cy="6489700"/>
          </a:xfrm>
          <a:prstGeom prst="rect">
            <a:avLst/>
          </a:prstGeom>
        </p:spPr>
      </p:pic>
      <p:sp>
        <p:nvSpPr>
          <p:cNvPr id="40" name="矢印: 下 39">
            <a:extLst>
              <a:ext uri="{FF2B5EF4-FFF2-40B4-BE49-F238E27FC236}">
                <a16:creationId xmlns:a16="http://schemas.microsoft.com/office/drawing/2014/main" id="{5E505C25-17E9-800A-12C3-13D6CDDB30D1}"/>
              </a:ext>
            </a:extLst>
          </p:cNvPr>
          <p:cNvSpPr/>
          <p:nvPr/>
        </p:nvSpPr>
        <p:spPr>
          <a:xfrm>
            <a:off x="19202400" y="6572250"/>
            <a:ext cx="1085850" cy="6738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44C12-E688-3234-11EE-84279FCAE8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15655D-FB01-D7FE-B392-D40F7A726B1D}"/>
              </a:ext>
            </a:extLst>
          </p:cNvPr>
          <p:cNvSpPr>
            <a:spLocks noGrp="1"/>
          </p:cNvSpPr>
          <p:nvPr>
            <p:ph type="title"/>
          </p:nvPr>
        </p:nvSpPr>
        <p:spPr/>
        <p:txBody>
          <a:bodyPr>
            <a:normAutofit/>
          </a:bodyPr>
          <a:lstStyle/>
          <a:p>
            <a:r>
              <a:rPr lang="en-US" sz="4800" b="0">
                <a:solidFill>
                  <a:srgbClr val="FFFFFF"/>
                </a:solidFill>
                <a:latin typeface="Arial" panose="020B0604020202020204" pitchFamily="34" charset="0"/>
                <a:cs typeface="Arial" panose="020B0604020202020204" pitchFamily="34" charset="0"/>
              </a:rPr>
              <a:t>04</a:t>
            </a:r>
            <a:endParaRPr sz="4800" b="0" dirty="0">
              <a:solidFill>
                <a:srgbClr val="FFFFFF"/>
              </a:solidFill>
              <a:latin typeface="Arial" panose="020B0604020202020204" pitchFamily="34" charset="0"/>
              <a:cs typeface="Arial" panose="020B0604020202020204" pitchFamily="34" charset="0"/>
            </a:endParaRPr>
          </a:p>
        </p:txBody>
      </p:sp>
      <p:sp>
        <p:nvSpPr>
          <p:cNvPr id="3" name="テキスト プレースホルダー 2">
            <a:extLst>
              <a:ext uri="{FF2B5EF4-FFF2-40B4-BE49-F238E27FC236}">
                <a16:creationId xmlns:a16="http://schemas.microsoft.com/office/drawing/2014/main" id="{91072FE8-9762-C1D9-B16C-FDDCF6AD4DC9}"/>
              </a:ext>
            </a:extLst>
          </p:cNvPr>
          <p:cNvSpPr>
            <a:spLocks noGrp="1"/>
          </p:cNvSpPr>
          <p:nvPr>
            <p:ph type="body" idx="1"/>
          </p:nvPr>
        </p:nvSpPr>
        <p:spPr/>
        <p:txBody>
          <a:bodyPr>
            <a:normAutofit/>
          </a:bodyPr>
          <a:lstStyle/>
          <a:p>
            <a:r>
              <a:rPr lang="en-US" altLang="ja-JP" sz="4800" b="1" dirty="0">
                <a:solidFill>
                  <a:srgbClr val="FFFFFF"/>
                </a:solidFill>
                <a:latin typeface="Arial" panose="020B0604020202020204" pitchFamily="34" charset="0"/>
                <a:cs typeface="Arial" panose="020B0604020202020204" pitchFamily="34" charset="0"/>
              </a:rPr>
              <a:t>Coarse-acquisition evaluation</a:t>
            </a:r>
            <a:endParaRPr sz="4800" b="1" dirty="0">
              <a:solidFill>
                <a:srgbClr val="FFFFFF"/>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C0939AEC-4843-4E06-1AA6-DC8D5822303E}"/>
              </a:ext>
            </a:extLst>
          </p:cNvPr>
          <p:cNvSpPr>
            <a:spLocks noGrp="1"/>
          </p:cNvSpPr>
          <p:nvPr>
            <p:ph type="sldNum" sz="quarter" idx="12"/>
          </p:nvPr>
        </p:nvSpPr>
        <p:spPr/>
        <p:txBody>
          <a:bodyPr/>
          <a:lstStyle/>
          <a:p>
            <a:endParaRPr kumimoji="1" lang="ja-JP" altLang="en-US" dirty="0"/>
          </a:p>
        </p:txBody>
      </p:sp>
      <p:sp>
        <p:nvSpPr>
          <p:cNvPr id="6" name="テキスト ボックス 5">
            <a:extLst>
              <a:ext uri="{FF2B5EF4-FFF2-40B4-BE49-F238E27FC236}">
                <a16:creationId xmlns:a16="http://schemas.microsoft.com/office/drawing/2014/main" id="{EB85C39D-26C2-FF8A-6AD3-C2430D8D39CB}"/>
              </a:ext>
            </a:extLst>
          </p:cNvPr>
          <p:cNvSpPr txBox="1"/>
          <p:nvPr/>
        </p:nvSpPr>
        <p:spPr>
          <a:xfrm>
            <a:off x="2311400" y="2502932"/>
            <a:ext cx="3200400" cy="1569660"/>
          </a:xfrm>
          <a:prstGeom prst="rect">
            <a:avLst/>
          </a:prstGeom>
          <a:noFill/>
        </p:spPr>
        <p:txBody>
          <a:bodyPr wrap="square" rtlCol="0">
            <a:spAutoFit/>
          </a:bodyPr>
          <a:lstStyle/>
          <a:p>
            <a:r>
              <a:rPr kumimoji="1" lang="ja-JP" altLang="en-US" sz="4800" dirty="0">
                <a:solidFill>
                  <a:srgbClr val="FF0000"/>
                </a:solidFill>
              </a:rPr>
              <a:t>ここまで約</a:t>
            </a:r>
            <a:r>
              <a:rPr kumimoji="1" lang="en-US" altLang="ja-JP" sz="4800" dirty="0">
                <a:solidFill>
                  <a:srgbClr val="FF0000"/>
                </a:solidFill>
              </a:rPr>
              <a:t>9</a:t>
            </a:r>
            <a:r>
              <a:rPr kumimoji="1" lang="ja-JP" altLang="en-US" sz="4800" dirty="0">
                <a:solidFill>
                  <a:srgbClr val="FF0000"/>
                </a:solidFill>
              </a:rPr>
              <a:t>分</a:t>
            </a:r>
          </a:p>
        </p:txBody>
      </p:sp>
    </p:spTree>
    <p:extLst>
      <p:ext uri="{BB962C8B-B14F-4D97-AF65-F5344CB8AC3E}">
        <p14:creationId xmlns:p14="http://schemas.microsoft.com/office/powerpoint/2010/main" val="3389633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Acquisition conditions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98600" y="1797420"/>
            <a:ext cx="21844000" cy="660400"/>
          </a:xfrm>
          <a:prstGeom prst="rect">
            <a:avLst/>
          </a:prstGeom>
          <a:noFill/>
        </p:spPr>
        <p:txBody>
          <a:bodyPr wrap="square" lIns="0" tIns="0" rIns="0" bIns="0" anchor="t">
            <a:noAutofit/>
          </a:bodyPr>
          <a:lstStyle/>
          <a:p>
            <a:pPr>
              <a:spcAft>
                <a:spcPts val="0"/>
              </a:spcAft>
            </a:pPr>
            <a:r>
              <a:rPr lang="en-US" sz="3200" b="1" dirty="0">
                <a:solidFill>
                  <a:srgbClr val="082B52"/>
                </a:solidFill>
                <a:latin typeface="Arial" panose="020B0604020202020204" pitchFamily="34" charset="0"/>
                <a:ea typeface="Yu Gothic"/>
              </a:rPr>
              <a:t>Feedforward thermal correction reduces the scan-center error before acquisition</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14/17</a:t>
            </a:r>
          </a:p>
        </p:txBody>
      </p:sp>
      <p:sp>
        <p:nvSpPr>
          <p:cNvPr id="24" name="テキスト ボックス 23">
            <a:extLst>
              <a:ext uri="{FF2B5EF4-FFF2-40B4-BE49-F238E27FC236}">
                <a16:creationId xmlns:a16="http://schemas.microsoft.com/office/drawing/2014/main" id="{675C5842-DCD9-A659-788A-AE50A5363437}"/>
              </a:ext>
            </a:extLst>
          </p:cNvPr>
          <p:cNvSpPr txBox="1"/>
          <p:nvPr/>
        </p:nvSpPr>
        <p:spPr>
          <a:xfrm>
            <a:off x="-1385343" y="4517816"/>
            <a:ext cx="22352000" cy="558800"/>
          </a:xfrm>
          <a:prstGeom prst="rect">
            <a:avLst/>
          </a:prstGeom>
          <a:noFill/>
        </p:spPr>
        <p:txBody>
          <a:bodyPr vert="horz" wrap="square" lIns="101600" tIns="0" rIns="101600" bIns="0" rtlCol="0" anchor="ctr">
            <a:noAutofit/>
          </a:bodyPr>
          <a:lstStyle/>
          <a:p>
            <a:pPr algn="ctr"/>
            <a:r>
              <a:rPr kumimoji="1" lang="en-US" altLang="ja-JP" sz="3200" dirty="0">
                <a:solidFill>
                  <a:srgbClr val="232B34"/>
                </a:solidFill>
                <a:latin typeface="Arial" panose="020B0604020202020204" pitchFamily="34" charset="0"/>
              </a:rPr>
              <a:t>Scan-center error    ·Nonthermal pointing errors    True thermal LOS    ·    Predicted thermal LOS</a:t>
            </a:r>
          </a:p>
        </p:txBody>
      </p:sp>
      <p:sp>
        <p:nvSpPr>
          <p:cNvPr id="25" name="四角形: 角を丸くする 24">
            <a:extLst>
              <a:ext uri="{FF2B5EF4-FFF2-40B4-BE49-F238E27FC236}">
                <a16:creationId xmlns:a16="http://schemas.microsoft.com/office/drawing/2014/main" id="{35122DDD-2BE4-3692-3849-176071055CCF}"/>
              </a:ext>
            </a:extLst>
          </p:cNvPr>
          <p:cNvSpPr/>
          <p:nvPr/>
        </p:nvSpPr>
        <p:spPr>
          <a:xfrm>
            <a:off x="812800" y="6263335"/>
            <a:ext cx="6604000" cy="1981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4D2E6F81-C4CA-5898-5C2D-354B079DB350}"/>
              </a:ext>
            </a:extLst>
          </p:cNvPr>
          <p:cNvSpPr txBox="1"/>
          <p:nvPr/>
        </p:nvSpPr>
        <p:spPr>
          <a:xfrm>
            <a:off x="1016000" y="6618935"/>
            <a:ext cx="6197600" cy="1270000"/>
          </a:xfrm>
          <a:prstGeom prst="rect">
            <a:avLst/>
          </a:prstGeom>
          <a:noFill/>
        </p:spPr>
        <p:txBody>
          <a:bodyPr vert="horz" wrap="square" lIns="101600" tIns="0" rIns="101600" bIns="0" rtlCol="0" anchor="ctr">
            <a:noAutofit/>
          </a:bodyPr>
          <a:lstStyle/>
          <a:p>
            <a:pPr algn="ctr"/>
            <a:r>
              <a:rPr kumimoji="1" lang="en-US" altLang="ja-JP" sz="3200" dirty="0">
                <a:solidFill>
                  <a:srgbClr val="232B34"/>
                </a:solidFill>
                <a:latin typeface="Arial" panose="020B0604020202020204" pitchFamily="34" charset="0"/>
              </a:rPr>
              <a:t>Thermal LOS residual</a:t>
            </a:r>
            <a:br>
              <a:rPr kumimoji="1" lang="en-US" altLang="ja-JP" sz="3200" dirty="0">
                <a:solidFill>
                  <a:srgbClr val="232B34"/>
                </a:solidFill>
                <a:latin typeface="Arial" panose="020B0604020202020204" pitchFamily="34" charset="0"/>
              </a:rPr>
            </a:br>
            <a:r>
              <a:rPr kumimoji="1" lang="en-US" altLang="ja-JP" sz="3200" dirty="0">
                <a:solidFill>
                  <a:srgbClr val="232B34"/>
                </a:solidFill>
                <a:latin typeface="Arial" panose="020B0604020202020204" pitchFamily="34" charset="0"/>
              </a:rPr>
              <a:t>+ </a:t>
            </a:r>
            <a:r>
              <a:rPr kumimoji="1" lang="en-US" altLang="ja-JP" sz="3200">
                <a:solidFill>
                  <a:srgbClr val="232B34"/>
                </a:solidFill>
                <a:latin typeface="Arial" panose="020B0604020202020204" pitchFamily="34" charset="0"/>
              </a:rPr>
              <a:t>nonthermal errors</a:t>
            </a:r>
            <a:endParaRPr kumimoji="1" lang="en-US" altLang="ja-JP" sz="3200" dirty="0">
              <a:solidFill>
                <a:srgbClr val="232B34"/>
              </a:solidFill>
              <a:latin typeface="Arial" panose="020B0604020202020204" pitchFamily="34" charset="0"/>
            </a:endParaRPr>
          </a:p>
        </p:txBody>
      </p:sp>
      <p:sp>
        <p:nvSpPr>
          <p:cNvPr id="28" name="四角形: 角を丸くする 27">
            <a:extLst>
              <a:ext uri="{FF2B5EF4-FFF2-40B4-BE49-F238E27FC236}">
                <a16:creationId xmlns:a16="http://schemas.microsoft.com/office/drawing/2014/main" id="{CCAD04CB-CF06-6E94-FBC9-9821EB0702A4}"/>
              </a:ext>
            </a:extLst>
          </p:cNvPr>
          <p:cNvSpPr/>
          <p:nvPr/>
        </p:nvSpPr>
        <p:spPr>
          <a:xfrm>
            <a:off x="8890000" y="6263335"/>
            <a:ext cx="6604000" cy="1981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83524872-8790-24D3-AE6A-9BCBF0C9C4DF}"/>
              </a:ext>
            </a:extLst>
          </p:cNvPr>
          <p:cNvSpPr txBox="1"/>
          <p:nvPr/>
        </p:nvSpPr>
        <p:spPr>
          <a:xfrm>
            <a:off x="9093200" y="6618935"/>
            <a:ext cx="6197600" cy="1270000"/>
          </a:xfrm>
          <a:prstGeom prst="rect">
            <a:avLst/>
          </a:prstGeom>
          <a:noFill/>
        </p:spPr>
        <p:txBody>
          <a:bodyPr vert="horz" wrap="square" lIns="101600" tIns="0" rIns="101600" bIns="0" rtlCol="0" anchor="ctr">
            <a:noAutofit/>
          </a:bodyPr>
          <a:lstStyle/>
          <a:p>
            <a:pPr algn="ctr"/>
            <a:r>
              <a:rPr kumimoji="1" lang="en-US" altLang="ja-JP" sz="3200" dirty="0">
                <a:solidFill>
                  <a:srgbClr val="232B34"/>
                </a:solidFill>
                <a:latin typeface="Arial" panose="020B0604020202020204" pitchFamily="34" charset="0"/>
              </a:rPr>
              <a:t>Rectangular </a:t>
            </a:r>
            <a:r>
              <a:rPr kumimoji="1" lang="en-US" altLang="ja-JP" sz="3200">
                <a:solidFill>
                  <a:srgbClr val="232B34"/>
                </a:solidFill>
                <a:latin typeface="Arial" panose="020B0604020202020204" pitchFamily="34" charset="0"/>
              </a:rPr>
              <a:t>spiral scan</a:t>
            </a:r>
            <a:endParaRPr kumimoji="1" lang="en-US" altLang="ja-JP" sz="3200" dirty="0">
              <a:solidFill>
                <a:srgbClr val="232B34"/>
              </a:solidFill>
              <a:latin typeface="Arial" panose="020B0604020202020204" pitchFamily="34" charset="0"/>
            </a:endParaRPr>
          </a:p>
        </p:txBody>
      </p:sp>
      <p:sp>
        <p:nvSpPr>
          <p:cNvPr id="33" name="四角形: 角を丸くする 32">
            <a:extLst>
              <a:ext uri="{FF2B5EF4-FFF2-40B4-BE49-F238E27FC236}">
                <a16:creationId xmlns:a16="http://schemas.microsoft.com/office/drawing/2014/main" id="{6F3BEA4E-BFF5-A67A-EADF-77B9F32E4586}"/>
              </a:ext>
            </a:extLst>
          </p:cNvPr>
          <p:cNvSpPr/>
          <p:nvPr/>
        </p:nvSpPr>
        <p:spPr>
          <a:xfrm>
            <a:off x="16967200" y="6263335"/>
            <a:ext cx="6604000" cy="1981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9EF46721-AD03-8DC6-5477-691640E1525A}"/>
              </a:ext>
            </a:extLst>
          </p:cNvPr>
          <p:cNvSpPr txBox="1"/>
          <p:nvPr/>
        </p:nvSpPr>
        <p:spPr>
          <a:xfrm>
            <a:off x="17170400" y="6618935"/>
            <a:ext cx="6197600" cy="1270000"/>
          </a:xfrm>
          <a:prstGeom prst="rect">
            <a:avLst/>
          </a:prstGeom>
          <a:noFill/>
        </p:spPr>
        <p:txBody>
          <a:bodyPr vert="horz" wrap="square" lIns="101600" tIns="0" rIns="101600" bIns="0" rtlCol="0" anchor="ctr">
            <a:noAutofit/>
          </a:bodyPr>
          <a:lstStyle/>
          <a:p>
            <a:pPr algn="ctr"/>
            <a:r>
              <a:rPr kumimoji="1" lang="en-US" altLang="ja-JP" sz="3200" dirty="0">
                <a:solidFill>
                  <a:srgbClr val="232B34"/>
                </a:solidFill>
                <a:latin typeface="Arial" panose="020B0604020202020204" pitchFamily="34" charset="0"/>
              </a:rPr>
              <a:t>Acquisition time </a:t>
            </a:r>
            <a:r>
              <a:rPr kumimoji="1" lang="en-US" altLang="ja-JP" sz="3200">
                <a:solidFill>
                  <a:srgbClr val="232B34"/>
                </a:solidFill>
                <a:latin typeface="Arial" panose="020B0604020202020204" pitchFamily="34" charset="0"/>
              </a:rPr>
              <a:t>and success</a:t>
            </a:r>
            <a:endParaRPr kumimoji="1" lang="en-US" altLang="ja-JP" sz="3200" dirty="0">
              <a:solidFill>
                <a:srgbClr val="232B34"/>
              </a:solidFill>
              <a:latin typeface="Arial" panose="020B0604020202020204" pitchFamily="34" charset="0"/>
            </a:endParaRPr>
          </a:p>
        </p:txBody>
      </p:sp>
      <p:sp>
        <p:nvSpPr>
          <p:cNvPr id="35" name="矢印: 右 34">
            <a:extLst>
              <a:ext uri="{FF2B5EF4-FFF2-40B4-BE49-F238E27FC236}">
                <a16:creationId xmlns:a16="http://schemas.microsoft.com/office/drawing/2014/main" id="{BDC4C066-5B88-10F0-F1AB-7F703D86FD5C}"/>
              </a:ext>
            </a:extLst>
          </p:cNvPr>
          <p:cNvSpPr/>
          <p:nvPr/>
        </p:nvSpPr>
        <p:spPr>
          <a:xfrm>
            <a:off x="7569200" y="7025335"/>
            <a:ext cx="558800" cy="406400"/>
          </a:xfrm>
          <a:prstGeom prst="rightArrow">
            <a:avLst/>
          </a:prstGeom>
          <a:solidFill>
            <a:srgbClr val="1B74A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右 36">
            <a:extLst>
              <a:ext uri="{FF2B5EF4-FFF2-40B4-BE49-F238E27FC236}">
                <a16:creationId xmlns:a16="http://schemas.microsoft.com/office/drawing/2014/main" id="{C19EAE89-073C-E998-ABB6-A1B070B6ED56}"/>
              </a:ext>
            </a:extLst>
          </p:cNvPr>
          <p:cNvSpPr/>
          <p:nvPr/>
        </p:nvSpPr>
        <p:spPr>
          <a:xfrm>
            <a:off x="15646400" y="7025335"/>
            <a:ext cx="558800" cy="406400"/>
          </a:xfrm>
          <a:prstGeom prst="rightArrow">
            <a:avLst/>
          </a:prstGeom>
          <a:solidFill>
            <a:srgbClr val="1B74A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四角形: 角を丸くする 37">
            <a:extLst>
              <a:ext uri="{FF2B5EF4-FFF2-40B4-BE49-F238E27FC236}">
                <a16:creationId xmlns:a16="http://schemas.microsoft.com/office/drawing/2014/main" id="{57437F3B-F74E-615E-C016-FF5EE407BCBC}"/>
              </a:ext>
            </a:extLst>
          </p:cNvPr>
          <p:cNvSpPr/>
          <p:nvPr/>
        </p:nvSpPr>
        <p:spPr>
          <a:xfrm>
            <a:off x="812800" y="8752535"/>
            <a:ext cx="5461000" cy="2489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6D972B8E-C965-A3AB-3194-BCDE3D727D4A}"/>
              </a:ext>
            </a:extLst>
          </p:cNvPr>
          <p:cNvSpPr txBox="1"/>
          <p:nvPr/>
        </p:nvSpPr>
        <p:spPr>
          <a:xfrm>
            <a:off x="965200" y="9209735"/>
            <a:ext cx="5156200" cy="990600"/>
          </a:xfrm>
          <a:prstGeom prst="rect">
            <a:avLst/>
          </a:prstGeom>
          <a:noFill/>
        </p:spPr>
        <p:txBody>
          <a:bodyPr vert="horz" wrap="square" lIns="101600" tIns="0" rIns="101600" bIns="0" rtlCol="0" anchor="ctr">
            <a:noAutofit/>
          </a:bodyPr>
          <a:lstStyle/>
          <a:p>
            <a:pPr algn="ctr"/>
            <a:r>
              <a:rPr kumimoji="1" lang="en-US" altLang="ja-JP" sz="4400" b="1" dirty="0">
                <a:solidFill>
                  <a:srgbClr val="082B52"/>
                </a:solidFill>
                <a:latin typeface="Arial" panose="020B0604020202020204" pitchFamily="34" charset="0"/>
              </a:rPr>
              <a:t>±</a:t>
            </a:r>
            <a:r>
              <a:rPr kumimoji="1" lang="en-US" altLang="ja-JP" sz="4400" b="1">
                <a:solidFill>
                  <a:srgbClr val="082B52"/>
                </a:solidFill>
                <a:latin typeface="Arial" panose="020B0604020202020204" pitchFamily="34" charset="0"/>
              </a:rPr>
              <a:t>1600 µrad</a:t>
            </a:r>
            <a:endParaRPr kumimoji="1" lang="en-US" altLang="ja-JP" sz="4400" b="1" dirty="0">
              <a:solidFill>
                <a:srgbClr val="082B52"/>
              </a:solidFill>
              <a:latin typeface="Arial" panose="020B0604020202020204" pitchFamily="34" charset="0"/>
            </a:endParaRPr>
          </a:p>
        </p:txBody>
      </p:sp>
      <p:sp>
        <p:nvSpPr>
          <p:cNvPr id="40" name="テキスト ボックス 39">
            <a:extLst>
              <a:ext uri="{FF2B5EF4-FFF2-40B4-BE49-F238E27FC236}">
                <a16:creationId xmlns:a16="http://schemas.microsoft.com/office/drawing/2014/main" id="{F4A1E820-9BFE-0A1B-ACF9-4669432194FC}"/>
              </a:ext>
            </a:extLst>
          </p:cNvPr>
          <p:cNvSpPr txBox="1"/>
          <p:nvPr/>
        </p:nvSpPr>
        <p:spPr>
          <a:xfrm>
            <a:off x="965200" y="10327335"/>
            <a:ext cx="5156200" cy="558800"/>
          </a:xfrm>
          <a:prstGeom prst="rect">
            <a:avLst/>
          </a:prstGeom>
          <a:noFill/>
        </p:spPr>
        <p:txBody>
          <a:bodyPr vert="horz" wrap="square" lIns="101600" tIns="0" rIns="101600" bIns="0" rtlCol="0" anchor="ctr">
            <a:noAutofit/>
          </a:bodyPr>
          <a:lstStyle/>
          <a:p>
            <a:pPr algn="ctr"/>
            <a:r>
              <a:rPr kumimoji="1" lang="en-US" altLang="ja-JP" sz="3200">
                <a:solidFill>
                  <a:srgbClr val="232B34"/>
                </a:solidFill>
                <a:latin typeface="Arial" panose="020B0604020202020204" pitchFamily="34" charset="0"/>
              </a:rPr>
              <a:t>Scan range</a:t>
            </a:r>
            <a:endParaRPr kumimoji="1" lang="en-US" altLang="ja-JP" sz="3200" dirty="0">
              <a:solidFill>
                <a:srgbClr val="232B34"/>
              </a:solidFill>
              <a:latin typeface="Arial" panose="020B0604020202020204" pitchFamily="34" charset="0"/>
            </a:endParaRPr>
          </a:p>
        </p:txBody>
      </p:sp>
      <p:sp>
        <p:nvSpPr>
          <p:cNvPr id="41" name="四角形: 角を丸くする 40">
            <a:extLst>
              <a:ext uri="{FF2B5EF4-FFF2-40B4-BE49-F238E27FC236}">
                <a16:creationId xmlns:a16="http://schemas.microsoft.com/office/drawing/2014/main" id="{742B04A1-B101-B7C6-60D3-7028B463ED4B}"/>
              </a:ext>
            </a:extLst>
          </p:cNvPr>
          <p:cNvSpPr/>
          <p:nvPr/>
        </p:nvSpPr>
        <p:spPr>
          <a:xfrm>
            <a:off x="6578600" y="8752535"/>
            <a:ext cx="5461000" cy="2489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CF0A08AF-F305-A5DA-A519-E4E011803761}"/>
              </a:ext>
            </a:extLst>
          </p:cNvPr>
          <p:cNvSpPr txBox="1"/>
          <p:nvPr/>
        </p:nvSpPr>
        <p:spPr>
          <a:xfrm>
            <a:off x="6731000" y="9209735"/>
            <a:ext cx="5156200" cy="990600"/>
          </a:xfrm>
          <a:prstGeom prst="rect">
            <a:avLst/>
          </a:prstGeom>
          <a:noFill/>
        </p:spPr>
        <p:txBody>
          <a:bodyPr vert="horz" wrap="square" lIns="101600" tIns="0" rIns="101600" bIns="0" rtlCol="0" anchor="ctr">
            <a:noAutofit/>
          </a:bodyPr>
          <a:lstStyle/>
          <a:p>
            <a:pPr algn="ctr"/>
            <a:r>
              <a:rPr kumimoji="1" lang="en-US" altLang="ja-JP" sz="4400" b="1">
                <a:solidFill>
                  <a:srgbClr val="082B52"/>
                </a:solidFill>
                <a:latin typeface="Arial" panose="020B0604020202020204" pitchFamily="34" charset="0"/>
              </a:rPr>
              <a:t>120 µrad</a:t>
            </a:r>
            <a:endParaRPr kumimoji="1" lang="en-US" altLang="ja-JP" sz="4400" b="1" dirty="0">
              <a:solidFill>
                <a:srgbClr val="082B52"/>
              </a:solidFill>
              <a:latin typeface="Arial" panose="020B0604020202020204" pitchFamily="34" charset="0"/>
            </a:endParaRPr>
          </a:p>
        </p:txBody>
      </p:sp>
      <p:sp>
        <p:nvSpPr>
          <p:cNvPr id="43" name="テキスト ボックス 42">
            <a:extLst>
              <a:ext uri="{FF2B5EF4-FFF2-40B4-BE49-F238E27FC236}">
                <a16:creationId xmlns:a16="http://schemas.microsoft.com/office/drawing/2014/main" id="{3A9E193F-F1A3-4ACA-A173-8EDBFD42D4C3}"/>
              </a:ext>
            </a:extLst>
          </p:cNvPr>
          <p:cNvSpPr txBox="1"/>
          <p:nvPr/>
        </p:nvSpPr>
        <p:spPr>
          <a:xfrm>
            <a:off x="6731000" y="10327335"/>
            <a:ext cx="5156200" cy="558800"/>
          </a:xfrm>
          <a:prstGeom prst="rect">
            <a:avLst/>
          </a:prstGeom>
          <a:noFill/>
        </p:spPr>
        <p:txBody>
          <a:bodyPr vert="horz" wrap="square" lIns="101600" tIns="0" rIns="101600" bIns="0" rtlCol="0" anchor="ctr">
            <a:noAutofit/>
          </a:bodyPr>
          <a:lstStyle/>
          <a:p>
            <a:pPr algn="ctr"/>
            <a:r>
              <a:rPr kumimoji="1" lang="en-US" altLang="ja-JP" sz="3200">
                <a:solidFill>
                  <a:srgbClr val="232B34"/>
                </a:solidFill>
                <a:latin typeface="Arial" panose="020B0604020202020204" pitchFamily="34" charset="0"/>
              </a:rPr>
              <a:t>Scan step</a:t>
            </a:r>
            <a:endParaRPr kumimoji="1" lang="en-US" altLang="ja-JP" sz="3200" dirty="0">
              <a:solidFill>
                <a:srgbClr val="232B34"/>
              </a:solidFill>
              <a:latin typeface="Arial" panose="020B0604020202020204" pitchFamily="34" charset="0"/>
            </a:endParaRPr>
          </a:p>
        </p:txBody>
      </p:sp>
      <p:sp>
        <p:nvSpPr>
          <p:cNvPr id="44" name="四角形: 角を丸くする 43">
            <a:extLst>
              <a:ext uri="{FF2B5EF4-FFF2-40B4-BE49-F238E27FC236}">
                <a16:creationId xmlns:a16="http://schemas.microsoft.com/office/drawing/2014/main" id="{6CF9140D-BB44-F400-B929-C899238A7488}"/>
              </a:ext>
            </a:extLst>
          </p:cNvPr>
          <p:cNvSpPr/>
          <p:nvPr/>
        </p:nvSpPr>
        <p:spPr>
          <a:xfrm>
            <a:off x="12344400" y="8752535"/>
            <a:ext cx="5461000" cy="2489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266C109C-54FE-08C4-9055-7269BEFCA963}"/>
              </a:ext>
            </a:extLst>
          </p:cNvPr>
          <p:cNvSpPr txBox="1"/>
          <p:nvPr/>
        </p:nvSpPr>
        <p:spPr>
          <a:xfrm>
            <a:off x="12496800" y="9209735"/>
            <a:ext cx="5156200" cy="990600"/>
          </a:xfrm>
          <a:prstGeom prst="rect">
            <a:avLst/>
          </a:prstGeom>
          <a:noFill/>
        </p:spPr>
        <p:txBody>
          <a:bodyPr vert="horz" wrap="square" lIns="101600" tIns="0" rIns="101600" bIns="0" rtlCol="0" anchor="ctr">
            <a:noAutofit/>
          </a:bodyPr>
          <a:lstStyle/>
          <a:p>
            <a:pPr algn="ctr"/>
            <a:r>
              <a:rPr kumimoji="1" lang="en-US" altLang="ja-JP" sz="4400" b="1">
                <a:solidFill>
                  <a:srgbClr val="082B52"/>
                </a:solidFill>
                <a:latin typeface="Arial" panose="020B0604020202020204" pitchFamily="34" charset="0"/>
              </a:rPr>
              <a:t>150 µrad</a:t>
            </a:r>
            <a:endParaRPr kumimoji="1" lang="en-US" altLang="ja-JP" sz="4400" b="1" dirty="0">
              <a:solidFill>
                <a:srgbClr val="082B52"/>
              </a:solidFill>
              <a:latin typeface="Arial" panose="020B0604020202020204" pitchFamily="34" charset="0"/>
            </a:endParaRPr>
          </a:p>
        </p:txBody>
      </p:sp>
      <p:sp>
        <p:nvSpPr>
          <p:cNvPr id="49" name="テキスト ボックス 48">
            <a:extLst>
              <a:ext uri="{FF2B5EF4-FFF2-40B4-BE49-F238E27FC236}">
                <a16:creationId xmlns:a16="http://schemas.microsoft.com/office/drawing/2014/main" id="{F1FC6BF4-C7BB-5D7F-9DC0-F2C041F7A3F5}"/>
              </a:ext>
            </a:extLst>
          </p:cNvPr>
          <p:cNvSpPr txBox="1"/>
          <p:nvPr/>
        </p:nvSpPr>
        <p:spPr>
          <a:xfrm>
            <a:off x="12496800" y="10327335"/>
            <a:ext cx="5156200" cy="558800"/>
          </a:xfrm>
          <a:prstGeom prst="rect">
            <a:avLst/>
          </a:prstGeom>
          <a:noFill/>
        </p:spPr>
        <p:txBody>
          <a:bodyPr vert="horz" wrap="square" lIns="101600" tIns="0" rIns="101600" bIns="0" rtlCol="0" anchor="ctr">
            <a:noAutofit/>
          </a:bodyPr>
          <a:lstStyle/>
          <a:p>
            <a:pPr algn="ctr"/>
            <a:r>
              <a:rPr kumimoji="1" lang="en-US" altLang="ja-JP" sz="3200">
                <a:solidFill>
                  <a:srgbClr val="232B34"/>
                </a:solidFill>
                <a:latin typeface="Arial" panose="020B0604020202020204" pitchFamily="34" charset="0"/>
              </a:rPr>
              <a:t>Detection radius</a:t>
            </a:r>
            <a:endParaRPr kumimoji="1" lang="en-US" altLang="ja-JP" sz="3200" dirty="0">
              <a:solidFill>
                <a:srgbClr val="232B34"/>
              </a:solidFill>
              <a:latin typeface="Arial" panose="020B0604020202020204" pitchFamily="34" charset="0"/>
            </a:endParaRPr>
          </a:p>
        </p:txBody>
      </p:sp>
      <p:sp>
        <p:nvSpPr>
          <p:cNvPr id="51" name="四角形: 角を丸くする 50">
            <a:extLst>
              <a:ext uri="{FF2B5EF4-FFF2-40B4-BE49-F238E27FC236}">
                <a16:creationId xmlns:a16="http://schemas.microsoft.com/office/drawing/2014/main" id="{9C263403-3D4E-4E10-F598-4F4AE957ADF8}"/>
              </a:ext>
            </a:extLst>
          </p:cNvPr>
          <p:cNvSpPr/>
          <p:nvPr/>
        </p:nvSpPr>
        <p:spPr>
          <a:xfrm>
            <a:off x="18110200" y="8752535"/>
            <a:ext cx="5461000" cy="2489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82D9D416-23AB-E81F-8CF6-A02DFA9777EB}"/>
              </a:ext>
            </a:extLst>
          </p:cNvPr>
          <p:cNvSpPr txBox="1"/>
          <p:nvPr/>
        </p:nvSpPr>
        <p:spPr>
          <a:xfrm>
            <a:off x="18262600" y="9209735"/>
            <a:ext cx="5156200" cy="990600"/>
          </a:xfrm>
          <a:prstGeom prst="rect">
            <a:avLst/>
          </a:prstGeom>
          <a:noFill/>
        </p:spPr>
        <p:txBody>
          <a:bodyPr vert="horz" wrap="square" lIns="101600" tIns="0" rIns="101600" bIns="0" rtlCol="0" anchor="ctr">
            <a:noAutofit/>
          </a:bodyPr>
          <a:lstStyle/>
          <a:p>
            <a:pPr algn="ctr"/>
            <a:r>
              <a:rPr kumimoji="1" lang="en-US" altLang="ja-JP" sz="4400" b="1" dirty="0">
                <a:solidFill>
                  <a:srgbClr val="082B52"/>
                </a:solidFill>
                <a:latin typeface="Arial" panose="020B0604020202020204" pitchFamily="34" charset="0"/>
              </a:rPr>
              <a:t>0.1 s </a:t>
            </a:r>
            <a:r>
              <a:rPr kumimoji="1" lang="en-US" altLang="ja-JP" sz="4400" b="1">
                <a:solidFill>
                  <a:srgbClr val="082B52"/>
                </a:solidFill>
                <a:latin typeface="Arial" panose="020B0604020202020204" pitchFamily="34" charset="0"/>
              </a:rPr>
              <a:t>/ point</a:t>
            </a:r>
            <a:endParaRPr kumimoji="1" lang="en-US" altLang="ja-JP" sz="4400" b="1" dirty="0">
              <a:solidFill>
                <a:srgbClr val="082B52"/>
              </a:solidFill>
              <a:latin typeface="Arial" panose="020B0604020202020204" pitchFamily="34" charset="0"/>
            </a:endParaRPr>
          </a:p>
        </p:txBody>
      </p:sp>
      <p:sp>
        <p:nvSpPr>
          <p:cNvPr id="53" name="テキスト ボックス 52">
            <a:extLst>
              <a:ext uri="{FF2B5EF4-FFF2-40B4-BE49-F238E27FC236}">
                <a16:creationId xmlns:a16="http://schemas.microsoft.com/office/drawing/2014/main" id="{5EA84CD9-F25A-21B4-6E69-49404831622D}"/>
              </a:ext>
            </a:extLst>
          </p:cNvPr>
          <p:cNvSpPr txBox="1"/>
          <p:nvPr/>
        </p:nvSpPr>
        <p:spPr>
          <a:xfrm>
            <a:off x="18262600" y="10327335"/>
            <a:ext cx="5156200" cy="558800"/>
          </a:xfrm>
          <a:prstGeom prst="rect">
            <a:avLst/>
          </a:prstGeom>
          <a:noFill/>
        </p:spPr>
        <p:txBody>
          <a:bodyPr vert="horz" wrap="square" lIns="101600" tIns="0" rIns="101600" bIns="0" rtlCol="0" anchor="ctr">
            <a:noAutofit/>
          </a:bodyPr>
          <a:lstStyle/>
          <a:p>
            <a:pPr algn="ctr"/>
            <a:r>
              <a:rPr kumimoji="1" lang="en-US" altLang="ja-JP" sz="3200">
                <a:solidFill>
                  <a:srgbClr val="232B34"/>
                </a:solidFill>
                <a:latin typeface="Arial" panose="020B0604020202020204" pitchFamily="34" charset="0"/>
              </a:rPr>
              <a:t>Dwell time</a:t>
            </a:r>
            <a:endParaRPr kumimoji="1" lang="en-US" altLang="ja-JP" sz="3200" dirty="0">
              <a:solidFill>
                <a:srgbClr val="232B34"/>
              </a:solidFill>
              <a:latin typeface="Arial" panose="020B0604020202020204" pitchFamily="34" charset="0"/>
            </a:endParaRPr>
          </a:p>
        </p:txBody>
      </p:sp>
      <p:sp>
        <p:nvSpPr>
          <p:cNvPr id="55" name="テキスト ボックス 54">
            <a:extLst>
              <a:ext uri="{FF2B5EF4-FFF2-40B4-BE49-F238E27FC236}">
                <a16:creationId xmlns:a16="http://schemas.microsoft.com/office/drawing/2014/main" id="{07ED7B7A-A629-4A76-3A90-23EB385C1916}"/>
              </a:ext>
            </a:extLst>
          </p:cNvPr>
          <p:cNvSpPr txBox="1"/>
          <p:nvPr/>
        </p:nvSpPr>
        <p:spPr>
          <a:xfrm>
            <a:off x="1016000" y="11597335"/>
            <a:ext cx="22352000" cy="508000"/>
          </a:xfrm>
          <a:prstGeom prst="rect">
            <a:avLst/>
          </a:prstGeom>
          <a:noFill/>
        </p:spPr>
        <p:txBody>
          <a:bodyPr vert="horz" wrap="square" lIns="101600" tIns="0" rIns="101600" bIns="0" rtlCol="0" anchor="ctr">
            <a:noAutofit/>
          </a:bodyPr>
          <a:lstStyle/>
          <a:p>
            <a:pPr algn="ctr"/>
            <a:r>
              <a:rPr kumimoji="1" lang="en-US" altLang="ja-JP" sz="2800" dirty="0">
                <a:solidFill>
                  <a:srgbClr val="666F79"/>
                </a:solidFill>
                <a:latin typeface="Arial" panose="020B0604020202020204" pitchFamily="34" charset="0"/>
              </a:rPr>
              <a:t>No coverage holes: half the grid diagonal ≈ 85 µrad &lt; 150 µrad detection </a:t>
            </a:r>
            <a:r>
              <a:rPr kumimoji="1" lang="en-US" altLang="ja-JP" sz="2800">
                <a:solidFill>
                  <a:srgbClr val="666F79"/>
                </a:solidFill>
                <a:latin typeface="Arial" panose="020B0604020202020204" pitchFamily="34" charset="0"/>
              </a:rPr>
              <a:t>radius.</a:t>
            </a:r>
            <a:endParaRPr kumimoji="1" lang="en-US" altLang="ja-JP" sz="2800" dirty="0">
              <a:solidFill>
                <a:srgbClr val="666F79"/>
              </a:solidFill>
              <a:latin typeface="Arial" panose="020B0604020202020204" pitchFamily="34" charset="0"/>
            </a:endParaRPr>
          </a:p>
        </p:txBody>
      </p:sp>
      <p:sp>
        <p:nvSpPr>
          <p:cNvPr id="57" name="テキスト ボックス 56">
            <a:extLst>
              <a:ext uri="{FF2B5EF4-FFF2-40B4-BE49-F238E27FC236}">
                <a16:creationId xmlns:a16="http://schemas.microsoft.com/office/drawing/2014/main" id="{8626C565-7B50-9605-A002-E5DDE04CEAB2}"/>
              </a:ext>
            </a:extLst>
          </p:cNvPr>
          <p:cNvSpPr txBox="1"/>
          <p:nvPr/>
        </p:nvSpPr>
        <p:spPr>
          <a:xfrm>
            <a:off x="1016000" y="12156135"/>
            <a:ext cx="22352000" cy="508000"/>
          </a:xfrm>
          <a:prstGeom prst="rect">
            <a:avLst/>
          </a:prstGeom>
          <a:noFill/>
        </p:spPr>
        <p:txBody>
          <a:bodyPr vert="horz" wrap="square" lIns="101600" tIns="0" rIns="101600" bIns="0" rtlCol="0" anchor="ctr">
            <a:noAutofit/>
          </a:bodyPr>
          <a:lstStyle/>
          <a:p>
            <a:pPr algn="ctr"/>
            <a:r>
              <a:rPr kumimoji="1" lang="en-US" altLang="ja-JP" sz="2800" dirty="0">
                <a:solidFill>
                  <a:srgbClr val="666F79"/>
                </a:solidFill>
                <a:latin typeface="Arial" panose="020B0604020202020204" pitchFamily="34" charset="0"/>
              </a:rPr>
              <a:t>Inter-point slew, settling time, and stochastic detection are </a:t>
            </a:r>
            <a:r>
              <a:rPr kumimoji="1" lang="en-US" altLang="ja-JP" sz="2800">
                <a:solidFill>
                  <a:srgbClr val="666F79"/>
                </a:solidFill>
                <a:latin typeface="Arial" panose="020B0604020202020204" pitchFamily="34" charset="0"/>
              </a:rPr>
              <a:t>neglected.</a:t>
            </a:r>
            <a:endParaRPr kumimoji="1" lang="en-US" altLang="ja-JP" sz="2800" dirty="0">
              <a:solidFill>
                <a:srgbClr val="666F79"/>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77" name="TextBox 5">
                <a:extLst>
                  <a:ext uri="{FF2B5EF4-FFF2-40B4-BE49-F238E27FC236}">
                    <a16:creationId xmlns:a16="http://schemas.microsoft.com/office/drawing/2014/main" id="{B2F8E3D3-81C0-1E44-CB8E-ECA1663B07EE}"/>
                  </a:ext>
                </a:extLst>
              </p:cNvPr>
              <p:cNvSpPr txBox="1"/>
              <p:nvPr/>
            </p:nvSpPr>
            <p:spPr>
              <a:xfrm>
                <a:off x="2295912" y="3605597"/>
                <a:ext cx="15483854" cy="893899"/>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4800" b="1" i="1" dirty="0" smtClean="0">
                              <a:solidFill>
                                <a:srgbClr val="082B52"/>
                              </a:solidFill>
                              <a:latin typeface="Cambria Math" panose="02040503050406030204" pitchFamily="18" charset="0"/>
                            </a:rPr>
                          </m:ctrlPr>
                        </m:sSubPr>
                        <m:e>
                          <m:r>
                            <a:rPr lang="en-US" sz="4800" b="1" i="1" dirty="0"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𝒔𝒄𝒂𝒏</m:t>
                          </m:r>
                          <m:d>
                            <m:dPr>
                              <m:ctrlPr>
                                <a:rPr lang="en-US" sz="4800" b="1" i="1" dirty="0">
                                  <a:solidFill>
                                    <a:srgbClr val="082B52"/>
                                  </a:solidFill>
                                  <a:latin typeface="Cambria Math" panose="02040503050406030204" pitchFamily="18" charset="0"/>
                                </a:rPr>
                              </m:ctrlPr>
                            </m:dPr>
                            <m:e>
                              <m:r>
                                <a:rPr lang="en-US" sz="4800" b="1" i="1" dirty="0">
                                  <a:solidFill>
                                    <a:srgbClr val="082B52"/>
                                  </a:solidFill>
                                  <a:latin typeface="Cambria Math" panose="02040503050406030204" pitchFamily="18" charset="0"/>
                                </a:rPr>
                                <m:t>𝒕</m:t>
                              </m:r>
                            </m:e>
                          </m:d>
                        </m:sub>
                      </m:sSub>
                      <m:r>
                        <a:rPr lang="en-US" sz="4800" b="1" i="1" dirty="0">
                          <a:solidFill>
                            <a:srgbClr val="082B52"/>
                          </a:solidFill>
                          <a:latin typeface="Cambria Math" panose="02040503050406030204" pitchFamily="18" charset="0"/>
                        </a:rPr>
                        <m:t>= </m:t>
                      </m:r>
                      <m:sSub>
                        <m:sSubPr>
                          <m:ctrlPr>
                            <a:rPr lang="en-US" sz="4800" b="1" i="1" dirty="0" err="1" smtClean="0">
                              <a:solidFill>
                                <a:srgbClr val="082B52"/>
                              </a:solidFill>
                              <a:latin typeface="Cambria Math" panose="02040503050406030204" pitchFamily="18" charset="0"/>
                            </a:rPr>
                          </m:ctrlPr>
                        </m:sSubPr>
                        <m:e>
                          <m:r>
                            <a:rPr lang="en-US" sz="4800" b="1" i="1" dirty="0" err="1"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𝒏𝒐𝒏𝒕𝒉𝒆𝒓𝒎𝒂𝒍</m:t>
                          </m:r>
                          <m:d>
                            <m:dPr>
                              <m:ctrlPr>
                                <a:rPr lang="en-US" sz="4800" b="1" i="1" dirty="0">
                                  <a:solidFill>
                                    <a:srgbClr val="082B52"/>
                                  </a:solidFill>
                                  <a:latin typeface="Cambria Math" panose="02040503050406030204" pitchFamily="18" charset="0"/>
                                </a:rPr>
                              </m:ctrlPr>
                            </m:dPr>
                            <m:e>
                              <m:r>
                                <a:rPr lang="en-US" sz="4800" b="1" i="1" dirty="0">
                                  <a:solidFill>
                                    <a:srgbClr val="082B52"/>
                                  </a:solidFill>
                                  <a:latin typeface="Cambria Math" panose="02040503050406030204" pitchFamily="18" charset="0"/>
                                </a:rPr>
                                <m:t>𝒕</m:t>
                              </m:r>
                            </m:e>
                          </m:d>
                        </m:sub>
                      </m:sSub>
                      <m:r>
                        <a:rPr lang="en-US" sz="4800" b="1" i="1" dirty="0">
                          <a:solidFill>
                            <a:srgbClr val="082B52"/>
                          </a:solidFill>
                          <a:latin typeface="Cambria Math" panose="02040503050406030204" pitchFamily="18" charset="0"/>
                        </a:rPr>
                        <m:t>+ </m:t>
                      </m:r>
                      <m:sSub>
                        <m:sSubPr>
                          <m:ctrlPr>
                            <a:rPr lang="en-US" sz="4800" b="1" i="1" dirty="0" smtClean="0">
                              <a:solidFill>
                                <a:srgbClr val="082B52"/>
                              </a:solidFill>
                              <a:latin typeface="Cambria Math" panose="02040503050406030204" pitchFamily="18" charset="0"/>
                            </a:rPr>
                          </m:ctrlPr>
                        </m:sSubPr>
                        <m:e>
                          <m:r>
                            <a:rPr lang="en-US" sz="4800" b="1" i="1" dirty="0" smtClean="0">
                              <a:solidFill>
                                <a:srgbClr val="082B52"/>
                              </a:solidFill>
                              <a:latin typeface="Cambria Math" panose="02040503050406030204" pitchFamily="18" charset="0"/>
                            </a:rPr>
                            <m:t>𝜽</m:t>
                          </m:r>
                        </m:e>
                        <m:sub>
                          <m:r>
                            <a:rPr lang="en-US" sz="4800" b="1" i="1" dirty="0" err="1" smtClean="0">
                              <a:solidFill>
                                <a:srgbClr val="082B52"/>
                              </a:solidFill>
                              <a:latin typeface="Cambria Math" panose="02040503050406030204" pitchFamily="18" charset="0"/>
                            </a:rPr>
                            <m:t>𝒕𝒉𝒆𝒓𝒎𝒂𝒍</m:t>
                          </m:r>
                          <m:r>
                            <a:rPr lang="en-US" sz="4800" b="1" i="1" dirty="0" smtClean="0">
                              <a:solidFill>
                                <a:srgbClr val="082B52"/>
                              </a:solidFill>
                              <a:latin typeface="Cambria Math" panose="02040503050406030204" pitchFamily="18" charset="0"/>
                            </a:rPr>
                            <m:t>, </m:t>
                          </m:r>
                          <m:r>
                            <a:rPr lang="en-US" sz="4800" b="1" i="1" dirty="0" smtClean="0">
                              <a:solidFill>
                                <a:srgbClr val="082B52"/>
                              </a:solidFill>
                              <a:latin typeface="Cambria Math" panose="02040503050406030204" pitchFamily="18" charset="0"/>
                            </a:rPr>
                            <m:t>𝒕𝒓𝒖𝒆</m:t>
                          </m:r>
                        </m:sub>
                      </m:sSub>
                      <m:d>
                        <m:dPr>
                          <m:ctrlPr>
                            <a:rPr lang="en-US" sz="4800" b="1" i="1" dirty="0">
                              <a:solidFill>
                                <a:srgbClr val="082B52"/>
                              </a:solidFill>
                              <a:latin typeface="Cambria Math" panose="02040503050406030204" pitchFamily="18" charset="0"/>
                            </a:rPr>
                          </m:ctrlPr>
                        </m:dPr>
                        <m:e>
                          <m:r>
                            <a:rPr lang="en-US" sz="4800" b="1" i="1" dirty="0">
                              <a:solidFill>
                                <a:srgbClr val="082B52"/>
                              </a:solidFill>
                              <a:latin typeface="Cambria Math" panose="02040503050406030204" pitchFamily="18" charset="0"/>
                            </a:rPr>
                            <m:t>𝒕</m:t>
                          </m:r>
                        </m:e>
                      </m:d>
                      <m:r>
                        <a:rPr lang="en-US" sz="4800" b="1" i="1" dirty="0">
                          <a:solidFill>
                            <a:srgbClr val="082B52"/>
                          </a:solidFill>
                          <a:latin typeface="Cambria Math" panose="02040503050406030204" pitchFamily="18" charset="0"/>
                        </a:rPr>
                        <m:t>− </m:t>
                      </m:r>
                      <m:sSub>
                        <m:sSubPr>
                          <m:ctrlPr>
                            <a:rPr lang="en-US" sz="4800" b="1" i="1" dirty="0" err="1">
                              <a:solidFill>
                                <a:srgbClr val="082B52"/>
                              </a:solidFill>
                              <a:latin typeface="Cambria Math" panose="02040503050406030204" pitchFamily="18" charset="0"/>
                            </a:rPr>
                          </m:ctrlPr>
                        </m:sSubPr>
                        <m:e>
                          <m:acc>
                            <m:accPr>
                              <m:chr m:val="̂"/>
                              <m:ctrlPr>
                                <a:rPr lang="en-US" sz="4800" b="1" i="1" dirty="0" err="1">
                                  <a:solidFill>
                                    <a:srgbClr val="082B52"/>
                                  </a:solidFill>
                                  <a:latin typeface="Cambria Math" panose="02040503050406030204" pitchFamily="18" charset="0"/>
                                </a:rPr>
                              </m:ctrlPr>
                            </m:accPr>
                            <m:e>
                              <m:r>
                                <a:rPr lang="en-US" sz="4800" b="1" i="1" dirty="0" err="1">
                                  <a:solidFill>
                                    <a:srgbClr val="082B52"/>
                                  </a:solidFill>
                                  <a:latin typeface="Cambria Math" panose="02040503050406030204" pitchFamily="18" charset="0"/>
                                </a:rPr>
                                <m:t>𝜽</m:t>
                              </m:r>
                            </m:e>
                          </m:acc>
                        </m:e>
                        <m:sub>
                          <m:r>
                            <a:rPr lang="en-US" sz="4800" b="1" i="1" dirty="0" err="1" smtClean="0">
                              <a:solidFill>
                                <a:srgbClr val="082B52"/>
                              </a:solidFill>
                              <a:latin typeface="Cambria Math" panose="02040503050406030204" pitchFamily="18" charset="0"/>
                            </a:rPr>
                            <m:t>𝒕𝒉𝒆𝒓𝒎𝒂𝒍</m:t>
                          </m:r>
                        </m:sub>
                      </m:sSub>
                      <m:d>
                        <m:dPr>
                          <m:ctrlPr>
                            <a:rPr lang="en-US" sz="4800" b="1" i="1" dirty="0">
                              <a:solidFill>
                                <a:srgbClr val="082B52"/>
                              </a:solidFill>
                              <a:latin typeface="Cambria Math" panose="02040503050406030204" pitchFamily="18" charset="0"/>
                            </a:rPr>
                          </m:ctrlPr>
                        </m:dPr>
                        <m:e>
                          <m:r>
                            <a:rPr lang="en-US" sz="4800" b="1" i="1" dirty="0">
                              <a:solidFill>
                                <a:srgbClr val="082B52"/>
                              </a:solidFill>
                              <a:latin typeface="Cambria Math" panose="02040503050406030204" pitchFamily="18" charset="0"/>
                            </a:rPr>
                            <m:t>𝒕</m:t>
                          </m:r>
                        </m:e>
                      </m:d>
                    </m:oMath>
                  </m:oMathPara>
                </a14:m>
                <a:endParaRPr lang="en-US" sz="4800" b="1" i="1" dirty="0">
                  <a:solidFill>
                    <a:srgbClr val="082B52"/>
                  </a:solidFill>
                  <a:latin typeface="Cambria Math" panose="02040503050406030204" pitchFamily="18" charset="0"/>
                </a:endParaRPr>
              </a:p>
            </p:txBody>
          </p:sp>
        </mc:Choice>
        <mc:Fallback xmlns="">
          <p:sp>
            <p:nvSpPr>
              <p:cNvPr id="77" name="TextBox 5">
                <a:extLst>
                  <a:ext uri="{FF2B5EF4-FFF2-40B4-BE49-F238E27FC236}">
                    <a16:creationId xmlns:a16="http://schemas.microsoft.com/office/drawing/2014/main" id="{B2F8E3D3-81C0-1E44-CB8E-ECA1663B07EE}"/>
                  </a:ext>
                </a:extLst>
              </p:cNvPr>
              <p:cNvSpPr txBox="1">
                <a:spLocks noRot="1" noChangeAspect="1" noMove="1" noResize="1" noEditPoints="1" noAdjustHandles="1" noChangeArrowheads="1" noChangeShapeType="1" noTextEdit="1"/>
              </p:cNvSpPr>
              <p:nvPr/>
            </p:nvSpPr>
            <p:spPr>
              <a:xfrm>
                <a:off x="2295912" y="3605597"/>
                <a:ext cx="15483854" cy="893899"/>
              </a:xfrm>
              <a:prstGeom prst="rect">
                <a:avLst/>
              </a:prstGeom>
              <a:blipFill>
                <a:blip r:embed="rId3"/>
                <a:stretch>
                  <a:fillRect/>
                </a:stretch>
              </a:blipFill>
            </p:spPr>
            <p:txBody>
              <a:bodyPr/>
              <a:lstStyle/>
              <a:p>
                <a:r>
                  <a:rPr lang="ja-JP" altLang="en-US">
                    <a:noFill/>
                  </a:rPr>
                  <a:t> </a:t>
                </a:r>
              </a:p>
            </p:txBody>
          </p:sp>
        </mc:Fallback>
      </mc:AlternateContent>
      <p:pic>
        <p:nvPicPr>
          <p:cNvPr id="79" name="図 78">
            <a:extLst>
              <a:ext uri="{FF2B5EF4-FFF2-40B4-BE49-F238E27FC236}">
                <a16:creationId xmlns:a16="http://schemas.microsoft.com/office/drawing/2014/main" id="{5AC411ED-DF28-70EC-BD22-B980F7ABCB24}"/>
              </a:ext>
            </a:extLst>
          </p:cNvPr>
          <p:cNvPicPr>
            <a:picLocks noChangeAspect="1"/>
          </p:cNvPicPr>
          <p:nvPr/>
        </p:nvPicPr>
        <p:blipFill>
          <a:blip r:embed="rId4"/>
          <a:stretch>
            <a:fillRect/>
          </a:stretch>
        </p:blipFill>
        <p:spPr>
          <a:xfrm>
            <a:off x="18949987" y="1815094"/>
            <a:ext cx="4621213" cy="416776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Acquisition conditions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98600" y="1792938"/>
            <a:ext cx="21844000" cy="660400"/>
          </a:xfrm>
          <a:prstGeom prst="rect">
            <a:avLst/>
          </a:prstGeom>
          <a:noFill/>
        </p:spPr>
        <p:txBody>
          <a:bodyPr wrap="square" lIns="0" tIns="0" rIns="0" bIns="0" anchor="t">
            <a:noAutofit/>
          </a:bodyPr>
          <a:lstStyle/>
          <a:p>
            <a:pPr>
              <a:spcAft>
                <a:spcPts val="0"/>
              </a:spcAft>
            </a:pPr>
            <a:r>
              <a:rPr lang="en-US" sz="3200" b="1" dirty="0">
                <a:solidFill>
                  <a:srgbClr val="082B52"/>
                </a:solidFill>
                <a:latin typeface="Arial" panose="020B0604020202020204" pitchFamily="34" charset="0"/>
                <a:ea typeface="Yu Gothic"/>
              </a:rPr>
              <a:t>We include orbit, alignment, attitude, and drift errors in the acquisition evaluation</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15/17</a:t>
            </a:r>
          </a:p>
        </p:txBody>
      </p:sp>
      <p:graphicFrame>
        <p:nvGraphicFramePr>
          <p:cNvPr id="13" name="表 12">
            <a:extLst>
              <a:ext uri="{FF2B5EF4-FFF2-40B4-BE49-F238E27FC236}">
                <a16:creationId xmlns:a16="http://schemas.microsoft.com/office/drawing/2014/main" id="{C0ACC8E1-D0C7-EA93-5B8E-741058484602}"/>
              </a:ext>
            </a:extLst>
          </p:cNvPr>
          <p:cNvGraphicFramePr>
            <a:graphicFrameLocks noGrp="1"/>
          </p:cNvGraphicFramePr>
          <p:nvPr>
            <p:extLst>
              <p:ext uri="{D42A27DB-BD31-4B8C-83A1-F6EECF244321}">
                <p14:modId xmlns:p14="http://schemas.microsoft.com/office/powerpoint/2010/main" val="3640323695"/>
              </p:ext>
            </p:extLst>
          </p:nvPr>
        </p:nvGraphicFramePr>
        <p:xfrm>
          <a:off x="3175000" y="5484903"/>
          <a:ext cx="18034000" cy="584200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430506109"/>
                    </a:ext>
                  </a:extLst>
                </a:gridCol>
                <a:gridCol w="9906000">
                  <a:extLst>
                    <a:ext uri="{9D8B030D-6E8A-4147-A177-3AD203B41FA5}">
                      <a16:colId xmlns:a16="http://schemas.microsoft.com/office/drawing/2014/main" val="2795157317"/>
                    </a:ext>
                  </a:extLst>
                </a:gridCol>
              </a:tblGrid>
              <a:tr h="1168400">
                <a:tc>
                  <a:txBody>
                    <a:bodyPr/>
                    <a:lstStyle/>
                    <a:p>
                      <a:pPr algn="ctr"/>
                      <a:r>
                        <a:rPr kumimoji="1" lang="en-US" altLang="ja-JP" sz="3200" b="1">
                          <a:solidFill>
                            <a:srgbClr val="082B52"/>
                          </a:solidFill>
                          <a:latin typeface="Arial" panose="020B0604020202020204" pitchFamily="34" charset="0"/>
                        </a:rPr>
                        <a:t>Error source</a:t>
                      </a:r>
                      <a:endParaRPr kumimoji="1" lang="en-US" altLang="ja-JP" sz="3200" b="1" dirty="0">
                        <a:solidFill>
                          <a:srgbClr val="082B52"/>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tc>
                  <a:txBody>
                    <a:bodyPr/>
                    <a:lstStyle/>
                    <a:p>
                      <a:pPr algn="ctr"/>
                      <a:r>
                        <a:rPr kumimoji="1" lang="en-US" altLang="ja-JP" sz="3200" b="1">
                          <a:solidFill>
                            <a:srgbClr val="082B52"/>
                          </a:solidFill>
                          <a:latin typeface="Arial" panose="020B0604020202020204" pitchFamily="34" charset="0"/>
                        </a:rPr>
                        <a:t>Magnitude</a:t>
                      </a:r>
                      <a:endParaRPr kumimoji="1" lang="en-US" altLang="ja-JP" sz="3200" b="1" dirty="0">
                        <a:solidFill>
                          <a:srgbClr val="082B52"/>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extLst>
                  <a:ext uri="{0D108BD9-81ED-4DB2-BD59-A6C34878D82A}">
                    <a16:rowId xmlns:a16="http://schemas.microsoft.com/office/drawing/2014/main" val="1150445863"/>
                  </a:ext>
                </a:extLst>
              </a:tr>
              <a:tr h="1168400">
                <a:tc>
                  <a:txBody>
                    <a:bodyPr/>
                    <a:lstStyle/>
                    <a:p>
                      <a:pPr algn="ctr"/>
                      <a:r>
                        <a:rPr kumimoji="1" lang="en-US" altLang="ja-JP" sz="3200" b="0">
                          <a:solidFill>
                            <a:srgbClr val="232B34"/>
                          </a:solidFill>
                          <a:latin typeface="Arial" panose="020B0604020202020204" pitchFamily="34" charset="0"/>
                        </a:rPr>
                        <a:t>Orbit prediction</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tc>
                  <a:txBody>
                    <a:bodyPr/>
                    <a:lstStyle/>
                    <a:p>
                      <a:pPr algn="ctr"/>
                      <a:r>
                        <a:rPr kumimoji="1" lang="en-US" altLang="ja-JP" sz="3200" b="1" dirty="0">
                          <a:solidFill>
                            <a:srgbClr val="1B74AA"/>
                          </a:solidFill>
                          <a:latin typeface="Arial" panose="020B0604020202020204" pitchFamily="34" charset="0"/>
                        </a:rPr>
                        <a:t>Mean </a:t>
                      </a:r>
                      <a:r>
                        <a:rPr kumimoji="1" lang="en-US" altLang="ja-JP" sz="3200" b="1">
                          <a:solidFill>
                            <a:srgbClr val="1B74AA"/>
                          </a:solidFill>
                          <a:latin typeface="Arial" panose="020B0604020202020204" pitchFamily="34" charset="0"/>
                        </a:rPr>
                        <a:t>280–700 µrad</a:t>
                      </a:r>
                      <a:endParaRPr kumimoji="1" lang="en-US" altLang="ja-JP" sz="3200" b="1" dirty="0">
                        <a:solidFill>
                          <a:srgbClr val="1B74AA"/>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extLst>
                  <a:ext uri="{0D108BD9-81ED-4DB2-BD59-A6C34878D82A}">
                    <a16:rowId xmlns:a16="http://schemas.microsoft.com/office/drawing/2014/main" val="3999867178"/>
                  </a:ext>
                </a:extLst>
              </a:tr>
              <a:tr h="1168400">
                <a:tc>
                  <a:txBody>
                    <a:bodyPr/>
                    <a:lstStyle/>
                    <a:p>
                      <a:pPr algn="ctr"/>
                      <a:r>
                        <a:rPr kumimoji="1" lang="en-US" altLang="ja-JP" sz="3200" b="0">
                          <a:solidFill>
                            <a:srgbClr val="232B34"/>
                          </a:solidFill>
                          <a:latin typeface="Arial" panose="020B0604020202020204" pitchFamily="34" charset="0"/>
                        </a:rPr>
                        <a:t>Alignment</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tc>
                  <a:txBody>
                    <a:bodyPr/>
                    <a:lstStyle/>
                    <a:p>
                      <a:pPr algn="ctr"/>
                      <a:r>
                        <a:rPr kumimoji="1" lang="en-US" altLang="ja-JP" sz="3200" b="0" dirty="0">
                          <a:solidFill>
                            <a:srgbClr val="232B34"/>
                          </a:solidFill>
                          <a:latin typeface="Arial" panose="020B0604020202020204" pitchFamily="34" charset="0"/>
                        </a:rPr>
                        <a:t>50 µrad/axis </a:t>
                      </a:r>
                      <a:r>
                        <a:rPr kumimoji="1" lang="en-US" altLang="ja-JP" sz="3200" b="0">
                          <a:solidFill>
                            <a:srgbClr val="232B34"/>
                          </a:solidFill>
                          <a:latin typeface="Arial" panose="020B0604020202020204" pitchFamily="34" charset="0"/>
                        </a:rPr>
                        <a:t>(1σ)</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extLst>
                  <a:ext uri="{0D108BD9-81ED-4DB2-BD59-A6C34878D82A}">
                    <a16:rowId xmlns:a16="http://schemas.microsoft.com/office/drawing/2014/main" val="731625157"/>
                  </a:ext>
                </a:extLst>
              </a:tr>
              <a:tr h="1168400">
                <a:tc>
                  <a:txBody>
                    <a:bodyPr/>
                    <a:lstStyle/>
                    <a:p>
                      <a:pPr algn="ctr"/>
                      <a:r>
                        <a:rPr kumimoji="1" lang="en-US" altLang="ja-JP" sz="3200" b="0">
                          <a:solidFill>
                            <a:srgbClr val="232B34"/>
                          </a:solidFill>
                          <a:latin typeface="Arial" panose="020B0604020202020204" pitchFamily="34" charset="0"/>
                        </a:rPr>
                        <a:t>Attitude</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tc>
                  <a:txBody>
                    <a:bodyPr/>
                    <a:lstStyle/>
                    <a:p>
                      <a:pPr algn="ctr"/>
                      <a:r>
                        <a:rPr kumimoji="1" lang="en-US" altLang="ja-JP" sz="3200" b="0" dirty="0">
                          <a:solidFill>
                            <a:srgbClr val="232B34"/>
                          </a:solidFill>
                          <a:latin typeface="Arial" panose="020B0604020202020204" pitchFamily="34" charset="0"/>
                        </a:rPr>
                        <a:t>50 µrad/axis </a:t>
                      </a:r>
                      <a:r>
                        <a:rPr kumimoji="1" lang="en-US" altLang="ja-JP" sz="3200" b="0">
                          <a:solidFill>
                            <a:srgbClr val="232B34"/>
                          </a:solidFill>
                          <a:latin typeface="Arial" panose="020B0604020202020204" pitchFamily="34" charset="0"/>
                        </a:rPr>
                        <a:t>(1σ)</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extLst>
                  <a:ext uri="{0D108BD9-81ED-4DB2-BD59-A6C34878D82A}">
                    <a16:rowId xmlns:a16="http://schemas.microsoft.com/office/drawing/2014/main" val="944470620"/>
                  </a:ext>
                </a:extLst>
              </a:tr>
              <a:tr h="1168400">
                <a:tc>
                  <a:txBody>
                    <a:bodyPr/>
                    <a:lstStyle/>
                    <a:p>
                      <a:pPr algn="ctr"/>
                      <a:r>
                        <a:rPr kumimoji="1" lang="en-US" altLang="ja-JP" sz="3200" b="0">
                          <a:solidFill>
                            <a:srgbClr val="232B34"/>
                          </a:solidFill>
                          <a:latin typeface="Arial" panose="020B0604020202020204" pitchFamily="34" charset="0"/>
                        </a:rPr>
                        <a:t>Drift</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tc>
                  <a:txBody>
                    <a:bodyPr/>
                    <a:lstStyle/>
                    <a:p>
                      <a:pPr algn="ctr"/>
                      <a:r>
                        <a:rPr kumimoji="1" lang="en-US" altLang="ja-JP" sz="3200" b="0" dirty="0">
                          <a:solidFill>
                            <a:srgbClr val="232B34"/>
                          </a:solidFill>
                          <a:latin typeface="Arial" panose="020B0604020202020204" pitchFamily="34" charset="0"/>
                        </a:rPr>
                        <a:t>30 µrad amplitude</a:t>
                      </a: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extLst>
                  <a:ext uri="{0D108BD9-81ED-4DB2-BD59-A6C34878D82A}">
                    <a16:rowId xmlns:a16="http://schemas.microsoft.com/office/drawing/2014/main" val="3633072742"/>
                  </a:ext>
                </a:extLst>
              </a:tr>
            </a:tbl>
          </a:graphicData>
        </a:graphic>
      </p:graphicFrame>
      <p:sp>
        <p:nvSpPr>
          <p:cNvPr id="14" name="テキスト ボックス 13">
            <a:extLst>
              <a:ext uri="{FF2B5EF4-FFF2-40B4-BE49-F238E27FC236}">
                <a16:creationId xmlns:a16="http://schemas.microsoft.com/office/drawing/2014/main" id="{F1BE47D1-00FB-3C2F-2517-72B2281E8DB4}"/>
              </a:ext>
            </a:extLst>
          </p:cNvPr>
          <p:cNvSpPr txBox="1"/>
          <p:nvPr/>
        </p:nvSpPr>
        <p:spPr>
          <a:xfrm>
            <a:off x="1016000" y="11700433"/>
            <a:ext cx="22352000" cy="609600"/>
          </a:xfrm>
          <a:prstGeom prst="rect">
            <a:avLst/>
          </a:prstGeom>
          <a:noFill/>
        </p:spPr>
        <p:txBody>
          <a:bodyPr vert="horz" wrap="square" lIns="0" tIns="0" rIns="0" bIns="0" rtlCol="0" anchor="ctr">
            <a:noAutofit/>
          </a:bodyPr>
          <a:lstStyle/>
          <a:p>
            <a:pPr algn="ctr"/>
            <a:r>
              <a:rPr kumimoji="1" lang="en-US" altLang="ja-JP" sz="3200" b="1" dirty="0">
                <a:solidFill>
                  <a:srgbClr val="082B52"/>
                </a:solidFill>
                <a:latin typeface="Arial" panose="020B0604020202020204" pitchFamily="34" charset="0"/>
              </a:rPr>
              <a:t>Representative GNSS-denied LEO scenario — not a spacecraft-specific error budget.</a:t>
            </a:r>
          </a:p>
        </p:txBody>
      </p:sp>
      <p:sp>
        <p:nvSpPr>
          <p:cNvPr id="15" name="テキスト ボックス 14">
            <a:extLst>
              <a:ext uri="{FF2B5EF4-FFF2-40B4-BE49-F238E27FC236}">
                <a16:creationId xmlns:a16="http://schemas.microsoft.com/office/drawing/2014/main" id="{889D80FF-0406-03F1-6A4D-18482338098A}"/>
              </a:ext>
            </a:extLst>
          </p:cNvPr>
          <p:cNvSpPr txBox="1"/>
          <p:nvPr/>
        </p:nvSpPr>
        <p:spPr>
          <a:xfrm>
            <a:off x="1016000" y="12437033"/>
            <a:ext cx="22352000" cy="584200"/>
          </a:xfrm>
          <a:prstGeom prst="rect">
            <a:avLst/>
          </a:prstGeom>
          <a:noFill/>
        </p:spPr>
        <p:txBody>
          <a:bodyPr vert="horz" wrap="square" lIns="0" tIns="0" rIns="0" bIns="0" rtlCol="0" anchor="ctr">
            <a:noAutofit/>
          </a:bodyPr>
          <a:lstStyle/>
          <a:p>
            <a:pPr algn="ctr"/>
            <a:r>
              <a:rPr kumimoji="1" lang="en-US" altLang="ja-JP" sz="3200" dirty="0">
                <a:solidFill>
                  <a:srgbClr val="666F79"/>
                </a:solidFill>
                <a:latin typeface="Arial" panose="020B0604020202020204" pitchFamily="34" charset="0"/>
              </a:rPr>
              <a:t>Orbit error: TLE/SGP4 prediction vs. Sentinel-1 precise </a:t>
            </a:r>
            <a:r>
              <a:rPr kumimoji="1" lang="en-US" altLang="ja-JP" sz="3200">
                <a:solidFill>
                  <a:srgbClr val="666F79"/>
                </a:solidFill>
                <a:latin typeface="Arial" panose="020B0604020202020204" pitchFamily="34" charset="0"/>
              </a:rPr>
              <a:t>ephemeris.</a:t>
            </a:r>
            <a:endParaRPr kumimoji="1" lang="en-US" altLang="ja-JP" sz="3200" dirty="0">
              <a:solidFill>
                <a:srgbClr val="666F79"/>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17" name="TextBox 5">
                <a:extLst>
                  <a:ext uri="{FF2B5EF4-FFF2-40B4-BE49-F238E27FC236}">
                    <a16:creationId xmlns:a16="http://schemas.microsoft.com/office/drawing/2014/main" id="{877B3AB5-E05C-3982-5B86-493D685B53C1}"/>
                  </a:ext>
                </a:extLst>
              </p:cNvPr>
              <p:cNvSpPr txBox="1"/>
              <p:nvPr/>
            </p:nvSpPr>
            <p:spPr>
              <a:xfrm>
                <a:off x="4815793" y="3383280"/>
                <a:ext cx="14691458" cy="864019"/>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4800" b="1" i="1" dirty="0" smtClean="0">
                              <a:solidFill>
                                <a:srgbClr val="082B52"/>
                              </a:solidFill>
                              <a:latin typeface="Cambria Math" panose="02040503050406030204" pitchFamily="18" charset="0"/>
                            </a:rPr>
                          </m:ctrlPr>
                        </m:sSubPr>
                        <m:e>
                          <m:r>
                            <a:rPr lang="en-US" sz="4800" b="1" i="1" dirty="0"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𝒏𝒐𝒏𝒕𝒉𝒆𝒓𝒎𝒂𝒍</m:t>
                          </m:r>
                        </m:sub>
                      </m:sSub>
                      <m:r>
                        <a:rPr lang="en-US" sz="4800" b="1" i="1" dirty="0">
                          <a:solidFill>
                            <a:srgbClr val="082B52"/>
                          </a:solidFill>
                          <a:latin typeface="Cambria Math" panose="02040503050406030204" pitchFamily="18" charset="0"/>
                        </a:rPr>
                        <m:t>= </m:t>
                      </m:r>
                      <m:sSub>
                        <m:sSubPr>
                          <m:ctrlPr>
                            <a:rPr lang="en-US" sz="4800" b="1" i="1" dirty="0" err="1" smtClean="0">
                              <a:solidFill>
                                <a:srgbClr val="082B52"/>
                              </a:solidFill>
                              <a:latin typeface="Cambria Math" panose="02040503050406030204" pitchFamily="18" charset="0"/>
                            </a:rPr>
                          </m:ctrlPr>
                        </m:sSubPr>
                        <m:e>
                          <m:r>
                            <a:rPr lang="en-US" sz="4800" b="1" i="1" dirty="0" err="1"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𝒐𝒓𝒃𝒊𝒕</m:t>
                          </m:r>
                        </m:sub>
                      </m:sSub>
                      <m:r>
                        <a:rPr lang="en-US" sz="4800" b="1" i="1" dirty="0">
                          <a:solidFill>
                            <a:srgbClr val="082B52"/>
                          </a:solidFill>
                          <a:latin typeface="Cambria Math" panose="02040503050406030204" pitchFamily="18" charset="0"/>
                        </a:rPr>
                        <m:t>+ </m:t>
                      </m:r>
                      <m:sSub>
                        <m:sSubPr>
                          <m:ctrlPr>
                            <a:rPr lang="en-US" sz="4800" b="1" i="1" dirty="0" err="1" smtClean="0">
                              <a:solidFill>
                                <a:srgbClr val="082B52"/>
                              </a:solidFill>
                              <a:latin typeface="Cambria Math" panose="02040503050406030204" pitchFamily="18" charset="0"/>
                            </a:rPr>
                          </m:ctrlPr>
                        </m:sSubPr>
                        <m:e>
                          <m:r>
                            <a:rPr lang="en-US" sz="4800" b="1" i="1" dirty="0" err="1"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𝒂𝒍𝒊𝒈𝒏𝒎𝒆𝒏𝒕</m:t>
                          </m:r>
                        </m:sub>
                      </m:sSub>
                      <m:r>
                        <a:rPr lang="en-US" sz="4800" b="1" i="1" dirty="0">
                          <a:solidFill>
                            <a:srgbClr val="082B52"/>
                          </a:solidFill>
                          <a:latin typeface="Cambria Math" panose="02040503050406030204" pitchFamily="18" charset="0"/>
                        </a:rPr>
                        <m:t>+ </m:t>
                      </m:r>
                      <m:sSub>
                        <m:sSubPr>
                          <m:ctrlPr>
                            <a:rPr lang="en-US" sz="4800" b="1" i="1" dirty="0" err="1" smtClean="0">
                              <a:solidFill>
                                <a:srgbClr val="082B52"/>
                              </a:solidFill>
                              <a:latin typeface="Cambria Math" panose="02040503050406030204" pitchFamily="18" charset="0"/>
                            </a:rPr>
                          </m:ctrlPr>
                        </m:sSubPr>
                        <m:e>
                          <m:r>
                            <a:rPr lang="en-US" sz="4800" b="1" i="1" dirty="0" err="1"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𝒂𝒕𝒕𝒊𝒕𝒖𝒅𝒆</m:t>
                          </m:r>
                        </m:sub>
                      </m:sSub>
                      <m:r>
                        <a:rPr lang="en-US" sz="4800" b="1" i="1" dirty="0">
                          <a:solidFill>
                            <a:srgbClr val="082B52"/>
                          </a:solidFill>
                          <a:latin typeface="Cambria Math" panose="02040503050406030204" pitchFamily="18" charset="0"/>
                        </a:rPr>
                        <m:t>+ </m:t>
                      </m:r>
                      <m:sSub>
                        <m:sSubPr>
                          <m:ctrlPr>
                            <a:rPr lang="en-US" sz="4800" b="1" i="1" dirty="0" err="1" smtClean="0">
                              <a:solidFill>
                                <a:srgbClr val="082B52"/>
                              </a:solidFill>
                              <a:latin typeface="Cambria Math" panose="02040503050406030204" pitchFamily="18" charset="0"/>
                            </a:rPr>
                          </m:ctrlPr>
                        </m:sSubPr>
                        <m:e>
                          <m:r>
                            <a:rPr lang="en-US" sz="4800" b="1" i="1" dirty="0" err="1"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𝒅𝒓𝒊𝒇𝒕</m:t>
                          </m:r>
                        </m:sub>
                      </m:sSub>
                    </m:oMath>
                  </m:oMathPara>
                </a14:m>
                <a:endParaRPr lang="en-US" sz="4800" b="1" i="1" dirty="0" err="1">
                  <a:solidFill>
                    <a:srgbClr val="082B52"/>
                  </a:solidFill>
                  <a:latin typeface="Cambria Math" panose="02040503050406030204" pitchFamily="18" charset="0"/>
                </a:endParaRPr>
              </a:p>
            </p:txBody>
          </p:sp>
        </mc:Choice>
        <mc:Fallback xmlns="">
          <p:sp>
            <p:nvSpPr>
              <p:cNvPr id="17" name="TextBox 5">
                <a:extLst>
                  <a:ext uri="{FF2B5EF4-FFF2-40B4-BE49-F238E27FC236}">
                    <a16:creationId xmlns:a16="http://schemas.microsoft.com/office/drawing/2014/main" id="{877B3AB5-E05C-3982-5B86-493D685B53C1}"/>
                  </a:ext>
                </a:extLst>
              </p:cNvPr>
              <p:cNvSpPr txBox="1">
                <a:spLocks noRot="1" noChangeAspect="1" noMove="1" noResize="1" noEditPoints="1" noAdjustHandles="1" noChangeArrowheads="1" noChangeShapeType="1" noTextEdit="1"/>
              </p:cNvSpPr>
              <p:nvPr/>
            </p:nvSpPr>
            <p:spPr>
              <a:xfrm>
                <a:off x="4815793" y="3383280"/>
                <a:ext cx="14691458" cy="864019"/>
              </a:xfrm>
              <a:prstGeom prst="rect">
                <a:avLst/>
              </a:prstGeom>
              <a:blipFill>
                <a:blip r:embed="rId3"/>
                <a:stretch>
                  <a:fillRect/>
                </a:stretch>
              </a:blipFill>
            </p:spPr>
            <p:txBody>
              <a:bodyPr/>
              <a:lstStyle/>
              <a:p>
                <a:r>
                  <a:rPr lang="ja-JP"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Acquisition results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98600" y="1775010"/>
            <a:ext cx="21844000" cy="609600"/>
          </a:xfrm>
          <a:prstGeom prst="rect">
            <a:avLst/>
          </a:prstGeom>
          <a:noFill/>
        </p:spPr>
        <p:txBody>
          <a:bodyPr wrap="square" lIns="0" tIns="0" rIns="0" bIns="0" anchor="t">
            <a:noAutofit/>
          </a:bodyPr>
          <a:lstStyle/>
          <a:p>
            <a:pPr>
              <a:spcAft>
                <a:spcPts val="0"/>
              </a:spcAft>
            </a:pPr>
            <a:r>
              <a:rPr lang="en-US" sz="3200" b="1" dirty="0">
                <a:solidFill>
                  <a:srgbClr val="082B52"/>
                </a:solidFill>
                <a:latin typeface="Arial" panose="020B0604020202020204" pitchFamily="34" charset="0"/>
                <a:ea typeface="Yu Gothic"/>
              </a:rPr>
              <a:t>Feedforward thermal correction reduces acquisition time across operating conditions</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16/17</a:t>
            </a:r>
          </a:p>
        </p:txBody>
      </p:sp>
      <p:pic>
        <p:nvPicPr>
          <p:cNvPr id="17" name="図 16">
            <a:extLst>
              <a:ext uri="{FF2B5EF4-FFF2-40B4-BE49-F238E27FC236}">
                <a16:creationId xmlns:a16="http://schemas.microsoft.com/office/drawing/2014/main" id="{73FDF8B9-5D7E-679E-1223-C845D75806E9}"/>
              </a:ext>
            </a:extLst>
          </p:cNvPr>
          <p:cNvPicPr>
            <a:picLocks/>
          </p:cNvPicPr>
          <p:nvPr/>
        </p:nvPicPr>
        <p:blipFill>
          <a:blip r:embed="rId3"/>
          <a:stretch>
            <a:fillRect/>
          </a:stretch>
        </p:blipFill>
        <p:spPr>
          <a:xfrm>
            <a:off x="355600" y="3585876"/>
            <a:ext cx="14732000" cy="7188200"/>
          </a:xfrm>
          <a:prstGeom prst="rect">
            <a:avLst/>
          </a:prstGeom>
        </p:spPr>
      </p:pic>
      <p:sp>
        <p:nvSpPr>
          <p:cNvPr id="18" name="四角形: 角を丸くする 17">
            <a:extLst>
              <a:ext uri="{FF2B5EF4-FFF2-40B4-BE49-F238E27FC236}">
                <a16:creationId xmlns:a16="http://schemas.microsoft.com/office/drawing/2014/main" id="{36216BD0-556A-025E-B88A-42FAE746AEB7}"/>
              </a:ext>
            </a:extLst>
          </p:cNvPr>
          <p:cNvSpPr/>
          <p:nvPr/>
        </p:nvSpPr>
        <p:spPr>
          <a:xfrm>
            <a:off x="15595600" y="3397620"/>
            <a:ext cx="8001000" cy="26670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40627827-40C4-8797-C4D0-6F1CC410939F}"/>
              </a:ext>
            </a:extLst>
          </p:cNvPr>
          <p:cNvSpPr txBox="1"/>
          <p:nvPr/>
        </p:nvSpPr>
        <p:spPr>
          <a:xfrm>
            <a:off x="15798800" y="3651620"/>
            <a:ext cx="7594600" cy="1219200"/>
          </a:xfrm>
          <a:prstGeom prst="rect">
            <a:avLst/>
          </a:prstGeom>
          <a:noFill/>
        </p:spPr>
        <p:txBody>
          <a:bodyPr vert="horz" wrap="square" lIns="101600" tIns="0" rIns="101600" bIns="0" rtlCol="0" anchor="ctr">
            <a:noAutofit/>
          </a:bodyPr>
          <a:lstStyle/>
          <a:p>
            <a:pPr algn="ctr"/>
            <a:r>
              <a:rPr kumimoji="1" lang="en-US" altLang="ja-JP" sz="4000" b="1" dirty="0">
                <a:solidFill>
                  <a:srgbClr val="082B52"/>
                </a:solidFill>
                <a:latin typeface="Arial" panose="020B0604020202020204" pitchFamily="34" charset="0"/>
              </a:rPr>
              <a:t>19.2 → </a:t>
            </a:r>
            <a:r>
              <a:rPr kumimoji="1" lang="en-US" altLang="ja-JP" sz="4000" b="1">
                <a:solidFill>
                  <a:srgbClr val="082B52"/>
                </a:solidFill>
                <a:latin typeface="Arial" panose="020B0604020202020204" pitchFamily="34" charset="0"/>
              </a:rPr>
              <a:t>5.45 s</a:t>
            </a:r>
            <a:endParaRPr kumimoji="1" lang="en-US" altLang="ja-JP" sz="4000" b="1" dirty="0">
              <a:solidFill>
                <a:srgbClr val="082B52"/>
              </a:solidFill>
              <a:latin typeface="Arial" panose="020B0604020202020204" pitchFamily="34" charset="0"/>
            </a:endParaRPr>
          </a:p>
        </p:txBody>
      </p:sp>
      <p:sp>
        <p:nvSpPr>
          <p:cNvPr id="23" name="テキスト ボックス 22">
            <a:extLst>
              <a:ext uri="{FF2B5EF4-FFF2-40B4-BE49-F238E27FC236}">
                <a16:creationId xmlns:a16="http://schemas.microsoft.com/office/drawing/2014/main" id="{A8F485EF-D3DB-938E-DA83-4F672D12640E}"/>
              </a:ext>
            </a:extLst>
          </p:cNvPr>
          <p:cNvSpPr txBox="1"/>
          <p:nvPr/>
        </p:nvSpPr>
        <p:spPr>
          <a:xfrm>
            <a:off x="15798800" y="4972420"/>
            <a:ext cx="7594600" cy="812800"/>
          </a:xfrm>
          <a:prstGeom prst="rect">
            <a:avLst/>
          </a:prstGeom>
          <a:noFill/>
        </p:spPr>
        <p:txBody>
          <a:bodyPr vert="horz" wrap="square" lIns="101600" tIns="0" rIns="101600" bIns="0" rtlCol="0" anchor="ctr">
            <a:noAutofit/>
          </a:bodyPr>
          <a:lstStyle/>
          <a:p>
            <a:pPr algn="ctr"/>
            <a:r>
              <a:rPr kumimoji="1" lang="en-US" altLang="ja-JP" sz="2800" dirty="0">
                <a:solidFill>
                  <a:srgbClr val="232B34"/>
                </a:solidFill>
                <a:latin typeface="Arial" panose="020B0604020202020204" pitchFamily="34" charset="0"/>
              </a:rPr>
              <a:t>Mean acquisition time</a:t>
            </a:r>
          </a:p>
        </p:txBody>
      </p:sp>
      <p:sp>
        <p:nvSpPr>
          <p:cNvPr id="24" name="四角形: 角を丸くする 23">
            <a:extLst>
              <a:ext uri="{FF2B5EF4-FFF2-40B4-BE49-F238E27FC236}">
                <a16:creationId xmlns:a16="http://schemas.microsoft.com/office/drawing/2014/main" id="{75CA85EA-B92C-4BA4-CA1E-D0121504F78E}"/>
              </a:ext>
            </a:extLst>
          </p:cNvPr>
          <p:cNvSpPr/>
          <p:nvPr/>
        </p:nvSpPr>
        <p:spPr>
          <a:xfrm>
            <a:off x="15595600" y="6318620"/>
            <a:ext cx="8001000" cy="24130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A9B50A9A-429A-D85F-0096-36B7EB036D06}"/>
              </a:ext>
            </a:extLst>
          </p:cNvPr>
          <p:cNvSpPr txBox="1"/>
          <p:nvPr/>
        </p:nvSpPr>
        <p:spPr>
          <a:xfrm>
            <a:off x="15798800" y="6521820"/>
            <a:ext cx="7594600" cy="1117600"/>
          </a:xfrm>
          <a:prstGeom prst="rect">
            <a:avLst/>
          </a:prstGeom>
          <a:noFill/>
        </p:spPr>
        <p:txBody>
          <a:bodyPr vert="horz" wrap="square" lIns="101600" tIns="0" rIns="101600" bIns="0" rtlCol="0" anchor="ctr">
            <a:noAutofit/>
          </a:bodyPr>
          <a:lstStyle/>
          <a:p>
            <a:pPr algn="ctr"/>
            <a:r>
              <a:rPr kumimoji="1" lang="en-US" altLang="ja-JP" sz="5600" b="1">
                <a:solidFill>
                  <a:srgbClr val="239571"/>
                </a:solidFill>
                <a:latin typeface="Arial" panose="020B0604020202020204" pitchFamily="34" charset="0"/>
              </a:rPr>
              <a:t>−72%</a:t>
            </a:r>
            <a:endParaRPr kumimoji="1" lang="en-US" altLang="ja-JP" sz="5600" b="1" dirty="0">
              <a:solidFill>
                <a:srgbClr val="239571"/>
              </a:solidFill>
              <a:latin typeface="Arial" panose="020B0604020202020204" pitchFamily="34" charset="0"/>
            </a:endParaRPr>
          </a:p>
        </p:txBody>
      </p:sp>
      <p:sp>
        <p:nvSpPr>
          <p:cNvPr id="26" name="テキスト ボックス 25">
            <a:extLst>
              <a:ext uri="{FF2B5EF4-FFF2-40B4-BE49-F238E27FC236}">
                <a16:creationId xmlns:a16="http://schemas.microsoft.com/office/drawing/2014/main" id="{9B704AC9-3483-6325-DAC2-8EA3D605B894}"/>
              </a:ext>
            </a:extLst>
          </p:cNvPr>
          <p:cNvSpPr txBox="1"/>
          <p:nvPr/>
        </p:nvSpPr>
        <p:spPr>
          <a:xfrm>
            <a:off x="15798800" y="7715620"/>
            <a:ext cx="7594600" cy="812800"/>
          </a:xfrm>
          <a:prstGeom prst="rect">
            <a:avLst/>
          </a:prstGeom>
          <a:noFill/>
        </p:spPr>
        <p:txBody>
          <a:bodyPr vert="horz" wrap="square" lIns="101600" tIns="0" rIns="101600" bIns="0" rtlCol="0" anchor="ctr">
            <a:noAutofit/>
          </a:bodyPr>
          <a:lstStyle/>
          <a:p>
            <a:pPr algn="ctr"/>
            <a:r>
              <a:rPr kumimoji="1" lang="en-US" altLang="ja-JP" sz="2800" dirty="0">
                <a:solidFill>
                  <a:srgbClr val="232B34"/>
                </a:solidFill>
                <a:latin typeface="Arial" panose="020B0604020202020204" pitchFamily="34" charset="0"/>
              </a:rPr>
              <a:t>Reduction in mean </a:t>
            </a:r>
            <a:r>
              <a:rPr kumimoji="1" lang="en-US" altLang="ja-JP" sz="2800">
                <a:solidFill>
                  <a:srgbClr val="232B34"/>
                </a:solidFill>
                <a:latin typeface="Arial" panose="020B0604020202020204" pitchFamily="34" charset="0"/>
              </a:rPr>
              <a:t>acquisition time</a:t>
            </a:r>
            <a:endParaRPr kumimoji="1" lang="en-US" altLang="ja-JP" sz="2800" dirty="0">
              <a:solidFill>
                <a:srgbClr val="232B34"/>
              </a:solidFill>
              <a:latin typeface="Arial" panose="020B0604020202020204" pitchFamily="34" charset="0"/>
            </a:endParaRPr>
          </a:p>
        </p:txBody>
      </p:sp>
      <p:sp>
        <p:nvSpPr>
          <p:cNvPr id="27" name="テキスト ボックス 26">
            <a:extLst>
              <a:ext uri="{FF2B5EF4-FFF2-40B4-BE49-F238E27FC236}">
                <a16:creationId xmlns:a16="http://schemas.microsoft.com/office/drawing/2014/main" id="{6638E8FD-A054-4563-5388-047D87559C0C}"/>
              </a:ext>
            </a:extLst>
          </p:cNvPr>
          <p:cNvSpPr txBox="1"/>
          <p:nvPr/>
        </p:nvSpPr>
        <p:spPr>
          <a:xfrm>
            <a:off x="15595600" y="8985620"/>
            <a:ext cx="8001000" cy="660400"/>
          </a:xfrm>
          <a:prstGeom prst="rect">
            <a:avLst/>
          </a:prstGeom>
          <a:noFill/>
        </p:spPr>
        <p:txBody>
          <a:bodyPr vert="horz" wrap="square" lIns="101600" tIns="0" rIns="101600" bIns="0" rtlCol="0" anchor="ctr">
            <a:noAutofit/>
          </a:bodyPr>
          <a:lstStyle/>
          <a:p>
            <a:pPr algn="ctr"/>
            <a:r>
              <a:rPr kumimoji="1" lang="en-US" altLang="ja-JP" sz="3200" b="1" dirty="0">
                <a:solidFill>
                  <a:srgbClr val="082B52"/>
                </a:solidFill>
                <a:latin typeface="Arial" panose="020B0604020202020204" pitchFamily="34" charset="0"/>
              </a:rPr>
              <a:t>Success rate: 98% → </a:t>
            </a:r>
            <a:r>
              <a:rPr kumimoji="1" lang="en-US" altLang="ja-JP" sz="3200" b="1">
                <a:solidFill>
                  <a:srgbClr val="082B52"/>
                </a:solidFill>
                <a:latin typeface="Arial" panose="020B0604020202020204" pitchFamily="34" charset="0"/>
              </a:rPr>
              <a:t>100%</a:t>
            </a:r>
            <a:endParaRPr kumimoji="1" lang="en-US" altLang="ja-JP" sz="3200" b="1" dirty="0">
              <a:solidFill>
                <a:srgbClr val="082B52"/>
              </a:solidFill>
              <a:latin typeface="Arial" panose="020B0604020202020204" pitchFamily="34" charset="0"/>
            </a:endParaRPr>
          </a:p>
        </p:txBody>
      </p:sp>
      <p:sp>
        <p:nvSpPr>
          <p:cNvPr id="28" name="テキスト ボックス 27">
            <a:extLst>
              <a:ext uri="{FF2B5EF4-FFF2-40B4-BE49-F238E27FC236}">
                <a16:creationId xmlns:a16="http://schemas.microsoft.com/office/drawing/2014/main" id="{D99163D0-3C5F-053E-FDA7-3DA21DC1712A}"/>
              </a:ext>
            </a:extLst>
          </p:cNvPr>
          <p:cNvSpPr txBox="1"/>
          <p:nvPr/>
        </p:nvSpPr>
        <p:spPr>
          <a:xfrm>
            <a:off x="812800" y="11297020"/>
            <a:ext cx="22860000" cy="812800"/>
          </a:xfrm>
          <a:prstGeom prst="rect">
            <a:avLst/>
          </a:prstGeom>
          <a:noFill/>
        </p:spPr>
        <p:txBody>
          <a:bodyPr vert="horz" wrap="square" lIns="101600" tIns="0" rIns="101600" bIns="0" rtlCol="0" anchor="ctr">
            <a:noAutofit/>
          </a:bodyPr>
          <a:lstStyle/>
          <a:p>
            <a:pPr algn="ctr"/>
            <a:r>
              <a:rPr kumimoji="1" lang="en-US" altLang="ja-JP" sz="3200" b="1" dirty="0">
                <a:solidFill>
                  <a:srgbClr val="082B52"/>
                </a:solidFill>
                <a:latin typeface="Arial" panose="020B0604020202020204" pitchFamily="34" charset="0"/>
              </a:rPr>
              <a:t>Thermal correction reduces acquisition time even when nonthermal pointing errors </a:t>
            </a:r>
            <a:r>
              <a:rPr kumimoji="1" lang="en-US" altLang="ja-JP" sz="3200" b="1">
                <a:solidFill>
                  <a:srgbClr val="082B52"/>
                </a:solidFill>
                <a:latin typeface="Arial" panose="020B0604020202020204" pitchFamily="34" charset="0"/>
              </a:rPr>
              <a:t>remain.</a:t>
            </a:r>
            <a:endParaRPr kumimoji="1" lang="en-US" altLang="ja-JP" sz="3200" b="1" dirty="0">
              <a:solidFill>
                <a:srgbClr val="082B52"/>
              </a:solidFill>
              <a:latin typeface="Arial" panose="020B0604020202020204" pitchFamily="34" charset="0"/>
            </a:endParaRPr>
          </a:p>
        </p:txBody>
      </p:sp>
      <p:sp>
        <p:nvSpPr>
          <p:cNvPr id="29" name="テキスト ボックス 28">
            <a:extLst>
              <a:ext uri="{FF2B5EF4-FFF2-40B4-BE49-F238E27FC236}">
                <a16:creationId xmlns:a16="http://schemas.microsoft.com/office/drawing/2014/main" id="{BBB33C62-F459-3D69-D9F0-D8B029CF23BC}"/>
              </a:ext>
            </a:extLst>
          </p:cNvPr>
          <p:cNvSpPr txBox="1"/>
          <p:nvPr/>
        </p:nvSpPr>
        <p:spPr>
          <a:xfrm>
            <a:off x="812800" y="12211420"/>
            <a:ext cx="22860000" cy="558800"/>
          </a:xfrm>
          <a:prstGeom prst="rect">
            <a:avLst/>
          </a:prstGeom>
          <a:noFill/>
        </p:spPr>
        <p:txBody>
          <a:bodyPr vert="horz" wrap="square" lIns="101600" tIns="0" rIns="101600" bIns="0" rtlCol="0" anchor="ctr">
            <a:noAutofit/>
          </a:bodyPr>
          <a:lstStyle/>
          <a:p>
            <a:pPr algn="ctr"/>
            <a:r>
              <a:rPr kumimoji="1" lang="en-US" altLang="ja-JP" sz="2800" dirty="0">
                <a:solidFill>
                  <a:srgbClr val="666F79"/>
                </a:solidFill>
                <a:latin typeface="Arial" panose="020B0604020202020204" pitchFamily="34" charset="0"/>
              </a:rPr>
              <a:t>After correction, the residual pointing error is dominated by nonthermal </a:t>
            </a:r>
            <a:r>
              <a:rPr kumimoji="1" lang="en-US" altLang="ja-JP" sz="2800">
                <a:solidFill>
                  <a:srgbClr val="666F79"/>
                </a:solidFill>
                <a:latin typeface="Arial" panose="020B0604020202020204" pitchFamily="34" charset="0"/>
              </a:rPr>
              <a:t>components.</a:t>
            </a:r>
            <a:endParaRPr kumimoji="1" lang="en-US" altLang="ja-JP" sz="2800" dirty="0">
              <a:solidFill>
                <a:srgbClr val="666F79"/>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38D44-44E7-1D35-DF49-7E9A67BF43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B23DBD-4FCD-AFBE-4A56-E60FA5CE313B}"/>
              </a:ext>
            </a:extLst>
          </p:cNvPr>
          <p:cNvSpPr>
            <a:spLocks noGrp="1"/>
          </p:cNvSpPr>
          <p:nvPr>
            <p:ph type="title"/>
          </p:nvPr>
        </p:nvSpPr>
        <p:spPr/>
        <p:txBody>
          <a:bodyPr>
            <a:normAutofit/>
          </a:bodyPr>
          <a:lstStyle/>
          <a:p>
            <a:r>
              <a:rPr lang="en-US" sz="4800" b="0">
                <a:solidFill>
                  <a:srgbClr val="FFFFFF"/>
                </a:solidFill>
                <a:latin typeface="Arial" panose="020B0604020202020204" pitchFamily="34" charset="0"/>
                <a:cs typeface="Arial" panose="020B0604020202020204" pitchFamily="34" charset="0"/>
              </a:rPr>
              <a:t>05</a:t>
            </a:r>
            <a:endParaRPr sz="4800" b="0" dirty="0">
              <a:solidFill>
                <a:srgbClr val="FFFFFF"/>
              </a:solidFill>
              <a:latin typeface="Arial" panose="020B0604020202020204" pitchFamily="34" charset="0"/>
              <a:cs typeface="Arial" panose="020B0604020202020204" pitchFamily="34" charset="0"/>
            </a:endParaRPr>
          </a:p>
        </p:txBody>
      </p:sp>
      <p:sp>
        <p:nvSpPr>
          <p:cNvPr id="3" name="テキスト プレースホルダー 2">
            <a:extLst>
              <a:ext uri="{FF2B5EF4-FFF2-40B4-BE49-F238E27FC236}">
                <a16:creationId xmlns:a16="http://schemas.microsoft.com/office/drawing/2014/main" id="{B6C81B3B-32B3-6E91-EB2F-1BBE2C1FC4D0}"/>
              </a:ext>
            </a:extLst>
          </p:cNvPr>
          <p:cNvSpPr>
            <a:spLocks noGrp="1"/>
          </p:cNvSpPr>
          <p:nvPr>
            <p:ph type="body" idx="1"/>
          </p:nvPr>
        </p:nvSpPr>
        <p:spPr/>
        <p:txBody>
          <a:bodyPr>
            <a:normAutofit/>
          </a:bodyPr>
          <a:lstStyle/>
          <a:p>
            <a:r>
              <a:rPr lang="en-US" altLang="ja-JP" sz="4800" b="1" dirty="0">
                <a:solidFill>
                  <a:srgbClr val="FFFFFF"/>
                </a:solidFill>
                <a:latin typeface="Arial" panose="020B0604020202020204" pitchFamily="34" charset="0"/>
                <a:cs typeface="Arial" panose="020B0604020202020204" pitchFamily="34" charset="0"/>
              </a:rPr>
              <a:t>Summary</a:t>
            </a:r>
            <a:endParaRPr sz="4800" b="1" dirty="0">
              <a:solidFill>
                <a:srgbClr val="FFFFFF"/>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76D45131-146B-385A-3BE7-7F628CA9DF9C}"/>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810814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a:solidFill>
                  <a:srgbClr val="666F79"/>
                </a:solidFill>
                <a:latin typeface="Arial" panose="020B0604020202020204" pitchFamily="34" charset="0"/>
                <a:ea typeface="Yu Gothic"/>
              </a:rPr>
              <a:t>Summary</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73200" y="1752600"/>
            <a:ext cx="21844000" cy="660400"/>
          </a:xfrm>
          <a:prstGeom prst="rect">
            <a:avLst/>
          </a:prstGeom>
          <a:noFill/>
        </p:spPr>
        <p:txBody>
          <a:bodyPr wrap="square" lIns="0" tIns="0" rIns="0" bIns="0" anchor="ctr">
            <a:noAutofit/>
          </a:bodyPr>
          <a:lstStyle/>
          <a:p>
            <a:pPr>
              <a:lnSpc>
                <a:spcPct val="110000"/>
              </a:lnSpc>
              <a:spcAft>
                <a:spcPts val="0"/>
              </a:spcAft>
            </a:pPr>
            <a:r>
              <a:rPr lang="en-US" sz="3200" b="1" dirty="0">
                <a:solidFill>
                  <a:srgbClr val="082B52"/>
                </a:solidFill>
                <a:latin typeface="Arial" panose="020B0604020202020204" pitchFamily="34" charset="0"/>
                <a:ea typeface="Yu Gothic"/>
              </a:rPr>
              <a:t>Thermal LOS prediction improves coarse acquisition, with further validation needed for flight applications</a:t>
            </a:r>
          </a:p>
        </p:txBody>
      </p:sp>
      <p:sp>
        <p:nvSpPr>
          <p:cNvPr id="4" name="TextBox 3"/>
          <p:cNvSpPr txBox="1"/>
          <p:nvPr/>
        </p:nvSpPr>
        <p:spPr>
          <a:xfrm>
            <a:off x="20828000" y="12700000"/>
            <a:ext cx="2946400" cy="467820"/>
          </a:xfrm>
          <a:prstGeom prst="rect">
            <a:avLst/>
          </a:prstGeom>
          <a:noFill/>
        </p:spPr>
        <p:txBody>
          <a:bodyPr wrap="square" lIns="45720" tIns="18288" rIns="45720" bIns="18288" anchor="t">
            <a:spAutoFit/>
          </a:bodyPr>
          <a:lstStyle/>
          <a:p>
            <a:pPr algn="r">
              <a:spcAft>
                <a:spcPts val="0"/>
              </a:spcAft>
            </a:pPr>
            <a:r>
              <a:rPr lang="en-US" sz="2800" dirty="0">
                <a:solidFill>
                  <a:srgbClr val="666F79"/>
                </a:solidFill>
                <a:latin typeface="Arial" panose="020B0604020202020204" pitchFamily="34" charset="0"/>
                <a:ea typeface="Yu Gothic"/>
              </a:rPr>
              <a:t>17/17</a:t>
            </a:r>
          </a:p>
        </p:txBody>
      </p:sp>
      <p:sp>
        <p:nvSpPr>
          <p:cNvPr id="9" name="テキスト ボックス 8">
            <a:extLst>
              <a:ext uri="{FF2B5EF4-FFF2-40B4-BE49-F238E27FC236}">
                <a16:creationId xmlns:a16="http://schemas.microsoft.com/office/drawing/2014/main" id="{9C3B6D75-74A1-685C-AD47-32DC11171D17}"/>
              </a:ext>
            </a:extLst>
          </p:cNvPr>
          <p:cNvSpPr txBox="1"/>
          <p:nvPr/>
        </p:nvSpPr>
        <p:spPr>
          <a:xfrm>
            <a:off x="1003300" y="3378200"/>
            <a:ext cx="21336000" cy="533400"/>
          </a:xfrm>
          <a:prstGeom prst="rect">
            <a:avLst/>
          </a:prstGeom>
          <a:noFill/>
        </p:spPr>
        <p:txBody>
          <a:bodyPr vert="horz" wrap="square" lIns="0" tIns="0" rIns="0" bIns="0" rtlCol="0">
            <a:noAutofit/>
          </a:bodyPr>
          <a:lstStyle/>
          <a:p>
            <a:r>
              <a:rPr kumimoji="1" lang="en-US" altLang="ja-JP" sz="3200" b="1" dirty="0">
                <a:solidFill>
                  <a:srgbClr val="082B52"/>
                </a:solidFill>
                <a:latin typeface="Arial" panose="020B0604020202020204" pitchFamily="34" charset="0"/>
              </a:rPr>
              <a:t>Key Findings</a:t>
            </a:r>
          </a:p>
        </p:txBody>
      </p:sp>
      <p:sp>
        <p:nvSpPr>
          <p:cNvPr id="10" name="テキスト ボックス 9">
            <a:extLst>
              <a:ext uri="{FF2B5EF4-FFF2-40B4-BE49-F238E27FC236}">
                <a16:creationId xmlns:a16="http://schemas.microsoft.com/office/drawing/2014/main" id="{53E85712-3144-CCA6-C415-5D6B60792708}"/>
              </a:ext>
            </a:extLst>
          </p:cNvPr>
          <p:cNvSpPr txBox="1"/>
          <p:nvPr/>
        </p:nvSpPr>
        <p:spPr>
          <a:xfrm>
            <a:off x="1003300" y="3987800"/>
            <a:ext cx="21336000" cy="1168400"/>
          </a:xfrm>
          <a:prstGeom prst="rect">
            <a:avLst/>
          </a:prstGeom>
          <a:noFill/>
        </p:spPr>
        <p:txBody>
          <a:bodyPr vert="horz" wrap="square" lIns="0" tIns="0" rIns="0" bIns="0" rtlCol="0">
            <a:noAutofit/>
          </a:bodyPr>
          <a:lstStyle/>
          <a:p>
            <a:r>
              <a:rPr kumimoji="1" lang="en-US" altLang="ja-JP" sz="3200" dirty="0">
                <a:solidFill>
                  <a:srgbClr val="232B34"/>
                </a:solidFill>
                <a:latin typeface="Arial" panose="020B0604020202020204" pitchFamily="34" charset="0"/>
              </a:rPr>
              <a:t>A physics-informed reduced-order model predicts thermal LOS from panel temperatures and operating states, enabling feedforward correction before optical </a:t>
            </a:r>
            <a:r>
              <a:rPr kumimoji="1" lang="en-US" altLang="ja-JP" sz="3200">
                <a:solidFill>
                  <a:srgbClr val="232B34"/>
                </a:solidFill>
                <a:latin typeface="Arial" panose="020B0604020202020204" pitchFamily="34" charset="0"/>
              </a:rPr>
              <a:t>feedback.</a:t>
            </a:r>
            <a:endParaRPr kumimoji="1" lang="en-US" altLang="ja-JP" sz="3200" dirty="0">
              <a:solidFill>
                <a:srgbClr val="232B34"/>
              </a:solidFill>
              <a:latin typeface="Arial" panose="020B0604020202020204" pitchFamily="34" charset="0"/>
            </a:endParaRPr>
          </a:p>
        </p:txBody>
      </p:sp>
      <p:sp>
        <p:nvSpPr>
          <p:cNvPr id="16" name="テキスト ボックス 15">
            <a:extLst>
              <a:ext uri="{FF2B5EF4-FFF2-40B4-BE49-F238E27FC236}">
                <a16:creationId xmlns:a16="http://schemas.microsoft.com/office/drawing/2014/main" id="{DF45693D-14A1-11AC-7D27-C5C8156004F8}"/>
              </a:ext>
            </a:extLst>
          </p:cNvPr>
          <p:cNvSpPr txBox="1"/>
          <p:nvPr/>
        </p:nvSpPr>
        <p:spPr>
          <a:xfrm>
            <a:off x="1003300" y="5073650"/>
            <a:ext cx="21336000" cy="584200"/>
          </a:xfrm>
          <a:prstGeom prst="rect">
            <a:avLst/>
          </a:prstGeom>
          <a:noFill/>
        </p:spPr>
        <p:txBody>
          <a:bodyPr vert="horz" wrap="square" lIns="0" tIns="0" rIns="0" bIns="0" rtlCol="0">
            <a:noAutofit/>
          </a:bodyPr>
          <a:lstStyle/>
          <a:p>
            <a:r>
              <a:rPr kumimoji="1" lang="en-US" altLang="ja-JP" sz="3200" b="1" dirty="0">
                <a:solidFill>
                  <a:srgbClr val="1B74AA"/>
                </a:solidFill>
                <a:latin typeface="Arial" panose="020B0604020202020204" pitchFamily="34" charset="0"/>
              </a:rPr>
              <a:t>4.9 µrad</a:t>
            </a:r>
            <a:r>
              <a:rPr kumimoji="1" lang="en-US" altLang="ja-JP" sz="3200" dirty="0">
                <a:solidFill>
                  <a:srgbClr val="232B34"/>
                </a:solidFill>
                <a:latin typeface="Arial" panose="020B0604020202020204" pitchFamily="34" charset="0"/>
              </a:rPr>
              <a:t>  median prediction RMSE    |    </a:t>
            </a:r>
            <a:r>
              <a:rPr kumimoji="1" lang="en-US" altLang="ja-JP" sz="3200" b="1" dirty="0">
                <a:solidFill>
                  <a:srgbClr val="1B74AA"/>
                </a:solidFill>
                <a:latin typeface="Arial" panose="020B0604020202020204" pitchFamily="34" charset="0"/>
              </a:rPr>
              <a:t>72%</a:t>
            </a:r>
            <a:r>
              <a:rPr kumimoji="1" lang="en-US" altLang="ja-JP" sz="3200" dirty="0">
                <a:solidFill>
                  <a:srgbClr val="232B34"/>
                </a:solidFill>
                <a:latin typeface="Arial" panose="020B0604020202020204" pitchFamily="34" charset="0"/>
              </a:rPr>
              <a:t>  reduction in mean acquisition time</a:t>
            </a:r>
          </a:p>
        </p:txBody>
      </p:sp>
      <p:sp>
        <p:nvSpPr>
          <p:cNvPr id="17" name="四角形: 角を丸くする 16">
            <a:extLst>
              <a:ext uri="{FF2B5EF4-FFF2-40B4-BE49-F238E27FC236}">
                <a16:creationId xmlns:a16="http://schemas.microsoft.com/office/drawing/2014/main" id="{E0D3DFAD-BCA5-D445-01A7-84E11328703F}"/>
              </a:ext>
            </a:extLst>
          </p:cNvPr>
          <p:cNvSpPr/>
          <p:nvPr/>
        </p:nvSpPr>
        <p:spPr>
          <a:xfrm>
            <a:off x="812800" y="6096000"/>
            <a:ext cx="10820400" cy="5232400"/>
          </a:xfrm>
          <a:prstGeom prst="roundRect">
            <a:avLst>
              <a:gd name="adj" fmla="val 8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3A327490-44AF-5D61-8C64-A0B857B59E9E}"/>
              </a:ext>
            </a:extLst>
          </p:cNvPr>
          <p:cNvSpPr/>
          <p:nvPr/>
        </p:nvSpPr>
        <p:spPr>
          <a:xfrm>
            <a:off x="12496800" y="6096000"/>
            <a:ext cx="10820400" cy="5232400"/>
          </a:xfrm>
          <a:prstGeom prst="roundRect">
            <a:avLst>
              <a:gd name="adj" fmla="val 8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D7FDC837-C1D1-6419-9DC3-AFDFF7955A38}"/>
              </a:ext>
            </a:extLst>
          </p:cNvPr>
          <p:cNvSpPr txBox="1"/>
          <p:nvPr/>
        </p:nvSpPr>
        <p:spPr>
          <a:xfrm>
            <a:off x="1168400" y="6324600"/>
            <a:ext cx="10109200" cy="558800"/>
          </a:xfrm>
          <a:prstGeom prst="rect">
            <a:avLst/>
          </a:prstGeom>
          <a:noFill/>
        </p:spPr>
        <p:txBody>
          <a:bodyPr vert="horz" wrap="square" lIns="0" tIns="0" rIns="0" bIns="0" rtlCol="0">
            <a:noAutofit/>
          </a:bodyPr>
          <a:lstStyle/>
          <a:p>
            <a:r>
              <a:rPr kumimoji="1" lang="en-US" altLang="ja-JP" sz="3200" b="1" dirty="0">
                <a:solidFill>
                  <a:srgbClr val="1B74AA"/>
                </a:solidFill>
                <a:latin typeface="Arial" panose="020B0604020202020204" pitchFamily="34" charset="0"/>
              </a:rPr>
              <a:t>Future work 01:</a:t>
            </a:r>
            <a:r>
              <a:rPr kumimoji="1" lang="en-US" altLang="ja-JP" sz="3200" b="1" dirty="0">
                <a:solidFill>
                  <a:srgbClr val="082B52"/>
                </a:solidFill>
                <a:latin typeface="Arial" panose="020B0604020202020204" pitchFamily="34" charset="0"/>
              </a:rPr>
              <a:t>  Model generalization</a:t>
            </a:r>
          </a:p>
        </p:txBody>
      </p:sp>
      <p:sp>
        <p:nvSpPr>
          <p:cNvPr id="20" name="テキスト ボックス 19">
            <a:extLst>
              <a:ext uri="{FF2B5EF4-FFF2-40B4-BE49-F238E27FC236}">
                <a16:creationId xmlns:a16="http://schemas.microsoft.com/office/drawing/2014/main" id="{861D23DF-6A80-0350-1F3D-93523DDD3056}"/>
              </a:ext>
            </a:extLst>
          </p:cNvPr>
          <p:cNvSpPr txBox="1"/>
          <p:nvPr/>
        </p:nvSpPr>
        <p:spPr>
          <a:xfrm>
            <a:off x="12852400" y="6324600"/>
            <a:ext cx="10109200" cy="558800"/>
          </a:xfrm>
          <a:prstGeom prst="rect">
            <a:avLst/>
          </a:prstGeom>
          <a:noFill/>
        </p:spPr>
        <p:txBody>
          <a:bodyPr vert="horz" wrap="square" lIns="0" tIns="0" rIns="0" bIns="0" rtlCol="0">
            <a:noAutofit/>
          </a:bodyPr>
          <a:lstStyle/>
          <a:p>
            <a:r>
              <a:rPr kumimoji="1" lang="en-US" altLang="ja-JP" sz="3200" b="1" dirty="0">
                <a:solidFill>
                  <a:srgbClr val="1B74AA"/>
                </a:solidFill>
                <a:latin typeface="Arial" panose="020B0604020202020204" pitchFamily="34" charset="0"/>
              </a:rPr>
              <a:t>Future work 02:</a:t>
            </a:r>
            <a:r>
              <a:rPr kumimoji="1" lang="en-US" altLang="ja-JP" sz="3200" b="1" dirty="0">
                <a:solidFill>
                  <a:srgbClr val="082B52"/>
                </a:solidFill>
                <a:latin typeface="Arial" panose="020B0604020202020204" pitchFamily="34" charset="0"/>
              </a:rPr>
              <a:t>  Onboard adaptation</a:t>
            </a:r>
          </a:p>
        </p:txBody>
      </p:sp>
      <p:sp>
        <p:nvSpPr>
          <p:cNvPr id="21" name="テキスト ボックス 20">
            <a:extLst>
              <a:ext uri="{FF2B5EF4-FFF2-40B4-BE49-F238E27FC236}">
                <a16:creationId xmlns:a16="http://schemas.microsoft.com/office/drawing/2014/main" id="{4F7DC16A-3BF0-8866-AE18-11D109FC55F8}"/>
              </a:ext>
            </a:extLst>
          </p:cNvPr>
          <p:cNvSpPr txBox="1"/>
          <p:nvPr/>
        </p:nvSpPr>
        <p:spPr>
          <a:xfrm>
            <a:off x="1168400" y="7035800"/>
            <a:ext cx="10109200" cy="533400"/>
          </a:xfrm>
          <a:prstGeom prst="rect">
            <a:avLst/>
          </a:prstGeom>
          <a:noFill/>
        </p:spPr>
        <p:txBody>
          <a:bodyPr vert="horz" wrap="square" lIns="0" tIns="0" rIns="0" bIns="0" rtlCol="0">
            <a:noAutofit/>
          </a:bodyPr>
          <a:lstStyle/>
          <a:p>
            <a:r>
              <a:rPr kumimoji="1" lang="en-US" altLang="ja-JP" sz="3200" b="1">
                <a:solidFill>
                  <a:srgbClr val="666F79"/>
                </a:solidFill>
                <a:latin typeface="Arial" panose="020B0604020202020204" pitchFamily="34" charset="0"/>
              </a:rPr>
              <a:t>Current limitation</a:t>
            </a:r>
            <a:endParaRPr kumimoji="1" lang="en-US" altLang="ja-JP" sz="3200" b="1" dirty="0">
              <a:solidFill>
                <a:srgbClr val="666F79"/>
              </a:solidFill>
              <a:latin typeface="Arial" panose="020B0604020202020204" pitchFamily="34" charset="0"/>
            </a:endParaRPr>
          </a:p>
        </p:txBody>
      </p:sp>
      <p:sp>
        <p:nvSpPr>
          <p:cNvPr id="22" name="テキスト ボックス 21">
            <a:extLst>
              <a:ext uri="{FF2B5EF4-FFF2-40B4-BE49-F238E27FC236}">
                <a16:creationId xmlns:a16="http://schemas.microsoft.com/office/drawing/2014/main" id="{9FA9FF72-8DE6-D011-0DE3-505EBFCDB1C5}"/>
              </a:ext>
            </a:extLst>
          </p:cNvPr>
          <p:cNvSpPr txBox="1"/>
          <p:nvPr/>
        </p:nvSpPr>
        <p:spPr>
          <a:xfrm>
            <a:off x="1168400" y="7569200"/>
            <a:ext cx="10109200" cy="1219200"/>
          </a:xfrm>
          <a:prstGeom prst="rect">
            <a:avLst/>
          </a:prstGeom>
          <a:noFill/>
        </p:spPr>
        <p:txBody>
          <a:bodyPr vert="horz" wrap="square" lIns="0" tIns="0" rIns="0" bIns="0" rtlCol="0">
            <a:noAutofit/>
          </a:bodyPr>
          <a:lstStyle/>
          <a:p>
            <a:r>
              <a:rPr kumimoji="1" lang="en-US" altLang="ja-JP" sz="3200" dirty="0">
                <a:solidFill>
                  <a:srgbClr val="232B34"/>
                </a:solidFill>
                <a:latin typeface="Arial" panose="020B0604020202020204" pitchFamily="34" charset="0"/>
              </a:rPr>
              <a:t>Numerically validated on one simplified box bus with a fixed STT–LCT </a:t>
            </a:r>
            <a:r>
              <a:rPr kumimoji="1" lang="en-US" altLang="ja-JP" sz="3200">
                <a:solidFill>
                  <a:srgbClr val="232B34"/>
                </a:solidFill>
                <a:latin typeface="Arial" panose="020B0604020202020204" pitchFamily="34" charset="0"/>
              </a:rPr>
              <a:t>placement.</a:t>
            </a:r>
            <a:endParaRPr kumimoji="1" lang="en-US" altLang="ja-JP" sz="3200" dirty="0">
              <a:solidFill>
                <a:srgbClr val="232B34"/>
              </a:solidFill>
              <a:latin typeface="Arial" panose="020B0604020202020204" pitchFamily="34" charset="0"/>
            </a:endParaRPr>
          </a:p>
        </p:txBody>
      </p:sp>
      <p:sp>
        <p:nvSpPr>
          <p:cNvPr id="23" name="テキスト ボックス 22">
            <a:extLst>
              <a:ext uri="{FF2B5EF4-FFF2-40B4-BE49-F238E27FC236}">
                <a16:creationId xmlns:a16="http://schemas.microsoft.com/office/drawing/2014/main" id="{475F95F1-680D-A4F2-6C36-A6C99BE1D645}"/>
              </a:ext>
            </a:extLst>
          </p:cNvPr>
          <p:cNvSpPr txBox="1"/>
          <p:nvPr/>
        </p:nvSpPr>
        <p:spPr>
          <a:xfrm>
            <a:off x="1168400" y="8940800"/>
            <a:ext cx="10109200" cy="533400"/>
          </a:xfrm>
          <a:prstGeom prst="rect">
            <a:avLst/>
          </a:prstGeom>
          <a:noFill/>
        </p:spPr>
        <p:txBody>
          <a:bodyPr vert="horz" wrap="square" lIns="0" tIns="0" rIns="0" bIns="0" rtlCol="0">
            <a:noAutofit/>
          </a:bodyPr>
          <a:lstStyle/>
          <a:p>
            <a:r>
              <a:rPr kumimoji="1" lang="en-US" altLang="ja-JP" sz="3200" b="1">
                <a:solidFill>
                  <a:srgbClr val="1B74AA"/>
                </a:solidFill>
                <a:latin typeface="Arial" panose="020B0604020202020204" pitchFamily="34" charset="0"/>
              </a:rPr>
              <a:t>Next step</a:t>
            </a:r>
            <a:endParaRPr kumimoji="1" lang="en-US" altLang="ja-JP" sz="3200" b="1" dirty="0">
              <a:solidFill>
                <a:srgbClr val="1B74AA"/>
              </a:solidFill>
              <a:latin typeface="Arial" panose="020B0604020202020204" pitchFamily="34" charset="0"/>
            </a:endParaRPr>
          </a:p>
        </p:txBody>
      </p:sp>
      <p:sp>
        <p:nvSpPr>
          <p:cNvPr id="24" name="テキスト ボックス 23">
            <a:extLst>
              <a:ext uri="{FF2B5EF4-FFF2-40B4-BE49-F238E27FC236}">
                <a16:creationId xmlns:a16="http://schemas.microsoft.com/office/drawing/2014/main" id="{43DE4781-EB39-2A1E-D98E-47D4A919F4C1}"/>
              </a:ext>
            </a:extLst>
          </p:cNvPr>
          <p:cNvSpPr txBox="1"/>
          <p:nvPr/>
        </p:nvSpPr>
        <p:spPr>
          <a:xfrm>
            <a:off x="1168400" y="9474200"/>
            <a:ext cx="10109200" cy="1625600"/>
          </a:xfrm>
          <a:prstGeom prst="rect">
            <a:avLst/>
          </a:prstGeom>
          <a:noFill/>
        </p:spPr>
        <p:txBody>
          <a:bodyPr vert="horz" wrap="square" lIns="0" tIns="0" rIns="0" bIns="0" rtlCol="0">
            <a:noAutofit/>
          </a:bodyPr>
          <a:lstStyle/>
          <a:p>
            <a:r>
              <a:rPr kumimoji="1" lang="en-US" altLang="ja-JP" sz="3200" dirty="0">
                <a:solidFill>
                  <a:srgbClr val="232B34"/>
                </a:solidFill>
                <a:latin typeface="Arial" panose="020B0604020202020204" pitchFamily="34" charset="0"/>
              </a:rPr>
              <a:t>Test whether panel ΔT plus a case bias still holds for realistic structures and different equipment placements and validate it by ground testing.</a:t>
            </a:r>
          </a:p>
        </p:txBody>
      </p:sp>
      <p:sp>
        <p:nvSpPr>
          <p:cNvPr id="25" name="テキスト ボックス 24">
            <a:extLst>
              <a:ext uri="{FF2B5EF4-FFF2-40B4-BE49-F238E27FC236}">
                <a16:creationId xmlns:a16="http://schemas.microsoft.com/office/drawing/2014/main" id="{32098170-21DB-D063-3F2F-D012628F4B6D}"/>
              </a:ext>
            </a:extLst>
          </p:cNvPr>
          <p:cNvSpPr txBox="1"/>
          <p:nvPr/>
        </p:nvSpPr>
        <p:spPr>
          <a:xfrm>
            <a:off x="12852400" y="7035800"/>
            <a:ext cx="10109200" cy="533400"/>
          </a:xfrm>
          <a:prstGeom prst="rect">
            <a:avLst/>
          </a:prstGeom>
          <a:noFill/>
        </p:spPr>
        <p:txBody>
          <a:bodyPr vert="horz" wrap="square" lIns="0" tIns="0" rIns="0" bIns="0" rtlCol="0">
            <a:noAutofit/>
          </a:bodyPr>
          <a:lstStyle/>
          <a:p>
            <a:r>
              <a:rPr kumimoji="1" lang="en-US" altLang="ja-JP" sz="3200" b="1">
                <a:solidFill>
                  <a:srgbClr val="666F79"/>
                </a:solidFill>
                <a:latin typeface="Arial" panose="020B0604020202020204" pitchFamily="34" charset="0"/>
              </a:rPr>
              <a:t>Current limitation</a:t>
            </a:r>
            <a:endParaRPr kumimoji="1" lang="en-US" altLang="ja-JP" sz="3200" b="1" dirty="0">
              <a:solidFill>
                <a:srgbClr val="666F79"/>
              </a:solidFill>
              <a:latin typeface="Arial" panose="020B0604020202020204" pitchFamily="34" charset="0"/>
            </a:endParaRPr>
          </a:p>
        </p:txBody>
      </p:sp>
      <p:sp>
        <p:nvSpPr>
          <p:cNvPr id="26" name="テキスト ボックス 25">
            <a:extLst>
              <a:ext uri="{FF2B5EF4-FFF2-40B4-BE49-F238E27FC236}">
                <a16:creationId xmlns:a16="http://schemas.microsoft.com/office/drawing/2014/main" id="{9A42CDC0-A482-57F6-6E42-B15C578926AB}"/>
              </a:ext>
            </a:extLst>
          </p:cNvPr>
          <p:cNvSpPr txBox="1"/>
          <p:nvPr/>
        </p:nvSpPr>
        <p:spPr>
          <a:xfrm>
            <a:off x="12852400" y="7569200"/>
            <a:ext cx="10109200" cy="1219200"/>
          </a:xfrm>
          <a:prstGeom prst="rect">
            <a:avLst/>
          </a:prstGeom>
          <a:noFill/>
        </p:spPr>
        <p:txBody>
          <a:bodyPr vert="horz" wrap="square" lIns="0" tIns="0" rIns="0" bIns="0" rtlCol="0">
            <a:noAutofit/>
          </a:bodyPr>
          <a:lstStyle/>
          <a:p>
            <a:r>
              <a:rPr kumimoji="1" lang="en-US" altLang="ja-JP" sz="3200" dirty="0">
                <a:solidFill>
                  <a:srgbClr val="232B34"/>
                </a:solidFill>
                <a:latin typeface="Arial" panose="020B0604020202020204" pitchFamily="34" charset="0"/>
              </a:rPr>
              <a:t>Fixed coefficients rely on ground-based thermo-structural </a:t>
            </a:r>
            <a:r>
              <a:rPr kumimoji="1" lang="en-US" altLang="ja-JP" sz="3200">
                <a:solidFill>
                  <a:srgbClr val="232B34"/>
                </a:solidFill>
                <a:latin typeface="Arial" panose="020B0604020202020204" pitchFamily="34" charset="0"/>
              </a:rPr>
              <a:t>predictions.</a:t>
            </a:r>
            <a:endParaRPr kumimoji="1" lang="en-US" altLang="ja-JP" sz="3200" dirty="0">
              <a:solidFill>
                <a:srgbClr val="232B34"/>
              </a:solidFill>
              <a:latin typeface="Arial" panose="020B0604020202020204" pitchFamily="34" charset="0"/>
            </a:endParaRPr>
          </a:p>
        </p:txBody>
      </p:sp>
      <p:sp>
        <p:nvSpPr>
          <p:cNvPr id="27" name="テキスト ボックス 26">
            <a:extLst>
              <a:ext uri="{FF2B5EF4-FFF2-40B4-BE49-F238E27FC236}">
                <a16:creationId xmlns:a16="http://schemas.microsoft.com/office/drawing/2014/main" id="{24A183CC-69F2-D8AE-E093-FD8A58CAF336}"/>
              </a:ext>
            </a:extLst>
          </p:cNvPr>
          <p:cNvSpPr txBox="1"/>
          <p:nvPr/>
        </p:nvSpPr>
        <p:spPr>
          <a:xfrm>
            <a:off x="12852400" y="8940800"/>
            <a:ext cx="10109200" cy="533400"/>
          </a:xfrm>
          <a:prstGeom prst="rect">
            <a:avLst/>
          </a:prstGeom>
          <a:noFill/>
        </p:spPr>
        <p:txBody>
          <a:bodyPr vert="horz" wrap="square" lIns="0" tIns="0" rIns="0" bIns="0" rtlCol="0">
            <a:noAutofit/>
          </a:bodyPr>
          <a:lstStyle/>
          <a:p>
            <a:r>
              <a:rPr kumimoji="1" lang="en-US" altLang="ja-JP" sz="3200" b="1">
                <a:solidFill>
                  <a:srgbClr val="1B74AA"/>
                </a:solidFill>
                <a:latin typeface="Arial" panose="020B0604020202020204" pitchFamily="34" charset="0"/>
              </a:rPr>
              <a:t>Next step</a:t>
            </a:r>
            <a:endParaRPr kumimoji="1" lang="en-US" altLang="ja-JP" sz="3200" b="1" dirty="0">
              <a:solidFill>
                <a:srgbClr val="1B74AA"/>
              </a:solidFill>
              <a:latin typeface="Arial" panose="020B0604020202020204" pitchFamily="34" charset="0"/>
            </a:endParaRPr>
          </a:p>
        </p:txBody>
      </p:sp>
      <p:sp>
        <p:nvSpPr>
          <p:cNvPr id="28" name="テキスト ボックス 27">
            <a:extLst>
              <a:ext uri="{FF2B5EF4-FFF2-40B4-BE49-F238E27FC236}">
                <a16:creationId xmlns:a16="http://schemas.microsoft.com/office/drawing/2014/main" id="{318A50DE-1C43-56DA-986B-7DF728C55BFC}"/>
              </a:ext>
            </a:extLst>
          </p:cNvPr>
          <p:cNvSpPr txBox="1"/>
          <p:nvPr/>
        </p:nvSpPr>
        <p:spPr>
          <a:xfrm>
            <a:off x="12852400" y="9474200"/>
            <a:ext cx="10109200" cy="1625600"/>
          </a:xfrm>
          <a:prstGeom prst="rect">
            <a:avLst/>
          </a:prstGeom>
          <a:noFill/>
        </p:spPr>
        <p:txBody>
          <a:bodyPr vert="horz" wrap="square" lIns="0" tIns="0" rIns="0" bIns="0" rtlCol="0">
            <a:noAutofit/>
          </a:bodyPr>
          <a:lstStyle/>
          <a:p>
            <a:r>
              <a:rPr kumimoji="1" lang="en-US" altLang="ja-JP" sz="3200" dirty="0">
                <a:solidFill>
                  <a:srgbClr val="232B34"/>
                </a:solidFill>
                <a:latin typeface="Arial" panose="020B0604020202020204" pitchFamily="34" charset="0"/>
              </a:rPr>
              <a:t>Update the model using post-acquisition observations while separating thermal and nonthermal pointing </a:t>
            </a:r>
            <a:r>
              <a:rPr kumimoji="1" lang="en-US" altLang="ja-JP" sz="3200">
                <a:solidFill>
                  <a:srgbClr val="232B34"/>
                </a:solidFill>
                <a:latin typeface="Arial" panose="020B0604020202020204" pitchFamily="34" charset="0"/>
              </a:rPr>
              <a:t>errors.</a:t>
            </a:r>
            <a:endParaRPr kumimoji="1" lang="en-US" altLang="ja-JP" sz="3200" dirty="0">
              <a:solidFill>
                <a:srgbClr val="232B34"/>
              </a:solidFill>
              <a:latin typeface="Arial" panose="020B0604020202020204" pitchFamily="34" charset="0"/>
            </a:endParaRPr>
          </a:p>
        </p:txBody>
      </p:sp>
      <p:sp>
        <p:nvSpPr>
          <p:cNvPr id="29" name="テキスト ボックス 28">
            <a:extLst>
              <a:ext uri="{FF2B5EF4-FFF2-40B4-BE49-F238E27FC236}">
                <a16:creationId xmlns:a16="http://schemas.microsoft.com/office/drawing/2014/main" id="{89627B55-F6EA-CDD8-4D97-F50346145211}"/>
              </a:ext>
            </a:extLst>
          </p:cNvPr>
          <p:cNvSpPr txBox="1"/>
          <p:nvPr/>
        </p:nvSpPr>
        <p:spPr>
          <a:xfrm>
            <a:off x="1016000" y="11633200"/>
            <a:ext cx="22352000" cy="711200"/>
          </a:xfrm>
          <a:prstGeom prst="rect">
            <a:avLst/>
          </a:prstGeom>
          <a:noFill/>
        </p:spPr>
        <p:txBody>
          <a:bodyPr vert="horz" wrap="square" lIns="0" tIns="0" rIns="0" bIns="0" rtlCol="0">
            <a:noAutofit/>
          </a:bodyPr>
          <a:lstStyle/>
          <a:p>
            <a:pPr algn="ctr"/>
            <a:r>
              <a:rPr kumimoji="1" lang="en-US" altLang="ja-JP" sz="3200" b="1" dirty="0">
                <a:solidFill>
                  <a:srgbClr val="082B52"/>
                </a:solidFill>
                <a:latin typeface="Arial" panose="020B0604020202020204" pitchFamily="34" charset="0"/>
              </a:rPr>
              <a:t>Thermal distortion can be treated as a predictable bias—not merely an acquisition </a:t>
            </a:r>
            <a:r>
              <a:rPr kumimoji="1" lang="en-US" altLang="ja-JP" sz="3200" b="1">
                <a:solidFill>
                  <a:srgbClr val="082B52"/>
                </a:solidFill>
                <a:latin typeface="Arial" panose="020B0604020202020204" pitchFamily="34" charset="0"/>
              </a:rPr>
              <a:t>uncertainty.</a:t>
            </a:r>
            <a:endParaRPr kumimoji="1" lang="en-US" altLang="ja-JP" sz="3200" b="1" dirty="0">
              <a:solidFill>
                <a:srgbClr val="082B52"/>
              </a:solidFill>
              <a:latin typeface="Arial" panose="020B0604020202020204" pitchFamily="34" charset="0"/>
            </a:endParaRPr>
          </a:p>
        </p:txBody>
      </p:sp>
      <p:sp>
        <p:nvSpPr>
          <p:cNvPr id="30" name="テキスト ボックス 29">
            <a:extLst>
              <a:ext uri="{FF2B5EF4-FFF2-40B4-BE49-F238E27FC236}">
                <a16:creationId xmlns:a16="http://schemas.microsoft.com/office/drawing/2014/main" id="{1F94413F-41C3-266A-C40F-9B027DE83D4F}"/>
              </a:ext>
            </a:extLst>
          </p:cNvPr>
          <p:cNvSpPr txBox="1"/>
          <p:nvPr/>
        </p:nvSpPr>
        <p:spPr>
          <a:xfrm>
            <a:off x="1016000" y="12649200"/>
            <a:ext cx="22352000" cy="558800"/>
          </a:xfrm>
          <a:prstGeom prst="rect">
            <a:avLst/>
          </a:prstGeom>
          <a:noFill/>
        </p:spPr>
        <p:txBody>
          <a:bodyPr vert="horz" wrap="square" lIns="0" tIns="0" rIns="0" bIns="0" rtlCol="0">
            <a:noAutofit/>
          </a:bodyPr>
          <a:lstStyle/>
          <a:p>
            <a:pPr algn="ctr"/>
            <a:r>
              <a:rPr kumimoji="1" lang="en-US" altLang="ja-JP" sz="3200" dirty="0">
                <a:solidFill>
                  <a:srgbClr val="232B34"/>
                </a:solidFill>
                <a:latin typeface="Arial" panose="020B0604020202020204" pitchFamily="34" charset="0"/>
              </a:rPr>
              <a:t>Thank you for your </a:t>
            </a:r>
            <a:r>
              <a:rPr kumimoji="1" lang="en-US" altLang="ja-JP" sz="3200">
                <a:solidFill>
                  <a:srgbClr val="232B34"/>
                </a:solidFill>
                <a:latin typeface="Arial" panose="020B0604020202020204" pitchFamily="34" charset="0"/>
              </a:rPr>
              <a:t>attention.</a:t>
            </a:r>
            <a:endParaRPr kumimoji="1" lang="en-US" altLang="ja-JP" sz="3200" dirty="0">
              <a:solidFill>
                <a:srgbClr val="232B34"/>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47842"/>
          </a:xfrm>
          <a:prstGeom prst="rect">
            <a:avLst/>
          </a:prstGeom>
          <a:noFill/>
        </p:spPr>
        <p:txBody>
          <a:bodyPr wrap="square" lIns="36576" tIns="27432" rIns="36576" bIns="27432" anchor="t">
            <a:spAutoFit/>
          </a:bodyPr>
          <a:lstStyle/>
          <a:p>
            <a:pPr algn="ctr">
              <a:spcAft>
                <a:spcPts val="0"/>
              </a:spcAft>
            </a:pPr>
            <a:r>
              <a:rPr lang="en-US" sz="3200" b="1">
                <a:solidFill>
                  <a:srgbClr val="5BB5D8"/>
                </a:solidFill>
                <a:latin typeface="Arial" panose="020B0604020202020204" pitchFamily="34" charset="0"/>
                <a:ea typeface="Yu Gothic"/>
              </a:rPr>
              <a:t>B</a:t>
            </a:r>
            <a:endParaRPr lang="en-US" sz="3200" b="1" dirty="0">
              <a:solidFill>
                <a:srgbClr val="5BB5D8"/>
              </a:solidFill>
              <a:latin typeface="Arial" panose="020B0604020202020204" pitchFamily="34" charset="0"/>
              <a:ea typeface="Yu Gothic"/>
            </a:endParaRP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806440"/>
            <a:ext cx="20756880" cy="732508"/>
          </a:xfrm>
          <a:prstGeom prst="rect">
            <a:avLst/>
          </a:prstGeom>
          <a:noFill/>
        </p:spPr>
        <p:txBody>
          <a:bodyPr wrap="square" lIns="36576" tIns="27432" rIns="36576" bIns="27432" anchor="t">
            <a:spAutoFit/>
          </a:bodyPr>
          <a:lstStyle/>
          <a:p>
            <a:pPr algn="ctr">
              <a:spcAft>
                <a:spcPts val="0"/>
              </a:spcAft>
            </a:pPr>
            <a:r>
              <a:rPr lang="en-US" sz="4400" b="1" dirty="0">
                <a:solidFill>
                  <a:srgbClr val="FFFFFF"/>
                </a:solidFill>
                <a:latin typeface="Arial" panose="020B0604020202020204" pitchFamily="34" charset="0"/>
                <a:ea typeface="Yu Gothic"/>
              </a:rPr>
              <a:t>Appendix</a:t>
            </a:r>
            <a:endParaRPr sz="4400" b="1" dirty="0">
              <a:solidFill>
                <a:srgbClr val="FFFFFF"/>
              </a:solidFill>
              <a:latin typeface="Arial" panose="020B0604020202020204" pitchFamily="34" charset="0"/>
              <a:ea typeface="Yu Gothic"/>
            </a:endParaRPr>
          </a:p>
        </p:txBody>
      </p:sp>
      <p:sp>
        <p:nvSpPr>
          <p:cNvPr id="5" name="TextBox 4"/>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2784545" cy="363176"/>
          </a:xfrm>
          <a:prstGeom prst="rect">
            <a:avLst/>
          </a:prstGeom>
          <a:noFill/>
        </p:spPr>
        <p:txBody>
          <a:bodyPr wrap="none" lIns="36576" tIns="27432" rIns="36576" bIns="27432" anchor="t">
            <a:spAutoFit/>
          </a:bodyPr>
          <a:lstStyle/>
          <a:p>
            <a:pPr algn="l"/>
            <a:r>
              <a:rPr lang="en-US" sz="2000" b="0">
                <a:solidFill>
                  <a:srgbClr val="666F79"/>
                </a:solidFill>
                <a:latin typeface="Arial" panose="020B0604020202020204" pitchFamily="34" charset="0"/>
              </a:rPr>
              <a:t>Positioning &amp; limitations</a:t>
            </a:r>
            <a:endParaRPr lang="en-US" sz="2000" b="0" dirty="0">
              <a:solidFill>
                <a:srgbClr val="666F79"/>
              </a:solidFill>
              <a:latin typeface="Arial" panose="020B0604020202020204" pitchFamily="34" charset="0"/>
            </a:endParaRPr>
          </a:p>
        </p:txBody>
      </p:sp>
      <p:sp>
        <p:nvSpPr>
          <p:cNvPr id="3" name="TextBox 2"/>
          <p:cNvSpPr txBox="1"/>
          <p:nvPr/>
        </p:nvSpPr>
        <p:spPr>
          <a:xfrm>
            <a:off x="1536192" y="1298448"/>
            <a:ext cx="13922209" cy="1040285"/>
          </a:xfrm>
          <a:prstGeom prst="rect">
            <a:avLst/>
          </a:prstGeom>
          <a:noFill/>
        </p:spPr>
        <p:txBody>
          <a:bodyPr wrap="none" lIns="36576" tIns="27432" rIns="36576" bIns="27432" anchor="t">
            <a:spAutoFit/>
          </a:bodyPr>
          <a:lstStyle/>
          <a:p>
            <a:pPr algn="l"/>
            <a:endParaRPr lang="en-US" sz="3200" b="1" dirty="0">
              <a:solidFill>
                <a:srgbClr val="082B52"/>
              </a:solidFill>
              <a:latin typeface="Arial" panose="020B0604020202020204" pitchFamily="34" charset="0"/>
            </a:endParaRPr>
          </a:p>
          <a:p>
            <a:r>
              <a:rPr lang="ja-JP" altLang="en-US" sz="3200" b="1" dirty="0">
                <a:solidFill>
                  <a:srgbClr val="082B52"/>
                </a:solidFill>
                <a:latin typeface="Arial" panose="020B0604020202020204" pitchFamily="34" charset="0"/>
              </a:rPr>
              <a:t>先行研究の存在：</a:t>
            </a:r>
            <a:r>
              <a:rPr lang="ja-JP" altLang="ja-JP" sz="3200" b="1" dirty="0">
                <a:latin typeface="Arial" panose="020B0604020202020204" pitchFamily="34" charset="0"/>
              </a:rPr>
              <a:t>温度差とLOSの一次関係は光学機器内でも報告されている</a:t>
            </a:r>
            <a:endParaRPr lang="ja-JP" altLang="ja-JP" sz="3200" dirty="0">
              <a:latin typeface="Arial" panose="020B0604020202020204" pitchFamily="34" charset="0"/>
            </a:endParaRPr>
          </a:p>
        </p:txBody>
      </p:sp>
      <p:sp>
        <p:nvSpPr>
          <p:cNvPr id="4" name="TextBox 3"/>
          <p:cNvSpPr txBox="1"/>
          <p:nvPr/>
        </p:nvSpPr>
        <p:spPr>
          <a:xfrm>
            <a:off x="23700469" y="12819888"/>
            <a:ext cx="73931" cy="332399"/>
          </a:xfrm>
          <a:prstGeom prst="rect">
            <a:avLst/>
          </a:prstGeom>
          <a:noFill/>
        </p:spPr>
        <p:txBody>
          <a:bodyPr wrap="none" lIns="36576" tIns="27432" rIns="36576" bIns="27432" anchor="t">
            <a:spAutoFit/>
          </a:bodyPr>
          <a:lstStyle/>
          <a:p>
            <a:pPr algn="r"/>
            <a:endParaRPr sz="1800" b="0" dirty="0">
              <a:solidFill>
                <a:srgbClr val="666F79"/>
              </a:solidFill>
              <a:latin typeface="Arial" panose="020B0604020202020204" pitchFamily="34" charset="0"/>
            </a:endParaRPr>
          </a:p>
        </p:txBody>
      </p:sp>
      <p:sp>
        <p:nvSpPr>
          <p:cNvPr id="5" name="Rounded Rectangle 4"/>
          <p:cNvSpPr/>
          <p:nvPr/>
        </p:nvSpPr>
        <p:spPr>
          <a:xfrm>
            <a:off x="1097280" y="2834640"/>
            <a:ext cx="10698480" cy="7498079"/>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962876" y="3246120"/>
            <a:ext cx="2967287" cy="486287"/>
          </a:xfrm>
          <a:prstGeom prst="rect">
            <a:avLst/>
          </a:prstGeom>
          <a:noFill/>
        </p:spPr>
        <p:txBody>
          <a:bodyPr wrap="none" lIns="36576" tIns="27432" rIns="36576" bIns="27432" anchor="t">
            <a:spAutoFit/>
          </a:bodyPr>
          <a:lstStyle/>
          <a:p>
            <a:pPr algn="ctr"/>
            <a:r>
              <a:rPr lang="en-US" sz="2800" b="1">
                <a:solidFill>
                  <a:srgbClr val="082B52"/>
                </a:solidFill>
                <a:latin typeface="Arial" panose="020B0604020202020204" pitchFamily="34" charset="0"/>
              </a:rPr>
              <a:t>JANUS / prior art</a:t>
            </a:r>
            <a:endParaRPr lang="en-US" sz="2800" b="1" dirty="0">
              <a:solidFill>
                <a:srgbClr val="082B52"/>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p:cNvSpPr txBox="1"/>
              <p:nvPr/>
            </p:nvSpPr>
            <p:spPr>
              <a:xfrm>
                <a:off x="1637754" y="4389120"/>
                <a:ext cx="5503519" cy="3098284"/>
              </a:xfrm>
              <a:prstGeom prst="rect">
                <a:avLst/>
              </a:prstGeom>
              <a:noFill/>
            </p:spPr>
            <p:txBody>
              <a:bodyPr wrap="square" lIns="27432" rIns="27432">
                <a:spAutoFit/>
              </a:bodyPr>
              <a:lstStyle/>
              <a:p>
                <a:pPr>
                  <a:spcAft>
                    <a:spcPts val="800"/>
                  </a:spcAft>
                </a:pPr>
                <a:r>
                  <a:rPr lang="en-US" sz="2600" b="1">
                    <a:solidFill>
                      <a:srgbClr val="1B74AA"/>
                    </a:solidFill>
                    <a:latin typeface="Arial" panose="020B0604020202020204" pitchFamily="34" charset="0"/>
                  </a:rPr>
                  <a:t>•</a:t>
                </a:r>
                <a:r>
                  <a:rPr lang="en-US" altLang="ja-JP" sz="2600" b="1">
                    <a:solidFill>
                      <a:srgbClr val="1B74AA"/>
                    </a:solidFill>
                    <a:latin typeface="Arial" panose="020B0604020202020204" pitchFamily="34" charset="0"/>
                  </a:rPr>
                  <a:t> </a:t>
                </a:r>
                <a:r>
                  <a:rPr lang="ja-JP" altLang="ja-JP" sz="2600" dirty="0">
                    <a:latin typeface="Arial" panose="020B0604020202020204" pitchFamily="34" charset="0"/>
                  </a:rPr>
                  <a:t>光学ヘッド内部の壁面温度差から</a:t>
                </a:r>
                <a:r>
                  <a:rPr lang="ja-JP" altLang="en-US" sz="2600">
                    <a:latin typeface="Arial" panose="020B0604020202020204" pitchFamily="34" charset="0"/>
                  </a:rPr>
                  <a:t>熱ひずみ由来</a:t>
                </a:r>
                <a:r>
                  <a:rPr lang="en-US" altLang="ja-JP" sz="2600">
                    <a:latin typeface="Arial" panose="020B0604020202020204" pitchFamily="34" charset="0"/>
                  </a:rPr>
                  <a:t>LOS</a:t>
                </a:r>
                <a:r>
                  <a:rPr lang="ja-JP" altLang="en-US" sz="2600">
                    <a:latin typeface="Arial" panose="020B0604020202020204" pitchFamily="34" charset="0"/>
                  </a:rPr>
                  <a:t>誤差</a:t>
                </a:r>
                <a:r>
                  <a:rPr lang="ja-JP" altLang="ja-JP" sz="2600" dirty="0">
                    <a:latin typeface="Arial" panose="020B0604020202020204" pitchFamily="34" charset="0"/>
                  </a:rPr>
                  <a:t>を推定 </a:t>
                </a:r>
                <a:endParaRPr lang="en-US" altLang="ja-JP" sz="2600" dirty="0">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14:m>
                  <m:oMath xmlns:m="http://schemas.openxmlformats.org/officeDocument/2006/math">
                    <m:r>
                      <a:rPr lang="ja-JP" altLang="en-US" sz="2600" i="1">
                        <a:latin typeface="Cambria Math" panose="02040503050406030204" pitchFamily="18" charset="0"/>
                      </a:rPr>
                      <m:t>𝐿𝑂𝑆</m:t>
                    </m:r>
                    <m:r>
                      <a:rPr lang="ja-JP" altLang="en-US" sz="2600">
                        <a:latin typeface="Cambria Math" panose="02040503050406030204" pitchFamily="18" charset="0"/>
                      </a:rPr>
                      <m:t>∝</m:t>
                    </m:r>
                    <m:r>
                      <m:rPr>
                        <m:sty m:val="p"/>
                      </m:rPr>
                      <a:rPr lang="en-US" altLang="ja-JP" sz="2600">
                        <a:latin typeface="Cambria Math" panose="02040503050406030204" pitchFamily="18" charset="0"/>
                      </a:rPr>
                      <m:t>Δ</m:t>
                    </m:r>
                    <m:r>
                      <a:rPr lang="ja-JP" altLang="en-US" sz="2600" i="1">
                        <a:latin typeface="Cambria Math" panose="02040503050406030204" pitchFamily="18" charset="0"/>
                      </a:rPr>
                      <m:t>𝑇</m:t>
                    </m:r>
                  </m:oMath>
                </a14:m>
                <a:r>
                  <a:rPr lang="ja-JP" altLang="ja-JP" sz="2600" dirty="0">
                    <a:latin typeface="Arial" panose="020B0604020202020204" pitchFamily="34" charset="0"/>
                  </a:rPr>
                  <a:t>の一次関係</a:t>
                </a:r>
                <a:r>
                  <a:rPr lang="ja-JP" altLang="en-US" sz="2600" dirty="0">
                    <a:latin typeface="Arial" panose="020B0604020202020204" pitchFamily="34" charset="0"/>
                  </a:rPr>
                  <a:t>とその係数</a:t>
                </a:r>
                <a:r>
                  <a:rPr lang="en-US" altLang="ja-JP" sz="2600" dirty="0">
                    <a:latin typeface="Arial" panose="020B0604020202020204" pitchFamily="34" charset="0"/>
                  </a:rPr>
                  <a:t>K</a:t>
                </a:r>
                <a:r>
                  <a:rPr lang="ja-JP" altLang="ja-JP" sz="2600" dirty="0">
                    <a:latin typeface="Arial" panose="020B0604020202020204" pitchFamily="34" charset="0"/>
                  </a:rPr>
                  <a:t>を地上試験で検証 </a:t>
                </a:r>
                <a:endParaRPr lang="en-US" altLang="ja-JP" sz="2600" dirty="0">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r>
                  <a:rPr lang="ja-JP" altLang="ja-JP" sz="2600" dirty="0">
                    <a:latin typeface="Arial" panose="020B0604020202020204" pitchFamily="34" charset="0"/>
                  </a:rPr>
                  <a:t>温度センサ値からリアルタイムLOS推定を想定</a:t>
                </a:r>
                <a:r>
                  <a:rPr lang="ja-JP" altLang="en-US" sz="2600" dirty="0">
                    <a:latin typeface="Arial" panose="020B0604020202020204" pitchFamily="34" charset="0"/>
                  </a:rPr>
                  <a:t>する点で本研究に近い</a:t>
                </a:r>
                <a:endParaRPr sz="2600" dirty="0">
                  <a:solidFill>
                    <a:srgbClr val="232B34"/>
                  </a:solidFill>
                  <a:latin typeface="Arial" panose="020B0604020202020204"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37754" y="4389120"/>
                <a:ext cx="5503519" cy="3098284"/>
              </a:xfrm>
              <a:prstGeom prst="rect">
                <a:avLst/>
              </a:prstGeom>
              <a:blipFill>
                <a:blip r:embed="rId3"/>
                <a:stretch>
                  <a:fillRect l="-3215" t="-2362" b="-4134"/>
                </a:stretch>
              </a:blipFill>
            </p:spPr>
            <p:txBody>
              <a:bodyPr/>
              <a:lstStyle/>
              <a:p>
                <a:r>
                  <a:rPr lang="ja-JP" altLang="en-US">
                    <a:noFill/>
                  </a:rPr>
                  <a:t> </a:t>
                </a:r>
              </a:p>
            </p:txBody>
          </p:sp>
        </mc:Fallback>
      </mc:AlternateContent>
      <p:sp>
        <p:nvSpPr>
          <p:cNvPr id="8" name="TextBox 7"/>
          <p:cNvSpPr txBox="1"/>
          <p:nvPr/>
        </p:nvSpPr>
        <p:spPr>
          <a:xfrm>
            <a:off x="6590653" y="11276147"/>
            <a:ext cx="11201105" cy="1348061"/>
          </a:xfrm>
          <a:prstGeom prst="rect">
            <a:avLst/>
          </a:prstGeom>
          <a:noFill/>
        </p:spPr>
        <p:txBody>
          <a:bodyPr wrap="square" lIns="36576" tIns="27432" rIns="36576" bIns="27432" anchor="t">
            <a:spAutoFit/>
          </a:bodyPr>
          <a:lstStyle/>
          <a:p>
            <a:pPr algn="ctr"/>
            <a:r>
              <a:rPr lang="ja-JP" altLang="ja-JP" sz="2800" b="1" dirty="0">
                <a:solidFill>
                  <a:schemeClr val="accent2"/>
                </a:solidFill>
                <a:latin typeface="Arial" panose="020B0604020202020204" pitchFamily="34" charset="0"/>
              </a:rPr>
              <a:t>本研究の貢献は、</a:t>
            </a:r>
            <a:endParaRPr lang="en-US" altLang="ja-JP" sz="2800" b="1" dirty="0">
              <a:solidFill>
                <a:schemeClr val="accent2"/>
              </a:solidFill>
              <a:latin typeface="Arial" panose="020B0604020202020204" pitchFamily="34" charset="0"/>
            </a:endParaRPr>
          </a:p>
          <a:p>
            <a:pPr algn="ctr"/>
            <a:r>
              <a:rPr lang="ja-JP" altLang="ja-JP" sz="2800" b="1" dirty="0">
                <a:solidFill>
                  <a:schemeClr val="accent2"/>
                </a:solidFill>
                <a:latin typeface="Arial" panose="020B0604020202020204" pitchFamily="34" charset="0"/>
              </a:rPr>
              <a:t>温度差–LOS</a:t>
            </a:r>
            <a:r>
              <a:rPr lang="ja-JP" altLang="en-US" sz="2800" b="1" dirty="0">
                <a:solidFill>
                  <a:schemeClr val="accent2"/>
                </a:solidFill>
                <a:latin typeface="Arial" panose="020B0604020202020204" pitchFamily="34" charset="0"/>
              </a:rPr>
              <a:t>の一次</a:t>
            </a:r>
            <a:r>
              <a:rPr lang="ja-JP" altLang="ja-JP" sz="2800" b="1" dirty="0">
                <a:solidFill>
                  <a:schemeClr val="accent2"/>
                </a:solidFill>
                <a:latin typeface="Arial" panose="020B0604020202020204" pitchFamily="34" charset="0"/>
              </a:rPr>
              <a:t>関係を衛星バス上のSTT–LCT相対LOS</a:t>
            </a:r>
            <a:r>
              <a:rPr lang="ja-JP" altLang="en-US" sz="2800" b="1" dirty="0">
                <a:solidFill>
                  <a:schemeClr val="accent2"/>
                </a:solidFill>
                <a:latin typeface="Arial" panose="020B0604020202020204" pitchFamily="34" charset="0"/>
              </a:rPr>
              <a:t>予測</a:t>
            </a:r>
            <a:r>
              <a:rPr lang="ja-JP" altLang="ja-JP" sz="2800" b="1" dirty="0">
                <a:solidFill>
                  <a:schemeClr val="accent2"/>
                </a:solidFill>
                <a:latin typeface="Arial" panose="020B0604020202020204" pitchFamily="34" charset="0"/>
              </a:rPr>
              <a:t>へ拡張し、粗捕捉性能改善まで接続した点にある</a:t>
            </a:r>
          </a:p>
        </p:txBody>
      </p:sp>
      <p:sp>
        <p:nvSpPr>
          <p:cNvPr id="9" name="Rounded Rectangle 8"/>
          <p:cNvSpPr/>
          <p:nvPr/>
        </p:nvSpPr>
        <p:spPr>
          <a:xfrm>
            <a:off x="12481560" y="2834640"/>
            <a:ext cx="10698480" cy="7498079"/>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955496" y="3246120"/>
            <a:ext cx="1750607" cy="486287"/>
          </a:xfrm>
          <a:prstGeom prst="rect">
            <a:avLst/>
          </a:prstGeom>
          <a:noFill/>
        </p:spPr>
        <p:txBody>
          <a:bodyPr wrap="none" lIns="36576" tIns="27432" rIns="36576" bIns="27432" anchor="t">
            <a:spAutoFit/>
          </a:bodyPr>
          <a:lstStyle/>
          <a:p>
            <a:pPr algn="ctr"/>
            <a:r>
              <a:rPr lang="en-US" sz="2800" b="1">
                <a:solidFill>
                  <a:srgbClr val="1B74AA"/>
                </a:solidFill>
                <a:latin typeface="Arial" panose="020B0604020202020204" pitchFamily="34" charset="0"/>
              </a:rPr>
              <a:t>This work</a:t>
            </a:r>
            <a:endParaRPr lang="en-US" sz="2800" b="1" dirty="0">
              <a:solidFill>
                <a:srgbClr val="1B74AA"/>
              </a:solidFill>
              <a:latin typeface="Arial" panose="020B0604020202020204" pitchFamily="34" charset="0"/>
            </a:endParaRPr>
          </a:p>
        </p:txBody>
      </p:sp>
      <p:sp>
        <p:nvSpPr>
          <p:cNvPr id="11" name="TextBox 10"/>
          <p:cNvSpPr txBox="1"/>
          <p:nvPr/>
        </p:nvSpPr>
        <p:spPr>
          <a:xfrm>
            <a:off x="13007228" y="4223694"/>
            <a:ext cx="6683903" cy="3703578"/>
          </a:xfrm>
          <a:prstGeom prst="rect">
            <a:avLst/>
          </a:prstGeom>
          <a:noFill/>
        </p:spPr>
        <p:txBody>
          <a:bodyPr wrap="square" lIns="27432" rIns="27432">
            <a:spAutoFit/>
          </a:bodyPr>
          <a:lstStyle/>
          <a:p>
            <a:pPr>
              <a:spcAft>
                <a:spcPts val="800"/>
              </a:spcAft>
            </a:pPr>
            <a:r>
              <a:rPr lang="en-US" sz="2600" b="1">
                <a:solidFill>
                  <a:srgbClr val="1B74AA"/>
                </a:solidFill>
                <a:latin typeface="Arial" panose="020B0604020202020204" pitchFamily="34" charset="0"/>
              </a:rPr>
              <a:t>• </a:t>
            </a:r>
            <a:r>
              <a:rPr lang="ja-JP" altLang="ja-JP" sz="2600" dirty="0">
                <a:latin typeface="Arial" panose="020B0604020202020204" pitchFamily="34" charset="0"/>
              </a:rPr>
              <a:t>衛星バス上のSTT–LCT相対LOSを対象 </a:t>
            </a:r>
            <a:endParaRPr lang="en-US" altLang="ja-JP" sz="2600" dirty="0">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r>
              <a:rPr lang="ja-JP" altLang="ja-JP" sz="2600" dirty="0">
                <a:latin typeface="Arial" panose="020B0604020202020204" pitchFamily="34" charset="0"/>
              </a:rPr>
              <a:t>太陽指向面–反対面温度差から軌道内変動を予測 </a:t>
            </a:r>
            <a:endParaRPr lang="en-US" altLang="ja-JP" sz="2600" dirty="0">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r>
              <a:rPr lang="ja-JP" altLang="ja-JP" sz="2600" dirty="0">
                <a:latin typeface="Arial" panose="020B0604020202020204" pitchFamily="34" charset="0"/>
              </a:rPr>
              <a:t>発熱・被覆・軌道条件によるケースDCを階層化 </a:t>
            </a:r>
            <a:endParaRPr lang="en-US" altLang="ja-JP" sz="2600" dirty="0">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r>
              <a:rPr lang="ja-JP" altLang="ja-JP" sz="2600" dirty="0">
                <a:latin typeface="Arial" panose="020B0604020202020204" pitchFamily="34" charset="0"/>
              </a:rPr>
              <a:t>予測LOSをscan center補正へ入力 捕捉成功率・捕捉時間まで評価</a:t>
            </a:r>
            <a:endParaRPr lang="en-US" altLang="ja-JP" sz="2600" dirty="0">
              <a:latin typeface="Arial" panose="020B0604020202020204" pitchFamily="34" charset="0"/>
            </a:endParaRPr>
          </a:p>
          <a:p>
            <a:pPr>
              <a:spcAft>
                <a:spcPts val="800"/>
              </a:spcAft>
            </a:pPr>
            <a:r>
              <a:rPr lang="en-US" altLang="ja-JP" sz="2600" b="1">
                <a:solidFill>
                  <a:srgbClr val="1B74AA"/>
                </a:solidFill>
                <a:latin typeface="Arial" panose="020B0604020202020204" pitchFamily="34" charset="0"/>
              </a:rPr>
              <a:t>• </a:t>
            </a:r>
            <a:r>
              <a:rPr lang="en-US" altLang="ja-JP" sz="2600">
                <a:latin typeface="Arial" panose="020B0604020202020204" pitchFamily="34" charset="0"/>
              </a:rPr>
              <a:t>※</a:t>
            </a:r>
            <a:r>
              <a:rPr lang="ja-JP" altLang="en-US" sz="2600" dirty="0">
                <a:latin typeface="Arial" panose="020B0604020202020204" pitchFamily="34" charset="0"/>
              </a:rPr>
              <a:t>非支配軸・別構造・飛行実証は未評価</a:t>
            </a:r>
            <a:endParaRPr sz="2600" dirty="0">
              <a:latin typeface="Arial" panose="020B0604020202020204" pitchFamily="34" charset="0"/>
            </a:endParaRPr>
          </a:p>
        </p:txBody>
      </p:sp>
      <p:pic>
        <p:nvPicPr>
          <p:cNvPr id="14" name="図 13">
            <a:extLst>
              <a:ext uri="{FF2B5EF4-FFF2-40B4-BE49-F238E27FC236}">
                <a16:creationId xmlns:a16="http://schemas.microsoft.com/office/drawing/2014/main" id="{C7E3B895-1AEF-DE7D-2500-D5414894CC50}"/>
              </a:ext>
            </a:extLst>
          </p:cNvPr>
          <p:cNvPicPr>
            <a:picLocks noChangeAspect="1"/>
          </p:cNvPicPr>
          <p:nvPr/>
        </p:nvPicPr>
        <p:blipFill>
          <a:blip r:embed="rId4"/>
          <a:stretch>
            <a:fillRect/>
          </a:stretch>
        </p:blipFill>
        <p:spPr>
          <a:xfrm>
            <a:off x="7304557" y="4223694"/>
            <a:ext cx="4296893" cy="2768036"/>
          </a:xfrm>
          <a:prstGeom prst="rect">
            <a:avLst/>
          </a:prstGeom>
        </p:spPr>
      </p:pic>
      <p:pic>
        <p:nvPicPr>
          <p:cNvPr id="16" name="図 15">
            <a:extLst>
              <a:ext uri="{FF2B5EF4-FFF2-40B4-BE49-F238E27FC236}">
                <a16:creationId xmlns:a16="http://schemas.microsoft.com/office/drawing/2014/main" id="{1D012430-EBD5-228E-6C1B-2FA194D4495E}"/>
              </a:ext>
            </a:extLst>
          </p:cNvPr>
          <p:cNvPicPr>
            <a:picLocks noChangeAspect="1"/>
          </p:cNvPicPr>
          <p:nvPr/>
        </p:nvPicPr>
        <p:blipFill>
          <a:blip r:embed="rId5"/>
          <a:stretch>
            <a:fillRect/>
          </a:stretch>
        </p:blipFill>
        <p:spPr>
          <a:xfrm>
            <a:off x="19976937" y="4059227"/>
            <a:ext cx="2917297" cy="4445404"/>
          </a:xfrm>
          <a:prstGeom prst="rect">
            <a:avLst/>
          </a:prstGeom>
        </p:spPr>
      </p:pic>
      <p:cxnSp>
        <p:nvCxnSpPr>
          <p:cNvPr id="18" name="直線矢印コネクタ 17">
            <a:extLst>
              <a:ext uri="{FF2B5EF4-FFF2-40B4-BE49-F238E27FC236}">
                <a16:creationId xmlns:a16="http://schemas.microsoft.com/office/drawing/2014/main" id="{236A98E2-DC1C-D091-55C8-8ECEA961E0B2}"/>
              </a:ext>
            </a:extLst>
          </p:cNvPr>
          <p:cNvCxnSpPr>
            <a:cxnSpLocks/>
          </p:cNvCxnSpPr>
          <p:nvPr/>
        </p:nvCxnSpPr>
        <p:spPr>
          <a:xfrm>
            <a:off x="9895114" y="7087295"/>
            <a:ext cx="986246"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FE3BF317-B001-A8F1-E16A-98CCE95D0F38}"/>
              </a:ext>
            </a:extLst>
          </p:cNvPr>
          <p:cNvSpPr txBox="1"/>
          <p:nvPr/>
        </p:nvSpPr>
        <p:spPr>
          <a:xfrm>
            <a:off x="9836331" y="7235689"/>
            <a:ext cx="1322615" cy="369332"/>
          </a:xfrm>
          <a:prstGeom prst="rect">
            <a:avLst/>
          </a:prstGeom>
          <a:noFill/>
        </p:spPr>
        <p:txBody>
          <a:bodyPr wrap="square" rtlCol="0">
            <a:spAutoFit/>
          </a:bodyPr>
          <a:lstStyle/>
          <a:p>
            <a:r>
              <a:rPr kumimoji="1" lang="en-US" altLang="ja-JP" dirty="0">
                <a:latin typeface="Arial" panose="020B0604020202020204" pitchFamily="34" charset="0"/>
              </a:rPr>
              <a:t>25 cm</a:t>
            </a:r>
            <a:r>
              <a:rPr kumimoji="1" lang="ja-JP" altLang="en-US" dirty="0">
                <a:latin typeface="Arial" panose="020B0604020202020204" pitchFamily="34" charset="0"/>
              </a:rPr>
              <a:t>程度</a:t>
            </a:r>
          </a:p>
        </p:txBody>
      </p:sp>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8CB7D79D-2AF2-A798-8254-04332A599446}"/>
                  </a:ext>
                </a:extLst>
              </p:cNvPr>
              <p:cNvSpPr txBox="1"/>
              <p:nvPr/>
            </p:nvSpPr>
            <p:spPr>
              <a:xfrm>
                <a:off x="13872760" y="9039727"/>
                <a:ext cx="7916078" cy="998863"/>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ja-JP" altLang="en-US" sz="2800" b="1" i="1" dirty="0" smtClean="0">
                              <a:solidFill>
                                <a:srgbClr val="082B52"/>
                              </a:solidFill>
                              <a:latin typeface="Cambria Math" panose="02040503050406030204" pitchFamily="18" charset="0"/>
                            </a:rPr>
                            <m:t>𝒅𝒐𝒎</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 </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𝒂</m:t>
                          </m:r>
                        </m:e>
                        <m:sub>
                          <m:r>
                            <a:rPr lang="ja-JP" altLang="en-US" sz="2800" b="1" i="1" dirty="0" err="1">
                              <a:solidFill>
                                <a:srgbClr val="082B52"/>
                              </a:solidFill>
                              <a:latin typeface="Cambria Math" panose="02040503050406030204" pitchFamily="18" charset="0"/>
                            </a:rPr>
                            <m:t>𝒔𝒖𝒏𝒇𝒂𝒄𝒆</m:t>
                          </m:r>
                        </m:sub>
                      </m:sSub>
                      <m:r>
                        <a:rPr lang="ja-JP" altLang="en-US" sz="2800" b="1" i="1" dirty="0">
                          <a:solidFill>
                            <a:srgbClr val="082B52"/>
                          </a:solidFill>
                          <a:latin typeface="Cambria Math" panose="02040503050406030204" pitchFamily="18" charset="0"/>
                        </a:rPr>
                        <m:t> </m:t>
                      </m:r>
                      <m:r>
                        <a:rPr lang="en-US" altLang="ja-JP" sz="2800" b="1" i="1" dirty="0">
                          <a:solidFill>
                            <a:srgbClr val="082B52"/>
                          </a:solidFill>
                          <a:latin typeface="Cambria Math" panose="02040503050406030204" pitchFamily="18" charset="0"/>
                        </a:rPr>
                        <m:t>· </m:t>
                      </m:r>
                      <m:r>
                        <a:rPr lang="ja-JP" altLang="en-US" sz="2800" b="1" i="0" dirty="0">
                          <a:solidFill>
                            <a:srgbClr val="082B52"/>
                          </a:solidFill>
                          <a:latin typeface="Cambria Math" panose="02040503050406030204" pitchFamily="18" charset="0"/>
                        </a:rPr>
                        <m:t>𝚫</m:t>
                      </m:r>
                      <m:r>
                        <a:rPr lang="ja-JP" altLang="en-US" sz="2800" b="1" i="1" dirty="0">
                          <a:solidFill>
                            <a:srgbClr val="082B52"/>
                          </a:solidFill>
                          <a:latin typeface="Cambria Math" panose="02040503050406030204" pitchFamily="18" charset="0"/>
                        </a:rPr>
                        <m:t>𝑻</m:t>
                      </m:r>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smtClean="0">
                          <a:solidFill>
                            <a:srgbClr val="082B52"/>
                          </a:solidFill>
                          <a:latin typeface="Cambria Math" panose="02040503050406030204" pitchFamily="18" charset="0"/>
                        </a:rPr>
                        <m:t>+</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𝒃</m:t>
                          </m:r>
                        </m:e>
                        <m:sub>
                          <m:r>
                            <a:rPr lang="ja-JP" altLang="en-US" sz="2800" b="1" i="1" dirty="0" err="1">
                              <a:solidFill>
                                <a:srgbClr val="082B52"/>
                              </a:solidFill>
                              <a:latin typeface="Cambria Math" panose="02040503050406030204" pitchFamily="18" charset="0"/>
                            </a:rPr>
                            <m:t>𝒄𝒂𝒔𝒆</m:t>
                          </m:r>
                        </m:sub>
                      </m:sSub>
                      <m:r>
                        <a:rPr lang="ja-JP" altLang="en-US" sz="2800" b="1" i="1" dirty="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 </m:t>
                      </m:r>
                    </m:oMath>
                  </m:oMathPara>
                </a14:m>
                <a:endParaRPr lang="en-US" sz="2800" dirty="0">
                  <a:latin typeface="Arial" panose="020B0604020202020204" pitchFamily="34" charset="0"/>
                </a:endParaRPr>
              </a:p>
              <a:p>
                <a:pPr algn="ctr"/>
                <a14:m>
                  <m:oMathPara xmlns:m="http://schemas.openxmlformats.org/officeDocument/2006/math">
                    <m:oMath>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err="1">
                              <a:solidFill>
                                <a:srgbClr val="082B52"/>
                              </a:solidFill>
                              <a:latin typeface="Cambria Math" panose="02040503050406030204" pitchFamily="18" charset="0"/>
                            </a:rPr>
                            <m:t>𝒄𝒂𝒔𝒆</m:t>
                          </m:r>
                        </m:sub>
                      </m:sSub>
                      <m:r>
                        <a:rPr lang="en-US" altLang="ja-JP" sz="2800" b="1" i="1" dirty="0">
                          <a:solidFill>
                            <a:srgbClr val="082B52"/>
                          </a:solidFill>
                          <a:latin typeface="Cambria Math" panose="02040503050406030204" pitchFamily="18" charset="0"/>
                        </a:rPr>
                        <m:t> ≈ </m:t>
                      </m:r>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a:solidFill>
                                <a:srgbClr val="082B52"/>
                              </a:solidFill>
                              <a:latin typeface="Cambria Math" panose="02040503050406030204" pitchFamily="18" charset="0"/>
                            </a:rPr>
                            <m:t>𝟎</m:t>
                          </m:r>
                          <m:r>
                            <a:rPr lang="en-US" altLang="ja-JP" sz="2800" b="1" i="1" dirty="0">
                              <a:solidFill>
                                <a:srgbClr val="082B52"/>
                              </a:solidFill>
                              <a:latin typeface="Cambria Math" panose="02040503050406030204" pitchFamily="18" charset="0"/>
                            </a:rPr>
                            <m:t>,</m:t>
                          </m:r>
                          <m:r>
                            <a:rPr lang="en-US" altLang="ja-JP" sz="2800" b="1" i="1" dirty="0">
                              <a:solidFill>
                                <a:srgbClr val="082B52"/>
                              </a:solidFill>
                              <a:latin typeface="Cambria Math" panose="02040503050406030204" pitchFamily="18" charset="0"/>
                            </a:rPr>
                            <m:t>𝒔𝒖𝒏𝒇𝒂𝒄𝒆</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𝑷𝑹𝑶𝑷</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𝑷𝑹𝑶𝑷</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𝑷𝑪𝑫𝑼</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𝑷𝑪𝑫𝑼</m:t>
                          </m:r>
                        </m:sub>
                      </m:sSub>
                    </m:oMath>
                  </m:oMathPara>
                </a14:m>
                <a:endParaRPr sz="2800" dirty="0"/>
              </a:p>
            </p:txBody>
          </p:sp>
        </mc:Choice>
        <mc:Fallback xmlns="">
          <p:sp>
            <p:nvSpPr>
              <p:cNvPr id="22" name="TextBox 5">
                <a:extLst>
                  <a:ext uri="{FF2B5EF4-FFF2-40B4-BE49-F238E27FC236}">
                    <a16:creationId xmlns:a16="http://schemas.microsoft.com/office/drawing/2014/main" id="{8CB7D79D-2AF2-A798-8254-04332A599446}"/>
                  </a:ext>
                </a:extLst>
              </p:cNvPr>
              <p:cNvSpPr txBox="1">
                <a:spLocks noRot="1" noChangeAspect="1" noMove="1" noResize="1" noEditPoints="1" noAdjustHandles="1" noChangeArrowheads="1" noChangeShapeType="1" noTextEdit="1"/>
              </p:cNvSpPr>
              <p:nvPr/>
            </p:nvSpPr>
            <p:spPr>
              <a:xfrm>
                <a:off x="13872760" y="9039727"/>
                <a:ext cx="7916078" cy="998863"/>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TextBox 5">
                <a:extLst>
                  <a:ext uri="{FF2B5EF4-FFF2-40B4-BE49-F238E27FC236}">
                    <a16:creationId xmlns:a16="http://schemas.microsoft.com/office/drawing/2014/main" id="{871BC7F3-CFD6-2181-FEC2-0F7AB8A132AA}"/>
                  </a:ext>
                </a:extLst>
              </p:cNvPr>
              <p:cNvSpPr txBox="1"/>
              <p:nvPr/>
            </p:nvSpPr>
            <p:spPr>
              <a:xfrm>
                <a:off x="2901195" y="9039727"/>
                <a:ext cx="7090659" cy="958019"/>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en-US" altLang="ja-JP" sz="2800" b="1" i="1" dirty="0" smtClean="0">
                              <a:solidFill>
                                <a:srgbClr val="082B52"/>
                              </a:solidFill>
                              <a:latin typeface="Cambria Math" panose="02040503050406030204" pitchFamily="18" charset="0"/>
                            </a:rPr>
                            <m:t>𝑳𝑶𝑺</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𝒚</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𝑲</m:t>
                      </m:r>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𝒐𝒑𝒕𝒊𝒄𝒂𝒍</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𝒃𝒖𝒇𝒇𝒍𝒆</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oMath>
                  </m:oMathPara>
                </a14:m>
                <a:endParaRPr lang="en-US" altLang="ja-JP" sz="2800" b="1" dirty="0">
                  <a:solidFill>
                    <a:srgbClr val="082B52"/>
                  </a:solidFill>
                  <a:latin typeface="Arial" panose="020B0604020202020204" pitchFamily="34" charset="0"/>
                </a:endParaRPr>
              </a:p>
              <a:p>
                <a:pPr algn="ctr"/>
                <a:endParaRPr lang="en-US" altLang="ja-JP" sz="2800" b="1" dirty="0">
                  <a:solidFill>
                    <a:srgbClr val="082B52"/>
                  </a:solidFill>
                </a:endParaRPr>
              </a:p>
            </p:txBody>
          </p:sp>
        </mc:Choice>
        <mc:Fallback xmlns="">
          <p:sp>
            <p:nvSpPr>
              <p:cNvPr id="24" name="TextBox 5">
                <a:extLst>
                  <a:ext uri="{FF2B5EF4-FFF2-40B4-BE49-F238E27FC236}">
                    <a16:creationId xmlns:a16="http://schemas.microsoft.com/office/drawing/2014/main" id="{871BC7F3-CFD6-2181-FEC2-0F7AB8A132AA}"/>
                  </a:ext>
                </a:extLst>
              </p:cNvPr>
              <p:cNvSpPr txBox="1">
                <a:spLocks noRot="1" noChangeAspect="1" noMove="1" noResize="1" noEditPoints="1" noAdjustHandles="1" noChangeArrowheads="1" noChangeShapeType="1" noTextEdit="1"/>
              </p:cNvSpPr>
              <p:nvPr/>
            </p:nvSpPr>
            <p:spPr>
              <a:xfrm>
                <a:off x="2901195" y="9039727"/>
                <a:ext cx="7090659" cy="958019"/>
              </a:xfrm>
              <a:prstGeom prst="rect">
                <a:avLst/>
              </a:prstGeom>
              <a:blipFill>
                <a:blip r:embed="rId7"/>
                <a:stretch>
                  <a:fillRect/>
                </a:stretch>
              </a:blipFill>
            </p:spPr>
            <p:txBody>
              <a:bodyPr/>
              <a:lstStyle/>
              <a:p>
                <a:r>
                  <a:rPr lang="ja-JP" altLang="en-US">
                    <a:noFill/>
                  </a:rPr>
                  <a:t> </a:t>
                </a:r>
              </a:p>
            </p:txBody>
          </p:sp>
        </mc:Fallback>
      </mc:AlternateContent>
      <p:cxnSp>
        <p:nvCxnSpPr>
          <p:cNvPr id="26" name="直線矢印コネクタ 25">
            <a:extLst>
              <a:ext uri="{FF2B5EF4-FFF2-40B4-BE49-F238E27FC236}">
                <a16:creationId xmlns:a16="http://schemas.microsoft.com/office/drawing/2014/main" id="{364056D2-83C3-D172-16F3-77222404221A}"/>
              </a:ext>
            </a:extLst>
          </p:cNvPr>
          <p:cNvCxnSpPr>
            <a:cxnSpLocks/>
          </p:cNvCxnSpPr>
          <p:nvPr/>
        </p:nvCxnSpPr>
        <p:spPr>
          <a:xfrm>
            <a:off x="9820002" y="4096848"/>
            <a:ext cx="0" cy="5845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5D486108-12C4-0CB4-491B-DA4939F62364}"/>
              </a:ext>
            </a:extLst>
          </p:cNvPr>
          <p:cNvCxnSpPr>
            <a:cxnSpLocks/>
          </p:cNvCxnSpPr>
          <p:nvPr/>
        </p:nvCxnSpPr>
        <p:spPr>
          <a:xfrm>
            <a:off x="10881360" y="4096848"/>
            <a:ext cx="0" cy="55028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8AAB77A2-36D4-590E-EB94-32592F3A750A}"/>
              </a:ext>
            </a:extLst>
          </p:cNvPr>
          <p:cNvSpPr txBox="1"/>
          <p:nvPr/>
        </p:nvSpPr>
        <p:spPr>
          <a:xfrm>
            <a:off x="10332720" y="3722608"/>
            <a:ext cx="1404257" cy="369332"/>
          </a:xfrm>
          <a:prstGeom prst="rect">
            <a:avLst/>
          </a:prstGeom>
          <a:noFill/>
        </p:spPr>
        <p:txBody>
          <a:bodyPr wrap="square" rtlCol="0">
            <a:spAutoFit/>
          </a:bodyPr>
          <a:lstStyle/>
          <a:p>
            <a:r>
              <a:rPr kumimoji="1" lang="en-US" altLang="ja-JP" dirty="0">
                <a:latin typeface="Arial" panose="020B0604020202020204" pitchFamily="34" charset="0"/>
              </a:rPr>
              <a:t>Optical Wall</a:t>
            </a:r>
            <a:endParaRPr kumimoji="1" lang="ja-JP" altLang="en-US" dirty="0">
              <a:latin typeface="Arial" panose="020B0604020202020204" pitchFamily="34" charset="0"/>
            </a:endParaRPr>
          </a:p>
        </p:txBody>
      </p:sp>
      <p:sp>
        <p:nvSpPr>
          <p:cNvPr id="33" name="テキスト ボックス 32">
            <a:extLst>
              <a:ext uri="{FF2B5EF4-FFF2-40B4-BE49-F238E27FC236}">
                <a16:creationId xmlns:a16="http://schemas.microsoft.com/office/drawing/2014/main" id="{E314A410-ACD0-9EDE-1676-7B2BA3D84B5F}"/>
              </a:ext>
            </a:extLst>
          </p:cNvPr>
          <p:cNvSpPr txBox="1"/>
          <p:nvPr/>
        </p:nvSpPr>
        <p:spPr>
          <a:xfrm>
            <a:off x="9068890" y="3732074"/>
            <a:ext cx="1404257" cy="369332"/>
          </a:xfrm>
          <a:prstGeom prst="rect">
            <a:avLst/>
          </a:prstGeom>
          <a:noFill/>
        </p:spPr>
        <p:txBody>
          <a:bodyPr wrap="square" rtlCol="0">
            <a:spAutoFit/>
          </a:bodyPr>
          <a:lstStyle/>
          <a:p>
            <a:r>
              <a:rPr kumimoji="1" lang="en-US" altLang="ja-JP" dirty="0" err="1">
                <a:latin typeface="Arial" panose="020B0604020202020204" pitchFamily="34" charset="0"/>
              </a:rPr>
              <a:t>Buffle</a:t>
            </a:r>
            <a:r>
              <a:rPr kumimoji="1" lang="en-US" altLang="ja-JP" dirty="0">
                <a:latin typeface="Arial" panose="020B0604020202020204" pitchFamily="34" charset="0"/>
              </a:rPr>
              <a:t> Wall</a:t>
            </a:r>
            <a:endParaRPr kumimoji="1" lang="ja-JP" altLang="en-US"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2983894" cy="363176"/>
          </a:xfrm>
          <a:prstGeom prst="rect">
            <a:avLst/>
          </a:prstGeom>
          <a:noFill/>
        </p:spPr>
        <p:txBody>
          <a:bodyPr wrap="none" lIns="36576" tIns="27432" rIns="36576" bIns="27432" anchor="t">
            <a:spAutoFit/>
          </a:bodyPr>
          <a:lstStyle/>
          <a:p>
            <a:pPr algn="l"/>
            <a:r>
              <a:rPr lang="en-US" sz="2000" b="0">
                <a:solidFill>
                  <a:srgbClr val="666F79"/>
                </a:solidFill>
                <a:latin typeface="Arial" panose="020B0604020202020204" pitchFamily="34" charset="0"/>
              </a:rPr>
              <a:t>PAT simulation conditions</a:t>
            </a:r>
            <a:endParaRPr lang="en-US" sz="2000" b="0" dirty="0">
              <a:solidFill>
                <a:srgbClr val="666F79"/>
              </a:solidFill>
              <a:latin typeface="Arial" panose="020B0604020202020204" pitchFamily="34" charset="0"/>
            </a:endParaRPr>
          </a:p>
        </p:txBody>
      </p:sp>
      <p:sp>
        <p:nvSpPr>
          <p:cNvPr id="3" name="TextBox 2"/>
          <p:cNvSpPr txBox="1"/>
          <p:nvPr/>
        </p:nvSpPr>
        <p:spPr>
          <a:xfrm>
            <a:off x="1536192" y="1298448"/>
            <a:ext cx="9922716" cy="1040285"/>
          </a:xfrm>
          <a:prstGeom prst="rect">
            <a:avLst/>
          </a:prstGeom>
          <a:noFill/>
        </p:spPr>
        <p:txBody>
          <a:bodyPr wrap="none" lIns="36576" tIns="27432" rIns="36576" bIns="27432" anchor="t">
            <a:spAutoFit/>
          </a:bodyPr>
          <a:lstStyle/>
          <a:p>
            <a:pPr algn="l"/>
            <a:endParaRPr lang="en-US" sz="3200" b="1" dirty="0">
              <a:solidFill>
                <a:srgbClr val="082B52"/>
              </a:solidFill>
              <a:latin typeface="Arial" panose="020B0604020202020204" pitchFamily="34" charset="0"/>
            </a:endParaRPr>
          </a:p>
          <a:p>
            <a:r>
              <a:rPr lang="ja-JP" altLang="ja-JP" sz="3200" b="1" dirty="0">
                <a:latin typeface="Arial" panose="020B0604020202020204" pitchFamily="34" charset="0"/>
              </a:rPr>
              <a:t>粗捕捉は矩形スパイラルの離散走査として簡略化する</a:t>
            </a:r>
            <a:endParaRPr lang="ja-JP" altLang="ja-JP" sz="3200" dirty="0">
              <a:latin typeface="Arial" panose="020B0604020202020204" pitchFamily="34" charset="0"/>
            </a:endParaRPr>
          </a:p>
        </p:txBody>
      </p:sp>
      <p:sp>
        <p:nvSpPr>
          <p:cNvPr id="4" name="TextBox 3"/>
          <p:cNvSpPr txBox="1"/>
          <p:nvPr/>
        </p:nvSpPr>
        <p:spPr>
          <a:xfrm>
            <a:off x="23700469" y="12819888"/>
            <a:ext cx="73931" cy="332399"/>
          </a:xfrm>
          <a:prstGeom prst="rect">
            <a:avLst/>
          </a:prstGeom>
          <a:noFill/>
        </p:spPr>
        <p:txBody>
          <a:bodyPr wrap="none" lIns="36576" tIns="27432" rIns="36576" bIns="27432" anchor="t">
            <a:spAutoFit/>
          </a:bodyPr>
          <a:lstStyle/>
          <a:p>
            <a:pPr algn="r"/>
            <a:endParaRPr sz="1800" b="0" dirty="0">
              <a:solidFill>
                <a:srgbClr val="666F79"/>
              </a:solidFill>
              <a:latin typeface="Arial" panose="020B0604020202020204" pitchFamily="34" charset="0"/>
            </a:endParaRPr>
          </a:p>
        </p:txBody>
      </p:sp>
      <p:graphicFrame>
        <p:nvGraphicFramePr>
          <p:cNvPr id="28" name="Table 27"/>
          <p:cNvGraphicFramePr>
            <a:graphicFrameLocks noGrp="1"/>
          </p:cNvGraphicFramePr>
          <p:nvPr>
            <p:extLst>
              <p:ext uri="{D42A27DB-BD31-4B8C-83A1-F6EECF244321}">
                <p14:modId xmlns:p14="http://schemas.microsoft.com/office/powerpoint/2010/main" val="2038516894"/>
              </p:ext>
            </p:extLst>
          </p:nvPr>
        </p:nvGraphicFramePr>
        <p:xfrm>
          <a:off x="12461016" y="2752344"/>
          <a:ext cx="8874189" cy="6309360"/>
        </p:xfrm>
        <a:graphic>
          <a:graphicData uri="http://schemas.openxmlformats.org/drawingml/2006/table">
            <a:tbl>
              <a:tblPr firstRow="1" bandRow="1">
                <a:tableStyleId>{5C22544A-7EE6-4342-B048-85BDC9FD1C3A}</a:tableStyleId>
              </a:tblPr>
              <a:tblGrid>
                <a:gridCol w="4641883">
                  <a:extLst>
                    <a:ext uri="{9D8B030D-6E8A-4147-A177-3AD203B41FA5}">
                      <a16:colId xmlns:a16="http://schemas.microsoft.com/office/drawing/2014/main" val="20000"/>
                    </a:ext>
                  </a:extLst>
                </a:gridCol>
                <a:gridCol w="4232306">
                  <a:extLst>
                    <a:ext uri="{9D8B030D-6E8A-4147-A177-3AD203B41FA5}">
                      <a16:colId xmlns:a16="http://schemas.microsoft.com/office/drawing/2014/main" val="20001"/>
                    </a:ext>
                  </a:extLst>
                </a:gridCol>
              </a:tblGrid>
              <a:tr h="901337">
                <a:tc>
                  <a:txBody>
                    <a:bodyPr/>
                    <a:lstStyle/>
                    <a:p>
                      <a:pPr algn="l">
                        <a:buNone/>
                      </a:pPr>
                      <a:r>
                        <a:rPr lang="ja-JP" sz="2400" dirty="0">
                          <a:latin typeface="Arial" panose="020B0604020202020204" pitchFamily="34" charset="0"/>
                        </a:rPr>
                        <a:t>パラメータ</a:t>
                      </a:r>
                    </a:p>
                  </a:txBody>
                  <a:tcPr anchor="ctr">
                    <a:solidFill>
                      <a:srgbClr val="082B52"/>
                    </a:solidFill>
                  </a:tcPr>
                </a:tc>
                <a:tc>
                  <a:txBody>
                    <a:bodyPr/>
                    <a:lstStyle/>
                    <a:p>
                      <a:pPr algn="l">
                        <a:buNone/>
                      </a:pPr>
                      <a:r>
                        <a:rPr lang="ja-JP" sz="2400">
                          <a:latin typeface="Arial" panose="020B0604020202020204" pitchFamily="34" charset="0"/>
                        </a:rPr>
                        <a:t>設定値</a:t>
                      </a:r>
                    </a:p>
                  </a:txBody>
                  <a:tcPr anchor="ctr">
                    <a:solidFill>
                      <a:srgbClr val="082B52"/>
                    </a:solidFill>
                  </a:tcPr>
                </a:tc>
                <a:extLst>
                  <a:ext uri="{0D108BD9-81ED-4DB2-BD59-A6C34878D82A}">
                    <a16:rowId xmlns:a16="http://schemas.microsoft.com/office/drawing/2014/main" val="10000"/>
                  </a:ext>
                </a:extLst>
              </a:tr>
              <a:tr h="901337">
                <a:tc>
                  <a:txBody>
                    <a:bodyPr/>
                    <a:lstStyle/>
                    <a:p>
                      <a:pPr algn="l">
                        <a:buNone/>
                      </a:pPr>
                      <a:r>
                        <a:rPr lang="ja-JP" sz="2400" dirty="0">
                          <a:latin typeface="Arial" panose="020B0604020202020204" pitchFamily="34" charset="0"/>
                        </a:rPr>
                        <a:t>走査範囲</a:t>
                      </a:r>
                    </a:p>
                  </a:txBody>
                  <a:tcPr anchor="ctr">
                    <a:solidFill>
                      <a:srgbClr val="FFFFFF"/>
                    </a:solidFill>
                  </a:tcPr>
                </a:tc>
                <a:tc>
                  <a:txBody>
                    <a:bodyPr/>
                    <a:lstStyle/>
                    <a:p>
                      <a:pPr algn="l">
                        <a:buNone/>
                      </a:pPr>
                      <a:r>
                        <a:rPr lang="en-US" altLang="ja-JP" sz="2400">
                          <a:latin typeface="Arial" panose="020B0604020202020204" pitchFamily="34" charset="0"/>
                        </a:rPr>
                        <a:t>±1600 µrad</a:t>
                      </a:r>
                      <a:endParaRPr lang="en-US" altLang="ja-JP" sz="2400" dirty="0">
                        <a:latin typeface="Arial" panose="020B0604020202020204" pitchFamily="34" charset="0"/>
                      </a:endParaRPr>
                    </a:p>
                  </a:txBody>
                  <a:tcPr anchor="ctr">
                    <a:solidFill>
                      <a:srgbClr val="EBF6FB"/>
                    </a:solidFill>
                  </a:tcPr>
                </a:tc>
                <a:extLst>
                  <a:ext uri="{0D108BD9-81ED-4DB2-BD59-A6C34878D82A}">
                    <a16:rowId xmlns:a16="http://schemas.microsoft.com/office/drawing/2014/main" val="10001"/>
                  </a:ext>
                </a:extLst>
              </a:tr>
              <a:tr h="901337">
                <a:tc>
                  <a:txBody>
                    <a:bodyPr/>
                    <a:lstStyle/>
                    <a:p>
                      <a:pPr algn="l">
                        <a:buNone/>
                      </a:pPr>
                      <a:r>
                        <a:rPr lang="ja-JP" sz="2400" dirty="0">
                          <a:latin typeface="Arial" panose="020B0604020202020204" pitchFamily="34" charset="0"/>
                        </a:rPr>
                        <a:t>点間隔</a:t>
                      </a:r>
                    </a:p>
                  </a:txBody>
                  <a:tcPr anchor="ctr">
                    <a:solidFill>
                      <a:srgbClr val="F4F6F8"/>
                    </a:solidFill>
                  </a:tcPr>
                </a:tc>
                <a:tc>
                  <a:txBody>
                    <a:bodyPr/>
                    <a:lstStyle/>
                    <a:p>
                      <a:pPr algn="l">
                        <a:buNone/>
                      </a:pPr>
                      <a:r>
                        <a:rPr lang="en-US" altLang="ja-JP" sz="2400">
                          <a:latin typeface="Arial" panose="020B0604020202020204" pitchFamily="34" charset="0"/>
                        </a:rPr>
                        <a:t>40 µrad</a:t>
                      </a:r>
                      <a:endParaRPr lang="en-US" altLang="ja-JP" sz="2400" dirty="0">
                        <a:latin typeface="Arial" panose="020B0604020202020204" pitchFamily="34" charset="0"/>
                      </a:endParaRPr>
                    </a:p>
                  </a:txBody>
                  <a:tcPr anchor="ctr">
                    <a:solidFill>
                      <a:srgbClr val="EBF6FB"/>
                    </a:solidFill>
                  </a:tcPr>
                </a:tc>
                <a:extLst>
                  <a:ext uri="{0D108BD9-81ED-4DB2-BD59-A6C34878D82A}">
                    <a16:rowId xmlns:a16="http://schemas.microsoft.com/office/drawing/2014/main" val="10002"/>
                  </a:ext>
                </a:extLst>
              </a:tr>
              <a:tr h="901337">
                <a:tc>
                  <a:txBody>
                    <a:bodyPr/>
                    <a:lstStyle/>
                    <a:p>
                      <a:pPr algn="l">
                        <a:buNone/>
                      </a:pPr>
                      <a:r>
                        <a:rPr lang="ja-JP" sz="2400" dirty="0">
                          <a:latin typeface="Arial" panose="020B0604020202020204" pitchFamily="34" charset="0"/>
                        </a:rPr>
                        <a:t>検出半径</a:t>
                      </a:r>
                    </a:p>
                  </a:txBody>
                  <a:tcPr anchor="ctr">
                    <a:solidFill>
                      <a:srgbClr val="FFFFFF"/>
                    </a:solidFill>
                  </a:tcPr>
                </a:tc>
                <a:tc>
                  <a:txBody>
                    <a:bodyPr/>
                    <a:lstStyle/>
                    <a:p>
                      <a:pPr algn="l">
                        <a:buNone/>
                      </a:pPr>
                      <a:r>
                        <a:rPr lang="en-US" altLang="ja-JP" sz="2400">
                          <a:latin typeface="Arial" panose="020B0604020202020204" pitchFamily="34" charset="0"/>
                        </a:rPr>
                        <a:t>25 µrad</a:t>
                      </a:r>
                      <a:endParaRPr lang="en-US" altLang="ja-JP" sz="2400" dirty="0">
                        <a:latin typeface="Arial" panose="020B0604020202020204" pitchFamily="34" charset="0"/>
                      </a:endParaRPr>
                    </a:p>
                  </a:txBody>
                  <a:tcPr anchor="ctr">
                    <a:solidFill>
                      <a:srgbClr val="EBF6FB"/>
                    </a:solidFill>
                  </a:tcPr>
                </a:tc>
                <a:extLst>
                  <a:ext uri="{0D108BD9-81ED-4DB2-BD59-A6C34878D82A}">
                    <a16:rowId xmlns:a16="http://schemas.microsoft.com/office/drawing/2014/main" val="10003"/>
                  </a:ext>
                </a:extLst>
              </a:tr>
              <a:tr h="901337">
                <a:tc>
                  <a:txBody>
                    <a:bodyPr/>
                    <a:lstStyle/>
                    <a:p>
                      <a:pPr algn="l">
                        <a:buNone/>
                      </a:pPr>
                      <a:r>
                        <a:rPr lang="ja-JP" sz="2400" dirty="0">
                          <a:latin typeface="Arial" panose="020B0604020202020204" pitchFamily="34" charset="0"/>
                        </a:rPr>
                        <a:t>滞在時間</a:t>
                      </a:r>
                    </a:p>
                  </a:txBody>
                  <a:tcPr anchor="ctr">
                    <a:solidFill>
                      <a:srgbClr val="F4F6F8"/>
                    </a:solidFill>
                  </a:tcPr>
                </a:tc>
                <a:tc>
                  <a:txBody>
                    <a:bodyPr/>
                    <a:lstStyle/>
                    <a:p>
                      <a:pPr algn="l">
                        <a:buNone/>
                      </a:pPr>
                      <a:r>
                        <a:rPr lang="ja-JP" sz="2400" dirty="0">
                          <a:latin typeface="Arial" panose="020B0604020202020204" pitchFamily="34" charset="0"/>
                        </a:rPr>
                        <a:t>0.1 s / 点</a:t>
                      </a:r>
                    </a:p>
                  </a:txBody>
                  <a:tcPr anchor="ctr">
                    <a:solidFill>
                      <a:srgbClr val="EBF6FB"/>
                    </a:solidFill>
                  </a:tcPr>
                </a:tc>
                <a:extLst>
                  <a:ext uri="{0D108BD9-81ED-4DB2-BD59-A6C34878D82A}">
                    <a16:rowId xmlns:a16="http://schemas.microsoft.com/office/drawing/2014/main" val="10004"/>
                  </a:ext>
                </a:extLst>
              </a:tr>
              <a:tr h="901337">
                <a:tc>
                  <a:txBody>
                    <a:bodyPr/>
                    <a:lstStyle/>
                    <a:p>
                      <a:pPr algn="l">
                        <a:buNone/>
                      </a:pPr>
                      <a:r>
                        <a:rPr lang="ja-JP" sz="2400">
                          <a:latin typeface="Arial" panose="020B0604020202020204" pitchFamily="34" charset="0"/>
                        </a:rPr>
                        <a:t>総走査点数</a:t>
                      </a:r>
                    </a:p>
                  </a:txBody>
                  <a:tcPr anchor="ctr">
                    <a:solidFill>
                      <a:srgbClr val="FFFFFF"/>
                    </a:solidFill>
                  </a:tcPr>
                </a:tc>
                <a:tc>
                  <a:txBody>
                    <a:bodyPr/>
                    <a:lstStyle/>
                    <a:p>
                      <a:pPr algn="l">
                        <a:buNone/>
                      </a:pPr>
                      <a:r>
                        <a:rPr lang="ja-JP" sz="2400" dirty="0">
                          <a:latin typeface="Arial" panose="020B0604020202020204" pitchFamily="34" charset="0"/>
                        </a:rPr>
                        <a:t>6561点</a:t>
                      </a:r>
                    </a:p>
                  </a:txBody>
                  <a:tcPr anchor="ctr">
                    <a:solidFill>
                      <a:srgbClr val="EBF6FB"/>
                    </a:solidFill>
                  </a:tcPr>
                </a:tc>
                <a:extLst>
                  <a:ext uri="{0D108BD9-81ED-4DB2-BD59-A6C34878D82A}">
                    <a16:rowId xmlns:a16="http://schemas.microsoft.com/office/drawing/2014/main" val="10005"/>
                  </a:ext>
                </a:extLst>
              </a:tr>
              <a:tr h="901338">
                <a:tc>
                  <a:txBody>
                    <a:bodyPr/>
                    <a:lstStyle/>
                    <a:p>
                      <a:pPr algn="l">
                        <a:buNone/>
                      </a:pPr>
                      <a:r>
                        <a:rPr lang="ja-JP" sz="2400">
                          <a:latin typeface="Arial" panose="020B0604020202020204" pitchFamily="34" charset="0"/>
                        </a:rPr>
                        <a:t>最大走査時間</a:t>
                      </a:r>
                    </a:p>
                  </a:txBody>
                  <a:tcPr anchor="ctr">
                    <a:solidFill>
                      <a:srgbClr val="F4F6F8"/>
                    </a:solidFill>
                  </a:tcPr>
                </a:tc>
                <a:tc>
                  <a:txBody>
                    <a:bodyPr/>
                    <a:lstStyle/>
                    <a:p>
                      <a:pPr algn="l">
                        <a:buNone/>
                      </a:pPr>
                      <a:r>
                        <a:rPr lang="en-US" altLang="ja-JP" sz="2400">
                          <a:latin typeface="Arial" panose="020B0604020202020204" pitchFamily="34" charset="0"/>
                        </a:rPr>
                        <a:t>656.1 s</a:t>
                      </a:r>
                      <a:endParaRPr lang="en-US" altLang="ja-JP" sz="2400" dirty="0">
                        <a:latin typeface="Arial" panose="020B0604020202020204" pitchFamily="34" charset="0"/>
                      </a:endParaRPr>
                    </a:p>
                  </a:txBody>
                  <a:tcPr anchor="ctr">
                    <a:solidFill>
                      <a:srgbClr val="EBF6FB"/>
                    </a:solidFill>
                  </a:tcPr>
                </a:tc>
                <a:extLst>
                  <a:ext uri="{0D108BD9-81ED-4DB2-BD59-A6C34878D82A}">
                    <a16:rowId xmlns:a16="http://schemas.microsoft.com/office/drawing/2014/main" val="10006"/>
                  </a:ext>
                </a:extLst>
              </a:tr>
            </a:tbl>
          </a:graphicData>
        </a:graphic>
      </p:graphicFrame>
      <p:sp>
        <p:nvSpPr>
          <p:cNvPr id="29" name="Rounded Rectangle 28"/>
          <p:cNvSpPr/>
          <p:nvPr/>
        </p:nvSpPr>
        <p:spPr>
          <a:xfrm>
            <a:off x="12256522" y="10179232"/>
            <a:ext cx="9253796" cy="182880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10930" y="10711372"/>
            <a:ext cx="8999388" cy="794064"/>
          </a:xfrm>
          <a:prstGeom prst="rect">
            <a:avLst/>
          </a:prstGeom>
          <a:noFill/>
        </p:spPr>
        <p:txBody>
          <a:bodyPr wrap="none" lIns="36576" tIns="27432" rIns="36576" bIns="27432" anchor="t">
            <a:spAutoFit/>
          </a:bodyPr>
          <a:lstStyle/>
          <a:p>
            <a:pPr algn="ctr"/>
            <a:r>
              <a:rPr lang="ja-JP" altLang="ja-JP" sz="2400" b="1" dirty="0">
                <a:solidFill>
                  <a:schemeClr val="accent2"/>
                </a:solidFill>
                <a:latin typeface="Arial" panose="020B0604020202020204" pitchFamily="34" charset="0"/>
              </a:rPr>
              <a:t>簡略化：点間移動・整定時間・受光強度の確率変動は</a:t>
            </a:r>
            <a:r>
              <a:rPr lang="ja-JP" altLang="ja-JP" sz="2400" b="1">
                <a:solidFill>
                  <a:schemeClr val="accent2"/>
                </a:solidFill>
                <a:latin typeface="Arial" panose="020B0604020202020204" pitchFamily="34" charset="0"/>
              </a:rPr>
              <a:t>考慮しない</a:t>
            </a:r>
            <a:br>
              <a:rPr lang="en-US" altLang="ja-JP" sz="2400">
                <a:solidFill>
                  <a:schemeClr val="accent2"/>
                </a:solidFill>
                <a:latin typeface="Arial" panose="020B0604020202020204" pitchFamily="34" charset="0"/>
              </a:rPr>
            </a:br>
            <a:r>
              <a:rPr lang="ja-JP" altLang="ja-JP" sz="2400" b="1">
                <a:solidFill>
                  <a:schemeClr val="accent2"/>
                </a:solidFill>
                <a:latin typeface="Arial" panose="020B0604020202020204" pitchFamily="34" charset="0"/>
              </a:rPr>
              <a:t>各走査点</a:t>
            </a:r>
            <a:r>
              <a:rPr lang="ja-JP" altLang="ja-JP" sz="2400" b="1" dirty="0">
                <a:solidFill>
                  <a:schemeClr val="accent2"/>
                </a:solidFill>
                <a:latin typeface="Arial" panose="020B0604020202020204" pitchFamily="34" charset="0"/>
              </a:rPr>
              <a:t>を独立な捕捉機会として評価する</a:t>
            </a:r>
            <a:endParaRPr sz="2400" b="1" dirty="0">
              <a:solidFill>
                <a:schemeClr val="accent2"/>
              </a:solidFill>
              <a:latin typeface="Arial" panose="020B0604020202020204" pitchFamily="34" charset="0"/>
            </a:endParaRPr>
          </a:p>
        </p:txBody>
      </p:sp>
      <p:sp>
        <p:nvSpPr>
          <p:cNvPr id="32" name="テキスト ボックス 31">
            <a:extLst>
              <a:ext uri="{FF2B5EF4-FFF2-40B4-BE49-F238E27FC236}">
                <a16:creationId xmlns:a16="http://schemas.microsoft.com/office/drawing/2014/main" id="{37EE8180-2C54-474D-D777-0D6C6E0E04A0}"/>
              </a:ext>
            </a:extLst>
          </p:cNvPr>
          <p:cNvSpPr txBox="1"/>
          <p:nvPr/>
        </p:nvSpPr>
        <p:spPr>
          <a:xfrm>
            <a:off x="1779568" y="11264499"/>
            <a:ext cx="8437790" cy="954107"/>
          </a:xfrm>
          <a:prstGeom prst="rect">
            <a:avLst/>
          </a:prstGeom>
          <a:noFill/>
        </p:spPr>
        <p:txBody>
          <a:bodyPr wrap="square">
            <a:spAutoFit/>
          </a:bodyPr>
          <a:lstStyle/>
          <a:p>
            <a:r>
              <a:rPr lang="ja-JP" altLang="ja-JP" sz="2800" b="1" dirty="0">
                <a:latin typeface="Arial" panose="020B0604020202020204" pitchFamily="34" charset="0"/>
              </a:rPr>
              <a:t>真の指向誤差が検出半径内に入った最初の走査点を捕捉時刻とする</a:t>
            </a:r>
            <a:endParaRPr lang="ja-JP" altLang="en-US" sz="2800" b="1" dirty="0">
              <a:latin typeface="Arial" panose="020B0604020202020204" pitchFamily="34" charset="0"/>
            </a:endParaRPr>
          </a:p>
        </p:txBody>
      </p:sp>
      <p:sp>
        <p:nvSpPr>
          <p:cNvPr id="34" name="テキスト ボックス 33">
            <a:extLst>
              <a:ext uri="{FF2B5EF4-FFF2-40B4-BE49-F238E27FC236}">
                <a16:creationId xmlns:a16="http://schemas.microsoft.com/office/drawing/2014/main" id="{E3A91E62-EA26-8151-3428-B86760823F25}"/>
              </a:ext>
            </a:extLst>
          </p:cNvPr>
          <p:cNvSpPr txBox="1"/>
          <p:nvPr/>
        </p:nvSpPr>
        <p:spPr>
          <a:xfrm>
            <a:off x="12461016" y="9105638"/>
            <a:ext cx="5255484" cy="369332"/>
          </a:xfrm>
          <a:prstGeom prst="rect">
            <a:avLst/>
          </a:prstGeom>
          <a:noFill/>
        </p:spPr>
        <p:txBody>
          <a:bodyPr wrap="square">
            <a:spAutoFit/>
          </a:bodyPr>
          <a:lstStyle/>
          <a:p>
            <a:r>
              <a:rPr lang="en-US" altLang="ja-JP" dirty="0">
                <a:latin typeface="Arial" panose="020B0604020202020204" pitchFamily="34" charset="0"/>
              </a:rPr>
              <a:t>※</a:t>
            </a:r>
            <a:r>
              <a:rPr lang="ja-JP" altLang="en-US" dirty="0">
                <a:latin typeface="Arial" panose="020B0604020202020204" pitchFamily="34" charset="0"/>
              </a:rPr>
              <a:t>妥当な</a:t>
            </a:r>
            <a:r>
              <a:rPr lang="ja-JP" altLang="ja-JP" dirty="0">
                <a:latin typeface="Arial" panose="020B0604020202020204" pitchFamily="34" charset="0"/>
              </a:rPr>
              <a:t>検出半径またはstep</a:t>
            </a:r>
            <a:r>
              <a:rPr lang="ja-JP" altLang="en-US" dirty="0">
                <a:latin typeface="Arial" panose="020B0604020202020204" pitchFamily="34" charset="0"/>
              </a:rPr>
              <a:t>は</a:t>
            </a:r>
            <a:r>
              <a:rPr lang="ja-JP" altLang="ja-JP" dirty="0">
                <a:latin typeface="Arial" panose="020B0604020202020204" pitchFamily="34" charset="0"/>
              </a:rPr>
              <a:t>後で再検討する</a:t>
            </a:r>
            <a:endParaRPr lang="ja-JP" altLang="en-US" dirty="0">
              <a:latin typeface="Arial" panose="020B0604020202020204" pitchFamily="34" charset="0"/>
            </a:endParaRPr>
          </a:p>
        </p:txBody>
      </p:sp>
      <p:pic>
        <p:nvPicPr>
          <p:cNvPr id="33" name="図 32">
            <a:extLst>
              <a:ext uri="{FF2B5EF4-FFF2-40B4-BE49-F238E27FC236}">
                <a16:creationId xmlns:a16="http://schemas.microsoft.com/office/drawing/2014/main" id="{7F87C8AD-757E-FFE0-B245-95A29790F9FC}"/>
              </a:ext>
            </a:extLst>
          </p:cNvPr>
          <p:cNvPicPr>
            <a:picLocks noChangeAspect="1"/>
          </p:cNvPicPr>
          <p:nvPr/>
        </p:nvPicPr>
        <p:blipFill>
          <a:blip r:embed="rId3"/>
          <a:stretch>
            <a:fillRect/>
          </a:stretch>
        </p:blipFill>
        <p:spPr>
          <a:xfrm>
            <a:off x="1075418" y="3235223"/>
            <a:ext cx="8437790" cy="76098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2422266" cy="363176"/>
          </a:xfrm>
          <a:prstGeom prst="rect">
            <a:avLst/>
          </a:prstGeom>
          <a:noFill/>
        </p:spPr>
        <p:txBody>
          <a:bodyPr wrap="none" lIns="36576" tIns="27432" rIns="36576" bIns="27432" anchor="t">
            <a:spAutoFit/>
          </a:bodyPr>
          <a:lstStyle/>
          <a:p>
            <a:pPr algn="l"/>
            <a:r>
              <a:rPr lang="en-US" sz="2000" b="0">
                <a:solidFill>
                  <a:srgbClr val="666F79"/>
                </a:solidFill>
                <a:latin typeface="Arial" panose="020B0604020202020204" pitchFamily="34" charset="0"/>
              </a:rPr>
              <a:t>Orbit prediction error</a:t>
            </a:r>
            <a:endParaRPr lang="en-US" sz="2000" b="0" dirty="0">
              <a:solidFill>
                <a:srgbClr val="666F79"/>
              </a:solidFill>
              <a:latin typeface="Arial" panose="020B0604020202020204" pitchFamily="34" charset="0"/>
            </a:endParaRPr>
          </a:p>
        </p:txBody>
      </p:sp>
      <p:sp>
        <p:nvSpPr>
          <p:cNvPr id="3" name="TextBox 2"/>
          <p:cNvSpPr txBox="1"/>
          <p:nvPr/>
        </p:nvSpPr>
        <p:spPr>
          <a:xfrm>
            <a:off x="1536192" y="1298448"/>
            <a:ext cx="18962050" cy="1040285"/>
          </a:xfrm>
          <a:prstGeom prst="rect">
            <a:avLst/>
          </a:prstGeom>
          <a:noFill/>
        </p:spPr>
        <p:txBody>
          <a:bodyPr wrap="none" lIns="36576" tIns="27432" rIns="36576" bIns="27432" anchor="t">
            <a:spAutoFit/>
          </a:bodyPr>
          <a:lstStyle/>
          <a:p>
            <a:pPr algn="l"/>
            <a:endParaRPr lang="en-US" sz="3200" b="1" dirty="0">
              <a:solidFill>
                <a:srgbClr val="082B52"/>
              </a:solidFill>
              <a:latin typeface="Arial" panose="020B0604020202020204" pitchFamily="34" charset="0"/>
            </a:endParaRPr>
          </a:p>
          <a:p>
            <a:pPr algn="l"/>
            <a:r>
              <a:rPr lang="ja-JP" altLang="en-US" sz="3200" b="1" dirty="0">
                <a:solidFill>
                  <a:srgbClr val="082B52"/>
                </a:solidFill>
                <a:latin typeface="Arial" panose="020B0604020202020204" pitchFamily="34" charset="0"/>
              </a:rPr>
              <a:t>軌道予測誤差：自身の</a:t>
            </a:r>
            <a:r>
              <a:rPr sz="3200" b="1" dirty="0" err="1">
                <a:solidFill>
                  <a:srgbClr val="082B52"/>
                </a:solidFill>
                <a:latin typeface="Arial" panose="020B0604020202020204" pitchFamily="34" charset="0"/>
              </a:rPr>
              <a:t>位置誤差をリンクLOS横断面へ投影し</a:t>
            </a:r>
            <a:r>
              <a:rPr sz="3200" b="1" dirty="0">
                <a:solidFill>
                  <a:srgbClr val="082B52"/>
                </a:solidFill>
                <a:latin typeface="Arial" panose="020B0604020202020204" pitchFamily="34" charset="0"/>
              </a:rPr>
              <a:t>、</a:t>
            </a:r>
            <a:r>
              <a:rPr lang="ja-JP" altLang="en-US" sz="3200" b="1" dirty="0">
                <a:solidFill>
                  <a:srgbClr val="082B52"/>
                </a:solidFill>
                <a:latin typeface="Arial" panose="020B0604020202020204" pitchFamily="34" charset="0"/>
              </a:rPr>
              <a:t>衛星の座標系 </a:t>
            </a:r>
            <a:r>
              <a:rPr sz="3200" b="1" dirty="0">
                <a:solidFill>
                  <a:srgbClr val="082B52"/>
                </a:solidFill>
                <a:latin typeface="Arial" panose="020B0604020202020204" pitchFamily="34" charset="0"/>
              </a:rPr>
              <a:t>STT/body x–</a:t>
            </a:r>
            <a:r>
              <a:rPr sz="3200" b="1" dirty="0" err="1">
                <a:solidFill>
                  <a:srgbClr val="082B52"/>
                </a:solidFill>
                <a:latin typeface="Arial" panose="020B0604020202020204" pitchFamily="34" charset="0"/>
              </a:rPr>
              <a:t>yへ変換する</a:t>
            </a:r>
            <a:endParaRPr sz="3200" b="1" dirty="0">
              <a:solidFill>
                <a:srgbClr val="082B52"/>
              </a:solidFill>
              <a:latin typeface="Arial" panose="020B0604020202020204" pitchFamily="34" charset="0"/>
            </a:endParaRPr>
          </a:p>
        </p:txBody>
      </p:sp>
      <p:sp>
        <p:nvSpPr>
          <p:cNvPr id="4" name="TextBox 3"/>
          <p:cNvSpPr txBox="1"/>
          <p:nvPr/>
        </p:nvSpPr>
        <p:spPr>
          <a:xfrm>
            <a:off x="23700469" y="12819888"/>
            <a:ext cx="73931" cy="332399"/>
          </a:xfrm>
          <a:prstGeom prst="rect">
            <a:avLst/>
          </a:prstGeom>
          <a:noFill/>
        </p:spPr>
        <p:txBody>
          <a:bodyPr wrap="none" lIns="36576" tIns="27432" rIns="36576" bIns="27432" anchor="t">
            <a:spAutoFit/>
          </a:bodyPr>
          <a:lstStyle/>
          <a:p>
            <a:pPr algn="r"/>
            <a:endParaRPr sz="1800" b="0" dirty="0">
              <a:solidFill>
                <a:srgbClr val="666F79"/>
              </a:solidFill>
              <a:latin typeface="Arial" panose="020B0604020202020204" pitchFamily="34" charset="0"/>
            </a:endParaRPr>
          </a:p>
        </p:txBody>
      </p:sp>
      <p:sp>
        <p:nvSpPr>
          <p:cNvPr id="5" name="Rounded Rectangle 4"/>
          <p:cNvSpPr/>
          <p:nvPr/>
        </p:nvSpPr>
        <p:spPr>
          <a:xfrm>
            <a:off x="1097280" y="2834640"/>
            <a:ext cx="9692640" cy="75895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3859119" y="3931920"/>
                <a:ext cx="4168962" cy="573427"/>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000" b="1" i="1" dirty="0" smtClean="0">
                          <a:solidFill>
                            <a:srgbClr val="082B52"/>
                          </a:solidFill>
                          <a:latin typeface="Cambria Math" panose="02040503050406030204" pitchFamily="18" charset="0"/>
                        </a:rPr>
                        <m:t>𝜹</m:t>
                      </m:r>
                      <m:r>
                        <a:rPr lang="ja-JP" altLang="en-US" sz="3000" b="1" i="1" dirty="0" smtClean="0">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m:t>
                      </m:r>
                      <m:r>
                        <a:rPr lang="en-US" altLang="ja-JP" sz="3000" b="1" i="1" dirty="0">
                          <a:solidFill>
                            <a:srgbClr val="082B52"/>
                          </a:solidFill>
                          <a:latin typeface="Cambria Math" panose="02040503050406030204" pitchFamily="18" charset="0"/>
                        </a:rPr>
                        <m:t>= </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 </m:t>
                      </m:r>
                      <m:r>
                        <a:rPr lang="en-US" altLang="ja-JP" sz="3000" b="1" i="1" dirty="0">
                          <a:solidFill>
                            <a:srgbClr val="082B52"/>
                          </a:solidFill>
                          <a:latin typeface="Cambria Math" panose="02040503050406030204" pitchFamily="18" charset="0"/>
                        </a:rPr>
                        <m:t>(</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en-US" altLang="ja-JP" sz="3000" b="1" i="1" dirty="0">
                          <a:solidFill>
                            <a:srgbClr val="082B52"/>
                          </a:solidFill>
                          <a:latin typeface="Cambria Math" panose="02040503050406030204" pitchFamily="18" charset="0"/>
                        </a:rPr>
                        <m:t>·</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9119" y="3931920"/>
                <a:ext cx="4168962" cy="57342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450243" y="5303520"/>
                <a:ext cx="2986715" cy="1040285"/>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1" dirty="0" smtClean="0">
                          <a:solidFill>
                            <a:srgbClr val="1B74AA"/>
                          </a:solidFill>
                          <a:latin typeface="Cambria Math" panose="02040503050406030204" pitchFamily="18" charset="0"/>
                        </a:rPr>
                        <m:t>𝜽</m:t>
                      </m:r>
                      <m:r>
                        <a:rPr lang="ja-JP" altLang="en-US" sz="3200" b="1" i="1" dirty="0" smtClean="0">
                          <a:solidFill>
                            <a:srgbClr val="1B74AA"/>
                          </a:solidFill>
                          <a:latin typeface="Cambria Math" panose="02040503050406030204" pitchFamily="18" charset="0"/>
                        </a:rPr>
                        <m:t> ≈ </m:t>
                      </m:r>
                      <m:r>
                        <a:rPr lang="ja-JP" altLang="en-US" sz="3200" b="1" i="1" dirty="0" err="1">
                          <a:solidFill>
                            <a:srgbClr val="1B74AA"/>
                          </a:solidFill>
                          <a:latin typeface="Cambria Math" panose="02040503050406030204" pitchFamily="18" charset="0"/>
                        </a:rPr>
                        <m:t>𝜹</m:t>
                      </m:r>
                      <m:r>
                        <a:rPr lang="ja-JP" altLang="en-US" sz="3200" b="1" i="1" dirty="0" err="1">
                          <a:solidFill>
                            <a:srgbClr val="1B74AA"/>
                          </a:solidFill>
                          <a:latin typeface="Cambria Math" panose="02040503050406030204" pitchFamily="18" charset="0"/>
                        </a:rPr>
                        <m:t>𝒓</m:t>
                      </m:r>
                      <m:r>
                        <a:rPr lang="ja-JP" altLang="en-US" sz="3200" b="1" i="1" dirty="0">
                          <a:solidFill>
                            <a:srgbClr val="1B74AA"/>
                          </a:solidFill>
                          <a:latin typeface="Cambria Math" panose="02040503050406030204" pitchFamily="18" charset="0"/>
                        </a:rPr>
                        <m:t>⊥</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𝑹</m:t>
                          </m:r>
                        </m:e>
                        <m:sub>
                          <m:r>
                            <a:rPr lang="ja-JP" altLang="en-US" sz="3200" b="1" i="1" dirty="0" err="1">
                              <a:solidFill>
                                <a:srgbClr val="1B74AA"/>
                              </a:solidFill>
                              <a:latin typeface="Cambria Math" panose="02040503050406030204" pitchFamily="18" charset="0"/>
                            </a:rPr>
                            <m:t>𝒍𝒊𝒏𝒌</m:t>
                          </m:r>
                        </m:sub>
                      </m:sSub>
                    </m:oMath>
                  </m:oMathPara>
                </a14:m>
                <a:endParaRPr lang="en-US" altLang="ja-JP" sz="3200" b="1" i="1" dirty="0">
                  <a:solidFill>
                    <a:srgbClr val="1B74AA"/>
                  </a:solidFill>
                  <a:latin typeface="Cambria Math" panose="02040503050406030204" pitchFamily="18" charset="0"/>
                </a:endParaRPr>
              </a:p>
              <a:p>
                <a:pPr algn="ctr"/>
                <a:endParaRPr lang="en-US" altLang="ja-JP" sz="3200" b="1" i="1" dirty="0">
                  <a:solidFill>
                    <a:srgbClr val="1B74AA"/>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450243" y="5303520"/>
                <a:ext cx="2986715" cy="1040285"/>
              </a:xfrm>
              <a:prstGeom prst="rect">
                <a:avLst/>
              </a:prstGeom>
              <a:blipFill>
                <a:blip r:embed="rId4"/>
                <a:stretch>
                  <a:fillRect/>
                </a:stretch>
              </a:blipFill>
            </p:spPr>
            <p:txBody>
              <a:bodyPr/>
              <a:lstStyle/>
              <a:p>
                <a:r>
                  <a:rPr lang="ja-JP" altLang="en-US">
                    <a:noFill/>
                  </a:rPr>
                  <a:t> </a:t>
                </a:r>
              </a:p>
            </p:txBody>
          </p:sp>
        </mc:Fallback>
      </mc:AlternateContent>
      <p:sp>
        <p:nvSpPr>
          <p:cNvPr id="8" name="TextBox 7"/>
          <p:cNvSpPr txBox="1"/>
          <p:nvPr/>
        </p:nvSpPr>
        <p:spPr>
          <a:xfrm>
            <a:off x="1737360" y="6766560"/>
            <a:ext cx="8412480" cy="1405513"/>
          </a:xfrm>
          <a:prstGeom prst="rect">
            <a:avLst/>
          </a:prstGeom>
          <a:noFill/>
        </p:spPr>
        <p:txBody>
          <a:bodyPr wrap="square" lIns="27432" rIns="27432">
            <a:spAutoFit/>
          </a:bodyPr>
          <a:lstStyle/>
          <a:p>
            <a:pPr>
              <a:spcAft>
                <a:spcPts val="800"/>
              </a:spcAft>
            </a:pPr>
            <a:r>
              <a:rPr lang="en-US" sz="2400" b="1">
                <a:solidFill>
                  <a:srgbClr val="1B74AA"/>
                </a:solidFill>
                <a:latin typeface="Arial" panose="020B0604020202020204" pitchFamily="34" charset="0"/>
              </a:rPr>
              <a:t>• </a:t>
            </a:r>
            <a:r>
              <a:rPr sz="2400">
                <a:solidFill>
                  <a:srgbClr val="232B34"/>
                </a:solidFill>
                <a:latin typeface="Arial" panose="020B0604020202020204" pitchFamily="34" charset="0"/>
              </a:rPr>
              <a:t>orbit </a:t>
            </a:r>
            <a:r>
              <a:rPr sz="2400" dirty="0" err="1">
                <a:solidFill>
                  <a:srgbClr val="232B34"/>
                </a:solidFill>
                <a:latin typeface="Arial" panose="020B0604020202020204" pitchFamily="34" charset="0"/>
              </a:rPr>
              <a:t>catalogから姿勢を構成</a:t>
            </a:r>
            <a:endParaRPr sz="2400" dirty="0">
              <a:solidFill>
                <a:srgbClr val="232B34"/>
              </a:solidFill>
              <a:latin typeface="Arial" panose="020B0604020202020204" pitchFamily="34" charset="0"/>
            </a:endParaRPr>
          </a:p>
          <a:p>
            <a:pPr>
              <a:spcAft>
                <a:spcPts val="800"/>
              </a:spcAft>
            </a:pPr>
            <a:r>
              <a:rPr lang="en-US" sz="2400" b="1">
                <a:solidFill>
                  <a:srgbClr val="1B74AA"/>
                </a:solidFill>
                <a:latin typeface="Arial" panose="020B0604020202020204" pitchFamily="34" charset="0"/>
              </a:rPr>
              <a:t>• </a:t>
            </a:r>
            <a:r>
              <a:rPr sz="2400">
                <a:solidFill>
                  <a:srgbClr val="232B34"/>
                </a:solidFill>
                <a:latin typeface="Arial" panose="020B0604020202020204" pitchFamily="34" charset="0"/>
              </a:rPr>
              <a:t>STT</a:t>
            </a:r>
            <a:r>
              <a:rPr sz="2400" dirty="0">
                <a:solidFill>
                  <a:srgbClr val="232B34"/>
                </a:solidFill>
                <a:latin typeface="Arial" panose="020B0604020202020204" pitchFamily="34" charset="0"/>
              </a:rPr>
              <a:t>/body x–</a:t>
            </a:r>
            <a:r>
              <a:rPr sz="2400" dirty="0" err="1">
                <a:solidFill>
                  <a:srgbClr val="232B34"/>
                </a:solidFill>
                <a:latin typeface="Arial" panose="020B0604020202020204" pitchFamily="34" charset="0"/>
              </a:rPr>
              <a:t>yへ射影</a:t>
            </a:r>
            <a:endParaRPr sz="2400" dirty="0">
              <a:solidFill>
                <a:srgbClr val="232B34"/>
              </a:solidFill>
              <a:latin typeface="Arial" panose="020B0604020202020204" pitchFamily="34" charset="0"/>
            </a:endParaRPr>
          </a:p>
          <a:p>
            <a:pPr>
              <a:spcAft>
                <a:spcPts val="800"/>
              </a:spcAft>
            </a:pPr>
            <a:r>
              <a:rPr lang="en-US" sz="2400" b="1">
                <a:solidFill>
                  <a:srgbClr val="1B74AA"/>
                </a:solidFill>
                <a:latin typeface="Arial" panose="020B0604020202020204" pitchFamily="34" charset="0"/>
              </a:rPr>
              <a:t>• </a:t>
            </a:r>
            <a:r>
              <a:rPr sz="2400">
                <a:solidFill>
                  <a:srgbClr val="232B34"/>
                </a:solidFill>
                <a:latin typeface="Arial" panose="020B0604020202020204" pitchFamily="34" charset="0"/>
              </a:rPr>
              <a:t>熱</a:t>
            </a:r>
            <a:r>
              <a:rPr sz="2400" dirty="0">
                <a:solidFill>
                  <a:srgbClr val="232B34"/>
                </a:solidFill>
                <a:latin typeface="Arial" panose="020B0604020202020204" pitchFamily="34" charset="0"/>
              </a:rPr>
              <a:t>LOSと同じ2成分で加算</a:t>
            </a:r>
          </a:p>
        </p:txBody>
      </p:sp>
      <p:graphicFrame>
        <p:nvGraphicFramePr>
          <p:cNvPr id="9" name="Table 8"/>
          <p:cNvGraphicFramePr>
            <a:graphicFrameLocks noGrp="1"/>
          </p:cNvGraphicFramePr>
          <p:nvPr>
            <p:extLst>
              <p:ext uri="{D42A27DB-BD31-4B8C-83A1-F6EECF244321}">
                <p14:modId xmlns:p14="http://schemas.microsoft.com/office/powerpoint/2010/main" val="1704364385"/>
              </p:ext>
            </p:extLst>
          </p:nvPr>
        </p:nvGraphicFramePr>
        <p:xfrm>
          <a:off x="11430000" y="2834640"/>
          <a:ext cx="11704320" cy="6309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1261872">
                <a:tc>
                  <a:txBody>
                    <a:bodyPr/>
                    <a:lstStyle/>
                    <a:p>
                      <a:pPr algn="l"/>
                      <a:r>
                        <a:rPr lang="en-US" sz="2100" b="1">
                          <a:solidFill>
                            <a:srgbClr val="FFFFFF"/>
                          </a:solidFill>
                          <a:latin typeface="Arial" panose="020B0604020202020204" pitchFamily="34" charset="0"/>
                        </a:rPr>
                        <a:t>Sun</a:t>
                      </a:r>
                      <a:endParaRPr lang="en-US" sz="2100" b="1" dirty="0">
                        <a:solidFill>
                          <a:srgbClr val="FFFFFF"/>
                        </a:solidFill>
                        <a:latin typeface="Arial" panose="020B0604020202020204" pitchFamily="34" charset="0"/>
                      </a:endParaRPr>
                    </a:p>
                  </a:txBody>
                  <a:tcPr marL="64008" marR="64008" marT="27432" marB="27432" anchor="ctr">
                    <a:solidFill>
                      <a:srgbClr val="082B52"/>
                    </a:solidFill>
                  </a:tcPr>
                </a:tc>
                <a:tc>
                  <a:txBody>
                    <a:bodyPr/>
                    <a:lstStyle/>
                    <a:p>
                      <a:pPr algn="ctr"/>
                      <a:r>
                        <a:rPr lang="en-US" sz="2100" b="1">
                          <a:solidFill>
                            <a:srgbClr val="FFFFFF"/>
                          </a:solidFill>
                          <a:latin typeface="Arial" panose="020B0604020202020204" pitchFamily="34" charset="0"/>
                        </a:rPr>
                        <a:t>Partner / link</a:t>
                      </a:r>
                      <a:endParaRPr lang="en-US" sz="2100" b="1" dirty="0">
                        <a:solidFill>
                          <a:srgbClr val="FFFFFF"/>
                        </a:solidFill>
                        <a:latin typeface="Arial" panose="020B0604020202020204" pitchFamily="34" charset="0"/>
                      </a:endParaRPr>
                    </a:p>
                  </a:txBody>
                  <a:tcPr marL="64008" marR="64008" marT="27432" marB="27432" anchor="ctr">
                    <a:solidFill>
                      <a:srgbClr val="082B52"/>
                    </a:solidFill>
                  </a:tcPr>
                </a:tc>
                <a:tc>
                  <a:txBody>
                    <a:bodyPr/>
                    <a:lstStyle/>
                    <a:p>
                      <a:pPr algn="ctr"/>
                      <a:r>
                        <a:rPr lang="en-US" sz="2100" b="1">
                          <a:solidFill>
                            <a:srgbClr val="FFFFFF"/>
                          </a:solidFill>
                          <a:latin typeface="Arial" panose="020B0604020202020204" pitchFamily="34" charset="0"/>
                        </a:rPr>
                        <a:t>Status</a:t>
                      </a:r>
                      <a:endParaRPr lang="en-US" sz="2100" b="1" dirty="0">
                        <a:solidFill>
                          <a:srgbClr val="FFFFFF"/>
                        </a:solidFill>
                        <a:latin typeface="Arial" panose="020B0604020202020204" pitchFamily="34" charset="0"/>
                      </a:endParaRPr>
                    </a:p>
                  </a:txBody>
                  <a:tcPr marL="64008" marR="64008" marT="27432" marB="27432" anchor="ctr">
                    <a:solidFill>
                      <a:srgbClr val="082B52"/>
                    </a:solidFill>
                  </a:tcPr>
                </a:tc>
                <a:extLst>
                  <a:ext uri="{0D108BD9-81ED-4DB2-BD59-A6C34878D82A}">
                    <a16:rowId xmlns:a16="http://schemas.microsoft.com/office/drawing/2014/main" val="10000"/>
                  </a:ext>
                </a:extLst>
              </a:tr>
              <a:tr h="1261872">
                <a:tc>
                  <a:txBody>
                    <a:bodyPr/>
                    <a:lstStyle/>
                    <a:p>
                      <a:pPr algn="l"/>
                      <a:r>
                        <a:rPr lang="en-US" sz="2100" b="0">
                          <a:solidFill>
                            <a:srgbClr val="232B34"/>
                          </a:solidFill>
                          <a:latin typeface="Arial" panose="020B0604020202020204" pitchFamily="34" charset="0"/>
                        </a:rPr>
                        <a:t>MY</a:t>
                      </a:r>
                      <a:endParaRPr lang="en-US" sz="2100" b="0" dirty="0">
                        <a:solidFill>
                          <a:srgbClr val="232B34"/>
                        </a:solidFill>
                        <a:latin typeface="Arial" panose="020B0604020202020204" pitchFamily="34" charset="0"/>
                      </a:endParaRPr>
                    </a:p>
                  </a:txBody>
                  <a:tcPr marL="64008" marR="64008" marT="27432" marB="27432" anchor="ctr">
                    <a:solidFill>
                      <a:srgbClr val="FFFFFF"/>
                    </a:solidFill>
                  </a:tcPr>
                </a:tc>
                <a:tc>
                  <a:txBody>
                    <a:bodyPr/>
                    <a:lstStyle/>
                    <a:p>
                      <a:pPr algn="ctr"/>
                      <a:r>
                        <a:rPr lang="en-US" sz="2100" b="0">
                          <a:solidFill>
                            <a:srgbClr val="232B34"/>
                          </a:solidFill>
                          <a:latin typeface="Arial" panose="020B0604020202020204" pitchFamily="34" charset="0"/>
                        </a:rPr>
                        <a:t>along-track ISL 800 km</a:t>
                      </a:r>
                      <a:endParaRPr lang="en-US" sz="2100" b="0" dirty="0">
                        <a:solidFill>
                          <a:srgbClr val="232B34"/>
                        </a:solidFill>
                        <a:latin typeface="Arial" panose="020B0604020202020204" pitchFamily="34" charset="0"/>
                      </a:endParaRPr>
                    </a:p>
                  </a:txBody>
                  <a:tcPr marL="64008" marR="64008" marT="27432" marB="27432" anchor="ctr">
                    <a:solidFill>
                      <a:srgbClr val="FFFFFF"/>
                    </a:solidFill>
                  </a:tcPr>
                </a:tc>
                <a:tc>
                  <a:txBody>
                    <a:bodyPr/>
                    <a:lstStyle/>
                    <a:p>
                      <a:pPr algn="ctr"/>
                      <a:r>
                        <a:rPr lang="en-US" sz="2100" b="0">
                          <a:solidFill>
                            <a:srgbClr val="232B34"/>
                          </a:solidFill>
                          <a:latin typeface="Arial" panose="020B0604020202020204" pitchFamily="34" charset="0"/>
                        </a:rPr>
                        <a:t>ready</a:t>
                      </a:r>
                      <a:endParaRPr lang="en-US" sz="21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10001"/>
                  </a:ext>
                </a:extLst>
              </a:tr>
              <a:tr h="1261872">
                <a:tc>
                  <a:txBody>
                    <a:bodyPr/>
                    <a:lstStyle/>
                    <a:p>
                      <a:pPr algn="l"/>
                      <a:r>
                        <a:rPr lang="en-US" sz="2100" b="0">
                          <a:solidFill>
                            <a:srgbClr val="232B34"/>
                          </a:solidFill>
                          <a:latin typeface="Arial" panose="020B0604020202020204" pitchFamily="34" charset="0"/>
                        </a:rPr>
                        <a:t>PY</a:t>
                      </a:r>
                      <a:endParaRPr lang="en-US" sz="2100" b="0" dirty="0">
                        <a:solidFill>
                          <a:srgbClr val="232B34"/>
                        </a:solidFill>
                        <a:latin typeface="Arial" panose="020B0604020202020204" pitchFamily="34" charset="0"/>
                      </a:endParaRPr>
                    </a:p>
                  </a:txBody>
                  <a:tcPr marL="64008" marR="64008" marT="27432" marB="27432" anchor="ctr">
                    <a:solidFill>
                      <a:srgbClr val="F4F6F8"/>
                    </a:solidFill>
                  </a:tcPr>
                </a:tc>
                <a:tc>
                  <a:txBody>
                    <a:bodyPr/>
                    <a:lstStyle/>
                    <a:p>
                      <a:pPr algn="ctr"/>
                      <a:r>
                        <a:rPr lang="en-US" sz="2100" b="0">
                          <a:solidFill>
                            <a:srgbClr val="232B34"/>
                          </a:solidFill>
                          <a:latin typeface="Arial" panose="020B0604020202020204" pitchFamily="34" charset="0"/>
                        </a:rPr>
                        <a:t>anti-along ISL 800 km</a:t>
                      </a:r>
                      <a:endParaRPr lang="en-US" sz="2100" b="0" dirty="0">
                        <a:solidFill>
                          <a:srgbClr val="232B34"/>
                        </a:solidFill>
                        <a:latin typeface="Arial" panose="020B0604020202020204" pitchFamily="34" charset="0"/>
                      </a:endParaRPr>
                    </a:p>
                  </a:txBody>
                  <a:tcPr marL="64008" marR="64008" marT="27432" marB="27432" anchor="ctr">
                    <a:solidFill>
                      <a:srgbClr val="F4F6F8"/>
                    </a:solidFill>
                  </a:tcPr>
                </a:tc>
                <a:tc>
                  <a:txBody>
                    <a:bodyPr/>
                    <a:lstStyle/>
                    <a:p>
                      <a:pPr algn="ctr"/>
                      <a:r>
                        <a:rPr lang="en-US" sz="2100" b="0">
                          <a:solidFill>
                            <a:srgbClr val="232B34"/>
                          </a:solidFill>
                          <a:latin typeface="Arial" panose="020B0604020202020204" pitchFamily="34" charset="0"/>
                        </a:rPr>
                        <a:t>ready</a:t>
                      </a:r>
                      <a:endParaRPr lang="en-US" sz="21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10002"/>
                  </a:ext>
                </a:extLst>
              </a:tr>
              <a:tr h="1261872">
                <a:tc>
                  <a:txBody>
                    <a:bodyPr/>
                    <a:lstStyle/>
                    <a:p>
                      <a:pPr algn="l"/>
                      <a:r>
                        <a:rPr lang="en-US" sz="2100" b="0">
                          <a:solidFill>
                            <a:srgbClr val="232B34"/>
                          </a:solidFill>
                          <a:latin typeface="Arial" panose="020B0604020202020204" pitchFamily="34" charset="0"/>
                        </a:rPr>
                        <a:t>PX</a:t>
                      </a:r>
                      <a:endParaRPr lang="en-US" sz="2100" b="0" dirty="0">
                        <a:solidFill>
                          <a:srgbClr val="232B34"/>
                        </a:solidFill>
                        <a:latin typeface="Arial" panose="020B0604020202020204" pitchFamily="34" charset="0"/>
                      </a:endParaRPr>
                    </a:p>
                  </a:txBody>
                  <a:tcPr marL="64008" marR="64008" marT="27432" marB="27432" anchor="ctr">
                    <a:solidFill>
                      <a:srgbClr val="FFFFFF"/>
                    </a:solidFill>
                  </a:tcPr>
                </a:tc>
                <a:tc>
                  <a:txBody>
                    <a:bodyPr/>
                    <a:lstStyle/>
                    <a:p>
                      <a:pPr algn="ctr"/>
                      <a:r>
                        <a:rPr lang="en-US" sz="2100" b="0">
                          <a:solidFill>
                            <a:srgbClr val="232B34"/>
                          </a:solidFill>
                          <a:latin typeface="Arial" panose="020B0604020202020204" pitchFamily="34" charset="0"/>
                        </a:rPr>
                        <a:t>nadir ground ~695 km</a:t>
                      </a:r>
                      <a:endParaRPr lang="en-US" sz="2100" b="0" dirty="0">
                        <a:solidFill>
                          <a:srgbClr val="232B34"/>
                        </a:solidFill>
                        <a:latin typeface="Arial" panose="020B0604020202020204" pitchFamily="34" charset="0"/>
                      </a:endParaRPr>
                    </a:p>
                  </a:txBody>
                  <a:tcPr marL="64008" marR="64008" marT="27432" marB="27432" anchor="ctr">
                    <a:solidFill>
                      <a:srgbClr val="FFFFFF"/>
                    </a:solidFill>
                  </a:tcPr>
                </a:tc>
                <a:tc>
                  <a:txBody>
                    <a:bodyPr/>
                    <a:lstStyle/>
                    <a:p>
                      <a:pPr algn="ctr"/>
                      <a:r>
                        <a:rPr lang="en-US" sz="2100" b="0">
                          <a:solidFill>
                            <a:srgbClr val="232B34"/>
                          </a:solidFill>
                          <a:latin typeface="Arial" panose="020B0604020202020204" pitchFamily="34" charset="0"/>
                        </a:rPr>
                        <a:t>ready</a:t>
                      </a:r>
                      <a:endParaRPr lang="en-US" sz="21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10003"/>
                  </a:ext>
                </a:extLst>
              </a:tr>
              <a:tr h="1261872">
                <a:tc>
                  <a:txBody>
                    <a:bodyPr/>
                    <a:lstStyle/>
                    <a:p>
                      <a:pPr algn="l"/>
                      <a:r>
                        <a:rPr lang="en-US" sz="2100" b="0">
                          <a:solidFill>
                            <a:srgbClr val="232B34"/>
                          </a:solidFill>
                          <a:latin typeface="Arial" panose="020B0604020202020204" pitchFamily="34" charset="0"/>
                        </a:rPr>
                        <a:t>MX</a:t>
                      </a:r>
                      <a:endParaRPr lang="en-US" sz="2100" b="0" dirty="0">
                        <a:solidFill>
                          <a:srgbClr val="232B34"/>
                        </a:solidFill>
                        <a:latin typeface="Arial" panose="020B0604020202020204" pitchFamily="34" charset="0"/>
                      </a:endParaRPr>
                    </a:p>
                  </a:txBody>
                  <a:tcPr marL="64008" marR="64008" marT="27432" marB="27432" anchor="ctr">
                    <a:solidFill>
                      <a:srgbClr val="F4F6F8"/>
                    </a:solidFill>
                  </a:tcPr>
                </a:tc>
                <a:tc>
                  <a:txBody>
                    <a:bodyPr/>
                    <a:lstStyle/>
                    <a:p>
                      <a:pPr algn="ctr"/>
                      <a:r>
                        <a:rPr lang="en-US" sz="2100" b="0">
                          <a:solidFill>
                            <a:srgbClr val="232B34"/>
                          </a:solidFill>
                          <a:latin typeface="Arial" panose="020B0604020202020204" pitchFamily="34" charset="0"/>
                        </a:rPr>
                        <a:t>zenith proxy 800 km</a:t>
                      </a:r>
                      <a:endParaRPr lang="en-US" sz="2100" b="0" dirty="0">
                        <a:solidFill>
                          <a:srgbClr val="232B34"/>
                        </a:solidFill>
                        <a:latin typeface="Arial" panose="020B0604020202020204" pitchFamily="34" charset="0"/>
                      </a:endParaRPr>
                    </a:p>
                  </a:txBody>
                  <a:tcPr marL="64008" marR="64008" marT="27432" marB="27432" anchor="ctr">
                    <a:solidFill>
                      <a:srgbClr val="F4F6F8"/>
                    </a:solidFill>
                  </a:tcPr>
                </a:tc>
                <a:tc>
                  <a:txBody>
                    <a:bodyPr/>
                    <a:lstStyle/>
                    <a:p>
                      <a:pPr algn="ctr"/>
                      <a:r>
                        <a:rPr lang="en-US" sz="2100" b="0">
                          <a:solidFill>
                            <a:srgbClr val="232B34"/>
                          </a:solidFill>
                          <a:latin typeface="Arial" panose="020B0604020202020204" pitchFamily="34" charset="0"/>
                        </a:rPr>
                        <a:t>unrealistic</a:t>
                      </a:r>
                      <a:endParaRPr lang="en-US" sz="21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1430000" y="9406890"/>
            <a:ext cx="10464531" cy="794064"/>
          </a:xfrm>
          <a:prstGeom prst="rect">
            <a:avLst/>
          </a:prstGeom>
          <a:noFill/>
        </p:spPr>
        <p:txBody>
          <a:bodyPr wrap="none" lIns="36576" tIns="27432" rIns="36576" bIns="27432" anchor="t">
            <a:spAutoFit/>
          </a:bodyPr>
          <a:lstStyle/>
          <a:p>
            <a:r>
              <a:rPr lang="en-US" altLang="ja-JP" sz="2400">
                <a:solidFill>
                  <a:schemeClr val="tx2">
                    <a:lumMod val="50000"/>
                  </a:schemeClr>
                </a:solidFill>
                <a:latin typeface="Arial" panose="020B0604020202020204" pitchFamily="34" charset="0"/>
              </a:rPr>
              <a:t>※ LCT</a:t>
            </a:r>
            <a:r>
              <a:rPr lang="ja-JP" altLang="en-US" sz="2400" dirty="0">
                <a:solidFill>
                  <a:schemeClr val="tx2">
                    <a:lumMod val="50000"/>
                  </a:schemeClr>
                </a:solidFill>
                <a:latin typeface="Arial" panose="020B0604020202020204" pitchFamily="34" charset="0"/>
              </a:rPr>
              <a:t>の指向面ごとに、通信相手は地上局</a:t>
            </a:r>
            <a:r>
              <a:rPr lang="en-US" altLang="ja-JP" sz="2400" dirty="0">
                <a:solidFill>
                  <a:schemeClr val="tx2">
                    <a:lumMod val="50000"/>
                  </a:schemeClr>
                </a:solidFill>
                <a:latin typeface="Arial" panose="020B0604020202020204" pitchFamily="34" charset="0"/>
              </a:rPr>
              <a:t>/</a:t>
            </a:r>
            <a:r>
              <a:rPr lang="ja-JP" altLang="en-US" sz="2400" dirty="0">
                <a:solidFill>
                  <a:schemeClr val="tx2">
                    <a:lumMod val="50000"/>
                  </a:schemeClr>
                </a:solidFill>
                <a:latin typeface="Arial" panose="020B0604020202020204" pitchFamily="34" charset="0"/>
              </a:rPr>
              <a:t>衛星をそれぞれ設定</a:t>
            </a:r>
            <a:endParaRPr lang="en-US" altLang="ja-JP" sz="2400" dirty="0">
              <a:solidFill>
                <a:schemeClr val="tx2">
                  <a:lumMod val="50000"/>
                </a:schemeClr>
              </a:solidFill>
              <a:latin typeface="Arial" panose="020B0604020202020204" pitchFamily="34" charset="0"/>
            </a:endParaRPr>
          </a:p>
          <a:p>
            <a:r>
              <a:rPr lang="en-US" altLang="ja-JP" sz="2400" dirty="0">
                <a:solidFill>
                  <a:schemeClr val="tx2">
                    <a:lumMod val="50000"/>
                  </a:schemeClr>
                </a:solidFill>
                <a:latin typeface="Arial" panose="020B0604020202020204" pitchFamily="34" charset="0"/>
              </a:rPr>
              <a:t>※ </a:t>
            </a:r>
            <a:r>
              <a:rPr sz="2400" err="1">
                <a:solidFill>
                  <a:schemeClr val="tx2">
                    <a:lumMod val="50000"/>
                  </a:schemeClr>
                </a:solidFill>
                <a:latin typeface="Yu Gothic"/>
              </a:rPr>
              <a:t>MX</a:t>
            </a:r>
            <a:r>
              <a:rPr sz="2400">
                <a:solidFill>
                  <a:schemeClr val="tx2">
                    <a:lumMod val="50000"/>
                  </a:schemeClr>
                </a:solidFill>
                <a:latin typeface="Yu Gothic"/>
              </a:rPr>
              <a:t>は角度計算可能だが</a:t>
            </a:r>
            <a:r>
              <a:rPr lang="ja-JP" altLang="en-US" sz="2400">
                <a:solidFill>
                  <a:schemeClr val="tx2">
                    <a:lumMod val="50000"/>
                  </a:schemeClr>
                </a:solidFill>
                <a:latin typeface="Arial" panose="020B0604020202020204" pitchFamily="34" charset="0"/>
              </a:rPr>
              <a:t>、</a:t>
            </a:r>
            <a:r>
              <a:rPr lang="en-US" altLang="ja-JP" sz="2400">
                <a:solidFill>
                  <a:schemeClr val="tx2">
                    <a:lumMod val="50000"/>
                  </a:schemeClr>
                </a:solidFill>
                <a:latin typeface="Arial" panose="020B0604020202020204" pitchFamily="34" charset="0"/>
              </a:rPr>
              <a:t>LCT</a:t>
            </a:r>
            <a:r>
              <a:rPr lang="ja-JP" altLang="en-US" sz="2400" dirty="0">
                <a:solidFill>
                  <a:schemeClr val="tx2">
                    <a:lumMod val="50000"/>
                  </a:schemeClr>
                </a:solidFill>
                <a:latin typeface="Arial" panose="020B0604020202020204" pitchFamily="34" charset="0"/>
              </a:rPr>
              <a:t>が天頂方向のため、</a:t>
            </a:r>
            <a:r>
              <a:rPr sz="2400" dirty="0" err="1">
                <a:solidFill>
                  <a:schemeClr val="tx2">
                    <a:lumMod val="50000"/>
                  </a:schemeClr>
                </a:solidFill>
                <a:latin typeface="Arial" panose="020B0604020202020204" pitchFamily="34" charset="0"/>
              </a:rPr>
              <a:t>現実的リンクではない</a:t>
            </a:r>
            <a:endParaRPr sz="2400" dirty="0">
              <a:solidFill>
                <a:schemeClr val="tx2">
                  <a:lumMod val="50000"/>
                </a:schemeClr>
              </a:solidFill>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dirty="0">
                <a:solidFill>
                  <a:srgbClr val="666F79"/>
                </a:solidFill>
                <a:latin typeface="Arial" panose="020B0604020202020204" pitchFamily="34" charset="0"/>
                <a:ea typeface="Yu Gothic"/>
              </a:rPr>
              <a:t>Appendix</a:t>
            </a: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altLang="ja-JP" sz="3200" b="1" dirty="0">
              <a:solidFill>
                <a:srgbClr val="082B52"/>
              </a:solidFill>
              <a:latin typeface="Arial" panose="020B0604020202020204" pitchFamily="34" charset="0"/>
              <a:ea typeface="Yu Gothic"/>
            </a:endParaRPr>
          </a:p>
          <a:p>
            <a:pPr algn="l">
              <a:lnSpc>
                <a:spcPct val="110000"/>
              </a:lnSpc>
              <a:spcAft>
                <a:spcPts val="0"/>
              </a:spcAft>
            </a:pPr>
            <a:r>
              <a:rPr lang="en-US" altLang="ja-JP" sz="3200" b="1">
                <a:solidFill>
                  <a:srgbClr val="082B52"/>
                </a:solidFill>
                <a:latin typeface="Arial" panose="020B0604020202020204" pitchFamily="34" charset="0"/>
                <a:ea typeface="Yu Gothic"/>
              </a:rPr>
              <a:t>Limitations of this study </a:t>
            </a:r>
            <a:r>
              <a:rPr lang="ja-JP" altLang="en-US" sz="3200" b="1">
                <a:solidFill>
                  <a:srgbClr val="082B52"/>
                </a:solidFill>
                <a:latin typeface="Arial" panose="020B0604020202020204" pitchFamily="34" charset="0"/>
                <a:ea typeface="Yu Gothic"/>
              </a:rPr>
              <a:t>＆ </a:t>
            </a:r>
            <a:r>
              <a:rPr lang="en-US" altLang="ja-JP" sz="3200" b="1">
                <a:solidFill>
                  <a:srgbClr val="082B52"/>
                </a:solidFill>
                <a:latin typeface="Arial" panose="020B0604020202020204" pitchFamily="34" charset="0"/>
                <a:ea typeface="Yu Gothic"/>
              </a:rPr>
              <a:t>Future </a:t>
            </a:r>
            <a:r>
              <a:rPr lang="en-US" altLang="ja-JP" sz="3200" b="1" dirty="0">
                <a:solidFill>
                  <a:srgbClr val="082B52"/>
                </a:solidFill>
                <a:latin typeface="Arial" panose="020B0604020202020204" pitchFamily="34" charset="0"/>
                <a:ea typeface="Yu Gothic"/>
              </a:rPr>
              <a:t>work</a:t>
            </a:r>
            <a:endParaRPr sz="3200" b="1" dirty="0">
              <a:solidFill>
                <a:srgbClr val="082B52"/>
              </a:solidFill>
              <a:latin typeface="Arial" panose="020B0604020202020204" pitchFamily="34" charset="0"/>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280160" y="3200400"/>
            <a:ext cx="10698480" cy="338328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481328" y="3493008"/>
            <a:ext cx="10296144" cy="437043"/>
          </a:xfrm>
          <a:prstGeom prst="rect">
            <a:avLst/>
          </a:prstGeom>
          <a:noFill/>
        </p:spPr>
        <p:txBody>
          <a:bodyPr wrap="square" lIns="45720" tIns="18288" rIns="45720" bIns="18288" anchor="t">
            <a:spAutoFit/>
          </a:bodyPr>
          <a:lstStyle/>
          <a:p>
            <a:pPr algn="l">
              <a:spcAft>
                <a:spcPts val="0"/>
              </a:spcAft>
            </a:pPr>
            <a:r>
              <a:rPr lang="en-US" altLang="ja-JP" sz="2600" b="1">
                <a:solidFill>
                  <a:srgbClr val="1B74AA"/>
                </a:solidFill>
                <a:latin typeface="Arial" panose="020B0604020202020204" pitchFamily="34" charset="0"/>
                <a:ea typeface="Yu Gothic"/>
              </a:rPr>
              <a:t>Validation scope</a:t>
            </a:r>
            <a:endParaRPr lang="en-US" sz="2600" b="1" dirty="0">
              <a:solidFill>
                <a:srgbClr val="1B74AA"/>
              </a:solidFill>
              <a:latin typeface="Arial" panose="020B0604020202020204" pitchFamily="34" charset="0"/>
              <a:ea typeface="Yu Gothic"/>
            </a:endParaRPr>
          </a:p>
        </p:txBody>
      </p:sp>
      <p:sp>
        <p:nvSpPr>
          <p:cNvPr id="7" name="TextBox 6"/>
          <p:cNvSpPr txBox="1"/>
          <p:nvPr/>
        </p:nvSpPr>
        <p:spPr>
          <a:xfrm>
            <a:off x="1554480" y="4343400"/>
            <a:ext cx="10149840" cy="509755"/>
          </a:xfrm>
          <a:prstGeom prst="rect">
            <a:avLst/>
          </a:prstGeom>
          <a:noFill/>
        </p:spPr>
        <p:txBody>
          <a:bodyPr wrap="square" lIns="45720" tIns="18288" rIns="45720" bIns="18288" anchor="t">
            <a:spAutoFit/>
          </a:bodyPr>
          <a:lstStyle/>
          <a:p>
            <a:pPr algn="l">
              <a:lnSpc>
                <a:spcPct val="115000"/>
              </a:lnSpc>
              <a:spcAft>
                <a:spcPts val="0"/>
              </a:spcAft>
            </a:pPr>
            <a:r>
              <a:rPr lang="en-US" altLang="ja-JP" sz="2800">
                <a:solidFill>
                  <a:srgbClr val="232B34"/>
                </a:solidFill>
                <a:latin typeface="Arial" panose="020B0604020202020204" pitchFamily="34" charset="0"/>
                <a:ea typeface="Yu Gothic"/>
              </a:rPr>
              <a:t>Numerical evaluation: same structure and LOS definition</a:t>
            </a:r>
            <a:endParaRPr lang="en-US" sz="2800" b="0" dirty="0">
              <a:solidFill>
                <a:srgbClr val="232B34"/>
              </a:solidFill>
              <a:latin typeface="Arial" panose="020B0604020202020204" pitchFamily="34" charset="0"/>
              <a:ea typeface="Yu Gothic"/>
            </a:endParaRPr>
          </a:p>
        </p:txBody>
      </p:sp>
      <p:sp>
        <p:nvSpPr>
          <p:cNvPr id="8" name="Rounded Rectangle 7"/>
          <p:cNvSpPr/>
          <p:nvPr/>
        </p:nvSpPr>
        <p:spPr>
          <a:xfrm>
            <a:off x="12618720" y="3200400"/>
            <a:ext cx="10698480" cy="33832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819888" y="3493008"/>
            <a:ext cx="10296144" cy="437043"/>
          </a:xfrm>
          <a:prstGeom prst="rect">
            <a:avLst/>
          </a:prstGeom>
          <a:noFill/>
        </p:spPr>
        <p:txBody>
          <a:bodyPr wrap="square" lIns="45720" tIns="18288" rIns="45720" bIns="18288" anchor="t">
            <a:spAutoFit/>
          </a:bodyPr>
          <a:lstStyle/>
          <a:p>
            <a:pPr algn="l">
              <a:spcAft>
                <a:spcPts val="0"/>
              </a:spcAft>
            </a:pPr>
            <a:r>
              <a:rPr lang="en-US" altLang="ja-JP" sz="2600" b="1">
                <a:solidFill>
                  <a:srgbClr val="EC9427"/>
                </a:solidFill>
                <a:latin typeface="Arial" panose="020B0604020202020204" pitchFamily="34" charset="0"/>
                <a:ea typeface="Yu Gothic"/>
              </a:rPr>
              <a:t>Model applicability</a:t>
            </a:r>
            <a:endParaRPr lang="en-US" sz="2600" b="1" dirty="0">
              <a:solidFill>
                <a:srgbClr val="EC9427"/>
              </a:solidFill>
              <a:latin typeface="Arial" panose="020B0604020202020204" pitchFamily="34" charset="0"/>
              <a:ea typeface="Yu Gothic"/>
            </a:endParaRPr>
          </a:p>
        </p:txBody>
      </p:sp>
      <p:sp>
        <p:nvSpPr>
          <p:cNvPr id="10" name="TextBox 9"/>
          <p:cNvSpPr txBox="1"/>
          <p:nvPr/>
        </p:nvSpPr>
        <p:spPr>
          <a:xfrm>
            <a:off x="12893040" y="4343400"/>
            <a:ext cx="10149840" cy="898708"/>
          </a:xfrm>
          <a:prstGeom prst="rect">
            <a:avLst/>
          </a:prstGeom>
          <a:noFill/>
        </p:spPr>
        <p:txBody>
          <a:bodyPr wrap="square" lIns="45720" tIns="18288" rIns="45720" bIns="18288" anchor="t">
            <a:spAutoFit/>
          </a:bodyPr>
          <a:lstStyle/>
          <a:p>
            <a:r>
              <a:rPr lang="en-US" altLang="ja-JP" sz="2800">
                <a:latin typeface="Arial" panose="020B0604020202020204" pitchFamily="34" charset="0"/>
              </a:rPr>
              <a:t>No ground test; flight relevance of the analysis model and sensitivities remains unvalidated</a:t>
            </a:r>
            <a:endParaRPr lang="en-US" altLang="ja-JP" sz="2800" dirty="0">
              <a:latin typeface="Arial" panose="020B0604020202020204" pitchFamily="34" charset="0"/>
            </a:endParaRPr>
          </a:p>
        </p:txBody>
      </p:sp>
      <p:sp>
        <p:nvSpPr>
          <p:cNvPr id="11" name="Rounded Rectangle 10"/>
          <p:cNvSpPr/>
          <p:nvPr/>
        </p:nvSpPr>
        <p:spPr>
          <a:xfrm>
            <a:off x="1280160" y="7040880"/>
            <a:ext cx="10698480" cy="338328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81328" y="7333488"/>
            <a:ext cx="10296144" cy="437043"/>
          </a:xfrm>
          <a:prstGeom prst="rect">
            <a:avLst/>
          </a:prstGeom>
          <a:noFill/>
        </p:spPr>
        <p:txBody>
          <a:bodyPr wrap="square" lIns="45720" tIns="18288" rIns="45720" bIns="18288" anchor="t">
            <a:spAutoFit/>
          </a:bodyPr>
          <a:lstStyle/>
          <a:p>
            <a:pPr algn="l">
              <a:spcAft>
                <a:spcPts val="0"/>
              </a:spcAft>
            </a:pPr>
            <a:r>
              <a:rPr lang="en-US" altLang="ja-JP" sz="2600" b="1" dirty="0">
                <a:solidFill>
                  <a:srgbClr val="D03B46"/>
                </a:solidFill>
                <a:latin typeface="Arial" panose="020B0604020202020204" pitchFamily="34" charset="0"/>
                <a:ea typeface="Yu Gothic"/>
              </a:rPr>
              <a:t>LOS extraction</a:t>
            </a:r>
            <a:endParaRPr sz="2600" b="1" dirty="0">
              <a:solidFill>
                <a:srgbClr val="D03B46"/>
              </a:solidFill>
              <a:latin typeface="Arial" panose="020B0604020202020204" pitchFamily="34" charset="0"/>
              <a:ea typeface="Yu Gothic"/>
            </a:endParaRPr>
          </a:p>
        </p:txBody>
      </p:sp>
      <p:sp>
        <p:nvSpPr>
          <p:cNvPr id="13" name="TextBox 12"/>
          <p:cNvSpPr txBox="1"/>
          <p:nvPr/>
        </p:nvSpPr>
        <p:spPr>
          <a:xfrm>
            <a:off x="1554480" y="8183879"/>
            <a:ext cx="10149840" cy="1005275"/>
          </a:xfrm>
          <a:prstGeom prst="rect">
            <a:avLst/>
          </a:prstGeom>
          <a:noFill/>
        </p:spPr>
        <p:txBody>
          <a:bodyPr wrap="square" lIns="45720" tIns="18288" rIns="45720" bIns="18288" anchor="t">
            <a:spAutoFit/>
          </a:bodyPr>
          <a:lstStyle/>
          <a:p>
            <a:pPr algn="l">
              <a:lnSpc>
                <a:spcPct val="115000"/>
              </a:lnSpc>
              <a:spcAft>
                <a:spcPts val="0"/>
              </a:spcAft>
            </a:pPr>
            <a:r>
              <a:rPr lang="en-US" altLang="ja-JP" sz="2800">
                <a:solidFill>
                  <a:srgbClr val="232B34"/>
                </a:solidFill>
                <a:latin typeface="Arial" panose="020B0604020202020204" pitchFamily="34" charset="0"/>
                <a:ea typeface="Yu Gothic"/>
              </a:rPr>
              <a:t>Representative-node rotations; no interface rigid-body fit or internal STT/LCT deformation</a:t>
            </a:r>
            <a:endParaRPr lang="en-US" sz="2800" b="0" dirty="0">
              <a:solidFill>
                <a:srgbClr val="232B34"/>
              </a:solidFill>
              <a:latin typeface="Arial" panose="020B0604020202020204" pitchFamily="34" charset="0"/>
              <a:ea typeface="Yu Gothic"/>
            </a:endParaRPr>
          </a:p>
        </p:txBody>
      </p:sp>
      <p:sp>
        <p:nvSpPr>
          <p:cNvPr id="14" name="Rounded Rectangle 13"/>
          <p:cNvSpPr/>
          <p:nvPr/>
        </p:nvSpPr>
        <p:spPr>
          <a:xfrm>
            <a:off x="12618720" y="7040880"/>
            <a:ext cx="10698480" cy="33832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2819888" y="7333488"/>
            <a:ext cx="10296144" cy="437043"/>
          </a:xfrm>
          <a:prstGeom prst="rect">
            <a:avLst/>
          </a:prstGeom>
          <a:noFill/>
        </p:spPr>
        <p:txBody>
          <a:bodyPr wrap="square" lIns="45720" tIns="18288" rIns="45720" bIns="18288" anchor="t">
            <a:spAutoFit/>
          </a:bodyPr>
          <a:lstStyle/>
          <a:p>
            <a:pPr algn="l">
              <a:spcAft>
                <a:spcPts val="0"/>
              </a:spcAft>
            </a:pPr>
            <a:r>
              <a:rPr lang="en-US" sz="2600" b="1">
                <a:solidFill>
                  <a:srgbClr val="239571"/>
                </a:solidFill>
                <a:latin typeface="Arial" panose="020B0604020202020204" pitchFamily="34" charset="0"/>
                <a:ea typeface="Yu Gothic"/>
              </a:rPr>
              <a:t>Acquisition evaluation</a:t>
            </a:r>
            <a:endParaRPr lang="en-US" sz="2600" b="1" dirty="0">
              <a:solidFill>
                <a:srgbClr val="239571"/>
              </a:solidFill>
              <a:latin typeface="Arial" panose="020B0604020202020204" pitchFamily="34" charset="0"/>
              <a:ea typeface="Yu Gothic"/>
            </a:endParaRPr>
          </a:p>
        </p:txBody>
      </p:sp>
      <p:sp>
        <p:nvSpPr>
          <p:cNvPr id="16" name="TextBox 15"/>
          <p:cNvSpPr txBox="1"/>
          <p:nvPr/>
        </p:nvSpPr>
        <p:spPr>
          <a:xfrm>
            <a:off x="12893040" y="8183879"/>
            <a:ext cx="10149840" cy="467820"/>
          </a:xfrm>
          <a:prstGeom prst="rect">
            <a:avLst/>
          </a:prstGeom>
          <a:noFill/>
        </p:spPr>
        <p:txBody>
          <a:bodyPr wrap="square" lIns="45720" tIns="18288" rIns="45720" bIns="18288" anchor="t">
            <a:spAutoFit/>
          </a:bodyPr>
          <a:lstStyle/>
          <a:p>
            <a:pPr>
              <a:lnSpc>
                <a:spcPct val="100000"/>
              </a:lnSpc>
            </a:pPr>
            <a:r>
              <a:rPr lang="en-US" altLang="ja-JP" sz="2800">
                <a:latin typeface="Arial" panose="020B0604020202020204" pitchFamily="34" charset="0"/>
              </a:rPr>
              <a:t>One nonthermal seed; simplified scan dynamics</a:t>
            </a:r>
            <a:endParaRPr lang="en-US" altLang="ja-JP" sz="2800" dirty="0">
              <a:latin typeface="Arial" panose="020B0604020202020204" pitchFamily="34" charset="0"/>
            </a:endParaRPr>
          </a:p>
        </p:txBody>
      </p:sp>
      <p:sp>
        <p:nvSpPr>
          <p:cNvPr id="18" name="テキスト ボックス 17">
            <a:extLst>
              <a:ext uri="{FF2B5EF4-FFF2-40B4-BE49-F238E27FC236}">
                <a16:creationId xmlns:a16="http://schemas.microsoft.com/office/drawing/2014/main" id="{3FC9870B-A7FE-DBB8-0818-43EE04DF3B1F}"/>
              </a:ext>
            </a:extLst>
          </p:cNvPr>
          <p:cNvSpPr txBox="1"/>
          <p:nvPr/>
        </p:nvSpPr>
        <p:spPr>
          <a:xfrm>
            <a:off x="4986842" y="10480233"/>
            <a:ext cx="14408727" cy="954107"/>
          </a:xfrm>
          <a:prstGeom prst="rect">
            <a:avLst/>
          </a:prstGeom>
          <a:noFill/>
        </p:spPr>
        <p:txBody>
          <a:bodyPr wrap="square">
            <a:spAutoFit/>
          </a:bodyPr>
          <a:lstStyle/>
          <a:p>
            <a:pPr algn="ctr"/>
            <a:r>
              <a:rPr lang="en-US" altLang="ja-JP" sz="2800" b="1" dirty="0">
                <a:latin typeface="Arial" panose="020B0604020202020204" pitchFamily="34" charset="0"/>
              </a:rPr>
              <a:t>Future Work</a:t>
            </a:r>
            <a:r>
              <a:rPr lang="en-US" altLang="ja-JP" sz="2800" b="1">
                <a:latin typeface="Arial" panose="020B0604020202020204" pitchFamily="34" charset="0"/>
              </a:rPr>
              <a:t>: ground-test validation, coefficient re-identification for real spacecraft,</a:t>
            </a:r>
            <a:endParaRPr lang="en-US" altLang="ja-JP" sz="2800" b="1" dirty="0">
              <a:latin typeface="Arial" panose="020B0604020202020204" pitchFamily="34" charset="0"/>
            </a:endParaRPr>
          </a:p>
          <a:p>
            <a:pPr algn="ctr"/>
            <a:r>
              <a:rPr lang="en-US" altLang="ja-JP" sz="2800" b="1">
                <a:latin typeface="Arial" panose="020B0604020202020204" pitchFamily="34" charset="0"/>
              </a:rPr>
              <a:t> and onboard adaptation using post-acquisition residuals</a:t>
            </a:r>
            <a:endParaRPr lang="en-US" altLang="ja-JP" sz="2800" b="1" dirty="0">
              <a:latin typeface="Arial" panose="020B0604020202020204" pitchFamily="34" charset="0"/>
            </a:endParaRPr>
          </a:p>
        </p:txBody>
      </p:sp>
      <p:sp>
        <p:nvSpPr>
          <p:cNvPr id="19" name="TextBox 15">
            <a:extLst>
              <a:ext uri="{FF2B5EF4-FFF2-40B4-BE49-F238E27FC236}">
                <a16:creationId xmlns:a16="http://schemas.microsoft.com/office/drawing/2014/main" id="{F9251454-CFDB-DAE5-071C-F07ADB5CE097}"/>
              </a:ext>
            </a:extLst>
          </p:cNvPr>
          <p:cNvSpPr txBox="1"/>
          <p:nvPr/>
        </p:nvSpPr>
        <p:spPr>
          <a:xfrm>
            <a:off x="1463040" y="11979639"/>
            <a:ext cx="21396960" cy="406265"/>
          </a:xfrm>
          <a:prstGeom prst="rect">
            <a:avLst/>
          </a:prstGeom>
          <a:noFill/>
        </p:spPr>
        <p:txBody>
          <a:bodyPr wrap="square" lIns="45720" tIns="18288" rIns="45720" bIns="18288" anchor="t">
            <a:spAutoFit/>
          </a:bodyPr>
          <a:lstStyle/>
          <a:p>
            <a:pPr algn="ctr">
              <a:spcAft>
                <a:spcPts val="0"/>
              </a:spcAft>
            </a:pPr>
            <a:r>
              <a:rPr lang="en-US" sz="2400" b="0">
                <a:solidFill>
                  <a:srgbClr val="666F79"/>
                </a:solidFill>
                <a:latin typeface="Arial" panose="020B0604020202020204" pitchFamily="34" charset="0"/>
                <a:ea typeface="Yu Gothic"/>
              </a:rPr>
              <a:t>Oral presentation at ICSO 2026 on October 15</a:t>
            </a:r>
            <a:endParaRPr lang="en-US" sz="2400" b="0" dirty="0">
              <a:solidFill>
                <a:srgbClr val="666F79"/>
              </a:solidFill>
              <a:latin typeface="Arial" panose="020B0604020202020204" pitchFamily="34" charset="0"/>
              <a:ea typeface="Yu Gothic"/>
            </a:endParaRPr>
          </a:p>
        </p:txBody>
      </p:sp>
      <p:sp>
        <p:nvSpPr>
          <p:cNvPr id="21" name="TextBox 16">
            <a:extLst>
              <a:ext uri="{FF2B5EF4-FFF2-40B4-BE49-F238E27FC236}">
                <a16:creationId xmlns:a16="http://schemas.microsoft.com/office/drawing/2014/main" id="{EDF69A9B-403D-8D7C-696E-29A646FED75D}"/>
              </a:ext>
            </a:extLst>
          </p:cNvPr>
          <p:cNvSpPr txBox="1"/>
          <p:nvPr/>
        </p:nvSpPr>
        <p:spPr>
          <a:xfrm>
            <a:off x="1463040" y="12728004"/>
            <a:ext cx="21396960" cy="498598"/>
          </a:xfrm>
          <a:prstGeom prst="rect">
            <a:avLst/>
          </a:prstGeom>
          <a:noFill/>
        </p:spPr>
        <p:txBody>
          <a:bodyPr wrap="square" lIns="45720" tIns="18288" rIns="45720" bIns="18288" anchor="t">
            <a:spAutoFit/>
          </a:bodyPr>
          <a:lstStyle/>
          <a:p>
            <a:pPr algn="ctr">
              <a:spcAft>
                <a:spcPts val="0"/>
              </a:spcAft>
            </a:pPr>
            <a:r>
              <a:rPr lang="en-US" sz="3000" b="1">
                <a:solidFill>
                  <a:srgbClr val="1B74AA"/>
                </a:solidFill>
                <a:latin typeface="Arial" panose="020B0604020202020204" pitchFamily="34" charset="0"/>
                <a:ea typeface="Yu Gothic"/>
              </a:rPr>
              <a:t>Thank you for your attention</a:t>
            </a:r>
            <a:endParaRPr lang="en-US" sz="3000" b="1" dirty="0">
              <a:solidFill>
                <a:srgbClr val="1B74AA"/>
              </a:solidFill>
              <a:latin typeface="Arial" panose="020B0604020202020204" pitchFamily="34" charset="0"/>
              <a:ea typeface="Yu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a:solidFill>
                  <a:srgbClr val="666F79"/>
                </a:solidFill>
                <a:latin typeface="Arial" panose="020B0604020202020204" pitchFamily="34" charset="0"/>
                <a:ea typeface="Yu Gothic"/>
              </a:rPr>
              <a:t>Reduced-order model</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357277"/>
            <a:ext cx="22037040" cy="107106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Arial" panose="020B0604020202020204" pitchFamily="34" charset="0"/>
              <a:ea typeface="Yu Gothic"/>
            </a:endParaRPr>
          </a:p>
          <a:p>
            <a:r>
              <a:rPr lang="en-US" altLang="ja-JP" sz="3200" b="1">
                <a:latin typeface="Arial" panose="020B0604020202020204" pitchFamily="34" charset="0"/>
              </a:rPr>
              <a:t>The test case is excluded from all coefficient estimates to evaluate prediction under unseen conditions</a:t>
            </a:r>
            <a:endParaRPr lang="en-US" sz="3200" b="1" dirty="0">
              <a:solidFill>
                <a:srgbClr val="082B52"/>
              </a:solidFill>
              <a:latin typeface="Arial" panose="020B0604020202020204" pitchFamily="34" charset="0"/>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endParaRPr sz="1800" b="0" dirty="0">
              <a:solidFill>
                <a:srgbClr val="666F79"/>
              </a:solidFill>
              <a:latin typeface="Arial" panose="020B0604020202020204" pitchFamily="34" charset="0"/>
              <a:ea typeface="Yu Gothic"/>
            </a:endParaRPr>
          </a:p>
        </p:txBody>
      </p:sp>
      <p:sp>
        <p:nvSpPr>
          <p:cNvPr id="5" name="Rounded Rectangle 4"/>
          <p:cNvSpPr/>
          <p:nvPr/>
        </p:nvSpPr>
        <p:spPr>
          <a:xfrm>
            <a:off x="1581912" y="3383280"/>
            <a:ext cx="6190488" cy="585216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783080" y="3675888"/>
            <a:ext cx="5788151" cy="452432"/>
          </a:xfrm>
          <a:prstGeom prst="rect">
            <a:avLst/>
          </a:prstGeom>
          <a:noFill/>
        </p:spPr>
        <p:txBody>
          <a:bodyPr wrap="square" lIns="45720" tIns="18288" rIns="45720" bIns="18288" anchor="t">
            <a:spAutoFit/>
          </a:bodyPr>
          <a:lstStyle/>
          <a:p>
            <a:pPr algn="ctr">
              <a:spcAft>
                <a:spcPts val="0"/>
              </a:spcAft>
            </a:pPr>
            <a:r>
              <a:rPr lang="en-US" sz="2700" b="1">
                <a:solidFill>
                  <a:srgbClr val="239571"/>
                </a:solidFill>
                <a:latin typeface="Arial" panose="020B0604020202020204" pitchFamily="34" charset="0"/>
                <a:ea typeface="Yu Gothic"/>
              </a:rPr>
              <a:t>① Fit each case</a:t>
            </a:r>
            <a:endParaRPr lang="en-US" sz="2700" b="1" dirty="0">
              <a:solidFill>
                <a:srgbClr val="239571"/>
              </a:solidFill>
              <a:latin typeface="Arial" panose="020B0604020202020204" pitchFamily="34" charset="0"/>
              <a:ea typeface="Yu Gothic"/>
            </a:endParaRPr>
          </a:p>
        </p:txBody>
      </p:sp>
      <p:sp>
        <p:nvSpPr>
          <p:cNvPr id="7" name="TextBox 6"/>
          <p:cNvSpPr txBox="1"/>
          <p:nvPr/>
        </p:nvSpPr>
        <p:spPr>
          <a:xfrm>
            <a:off x="1856231" y="4617720"/>
            <a:ext cx="5641848" cy="1274964"/>
          </a:xfrm>
          <a:prstGeom prst="rect">
            <a:avLst/>
          </a:prstGeom>
          <a:noFill/>
        </p:spPr>
        <p:txBody>
          <a:bodyPr wrap="square" lIns="45720" tIns="18288" rIns="45720" bIns="18288" anchor="t">
            <a:spAutoFit/>
          </a:bodyPr>
          <a:lstStyle/>
          <a:p>
            <a:pPr algn="ctr">
              <a:lnSpc>
                <a:spcPct val="115000"/>
              </a:lnSpc>
              <a:spcAft>
                <a:spcPts val="0"/>
              </a:spcAft>
            </a:pPr>
            <a:r>
              <a:rPr lang="en-US" sz="2400" b="0">
                <a:solidFill>
                  <a:srgbClr val="232B34"/>
                </a:solidFill>
                <a:latin typeface="Arial" panose="020B0604020202020204" pitchFamily="34" charset="0"/>
                <a:ea typeface="Yu Gothic"/>
              </a:rPr>
              <a:t>Use the first orbit of each case
to estimate its sensitivity a
and mean b</a:t>
            </a:r>
            <a:endParaRPr lang="en-US" sz="2400" b="0" dirty="0">
              <a:solidFill>
                <a:srgbClr val="232B34"/>
              </a:solidFill>
              <a:latin typeface="Arial" panose="020B0604020202020204" pitchFamily="34" charset="0"/>
              <a:ea typeface="Yu Gothic"/>
            </a:endParaRPr>
          </a:p>
        </p:txBody>
      </p:sp>
      <p:sp>
        <p:nvSpPr>
          <p:cNvPr id="8" name="Rounded Rectangle 7"/>
          <p:cNvSpPr/>
          <p:nvPr/>
        </p:nvSpPr>
        <p:spPr>
          <a:xfrm>
            <a:off x="8458200" y="3383280"/>
            <a:ext cx="6656832" cy="585216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59368" y="3675888"/>
            <a:ext cx="6254496" cy="452432"/>
          </a:xfrm>
          <a:prstGeom prst="rect">
            <a:avLst/>
          </a:prstGeom>
          <a:noFill/>
        </p:spPr>
        <p:txBody>
          <a:bodyPr wrap="square" lIns="45720" tIns="18288" rIns="45720" bIns="18288" anchor="t">
            <a:spAutoFit/>
          </a:bodyPr>
          <a:lstStyle/>
          <a:p>
            <a:pPr algn="ctr">
              <a:spcAft>
                <a:spcPts val="0"/>
              </a:spcAft>
            </a:pPr>
            <a:r>
              <a:rPr lang="en-US" sz="2700" b="1">
                <a:solidFill>
                  <a:srgbClr val="1B74AA"/>
                </a:solidFill>
                <a:latin typeface="Arial" panose="020B0604020202020204" pitchFamily="34" charset="0"/>
                <a:ea typeface="Yu Gothic"/>
              </a:rPr>
              <a:t>② Share within each sun face</a:t>
            </a:r>
            <a:endParaRPr lang="en-US" sz="2700" b="1" dirty="0">
              <a:solidFill>
                <a:srgbClr val="1B74AA"/>
              </a:solidFill>
              <a:latin typeface="Arial" panose="020B0604020202020204" pitchFamily="34" charset="0"/>
              <a:ea typeface="Yu Gothic"/>
            </a:endParaRPr>
          </a:p>
        </p:txBody>
      </p:sp>
      <p:sp>
        <p:nvSpPr>
          <p:cNvPr id="10" name="TextBox 9"/>
          <p:cNvSpPr txBox="1"/>
          <p:nvPr/>
        </p:nvSpPr>
        <p:spPr>
          <a:xfrm>
            <a:off x="8732520" y="4617720"/>
            <a:ext cx="6108192" cy="2124428"/>
          </a:xfrm>
          <a:prstGeom prst="rect">
            <a:avLst/>
          </a:prstGeom>
          <a:noFill/>
        </p:spPr>
        <p:txBody>
          <a:bodyPr wrap="square" lIns="45720" tIns="18288" rIns="45720" bIns="18288" anchor="t">
            <a:spAutoFit/>
          </a:bodyPr>
          <a:lstStyle/>
          <a:p>
            <a:pPr algn="ctr">
              <a:lnSpc>
                <a:spcPct val="115000"/>
              </a:lnSpc>
              <a:spcAft>
                <a:spcPts val="0"/>
              </a:spcAft>
            </a:pPr>
            <a:r>
              <a:rPr lang="en-US" sz="2400" b="0">
                <a:solidFill>
                  <a:srgbClr val="232B34"/>
                </a:solidFill>
                <a:latin typeface="Arial" panose="020B0604020202020204" pitchFamily="34" charset="0"/>
                <a:ea typeface="Yu Gothic"/>
              </a:rPr>
              <a:t>Median a within each sun face
becomes the shared sensitivity
Fit mean b across cases from
sun face and dissipation flags</a:t>
            </a:r>
            <a:endParaRPr lang="en-US" sz="2400" b="0" dirty="0">
              <a:solidFill>
                <a:srgbClr val="232B34"/>
              </a:solidFill>
              <a:latin typeface="Arial" panose="020B0604020202020204" pitchFamily="34" charset="0"/>
              <a:ea typeface="Yu Gothic"/>
            </a:endParaRPr>
          </a:p>
        </p:txBody>
      </p:sp>
      <p:sp>
        <p:nvSpPr>
          <p:cNvPr id="11" name="Rounded Rectangle 10"/>
          <p:cNvSpPr/>
          <p:nvPr/>
        </p:nvSpPr>
        <p:spPr>
          <a:xfrm>
            <a:off x="15782544" y="3383280"/>
            <a:ext cx="7013448" cy="5852160"/>
          </a:xfrm>
          <a:prstGeom prst="roundRect">
            <a:avLst/>
          </a:prstGeom>
          <a:solidFill>
            <a:srgbClr val="FFFFFF"/>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983712" y="3675888"/>
            <a:ext cx="6611112" cy="452432"/>
          </a:xfrm>
          <a:prstGeom prst="rect">
            <a:avLst/>
          </a:prstGeom>
          <a:noFill/>
        </p:spPr>
        <p:txBody>
          <a:bodyPr wrap="square" lIns="45720" tIns="18288" rIns="45720" bIns="18288" anchor="t">
            <a:spAutoFit/>
          </a:bodyPr>
          <a:lstStyle/>
          <a:p>
            <a:pPr algn="ctr">
              <a:spcAft>
                <a:spcPts val="0"/>
              </a:spcAft>
            </a:pPr>
            <a:r>
              <a:rPr lang="en-US" sz="2700" b="1">
                <a:solidFill>
                  <a:srgbClr val="EC9427"/>
                </a:solidFill>
                <a:latin typeface="Arial" panose="020B0604020202020204" pitchFamily="34" charset="0"/>
                <a:ea typeface="Yu Gothic"/>
              </a:rPr>
              <a:t>③ Test an unseen case</a:t>
            </a:r>
            <a:endParaRPr lang="en-US" sz="2700" b="1" dirty="0">
              <a:solidFill>
                <a:srgbClr val="EC9427"/>
              </a:solidFill>
              <a:latin typeface="Arial" panose="020B0604020202020204" pitchFamily="34" charset="0"/>
              <a:ea typeface="Yu Gothic"/>
            </a:endParaRPr>
          </a:p>
        </p:txBody>
      </p:sp>
      <p:sp>
        <p:nvSpPr>
          <p:cNvPr id="13" name="TextBox 12"/>
          <p:cNvSpPr txBox="1"/>
          <p:nvPr/>
        </p:nvSpPr>
        <p:spPr>
          <a:xfrm>
            <a:off x="16056864" y="4617720"/>
            <a:ext cx="6464808" cy="2549159"/>
          </a:xfrm>
          <a:prstGeom prst="rect">
            <a:avLst/>
          </a:prstGeom>
          <a:noFill/>
        </p:spPr>
        <p:txBody>
          <a:bodyPr wrap="square" lIns="45720" tIns="18288" rIns="45720" bIns="18288" anchor="t">
            <a:spAutoFit/>
          </a:bodyPr>
          <a:lstStyle/>
          <a:p>
            <a:pPr algn="ctr">
              <a:lnSpc>
                <a:spcPct val="115000"/>
              </a:lnSpc>
              <a:spcAft>
                <a:spcPts val="0"/>
              </a:spcAft>
            </a:pPr>
            <a:r>
              <a:rPr lang="en-US" sz="2400" b="0">
                <a:solidFill>
                  <a:srgbClr val="232B34"/>
                </a:solidFill>
                <a:latin typeface="Arial" panose="020B0604020202020204" pitchFamily="34" charset="0"/>
                <a:ea typeface="Yu Gothic"/>
              </a:rPr>
              <a:t>nested leave-one-case-out
Exclude the test case from shared sensitivity
and both-axis mean models
Evaluate its next two orbits</a:t>
            </a:r>
            <a:endParaRPr lang="en-US" sz="2400" b="0" dirty="0">
              <a:solidFill>
                <a:srgbClr val="232B34"/>
              </a:solidFill>
              <a:latin typeface="Arial" panose="020B0604020202020204" pitchFamily="34" charset="0"/>
              <a:ea typeface="Yu Gothic"/>
            </a:endParaRPr>
          </a:p>
        </p:txBody>
      </p:sp>
      <p:sp>
        <p:nvSpPr>
          <p:cNvPr id="14" name="Right Arrow 13"/>
          <p:cNvSpPr/>
          <p:nvPr/>
        </p:nvSpPr>
        <p:spPr>
          <a:xfrm>
            <a:off x="7973568" y="5989320"/>
            <a:ext cx="384048" cy="658368"/>
          </a:xfrm>
          <a:prstGeom prst="rightArrow">
            <a:avLst/>
          </a:prstGeom>
          <a:solidFill>
            <a:srgbClr val="1B7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15307055" y="5989320"/>
            <a:ext cx="384048" cy="658368"/>
          </a:xfrm>
          <a:prstGeom prst="rightArrow">
            <a:avLst/>
          </a:prstGeom>
          <a:solidFill>
            <a:srgbClr val="1B7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77440" y="10149840"/>
            <a:ext cx="19659600" cy="467820"/>
          </a:xfrm>
          <a:prstGeom prst="rect">
            <a:avLst/>
          </a:prstGeom>
          <a:noFill/>
        </p:spPr>
        <p:txBody>
          <a:bodyPr wrap="square" lIns="45720" tIns="18288" rIns="45720" bIns="18288" anchor="t">
            <a:spAutoFit/>
          </a:bodyPr>
          <a:lstStyle/>
          <a:p>
            <a:pPr algn="ctr"/>
            <a:r>
              <a:rPr lang="en-US" altLang="ja-JP" sz="2800" b="1">
                <a:latin typeface="Arial" panose="020B0604020202020204" pitchFamily="34" charset="0"/>
              </a:rPr>
              <a:t>Evaluate how well fixed shared coefficients predict unseen operating conditions</a:t>
            </a:r>
            <a:endParaRPr lang="en-US" altLang="ja-JP" sz="2800" dirty="0">
              <a:latin typeface="Arial" panose="020B0604020202020204" pitchFamily="34" charset="0"/>
            </a:endParaRPr>
          </a:p>
        </p:txBody>
      </p:sp>
      <p:sp>
        <p:nvSpPr>
          <p:cNvPr id="18" name="TextBox 17"/>
          <p:cNvSpPr txBox="1"/>
          <p:nvPr/>
        </p:nvSpPr>
        <p:spPr>
          <a:xfrm>
            <a:off x="2039112" y="11292840"/>
            <a:ext cx="20299680" cy="406265"/>
          </a:xfrm>
          <a:prstGeom prst="rect">
            <a:avLst/>
          </a:prstGeom>
          <a:noFill/>
        </p:spPr>
        <p:txBody>
          <a:bodyPr wrap="square" lIns="45720" tIns="18288" rIns="45720" bIns="18288" anchor="t">
            <a:spAutoFit/>
          </a:bodyPr>
          <a:lstStyle/>
          <a:p>
            <a:pPr algn="r"/>
            <a:r>
              <a:rPr lang="en-US" altLang="ja-JP" sz="2400">
                <a:latin typeface="Arial" panose="020B0604020202020204" pitchFamily="34" charset="0"/>
              </a:rPr>
              <a:t>Across-condition evaluation within the same structure and LOS definition</a:t>
            </a:r>
            <a:endParaRPr lang="en-US" altLang="ja-JP" sz="2400" dirty="0">
              <a:latin typeface="Arial" panose="020B0604020202020204" pitchFamily="34" charset="0"/>
            </a:endParaRPr>
          </a:p>
        </p:txBody>
      </p:sp>
    </p:spTree>
    <p:extLst>
      <p:ext uri="{BB962C8B-B14F-4D97-AF65-F5344CB8AC3E}">
        <p14:creationId xmlns:p14="http://schemas.microsoft.com/office/powerpoint/2010/main" val="473768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a:solidFill>
                  <a:srgbClr val="666F79"/>
                </a:solidFill>
                <a:latin typeface="Arial" panose="020B0604020202020204" pitchFamily="34" charset="0"/>
                <a:ea typeface="Yu Gothic"/>
              </a:rPr>
              <a:t>Acquisition results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359777"/>
            <a:ext cx="22037040" cy="1066061"/>
          </a:xfrm>
          <a:prstGeom prst="rect">
            <a:avLst/>
          </a:prstGeom>
          <a:noFill/>
        </p:spPr>
        <p:txBody>
          <a:bodyPr wrap="square" lIns="45720" tIns="18288" rIns="45720" bIns="18288" anchor="ctr">
            <a:spAutoFit/>
          </a:bodyPr>
          <a:lstStyle/>
          <a:p>
            <a:pPr algn="l">
              <a:lnSpc>
                <a:spcPct val="110000"/>
              </a:lnSpc>
              <a:spcAft>
                <a:spcPts val="0"/>
              </a:spcAft>
            </a:pPr>
            <a:endParaRPr lang="en-US" sz="3100" b="1" dirty="0">
              <a:solidFill>
                <a:srgbClr val="082B52"/>
              </a:solidFill>
              <a:latin typeface="Arial" panose="020B0604020202020204" pitchFamily="34" charset="0"/>
              <a:ea typeface="Yu Gothic"/>
            </a:endParaRPr>
          </a:p>
          <a:p>
            <a:pPr algn="l">
              <a:lnSpc>
                <a:spcPct val="110000"/>
              </a:lnSpc>
              <a:spcAft>
                <a:spcPts val="0"/>
              </a:spcAft>
            </a:pPr>
            <a:r>
              <a:rPr lang="en-US" sz="3100" b="1">
                <a:solidFill>
                  <a:srgbClr val="082B52"/>
                </a:solidFill>
                <a:latin typeface="Arial" panose="020B0604020202020204" pitchFamily="34" charset="0"/>
                <a:ea typeface="Yu Gothic"/>
              </a:rPr>
              <a:t>Temperature prediction helps the first acquisition; residual updates lower the later-orbit floor</a:t>
            </a:r>
            <a:endParaRPr lang="en-US" sz="3100" b="1" dirty="0">
              <a:solidFill>
                <a:srgbClr val="082B52"/>
              </a:solidFill>
              <a:latin typeface="Arial" panose="020B0604020202020204" pitchFamily="34" charset="0"/>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endParaRPr lang="en-US" sz="1800" b="0" dirty="0">
              <a:solidFill>
                <a:srgbClr val="666F79"/>
              </a:solidFill>
              <a:latin typeface="Arial" panose="020B0604020202020204" pitchFamily="34" charset="0"/>
              <a:ea typeface="Yu Gothic"/>
            </a:endParaRPr>
          </a:p>
        </p:txBody>
      </p:sp>
      <p:sp>
        <p:nvSpPr>
          <p:cNvPr id="5" name="Rectangle 4"/>
          <p:cNvSpPr/>
          <p:nvPr/>
        </p:nvSpPr>
        <p:spPr>
          <a:xfrm>
            <a:off x="1005840" y="3017520"/>
            <a:ext cx="13716000" cy="694944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ig_residual_update_comparison.png"/>
          <p:cNvPicPr>
            <a:picLocks noChangeAspect="1"/>
          </p:cNvPicPr>
          <p:nvPr/>
        </p:nvPicPr>
        <p:blipFill>
          <a:blip r:embed="rId3"/>
          <a:stretch>
            <a:fillRect/>
          </a:stretch>
        </p:blipFill>
        <p:spPr>
          <a:xfrm>
            <a:off x="1143000" y="3318510"/>
            <a:ext cx="13441680" cy="634746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1958290513"/>
              </p:ext>
            </p:extLst>
          </p:nvPr>
        </p:nvGraphicFramePr>
        <p:xfrm>
          <a:off x="15270480" y="3291840"/>
          <a:ext cx="8138160" cy="3017517"/>
        </p:xfrm>
        <a:graphic>
          <a:graphicData uri="http://schemas.openxmlformats.org/drawingml/2006/table">
            <a:tbl>
              <a:tblPr firstRow="1" bandRow="1">
                <a:tableStyleId>{5C22544A-7EE6-4342-B048-85BDC9FD1C3A}</a:tableStyleId>
              </a:tblPr>
              <a:tblGrid>
                <a:gridCol w="4295140">
                  <a:extLst>
                    <a:ext uri="{9D8B030D-6E8A-4147-A177-3AD203B41FA5}">
                      <a16:colId xmlns:a16="http://schemas.microsoft.com/office/drawing/2014/main" val="20000"/>
                    </a:ext>
                  </a:extLst>
                </a:gridCol>
                <a:gridCol w="1808480">
                  <a:extLst>
                    <a:ext uri="{9D8B030D-6E8A-4147-A177-3AD203B41FA5}">
                      <a16:colId xmlns:a16="http://schemas.microsoft.com/office/drawing/2014/main" val="20001"/>
                    </a:ext>
                  </a:extLst>
                </a:gridCol>
                <a:gridCol w="2034540">
                  <a:extLst>
                    <a:ext uri="{9D8B030D-6E8A-4147-A177-3AD203B41FA5}">
                      <a16:colId xmlns:a16="http://schemas.microsoft.com/office/drawing/2014/main" val="20002"/>
                    </a:ext>
                  </a:extLst>
                </a:gridCol>
              </a:tblGrid>
              <a:tr h="1005839">
                <a:tc>
                  <a:txBody>
                    <a:bodyPr/>
                    <a:lstStyle/>
                    <a:p>
                      <a:pPr algn="l">
                        <a:spcAft>
                          <a:spcPts val="0"/>
                        </a:spcAft>
                      </a:pPr>
                      <a:r>
                        <a:rPr lang="en-US" sz="2100" b="1">
                          <a:solidFill>
                            <a:srgbClr val="FFFFFF"/>
                          </a:solidFill>
                          <a:latin typeface="Arial" panose="020B0604020202020204" pitchFamily="34" charset="0"/>
                          <a:ea typeface="Yu Gothic"/>
                        </a:rPr>
                        <a:t>Case 16 (PY)</a:t>
                      </a:r>
                      <a:endParaRPr lang="en-US" sz="2100" b="1" dirty="0">
                        <a:solidFill>
                          <a:srgbClr val="FFFFFF"/>
                        </a:solidFill>
                        <a:latin typeface="Arial" panose="020B0604020202020204" pitchFamily="34" charset="0"/>
                        <a:ea typeface="Yu Gothic"/>
                      </a:endParaRPr>
                    </a:p>
                  </a:txBody>
                  <a:tcPr marL="128016" marR="128016" anchor="ctr">
                    <a:solidFill>
                      <a:srgbClr val="082B52"/>
                    </a:solidFill>
                  </a:tcPr>
                </a:tc>
                <a:tc>
                  <a:txBody>
                    <a:bodyPr/>
                    <a:lstStyle/>
                    <a:p>
                      <a:pPr algn="ctr">
                        <a:spcAft>
                          <a:spcPts val="0"/>
                        </a:spcAft>
                      </a:pPr>
                      <a:r>
                        <a:rPr lang="en-US" sz="2100" b="1">
                          <a:solidFill>
                            <a:srgbClr val="FFFFFF"/>
                          </a:solidFill>
                          <a:latin typeface="Arial" panose="020B0604020202020204" pitchFamily="34" charset="0"/>
                          <a:ea typeface="Yu Gothic"/>
                        </a:rPr>
                        <a:t>First orbit</a:t>
                      </a:r>
                      <a:endParaRPr lang="en-US" sz="2100" b="1" dirty="0">
                        <a:solidFill>
                          <a:srgbClr val="FFFFFF"/>
                        </a:solidFill>
                        <a:latin typeface="Arial" panose="020B0604020202020204" pitchFamily="34" charset="0"/>
                        <a:ea typeface="Yu Gothic"/>
                      </a:endParaRPr>
                    </a:p>
                  </a:txBody>
                  <a:tcPr marL="128016" marR="128016" anchor="ctr">
                    <a:solidFill>
                      <a:srgbClr val="082B52"/>
                    </a:solidFill>
                  </a:tcPr>
                </a:tc>
                <a:tc>
                  <a:txBody>
                    <a:bodyPr/>
                    <a:lstStyle/>
                    <a:p>
                      <a:pPr algn="ctr">
                        <a:spcAft>
                          <a:spcPts val="0"/>
                        </a:spcAft>
                      </a:pPr>
                      <a:r>
                        <a:rPr lang="en-US" sz="2100" b="1">
                          <a:solidFill>
                            <a:srgbClr val="FFFFFF"/>
                          </a:solidFill>
                          <a:latin typeface="Arial" panose="020B0604020202020204" pitchFamily="34" charset="0"/>
                          <a:ea typeface="Yu Gothic"/>
                        </a:rPr>
                        <a:t>Orbit 1 onward</a:t>
                      </a:r>
                      <a:endParaRPr lang="en-US" sz="2100" b="1" dirty="0">
                        <a:solidFill>
                          <a:srgbClr val="FFFFFF"/>
                        </a:solidFill>
                        <a:latin typeface="Arial" panose="020B0604020202020204" pitchFamily="34" charset="0"/>
                        <a:ea typeface="Yu Gothic"/>
                      </a:endParaRPr>
                    </a:p>
                  </a:txBody>
                  <a:tcPr marL="128016" marR="128016" anchor="ctr">
                    <a:solidFill>
                      <a:srgbClr val="082B52"/>
                    </a:solidFill>
                  </a:tcPr>
                </a:tc>
                <a:extLst>
                  <a:ext uri="{0D108BD9-81ED-4DB2-BD59-A6C34878D82A}">
                    <a16:rowId xmlns:a16="http://schemas.microsoft.com/office/drawing/2014/main" val="10000"/>
                  </a:ext>
                </a:extLst>
              </a:tr>
              <a:tr h="1005839">
                <a:tc>
                  <a:txBody>
                    <a:bodyPr/>
                    <a:lstStyle/>
                    <a:p>
                      <a:pPr algn="l">
                        <a:spcAft>
                          <a:spcPts val="0"/>
                        </a:spcAft>
                      </a:pPr>
                      <a:r>
                        <a:rPr lang="en-US" sz="2100" b="0">
                          <a:solidFill>
                            <a:srgbClr val="232B34"/>
                          </a:solidFill>
                          <a:latin typeface="Arial" panose="020B0604020202020204" pitchFamily="34" charset="0"/>
                          <a:ea typeface="Yu Gothic"/>
                        </a:rPr>
                        <a:t>Direct Fourier fit to total error</a:t>
                      </a:r>
                      <a:endParaRPr lang="en-US" sz="21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39.5 s</a:t>
                      </a:r>
                      <a:endParaRPr lang="en-US" sz="21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0.38 s</a:t>
                      </a:r>
                      <a:endParaRPr lang="en-US" sz="21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1"/>
                  </a:ext>
                </a:extLst>
              </a:tr>
              <a:tr h="1005839">
                <a:tc>
                  <a:txBody>
                    <a:bodyPr/>
                    <a:lstStyle/>
                    <a:p>
                      <a:pPr algn="l">
                        <a:spcAft>
                          <a:spcPts val="0"/>
                        </a:spcAft>
                      </a:pPr>
                      <a:r>
                        <a:rPr lang="en-US" sz="2100" b="0">
                          <a:solidFill>
                            <a:srgbClr val="232B34"/>
                          </a:solidFill>
                          <a:latin typeface="Arial" panose="020B0604020202020204" pitchFamily="34" charset="0"/>
                          <a:ea typeface="Yu Gothic"/>
                        </a:rPr>
                        <a:t>Hierarchical model + residual Fourier</a:t>
                      </a:r>
                      <a:endParaRPr lang="en-US" sz="21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1.47 s</a:t>
                      </a:r>
                      <a:endParaRPr lang="en-US" sz="21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0.40 s</a:t>
                      </a:r>
                      <a:endParaRPr lang="en-US" sz="21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15270480" y="6675120"/>
            <a:ext cx="8138160" cy="24688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471647" y="6967728"/>
            <a:ext cx="7735824" cy="406265"/>
          </a:xfrm>
          <a:prstGeom prst="rect">
            <a:avLst/>
          </a:prstGeom>
          <a:noFill/>
        </p:spPr>
        <p:txBody>
          <a:bodyPr wrap="square" lIns="45720" tIns="18288" rIns="45720" bIns="18288" anchor="t">
            <a:spAutoFit/>
          </a:bodyPr>
          <a:lstStyle/>
          <a:p>
            <a:pPr algn="ctr">
              <a:spcAft>
                <a:spcPts val="0"/>
              </a:spcAft>
            </a:pPr>
            <a:r>
              <a:rPr lang="en-US" sz="2400" b="1">
                <a:solidFill>
                  <a:srgbClr val="EC9427"/>
                </a:solidFill>
                <a:latin typeface="Arial" panose="020B0604020202020204" pitchFamily="34" charset="0"/>
                <a:ea typeface="Yu Gothic"/>
              </a:rPr>
              <a:t>A constant residual update is insufficient</a:t>
            </a:r>
            <a:endParaRPr lang="en-US" sz="2400" b="1" dirty="0">
              <a:solidFill>
                <a:srgbClr val="EC9427"/>
              </a:solidFill>
              <a:latin typeface="Arial" panose="020B0604020202020204" pitchFamily="34" charset="0"/>
              <a:ea typeface="Yu Gothic"/>
            </a:endParaRPr>
          </a:p>
        </p:txBody>
      </p:sp>
      <p:sp>
        <p:nvSpPr>
          <p:cNvPr id="10" name="TextBox 9"/>
          <p:cNvSpPr txBox="1"/>
          <p:nvPr/>
        </p:nvSpPr>
        <p:spPr>
          <a:xfrm>
            <a:off x="15544800" y="7726679"/>
            <a:ext cx="7589520" cy="782458"/>
          </a:xfrm>
          <a:prstGeom prst="rect">
            <a:avLst/>
          </a:prstGeom>
          <a:noFill/>
        </p:spPr>
        <p:txBody>
          <a:bodyPr wrap="square" lIns="45720" tIns="18288" rIns="45720" bIns="18288" anchor="t">
            <a:spAutoFit/>
          </a:bodyPr>
          <a:lstStyle/>
          <a:p>
            <a:pPr algn="ctr">
              <a:lnSpc>
                <a:spcPct val="115000"/>
              </a:lnSpc>
              <a:spcAft>
                <a:spcPts val="0"/>
              </a:spcAft>
            </a:pPr>
            <a:r>
              <a:rPr lang="en-US" sz="2200" b="0">
                <a:solidFill>
                  <a:srgbClr val="232B34"/>
                </a:solidFill>
                <a:latin typeface="Arial" panose="020B0604020202020204" pitchFamily="34" charset="0"/>
                <a:ea typeface="Yu Gothic"/>
              </a:rPr>
              <a:t>Case 13, orbit 1 onward: 1.66 → 1.35 s;
above the 0.38 s Fourier result.</a:t>
            </a:r>
            <a:endParaRPr lang="en-US" sz="2200" b="0" dirty="0">
              <a:solidFill>
                <a:srgbClr val="232B34"/>
              </a:solidFill>
              <a:latin typeface="Arial" panose="020B0604020202020204" pitchFamily="34" charset="0"/>
              <a:ea typeface="Yu Gothic"/>
            </a:endParaRPr>
          </a:p>
        </p:txBody>
      </p:sp>
      <p:sp>
        <p:nvSpPr>
          <p:cNvPr id="11" name="Rounded Rectangle 10"/>
          <p:cNvSpPr/>
          <p:nvPr/>
        </p:nvSpPr>
        <p:spPr>
          <a:xfrm>
            <a:off x="15270480" y="9418320"/>
            <a:ext cx="8138160" cy="2743200"/>
          </a:xfrm>
          <a:prstGeom prst="roundRect">
            <a:avLst/>
          </a:prstGeom>
          <a:solidFill>
            <a:srgbClr val="F4F6F8"/>
          </a:solidFill>
          <a:ln w="22860">
            <a:solidFill>
              <a:srgbClr val="666F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471647" y="9710928"/>
            <a:ext cx="7735824" cy="406265"/>
          </a:xfrm>
          <a:prstGeom prst="rect">
            <a:avLst/>
          </a:prstGeom>
          <a:noFill/>
        </p:spPr>
        <p:txBody>
          <a:bodyPr wrap="square" lIns="45720" tIns="18288" rIns="45720" bIns="18288" anchor="t">
            <a:spAutoFit/>
          </a:bodyPr>
          <a:lstStyle/>
          <a:p>
            <a:pPr algn="ctr">
              <a:spcAft>
                <a:spcPts val="0"/>
              </a:spcAft>
            </a:pPr>
            <a:r>
              <a:rPr lang="en-US" sz="2400" b="1">
                <a:solidFill>
                  <a:srgbClr val="666F79"/>
                </a:solidFill>
                <a:latin typeface="Arial" panose="020B0604020202020204" pitchFamily="34" charset="0"/>
                <a:ea typeface="Yu Gothic"/>
              </a:rPr>
              <a:t>Scope of this section</a:t>
            </a:r>
            <a:endParaRPr lang="en-US" sz="2400" b="1" dirty="0">
              <a:solidFill>
                <a:srgbClr val="666F79"/>
              </a:solidFill>
              <a:latin typeface="Arial" panose="020B0604020202020204" pitchFamily="34" charset="0"/>
              <a:ea typeface="Yu Gothic"/>
            </a:endParaRPr>
          </a:p>
        </p:txBody>
      </p:sp>
      <p:sp>
        <p:nvSpPr>
          <p:cNvPr id="13" name="TextBox 12"/>
          <p:cNvSpPr txBox="1"/>
          <p:nvPr/>
        </p:nvSpPr>
        <p:spPr>
          <a:xfrm>
            <a:off x="15544800" y="10469880"/>
            <a:ext cx="7589520" cy="1120243"/>
          </a:xfrm>
          <a:prstGeom prst="rect">
            <a:avLst/>
          </a:prstGeom>
          <a:noFill/>
        </p:spPr>
        <p:txBody>
          <a:bodyPr wrap="square" lIns="45720" tIns="18288" rIns="45720" bIns="18288" anchor="t">
            <a:spAutoFit/>
          </a:bodyPr>
          <a:lstStyle/>
          <a:p>
            <a:pPr algn="ctr">
              <a:lnSpc>
                <a:spcPct val="115000"/>
              </a:lnSpc>
              <a:spcAft>
                <a:spcPts val="0"/>
              </a:spcAft>
            </a:pPr>
            <a:r>
              <a:rPr lang="en-US" sz="2100" b="0">
                <a:solidFill>
                  <a:srgbClr val="232B34"/>
                </a:solidFill>
                <a:latin typeface="Arial" panose="020B0604020202020204" pitchFamily="34" charset="0"/>
                <a:ea typeface="Yu Gothic"/>
              </a:rPr>
              <a:t>Thermal-model coefficients are fixed.
Preliminary update of total pointing residual
after acquisition (two cases, dense sampling).</a:t>
            </a:r>
            <a:endParaRPr lang="en-US" sz="2100" b="0" dirty="0">
              <a:solidFill>
                <a:srgbClr val="232B34"/>
              </a:solidFill>
              <a:latin typeface="Arial" panose="020B0604020202020204" pitchFamily="34" charset="0"/>
              <a:ea typeface="Yu Gothic"/>
            </a:endParaRPr>
          </a:p>
        </p:txBody>
      </p:sp>
      <p:sp>
        <p:nvSpPr>
          <p:cNvPr id="14" name="TextBox 13"/>
          <p:cNvSpPr txBox="1"/>
          <p:nvPr/>
        </p:nvSpPr>
        <p:spPr>
          <a:xfrm>
            <a:off x="1005840" y="10241280"/>
            <a:ext cx="13716000" cy="914866"/>
          </a:xfrm>
          <a:prstGeom prst="rect">
            <a:avLst/>
          </a:prstGeom>
          <a:noFill/>
        </p:spPr>
        <p:txBody>
          <a:bodyPr wrap="square" lIns="45720" tIns="18288" rIns="45720" bIns="18288" anchor="t">
            <a:spAutoFit/>
          </a:bodyPr>
          <a:lstStyle/>
          <a:p>
            <a:pPr algn="ctr">
              <a:lnSpc>
                <a:spcPct val="125000"/>
              </a:lnSpc>
              <a:spcAft>
                <a:spcPts val="0"/>
              </a:spcAft>
            </a:pPr>
            <a:r>
              <a:rPr lang="en-US" sz="2400" b="1">
                <a:solidFill>
                  <a:srgbClr val="082B52"/>
                </a:solidFill>
                <a:latin typeface="Arial" panose="020B0604020202020204" pitchFamily="34" charset="0"/>
                <a:ea typeface="Yu Gothic"/>
              </a:rPr>
              <a:t>Primary result: temperature/operating-state feedforward.</a:t>
            </a:r>
          </a:p>
          <a:p>
            <a:pPr algn="ctr">
              <a:lnSpc>
                <a:spcPct val="125000"/>
              </a:lnSpc>
              <a:spcAft>
                <a:spcPts val="0"/>
              </a:spcAft>
            </a:pPr>
            <a:r>
              <a:rPr lang="en-US" sz="2400" b="1">
                <a:solidFill>
                  <a:srgbClr val="082B52"/>
                </a:solidFill>
                <a:latin typeface="Arial" panose="020B0604020202020204" pitchFamily="34" charset="0"/>
                <a:ea typeface="Yu Gothic"/>
              </a:rPr>
              <a:t>Repeated links may reduce the floor further.</a:t>
            </a:r>
            <a:endParaRPr lang="en-US" sz="2400" b="1" dirty="0">
              <a:solidFill>
                <a:srgbClr val="082B52"/>
              </a:solidFill>
              <a:latin typeface="Arial" panose="020B0604020202020204" pitchFamily="34" charset="0"/>
              <a:ea typeface="Yu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dirty="0">
                <a:solidFill>
                  <a:srgbClr val="666F79"/>
                </a:solidFill>
                <a:latin typeface="Arial" panose="020B0604020202020204" pitchFamily="34" charset="0"/>
                <a:ea typeface="Yu Gothic"/>
              </a:rPr>
              <a:t>Appendix</a:t>
            </a:r>
          </a:p>
        </p:txBody>
      </p:sp>
      <p:sp>
        <p:nvSpPr>
          <p:cNvPr id="3" name="TextBox 2"/>
          <p:cNvSpPr txBox="1"/>
          <p:nvPr/>
        </p:nvSpPr>
        <p:spPr>
          <a:xfrm>
            <a:off x="1016000" y="1219200"/>
            <a:ext cx="22352000" cy="711200"/>
          </a:xfrm>
          <a:prstGeom prst="rect">
            <a:avLst/>
          </a:prstGeom>
          <a:noFill/>
        </p:spPr>
        <p:txBody>
          <a:bodyPr wrap="square" lIns="45720" tIns="18288" rIns="45720" bIns="18288" anchor="ctr">
            <a:noAutofit/>
          </a:bodyPr>
          <a:lstStyle/>
          <a:p>
            <a:pPr>
              <a:lnSpc>
                <a:spcPct val="110000"/>
              </a:lnSpc>
              <a:spcAft>
                <a:spcPts val="0"/>
              </a:spcAft>
            </a:pPr>
            <a:r>
              <a:rPr lang="en-US" sz="3200" b="1" dirty="0">
                <a:solidFill>
                  <a:srgbClr val="082B52"/>
                </a:solidFill>
                <a:latin typeface="Arial" panose="020B0604020202020204" pitchFamily="34" charset="0"/>
                <a:ea typeface="Yu Gothic"/>
              </a:rPr>
              <a:t>Shared sensitivity and the predicted case bias</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endParaRPr sz="1800" b="0" dirty="0">
              <a:solidFill>
                <a:srgbClr val="666F79"/>
              </a:solidFill>
              <a:latin typeface="Arial" panose="020B0604020202020204" pitchFamily="34" charset="0"/>
              <a:ea typeface="Yu Gothic"/>
            </a:endParaRPr>
          </a:p>
        </p:txBody>
      </p:sp>
      <p:sp>
        <p:nvSpPr>
          <p:cNvPr id="5" name="Rectangle 4"/>
          <p:cNvSpPr/>
          <p:nvPr/>
        </p:nvSpPr>
        <p:spPr>
          <a:xfrm>
            <a:off x="1005840" y="3017520"/>
            <a:ext cx="11155680" cy="630936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2390120" y="3017520"/>
            <a:ext cx="11155680" cy="630936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p3_a_emp_by_sunface.png"/>
          <p:cNvPicPr>
            <a:picLocks noChangeAspect="1"/>
          </p:cNvPicPr>
          <p:nvPr/>
        </p:nvPicPr>
        <p:blipFill>
          <a:blip r:embed="rId3"/>
          <a:stretch>
            <a:fillRect/>
          </a:stretch>
        </p:blipFill>
        <p:spPr>
          <a:xfrm>
            <a:off x="1410788" y="3154680"/>
            <a:ext cx="10345782" cy="6035040"/>
          </a:xfrm>
          <a:prstGeom prst="rect">
            <a:avLst/>
          </a:prstGeom>
        </p:spPr>
      </p:pic>
      <p:pic>
        <p:nvPicPr>
          <p:cNvPr id="8" name="Picture 7" descr="image.png"/>
          <p:cNvPicPr>
            <a:picLocks noChangeAspect="1"/>
          </p:cNvPicPr>
          <p:nvPr/>
        </p:nvPicPr>
        <p:blipFill>
          <a:blip r:embed="rId4"/>
          <a:stretch>
            <a:fillRect/>
          </a:stretch>
        </p:blipFill>
        <p:spPr>
          <a:xfrm>
            <a:off x="12712446" y="3154680"/>
            <a:ext cx="10511028" cy="6035040"/>
          </a:xfrm>
          <a:prstGeom prst="rect">
            <a:avLst/>
          </a:prstGeom>
        </p:spPr>
      </p:pic>
      <p:sp>
        <p:nvSpPr>
          <p:cNvPr id="9" name="TextBox 8"/>
          <p:cNvSpPr txBox="1"/>
          <p:nvPr/>
        </p:nvSpPr>
        <p:spPr>
          <a:xfrm>
            <a:off x="1005840" y="9418320"/>
            <a:ext cx="11155680" cy="360099"/>
          </a:xfrm>
          <a:prstGeom prst="rect">
            <a:avLst/>
          </a:prstGeom>
          <a:noFill/>
        </p:spPr>
        <p:txBody>
          <a:bodyPr wrap="square" lIns="45720" tIns="18288" rIns="45720" bIns="18288" anchor="t">
            <a:spAutoFit/>
          </a:bodyPr>
          <a:lstStyle/>
          <a:p>
            <a:pPr algn="ctr">
              <a:spcAft>
                <a:spcPts val="0"/>
              </a:spcAft>
            </a:pPr>
            <a:r>
              <a:rPr lang="en-US" sz="2100" b="1">
                <a:solidFill>
                  <a:srgbClr val="1B74AA"/>
                </a:solidFill>
                <a:latin typeface="Arial" panose="020B0604020202020204" pitchFamily="34" charset="0"/>
                <a:ea typeface="Yu Gothic"/>
              </a:rPr>
              <a:t>Sun-face sensitivities a (case-specific and shared)</a:t>
            </a:r>
            <a:endParaRPr lang="en-US" sz="2100" b="1" dirty="0" err="1">
              <a:solidFill>
                <a:srgbClr val="1B74AA"/>
              </a:solidFill>
              <a:latin typeface="Arial" panose="020B0604020202020204" pitchFamily="34" charset="0"/>
              <a:ea typeface="Yu Gothic"/>
            </a:endParaRPr>
          </a:p>
        </p:txBody>
      </p:sp>
      <p:sp>
        <p:nvSpPr>
          <p:cNvPr id="10" name="TextBox 9"/>
          <p:cNvSpPr txBox="1"/>
          <p:nvPr/>
        </p:nvSpPr>
        <p:spPr>
          <a:xfrm>
            <a:off x="12390120" y="9418320"/>
            <a:ext cx="11155680" cy="360099"/>
          </a:xfrm>
          <a:prstGeom prst="rect">
            <a:avLst/>
          </a:prstGeom>
          <a:noFill/>
        </p:spPr>
        <p:txBody>
          <a:bodyPr wrap="square" lIns="45720" tIns="18288" rIns="45720" bIns="18288" anchor="t">
            <a:spAutoFit/>
          </a:bodyPr>
          <a:lstStyle/>
          <a:p>
            <a:pPr algn="ctr">
              <a:spcAft>
                <a:spcPts val="0"/>
              </a:spcAft>
            </a:pPr>
            <a:r>
              <a:rPr lang="en-US" sz="2100" b="1">
                <a:solidFill>
                  <a:srgbClr val="239571"/>
                </a:solidFill>
                <a:latin typeface="Arial" panose="020B0604020202020204" pitchFamily="34" charset="0"/>
                <a:ea typeface="Yu Gothic"/>
              </a:rPr>
              <a:t>Case bias b: empirical versus predicted</a:t>
            </a:r>
            <a:endParaRPr lang="en-US" sz="2100" b="1" dirty="0">
              <a:solidFill>
                <a:srgbClr val="239571"/>
              </a:solidFill>
              <a:latin typeface="Arial" panose="020B0604020202020204" pitchFamily="34" charset="0"/>
              <a:ea typeface="Yu Gothic"/>
            </a:endParaRPr>
          </a:p>
        </p:txBody>
      </p:sp>
      <p:sp>
        <p:nvSpPr>
          <p:cNvPr id="20" name="TextBox 19"/>
          <p:cNvSpPr txBox="1"/>
          <p:nvPr/>
        </p:nvSpPr>
        <p:spPr>
          <a:xfrm>
            <a:off x="1463040" y="10312400"/>
            <a:ext cx="21396960" cy="375487"/>
          </a:xfrm>
          <a:prstGeom prst="rect">
            <a:avLst/>
          </a:prstGeom>
          <a:noFill/>
        </p:spPr>
        <p:txBody>
          <a:bodyPr wrap="square" lIns="45720" tIns="18288" rIns="45720" bIns="18288" anchor="t">
            <a:spAutoFit/>
          </a:bodyPr>
          <a:lstStyle/>
          <a:p>
            <a:pPr algn="ctr">
              <a:spcAft>
                <a:spcPts val="0"/>
              </a:spcAft>
            </a:pPr>
            <a:r>
              <a:rPr lang="en-US" sz="2200" b="0">
                <a:solidFill>
                  <a:srgbClr val="666F79"/>
                </a:solidFill>
                <a:latin typeface="Arial" panose="020B0604020202020204" pitchFamily="34" charset="0"/>
                <a:ea typeface="Yu Gothic"/>
              </a:rPr>
              <a:t>Shared sensitivity: MX +30.6 / MY +28.6 / PX −28.1 / PY −28.7 µrad/K</a:t>
            </a:r>
            <a:endParaRPr lang="en-US" sz="2200" b="0" dirty="0">
              <a:solidFill>
                <a:srgbClr val="666F79"/>
              </a:solidFill>
              <a:latin typeface="Arial" panose="020B0604020202020204" pitchFamily="34" charset="0"/>
              <a:ea typeface="Yu Gothic"/>
            </a:endParaRPr>
          </a:p>
        </p:txBody>
      </p:sp>
    </p:spTree>
    <p:extLst>
      <p:ext uri="{BB962C8B-B14F-4D97-AF65-F5344CB8AC3E}">
        <p14:creationId xmlns:p14="http://schemas.microsoft.com/office/powerpoint/2010/main" val="10313985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dirty="0">
                <a:solidFill>
                  <a:srgbClr val="666F79"/>
                </a:solidFill>
                <a:latin typeface="Arial" panose="020B0604020202020204" pitchFamily="34" charset="0"/>
                <a:ea typeface="Yu Gothic"/>
              </a:rPr>
              <a:t>Appendix</a:t>
            </a:r>
          </a:p>
        </p:txBody>
      </p:sp>
      <p:sp>
        <p:nvSpPr>
          <p:cNvPr id="3" name="TextBox 2"/>
          <p:cNvSpPr txBox="1"/>
          <p:nvPr/>
        </p:nvSpPr>
        <p:spPr>
          <a:xfrm>
            <a:off x="1536192" y="1614045"/>
            <a:ext cx="22037040" cy="557525"/>
          </a:xfrm>
          <a:prstGeom prst="rect">
            <a:avLst/>
          </a:prstGeom>
          <a:noFill/>
        </p:spPr>
        <p:txBody>
          <a:bodyPr wrap="square" lIns="45720" tIns="18288" rIns="45720" bIns="18288" anchor="ctr">
            <a:spAutoFit/>
          </a:bodyPr>
          <a:lstStyle/>
          <a:p>
            <a:pPr algn="l">
              <a:lnSpc>
                <a:spcPct val="110000"/>
              </a:lnSpc>
              <a:spcAft>
                <a:spcPts val="0"/>
              </a:spcAft>
            </a:pPr>
            <a:r>
              <a:rPr lang="en-US" sz="3200" b="1" dirty="0">
                <a:solidFill>
                  <a:srgbClr val="082B52"/>
                </a:solidFill>
                <a:latin typeface="Arial" panose="020B0604020202020204" pitchFamily="34" charset="0"/>
                <a:ea typeface="Yu Gothic"/>
              </a:rPr>
              <a:t>Even </a:t>
            </a:r>
            <a:r>
              <a:rPr lang="en-US" sz="3200" b="1">
                <a:solidFill>
                  <a:srgbClr val="082B52"/>
                </a:solidFill>
                <a:latin typeface="Arial" panose="020B0604020202020204" pitchFamily="34" charset="0"/>
                <a:ea typeface="Yu Gothic"/>
              </a:rPr>
              <a:t>for the Case with one of the largest thermal LOS errors, 1250 µrad falls to 3.9 µrad</a:t>
            </a:r>
            <a:endParaRPr lang="en-US" sz="3200" b="1" dirty="0">
              <a:solidFill>
                <a:srgbClr val="082B52"/>
              </a:solidFill>
              <a:latin typeface="Arial" panose="020B0604020202020204" pitchFamily="34" charset="0"/>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endParaRPr sz="1800" b="0" dirty="0">
              <a:solidFill>
                <a:srgbClr val="666F79"/>
              </a:solidFill>
              <a:latin typeface="Arial" panose="020B0604020202020204" pitchFamily="34" charset="0"/>
              <a:ea typeface="Yu Gothic"/>
            </a:endParaRPr>
          </a:p>
        </p:txBody>
      </p:sp>
      <p:sp>
        <p:nvSpPr>
          <p:cNvPr id="5" name="Rectangle 4"/>
          <p:cNvSpPr/>
          <p:nvPr/>
        </p:nvSpPr>
        <p:spPr>
          <a:xfrm>
            <a:off x="1005840" y="3017520"/>
            <a:ext cx="14081760" cy="877824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case08_no_log_title.png"/>
          <p:cNvPicPr>
            <a:picLocks noChangeAspect="1"/>
          </p:cNvPicPr>
          <p:nvPr/>
        </p:nvPicPr>
        <p:blipFill>
          <a:blip r:embed="rId3"/>
          <a:stretch>
            <a:fillRect/>
          </a:stretch>
        </p:blipFill>
        <p:spPr>
          <a:xfrm>
            <a:off x="2078059" y="3154680"/>
            <a:ext cx="11937320" cy="8503920"/>
          </a:xfrm>
          <a:prstGeom prst="rect">
            <a:avLst/>
          </a:prstGeom>
        </p:spPr>
      </p:pic>
      <p:sp>
        <p:nvSpPr>
          <p:cNvPr id="7" name="TextBox 6"/>
          <p:cNvSpPr txBox="1"/>
          <p:nvPr/>
        </p:nvSpPr>
        <p:spPr>
          <a:xfrm>
            <a:off x="1005840" y="11841480"/>
            <a:ext cx="14081760" cy="375487"/>
          </a:xfrm>
          <a:prstGeom prst="rect">
            <a:avLst/>
          </a:prstGeom>
          <a:noFill/>
        </p:spPr>
        <p:txBody>
          <a:bodyPr wrap="square" lIns="45720" tIns="18288" rIns="45720" bIns="18288" anchor="t">
            <a:spAutoFit/>
          </a:bodyPr>
          <a:lstStyle/>
          <a:p>
            <a:pPr algn="ctr">
              <a:spcAft>
                <a:spcPts val="0"/>
              </a:spcAft>
            </a:pPr>
            <a:r>
              <a:rPr lang="en-US" sz="2200" b="1">
                <a:solidFill>
                  <a:srgbClr val="1B74AA"/>
                </a:solidFill>
                <a:latin typeface="Arial" panose="020B0604020202020204" pitchFamily="34" charset="0"/>
                <a:ea typeface="Yu Gothic"/>
              </a:rPr>
              <a:t>Case 08 (PY sun face, all units dissipating)</a:t>
            </a:r>
            <a:endParaRPr lang="en-US" sz="2200" b="1" dirty="0">
              <a:solidFill>
                <a:srgbClr val="1B74AA"/>
              </a:solidFill>
              <a:latin typeface="Arial" panose="020B0604020202020204" pitchFamily="34" charset="0"/>
              <a:ea typeface="Yu Gothic"/>
            </a:endParaRPr>
          </a:p>
        </p:txBody>
      </p:sp>
      <p:sp>
        <p:nvSpPr>
          <p:cNvPr id="8" name="Rounded Rectangle 7"/>
          <p:cNvSpPr/>
          <p:nvPr/>
        </p:nvSpPr>
        <p:spPr>
          <a:xfrm>
            <a:off x="15727680" y="3474720"/>
            <a:ext cx="7498079" cy="210312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837408" y="3639312"/>
            <a:ext cx="7278623" cy="590931"/>
          </a:xfrm>
          <a:prstGeom prst="rect">
            <a:avLst/>
          </a:prstGeom>
          <a:noFill/>
        </p:spPr>
        <p:txBody>
          <a:bodyPr wrap="square" lIns="45720" tIns="18288" rIns="45720" bIns="18288" anchor="t">
            <a:spAutoFit/>
          </a:bodyPr>
          <a:lstStyle/>
          <a:p>
            <a:pPr algn="ctr">
              <a:spcAft>
                <a:spcPts val="0"/>
              </a:spcAft>
            </a:pPr>
            <a:r>
              <a:rPr lang="en-US" sz="3600" b="1">
                <a:solidFill>
                  <a:srgbClr val="D03B46"/>
                </a:solidFill>
                <a:latin typeface="Arial" panose="020B0604020202020204" pitchFamily="34" charset="0"/>
                <a:ea typeface="Yu Gothic"/>
              </a:rPr>
              <a:t>1250 µrad</a:t>
            </a:r>
            <a:endParaRPr lang="en-US" sz="3600" b="1" dirty="0">
              <a:solidFill>
                <a:srgbClr val="D03B46"/>
              </a:solidFill>
              <a:latin typeface="Arial" panose="020B0604020202020204" pitchFamily="34" charset="0"/>
              <a:ea typeface="Yu Gothic"/>
            </a:endParaRPr>
          </a:p>
        </p:txBody>
      </p:sp>
      <p:sp>
        <p:nvSpPr>
          <p:cNvPr id="10" name="TextBox 9"/>
          <p:cNvSpPr txBox="1"/>
          <p:nvPr/>
        </p:nvSpPr>
        <p:spPr>
          <a:xfrm>
            <a:off x="15837408" y="4652467"/>
            <a:ext cx="7278623" cy="322652"/>
          </a:xfrm>
          <a:prstGeom prst="rect">
            <a:avLst/>
          </a:prstGeom>
          <a:noFill/>
        </p:spPr>
        <p:txBody>
          <a:bodyPr wrap="square" lIns="45720" tIns="18288" rIns="45720" bIns="18288" anchor="t">
            <a:spAutoFit/>
          </a:bodyPr>
          <a:lstStyle/>
          <a:p>
            <a:pPr algn="ctr">
              <a:lnSpc>
                <a:spcPct val="105000"/>
              </a:lnSpc>
              <a:spcAft>
                <a:spcPts val="0"/>
              </a:spcAft>
            </a:pPr>
            <a:r>
              <a:rPr lang="en-US" sz="1900" b="0">
                <a:solidFill>
                  <a:srgbClr val="666F79"/>
                </a:solidFill>
                <a:latin typeface="Arial" panose="020B0604020202020204" pitchFamily="34" charset="0"/>
                <a:ea typeface="Yu Gothic"/>
              </a:rPr>
              <a:t>Raw dominant-axis RMS</a:t>
            </a:r>
            <a:endParaRPr lang="en-US" sz="1900" b="0" dirty="0">
              <a:solidFill>
                <a:srgbClr val="666F79"/>
              </a:solidFill>
              <a:latin typeface="Arial" panose="020B0604020202020204" pitchFamily="34" charset="0"/>
              <a:ea typeface="Yu Gothic"/>
            </a:endParaRPr>
          </a:p>
        </p:txBody>
      </p:sp>
      <p:sp>
        <p:nvSpPr>
          <p:cNvPr id="11" name="Rounded Rectangle 10"/>
          <p:cNvSpPr/>
          <p:nvPr/>
        </p:nvSpPr>
        <p:spPr>
          <a:xfrm>
            <a:off x="15727680" y="5852160"/>
            <a:ext cx="7498079" cy="210312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837408" y="6016752"/>
            <a:ext cx="7278623" cy="590931"/>
          </a:xfrm>
          <a:prstGeom prst="rect">
            <a:avLst/>
          </a:prstGeom>
          <a:noFill/>
        </p:spPr>
        <p:txBody>
          <a:bodyPr wrap="square" lIns="45720" tIns="18288" rIns="45720" bIns="18288" anchor="t">
            <a:spAutoFit/>
          </a:bodyPr>
          <a:lstStyle/>
          <a:p>
            <a:pPr algn="ctr">
              <a:spcAft>
                <a:spcPts val="0"/>
              </a:spcAft>
            </a:pPr>
            <a:r>
              <a:rPr lang="en-US" sz="3600" b="1">
                <a:solidFill>
                  <a:srgbClr val="239571"/>
                </a:solidFill>
                <a:latin typeface="Arial" panose="020B0604020202020204" pitchFamily="34" charset="0"/>
                <a:ea typeface="Yu Gothic"/>
              </a:rPr>
              <a:t>3.9 µrad</a:t>
            </a:r>
            <a:endParaRPr lang="en-US" sz="3600" b="1" dirty="0">
              <a:solidFill>
                <a:srgbClr val="239571"/>
              </a:solidFill>
              <a:latin typeface="Arial" panose="020B0604020202020204" pitchFamily="34" charset="0"/>
              <a:ea typeface="Yu Gothic"/>
            </a:endParaRPr>
          </a:p>
        </p:txBody>
      </p:sp>
      <p:sp>
        <p:nvSpPr>
          <p:cNvPr id="13" name="TextBox 12"/>
          <p:cNvSpPr txBox="1"/>
          <p:nvPr/>
        </p:nvSpPr>
        <p:spPr>
          <a:xfrm>
            <a:off x="15837408" y="7029907"/>
            <a:ext cx="7278623" cy="322652"/>
          </a:xfrm>
          <a:prstGeom prst="rect">
            <a:avLst/>
          </a:prstGeom>
          <a:noFill/>
        </p:spPr>
        <p:txBody>
          <a:bodyPr wrap="square" lIns="45720" tIns="18288" rIns="45720" bIns="18288" anchor="t">
            <a:spAutoFit/>
          </a:bodyPr>
          <a:lstStyle/>
          <a:p>
            <a:pPr algn="ctr">
              <a:lnSpc>
                <a:spcPct val="105000"/>
              </a:lnSpc>
              <a:spcAft>
                <a:spcPts val="0"/>
              </a:spcAft>
            </a:pPr>
            <a:r>
              <a:rPr lang="en-US" sz="1900" b="0">
                <a:solidFill>
                  <a:srgbClr val="666F79"/>
                </a:solidFill>
                <a:latin typeface="Arial" panose="020B0604020202020204" pitchFamily="34" charset="0"/>
                <a:ea typeface="Yu Gothic"/>
              </a:rPr>
              <a:t>Test RMSE for an unseen case</a:t>
            </a:r>
            <a:endParaRPr lang="en-US" sz="1900" b="0" dirty="0">
              <a:solidFill>
                <a:srgbClr val="666F79"/>
              </a:solidFill>
              <a:latin typeface="Arial" panose="020B0604020202020204" pitchFamily="34" charset="0"/>
              <a:ea typeface="Yu Gothic"/>
            </a:endParaRPr>
          </a:p>
        </p:txBody>
      </p:sp>
      <p:sp>
        <p:nvSpPr>
          <p:cNvPr id="14" name="Rounded Rectangle 13"/>
          <p:cNvSpPr/>
          <p:nvPr/>
        </p:nvSpPr>
        <p:spPr>
          <a:xfrm>
            <a:off x="15727680" y="8229600"/>
            <a:ext cx="7498079" cy="237744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5928847" y="8522208"/>
            <a:ext cx="7095743" cy="421654"/>
          </a:xfrm>
          <a:prstGeom prst="rect">
            <a:avLst/>
          </a:prstGeom>
          <a:noFill/>
        </p:spPr>
        <p:txBody>
          <a:bodyPr wrap="square" lIns="45720" tIns="18288" rIns="45720" bIns="18288" anchor="t">
            <a:spAutoFit/>
          </a:bodyPr>
          <a:lstStyle/>
          <a:p>
            <a:pPr algn="ctr">
              <a:spcAft>
                <a:spcPts val="0"/>
              </a:spcAft>
            </a:pPr>
            <a:r>
              <a:rPr lang="en-US" sz="2500" b="1">
                <a:solidFill>
                  <a:srgbClr val="1B74AA"/>
                </a:solidFill>
                <a:latin typeface="Arial" panose="020B0604020202020204" pitchFamily="34" charset="0"/>
                <a:ea typeface="Yu Gothic"/>
              </a:rPr>
              <a:t>First scan point is sufficient</a:t>
            </a:r>
            <a:endParaRPr lang="en-US" sz="2500" b="1" dirty="0">
              <a:solidFill>
                <a:srgbClr val="1B74AA"/>
              </a:solidFill>
              <a:latin typeface="Arial" panose="020B0604020202020204" pitchFamily="34" charset="0"/>
              <a:ea typeface="Yu Gothic"/>
            </a:endParaRPr>
          </a:p>
        </p:txBody>
      </p:sp>
      <p:sp>
        <p:nvSpPr>
          <p:cNvPr id="16" name="TextBox 15"/>
          <p:cNvSpPr txBox="1"/>
          <p:nvPr/>
        </p:nvSpPr>
        <p:spPr>
          <a:xfrm>
            <a:off x="16002000" y="9326880"/>
            <a:ext cx="6949440" cy="816377"/>
          </a:xfrm>
          <a:prstGeom prst="rect">
            <a:avLst/>
          </a:prstGeom>
          <a:noFill/>
        </p:spPr>
        <p:txBody>
          <a:bodyPr wrap="square" lIns="45720" tIns="18288" rIns="45720" bIns="18288" anchor="t">
            <a:spAutoFit/>
          </a:bodyPr>
          <a:lstStyle/>
          <a:p>
            <a:pPr algn="ctr">
              <a:lnSpc>
                <a:spcPct val="115000"/>
              </a:lnSpc>
              <a:spcAft>
                <a:spcPts val="0"/>
              </a:spcAft>
            </a:pPr>
            <a:r>
              <a:rPr lang="en-US" sz="2300" b="0">
                <a:solidFill>
                  <a:srgbClr val="232B34"/>
                </a:solidFill>
                <a:latin typeface="Arial" panose="020B0604020202020204" pitchFamily="34" charset="0"/>
                <a:ea typeface="Yu Gothic"/>
              </a:rPr>
              <a:t>Corrected residual is well below
the 150 µrad detection radius</a:t>
            </a:r>
            <a:endParaRPr lang="en-US" sz="2300" b="0" dirty="0">
              <a:solidFill>
                <a:srgbClr val="232B34"/>
              </a:solidFill>
              <a:latin typeface="Arial" panose="020B0604020202020204" pitchFamily="34" charset="0"/>
              <a:ea typeface="Yu Gothic"/>
            </a:endParaRPr>
          </a:p>
        </p:txBody>
      </p:sp>
      <p:sp>
        <p:nvSpPr>
          <p:cNvPr id="17" name="TextBox 16"/>
          <p:cNvSpPr txBox="1"/>
          <p:nvPr/>
        </p:nvSpPr>
        <p:spPr>
          <a:xfrm>
            <a:off x="15727680" y="10835640"/>
            <a:ext cx="7498079" cy="406265"/>
          </a:xfrm>
          <a:prstGeom prst="rect">
            <a:avLst/>
          </a:prstGeom>
          <a:noFill/>
        </p:spPr>
        <p:txBody>
          <a:bodyPr wrap="square" lIns="45720" tIns="18288" rIns="45720" bIns="18288" anchor="t">
            <a:spAutoFit/>
          </a:bodyPr>
          <a:lstStyle/>
          <a:p>
            <a:pPr algn="ctr">
              <a:spcAft>
                <a:spcPts val="0"/>
              </a:spcAft>
            </a:pPr>
            <a:r>
              <a:rPr lang="en-US" sz="2400" b="1">
                <a:solidFill>
                  <a:srgbClr val="082B52"/>
                </a:solidFill>
                <a:latin typeface="Arial" panose="020B0604020202020204" pitchFamily="34" charset="0"/>
                <a:ea typeface="Yu Gothic"/>
              </a:rPr>
              <a:t>ΔT follows the within-orbit variation</a:t>
            </a:r>
            <a:endParaRPr lang="en-US" sz="2400" b="1" dirty="0">
              <a:solidFill>
                <a:srgbClr val="082B52"/>
              </a:solidFill>
              <a:latin typeface="Arial" panose="020B0604020202020204" pitchFamily="34" charset="0"/>
              <a:ea typeface="Yu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dirty="0">
                <a:solidFill>
                  <a:srgbClr val="666F79"/>
                </a:solidFill>
                <a:latin typeface="Arial" panose="020B0604020202020204" pitchFamily="34" charset="0"/>
                <a:ea typeface="Yu Gothic"/>
              </a:rPr>
              <a:t>Appendix</a:t>
            </a:r>
          </a:p>
        </p:txBody>
      </p:sp>
      <p:sp>
        <p:nvSpPr>
          <p:cNvPr id="3" name="TextBox 2"/>
          <p:cNvSpPr txBox="1"/>
          <p:nvPr/>
        </p:nvSpPr>
        <p:spPr>
          <a:xfrm>
            <a:off x="1536192" y="1298448"/>
            <a:ext cx="22037040" cy="1009507"/>
          </a:xfrm>
          <a:prstGeom prst="rect">
            <a:avLst/>
          </a:prstGeom>
          <a:noFill/>
        </p:spPr>
        <p:txBody>
          <a:bodyPr wrap="square" lIns="36576" tIns="27432" rIns="36576" bIns="27432" anchor="t">
            <a:spAutoFit/>
          </a:bodyPr>
          <a:lstStyle/>
          <a:p>
            <a:pPr algn="l">
              <a:spcAft>
                <a:spcPts val="0"/>
              </a:spcAft>
            </a:pPr>
            <a:endParaRPr lang="en-US" sz="3100" b="1" dirty="0">
              <a:solidFill>
                <a:srgbClr val="082B52"/>
              </a:solidFill>
              <a:latin typeface="Arial" panose="020B0604020202020204" pitchFamily="34" charset="0"/>
              <a:ea typeface="Yu Gothic"/>
            </a:endParaRPr>
          </a:p>
          <a:p>
            <a:pPr algn="l">
              <a:spcAft>
                <a:spcPts val="0"/>
              </a:spcAft>
            </a:pPr>
            <a:r>
              <a:rPr lang="en-US" sz="3100" b="1">
                <a:solidFill>
                  <a:srgbClr val="082B52"/>
                </a:solidFill>
                <a:latin typeface="Arial" panose="020B0604020202020204" pitchFamily="34" charset="0"/>
                <a:ea typeface="Yu Gothic"/>
              </a:rPr>
              <a:t>With nonthermal LOS error, the mean drops from 19.2 to 5.45 s; the residual is governed by nonthermal error</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endParaRPr sz="1800" b="0" dirty="0">
              <a:solidFill>
                <a:srgbClr val="666F79"/>
              </a:solidFill>
              <a:latin typeface="Arial" panose="020B0604020202020204" pitchFamily="34" charset="0"/>
              <a:ea typeface="Yu Gothic"/>
            </a:endParaRPr>
          </a:p>
        </p:txBody>
      </p:sp>
      <p:sp>
        <p:nvSpPr>
          <p:cNvPr id="5" name="TextBox 4"/>
          <p:cNvSpPr txBox="1"/>
          <p:nvPr/>
        </p:nvSpPr>
        <p:spPr>
          <a:xfrm>
            <a:off x="1371600" y="3910128"/>
            <a:ext cx="4217212" cy="409343"/>
          </a:xfrm>
          <a:prstGeom prst="rect">
            <a:avLst/>
          </a:prstGeom>
          <a:noFill/>
        </p:spPr>
        <p:txBody>
          <a:bodyPr wrap="square" lIns="36576" tIns="27432" rIns="36576" bIns="27432" anchor="ctr">
            <a:spAutoFit/>
          </a:bodyPr>
          <a:lstStyle/>
          <a:p>
            <a:pPr algn="l">
              <a:spcAft>
                <a:spcPts val="0"/>
              </a:spcAft>
            </a:pPr>
            <a:r>
              <a:rPr lang="en-US" sz="2300" b="0">
                <a:solidFill>
                  <a:srgbClr val="232B34"/>
                </a:solidFill>
                <a:latin typeface="Arial" panose="020B0604020202020204" pitchFamily="34" charset="0"/>
                <a:ea typeface="Yu Gothic"/>
              </a:rPr>
              <a:t>No correction</a:t>
            </a:r>
            <a:endParaRPr lang="en-US" sz="2300" b="0" dirty="0">
              <a:solidFill>
                <a:srgbClr val="232B34"/>
              </a:solidFill>
              <a:latin typeface="Arial" panose="020B0604020202020204" pitchFamily="34" charset="0"/>
              <a:ea typeface="Yu Gothic"/>
            </a:endParaRPr>
          </a:p>
        </p:txBody>
      </p:sp>
      <p:sp>
        <p:nvSpPr>
          <p:cNvPr id="6" name="Rectangle 5"/>
          <p:cNvSpPr/>
          <p:nvPr/>
        </p:nvSpPr>
        <p:spPr>
          <a:xfrm>
            <a:off x="5680252" y="33375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80252" y="3337560"/>
            <a:ext cx="8373230" cy="15544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328647" y="3917823"/>
            <a:ext cx="914400" cy="393954"/>
          </a:xfrm>
          <a:prstGeom prst="rect">
            <a:avLst/>
          </a:prstGeom>
          <a:noFill/>
        </p:spPr>
        <p:txBody>
          <a:bodyPr wrap="square" lIns="36576" tIns="27432" rIns="36576" bIns="27432" anchor="ctr">
            <a:spAutoFit/>
          </a:bodyPr>
          <a:lstStyle/>
          <a:p>
            <a:pPr algn="l">
              <a:spcAft>
                <a:spcPts val="0"/>
              </a:spcAft>
            </a:pPr>
            <a:r>
              <a:rPr lang="en-US" sz="2200" b="1">
                <a:solidFill>
                  <a:srgbClr val="D03B46"/>
                </a:solidFill>
                <a:latin typeface="Arial" panose="020B0604020202020204" pitchFamily="34" charset="0"/>
                <a:ea typeface="Yu Gothic"/>
              </a:rPr>
              <a:t>19.2 s</a:t>
            </a:r>
            <a:endParaRPr lang="en-US" sz="2200" b="1" dirty="0">
              <a:solidFill>
                <a:srgbClr val="D03B46"/>
              </a:solidFill>
              <a:latin typeface="Arial" panose="020B0604020202020204" pitchFamily="34" charset="0"/>
              <a:ea typeface="Yu Gothic"/>
            </a:endParaRPr>
          </a:p>
        </p:txBody>
      </p:sp>
      <p:sp>
        <p:nvSpPr>
          <p:cNvPr id="9" name="TextBox 8"/>
          <p:cNvSpPr txBox="1"/>
          <p:nvPr/>
        </p:nvSpPr>
        <p:spPr>
          <a:xfrm>
            <a:off x="1371600" y="5738928"/>
            <a:ext cx="4217212" cy="409343"/>
          </a:xfrm>
          <a:prstGeom prst="rect">
            <a:avLst/>
          </a:prstGeom>
          <a:noFill/>
        </p:spPr>
        <p:txBody>
          <a:bodyPr wrap="square" lIns="36576" tIns="27432" rIns="36576" bIns="27432" anchor="ctr">
            <a:spAutoFit/>
          </a:bodyPr>
          <a:lstStyle/>
          <a:p>
            <a:pPr algn="l">
              <a:spcAft>
                <a:spcPts val="0"/>
              </a:spcAft>
            </a:pPr>
            <a:r>
              <a:rPr lang="en-US" sz="2300" b="0">
                <a:solidFill>
                  <a:srgbClr val="232B34"/>
                </a:solidFill>
                <a:latin typeface="Arial" panose="020B0604020202020204" pitchFamily="34" charset="0"/>
                <a:ea typeface="Yu Gothic"/>
              </a:rPr>
              <a:t>Hierarchical model</a:t>
            </a:r>
            <a:endParaRPr lang="en-US" sz="2300" b="0" dirty="0">
              <a:solidFill>
                <a:srgbClr val="232B34"/>
              </a:solidFill>
              <a:latin typeface="Arial" panose="020B0604020202020204" pitchFamily="34" charset="0"/>
              <a:ea typeface="Yu Gothic"/>
            </a:endParaRPr>
          </a:p>
        </p:txBody>
      </p:sp>
      <p:sp>
        <p:nvSpPr>
          <p:cNvPr id="10" name="Rectangle 9"/>
          <p:cNvSpPr/>
          <p:nvPr/>
        </p:nvSpPr>
        <p:spPr>
          <a:xfrm>
            <a:off x="5680252" y="51663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80252" y="5166360"/>
            <a:ext cx="2424255" cy="15544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328647" y="5746623"/>
            <a:ext cx="914400" cy="393954"/>
          </a:xfrm>
          <a:prstGeom prst="rect">
            <a:avLst/>
          </a:prstGeom>
          <a:noFill/>
        </p:spPr>
        <p:txBody>
          <a:bodyPr wrap="square" lIns="36576" tIns="27432" rIns="36576" bIns="27432" anchor="ctr">
            <a:spAutoFit/>
          </a:bodyPr>
          <a:lstStyle/>
          <a:p>
            <a:pPr algn="l">
              <a:spcAft>
                <a:spcPts val="0"/>
              </a:spcAft>
            </a:pPr>
            <a:r>
              <a:rPr lang="en-US" sz="2200" b="1">
                <a:solidFill>
                  <a:srgbClr val="239571"/>
                </a:solidFill>
                <a:latin typeface="Arial" panose="020B0604020202020204" pitchFamily="34" charset="0"/>
                <a:ea typeface="Yu Gothic"/>
              </a:rPr>
              <a:t>5.45 s</a:t>
            </a:r>
            <a:endParaRPr lang="en-US" sz="2200" b="1" dirty="0">
              <a:solidFill>
                <a:srgbClr val="239571"/>
              </a:solidFill>
              <a:latin typeface="Arial" panose="020B0604020202020204" pitchFamily="34" charset="0"/>
              <a:ea typeface="Yu Gothic"/>
            </a:endParaRPr>
          </a:p>
        </p:txBody>
      </p:sp>
      <p:sp>
        <p:nvSpPr>
          <p:cNvPr id="13" name="Rounded Rectangle 12"/>
          <p:cNvSpPr/>
          <p:nvPr/>
        </p:nvSpPr>
        <p:spPr>
          <a:xfrm>
            <a:off x="16093440" y="4279392"/>
            <a:ext cx="667512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184880" y="4407408"/>
            <a:ext cx="6492240" cy="578620"/>
          </a:xfrm>
          <a:prstGeom prst="rect">
            <a:avLst/>
          </a:prstGeom>
          <a:noFill/>
        </p:spPr>
        <p:txBody>
          <a:bodyPr wrap="square" lIns="36576" tIns="27432" rIns="36576" bIns="27432" anchor="t">
            <a:spAutoFit/>
          </a:bodyPr>
          <a:lstStyle/>
          <a:p>
            <a:pPr algn="ctr">
              <a:spcAft>
                <a:spcPts val="0"/>
              </a:spcAft>
            </a:pPr>
            <a:r>
              <a:rPr lang="en-US" sz="3400" b="1">
                <a:solidFill>
                  <a:srgbClr val="239571"/>
                </a:solidFill>
                <a:latin typeface="Arial" panose="020B0604020202020204" pitchFamily="34" charset="0"/>
                <a:ea typeface="Yu Gothic"/>
              </a:rPr>
              <a:t>−72%</a:t>
            </a:r>
            <a:endParaRPr lang="en-US" sz="3400" b="1" dirty="0">
              <a:solidFill>
                <a:srgbClr val="239571"/>
              </a:solidFill>
              <a:latin typeface="Arial" panose="020B0604020202020204" pitchFamily="34" charset="0"/>
              <a:ea typeface="Yu Gothic"/>
            </a:endParaRPr>
          </a:p>
        </p:txBody>
      </p:sp>
      <p:sp>
        <p:nvSpPr>
          <p:cNvPr id="15" name="TextBox 14"/>
          <p:cNvSpPr txBox="1"/>
          <p:nvPr/>
        </p:nvSpPr>
        <p:spPr>
          <a:xfrm>
            <a:off x="16184880" y="5084064"/>
            <a:ext cx="6492240" cy="365760"/>
          </a:xfrm>
          <a:prstGeom prst="rect">
            <a:avLst/>
          </a:prstGeom>
          <a:noFill/>
        </p:spPr>
        <p:txBody>
          <a:bodyPr wrap="square" lIns="36576" tIns="27432" rIns="36576" bIns="27432" anchor="t">
            <a:spAutoFit/>
          </a:bodyPr>
          <a:lstStyle/>
          <a:p>
            <a:pPr algn="ctr">
              <a:spcAft>
                <a:spcPts val="0"/>
              </a:spcAft>
            </a:pPr>
            <a:r>
              <a:rPr lang="en-US" sz="2000" b="0">
                <a:solidFill>
                  <a:srgbClr val="666F79"/>
                </a:solidFill>
                <a:latin typeface="Arial" panose="020B0604020202020204" pitchFamily="34" charset="0"/>
                <a:ea typeface="Yu Gothic"/>
              </a:rPr>
              <a:t>Mean acquisition time</a:t>
            </a:r>
            <a:endParaRPr lang="en-US" sz="2000" b="0" dirty="0">
              <a:solidFill>
                <a:srgbClr val="666F79"/>
              </a:solidFill>
              <a:latin typeface="Arial" panose="020B0604020202020204" pitchFamily="34" charset="0"/>
              <a:ea typeface="Yu Gothic"/>
            </a:endParaRPr>
          </a:p>
        </p:txBody>
      </p:sp>
      <p:graphicFrame>
        <p:nvGraphicFramePr>
          <p:cNvPr id="19" name="Table 18"/>
          <p:cNvGraphicFramePr>
            <a:graphicFrameLocks noGrp="1"/>
          </p:cNvGraphicFramePr>
          <p:nvPr>
            <p:extLst>
              <p:ext uri="{D42A27DB-BD31-4B8C-83A1-F6EECF244321}">
                <p14:modId xmlns:p14="http://schemas.microsoft.com/office/powerpoint/2010/main" val="2224568494"/>
              </p:ext>
            </p:extLst>
          </p:nvPr>
        </p:nvGraphicFramePr>
        <p:xfrm>
          <a:off x="2743200" y="7635240"/>
          <a:ext cx="18928080" cy="3246120"/>
        </p:xfrm>
        <a:graphic>
          <a:graphicData uri="http://schemas.openxmlformats.org/drawingml/2006/table">
            <a:tbl>
              <a:tblPr firstRow="1" bandRow="1">
                <a:tableStyleId>{5C22544A-7EE6-4342-B048-85BDC9FD1C3A}</a:tableStyleId>
              </a:tblPr>
              <a:tblGrid>
                <a:gridCol w="74066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649224">
                <a:tc>
                  <a:txBody>
                    <a:bodyPr/>
                    <a:lstStyle/>
                    <a:p>
                      <a:pPr algn="l">
                        <a:spcAft>
                          <a:spcPts val="0"/>
                        </a:spcAft>
                      </a:pPr>
                      <a:r>
                        <a:rPr lang="en-US" sz="2100" b="1">
                          <a:solidFill>
                            <a:srgbClr val="FFFFFF"/>
                          </a:solidFill>
                          <a:latin typeface="Arial" panose="020B0604020202020204" pitchFamily="34" charset="0"/>
                          <a:ea typeface="Yu Gothic"/>
                        </a:rPr>
                        <a:t>Metric</a:t>
                      </a:r>
                      <a:endParaRPr lang="en-US" sz="21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100" b="1">
                          <a:solidFill>
                            <a:srgbClr val="FFFFFF"/>
                          </a:solidFill>
                          <a:latin typeface="Arial" panose="020B0604020202020204" pitchFamily="34" charset="0"/>
                          <a:ea typeface="Yu Gothic"/>
                        </a:rPr>
                        <a:t>No correction</a:t>
                      </a:r>
                      <a:endParaRPr lang="en-US" sz="21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100" b="1">
                          <a:solidFill>
                            <a:srgbClr val="FFFFFF"/>
                          </a:solidFill>
                          <a:latin typeface="Arial" panose="020B0604020202020204" pitchFamily="34" charset="0"/>
                          <a:ea typeface="Yu Gothic"/>
                        </a:rPr>
                        <a:t>Hierarchical model (feedforward)</a:t>
                      </a:r>
                      <a:endParaRPr lang="en-US" sz="2100" b="1" dirty="0">
                        <a:solidFill>
                          <a:srgbClr val="FFFFFF"/>
                        </a:solidFill>
                        <a:latin typeface="Arial" panose="020B0604020202020204" pitchFamily="34" charset="0"/>
                        <a:ea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649224">
                <a:tc>
                  <a:txBody>
                    <a:bodyPr/>
                    <a:lstStyle/>
                    <a:p>
                      <a:pPr algn="l">
                        <a:spcAft>
                          <a:spcPts val="0"/>
                        </a:spcAft>
                      </a:pPr>
                      <a:r>
                        <a:rPr lang="en-US" sz="2100" b="0">
                          <a:solidFill>
                            <a:srgbClr val="232B34"/>
                          </a:solidFill>
                          <a:latin typeface="Arial" panose="020B0604020202020204" pitchFamily="34" charset="0"/>
                          <a:ea typeface="Yu Gothic"/>
                        </a:rPr>
                        <a:t>Success rate</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98%</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100%</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649224">
                <a:tc>
                  <a:txBody>
                    <a:bodyPr/>
                    <a:lstStyle/>
                    <a:p>
                      <a:pPr algn="l">
                        <a:spcAft>
                          <a:spcPts val="0"/>
                        </a:spcAft>
                      </a:pPr>
                      <a:r>
                        <a:rPr lang="en-US" sz="2100" b="0">
                          <a:solidFill>
                            <a:srgbClr val="232B34"/>
                          </a:solidFill>
                          <a:latin typeface="Arial" panose="020B0604020202020204" pitchFamily="34" charset="0"/>
                          <a:ea typeface="Yu Gothic"/>
                        </a:rPr>
                        <a:t>Mean acquisition time</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19.2 s</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5.45 s</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649224">
                <a:tc>
                  <a:txBody>
                    <a:bodyPr/>
                    <a:lstStyle/>
                    <a:p>
                      <a:pPr algn="l">
                        <a:spcAft>
                          <a:spcPts val="0"/>
                        </a:spcAft>
                      </a:pPr>
                      <a:r>
                        <a:rPr lang="en-US" sz="2100" b="0">
                          <a:solidFill>
                            <a:srgbClr val="232B34"/>
                          </a:solidFill>
                          <a:latin typeface="Arial" panose="020B0604020202020204" pitchFamily="34" charset="0"/>
                          <a:ea typeface="Yu Gothic"/>
                        </a:rPr>
                        <a:t>Mean initial error after correction</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448 µrad (almost entirely nonthermal)</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649224">
                <a:tc>
                  <a:txBody>
                    <a:bodyPr/>
                    <a:lstStyle/>
                    <a:p>
                      <a:pPr algn="l">
                        <a:spcAft>
                          <a:spcPts val="0"/>
                        </a:spcAft>
                      </a:pPr>
                      <a:r>
                        <a:rPr lang="en-US" sz="2100" b="0">
                          <a:solidFill>
                            <a:srgbClr val="232B34"/>
                          </a:solidFill>
                          <a:latin typeface="Arial" panose="020B0604020202020204" pitchFamily="34" charset="0"/>
                          <a:ea typeface="Yu Gothic"/>
                        </a:rPr>
                        <a:t>PY sun face (thermal ≈1.2 mrad)</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37.3–39.5 s / 88–97%</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1.3–1.8 s / 100%</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1355566" y="11942141"/>
            <a:ext cx="21671280" cy="486287"/>
          </a:xfrm>
          <a:prstGeom prst="rect">
            <a:avLst/>
          </a:prstGeom>
          <a:noFill/>
        </p:spPr>
        <p:txBody>
          <a:bodyPr wrap="square" lIns="36576" tIns="27432" rIns="36576" bIns="27432" anchor="t">
            <a:spAutoFit/>
          </a:bodyPr>
          <a:lstStyle/>
          <a:p>
            <a:pPr algn="ctr"/>
            <a:r>
              <a:rPr lang="en-US" altLang="ja-JP" sz="2800" b="1">
                <a:latin typeface="Arial" panose="020B0604020202020204" pitchFamily="34" charset="0"/>
              </a:rPr>
              <a:t>Predicting and removing thermal error shifts the coarse-acquisition limit from thermal to nonthermal error</a:t>
            </a:r>
            <a:endParaRPr lang="en-US" altLang="ja-JP" sz="2800" dirty="0">
              <a:latin typeface="Arial" panose="020B0604020202020204" pitchFamily="34" charset="0"/>
            </a:endParaRPr>
          </a:p>
        </p:txBody>
      </p:sp>
      <p:sp>
        <p:nvSpPr>
          <p:cNvPr id="21" name="矢印: 左カーブ 20">
            <a:extLst>
              <a:ext uri="{FF2B5EF4-FFF2-40B4-BE49-F238E27FC236}">
                <a16:creationId xmlns:a16="http://schemas.microsoft.com/office/drawing/2014/main" id="{28E82314-7B25-09DF-EB76-43768EAEE202}"/>
              </a:ext>
            </a:extLst>
          </p:cNvPr>
          <p:cNvSpPr/>
          <p:nvPr/>
        </p:nvSpPr>
        <p:spPr>
          <a:xfrm>
            <a:off x="14977872" y="4535424"/>
            <a:ext cx="540340" cy="1009507"/>
          </a:xfrm>
          <a:prstGeom prst="curvedLef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3961787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Acquisition results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298448"/>
            <a:ext cx="22037040" cy="1009507"/>
          </a:xfrm>
          <a:prstGeom prst="rect">
            <a:avLst/>
          </a:prstGeom>
          <a:noFill/>
        </p:spPr>
        <p:txBody>
          <a:bodyPr wrap="square" lIns="36576" tIns="27432" rIns="36576" bIns="27432" anchor="t">
            <a:spAutoFit/>
          </a:bodyPr>
          <a:lstStyle/>
          <a:p>
            <a:pPr algn="l">
              <a:spcAft>
                <a:spcPts val="0"/>
              </a:spcAft>
            </a:pPr>
            <a:endParaRPr lang="en-US" sz="3100" b="1" dirty="0">
              <a:solidFill>
                <a:srgbClr val="082B52"/>
              </a:solidFill>
              <a:latin typeface="Arial" panose="020B0604020202020204" pitchFamily="34" charset="0"/>
              <a:ea typeface="Yu Gothic"/>
            </a:endParaRPr>
          </a:p>
          <a:p>
            <a:pPr algn="l">
              <a:spcAft>
                <a:spcPts val="0"/>
              </a:spcAft>
            </a:pPr>
            <a:r>
              <a:rPr lang="en-US" sz="3100" b="1">
                <a:solidFill>
                  <a:srgbClr val="082B52"/>
                </a:solidFill>
                <a:latin typeface="Arial" panose="020B0604020202020204" pitchFamily="34" charset="0"/>
                <a:ea typeface="Yu Gothic"/>
              </a:rPr>
              <a:t>With thermal LOS error only, mean acquisition time drops from 14.6 to 0.10 s, matching thermal-truth correction</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endParaRPr sz="1800" b="0" dirty="0">
              <a:solidFill>
                <a:srgbClr val="666F79"/>
              </a:solidFill>
              <a:latin typeface="Arial" panose="020B0604020202020204" pitchFamily="34" charset="0"/>
              <a:ea typeface="Yu Gothic"/>
            </a:endParaRPr>
          </a:p>
        </p:txBody>
      </p:sp>
      <p:sp>
        <p:nvSpPr>
          <p:cNvPr id="5" name="TextBox 4"/>
          <p:cNvSpPr txBox="1"/>
          <p:nvPr/>
        </p:nvSpPr>
        <p:spPr>
          <a:xfrm>
            <a:off x="1188720" y="3738678"/>
            <a:ext cx="4387291" cy="409343"/>
          </a:xfrm>
          <a:prstGeom prst="rect">
            <a:avLst/>
          </a:prstGeom>
          <a:noFill/>
        </p:spPr>
        <p:txBody>
          <a:bodyPr wrap="square" lIns="36576" tIns="27432" rIns="36576" bIns="27432" anchor="ctr">
            <a:spAutoFit/>
          </a:bodyPr>
          <a:lstStyle/>
          <a:p>
            <a:pPr algn="l">
              <a:spcAft>
                <a:spcPts val="0"/>
              </a:spcAft>
            </a:pPr>
            <a:r>
              <a:rPr lang="en-US" sz="2300" b="0">
                <a:solidFill>
                  <a:srgbClr val="232B34"/>
                </a:solidFill>
                <a:latin typeface="Arial" panose="020B0604020202020204" pitchFamily="34" charset="0"/>
                <a:ea typeface="Yu Gothic"/>
              </a:rPr>
              <a:t>No correction</a:t>
            </a:r>
            <a:endParaRPr lang="en-US" sz="2300" b="0" dirty="0">
              <a:solidFill>
                <a:srgbClr val="232B34"/>
              </a:solidFill>
              <a:latin typeface="Arial" panose="020B0604020202020204" pitchFamily="34" charset="0"/>
              <a:ea typeface="Yu Gothic"/>
            </a:endParaRPr>
          </a:p>
        </p:txBody>
      </p:sp>
      <p:sp>
        <p:nvSpPr>
          <p:cNvPr id="6" name="Rectangle 5"/>
          <p:cNvSpPr/>
          <p:nvPr/>
        </p:nvSpPr>
        <p:spPr>
          <a:xfrm>
            <a:off x="5667451" y="3337560"/>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7451" y="3337560"/>
            <a:ext cx="8888693" cy="12115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94408" y="3746373"/>
            <a:ext cx="914400" cy="393954"/>
          </a:xfrm>
          <a:prstGeom prst="rect">
            <a:avLst/>
          </a:prstGeom>
          <a:noFill/>
        </p:spPr>
        <p:txBody>
          <a:bodyPr wrap="square" lIns="36576" tIns="27432" rIns="36576" bIns="27432" anchor="ctr">
            <a:spAutoFit/>
          </a:bodyPr>
          <a:lstStyle/>
          <a:p>
            <a:pPr algn="l">
              <a:spcAft>
                <a:spcPts val="0"/>
              </a:spcAft>
            </a:pPr>
            <a:r>
              <a:rPr lang="en-US" sz="2200" b="1">
                <a:solidFill>
                  <a:srgbClr val="D03B46"/>
                </a:solidFill>
                <a:latin typeface="Arial" panose="020B0604020202020204" pitchFamily="34" charset="0"/>
                <a:ea typeface="Yu Gothic"/>
              </a:rPr>
              <a:t>14.6 s</a:t>
            </a:r>
            <a:endParaRPr lang="en-US" sz="2200" b="1" dirty="0">
              <a:solidFill>
                <a:srgbClr val="D03B46"/>
              </a:solidFill>
              <a:latin typeface="Arial" panose="020B0604020202020204" pitchFamily="34" charset="0"/>
              <a:ea typeface="Yu Gothic"/>
            </a:endParaRPr>
          </a:p>
        </p:txBody>
      </p:sp>
      <p:sp>
        <p:nvSpPr>
          <p:cNvPr id="13" name="TextBox 12"/>
          <p:cNvSpPr txBox="1"/>
          <p:nvPr/>
        </p:nvSpPr>
        <p:spPr>
          <a:xfrm>
            <a:off x="1188720" y="5229150"/>
            <a:ext cx="4387291" cy="409343"/>
          </a:xfrm>
          <a:prstGeom prst="rect">
            <a:avLst/>
          </a:prstGeom>
          <a:noFill/>
        </p:spPr>
        <p:txBody>
          <a:bodyPr wrap="square" lIns="36576" tIns="27432" rIns="36576" bIns="27432" anchor="ctr">
            <a:spAutoFit/>
          </a:bodyPr>
          <a:lstStyle/>
          <a:p>
            <a:pPr algn="l">
              <a:spcAft>
                <a:spcPts val="0"/>
              </a:spcAft>
            </a:pPr>
            <a:r>
              <a:rPr lang="en-US" sz="2300" b="0">
                <a:solidFill>
                  <a:srgbClr val="232B34"/>
                </a:solidFill>
                <a:latin typeface="Arial" panose="020B0604020202020204" pitchFamily="34" charset="0"/>
                <a:ea typeface="Yu Gothic"/>
              </a:rPr>
              <a:t>Hierarchical model</a:t>
            </a:r>
            <a:endParaRPr lang="en-US" sz="2300" b="0" dirty="0">
              <a:solidFill>
                <a:srgbClr val="232B34"/>
              </a:solidFill>
              <a:latin typeface="Arial" panose="020B0604020202020204" pitchFamily="34" charset="0"/>
              <a:ea typeface="Yu Gothic"/>
            </a:endParaRPr>
          </a:p>
        </p:txBody>
      </p:sp>
      <p:sp>
        <p:nvSpPr>
          <p:cNvPr id="14" name="Rectangle 13"/>
          <p:cNvSpPr/>
          <p:nvPr/>
        </p:nvSpPr>
        <p:spPr>
          <a:xfrm>
            <a:off x="5667451" y="4828032"/>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7451" y="4828032"/>
            <a:ext cx="91440" cy="12115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694408" y="5236845"/>
            <a:ext cx="914400" cy="393954"/>
          </a:xfrm>
          <a:prstGeom prst="rect">
            <a:avLst/>
          </a:prstGeom>
          <a:noFill/>
        </p:spPr>
        <p:txBody>
          <a:bodyPr wrap="square" lIns="36576" tIns="27432" rIns="36576" bIns="27432" anchor="ctr">
            <a:spAutoFit/>
          </a:bodyPr>
          <a:lstStyle/>
          <a:p>
            <a:pPr algn="l">
              <a:spcAft>
                <a:spcPts val="0"/>
              </a:spcAft>
            </a:pPr>
            <a:r>
              <a:rPr lang="en-US" sz="2200" b="1">
                <a:solidFill>
                  <a:srgbClr val="239571"/>
                </a:solidFill>
                <a:latin typeface="Arial" panose="020B0604020202020204" pitchFamily="34" charset="0"/>
                <a:ea typeface="Yu Gothic"/>
              </a:rPr>
              <a:t>0.10 s</a:t>
            </a:r>
            <a:endParaRPr lang="en-US" sz="2200" b="1" dirty="0">
              <a:solidFill>
                <a:srgbClr val="239571"/>
              </a:solidFill>
              <a:latin typeface="Arial" panose="020B0604020202020204" pitchFamily="34" charset="0"/>
              <a:ea typeface="Yu Gothic"/>
            </a:endParaRPr>
          </a:p>
        </p:txBody>
      </p:sp>
      <p:sp>
        <p:nvSpPr>
          <p:cNvPr id="17" name="TextBox 16"/>
          <p:cNvSpPr txBox="1"/>
          <p:nvPr/>
        </p:nvSpPr>
        <p:spPr>
          <a:xfrm>
            <a:off x="1188720" y="6715049"/>
            <a:ext cx="4387291" cy="409343"/>
          </a:xfrm>
          <a:prstGeom prst="rect">
            <a:avLst/>
          </a:prstGeom>
          <a:noFill/>
        </p:spPr>
        <p:txBody>
          <a:bodyPr wrap="square" lIns="36576" tIns="27432" rIns="36576" bIns="27432" anchor="ctr">
            <a:spAutoFit/>
          </a:bodyPr>
          <a:lstStyle/>
          <a:p>
            <a:pPr algn="l">
              <a:spcAft>
                <a:spcPts val="0"/>
              </a:spcAft>
            </a:pPr>
            <a:r>
              <a:rPr lang="en-US" sz="2300" b="0">
                <a:solidFill>
                  <a:srgbClr val="232B34"/>
                </a:solidFill>
                <a:latin typeface="Arial" panose="020B0604020202020204" pitchFamily="34" charset="0"/>
                <a:ea typeface="Yu Gothic"/>
              </a:rPr>
              <a:t>Thermal-truth upper bound</a:t>
            </a:r>
            <a:endParaRPr lang="en-US" sz="2300" b="0" dirty="0">
              <a:solidFill>
                <a:srgbClr val="232B34"/>
              </a:solidFill>
              <a:latin typeface="Arial" panose="020B0604020202020204" pitchFamily="34" charset="0"/>
              <a:ea typeface="Yu Gothic"/>
            </a:endParaRPr>
          </a:p>
        </p:txBody>
      </p:sp>
      <p:sp>
        <p:nvSpPr>
          <p:cNvPr id="18" name="Rectangle 17"/>
          <p:cNvSpPr/>
          <p:nvPr/>
        </p:nvSpPr>
        <p:spPr>
          <a:xfrm>
            <a:off x="5667451" y="6313932"/>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7451" y="6313932"/>
            <a:ext cx="91440" cy="121158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694408" y="6722745"/>
            <a:ext cx="914400" cy="393954"/>
          </a:xfrm>
          <a:prstGeom prst="rect">
            <a:avLst/>
          </a:prstGeom>
          <a:noFill/>
        </p:spPr>
        <p:txBody>
          <a:bodyPr wrap="square" lIns="36576" tIns="27432" rIns="36576" bIns="27432" anchor="ctr">
            <a:spAutoFit/>
          </a:bodyPr>
          <a:lstStyle/>
          <a:p>
            <a:pPr algn="l">
              <a:spcAft>
                <a:spcPts val="0"/>
              </a:spcAft>
            </a:pPr>
            <a:r>
              <a:rPr lang="en-US" sz="2200" b="1">
                <a:solidFill>
                  <a:srgbClr val="1B74AA"/>
                </a:solidFill>
                <a:latin typeface="Arial" panose="020B0604020202020204" pitchFamily="34" charset="0"/>
                <a:ea typeface="Yu Gothic"/>
              </a:rPr>
              <a:t>0.10 s</a:t>
            </a:r>
            <a:endParaRPr lang="en-US" sz="2200" b="1" dirty="0">
              <a:solidFill>
                <a:srgbClr val="1B74AA"/>
              </a:solidFill>
              <a:latin typeface="Arial" panose="020B0604020202020204" pitchFamily="34" charset="0"/>
              <a:ea typeface="Yu Gothic"/>
            </a:endParaRPr>
          </a:p>
        </p:txBody>
      </p:sp>
      <p:graphicFrame>
        <p:nvGraphicFramePr>
          <p:cNvPr id="21" name="Table 20"/>
          <p:cNvGraphicFramePr>
            <a:graphicFrameLocks noGrp="1"/>
          </p:cNvGraphicFramePr>
          <p:nvPr>
            <p:extLst>
              <p:ext uri="{D42A27DB-BD31-4B8C-83A1-F6EECF244321}">
                <p14:modId xmlns:p14="http://schemas.microsoft.com/office/powerpoint/2010/main" val="2449627809"/>
              </p:ext>
            </p:extLst>
          </p:nvPr>
        </p:nvGraphicFramePr>
        <p:xfrm>
          <a:off x="16276320" y="3017520"/>
          <a:ext cx="6766560" cy="3950208"/>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987552">
                <a:tc>
                  <a:txBody>
                    <a:bodyPr/>
                    <a:lstStyle/>
                    <a:p>
                      <a:pPr algn="l">
                        <a:spcAft>
                          <a:spcPts val="0"/>
                        </a:spcAft>
                      </a:pPr>
                      <a:r>
                        <a:rPr lang="en-US" sz="2000" b="1">
                          <a:solidFill>
                            <a:srgbClr val="FFFFFF"/>
                          </a:solidFill>
                          <a:latin typeface="Arial" panose="020B0604020202020204" pitchFamily="34" charset="0"/>
                          <a:ea typeface="Yu Gothic"/>
                        </a:rPr>
                        <a:t>Correction</a:t>
                      </a:r>
                      <a:endParaRPr lang="en-US" sz="20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000" b="1">
                          <a:solidFill>
                            <a:srgbClr val="FFFFFF"/>
                          </a:solidFill>
                          <a:latin typeface="Arial" panose="020B0604020202020204" pitchFamily="34" charset="0"/>
                          <a:ea typeface="Yu Gothic"/>
                        </a:rPr>
                        <a:t>Success rate</a:t>
                      </a:r>
                      <a:endParaRPr lang="en-US" sz="20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000" b="1">
                          <a:solidFill>
                            <a:srgbClr val="FFFFFF"/>
                          </a:solidFill>
                          <a:latin typeface="Arial" panose="020B0604020202020204" pitchFamily="34" charset="0"/>
                          <a:ea typeface="Yu Gothic"/>
                        </a:rPr>
                        <a:t>Mean acquisition time</a:t>
                      </a:r>
                      <a:endParaRPr lang="en-US" sz="2000" b="1" dirty="0">
                        <a:solidFill>
                          <a:srgbClr val="FFFFFF"/>
                        </a:solidFill>
                        <a:latin typeface="Arial" panose="020B0604020202020204" pitchFamily="34" charset="0"/>
                        <a:ea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987552">
                <a:tc>
                  <a:txBody>
                    <a:bodyPr/>
                    <a:lstStyle/>
                    <a:p>
                      <a:pPr algn="l">
                        <a:spcAft>
                          <a:spcPts val="0"/>
                        </a:spcAft>
                      </a:pPr>
                      <a:r>
                        <a:rPr lang="en-US" sz="2000" b="0">
                          <a:solidFill>
                            <a:srgbClr val="232B34"/>
                          </a:solidFill>
                          <a:latin typeface="Arial" panose="020B0604020202020204" pitchFamily="34" charset="0"/>
                          <a:ea typeface="Yu Gothic"/>
                        </a:rPr>
                        <a:t>No correction</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000" b="0">
                          <a:solidFill>
                            <a:srgbClr val="232B34"/>
                          </a:solidFill>
                          <a:latin typeface="Arial" panose="020B0604020202020204" pitchFamily="34" charset="0"/>
                          <a:ea typeface="Yu Gothic"/>
                        </a:rPr>
                        <a:t>100%</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000" b="0">
                          <a:solidFill>
                            <a:srgbClr val="232B34"/>
                          </a:solidFill>
                          <a:latin typeface="Arial" panose="020B0604020202020204" pitchFamily="34" charset="0"/>
                          <a:ea typeface="Yu Gothic"/>
                        </a:rPr>
                        <a:t>14.6 s</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987552">
                <a:tc>
                  <a:txBody>
                    <a:bodyPr/>
                    <a:lstStyle/>
                    <a:p>
                      <a:pPr algn="l">
                        <a:spcAft>
                          <a:spcPts val="0"/>
                        </a:spcAft>
                      </a:pPr>
                      <a:r>
                        <a:rPr lang="en-US" sz="2000" b="0">
                          <a:solidFill>
                            <a:srgbClr val="232B34"/>
                          </a:solidFill>
                          <a:latin typeface="Arial" panose="020B0604020202020204" pitchFamily="34" charset="0"/>
                          <a:ea typeface="Yu Gothic"/>
                        </a:rPr>
                        <a:t>Hierarchical model</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000" b="0">
                          <a:solidFill>
                            <a:srgbClr val="232B34"/>
                          </a:solidFill>
                          <a:latin typeface="Arial" panose="020B0604020202020204" pitchFamily="34" charset="0"/>
                          <a:ea typeface="Yu Gothic"/>
                        </a:rPr>
                        <a:t>100%</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000" b="0">
                          <a:solidFill>
                            <a:srgbClr val="232B34"/>
                          </a:solidFill>
                          <a:latin typeface="Arial" panose="020B0604020202020204" pitchFamily="34" charset="0"/>
                          <a:ea typeface="Yu Gothic"/>
                        </a:rPr>
                        <a:t>0.10 s</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987552">
                <a:tc>
                  <a:txBody>
                    <a:bodyPr/>
                    <a:lstStyle/>
                    <a:p>
                      <a:pPr algn="l">
                        <a:spcAft>
                          <a:spcPts val="0"/>
                        </a:spcAft>
                      </a:pPr>
                      <a:r>
                        <a:rPr lang="en-US" sz="2000" b="0">
                          <a:solidFill>
                            <a:srgbClr val="232B34"/>
                          </a:solidFill>
                          <a:latin typeface="Arial" panose="020B0604020202020204" pitchFamily="34" charset="0"/>
                          <a:ea typeface="Yu Gothic"/>
                        </a:rPr>
                        <a:t>Thermal truth</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000" b="0">
                          <a:solidFill>
                            <a:srgbClr val="232B34"/>
                          </a:solidFill>
                          <a:latin typeface="Arial" panose="020B0604020202020204" pitchFamily="34" charset="0"/>
                          <a:ea typeface="Yu Gothic"/>
                        </a:rPr>
                        <a:t>100%</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000" b="0">
                          <a:solidFill>
                            <a:srgbClr val="232B34"/>
                          </a:solidFill>
                          <a:latin typeface="Arial" panose="020B0604020202020204" pitchFamily="34" charset="0"/>
                          <a:ea typeface="Yu Gothic"/>
                        </a:rPr>
                        <a:t>0.10 s</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2" name="Rounded Rectangle 21"/>
          <p:cNvSpPr/>
          <p:nvPr/>
        </p:nvSpPr>
        <p:spPr>
          <a:xfrm>
            <a:off x="16367759" y="8412480"/>
            <a:ext cx="658368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0" y="8540496"/>
            <a:ext cx="6400800" cy="578620"/>
          </a:xfrm>
          <a:prstGeom prst="rect">
            <a:avLst/>
          </a:prstGeom>
          <a:noFill/>
        </p:spPr>
        <p:txBody>
          <a:bodyPr wrap="square" lIns="36576" tIns="27432" rIns="36576" bIns="27432" anchor="t">
            <a:spAutoFit/>
          </a:bodyPr>
          <a:lstStyle/>
          <a:p>
            <a:pPr algn="ctr">
              <a:spcAft>
                <a:spcPts val="0"/>
              </a:spcAft>
            </a:pPr>
            <a:r>
              <a:rPr lang="en-US" sz="3400" b="1">
                <a:solidFill>
                  <a:srgbClr val="239571"/>
                </a:solidFill>
                <a:latin typeface="Arial" panose="020B0604020202020204" pitchFamily="34" charset="0"/>
                <a:ea typeface="Yu Gothic"/>
              </a:rPr>
              <a:t>9.3 µrad</a:t>
            </a:r>
            <a:endParaRPr lang="en-US" sz="3400" b="1" dirty="0">
              <a:solidFill>
                <a:srgbClr val="239571"/>
              </a:solidFill>
              <a:latin typeface="Arial" panose="020B0604020202020204" pitchFamily="34" charset="0"/>
              <a:ea typeface="Yu Gothic"/>
            </a:endParaRPr>
          </a:p>
        </p:txBody>
      </p:sp>
      <p:sp>
        <p:nvSpPr>
          <p:cNvPr id="24" name="TextBox 23"/>
          <p:cNvSpPr txBox="1"/>
          <p:nvPr/>
        </p:nvSpPr>
        <p:spPr>
          <a:xfrm>
            <a:off x="16459200" y="9217152"/>
            <a:ext cx="6400800" cy="365760"/>
          </a:xfrm>
          <a:prstGeom prst="rect">
            <a:avLst/>
          </a:prstGeom>
          <a:noFill/>
        </p:spPr>
        <p:txBody>
          <a:bodyPr wrap="square" lIns="36576" tIns="27432" rIns="36576" bIns="27432" anchor="t">
            <a:spAutoFit/>
          </a:bodyPr>
          <a:lstStyle/>
          <a:p>
            <a:pPr algn="ctr">
              <a:spcAft>
                <a:spcPts val="0"/>
              </a:spcAft>
            </a:pPr>
            <a:r>
              <a:rPr lang="en-US" sz="2000" b="0">
                <a:solidFill>
                  <a:srgbClr val="666F79"/>
                </a:solidFill>
                <a:latin typeface="Arial" panose="020B0604020202020204" pitchFamily="34" charset="0"/>
                <a:ea typeface="Yu Gothic"/>
              </a:rPr>
              <a:t>Mean thermal residual after correction</a:t>
            </a:r>
            <a:endParaRPr lang="en-US" sz="2000" b="0" dirty="0">
              <a:solidFill>
                <a:srgbClr val="666F79"/>
              </a:solidFill>
              <a:latin typeface="Arial" panose="020B0604020202020204" pitchFamily="34" charset="0"/>
              <a:ea typeface="Yu Gothic"/>
            </a:endParaRPr>
          </a:p>
        </p:txBody>
      </p:sp>
      <p:sp>
        <p:nvSpPr>
          <p:cNvPr id="25" name="TextBox 24"/>
          <p:cNvSpPr txBox="1"/>
          <p:nvPr/>
        </p:nvSpPr>
        <p:spPr>
          <a:xfrm>
            <a:off x="2011680" y="10424160"/>
            <a:ext cx="20299680" cy="902683"/>
          </a:xfrm>
          <a:prstGeom prst="rect">
            <a:avLst/>
          </a:prstGeom>
          <a:noFill/>
        </p:spPr>
        <p:txBody>
          <a:bodyPr wrap="square" lIns="36576" tIns="27432" rIns="36576" bIns="27432" anchor="t">
            <a:spAutoFit/>
          </a:bodyPr>
          <a:lstStyle/>
          <a:p>
            <a:pPr algn="ctr">
              <a:lnSpc>
                <a:spcPct val="115000"/>
              </a:lnSpc>
              <a:spcAft>
                <a:spcPts val="0"/>
              </a:spcAft>
            </a:pPr>
            <a:r>
              <a:rPr lang="en-US" sz="2500" b="0">
                <a:solidFill>
                  <a:srgbClr val="666F79"/>
                </a:solidFill>
                <a:latin typeface="Arial" panose="020B0604020202020204" pitchFamily="34" charset="0"/>
                <a:ea typeface="Yu Gothic"/>
              </a:rPr>
              <a:t>The residual is far below the 150 µrad detection radius, so acquisition occurs in one dwell.</a:t>
            </a:r>
          </a:p>
          <a:p>
            <a:pPr algn="ctr">
              <a:lnSpc>
                <a:spcPct val="115000"/>
              </a:lnSpc>
              <a:spcAft>
                <a:spcPts val="0"/>
              </a:spcAft>
            </a:pPr>
            <a:r>
              <a:rPr lang="en-US" sz="2500" b="0">
                <a:solidFill>
                  <a:srgbClr val="666F79"/>
                </a:solidFill>
                <a:latin typeface="Arial" panose="020B0604020202020204" pitchFamily="34" charset="0"/>
                <a:ea typeface="Yu Gothic"/>
              </a:rPr>
              <a:t>Mean over 14 COLD baseline-surface cases; the main result includes nonthermal error on the next slide.</a:t>
            </a:r>
            <a:endParaRPr lang="en-US" sz="2500" b="0" dirty="0">
              <a:solidFill>
                <a:srgbClr val="666F79"/>
              </a:solidFill>
              <a:latin typeface="Arial" panose="020B0604020202020204" pitchFamily="34" charset="0"/>
              <a:ea typeface="Yu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22037040"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B1｜21ケースの内訳と評価ID</a:t>
            </a: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B1</a:t>
            </a:r>
            <a:endParaRPr lang="en-US" sz="1800" b="0" dirty="0">
              <a:solidFill>
                <a:srgbClr val="666F79"/>
              </a:solidFill>
              <a:latin typeface="Arial" panose="020B0604020202020204" pitchFamily="34" charset="0"/>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1351869942"/>
              </p:ext>
            </p:extLst>
          </p:nvPr>
        </p:nvGraphicFramePr>
        <p:xfrm>
          <a:off x="1280160" y="2834640"/>
          <a:ext cx="21762720" cy="7315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4904720">
                  <a:extLst>
                    <a:ext uri="{9D8B030D-6E8A-4147-A177-3AD203B41FA5}">
                      <a16:colId xmlns:a16="http://schemas.microsoft.com/office/drawing/2014/main" val="20002"/>
                    </a:ext>
                  </a:extLst>
                </a:gridCol>
              </a:tblGrid>
              <a:tr h="914400">
                <a:tc>
                  <a:txBody>
                    <a:bodyPr/>
                    <a:lstStyle/>
                    <a:p>
                      <a:pPr algn="l">
                        <a:spcAft>
                          <a:spcPts val="0"/>
                        </a:spcAft>
                      </a:pPr>
                      <a:r>
                        <a:rPr sz="2300" b="1">
                          <a:solidFill>
                            <a:srgbClr val="FFFFFF"/>
                          </a:solidFill>
                          <a:latin typeface="Arial" panose="020B0604020202020204" pitchFamily="34" charset="0"/>
                          <a:ea typeface="Yu Gothic"/>
                        </a:rPr>
                        <a:t>ケース</a:t>
                      </a:r>
                    </a:p>
                  </a:txBody>
                  <a:tcPr marL="64008" marR="64008" marT="27432" marB="27432" anchor="ctr">
                    <a:solidFill>
                      <a:srgbClr val="5D4084"/>
                    </a:solidFill>
                  </a:tcPr>
                </a:tc>
                <a:tc>
                  <a:txBody>
                    <a:bodyPr/>
                    <a:lstStyle/>
                    <a:p>
                      <a:pPr algn="ctr">
                        <a:spcAft>
                          <a:spcPts val="0"/>
                        </a:spcAft>
                      </a:pPr>
                      <a:r>
                        <a:rPr sz="2300" b="1">
                          <a:solidFill>
                            <a:srgbClr val="FFFFFF"/>
                          </a:solidFill>
                          <a:latin typeface="Arial" panose="020B0604020202020204" pitchFamily="34" charset="0"/>
                          <a:ea typeface="Yu Gothic"/>
                        </a:rPr>
                        <a:t>太陽指向面</a:t>
                      </a:r>
                    </a:p>
                  </a:txBody>
                  <a:tcPr marL="64008" marR="64008" marT="27432" marB="27432" anchor="ctr">
                    <a:solidFill>
                      <a:srgbClr val="5D4084"/>
                    </a:solidFill>
                  </a:tcPr>
                </a:tc>
                <a:tc>
                  <a:txBody>
                    <a:bodyPr/>
                    <a:lstStyle/>
                    <a:p>
                      <a:pPr algn="ctr">
                        <a:spcAft>
                          <a:spcPts val="0"/>
                        </a:spcAft>
                      </a:pPr>
                      <a:r>
                        <a:rPr sz="2300" b="1">
                          <a:solidFill>
                            <a:srgbClr val="FFFFFF"/>
                          </a:solidFill>
                          <a:latin typeface="Arial" panose="020B0604020202020204" pitchFamily="34" charset="0"/>
                          <a:ea typeface="Yu Gothic"/>
                        </a:rPr>
                        <a:t>発熱・条件</a:t>
                      </a:r>
                    </a:p>
                  </a:txBody>
                  <a:tcPr marL="64008" marR="64008" marT="27432" marB="27432" anchor="ctr">
                    <a:solidFill>
                      <a:srgbClr val="5D4084"/>
                    </a:solidFill>
                  </a:tcPr>
                </a:tc>
                <a:extLst>
                  <a:ext uri="{0D108BD9-81ED-4DB2-BD59-A6C34878D82A}">
                    <a16:rowId xmlns:a16="http://schemas.microsoft.com/office/drawing/2014/main" val="10000"/>
                  </a:ext>
                </a:extLst>
              </a:tr>
              <a:tr h="914400">
                <a:tc>
                  <a:txBody>
                    <a:bodyPr/>
                    <a:lstStyle/>
                    <a:p>
                      <a:pPr algn="l">
                        <a:spcAft>
                          <a:spcPts val="0"/>
                        </a:spcAft>
                      </a:pPr>
                      <a:r>
                        <a:rPr lang="en-US" sz="2300" b="0">
                          <a:solidFill>
                            <a:srgbClr val="232B34"/>
                          </a:solidFill>
                          <a:latin typeface="Arial" panose="020B0604020202020204" pitchFamily="34" charset="0"/>
                          <a:ea typeface="Yu Gothic"/>
                        </a:rPr>
                        <a:t>04, 13–15</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MY</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全発熱 / +PROP / +PCDU / STT・LCTのみ</a:t>
                      </a:r>
                    </a:p>
                  </a:txBody>
                  <a:tcPr marL="64008" marR="64008" marT="27432" marB="27432" anchor="ctr">
                    <a:solidFill>
                      <a:srgbClr val="EBF6FB"/>
                    </a:solidFill>
                  </a:tcPr>
                </a:tc>
                <a:extLst>
                  <a:ext uri="{0D108BD9-81ED-4DB2-BD59-A6C34878D82A}">
                    <a16:rowId xmlns:a16="http://schemas.microsoft.com/office/drawing/2014/main" val="10001"/>
                  </a:ext>
                </a:extLst>
              </a:tr>
              <a:tr h="914400">
                <a:tc>
                  <a:txBody>
                    <a:bodyPr/>
                    <a:lstStyle/>
                    <a:p>
                      <a:pPr algn="l">
                        <a:spcAft>
                          <a:spcPts val="0"/>
                        </a:spcAft>
                      </a:pPr>
                      <a:r>
                        <a:rPr lang="en-US" sz="2300" b="0">
                          <a:solidFill>
                            <a:srgbClr val="232B34"/>
                          </a:solidFill>
                          <a:latin typeface="Arial" panose="020B0604020202020204" pitchFamily="34" charset="0"/>
                          <a:ea typeface="Yu Gothic"/>
                        </a:rPr>
                        <a:t>08, 16, 18, 19</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PY</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2"/>
                  </a:ext>
                </a:extLst>
              </a:tr>
              <a:tr h="914400">
                <a:tc>
                  <a:txBody>
                    <a:bodyPr/>
                    <a:lstStyle/>
                    <a:p>
                      <a:pPr algn="l">
                        <a:spcAft>
                          <a:spcPts val="0"/>
                        </a:spcAft>
                      </a:pPr>
                      <a:r>
                        <a:rPr lang="en-US" sz="2300" b="0">
                          <a:solidFill>
                            <a:srgbClr val="232B34"/>
                          </a:solidFill>
                          <a:latin typeface="Arial" panose="020B0604020202020204" pitchFamily="34" charset="0"/>
                          <a:ea typeface="Yu Gothic"/>
                        </a:rPr>
                        <a:t>05, 06, 20, 21</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PX</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3"/>
                  </a:ext>
                </a:extLst>
              </a:tr>
              <a:tr h="914400">
                <a:tc>
                  <a:txBody>
                    <a:bodyPr/>
                    <a:lstStyle/>
                    <a:p>
                      <a:pPr algn="l">
                        <a:spcAft>
                          <a:spcPts val="0"/>
                        </a:spcAft>
                      </a:pPr>
                      <a:r>
                        <a:rPr lang="en-US" sz="2300" b="0">
                          <a:solidFill>
                            <a:srgbClr val="232B34"/>
                          </a:solidFill>
                          <a:latin typeface="Arial" panose="020B0604020202020204" pitchFamily="34" charset="0"/>
                          <a:ea typeface="Yu Gothic"/>
                        </a:rPr>
                        <a:t>09, 17, 23, 24</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MX</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4"/>
                  </a:ext>
                </a:extLst>
              </a:tr>
              <a:tr h="914400">
                <a:tc>
                  <a:txBody>
                    <a:bodyPr/>
                    <a:lstStyle/>
                    <a:p>
                      <a:pPr algn="l">
                        <a:spcAft>
                          <a:spcPts val="0"/>
                        </a:spcAft>
                      </a:pPr>
                      <a:r>
                        <a:rPr lang="en-US" sz="2300" b="0">
                          <a:solidFill>
                            <a:srgbClr val="232B34"/>
                          </a:solidFill>
                          <a:latin typeface="Arial" panose="020B0604020202020204" pitchFamily="34" charset="0"/>
                          <a:ea typeface="Yu Gothic"/>
                        </a:rPr>
                        <a:t>10–12</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MY</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全日照 / 太陽面Black / 全面Alodine</a:t>
                      </a:r>
                    </a:p>
                  </a:txBody>
                  <a:tcPr marL="64008" marR="64008" marT="27432" marB="27432" anchor="ctr">
                    <a:solidFill>
                      <a:srgbClr val="EBF6FB"/>
                    </a:solidFill>
                  </a:tcPr>
                </a:tc>
                <a:extLst>
                  <a:ext uri="{0D108BD9-81ED-4DB2-BD59-A6C34878D82A}">
                    <a16:rowId xmlns:a16="http://schemas.microsoft.com/office/drawing/2014/main" val="10005"/>
                  </a:ext>
                </a:extLst>
              </a:tr>
              <a:tr h="914400">
                <a:tc>
                  <a:txBody>
                    <a:bodyPr/>
                    <a:lstStyle/>
                    <a:p>
                      <a:pPr algn="l">
                        <a:spcAft>
                          <a:spcPts val="0"/>
                        </a:spcAft>
                      </a:pPr>
                      <a:r>
                        <a:rPr lang="en-US" sz="2300" b="0">
                          <a:solidFill>
                            <a:srgbClr val="232B34"/>
                          </a:solidFill>
                          <a:latin typeface="Arial" panose="020B0604020202020204" pitchFamily="34" charset="0"/>
                          <a:ea typeface="Yu Gothic"/>
                        </a:rPr>
                        <a:t>22</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MY</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PROP 12.5 W（半電力）</a:t>
                      </a:r>
                    </a:p>
                  </a:txBody>
                  <a:tcPr marL="64008" marR="64008" marT="27432" marB="27432" anchor="ctr">
                    <a:solidFill>
                      <a:srgbClr val="EBF6FB"/>
                    </a:solidFill>
                  </a:tcPr>
                </a:tc>
                <a:extLst>
                  <a:ext uri="{0D108BD9-81ED-4DB2-BD59-A6C34878D82A}">
                    <a16:rowId xmlns:a16="http://schemas.microsoft.com/office/drawing/2014/main" val="10006"/>
                  </a:ext>
                </a:extLst>
              </a:tr>
              <a:tr h="914400">
                <a:tc>
                  <a:txBody>
                    <a:bodyPr/>
                    <a:lstStyle/>
                    <a:p>
                      <a:pPr algn="l">
                        <a:spcAft>
                          <a:spcPts val="0"/>
                        </a:spcAft>
                      </a:pPr>
                      <a:r>
                        <a:rPr lang="en-US" sz="2300" b="0">
                          <a:solidFill>
                            <a:srgbClr val="232B34"/>
                          </a:solidFill>
                          <a:latin typeface="Arial" panose="020B0604020202020204" pitchFamily="34" charset="0"/>
                          <a:ea typeface="Yu Gothic"/>
                        </a:rPr>
                        <a:t>25</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MY</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LTAN18 / 高度693 km</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280160" y="10424160"/>
            <a:ext cx="21762720" cy="1333122"/>
          </a:xfrm>
          <a:prstGeom prst="rect">
            <a:avLst/>
          </a:prstGeom>
          <a:noFill/>
        </p:spPr>
        <p:txBody>
          <a:bodyPr wrap="square" lIns="45720" tIns="18288" rIns="45720" bIns="18288" anchor="t">
            <a:spAutoFit/>
          </a:bodyPr>
          <a:lstStyle/>
          <a:p>
            <a:pPr algn="l">
              <a:lnSpc>
                <a:spcPct val="125000"/>
              </a:lnSpc>
              <a:spcAft>
                <a:spcPts val="0"/>
              </a:spcAft>
            </a:pPr>
            <a:r>
              <a:rPr sz="2300" b="0">
                <a:solidFill>
                  <a:srgbClr val="666F79"/>
                </a:solidFill>
                <a:latin typeface="Arial" panose="020B0604020202020204" pitchFamily="34" charset="0"/>
                <a:ea typeface="Yu Gothic"/>
              </a:rPr>
              <a:t>評価IDは 04–06 と 08–25。01–03 と 07 はMZ太陽や設定確認のケースで除外</a:t>
            </a:r>
          </a:p>
          <a:p>
            <a:pPr algn="l">
              <a:lnSpc>
                <a:spcPct val="125000"/>
              </a:lnSpc>
              <a:spcAft>
                <a:spcPts val="0"/>
              </a:spcAft>
            </a:pPr>
            <a:r>
              <a:rPr sz="2300" b="0">
                <a:solidFill>
                  <a:srgbClr val="666F79"/>
                </a:solidFill>
                <a:latin typeface="Arial" panose="020B0604020202020204" pitchFamily="34" charset="0"/>
                <a:ea typeface="Yu Gothic"/>
              </a:rPr>
              <a:t>PZ/MZを太陽面にするケースは、その面にSTT/LCTがあるので設定しない</a:t>
            </a:r>
          </a:p>
          <a:p>
            <a:pPr algn="l">
              <a:lnSpc>
                <a:spcPct val="125000"/>
              </a:lnSpc>
              <a:spcAft>
                <a:spcPts val="0"/>
              </a:spcAft>
            </a:pPr>
            <a:r>
              <a:rPr sz="2300" b="0">
                <a:solidFill>
                  <a:srgbClr val="666F79"/>
                </a:solidFill>
                <a:latin typeface="Arial" panose="020B0604020202020204" pitchFamily="34" charset="0"/>
                <a:ea typeface="Yu Gothic"/>
              </a:rPr>
              <a:t>捕捉時間の見出しは、COLD・標準表面の14ケース（04–06, 08–09, 13–21）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9922716"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B2｜矩形スパイラル走査の幾何</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B2</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097280" y="2834640"/>
            <a:ext cx="9326880" cy="777240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669280" y="6492240"/>
            <a:ext cx="658368"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327648" y="5833872"/>
            <a:ext cx="0" cy="658368"/>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5010912" y="5833872"/>
            <a:ext cx="1316736"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10912" y="5833872"/>
            <a:ext cx="0" cy="1316735"/>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10912" y="7150607"/>
            <a:ext cx="1975104"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86016" y="5175504"/>
            <a:ext cx="0" cy="1975103"/>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352544" y="5175504"/>
            <a:ext cx="2633472"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52544" y="5175504"/>
            <a:ext cx="0" cy="2633471"/>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52544" y="7808975"/>
            <a:ext cx="3291839"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644383" y="4517136"/>
            <a:ext cx="0" cy="3291839"/>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596128"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54496"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254496"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937760"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937760"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912864"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912864"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279392"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279392"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571231"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571231" y="444398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086600" y="4892040"/>
            <a:ext cx="457200" cy="457200"/>
          </a:xfrm>
          <a:prstGeom prst="ellipse">
            <a:avLst/>
          </a:prstGeom>
          <a:solidFill>
            <a:srgbClr val="FEF5E6"/>
          </a:solidFill>
          <a:ln>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8" name="Table 27"/>
          <p:cNvGraphicFramePr>
            <a:graphicFrameLocks noGrp="1"/>
          </p:cNvGraphicFramePr>
          <p:nvPr>
            <p:extLst>
              <p:ext uri="{D42A27DB-BD31-4B8C-83A1-F6EECF244321}">
                <p14:modId xmlns:p14="http://schemas.microsoft.com/office/powerpoint/2010/main" val="2794375970"/>
              </p:ext>
            </p:extLst>
          </p:nvPr>
        </p:nvGraphicFramePr>
        <p:xfrm>
          <a:off x="12461016" y="2752344"/>
          <a:ext cx="8874189" cy="6309360"/>
        </p:xfrm>
        <a:graphic>
          <a:graphicData uri="http://schemas.openxmlformats.org/drawingml/2006/table">
            <a:tbl>
              <a:tblPr firstRow="1" bandRow="1">
                <a:tableStyleId>{5C22544A-7EE6-4342-B048-85BDC9FD1C3A}</a:tableStyleId>
              </a:tblPr>
              <a:tblGrid>
                <a:gridCol w="4641883">
                  <a:extLst>
                    <a:ext uri="{9D8B030D-6E8A-4147-A177-3AD203B41FA5}">
                      <a16:colId xmlns:a16="http://schemas.microsoft.com/office/drawing/2014/main" val="20000"/>
                    </a:ext>
                  </a:extLst>
                </a:gridCol>
                <a:gridCol w="4232306">
                  <a:extLst>
                    <a:ext uri="{9D8B030D-6E8A-4147-A177-3AD203B41FA5}">
                      <a16:colId xmlns:a16="http://schemas.microsoft.com/office/drawing/2014/main" val="20001"/>
                    </a:ext>
                  </a:extLst>
                </a:gridCol>
              </a:tblGrid>
              <a:tr h="901337">
                <a:tc>
                  <a:txBody>
                    <a:bodyPr/>
                    <a:lstStyle/>
                    <a:p>
                      <a:pPr algn="l">
                        <a:spcAft>
                          <a:spcPts val="0"/>
                        </a:spcAft>
                        <a:buNone/>
                      </a:pPr>
                      <a:r>
                        <a:rPr sz="2400">
                          <a:solidFill>
                            <a:srgbClr val="FFFFFF"/>
                          </a:solidFill>
                          <a:latin typeface="Arial" panose="020B0604020202020204" pitchFamily="34" charset="0"/>
                          <a:ea typeface="Yu Gothic"/>
                        </a:rPr>
                        <a:t>パラメータ</a:t>
                      </a:r>
                    </a:p>
                  </a:txBody>
                  <a:tcPr anchor="ctr">
                    <a:solidFill>
                      <a:srgbClr val="082B52"/>
                    </a:solidFill>
                  </a:tcPr>
                </a:tc>
                <a:tc>
                  <a:txBody>
                    <a:bodyPr/>
                    <a:lstStyle/>
                    <a:p>
                      <a:pPr algn="l">
                        <a:spcAft>
                          <a:spcPts val="0"/>
                        </a:spcAft>
                        <a:buNone/>
                      </a:pPr>
                      <a:r>
                        <a:rPr sz="2400">
                          <a:solidFill>
                            <a:srgbClr val="FFFFFF"/>
                          </a:solidFill>
                          <a:latin typeface="Arial" panose="020B0604020202020204" pitchFamily="34" charset="0"/>
                          <a:ea typeface="Yu Gothic"/>
                        </a:rPr>
                        <a:t>設定値</a:t>
                      </a:r>
                    </a:p>
                  </a:txBody>
                  <a:tcPr anchor="ctr">
                    <a:solidFill>
                      <a:srgbClr val="082B52"/>
                    </a:solidFill>
                  </a:tcPr>
                </a:tc>
                <a:extLst>
                  <a:ext uri="{0D108BD9-81ED-4DB2-BD59-A6C34878D82A}">
                    <a16:rowId xmlns:a16="http://schemas.microsoft.com/office/drawing/2014/main" val="10000"/>
                  </a:ext>
                </a:extLst>
              </a:tr>
              <a:tr h="901337">
                <a:tc>
                  <a:txBody>
                    <a:bodyPr/>
                    <a:lstStyle/>
                    <a:p>
                      <a:pPr algn="l">
                        <a:spcAft>
                          <a:spcPts val="0"/>
                        </a:spcAft>
                        <a:buNone/>
                      </a:pPr>
                      <a:r>
                        <a:rPr sz="2400">
                          <a:solidFill>
                            <a:srgbClr val="232B34"/>
                          </a:solidFill>
                          <a:latin typeface="Arial" panose="020B0604020202020204" pitchFamily="34" charset="0"/>
                          <a:ea typeface="Yu Gothic"/>
                        </a:rPr>
                        <a:t>走査範囲</a:t>
                      </a:r>
                    </a:p>
                  </a:txBody>
                  <a:tcPr anchor="ctr">
                    <a:solidFill>
                      <a:srgbClr val="FFFFFF"/>
                    </a:solidFill>
                  </a:tcPr>
                </a:tc>
                <a:tc>
                  <a:txBody>
                    <a:bodyPr/>
                    <a:lstStyle/>
                    <a:p>
                      <a:pPr algn="l">
                        <a:spcAft>
                          <a:spcPts val="0"/>
                        </a:spcAft>
                        <a:buNone/>
                      </a:pPr>
                      <a:r>
                        <a:rPr lang="en-US" sz="2400">
                          <a:solidFill>
                            <a:srgbClr val="232B34"/>
                          </a:solidFill>
                          <a:latin typeface="Arial" panose="020B0604020202020204" pitchFamily="34" charset="0"/>
                          <a:ea typeface="Yu Gothic"/>
                        </a:rPr>
                        <a:t>±1600 µrad</a:t>
                      </a:r>
                      <a:endParaRPr lang="en-US" sz="2400" dirty="0">
                        <a:solidFill>
                          <a:srgbClr val="232B34"/>
                        </a:solidFill>
                        <a:latin typeface="Arial" panose="020B0604020202020204" pitchFamily="34" charset="0"/>
                        <a:ea typeface="Yu Gothic"/>
                      </a:endParaRPr>
                    </a:p>
                  </a:txBody>
                  <a:tcPr anchor="ctr">
                    <a:solidFill>
                      <a:srgbClr val="EBF6FB"/>
                    </a:solidFill>
                  </a:tcPr>
                </a:tc>
                <a:extLst>
                  <a:ext uri="{0D108BD9-81ED-4DB2-BD59-A6C34878D82A}">
                    <a16:rowId xmlns:a16="http://schemas.microsoft.com/office/drawing/2014/main" val="10001"/>
                  </a:ext>
                </a:extLst>
              </a:tr>
              <a:tr h="901337">
                <a:tc>
                  <a:txBody>
                    <a:bodyPr/>
                    <a:lstStyle/>
                    <a:p>
                      <a:pPr algn="l">
                        <a:spcAft>
                          <a:spcPts val="0"/>
                        </a:spcAft>
                        <a:buNone/>
                      </a:pPr>
                      <a:r>
                        <a:rPr sz="2400">
                          <a:solidFill>
                            <a:srgbClr val="232B34"/>
                          </a:solidFill>
                          <a:latin typeface="Arial" panose="020B0604020202020204" pitchFamily="34" charset="0"/>
                          <a:ea typeface="Yu Gothic"/>
                        </a:rPr>
                        <a:t>点間隔</a:t>
                      </a:r>
                    </a:p>
                  </a:txBody>
                  <a:tcPr anchor="ctr">
                    <a:solidFill>
                      <a:srgbClr val="F4F6F8"/>
                    </a:solidFill>
                  </a:tcPr>
                </a:tc>
                <a:tc>
                  <a:txBody>
                    <a:bodyPr/>
                    <a:lstStyle/>
                    <a:p>
                      <a:pPr algn="l">
                        <a:spcAft>
                          <a:spcPts val="0"/>
                        </a:spcAft>
                        <a:buNone/>
                      </a:pPr>
                      <a:r>
                        <a:rPr lang="en-US" sz="2400">
                          <a:solidFill>
                            <a:srgbClr val="232B34"/>
                          </a:solidFill>
                          <a:latin typeface="Arial" panose="020B0604020202020204" pitchFamily="34" charset="0"/>
                          <a:ea typeface="Yu Gothic"/>
                        </a:rPr>
                        <a:t>120 µrad</a:t>
                      </a:r>
                      <a:endParaRPr lang="en-US" sz="2400" dirty="0">
                        <a:solidFill>
                          <a:srgbClr val="232B34"/>
                        </a:solidFill>
                        <a:latin typeface="Arial" panose="020B0604020202020204" pitchFamily="34" charset="0"/>
                        <a:ea typeface="Yu Gothic"/>
                      </a:endParaRPr>
                    </a:p>
                  </a:txBody>
                  <a:tcPr anchor="ctr">
                    <a:solidFill>
                      <a:srgbClr val="EBF6FB"/>
                    </a:solidFill>
                  </a:tcPr>
                </a:tc>
                <a:extLst>
                  <a:ext uri="{0D108BD9-81ED-4DB2-BD59-A6C34878D82A}">
                    <a16:rowId xmlns:a16="http://schemas.microsoft.com/office/drawing/2014/main" val="10002"/>
                  </a:ext>
                </a:extLst>
              </a:tr>
              <a:tr h="901337">
                <a:tc>
                  <a:txBody>
                    <a:bodyPr/>
                    <a:lstStyle/>
                    <a:p>
                      <a:pPr algn="l">
                        <a:spcAft>
                          <a:spcPts val="0"/>
                        </a:spcAft>
                        <a:buNone/>
                      </a:pPr>
                      <a:r>
                        <a:rPr sz="2400">
                          <a:solidFill>
                            <a:srgbClr val="232B34"/>
                          </a:solidFill>
                          <a:latin typeface="Arial" panose="020B0604020202020204" pitchFamily="34" charset="0"/>
                          <a:ea typeface="Yu Gothic"/>
                        </a:rPr>
                        <a:t>検出半径</a:t>
                      </a:r>
                    </a:p>
                  </a:txBody>
                  <a:tcPr anchor="ctr">
                    <a:solidFill>
                      <a:srgbClr val="FFFFFF"/>
                    </a:solidFill>
                  </a:tcPr>
                </a:tc>
                <a:tc>
                  <a:txBody>
                    <a:bodyPr/>
                    <a:lstStyle/>
                    <a:p>
                      <a:pPr algn="l">
                        <a:spcAft>
                          <a:spcPts val="0"/>
                        </a:spcAft>
                        <a:buNone/>
                      </a:pPr>
                      <a:r>
                        <a:rPr lang="en-US" sz="2400">
                          <a:solidFill>
                            <a:srgbClr val="232B34"/>
                          </a:solidFill>
                          <a:latin typeface="Arial" panose="020B0604020202020204" pitchFamily="34" charset="0"/>
                          <a:ea typeface="Yu Gothic"/>
                        </a:rPr>
                        <a:t>150 µrad</a:t>
                      </a:r>
                      <a:endParaRPr lang="en-US" sz="2400" dirty="0">
                        <a:solidFill>
                          <a:srgbClr val="232B34"/>
                        </a:solidFill>
                        <a:latin typeface="Arial" panose="020B0604020202020204" pitchFamily="34" charset="0"/>
                        <a:ea typeface="Yu Gothic"/>
                      </a:endParaRPr>
                    </a:p>
                  </a:txBody>
                  <a:tcPr anchor="ctr">
                    <a:solidFill>
                      <a:srgbClr val="EBF6FB"/>
                    </a:solidFill>
                  </a:tcPr>
                </a:tc>
                <a:extLst>
                  <a:ext uri="{0D108BD9-81ED-4DB2-BD59-A6C34878D82A}">
                    <a16:rowId xmlns:a16="http://schemas.microsoft.com/office/drawing/2014/main" val="10003"/>
                  </a:ext>
                </a:extLst>
              </a:tr>
              <a:tr h="901337">
                <a:tc>
                  <a:txBody>
                    <a:bodyPr/>
                    <a:lstStyle/>
                    <a:p>
                      <a:pPr algn="l">
                        <a:spcAft>
                          <a:spcPts val="0"/>
                        </a:spcAft>
                        <a:buNone/>
                      </a:pPr>
                      <a:r>
                        <a:rPr sz="2400">
                          <a:solidFill>
                            <a:srgbClr val="232B34"/>
                          </a:solidFill>
                          <a:latin typeface="Arial" panose="020B0604020202020204" pitchFamily="34" charset="0"/>
                          <a:ea typeface="Yu Gothic"/>
                        </a:rPr>
                        <a:t>滞在時間</a:t>
                      </a:r>
                    </a:p>
                  </a:txBody>
                  <a:tcPr anchor="ctr">
                    <a:solidFill>
                      <a:srgbClr val="F4F6F8"/>
                    </a:solidFill>
                  </a:tcPr>
                </a:tc>
                <a:tc>
                  <a:txBody>
                    <a:bodyPr/>
                    <a:lstStyle/>
                    <a:p>
                      <a:pPr algn="l">
                        <a:spcAft>
                          <a:spcPts val="0"/>
                        </a:spcAft>
                        <a:buNone/>
                      </a:pPr>
                      <a:r>
                        <a:rPr sz="2400">
                          <a:solidFill>
                            <a:srgbClr val="232B34"/>
                          </a:solidFill>
                          <a:latin typeface="Arial" panose="020B0604020202020204" pitchFamily="34" charset="0"/>
                          <a:ea typeface="Yu Gothic"/>
                        </a:rPr>
                        <a:t>0.1 s / 点</a:t>
                      </a:r>
                    </a:p>
                  </a:txBody>
                  <a:tcPr anchor="ctr">
                    <a:solidFill>
                      <a:srgbClr val="EBF6FB"/>
                    </a:solidFill>
                  </a:tcPr>
                </a:tc>
                <a:extLst>
                  <a:ext uri="{0D108BD9-81ED-4DB2-BD59-A6C34878D82A}">
                    <a16:rowId xmlns:a16="http://schemas.microsoft.com/office/drawing/2014/main" val="10004"/>
                  </a:ext>
                </a:extLst>
              </a:tr>
              <a:tr h="901337">
                <a:tc>
                  <a:txBody>
                    <a:bodyPr/>
                    <a:lstStyle/>
                    <a:p>
                      <a:pPr algn="l">
                        <a:spcAft>
                          <a:spcPts val="0"/>
                        </a:spcAft>
                        <a:buNone/>
                      </a:pPr>
                      <a:r>
                        <a:rPr sz="2400">
                          <a:solidFill>
                            <a:srgbClr val="232B34"/>
                          </a:solidFill>
                          <a:latin typeface="Arial" panose="020B0604020202020204" pitchFamily="34" charset="0"/>
                          <a:ea typeface="Yu Gothic"/>
                        </a:rPr>
                        <a:t>総走査点数</a:t>
                      </a:r>
                    </a:p>
                  </a:txBody>
                  <a:tcPr anchor="ctr">
                    <a:solidFill>
                      <a:srgbClr val="FFFFFF"/>
                    </a:solidFill>
                  </a:tcPr>
                </a:tc>
                <a:tc>
                  <a:txBody>
                    <a:bodyPr/>
                    <a:lstStyle/>
                    <a:p>
                      <a:pPr algn="l">
                        <a:spcAft>
                          <a:spcPts val="0"/>
                        </a:spcAft>
                        <a:buNone/>
                      </a:pPr>
                      <a:r>
                        <a:rPr sz="2400">
                          <a:solidFill>
                            <a:srgbClr val="232B34"/>
                          </a:solidFill>
                          <a:latin typeface="Arial" panose="020B0604020202020204" pitchFamily="34" charset="0"/>
                          <a:ea typeface="Yu Gothic"/>
                        </a:rPr>
                        <a:t>27 × 27 = 729点</a:t>
                      </a:r>
                    </a:p>
                  </a:txBody>
                  <a:tcPr anchor="ctr">
                    <a:solidFill>
                      <a:srgbClr val="EBF6FB"/>
                    </a:solidFill>
                  </a:tcPr>
                </a:tc>
                <a:extLst>
                  <a:ext uri="{0D108BD9-81ED-4DB2-BD59-A6C34878D82A}">
                    <a16:rowId xmlns:a16="http://schemas.microsoft.com/office/drawing/2014/main" val="10005"/>
                  </a:ext>
                </a:extLst>
              </a:tr>
              <a:tr h="901338">
                <a:tc>
                  <a:txBody>
                    <a:bodyPr/>
                    <a:lstStyle/>
                    <a:p>
                      <a:pPr algn="l">
                        <a:spcAft>
                          <a:spcPts val="0"/>
                        </a:spcAft>
                        <a:buNone/>
                      </a:pPr>
                      <a:r>
                        <a:rPr sz="2400">
                          <a:solidFill>
                            <a:srgbClr val="232B34"/>
                          </a:solidFill>
                          <a:latin typeface="Arial" panose="020B0604020202020204" pitchFamily="34" charset="0"/>
                          <a:ea typeface="Yu Gothic"/>
                        </a:rPr>
                        <a:t>最大走査時間</a:t>
                      </a:r>
                    </a:p>
                  </a:txBody>
                  <a:tcPr anchor="ctr">
                    <a:solidFill>
                      <a:srgbClr val="F4F6F8"/>
                    </a:solidFill>
                  </a:tcPr>
                </a:tc>
                <a:tc>
                  <a:txBody>
                    <a:bodyPr/>
                    <a:lstStyle/>
                    <a:p>
                      <a:pPr algn="l">
                        <a:spcAft>
                          <a:spcPts val="0"/>
                        </a:spcAft>
                        <a:buNone/>
                      </a:pPr>
                      <a:r>
                        <a:rPr lang="en-US" sz="2400">
                          <a:solidFill>
                            <a:srgbClr val="232B34"/>
                          </a:solidFill>
                          <a:latin typeface="Arial" panose="020B0604020202020204" pitchFamily="34" charset="0"/>
                          <a:ea typeface="Yu Gothic"/>
                        </a:rPr>
                        <a:t>72.9 s</a:t>
                      </a:r>
                      <a:endParaRPr lang="en-US" sz="2400" dirty="0">
                        <a:solidFill>
                          <a:srgbClr val="232B34"/>
                        </a:solidFill>
                        <a:latin typeface="Arial" panose="020B0604020202020204" pitchFamily="34" charset="0"/>
                        <a:ea typeface="Yu Gothic"/>
                      </a:endParaRPr>
                    </a:p>
                  </a:txBody>
                  <a:tcPr anchor="ctr">
                    <a:solidFill>
                      <a:srgbClr val="EBF6FB"/>
                    </a:solidFill>
                  </a:tcPr>
                </a:tc>
                <a:extLst>
                  <a:ext uri="{0D108BD9-81ED-4DB2-BD59-A6C34878D82A}">
                    <a16:rowId xmlns:a16="http://schemas.microsoft.com/office/drawing/2014/main" val="10006"/>
                  </a:ext>
                </a:extLst>
              </a:tr>
            </a:tbl>
          </a:graphicData>
        </a:graphic>
      </p:graphicFrame>
      <p:sp>
        <p:nvSpPr>
          <p:cNvPr id="29" name="Rounded Rectangle 28"/>
          <p:cNvSpPr/>
          <p:nvPr/>
        </p:nvSpPr>
        <p:spPr>
          <a:xfrm>
            <a:off x="12256522" y="10179232"/>
            <a:ext cx="9253796" cy="182880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10930" y="10711372"/>
            <a:ext cx="8999388" cy="794064"/>
          </a:xfrm>
          <a:prstGeom prst="rect">
            <a:avLst/>
          </a:prstGeom>
          <a:noFill/>
        </p:spPr>
        <p:txBody>
          <a:bodyPr wrap="none" lIns="36576" tIns="27432" rIns="36576" bIns="27432" anchor="t">
            <a:spAutoFit/>
          </a:bodyPr>
          <a:lstStyle/>
          <a:p>
            <a:pPr algn="ctr"/>
            <a:r>
              <a:rPr lang="ja-JP" altLang="ja-JP" sz="2400" b="1" dirty="0">
                <a:solidFill>
                  <a:schemeClr val="accent2"/>
                </a:solidFill>
                <a:latin typeface="Arial" panose="020B0604020202020204" pitchFamily="34" charset="0"/>
              </a:rPr>
              <a:t>簡略化：点間移動・整定時間・受光強度の確率変動は</a:t>
            </a:r>
            <a:r>
              <a:rPr lang="ja-JP" altLang="ja-JP" sz="2400" b="1">
                <a:solidFill>
                  <a:schemeClr val="accent2"/>
                </a:solidFill>
                <a:latin typeface="Arial" panose="020B0604020202020204" pitchFamily="34" charset="0"/>
              </a:rPr>
              <a:t>考慮しない</a:t>
            </a:r>
            <a:br>
              <a:rPr lang="en-US" altLang="ja-JP" sz="2400">
                <a:solidFill>
                  <a:schemeClr val="accent2"/>
                </a:solidFill>
                <a:latin typeface="Arial" panose="020B0604020202020204" pitchFamily="34" charset="0"/>
              </a:rPr>
            </a:br>
            <a:r>
              <a:rPr lang="ja-JP" altLang="ja-JP" sz="2400" b="1">
                <a:solidFill>
                  <a:schemeClr val="accent2"/>
                </a:solidFill>
                <a:latin typeface="Arial" panose="020B0604020202020204" pitchFamily="34" charset="0"/>
              </a:rPr>
              <a:t>各走査点</a:t>
            </a:r>
            <a:r>
              <a:rPr lang="ja-JP" altLang="ja-JP" sz="2400" b="1" dirty="0">
                <a:solidFill>
                  <a:schemeClr val="accent2"/>
                </a:solidFill>
                <a:latin typeface="Arial" panose="020B0604020202020204" pitchFamily="34" charset="0"/>
              </a:rPr>
              <a:t>を独立な捕捉機会として評価する</a:t>
            </a:r>
            <a:endParaRPr sz="2400" b="1" dirty="0">
              <a:solidFill>
                <a:schemeClr val="accent2"/>
              </a:solidFill>
              <a:latin typeface="Arial" panose="020B0604020202020204" pitchFamily="34" charset="0"/>
            </a:endParaRPr>
          </a:p>
        </p:txBody>
      </p:sp>
      <p:sp>
        <p:nvSpPr>
          <p:cNvPr id="32" name="テキスト ボックス 31">
            <a:extLst>
              <a:ext uri="{FF2B5EF4-FFF2-40B4-BE49-F238E27FC236}">
                <a16:creationId xmlns:a16="http://schemas.microsoft.com/office/drawing/2014/main" id="{37EE8180-2C54-474D-D777-0D6C6E0E04A0}"/>
              </a:ext>
            </a:extLst>
          </p:cNvPr>
          <p:cNvSpPr txBox="1"/>
          <p:nvPr/>
        </p:nvSpPr>
        <p:spPr>
          <a:xfrm>
            <a:off x="1779568" y="10881359"/>
            <a:ext cx="8437790" cy="954107"/>
          </a:xfrm>
          <a:prstGeom prst="rect">
            <a:avLst/>
          </a:prstGeom>
          <a:noFill/>
        </p:spPr>
        <p:txBody>
          <a:bodyPr wrap="square">
            <a:spAutoFit/>
          </a:bodyPr>
          <a:lstStyle/>
          <a:p>
            <a:r>
              <a:rPr lang="ja-JP" altLang="ja-JP" sz="2800" b="1" dirty="0">
                <a:latin typeface="Arial" panose="020B0604020202020204" pitchFamily="34" charset="0"/>
              </a:rPr>
              <a:t>真の指向誤差が検出半径内に入った最初の走査点を捕捉時刻とする</a:t>
            </a:r>
            <a:endParaRPr lang="ja-JP" altLang="en-US" sz="2800" b="1" dirty="0">
              <a:latin typeface="Arial" panose="020B0604020202020204" pitchFamily="34" charset="0"/>
            </a:endParaRPr>
          </a:p>
        </p:txBody>
      </p:sp>
      <p:sp>
        <p:nvSpPr>
          <p:cNvPr id="33" name="TextBox 32"/>
          <p:cNvSpPr txBox="1"/>
          <p:nvPr/>
        </p:nvSpPr>
        <p:spPr>
          <a:xfrm>
            <a:off x="12252960" y="9052560"/>
            <a:ext cx="10881360" cy="434350"/>
          </a:xfrm>
          <a:prstGeom prst="rect">
            <a:avLst/>
          </a:prstGeom>
          <a:noFill/>
        </p:spPr>
        <p:txBody>
          <a:bodyPr wrap="square" lIns="45720" tIns="18288" rIns="45720" bIns="18288" anchor="t">
            <a:spAutoFit/>
          </a:bodyPr>
          <a:lstStyle/>
          <a:p>
            <a:pPr algn="l">
              <a:lnSpc>
                <a:spcPct val="120000"/>
              </a:lnSpc>
              <a:spcAft>
                <a:spcPts val="0"/>
              </a:spcAft>
            </a:pPr>
            <a:r>
              <a:rPr sz="2300" b="1">
                <a:solidFill>
                  <a:srgbClr val="239571"/>
                </a:solidFill>
                <a:latin typeface="Arial" panose="020B0604020202020204" pitchFamily="34" charset="0"/>
                <a:ea typeface="Yu Gothic"/>
              </a:rPr>
              <a:t>格子対角の半分 120/√2 ≈ 85 µrad &lt; 検出半径 150 µrad なので掃き残しは無い</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18962050"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B3｜軌道予測誤差の作り方と、リンク横断面への射影</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B3</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097280" y="2834640"/>
            <a:ext cx="9692640" cy="75895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3859119" y="3931920"/>
                <a:ext cx="4168962" cy="573427"/>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000" b="1" i="1" dirty="0" smtClean="0">
                          <a:solidFill>
                            <a:srgbClr val="082B52"/>
                          </a:solidFill>
                          <a:latin typeface="Cambria Math" panose="02040503050406030204" pitchFamily="18" charset="0"/>
                        </a:rPr>
                        <m:t>𝜹</m:t>
                      </m:r>
                      <m:r>
                        <a:rPr lang="ja-JP" altLang="en-US" sz="3000" b="1" i="1" dirty="0" smtClean="0">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m:t>
                      </m:r>
                      <m:r>
                        <a:rPr lang="en-US" altLang="ja-JP" sz="3000" b="1" i="1" dirty="0">
                          <a:solidFill>
                            <a:srgbClr val="082B52"/>
                          </a:solidFill>
                          <a:latin typeface="Cambria Math" panose="02040503050406030204" pitchFamily="18" charset="0"/>
                        </a:rPr>
                        <m:t>= </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 </m:t>
                      </m:r>
                      <m:r>
                        <a:rPr lang="en-US" altLang="ja-JP" sz="3000" b="1" i="1" dirty="0">
                          <a:solidFill>
                            <a:srgbClr val="082B52"/>
                          </a:solidFill>
                          <a:latin typeface="Cambria Math" panose="02040503050406030204" pitchFamily="18" charset="0"/>
                        </a:rPr>
                        <m:t>(</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en-US" altLang="ja-JP" sz="3000" b="1" i="1" dirty="0">
                          <a:solidFill>
                            <a:srgbClr val="082B52"/>
                          </a:solidFill>
                          <a:latin typeface="Cambria Math" panose="02040503050406030204" pitchFamily="18" charset="0"/>
                        </a:rPr>
                        <m:t>·</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9119" y="3931920"/>
                <a:ext cx="4168962" cy="57342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450243" y="5303520"/>
                <a:ext cx="2986715" cy="1040285"/>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1" dirty="0" smtClean="0">
                          <a:solidFill>
                            <a:srgbClr val="1B74AA"/>
                          </a:solidFill>
                          <a:latin typeface="Cambria Math" panose="02040503050406030204" pitchFamily="18" charset="0"/>
                        </a:rPr>
                        <m:t>𝜽</m:t>
                      </m:r>
                      <m:r>
                        <a:rPr lang="ja-JP" altLang="en-US" sz="3200" b="1" i="1" dirty="0" smtClean="0">
                          <a:solidFill>
                            <a:srgbClr val="1B74AA"/>
                          </a:solidFill>
                          <a:latin typeface="Cambria Math" panose="02040503050406030204" pitchFamily="18" charset="0"/>
                        </a:rPr>
                        <m:t> ≈ </m:t>
                      </m:r>
                      <m:r>
                        <a:rPr lang="ja-JP" altLang="en-US" sz="3200" b="1" i="1" dirty="0" err="1">
                          <a:solidFill>
                            <a:srgbClr val="1B74AA"/>
                          </a:solidFill>
                          <a:latin typeface="Cambria Math" panose="02040503050406030204" pitchFamily="18" charset="0"/>
                        </a:rPr>
                        <m:t>𝜹</m:t>
                      </m:r>
                      <m:r>
                        <a:rPr lang="ja-JP" altLang="en-US" sz="3200" b="1" i="1" dirty="0" err="1">
                          <a:solidFill>
                            <a:srgbClr val="1B74AA"/>
                          </a:solidFill>
                          <a:latin typeface="Cambria Math" panose="02040503050406030204" pitchFamily="18" charset="0"/>
                        </a:rPr>
                        <m:t>𝒓</m:t>
                      </m:r>
                      <m:r>
                        <a:rPr lang="ja-JP" altLang="en-US" sz="3200" b="1" i="1" dirty="0">
                          <a:solidFill>
                            <a:srgbClr val="1B74AA"/>
                          </a:solidFill>
                          <a:latin typeface="Cambria Math" panose="02040503050406030204" pitchFamily="18" charset="0"/>
                        </a:rPr>
                        <m:t>⊥</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𝑹</m:t>
                          </m:r>
                        </m:e>
                        <m:sub>
                          <m:r>
                            <a:rPr lang="ja-JP" altLang="en-US" sz="3200" b="1" i="1" dirty="0" err="1">
                              <a:solidFill>
                                <a:srgbClr val="1B74AA"/>
                              </a:solidFill>
                              <a:latin typeface="Cambria Math" panose="02040503050406030204" pitchFamily="18" charset="0"/>
                            </a:rPr>
                            <m:t>𝒍𝒊𝒏𝒌</m:t>
                          </m:r>
                        </m:sub>
                      </m:sSub>
                    </m:oMath>
                  </m:oMathPara>
                </a14:m>
                <a:endParaRPr lang="en-US" altLang="ja-JP" sz="3200" b="1" i="1" dirty="0">
                  <a:solidFill>
                    <a:srgbClr val="1B74AA"/>
                  </a:solidFill>
                  <a:latin typeface="Cambria Math" panose="02040503050406030204" pitchFamily="18" charset="0"/>
                </a:endParaRPr>
              </a:p>
              <a:p>
                <a:pPr algn="ctr"/>
                <a:endParaRPr lang="en-US" altLang="ja-JP" sz="3200" b="1" i="1" dirty="0">
                  <a:solidFill>
                    <a:srgbClr val="1B74AA"/>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450243" y="5303520"/>
                <a:ext cx="2986715" cy="1040285"/>
              </a:xfrm>
              <a:prstGeom prst="rect">
                <a:avLst/>
              </a:prstGeom>
              <a:blipFill>
                <a:blip r:embed="rId4"/>
                <a:stretch>
                  <a:fillRect/>
                </a:stretch>
              </a:blipFill>
            </p:spPr>
            <p:txBody>
              <a:bodyPr/>
              <a:lstStyle/>
              <a:p>
                <a:r>
                  <a:rPr lang="ja-JP" altLang="en-US">
                    <a:noFill/>
                  </a:rPr>
                  <a:t> </a:t>
                </a:r>
              </a:p>
            </p:txBody>
          </p:sp>
        </mc:Fallback>
      </mc:AlternateContent>
      <p:sp>
        <p:nvSpPr>
          <p:cNvPr id="8" name="TextBox 7"/>
          <p:cNvSpPr txBox="1"/>
          <p:nvPr/>
        </p:nvSpPr>
        <p:spPr>
          <a:xfrm>
            <a:off x="1737360" y="6766560"/>
            <a:ext cx="8412480" cy="2618024"/>
          </a:xfrm>
          <a:prstGeom prst="rect">
            <a:avLst/>
          </a:prstGeom>
          <a:noFill/>
        </p:spPr>
        <p:txBody>
          <a:bodyPr wrap="square" lIns="27432" rIns="27432">
            <a:spAutoFit/>
          </a:bodyPr>
          <a:lstStyle/>
          <a:p>
            <a:pPr>
              <a:lnSpc>
                <a:spcPct val="110000"/>
              </a:lnSpc>
              <a:spcAft>
                <a:spcPts val="1000"/>
              </a:spcAft>
            </a:pPr>
            <a:r>
              <a:rPr sz="2400" b="0">
                <a:solidFill>
                  <a:srgbClr val="232B34"/>
                </a:solidFill>
                <a:latin typeface="Arial" panose="020B0604020202020204" pitchFamily="34" charset="0"/>
                <a:ea typeface="Yu Gothic"/>
              </a:rPr>
              <a:t>• 真値は Sentinel-1 の高精度暦 POEORB</a:t>
            </a:r>
          </a:p>
          <a:p>
            <a:pPr>
              <a:lnSpc>
                <a:spcPct val="110000"/>
              </a:lnSpc>
              <a:spcAft>
                <a:spcPts val="1000"/>
              </a:spcAft>
            </a:pPr>
            <a:r>
              <a:rPr sz="2400" b="0">
                <a:solidFill>
                  <a:srgbClr val="232B34"/>
                </a:solidFill>
                <a:latin typeface="Arial" panose="020B0604020202020204" pitchFamily="34" charset="0"/>
                <a:ea typeface="Yu Gothic"/>
              </a:rPr>
              <a:t>• 予測は直近のTLEを SGP4 で前方伝播</a:t>
            </a:r>
          </a:p>
          <a:p>
            <a:pPr>
              <a:lnSpc>
                <a:spcPct val="110000"/>
              </a:lnSpc>
              <a:spcAft>
                <a:spcPts val="1000"/>
              </a:spcAft>
            </a:pPr>
            <a:r>
              <a:rPr sz="2400" b="0">
                <a:solidFill>
                  <a:srgbClr val="232B34"/>
                </a:solidFill>
                <a:latin typeface="Arial" panose="020B0604020202020204" pitchFamily="34" charset="0"/>
                <a:ea typeface="Yu Gothic"/>
              </a:rPr>
              <a:t>• 差をリンク横断面へ射影し、x–y の2成分にする</a:t>
            </a:r>
          </a:p>
          <a:p>
            <a:pPr>
              <a:lnSpc>
                <a:spcPct val="110000"/>
              </a:lnSpc>
              <a:spcAft>
                <a:spcPts val="1000"/>
              </a:spcAft>
            </a:pPr>
            <a:r>
              <a:rPr sz="2400" b="0">
                <a:solidFill>
                  <a:srgbClr val="232B34"/>
                </a:solidFill>
                <a:latin typeface="Arial" panose="020B0604020202020204" pitchFamily="34" charset="0"/>
                <a:ea typeface="Yu Gothic"/>
              </a:rPr>
              <a:t>• 熱LOSと同じ2成分で足し合わせる</a:t>
            </a:r>
          </a:p>
          <a:p>
            <a:pPr>
              <a:lnSpc>
                <a:spcPct val="110000"/>
              </a:lnSpc>
              <a:spcAft>
                <a:spcPts val="1000"/>
              </a:spcAft>
            </a:pPr>
            <a:r>
              <a:rPr sz="2400" b="0">
                <a:solidFill>
                  <a:srgbClr val="232B34"/>
                </a:solidFill>
                <a:latin typeface="Arial" panose="020B0604020202020204" pitchFamily="34" charset="0"/>
                <a:ea typeface="Yu Gothic"/>
              </a:rPr>
              <a:t>• 時系列の不連続は、TLEが更新された時刻</a:t>
            </a:r>
          </a:p>
        </p:txBody>
      </p:sp>
      <p:graphicFrame>
        <p:nvGraphicFramePr>
          <p:cNvPr id="9" name="Table 8"/>
          <p:cNvGraphicFramePr>
            <a:graphicFrameLocks noGrp="1"/>
          </p:cNvGraphicFramePr>
          <p:nvPr>
            <p:extLst>
              <p:ext uri="{D42A27DB-BD31-4B8C-83A1-F6EECF244321}">
                <p14:modId xmlns:p14="http://schemas.microsoft.com/office/powerpoint/2010/main" val="1382675216"/>
              </p:ext>
            </p:extLst>
          </p:nvPr>
        </p:nvGraphicFramePr>
        <p:xfrm>
          <a:off x="11430000" y="2834640"/>
          <a:ext cx="11704320" cy="6309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1261872">
                <a:tc>
                  <a:txBody>
                    <a:bodyPr/>
                    <a:lstStyle/>
                    <a:p>
                      <a:pPr algn="l">
                        <a:spcAft>
                          <a:spcPts val="0"/>
                        </a:spcAft>
                      </a:pPr>
                      <a:r>
                        <a:rPr sz="2100" b="1">
                          <a:solidFill>
                            <a:srgbClr val="FFFFFF"/>
                          </a:solidFill>
                          <a:latin typeface="Arial" panose="020B0604020202020204" pitchFamily="34" charset="0"/>
                          <a:ea typeface="Yu Gothic"/>
                        </a:rPr>
                        <a:t>太陽指向面</a:t>
                      </a:r>
                    </a:p>
                  </a:txBody>
                  <a:tcPr marL="64008" marR="64008" marT="27432" marB="27432" anchor="ctr">
                    <a:solidFill>
                      <a:srgbClr val="082B52"/>
                    </a:solidFill>
                  </a:tcPr>
                </a:tc>
                <a:tc>
                  <a:txBody>
                    <a:bodyPr/>
                    <a:lstStyle/>
                    <a:p>
                      <a:pPr algn="ctr">
                        <a:spcAft>
                          <a:spcPts val="0"/>
                        </a:spcAft>
                      </a:pPr>
                      <a:r>
                        <a:rPr sz="2100" b="1">
                          <a:solidFill>
                            <a:srgbClr val="FFFFFF"/>
                          </a:solidFill>
                          <a:latin typeface="Arial" panose="020B0604020202020204" pitchFamily="34" charset="0"/>
                          <a:ea typeface="Yu Gothic"/>
                        </a:rPr>
                        <a:t>通信相手とリンク</a:t>
                      </a:r>
                    </a:p>
                  </a:txBody>
                  <a:tcPr marL="64008" marR="64008" marT="27432" marB="27432" anchor="ctr">
                    <a:solidFill>
                      <a:srgbClr val="082B52"/>
                    </a:solidFill>
                  </a:tcPr>
                </a:tc>
                <a:tc>
                  <a:txBody>
                    <a:bodyPr/>
                    <a:lstStyle/>
                    <a:p>
                      <a:pPr algn="ctr">
                        <a:spcAft>
                          <a:spcPts val="0"/>
                        </a:spcAft>
                      </a:pPr>
                      <a:r>
                        <a:rPr sz="2100" b="1">
                          <a:solidFill>
                            <a:srgbClr val="FFFFFF"/>
                          </a:solidFill>
                          <a:latin typeface="Arial" panose="020B0604020202020204" pitchFamily="34" charset="0"/>
                          <a:ea typeface="Yu Gothic"/>
                        </a:rPr>
                        <a:t>扱い</a:t>
                      </a:r>
                    </a:p>
                  </a:txBody>
                  <a:tcPr marL="64008" marR="64008" marT="27432" marB="27432" anchor="ctr">
                    <a:solidFill>
                      <a:srgbClr val="082B52"/>
                    </a:solidFill>
                  </a:tcPr>
                </a:tc>
                <a:extLst>
                  <a:ext uri="{0D108BD9-81ED-4DB2-BD59-A6C34878D82A}">
                    <a16:rowId xmlns:a16="http://schemas.microsoft.com/office/drawing/2014/main" val="10000"/>
                  </a:ext>
                </a:extLst>
              </a:tr>
              <a:tr h="1261872">
                <a:tc>
                  <a:txBody>
                    <a:bodyPr/>
                    <a:lstStyle/>
                    <a:p>
                      <a:pPr algn="l">
                        <a:spcAft>
                          <a:spcPts val="0"/>
                        </a:spcAft>
                      </a:pPr>
                      <a:r>
                        <a:rPr lang="en-US" sz="2100" b="0">
                          <a:solidFill>
                            <a:srgbClr val="232B34"/>
                          </a:solidFill>
                          <a:latin typeface="Arial" panose="020B0604020202020204" pitchFamily="34" charset="0"/>
                          <a:ea typeface="Yu Gothic"/>
                        </a:rPr>
                        <a:t>MY</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100" b="0">
                          <a:solidFill>
                            <a:srgbClr val="232B34"/>
                          </a:solidFill>
                          <a:latin typeface="Arial" panose="020B0604020202020204" pitchFamily="34" charset="0"/>
                          <a:ea typeface="Yu Gothic"/>
                        </a:rPr>
                        <a:t>進行方向の衛星（高度800 km）</a:t>
                      </a:r>
                    </a:p>
                  </a:txBody>
                  <a:tcPr marL="64008" marR="64008" marT="27432" marB="27432" anchor="ctr">
                    <a:solidFill>
                      <a:srgbClr val="FFFFFF"/>
                    </a:solidFill>
                  </a:tcPr>
                </a:tc>
                <a:tc>
                  <a:txBody>
                    <a:bodyPr/>
                    <a:lstStyle/>
                    <a:p>
                      <a:pPr algn="ctr">
                        <a:spcAft>
                          <a:spcPts val="0"/>
                        </a:spcAft>
                      </a:pPr>
                      <a:r>
                        <a:rPr sz="2100" b="0">
                          <a:solidFill>
                            <a:srgbClr val="232B34"/>
                          </a:solidFill>
                          <a:latin typeface="Arial" panose="020B0604020202020204" pitchFamily="34" charset="0"/>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1"/>
                  </a:ext>
                </a:extLst>
              </a:tr>
              <a:tr h="1261872">
                <a:tc>
                  <a:txBody>
                    <a:bodyPr/>
                    <a:lstStyle/>
                    <a:p>
                      <a:pPr algn="l">
                        <a:spcAft>
                          <a:spcPts val="0"/>
                        </a:spcAft>
                      </a:pPr>
                      <a:r>
                        <a:rPr lang="en-US" sz="2100" b="0">
                          <a:solidFill>
                            <a:srgbClr val="232B34"/>
                          </a:solidFill>
                          <a:latin typeface="Arial" panose="020B0604020202020204" pitchFamily="34" charset="0"/>
                          <a:ea typeface="Yu Gothic"/>
                        </a:rPr>
                        <a:t>PY</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100" b="0">
                          <a:solidFill>
                            <a:srgbClr val="232B34"/>
                          </a:solidFill>
                          <a:latin typeface="Arial" panose="020B0604020202020204" pitchFamily="34" charset="0"/>
                          <a:ea typeface="Yu Gothic"/>
                        </a:rPr>
                        <a:t>逆進行方向の衛星（高度800 km）</a:t>
                      </a:r>
                    </a:p>
                  </a:txBody>
                  <a:tcPr marL="64008" marR="64008" marT="27432" marB="27432" anchor="ctr">
                    <a:solidFill>
                      <a:srgbClr val="F4F6F8"/>
                    </a:solidFill>
                  </a:tcPr>
                </a:tc>
                <a:tc>
                  <a:txBody>
                    <a:bodyPr/>
                    <a:lstStyle/>
                    <a:p>
                      <a:pPr algn="ctr">
                        <a:spcAft>
                          <a:spcPts val="0"/>
                        </a:spcAft>
                      </a:pPr>
                      <a:r>
                        <a:rPr sz="2100" b="0">
                          <a:solidFill>
                            <a:srgbClr val="232B34"/>
                          </a:solidFill>
                          <a:latin typeface="Arial" panose="020B0604020202020204" pitchFamily="34" charset="0"/>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2"/>
                  </a:ext>
                </a:extLst>
              </a:tr>
              <a:tr h="1261872">
                <a:tc>
                  <a:txBody>
                    <a:bodyPr/>
                    <a:lstStyle/>
                    <a:p>
                      <a:pPr algn="l">
                        <a:spcAft>
                          <a:spcPts val="0"/>
                        </a:spcAft>
                      </a:pPr>
                      <a:r>
                        <a:rPr lang="en-US" sz="2100" b="0">
                          <a:solidFill>
                            <a:srgbClr val="232B34"/>
                          </a:solidFill>
                          <a:latin typeface="Arial" panose="020B0604020202020204" pitchFamily="34" charset="0"/>
                          <a:ea typeface="Yu Gothic"/>
                        </a:rPr>
                        <a:t>PX</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100" b="0">
                          <a:solidFill>
                            <a:srgbClr val="232B34"/>
                          </a:solidFill>
                          <a:latin typeface="Arial" panose="020B0604020202020204" pitchFamily="34" charset="0"/>
                          <a:ea typeface="Yu Gothic"/>
                        </a:rPr>
                        <a:t>直下の地上局（約695 km）</a:t>
                      </a:r>
                    </a:p>
                  </a:txBody>
                  <a:tcPr marL="64008" marR="64008" marT="27432" marB="27432" anchor="ctr">
                    <a:solidFill>
                      <a:srgbClr val="FFFFFF"/>
                    </a:solidFill>
                  </a:tcPr>
                </a:tc>
                <a:tc>
                  <a:txBody>
                    <a:bodyPr/>
                    <a:lstStyle/>
                    <a:p>
                      <a:pPr algn="ctr">
                        <a:spcAft>
                          <a:spcPts val="0"/>
                        </a:spcAft>
                      </a:pPr>
                      <a:r>
                        <a:rPr sz="2100" b="0">
                          <a:solidFill>
                            <a:srgbClr val="232B34"/>
                          </a:solidFill>
                          <a:latin typeface="Arial" panose="020B0604020202020204" pitchFamily="34" charset="0"/>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3"/>
                  </a:ext>
                </a:extLst>
              </a:tr>
              <a:tr h="1261872">
                <a:tc>
                  <a:txBody>
                    <a:bodyPr/>
                    <a:lstStyle/>
                    <a:p>
                      <a:pPr algn="l">
                        <a:spcAft>
                          <a:spcPts val="0"/>
                        </a:spcAft>
                      </a:pPr>
                      <a:r>
                        <a:rPr lang="en-US" sz="2100" b="0">
                          <a:solidFill>
                            <a:srgbClr val="232B34"/>
                          </a:solidFill>
                          <a:latin typeface="Arial" panose="020B0604020202020204" pitchFamily="34" charset="0"/>
                          <a:ea typeface="Yu Gothic"/>
                        </a:rPr>
                        <a:t>MX</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100" b="0">
                          <a:solidFill>
                            <a:srgbClr val="232B34"/>
                          </a:solidFill>
                          <a:latin typeface="Arial" panose="020B0604020202020204" pitchFamily="34" charset="0"/>
                          <a:ea typeface="Yu Gothic"/>
                        </a:rPr>
                        <a:t>天頂側に置いた仮想の相手（800 km）</a:t>
                      </a:r>
                    </a:p>
                  </a:txBody>
                  <a:tcPr marL="64008" marR="64008" marT="27432" marB="27432" anchor="ctr">
                    <a:solidFill>
                      <a:srgbClr val="F4F6F8"/>
                    </a:solidFill>
                  </a:tcPr>
                </a:tc>
                <a:tc>
                  <a:txBody>
                    <a:bodyPr/>
                    <a:lstStyle/>
                    <a:p>
                      <a:pPr algn="ctr">
                        <a:spcAft>
                          <a:spcPts val="0"/>
                        </a:spcAft>
                      </a:pPr>
                      <a:r>
                        <a:rPr sz="2100" b="0">
                          <a:solidFill>
                            <a:srgbClr val="232B34"/>
                          </a:solidFill>
                          <a:latin typeface="Arial" panose="020B0604020202020204" pitchFamily="34" charset="0"/>
                          <a:ea typeface="Yu Gothic"/>
                        </a:rPr>
                        <a:t>幾何のみ・非現実的</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1430000" y="9406890"/>
            <a:ext cx="10464531" cy="794064"/>
          </a:xfrm>
          <a:prstGeom prst="rect">
            <a:avLst/>
          </a:prstGeom>
          <a:noFill/>
        </p:spPr>
        <p:txBody>
          <a:bodyPr wrap="none" lIns="36576" tIns="27432" rIns="36576" bIns="27432" anchor="t">
            <a:spAutoFit/>
          </a:bodyPr>
          <a:lstStyle/>
          <a:p>
            <a:r>
              <a:rPr lang="en-US" altLang="ja-JP" sz="2400">
                <a:solidFill>
                  <a:schemeClr val="tx2">
                    <a:lumMod val="50000"/>
                  </a:schemeClr>
                </a:solidFill>
                <a:latin typeface="Arial" panose="020B0604020202020204" pitchFamily="34" charset="0"/>
              </a:rPr>
              <a:t>※ LCT</a:t>
            </a:r>
            <a:r>
              <a:rPr lang="ja-JP" altLang="en-US" sz="2400" dirty="0">
                <a:solidFill>
                  <a:schemeClr val="tx2">
                    <a:lumMod val="50000"/>
                  </a:schemeClr>
                </a:solidFill>
                <a:latin typeface="Arial" panose="020B0604020202020204" pitchFamily="34" charset="0"/>
              </a:rPr>
              <a:t>の指向面ごとに、通信相手は地上局</a:t>
            </a:r>
            <a:r>
              <a:rPr lang="en-US" altLang="ja-JP" sz="2400" dirty="0">
                <a:solidFill>
                  <a:schemeClr val="tx2">
                    <a:lumMod val="50000"/>
                  </a:schemeClr>
                </a:solidFill>
                <a:latin typeface="Arial" panose="020B0604020202020204" pitchFamily="34" charset="0"/>
              </a:rPr>
              <a:t>/</a:t>
            </a:r>
            <a:r>
              <a:rPr lang="ja-JP" altLang="en-US" sz="2400" dirty="0">
                <a:solidFill>
                  <a:schemeClr val="tx2">
                    <a:lumMod val="50000"/>
                  </a:schemeClr>
                </a:solidFill>
                <a:latin typeface="Arial" panose="020B0604020202020204" pitchFamily="34" charset="0"/>
              </a:rPr>
              <a:t>衛星をそれぞれ設定</a:t>
            </a:r>
            <a:endParaRPr lang="en-US" altLang="ja-JP" sz="2400" dirty="0">
              <a:solidFill>
                <a:schemeClr val="tx2">
                  <a:lumMod val="50000"/>
                </a:schemeClr>
              </a:solidFill>
              <a:latin typeface="Arial" panose="020B0604020202020204" pitchFamily="34" charset="0"/>
            </a:endParaRPr>
          </a:p>
          <a:p>
            <a:r>
              <a:rPr lang="en-US" altLang="ja-JP" sz="2400" dirty="0">
                <a:solidFill>
                  <a:schemeClr val="tx2">
                    <a:lumMod val="50000"/>
                  </a:schemeClr>
                </a:solidFill>
                <a:latin typeface="Arial" panose="020B0604020202020204" pitchFamily="34" charset="0"/>
              </a:rPr>
              <a:t>※ </a:t>
            </a:r>
            <a:r>
              <a:rPr sz="2400" err="1">
                <a:solidFill>
                  <a:schemeClr val="tx2">
                    <a:lumMod val="50000"/>
                  </a:schemeClr>
                </a:solidFill>
                <a:latin typeface="Yu Gothic"/>
              </a:rPr>
              <a:t>MX</a:t>
            </a:r>
            <a:r>
              <a:rPr sz="2400">
                <a:solidFill>
                  <a:schemeClr val="tx2">
                    <a:lumMod val="50000"/>
                  </a:schemeClr>
                </a:solidFill>
                <a:latin typeface="Yu Gothic"/>
              </a:rPr>
              <a:t>は角度計算可能だが</a:t>
            </a:r>
            <a:r>
              <a:rPr lang="ja-JP" altLang="en-US" sz="2400">
                <a:solidFill>
                  <a:schemeClr val="tx2">
                    <a:lumMod val="50000"/>
                  </a:schemeClr>
                </a:solidFill>
                <a:latin typeface="Arial" panose="020B0604020202020204" pitchFamily="34" charset="0"/>
              </a:rPr>
              <a:t>、</a:t>
            </a:r>
            <a:r>
              <a:rPr lang="en-US" altLang="ja-JP" sz="2400">
                <a:solidFill>
                  <a:schemeClr val="tx2">
                    <a:lumMod val="50000"/>
                  </a:schemeClr>
                </a:solidFill>
                <a:latin typeface="Arial" panose="020B0604020202020204" pitchFamily="34" charset="0"/>
              </a:rPr>
              <a:t>LCT</a:t>
            </a:r>
            <a:r>
              <a:rPr lang="ja-JP" altLang="en-US" sz="2400" dirty="0">
                <a:solidFill>
                  <a:schemeClr val="tx2">
                    <a:lumMod val="50000"/>
                  </a:schemeClr>
                </a:solidFill>
                <a:latin typeface="Arial" panose="020B0604020202020204" pitchFamily="34" charset="0"/>
              </a:rPr>
              <a:t>が天頂方向のため、</a:t>
            </a:r>
            <a:r>
              <a:rPr sz="2400" dirty="0" err="1">
                <a:solidFill>
                  <a:schemeClr val="tx2">
                    <a:lumMod val="50000"/>
                  </a:schemeClr>
                </a:solidFill>
                <a:latin typeface="Arial" panose="020B0604020202020204" pitchFamily="34" charset="0"/>
              </a:rPr>
              <a:t>現実的リンクではない</a:t>
            </a:r>
            <a:endParaRPr sz="2400" dirty="0">
              <a:solidFill>
                <a:schemeClr val="tx2">
                  <a:lumMod val="50000"/>
                </a:schemeClr>
              </a:solidFill>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10525445"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B4｜熱と軌道予測は同じ軌道周期。周波数では分けない</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B4</a:t>
            </a:r>
            <a:endParaRPr lang="en-US" sz="1800" b="0" dirty="0">
              <a:solidFill>
                <a:srgbClr val="666F79"/>
              </a:solidFill>
              <a:latin typeface="Arial" panose="020B0604020202020204" pitchFamily="34" charset="0"/>
              <a:ea typeface="Yu Gothic"/>
            </a:endParaRPr>
          </a:p>
        </p:txBody>
      </p:sp>
      <p:sp>
        <p:nvSpPr>
          <p:cNvPr id="5" name="Rectangle 4"/>
          <p:cNvSpPr/>
          <p:nvPr/>
        </p:nvSpPr>
        <p:spPr>
          <a:xfrm>
            <a:off x="914400" y="2743200"/>
            <a:ext cx="14813280" cy="80467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orbit_error_stt_LTAN06_800km_1213COLD_MY_SUN_3orbits.png"/>
          <p:cNvPicPr>
            <a:picLocks noChangeAspect="1"/>
          </p:cNvPicPr>
          <p:nvPr/>
        </p:nvPicPr>
        <p:blipFill>
          <a:blip r:embed="rId3"/>
          <a:stretch>
            <a:fillRect/>
          </a:stretch>
        </p:blipFill>
        <p:spPr>
          <a:xfrm>
            <a:off x="4297679" y="2743200"/>
            <a:ext cx="8046720" cy="804672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2945079221"/>
              </p:ext>
            </p:extLst>
          </p:nvPr>
        </p:nvGraphicFramePr>
        <p:xfrm>
          <a:off x="16367759" y="2926080"/>
          <a:ext cx="6583680" cy="475488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950976">
                <a:tc>
                  <a:txBody>
                    <a:bodyPr/>
                    <a:lstStyle/>
                    <a:p>
                      <a:pPr algn="l">
                        <a:spcAft>
                          <a:spcPts val="0"/>
                        </a:spcAft>
                      </a:pPr>
                      <a:r>
                        <a:rPr sz="2300" b="1">
                          <a:solidFill>
                            <a:srgbClr val="FFFFFF"/>
                          </a:solidFill>
                          <a:latin typeface="Arial" panose="020B0604020202020204" pitchFamily="34" charset="0"/>
                          <a:ea typeface="Yu Gothic"/>
                        </a:rPr>
                        <a:t>リンク</a:t>
                      </a:r>
                    </a:p>
                  </a:txBody>
                  <a:tcPr marL="64008" marR="64008" marT="27432" marB="27432" anchor="ctr">
                    <a:solidFill>
                      <a:srgbClr val="082B52"/>
                    </a:solidFill>
                  </a:tcPr>
                </a:tc>
                <a:tc>
                  <a:txBody>
                    <a:bodyPr/>
                    <a:lstStyle/>
                    <a:p>
                      <a:pPr algn="ctr">
                        <a:spcAft>
                          <a:spcPts val="0"/>
                        </a:spcAft>
                      </a:pPr>
                      <a:r>
                        <a:rPr sz="2300" b="1">
                          <a:solidFill>
                            <a:srgbClr val="FFFFFF"/>
                          </a:solidFill>
                          <a:latin typeface="Arial" panose="020B0604020202020204" pitchFamily="34" charset="0"/>
                          <a:ea typeface="Yu Gothic"/>
                        </a:rPr>
                        <a:t>位置誤差の平均</a:t>
                      </a:r>
                    </a:p>
                  </a:txBody>
                  <a:tcPr marL="64008" marR="64008" marT="27432" marB="27432" anchor="ctr">
                    <a:solidFill>
                      <a:srgbClr val="082B52"/>
                    </a:solidFill>
                  </a:tcPr>
                </a:tc>
                <a:extLst>
                  <a:ext uri="{0D108BD9-81ED-4DB2-BD59-A6C34878D82A}">
                    <a16:rowId xmlns:a16="http://schemas.microsoft.com/office/drawing/2014/main" val="10000"/>
                  </a:ext>
                </a:extLst>
              </a:tr>
              <a:tr h="950976">
                <a:tc>
                  <a:txBody>
                    <a:bodyPr/>
                    <a:lstStyle/>
                    <a:p>
                      <a:pPr algn="l">
                        <a:spcAft>
                          <a:spcPts val="0"/>
                        </a:spcAft>
                      </a:pPr>
                      <a:r>
                        <a:rPr sz="2300" b="0">
                          <a:solidFill>
                            <a:srgbClr val="232B34"/>
                          </a:solidFill>
                          <a:latin typeface="Arial" panose="020B0604020202020204" pitchFamily="34" charset="0"/>
                          <a:ea typeface="Yu Gothic"/>
                        </a:rPr>
                        <a:t>MY：進行方向の衛星</a:t>
                      </a: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約285 µrad</a:t>
                      </a:r>
                    </a:p>
                  </a:txBody>
                  <a:tcPr marL="64008" marR="64008" marT="27432" marB="27432" anchor="ctr">
                    <a:solidFill>
                      <a:srgbClr val="EBF6FB"/>
                    </a:solidFill>
                  </a:tcPr>
                </a:tc>
                <a:extLst>
                  <a:ext uri="{0D108BD9-81ED-4DB2-BD59-A6C34878D82A}">
                    <a16:rowId xmlns:a16="http://schemas.microsoft.com/office/drawing/2014/main" val="10001"/>
                  </a:ext>
                </a:extLst>
              </a:tr>
              <a:tr h="950976">
                <a:tc>
                  <a:txBody>
                    <a:bodyPr/>
                    <a:lstStyle/>
                    <a:p>
                      <a:pPr algn="l">
                        <a:spcAft>
                          <a:spcPts val="0"/>
                        </a:spcAft>
                      </a:pPr>
                      <a:r>
                        <a:rPr sz="2300" b="0">
                          <a:solidFill>
                            <a:srgbClr val="232B34"/>
                          </a:solidFill>
                          <a:latin typeface="Arial" panose="020B0604020202020204" pitchFamily="34" charset="0"/>
                          <a:ea typeface="Yu Gothic"/>
                        </a:rPr>
                        <a:t>PY：逆方向の衛星</a:t>
                      </a: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約285 µrad</a:t>
                      </a:r>
                    </a:p>
                  </a:txBody>
                  <a:tcPr marL="64008" marR="64008" marT="27432" marB="27432" anchor="ctr">
                    <a:solidFill>
                      <a:srgbClr val="EBF6FB"/>
                    </a:solidFill>
                  </a:tcPr>
                </a:tc>
                <a:extLst>
                  <a:ext uri="{0D108BD9-81ED-4DB2-BD59-A6C34878D82A}">
                    <a16:rowId xmlns:a16="http://schemas.microsoft.com/office/drawing/2014/main" val="10002"/>
                  </a:ext>
                </a:extLst>
              </a:tr>
              <a:tr h="950976">
                <a:tc>
                  <a:txBody>
                    <a:bodyPr/>
                    <a:lstStyle/>
                    <a:p>
                      <a:pPr algn="l">
                        <a:spcAft>
                          <a:spcPts val="0"/>
                        </a:spcAft>
                      </a:pPr>
                      <a:r>
                        <a:rPr sz="2300" b="0">
                          <a:solidFill>
                            <a:srgbClr val="232B34"/>
                          </a:solidFill>
                          <a:latin typeface="Arial" panose="020B0604020202020204" pitchFamily="34" charset="0"/>
                          <a:ea typeface="Yu Gothic"/>
                        </a:rPr>
                        <a:t>PX：直下の地上局</a:t>
                      </a: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約694 µrad</a:t>
                      </a:r>
                    </a:p>
                  </a:txBody>
                  <a:tcPr marL="64008" marR="64008" marT="27432" marB="27432" anchor="ctr">
                    <a:solidFill>
                      <a:srgbClr val="EBF6FB"/>
                    </a:solidFill>
                  </a:tcPr>
                </a:tc>
                <a:extLst>
                  <a:ext uri="{0D108BD9-81ED-4DB2-BD59-A6C34878D82A}">
                    <a16:rowId xmlns:a16="http://schemas.microsoft.com/office/drawing/2014/main" val="10003"/>
                  </a:ext>
                </a:extLst>
              </a:tr>
              <a:tr h="950976">
                <a:tc>
                  <a:txBody>
                    <a:bodyPr/>
                    <a:lstStyle/>
                    <a:p>
                      <a:pPr algn="l">
                        <a:spcAft>
                          <a:spcPts val="0"/>
                        </a:spcAft>
                      </a:pPr>
                      <a:r>
                        <a:rPr sz="2300" b="0">
                          <a:solidFill>
                            <a:srgbClr val="232B34"/>
                          </a:solidFill>
                          <a:latin typeface="Arial" panose="020B0604020202020204" pitchFamily="34" charset="0"/>
                          <a:ea typeface="Yu Gothic"/>
                        </a:rPr>
                        <a:t>MX：天頂側の仮想</a:t>
                      </a: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約612 µrad</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16367759" y="8229600"/>
            <a:ext cx="6583680" cy="2194560"/>
          </a:xfrm>
          <a:prstGeom prst="roundRect">
            <a:avLst/>
          </a:prstGeom>
          <a:solidFill>
            <a:srgbClr val="FEF5E6"/>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733520" y="8641080"/>
            <a:ext cx="5852160" cy="913199"/>
          </a:xfrm>
          <a:prstGeom prst="rect">
            <a:avLst/>
          </a:prstGeom>
          <a:noFill/>
        </p:spPr>
        <p:txBody>
          <a:bodyPr wrap="square" lIns="36576" tIns="27432" rIns="36576" bIns="27432" anchor="t">
            <a:spAutoFit/>
          </a:bodyPr>
          <a:lstStyle/>
          <a:p>
            <a:pPr algn="ctr">
              <a:lnSpc>
                <a:spcPct val="120000"/>
              </a:lnSpc>
              <a:spcAft>
                <a:spcPts val="0"/>
              </a:spcAft>
            </a:pPr>
            <a:r>
              <a:rPr sz="2400" b="1">
                <a:solidFill>
                  <a:srgbClr val="EC9427"/>
                </a:solidFill>
                <a:latin typeface="Arial" panose="020B0604020202020204" pitchFamily="34" charset="0"/>
                <a:ea typeface="Yu Gothic"/>
              </a:rPr>
              <a:t>熱：約101分</a:t>
            </a:r>
          </a:p>
          <a:p>
            <a:pPr algn="ctr">
              <a:lnSpc>
                <a:spcPct val="120000"/>
              </a:lnSpc>
              <a:spcAft>
                <a:spcPts val="0"/>
              </a:spcAft>
            </a:pPr>
            <a:r>
              <a:rPr sz="2400" b="1">
                <a:solidFill>
                  <a:srgbClr val="EC9427"/>
                </a:solidFill>
                <a:latin typeface="Arial" panose="020B0604020202020204" pitchFamily="34" charset="0"/>
                <a:ea typeface="Yu Gothic"/>
              </a:rPr>
              <a:t>軌道予測：約101分 と約50分</a:t>
            </a:r>
          </a:p>
        </p:txBody>
      </p:sp>
      <p:sp>
        <p:nvSpPr>
          <p:cNvPr id="10" name="TextBox 9"/>
          <p:cNvSpPr txBox="1"/>
          <p:nvPr/>
        </p:nvSpPr>
        <p:spPr>
          <a:xfrm>
            <a:off x="1097280" y="11247120"/>
            <a:ext cx="22128480" cy="952633"/>
          </a:xfrm>
          <a:prstGeom prst="rect">
            <a:avLst/>
          </a:prstGeom>
          <a:noFill/>
        </p:spPr>
        <p:txBody>
          <a:bodyPr wrap="square" lIns="36576" tIns="27432" rIns="36576" bIns="27432" anchor="t">
            <a:spAutoFit/>
          </a:bodyPr>
          <a:lstStyle/>
          <a:p>
            <a:pPr algn="ctr">
              <a:lnSpc>
                <a:spcPct val="120000"/>
              </a:lnSpc>
              <a:spcAft>
                <a:spcPts val="0"/>
              </a:spcAft>
            </a:pPr>
            <a:r>
              <a:rPr sz="2500" b="1">
                <a:solidFill>
                  <a:srgbClr val="082B52"/>
                </a:solidFill>
                <a:latin typeface="Arial" panose="020B0604020202020204" pitchFamily="34" charset="0"/>
                <a:ea typeface="Yu Gothic"/>
              </a:rPr>
              <a:t>熱ひずみと軌道予測誤差は、大きさも周波数帯も同程度</a:t>
            </a:r>
            <a:endParaRPr lang="en-US" sz="2900" b="1" dirty="0">
              <a:solidFill>
                <a:srgbClr val="D03B46"/>
              </a:solidFill>
              <a:latin typeface="Arial" panose="020B0604020202020204" pitchFamily="34" charset="0"/>
            </a:endParaRPr>
          </a:p>
          <a:p>
            <a:pPr algn="ctr">
              <a:lnSpc>
                <a:spcPct val="120000"/>
              </a:lnSpc>
              <a:spcAft>
                <a:spcPts val="0"/>
              </a:spcAft>
            </a:pPr>
            <a:r>
              <a:rPr sz="2500" b="1">
                <a:solidFill>
                  <a:srgbClr val="082B52"/>
                </a:solidFill>
                <a:latin typeface="Arial" panose="020B0604020202020204" pitchFamily="34" charset="0"/>
                <a:ea typeface="Yu Gothic"/>
              </a:rPr>
              <a:t>『低周波＝熱』という分離は主張しない。温度という別入力で捕捉前に引く</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22037040"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B5｜LOS定義の比較と、並進を入れない理由</a:t>
            </a: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B5</a:t>
            </a:r>
            <a:endParaRPr lang="en-US" sz="1800" b="0" dirty="0">
              <a:solidFill>
                <a:srgbClr val="666F79"/>
              </a:solidFill>
              <a:latin typeface="Arial" panose="020B0604020202020204" pitchFamily="34" charset="0"/>
              <a:ea typeface="Yu Gothic"/>
            </a:endParaRPr>
          </a:p>
        </p:txBody>
      </p:sp>
      <p:sp>
        <p:nvSpPr>
          <p:cNvPr id="5" name="Rectangle 4"/>
          <p:cNvSpPr/>
          <p:nvPr/>
        </p:nvSpPr>
        <p:spPr>
          <a:xfrm>
            <a:off x="1097280" y="2743200"/>
            <a:ext cx="21945600" cy="841248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s_definition_comparison.png"/>
          <p:cNvPicPr>
            <a:picLocks noChangeAspect="1"/>
          </p:cNvPicPr>
          <p:nvPr/>
        </p:nvPicPr>
        <p:blipFill>
          <a:blip r:embed="rId3"/>
          <a:stretch>
            <a:fillRect/>
          </a:stretch>
        </p:blipFill>
        <p:spPr>
          <a:xfrm>
            <a:off x="7443216" y="2743200"/>
            <a:ext cx="9253728" cy="8412480"/>
          </a:xfrm>
          <a:prstGeom prst="rect">
            <a:avLst/>
          </a:prstGeom>
        </p:spPr>
      </p:pic>
      <p:sp>
        <p:nvSpPr>
          <p:cNvPr id="7" name="TextBox 6"/>
          <p:cNvSpPr txBox="1"/>
          <p:nvPr/>
        </p:nvSpPr>
        <p:spPr>
          <a:xfrm>
            <a:off x="1097280" y="11338560"/>
            <a:ext cx="21945600" cy="890693"/>
          </a:xfrm>
          <a:prstGeom prst="rect">
            <a:avLst/>
          </a:prstGeom>
          <a:noFill/>
        </p:spPr>
        <p:txBody>
          <a:bodyPr wrap="square" lIns="45720" tIns="18288" rIns="45720" bIns="18288" anchor="t">
            <a:spAutoFit/>
          </a:bodyPr>
          <a:lstStyle/>
          <a:p>
            <a:pPr algn="l">
              <a:lnSpc>
                <a:spcPct val="125000"/>
              </a:lnSpc>
              <a:spcAft>
                <a:spcPts val="0"/>
              </a:spcAft>
            </a:pPr>
            <a:r>
              <a:rPr sz="2300" b="0">
                <a:solidFill>
                  <a:srgbClr val="666F79"/>
                </a:solidFill>
                <a:latin typeface="Arial" panose="020B0604020202020204" pitchFamily="34" charset="0"/>
                <a:ea typeface="Yu Gothic"/>
              </a:rPr>
              <a:t>代表節点の回転を機器姿勢の代理にしている。取付面全体の剛体フィットは今後</a:t>
            </a:r>
          </a:p>
          <a:p>
            <a:pPr algn="l">
              <a:lnSpc>
                <a:spcPct val="125000"/>
              </a:lnSpc>
              <a:spcAft>
                <a:spcPts val="0"/>
              </a:spcAft>
            </a:pPr>
            <a:r>
              <a:rPr sz="2300" b="0">
                <a:solidFill>
                  <a:srgbClr val="666F79"/>
                </a:solidFill>
                <a:latin typeface="Arial" panose="020B0604020202020204" pitchFamily="34" charset="0"/>
                <a:ea typeface="Yu Gothic"/>
              </a:rPr>
              <a:t>代表点間の並進による傾きは、衛星間距離で割ると小さいので捕捉評価には入れていない</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B6（1/2）｜モデルが難しいケース</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B6</a:t>
            </a:r>
            <a:endParaRPr lang="en-US" sz="1800" b="0" dirty="0">
              <a:solidFill>
                <a:srgbClr val="666F79"/>
              </a:solidFill>
              <a:latin typeface="Arial" panose="020B0604020202020204" pitchFamily="34" charset="0"/>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459569381"/>
              </p:ext>
            </p:extLst>
          </p:nvPr>
        </p:nvGraphicFramePr>
        <p:xfrm>
          <a:off x="1463040" y="3291840"/>
          <a:ext cx="21396960" cy="4754880"/>
        </p:xfrm>
        <a:graphic>
          <a:graphicData uri="http://schemas.openxmlformats.org/drawingml/2006/table">
            <a:tbl>
              <a:tblPr firstRow="1" bandRow="1">
                <a:tableStyleId>{5C22544A-7EE6-4342-B048-85BDC9FD1C3A}</a:tableStyleId>
              </a:tblPr>
              <a:tblGrid>
                <a:gridCol w="5349240">
                  <a:extLst>
                    <a:ext uri="{9D8B030D-6E8A-4147-A177-3AD203B41FA5}">
                      <a16:colId xmlns:a16="http://schemas.microsoft.com/office/drawing/2014/main" val="20000"/>
                    </a:ext>
                  </a:extLst>
                </a:gridCol>
                <a:gridCol w="3209544">
                  <a:extLst>
                    <a:ext uri="{9D8B030D-6E8A-4147-A177-3AD203B41FA5}">
                      <a16:colId xmlns:a16="http://schemas.microsoft.com/office/drawing/2014/main" val="20001"/>
                    </a:ext>
                  </a:extLst>
                </a:gridCol>
                <a:gridCol w="12838176">
                  <a:extLst>
                    <a:ext uri="{9D8B030D-6E8A-4147-A177-3AD203B41FA5}">
                      <a16:colId xmlns:a16="http://schemas.microsoft.com/office/drawing/2014/main" val="20002"/>
                    </a:ext>
                  </a:extLst>
                </a:gridCol>
              </a:tblGrid>
              <a:tr h="1188720">
                <a:tc>
                  <a:txBody>
                    <a:bodyPr/>
                    <a:lstStyle/>
                    <a:p>
                      <a:pPr algn="l">
                        <a:spcAft>
                          <a:spcPts val="0"/>
                        </a:spcAft>
                      </a:pPr>
                      <a:r>
                        <a:rPr sz="2400" b="1">
                          <a:solidFill>
                            <a:srgbClr val="FFFFFF"/>
                          </a:solidFill>
                          <a:latin typeface="Arial" panose="020B0604020202020204" pitchFamily="34" charset="0"/>
                          <a:ea typeface="Yu Gothic"/>
                        </a:rPr>
                        <a:t>ケース</a:t>
                      </a:r>
                    </a:p>
                  </a:txBody>
                  <a:tcPr marL="128016" marR="128016" anchor="ctr">
                    <a:solidFill>
                      <a:srgbClr val="082B52"/>
                    </a:solidFill>
                  </a:tcPr>
                </a:tc>
                <a:tc>
                  <a:txBody>
                    <a:bodyPr/>
                    <a:lstStyle/>
                    <a:p>
                      <a:pPr algn="ctr">
                        <a:spcAft>
                          <a:spcPts val="0"/>
                        </a:spcAft>
                      </a:pPr>
                      <a:r>
                        <a:rPr sz="2400" b="1">
                          <a:solidFill>
                            <a:srgbClr val="FFFFFF"/>
                          </a:solidFill>
                          <a:latin typeface="Arial" panose="020B0604020202020204" pitchFamily="34" charset="0"/>
                          <a:ea typeface="Yu Gothic"/>
                        </a:rPr>
                        <a:t>残差</a:t>
                      </a:r>
                    </a:p>
                  </a:txBody>
                  <a:tcPr marL="128016" marR="128016" anchor="ctr">
                    <a:solidFill>
                      <a:srgbClr val="082B52"/>
                    </a:solidFill>
                  </a:tcPr>
                </a:tc>
                <a:tc>
                  <a:txBody>
                    <a:bodyPr/>
                    <a:lstStyle/>
                    <a:p>
                      <a:pPr algn="ctr">
                        <a:spcAft>
                          <a:spcPts val="0"/>
                        </a:spcAft>
                      </a:pPr>
                      <a:r>
                        <a:rPr sz="2400" b="1">
                          <a:solidFill>
                            <a:srgbClr val="FFFFFF"/>
                          </a:solidFill>
                          <a:latin typeface="Arial" panose="020B0604020202020204" pitchFamily="34" charset="0"/>
                          <a:ea typeface="Yu Gothic"/>
                        </a:rPr>
                        <a:t>何が表せていないか</a:t>
                      </a:r>
                    </a:p>
                  </a:txBody>
                  <a:tcPr marL="128016" marR="128016" anchor="ctr">
                    <a:solidFill>
                      <a:srgbClr val="082B52"/>
                    </a:solidFill>
                  </a:tcPr>
                </a:tc>
                <a:extLst>
                  <a:ext uri="{0D108BD9-81ED-4DB2-BD59-A6C34878D82A}">
                    <a16:rowId xmlns:a16="http://schemas.microsoft.com/office/drawing/2014/main" val="10000"/>
                  </a:ext>
                </a:extLst>
              </a:tr>
              <a:tr h="1188720">
                <a:tc>
                  <a:txBody>
                    <a:bodyPr/>
                    <a:lstStyle/>
                    <a:p>
                      <a:pPr algn="l">
                        <a:spcAft>
                          <a:spcPts val="0"/>
                        </a:spcAft>
                      </a:pPr>
                      <a:r>
                        <a:rPr sz="2400" b="0">
                          <a:solidFill>
                            <a:srgbClr val="232B34"/>
                          </a:solidFill>
                          <a:latin typeface="Arial" panose="020B0604020202020204" pitchFamily="34" charset="0"/>
                          <a:ea typeface="Yu Gothic"/>
                        </a:rPr>
                        <a:t>太陽面Black被覆</a:t>
                      </a:r>
                    </a:p>
                  </a:txBody>
                  <a:tcPr marL="128016" marR="128016" anchor="ctr">
                    <a:solidFill>
                      <a:srgbClr val="FFFFFF"/>
                    </a:solidFill>
                  </a:tcPr>
                </a:tc>
                <a:tc>
                  <a:txBody>
                    <a:bodyPr/>
                    <a:lstStyle/>
                    <a:p>
                      <a:pPr algn="ctr">
                        <a:spcAft>
                          <a:spcPts val="0"/>
                        </a:spcAft>
                      </a:pPr>
                      <a:r>
                        <a:rPr sz="2400" b="0">
                          <a:solidFill>
                            <a:srgbClr val="232B34"/>
                          </a:solidFill>
                          <a:latin typeface="Arial" panose="020B0604020202020204" pitchFamily="34" charset="0"/>
                          <a:ea typeface="Yu Gothic"/>
                        </a:rPr>
                        <a:t>約13 µrad</a:t>
                      </a:r>
                    </a:p>
                  </a:txBody>
                  <a:tcPr marL="128016" marR="128016" anchor="ctr">
                    <a:solidFill>
                      <a:srgbClr val="FFFFFF"/>
                    </a:solidFill>
                  </a:tcPr>
                </a:tc>
                <a:tc>
                  <a:txBody>
                    <a:bodyPr/>
                    <a:lstStyle/>
                    <a:p>
                      <a:pPr algn="ctr">
                        <a:spcAft>
                          <a:spcPts val="0"/>
                        </a:spcAft>
                      </a:pPr>
                      <a:r>
                        <a:rPr sz="2400" b="0">
                          <a:solidFill>
                            <a:srgbClr val="232B34"/>
                          </a:solidFill>
                          <a:latin typeface="Arial" panose="020B0604020202020204" pitchFamily="34" charset="0"/>
                          <a:ea typeface="Yu Gothic"/>
                        </a:rPr>
                        <a:t>被覆を変えると感度と変動幅が動く。係数は標準表面で決めている</a:t>
                      </a:r>
                    </a:p>
                  </a:txBody>
                  <a:tcPr marL="128016" marR="128016" anchor="ctr">
                    <a:solidFill>
                      <a:srgbClr val="EBF6FB"/>
                    </a:solidFill>
                  </a:tcPr>
                </a:tc>
                <a:extLst>
                  <a:ext uri="{0D108BD9-81ED-4DB2-BD59-A6C34878D82A}">
                    <a16:rowId xmlns:a16="http://schemas.microsoft.com/office/drawing/2014/main" val="10001"/>
                  </a:ext>
                </a:extLst>
              </a:tr>
              <a:tr h="1188720">
                <a:tc>
                  <a:txBody>
                    <a:bodyPr/>
                    <a:lstStyle/>
                    <a:p>
                      <a:pPr algn="l">
                        <a:spcAft>
                          <a:spcPts val="0"/>
                        </a:spcAft>
                      </a:pPr>
                      <a:r>
                        <a:rPr sz="2400" b="0">
                          <a:solidFill>
                            <a:srgbClr val="232B34"/>
                          </a:solidFill>
                          <a:latin typeface="Arial" panose="020B0604020202020204" pitchFamily="34" charset="0"/>
                          <a:ea typeface="Yu Gothic"/>
                        </a:rPr>
                        <a:t>PROP半電力（12.5 W）</a:t>
                      </a:r>
                    </a:p>
                  </a:txBody>
                  <a:tcPr marL="128016" marR="128016" anchor="ctr">
                    <a:solidFill>
                      <a:srgbClr val="F4F6F8"/>
                    </a:solidFill>
                  </a:tcPr>
                </a:tc>
                <a:tc>
                  <a:txBody>
                    <a:bodyPr/>
                    <a:lstStyle/>
                    <a:p>
                      <a:pPr algn="ctr">
                        <a:spcAft>
                          <a:spcPts val="0"/>
                        </a:spcAft>
                      </a:pPr>
                      <a:r>
                        <a:rPr sz="2400" b="0">
                          <a:solidFill>
                            <a:srgbClr val="232B34"/>
                          </a:solidFill>
                          <a:latin typeface="Arial" panose="020B0604020202020204" pitchFamily="34" charset="0"/>
                          <a:ea typeface="Yu Gothic"/>
                        </a:rPr>
                        <a:t>約16 µrad</a:t>
                      </a:r>
                    </a:p>
                  </a:txBody>
                  <a:tcPr marL="128016" marR="128016" anchor="ctr">
                    <a:solidFill>
                      <a:srgbClr val="F4F6F8"/>
                    </a:solidFill>
                  </a:tcPr>
                </a:tc>
                <a:tc>
                  <a:txBody>
                    <a:bodyPr/>
                    <a:lstStyle/>
                    <a:p>
                      <a:pPr algn="ctr">
                        <a:spcAft>
                          <a:spcPts val="0"/>
                        </a:spcAft>
                      </a:pPr>
                      <a:r>
                        <a:rPr sz="2400" b="0">
                          <a:solidFill>
                            <a:srgbClr val="232B34"/>
                          </a:solidFill>
                          <a:latin typeface="Arial" panose="020B0604020202020204" pitchFamily="34" charset="0"/>
                          <a:ea typeface="Yu Gothic"/>
                        </a:rPr>
                        <a:t>ON/OFFの二値フラグでは25 Wと12.5 Wを区別できない</a:t>
                      </a:r>
                    </a:p>
                  </a:txBody>
                  <a:tcPr marL="128016" marR="128016" anchor="ctr">
                    <a:solidFill>
                      <a:srgbClr val="EBF6FB"/>
                    </a:solidFill>
                  </a:tcPr>
                </a:tc>
                <a:extLst>
                  <a:ext uri="{0D108BD9-81ED-4DB2-BD59-A6C34878D82A}">
                    <a16:rowId xmlns:a16="http://schemas.microsoft.com/office/drawing/2014/main" val="10002"/>
                  </a:ext>
                </a:extLst>
              </a:tr>
              <a:tr h="1188720">
                <a:tc>
                  <a:txBody>
                    <a:bodyPr/>
                    <a:lstStyle/>
                    <a:p>
                      <a:pPr algn="l">
                        <a:spcAft>
                          <a:spcPts val="0"/>
                        </a:spcAft>
                      </a:pPr>
                      <a:r>
                        <a:rPr sz="2400" b="0">
                          <a:solidFill>
                            <a:srgbClr val="232B34"/>
                          </a:solidFill>
                          <a:latin typeface="Arial" panose="020B0604020202020204" pitchFamily="34" charset="0"/>
                          <a:ea typeface="Yu Gothic"/>
                        </a:rPr>
                        <a:t>全日照（HOT）軌道</a:t>
                      </a:r>
                    </a:p>
                  </a:txBody>
                  <a:tcPr marL="128016" marR="128016" anchor="ctr">
                    <a:solidFill>
                      <a:srgbClr val="FFFFFF"/>
                    </a:solidFill>
                  </a:tcPr>
                </a:tc>
                <a:tc>
                  <a:txBody>
                    <a:bodyPr/>
                    <a:lstStyle/>
                    <a:p>
                      <a:pPr algn="ctr">
                        <a:spcAft>
                          <a:spcPts val="0"/>
                        </a:spcAft>
                      </a:pPr>
                      <a:r>
                        <a:rPr sz="2400" b="0">
                          <a:solidFill>
                            <a:srgbClr val="232B34"/>
                          </a:solidFill>
                          <a:latin typeface="Arial" panose="020B0604020202020204" pitchFamily="34" charset="0"/>
                          <a:ea typeface="Yu Gothic"/>
                        </a:rPr>
                        <a:t>DCが数µrad</a:t>
                      </a:r>
                    </a:p>
                  </a:txBody>
                  <a:tcPr marL="128016" marR="128016" anchor="ctr">
                    <a:solidFill>
                      <a:srgbClr val="FFFFFF"/>
                    </a:solidFill>
                  </a:tcPr>
                </a:tc>
                <a:tc>
                  <a:txBody>
                    <a:bodyPr/>
                    <a:lstStyle/>
                    <a:p>
                      <a:pPr algn="ctr">
                        <a:spcAft>
                          <a:spcPts val="0"/>
                        </a:spcAft>
                      </a:pPr>
                      <a:r>
                        <a:rPr sz="2400" b="0">
                          <a:solidFill>
                            <a:srgbClr val="232B34"/>
                          </a:solidFill>
                          <a:latin typeface="Arial" panose="020B0604020202020204" pitchFamily="34" charset="0"/>
                          <a:ea typeface="Yu Gothic"/>
                        </a:rPr>
                        <a:t>蝕がなく熱がほぼ一定。平均の予測が軌道条件の外へ出ている</a:t>
                      </a:r>
                    </a:p>
                  </a:txBody>
                  <a:tcPr marL="128016" marR="128016" anchor="ctr">
                    <a:solidFill>
                      <a:srgbClr val="EBF6FB"/>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1463040" y="8778240"/>
            <a:ext cx="10424160" cy="2926080"/>
          </a:xfrm>
          <a:prstGeom prst="roundRect">
            <a:avLst/>
          </a:prstGeom>
          <a:solidFill>
            <a:srgbClr val="EBF6FB"/>
          </a:solidFill>
          <a:ln w="22860">
            <a:solidFill>
              <a:srgbClr val="5BB5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828800" y="9006840"/>
            <a:ext cx="9692640" cy="437043"/>
          </a:xfrm>
          <a:prstGeom prst="rect">
            <a:avLst/>
          </a:prstGeom>
          <a:noFill/>
        </p:spPr>
        <p:txBody>
          <a:bodyPr wrap="square" lIns="45720" tIns="18288" rIns="45720" bIns="18288" anchor="t">
            <a:spAutoFit/>
          </a:bodyPr>
          <a:lstStyle/>
          <a:p>
            <a:pPr algn="l">
              <a:spcAft>
                <a:spcPts val="0"/>
              </a:spcAft>
            </a:pPr>
            <a:r>
              <a:rPr sz="2600" b="1">
                <a:solidFill>
                  <a:srgbClr val="082B52"/>
                </a:solidFill>
                <a:latin typeface="Arial" panose="020B0604020202020204" pitchFamily="34" charset="0"/>
                <a:ea typeface="Yu Gothic"/>
              </a:rPr>
              <a:t>共通する構図</a:t>
            </a:r>
          </a:p>
        </p:txBody>
      </p:sp>
      <p:sp>
        <p:nvSpPr>
          <p:cNvPr id="8" name="TextBox 7"/>
          <p:cNvSpPr txBox="1"/>
          <p:nvPr/>
        </p:nvSpPr>
        <p:spPr>
          <a:xfrm>
            <a:off x="1828800" y="9646920"/>
            <a:ext cx="9692640" cy="927818"/>
          </a:xfrm>
          <a:prstGeom prst="rect">
            <a:avLst/>
          </a:prstGeom>
          <a:noFill/>
        </p:spPr>
        <p:txBody>
          <a:bodyPr wrap="square" lIns="45720" tIns="18288" rIns="45720" bIns="18288" anchor="t">
            <a:spAutoFit/>
          </a:bodyPr>
          <a:lstStyle/>
          <a:p>
            <a:pPr algn="l">
              <a:lnSpc>
                <a:spcPct val="125000"/>
              </a:lnSpc>
              <a:spcAft>
                <a:spcPts val="0"/>
              </a:spcAft>
            </a:pPr>
            <a:r>
              <a:rPr sz="2400" b="0">
                <a:solidFill>
                  <a:srgbClr val="232B34"/>
                </a:solidFill>
                <a:latin typeface="Arial" panose="020B0604020202020204" pitchFamily="34" charset="0"/>
                <a:ea typeface="Yu Gothic"/>
              </a:rPr>
              <a:t>時変の項ではなく、ケース平均の側が外れている。</a:t>
            </a:r>
          </a:p>
          <a:p>
            <a:pPr algn="l">
              <a:lnSpc>
                <a:spcPct val="125000"/>
              </a:lnSpc>
              <a:spcAft>
                <a:spcPts val="0"/>
              </a:spcAft>
            </a:pPr>
            <a:r>
              <a:rPr sz="2400" b="0">
                <a:solidFill>
                  <a:srgbClr val="232B34"/>
                </a:solidFill>
                <a:latin typeface="Arial" panose="020B0604020202020204" pitchFamily="34" charset="0"/>
                <a:ea typeface="Yu Gothic"/>
              </a:rPr>
              <a:t>被覆・軌道・連続発熱量はいまの入力に入っていない</a:t>
            </a:r>
          </a:p>
        </p:txBody>
      </p:sp>
      <p:sp>
        <p:nvSpPr>
          <p:cNvPr id="9" name="Rounded Rectangle 8"/>
          <p:cNvSpPr/>
          <p:nvPr/>
        </p:nvSpPr>
        <p:spPr>
          <a:xfrm>
            <a:off x="12435840" y="8778240"/>
            <a:ext cx="10424160" cy="29260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2801600" y="9006840"/>
            <a:ext cx="9692640" cy="437043"/>
          </a:xfrm>
          <a:prstGeom prst="rect">
            <a:avLst/>
          </a:prstGeom>
          <a:noFill/>
        </p:spPr>
        <p:txBody>
          <a:bodyPr wrap="square" lIns="45720" tIns="18288" rIns="45720" bIns="18288" anchor="t">
            <a:spAutoFit/>
          </a:bodyPr>
          <a:lstStyle/>
          <a:p>
            <a:pPr algn="l">
              <a:spcAft>
                <a:spcPts val="0"/>
              </a:spcAft>
            </a:pPr>
            <a:r>
              <a:rPr sz="2600" b="1">
                <a:solidFill>
                  <a:srgbClr val="239571"/>
                </a:solidFill>
                <a:latin typeface="Arial" panose="020B0604020202020204" pitchFamily="34" charset="0"/>
                <a:ea typeface="Yu Gothic"/>
              </a:rPr>
              <a:t>主結果の範囲</a:t>
            </a:r>
          </a:p>
        </p:txBody>
      </p:sp>
      <p:sp>
        <p:nvSpPr>
          <p:cNvPr id="11" name="TextBox 10"/>
          <p:cNvSpPr txBox="1"/>
          <p:nvPr/>
        </p:nvSpPr>
        <p:spPr>
          <a:xfrm>
            <a:off x="12801600" y="9646920"/>
            <a:ext cx="9692640" cy="927818"/>
          </a:xfrm>
          <a:prstGeom prst="rect">
            <a:avLst/>
          </a:prstGeom>
          <a:noFill/>
        </p:spPr>
        <p:txBody>
          <a:bodyPr wrap="square" lIns="45720" tIns="18288" rIns="45720" bIns="18288" anchor="t">
            <a:spAutoFit/>
          </a:bodyPr>
          <a:lstStyle/>
          <a:p>
            <a:pPr algn="l">
              <a:lnSpc>
                <a:spcPct val="125000"/>
              </a:lnSpc>
              <a:spcAft>
                <a:spcPts val="0"/>
              </a:spcAft>
            </a:pPr>
            <a:r>
              <a:rPr sz="2400" b="0">
                <a:solidFill>
                  <a:srgbClr val="232B34"/>
                </a:solidFill>
                <a:latin typeface="Arial" panose="020B0604020202020204" pitchFamily="34" charset="0"/>
                <a:ea typeface="Yu Gothic"/>
              </a:rPr>
              <a:t>標準COLD・標準表面の条件で、固定16係数のまま</a:t>
            </a:r>
          </a:p>
          <a:p>
            <a:pPr algn="l">
              <a:lnSpc>
                <a:spcPct val="125000"/>
              </a:lnSpc>
              <a:spcAft>
                <a:spcPts val="0"/>
              </a:spcAft>
            </a:pPr>
            <a:r>
              <a:rPr sz="2400" b="0">
                <a:solidFill>
                  <a:srgbClr val="232B34"/>
                </a:solidFill>
                <a:latin typeface="Arial" panose="020B0604020202020204" pitchFamily="34" charset="0"/>
                <a:ea typeface="Yu Gothic"/>
              </a:rPr>
              <a:t>1〜2桁の低減。被覆・軌道・連続量の明示は今後</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10390793"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B6（2/2）｜取付点の温度を足すと係数が壊れる</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B6</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188720" y="2834640"/>
            <a:ext cx="10332720" cy="713232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3291840"/>
            <a:ext cx="9418320" cy="470898"/>
          </a:xfrm>
          <a:prstGeom prst="rect">
            <a:avLst/>
          </a:prstGeom>
          <a:noFill/>
        </p:spPr>
        <p:txBody>
          <a:bodyPr wrap="square" lIns="36576" tIns="27432" rIns="36576" bIns="27432" anchor="t">
            <a:spAutoFit/>
          </a:bodyPr>
          <a:lstStyle/>
          <a:p>
            <a:pPr algn="ctr">
              <a:spcAft>
                <a:spcPts val="0"/>
              </a:spcAft>
            </a:pPr>
            <a:r>
              <a:rPr sz="2700" b="1">
                <a:solidFill>
                  <a:srgbClr val="082B52"/>
                </a:solidFill>
                <a:latin typeface="Arial" panose="020B0604020202020204" pitchFamily="34" charset="0"/>
                <a:ea typeface="Yu Gothic"/>
              </a:rPr>
              <a:t>試したこと</a:t>
            </a:r>
          </a:p>
        </p:txBody>
      </p:sp>
      <p:sp>
        <p:nvSpPr>
          <p:cNvPr id="7" name="TextBox 6"/>
          <p:cNvSpPr txBox="1"/>
          <p:nvPr/>
        </p:nvSpPr>
        <p:spPr>
          <a:xfrm>
            <a:off x="4663110" y="4434840"/>
            <a:ext cx="3383940" cy="1009507"/>
          </a:xfrm>
          <a:prstGeom prst="rect">
            <a:avLst/>
          </a:prstGeom>
          <a:noFill/>
        </p:spPr>
        <p:txBody>
          <a:bodyPr wrap="none" lIns="36576" tIns="27432" rIns="36576" bIns="27432" anchor="t">
            <a:spAutoFit/>
          </a:bodyPr>
          <a:lstStyle/>
          <a:p>
            <a:pPr algn="ctr"/>
            <a:r>
              <a:rPr lang="en-US" sz="3100" b="1">
                <a:solidFill>
                  <a:srgbClr val="082B52"/>
                </a:solidFill>
                <a:latin typeface="Arial" panose="020B0604020202020204" pitchFamily="34" charset="0"/>
              </a:rPr>
              <a:t>LOS = b + a·ΔT
+ c·(Tattach−Tref)</a:t>
            </a:r>
            <a:endParaRPr lang="en-US" sz="3100" b="1" dirty="0">
              <a:solidFill>
                <a:srgbClr val="082B52"/>
              </a:solidFill>
              <a:latin typeface="Arial" panose="020B0604020202020204" pitchFamily="34" charset="0"/>
            </a:endParaRPr>
          </a:p>
        </p:txBody>
      </p:sp>
      <p:sp>
        <p:nvSpPr>
          <p:cNvPr id="8" name="TextBox 7"/>
          <p:cNvSpPr txBox="1"/>
          <p:nvPr/>
        </p:nvSpPr>
        <p:spPr>
          <a:xfrm>
            <a:off x="1828800" y="6217920"/>
            <a:ext cx="9052560" cy="1650324"/>
          </a:xfrm>
          <a:prstGeom prst="rect">
            <a:avLst/>
          </a:prstGeom>
          <a:noFill/>
        </p:spPr>
        <p:txBody>
          <a:bodyPr wrap="square" lIns="27432" rIns="27432">
            <a:spAutoFit/>
          </a:bodyPr>
          <a:lstStyle/>
          <a:p>
            <a:pPr>
              <a:lnSpc>
                <a:spcPct val="110000"/>
              </a:lnSpc>
              <a:spcAft>
                <a:spcPts val="1200"/>
              </a:spcAft>
            </a:pPr>
            <a:r>
              <a:rPr sz="2500" b="0">
                <a:solidFill>
                  <a:srgbClr val="232B34"/>
                </a:solidFill>
                <a:latin typeface="Arial" panose="020B0604020202020204" pitchFamily="34" charset="0"/>
                <a:ea typeface="Yu Gothic"/>
              </a:rPr>
              <a:t>• 温度差と取付点温度の相関が 0.995</a:t>
            </a:r>
          </a:p>
          <a:p>
            <a:pPr>
              <a:lnSpc>
                <a:spcPct val="110000"/>
              </a:lnSpc>
              <a:spcAft>
                <a:spcPts val="1200"/>
              </a:spcAft>
            </a:pPr>
            <a:r>
              <a:rPr sz="2500" b="0">
                <a:solidFill>
                  <a:srgbClr val="232B34"/>
                </a:solidFill>
                <a:latin typeface="Arial" panose="020B0604020202020204" pitchFamily="34" charset="0"/>
                <a:ea typeface="Yu Gothic"/>
              </a:rPr>
              <a:t>• 取付点まわりの温度のばらつきは 0.1 K 程度</a:t>
            </a:r>
          </a:p>
          <a:p>
            <a:pPr>
              <a:lnSpc>
                <a:spcPct val="110000"/>
              </a:lnSpc>
              <a:spcAft>
                <a:spcPts val="1200"/>
              </a:spcAft>
            </a:pPr>
            <a:r>
              <a:rPr sz="2500" b="0">
                <a:solidFill>
                  <a:srgbClr val="232B34"/>
                </a:solidFill>
                <a:latin typeface="Arial" panose="020B0604020202020204" pitchFamily="34" charset="0"/>
                <a:ea typeface="Yu Gothic"/>
              </a:rPr>
              <a:t>• 係数が巨大化し、ケース間で不安定になる</a:t>
            </a:r>
          </a:p>
        </p:txBody>
      </p:sp>
      <p:cxnSp>
        <p:nvCxnSpPr>
          <p:cNvPr id="9" name="Connector 8"/>
          <p:cNvCxnSpPr/>
          <p:nvPr/>
        </p:nvCxnSpPr>
        <p:spPr>
          <a:xfrm>
            <a:off x="11887200" y="6217920"/>
            <a:ext cx="1280160" cy="0"/>
          </a:xfrm>
          <a:prstGeom prst="line">
            <a:avLst/>
          </a:prstGeom>
          <a:ln w="508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3533120" y="2834640"/>
            <a:ext cx="9509760" cy="7132320"/>
          </a:xfrm>
          <a:prstGeom prst="roundRect">
            <a:avLst/>
          </a:prstGeom>
          <a:solidFill>
            <a:srgbClr val="EAF8F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990320" y="3291840"/>
            <a:ext cx="8595360" cy="470898"/>
          </a:xfrm>
          <a:prstGeom prst="rect">
            <a:avLst/>
          </a:prstGeom>
          <a:noFill/>
        </p:spPr>
        <p:txBody>
          <a:bodyPr wrap="square" lIns="36576" tIns="27432" rIns="36576" bIns="27432" anchor="t">
            <a:spAutoFit/>
          </a:bodyPr>
          <a:lstStyle/>
          <a:p>
            <a:pPr algn="ctr">
              <a:spcAft>
                <a:spcPts val="0"/>
              </a:spcAft>
            </a:pPr>
            <a:r>
              <a:rPr sz="2700" b="1">
                <a:solidFill>
                  <a:srgbClr val="082B52"/>
                </a:solidFill>
                <a:latin typeface="Arial" panose="020B0604020202020204" pitchFamily="34" charset="0"/>
                <a:ea typeface="Yu Gothic"/>
              </a:rPr>
              <a:t>解釈</a:t>
            </a:r>
          </a:p>
        </p:txBody>
      </p:sp>
      <p:sp>
        <p:nvSpPr>
          <p:cNvPr id="12" name="TextBox 11"/>
          <p:cNvSpPr txBox="1"/>
          <p:nvPr/>
        </p:nvSpPr>
        <p:spPr>
          <a:xfrm>
            <a:off x="14356080" y="4572000"/>
            <a:ext cx="7863840" cy="855619"/>
          </a:xfrm>
          <a:prstGeom prst="rect">
            <a:avLst/>
          </a:prstGeom>
          <a:noFill/>
        </p:spPr>
        <p:txBody>
          <a:bodyPr wrap="square" lIns="36576" tIns="27432" rIns="36576" bIns="27432" anchor="t">
            <a:spAutoFit/>
          </a:bodyPr>
          <a:lstStyle/>
          <a:p>
            <a:pPr algn="ctr">
              <a:spcAft>
                <a:spcPts val="0"/>
              </a:spcAft>
            </a:pPr>
            <a:r>
              <a:rPr sz="2600" b="0">
                <a:solidFill>
                  <a:srgbClr val="232B34"/>
                </a:solidFill>
                <a:latin typeface="Arial" panose="020B0604020202020204" pitchFamily="34" charset="0"/>
                <a:ea typeface="Yu Gothic"/>
              </a:rPr>
              <a:t>効いていたのは軌道内の変動ではなく</a:t>
            </a:r>
          </a:p>
          <a:p>
            <a:pPr algn="ctr">
              <a:spcAft>
                <a:spcPts val="0"/>
              </a:spcAft>
            </a:pPr>
            <a:r>
              <a:rPr sz="2600" b="0">
                <a:solidFill>
                  <a:srgbClr val="232B34"/>
                </a:solidFill>
                <a:latin typeface="Arial" panose="020B0604020202020204" pitchFamily="34" charset="0"/>
                <a:ea typeface="Yu Gothic"/>
              </a:rPr>
              <a:t>ケース平均のDCだった</a:t>
            </a:r>
          </a:p>
        </p:txBody>
      </p:sp>
      <p:sp>
        <p:nvSpPr>
          <p:cNvPr id="13" name="TextBox 12"/>
          <p:cNvSpPr txBox="1"/>
          <p:nvPr/>
        </p:nvSpPr>
        <p:spPr>
          <a:xfrm>
            <a:off x="14721840" y="7543800"/>
            <a:ext cx="7132320" cy="470898"/>
          </a:xfrm>
          <a:prstGeom prst="rect">
            <a:avLst/>
          </a:prstGeom>
          <a:noFill/>
        </p:spPr>
        <p:txBody>
          <a:bodyPr wrap="square" lIns="36576" tIns="27432" rIns="36576" bIns="27432" anchor="t">
            <a:spAutoFit/>
          </a:bodyPr>
          <a:lstStyle/>
          <a:p>
            <a:pPr algn="ctr">
              <a:spcAft>
                <a:spcPts val="0"/>
              </a:spcAft>
            </a:pPr>
            <a:r>
              <a:rPr sz="2700" b="1">
                <a:solidFill>
                  <a:srgbClr val="239571"/>
                </a:solidFill>
                <a:latin typeface="Arial" panose="020B0604020202020204" pitchFamily="34" charset="0"/>
                <a:ea typeface="Yu Gothic"/>
              </a:rPr>
              <a:t>→ b_case 側へ分離した</a:t>
            </a:r>
          </a:p>
        </p:txBody>
      </p:sp>
      <p:sp>
        <p:nvSpPr>
          <p:cNvPr id="14" name="TextBox 13"/>
          <p:cNvSpPr txBox="1"/>
          <p:nvPr/>
        </p:nvSpPr>
        <p:spPr>
          <a:xfrm>
            <a:off x="3840480" y="10652760"/>
            <a:ext cx="16642080" cy="486287"/>
          </a:xfrm>
          <a:prstGeom prst="rect">
            <a:avLst/>
          </a:prstGeom>
          <a:noFill/>
        </p:spPr>
        <p:txBody>
          <a:bodyPr wrap="square" lIns="36576" tIns="27432" rIns="36576" bIns="27432" anchor="t">
            <a:spAutoFit/>
          </a:bodyPr>
          <a:lstStyle/>
          <a:p>
            <a:pPr algn="ctr">
              <a:spcAft>
                <a:spcPts val="0"/>
              </a:spcAft>
            </a:pPr>
            <a:r>
              <a:rPr sz="2800" b="1">
                <a:solidFill>
                  <a:srgbClr val="082B52"/>
                </a:solidFill>
                <a:latin typeface="Arial" panose="020B0604020202020204" pitchFamily="34" charset="0"/>
                <a:ea typeface="Yu Gothic"/>
              </a:rPr>
              <a:t>RMSEだけでなく、係数の安定性と運用上の解釈でモデルを選んだ</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B7｜平均だけを引いた場合（定数バイアスのみ）は未計算</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B7</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2926080" y="3840480"/>
            <a:ext cx="18470880" cy="4206240"/>
          </a:xfrm>
          <a:prstGeom prst="roundRect">
            <a:avLst/>
          </a:prstGeom>
          <a:solidFill>
            <a:srgbClr val="F4F6F8"/>
          </a:solidFill>
          <a:ln w="2286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926080" y="4480560"/>
            <a:ext cx="18470880" cy="775597"/>
          </a:xfrm>
          <a:prstGeom prst="rect">
            <a:avLst/>
          </a:prstGeom>
          <a:noFill/>
        </p:spPr>
        <p:txBody>
          <a:bodyPr wrap="square" lIns="45720" tIns="18288" rIns="45720" bIns="18288" anchor="t">
            <a:spAutoFit/>
          </a:bodyPr>
          <a:lstStyle/>
          <a:p>
            <a:pPr algn="ctr">
              <a:spcAft>
                <a:spcPts val="0"/>
              </a:spcAft>
            </a:pPr>
            <a:r>
              <a:rPr sz="4800" b="1">
                <a:solidFill>
                  <a:srgbClr val="666F79"/>
                </a:solidFill>
                <a:latin typeface="Arial" panose="020B0604020202020204" pitchFamily="34" charset="0"/>
                <a:ea typeface="Yu Gothic"/>
              </a:rPr>
              <a:t>未計算</a:t>
            </a:r>
          </a:p>
        </p:txBody>
      </p:sp>
      <p:sp>
        <p:nvSpPr>
          <p:cNvPr id="7" name="TextBox 6"/>
          <p:cNvSpPr txBox="1"/>
          <p:nvPr/>
        </p:nvSpPr>
        <p:spPr>
          <a:xfrm>
            <a:off x="2926080" y="5852160"/>
            <a:ext cx="18470880" cy="1039195"/>
          </a:xfrm>
          <a:prstGeom prst="rect">
            <a:avLst/>
          </a:prstGeom>
          <a:noFill/>
        </p:spPr>
        <p:txBody>
          <a:bodyPr wrap="square" lIns="45720" tIns="18288" rIns="45720" bIns="18288" anchor="t">
            <a:spAutoFit/>
          </a:bodyPr>
          <a:lstStyle/>
          <a:p>
            <a:pPr algn="ctr">
              <a:lnSpc>
                <a:spcPct val="125000"/>
              </a:lnSpc>
              <a:spcAft>
                <a:spcPts val="0"/>
              </a:spcAft>
            </a:pPr>
            <a:r>
              <a:rPr sz="2700" b="0">
                <a:solidFill>
                  <a:srgbClr val="232B34"/>
                </a:solidFill>
                <a:latin typeface="Arial" panose="020B0604020202020204" pitchFamily="34" charset="0"/>
                <a:ea typeface="Yu Gothic"/>
              </a:rPr>
              <a:t>ΔT(t) を 0 とし、予測したケース平均DCだけを引いた場合の捕捉時間は、</a:t>
            </a:r>
          </a:p>
          <a:p>
            <a:pPr algn="ctr">
              <a:lnSpc>
                <a:spcPct val="125000"/>
              </a:lnSpc>
              <a:spcAft>
                <a:spcPts val="0"/>
              </a:spcAft>
            </a:pPr>
            <a:r>
              <a:rPr sz="2700" b="0">
                <a:solidFill>
                  <a:srgbClr val="232B34"/>
                </a:solidFill>
                <a:latin typeface="Arial" panose="020B0604020202020204" pitchFamily="34" charset="0"/>
                <a:ea typeface="Yu Gothic"/>
              </a:rPr>
              <a:t>今回の走査条件ではまだ計算していない</a:t>
            </a:r>
          </a:p>
        </p:txBody>
      </p:sp>
      <p:sp>
        <p:nvSpPr>
          <p:cNvPr id="8" name="Rounded Rectangle 7"/>
          <p:cNvSpPr/>
          <p:nvPr/>
        </p:nvSpPr>
        <p:spPr>
          <a:xfrm>
            <a:off x="2926080" y="8503920"/>
            <a:ext cx="8869680" cy="256032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127248" y="8796528"/>
            <a:ext cx="8467344" cy="421654"/>
          </a:xfrm>
          <a:prstGeom prst="rect">
            <a:avLst/>
          </a:prstGeom>
          <a:noFill/>
        </p:spPr>
        <p:txBody>
          <a:bodyPr wrap="square" lIns="45720" tIns="18288" rIns="45720" bIns="18288" anchor="t">
            <a:spAutoFit/>
          </a:bodyPr>
          <a:lstStyle/>
          <a:p>
            <a:pPr algn="ctr">
              <a:spcAft>
                <a:spcPts val="0"/>
              </a:spcAft>
            </a:pPr>
            <a:r>
              <a:rPr sz="2500" b="1">
                <a:solidFill>
                  <a:srgbClr val="1B74AA"/>
                </a:solidFill>
                <a:latin typeface="Arial" panose="020B0604020202020204" pitchFamily="34" charset="0"/>
                <a:ea typeface="Yu Gothic"/>
              </a:rPr>
              <a:t>この列が示すはずのこと</a:t>
            </a:r>
          </a:p>
        </p:txBody>
      </p:sp>
      <p:sp>
        <p:nvSpPr>
          <p:cNvPr id="10" name="TextBox 9"/>
          <p:cNvSpPr txBox="1"/>
          <p:nvPr/>
        </p:nvSpPr>
        <p:spPr>
          <a:xfrm>
            <a:off x="3200400" y="9601200"/>
            <a:ext cx="8321040" cy="79432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Arial" panose="020B0604020202020204" pitchFamily="34" charset="0"/>
                <a:ea typeface="Yu Gothic"/>
              </a:rPr>
              <a:t>改善のどれだけが平均の除去で、
どれだけが軌道内の時変項によるのかを分ける</a:t>
            </a:r>
          </a:p>
        </p:txBody>
      </p:sp>
      <p:sp>
        <p:nvSpPr>
          <p:cNvPr id="11" name="Rounded Rectangle 10"/>
          <p:cNvSpPr/>
          <p:nvPr/>
        </p:nvSpPr>
        <p:spPr>
          <a:xfrm>
            <a:off x="12527280" y="8503920"/>
            <a:ext cx="8869680" cy="256032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2728448" y="8796528"/>
            <a:ext cx="8467344" cy="421654"/>
          </a:xfrm>
          <a:prstGeom prst="rect">
            <a:avLst/>
          </a:prstGeom>
          <a:noFill/>
        </p:spPr>
        <p:txBody>
          <a:bodyPr wrap="square" lIns="45720" tIns="18288" rIns="45720" bIns="18288" anchor="t">
            <a:spAutoFit/>
          </a:bodyPr>
          <a:lstStyle/>
          <a:p>
            <a:pPr algn="ctr">
              <a:spcAft>
                <a:spcPts val="0"/>
              </a:spcAft>
            </a:pPr>
            <a:r>
              <a:rPr sz="2500" b="1">
                <a:solidFill>
                  <a:srgbClr val="D03B46"/>
                </a:solidFill>
                <a:latin typeface="Arial" panose="020B0604020202020204" pitchFamily="34" charset="0"/>
                <a:ea typeface="Yu Gothic"/>
              </a:rPr>
              <a:t>7月に出した秒は流用しない</a:t>
            </a:r>
          </a:p>
        </p:txBody>
      </p:sp>
      <p:sp>
        <p:nvSpPr>
          <p:cNvPr id="13" name="TextBox 12"/>
          <p:cNvSpPr txBox="1"/>
          <p:nvPr/>
        </p:nvSpPr>
        <p:spPr>
          <a:xfrm>
            <a:off x="12801600" y="9601200"/>
            <a:ext cx="8321040" cy="79432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Arial" panose="020B0604020202020204" pitchFamily="34" charset="0"/>
                <a:ea typeface="Yu Gothic"/>
              </a:rPr>
              <a:t>あのときの走査は点間隔と検出半径が
通信ビーム級に細かく、今日の条件とは別</a:t>
            </a:r>
          </a:p>
        </p:txBody>
      </p:sp>
      <p:sp>
        <p:nvSpPr>
          <p:cNvPr id="14" name="TextBox 13"/>
          <p:cNvSpPr txBox="1"/>
          <p:nvPr/>
        </p:nvSpPr>
        <p:spPr>
          <a:xfrm>
            <a:off x="2926080" y="11430000"/>
            <a:ext cx="18470880" cy="406265"/>
          </a:xfrm>
          <a:prstGeom prst="rect">
            <a:avLst/>
          </a:prstGeom>
          <a:noFill/>
        </p:spPr>
        <p:txBody>
          <a:bodyPr wrap="square" lIns="45720" tIns="18288" rIns="45720" bIns="18288" anchor="t">
            <a:spAutoFit/>
          </a:bodyPr>
          <a:lstStyle/>
          <a:p>
            <a:pPr algn="ctr">
              <a:spcAft>
                <a:spcPts val="0"/>
              </a:spcAft>
            </a:pPr>
            <a:r>
              <a:rPr sz="2400" b="1">
                <a:solidFill>
                  <a:srgbClr val="D03B46"/>
                </a:solidFill>
                <a:latin typeface="Arial" panose="020B0604020202020204" pitchFamily="34" charset="0"/>
                <a:ea typeface="Yu Gothic"/>
              </a:rPr>
              <a:t>本編の結論には、この未計算の列の数字を一切使っていない</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22037040"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B8｜先行研究の位置づけ（2軸で見る）</a:t>
            </a: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B8</a:t>
            </a:r>
            <a:endParaRPr lang="en-US" sz="1800" b="0" dirty="0">
              <a:solidFill>
                <a:srgbClr val="666F79"/>
              </a:solidFill>
              <a:latin typeface="Arial" panose="020B0604020202020204" pitchFamily="34" charset="0"/>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1059908121"/>
              </p:ext>
            </p:extLst>
          </p:nvPr>
        </p:nvGraphicFramePr>
        <p:xfrm>
          <a:off x="1828800" y="2926080"/>
          <a:ext cx="20665440" cy="7360919"/>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59">
                <a:tc>
                  <a:txBody>
                    <a:bodyPr/>
                    <a:lstStyle/>
                    <a:p>
                      <a:pPr algn="l">
                        <a:spcAft>
                          <a:spcPts val="0"/>
                        </a:spcAft>
                      </a:pPr>
                      <a:r>
                        <a:rPr sz="2300" b="1">
                          <a:solidFill>
                            <a:srgbClr val="FFFFFF"/>
                          </a:solidFill>
                          <a:latin typeface="Arial" panose="020B0604020202020204" pitchFamily="34" charset="0"/>
                          <a:ea typeface="Yu Gothic"/>
                        </a:rPr>
                        <a:t>研究</a:t>
                      </a:r>
                    </a:p>
                  </a:txBody>
                  <a:tcPr marL="64008" marR="64008" marT="27432" marB="27432" anchor="ctr">
                    <a:solidFill>
                      <a:srgbClr val="5D4084"/>
                    </a:solidFill>
                  </a:tcPr>
                </a:tc>
                <a:tc>
                  <a:txBody>
                    <a:bodyPr/>
                    <a:lstStyle/>
                    <a:p>
                      <a:pPr algn="ctr">
                        <a:spcAft>
                          <a:spcPts val="0"/>
                        </a:spcAft>
                      </a:pPr>
                      <a:r>
                        <a:rPr sz="2300" b="1">
                          <a:solidFill>
                            <a:srgbClr val="FFFFFF"/>
                          </a:solidFill>
                          <a:latin typeface="Arial" panose="020B0604020202020204" pitchFamily="34" charset="0"/>
                          <a:ea typeface="Yu Gothic"/>
                        </a:rPr>
                        <a:t>熱状態からLOSを予測するか / 粗捕捉時間を評価するか</a:t>
                      </a:r>
                    </a:p>
                  </a:txBody>
                  <a:tcPr marL="64008" marR="64008" marT="27432" marB="27432" anchor="ctr">
                    <a:solidFill>
                      <a:srgbClr val="5D4084"/>
                    </a:solidFill>
                  </a:tcPr>
                </a:tc>
                <a:extLst>
                  <a:ext uri="{0D108BD9-81ED-4DB2-BD59-A6C34878D82A}">
                    <a16:rowId xmlns:a16="http://schemas.microsoft.com/office/drawing/2014/main" val="10000"/>
                  </a:ext>
                </a:extLst>
              </a:tr>
              <a:tr h="1051559">
                <a:tc>
                  <a:txBody>
                    <a:bodyPr/>
                    <a:lstStyle/>
                    <a:p>
                      <a:pPr algn="l">
                        <a:spcAft>
                          <a:spcPts val="0"/>
                        </a:spcAft>
                      </a:pPr>
                      <a:r>
                        <a:rPr lang="en-US" sz="2300" b="0">
                          <a:solidFill>
                            <a:srgbClr val="232B34"/>
                          </a:solidFill>
                          <a:latin typeface="Arial" panose="020B0604020202020204" pitchFamily="34" charset="0"/>
                          <a:ea typeface="Yu Gothic"/>
                        </a:rPr>
                        <a:t>Riesing 2023（TBIRD）</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熱は明示せず姿勢系で吸収 / 軌道上で捕捉を評価</a:t>
                      </a:r>
                    </a:p>
                  </a:txBody>
                  <a:tcPr marL="64008" marR="64008" marT="27432" marB="27432" anchor="ctr">
                    <a:solidFill>
                      <a:srgbClr val="EBF6FB"/>
                    </a:solidFill>
                  </a:tcPr>
                </a:tc>
                <a:extLst>
                  <a:ext uri="{0D108BD9-81ED-4DB2-BD59-A6C34878D82A}">
                    <a16:rowId xmlns:a16="http://schemas.microsoft.com/office/drawing/2014/main" val="10001"/>
                  </a:ext>
                </a:extLst>
              </a:tr>
              <a:tr h="1051559">
                <a:tc>
                  <a:txBody>
                    <a:bodyPr/>
                    <a:lstStyle/>
                    <a:p>
                      <a:pPr algn="l">
                        <a:spcAft>
                          <a:spcPts val="0"/>
                        </a:spcAft>
                      </a:pPr>
                      <a:r>
                        <a:rPr lang="en-US" sz="2300" b="0">
                          <a:solidFill>
                            <a:srgbClr val="232B34"/>
                          </a:solidFill>
                          <a:latin typeface="Arial" panose="020B0604020202020204" pitchFamily="34" charset="0"/>
                          <a:ea typeface="Yu Gothic"/>
                        </a:rPr>
                        <a:t>Shi 2023</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構造設計で熱変形を小さくする / 捕捉時間を評価</a:t>
                      </a:r>
                    </a:p>
                  </a:txBody>
                  <a:tcPr marL="64008" marR="64008" marT="27432" marB="27432" anchor="ctr">
                    <a:solidFill>
                      <a:srgbClr val="EBF6FB"/>
                    </a:solidFill>
                  </a:tcPr>
                </a:tc>
                <a:extLst>
                  <a:ext uri="{0D108BD9-81ED-4DB2-BD59-A6C34878D82A}">
                    <a16:rowId xmlns:a16="http://schemas.microsoft.com/office/drawing/2014/main" val="10002"/>
                  </a:ext>
                </a:extLst>
              </a:tr>
              <a:tr h="1051559">
                <a:tc>
                  <a:txBody>
                    <a:bodyPr/>
                    <a:lstStyle/>
                    <a:p>
                      <a:pPr algn="l">
                        <a:spcAft>
                          <a:spcPts val="0"/>
                        </a:spcAft>
                      </a:pPr>
                      <a:r>
                        <a:rPr lang="en-US" sz="2300" b="0">
                          <a:solidFill>
                            <a:srgbClr val="232B34"/>
                          </a:solidFill>
                          <a:latin typeface="Arial" panose="020B0604020202020204" pitchFamily="34" charset="0"/>
                          <a:ea typeface="Yu Gothic"/>
                        </a:rPr>
                        <a:t>Hu 2022（GEO）</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周期モデルで熱LOSを補正 / 粗捕捉は評価しない</a:t>
                      </a:r>
                    </a:p>
                  </a:txBody>
                  <a:tcPr marL="64008" marR="64008" marT="27432" marB="27432" anchor="ctr">
                    <a:solidFill>
                      <a:srgbClr val="EBF6FB"/>
                    </a:solidFill>
                  </a:tcPr>
                </a:tc>
                <a:extLst>
                  <a:ext uri="{0D108BD9-81ED-4DB2-BD59-A6C34878D82A}">
                    <a16:rowId xmlns:a16="http://schemas.microsoft.com/office/drawing/2014/main" val="10003"/>
                  </a:ext>
                </a:extLst>
              </a:tr>
              <a:tr h="1051559">
                <a:tc>
                  <a:txBody>
                    <a:bodyPr/>
                    <a:lstStyle/>
                    <a:p>
                      <a:pPr algn="l">
                        <a:spcAft>
                          <a:spcPts val="0"/>
                        </a:spcAft>
                      </a:pPr>
                      <a:r>
                        <a:rPr lang="en-US" sz="2300" b="0">
                          <a:solidFill>
                            <a:srgbClr val="232B34"/>
                          </a:solidFill>
                          <a:latin typeface="Arial" panose="020B0604020202020204" pitchFamily="34" charset="0"/>
                          <a:ea typeface="Yu Gothic"/>
                        </a:rPr>
                        <a:t>Li 2025（LEO）</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ニューラルネットで熱LOSを補正 / 粗捕捉は評価しない</a:t>
                      </a:r>
                    </a:p>
                  </a:txBody>
                  <a:tcPr marL="64008" marR="64008" marT="27432" marB="27432" anchor="ctr">
                    <a:solidFill>
                      <a:srgbClr val="EBF6FB"/>
                    </a:solidFill>
                  </a:tcPr>
                </a:tc>
                <a:extLst>
                  <a:ext uri="{0D108BD9-81ED-4DB2-BD59-A6C34878D82A}">
                    <a16:rowId xmlns:a16="http://schemas.microsoft.com/office/drawing/2014/main" val="10004"/>
                  </a:ext>
                </a:extLst>
              </a:tr>
              <a:tr h="1051559">
                <a:tc>
                  <a:txBody>
                    <a:bodyPr/>
                    <a:lstStyle/>
                    <a:p>
                      <a:pPr algn="l">
                        <a:spcAft>
                          <a:spcPts val="0"/>
                        </a:spcAft>
                      </a:pPr>
                      <a:r>
                        <a:rPr lang="en-US" sz="2300" b="0">
                          <a:solidFill>
                            <a:srgbClr val="232B34"/>
                          </a:solidFill>
                          <a:latin typeface="Arial" panose="020B0604020202020204" pitchFamily="34" charset="0"/>
                          <a:ea typeface="Yu Gothic"/>
                        </a:rPr>
                        <a:t>JANUS（Turella）</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壁面温度差に比例する一次式 / 粗捕捉は評価しない</a:t>
                      </a:r>
                    </a:p>
                  </a:txBody>
                  <a:tcPr marL="64008" marR="64008" marT="27432" marB="27432" anchor="ctr">
                    <a:solidFill>
                      <a:srgbClr val="EBF6FB"/>
                    </a:solidFill>
                  </a:tcPr>
                </a:tc>
                <a:extLst>
                  <a:ext uri="{0D108BD9-81ED-4DB2-BD59-A6C34878D82A}">
                    <a16:rowId xmlns:a16="http://schemas.microsoft.com/office/drawing/2014/main" val="10005"/>
                  </a:ext>
                </a:extLst>
              </a:tr>
              <a:tr h="1051565">
                <a:tc>
                  <a:txBody>
                    <a:bodyPr/>
                    <a:lstStyle/>
                    <a:p>
                      <a:pPr algn="l">
                        <a:spcAft>
                          <a:spcPts val="0"/>
                        </a:spcAft>
                      </a:pPr>
                      <a:r>
                        <a:rPr sz="2300" b="0">
                          <a:solidFill>
                            <a:srgbClr val="232B34"/>
                          </a:solidFill>
                          <a:latin typeface="Arial" panose="020B0604020202020204" pitchFamily="34" charset="0"/>
                          <a:ea typeface="Yu Gothic"/>
                        </a:rPr>
                        <a:t>本研究</a:t>
                      </a: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太陽面温度差と運用フラグで予測する / 捕捉時間まで評価する</a:t>
                      </a:r>
                    </a:p>
                  </a:txBody>
                  <a:tcPr marL="64008" marR="64008" marT="27432" marB="27432" anchor="ctr">
                    <a:solidFill>
                      <a:srgbClr val="EBF6FB"/>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1280160" y="10698480"/>
            <a:ext cx="21762720" cy="406265"/>
          </a:xfrm>
          <a:prstGeom prst="rect">
            <a:avLst/>
          </a:prstGeom>
          <a:noFill/>
        </p:spPr>
        <p:txBody>
          <a:bodyPr wrap="square" lIns="45720" tIns="18288" rIns="45720" bIns="18288" anchor="t">
            <a:spAutoFit/>
          </a:bodyPr>
          <a:lstStyle/>
          <a:p>
            <a:pPr algn="ctr">
              <a:spcAft>
                <a:spcPts val="0"/>
              </a:spcAft>
            </a:pPr>
            <a:r>
              <a:rPr sz="2400" b="1">
                <a:solidFill>
                  <a:srgbClr val="082B52"/>
                </a:solidFill>
                <a:latin typeface="Arial" panose="020B0604020202020204" pitchFamily="34" charset="0"/>
                <a:ea typeface="Yu Gothic"/>
              </a:rPr>
              <a:t>新しいのは一次関係そのものではなく、バス上のSTT–LCTへの適用、条件横断の係数共有、捕捉時間への接続</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B9｜解析モデルの妥当性をどう検証するか</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B9</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463040" y="3291840"/>
            <a:ext cx="10607040" cy="356616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664208" y="3584448"/>
            <a:ext cx="10204704" cy="452432"/>
          </a:xfrm>
          <a:prstGeom prst="rect">
            <a:avLst/>
          </a:prstGeom>
          <a:noFill/>
        </p:spPr>
        <p:txBody>
          <a:bodyPr wrap="square" lIns="45720" tIns="18288" rIns="45720" bIns="18288" anchor="t">
            <a:spAutoFit/>
          </a:bodyPr>
          <a:lstStyle/>
          <a:p>
            <a:pPr algn="l">
              <a:spcAft>
                <a:spcPts val="0"/>
              </a:spcAft>
            </a:pPr>
            <a:r>
              <a:rPr sz="2700" b="1">
                <a:solidFill>
                  <a:srgbClr val="1B74AA"/>
                </a:solidFill>
                <a:latin typeface="Arial" panose="020B0604020202020204" pitchFamily="34" charset="0"/>
                <a:ea typeface="Yu Gothic"/>
              </a:rPr>
              <a:t>今日の主張の範囲</a:t>
            </a:r>
          </a:p>
        </p:txBody>
      </p:sp>
      <p:sp>
        <p:nvSpPr>
          <p:cNvPr id="7" name="TextBox 6"/>
          <p:cNvSpPr txBox="1"/>
          <p:nvPr/>
        </p:nvSpPr>
        <p:spPr>
          <a:xfrm>
            <a:off x="1737360" y="4434840"/>
            <a:ext cx="10058400" cy="1235788"/>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Arial" panose="020B0604020202020204" pitchFamily="34" charset="0"/>
                <a:ea typeface="Yu Gothic"/>
              </a:rPr>
              <a:t>同一の解析チェーン（Thermal Desktop / Femap）の中での数値評価である。
外しているのはケースであって、構造やLOS定義ではない</a:t>
            </a:r>
          </a:p>
        </p:txBody>
      </p:sp>
      <p:sp>
        <p:nvSpPr>
          <p:cNvPr id="8" name="Rounded Rectangle 7"/>
          <p:cNvSpPr/>
          <p:nvPr/>
        </p:nvSpPr>
        <p:spPr>
          <a:xfrm>
            <a:off x="12801600" y="3291840"/>
            <a:ext cx="10424160" cy="356616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002768" y="3584448"/>
            <a:ext cx="10021824" cy="452432"/>
          </a:xfrm>
          <a:prstGeom prst="rect">
            <a:avLst/>
          </a:prstGeom>
          <a:noFill/>
        </p:spPr>
        <p:txBody>
          <a:bodyPr wrap="square" lIns="45720" tIns="18288" rIns="45720" bIns="18288" anchor="t">
            <a:spAutoFit/>
          </a:bodyPr>
          <a:lstStyle/>
          <a:p>
            <a:pPr algn="l">
              <a:spcAft>
                <a:spcPts val="0"/>
              </a:spcAft>
            </a:pPr>
            <a:r>
              <a:rPr sz="2700" b="1">
                <a:solidFill>
                  <a:srgbClr val="EC9427"/>
                </a:solidFill>
                <a:latin typeface="Arial" panose="020B0604020202020204" pitchFamily="34" charset="0"/>
                <a:ea typeface="Yu Gothic"/>
              </a:rPr>
              <a:t>入っていないもの</a:t>
            </a:r>
          </a:p>
        </p:txBody>
      </p:sp>
      <p:sp>
        <p:nvSpPr>
          <p:cNvPr id="10" name="TextBox 9"/>
          <p:cNvSpPr txBox="1"/>
          <p:nvPr/>
        </p:nvSpPr>
        <p:spPr>
          <a:xfrm>
            <a:off x="13075920" y="4434840"/>
            <a:ext cx="9875520" cy="828753"/>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Arial" panose="020B0604020202020204" pitchFamily="34" charset="0"/>
                <a:ea typeface="Yu Gothic"/>
              </a:rPr>
              <a:t>打上げ後のアライメント変化、実機の剛性差、組立公差、
軌道上での経年変化</a:t>
            </a:r>
          </a:p>
        </p:txBody>
      </p:sp>
      <p:sp>
        <p:nvSpPr>
          <p:cNvPr id="11" name="Rounded Rectangle 10"/>
          <p:cNvSpPr/>
          <p:nvPr/>
        </p:nvSpPr>
        <p:spPr>
          <a:xfrm>
            <a:off x="1463040" y="7315200"/>
            <a:ext cx="21762720" cy="310896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64208" y="7607808"/>
            <a:ext cx="21360384" cy="452432"/>
          </a:xfrm>
          <a:prstGeom prst="rect">
            <a:avLst/>
          </a:prstGeom>
          <a:noFill/>
        </p:spPr>
        <p:txBody>
          <a:bodyPr wrap="square" lIns="45720" tIns="18288" rIns="45720" bIns="18288" anchor="t">
            <a:spAutoFit/>
          </a:bodyPr>
          <a:lstStyle/>
          <a:p>
            <a:pPr algn="l">
              <a:spcAft>
                <a:spcPts val="0"/>
              </a:spcAft>
            </a:pPr>
            <a:r>
              <a:rPr sz="2700" b="1">
                <a:solidFill>
                  <a:srgbClr val="239571"/>
                </a:solidFill>
                <a:latin typeface="Arial" panose="020B0604020202020204" pitchFamily="34" charset="0"/>
                <a:ea typeface="Yu Gothic"/>
              </a:rPr>
              <a:t>今後の検証</a:t>
            </a:r>
          </a:p>
        </p:txBody>
      </p:sp>
      <p:sp>
        <p:nvSpPr>
          <p:cNvPr id="13" name="TextBox 12"/>
          <p:cNvSpPr txBox="1"/>
          <p:nvPr/>
        </p:nvSpPr>
        <p:spPr>
          <a:xfrm>
            <a:off x="1737360" y="8458200"/>
            <a:ext cx="21214080" cy="863185"/>
          </a:xfrm>
          <a:prstGeom prst="rect">
            <a:avLst/>
          </a:prstGeom>
          <a:noFill/>
        </p:spPr>
        <p:txBody>
          <a:bodyPr wrap="square" lIns="45720" tIns="18288" rIns="45720" bIns="18288" anchor="t">
            <a:spAutoFit/>
          </a:bodyPr>
          <a:lstStyle/>
          <a:p>
            <a:pPr algn="l">
              <a:lnSpc>
                <a:spcPct val="115000"/>
              </a:lnSpc>
              <a:spcAft>
                <a:spcPts val="0"/>
              </a:spcAft>
            </a:pPr>
            <a:r>
              <a:rPr sz="2400" b="0">
                <a:solidFill>
                  <a:srgbClr val="232B34"/>
                </a:solidFill>
                <a:latin typeface="Arial" panose="020B0604020202020204" pitchFamily="34" charset="0"/>
                <a:ea typeface="Yu Gothic"/>
              </a:rPr>
              <a:t>地上の熱真空試験で温度と変位を同時に測り、感度 a を実測で確かめる。
係数の取り直しが前提であり、式の形が移せるかを見る</a:t>
            </a:r>
          </a:p>
        </p:txBody>
      </p:sp>
      <p:sp>
        <p:nvSpPr>
          <p:cNvPr id="14" name="TextBox 13"/>
          <p:cNvSpPr txBox="1"/>
          <p:nvPr/>
        </p:nvSpPr>
        <p:spPr>
          <a:xfrm>
            <a:off x="1463040" y="10881360"/>
            <a:ext cx="21762720" cy="437043"/>
          </a:xfrm>
          <a:prstGeom prst="rect">
            <a:avLst/>
          </a:prstGeom>
          <a:noFill/>
        </p:spPr>
        <p:txBody>
          <a:bodyPr wrap="square" lIns="45720" tIns="18288" rIns="45720" bIns="18288" anchor="t">
            <a:spAutoFit/>
          </a:bodyPr>
          <a:lstStyle/>
          <a:p>
            <a:pPr algn="ctr">
              <a:spcAft>
                <a:spcPts val="0"/>
              </a:spcAft>
            </a:pPr>
            <a:r>
              <a:rPr sz="2600" b="1">
                <a:solidFill>
                  <a:srgbClr val="082B52"/>
                </a:solidFill>
                <a:latin typeface="Arial" panose="020B0604020202020204" pitchFamily="34" charset="0"/>
                <a:ea typeface="Yu Gothic"/>
              </a:rPr>
              <a:t>主張を『解析を真値として完璧に当てる』に置いていない</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B10｜姿勢の前提と、変わる頻度</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B10</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463040" y="3383280"/>
            <a:ext cx="10607040" cy="384048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664208" y="3675888"/>
            <a:ext cx="10204704" cy="452432"/>
          </a:xfrm>
          <a:prstGeom prst="rect">
            <a:avLst/>
          </a:prstGeom>
          <a:noFill/>
        </p:spPr>
        <p:txBody>
          <a:bodyPr wrap="square" lIns="45720" tIns="18288" rIns="45720" bIns="18288" anchor="t">
            <a:spAutoFit/>
          </a:bodyPr>
          <a:lstStyle/>
          <a:p>
            <a:pPr algn="l">
              <a:spcAft>
                <a:spcPts val="0"/>
              </a:spcAft>
            </a:pPr>
            <a:r>
              <a:rPr sz="2700" b="1">
                <a:solidFill>
                  <a:srgbClr val="1B74AA"/>
                </a:solidFill>
                <a:latin typeface="Arial" panose="020B0604020202020204" pitchFamily="34" charset="0"/>
                <a:ea typeface="Yu Gothic"/>
              </a:rPr>
              <a:t>前提</a:t>
            </a:r>
          </a:p>
        </p:txBody>
      </p:sp>
      <p:sp>
        <p:nvSpPr>
          <p:cNvPr id="7" name="TextBox 6"/>
          <p:cNvSpPr txBox="1"/>
          <p:nvPr/>
        </p:nvSpPr>
        <p:spPr>
          <a:xfrm>
            <a:off x="1737360" y="4526280"/>
            <a:ext cx="10058400" cy="828753"/>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Arial" panose="020B0604020202020204" pitchFamily="34" charset="0"/>
                <a:ea typeface="Yu Gothic"/>
              </a:rPr>
              <a:t>本体指向を想定し、ケース内では太陽指向面を固定している。
通信中に構体の太陽面が入れ替わる時系列は解析していない</a:t>
            </a:r>
          </a:p>
        </p:txBody>
      </p:sp>
      <p:sp>
        <p:nvSpPr>
          <p:cNvPr id="8" name="Rounded Rectangle 7"/>
          <p:cNvSpPr/>
          <p:nvPr/>
        </p:nvSpPr>
        <p:spPr>
          <a:xfrm>
            <a:off x="12801600" y="3383280"/>
            <a:ext cx="10424160" cy="38404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002768" y="3675888"/>
            <a:ext cx="10021824" cy="452432"/>
          </a:xfrm>
          <a:prstGeom prst="rect">
            <a:avLst/>
          </a:prstGeom>
          <a:noFill/>
        </p:spPr>
        <p:txBody>
          <a:bodyPr wrap="square" lIns="45720" tIns="18288" rIns="45720" bIns="18288" anchor="t">
            <a:spAutoFit/>
          </a:bodyPr>
          <a:lstStyle/>
          <a:p>
            <a:pPr algn="l">
              <a:spcAft>
                <a:spcPts val="0"/>
              </a:spcAft>
            </a:pPr>
            <a:r>
              <a:rPr sz="2700" b="1">
                <a:solidFill>
                  <a:srgbClr val="239571"/>
                </a:solidFill>
                <a:latin typeface="Arial" panose="020B0604020202020204" pitchFamily="34" charset="0"/>
                <a:ea typeface="Yu Gothic"/>
              </a:rPr>
              <a:t>ジンバルの場合</a:t>
            </a:r>
          </a:p>
        </p:txBody>
      </p:sp>
      <p:sp>
        <p:nvSpPr>
          <p:cNvPr id="10" name="TextBox 9"/>
          <p:cNvSpPr txBox="1"/>
          <p:nvPr/>
        </p:nvSpPr>
        <p:spPr>
          <a:xfrm>
            <a:off x="13075920" y="4526280"/>
            <a:ext cx="9875520" cy="828753"/>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Arial" panose="020B0604020202020204" pitchFamily="34" charset="0"/>
                <a:ea typeface="Yu Gothic"/>
              </a:rPr>
              <a:t>構体姿勢がほぼ一定なら、このケース行列の中では同じ扱いになる。
熱はバス側の温度場で決まるため</a:t>
            </a:r>
          </a:p>
        </p:txBody>
      </p:sp>
      <p:sp>
        <p:nvSpPr>
          <p:cNvPr id="11" name="Rounded Rectangle 10"/>
          <p:cNvSpPr/>
          <p:nvPr/>
        </p:nvSpPr>
        <p:spPr>
          <a:xfrm>
            <a:off x="1463040" y="7680960"/>
            <a:ext cx="21762720" cy="29260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64208" y="7973568"/>
            <a:ext cx="21360384" cy="452432"/>
          </a:xfrm>
          <a:prstGeom prst="rect">
            <a:avLst/>
          </a:prstGeom>
          <a:noFill/>
        </p:spPr>
        <p:txBody>
          <a:bodyPr wrap="square" lIns="45720" tIns="18288" rIns="45720" bIns="18288" anchor="t">
            <a:spAutoFit/>
          </a:bodyPr>
          <a:lstStyle/>
          <a:p>
            <a:pPr algn="l">
              <a:spcAft>
                <a:spcPts val="0"/>
              </a:spcAft>
            </a:pPr>
            <a:r>
              <a:rPr sz="2700" b="1">
                <a:solidFill>
                  <a:srgbClr val="EC9427"/>
                </a:solidFill>
                <a:latin typeface="Arial" panose="020B0604020202020204" pitchFamily="34" charset="0"/>
                <a:ea typeface="Yu Gothic"/>
              </a:rPr>
              <a:t>未解析</a:t>
            </a:r>
          </a:p>
        </p:txBody>
      </p:sp>
      <p:sp>
        <p:nvSpPr>
          <p:cNvPr id="13" name="TextBox 12"/>
          <p:cNvSpPr txBox="1"/>
          <p:nvPr/>
        </p:nvSpPr>
        <p:spPr>
          <a:xfrm>
            <a:off x="1737360" y="8823960"/>
            <a:ext cx="21214080" cy="438453"/>
          </a:xfrm>
          <a:prstGeom prst="rect">
            <a:avLst/>
          </a:prstGeom>
          <a:noFill/>
        </p:spPr>
        <p:txBody>
          <a:bodyPr wrap="square" lIns="45720" tIns="18288" rIns="45720" bIns="18288" anchor="t">
            <a:spAutoFit/>
          </a:bodyPr>
          <a:lstStyle/>
          <a:p>
            <a:pPr algn="l">
              <a:lnSpc>
                <a:spcPct val="115000"/>
              </a:lnSpc>
              <a:spcAft>
                <a:spcPts val="0"/>
              </a:spcAft>
            </a:pPr>
            <a:r>
              <a:rPr sz="2400" b="0">
                <a:solidFill>
                  <a:srgbClr val="232B34"/>
                </a:solidFill>
                <a:latin typeface="Arial" panose="020B0604020202020204" pitchFamily="34" charset="0"/>
                <a:ea typeface="Yu Gothic"/>
              </a:rPr>
              <a:t>相手を追い続ける body pointing の時系列、および軌道の途中で発熱機器の電源が入る過渡。どちらも温度場の履歴が変わるため、別に解析が要る</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B11｜残差Fourier更新の数値（予備）</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B11</a:t>
            </a:r>
            <a:endParaRPr lang="en-US" sz="1800" b="0" dirty="0">
              <a:solidFill>
                <a:srgbClr val="666F79"/>
              </a:solidFill>
              <a:latin typeface="Arial" panose="020B0604020202020204" pitchFamily="34" charset="0"/>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1724011825"/>
              </p:ext>
            </p:extLst>
          </p:nvPr>
        </p:nvGraphicFramePr>
        <p:xfrm>
          <a:off x="1463040" y="3291840"/>
          <a:ext cx="21396958" cy="4572000"/>
        </p:xfrm>
        <a:graphic>
          <a:graphicData uri="http://schemas.openxmlformats.org/drawingml/2006/table">
            <a:tbl>
              <a:tblPr firstRow="1" bandRow="1">
                <a:tableStyleId>{5C22544A-7EE6-4342-B048-85BDC9FD1C3A}</a:tableStyleId>
              </a:tblPr>
              <a:tblGrid>
                <a:gridCol w="10480143">
                  <a:extLst>
                    <a:ext uri="{9D8B030D-6E8A-4147-A177-3AD203B41FA5}">
                      <a16:colId xmlns:a16="http://schemas.microsoft.com/office/drawing/2014/main" val="20000"/>
                    </a:ext>
                  </a:extLst>
                </a:gridCol>
                <a:gridCol w="3493381">
                  <a:extLst>
                    <a:ext uri="{9D8B030D-6E8A-4147-A177-3AD203B41FA5}">
                      <a16:colId xmlns:a16="http://schemas.microsoft.com/office/drawing/2014/main" val="20001"/>
                    </a:ext>
                  </a:extLst>
                </a:gridCol>
                <a:gridCol w="3493381">
                  <a:extLst>
                    <a:ext uri="{9D8B030D-6E8A-4147-A177-3AD203B41FA5}">
                      <a16:colId xmlns:a16="http://schemas.microsoft.com/office/drawing/2014/main" val="20002"/>
                    </a:ext>
                  </a:extLst>
                </a:gridCol>
                <a:gridCol w="3930053">
                  <a:extLst>
                    <a:ext uri="{9D8B030D-6E8A-4147-A177-3AD203B41FA5}">
                      <a16:colId xmlns:a16="http://schemas.microsoft.com/office/drawing/2014/main" val="20003"/>
                    </a:ext>
                  </a:extLst>
                </a:gridCol>
              </a:tblGrid>
              <a:tr h="914400">
                <a:tc>
                  <a:txBody>
                    <a:bodyPr/>
                    <a:lstStyle/>
                    <a:p>
                      <a:pPr algn="l">
                        <a:spcAft>
                          <a:spcPts val="0"/>
                        </a:spcAft>
                      </a:pPr>
                      <a:r>
                        <a:rPr sz="2300" b="1">
                          <a:solidFill>
                            <a:srgbClr val="FFFFFF"/>
                          </a:solidFill>
                          <a:latin typeface="Arial" panose="020B0604020202020204" pitchFamily="34" charset="0"/>
                          <a:ea typeface="Yu Gothic"/>
                        </a:rPr>
                        <a:t>条件</a:t>
                      </a:r>
                    </a:p>
                  </a:txBody>
                  <a:tcPr marL="128016" marR="128016" anchor="ctr">
                    <a:solidFill>
                      <a:srgbClr val="082B52"/>
                    </a:solidFill>
                  </a:tcPr>
                </a:tc>
                <a:tc>
                  <a:txBody>
                    <a:bodyPr/>
                    <a:lstStyle/>
                    <a:p>
                      <a:pPr algn="ctr">
                        <a:spcAft>
                          <a:spcPts val="0"/>
                        </a:spcAft>
                      </a:pPr>
                      <a:r>
                        <a:rPr sz="2300" b="1">
                          <a:solidFill>
                            <a:srgbClr val="FFFFFF"/>
                          </a:solidFill>
                          <a:latin typeface="Arial" panose="020B0604020202020204" pitchFamily="34" charset="0"/>
                          <a:ea typeface="Yu Gothic"/>
                        </a:rPr>
                        <a:t>全区間</a:t>
                      </a:r>
                    </a:p>
                  </a:txBody>
                  <a:tcPr marL="128016" marR="128016" anchor="ctr">
                    <a:solidFill>
                      <a:srgbClr val="082B52"/>
                    </a:solidFill>
                  </a:tcPr>
                </a:tc>
                <a:tc>
                  <a:txBody>
                    <a:bodyPr/>
                    <a:lstStyle/>
                    <a:p>
                      <a:pPr algn="ctr">
                        <a:spcAft>
                          <a:spcPts val="0"/>
                        </a:spcAft>
                      </a:pPr>
                      <a:r>
                        <a:rPr sz="2300" b="1">
                          <a:solidFill>
                            <a:srgbClr val="FFFFFF"/>
                          </a:solidFill>
                          <a:latin typeface="Arial" panose="020B0604020202020204" pitchFamily="34" charset="0"/>
                          <a:ea typeface="Yu Gothic"/>
                        </a:rPr>
                        <a:t>初周</a:t>
                      </a:r>
                    </a:p>
                  </a:txBody>
                  <a:tcPr marL="128016" marR="128016" anchor="ctr">
                    <a:solidFill>
                      <a:srgbClr val="082B52"/>
                    </a:solidFill>
                  </a:tcPr>
                </a:tc>
                <a:tc>
                  <a:txBody>
                    <a:bodyPr/>
                    <a:lstStyle/>
                    <a:p>
                      <a:pPr algn="ctr">
                        <a:spcAft>
                          <a:spcPts val="0"/>
                        </a:spcAft>
                      </a:pPr>
                      <a:r>
                        <a:rPr sz="2300" b="1">
                          <a:solidFill>
                            <a:srgbClr val="FFFFFF"/>
                          </a:solidFill>
                          <a:latin typeface="Arial" panose="020B0604020202020204" pitchFamily="34" charset="0"/>
                          <a:ea typeface="Yu Gothic"/>
                        </a:rPr>
                        <a:t>周1以降</a:t>
                      </a:r>
                    </a:p>
                  </a:txBody>
                  <a:tcPr marL="128016" marR="128016" anchor="ctr">
                    <a:solidFill>
                      <a:srgbClr val="082B52"/>
                    </a:solidFill>
                  </a:tcPr>
                </a:tc>
                <a:extLst>
                  <a:ext uri="{0D108BD9-81ED-4DB2-BD59-A6C34878D82A}">
                    <a16:rowId xmlns:a16="http://schemas.microsoft.com/office/drawing/2014/main" val="10000"/>
                  </a:ext>
                </a:extLst>
              </a:tr>
              <a:tr h="914400">
                <a:tc>
                  <a:txBody>
                    <a:bodyPr/>
                    <a:lstStyle/>
                    <a:p>
                      <a:pPr algn="l">
                        <a:spcAft>
                          <a:spcPts val="0"/>
                        </a:spcAft>
                      </a:pPr>
                      <a:r>
                        <a:rPr sz="2300" b="0">
                          <a:solidFill>
                            <a:srgbClr val="232B34"/>
                          </a:solidFill>
                          <a:latin typeface="Arial" panose="020B0604020202020204" pitchFamily="34" charset="0"/>
                          <a:ea typeface="Yu Gothic"/>
                        </a:rPr>
                        <a:t>Case 13（MY）全誤差を直接Fourier</a:t>
                      </a: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1.39 s</a:t>
                      </a:r>
                      <a:endParaRPr lang="en-US" sz="23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3.37 s</a:t>
                      </a:r>
                      <a:endParaRPr lang="en-US" sz="23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0.39 s</a:t>
                      </a:r>
                      <a:endParaRPr lang="en-US" sz="23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1"/>
                  </a:ext>
                </a:extLst>
              </a:tr>
              <a:tr h="914400">
                <a:tc>
                  <a:txBody>
                    <a:bodyPr/>
                    <a:lstStyle/>
                    <a:p>
                      <a:pPr algn="l">
                        <a:spcAft>
                          <a:spcPts val="0"/>
                        </a:spcAft>
                      </a:pPr>
                      <a:r>
                        <a:rPr sz="2300" b="0">
                          <a:solidFill>
                            <a:srgbClr val="232B34"/>
                          </a:solidFill>
                          <a:latin typeface="Arial" panose="020B0604020202020204" pitchFamily="34" charset="0"/>
                          <a:ea typeface="Yu Gothic"/>
                        </a:rPr>
                        <a:t>Case 13（MY）階層モデル＋残差Fourier</a:t>
                      </a: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0.79 s</a:t>
                      </a:r>
                      <a:endParaRPr lang="en-US" sz="23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1.60 s</a:t>
                      </a:r>
                      <a:endParaRPr lang="en-US" sz="23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0.38 s</a:t>
                      </a:r>
                      <a:endParaRPr lang="en-US" sz="23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2"/>
                  </a:ext>
                </a:extLst>
              </a:tr>
              <a:tr h="914400">
                <a:tc>
                  <a:txBody>
                    <a:bodyPr/>
                    <a:lstStyle/>
                    <a:p>
                      <a:pPr algn="l">
                        <a:spcAft>
                          <a:spcPts val="0"/>
                        </a:spcAft>
                      </a:pPr>
                      <a:r>
                        <a:rPr sz="2300" b="0">
                          <a:solidFill>
                            <a:srgbClr val="232B34"/>
                          </a:solidFill>
                          <a:latin typeface="Arial" panose="020B0604020202020204" pitchFamily="34" charset="0"/>
                          <a:ea typeface="Yu Gothic"/>
                        </a:rPr>
                        <a:t>Case 16（PY）全誤差を直接Fourier</a:t>
                      </a: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13.2 s</a:t>
                      </a:r>
                      <a:endParaRPr lang="en-US" sz="23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39.5 s</a:t>
                      </a:r>
                      <a:endParaRPr lang="en-US" sz="23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0.38 s</a:t>
                      </a:r>
                      <a:endParaRPr lang="en-US" sz="23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3"/>
                  </a:ext>
                </a:extLst>
              </a:tr>
              <a:tr h="914400">
                <a:tc>
                  <a:txBody>
                    <a:bodyPr/>
                    <a:lstStyle/>
                    <a:p>
                      <a:pPr algn="l">
                        <a:spcAft>
                          <a:spcPts val="0"/>
                        </a:spcAft>
                      </a:pPr>
                      <a:r>
                        <a:rPr sz="2300" b="0">
                          <a:solidFill>
                            <a:srgbClr val="232B34"/>
                          </a:solidFill>
                          <a:latin typeface="Arial" panose="020B0604020202020204" pitchFamily="34" charset="0"/>
                          <a:ea typeface="Yu Gothic"/>
                        </a:rPr>
                        <a:t>Case 16（PY）階層モデル＋残差Fourier</a:t>
                      </a: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0.76 s</a:t>
                      </a:r>
                      <a:endParaRPr lang="en-US" sz="23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1.47 s</a:t>
                      </a:r>
                      <a:endParaRPr lang="en-US" sz="23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0.40 s</a:t>
                      </a:r>
                      <a:endParaRPr lang="en-US" sz="23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8092440"/>
            <a:ext cx="21396960" cy="360099"/>
          </a:xfrm>
          <a:prstGeom prst="rect">
            <a:avLst/>
          </a:prstGeom>
          <a:noFill/>
        </p:spPr>
        <p:txBody>
          <a:bodyPr wrap="square" lIns="45720" tIns="18288" rIns="45720" bIns="18288" anchor="t">
            <a:spAutoFit/>
          </a:bodyPr>
          <a:lstStyle/>
          <a:p>
            <a:pPr algn="l">
              <a:spcAft>
                <a:spcPts val="0"/>
              </a:spcAft>
            </a:pPr>
            <a:r>
              <a:rPr sz="2100" b="0">
                <a:solidFill>
                  <a:srgbClr val="666F79"/>
                </a:solidFill>
                <a:latin typeface="Arial" panose="020B0604020202020204" pitchFamily="34" charset="0"/>
                <a:ea typeface="Yu Gothic"/>
              </a:rPr>
              <a:t>Case 16 の直接Fourier は成功率 98.7%。他は 100%</a:t>
            </a:r>
          </a:p>
        </p:txBody>
      </p:sp>
      <p:sp>
        <p:nvSpPr>
          <p:cNvPr id="7" name="Rounded Rectangle 6"/>
          <p:cNvSpPr/>
          <p:nvPr/>
        </p:nvSpPr>
        <p:spPr>
          <a:xfrm>
            <a:off x="1463040" y="8961120"/>
            <a:ext cx="10607040" cy="24688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664208" y="9253728"/>
            <a:ext cx="10204704" cy="421654"/>
          </a:xfrm>
          <a:prstGeom prst="rect">
            <a:avLst/>
          </a:prstGeom>
          <a:noFill/>
        </p:spPr>
        <p:txBody>
          <a:bodyPr wrap="square" lIns="45720" tIns="18288" rIns="45720" bIns="18288" anchor="t">
            <a:spAutoFit/>
          </a:bodyPr>
          <a:lstStyle/>
          <a:p>
            <a:pPr algn="l">
              <a:spcAft>
                <a:spcPts val="0"/>
              </a:spcAft>
            </a:pPr>
            <a:r>
              <a:rPr sz="2500" b="1">
                <a:solidFill>
                  <a:srgbClr val="EC9427"/>
                </a:solidFill>
                <a:latin typeface="Arial" panose="020B0604020202020204" pitchFamily="34" charset="0"/>
                <a:ea typeface="Yu Gothic"/>
              </a:rPr>
              <a:t>定数の残差更新との差</a:t>
            </a:r>
          </a:p>
        </p:txBody>
      </p:sp>
      <p:sp>
        <p:nvSpPr>
          <p:cNvPr id="9" name="TextBox 8"/>
          <p:cNvSpPr txBox="1"/>
          <p:nvPr/>
        </p:nvSpPr>
        <p:spPr>
          <a:xfrm>
            <a:off x="1737360" y="10012680"/>
            <a:ext cx="10058400" cy="404983"/>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Arial" panose="020B0604020202020204" pitchFamily="34" charset="0"/>
                <a:ea typeface="Yu Gothic"/>
              </a:rPr>
              <a:t>Case 13 の周1以降は 1.66 → 1.35 s までしか落ちない。軌道周期の山が残る</a:t>
            </a:r>
          </a:p>
        </p:txBody>
      </p:sp>
      <p:sp>
        <p:nvSpPr>
          <p:cNvPr id="10" name="Rounded Rectangle 9"/>
          <p:cNvSpPr/>
          <p:nvPr/>
        </p:nvSpPr>
        <p:spPr>
          <a:xfrm>
            <a:off x="12801600" y="8961120"/>
            <a:ext cx="10424160" cy="246888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002768" y="9253728"/>
            <a:ext cx="10021824" cy="421654"/>
          </a:xfrm>
          <a:prstGeom prst="rect">
            <a:avLst/>
          </a:prstGeom>
          <a:noFill/>
        </p:spPr>
        <p:txBody>
          <a:bodyPr wrap="square" lIns="45720" tIns="18288" rIns="45720" bIns="18288" anchor="t">
            <a:spAutoFit/>
          </a:bodyPr>
          <a:lstStyle/>
          <a:p>
            <a:pPr algn="l">
              <a:spcAft>
                <a:spcPts val="0"/>
              </a:spcAft>
            </a:pPr>
            <a:r>
              <a:rPr sz="2500" b="1">
                <a:solidFill>
                  <a:srgbClr val="D03B46"/>
                </a:solidFill>
                <a:latin typeface="Arial" panose="020B0604020202020204" pitchFamily="34" charset="0"/>
                <a:ea typeface="Yu Gothic"/>
              </a:rPr>
              <a:t>限界</a:t>
            </a:r>
          </a:p>
        </p:txBody>
      </p:sp>
      <p:sp>
        <p:nvSpPr>
          <p:cNvPr id="12" name="TextBox 11"/>
          <p:cNvSpPr txBox="1"/>
          <p:nvPr/>
        </p:nvSpPr>
        <p:spPr>
          <a:xfrm>
            <a:off x="13075920" y="10012680"/>
            <a:ext cx="9875520" cy="79432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Arial" panose="020B0604020202020204" pitchFamily="34" charset="0"/>
                <a:ea typeface="Yu Gothic"/>
              </a:rPr>
              <a:t>2ケースのみ。causal、K=2。60秒刻みの全点を使っており、実センサの疎な成功点では未検証</a:t>
            </a:r>
          </a:p>
        </p:txBody>
      </p:sp>
      <p:sp>
        <p:nvSpPr>
          <p:cNvPr id="13" name="TextBox 12"/>
          <p:cNvSpPr txBox="1"/>
          <p:nvPr/>
        </p:nvSpPr>
        <p:spPr>
          <a:xfrm>
            <a:off x="1463040" y="11704320"/>
            <a:ext cx="21396960" cy="390876"/>
          </a:xfrm>
          <a:prstGeom prst="rect">
            <a:avLst/>
          </a:prstGeom>
          <a:noFill/>
        </p:spPr>
        <p:txBody>
          <a:bodyPr wrap="square" lIns="45720" tIns="18288" rIns="45720" bIns="18288" anchor="t">
            <a:spAutoFit/>
          </a:bodyPr>
          <a:lstStyle/>
          <a:p>
            <a:pPr algn="ctr">
              <a:spcAft>
                <a:spcPts val="0"/>
              </a:spcAft>
            </a:pPr>
            <a:r>
              <a:rPr sz="2300" b="0">
                <a:solidFill>
                  <a:srgbClr val="666F79"/>
                </a:solidFill>
                <a:latin typeface="Arial" panose="020B0604020202020204" pitchFamily="34" charset="0"/>
                <a:ea typeface="Yu Gothic"/>
              </a:rPr>
              <a:t>熱モデルの係数は更新していない。捕捉後の全指向残差に対する予備実験</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B12｜前に聞いた秒と、今日の秒の対応</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B12</a:t>
            </a:r>
            <a:endParaRPr lang="en-US" sz="1800" b="0" dirty="0">
              <a:solidFill>
                <a:srgbClr val="666F79"/>
              </a:solidFill>
              <a:latin typeface="Arial" panose="020B0604020202020204" pitchFamily="34" charset="0"/>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2831917550"/>
              </p:ext>
            </p:extLst>
          </p:nvPr>
        </p:nvGraphicFramePr>
        <p:xfrm>
          <a:off x="1463040" y="3291840"/>
          <a:ext cx="21396959" cy="6035035"/>
        </p:xfrm>
        <a:graphic>
          <a:graphicData uri="http://schemas.openxmlformats.org/drawingml/2006/table">
            <a:tbl>
              <a:tblPr firstRow="1" bandRow="1">
                <a:tableStyleId>{5C22544A-7EE6-4342-B048-85BDC9FD1C3A}</a:tableStyleId>
              </a:tblPr>
              <a:tblGrid>
                <a:gridCol w="4195482">
                  <a:extLst>
                    <a:ext uri="{9D8B030D-6E8A-4147-A177-3AD203B41FA5}">
                      <a16:colId xmlns:a16="http://schemas.microsoft.com/office/drawing/2014/main" val="20000"/>
                    </a:ext>
                  </a:extLst>
                </a:gridCol>
                <a:gridCol w="6293223">
                  <a:extLst>
                    <a:ext uri="{9D8B030D-6E8A-4147-A177-3AD203B41FA5}">
                      <a16:colId xmlns:a16="http://schemas.microsoft.com/office/drawing/2014/main" val="20001"/>
                    </a:ext>
                  </a:extLst>
                </a:gridCol>
                <a:gridCol w="10908254">
                  <a:extLst>
                    <a:ext uri="{9D8B030D-6E8A-4147-A177-3AD203B41FA5}">
                      <a16:colId xmlns:a16="http://schemas.microsoft.com/office/drawing/2014/main" val="20002"/>
                    </a:ext>
                  </a:extLst>
                </a:gridCol>
              </a:tblGrid>
              <a:tr h="1207007">
                <a:tc>
                  <a:txBody>
                    <a:bodyPr/>
                    <a:lstStyle/>
                    <a:p>
                      <a:pPr algn="l">
                        <a:spcAft>
                          <a:spcPts val="0"/>
                        </a:spcAft>
                      </a:pPr>
                      <a:r>
                        <a:rPr sz="2300" b="1">
                          <a:solidFill>
                            <a:srgbClr val="FFFFFF"/>
                          </a:solidFill>
                          <a:latin typeface="Arial" panose="020B0604020202020204" pitchFamily="34" charset="0"/>
                          <a:ea typeface="Yu Gothic"/>
                        </a:rPr>
                        <a:t>いつ</a:t>
                      </a:r>
                    </a:p>
                  </a:txBody>
                  <a:tcPr marL="128016" marR="128016" anchor="ctr">
                    <a:solidFill>
                      <a:srgbClr val="082B52"/>
                    </a:solidFill>
                  </a:tcPr>
                </a:tc>
                <a:tc>
                  <a:txBody>
                    <a:bodyPr/>
                    <a:lstStyle/>
                    <a:p>
                      <a:pPr algn="l">
                        <a:spcAft>
                          <a:spcPts val="0"/>
                        </a:spcAft>
                      </a:pPr>
                      <a:r>
                        <a:rPr sz="2300" b="1">
                          <a:solidFill>
                            <a:srgbClr val="FFFFFF"/>
                          </a:solidFill>
                          <a:latin typeface="Arial" panose="020B0604020202020204" pitchFamily="34" charset="0"/>
                          <a:ea typeface="Yu Gothic"/>
                        </a:rPr>
                        <a:t>何の秒だったか</a:t>
                      </a:r>
                    </a:p>
                  </a:txBody>
                  <a:tcPr marL="128016" marR="128016" anchor="ctr">
                    <a:solidFill>
                      <a:srgbClr val="082B52"/>
                    </a:solidFill>
                  </a:tcPr>
                </a:tc>
                <a:tc>
                  <a:txBody>
                    <a:bodyPr/>
                    <a:lstStyle/>
                    <a:p>
                      <a:pPr algn="l">
                        <a:spcAft>
                          <a:spcPts val="0"/>
                        </a:spcAft>
                      </a:pPr>
                      <a:r>
                        <a:rPr sz="2300" b="1">
                          <a:solidFill>
                            <a:srgbClr val="FFFFFF"/>
                          </a:solidFill>
                          <a:latin typeface="Arial" panose="020B0604020202020204" pitchFamily="34" charset="0"/>
                          <a:ea typeface="Yu Gothic"/>
                        </a:rPr>
                        <a:t>今日の秒と違う理由</a:t>
                      </a:r>
                    </a:p>
                  </a:txBody>
                  <a:tcPr marL="128016" marR="128016" anchor="ctr">
                    <a:solidFill>
                      <a:srgbClr val="082B52"/>
                    </a:solidFill>
                  </a:tcPr>
                </a:tc>
                <a:extLst>
                  <a:ext uri="{0D108BD9-81ED-4DB2-BD59-A6C34878D82A}">
                    <a16:rowId xmlns:a16="http://schemas.microsoft.com/office/drawing/2014/main" val="10000"/>
                  </a:ext>
                </a:extLst>
              </a:tr>
              <a:tr h="1207007">
                <a:tc>
                  <a:txBody>
                    <a:bodyPr/>
                    <a:lstStyle/>
                    <a:p>
                      <a:pPr algn="l">
                        <a:spcAft>
                          <a:spcPts val="0"/>
                        </a:spcAft>
                      </a:pPr>
                      <a:r>
                        <a:rPr sz="2200" b="0">
                          <a:solidFill>
                            <a:srgbClr val="232B34"/>
                          </a:solidFill>
                          <a:latin typeface="Arial" panose="020B0604020202020204" pitchFamily="34" charset="0"/>
                          <a:ea typeface="Yu Gothic"/>
                        </a:rPr>
                        <a:t>2026-05 全体輪講</a:t>
                      </a:r>
                    </a:p>
                  </a:txBody>
                  <a:tcPr marL="128016" marR="128016" anchor="ctr">
                    <a:solidFill>
                      <a:srgbClr val="FFFFFF"/>
                    </a:solidFill>
                  </a:tcPr>
                </a:tc>
                <a:tc>
                  <a:txBody>
                    <a:bodyPr/>
                    <a:lstStyle/>
                    <a:p>
                      <a:pPr algn="l">
                        <a:spcAft>
                          <a:spcPts val="0"/>
                        </a:spcAft>
                      </a:pPr>
                      <a:r>
                        <a:rPr sz="2200" b="0">
                          <a:solidFill>
                            <a:srgbClr val="232B34"/>
                          </a:solidFill>
                          <a:latin typeface="Arial" panose="020B0604020202020204" pitchFamily="34" charset="0"/>
                          <a:ea typeface="Yu Gothic"/>
                        </a:rPr>
                        <a:t>仮想の熱バイアスでの捕捉時間と成功率</a:t>
                      </a:r>
                    </a:p>
                  </a:txBody>
                  <a:tcPr marL="128016" marR="128016" anchor="ctr">
                    <a:solidFill>
                      <a:srgbClr val="FFFFFF"/>
                    </a:solidFill>
                  </a:tcPr>
                </a:tc>
                <a:tc>
                  <a:txBody>
                    <a:bodyPr/>
                    <a:lstStyle/>
                    <a:p>
                      <a:pPr algn="l">
                        <a:spcAft>
                          <a:spcPts val="0"/>
                        </a:spcAft>
                      </a:pPr>
                      <a:r>
                        <a:rPr sz="2200" b="0">
                          <a:solidFill>
                            <a:srgbClr val="232B34"/>
                          </a:solidFill>
                          <a:latin typeface="Arial" panose="020B0604020202020204" pitchFamily="34" charset="0"/>
                          <a:ea typeface="Yu Gothic"/>
                        </a:rPr>
                        <a:t>熱構造解析ではなく、置いた値での試算だった</a:t>
                      </a:r>
                    </a:p>
                  </a:txBody>
                  <a:tcPr marL="128016" marR="128016" anchor="ctr">
                    <a:solidFill>
                      <a:srgbClr val="EBF6FB"/>
                    </a:solidFill>
                  </a:tcPr>
                </a:tc>
                <a:extLst>
                  <a:ext uri="{0D108BD9-81ED-4DB2-BD59-A6C34878D82A}">
                    <a16:rowId xmlns:a16="http://schemas.microsoft.com/office/drawing/2014/main" val="10001"/>
                  </a:ext>
                </a:extLst>
              </a:tr>
              <a:tr h="1207007">
                <a:tc>
                  <a:txBody>
                    <a:bodyPr/>
                    <a:lstStyle/>
                    <a:p>
                      <a:pPr algn="l">
                        <a:spcAft>
                          <a:spcPts val="0"/>
                        </a:spcAft>
                      </a:pPr>
                      <a:r>
                        <a:rPr sz="2200" b="0">
                          <a:solidFill>
                            <a:srgbClr val="232B34"/>
                          </a:solidFill>
                          <a:latin typeface="Arial" panose="020B0604020202020204" pitchFamily="34" charset="0"/>
                          <a:ea typeface="Yu Gothic"/>
                        </a:rPr>
                        <a:t>2026-07 光通信RG</a:t>
                      </a:r>
                    </a:p>
                  </a:txBody>
                  <a:tcPr marL="128016" marR="128016" anchor="ctr">
                    <a:solidFill>
                      <a:srgbClr val="F4F6F8"/>
                    </a:solidFill>
                  </a:tcPr>
                </a:tc>
                <a:tc>
                  <a:txBody>
                    <a:bodyPr/>
                    <a:lstStyle/>
                    <a:p>
                      <a:pPr algn="l">
                        <a:spcAft>
                          <a:spcPts val="0"/>
                        </a:spcAft>
                      </a:pPr>
                      <a:r>
                        <a:rPr sz="2200" b="0">
                          <a:solidFill>
                            <a:srgbClr val="232B34"/>
                          </a:solidFill>
                          <a:latin typeface="Arial" panose="020B0604020202020204" pitchFamily="34" charset="0"/>
                          <a:ea typeface="Yu Gothic"/>
                        </a:rPr>
                        <a:t>密な走査での捕捉時間</a:t>
                      </a:r>
                    </a:p>
                  </a:txBody>
                  <a:tcPr marL="128016" marR="128016" anchor="ctr">
                    <a:solidFill>
                      <a:srgbClr val="F4F6F8"/>
                    </a:solidFill>
                  </a:tcPr>
                </a:tc>
                <a:tc>
                  <a:txBody>
                    <a:bodyPr/>
                    <a:lstStyle/>
                    <a:p>
                      <a:pPr algn="l">
                        <a:spcAft>
                          <a:spcPts val="0"/>
                        </a:spcAft>
                      </a:pPr>
                      <a:r>
                        <a:rPr sz="2200" b="0">
                          <a:solidFill>
                            <a:srgbClr val="232B34"/>
                          </a:solidFill>
                          <a:latin typeface="Arial" panose="020B0604020202020204" pitchFamily="34" charset="0"/>
                          <a:ea typeface="Yu Gothic"/>
                        </a:rPr>
                        <a:t>点間隔と検出半径が通信ビーム級で、走査の格子に穴があった</a:t>
                      </a:r>
                    </a:p>
                  </a:txBody>
                  <a:tcPr marL="128016" marR="128016" anchor="ctr">
                    <a:solidFill>
                      <a:srgbClr val="EBF6FB"/>
                    </a:solidFill>
                  </a:tcPr>
                </a:tc>
                <a:extLst>
                  <a:ext uri="{0D108BD9-81ED-4DB2-BD59-A6C34878D82A}">
                    <a16:rowId xmlns:a16="http://schemas.microsoft.com/office/drawing/2014/main" val="10002"/>
                  </a:ext>
                </a:extLst>
              </a:tr>
              <a:tr h="1207007">
                <a:tc>
                  <a:txBody>
                    <a:bodyPr/>
                    <a:lstStyle/>
                    <a:p>
                      <a:pPr algn="l">
                        <a:spcAft>
                          <a:spcPts val="0"/>
                        </a:spcAft>
                      </a:pPr>
                      <a:r>
                        <a:rPr sz="2200" b="0">
                          <a:solidFill>
                            <a:srgbClr val="232B34"/>
                          </a:solidFill>
                          <a:latin typeface="Arial" panose="020B0604020202020204" pitchFamily="34" charset="0"/>
                          <a:ea typeface="Yu Gothic"/>
                        </a:rPr>
                        <a:t>2026-08-16 中間メモ</a:t>
                      </a:r>
                    </a:p>
                  </a:txBody>
                  <a:tcPr marL="128016" marR="128016" anchor="ctr">
                    <a:solidFill>
                      <a:srgbClr val="FFFFFF"/>
                    </a:solidFill>
                  </a:tcPr>
                </a:tc>
                <a:tc>
                  <a:txBody>
                    <a:bodyPr/>
                    <a:lstStyle/>
                    <a:p>
                      <a:pPr algn="l">
                        <a:spcAft>
                          <a:spcPts val="0"/>
                        </a:spcAft>
                      </a:pPr>
                      <a:r>
                        <a:rPr sz="2200" b="0">
                          <a:solidFill>
                            <a:srgbClr val="232B34"/>
                          </a:solidFill>
                          <a:latin typeface="Arial" panose="020B0604020202020204" pitchFamily="34" charset="0"/>
                          <a:ea typeface="Yu Gothic"/>
                        </a:rPr>
                        <a:t>17ケース集計での捕捉時間</a:t>
                      </a:r>
                    </a:p>
                  </a:txBody>
                  <a:tcPr marL="128016" marR="128016" anchor="ctr">
                    <a:solidFill>
                      <a:srgbClr val="FFFFFF"/>
                    </a:solidFill>
                  </a:tcPr>
                </a:tc>
                <a:tc>
                  <a:txBody>
                    <a:bodyPr/>
                    <a:lstStyle/>
                    <a:p>
                      <a:pPr algn="l">
                        <a:spcAft>
                          <a:spcPts val="0"/>
                        </a:spcAft>
                      </a:pPr>
                      <a:r>
                        <a:rPr sz="2200" b="0">
                          <a:solidFill>
                            <a:srgbClr val="232B34"/>
                          </a:solidFill>
                          <a:latin typeface="Arial" panose="020B0604020202020204" pitchFamily="34" charset="0"/>
                          <a:ea typeface="Yu Gothic"/>
                        </a:rPr>
                        <a:t>提出稿はCOLD標準表面の14ケースに絞ったあとの数字が正</a:t>
                      </a:r>
                    </a:p>
                  </a:txBody>
                  <a:tcPr marL="128016" marR="128016" anchor="ctr">
                    <a:solidFill>
                      <a:srgbClr val="EBF6FB"/>
                    </a:solidFill>
                  </a:tcPr>
                </a:tc>
                <a:extLst>
                  <a:ext uri="{0D108BD9-81ED-4DB2-BD59-A6C34878D82A}">
                    <a16:rowId xmlns:a16="http://schemas.microsoft.com/office/drawing/2014/main" val="10003"/>
                  </a:ext>
                </a:extLst>
              </a:tr>
              <a:tr h="1207007">
                <a:tc>
                  <a:txBody>
                    <a:bodyPr/>
                    <a:lstStyle/>
                    <a:p>
                      <a:pPr algn="l">
                        <a:spcAft>
                          <a:spcPts val="0"/>
                        </a:spcAft>
                      </a:pPr>
                      <a:r>
                        <a:rPr sz="2200" b="1">
                          <a:solidFill>
                            <a:srgbClr val="232B34"/>
                          </a:solidFill>
                          <a:latin typeface="Arial" panose="020B0604020202020204" pitchFamily="34" charset="0"/>
                          <a:ea typeface="Yu Gothic"/>
                        </a:rPr>
                        <a:t>今日（提出稿）</a:t>
                      </a:r>
                    </a:p>
                  </a:txBody>
                  <a:tcPr marL="128016" marR="128016" anchor="ctr">
                    <a:solidFill>
                      <a:srgbClr val="EAF8F1"/>
                    </a:solidFill>
                  </a:tcPr>
                </a:tc>
                <a:tc>
                  <a:txBody>
                    <a:bodyPr/>
                    <a:lstStyle/>
                    <a:p>
                      <a:pPr algn="l">
                        <a:spcAft>
                          <a:spcPts val="0"/>
                        </a:spcAft>
                      </a:pPr>
                      <a:r>
                        <a:rPr lang="en-US" sz="2200" b="1">
                          <a:solidFill>
                            <a:srgbClr val="232B34"/>
                          </a:solidFill>
                          <a:latin typeface="Arial" panose="020B0604020202020204" pitchFamily="34" charset="0"/>
                          <a:ea typeface="Yu Gothic"/>
                        </a:rPr>
                        <a:t>14.6 → 0.10 s、19.2 → 5.45 s</a:t>
                      </a:r>
                      <a:endParaRPr lang="en-US" sz="2200" b="1" dirty="0">
                        <a:solidFill>
                          <a:srgbClr val="232B34"/>
                        </a:solidFill>
                        <a:latin typeface="Arial" panose="020B0604020202020204" pitchFamily="34" charset="0"/>
                        <a:ea typeface="Yu Gothic"/>
                      </a:endParaRPr>
                    </a:p>
                  </a:txBody>
                  <a:tcPr marL="128016" marR="128016" anchor="ctr">
                    <a:solidFill>
                      <a:srgbClr val="EAF8F1"/>
                    </a:solidFill>
                  </a:tcPr>
                </a:tc>
                <a:tc>
                  <a:txBody>
                    <a:bodyPr/>
                    <a:lstStyle/>
                    <a:p>
                      <a:pPr algn="l">
                        <a:spcAft>
                          <a:spcPts val="0"/>
                        </a:spcAft>
                      </a:pPr>
                      <a:r>
                        <a:rPr sz="2200" b="1">
                          <a:solidFill>
                            <a:srgbClr val="232B34"/>
                          </a:solidFill>
                          <a:latin typeface="Arial" panose="020B0604020202020204" pitchFamily="34" charset="0"/>
                          <a:ea typeface="Yu Gothic"/>
                        </a:rPr>
                        <a:t>±1600 µrad・120 µradステップ・検出半径150 µrad、14ケース平均</a:t>
                      </a:r>
                    </a:p>
                  </a:txBody>
                  <a:tcPr marL="128016" marR="128016" anchor="ctr">
                    <a:solidFill>
                      <a:srgbClr val="EAF8F1"/>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9875520"/>
            <a:ext cx="21396960" cy="964175"/>
          </a:xfrm>
          <a:prstGeom prst="rect">
            <a:avLst/>
          </a:prstGeom>
          <a:noFill/>
        </p:spPr>
        <p:txBody>
          <a:bodyPr wrap="square" lIns="45720" tIns="18288" rIns="45720" bIns="18288" anchor="t">
            <a:spAutoFit/>
          </a:bodyPr>
          <a:lstStyle/>
          <a:p>
            <a:pPr algn="ctr">
              <a:lnSpc>
                <a:spcPct val="125000"/>
              </a:lnSpc>
              <a:spcAft>
                <a:spcPts val="0"/>
              </a:spcAft>
            </a:pPr>
            <a:r>
              <a:rPr sz="2500" b="1">
                <a:solidFill>
                  <a:srgbClr val="082B52"/>
                </a:solidFill>
                <a:latin typeface="Arial" panose="020B0604020202020204" pitchFamily="34" charset="0"/>
                <a:ea typeface="Yu Gothic"/>
              </a:rPr>
              <a:t>走査条件が違えば秒は変わる。比べてよいのは、同じ走査条件の中での補正方式どうし</a:t>
            </a:r>
          </a:p>
          <a:p>
            <a:pPr algn="ctr">
              <a:lnSpc>
                <a:spcPct val="125000"/>
              </a:lnSpc>
              <a:spcAft>
                <a:spcPts val="0"/>
              </a:spcAft>
            </a:pPr>
            <a:r>
              <a:rPr sz="2500" b="1">
                <a:solidFill>
                  <a:srgbClr val="082B52"/>
                </a:solidFill>
                <a:latin typeface="Arial" panose="020B0604020202020204" pitchFamily="34" charset="0"/>
                <a:ea typeface="Yu Gothic"/>
              </a:rPr>
              <a:t>旧い秒はスクリーンに出さない。対応は口頭で答える</a:t>
            </a:r>
          </a:p>
        </p:txBody>
      </p:sp>
    </p:spTree>
  </p:cSld>
  <p:clrMapOvr>
    <a:masterClrMapping/>
  </p:clrMapOvr>
</p:sld>
</file>

<file path=ppt/theme/theme1.xml><?xml version="1.0" encoding="utf-8"?>
<a:theme xmlns:a="http://schemas.openxmlformats.org/drawingml/2006/main" name="Office テーマ">
  <a:themeElements>
    <a:clrScheme name="ISSL true">
      <a:dk1>
        <a:srgbClr val="062654"/>
      </a:dk1>
      <a:lt1>
        <a:srgbClr val="FFFFFF"/>
      </a:lt1>
      <a:dk2>
        <a:srgbClr val="4B4B4B"/>
      </a:dk2>
      <a:lt2>
        <a:srgbClr val="8D8D8D"/>
      </a:lt2>
      <a:accent1>
        <a:srgbClr val="067BCA"/>
      </a:accent1>
      <a:accent2>
        <a:srgbClr val="C95656"/>
      </a:accent2>
      <a:accent3>
        <a:srgbClr val="EBA123"/>
      </a:accent3>
      <a:accent4>
        <a:srgbClr val="87AC70"/>
      </a:accent4>
      <a:accent5>
        <a:srgbClr val="B3618D"/>
      </a:accent5>
      <a:accent6>
        <a:srgbClr val="D16449"/>
      </a:accent6>
      <a:hlink>
        <a:srgbClr val="467886"/>
      </a:hlink>
      <a:folHlink>
        <a:srgbClr val="96607D"/>
      </a:folHlink>
    </a:clrScheme>
    <a:fontScheme name="Office テーマ">
      <a:majorFont>
        <a:latin typeface="Arial"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ssl-template-ja-16-9" id="{4C5265F7-3B2E-5145-B81F-B8693CA354B3}" vid="{5C8F6914-05D8-EA47-8853-1E6EC34679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issl-template-ja-16-9</Template>
  <TotalTime>7096</TotalTime>
  <Words>6719</Words>
  <Application>Microsoft Office PowerPoint</Application>
  <PresentationFormat>ユーザー設定</PresentationFormat>
  <Paragraphs>919</Paragraphs>
  <Slides>47</Slides>
  <Notes>47</Notes>
  <HiddenSlides>15</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47</vt:i4>
      </vt:variant>
    </vt:vector>
  </HeadingPairs>
  <TitlesOfParts>
    <vt:vector size="53" baseType="lpstr">
      <vt:lpstr>游ゴシック</vt:lpstr>
      <vt:lpstr>游ゴシック</vt:lpstr>
      <vt:lpstr>Arial</vt:lpstr>
      <vt:lpstr>Calibri</vt:lpstr>
      <vt:lpstr>Cambria Math</vt:lpstr>
      <vt:lpstr>Office テーマ</vt:lpstr>
      <vt:lpstr> Hierarchical Prediction  and Feedforward Correction  of Time-Varying Thermal Line-of-Sight Bias  for Coarse Acquisition  in Satellite Optical Communications</vt:lpstr>
      <vt:lpstr>01</vt:lpstr>
      <vt:lpstr>Reduce scan time by predicting thermal LOS error in optical communications </vt:lpstr>
      <vt:lpstr>PowerPoint プレゼンテーション</vt:lpstr>
      <vt:lpstr>PowerPoint プレゼンテーション</vt:lpstr>
      <vt:lpstr>PowerPoint プレゼンテーション</vt:lpstr>
      <vt:lpstr>02</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03</vt:lpstr>
      <vt:lpstr>PowerPoint プレゼンテーション</vt:lpstr>
      <vt:lpstr>PowerPoint プレゼンテーション</vt:lpstr>
      <vt:lpstr>PowerPoint プレゼンテーション</vt:lpstr>
      <vt:lpstr>PowerPoint プレゼンテーション</vt:lpstr>
      <vt:lpstr>04</vt:lpstr>
      <vt:lpstr>PowerPoint プレゼンテーション</vt:lpstr>
      <vt:lpstr>PowerPoint プレゼンテーション</vt:lpstr>
      <vt:lpstr>PowerPoint プレゼンテーション</vt:lpstr>
      <vt:lpstr>05</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衛星光通信の粗捕捉に向けた時変熱バイアスのフィードフォワード補正</dc:title>
  <dc:subject>2026-09-28 全体輪講</dc:subject>
  <dc:creator>高本 英熙</dc:creator>
  <dc:description>260927_labseminar_slide_outline.md と papers/icso/main.typ から作成。土台は 20260721_optcommrg_takamoto_v3_issl.pptx。</dc:description>
  <cp:lastModifiedBy>高本　英熙</cp:lastModifiedBy>
  <cp:revision>91</cp:revision>
  <cp:lastPrinted>2026-10-05T01:11:06Z</cp:lastPrinted>
  <dcterms:created xsi:type="dcterms:W3CDTF">2026-05-11T08:23:04Z</dcterms:created>
  <dcterms:modified xsi:type="dcterms:W3CDTF">2026-10-13T16:43:25Z</dcterms:modified>
</cp:coreProperties>
</file>