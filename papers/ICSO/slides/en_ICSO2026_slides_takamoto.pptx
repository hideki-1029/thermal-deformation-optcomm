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7"/>
  </p:notesMasterIdLst>
  <p:sldIdLst>
    <p:sldId id="263" r:id="rId2"/>
    <p:sldId id="257" r:id="rId3"/>
    <p:sldId id="282" r:id="rId4"/>
    <p:sldId id="324" r:id="rId5"/>
    <p:sldId id="325" r:id="rId6"/>
    <p:sldId id="266" r:id="rId7"/>
    <p:sldId id="342" r:id="rId8"/>
    <p:sldId id="283" r:id="rId9"/>
    <p:sldId id="268" r:id="rId10"/>
    <p:sldId id="269" r:id="rId11"/>
    <p:sldId id="275" r:id="rId12"/>
    <p:sldId id="271" r:id="rId13"/>
    <p:sldId id="321" r:id="rId14"/>
    <p:sldId id="343" r:id="rId15"/>
    <p:sldId id="285" r:id="rId16"/>
    <p:sldId id="322" r:id="rId17"/>
    <p:sldId id="326" r:id="rId18"/>
    <p:sldId id="327" r:id="rId19"/>
    <p:sldId id="328" r:id="rId20"/>
    <p:sldId id="344" r:id="rId21"/>
    <p:sldId id="297" r:id="rId22"/>
    <p:sldId id="299" r:id="rId23"/>
    <p:sldId id="303" r:id="rId24"/>
    <p:sldId id="304" r:id="rId25"/>
    <p:sldId id="329" r:id="rId26"/>
    <p:sldId id="345" r:id="rId27"/>
    <p:sldId id="331" r:id="rId28"/>
    <p:sldId id="330" r:id="rId29"/>
    <p:sldId id="309" r:id="rId30"/>
    <p:sldId id="294" r:id="rId31"/>
    <p:sldId id="339" r:id="rId32"/>
    <p:sldId id="340" r:id="rId33"/>
    <p:sldId id="311" r:id="rId34"/>
    <p:sldId id="298" r:id="rId35"/>
    <p:sldId id="301" r:id="rId36"/>
    <p:sldId id="302" r:id="rId37"/>
    <p:sldId id="313" r:id="rId38"/>
    <p:sldId id="332" r:id="rId39"/>
    <p:sldId id="286" r:id="rId40"/>
    <p:sldId id="333" r:id="rId41"/>
    <p:sldId id="310" r:id="rId42"/>
    <p:sldId id="334" r:id="rId43"/>
    <p:sldId id="335" r:id="rId44"/>
    <p:sldId id="336" r:id="rId45"/>
    <p:sldId id="337" r:id="rId46"/>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37" autoAdjust="0"/>
    <p:restoredTop sz="92822" autoAdjust="0"/>
  </p:normalViewPr>
  <p:slideViewPr>
    <p:cSldViewPr snapToGrid="0">
      <p:cViewPr varScale="1">
        <p:scale>
          <a:sx n="34" d="100"/>
          <a:sy n="34" d="100"/>
        </p:scale>
        <p:origin x="428" y="88"/>
      </p:cViewPr>
      <p:guideLst/>
    </p:cSldViewPr>
  </p:slideViewPr>
  <p:notesTextViewPr>
    <p:cViewPr>
      <p:scale>
        <a:sx n="1" d="1"/>
        <a:sy n="1" d="1"/>
      </p:scale>
      <p:origin x="0" y="0"/>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2026/10/12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Good afternoon.</a:t>
            </a:r>
          </a:p>
          <a:p>
            <a:pPr>
              <a:spcAft>
                <a:spcPts val="600"/>
              </a:spcAft>
            </a:pPr>
            <a:r>
              <a:rPr sz="1600">
                <a:latin typeface="Calibri"/>
              </a:rPr>
              <a:t>My name is Hideki Takamoto from the University of Tokyo.</a:t>
            </a:r>
          </a:p>
          <a:p>
            <a:pPr>
              <a:spcAft>
                <a:spcPts val="600"/>
              </a:spcAft>
            </a:pPr>
            <a:r>
              <a:rPr sz="1600">
                <a:latin typeface="Calibri"/>
              </a:rPr>
              <a:t>Today, I will present our work on hierarchical prediction and feedforward correction of time-varying thermal line-of-sight bias for coarse acquisition in satellite optical communications.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Before acquisition</a:t>
            </a:r>
            <a:r>
              <a:rPr lang="en-US" sz="1600" dirty="0">
                <a:latin typeface="Calibri"/>
              </a:rPr>
              <a:t> in optical communications</a:t>
            </a:r>
            <a:r>
              <a:rPr sz="1600" dirty="0">
                <a:latin typeface="Calibri"/>
              </a:rPr>
              <a:t>, optical feedback from the other terminal is not yet available.</a:t>
            </a:r>
          </a:p>
          <a:p>
            <a:pPr>
              <a:spcAft>
                <a:spcPts val="600"/>
              </a:spcAft>
            </a:pPr>
            <a:r>
              <a:rPr sz="1600" dirty="0">
                <a:latin typeface="Calibri"/>
              </a:rPr>
              <a:t>Therefore, the terminal has to search an uncertainty region that includes thermal LOS error, attitude error, and orbit-prediction error.</a:t>
            </a:r>
          </a:p>
          <a:p>
            <a:pPr>
              <a:spcAft>
                <a:spcPts val="600"/>
              </a:spcAft>
            </a:pPr>
            <a:r>
              <a:rPr sz="1600" dirty="0">
                <a:latin typeface="Calibri"/>
              </a:rPr>
              <a:t>In particular, illumination, eclipse, and internal dissipation generate temperature gradients in the spacecraft.</a:t>
            </a:r>
          </a:p>
          <a:p>
            <a:pPr>
              <a:spcAft>
                <a:spcPts val="600"/>
              </a:spcAft>
            </a:pPr>
            <a:r>
              <a:rPr sz="1600" dirty="0">
                <a:latin typeface="Calibri"/>
              </a:rPr>
              <a:t>These gradients cause thermal expansion and spacecraft-bus distortion, which can result in thermal LOS errors on the order of hundreds of microradians or even more than one milliradian.</a:t>
            </a:r>
          </a:p>
          <a:p>
            <a:pPr>
              <a:spcAft>
                <a:spcPts val="600"/>
              </a:spcAft>
            </a:pPr>
            <a:r>
              <a:rPr sz="1600" dirty="0">
                <a:latin typeface="Calibri"/>
              </a:rPr>
              <a:t>Our approach is to predict this thermal component before acquisition and subtract it from the scan center.</a:t>
            </a:r>
          </a:p>
          <a:p>
            <a:pPr>
              <a:spcAft>
                <a:spcPts val="600"/>
              </a:spcAft>
            </a:pPr>
            <a:r>
              <a:rPr sz="1600" dirty="0">
                <a:latin typeface="Calibri"/>
              </a:rPr>
              <a:t>The important point is that this is an operational correction.</a:t>
            </a:r>
          </a:p>
          <a:p>
            <a:pPr>
              <a:spcAft>
                <a:spcPts val="600"/>
              </a:spcAft>
            </a:pPr>
            <a:r>
              <a:rPr sz="1600" dirty="0">
                <a:latin typeface="Calibri"/>
              </a:rPr>
              <a:t>It does not require modification of the spacecraft structure or the laser communication terminal.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table summarizes the main error sources contributing to the scan-center LOS error during coarse acquisition.</a:t>
            </a:r>
          </a:p>
          <a:p>
            <a:pPr>
              <a:spcAft>
                <a:spcPts val="600"/>
              </a:spcAft>
            </a:pPr>
            <a:r>
              <a:rPr sz="1600">
                <a:latin typeface="Calibri"/>
              </a:rPr>
              <a:t>Among these components, thermal LOS error can be comparable to, or even larger than, orbit-prediction error.</a:t>
            </a:r>
          </a:p>
          <a:p>
            <a:pPr>
              <a:spcAft>
                <a:spcPts val="600"/>
              </a:spcAft>
            </a:pPr>
            <a:r>
              <a:rPr sz="1600">
                <a:latin typeface="Calibri"/>
              </a:rPr>
              <a:t>Another important point is that thermal LOS error and orbit-prediction error vary on similar orbital time scales.</a:t>
            </a:r>
          </a:p>
          <a:p>
            <a:pPr>
              <a:spcAft>
                <a:spcPts val="600"/>
              </a:spcAft>
            </a:pPr>
            <a:r>
              <a:rPr sz="1600">
                <a:latin typeface="Calibri"/>
              </a:rPr>
              <a:t>Therefore, after acquisition, we cannot simply identify the thermal component from the pointing residual based on frequency.</a:t>
            </a:r>
          </a:p>
          <a:p>
            <a:pPr>
              <a:spcAft>
                <a:spcPts val="600"/>
              </a:spcAft>
            </a:pPr>
            <a:r>
              <a:rPr sz="1600">
                <a:latin typeface="Calibri"/>
              </a:rPr>
              <a:t>Instead, in this study, we use temperature and operating-state information as independent inputs to predict and remove the thermal component before acquisition.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kumimoji="1" lang="ja-JP" altLang="ja-JP" sz="1200" b="0" kern="1200" dirty="0">
                <a:solidFill>
                  <a:schemeClr val="tx1"/>
                </a:solidFill>
                <a:effectLst/>
                <a:latin typeface="+mn-lt"/>
                <a:ea typeface="+mn-ea"/>
                <a:cs typeface="+mn-cs"/>
              </a:rPr>
              <a:t>Previous work can be roughly divided into two approaches.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ja-JP" sz="1200" b="0" kern="1200" dirty="0">
                <a:solidFill>
                  <a:schemeClr val="tx1"/>
                </a:solidFill>
                <a:effectLst/>
                <a:latin typeface="+mn-lt"/>
                <a:ea typeface="+mn-ea"/>
                <a:cs typeface="+mn-cs"/>
              </a:rPr>
              <a:t>In </a:t>
            </a:r>
            <a:r>
              <a:rPr kumimoji="1" lang="en-US" altLang="ja-JP" sz="1200" b="0" kern="1200" dirty="0">
                <a:solidFill>
                  <a:schemeClr val="tx1"/>
                </a:solidFill>
                <a:effectLst/>
                <a:latin typeface="+mn-lt"/>
                <a:ea typeface="+mn-ea"/>
                <a:cs typeface="+mn-cs"/>
              </a:rPr>
              <a:t>conventional PAT design of </a:t>
            </a:r>
            <a:r>
              <a:rPr kumimoji="1" lang="ja-JP" altLang="ja-JP" sz="1200" b="0" kern="1200" dirty="0">
                <a:solidFill>
                  <a:schemeClr val="tx1"/>
                </a:solidFill>
                <a:effectLst/>
                <a:latin typeface="+mn-lt"/>
                <a:ea typeface="+mn-ea"/>
                <a:cs typeface="+mn-cs"/>
              </a:rPr>
              <a:t>optical communications, thermal deformation is mainly </a:t>
            </a:r>
            <a:r>
              <a:rPr kumimoji="1" lang="en-US" altLang="ja-JP" sz="1200" b="0" kern="1200" dirty="0">
                <a:solidFill>
                  <a:schemeClr val="tx1"/>
                </a:solidFill>
                <a:effectLst/>
                <a:latin typeface="+mn-lt"/>
                <a:ea typeface="+mn-ea"/>
                <a:cs typeface="+mn-cs"/>
              </a:rPr>
              <a:t>absorbed through </a:t>
            </a:r>
            <a:r>
              <a:rPr lang="en-US" altLang="ja-JP" sz="1200" b="0" dirty="0">
                <a:solidFill>
                  <a:schemeClr val="tx1"/>
                </a:solidFill>
              </a:rPr>
              <a:t>scan range or beam divergence,  or </a:t>
            </a:r>
            <a:r>
              <a:rPr kumimoji="1" lang="ja-JP" altLang="ja-JP" sz="1200" b="0" kern="1200" dirty="0">
                <a:solidFill>
                  <a:schemeClr val="tx1"/>
                </a:solidFill>
                <a:effectLst/>
                <a:latin typeface="+mn-lt"/>
                <a:ea typeface="+mn-ea"/>
                <a:cs typeface="+mn-cs"/>
              </a:rPr>
              <a:t>mitigated through structural design, material selection, and equipment placement.</a:t>
            </a:r>
            <a:r>
              <a:rPr kumimoji="1" lang="ja-JP" altLang="en-US" sz="1200" b="0" kern="1200" dirty="0">
                <a:solidFill>
                  <a:schemeClr val="tx1"/>
                </a:solidFill>
                <a:effectLst/>
                <a:latin typeface="+mn-lt"/>
                <a:ea typeface="+mn-ea"/>
                <a:cs typeface="+mn-cs"/>
              </a:rPr>
              <a:t>　</a:t>
            </a:r>
            <a:endParaRPr kumimoji="1" lang="ja-JP" altLang="ja-JP" sz="1200" b="0" kern="1200" dirty="0">
              <a:solidFill>
                <a:schemeClr val="tx1"/>
              </a:solidFill>
              <a:effectLst/>
              <a:latin typeface="+mn-lt"/>
              <a:ea typeface="+mn-ea"/>
              <a:cs typeface="+mn-cs"/>
            </a:endParaRP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Earth observation and optical instruments, thermal LOS variation is predicted and corrected using temperature, orbital phase, or observation geometry, but these models are typically tied to a specific optical instrument or observation system</a:t>
            </a:r>
            <a:r>
              <a:rPr kumimoji="1" lang="en-US" altLang="ja-JP" sz="1200" b="0" kern="1200" dirty="0">
                <a:solidFill>
                  <a:schemeClr val="tx1"/>
                </a:solidFill>
                <a:effectLst/>
                <a:latin typeface="+mn-lt"/>
                <a:ea typeface="+mn-ea"/>
                <a:cs typeface="+mn-cs"/>
              </a:rPr>
              <a:t> and not connected to Optical Communications</a:t>
            </a:r>
            <a:r>
              <a:rPr kumimoji="1" lang="ja-JP" altLang="ja-JP" sz="1200" b="0" kern="1200" dirty="0">
                <a:solidFill>
                  <a:schemeClr val="tx1"/>
                </a:solidFill>
                <a:effectLst/>
                <a:latin typeface="+mn-lt"/>
                <a:ea typeface="+mn-ea"/>
                <a:cs typeface="+mn-cs"/>
              </a:rPr>
              <a:t>.  </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this study, we instead predict the relative LOS between the STT and LCT across the spacecraft bus using a physics-based model, and then use that prediction directly for coarse optical acquisition.</a:t>
            </a:r>
          </a:p>
          <a:p>
            <a:pPr>
              <a:spcAft>
                <a:spcPts val="600"/>
              </a:spcAft>
            </a:pP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This slide shows the overall workflow of this study.</a:t>
            </a:r>
          </a:p>
          <a:p>
            <a:pPr>
              <a:spcAft>
                <a:spcPts val="600"/>
              </a:spcAft>
            </a:pPr>
            <a:r>
              <a:rPr sz="1600" dirty="0">
                <a:latin typeface="Calibri"/>
              </a:rPr>
              <a:t>On the ground, we first define the orbit, attitude, thermal environment, equipment layout, and surface properties.</a:t>
            </a:r>
          </a:p>
          <a:p>
            <a:pPr>
              <a:spcAft>
                <a:spcPts val="600"/>
              </a:spcAft>
            </a:pPr>
            <a:r>
              <a:rPr sz="1600" dirty="0">
                <a:latin typeface="Calibri"/>
              </a:rPr>
              <a:t>Thermal Desktop is then used to calculate the spacecraft temperature field.</a:t>
            </a:r>
          </a:p>
          <a:p>
            <a:pPr>
              <a:spcAft>
                <a:spcPts val="600"/>
              </a:spcAft>
            </a:pPr>
            <a:r>
              <a:rPr sz="1600" dirty="0">
                <a:latin typeface="Calibri"/>
              </a:rPr>
              <a:t>The temperature field is transferred to </a:t>
            </a:r>
            <a:r>
              <a:rPr sz="1600" dirty="0" err="1">
                <a:latin typeface="Calibri"/>
              </a:rPr>
              <a:t>Femap</a:t>
            </a:r>
            <a:r>
              <a:rPr sz="1600" dirty="0">
                <a:latin typeface="Calibri"/>
              </a:rPr>
              <a:t> and Nastran to calculate thermoelastic deformation and the relative rotation between the star tracker and the laser communication terminal.</a:t>
            </a:r>
          </a:p>
          <a:p>
            <a:pPr>
              <a:spcAft>
                <a:spcPts val="600"/>
              </a:spcAft>
            </a:pPr>
            <a:r>
              <a:rPr sz="1600" dirty="0">
                <a:latin typeface="Calibri"/>
              </a:rPr>
              <a:t>From these high-fidelity simulation results, we generate reference thermal-LOS time series and construct a reduced-order prediction model.</a:t>
            </a:r>
          </a:p>
          <a:p>
            <a:pPr>
              <a:spcAft>
                <a:spcPts val="600"/>
              </a:spcAft>
            </a:pPr>
            <a:r>
              <a:rPr sz="1600" dirty="0">
                <a:latin typeface="Calibri"/>
              </a:rPr>
              <a:t>On orbit, Thermal Desktop and </a:t>
            </a:r>
            <a:r>
              <a:rPr sz="1600" dirty="0" err="1">
                <a:latin typeface="Calibri"/>
              </a:rPr>
              <a:t>Femap</a:t>
            </a:r>
            <a:r>
              <a:rPr sz="1600" dirty="0">
                <a:latin typeface="Calibri"/>
              </a:rPr>
              <a:t> are not used.</a:t>
            </a:r>
          </a:p>
          <a:p>
            <a:pPr>
              <a:spcAft>
                <a:spcPts val="600"/>
              </a:spcAft>
            </a:pPr>
            <a:r>
              <a:rPr sz="1600" dirty="0">
                <a:latin typeface="Calibri"/>
              </a:rPr>
              <a:t>Only temperature measurements and operating-state information are input to the reduced-order model, and the predicted thermal LOS is used to correct the scan center.</a:t>
            </a:r>
          </a:p>
          <a:p>
            <a:pPr>
              <a:spcAft>
                <a:spcPts val="600"/>
              </a:spcAft>
            </a:pPr>
            <a:r>
              <a:rPr sz="1600" dirty="0">
                <a:latin typeface="Calibri"/>
              </a:rPr>
              <a:t>Finally, we evaluate not only the LOS prediction error, but also acquisition success rate and acquisition time.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168C1-CAE2-B26B-2CDC-972315F9A9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2DE14-7AE6-1F04-DA3D-C4DD1D415B3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26E6972E-6F08-976C-489A-D198874BB47E}"/>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E10530D4-27A8-6EE2-F8E4-003DAA04517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8496781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We evaluate a simple box-structure LEO spacecraft</a:t>
            </a:r>
            <a:r>
              <a:rPr lang="ja-JP" altLang="en-US" sz="1600" dirty="0">
                <a:latin typeface="Calibri"/>
              </a:rPr>
              <a:t> </a:t>
            </a:r>
            <a:r>
              <a:rPr lang="en-US" altLang="ja-JP" sz="1600" dirty="0">
                <a:latin typeface="Calibri"/>
              </a:rPr>
              <a:t>as</a:t>
            </a:r>
            <a:r>
              <a:rPr lang="ja-JP" altLang="en-US" sz="1600" dirty="0">
                <a:latin typeface="Calibri"/>
              </a:rPr>
              <a:t> </a:t>
            </a:r>
            <a:r>
              <a:rPr lang="en-US" altLang="ja-JP" sz="1600" dirty="0">
                <a:latin typeface="Calibri"/>
              </a:rPr>
              <a:t>a test model</a:t>
            </a:r>
            <a:r>
              <a:rPr sz="1600" dirty="0">
                <a:latin typeface="Calibri"/>
              </a:rPr>
              <a:t>, with the star tracker and the laser communication terminal mounted on </a:t>
            </a:r>
            <a:r>
              <a:rPr lang="en-US" sz="1600" dirty="0">
                <a:latin typeface="Calibri"/>
              </a:rPr>
              <a:t>opposite </a:t>
            </a:r>
            <a:r>
              <a:rPr sz="1600" dirty="0">
                <a:latin typeface="Calibri"/>
              </a:rPr>
              <a:t>panels.</a:t>
            </a:r>
          </a:p>
          <a:p>
            <a:pPr>
              <a:spcAft>
                <a:spcPts val="600"/>
              </a:spcAft>
            </a:pPr>
            <a:r>
              <a:rPr lang="en-US" sz="1600" dirty="0">
                <a:latin typeface="Calibri"/>
              </a:rPr>
              <a:t>The </a:t>
            </a:r>
            <a:r>
              <a:rPr sz="1600" dirty="0">
                <a:latin typeface="Calibri"/>
              </a:rPr>
              <a:t>spacecraft bus is </a:t>
            </a:r>
            <a:r>
              <a:rPr lang="en-US" sz="1600" dirty="0">
                <a:latin typeface="Calibri"/>
              </a:rPr>
              <a:t>modeled as a 1meter-class satellite</a:t>
            </a:r>
            <a:r>
              <a:rPr sz="1600" dirty="0">
                <a:latin typeface="Calibri"/>
              </a:rPr>
              <a:t> using aluminum shell elements</a:t>
            </a:r>
            <a:r>
              <a:rPr lang="en-US" sz="1600" dirty="0">
                <a:latin typeface="Calibri"/>
              </a:rPr>
              <a:t> on both of thermal desktop and </a:t>
            </a:r>
            <a:r>
              <a:rPr lang="en-US" sz="1600" dirty="0" err="1">
                <a:latin typeface="Calibri"/>
              </a:rPr>
              <a:t>Femap</a:t>
            </a:r>
            <a:r>
              <a:rPr sz="1600" dirty="0">
                <a:latin typeface="Calibri"/>
              </a:rPr>
              <a: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Thermal Desktop is used to calculate the time history of the spacecraft temperature field.</a:t>
            </a:r>
          </a:p>
          <a:p>
            <a:pPr>
              <a:spcAft>
                <a:spcPts val="600"/>
              </a:spcAft>
            </a:pPr>
            <a:r>
              <a:rPr lang="en-US" sz="1600" dirty="0">
                <a:latin typeface="Calibri"/>
              </a:rPr>
              <a:t>The setting for thermal analysis is shown as table.</a:t>
            </a:r>
            <a:endParaRPr sz="1600" dirty="0">
              <a:latin typeface="Calibri"/>
            </a:endParaRPr>
          </a:p>
          <a:p>
            <a:pPr>
              <a:spcAft>
                <a:spcPts val="600"/>
              </a:spcAft>
            </a:pPr>
            <a:r>
              <a:rPr sz="1600" dirty="0">
                <a:latin typeface="Calibri"/>
              </a:rPr>
              <a:t>Across the analysis cases, we vary </a:t>
            </a:r>
            <a:r>
              <a:rPr lang="en-US" sz="1600" dirty="0">
                <a:latin typeface="Calibri"/>
              </a:rPr>
              <a:t>the orbital conditions, </a:t>
            </a:r>
            <a:r>
              <a:rPr sz="1600" dirty="0">
                <a:latin typeface="Calibri"/>
              </a:rPr>
              <a:t>the sun-facing panel, </a:t>
            </a:r>
            <a:r>
              <a:rPr lang="en-US" sz="1600" dirty="0">
                <a:latin typeface="Calibri"/>
              </a:rPr>
              <a:t>the </a:t>
            </a:r>
            <a:r>
              <a:rPr sz="1600" dirty="0">
                <a:latin typeface="Calibri"/>
              </a:rPr>
              <a:t>optical properties</a:t>
            </a:r>
            <a:r>
              <a:rPr lang="en-US" sz="1600" dirty="0">
                <a:latin typeface="Calibri"/>
              </a:rPr>
              <a:t> of panels</a:t>
            </a:r>
            <a:r>
              <a:rPr sz="1600" dirty="0">
                <a:latin typeface="Calibri"/>
              </a:rPr>
              <a:t>,</a:t>
            </a:r>
            <a:r>
              <a:rPr lang="en-US" sz="1600" dirty="0">
                <a:latin typeface="Calibri"/>
              </a:rPr>
              <a:t> and</a:t>
            </a:r>
            <a:r>
              <a:rPr sz="1600" dirty="0">
                <a:latin typeface="Calibri"/>
              </a:rPr>
              <a:t> internal equipment dissipation</a:t>
            </a:r>
            <a:r>
              <a:rPr 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resulting temperature </a:t>
            </a:r>
            <a:r>
              <a:rPr lang="en-US" sz="1600" dirty="0">
                <a:latin typeface="Calibri"/>
              </a:rPr>
              <a:t>time-series </a:t>
            </a:r>
            <a:r>
              <a:rPr sz="1600" dirty="0">
                <a:latin typeface="Calibri"/>
              </a:rPr>
              <a:t>field is then transferred to </a:t>
            </a:r>
            <a:r>
              <a:rPr sz="1600" dirty="0" err="1">
                <a:latin typeface="Calibri"/>
              </a:rPr>
              <a:t>Femap</a:t>
            </a:r>
            <a:r>
              <a:rPr sz="1600" dirty="0">
                <a:latin typeface="Calibri"/>
              </a:rPr>
              <a:t> for thermoelastic structural analysis.</a:t>
            </a:r>
          </a:p>
          <a:p>
            <a:pPr>
              <a:spcAft>
                <a:spcPts val="600"/>
              </a:spcAft>
            </a:pPr>
            <a:r>
              <a:rPr sz="1600" dirty="0">
                <a:latin typeface="Calibri"/>
              </a:rPr>
              <a:t>The spacecraft structure is modeled with the material properties shown here.</a:t>
            </a:r>
          </a:p>
          <a:p>
            <a:pPr>
              <a:spcAft>
                <a:spcPts val="600"/>
              </a:spcAft>
            </a:pPr>
            <a:r>
              <a:rPr sz="1600" dirty="0">
                <a:latin typeface="Calibri"/>
              </a:rPr>
              <a:t>From this analysis, we obtain the translations and rotations of the star-tracker and laser-terminal mounting locations.</a:t>
            </a:r>
          </a:p>
          <a:p>
            <a:pPr>
              <a:spcAft>
                <a:spcPts val="600"/>
              </a:spcAft>
            </a:pPr>
            <a:r>
              <a:rPr lang="ja-JP" altLang="en-US" sz="1600" dirty="0">
                <a:latin typeface="Calibri"/>
              </a:rPr>
              <a:t>（</a:t>
            </a:r>
            <a:r>
              <a:rPr sz="1600" dirty="0">
                <a:latin typeface="Calibri"/>
              </a:rPr>
              <a:t>Thermal Desktop and </a:t>
            </a:r>
            <a:r>
              <a:rPr sz="1600" dirty="0" err="1">
                <a:latin typeface="Calibri"/>
              </a:rPr>
              <a:t>Femap</a:t>
            </a:r>
            <a:r>
              <a:rPr sz="1600" dirty="0">
                <a:latin typeface="Calibri"/>
              </a:rPr>
              <a:t> are therefore used only to generate the high-fidelity reference dataset for model development.</a:t>
            </a:r>
            <a:r>
              <a:rPr lang="ja-JP" alt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For a far-field optical link, the relevant quantity is not simply the translation of the mounting points.</a:t>
            </a:r>
          </a:p>
          <a:p>
            <a:pPr>
              <a:spcAft>
                <a:spcPts val="600"/>
              </a:spcAft>
            </a:pPr>
            <a:r>
              <a:rPr sz="1600" dirty="0">
                <a:latin typeface="Calibri"/>
              </a:rPr>
              <a:t>What matters is the relative rotation of the laser communication terminal optical axis with respect to the star-tracker attitude reference.</a:t>
            </a:r>
          </a:p>
          <a:p>
            <a:pPr>
              <a:spcAft>
                <a:spcPts val="600"/>
              </a:spcAft>
            </a:pPr>
            <a:r>
              <a:rPr sz="1600" dirty="0">
                <a:latin typeface="Calibri"/>
              </a:rPr>
              <a:t>Therefore, we define the thermal LOS error as the LCT optical-axis rotation minus the STT reference rotation.</a:t>
            </a:r>
          </a:p>
          <a:p>
            <a:pPr>
              <a:spcAft>
                <a:spcPts val="600"/>
              </a:spcAft>
            </a:pPr>
            <a:r>
              <a:rPr sz="1600" dirty="0">
                <a:latin typeface="Calibri"/>
              </a:rPr>
              <a:t>The thermal rotation of the star tracker itself is absorbed into the attitude reference.</a:t>
            </a:r>
          </a:p>
          <a:p>
            <a:pPr>
              <a:spcAft>
                <a:spcPts val="600"/>
              </a:spcAft>
            </a:pPr>
            <a:r>
              <a:rPr lang="ja-JP" altLang="en-US" sz="1600" dirty="0">
                <a:latin typeface="Calibri"/>
              </a:rPr>
              <a:t>（</a:t>
            </a:r>
            <a:r>
              <a:rPr sz="1600" dirty="0">
                <a:latin typeface="Calibri"/>
              </a:rPr>
              <a:t>In this study, translation-induced tilt and the internal thermal deformation of the optical terminals are not included.</a:t>
            </a:r>
            <a:r>
              <a:rPr lang="ja-JP" alt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With the spacecraft structure and LOS definition fixed, we vary four groups of conditions.</a:t>
            </a:r>
          </a:p>
          <a:p>
            <a:pPr>
              <a:spcAft>
                <a:spcPts val="600"/>
              </a:spcAft>
            </a:pPr>
            <a:r>
              <a:rPr sz="1600">
                <a:latin typeface="Calibri"/>
              </a:rPr>
              <a:t>These are the sun-facing panel, internal equipment dissipation, surface properties, and orbital thermal environment.</a:t>
            </a:r>
          </a:p>
          <a:p>
            <a:pPr>
              <a:spcAft>
                <a:spcPts val="600"/>
              </a:spcAft>
            </a:pPr>
            <a:r>
              <a:rPr sz="1600">
                <a:latin typeface="Calibri"/>
              </a:rPr>
              <a:t>In total, we analyze 21 cases.</a:t>
            </a:r>
          </a:p>
          <a:p>
            <a:pPr>
              <a:spcAft>
                <a:spcPts val="600"/>
              </a:spcAft>
            </a:pPr>
            <a:r>
              <a:rPr sz="1600">
                <a:latin typeface="Calibri"/>
              </a:rPr>
              <a:t>The important point is that these are different thermal and operating conditions within the same spacecraft configuration.</a:t>
            </a:r>
          </a:p>
          <a:p>
            <a:pPr>
              <a:spcAft>
                <a:spcPts val="600"/>
              </a:spcAft>
            </a:pPr>
            <a:r>
              <a:rPr sz="1600">
                <a:latin typeface="Calibri"/>
              </a:rPr>
              <a:t>We are not assuming that the numerical coefficients identified here can be transferred unchanged to a completely different spacecraft.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pPr>
              <a:spcAft>
                <a:spcPts val="600"/>
              </a:spcAft>
            </a:pPr>
            <a:r>
              <a:rPr sz="1600" dirty="0">
                <a:latin typeface="Calibri"/>
              </a:rPr>
              <a:t>This slide shows one representative result.</a:t>
            </a:r>
          </a:p>
          <a:p>
            <a:pPr>
              <a:spcAft>
                <a:spcPts val="600"/>
              </a:spcAft>
            </a:pPr>
            <a:r>
              <a:rPr sz="1600" dirty="0">
                <a:latin typeface="Calibri"/>
              </a:rPr>
              <a:t>Both the spacecraft temperature and the thermal LOS vary approximately with the orbital period.</a:t>
            </a:r>
          </a:p>
          <a:p>
            <a:pPr>
              <a:spcAft>
                <a:spcPts val="600"/>
              </a:spcAft>
            </a:pPr>
            <a:r>
              <a:rPr sz="1600" dirty="0">
                <a:latin typeface="Calibri"/>
              </a:rPr>
              <a:t>We also found that the dominant LOS axis depends strongly on the sun-facing panel.</a:t>
            </a:r>
          </a:p>
          <a:p>
            <a:pPr>
              <a:spcAft>
                <a:spcPts val="600"/>
              </a:spcAft>
            </a:pPr>
            <a:r>
              <a:rPr sz="1600" dirty="0">
                <a:latin typeface="Calibri"/>
              </a:rPr>
              <a:t>For MY and PY sun-facing cases, the dominant variation appears mainly in the y direction, while MX and PX mainly affect the x direction.</a:t>
            </a:r>
          </a:p>
          <a:p>
            <a:pPr>
              <a:spcAft>
                <a:spcPts val="600"/>
              </a:spcAft>
            </a:pPr>
            <a:r>
              <a:rPr sz="1600" dirty="0">
                <a:latin typeface="Calibri"/>
              </a:rPr>
              <a:t>Most importantly, the time-varying thermal LOS closely follows the temperature difference between the sun-facing panel and the opposite panel.</a:t>
            </a:r>
          </a:p>
          <a:p>
            <a:pPr>
              <a:spcAft>
                <a:spcPts val="600"/>
              </a:spcAft>
            </a:pPr>
            <a:r>
              <a:rPr sz="1600" dirty="0">
                <a:latin typeface="Calibri"/>
              </a:rPr>
              <a:t>Across all cases, the raw thermal LOS ranges from approximately 150 to 1280 microradians.</a:t>
            </a:r>
          </a:p>
          <a:p>
            <a:pPr>
              <a:spcAft>
                <a:spcPts val="600"/>
              </a:spcAft>
            </a:pPr>
            <a:r>
              <a:rPr sz="1600" dirty="0">
                <a:latin typeface="Calibri"/>
              </a:rPr>
              <a:t>We also observed that the surface thermal condition mainly affects the time-varying amplitude, while internal dissipation mainly shifts the mean bias.</a:t>
            </a:r>
          </a:p>
          <a:p>
            <a:pPr>
              <a:spcAft>
                <a:spcPts val="600"/>
              </a:spcAft>
            </a:pPr>
            <a:r>
              <a:rPr sz="1600" dirty="0">
                <a:latin typeface="Calibri"/>
              </a:rPr>
              <a:t>This observation motivates the reduced-order model shown next.</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F6780-497A-6364-27F0-BAAA41BE4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80E1EB-8B2C-7D4E-E84D-EDCF197FFEA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F4A9AB9-36A8-2B43-5763-BF0F4B81836D}"/>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E619A70E-5124-D353-8FBE-D5530B989FC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7346772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For onboard use, the model has to be much simpler than the full Thermal Desktop and </a:t>
            </a:r>
            <a:r>
              <a:rPr sz="1600" dirty="0" err="1">
                <a:latin typeface="Calibri"/>
              </a:rPr>
              <a:t>Femap</a:t>
            </a:r>
            <a:r>
              <a:rPr sz="1600" dirty="0">
                <a:latin typeface="Calibri"/>
              </a:rPr>
              <a:t> analysis.</a:t>
            </a:r>
          </a:p>
          <a:p>
            <a:pPr>
              <a:spcAft>
                <a:spcPts val="600"/>
              </a:spcAft>
            </a:pPr>
            <a:r>
              <a:rPr sz="1600" dirty="0">
                <a:latin typeface="Calibri"/>
              </a:rPr>
              <a:t>It should use only a small number of temperature measurements and operating-state flags, with a small fixed set of coefficients.</a:t>
            </a:r>
          </a:p>
          <a:p>
            <a:pPr>
              <a:spcAft>
                <a:spcPts val="600"/>
              </a:spcAft>
            </a:pPr>
            <a:r>
              <a:rPr lang="en-US" sz="1600" dirty="0">
                <a:latin typeface="Calibri"/>
              </a:rPr>
              <a:t>After w</a:t>
            </a:r>
            <a:r>
              <a:rPr sz="1600" dirty="0">
                <a:latin typeface="Calibri"/>
              </a:rPr>
              <a:t>e examined several candidate </a:t>
            </a:r>
            <a:r>
              <a:rPr lang="en-US" sz="1600" dirty="0">
                <a:latin typeface="Calibri"/>
              </a:rPr>
              <a:t>reduced-order </a:t>
            </a:r>
            <a:r>
              <a:rPr sz="1600" dirty="0">
                <a:latin typeface="Calibri"/>
              </a:rPr>
              <a:t>models</a:t>
            </a:r>
            <a:r>
              <a:rPr lang="en-US" sz="1600" dirty="0">
                <a:latin typeface="Calibri"/>
              </a:rPr>
              <a:t>,</a:t>
            </a:r>
            <a:r>
              <a:rPr sz="1600" dirty="0">
                <a:latin typeface="Calibri"/>
              </a:rPr>
              <a:t> we selected a hierarchical temperature-difference model.</a:t>
            </a:r>
          </a:p>
          <a:p>
            <a:pPr>
              <a:spcAft>
                <a:spcPts val="600"/>
              </a:spcAft>
            </a:pPr>
            <a:r>
              <a:rPr sz="1600" dirty="0">
                <a:latin typeface="Calibri"/>
              </a:rPr>
              <a:t>The basic idea is to separate the time-varying thermal component within an orbit from the mean bias that changes across operating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pPr>
              <a:spcAft>
                <a:spcPts val="600"/>
              </a:spcAft>
            </a:pPr>
            <a:r>
              <a:rPr sz="1600" dirty="0">
                <a:latin typeface="Calibri"/>
              </a:rPr>
              <a:t>This is the core prediction model.</a:t>
            </a:r>
          </a:p>
          <a:p>
            <a:pPr>
              <a:spcAft>
                <a:spcPts val="600"/>
              </a:spcAft>
            </a:pPr>
            <a:r>
              <a:rPr sz="1600" dirty="0">
                <a:latin typeface="Calibri"/>
              </a:rPr>
              <a:t>The coefficients of this model are identified on the ground from the thermo-structural simulation database.</a:t>
            </a:r>
          </a:p>
          <a:p>
            <a:pPr>
              <a:spcAft>
                <a:spcPts val="600"/>
              </a:spcAft>
            </a:pPr>
            <a:r>
              <a:rPr sz="1600" dirty="0">
                <a:latin typeface="Calibri"/>
              </a:rPr>
              <a:t>For the dominant LOS axis, the time-varying component is modeled as a linear function of the temperature difference between the sun-facing panel and the opposite panel.</a:t>
            </a:r>
          </a:p>
          <a:p>
            <a:pPr>
              <a:spcAft>
                <a:spcPts val="600"/>
              </a:spcAft>
            </a:pPr>
            <a:r>
              <a:rPr sz="1600" dirty="0">
                <a:latin typeface="Calibri"/>
              </a:rPr>
              <a:t>The thermal sensitivity, a, is shared among cases with the same sun-facing panel.</a:t>
            </a:r>
          </a:p>
          <a:p>
            <a:pPr>
              <a:spcAft>
                <a:spcPts val="600"/>
              </a:spcAft>
            </a:pPr>
            <a:r>
              <a:rPr sz="1600" dirty="0">
                <a:latin typeface="Calibri"/>
              </a:rPr>
              <a:t>The remaining DC offset, b, is modeled using the sun-facing panel and equipment ON/OFF states.</a:t>
            </a:r>
          </a:p>
          <a:p>
            <a:pPr>
              <a:spcAft>
                <a:spcPts val="600"/>
              </a:spcAft>
            </a:pPr>
            <a:r>
              <a:rPr sz="1600" dirty="0">
                <a:latin typeface="Calibri"/>
              </a:rPr>
              <a:t>So, in simple terms, the panel temperature difference explains the variation within an orbit, while the operating state explains the offset between different cases.</a:t>
            </a:r>
          </a:p>
          <a:p>
            <a:pPr>
              <a:spcAft>
                <a:spcPts val="600"/>
              </a:spcAft>
            </a:pPr>
            <a:r>
              <a:rPr sz="1600" dirty="0">
                <a:latin typeface="Calibri"/>
              </a:rPr>
              <a:t>For the non-dominant axis, only the bias component is predicted.</a:t>
            </a:r>
          </a:p>
          <a:p>
            <a:pPr>
              <a:spcAft>
                <a:spcPts val="600"/>
              </a:spcAft>
            </a:pPr>
            <a:r>
              <a:rPr sz="1600" dirty="0">
                <a:latin typeface="Calibri"/>
              </a:rPr>
              <a:t>The complete model uses only 16 coefficients for this spacecraft structure, STT–LCT placement, and LOS definition.</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Let me briefly explain how the coefficients a and b are determined.</a:t>
            </a:r>
          </a:p>
          <a:p>
            <a:pPr>
              <a:spcAft>
                <a:spcPts val="600"/>
              </a:spcAft>
            </a:pPr>
            <a:r>
              <a:rPr sz="1600">
                <a:latin typeface="Calibri"/>
              </a:rPr>
              <a:t>First, for each analysis case, we use the first orbit to fit the relationship between the panel temperature difference and the thermal LOS.</a:t>
            </a:r>
          </a:p>
          <a:p>
            <a:pPr>
              <a:spcAft>
                <a:spcPts val="600"/>
              </a:spcAft>
            </a:pPr>
            <a:r>
              <a:rPr sz="1600">
                <a:latin typeface="Calibri"/>
              </a:rPr>
              <a:t>This gives a case-specific thermal sensitivity, a, and a mean offset, b.</a:t>
            </a:r>
          </a:p>
          <a:p>
            <a:pPr>
              <a:spcAft>
                <a:spcPts val="600"/>
              </a:spcAft>
            </a:pPr>
            <a:r>
              <a:rPr sz="1600">
                <a:latin typeface="Calibri"/>
              </a:rPr>
              <a:t>Next, the thermal sensitivity a is shared across cases with the same sun-facing panel.</a:t>
            </a:r>
          </a:p>
          <a:p>
            <a:pPr>
              <a:spcAft>
                <a:spcPts val="600"/>
              </a:spcAft>
            </a:pPr>
            <a:r>
              <a:rPr sz="1600">
                <a:latin typeface="Calibri"/>
              </a:rPr>
              <a:t>We use the median sensitivity of those cases as the shared coefficient.</a:t>
            </a:r>
          </a:p>
          <a:p>
            <a:pPr>
              <a:spcAft>
                <a:spcPts val="600"/>
              </a:spcAft>
            </a:pPr>
            <a:r>
              <a:rPr sz="1600">
                <a:latin typeface="Calibri"/>
              </a:rPr>
              <a:t>The mean offset b is treated differently.</a:t>
            </a:r>
          </a:p>
          <a:p>
            <a:pPr>
              <a:spcAft>
                <a:spcPts val="600"/>
              </a:spcAft>
            </a:pPr>
            <a:r>
              <a:rPr sz="1600">
                <a:latin typeface="Calibri"/>
              </a:rPr>
              <a:t>Instead of assigning an independent offset to every case, we model it using the sun-facing panel and equipment ON/OFF states.</a:t>
            </a:r>
          </a:p>
          <a:p>
            <a:pPr>
              <a:spcAft>
                <a:spcPts val="600"/>
              </a:spcAft>
            </a:pPr>
            <a:r>
              <a:rPr sz="1600">
                <a:latin typeface="Calibri"/>
              </a:rPr>
              <a:t>Therefore, the final onboard model does not require independent coefficients for every operating condition.</a:t>
            </a:r>
          </a:p>
          <a:p>
            <a:pPr>
              <a:spcAft>
                <a:spcPts val="600"/>
              </a:spcAft>
            </a:pPr>
            <a:r>
              <a:rPr sz="1600">
                <a:latin typeface="Calibri"/>
              </a:rPr>
              <a:t>To evaluate prediction under unseen conditions, we use a nested leave-one-case-out procedure.</a:t>
            </a:r>
          </a:p>
          <a:p>
            <a:pPr>
              <a:spcAft>
                <a:spcPts val="600"/>
              </a:spcAft>
            </a:pPr>
            <a:r>
              <a:rPr sz="1600">
                <a:latin typeface="Calibri"/>
              </a:rPr>
              <a:t>The test case is completely excluded from both the shared thermal-sensitivity estimation and the DC-bias model.</a:t>
            </a:r>
          </a:p>
          <a:p>
            <a:pPr>
              <a:spcAft>
                <a:spcPts val="600"/>
              </a:spcAft>
            </a:pPr>
            <a:r>
              <a:rPr sz="1600">
                <a:latin typeface="Calibri"/>
              </a:rPr>
              <a:t>Then, using only the fixed coefficients obtained from the remaining cases, we predict the excluded case and evaluate its next two orbits.</a:t>
            </a:r>
          </a:p>
          <a:p>
            <a:pPr>
              <a:spcAft>
                <a:spcPts val="600"/>
              </a:spcAft>
            </a:pPr>
            <a:r>
              <a:rPr sz="1600">
                <a:latin typeface="Calibri"/>
              </a:rPr>
              <a:t>So, this evaluates generalization to an unseen operating condition within the same spacecraft configuration.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 prediction results are shown here.</a:t>
            </a:r>
          </a:p>
          <a:p>
            <a:pPr>
              <a:spcAft>
                <a:spcPts val="600"/>
              </a:spcAft>
            </a:pPr>
            <a:r>
              <a:rPr sz="1600" dirty="0">
                <a:latin typeface="Calibri"/>
              </a:rPr>
              <a:t>Before correction, the median RMS thermal LOS on the dominant axis is about 615 microradians.</a:t>
            </a:r>
          </a:p>
          <a:p>
            <a:pPr>
              <a:spcAft>
                <a:spcPts val="600"/>
              </a:spcAft>
            </a:pPr>
            <a:r>
              <a:rPr sz="1600" dirty="0">
                <a:latin typeface="Calibri"/>
              </a:rPr>
              <a:t>For unseen operating conditions, the median test RMSE decreases to only 4.9 microradians, with a mean value of 5.5 microradians.</a:t>
            </a:r>
          </a:p>
          <a:p>
            <a:pPr>
              <a:spcAft>
                <a:spcPts val="600"/>
              </a:spcAft>
            </a:pPr>
            <a:r>
              <a:rPr sz="1600" dirty="0">
                <a:latin typeface="Calibri"/>
              </a:rPr>
              <a:t>The case-dependent DC bias is also predicted with a leave-one</a:t>
            </a:r>
            <a:r>
              <a:rPr lang="en-US" sz="1600" dirty="0">
                <a:latin typeface="Calibri"/>
              </a:rPr>
              <a:t>-case</a:t>
            </a:r>
            <a:r>
              <a:rPr sz="1600" dirty="0">
                <a:latin typeface="Calibri"/>
              </a:rPr>
              <a:t>-out RMSE of 3.8 microradians.</a:t>
            </a:r>
          </a:p>
          <a:p>
            <a:pPr>
              <a:spcAft>
                <a:spcPts val="600"/>
              </a:spcAft>
            </a:pPr>
            <a:r>
              <a:rPr sz="1600" dirty="0">
                <a:latin typeface="Calibri"/>
              </a:rPr>
              <a:t>Therefore, within the evaluated conditions, this relatively simple reduced-order model reduces the dominant thermal LOS error by approximately one to two orders of magnitude.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slide shows Case 08, which is one of the cases with the largest thermal LOS error.</a:t>
            </a:r>
          </a:p>
          <a:p>
            <a:pPr>
              <a:spcAft>
                <a:spcPts val="600"/>
              </a:spcAft>
            </a:pPr>
            <a:r>
              <a:rPr sz="1600">
                <a:latin typeface="Calibri"/>
              </a:rPr>
              <a:t>The raw dominant-axis thermal LOS RMS is about 1250 microradians.</a:t>
            </a:r>
          </a:p>
          <a:p>
            <a:pPr>
              <a:spcAft>
                <a:spcPts val="600"/>
              </a:spcAft>
            </a:pPr>
            <a:r>
              <a:rPr sz="1600">
                <a:latin typeface="Calibri"/>
              </a:rPr>
              <a:t>Even though this case is excluded from coefficient estimation, the prediction RMSE is only 3.9 microradians.</a:t>
            </a:r>
          </a:p>
          <a:p>
            <a:pPr>
              <a:spcAft>
                <a:spcPts val="600"/>
              </a:spcAft>
            </a:pPr>
            <a:r>
              <a:rPr sz="1600">
                <a:latin typeface="Calibri"/>
              </a:rPr>
              <a:t>As shown in the time series, the panel temperature difference successfully follows the large within-orbit variation of the thermal LOS.</a:t>
            </a:r>
          </a:p>
          <a:p>
            <a:pPr>
              <a:spcAft>
                <a:spcPts val="600"/>
              </a:spcAft>
            </a:pPr>
            <a:r>
              <a:rPr sz="1600">
                <a:latin typeface="Calibri"/>
              </a:rPr>
              <a:t>This remaining error is already much smaller than the 150-microradian detection radius used in the coarse-acquisition simulation.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52224-2406-C2DC-2EDE-07ADBA512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6BD7CF-C364-ABAE-949B-31841A713D3D}"/>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AE6452E9-11E0-B4E7-2181-92EC8DC09D9F}"/>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00F27468-412A-D2BC-2F0A-FCA43543C94D}"/>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5766209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predicted thermal LOS is used directly to shift the center of the coarse-acquisition scan.</a:t>
            </a:r>
          </a:p>
          <a:p>
            <a:pPr>
              <a:spcAft>
                <a:spcPts val="600"/>
              </a:spcAft>
            </a:pPr>
            <a:r>
              <a:rPr sz="1600" dirty="0">
                <a:latin typeface="Calibri"/>
              </a:rPr>
              <a:t>The scan-center error consists of nonthermal pointing errors plus the difference between the true thermal LOS and the predicted thermal LOS.</a:t>
            </a:r>
          </a:p>
          <a:p>
            <a:pPr>
              <a:spcAft>
                <a:spcPts val="600"/>
              </a:spcAft>
            </a:pPr>
            <a:r>
              <a:rPr sz="1600" dirty="0">
                <a:latin typeface="Calibri"/>
              </a:rPr>
              <a:t>We use a simplified rectangular spiral scan.</a:t>
            </a:r>
          </a:p>
          <a:p>
            <a:pPr>
              <a:spcAft>
                <a:spcPts val="600"/>
              </a:spcAft>
            </a:pPr>
            <a:r>
              <a:rPr sz="1600" dirty="0">
                <a:latin typeface="Calibri"/>
              </a:rPr>
              <a:t>The scan range is plus or minus 1600 microradians, the scan step is 120 microradians, the detection radius is 150 microradians, and the dwell time is 0.1 seconds per point.</a:t>
            </a:r>
          </a:p>
          <a:p>
            <a:pPr>
              <a:spcAft>
                <a:spcPts val="600"/>
              </a:spcAft>
            </a:pPr>
            <a:r>
              <a:rPr sz="1600" dirty="0">
                <a:latin typeface="Calibri"/>
              </a:rPr>
              <a:t>Because half of the grid diagonal is smaller than the detection radius, the scan geometry has no coverage holes.</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In this numerical evaluation, inter-point motion, settling time, and probabilistic detection are neglected.</a:t>
            </a:r>
          </a:p>
          <a:p>
            <a:pPr>
              <a:spcAft>
                <a:spcPts val="600"/>
              </a:spcAft>
            </a:pPr>
            <a:r>
              <a:rPr sz="1600" dirty="0">
                <a:latin typeface="Calibri"/>
              </a:rPr>
              <a:t>Therefore, the absolute acquisition times should be interpreted as comparative values under the same scan conditions.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In addition to thermal LOS error, we include several nonthermal pointing-error components.</a:t>
            </a:r>
          </a:p>
          <a:p>
            <a:pPr>
              <a:spcAft>
                <a:spcPts val="600"/>
              </a:spcAft>
            </a:pPr>
            <a:r>
              <a:rPr sz="1600" dirty="0">
                <a:latin typeface="Calibri"/>
              </a:rPr>
              <a:t>The largest one is orbit-prediction error.</a:t>
            </a:r>
          </a:p>
          <a:p>
            <a:pPr>
              <a:spcAft>
                <a:spcPts val="600"/>
              </a:spcAft>
            </a:pPr>
            <a:r>
              <a:rPr sz="1600" dirty="0">
                <a:latin typeface="Calibri"/>
              </a:rPr>
              <a:t>We generate this error by propagating Sentinel-1 TLE data and comparing the predicted position with precise POEORB ephemeris data, and then projecting the resulting position error onto the link transverse plane.</a:t>
            </a:r>
          </a:p>
          <a:p>
            <a:pPr>
              <a:spcAft>
                <a:spcPts val="600"/>
              </a:spcAft>
            </a:pPr>
            <a:r>
              <a:rPr sz="1600" dirty="0">
                <a:latin typeface="Calibri"/>
              </a:rPr>
              <a:t>We also include a constant alignment error, random attitude error, and a low-frequency drift term.</a:t>
            </a:r>
          </a:p>
          <a:p>
            <a:pPr>
              <a:spcAft>
                <a:spcPts val="600"/>
              </a:spcAft>
            </a:pPr>
            <a:r>
              <a:rPr sz="1600" dirty="0">
                <a:latin typeface="Calibri"/>
              </a:rPr>
              <a:t>This is not intended to reproduce the exact pointing-error budget of a specific spacecraft.</a:t>
            </a:r>
          </a:p>
          <a:p>
            <a:pPr>
              <a:spcAft>
                <a:spcPts val="600"/>
              </a:spcAft>
            </a:pPr>
            <a:r>
              <a:rPr sz="1600" dirty="0">
                <a:latin typeface="Calibri"/>
              </a:rPr>
              <a:t>Instead, it represents a generic small-LEO scenario without high-accuracy GNSS-based onboard orbit knowledge.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I show the acquisition result when only thermal LOS error is included.</a:t>
            </a:r>
          </a:p>
          <a:p>
            <a:pPr>
              <a:spcAft>
                <a:spcPts val="600"/>
              </a:spcAft>
            </a:pPr>
            <a:r>
              <a:rPr sz="1600" dirty="0">
                <a:latin typeface="Calibri"/>
              </a:rPr>
              <a:t>Without correction, the mean acquisition time is 14.6 seconds.</a:t>
            </a:r>
          </a:p>
          <a:p>
            <a:pPr>
              <a:spcAft>
                <a:spcPts val="600"/>
              </a:spcAft>
            </a:pPr>
            <a:r>
              <a:rPr sz="1600" dirty="0">
                <a:latin typeface="Calibri"/>
              </a:rPr>
              <a:t>With the hierarchical reduced-order model, the mean acquisition time decreases to 0.10 seconds.</a:t>
            </a:r>
          </a:p>
          <a:p>
            <a:pPr>
              <a:spcAft>
                <a:spcPts val="600"/>
              </a:spcAft>
            </a:pPr>
            <a:r>
              <a:rPr sz="1600" dirty="0">
                <a:latin typeface="Calibri"/>
              </a:rPr>
              <a:t>This is the same acquisition time obtained when the true thermal LOS is directly removed.</a:t>
            </a:r>
          </a:p>
          <a:p>
            <a:pPr>
              <a:spcAft>
                <a:spcPts val="600"/>
              </a:spcAft>
            </a:pPr>
            <a:r>
              <a:rPr sz="1600" dirty="0">
                <a:latin typeface="Calibri"/>
              </a:rPr>
              <a:t>However, this does not mean that the predicted waveform is perfectly identical to the thermal truth.</a:t>
            </a:r>
          </a:p>
          <a:p>
            <a:pPr>
              <a:spcAft>
                <a:spcPts val="600"/>
              </a:spcAft>
            </a:pPr>
            <a:r>
              <a:rPr sz="1600" dirty="0">
                <a:latin typeface="Calibri"/>
              </a:rPr>
              <a:t>It simply means that the remaining thermal residual, about 9 microradians on average, is already well inside the 150-microradian detection radius.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I show the acquisition result when the nonthermal errors are included.</a:t>
            </a:r>
          </a:p>
          <a:p>
            <a:pPr marL="0" marR="0" lvl="0" indent="0" algn="l" defTabSz="914400" rtl="0" eaLnBrk="1" fontAlgn="auto" latinLnBrk="0" hangingPunct="1">
              <a:lnSpc>
                <a:spcPct val="100000"/>
              </a:lnSpc>
              <a:spcBef>
                <a:spcPts val="0"/>
              </a:spcBef>
              <a:spcAft>
                <a:spcPts val="600"/>
              </a:spcAft>
              <a:buClrTx/>
              <a:buSzTx/>
              <a:buFontTx/>
              <a:buNone/>
              <a:tabLst/>
              <a:defRPr/>
            </a:pPr>
            <a:endParaRPr sz="1600" dirty="0">
              <a:latin typeface="Calibri"/>
            </a:endParaRPr>
          </a:p>
          <a:p>
            <a:pPr>
              <a:spcAft>
                <a:spcPts val="600"/>
              </a:spcAft>
            </a:pPr>
            <a:r>
              <a:rPr sz="1600" dirty="0">
                <a:latin typeface="Calibri"/>
              </a:rPr>
              <a:t>Without thermal correction, the mean acquisition time is 19.2 seconds, with a success rate of 98 percent.</a:t>
            </a:r>
          </a:p>
          <a:p>
            <a:pPr>
              <a:spcAft>
                <a:spcPts val="600"/>
              </a:spcAft>
            </a:pPr>
            <a:r>
              <a:rPr sz="1600" dirty="0">
                <a:latin typeface="Calibri"/>
              </a:rPr>
              <a:t>With the feedforward thermal correction, the mean acquisition time decreases to 5.45 seconds.</a:t>
            </a:r>
          </a:p>
          <a:p>
            <a:pPr>
              <a:spcAft>
                <a:spcPts val="600"/>
              </a:spcAft>
            </a:pPr>
            <a:r>
              <a:rPr sz="1600" dirty="0">
                <a:latin typeface="Calibri"/>
              </a:rPr>
              <a:t>This corresponds to a 72 percent reduction, and the success rate increases to 100 percent.</a:t>
            </a:r>
          </a:p>
          <a:p>
            <a:pPr>
              <a:spcAft>
                <a:spcPts val="600"/>
              </a:spcAft>
            </a:pPr>
            <a:r>
              <a:rPr sz="1600" dirty="0">
                <a:latin typeface="Calibri"/>
              </a:rPr>
              <a:t>For the PY sun-facing cases, where the thermal LOS reaches approximately 1.2 milliradians, the acquisition time decreases from around 40 seconds to approximately 1 to 2 seconds.</a:t>
            </a:r>
          </a:p>
          <a:p>
            <a:pPr>
              <a:spcAft>
                <a:spcPts val="600"/>
              </a:spcAft>
            </a:pPr>
            <a:r>
              <a:rPr sz="1600" dirty="0">
                <a:latin typeface="Calibri"/>
              </a:rPr>
              <a:t>After correction, the remaining initial pointing error is about 448 microradians and is almost entirely determined by the nonthermal components.</a:t>
            </a:r>
          </a:p>
          <a:p>
            <a:pPr>
              <a:spcAft>
                <a:spcPts val="600"/>
              </a:spcAft>
            </a:pPr>
            <a:r>
              <a:rPr sz="1600" dirty="0">
                <a:latin typeface="Calibri"/>
              </a:rPr>
              <a:t>Therefore, the role of this method is not to eliminate every pointing error.</a:t>
            </a:r>
          </a:p>
          <a:p>
            <a:pPr>
              <a:spcAft>
                <a:spcPts val="600"/>
              </a:spcAft>
            </a:pPr>
            <a:r>
              <a:rPr sz="1600" dirty="0">
                <a:latin typeface="Calibri"/>
              </a:rPr>
              <a:t>Instead, it removes the predictable thermal component before optical feedback becomes available, shifting the dominant acquisition limitation from thermal error to nonthermal error.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Finally, as a preliminary extension, we also examined the use of post-acquisition pointing residuals for repeated links.</a:t>
            </a:r>
          </a:p>
          <a:p>
            <a:pPr>
              <a:spcAft>
                <a:spcPts val="600"/>
              </a:spcAft>
            </a:pPr>
            <a:r>
              <a:rPr sz="1600">
                <a:latin typeface="Calibri"/>
              </a:rPr>
              <a:t>For the first acquisition, temperature-based prediction is important because previous optical residuals may not be available.</a:t>
            </a:r>
          </a:p>
          <a:p>
            <a:pPr>
              <a:spcAft>
                <a:spcPts val="600"/>
              </a:spcAft>
            </a:pPr>
            <a:r>
              <a:rPr sz="1600">
                <a:latin typeface="Calibri"/>
              </a:rPr>
              <a:t>After successful acquisition, however, periodic information contained in the residual can be used to reduce the remaining error in later orbits.</a:t>
            </a:r>
          </a:p>
          <a:p>
            <a:pPr>
              <a:spcAft>
                <a:spcPts val="600"/>
              </a:spcAft>
            </a:pPr>
            <a:r>
              <a:rPr sz="1600">
                <a:latin typeface="Calibri"/>
              </a:rPr>
              <a:t>In the two numerical cases shown here, combining the feedforward thermal model with a Fourier model of the residual reduces later-orbit acquisition time further.</a:t>
            </a:r>
          </a:p>
          <a:p>
            <a:pPr>
              <a:spcAft>
                <a:spcPts val="600"/>
              </a:spcAft>
            </a:pPr>
            <a:r>
              <a:rPr sz="1600">
                <a:latin typeface="Calibri"/>
              </a:rPr>
              <a:t>However, this is only a preliminary study.</a:t>
            </a:r>
          </a:p>
          <a:p>
            <a:pPr>
              <a:spcAft>
                <a:spcPts val="600"/>
              </a:spcAft>
            </a:pPr>
            <a:r>
              <a:rPr sz="1600">
                <a:latin typeface="Calibri"/>
              </a:rPr>
              <a:t>The thermal-model coefficients themselves are not updated, and the analysis currently uses only two cases with densely sampled residual data.</a:t>
            </a:r>
          </a:p>
          <a:p>
            <a:pPr>
              <a:spcAft>
                <a:spcPts val="600"/>
              </a:spcAft>
            </a:pPr>
            <a:r>
              <a:rPr sz="1600">
                <a:latin typeface="Calibri"/>
              </a:rPr>
              <a:t>Therefore, the primary result of this work remains the pre-acquisition feedforward correction based on temperature and operating-state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6B410-D6C4-C29F-898B-168C6677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5F61FE-FA76-3670-970E-48BE36541DFE}"/>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9639460-F670-4213-1C95-B03C1CB9A504}"/>
              </a:ext>
            </a:extLst>
          </p:cNvPr>
          <p:cNvSpPr>
            <a:spLocks noGrp="1"/>
          </p:cNvSpPr>
          <p:nvPr>
            <p:ph type="body" sz="quarter" idx="3"/>
          </p:nvPr>
        </p:nvSpPr>
        <p:spPr/>
        <p:txBody>
          <a:bodyPr/>
          <a:lstStyle/>
          <a:p>
            <a:pPr>
              <a:spcAft>
                <a:spcPts val="600"/>
              </a:spcAft>
            </a:pPr>
            <a:r>
              <a:rPr sz="1600">
                <a:latin typeface="Calibri"/>
              </a:rPr>
              <a:t>First, I will briefly explain the background and motivation of this study.</a:t>
            </a:r>
          </a:p>
        </p:txBody>
      </p:sp>
      <p:sp>
        <p:nvSpPr>
          <p:cNvPr id="4" name="Slide Number Placeholder 3">
            <a:extLst>
              <a:ext uri="{FF2B5EF4-FFF2-40B4-BE49-F238E27FC236}">
                <a16:creationId xmlns:a16="http://schemas.microsoft.com/office/drawing/2014/main" id="{2B2322B1-6D4A-1828-04E7-5055022E0EBB}"/>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5022003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To summarize, we treated thermal deformation as a predictable time-varying LOS bias before coarse acquisition.</a:t>
            </a:r>
          </a:p>
          <a:p>
            <a:pPr>
              <a:spcAft>
                <a:spcPts val="600"/>
              </a:spcAft>
            </a:pPr>
            <a:r>
              <a:rPr sz="1600" dirty="0">
                <a:latin typeface="Calibri"/>
              </a:rPr>
              <a:t>First, using panel temperature differences and operating-state information, the median dominant-axis thermal LOS error for unseen operating conditions was reduced from about 615 microradians to 4.9 microradians.</a:t>
            </a:r>
          </a:p>
          <a:p>
            <a:pPr>
              <a:spcAft>
                <a:spcPts val="600"/>
              </a:spcAft>
            </a:pPr>
            <a:r>
              <a:rPr lang="en-US" sz="1600" dirty="0">
                <a:latin typeface="Calibri"/>
              </a:rPr>
              <a:t>Second</a:t>
            </a:r>
            <a:r>
              <a:rPr sz="1600" dirty="0">
                <a:latin typeface="Calibri"/>
              </a:rPr>
              <a:t>, even when nonthermal errors were included, the mean acquisition time decreased from 19.2 seconds to 5.45 seconds, while the success rate increased from 98 percent to 100 percent.</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The main contribution of this work is to predict the STT–LCT relative LOS across the spacecraft bus using a model that generalizes across multiple operating conditions, and to directly connect that prediction to coarse-acquisition performance.</a:t>
            </a:r>
          </a:p>
          <a:p>
            <a:pPr>
              <a:spcAft>
                <a:spcPts val="600"/>
              </a:spcAft>
            </a:pPr>
            <a:r>
              <a:rPr sz="1600" dirty="0">
                <a:latin typeface="Calibri"/>
              </a:rPr>
              <a:t>By removing the predictable thermal component before optical feedback becomes available, the remaining acquisition problem becomes dominated by nonthermal errors.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There are several limitations to the current study.</a:t>
            </a:r>
          </a:p>
          <a:p>
            <a:pPr>
              <a:spcAft>
                <a:spcPts val="600"/>
              </a:spcAft>
            </a:pPr>
            <a:r>
              <a:rPr sz="1600" dirty="0">
                <a:latin typeface="Calibri"/>
              </a:rPr>
              <a:t>First, the validation is entirely numerical and is limited to the same spacecraft structure and LOS definition.</a:t>
            </a:r>
          </a:p>
          <a:p>
            <a:pPr>
              <a:spcAft>
                <a:spcPts val="600"/>
              </a:spcAft>
            </a:pPr>
            <a:r>
              <a:rPr sz="1600" dirty="0">
                <a:latin typeface="Calibri"/>
              </a:rPr>
              <a:t>Second, ground-test validation has not yet been performed, so the flight relevance of the thermo-structural model and the identified thermal sensitivities remains to be demonstrated.</a:t>
            </a:r>
          </a:p>
          <a:p>
            <a:pPr>
              <a:spcAft>
                <a:spcPts val="600"/>
              </a:spcAft>
            </a:pPr>
            <a:r>
              <a:rPr sz="1600" dirty="0">
                <a:latin typeface="Calibri"/>
              </a:rPr>
              <a:t>Third, the LOS is calculated using representative-node rotations.</a:t>
            </a:r>
          </a:p>
          <a:p>
            <a:pPr>
              <a:spcAft>
                <a:spcPts val="600"/>
              </a:spcAft>
            </a:pPr>
            <a:r>
              <a:rPr sz="1600" dirty="0">
                <a:latin typeface="Calibri"/>
              </a:rPr>
              <a:t>A rigid-body fit of the mounting interface and internal thermal deformation of the STT and LCT are not included.</a:t>
            </a:r>
          </a:p>
          <a:p>
            <a:pPr>
              <a:spcAft>
                <a:spcPts val="600"/>
              </a:spcAft>
            </a:pPr>
            <a:r>
              <a:rPr sz="1600" dirty="0">
                <a:latin typeface="Calibri"/>
              </a:rPr>
              <a:t>Finally, the acquisition simulation uses one nonthermal-error realization and simplified scan dynamics.</a:t>
            </a:r>
          </a:p>
          <a:p>
            <a:pPr>
              <a:spcAft>
                <a:spcPts val="600"/>
              </a:spcAft>
            </a:pPr>
            <a:endParaRPr sz="1600" dirty="0">
              <a:latin typeface="Calibri"/>
            </a:endParaRPr>
          </a:p>
          <a:p>
            <a:pPr>
              <a:spcAft>
                <a:spcPts val="600"/>
              </a:spcAft>
            </a:pPr>
            <a:r>
              <a:rPr sz="1600" dirty="0">
                <a:latin typeface="Calibri"/>
              </a:rPr>
              <a:t>There are three main directions for future work.</a:t>
            </a:r>
          </a:p>
          <a:p>
            <a:pPr>
              <a:spcAft>
                <a:spcPts val="600"/>
              </a:spcAft>
            </a:pPr>
            <a:r>
              <a:rPr sz="1600" dirty="0">
                <a:latin typeface="Calibri"/>
              </a:rPr>
              <a:t>First, we plan to validate the thermo-structural sensitivities through ground thermal testing.</a:t>
            </a:r>
          </a:p>
          <a:p>
            <a:pPr>
              <a:spcAft>
                <a:spcPts val="600"/>
              </a:spcAft>
            </a:pPr>
            <a:r>
              <a:rPr sz="1600" dirty="0">
                <a:latin typeface="Calibri"/>
              </a:rPr>
              <a:t>Second, for application to an actual spacecraft, the coefficients must be re-identified for the real structure and mounting configuration, while we investigate whether the same model structure can be retained.</a:t>
            </a:r>
          </a:p>
          <a:p>
            <a:pPr marL="0" marR="0" lvl="0" indent="0" algn="l" defTabSz="914400" rtl="0" eaLnBrk="1" fontAlgn="auto" latinLnBrk="0" hangingPunct="1">
              <a:lnSpc>
                <a:spcPct val="100000"/>
              </a:lnSpc>
              <a:spcBef>
                <a:spcPts val="0"/>
              </a:spcBef>
              <a:spcAft>
                <a:spcPts val="600"/>
              </a:spcAft>
              <a:buClrTx/>
              <a:buSzTx/>
              <a:buFontTx/>
              <a:buNone/>
              <a:tabLst/>
              <a:defRPr/>
            </a:pPr>
            <a:r>
              <a:rPr sz="1600" dirty="0">
                <a:latin typeface="Calibri"/>
              </a:rPr>
              <a:t>Third, after successful acquisition, optical pointing residuals could be used to adapt or update the prediction for repeated links.</a:t>
            </a:r>
            <a:br>
              <a:rPr lang="en-US" sz="1600" dirty="0">
                <a:latin typeface="Calibri"/>
              </a:rPr>
            </a:br>
            <a:br>
              <a:rPr lang="en-US" sz="1600" dirty="0">
                <a:latin typeface="Calibri"/>
              </a:rPr>
            </a:br>
            <a:r>
              <a:rPr lang="en-US" altLang="ja-JP" sz="1600" dirty="0">
                <a:latin typeface="Calibri"/>
              </a:rPr>
              <a:t>Thank you very much for your attention.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被覆や半電力を聞かれたときの枚。発熱の係数を太陽面に依らず共有している点は、まだ検証していないと正直に言う。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聞かれたら、平均だけを引いた列は未計算だと答える。7月の静的バイアス補正の秒は、点間隔40 µrad・検出半径25 µradの旧走査のもので、今日の条件では比較にならない。</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何が新しいのかを聞かれたときの枚。予測するか、捕捉時間まで見るか、の2軸で置く。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5月に出たモデルの妥当性の問いへの答え。同じ解析の中の評価であることを認めた上で、地上試験で感度を確かめる筋を示す。</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姿勢の頻度を聞かれたときの枚。ケース内で太陽面を固定している前提を先に言い、変わる場合は別解析が要ると答える。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5月に構想した適応補正がどこまで進んだかを聞かれたときの枚。本編Slide 21の数値の全文。</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旧い秒を聞かれたときの手元用。5月は2.43 s → 0.74 s・成功率97.5%で仮想バイアス。7月光RGは124.6 s と 156.9 → 59.6 s で、点間隔40 µrad・検出半径25 µradの密走査。8月16日のメモは12.1 s と 16.3 → 4.75 s で17ケース集計。いずれも走査条件かケース集合が今日と違う。</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atin typeface="Arial" panose="020B0604020202020204" pitchFamily="34" charset="0"/>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latin typeface="Arial" panose="020B0604020202020204" pitchFamily="34" charset="0"/>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923E69BD-F0A9-D945-85B5-A92D8C4A6243}" type="datetime1">
              <a:rPr kumimoji="1" lang="en-US" altLang="ja-JP" smtClean="0"/>
              <a:pPr/>
              <a:t>2026/10/12</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latin typeface="Arial" panose="020B0604020202020204" pitchFamily="34" charset="0"/>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latin typeface="Arial" panose="020B0604020202020204" pitchFamily="34" charset="0"/>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B9E95FB-2235-2F42-91D0-8B9F16BE7B80}" type="datetime1">
              <a:rPr kumimoji="1" lang="en-US" altLang="ja-JP" smtClean="0"/>
              <a:pPr/>
              <a:t>2026/10/12</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Arial" panose="020B0604020202020204" pitchFamily="34" charset="0"/>
                <a:ea typeface="Yu Gothic" panose="020B0400000000000000" pitchFamily="34" charset="-128"/>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CB8ED544-ACEE-1142-A4DF-052F81DCAF13}" type="datetime1">
              <a:rPr kumimoji="1" lang="en-US" altLang="ja-JP" smtClean="0"/>
              <a:pPr/>
              <a:t>2026/10/12</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55A8DA76-1C10-5547-91CE-253BD16E32D7}" type="datetime1">
              <a:rPr kumimoji="1" lang="en-US" altLang="ja-JP" smtClean="0"/>
              <a:pPr/>
              <a:t>2026/10/12</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3DC3E895-CCE5-A241-A85F-670DB4C916C8}" type="datetime1">
              <a:rPr kumimoji="1" lang="en-US" altLang="ja-JP" smtClean="0"/>
              <a:pPr/>
              <a:t>2026/10/12</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9F4C7F2-45E9-0742-99C2-D62F245DFEC9}" type="datetime1">
              <a:rPr kumimoji="1" lang="en-US" altLang="ja-JP" smtClean="0"/>
              <a:pPr/>
              <a:t>2026/10/12</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9C579897-8C2A-CB44-93BE-9BFBC7559B74}" type="datetime1">
              <a:rPr kumimoji="1" lang="en-US" altLang="ja-JP" smtClean="0"/>
              <a:pPr/>
              <a:t>2026/10/12</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BA509540-48D4-DC4E-A020-784E13A6C686}" type="datetime1">
              <a:rPr kumimoji="1" lang="en-US" altLang="ja-JP" smtClean="0"/>
              <a:pPr/>
              <a:t>2026/10/12</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BA509540-48D4-DC4E-A020-784E13A6C686}" type="datetime1">
              <a:rPr kumimoji="1" lang="en-US" altLang="ja-JP" smtClean="0"/>
              <a:pPr/>
              <a:t>2026/10/12</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latin typeface="Arial" panose="020B0604020202020204" pitchFamily="34" charset="0"/>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7DD96E1F-697B-864D-A8BC-B9F203AEA5AC}" type="datetime1">
              <a:rPr kumimoji="1" lang="en-US" altLang="ja-JP" smtClean="0"/>
              <a:pPr/>
              <a:t>2026/10/12</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33846FE-1092-FD42-9AC0-B69E5809E0EF}" type="datetime1">
              <a:rPr kumimoji="1" lang="en-US" altLang="ja-JP" smtClean="0"/>
              <a:pPr/>
              <a:t>2026/10/12</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lvl1pPr>
              <a:defRPr>
                <a:latin typeface="Arial" panose="020B0604020202020204" pitchFamily="34" charset="0"/>
              </a:defRPr>
            </a:lvl1pPr>
          </a:lstStyle>
          <a:p>
            <a:fld id="{7A6230E5-DC19-8048-9011-93E4E558FEAD}" type="datetime1">
              <a:rPr kumimoji="1" lang="en-US" altLang="ja-JP" smtClean="0"/>
              <a:pPr/>
              <a:t>2026/10/12</a:t>
            </a:fld>
            <a:endParaRPr kumimoji="1" lang="en-US" altLang="ja-JP" dirty="0"/>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latin typeface="Arial" panose="020B0604020202020204" pitchFamily="34" charset="0"/>
              </a:defRPr>
            </a:lvl1pPr>
          </a:lstStyle>
          <a:p>
            <a:fld id="{7A6230E5-DC19-8048-9011-93E4E558FEAD}" type="datetime1">
              <a:rPr kumimoji="1" lang="en-US" altLang="ja-JP" smtClean="0"/>
              <a:pPr/>
              <a:t>2026/10/12</a:t>
            </a:fld>
            <a:endParaRPr kumimoji="1" lang="en-US" altLang="ja-JP" dirty="0">
              <a:latin typeface="Arial" panose="020B0604020202020204" pitchFamily="34" charset="0"/>
            </a:endParaRPr>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latin typeface="Arial" panose="020B0604020202020204" pitchFamily="34" charset="0"/>
              </a:defRPr>
            </a:lvl1pPr>
          </a:lstStyle>
          <a:p>
            <a:fld id="{E67BFEE9-6A35-CF42-A39A-CD481C3507E3}" type="slidenum">
              <a:rPr kumimoji="1" lang="en-US" altLang="ja-JP" smtClean="0"/>
              <a:pPr/>
              <a:t>‹#›</a:t>
            </a:fld>
            <a:endParaRPr kumimoji="1" lang="en-US" altLang="ja-JP" dirty="0">
              <a:latin typeface="Arial" panose="020B0604020202020204" pitchFamily="34" charset="0"/>
            </a:endParaRPr>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Arial" panose="020B0604020202020204" pitchFamily="34" charset="0"/>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Arial" panose="020B0604020202020204" pitchFamily="34" charset="0"/>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5.pn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680.png"/></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a:xfrm>
            <a:off x="9274602" y="6201682"/>
            <a:ext cx="14020800" cy="2125436"/>
          </a:xfrm>
        </p:spPr>
        <p:txBody>
          <a:bodyPr wrap="square">
            <a:noAutofit/>
          </a:bodyPr>
          <a:lstStyle/>
          <a:p>
            <a:pPr algn="r"/>
            <a:br>
              <a:rPr lang="en-US" altLang="ja-JP" sz="4400" b="0">
                <a:latin typeface="Arial" panose="020B0604020202020204" pitchFamily="34" charset="0"/>
                <a:cs typeface="Arial" panose="020B0604020202020204" pitchFamily="34" charset="0"/>
              </a:rPr>
            </a:br>
            <a:r>
              <a:rPr lang="en-US" altLang="ja-JP" sz="4400">
                <a:latin typeface="Arial" panose="020B0604020202020204" pitchFamily="34" charset="0"/>
                <a:cs typeface="Arial" panose="020B0604020202020204" pitchFamily="34" charset="0"/>
              </a:rPr>
              <a:t>Hierarchical </a:t>
            </a:r>
            <a:r>
              <a:rPr lang="en-US" altLang="ja-JP" sz="4400" dirty="0">
                <a:latin typeface="Arial" panose="020B0604020202020204" pitchFamily="34" charset="0"/>
                <a:cs typeface="Arial" panose="020B0604020202020204" pitchFamily="34" charset="0"/>
              </a:rPr>
              <a:t>Prediction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and Feedforward Correction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of Time-Varying Thermal Line-of-Sight Bias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for Coarse Acquisition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in Satellite Optical Communications</a:t>
            </a:r>
            <a:endParaRPr sz="4400" b="1" dirty="0">
              <a:solidFill>
                <a:srgbClr val="082B52"/>
              </a:solidFill>
              <a:latin typeface="Arial" panose="020B0604020202020204" pitchFamily="34" charset="0"/>
              <a:ea typeface="Yu Gothic"/>
              <a:cs typeface="Arial" panose="020B0604020202020204" pitchFamily="34" charset="0"/>
            </a:endParaRPr>
          </a:p>
        </p:txBody>
      </p:sp>
      <p:sp>
        <p:nvSpPr>
          <p:cNvPr id="9" name="TextBox 8"/>
          <p:cNvSpPr txBox="1"/>
          <p:nvPr/>
        </p:nvSpPr>
        <p:spPr>
          <a:xfrm>
            <a:off x="8787606" y="11617362"/>
            <a:ext cx="7132320" cy="590931"/>
          </a:xfrm>
          <a:prstGeom prst="rect">
            <a:avLst/>
          </a:prstGeom>
          <a:noFill/>
        </p:spPr>
        <p:txBody>
          <a:bodyPr wrap="square" lIns="45720" tIns="18288" rIns="45720" bIns="18288" anchor="t">
            <a:spAutoFit/>
          </a:bodyPr>
          <a:lstStyle/>
          <a:p>
            <a:pPr algn="r">
              <a:spcAft>
                <a:spcPts val="0"/>
              </a:spcAft>
            </a:pPr>
            <a:r>
              <a:rPr lang="en-US" sz="3600" b="0">
                <a:solidFill>
                  <a:schemeClr val="tx2">
                    <a:lumMod val="50000"/>
                  </a:schemeClr>
                </a:solidFill>
                <a:latin typeface="Arial" panose="020B0604020202020204" pitchFamily="34" charset="0"/>
                <a:ea typeface="Yu Gothic"/>
                <a:cs typeface="Arial" panose="020B0604020202020204" pitchFamily="34" charset="0"/>
              </a:rPr>
              <a:t>ICSO</a:t>
            </a:r>
            <a:r>
              <a:rPr lang="en-US" altLang="ja-JP" sz="3600">
                <a:solidFill>
                  <a:schemeClr val="tx2">
                    <a:lumMod val="50000"/>
                  </a:schemeClr>
                </a:solidFill>
                <a:latin typeface="Arial" panose="020B0604020202020204" pitchFamily="34" charset="0"/>
                <a:ea typeface="Yu Gothic"/>
                <a:cs typeface="Arial" panose="020B0604020202020204" pitchFamily="34" charset="0"/>
              </a:rPr>
              <a:t> 2026 | </a:t>
            </a:r>
            <a:r>
              <a:rPr lang="en-US" altLang="ja-JP" sz="3600" dirty="0">
                <a:solidFill>
                  <a:schemeClr val="tx2">
                    <a:lumMod val="50000"/>
                  </a:schemeClr>
                </a:solidFill>
                <a:latin typeface="Arial" panose="020B0604020202020204" pitchFamily="34" charset="0"/>
                <a:ea typeface="Yu Gothic"/>
                <a:cs typeface="Arial" panose="020B0604020202020204" pitchFamily="34" charset="0"/>
              </a:rPr>
              <a:t>October 15, 2026</a:t>
            </a:r>
            <a:endParaRPr lang="en-US" sz="3600" b="0" dirty="0">
              <a:solidFill>
                <a:schemeClr val="tx2">
                  <a:lumMod val="50000"/>
                </a:schemeClr>
              </a:solidFill>
              <a:latin typeface="Arial" panose="020B0604020202020204" pitchFamily="34" charset="0"/>
              <a:ea typeface="Yu Gothic"/>
              <a:cs typeface="Arial" panose="020B0604020202020204" pitchFamily="34" charset="0"/>
            </a:endParaRPr>
          </a:p>
        </p:txBody>
      </p:sp>
      <p:sp>
        <p:nvSpPr>
          <p:cNvPr id="6" name="Google Shape;70;p1">
            <a:extLst>
              <a:ext uri="{FF2B5EF4-FFF2-40B4-BE49-F238E27FC236}">
                <a16:creationId xmlns:a16="http://schemas.microsoft.com/office/drawing/2014/main" id="{8F5F23AD-2C62-83A6-047B-A7631094E474}"/>
              </a:ext>
            </a:extLst>
          </p:cNvPr>
          <p:cNvSpPr txBox="1">
            <a:spLocks/>
          </p:cNvSpPr>
          <p:nvPr/>
        </p:nvSpPr>
        <p:spPr>
          <a:xfrm>
            <a:off x="9551077" y="8993448"/>
            <a:ext cx="15340923" cy="1389189"/>
          </a:xfrm>
          <a:prstGeom prst="rect">
            <a:avLst/>
          </a:prstGeom>
          <a:noFill/>
          <a:ln>
            <a:noFill/>
          </a:ln>
        </p:spPr>
        <p:txBody>
          <a:bodyPr spcFirstLastPara="1" vert="horz" wrap="square" lIns="91425" tIns="91425" rIns="91425" bIns="91425" rtlCol="0" anchor="t" anchorCtr="0">
            <a:noAutofit/>
          </a:bodyPr>
          <a:lstStyle>
            <a:lvl1pPr marL="0" indent="0" algn="l" defTabSz="1828709" rtl="0" eaLnBrk="1" latinLnBrk="0" hangingPunct="1">
              <a:lnSpc>
                <a:spcPct val="50000"/>
              </a:lnSpc>
              <a:spcBef>
                <a:spcPts val="2000"/>
              </a:spcBef>
              <a:buFont typeface="Arial" panose="020B0604020202020204" pitchFamily="34" charset="0"/>
              <a:buNone/>
              <a:defRPr kumimoji="1" sz="3600" b="0" kern="1200">
                <a:solidFill>
                  <a:schemeClr val="tx2"/>
                </a:solidFill>
                <a:latin typeface="+mn-lt"/>
                <a:ea typeface="+mn-ea"/>
                <a:cs typeface="+mn-cs"/>
              </a:defRPr>
            </a:lvl1pPr>
            <a:lvl2pPr marL="914354" indent="0" algn="ctr" defTabSz="1828709" rtl="0" eaLnBrk="1" latinLnBrk="0" hangingPunct="1">
              <a:lnSpc>
                <a:spcPct val="90000"/>
              </a:lnSpc>
              <a:spcBef>
                <a:spcPts val="1000"/>
              </a:spcBef>
              <a:buFont typeface="Arial" panose="020B0604020202020204" pitchFamily="34" charset="0"/>
              <a:buNone/>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1828709" indent="0" algn="ctr" defTabSz="1828709" rtl="0" eaLnBrk="1" latinLnBrk="0" hangingPunct="1">
              <a:lnSpc>
                <a:spcPct val="90000"/>
              </a:lnSpc>
              <a:spcBef>
                <a:spcPts val="1000"/>
              </a:spcBef>
              <a:buFont typeface="Arial" panose="020B0604020202020204" pitchFamily="34" charset="0"/>
              <a:buNone/>
              <a:defRPr kumimoji="1" sz="3600" b="0" i="0" kern="1200">
                <a:solidFill>
                  <a:schemeClr val="tx2"/>
                </a:solidFill>
                <a:latin typeface="Yu Gothic Medium" panose="020B0400000000000000" pitchFamily="34" charset="-128"/>
                <a:ea typeface="Yu Gothic Medium" panose="020B0400000000000000" pitchFamily="34" charset="-128"/>
                <a:cs typeface="+mn-cs"/>
              </a:defRPr>
            </a:lvl3pPr>
            <a:lvl4pPr marL="2743063"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4pPr>
            <a:lvl5pPr marL="3657417"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5pPr>
            <a:lvl6pPr marL="4571771"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6pPr>
            <a:lvl7pPr marL="5486126"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7pPr>
            <a:lvl8pPr marL="6400480"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8pPr>
            <a:lvl9pPr marL="7314834"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9pPr>
          </a:lstStyle>
          <a:p>
            <a:r>
              <a:rPr lang="en-US" altLang="ja-JP" sz="3200" b="1" u="sng" dirty="0">
                <a:latin typeface="Arial" panose="020B0604020202020204" pitchFamily="34" charset="0"/>
                <a:cs typeface="Arial" panose="020B0604020202020204" pitchFamily="34" charset="0"/>
              </a:rPr>
              <a:t>H. TAKAMOTO</a:t>
            </a:r>
            <a:r>
              <a:rPr lang="en-US" altLang="ja-JP" sz="3200" dirty="0">
                <a:latin typeface="Arial" panose="020B0604020202020204" pitchFamily="34" charset="0"/>
                <a:cs typeface="Arial" panose="020B0604020202020204" pitchFamily="34" charset="0"/>
              </a:rPr>
              <a:t>, K. Takashima,</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Y. Kusano,</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S. Ikari, R. </a:t>
            </a:r>
            <a:r>
              <a:rPr lang="en-US" altLang="ja-JP" sz="3200" dirty="0" err="1">
                <a:latin typeface="Arial" panose="020B0604020202020204" pitchFamily="34" charset="0"/>
                <a:cs typeface="Arial" panose="020B0604020202020204" pitchFamily="34" charset="0"/>
              </a:rPr>
              <a:t>Funase</a:t>
            </a:r>
            <a:r>
              <a:rPr lang="en-US" altLang="ja-JP" sz="3200" dirty="0">
                <a:latin typeface="Arial" panose="020B0604020202020204" pitchFamily="34" charset="0"/>
                <a:cs typeface="Arial" panose="020B0604020202020204" pitchFamily="34" charset="0"/>
              </a:rPr>
              <a:t> </a:t>
            </a:r>
          </a:p>
          <a:p>
            <a:endParaRPr lang="en-US" altLang="ja-JP" sz="3200" dirty="0">
              <a:latin typeface="Arial" panose="020B0604020202020204" pitchFamily="34" charset="0"/>
              <a:cs typeface="Arial" panose="020B0604020202020204" pitchFamily="34" charset="0"/>
            </a:endParaRPr>
          </a:p>
          <a:p>
            <a:r>
              <a:rPr lang="en-US" altLang="ja-JP" sz="3200" dirty="0">
                <a:latin typeface="Arial" panose="020B0604020202020204" pitchFamily="34" charset="0"/>
                <a:cs typeface="Arial" panose="020B0604020202020204" pitchFamily="34" charset="0"/>
              </a:rPr>
              <a:t>(The University of Tokyo)</a:t>
            </a:r>
          </a:p>
        </p:txBody>
      </p:sp>
      <p:pic>
        <p:nvPicPr>
          <p:cNvPr id="10" name="Picture 2" descr="東大マーク | 東京大学">
            <a:extLst>
              <a:ext uri="{FF2B5EF4-FFF2-40B4-BE49-F238E27FC236}">
                <a16:creationId xmlns:a16="http://schemas.microsoft.com/office/drawing/2014/main" id="{37C6FA94-99DF-BA36-379D-FD90F4ED5F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193" t="11512" r="27198" b="14363"/>
          <a:stretch>
            <a:fillRect/>
          </a:stretch>
        </p:blipFill>
        <p:spPr bwMode="auto">
          <a:xfrm>
            <a:off x="20664408" y="9784542"/>
            <a:ext cx="3419664" cy="3665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01</a:t>
            </a:r>
            <a:endParaRPr lang="en-US"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normAutofit/>
          </a:bodyPr>
          <a:lstStyle/>
          <a:p>
            <a:r>
              <a:rPr lang="en-US" altLang="ja-JP" sz="4800" b="1">
                <a:solidFill>
                  <a:srgbClr val="FFFFFF"/>
                </a:solidFill>
                <a:latin typeface="Arial" panose="020B0604020202020204" pitchFamily="34" charset="0"/>
                <a:cs typeface="Arial" panose="020B0604020202020204" pitchFamily="34" charset="0"/>
              </a:rPr>
              <a:t>Background</a:t>
            </a:r>
            <a:endParaRPr lang="en-US"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wrap="square"/>
          <a:lstStyle/>
          <a:p>
            <a:pPr>
              <a:spcAft>
                <a:spcPts val="0"/>
              </a:spcAft>
            </a:pPr>
            <a:r>
              <a:rPr lang="en-US" sz="3200" dirty="0">
                <a:solidFill>
                  <a:srgbClr val="082B52"/>
                </a:solidFill>
                <a:latin typeface="Arial" panose="020B0604020202020204" pitchFamily="34" charset="0"/>
                <a:ea typeface="Yu Gothic"/>
                <a:cs typeface="Arial" panose="020B0604020202020204" pitchFamily="34" charset="0"/>
              </a:rPr>
              <a:t>Reduce scan time b</a:t>
            </a:r>
            <a:r>
              <a:rPr lang="en-US" sz="3200" b="1" dirty="0">
                <a:solidFill>
                  <a:srgbClr val="082B52"/>
                </a:solidFill>
                <a:latin typeface="Arial" panose="020B0604020202020204" pitchFamily="34" charset="0"/>
                <a:ea typeface="Yu Gothic"/>
                <a:cs typeface="Arial" panose="020B0604020202020204" pitchFamily="34" charset="0"/>
              </a:rPr>
              <a:t>y predicting thermal LOS error in optical communications </a:t>
            </a:r>
            <a:endParaRPr sz="3200" b="1" dirty="0">
              <a:solidFill>
                <a:srgbClr val="082B52"/>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wrap="square"/>
          <a:lstStyle/>
          <a:p>
            <a:pPr algn="r">
              <a:spcAft>
                <a:spcPts val="0"/>
              </a:spcAft>
            </a:pPr>
            <a:r>
              <a:rPr lang="en-US" altLang="ja-JP" sz="1800" b="0" dirty="0">
                <a:solidFill>
                  <a:srgbClr val="666F79"/>
                </a:solidFill>
                <a:latin typeface="Arial" panose="020B0604020202020204" pitchFamily="34" charset="0"/>
                <a:ea typeface="Yu Gothic"/>
                <a:cs typeface="Arial" panose="020B0604020202020204" pitchFamily="34" charset="0"/>
              </a:rPr>
              <a:t>3</a:t>
            </a:r>
            <a:endParaRPr sz="1800" b="0" dirty="0">
              <a:solidFill>
                <a:srgbClr val="666F79"/>
              </a:solidFill>
              <a:latin typeface="Arial" panose="020B0604020202020204" pitchFamily="34" charset="0"/>
              <a:ea typeface="Yu Gothic"/>
              <a:cs typeface="Arial" panose="020B0604020202020204" pitchFamily="34" charset="0"/>
            </a:endParaRP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wrap="square"/>
          <a:lstStyle/>
          <a:p>
            <a:pPr>
              <a:spcAft>
                <a:spcPts val="0"/>
              </a:spcAft>
            </a:pPr>
            <a:r>
              <a:rPr lang="en-US"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7" name="TextBox 6"/>
          <p:cNvSpPr txBox="1"/>
          <p:nvPr/>
        </p:nvSpPr>
        <p:spPr>
          <a:xfrm>
            <a:off x="1996539" y="3685032"/>
            <a:ext cx="4693721" cy="547842"/>
          </a:xfrm>
          <a:prstGeom prst="rect">
            <a:avLst/>
          </a:prstGeom>
          <a:noFill/>
        </p:spPr>
        <p:txBody>
          <a:bodyPr wrap="none" lIns="36576" tIns="27432" rIns="36576" bIns="27432" anchor="t">
            <a:spAutoFit/>
          </a:bodyPr>
          <a:lstStyle/>
          <a:p>
            <a:pPr algn="ctr"/>
            <a:r>
              <a:rPr lang="en-US" sz="3200" b="1" dirty="0">
                <a:solidFill>
                  <a:srgbClr val="1B74AA"/>
                </a:solidFill>
                <a:latin typeface="Arial" panose="020B0604020202020204" pitchFamily="34" charset="0"/>
                <a:cs typeface="Arial" panose="020B0604020202020204" pitchFamily="34" charset="0"/>
              </a:rPr>
              <a:t>Before optical feedback</a:t>
            </a:r>
          </a:p>
        </p:txBody>
      </p:sp>
      <p:sp>
        <p:nvSpPr>
          <p:cNvPr id="8" name="TextBox 7"/>
          <p:cNvSpPr txBox="1"/>
          <p:nvPr/>
        </p:nvSpPr>
        <p:spPr>
          <a:xfrm>
            <a:off x="1463040" y="4416552"/>
            <a:ext cx="5760720" cy="2025170"/>
          </a:xfrm>
          <a:prstGeom prst="rect">
            <a:avLst/>
          </a:prstGeom>
          <a:noFill/>
        </p:spPr>
        <p:txBody>
          <a:bodyPr wrap="square" lIns="36576" tIns="27432" rIns="36576" bIns="27432" anchor="t">
            <a:spAutoFit/>
          </a:bodyPr>
          <a:lstStyle/>
          <a:p>
            <a:pPr algn="ctr">
              <a:spcAft>
                <a:spcPts val="0"/>
              </a:spcAft>
            </a:pPr>
            <a:r>
              <a:rPr lang="en-US" sz="3200" b="0" dirty="0">
                <a:solidFill>
                  <a:srgbClr val="232B34"/>
                </a:solidFill>
                <a:latin typeface="Arial" panose="020B0604020202020204" pitchFamily="34" charset="0"/>
                <a:ea typeface="Yu Gothic"/>
                <a:cs typeface="Arial" panose="020B0604020202020204" pitchFamily="34" charset="0"/>
              </a:rPr>
              <a:t>Search an uncertainty region including </a:t>
            </a:r>
            <a:r>
              <a:rPr lang="en-US" altLang="ja-JP" sz="3200" b="1" dirty="0">
                <a:solidFill>
                  <a:schemeClr val="accent6">
                    <a:lumMod val="75000"/>
                  </a:schemeClr>
                </a:solidFill>
                <a:latin typeface="Arial" panose="020B0604020202020204" pitchFamily="34" charset="0"/>
                <a:ea typeface="Yu Gothic"/>
                <a:cs typeface="Arial" panose="020B0604020202020204" pitchFamily="34" charset="0"/>
              </a:rPr>
              <a:t>thermal LOS</a:t>
            </a:r>
            <a:r>
              <a:rPr lang="en-US" altLang="ja-JP" sz="3200" dirty="0">
                <a:solidFill>
                  <a:srgbClr val="232B34"/>
                </a:solidFill>
                <a:latin typeface="Arial" panose="020B0604020202020204" pitchFamily="34" charset="0"/>
                <a:ea typeface="Yu Gothic"/>
                <a:cs typeface="Arial" panose="020B0604020202020204" pitchFamily="34" charset="0"/>
              </a:rPr>
              <a:t>, </a:t>
            </a:r>
            <a:r>
              <a:rPr lang="en-US" sz="3200" b="0" dirty="0">
                <a:solidFill>
                  <a:srgbClr val="232B34"/>
                </a:solidFill>
                <a:latin typeface="Arial" panose="020B0604020202020204" pitchFamily="34" charset="0"/>
                <a:ea typeface="Yu Gothic"/>
                <a:cs typeface="Arial" panose="020B0604020202020204" pitchFamily="34" charset="0"/>
              </a:rPr>
              <a:t>attitude, and </a:t>
            </a:r>
            <a:r>
              <a:rPr lang="en-US" sz="3200" b="0">
                <a:solidFill>
                  <a:srgbClr val="232B34"/>
                </a:solidFill>
                <a:latin typeface="Arial" panose="020B0604020202020204" pitchFamily="34" charset="0"/>
                <a:ea typeface="Yu Gothic"/>
                <a:cs typeface="Arial" panose="020B0604020202020204" pitchFamily="34" charset="0"/>
              </a:rPr>
              <a:t>orbit errors</a:t>
            </a:r>
          </a:p>
          <a:p>
            <a:pPr algn="ctr">
              <a:spcAft>
                <a:spcPts val="0"/>
              </a:spcAft>
            </a:pPr>
            <a:endParaRPr sz="3200" b="0" dirty="0">
              <a:solidFill>
                <a:srgbClr val="232B34"/>
              </a:solidFill>
              <a:latin typeface="Arial" panose="020B0604020202020204" pitchFamily="34" charset="0"/>
              <a:ea typeface="Yu Gothic"/>
              <a:cs typeface="Arial" panose="020B0604020202020204" pitchFamily="34" charset="0"/>
            </a:endParaRPr>
          </a:p>
        </p:txBody>
      </p:sp>
      <p:sp>
        <p:nvSpPr>
          <p:cNvPr id="10" name="Rounded Rectangle 9"/>
          <p:cNvSpPr/>
          <p:nvPr/>
        </p:nvSpPr>
        <p:spPr>
          <a:xfrm>
            <a:off x="8732519" y="3383279"/>
            <a:ext cx="6492240" cy="3697255"/>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11" name="TextBox 10"/>
          <p:cNvSpPr txBox="1"/>
          <p:nvPr/>
        </p:nvSpPr>
        <p:spPr>
          <a:xfrm>
            <a:off x="9497928" y="3648456"/>
            <a:ext cx="4961423" cy="1040285"/>
          </a:xfrm>
          <a:prstGeom prst="rect">
            <a:avLst/>
          </a:prstGeom>
          <a:noFill/>
        </p:spPr>
        <p:txBody>
          <a:bodyPr wrap="square" lIns="36576" tIns="27432" rIns="36576" bIns="27432" anchor="t">
            <a:spAutoFit/>
          </a:bodyPr>
          <a:lstStyle/>
          <a:p>
            <a:pPr algn="ctr"/>
            <a:r>
              <a:rPr lang="en-US" sz="3200" b="1">
                <a:solidFill>
                  <a:srgbClr val="EC9427"/>
                </a:solidFill>
                <a:latin typeface="Arial" panose="020B0604020202020204" pitchFamily="34" charset="0"/>
                <a:cs typeface="Arial" panose="020B0604020202020204" pitchFamily="34" charset="0"/>
              </a:rPr>
              <a:t>Illumination / eclipse</a:t>
            </a:r>
            <a:endParaRPr lang="en-US" sz="3200" b="1" dirty="0">
              <a:solidFill>
                <a:srgbClr val="EC9427"/>
              </a:solidFill>
              <a:latin typeface="Arial" panose="020B0604020202020204" pitchFamily="34" charset="0"/>
              <a:cs typeface="Arial" panose="020B0604020202020204" pitchFamily="34" charset="0"/>
            </a:endParaRPr>
          </a:p>
          <a:p>
            <a:pPr algn="ctr"/>
            <a:r>
              <a:rPr lang="en-US" sz="3200" b="1" dirty="0">
                <a:solidFill>
                  <a:srgbClr val="EC9427"/>
                </a:solidFill>
                <a:latin typeface="Arial" panose="020B0604020202020204" pitchFamily="34" charset="0"/>
                <a:cs typeface="Arial" panose="020B0604020202020204" pitchFamily="34" charset="0"/>
              </a:rPr>
              <a:t>/ dissipation</a:t>
            </a:r>
          </a:p>
        </p:txBody>
      </p:sp>
      <p:sp>
        <p:nvSpPr>
          <p:cNvPr id="12" name="TextBox 11"/>
          <p:cNvSpPr txBox="1"/>
          <p:nvPr/>
        </p:nvSpPr>
        <p:spPr>
          <a:xfrm>
            <a:off x="9471098" y="4638382"/>
            <a:ext cx="5060808" cy="1532727"/>
          </a:xfrm>
          <a:prstGeom prst="rect">
            <a:avLst/>
          </a:prstGeom>
          <a:noFill/>
        </p:spPr>
        <p:txBody>
          <a:bodyPr wrap="none" lIns="36576" tIns="27432" rIns="36576" bIns="27432" anchor="t">
            <a:spAutoFit/>
          </a:bodyPr>
          <a:lstStyle/>
          <a:p>
            <a:pPr algn="ctr"/>
            <a:r>
              <a:rPr lang="en-US" sz="3200" b="0">
                <a:solidFill>
                  <a:srgbClr val="232B34"/>
                </a:solidFill>
                <a:latin typeface="Arial" panose="020B0604020202020204" pitchFamily="34" charset="0"/>
                <a:cs typeface="Arial" panose="020B0604020202020204" pitchFamily="34" charset="0"/>
              </a:rPr>
              <a:t>Temperature field </a:t>
            </a:r>
            <a:endParaRPr lang="en-US" sz="3200" b="0" dirty="0">
              <a:solidFill>
                <a:srgbClr val="232B34"/>
              </a:solidFill>
              <a:latin typeface="Arial" panose="020B0604020202020204" pitchFamily="34" charset="0"/>
              <a:cs typeface="Arial" panose="020B0604020202020204" pitchFamily="34" charset="0"/>
            </a:endParaRPr>
          </a:p>
          <a:p>
            <a:pPr algn="ctr"/>
            <a:r>
              <a:rPr lang="en-US" sz="3200" b="0" dirty="0">
                <a:solidFill>
                  <a:srgbClr val="232B34"/>
                </a:solidFill>
                <a:latin typeface="Arial" panose="020B0604020202020204" pitchFamily="34" charset="0"/>
                <a:cs typeface="Arial" panose="020B0604020202020204" pitchFamily="34" charset="0"/>
              </a:rPr>
              <a:t>→ </a:t>
            </a:r>
            <a:r>
              <a:rPr lang="en-US" sz="3200" b="0">
                <a:solidFill>
                  <a:srgbClr val="232B34"/>
                </a:solidFill>
                <a:latin typeface="Arial" panose="020B0604020202020204" pitchFamily="34" charset="0"/>
                <a:cs typeface="Arial" panose="020B0604020202020204" pitchFamily="34" charset="0"/>
              </a:rPr>
              <a:t>thermal expansion
→ </a:t>
            </a:r>
            <a:r>
              <a:rPr lang="en-US" altLang="ja-JP" sz="3200">
                <a:solidFill>
                  <a:srgbClr val="232B34"/>
                </a:solidFill>
                <a:latin typeface="Arial" panose="020B0604020202020204" pitchFamily="34" charset="0"/>
                <a:cs typeface="Arial" panose="020B0604020202020204" pitchFamily="34" charset="0"/>
              </a:rPr>
              <a:t>spacecraft-bus distortion</a:t>
            </a:r>
            <a:endParaRPr lang="en-US" sz="3200" b="0" dirty="0">
              <a:solidFill>
                <a:srgbClr val="232B34"/>
              </a:solidFill>
              <a:latin typeface="Arial" panose="020B0604020202020204" pitchFamily="34" charset="0"/>
              <a:cs typeface="Arial" panose="020B0604020202020204" pitchFamily="34" charset="0"/>
            </a:endParaRPr>
          </a:p>
        </p:txBody>
      </p:sp>
      <p:sp>
        <p:nvSpPr>
          <p:cNvPr id="13" name="TextBox 12"/>
          <p:cNvSpPr txBox="1"/>
          <p:nvPr/>
        </p:nvSpPr>
        <p:spPr>
          <a:xfrm>
            <a:off x="8477314" y="6355052"/>
            <a:ext cx="6979245" cy="486287"/>
          </a:xfrm>
          <a:prstGeom prst="rect">
            <a:avLst/>
          </a:prstGeom>
          <a:noFill/>
        </p:spPr>
        <p:txBody>
          <a:bodyPr wrap="square" lIns="36576" tIns="27432" rIns="36576" bIns="27432" anchor="t">
            <a:spAutoFit/>
          </a:bodyPr>
          <a:lstStyle/>
          <a:p>
            <a:pPr algn="ctr">
              <a:spcAft>
                <a:spcPts val="0"/>
              </a:spcAft>
            </a:pPr>
            <a:r>
              <a:rPr lang="en-US" sz="2800" b="1" dirty="0">
                <a:solidFill>
                  <a:schemeClr val="accent6">
                    <a:lumMod val="75000"/>
                  </a:schemeClr>
                </a:solidFill>
                <a:latin typeface="Arial" panose="020B0604020202020204" pitchFamily="34" charset="0"/>
                <a:ea typeface="Yu Gothic"/>
                <a:cs typeface="Arial" panose="020B0604020202020204" pitchFamily="34" charset="0"/>
              </a:rPr>
              <a:t>Thermal LOS</a:t>
            </a:r>
            <a:r>
              <a:rPr lang="en-US" sz="2800" b="1">
                <a:solidFill>
                  <a:schemeClr val="accent6">
                    <a:lumMod val="75000"/>
                  </a:schemeClr>
                </a:solidFill>
                <a:latin typeface="Arial" panose="020B0604020202020204" pitchFamily="34" charset="0"/>
                <a:ea typeface="Yu Gothic"/>
                <a:cs typeface="Arial" panose="020B0604020202020204" pitchFamily="34" charset="0"/>
              </a:rPr>
              <a:t>: 100 µrad to 1 mrad</a:t>
            </a:r>
            <a:endParaRPr lang="en-US" sz="2800" b="1" dirty="0">
              <a:solidFill>
                <a:schemeClr val="accent6">
                  <a:lumMod val="75000"/>
                </a:schemeClr>
              </a:solidFill>
              <a:latin typeface="Arial" panose="020B0604020202020204" pitchFamily="34" charset="0"/>
              <a:cs typeface="Arial" panose="020B0604020202020204" pitchFamily="34" charset="0"/>
            </a:endParaRPr>
          </a:p>
        </p:txBody>
      </p:sp>
      <p:sp>
        <p:nvSpPr>
          <p:cNvPr id="15" name="Rounded Rectangle 14"/>
          <p:cNvSpPr/>
          <p:nvPr/>
        </p:nvSpPr>
        <p:spPr>
          <a:xfrm>
            <a:off x="16367759" y="3383280"/>
            <a:ext cx="6492240" cy="3474720"/>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F0000"/>
              </a:solidFill>
              <a:latin typeface="Arial" panose="020B0604020202020204" pitchFamily="34" charset="0"/>
              <a:cs typeface="Arial" panose="020B0604020202020204" pitchFamily="34" charset="0"/>
            </a:endParaRPr>
          </a:p>
        </p:txBody>
      </p:sp>
      <p:sp>
        <p:nvSpPr>
          <p:cNvPr id="16" name="TextBox 15"/>
          <p:cNvSpPr txBox="1"/>
          <p:nvPr/>
        </p:nvSpPr>
        <p:spPr>
          <a:xfrm>
            <a:off x="16733520" y="3630168"/>
            <a:ext cx="5760720" cy="1040285"/>
          </a:xfrm>
          <a:prstGeom prst="rect">
            <a:avLst/>
          </a:prstGeom>
          <a:noFill/>
        </p:spPr>
        <p:txBody>
          <a:bodyPr wrap="square" lIns="36576" tIns="27432" rIns="36576" bIns="27432" anchor="t">
            <a:spAutoFit/>
          </a:bodyPr>
          <a:lstStyle/>
          <a:p>
            <a:pPr algn="ctr">
              <a:spcAft>
                <a:spcPts val="0"/>
              </a:spcAft>
            </a:pPr>
            <a:r>
              <a:rPr lang="en-US" sz="3200" b="1">
                <a:solidFill>
                  <a:srgbClr val="FF0000"/>
                </a:solidFill>
                <a:latin typeface="Arial" panose="020B0604020202020204" pitchFamily="34" charset="0"/>
                <a:ea typeface="Yu Gothic"/>
                <a:cs typeface="Arial" panose="020B0604020202020204" pitchFamily="34" charset="0"/>
              </a:rPr>
              <a:t>Pre-acquisition predictive correction</a:t>
            </a:r>
            <a:endParaRPr lang="en-US" sz="3200" b="1" dirty="0">
              <a:solidFill>
                <a:srgbClr val="FF0000"/>
              </a:solidFill>
              <a:latin typeface="Arial" panose="020B0604020202020204" pitchFamily="34" charset="0"/>
              <a:cs typeface="Arial" panose="020B0604020202020204" pitchFamily="34" charset="0"/>
            </a:endParaRPr>
          </a:p>
        </p:txBody>
      </p:sp>
      <p:sp>
        <p:nvSpPr>
          <p:cNvPr id="17" name="TextBox 16"/>
          <p:cNvSpPr txBox="1"/>
          <p:nvPr/>
        </p:nvSpPr>
        <p:spPr>
          <a:xfrm>
            <a:off x="16733519" y="5074920"/>
            <a:ext cx="5760720" cy="1532727"/>
          </a:xfrm>
          <a:prstGeom prst="rect">
            <a:avLst/>
          </a:prstGeom>
          <a:noFill/>
        </p:spPr>
        <p:txBody>
          <a:bodyPr wrap="square" lIns="36576" tIns="27432" rIns="36576" bIns="27432" anchor="t">
            <a:spAutoFit/>
          </a:bodyPr>
          <a:lstStyle/>
          <a:p>
            <a:pPr algn="ctr">
              <a:spcAft>
                <a:spcPts val="0"/>
              </a:spcAft>
            </a:pPr>
            <a:r>
              <a:rPr lang="en-US" sz="3200" b="0" dirty="0">
                <a:solidFill>
                  <a:srgbClr val="232B34"/>
                </a:solidFill>
                <a:latin typeface="Arial" panose="020B0604020202020204" pitchFamily="34" charset="0"/>
                <a:ea typeface="Yu Gothic"/>
                <a:cs typeface="Arial" panose="020B0604020202020204" pitchFamily="34" charset="0"/>
              </a:rPr>
              <a:t>Subtract </a:t>
            </a:r>
            <a:r>
              <a:rPr lang="en-US" sz="3200" b="1">
                <a:solidFill>
                  <a:schemeClr val="accent6">
                    <a:lumMod val="75000"/>
                  </a:schemeClr>
                </a:solidFill>
                <a:latin typeface="Arial" panose="020B0604020202020204" pitchFamily="34" charset="0"/>
                <a:ea typeface="Yu Gothic"/>
                <a:cs typeface="Arial" panose="020B0604020202020204" pitchFamily="34" charset="0"/>
              </a:rPr>
              <a:t>thermal LOS</a:t>
            </a:r>
            <a:r>
              <a:rPr lang="en-US" sz="3200" b="0">
                <a:solidFill>
                  <a:srgbClr val="232B34"/>
                </a:solidFill>
                <a:latin typeface="Arial" panose="020B0604020202020204" pitchFamily="34" charset="0"/>
                <a:ea typeface="Yu Gothic"/>
                <a:cs typeface="Arial" panose="020B0604020202020204" pitchFamily="34" charset="0"/>
              </a:rPr>
              <a:t> </a:t>
            </a:r>
            <a:endParaRPr lang="en-US" sz="3200" b="0" dirty="0">
              <a:solidFill>
                <a:srgbClr val="232B34"/>
              </a:solidFill>
              <a:latin typeface="Arial" panose="020B0604020202020204" pitchFamily="34" charset="0"/>
              <a:ea typeface="Yu Gothic"/>
              <a:cs typeface="Arial" panose="020B0604020202020204" pitchFamily="34" charset="0"/>
            </a:endParaRPr>
          </a:p>
          <a:p>
            <a:pPr algn="ctr">
              <a:spcAft>
                <a:spcPts val="0"/>
              </a:spcAft>
            </a:pPr>
            <a:r>
              <a:rPr lang="en-US" sz="3200" b="0">
                <a:solidFill>
                  <a:srgbClr val="232B34"/>
                </a:solidFill>
                <a:latin typeface="Arial" panose="020B0604020202020204" pitchFamily="34" charset="0"/>
                <a:ea typeface="Yu Gothic"/>
                <a:cs typeface="Arial" panose="020B0604020202020204" pitchFamily="34" charset="0"/>
              </a:rPr>
              <a:t>from the scan center</a:t>
            </a:r>
          </a:p>
          <a:p>
            <a:pPr algn="ctr">
              <a:spcAft>
                <a:spcPts val="0"/>
              </a:spcAft>
            </a:pPr>
            <a:r>
              <a:rPr lang="en-US" sz="3200" b="0">
                <a:solidFill>
                  <a:srgbClr val="232B34"/>
                </a:solidFill>
                <a:latin typeface="Arial" panose="020B0604020202020204" pitchFamily="34" charset="0"/>
                <a:ea typeface="Yu Gothic"/>
                <a:cs typeface="Arial" panose="020B0604020202020204" pitchFamily="34" charset="0"/>
              </a:rPr>
              <a:t>to reduce search time</a:t>
            </a:r>
            <a:endParaRPr lang="en-US" sz="3200" b="0" dirty="0">
              <a:solidFill>
                <a:srgbClr val="232B34"/>
              </a:solidFill>
              <a:latin typeface="Arial" panose="020B0604020202020204" pitchFamily="34" charset="0"/>
              <a:ea typeface="Yu Gothic"/>
              <a:cs typeface="Arial" panose="020B0604020202020204" pitchFamily="34" charset="0"/>
            </a:endParaRPr>
          </a:p>
        </p:txBody>
      </p:sp>
      <p:sp>
        <p:nvSpPr>
          <p:cNvPr id="18" name="TextBox 17"/>
          <p:cNvSpPr txBox="1"/>
          <p:nvPr/>
        </p:nvSpPr>
        <p:spPr>
          <a:xfrm>
            <a:off x="3842801" y="12321036"/>
            <a:ext cx="16696815" cy="1040285"/>
          </a:xfrm>
          <a:prstGeom prst="rect">
            <a:avLst/>
          </a:prstGeom>
          <a:noFill/>
        </p:spPr>
        <p:txBody>
          <a:bodyPr wrap="none" lIns="36576" tIns="27432" rIns="36576" bIns="27432" anchor="t">
            <a:spAutoFit/>
          </a:bodyPr>
          <a:lstStyle/>
          <a:p>
            <a:pPr algn="ctr"/>
            <a:r>
              <a:rPr lang="en-US" altLang="ja-JP" sz="3200">
                <a:solidFill>
                  <a:srgbClr val="082B52"/>
                </a:solidFill>
                <a:latin typeface="Arial" panose="020B0604020202020204" pitchFamily="34" charset="0"/>
                <a:cs typeface="Arial" panose="020B0604020202020204" pitchFamily="34" charset="0"/>
              </a:rPr>
              <a:t>Without modifying the spacecraft or LCT,</a:t>
            </a:r>
            <a:endParaRPr lang="en-US" altLang="ja-JP" sz="3200" dirty="0">
              <a:solidFill>
                <a:srgbClr val="082B52"/>
              </a:solidFill>
              <a:latin typeface="Arial" panose="020B0604020202020204" pitchFamily="34" charset="0"/>
              <a:cs typeface="Arial" panose="020B0604020202020204" pitchFamily="34" charset="0"/>
            </a:endParaRPr>
          </a:p>
          <a:p>
            <a:pPr algn="ctr"/>
            <a:r>
              <a:rPr lang="en-US" altLang="ja-JP" sz="3200">
                <a:solidFill>
                  <a:srgbClr val="082B52"/>
                </a:solidFill>
                <a:latin typeface="Arial" panose="020B0604020202020204" pitchFamily="34" charset="0"/>
                <a:cs typeface="Arial" panose="020B0604020202020204" pitchFamily="34" charset="0"/>
              </a:rPr>
              <a:t> </a:t>
            </a:r>
            <a:r>
              <a:rPr lang="en-US" sz="3200" b="1">
                <a:solidFill>
                  <a:srgbClr val="082B52"/>
                </a:solidFill>
                <a:latin typeface="Arial" panose="020B0604020202020204" pitchFamily="34" charset="0"/>
                <a:cs typeface="Arial" panose="020B0604020202020204" pitchFamily="34" charset="0"/>
              </a:rPr>
              <a:t>operationally remove only predictable thermal deformation from the initial LOS error.</a:t>
            </a:r>
            <a:endParaRPr lang="en-US" sz="3200" b="1" dirty="0">
              <a:solidFill>
                <a:srgbClr val="082B52"/>
              </a:solidFill>
              <a:latin typeface="Arial" panose="020B0604020202020204" pitchFamily="34" charset="0"/>
              <a:cs typeface="Arial" panose="020B0604020202020204" pitchFamily="34" charset="0"/>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472889" y="7038281"/>
            <a:ext cx="6647102" cy="5590102"/>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062273" y="7102959"/>
            <a:ext cx="6647102" cy="5786247"/>
          </a:xfrm>
          <a:prstGeom prst="rect">
            <a:avLst/>
          </a:prstGeom>
        </p:spPr>
      </p:pic>
      <p:sp>
        <p:nvSpPr>
          <p:cNvPr id="19" name="矢印: 右 18">
            <a:extLst>
              <a:ext uri="{FF2B5EF4-FFF2-40B4-BE49-F238E27FC236}">
                <a16:creationId xmlns:a16="http://schemas.microsoft.com/office/drawing/2014/main" id="{ED170B76-4559-B87C-F49C-D7A69F01E9F7}"/>
              </a:ext>
            </a:extLst>
          </p:cNvPr>
          <p:cNvSpPr/>
          <p:nvPr/>
        </p:nvSpPr>
        <p:spPr>
          <a:xfrm>
            <a:off x="7863839" y="4638382"/>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3" name="矢印: 右 22">
            <a:extLst>
              <a:ext uri="{FF2B5EF4-FFF2-40B4-BE49-F238E27FC236}">
                <a16:creationId xmlns:a16="http://schemas.microsoft.com/office/drawing/2014/main" id="{7CE29811-2011-943C-9089-640BA482954F}"/>
              </a:ext>
            </a:extLst>
          </p:cNvPr>
          <p:cNvSpPr/>
          <p:nvPr/>
        </p:nvSpPr>
        <p:spPr>
          <a:xfrm>
            <a:off x="15523349" y="4592657"/>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3" name="テキスト ボックス 2">
            <a:extLst>
              <a:ext uri="{FF2B5EF4-FFF2-40B4-BE49-F238E27FC236}">
                <a16:creationId xmlns:a16="http://schemas.microsoft.com/office/drawing/2014/main" id="{86194334-C0CE-4143-7C83-1CFACCCD738C}"/>
              </a:ext>
            </a:extLst>
          </p:cNvPr>
          <p:cNvSpPr txBox="1"/>
          <p:nvPr/>
        </p:nvSpPr>
        <p:spPr>
          <a:xfrm>
            <a:off x="18004154" y="2781300"/>
            <a:ext cx="3219450" cy="646331"/>
          </a:xfrm>
          <a:prstGeom prst="rect">
            <a:avLst/>
          </a:prstGeom>
          <a:noFill/>
        </p:spPr>
        <p:txBody>
          <a:bodyPr wrap="square" rtlCol="0">
            <a:spAutoFit/>
          </a:bodyPr>
          <a:lstStyle/>
          <a:p>
            <a:pPr algn="ctr"/>
            <a:r>
              <a:rPr kumimoji="1" lang="en-US" altLang="ja-JP" sz="3600" b="1" dirty="0">
                <a:solidFill>
                  <a:srgbClr val="FF0000"/>
                </a:solidFill>
                <a:latin typeface="Arial" panose="020B0604020202020204" pitchFamily="34" charset="0"/>
                <a:cs typeface="Arial" panose="020B0604020202020204" pitchFamily="34" charset="0"/>
              </a:rPr>
              <a:t>Our approach</a:t>
            </a:r>
            <a:endParaRPr kumimoji="1" lang="ja-JP" altLang="en-US" sz="3600" b="1" dirty="0">
              <a:solidFill>
                <a:srgbClr val="FF0000"/>
              </a:solidFill>
              <a:latin typeface="Arial" panose="020B0604020202020204" pitchFamily="34" charset="0"/>
              <a:cs typeface="Arial" panose="020B0604020202020204" pitchFamily="34" charset="0"/>
            </a:endParaRPr>
          </a:p>
        </p:txBody>
      </p:sp>
      <p:grpSp>
        <p:nvGrpSpPr>
          <p:cNvPr id="9" name="グループ化 8">
            <a:extLst>
              <a:ext uri="{FF2B5EF4-FFF2-40B4-BE49-F238E27FC236}">
                <a16:creationId xmlns:a16="http://schemas.microsoft.com/office/drawing/2014/main" id="{5C8AB17C-24EC-1D70-A57C-9F0A856596A9}"/>
              </a:ext>
            </a:extLst>
          </p:cNvPr>
          <p:cNvGrpSpPr/>
          <p:nvPr/>
        </p:nvGrpSpPr>
        <p:grpSpPr>
          <a:xfrm>
            <a:off x="9418920" y="10282390"/>
            <a:ext cx="4001416" cy="1293583"/>
            <a:chOff x="16462856" y="9295630"/>
            <a:chExt cx="5142607" cy="1784823"/>
          </a:xfrm>
        </p:grpSpPr>
        <p:sp>
          <p:nvSpPr>
            <p:cNvPr id="14" name="正方形/長方形 13">
              <a:extLst>
                <a:ext uri="{FF2B5EF4-FFF2-40B4-BE49-F238E27FC236}">
                  <a16:creationId xmlns:a16="http://schemas.microsoft.com/office/drawing/2014/main" id="{3746836C-83E0-C89B-8D50-FAAC411517D8}"/>
                </a:ext>
              </a:extLst>
            </p:cNvPr>
            <p:cNvSpPr/>
            <p:nvPr/>
          </p:nvSpPr>
          <p:spPr>
            <a:xfrm>
              <a:off x="16462856" y="9494484"/>
              <a:ext cx="4041648" cy="129358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1" name="正方形/長方形 20">
              <a:extLst>
                <a:ext uri="{FF2B5EF4-FFF2-40B4-BE49-F238E27FC236}">
                  <a16:creationId xmlns:a16="http://schemas.microsoft.com/office/drawing/2014/main" id="{2483BE21-E883-1C39-D881-D8A104083EB1}"/>
                </a:ext>
              </a:extLst>
            </p:cNvPr>
            <p:cNvSpPr/>
            <p:nvPr/>
          </p:nvSpPr>
          <p:spPr>
            <a:xfrm rot="20616866">
              <a:off x="19346287" y="9295630"/>
              <a:ext cx="2259176" cy="149655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5" name="正方形/長方形 24">
              <a:extLst>
                <a:ext uri="{FF2B5EF4-FFF2-40B4-BE49-F238E27FC236}">
                  <a16:creationId xmlns:a16="http://schemas.microsoft.com/office/drawing/2014/main" id="{02CF46DB-EF65-6EE1-AA3D-F75678EF70A2}"/>
                </a:ext>
              </a:extLst>
            </p:cNvPr>
            <p:cNvSpPr/>
            <p:nvPr/>
          </p:nvSpPr>
          <p:spPr>
            <a:xfrm>
              <a:off x="16462856" y="9833739"/>
              <a:ext cx="3178456" cy="124671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Arial" panose="020B0604020202020204" pitchFamily="34" charset="0"/>
                <a:cs typeface="Arial" panose="020B0604020202020204" pitchFamily="34" charset="0"/>
              </a:endParaRPr>
            </a:p>
          </p:txBody>
        </p:sp>
      </p:grpSp>
      <p:sp>
        <p:nvSpPr>
          <p:cNvPr id="26" name="正方形/長方形 25">
            <a:extLst>
              <a:ext uri="{FF2B5EF4-FFF2-40B4-BE49-F238E27FC236}">
                <a16:creationId xmlns:a16="http://schemas.microsoft.com/office/drawing/2014/main" id="{F9F08B1E-D52A-72C0-F516-C359D0969945}"/>
              </a:ext>
            </a:extLst>
          </p:cNvPr>
          <p:cNvSpPr/>
          <p:nvPr/>
        </p:nvSpPr>
        <p:spPr>
          <a:xfrm>
            <a:off x="9418920" y="7692650"/>
            <a:ext cx="3690520" cy="1293583"/>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200" dirty="0">
                <a:latin typeface="Arial" panose="020B0604020202020204" pitchFamily="34" charset="0"/>
                <a:cs typeface="Arial" panose="020B0604020202020204" pitchFamily="34" charset="0"/>
              </a:rPr>
              <a:t>satellite</a:t>
            </a:r>
            <a:endParaRPr kumimoji="1" lang="ja-JP" altLang="en-US" sz="3200" dirty="0">
              <a:latin typeface="Arial" panose="020B0604020202020204" pitchFamily="34" charset="0"/>
              <a:cs typeface="Arial" panose="020B0604020202020204" pitchFamily="34" charset="0"/>
            </a:endParaRPr>
          </a:p>
        </p:txBody>
      </p:sp>
      <p:cxnSp>
        <p:nvCxnSpPr>
          <p:cNvPr id="27" name="直線コネクタ 26">
            <a:extLst>
              <a:ext uri="{FF2B5EF4-FFF2-40B4-BE49-F238E27FC236}">
                <a16:creationId xmlns:a16="http://schemas.microsoft.com/office/drawing/2014/main" id="{DA3A1181-3F38-A986-20EA-E6256C7726FB}"/>
              </a:ext>
            </a:extLst>
          </p:cNvPr>
          <p:cNvCxnSpPr>
            <a:stCxn id="26" idx="3"/>
          </p:cNvCxnSpPr>
          <p:nvPr/>
        </p:nvCxnSpPr>
        <p:spPr>
          <a:xfrm flipV="1">
            <a:off x="13109440" y="8339441"/>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8" name="直線コネクタ 27">
            <a:extLst>
              <a:ext uri="{FF2B5EF4-FFF2-40B4-BE49-F238E27FC236}">
                <a16:creationId xmlns:a16="http://schemas.microsoft.com/office/drawing/2014/main" id="{32D63509-9AA5-4C46-AFF5-31500EE5B4EE}"/>
              </a:ext>
            </a:extLst>
          </p:cNvPr>
          <p:cNvCxnSpPr>
            <a:cxnSpLocks/>
          </p:cNvCxnSpPr>
          <p:nvPr/>
        </p:nvCxnSpPr>
        <p:spPr>
          <a:xfrm flipV="1">
            <a:off x="13313306" y="9908027"/>
            <a:ext cx="2166139" cy="714885"/>
          </a:xfrm>
          <a:prstGeom prst="line">
            <a:avLst/>
          </a:prstGeom>
          <a:ln w="38100">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29" name="テキスト ボックス 28">
            <a:extLst>
              <a:ext uri="{FF2B5EF4-FFF2-40B4-BE49-F238E27FC236}">
                <a16:creationId xmlns:a16="http://schemas.microsoft.com/office/drawing/2014/main" id="{2BB53D9F-20D7-AC68-2C16-3BC7C9CD5BF1}"/>
              </a:ext>
            </a:extLst>
          </p:cNvPr>
          <p:cNvSpPr txBox="1"/>
          <p:nvPr/>
        </p:nvSpPr>
        <p:spPr>
          <a:xfrm>
            <a:off x="14396375" y="7491220"/>
            <a:ext cx="1700784" cy="646331"/>
          </a:xfrm>
          <a:prstGeom prst="rect">
            <a:avLst/>
          </a:prstGeom>
          <a:noFill/>
        </p:spPr>
        <p:txBody>
          <a:bodyPr wrap="square" rtlCol="0">
            <a:spAutoFit/>
          </a:bodyPr>
          <a:lstStyle/>
          <a:p>
            <a:r>
              <a:rPr kumimoji="1" lang="en-US" altLang="ja-JP" sz="3600" dirty="0">
                <a:solidFill>
                  <a:schemeClr val="tx1">
                    <a:lumMod val="75000"/>
                    <a:lumOff val="25000"/>
                  </a:schemeClr>
                </a:solidFill>
                <a:latin typeface="Arial" panose="020B0604020202020204" pitchFamily="34" charset="0"/>
                <a:cs typeface="Arial" panose="020B0604020202020204" pitchFamily="34" charset="0"/>
              </a:rPr>
              <a:t>LOS</a:t>
            </a:r>
            <a:endParaRPr kumimoji="1" lang="ja-JP" altLang="en-US" sz="3600" dirty="0">
              <a:solidFill>
                <a:schemeClr val="tx1">
                  <a:lumMod val="75000"/>
                  <a:lumOff val="25000"/>
                </a:schemeClr>
              </a:solidFill>
              <a:latin typeface="Arial" panose="020B0604020202020204" pitchFamily="34" charset="0"/>
              <a:cs typeface="Arial" panose="020B0604020202020204" pitchFamily="34" charset="0"/>
            </a:endParaRPr>
          </a:p>
        </p:txBody>
      </p:sp>
      <p:sp>
        <p:nvSpPr>
          <p:cNvPr id="30" name="テキスト ボックス 29">
            <a:extLst>
              <a:ext uri="{FF2B5EF4-FFF2-40B4-BE49-F238E27FC236}">
                <a16:creationId xmlns:a16="http://schemas.microsoft.com/office/drawing/2014/main" id="{DEEBAA38-44FB-A72D-F047-CAF18749F345}"/>
              </a:ext>
            </a:extLst>
          </p:cNvPr>
          <p:cNvSpPr txBox="1"/>
          <p:nvPr/>
        </p:nvSpPr>
        <p:spPr>
          <a:xfrm>
            <a:off x="15456559" y="9306877"/>
            <a:ext cx="1700784" cy="646331"/>
          </a:xfrm>
          <a:prstGeom prst="rect">
            <a:avLst/>
          </a:prstGeom>
          <a:noFill/>
        </p:spPr>
        <p:txBody>
          <a:bodyPr wrap="square" rtlCol="0">
            <a:spAutoFit/>
          </a:bodyPr>
          <a:lstStyle/>
          <a:p>
            <a:r>
              <a:rPr kumimoji="1" lang="en-US" altLang="ja-JP" sz="3600" dirty="0">
                <a:solidFill>
                  <a:srgbClr val="FF0000"/>
                </a:solidFill>
                <a:latin typeface="Arial" panose="020B0604020202020204" pitchFamily="34" charset="0"/>
                <a:cs typeface="Arial" panose="020B0604020202020204" pitchFamily="34" charset="0"/>
              </a:rPr>
              <a:t>LOS</a:t>
            </a:r>
            <a:endParaRPr kumimoji="1" lang="ja-JP" altLang="en-US" sz="3600" dirty="0">
              <a:solidFill>
                <a:srgbClr val="FF0000"/>
              </a:solidFill>
              <a:latin typeface="Arial" panose="020B0604020202020204" pitchFamily="34" charset="0"/>
              <a:cs typeface="Arial" panose="020B0604020202020204" pitchFamily="34" charset="0"/>
            </a:endParaRPr>
          </a:p>
        </p:txBody>
      </p:sp>
      <p:cxnSp>
        <p:nvCxnSpPr>
          <p:cNvPr id="31" name="直線コネクタ 30">
            <a:extLst>
              <a:ext uri="{FF2B5EF4-FFF2-40B4-BE49-F238E27FC236}">
                <a16:creationId xmlns:a16="http://schemas.microsoft.com/office/drawing/2014/main" id="{0FC76142-7A1B-8A9E-0887-07C215A349F8}"/>
              </a:ext>
            </a:extLst>
          </p:cNvPr>
          <p:cNvCxnSpPr>
            <a:cxnSpLocks/>
          </p:cNvCxnSpPr>
          <p:nvPr/>
        </p:nvCxnSpPr>
        <p:spPr>
          <a:xfrm flipV="1">
            <a:off x="13410779" y="10665214"/>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sp>
        <p:nvSpPr>
          <p:cNvPr id="32" name="矢印: 下 31">
            <a:extLst>
              <a:ext uri="{FF2B5EF4-FFF2-40B4-BE49-F238E27FC236}">
                <a16:creationId xmlns:a16="http://schemas.microsoft.com/office/drawing/2014/main" id="{130A2CF9-0DFD-ED8B-DE73-F812611C58A0}"/>
              </a:ext>
            </a:extLst>
          </p:cNvPr>
          <p:cNvSpPr/>
          <p:nvPr/>
        </p:nvSpPr>
        <p:spPr>
          <a:xfrm>
            <a:off x="10949121" y="9212676"/>
            <a:ext cx="900743" cy="937547"/>
          </a:xfrm>
          <a:prstGeom prst="downArrow">
            <a:avLst/>
          </a:prstGeom>
          <a:solidFill>
            <a:schemeClr val="tx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33" name="テキスト ボックス 32">
            <a:extLst>
              <a:ext uri="{FF2B5EF4-FFF2-40B4-BE49-F238E27FC236}">
                <a16:creationId xmlns:a16="http://schemas.microsoft.com/office/drawing/2014/main" id="{04857D43-A2DA-1C29-51E8-BB7CC106C3AB}"/>
              </a:ext>
            </a:extLst>
          </p:cNvPr>
          <p:cNvSpPr txBox="1"/>
          <p:nvPr/>
        </p:nvSpPr>
        <p:spPr>
          <a:xfrm>
            <a:off x="8108355" y="10665214"/>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real: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4" name="テキスト ボックス 33">
            <a:extLst>
              <a:ext uri="{FF2B5EF4-FFF2-40B4-BE49-F238E27FC236}">
                <a16:creationId xmlns:a16="http://schemas.microsoft.com/office/drawing/2014/main" id="{110E13BC-76D1-CCF7-01CC-A941E9F2A1DD}"/>
              </a:ext>
            </a:extLst>
          </p:cNvPr>
          <p:cNvSpPr txBox="1"/>
          <p:nvPr/>
        </p:nvSpPr>
        <p:spPr>
          <a:xfrm>
            <a:off x="7927536" y="8127803"/>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ideal: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5" name="円弧 34">
            <a:extLst>
              <a:ext uri="{FF2B5EF4-FFF2-40B4-BE49-F238E27FC236}">
                <a16:creationId xmlns:a16="http://schemas.microsoft.com/office/drawing/2014/main" id="{92C183A9-6F38-013B-73E5-155B562B5AE9}"/>
              </a:ext>
            </a:extLst>
          </p:cNvPr>
          <p:cNvSpPr/>
          <p:nvPr/>
        </p:nvSpPr>
        <p:spPr>
          <a:xfrm rot="1912678">
            <a:off x="14120040" y="10170660"/>
            <a:ext cx="651647" cy="634508"/>
          </a:xfrm>
          <a:prstGeom prst="arc">
            <a:avLst>
              <a:gd name="adj1" fmla="val 16200000"/>
              <a:gd name="adj2" fmla="val 21382646"/>
            </a:avLst>
          </a:prstGeom>
          <a:ln w="762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40" name="テキスト ボックス 39">
            <a:extLst>
              <a:ext uri="{FF2B5EF4-FFF2-40B4-BE49-F238E27FC236}">
                <a16:creationId xmlns:a16="http://schemas.microsoft.com/office/drawing/2014/main" id="{577CA35F-9BE4-78AD-5047-860378EAC713}"/>
              </a:ext>
            </a:extLst>
          </p:cNvPr>
          <p:cNvSpPr txBox="1"/>
          <p:nvPr/>
        </p:nvSpPr>
        <p:spPr>
          <a:xfrm>
            <a:off x="11892048" y="9396919"/>
            <a:ext cx="3144770" cy="523220"/>
          </a:xfrm>
          <a:prstGeom prst="rect">
            <a:avLst/>
          </a:prstGeom>
          <a:noFill/>
        </p:spPr>
        <p:txBody>
          <a:bodyPr wrap="square" rtlCol="0">
            <a:spAutoFit/>
          </a:bodyPr>
          <a:lstStyle/>
          <a:p>
            <a:r>
              <a:rPr kumimoji="1" lang="en-US" altLang="ja-JP" sz="2800" dirty="0">
                <a:latin typeface="Arial" panose="020B0604020202020204" pitchFamily="34" charset="0"/>
                <a:cs typeface="Arial" panose="020B0604020202020204" pitchFamily="34" charset="0"/>
              </a:rPr>
              <a:t>Thermal distortion</a:t>
            </a:r>
            <a:endParaRPr kumimoji="1" lang="ja-JP" altLang="en-US" sz="2800" dirty="0">
              <a:latin typeface="Arial" panose="020B0604020202020204" pitchFamily="34" charset="0"/>
              <a:cs typeface="Arial" panose="020B0604020202020204" pitchFamily="34" charset="0"/>
            </a:endParaRPr>
          </a:p>
        </p:txBody>
      </p:sp>
      <p:sp>
        <p:nvSpPr>
          <p:cNvPr id="42" name="テキスト ボックス 41">
            <a:extLst>
              <a:ext uri="{FF2B5EF4-FFF2-40B4-BE49-F238E27FC236}">
                <a16:creationId xmlns:a16="http://schemas.microsoft.com/office/drawing/2014/main" id="{667603CC-24F4-588D-5DAF-CBA089AB0ACD}"/>
              </a:ext>
            </a:extLst>
          </p:cNvPr>
          <p:cNvSpPr txBox="1"/>
          <p:nvPr/>
        </p:nvSpPr>
        <p:spPr>
          <a:xfrm>
            <a:off x="10284672" y="10681272"/>
            <a:ext cx="1843992" cy="584775"/>
          </a:xfrm>
          <a:prstGeom prst="rect">
            <a:avLst/>
          </a:prstGeom>
          <a:noFill/>
        </p:spPr>
        <p:txBody>
          <a:bodyPr wrap="square">
            <a:spAutoFit/>
          </a:bodyPr>
          <a:lstStyle/>
          <a:p>
            <a:pPr algn="ctr"/>
            <a:r>
              <a:rPr kumimoji="1" lang="en-US" altLang="ja-JP" sz="3200" dirty="0">
                <a:solidFill>
                  <a:schemeClr val="bg1"/>
                </a:solidFill>
                <a:latin typeface="Arial" panose="020B0604020202020204" pitchFamily="34" charset="0"/>
                <a:cs typeface="Arial" panose="020B0604020202020204" pitchFamily="34" charset="0"/>
              </a:rPr>
              <a:t>satellite</a:t>
            </a:r>
            <a:endParaRPr kumimoji="1" lang="ja-JP" altLang="en-US" sz="32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7172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4673"/>
            <a:ext cx="15910559" cy="652486"/>
          </a:xfrm>
          <a:prstGeom prst="rect">
            <a:avLst/>
          </a:prstGeom>
          <a:noFill/>
        </p:spPr>
        <p:txBody>
          <a:bodyPr wrap="square" lIns="45720" tIns="18288" rIns="45720" bIns="18288" anchor="ctr">
            <a:spAutoFit/>
          </a:bodyPr>
          <a:lstStyle/>
          <a:p>
            <a:pPr algn="l">
              <a:spcAft>
                <a:spcPts val="0"/>
              </a:spcAft>
            </a:pPr>
            <a:endParaRPr lang="en-US" sz="2000" b="0" dirty="0">
              <a:solidFill>
                <a:srgbClr val="666F79"/>
              </a:solidFill>
              <a:latin typeface="Arial" panose="020B0604020202020204" pitchFamily="34" charset="0"/>
              <a:ea typeface="Yu Gothic"/>
              <a:cs typeface="Arial" panose="020B0604020202020204" pitchFamily="34" charset="0"/>
            </a:endParaRPr>
          </a:p>
          <a:p>
            <a:pPr algn="l">
              <a:spcAft>
                <a:spcPts val="0"/>
              </a:spcAft>
            </a:pPr>
            <a:r>
              <a:rPr lang="en-US" sz="2000" b="0">
                <a:solidFill>
                  <a:srgbClr val="666F79"/>
                </a:solidFill>
                <a:latin typeface="Arial" panose="020B0604020202020204" pitchFamily="34" charset="0"/>
                <a:ea typeface="Yu Gothic"/>
                <a:cs typeface="Arial" panose="020B0604020202020204" pitchFamily="34" charset="0"/>
              </a:rPr>
              <a:t>Background</a:t>
            </a:r>
            <a:endParaRPr lang="en-US" sz="2000" b="0" dirty="0">
              <a:solidFill>
                <a:srgbClr val="666F79"/>
              </a:solidFill>
              <a:latin typeface="Arial" panose="020B0604020202020204" pitchFamily="34" charset="0"/>
              <a:ea typeface="Yu Gothic"/>
              <a:cs typeface="Arial" panose="020B0604020202020204" pitchFamily="34" charset="0"/>
            </a:endParaRPr>
          </a:p>
        </p:txBody>
      </p:sp>
      <p:sp>
        <p:nvSpPr>
          <p:cNvPr id="3" name="TextBox 2"/>
          <p:cNvSpPr txBox="1"/>
          <p:nvPr/>
        </p:nvSpPr>
        <p:spPr>
          <a:xfrm>
            <a:off x="1536192" y="1082811"/>
            <a:ext cx="22037040" cy="1619995"/>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lang="en-US" sz="3200" b="1" dirty="0">
                <a:solidFill>
                  <a:srgbClr val="082B52"/>
                </a:solidFill>
                <a:latin typeface="Arial" panose="020B0604020202020204" pitchFamily="34" charset="0"/>
                <a:ea typeface="Yu Gothic"/>
                <a:cs typeface="Arial" panose="020B0604020202020204" pitchFamily="34" charset="0"/>
              </a:rPr>
              <a:t>Thermal </a:t>
            </a:r>
            <a:r>
              <a:rPr lang="en-US" altLang="ja-JP" sz="3200" b="1" dirty="0">
                <a:solidFill>
                  <a:srgbClr val="082B52"/>
                </a:solidFill>
                <a:latin typeface="Arial" panose="020B0604020202020204" pitchFamily="34" charset="0"/>
                <a:ea typeface="Yu Gothic"/>
                <a:cs typeface="Arial" panose="020B0604020202020204" pitchFamily="34" charset="0"/>
              </a:rPr>
              <a:t>LOS error</a:t>
            </a:r>
            <a:r>
              <a:rPr lang="en-US" sz="3200" b="1" dirty="0">
                <a:solidFill>
                  <a:srgbClr val="082B52"/>
                </a:solidFill>
                <a:latin typeface="Arial" panose="020B0604020202020204" pitchFamily="34" charset="0"/>
                <a:ea typeface="Yu Gothic"/>
                <a:cs typeface="Arial" panose="020B0604020202020204" pitchFamily="34" charset="0"/>
              </a:rPr>
              <a:t> can match or exceed orbit-prediction </a:t>
            </a:r>
            <a:r>
              <a:rPr lang="en-US" sz="3200" b="1">
                <a:solidFill>
                  <a:srgbClr val="082B52"/>
                </a:solidFill>
                <a:latin typeface="Arial" panose="020B0604020202020204" pitchFamily="34" charset="0"/>
                <a:ea typeface="Yu Gothic"/>
                <a:cs typeface="Arial" panose="020B0604020202020204" pitchFamily="34" charset="0"/>
              </a:rPr>
              <a:t>error</a:t>
            </a:r>
            <a:r>
              <a:rPr lang="en-US" altLang="ja-JP" sz="3200" b="1">
                <a:solidFill>
                  <a:srgbClr val="082B52"/>
                </a:solidFill>
                <a:latin typeface="Arial" panose="020B0604020202020204" pitchFamily="34" charset="0"/>
                <a:ea typeface="Yu Gothic"/>
                <a:cs typeface="Arial" panose="020B0604020202020204" pitchFamily="34" charset="0"/>
              </a:rPr>
              <a:t>—</a:t>
            </a:r>
            <a:r>
              <a:rPr lang="en-US" sz="3200" b="1">
                <a:solidFill>
                  <a:srgbClr val="082B52"/>
                </a:solidFill>
                <a:latin typeface="Arial" panose="020B0604020202020204" pitchFamily="34" charset="0"/>
                <a:ea typeface="Yu Gothic"/>
                <a:cs typeface="Arial" panose="020B0604020202020204" pitchFamily="34" charset="0"/>
              </a:rPr>
              <a:t>and cannot be optically separated before acquisition</a:t>
            </a:r>
            <a:endParaRPr lang="en-US" sz="3200" b="1" dirty="0">
              <a:solidFill>
                <a:srgbClr val="082B52"/>
              </a:solidFill>
              <a:latin typeface="Arial" panose="020B0604020202020204" pitchFamily="34" charset="0"/>
              <a:ea typeface="Yu Gothic"/>
              <a:cs typeface="Arial" panose="020B0604020202020204" pitchFamily="34" charset="0"/>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cs typeface="Arial" panose="020B0604020202020204" pitchFamily="34" charset="0"/>
              </a:rPr>
              <a:t>4</a:t>
            </a:r>
            <a:endParaRPr lang="en-US" sz="1800" b="0" dirty="0">
              <a:solidFill>
                <a:srgbClr val="666F79"/>
              </a:solidFill>
              <a:latin typeface="Arial" panose="020B0604020202020204" pitchFamily="34" charset="0"/>
              <a:ea typeface="Yu Gothic"/>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044274270"/>
              </p:ext>
            </p:extLst>
          </p:nvPr>
        </p:nvGraphicFramePr>
        <p:xfrm>
          <a:off x="1463040" y="3200400"/>
          <a:ext cx="21396958" cy="5120635"/>
        </p:xfrm>
        <a:graphic>
          <a:graphicData uri="http://schemas.openxmlformats.org/drawingml/2006/table">
            <a:tbl>
              <a:tblPr firstRow="1" bandRow="1">
                <a:tableStyleId>{5C22544A-7EE6-4342-B048-85BDC9FD1C3A}</a:tableStyleId>
              </a:tblPr>
              <a:tblGrid>
                <a:gridCol w="7509510">
                  <a:extLst>
                    <a:ext uri="{9D8B030D-6E8A-4147-A177-3AD203B41FA5}">
                      <a16:colId xmlns:a16="http://schemas.microsoft.com/office/drawing/2014/main" val="20000"/>
                    </a:ext>
                  </a:extLst>
                </a:gridCol>
                <a:gridCol w="7349488">
                  <a:extLst>
                    <a:ext uri="{9D8B030D-6E8A-4147-A177-3AD203B41FA5}">
                      <a16:colId xmlns:a16="http://schemas.microsoft.com/office/drawing/2014/main" val="20001"/>
                    </a:ext>
                  </a:extLst>
                </a:gridCol>
                <a:gridCol w="6537960">
                  <a:extLst>
                    <a:ext uri="{9D8B030D-6E8A-4147-A177-3AD203B41FA5}">
                      <a16:colId xmlns:a16="http://schemas.microsoft.com/office/drawing/2014/main" val="20002"/>
                    </a:ext>
                  </a:extLst>
                </a:gridCol>
              </a:tblGrid>
              <a:tr h="1024127">
                <a:tc>
                  <a:txBody>
                    <a:bodyPr/>
                    <a:lstStyle/>
                    <a:p>
                      <a:pPr algn="l">
                        <a:spcAft>
                          <a:spcPts val="0"/>
                        </a:spcAft>
                      </a:pPr>
                      <a:r>
                        <a:rPr lang="en-US" sz="2800" b="1">
                          <a:solidFill>
                            <a:srgbClr val="FFFFFF"/>
                          </a:solidFill>
                          <a:latin typeface="Arial" panose="020B0604020202020204" pitchFamily="34" charset="0"/>
                          <a:ea typeface="Yu Gothic"/>
                          <a:cs typeface="Arial" panose="020B0604020202020204" pitchFamily="34" charset="0"/>
                        </a:rPr>
                        <a:t>Error source</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cs typeface="Arial" panose="020B0604020202020204" pitchFamily="34" charset="0"/>
                        </a:rPr>
                        <a:t>Approximate magnitude</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cs typeface="Arial" panose="020B0604020202020204" pitchFamily="34" charset="0"/>
                        </a:rPr>
                        <a:t>Time variation</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extLst>
                  <a:ext uri="{0D108BD9-81ED-4DB2-BD59-A6C34878D82A}">
                    <a16:rowId xmlns:a16="http://schemas.microsoft.com/office/drawing/2014/main" val="10000"/>
                  </a:ext>
                </a:extLst>
              </a:tr>
              <a:tr h="1024127">
                <a:tc>
                  <a:txBody>
                    <a:bodyPr/>
                    <a:lstStyle/>
                    <a:p>
                      <a:pPr algn="l">
                        <a:spcAft>
                          <a:spcPts val="0"/>
                        </a:spcAft>
                      </a:pPr>
                      <a:r>
                        <a:rPr lang="en-US" sz="2800" b="0" dirty="0">
                          <a:solidFill>
                            <a:srgbClr val="232B34"/>
                          </a:solidFill>
                          <a:latin typeface="Arial" panose="020B0604020202020204" pitchFamily="34" charset="0"/>
                          <a:ea typeface="Yu Gothic"/>
                          <a:cs typeface="Arial" panose="020B0604020202020204" pitchFamily="34" charset="0"/>
                        </a:rPr>
                        <a:t>Thermal LOS</a:t>
                      </a: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150 µrad–1000 µrad (this analysis)</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Orbital period (~100 min in LEO)</a:t>
                      </a:r>
                      <a:endParaRPr lang="en-US" sz="2800" b="0" dirty="0" err="1">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extLst>
                  <a:ext uri="{0D108BD9-81ED-4DB2-BD59-A6C34878D82A}">
                    <a16:rowId xmlns:a16="http://schemas.microsoft.com/office/drawing/2014/main" val="10001"/>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Orbit prediction</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Several hundred µrad (TLE propagation vs. precise GPS ephemeris)</a:t>
                      </a: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Orbital period (~100 min in LEO)</a:t>
                      </a:r>
                      <a:endParaRPr lang="en-US" sz="2800" b="0" dirty="0" err="1">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extLst>
                  <a:ext uri="{0D108BD9-81ED-4DB2-BD59-A6C34878D82A}">
                    <a16:rowId xmlns:a16="http://schemas.microsoft.com/office/drawing/2014/main" val="10002"/>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Attitude and calibrated alignment</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Tens of µrad</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DC to broadband</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EBF6FB"/>
                    </a:solidFill>
                  </a:tcPr>
                </a:tc>
                <a:extLst>
                  <a:ext uri="{0D108BD9-81ED-4DB2-BD59-A6C34878D82A}">
                    <a16:rowId xmlns:a16="http://schemas.microsoft.com/office/drawing/2014/main" val="10003"/>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Mechanical vibration</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Several to tens of µrad</a:t>
                      </a:r>
                    </a:p>
                  </a:txBody>
                  <a:tcPr marL="128016" marR="128016"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High frequency (post-acquisition fine tracking)</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458200"/>
            <a:ext cx="21396960" cy="344710"/>
          </a:xfrm>
          <a:prstGeom prst="rect">
            <a:avLst/>
          </a:prstGeom>
          <a:noFill/>
        </p:spPr>
        <p:txBody>
          <a:bodyPr wrap="square" lIns="45720" tIns="18288" rIns="45720" bIns="18288" anchor="t">
            <a:spAutoFit/>
          </a:bodyPr>
          <a:lstStyle/>
          <a:p>
            <a:pPr algn="l">
              <a:spcAft>
                <a:spcPts val="0"/>
              </a:spcAft>
            </a:pPr>
            <a:r>
              <a:rPr lang="en-US" sz="2000" b="0" dirty="0">
                <a:solidFill>
                  <a:srgbClr val="666F79"/>
                </a:solidFill>
                <a:latin typeface="Arial" panose="020B0604020202020204" pitchFamily="34" charset="0"/>
                <a:ea typeface="Yu Gothic"/>
                <a:cs typeface="Arial" panose="020B0604020202020204" pitchFamily="34" charset="0"/>
              </a:rPr>
              <a:t>* Thermal LOS</a:t>
            </a:r>
            <a:r>
              <a:rPr lang="en-US" altLang="ja-JP" sz="2000" b="0" dirty="0">
                <a:solidFill>
                  <a:srgbClr val="666F79"/>
                </a:solidFill>
                <a:latin typeface="Arial" panose="020B0604020202020204" pitchFamily="34" charset="0"/>
                <a:ea typeface="Yu Gothic"/>
                <a:cs typeface="Arial" panose="020B0604020202020204" pitchFamily="34" charset="0"/>
              </a:rPr>
              <a:t> and orbit-prediction error are from this analysis</a:t>
            </a:r>
            <a:r>
              <a:rPr lang="en-US" altLang="ja-JP" sz="2000" b="0">
                <a:solidFill>
                  <a:srgbClr val="666F79"/>
                </a:solidFill>
                <a:latin typeface="Arial" panose="020B0604020202020204" pitchFamily="34" charset="0"/>
                <a:ea typeface="Yu Gothic"/>
                <a:cs typeface="Arial" panose="020B0604020202020204" pitchFamily="34" charset="0"/>
              </a:rPr>
              <a:t>; </a:t>
            </a:r>
            <a:r>
              <a:rPr lang="en-US" sz="2000" b="0">
                <a:solidFill>
                  <a:srgbClr val="666F79"/>
                </a:solidFill>
                <a:latin typeface="Arial" panose="020B0604020202020204" pitchFamily="34" charset="0"/>
                <a:ea typeface="Yu Gothic"/>
                <a:cs typeface="Arial" panose="020B0604020202020204" pitchFamily="34" charset="0"/>
              </a:rPr>
              <a:t>other values are literature-based order-of-magnitude estimates.</a:t>
            </a:r>
            <a:endParaRPr lang="en-US" sz="2000" b="0" dirty="0">
              <a:solidFill>
                <a:srgbClr val="666F79"/>
              </a:solidFill>
              <a:latin typeface="Arial" panose="020B0604020202020204" pitchFamily="34" charset="0"/>
              <a:ea typeface="Yu Gothic"/>
              <a:cs typeface="Arial" panose="020B0604020202020204" pitchFamily="34" charset="0"/>
            </a:endParaRPr>
          </a:p>
        </p:txBody>
      </p:sp>
      <p:sp>
        <p:nvSpPr>
          <p:cNvPr id="7" name="Rounded Rectangle 6"/>
          <p:cNvSpPr/>
          <p:nvPr/>
        </p:nvSpPr>
        <p:spPr>
          <a:xfrm>
            <a:off x="1463040" y="9418320"/>
            <a:ext cx="21396960" cy="3785616"/>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rial" panose="020B0604020202020204" pitchFamily="34" charset="0"/>
              <a:cs typeface="Arial" panose="020B0604020202020204" pitchFamily="34" charset="0"/>
            </a:endParaRPr>
          </a:p>
        </p:txBody>
      </p:sp>
      <p:sp>
        <p:nvSpPr>
          <p:cNvPr id="8" name="TextBox 7"/>
          <p:cNvSpPr txBox="1"/>
          <p:nvPr/>
        </p:nvSpPr>
        <p:spPr>
          <a:xfrm>
            <a:off x="1828800" y="9646920"/>
            <a:ext cx="20665440" cy="1185389"/>
          </a:xfrm>
          <a:prstGeom prst="rect">
            <a:avLst/>
          </a:prstGeom>
          <a:noFill/>
        </p:spPr>
        <p:txBody>
          <a:bodyPr wrap="square" lIns="45720" tIns="18288" rIns="45720" bIns="18288" anchor="t">
            <a:spAutoFit/>
          </a:bodyPr>
          <a:lstStyle/>
          <a:p>
            <a:pPr algn="ctr">
              <a:lnSpc>
                <a:spcPct val="120000"/>
              </a:lnSpc>
              <a:spcAft>
                <a:spcPts val="0"/>
              </a:spcAft>
            </a:pPr>
            <a:r>
              <a:rPr lang="en-US" sz="3200" dirty="0">
                <a:solidFill>
                  <a:srgbClr val="082B52"/>
                </a:solidFill>
                <a:latin typeface="Arial" panose="020B0604020202020204" pitchFamily="34" charset="0"/>
                <a:ea typeface="Yu Gothic"/>
                <a:cs typeface="Arial" panose="020B0604020202020204" pitchFamily="34" charset="0"/>
              </a:rPr>
              <a:t>Thermal LOS and orbit prediction </a:t>
            </a:r>
            <a:r>
              <a:rPr lang="en-US" sz="3200">
                <a:solidFill>
                  <a:srgbClr val="082B52"/>
                </a:solidFill>
                <a:latin typeface="Arial" panose="020B0604020202020204" pitchFamily="34" charset="0"/>
                <a:ea typeface="Yu Gothic"/>
                <a:cs typeface="Arial" panose="020B0604020202020204" pitchFamily="34" charset="0"/>
              </a:rPr>
              <a:t>share </a:t>
            </a:r>
            <a:r>
              <a:rPr lang="en-US" altLang="ja-JP" sz="3200">
                <a:solidFill>
                  <a:srgbClr val="082B52"/>
                </a:solidFill>
                <a:latin typeface="Arial" panose="020B0604020202020204" pitchFamily="34" charset="0"/>
                <a:ea typeface="Yu Gothic"/>
                <a:cs typeface="Arial" panose="020B0604020202020204" pitchFamily="34" charset="0"/>
              </a:rPr>
              <a:t>similar</a:t>
            </a:r>
            <a:r>
              <a:rPr lang="en-US" sz="3200">
                <a:solidFill>
                  <a:srgbClr val="082B52"/>
                </a:solidFill>
                <a:latin typeface="Arial" panose="020B0604020202020204" pitchFamily="34" charset="0"/>
                <a:ea typeface="Yu Gothic"/>
                <a:cs typeface="Arial" panose="020B0604020202020204" pitchFamily="34" charset="0"/>
              </a:rPr>
              <a:t> orbital periods</a:t>
            </a:r>
          </a:p>
          <a:p>
            <a:pPr algn="ctr">
              <a:lnSpc>
                <a:spcPct val="120000"/>
              </a:lnSpc>
              <a:spcAft>
                <a:spcPts val="0"/>
              </a:spcAft>
            </a:pPr>
            <a:r>
              <a:rPr lang="en-US" sz="3200">
                <a:solidFill>
                  <a:srgbClr val="082B52"/>
                </a:solidFill>
                <a:latin typeface="Arial" panose="020B0604020202020204" pitchFamily="34" charset="0"/>
                <a:ea typeface="Yu Gothic"/>
                <a:cs typeface="Arial" panose="020B0604020202020204" pitchFamily="34" charset="0"/>
              </a:rPr>
              <a:t>Frequency separation of post-acquisition residuals cannot isolate the thermal component</a:t>
            </a:r>
            <a:endParaRPr lang="en-US" sz="3200" dirty="0">
              <a:solidFill>
                <a:srgbClr val="082B52"/>
              </a:solidFill>
              <a:latin typeface="Arial" panose="020B0604020202020204" pitchFamily="34" charset="0"/>
              <a:ea typeface="Yu Gothic"/>
              <a:cs typeface="Arial" panose="020B0604020202020204" pitchFamily="34" charset="0"/>
            </a:endParaRPr>
          </a:p>
        </p:txBody>
      </p:sp>
      <p:sp>
        <p:nvSpPr>
          <p:cNvPr id="9" name="TextBox 8"/>
          <p:cNvSpPr txBox="1"/>
          <p:nvPr/>
        </p:nvSpPr>
        <p:spPr>
          <a:xfrm>
            <a:off x="1463040" y="11772900"/>
            <a:ext cx="21396960" cy="1021818"/>
          </a:xfrm>
          <a:prstGeom prst="rect">
            <a:avLst/>
          </a:prstGeom>
          <a:noFill/>
        </p:spPr>
        <p:txBody>
          <a:bodyPr wrap="square" lIns="45720" tIns="18288" rIns="45720" bIns="18288" anchor="t">
            <a:spAutoFit/>
          </a:bodyPr>
          <a:lstStyle/>
          <a:p>
            <a:pPr algn="ctr">
              <a:spcAft>
                <a:spcPts val="0"/>
              </a:spcAft>
            </a:pPr>
            <a:r>
              <a:rPr lang="en-US" sz="3200" b="1" dirty="0">
                <a:latin typeface="Arial" panose="020B0604020202020204" pitchFamily="34" charset="0"/>
                <a:ea typeface="Yu Gothic"/>
                <a:cs typeface="Arial" panose="020B0604020202020204" pitchFamily="34" charset="0"/>
              </a:rPr>
              <a:t>Do not </a:t>
            </a:r>
            <a:r>
              <a:rPr lang="en-US" altLang="ja-JP" sz="3200" b="1" dirty="0">
                <a:latin typeface="Arial" panose="020B0604020202020204" pitchFamily="34" charset="0"/>
                <a:ea typeface="Yu Gothic"/>
                <a:cs typeface="Arial" panose="020B0604020202020204" pitchFamily="34" charset="0"/>
              </a:rPr>
              <a:t>separate thermal </a:t>
            </a:r>
            <a:r>
              <a:rPr lang="en-US" altLang="ja-JP" sz="3200" b="1">
                <a:latin typeface="Arial" panose="020B0604020202020204" pitchFamily="34" charset="0"/>
                <a:ea typeface="Yu Gothic"/>
                <a:cs typeface="Arial" panose="020B0604020202020204" pitchFamily="34" charset="0"/>
              </a:rPr>
              <a:t>effects retrospectively</a:t>
            </a:r>
            <a:r>
              <a:rPr lang="en-US" sz="3200" b="1">
                <a:latin typeface="Arial" panose="020B0604020202020204" pitchFamily="34" charset="0"/>
                <a:ea typeface="Yu Gothic"/>
                <a:cs typeface="Arial" panose="020B0604020202020204" pitchFamily="34" charset="0"/>
              </a:rPr>
              <a:t> from observations</a:t>
            </a:r>
            <a:endParaRPr lang="en-US" sz="3200" b="1" dirty="0">
              <a:latin typeface="Arial" panose="020B0604020202020204" pitchFamily="34" charset="0"/>
              <a:ea typeface="Yu Gothic"/>
              <a:cs typeface="Arial" panose="020B0604020202020204" pitchFamily="34" charset="0"/>
            </a:endParaRPr>
          </a:p>
          <a:p>
            <a:pPr algn="ctr">
              <a:spcAft>
                <a:spcPts val="0"/>
              </a:spcAft>
            </a:pPr>
            <a:r>
              <a:rPr lang="en-US" sz="3200" b="1" dirty="0">
                <a:latin typeface="Arial" panose="020B0604020202020204" pitchFamily="34" charset="0"/>
                <a:ea typeface="Yu Gothic"/>
                <a:cs typeface="Arial" panose="020B0604020202020204" pitchFamily="34" charset="0"/>
              </a:rPr>
              <a:t>Use temperature and operating </a:t>
            </a:r>
            <a:r>
              <a:rPr lang="en-US" sz="3200" b="1">
                <a:latin typeface="Arial" panose="020B0604020202020204" pitchFamily="34" charset="0"/>
                <a:ea typeface="Yu Gothic"/>
                <a:cs typeface="Arial" panose="020B0604020202020204" pitchFamily="34" charset="0"/>
              </a:rPr>
              <a:t>state</a:t>
            </a:r>
            <a:r>
              <a:rPr lang="en-US" altLang="ja-JP" sz="3200" b="1">
                <a:latin typeface="Arial" panose="020B0604020202020204" pitchFamily="34" charset="0"/>
                <a:ea typeface="Yu Gothic"/>
                <a:cs typeface="Arial" panose="020B0604020202020204" pitchFamily="34" charset="0"/>
              </a:rPr>
              <a:t> </a:t>
            </a:r>
            <a:r>
              <a:rPr lang="en-US" sz="3200" b="1">
                <a:latin typeface="Arial" panose="020B0604020202020204" pitchFamily="34" charset="0"/>
                <a:ea typeface="Yu Gothic"/>
                <a:cs typeface="Arial" panose="020B0604020202020204" pitchFamily="34" charset="0"/>
              </a:rPr>
              <a:t>to subtract them before acquisition</a:t>
            </a:r>
            <a:endParaRPr lang="en-US" sz="3200" b="1" dirty="0">
              <a:latin typeface="Arial" panose="020B0604020202020204" pitchFamily="34" charset="0"/>
              <a:ea typeface="Yu Gothic"/>
              <a:cs typeface="Arial" panose="020B0604020202020204" pitchFamily="34" charset="0"/>
            </a:endParaRPr>
          </a:p>
        </p:txBody>
      </p:sp>
      <p:sp>
        <p:nvSpPr>
          <p:cNvPr id="11" name="矢印: 右 10">
            <a:extLst>
              <a:ext uri="{FF2B5EF4-FFF2-40B4-BE49-F238E27FC236}">
                <a16:creationId xmlns:a16="http://schemas.microsoft.com/office/drawing/2014/main" id="{94240433-D79D-CFAB-63F5-3885639F5032}"/>
              </a:ext>
            </a:extLst>
          </p:cNvPr>
          <p:cNvSpPr/>
          <p:nvPr/>
        </p:nvSpPr>
        <p:spPr>
          <a:xfrm rot="5400000">
            <a:off x="11918047" y="11028683"/>
            <a:ext cx="685800" cy="547842"/>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Arial" panose="020B0604020202020204" pitchFamily="34" charset="0"/>
              <a:cs typeface="Arial" panose="020B0604020202020204" pitchFamily="34" charset="0"/>
            </a:endParaRPr>
          </a:p>
        </p:txBody>
      </p:sp>
      <p:sp>
        <p:nvSpPr>
          <p:cNvPr id="12" name="テキスト ボックス 11">
            <a:extLst>
              <a:ext uri="{FF2B5EF4-FFF2-40B4-BE49-F238E27FC236}">
                <a16:creationId xmlns:a16="http://schemas.microsoft.com/office/drawing/2014/main" id="{98366AD8-6DF9-7CF4-554B-CA06B88994F7}"/>
              </a:ext>
            </a:extLst>
          </p:cNvPr>
          <p:cNvSpPr txBox="1"/>
          <p:nvPr/>
        </p:nvSpPr>
        <p:spPr>
          <a:xfrm>
            <a:off x="5619750" y="2707542"/>
            <a:ext cx="12192000" cy="523220"/>
          </a:xfrm>
          <a:prstGeom prst="rect">
            <a:avLst/>
          </a:prstGeom>
          <a:noFill/>
        </p:spPr>
        <p:txBody>
          <a:bodyPr wrap="square">
            <a:spAutoFit/>
          </a:bodyPr>
          <a:lstStyle/>
          <a:p>
            <a:pPr algn="ctr">
              <a:buNone/>
            </a:pPr>
            <a:r>
              <a:rPr lang="en-US" altLang="ja-JP" sz="2800" b="1">
                <a:solidFill>
                  <a:schemeClr val="tx2">
                    <a:lumMod val="50000"/>
                  </a:schemeClr>
                </a:solidFill>
                <a:latin typeface="Arial" panose="020B0604020202020204" pitchFamily="34" charset="0"/>
                <a:cs typeface="Arial" panose="020B0604020202020204" pitchFamily="34" charset="0"/>
              </a:rPr>
              <a:t>Main contributors to scan-center LOS error during coarse acquisition</a:t>
            </a:r>
            <a:endParaRPr lang="en-US" altLang="ja-JP" sz="2800" dirty="0">
              <a:solidFill>
                <a:schemeClr val="tx2">
                  <a:lumMod val="50000"/>
                </a:schemeClr>
              </a:solidFill>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lang="en-US" altLang="ja-JP" sz="3200" b="1">
                <a:solidFill>
                  <a:srgbClr val="082B52"/>
                </a:solidFill>
                <a:latin typeface="Arial" panose="020B0604020202020204" pitchFamily="34" charset="0"/>
                <a:ea typeface="Yu Gothic"/>
                <a:cs typeface="Arial" panose="020B0604020202020204" pitchFamily="34" charset="0"/>
              </a:rPr>
              <a:t>Prior work on thermal-deformation LOS error prediction and this study</a:t>
            </a:r>
            <a:endParaRPr lang="en-US" sz="3200" b="1" dirty="0">
              <a:solidFill>
                <a:srgbClr val="082B52"/>
              </a:solidFill>
              <a:latin typeface="Arial" panose="020B0604020202020204" pitchFamily="34" charset="0"/>
              <a:ea typeface="Yu Gothic"/>
              <a:cs typeface="Arial" panose="020B0604020202020204" pitchFamily="34" charset="0"/>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5</a:t>
            </a:r>
            <a:endParaRPr lang="en-US" sz="1800" b="0" dirty="0">
              <a:solidFill>
                <a:srgbClr val="666F79"/>
              </a:solidFill>
              <a:latin typeface="Arial" panose="020B0604020202020204" pitchFamily="34" charset="0"/>
              <a:ea typeface="Yu Gothic"/>
            </a:endParaRPr>
          </a:p>
        </p:txBody>
      </p:sp>
      <p:graphicFrame>
        <p:nvGraphicFramePr>
          <p:cNvPr id="10" name="表 9">
            <a:extLst>
              <a:ext uri="{FF2B5EF4-FFF2-40B4-BE49-F238E27FC236}">
                <a16:creationId xmlns:a16="http://schemas.microsoft.com/office/drawing/2014/main" id="{A46055EF-9EAE-9D40-A161-EC7FBD1C0AFE}"/>
              </a:ext>
            </a:extLst>
          </p:cNvPr>
          <p:cNvGraphicFramePr>
            <a:graphicFrameLocks noGrp="1"/>
          </p:cNvGraphicFramePr>
          <p:nvPr>
            <p:extLst>
              <p:ext uri="{D42A27DB-BD31-4B8C-83A1-F6EECF244321}">
                <p14:modId xmlns:p14="http://schemas.microsoft.com/office/powerpoint/2010/main" val="2735767673"/>
              </p:ext>
            </p:extLst>
          </p:nvPr>
        </p:nvGraphicFramePr>
        <p:xfrm>
          <a:off x="2160290" y="3045590"/>
          <a:ext cx="20474920" cy="6989418"/>
        </p:xfrm>
        <a:graphic>
          <a:graphicData uri="http://schemas.openxmlformats.org/drawingml/2006/table">
            <a:tbl>
              <a:tblPr firstRow="1" bandRow="1">
                <a:tableStyleId>{5C22544A-7EE6-4342-B048-85BDC9FD1C3A}</a:tableStyleId>
              </a:tblPr>
              <a:tblGrid>
                <a:gridCol w="4507210">
                  <a:extLst>
                    <a:ext uri="{9D8B030D-6E8A-4147-A177-3AD203B41FA5}">
                      <a16:colId xmlns:a16="http://schemas.microsoft.com/office/drawing/2014/main" val="1548032301"/>
                    </a:ext>
                  </a:extLst>
                </a:gridCol>
                <a:gridCol w="5730250">
                  <a:extLst>
                    <a:ext uri="{9D8B030D-6E8A-4147-A177-3AD203B41FA5}">
                      <a16:colId xmlns:a16="http://schemas.microsoft.com/office/drawing/2014/main" val="2689480544"/>
                    </a:ext>
                  </a:extLst>
                </a:gridCol>
                <a:gridCol w="5118730">
                  <a:extLst>
                    <a:ext uri="{9D8B030D-6E8A-4147-A177-3AD203B41FA5}">
                      <a16:colId xmlns:a16="http://schemas.microsoft.com/office/drawing/2014/main" val="3075504841"/>
                    </a:ext>
                  </a:extLst>
                </a:gridCol>
                <a:gridCol w="5118730">
                  <a:extLst>
                    <a:ext uri="{9D8B030D-6E8A-4147-A177-3AD203B41FA5}">
                      <a16:colId xmlns:a16="http://schemas.microsoft.com/office/drawing/2014/main" val="39855268"/>
                    </a:ext>
                  </a:extLst>
                </a:gridCol>
              </a:tblGrid>
              <a:tr h="649290">
                <a:tc>
                  <a:txBody>
                    <a:bodyPr/>
                    <a:lstStyle/>
                    <a:p>
                      <a:pPr>
                        <a:buNone/>
                      </a:pPr>
                      <a:r>
                        <a:rPr lang="en-US" altLang="ja-JP" sz="2800" b="0">
                          <a:solidFill>
                            <a:schemeClr val="bg1"/>
                          </a:solidFill>
                          <a:latin typeface="Arial" panose="020B0604020202020204" pitchFamily="34" charset="0"/>
                          <a:cs typeface="Arial" panose="020B0604020202020204" pitchFamily="34" charset="0"/>
                        </a:rPr>
                        <a:t>Field</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Conventional PAT design</a:t>
                      </a:r>
                      <a:endParaRPr 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Earth observation / optics</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8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This study’s PAT design </a:t>
                      </a:r>
                      <a:endParaRPr 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1866067178"/>
                  </a:ext>
                </a:extLst>
              </a:tr>
              <a:tr h="2253419">
                <a:tc>
                  <a:txBody>
                    <a:bodyPr/>
                    <a:lstStyle/>
                    <a:p>
                      <a:pPr>
                        <a:buNone/>
                      </a:pPr>
                      <a:r>
                        <a:rPr lang="en-US" altLang="ja-JP" sz="2800" b="0">
                          <a:solidFill>
                            <a:schemeClr val="bg1"/>
                          </a:solidFill>
                          <a:latin typeface="Arial" panose="020B0604020202020204" pitchFamily="34" charset="0"/>
                          <a:cs typeface="Arial" panose="020B0604020202020204" pitchFamily="34" charset="0"/>
                        </a:rPr>
                        <a:t>Approach to thermal deformation</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dirty="0">
                          <a:solidFill>
                            <a:schemeClr val="tx1"/>
                          </a:solidFill>
                          <a:latin typeface="Arial" panose="020B0604020202020204" pitchFamily="34" charset="0"/>
                          <a:cs typeface="Arial" panose="020B0604020202020204" pitchFamily="34" charset="0"/>
                        </a:rPr>
                        <a:t>Absorb thermal error through scan range or beam divergence</a:t>
                      </a:r>
                    </a:p>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a:solidFill>
                            <a:schemeClr val="tx1"/>
                          </a:solidFill>
                          <a:latin typeface="Arial" panose="020B0604020202020204" pitchFamily="34" charset="0"/>
                          <a:cs typeface="Arial" panose="020B0604020202020204" pitchFamily="34" charset="0"/>
                        </a:rPr>
                        <a:t>Reduce thermal deformation through structure </a:t>
                      </a:r>
                      <a:r>
                        <a:rPr lang="en-US" altLang="ja-JP" sz="2800" b="0" dirty="0">
                          <a:solidFill>
                            <a:schemeClr val="tx1"/>
                          </a:solidFill>
                          <a:latin typeface="Arial" panose="020B0604020202020204" pitchFamily="34" charset="0"/>
                          <a:cs typeface="Arial" panose="020B0604020202020204" pitchFamily="34" charset="0"/>
                        </a:rPr>
                        <a:t>and materials</a:t>
                      </a: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Predict and correct LOS variation from temperature, orbital phase, and observation geometry</a:t>
                      </a:r>
                    </a:p>
                  </a:txBody>
                  <a:tcPr anchor="ctr">
                    <a:solidFill>
                      <a:schemeClr val="bg1">
                        <a:lumMod val="8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Predict spacecraft-bus relative LOS from temperature and operating state</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2469285297"/>
                  </a:ext>
                </a:extLst>
              </a:tr>
              <a:tr h="1184000">
                <a:tc>
                  <a:txBody>
                    <a:bodyPr/>
                    <a:lstStyle/>
                    <a:p>
                      <a:pPr>
                        <a:buNone/>
                      </a:pPr>
                      <a:r>
                        <a:rPr lang="en-US" altLang="ja-JP" sz="2800" b="0">
                          <a:solidFill>
                            <a:schemeClr val="bg1"/>
                          </a:solidFill>
                          <a:latin typeface="Arial" panose="020B0604020202020204" pitchFamily="34" charset="0"/>
                          <a:cs typeface="Arial" panose="020B0604020202020204" pitchFamily="34" charset="0"/>
                        </a:rPr>
                        <a:t>Main target</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Optical terminals / spacecraft structures</a:t>
                      </a: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Cameras / remote-sensing optical systems</a:t>
                      </a:r>
                    </a:p>
                  </a:txBody>
                  <a:tcPr anchor="ctr">
                    <a:solidFill>
                      <a:schemeClr val="bg1">
                        <a:lumMod val="85000"/>
                      </a:schemeClr>
                    </a:solidFill>
                  </a:tcPr>
                </a:tc>
                <a:tc>
                  <a:txBody>
                    <a:bodyPr/>
                    <a:lstStyle/>
                    <a:p>
                      <a:r>
                        <a:rPr lang="en-US" altLang="ja-JP" sz="2800" b="0">
                          <a:latin typeface="Arial" panose="020B0604020202020204" pitchFamily="34" charset="0"/>
                          <a:cs typeface="Arial" panose="020B0604020202020204" pitchFamily="34" charset="0"/>
                        </a:rPr>
                        <a:t>STT–LCT relative LOS across the spacecraft bus</a:t>
                      </a:r>
                      <a:endParaRPr lang="en-US" altLang="ja-JP" sz="2800" b="0" dirty="0">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1300502729"/>
                  </a:ext>
                </a:extLst>
              </a:tr>
              <a:tr h="1184000">
                <a:tc>
                  <a:txBody>
                    <a:bodyPr/>
                    <a:lstStyle/>
                    <a:p>
                      <a:pPr>
                        <a:buNone/>
                      </a:pPr>
                      <a:r>
                        <a:rPr lang="en-US" altLang="ja-JP" sz="2800" b="0">
                          <a:solidFill>
                            <a:schemeClr val="bg1"/>
                          </a:solidFill>
                          <a:latin typeface="Arial" panose="020B0604020202020204" pitchFamily="34" charset="0"/>
                          <a:cs typeface="Arial" panose="020B0604020202020204" pitchFamily="34" charset="0"/>
                        </a:rPr>
                        <a:t>Evaluation metric</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Thermal stability, pointing error, link establishment</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LOS prediction error, image-pointing accuracy</a:t>
                      </a:r>
                    </a:p>
                  </a:txBody>
                  <a:tcPr anchor="ctr">
                    <a:solidFill>
                      <a:schemeClr val="bg1">
                        <a:lumMod val="8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Coarse-acquisition time and success rate</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788446176"/>
                  </a:ext>
                </a:extLst>
              </a:tr>
              <a:tr h="1718709">
                <a:tc>
                  <a:txBody>
                    <a:bodyPr/>
                    <a:lstStyle/>
                    <a:p>
                      <a:pPr>
                        <a:buNone/>
                      </a:pPr>
                      <a:r>
                        <a:rPr lang="en-US" altLang="ja-JP" sz="2800" b="0">
                          <a:solidFill>
                            <a:schemeClr val="bg1"/>
                          </a:solidFill>
                          <a:latin typeface="Arial" panose="020B0604020202020204" pitchFamily="34" charset="0"/>
                          <a:cs typeface="Arial" panose="020B0604020202020204" pitchFamily="34" charset="0"/>
                        </a:rPr>
                        <a:t>Remaining gap</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Limited frameworks for </a:t>
                      </a:r>
                      <a:r>
                        <a:rPr lang="en-US" altLang="ja-JP" sz="2800" b="1">
                          <a:solidFill>
                            <a:schemeClr val="tx1"/>
                          </a:solidFill>
                          <a:latin typeface="Arial" panose="020B0604020202020204" pitchFamily="34" charset="0"/>
                          <a:cs typeface="Arial" panose="020B0604020202020204" pitchFamily="34" charset="0"/>
                        </a:rPr>
                        <a:t>predicting residual thermal LOS error during operations</a:t>
                      </a:r>
                      <a:endParaRPr lang="en-US" alt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Not linked to </a:t>
                      </a:r>
                      <a:r>
                        <a:rPr lang="en-US" altLang="ja-JP" sz="2800" b="1">
                          <a:solidFill>
                            <a:schemeClr val="tx1"/>
                          </a:solidFill>
                          <a:latin typeface="Arial" panose="020B0604020202020204" pitchFamily="34" charset="0"/>
                          <a:cs typeface="Arial" panose="020B0604020202020204" pitchFamily="34" charset="0"/>
                        </a:rPr>
                        <a:t>spacecraft-bus LOS error or coarse-acquisition performance</a:t>
                      </a:r>
                      <a:endParaRPr lang="en-US" alt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8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a:t>
                      </a:r>
                    </a:p>
                  </a:txBody>
                  <a:tcPr anchor="ctr">
                    <a:solidFill>
                      <a:schemeClr val="accent6">
                        <a:lumMod val="20000"/>
                        <a:lumOff val="80000"/>
                      </a:schemeClr>
                    </a:solidFill>
                  </a:tcPr>
                </a:tc>
                <a:extLst>
                  <a:ext uri="{0D108BD9-81ED-4DB2-BD59-A6C34878D82A}">
                    <a16:rowId xmlns:a16="http://schemas.microsoft.com/office/drawing/2014/main" val="3137187714"/>
                  </a:ext>
                </a:extLst>
              </a:tr>
            </a:tbl>
          </a:graphicData>
        </a:graphic>
      </p:graphicFrame>
      <p:sp>
        <p:nvSpPr>
          <p:cNvPr id="12" name="テキスト ボックス 11">
            <a:extLst>
              <a:ext uri="{FF2B5EF4-FFF2-40B4-BE49-F238E27FC236}">
                <a16:creationId xmlns:a16="http://schemas.microsoft.com/office/drawing/2014/main" id="{D62851C0-F2CB-95B5-2980-85533DC73702}"/>
              </a:ext>
            </a:extLst>
          </p:cNvPr>
          <p:cNvSpPr txBox="1"/>
          <p:nvPr/>
        </p:nvSpPr>
        <p:spPr>
          <a:xfrm>
            <a:off x="14268450" y="10176519"/>
            <a:ext cx="8500110" cy="923330"/>
          </a:xfrm>
          <a:prstGeom prst="rect">
            <a:avLst/>
          </a:prstGeom>
          <a:noFill/>
        </p:spPr>
        <p:txBody>
          <a:bodyPr wrap="square">
            <a:spAutoFit/>
          </a:bodyPr>
          <a:lstStyle/>
          <a:p>
            <a:pPr lvl="0"/>
            <a:r>
              <a:rPr lang="en-US" altLang="ja-JP">
                <a:latin typeface="Arial" panose="020B0604020202020204" pitchFamily="34" charset="0"/>
              </a:rPr>
              <a:t>References:</a:t>
            </a:r>
            <a:endParaRPr lang="en-US" altLang="ja-JP" dirty="0">
              <a:latin typeface="Arial" panose="020B0604020202020204" pitchFamily="34" charset="0"/>
            </a:endParaRPr>
          </a:p>
          <a:p>
            <a:pPr marL="342900" lvl="0" indent="-342900">
              <a:buFont typeface="Arial" panose="020B0604020202020204" pitchFamily="34" charset="0"/>
              <a:buChar char="•"/>
            </a:pPr>
            <a:r>
              <a:rPr lang="en-US" altLang="ja-JP">
                <a:latin typeface="Arial" panose="020B0604020202020204" pitchFamily="34" charset="0"/>
              </a:rPr>
              <a:t>Optical comm.: Shi et al. 2023; Zhang et al. 2025</a:t>
            </a:r>
          </a:p>
          <a:p>
            <a:pPr marL="342900" lvl="0" indent="-342900">
              <a:buFont typeface="Arial" panose="020B0604020202020204" pitchFamily="34" charset="0"/>
              <a:buChar char="•"/>
            </a:pPr>
            <a:r>
              <a:rPr lang="en-US" altLang="ja-JP">
                <a:latin typeface="Arial" panose="020B0604020202020204" pitchFamily="34" charset="0"/>
              </a:rPr>
              <a:t>EO/optics</a:t>
            </a:r>
            <a:r>
              <a:rPr lang="ja-JP" altLang="ja-JP">
                <a:latin typeface="Arial" panose="020B0604020202020204" pitchFamily="34" charset="0"/>
              </a:rPr>
              <a:t>: </a:t>
            </a:r>
            <a:r>
              <a:rPr lang="ja-JP" altLang="ja-JP" dirty="0">
                <a:latin typeface="Arial" panose="020B0604020202020204" pitchFamily="34" charset="0"/>
              </a:rPr>
              <a:t>Li et al. 2025; Hu et al. 2022</a:t>
            </a:r>
            <a:r>
              <a:rPr lang="en-US" altLang="ja-JP">
                <a:latin typeface="Arial" panose="020B0604020202020204" pitchFamily="34" charset="0"/>
              </a:rPr>
              <a:t>; Turella et al. 2019/2021</a:t>
            </a:r>
            <a:endParaRPr lang="en-US" altLang="ja-JP" dirty="0">
              <a:latin typeface="Arial" panose="020B0604020202020204" pitchFamily="34" charset="0"/>
            </a:endParaRPr>
          </a:p>
        </p:txBody>
      </p:sp>
      <p:sp>
        <p:nvSpPr>
          <p:cNvPr id="9" name="テキスト ボックス 8">
            <a:extLst>
              <a:ext uri="{FF2B5EF4-FFF2-40B4-BE49-F238E27FC236}">
                <a16:creationId xmlns:a16="http://schemas.microsoft.com/office/drawing/2014/main" id="{A579EAF2-D38E-DE80-8D0F-6C285F3EB458}"/>
              </a:ext>
            </a:extLst>
          </p:cNvPr>
          <p:cNvSpPr txBox="1"/>
          <p:nvPr/>
        </p:nvSpPr>
        <p:spPr>
          <a:xfrm>
            <a:off x="2653675" y="11742670"/>
            <a:ext cx="19488150" cy="1077218"/>
          </a:xfrm>
          <a:prstGeom prst="rect">
            <a:avLst/>
          </a:prstGeom>
          <a:noFill/>
        </p:spPr>
        <p:txBody>
          <a:bodyPr wrap="square">
            <a:spAutoFit/>
          </a:bodyPr>
          <a:lstStyle/>
          <a:p>
            <a:pPr algn="ctr"/>
            <a:r>
              <a:rPr lang="en-US" altLang="ja-JP" sz="3200" b="1">
                <a:latin typeface="Arial" panose="020B0604020202020204" pitchFamily="34" charset="0"/>
                <a:cs typeface="Arial" panose="020B0604020202020204" pitchFamily="34" charset="0"/>
              </a:rPr>
              <a:t>From structural mitigation to instrument-specific LOS correction, this study develops a physics-based bus-level LOS model for coarse optical acquisition.</a:t>
            </a:r>
            <a:endParaRPr lang="en-US" altLang="ja-JP" sz="3200" b="1" dirty="0">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3" name="TextBox 2"/>
          <p:cNvSpPr txBox="1"/>
          <p:nvPr/>
        </p:nvSpPr>
        <p:spPr>
          <a:xfrm>
            <a:off x="1536192" y="1810512"/>
            <a:ext cx="18782514" cy="547842"/>
          </a:xfrm>
          <a:prstGeom prst="rect">
            <a:avLst/>
          </a:prstGeom>
          <a:noFill/>
        </p:spPr>
        <p:txBody>
          <a:bodyPr wrap="none" lIns="36576" tIns="27432" rIns="36576" bIns="27432" anchor="t">
            <a:spAutoFit/>
          </a:bodyPr>
          <a:lstStyle/>
          <a:p>
            <a:r>
              <a:rPr lang="en-US" altLang="ja-JP" sz="3200" b="1">
                <a:latin typeface="Arial" panose="020B0604020202020204" pitchFamily="34" charset="0"/>
                <a:cs typeface="Arial" panose="020B0604020202020204" pitchFamily="34" charset="0"/>
              </a:rPr>
              <a:t>Research overview: from thermoelastic truth generation and model construction to evaluation</a:t>
            </a:r>
            <a:endParaRPr lang="en-US" altLang="ja-JP" sz="3200" dirty="0">
              <a:latin typeface="Arial" panose="020B0604020202020204" pitchFamily="34" charset="0"/>
              <a:cs typeface="Arial" panose="020B0604020202020204" pitchFamily="34" charset="0"/>
            </a:endParaRPr>
          </a:p>
        </p:txBody>
      </p:sp>
      <p:sp>
        <p:nvSpPr>
          <p:cNvPr id="4" name="TextBox 3"/>
          <p:cNvSpPr txBox="1"/>
          <p:nvPr/>
        </p:nvSpPr>
        <p:spPr>
          <a:xfrm>
            <a:off x="23572293" y="12819888"/>
            <a:ext cx="202107" cy="332399"/>
          </a:xfrm>
          <a:prstGeom prst="rect">
            <a:avLst/>
          </a:prstGeom>
          <a:noFill/>
        </p:spPr>
        <p:txBody>
          <a:bodyPr wrap="none" lIns="36576" tIns="27432" rIns="36576" bIns="27432" anchor="t">
            <a:spAutoFit/>
          </a:bodyPr>
          <a:lstStyle/>
          <a:p>
            <a:pPr algn="r"/>
            <a:r>
              <a:rPr lang="en-US" sz="1800" b="0">
                <a:solidFill>
                  <a:srgbClr val="666F79"/>
                </a:solidFill>
                <a:latin typeface="Arial" panose="020B0604020202020204" pitchFamily="34" charset="0"/>
              </a:rPr>
              <a:t>6</a:t>
            </a:r>
            <a:endParaRPr lang="en-US" sz="1800" b="0" dirty="0">
              <a:solidFill>
                <a:srgbClr val="666F79"/>
              </a:solidFill>
              <a:latin typeface="Arial" panose="020B0604020202020204" pitchFamily="34" charset="0"/>
            </a:endParaRP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71447" y="3329594"/>
            <a:ext cx="1930144"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Orbit / attitude
heat &amp; coating</a:t>
            </a:r>
            <a:endParaRPr lang="en-US" sz="2100" b="1" dirty="0">
              <a:solidFill>
                <a:srgbClr val="FFFFFF"/>
              </a:solidFill>
              <a:latin typeface="Arial" panose="020B0604020202020204" pitchFamily="34" charset="0"/>
            </a:endParaRPr>
          </a:p>
        </p:txBody>
      </p: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36229" y="3329594"/>
            <a:ext cx="2257156"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Thermal Desktop
temperature</a:t>
            </a:r>
            <a:endParaRPr lang="en-US" sz="2100" b="1" dirty="0">
              <a:solidFill>
                <a:srgbClr val="FFFFFF"/>
              </a:solidFill>
              <a:latin typeface="Arial" panose="020B0604020202020204" pitchFamily="34" charset="0"/>
            </a:endParaRP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9401" y="3329594"/>
            <a:ext cx="2167388"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Femap / Nastran
rotation</a:t>
            </a:r>
            <a:endParaRPr lang="en-US" sz="2100" b="1" dirty="0">
              <a:solidFill>
                <a:srgbClr val="FFFFFF"/>
              </a:solidFill>
              <a:latin typeface="Arial" panose="020B0604020202020204" pitchFamily="34" charset="0"/>
            </a:endParaRP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3283749" y="3329594"/>
            <a:ext cx="1675267"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STT–LCT
thermal LOS</a:t>
            </a:r>
            <a:endParaRPr lang="en-US" sz="2100" b="1" dirty="0">
              <a:solidFill>
                <a:srgbClr val="FFFFFF"/>
              </a:solidFill>
              <a:latin typeface="Arial" panose="020B0604020202020204" pitchFamily="34" charset="0"/>
            </a:endParaRP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955744" y="3329594"/>
            <a:ext cx="1987852"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Reduced-order
model</a:t>
            </a:r>
            <a:endParaRPr lang="en-US" sz="2100" b="1" dirty="0">
              <a:solidFill>
                <a:srgbClr val="FFFFFF"/>
              </a:solidFill>
              <a:latin typeface="Arial" panose="020B0604020202020204" pitchFamily="34" charset="0"/>
            </a:endParaRP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994027" y="3329594"/>
            <a:ext cx="1567865"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PAT
scan center</a:t>
            </a:r>
            <a:endParaRPr lang="en-US" sz="2100" b="1" dirty="0">
              <a:solidFill>
                <a:srgbClr val="FFFFFF"/>
              </a:solidFill>
              <a:latin typeface="Arial" panose="020B0604020202020204" pitchFamily="34" charset="0"/>
            </a:endParaRP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4846007" cy="486287"/>
          </a:xfrm>
          <a:prstGeom prst="rect">
            <a:avLst/>
          </a:prstGeom>
          <a:noFill/>
        </p:spPr>
        <p:txBody>
          <a:bodyPr wrap="none" lIns="36576" tIns="27432" rIns="36576" bIns="27432" anchor="t">
            <a:spAutoFit/>
          </a:bodyPr>
          <a:lstStyle/>
          <a:p>
            <a:r>
              <a:rPr lang="en-US" altLang="ja-JP" sz="2800" b="1">
                <a:latin typeface="Arial" panose="020B0604020202020204" pitchFamily="34" charset="0"/>
              </a:rPr>
              <a:t>Ground model development</a:t>
            </a:r>
            <a:endParaRPr lang="en-US" sz="2700" b="1" dirty="0">
              <a:solidFill>
                <a:srgbClr val="082B52"/>
              </a:solidFill>
              <a:latin typeface="Arial" panose="020B0604020202020204" pitchFamily="34" charset="0"/>
            </a:endParaRPr>
          </a:p>
        </p:txBody>
      </p:sp>
      <p:sp>
        <p:nvSpPr>
          <p:cNvPr id="24" name="TextBox 23"/>
          <p:cNvSpPr txBox="1"/>
          <p:nvPr/>
        </p:nvSpPr>
        <p:spPr>
          <a:xfrm>
            <a:off x="1595336" y="8560343"/>
            <a:ext cx="12825513" cy="2123658"/>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en-US" altLang="ja-JP" sz="2800">
                <a:latin typeface="Arial" panose="020B0604020202020204" pitchFamily="34" charset="0"/>
              </a:rPr>
              <a:t>Input orbit, attitude, and thermal environment</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Compute temperature fields and thermoelastic deformation with TD/Femap</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Generate reference STT–LCT relative-LOS time series</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Train and evaluate the reduced-order model</a:t>
            </a:r>
            <a:endParaRPr lang="en-US" sz="2600" dirty="0">
              <a:solidFill>
                <a:srgbClr val="232B34"/>
              </a:solidFill>
              <a:latin typeface="Arial" panose="020B0604020202020204" pitchFamily="34" charset="0"/>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en-US" altLang="ja-JP" sz="2700" b="1">
                <a:solidFill>
                  <a:srgbClr val="1B74AA"/>
                </a:solidFill>
                <a:latin typeface="Arial" panose="020B0604020202020204" pitchFamily="34" charset="0"/>
              </a:rPr>
              <a:t>On-orbit correction</a:t>
            </a:r>
            <a:endParaRPr lang="en-US" sz="2700" b="1" dirty="0">
              <a:solidFill>
                <a:srgbClr val="1B74AA"/>
              </a:solidFill>
              <a:latin typeface="Arial" panose="020B0604020202020204" pitchFamily="34" charset="0"/>
            </a:endParaRPr>
          </a:p>
        </p:txBody>
      </p:sp>
      <p:sp>
        <p:nvSpPr>
          <p:cNvPr id="27" name="TextBox 26"/>
          <p:cNvSpPr txBox="1"/>
          <p:nvPr/>
        </p:nvSpPr>
        <p:spPr>
          <a:xfrm>
            <a:off x="17225771" y="8446043"/>
            <a:ext cx="5806441" cy="2503249"/>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en-US" sz="2600">
                <a:solidFill>
                  <a:srgbClr val="232B34"/>
                </a:solidFill>
                <a:latin typeface="Arial" panose="020B0604020202020204" pitchFamily="34" charset="0"/>
              </a:rPr>
              <a:t>Temperature / operating state</a:t>
            </a:r>
          </a:p>
          <a:p>
            <a:pPr>
              <a:spcAft>
                <a:spcPts val="800"/>
              </a:spcAft>
            </a:pPr>
            <a:r>
              <a:rPr lang="en-US" sz="2600" b="1">
                <a:solidFill>
                  <a:srgbClr val="1B74AA"/>
                </a:solidFill>
                <a:latin typeface="Arial" panose="020B0604020202020204" pitchFamily="34" charset="0"/>
              </a:rPr>
              <a:t>• </a:t>
            </a:r>
            <a:r>
              <a:rPr lang="en-US" altLang="ja-JP" sz="2600">
                <a:solidFill>
                  <a:srgbClr val="232B34"/>
                </a:solidFill>
                <a:latin typeface="Arial" panose="020B0604020202020204" pitchFamily="34" charset="0"/>
              </a:rPr>
              <a:t>Predict thermal LOS</a:t>
            </a:r>
            <a:endParaRPr lang="en-US" altLang="ja-JP" sz="2600" dirty="0">
              <a:solidFill>
                <a:srgbClr val="232B34"/>
              </a:solidFill>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en-US" sz="2600" dirty="0">
                <a:solidFill>
                  <a:srgbClr val="232B34"/>
                </a:solidFill>
                <a:latin typeface="Arial" panose="020B0604020202020204" pitchFamily="34" charset="0"/>
              </a:rPr>
              <a:t>Correct the scan center</a:t>
            </a:r>
            <a:endParaRPr lang="en-US" altLang="ja-JP" sz="2600" dirty="0">
              <a:solidFill>
                <a:srgbClr val="232B34"/>
              </a:solidFill>
              <a:latin typeface="Arial" panose="020B0604020202020204" pitchFamily="34" charset="0"/>
            </a:endParaRPr>
          </a:p>
          <a:p>
            <a:pPr>
              <a:spcAft>
                <a:spcPts val="800"/>
              </a:spcAft>
            </a:pPr>
            <a:r>
              <a:rPr lang="en-US" altLang="ja-JP" sz="2600">
                <a:solidFill>
                  <a:srgbClr val="1B74AA"/>
                </a:solidFill>
                <a:latin typeface="Arial" panose="020B0604020202020204" pitchFamily="34" charset="0"/>
              </a:rPr>
              <a:t>• </a:t>
            </a:r>
            <a:r>
              <a:rPr lang="en-US" altLang="ja-JP" sz="2600">
                <a:solidFill>
                  <a:srgbClr val="232B34"/>
                </a:solidFill>
                <a:latin typeface="Arial" panose="020B0604020202020204" pitchFamily="34" charset="0"/>
              </a:rPr>
              <a:t>Include nonthermal errors</a:t>
            </a:r>
            <a:endParaRPr lang="en-US" sz="2600">
              <a:solidFill>
                <a:srgbClr val="232B34"/>
              </a:solidFill>
              <a:latin typeface="Arial" panose="020B0604020202020204" pitchFamily="34" charset="0"/>
            </a:endParaRPr>
          </a:p>
          <a:p>
            <a:pPr>
              <a:spcAft>
                <a:spcPts val="800"/>
              </a:spcAft>
            </a:pPr>
            <a:r>
              <a:rPr lang="en-US" sz="2600" b="1">
                <a:solidFill>
                  <a:srgbClr val="1B74AA"/>
                </a:solidFill>
                <a:latin typeface="Arial" panose="020B0604020202020204" pitchFamily="34" charset="0"/>
              </a:rPr>
              <a:t>• </a:t>
            </a:r>
            <a:r>
              <a:rPr lang="en-US" sz="2600">
                <a:solidFill>
                  <a:srgbClr val="232B34"/>
                </a:solidFill>
                <a:latin typeface="Arial" panose="020B0604020202020204" pitchFamily="34" charset="0"/>
              </a:rPr>
              <a:t>Residual update</a:t>
            </a:r>
            <a:endParaRPr lang="en-US" sz="2600" dirty="0">
              <a:solidFill>
                <a:srgbClr val="232B34"/>
              </a:solidFill>
              <a:latin typeface="Arial" panose="020B0604020202020204" pitchFamily="34" charset="0"/>
            </a:endParaRPr>
          </a:p>
        </p:txBody>
      </p:sp>
      <p:sp>
        <p:nvSpPr>
          <p:cNvPr id="28" name="TextBox 27"/>
          <p:cNvSpPr txBox="1"/>
          <p:nvPr/>
        </p:nvSpPr>
        <p:spPr>
          <a:xfrm>
            <a:off x="3052664" y="11835849"/>
            <a:ext cx="15922757" cy="1040285"/>
          </a:xfrm>
          <a:prstGeom prst="rect">
            <a:avLst/>
          </a:prstGeom>
          <a:noFill/>
        </p:spPr>
        <p:txBody>
          <a:bodyPr wrap="none" lIns="36576" tIns="27432" rIns="36576" bIns="27432" anchor="t">
            <a:spAutoFit/>
          </a:bodyPr>
          <a:lstStyle/>
          <a:p>
            <a:r>
              <a:rPr lang="en-US" altLang="ja-JP" sz="3200" b="1">
                <a:solidFill>
                  <a:srgbClr val="1B74AA"/>
                </a:solidFill>
                <a:latin typeface="Arial" panose="020B0604020202020204" pitchFamily="34" charset="0"/>
                <a:cs typeface="Arial" panose="020B0604020202020204" pitchFamily="34" charset="0"/>
              </a:rPr>
              <a:t>• </a:t>
            </a:r>
            <a:r>
              <a:rPr lang="en-US" altLang="ja-JP" sz="3200" b="1">
                <a:latin typeface="Arial" panose="020B0604020202020204" pitchFamily="34" charset="0"/>
                <a:cs typeface="Arial" panose="020B0604020202020204" pitchFamily="34" charset="0"/>
              </a:rPr>
              <a:t>TD/Femap runs only on the ground; only the reduced-order model runs onboard</a:t>
            </a:r>
            <a:endParaRPr lang="en-US" altLang="ja-JP" sz="3200" b="1" dirty="0">
              <a:latin typeface="Arial" panose="020B0604020202020204" pitchFamily="34" charset="0"/>
              <a:cs typeface="Arial" panose="020B0604020202020204" pitchFamily="34" charset="0"/>
            </a:endParaRPr>
          </a:p>
          <a:p>
            <a:r>
              <a:rPr lang="en-US" altLang="ja-JP" sz="3200" b="1">
                <a:solidFill>
                  <a:srgbClr val="1B74AA"/>
                </a:solidFill>
                <a:latin typeface="Arial" panose="020B0604020202020204" pitchFamily="34" charset="0"/>
                <a:cs typeface="Arial" panose="020B0604020202020204" pitchFamily="34" charset="0"/>
              </a:rPr>
              <a:t>• </a:t>
            </a:r>
            <a:r>
              <a:rPr lang="en-US" altLang="ja-JP" sz="3200" b="1">
                <a:latin typeface="Arial" panose="020B0604020202020204" pitchFamily="34" charset="0"/>
                <a:cs typeface="Arial" panose="020B0604020202020204" pitchFamily="34" charset="0"/>
              </a:rPr>
              <a:t>Evaluate LOS error, acquisition success, and acquisition time</a:t>
            </a:r>
            <a:endParaRPr lang="en-US" altLang="ja-JP" sz="3200" b="1" dirty="0">
              <a:latin typeface="Arial" panose="020B0604020202020204" pitchFamily="34" charset="0"/>
              <a:cs typeface="Arial" panose="020B0604020202020204" pitchFamily="34" charset="0"/>
            </a:endParaRPr>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mc:AlternateContent xmlns:mc="http://schemas.openxmlformats.org/markup-compatibility/2006">
        <mc:Choice xmlns:a14="http://schemas.microsoft.com/office/drawing/2010/main"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𝑏</m:t>
                          </m:r>
                        </m:e>
                        <m:sub>
                          <m:r>
                            <a:rPr kumimoji="1" lang="en-US" altLang="ja-JP" sz="3200" i="1">
                              <a:latin typeface="Cambria Math" panose="02040503050406030204" pitchFamily="18" charset="0"/>
                            </a:rPr>
                            <m:t>𝑐𝑎𝑠𝑒</m:t>
                          </m:r>
                        </m:sub>
                      </m:sSub>
                    </m:oMath>
                  </m:oMathPara>
                </a14:m>
                <a:endParaRPr kumimoji="1" lang="en-US" altLang="ja-JP" sz="3200" b="0" i="1" dirty="0">
                  <a:latin typeface="Arial" panose="020B0604020202020204" pitchFamily="34" charset="0"/>
                </a:endParaRPr>
              </a:p>
              <a:p>
                <a:endParaRPr kumimoji="1" lang="ja-JP" altLang="en-US" sz="3200" i="1" dirty="0"/>
              </a:p>
            </p:txBody>
          </p:sp>
        </mc:Choice>
        <mc:Fallback>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5"/>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en-US" altLang="ja-JP" sz="2800">
                <a:latin typeface="Arial" panose="020B0604020202020204" pitchFamily="34" charset="0"/>
              </a:rPr>
              <a:t>• Orbit</a:t>
            </a:r>
            <a:endParaRPr kumimoji="1" lang="en-US" altLang="ja-JP" sz="2800" dirty="0">
              <a:latin typeface="Arial" panose="020B0604020202020204" pitchFamily="34" charset="0"/>
            </a:endParaRPr>
          </a:p>
          <a:p>
            <a:r>
              <a:rPr kumimoji="1" lang="en-US" altLang="ja-JP" sz="2800">
                <a:latin typeface="Arial" panose="020B0604020202020204" pitchFamily="34" charset="0"/>
              </a:rPr>
              <a:t>• Attitude</a:t>
            </a:r>
            <a:endParaRPr kumimoji="1" lang="en-US" altLang="ja-JP" sz="2800" dirty="0">
              <a:latin typeface="Arial" panose="020B0604020202020204" pitchFamily="34" charset="0"/>
            </a:endParaRPr>
          </a:p>
          <a:p>
            <a:r>
              <a:rPr kumimoji="1" lang="en-US" altLang="ja-JP" sz="2800">
                <a:latin typeface="Arial" panose="020B0604020202020204" pitchFamily="34" charset="0"/>
              </a:rPr>
              <a:t>• Equipment layout</a:t>
            </a:r>
            <a:endParaRPr kumimoji="1" lang="en-US" altLang="ja-JP" sz="2800" dirty="0">
              <a:latin typeface="Arial" panose="020B0604020202020204" pitchFamily="34" charset="0"/>
            </a:endParaRPr>
          </a:p>
          <a:p>
            <a:r>
              <a:rPr kumimoji="1" lang="en-US" altLang="ja-JP" sz="2800">
                <a:latin typeface="Arial" panose="020B0604020202020204" pitchFamily="34" charset="0"/>
              </a:rPr>
              <a:t>• Surface properties</a:t>
            </a:r>
            <a:endParaRPr kumimoji="1" lang="en-US" altLang="ja-JP" sz="2800" dirty="0">
              <a:latin typeface="Arial" panose="020B0604020202020204" pitchFamily="34" charset="0"/>
            </a:endParaRPr>
          </a:p>
          <a:p>
            <a:r>
              <a:rPr kumimoji="1" lang="en-US" altLang="ja-JP" sz="2800">
                <a:latin typeface="Arial" panose="020B0604020202020204" pitchFamily="34" charset="0"/>
              </a:rPr>
              <a:t>• Dissipation</a:t>
            </a:r>
            <a:endParaRPr kumimoji="1" lang="en-US" altLang="ja-JP" sz="2800" dirty="0">
              <a:latin typeface="Arial" panose="020B0604020202020204" pitchFamily="34" charset="0"/>
            </a:endParaRPr>
          </a:p>
        </p:txBody>
      </p:sp>
      <mc:AlternateContent xmlns:mc="http://schemas.openxmlformats.org/markup-compatibility/2006">
        <mc:Choice xmlns:a14="http://schemas.microsoft.com/office/drawing/2010/main"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latin typeface="Arial" panose="020B0604020202020204" pitchFamily="34" charset="0"/>
                </a:endParaRPr>
              </a:p>
              <a:p>
                <a:endParaRPr kumimoji="1" lang="ja-JP" altLang="en-US" sz="3200" i="1" dirty="0"/>
              </a:p>
            </p:txBody>
          </p:sp>
        </mc:Choice>
        <mc:Fallback>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6"/>
                <a:stretch>
                  <a:fillRect/>
                </a:stretch>
              </a:blipFill>
            </p:spPr>
            <p:txBody>
              <a:bodyPr/>
              <a:lstStyle/>
              <a:p>
                <a:r>
                  <a:rPr lang="ja-JP" altLang="en-US">
                    <a:noFill/>
                  </a:rPr>
                  <a:t> </a:t>
                </a:r>
              </a:p>
            </p:txBody>
          </p:sp>
        </mc:Fallback>
      </mc:AlternateContent>
      <p:pic>
        <p:nvPicPr>
          <p:cNvPr id="30" name="図 29">
            <a:extLst>
              <a:ext uri="{FF2B5EF4-FFF2-40B4-BE49-F238E27FC236}">
                <a16:creationId xmlns:a16="http://schemas.microsoft.com/office/drawing/2014/main" id="{358AC5E1-7ED0-4F63-A640-E1FBA9092487}"/>
              </a:ext>
            </a:extLst>
          </p:cNvPr>
          <p:cNvPicPr>
            <a:picLocks noChangeAspect="1"/>
          </p:cNvPicPr>
          <p:nvPr/>
        </p:nvPicPr>
        <p:blipFill>
          <a:blip r:embed="rId7"/>
          <a:stretch>
            <a:fillRect/>
          </a:stretch>
        </p:blipFill>
        <p:spPr>
          <a:xfrm>
            <a:off x="12581954" y="4507858"/>
            <a:ext cx="2977135" cy="2518710"/>
          </a:xfrm>
          <a:prstGeom prst="rect">
            <a:avLst/>
          </a:prstGeom>
        </p:spPr>
      </p:pic>
      <p:cxnSp>
        <p:nvCxnSpPr>
          <p:cNvPr id="33" name="直線矢印コネクタ 32">
            <a:extLst>
              <a:ext uri="{FF2B5EF4-FFF2-40B4-BE49-F238E27FC236}">
                <a16:creationId xmlns:a16="http://schemas.microsoft.com/office/drawing/2014/main" id="{1DCE9196-C7D7-872B-D045-F82596F94B28}"/>
              </a:ext>
            </a:extLst>
          </p:cNvPr>
          <p:cNvCxnSpPr/>
          <p:nvPr/>
        </p:nvCxnSpPr>
        <p:spPr>
          <a:xfrm>
            <a:off x="4417662"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C3F539BC-335B-005F-652D-A5DDAFB3B955}"/>
              </a:ext>
            </a:extLst>
          </p:cNvPr>
          <p:cNvCxnSpPr/>
          <p:nvPr/>
        </p:nvCxnSpPr>
        <p:spPr>
          <a:xfrm>
            <a:off x="8251886"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8F083C85-1959-4396-1842-E99064584238}"/>
              </a:ext>
            </a:extLst>
          </p:cNvPr>
          <p:cNvCxnSpPr/>
          <p:nvPr/>
        </p:nvCxnSpPr>
        <p:spPr>
          <a:xfrm>
            <a:off x="12098948"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070BA75E-7B73-DCCF-5536-8984CC6E57C7}"/>
              </a:ext>
            </a:extLst>
          </p:cNvPr>
          <p:cNvCxnSpPr/>
          <p:nvPr/>
        </p:nvCxnSpPr>
        <p:spPr>
          <a:xfrm>
            <a:off x="15898367"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E1DEB9D1-AAC3-1A56-67DB-4238E795C90F}"/>
              </a:ext>
            </a:extLst>
          </p:cNvPr>
          <p:cNvCxnSpPr/>
          <p:nvPr/>
        </p:nvCxnSpPr>
        <p:spPr>
          <a:xfrm>
            <a:off x="19726655"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1">
            <a:extLst>
              <a:ext uri="{FF2B5EF4-FFF2-40B4-BE49-F238E27FC236}">
                <a16:creationId xmlns:a16="http://schemas.microsoft.com/office/drawing/2014/main" id="{38DB7F46-25D7-2099-9429-B3FBA207AC94}"/>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altLang="ja-JP"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97D2E-EE4C-6864-E091-29ED8542D1F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0C65F31-16F0-0F0B-B262-B7B55B1CBEE9}"/>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02</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81A17A4B-80F0-CB64-6693-69D53F63BF1C}"/>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Thermoelastic Analysis</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242C795B-7F6C-CF95-3769-F196E7D33204}"/>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15709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We evaluate a box-structure LEO spacecraft with the STT and LCT on different panels</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dirty="0">
                <a:solidFill>
                  <a:srgbClr val="666F79"/>
                </a:solidFill>
                <a:latin typeface="Arial" panose="020B0604020202020204" pitchFamily="34" charset="0"/>
                <a:ea typeface="Yu Gothic"/>
              </a:rPr>
              <a:t>7</a:t>
            </a:r>
            <a:endParaRPr sz="1800" b="0" dirty="0">
              <a:solidFill>
                <a:srgbClr val="666F79"/>
              </a:solidFill>
              <a:latin typeface="Arial" panose="020B0604020202020204" pitchFamily="34" charset="0"/>
              <a:ea typeface="Yu Gothic"/>
            </a:endParaRPr>
          </a:p>
        </p:txBody>
      </p:sp>
      <p:graphicFrame>
        <p:nvGraphicFramePr>
          <p:cNvPr id="12" name="Table 11"/>
          <p:cNvGraphicFramePr>
            <a:graphicFrameLocks noGrp="1"/>
          </p:cNvGraphicFramePr>
          <p:nvPr>
            <p:extLst>
              <p:ext uri="{D42A27DB-BD31-4B8C-83A1-F6EECF244321}">
                <p14:modId xmlns:p14="http://schemas.microsoft.com/office/powerpoint/2010/main" val="391740603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spcAft>
                          <a:spcPts val="0"/>
                        </a:spcAft>
                      </a:pPr>
                      <a:r>
                        <a:rPr lang="en-US" sz="2300" b="1">
                          <a:solidFill>
                            <a:srgbClr val="FFFFFF"/>
                          </a:solidFill>
                          <a:latin typeface="Arial" panose="020B0604020202020204" pitchFamily="34" charset="0"/>
                          <a:ea typeface="Yu Gothic"/>
                        </a:rPr>
                        <a:t>Item</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Setting</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spcAft>
                          <a:spcPts val="0"/>
                        </a:spcAft>
                      </a:pPr>
                      <a:r>
                        <a:rPr lang="en-US" sz="2300" b="0">
                          <a:solidFill>
                            <a:srgbClr val="232B34"/>
                          </a:solidFill>
                          <a:latin typeface="Arial" panose="020B0604020202020204" pitchFamily="34" charset="0"/>
                          <a:ea typeface="Yu Gothic"/>
                        </a:rPr>
                        <a:t>Bus dimensions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590 × 600 × 990 mm</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spcAft>
                          <a:spcPts val="0"/>
                        </a:spcAft>
                      </a:pPr>
                      <a:r>
                        <a:rPr lang="en-US" sz="2300" b="0">
                          <a:solidFill>
                            <a:srgbClr val="232B34"/>
                          </a:solidFill>
                          <a:latin typeface="Arial" panose="020B0604020202020204" pitchFamily="34" charset="0"/>
                          <a:ea typeface="Yu Gothic"/>
                        </a:rPr>
                        <a:t>Panels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10-mm-thick shell elements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spcAft>
                          <a:spcPts val="0"/>
                        </a:spcAft>
                      </a:pPr>
                      <a:r>
                        <a:rPr lang="en-US" sz="2300" b="0">
                          <a:solidFill>
                            <a:srgbClr val="232B34"/>
                          </a:solidFill>
                          <a:latin typeface="Arial" panose="020B0604020202020204" pitchFamily="34" charset="0"/>
                          <a:ea typeface="Yu Gothic"/>
                        </a:rPr>
                        <a:t>Material</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A5052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spcAft>
                          <a:spcPts val="0"/>
                        </a:spcAft>
                      </a:pPr>
                      <a:r>
                        <a:rPr lang="en-US" sz="2300" b="0">
                          <a:solidFill>
                            <a:srgbClr val="232B34"/>
                          </a:solidFill>
                          <a:latin typeface="Arial" panose="020B0604020202020204" pitchFamily="34" charset="0"/>
                          <a:ea typeface="Yu Gothic"/>
                        </a:rPr>
                        <a:t>LCT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Center of MZ panel</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spcAft>
                          <a:spcPts val="0"/>
                        </a:spcAft>
                      </a:pPr>
                      <a:r>
                        <a:rPr lang="en-US" sz="2300" b="0">
                          <a:solidFill>
                            <a:srgbClr val="232B34"/>
                          </a:solidFill>
                          <a:latin typeface="Arial" panose="020B0604020202020204" pitchFamily="34" charset="0"/>
                          <a:ea typeface="Yu Gothic"/>
                        </a:rPr>
                        <a:t>STT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Center of PZ panel</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6824960" y="11430000"/>
            <a:ext cx="6949440" cy="884409"/>
          </a:xfrm>
          <a:prstGeom prst="rect">
            <a:avLst/>
          </a:prstGeom>
          <a:noFill/>
        </p:spPr>
        <p:txBody>
          <a:bodyPr wrap="square" lIns="36576" tIns="27432" rIns="36576" bIns="27432" anchor="t">
            <a:spAutoFit/>
          </a:bodyPr>
          <a:lstStyle/>
          <a:p>
            <a:pPr>
              <a:lnSpc>
                <a:spcPct val="115000"/>
              </a:lnSpc>
              <a:spcAft>
                <a:spcPts val="0"/>
              </a:spcAft>
            </a:pPr>
            <a:r>
              <a:rPr lang="en-US" sz="2400" b="1">
                <a:solidFill>
                  <a:srgbClr val="082B52"/>
                </a:solidFill>
                <a:latin typeface="Arial" panose="020B0604020202020204" pitchFamily="34" charset="0"/>
                <a:ea typeface="Yu Gothic"/>
              </a:rPr>
              <a:t>Not a specific-spacecraft design review.</a:t>
            </a:r>
            <a:endParaRPr lang="en-US" altLang="ja-JP" sz="3200" b="1" dirty="0">
              <a:solidFill>
                <a:srgbClr val="082B52"/>
              </a:solidFill>
              <a:latin typeface="Arial" panose="020B0604020202020204" pitchFamily="34" charset="0"/>
            </a:endParaRPr>
          </a:p>
          <a:p>
            <a:pPr>
              <a:lnSpc>
                <a:spcPct val="115000"/>
              </a:lnSpc>
              <a:spcAft>
                <a:spcPts val="0"/>
              </a:spcAft>
            </a:pPr>
            <a:r>
              <a:rPr lang="en-US" sz="2400" b="1">
                <a:solidFill>
                  <a:srgbClr val="082B52"/>
                </a:solidFill>
                <a:latin typeface="Arial" panose="020B0604020202020204" pitchFamily="34" charset="0"/>
                <a:ea typeface="Yu Gothic"/>
              </a:rPr>
              <a:t>Fixed structure; sun face and dissipation vary.</a:t>
            </a:r>
            <a:endParaRPr lang="en-US" sz="2400" b="1" dirty="0">
              <a:solidFill>
                <a:srgbClr val="082B52"/>
              </a:solidFill>
              <a:latin typeface="Arial" panose="020B0604020202020204" pitchFamily="34" charset="0"/>
              <a:ea typeface="Yu Gothic"/>
            </a:endParaRP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lang="en-US" sz="2400" b="1">
                <a:solidFill>
                  <a:srgbClr val="FF0000"/>
                </a:solidFill>
                <a:latin typeface="Arial" panose="020B0604020202020204" pitchFamily="34" charset="0"/>
              </a:rPr>
              <a:t>PZ: STT</a:t>
            </a:r>
            <a:endParaRPr lang="en-US" sz="2400" b="1" dirty="0">
              <a:solidFill>
                <a:srgbClr val="FF0000"/>
              </a:solidFill>
              <a:latin typeface="Arial" panose="020B0604020202020204" pitchFamily="34" charset="0"/>
            </a:endParaRPr>
          </a:p>
        </p:txBody>
      </p:sp>
      <p:sp>
        <p:nvSpPr>
          <p:cNvPr id="19" name="TextBox 7"/>
          <p:cNvSpPr txBox="1"/>
          <p:nvPr/>
        </p:nvSpPr>
        <p:spPr>
          <a:xfrm>
            <a:off x="2760309" y="10894945"/>
            <a:ext cx="1405961" cy="455509"/>
          </a:xfrm>
          <a:prstGeom prst="rect">
            <a:avLst/>
          </a:prstGeom>
          <a:noFill/>
        </p:spPr>
        <p:txBody>
          <a:bodyPr wrap="none" lIns="36576" tIns="27432" rIns="36576" bIns="27432" anchor="t">
            <a:spAutoFit/>
          </a:bodyPr>
          <a:lstStyle/>
          <a:p>
            <a:pPr algn="ctr"/>
            <a:r>
              <a:rPr lang="en-US" sz="2600" b="1">
                <a:solidFill>
                  <a:srgbClr val="082B52"/>
                </a:solidFill>
                <a:latin typeface="Arial" panose="020B0604020202020204" pitchFamily="34" charset="0"/>
              </a:rPr>
              <a:t>MZ: LCT</a:t>
            </a:r>
            <a:endParaRPr lang="en-US" sz="2600" b="1" dirty="0">
              <a:solidFill>
                <a:srgbClr val="082B52"/>
              </a:solidFill>
              <a:latin typeface="Arial" panose="020B0604020202020204" pitchFamily="34" charset="0"/>
            </a:endParaRPr>
          </a:p>
        </p:txBody>
      </p:sp>
      <p:sp>
        <p:nvSpPr>
          <p:cNvPr id="20" name="TextBox 8"/>
          <p:cNvSpPr txBox="1"/>
          <p:nvPr/>
        </p:nvSpPr>
        <p:spPr>
          <a:xfrm>
            <a:off x="3507104" y="5259118"/>
            <a:ext cx="1447512" cy="393954"/>
          </a:xfrm>
          <a:prstGeom prst="rect">
            <a:avLst/>
          </a:prstGeom>
          <a:noFill/>
        </p:spPr>
        <p:txBody>
          <a:bodyPr wrap="none" lIns="36576" tIns="27432" rIns="36576" bIns="27432" anchor="t">
            <a:spAutoFit/>
          </a:bodyPr>
          <a:lstStyle/>
          <a:p>
            <a:pPr algn="l"/>
            <a:r>
              <a:rPr lang="en-US" sz="2200" b="1">
                <a:solidFill>
                  <a:srgbClr val="EC9427"/>
                </a:solidFill>
                <a:latin typeface="Arial" panose="020B0604020202020204" pitchFamily="34" charset="0"/>
              </a:rPr>
              <a:t>MY: PCDU</a:t>
            </a:r>
            <a:endParaRPr lang="en-US" sz="2200" b="1" dirty="0">
              <a:solidFill>
                <a:srgbClr val="EC9427"/>
              </a:solidFill>
              <a:latin typeface="Arial" panose="020B0604020202020204" pitchFamily="34" charset="0"/>
            </a:endParaRP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lang="en-US" sz="2200" b="1">
                <a:solidFill>
                  <a:srgbClr val="EF25D7"/>
                </a:solidFill>
                <a:latin typeface="Arial" panose="020B0604020202020204" pitchFamily="34" charset="0"/>
              </a:rPr>
              <a:t>PY: PROP</a:t>
            </a:r>
            <a:endParaRPr lang="en-US" sz="2200" b="1" dirty="0">
              <a:solidFill>
                <a:srgbClr val="EF25D7"/>
              </a:solidFill>
              <a:latin typeface="Arial" panose="020B0604020202020204" pitchFamily="34" charset="0"/>
            </a:endParaRP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00219"/>
          </a:xfrm>
          <a:prstGeom prst="rect">
            <a:avLst/>
          </a:prstGeom>
          <a:noFill/>
        </p:spPr>
        <p:txBody>
          <a:bodyPr wrap="square">
            <a:spAutoFit/>
          </a:bodyPr>
          <a:lstStyle/>
          <a:p>
            <a:pPr>
              <a:spcAft>
                <a:spcPts val="0"/>
              </a:spcAft>
            </a:pPr>
            <a:r>
              <a:rPr lang="en-US" sz="2300" b="1">
                <a:solidFill>
                  <a:srgbClr val="232B34"/>
                </a:solidFill>
                <a:latin typeface="Arial" panose="020B0604020202020204" pitchFamily="34" charset="0"/>
                <a:ea typeface="Yu Gothic"/>
              </a:rPr>
              <a:t>LOS</a:t>
            </a:r>
          </a:p>
          <a:p>
            <a:pPr>
              <a:spcAft>
                <a:spcPts val="0"/>
              </a:spcAft>
            </a:pPr>
            <a:r>
              <a:rPr lang="en-US" sz="2300" b="1">
                <a:solidFill>
                  <a:srgbClr val="232B34"/>
                </a:solidFill>
                <a:latin typeface="Arial" panose="020B0604020202020204" pitchFamily="34" charset="0"/>
                <a:ea typeface="Yu Gothic"/>
              </a:rPr>
              <a:t>Boresight ≈ −Z</a:t>
            </a:r>
            <a:endParaRPr lang="en-US" sz="2300" b="1" dirty="0">
              <a:solidFill>
                <a:srgbClr val="232B34"/>
              </a:solidFill>
              <a:latin typeface="Arial" panose="020B0604020202020204" pitchFamily="34" charset="0"/>
              <a:ea typeface="Yu Gothic"/>
            </a:endParaRPr>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latin typeface="Arial" panose="020B0604020202020204" pitchFamily="34" charset="0"/>
              </a:rPr>
              <a:t>Thermal Desktop</a:t>
            </a:r>
            <a:endParaRPr kumimoji="1" lang="ja-JP" altLang="en-US" sz="2800" dirty="0">
              <a:latin typeface="Arial" panose="020B0604020202020204" pitchFamily="34" charset="0"/>
            </a:endParaRPr>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954107"/>
          </a:xfrm>
          <a:prstGeom prst="rect">
            <a:avLst/>
          </a:prstGeom>
          <a:noFill/>
        </p:spPr>
        <p:txBody>
          <a:bodyPr wrap="square" rtlCol="0">
            <a:spAutoFit/>
          </a:bodyPr>
          <a:lstStyle/>
          <a:p>
            <a:r>
              <a:rPr kumimoji="1" lang="en-US" altLang="ja-JP" sz="2800" dirty="0">
                <a:latin typeface="Arial" panose="020B0604020202020204" pitchFamily="34" charset="0"/>
              </a:rPr>
              <a:t>Femap</a:t>
            </a:r>
            <a:endParaRPr kumimoji="1" lang="ja-JP" altLang="en-US" sz="2800" dirty="0">
              <a:latin typeface="Arial" panose="020B0604020202020204" pitchFamily="34" charset="0"/>
            </a:endParaRPr>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7410176" y="3154680"/>
            <a:ext cx="6364224"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analysis-model settings</a:t>
            </a:r>
            <a:endParaRPr kumimoji="1" lang="en-US" altLang="ja-JP" sz="2800" dirty="0">
              <a:latin typeface="Arial" panose="020B0604020202020204" pitchFamily="34" charset="0"/>
            </a:endParaRPr>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Thermal Desktop generates temperature-field time series from orbit, attitude, surface, and dissipation inputs</a:t>
            </a:r>
            <a:endParaRPr lang="en-US" sz="3200" b="1" dirty="0">
              <a:solidFill>
                <a:srgbClr val="082B52"/>
              </a:solidFill>
              <a:latin typeface="Arial" panose="020B0604020202020204" pitchFamily="34" charset="0"/>
            </a:endParaRPr>
          </a:p>
        </p:txBody>
      </p:sp>
      <p:sp>
        <p:nvSpPr>
          <p:cNvPr id="4" name="TextBox 3"/>
          <p:cNvSpPr txBox="1"/>
          <p:nvPr/>
        </p:nvSpPr>
        <p:spPr>
          <a:xfrm>
            <a:off x="2346310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8</a:t>
            </a:r>
            <a:endParaRPr sz="1800" b="0" dirty="0">
              <a:solidFill>
                <a:srgbClr val="666F79"/>
              </a:solidFill>
              <a:latin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346066623"/>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spcAft>
                          <a:spcPts val="0"/>
                        </a:spcAft>
                      </a:pPr>
                      <a:r>
                        <a:rPr lang="en-US" sz="2300" b="1">
                          <a:solidFill>
                            <a:srgbClr val="FFFFFF"/>
                          </a:solidFill>
                          <a:latin typeface="Arial" panose="020B0604020202020204" pitchFamily="34" charset="0"/>
                          <a:ea typeface="Yu Gothic"/>
                        </a:rPr>
                        <a:t>Input</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Setting</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spcAft>
                          <a:spcPts val="0"/>
                        </a:spcAft>
                      </a:pPr>
                      <a:r>
                        <a:rPr lang="en-US" sz="2300" b="0">
                          <a:solidFill>
                            <a:srgbClr val="232B34"/>
                          </a:solidFill>
                          <a:latin typeface="Arial" panose="020B0604020202020204" pitchFamily="34" charset="0"/>
                          <a:ea typeface="Yu Gothic"/>
                        </a:rPr>
                        <a:t>Orbit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Sun-synchronous, LTAN06 / 800 km / COLD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spcAft>
                          <a:spcPts val="0"/>
                        </a:spcAft>
                      </a:pPr>
                      <a:r>
                        <a:rPr lang="en-US" sz="2300" b="0">
                          <a:solidFill>
                            <a:srgbClr val="232B34"/>
                          </a:solidFill>
                          <a:latin typeface="Arial" panose="020B0604020202020204" pitchFamily="34" charset="0"/>
                          <a:ea typeface="Yu Gothic"/>
                        </a:rPr>
                        <a:t>Period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≈6050 s (≈101 min)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spcAft>
                          <a:spcPts val="0"/>
                        </a:spcAft>
                      </a:pPr>
                      <a:r>
                        <a:rPr lang="en-US" sz="2300" b="0">
                          <a:solidFill>
                            <a:srgbClr val="232B34"/>
                          </a:solidFill>
                          <a:latin typeface="Arial" panose="020B0604020202020204" pitchFamily="34" charset="0"/>
                          <a:ea typeface="Yu Gothic"/>
                        </a:rPr>
                        <a:t>Analysis duration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≈18,157 s (3 orbits)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spcAft>
                          <a:spcPts val="0"/>
                        </a:spcAft>
                      </a:pPr>
                      <a:r>
                        <a:rPr lang="en-US" sz="2300" b="0">
                          <a:solidFill>
                            <a:srgbClr val="232B34"/>
                          </a:solidFill>
                          <a:latin typeface="Arial" panose="020B0604020202020204" pitchFamily="34" charset="0"/>
                          <a:ea typeface="Yu Gothic"/>
                        </a:rPr>
                        <a:t>Sampling</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Every ≈60.5 s, 301 points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spcAft>
                          <a:spcPts val="0"/>
                        </a:spcAft>
                      </a:pPr>
                      <a:r>
                        <a:rPr lang="en-US" sz="2300" b="0">
                          <a:solidFill>
                            <a:srgbClr val="232B34"/>
                          </a:solidFill>
                          <a:latin typeface="Arial" panose="020B0604020202020204" pitchFamily="34" charset="0"/>
                          <a:ea typeface="Yu Gothic"/>
                        </a:rPr>
                        <a:t>Illumination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Eclipse / continuous illumination</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spcAft>
                          <a:spcPts val="0"/>
                        </a:spcAft>
                      </a:pPr>
                      <a:r>
                        <a:rPr lang="en-US" sz="2300" b="0">
                          <a:solidFill>
                            <a:srgbClr val="232B34"/>
                          </a:solidFill>
                          <a:latin typeface="Arial" panose="020B0604020202020204" pitchFamily="34" charset="0"/>
                          <a:ea typeface="Yu Gothic"/>
                        </a:rPr>
                        <a:t>Sun face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MX / MY / PX / PY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spcAft>
                          <a:spcPts val="0"/>
                        </a:spcAft>
                      </a:pPr>
                      <a:r>
                        <a:rPr lang="en-US" sz="2300" b="0">
                          <a:solidFill>
                            <a:srgbClr val="232B34"/>
                          </a:solidFill>
                          <a:latin typeface="Arial" panose="020B0604020202020204" pitchFamily="34" charset="0"/>
                          <a:ea typeface="Yu Gothic"/>
                        </a:rPr>
                        <a:t>Number of nodes</a:t>
                      </a:r>
                      <a:endParaRPr lang="en-US" sz="2300" b="0" dirty="0">
                        <a:solidFill>
                          <a:srgbClr val="232B34"/>
                        </a:solidFill>
                        <a:latin typeface="Arial" panose="020B0604020202020204" pitchFamily="34" charset="0"/>
                      </a:endParaRPr>
                    </a:p>
                  </a:txBody>
                  <a:tcPr marL="64008" marR="64008" marT="27432" marB="27432" anchor="ctr">
                    <a:solidFill>
                      <a:schemeClr val="bg1"/>
                    </a:solidFill>
                  </a:tcPr>
                </a:tc>
                <a:tc>
                  <a:txBody>
                    <a:bodyPr/>
                    <a:lstStyle/>
                    <a:p>
                      <a:pPr algn="ctr">
                        <a:spcAft>
                          <a:spcPts val="0"/>
                        </a:spcAft>
                      </a:pPr>
                      <a:r>
                        <a:rPr lang="en-US" sz="2300" b="0">
                          <a:solidFill>
                            <a:srgbClr val="232B34"/>
                          </a:solidFill>
                          <a:latin typeface="Arial" panose="020B0604020202020204" pitchFamily="34" charset="0"/>
                          <a:ea typeface="Yu Gothic"/>
                        </a:rPr>
                        <a:t>125</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470898"/>
          </a:xfrm>
          <a:prstGeom prst="rect">
            <a:avLst/>
          </a:prstGeom>
          <a:noFill/>
        </p:spPr>
        <p:txBody>
          <a:bodyPr wrap="square" lIns="36576" tIns="27432" rIns="36576" bIns="27432" anchor="t">
            <a:spAutoFit/>
          </a:bodyPr>
          <a:lstStyle/>
          <a:p>
            <a:pPr algn="ctr">
              <a:spcAft>
                <a:spcPts val="0"/>
              </a:spcAft>
            </a:pPr>
            <a:r>
              <a:rPr lang="en-US" sz="2700" b="1">
                <a:solidFill>
                  <a:srgbClr val="1B74AA"/>
                </a:solidFill>
                <a:latin typeface="Arial" panose="020B0604020202020204" pitchFamily="34" charset="0"/>
                <a:ea typeface="Yu Gothic"/>
              </a:rPr>
              <a:t>Environmental conditions varied by case</a:t>
            </a:r>
            <a:endParaRPr lang="en-US" sz="2700" b="1" dirty="0">
              <a:solidFill>
                <a:srgbClr val="1B74AA"/>
              </a:solidFill>
              <a:latin typeface="Arial" panose="020B0604020202020204" pitchFamily="34" charset="0"/>
              <a:ea typeface="Yu Gothic"/>
            </a:endParaRPr>
          </a:p>
        </p:txBody>
      </p:sp>
      <p:sp>
        <p:nvSpPr>
          <p:cNvPr id="8" name="TextBox 7"/>
          <p:cNvSpPr txBox="1"/>
          <p:nvPr/>
        </p:nvSpPr>
        <p:spPr>
          <a:xfrm>
            <a:off x="13258800" y="4729416"/>
            <a:ext cx="9052560" cy="2010359"/>
          </a:xfrm>
          <a:prstGeom prst="rect">
            <a:avLst/>
          </a:prstGeom>
          <a:noFill/>
        </p:spPr>
        <p:txBody>
          <a:bodyPr wrap="square" lIns="27432" rIns="27432">
            <a:spAutoFit/>
          </a:bodyPr>
          <a:lstStyle/>
          <a:p>
            <a:pPr>
              <a:lnSpc>
                <a:spcPct val="110000"/>
              </a:lnSpc>
              <a:spcAft>
                <a:spcPts val="800"/>
              </a:spcAft>
            </a:pPr>
            <a:r>
              <a:rPr lang="en-US" sz="2400" b="0" dirty="0">
                <a:solidFill>
                  <a:srgbClr val="232B34"/>
                </a:solidFill>
                <a:latin typeface="Arial" panose="020B0604020202020204" pitchFamily="34" charset="0"/>
                <a:ea typeface="Yu Gothic"/>
              </a:rPr>
              <a:t>• </a:t>
            </a:r>
            <a:r>
              <a:rPr lang="en-US" sz="2400" b="0">
                <a:solidFill>
                  <a:srgbClr val="232B34"/>
                </a:solidFill>
                <a:latin typeface="Arial" panose="020B0604020202020204" pitchFamily="34" charset="0"/>
                <a:ea typeface="Yu Gothic"/>
              </a:rPr>
              <a:t>Orbita</a:t>
            </a:r>
            <a:r>
              <a:rPr lang="en-US" sz="2400">
                <a:solidFill>
                  <a:srgbClr val="232B34"/>
                </a:solidFill>
                <a:latin typeface="Arial" panose="020B0604020202020204" pitchFamily="34" charset="0"/>
                <a:ea typeface="Yu Gothic"/>
              </a:rPr>
              <a:t>l Conditions</a:t>
            </a:r>
            <a:endParaRPr lang="en-US" sz="2600">
              <a:solidFill>
                <a:srgbClr val="232B34"/>
              </a:solidFill>
              <a:latin typeface="Arial" panose="020B0604020202020204" pitchFamily="34" charset="0"/>
            </a:endParaRPr>
          </a:p>
          <a:p>
            <a:pPr>
              <a:lnSpc>
                <a:spcPct val="110000"/>
              </a:lnSpc>
              <a:spcAft>
                <a:spcPts val="800"/>
              </a:spcAft>
            </a:pPr>
            <a:r>
              <a:rPr lang="en-US" sz="2400" b="0" dirty="0">
                <a:solidFill>
                  <a:srgbClr val="232B34"/>
                </a:solidFill>
                <a:latin typeface="Arial" panose="020B0604020202020204" pitchFamily="34" charset="0"/>
                <a:ea typeface="Yu Gothic"/>
              </a:rPr>
              <a:t>• </a:t>
            </a:r>
            <a:r>
              <a:rPr lang="en-US" sz="2400" b="0">
                <a:solidFill>
                  <a:srgbClr val="232B34"/>
                </a:solidFill>
                <a:latin typeface="Arial" panose="020B0604020202020204" pitchFamily="34" charset="0"/>
                <a:ea typeface="Yu Gothic"/>
              </a:rPr>
              <a:t>Sun-facing panel</a:t>
            </a:r>
          </a:p>
          <a:p>
            <a:pPr>
              <a:lnSpc>
                <a:spcPct val="110000"/>
              </a:lnSpc>
              <a:spcAft>
                <a:spcPts val="800"/>
              </a:spcAft>
            </a:pPr>
            <a:r>
              <a:rPr lang="en-US" sz="2400" b="0">
                <a:solidFill>
                  <a:srgbClr val="232B34"/>
                </a:solidFill>
                <a:latin typeface="Arial" panose="020B0604020202020204" pitchFamily="34" charset="0"/>
                <a:ea typeface="Yu Gothic"/>
              </a:rPr>
              <a:t>• O</a:t>
            </a:r>
            <a:r>
              <a:rPr lang="en-US" sz="2400" b="0">
                <a:solidFill>
                  <a:srgbClr val="232B34"/>
                </a:solidFill>
                <a:latin typeface="Yu Gothic"/>
                <a:ea typeface="Yu Gothic"/>
              </a:rPr>
              <a:t>ptical </a:t>
            </a:r>
            <a:r>
              <a:rPr lang="en-US" sz="2400" b="0" dirty="0">
                <a:solidFill>
                  <a:srgbClr val="232B34"/>
                </a:solidFill>
                <a:latin typeface="Yu Gothic"/>
                <a:ea typeface="Yu Gothic"/>
              </a:rPr>
              <a:t>properties of panels</a:t>
            </a:r>
          </a:p>
          <a:p>
            <a:pPr>
              <a:lnSpc>
                <a:spcPct val="110000"/>
              </a:lnSpc>
              <a:spcAft>
                <a:spcPts val="800"/>
              </a:spcAft>
            </a:pPr>
            <a:r>
              <a:rPr lang="en-US" altLang="ja-JP" sz="2400" dirty="0">
                <a:solidFill>
                  <a:srgbClr val="232B34"/>
                </a:solidFill>
                <a:latin typeface="Arial" panose="020B0604020202020204" pitchFamily="34" charset="0"/>
                <a:ea typeface="Yu Gothic"/>
              </a:rPr>
              <a:t>• Internal Equipment dissipation</a:t>
            </a:r>
            <a:endParaRPr lang="en-US" sz="2400" dirty="0">
              <a:solidFill>
                <a:srgbClr val="232B34"/>
              </a:solidFill>
              <a:latin typeface="Arial" panose="020B0604020202020204" pitchFamily="34" charset="0"/>
              <a:ea typeface="Yu Gothic"/>
            </a:endParaRP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1335024" y="3017520"/>
            <a:ext cx="10789920"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thermal-analysis inputs</a:t>
            </a:r>
            <a:endParaRPr kumimoji="1" lang="en-US" altLang="ja-JP" sz="2800" dirty="0">
              <a:latin typeface="Arial" panose="020B0604020202020204" pitchFamily="34" charset="0"/>
            </a:endParaRPr>
          </a:p>
        </p:txBody>
      </p:sp>
      <p:sp>
        <p:nvSpPr>
          <p:cNvPr id="16" name="TextBox 15"/>
          <p:cNvSpPr txBox="1"/>
          <p:nvPr/>
        </p:nvSpPr>
        <p:spPr>
          <a:xfrm>
            <a:off x="1335024" y="11978640"/>
            <a:ext cx="10972800" cy="375487"/>
          </a:xfrm>
          <a:prstGeom prst="rect">
            <a:avLst/>
          </a:prstGeom>
          <a:noFill/>
        </p:spPr>
        <p:txBody>
          <a:bodyPr wrap="square" lIns="45720" tIns="18288" rIns="45720" bIns="18288" anchor="t">
            <a:spAutoFit/>
          </a:bodyPr>
          <a:lstStyle/>
          <a:p>
            <a:pPr algn="l">
              <a:spcAft>
                <a:spcPts val="0"/>
              </a:spcAft>
            </a:pPr>
            <a:r>
              <a:rPr lang="en-US" sz="2200" b="0">
                <a:solidFill>
                  <a:srgbClr val="666F79"/>
                </a:solidFill>
                <a:latin typeface="Arial" panose="020B0604020202020204" pitchFamily="34" charset="0"/>
                <a:ea typeface="Yu Gothic"/>
              </a:rPr>
              <a:t>Output: panel temperature field T(t), computed on the ground.</a:t>
            </a:r>
            <a:endParaRPr lang="en-US" sz="22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panose="020B0400000000000000" pitchFamily="50" charset="-128"/>
              </a:rPr>
              <a:t>Thermoelastic analysis</a:t>
            </a:r>
            <a:endParaRPr lang="en-US" sz="2000" b="0" dirty="0">
              <a:solidFill>
                <a:srgbClr val="666F79"/>
              </a:solidFill>
              <a:latin typeface="Arial" panose="020B0604020202020204" pitchFamily="34" charset="0"/>
              <a:ea typeface="Yu Gothic" panose="020B0400000000000000" pitchFamily="50" charset="-128"/>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 temperature field is mapped into Femap to obtain STT and LCT translations and rotations</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9</a:t>
            </a:r>
            <a:endParaRPr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72321362"/>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spcAft>
                          <a:spcPts val="0"/>
                        </a:spcAft>
                      </a:pPr>
                      <a:r>
                        <a:rPr lang="en-US" sz="2200" b="1">
                          <a:solidFill>
                            <a:srgbClr val="FFFFFF"/>
                          </a:solidFill>
                          <a:latin typeface="Arial" panose="020B0604020202020204" pitchFamily="34" charset="0"/>
                          <a:ea typeface="Yu Gothic"/>
                        </a:rPr>
                        <a:t>Structural-analysis setting</a:t>
                      </a:r>
                      <a:endParaRPr lang="en-US" sz="22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200" b="1">
                          <a:solidFill>
                            <a:srgbClr val="FFFFFF"/>
                          </a:solidFill>
                          <a:latin typeface="Arial" panose="020B0604020202020204" pitchFamily="34" charset="0"/>
                          <a:ea typeface="Yu Gothic"/>
                        </a:rPr>
                        <a:t>Value</a:t>
                      </a:r>
                      <a:endParaRPr lang="en-US" sz="22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spcAft>
                          <a:spcPts val="0"/>
                        </a:spcAft>
                      </a:pPr>
                      <a:r>
                        <a:rPr lang="en-US" sz="2200" b="0">
                          <a:solidFill>
                            <a:srgbClr val="232B34"/>
                          </a:solidFill>
                          <a:latin typeface="Arial" panose="020B0604020202020204" pitchFamily="34" charset="0"/>
                          <a:ea typeface="Yu Gothic"/>
                        </a:rPr>
                        <a:t>Material</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Aluminum A5052</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spcAft>
                          <a:spcPts val="0"/>
                        </a:spcAft>
                      </a:pPr>
                      <a:r>
                        <a:rPr lang="en-US" sz="2200" b="0">
                          <a:solidFill>
                            <a:srgbClr val="232B34"/>
                          </a:solidFill>
                          <a:latin typeface="Arial" panose="020B0604020202020204" pitchFamily="34" charset="0"/>
                          <a:ea typeface="Yu Gothic"/>
                        </a:rPr>
                        <a:t>Young's modulus</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200" b="0">
                          <a:solidFill>
                            <a:srgbClr val="232B34"/>
                          </a:solidFill>
                          <a:latin typeface="Arial" panose="020B0604020202020204" pitchFamily="34" charset="0"/>
                          <a:ea typeface="Yu Gothic"/>
                        </a:rPr>
                        <a:t>70.327 GPa</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spcAft>
                          <a:spcPts val="0"/>
                        </a:spcAft>
                      </a:pPr>
                      <a:r>
                        <a:rPr lang="en-US" sz="2200" b="0">
                          <a:solidFill>
                            <a:srgbClr val="232B34"/>
                          </a:solidFill>
                          <a:latin typeface="Arial" panose="020B0604020202020204" pitchFamily="34" charset="0"/>
                          <a:ea typeface="Yu Gothic"/>
                        </a:rPr>
                        <a:t>Poisson's ratio</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0.33</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spcAft>
                          <a:spcPts val="0"/>
                        </a:spcAft>
                      </a:pPr>
                      <a:r>
                        <a:rPr lang="en-US" sz="2200" b="0">
                          <a:solidFill>
                            <a:srgbClr val="232B34"/>
                          </a:solidFill>
                          <a:latin typeface="Arial" panose="020B0604020202020204" pitchFamily="34" charset="0"/>
                          <a:ea typeface="Yu Gothic"/>
                        </a:rPr>
                        <a:t>Coefficient of thermal expansion</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200" b="0">
                          <a:solidFill>
                            <a:srgbClr val="232B34"/>
                          </a:solidFill>
                          <a:latin typeface="Arial" panose="020B0604020202020204" pitchFamily="34" charset="0"/>
                          <a:ea typeface="Yu Gothic"/>
                        </a:rPr>
                        <a:t>2.376×10⁻⁵ /K</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spcAft>
                          <a:spcPts val="0"/>
                        </a:spcAft>
                      </a:pPr>
                      <a:r>
                        <a:rPr lang="en-US" sz="2200" b="0">
                          <a:solidFill>
                            <a:srgbClr val="232B34"/>
                          </a:solidFill>
                          <a:latin typeface="Arial" panose="020B0604020202020204" pitchFamily="34" charset="0"/>
                          <a:ea typeface="Yu Gothic"/>
                        </a:rPr>
                        <a:t>Density</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2685 kg/m³</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spcAft>
                          <a:spcPts val="0"/>
                        </a:spcAft>
                      </a:pPr>
                      <a:r>
                        <a:rPr lang="en-US" sz="2200" b="0">
                          <a:solidFill>
                            <a:srgbClr val="232B34"/>
                          </a:solidFill>
                          <a:latin typeface="Arial" panose="020B0604020202020204" pitchFamily="34" charset="0"/>
                          <a:ea typeface="Yu Gothic"/>
                        </a:rPr>
                        <a:t>Reference temperature</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200" b="0">
                          <a:solidFill>
                            <a:srgbClr val="232B34"/>
                          </a:solidFill>
                          <a:latin typeface="Arial" panose="020B0604020202020204" pitchFamily="34" charset="0"/>
                          <a:ea typeface="Yu Gothic"/>
                        </a:rPr>
                        <a:t>23.9 ℃</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spcAft>
                          <a:spcPts val="0"/>
                        </a:spcAft>
                      </a:pPr>
                      <a:r>
                        <a:rPr lang="en-US" sz="2200" b="0">
                          <a:solidFill>
                            <a:srgbClr val="232B34"/>
                          </a:solidFill>
                          <a:latin typeface="Arial" panose="020B0604020202020204" pitchFamily="34" charset="0"/>
                          <a:ea typeface="Yu Gothic"/>
                        </a:rPr>
                        <a:t>Constraint</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Small region near the STT</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1197864" y="3273552"/>
            <a:ext cx="10881360"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structural-analysis settings</a:t>
            </a:r>
            <a:endParaRPr kumimoji="1" lang="en-US" altLang="ja-JP" sz="2800" dirty="0">
              <a:latin typeface="Arial" panose="020B0604020202020204" pitchFamily="34" charset="0"/>
            </a:endParaRPr>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430887"/>
          </a:xfrm>
          <a:prstGeom prst="rect">
            <a:avLst/>
          </a:prstGeom>
          <a:noFill/>
        </p:spPr>
        <p:txBody>
          <a:bodyPr wrap="square" rtlCol="0">
            <a:spAutoFit/>
          </a:bodyPr>
          <a:lstStyle/>
          <a:p>
            <a:pPr>
              <a:spcAft>
                <a:spcPts val="0"/>
              </a:spcAft>
            </a:pPr>
            <a:r>
              <a:rPr lang="en-US" sz="2200" b="1">
                <a:solidFill>
                  <a:srgbClr val="1B74AA"/>
                </a:solidFill>
                <a:latin typeface="Arial" panose="020B0604020202020204" pitchFamily="34" charset="0"/>
                <a:ea typeface="Yu Gothic"/>
              </a:rPr>
              <a:t> </a:t>
            </a:r>
            <a:r>
              <a:rPr lang="en-US" sz="2200" b="1" dirty="0">
                <a:solidFill>
                  <a:srgbClr val="1B74AA"/>
                </a:solidFill>
                <a:latin typeface="Arial" panose="020B0604020202020204" pitchFamily="34" charset="0"/>
                <a:ea typeface="Yu Gothic"/>
              </a:rPr>
              <a:t>T(</a:t>
            </a:r>
            <a:r>
              <a:rPr lang="en-US" sz="2200" b="1" dirty="0" err="1">
                <a:solidFill>
                  <a:srgbClr val="1B74AA"/>
                </a:solidFill>
                <a:latin typeface="Arial" panose="020B0604020202020204" pitchFamily="34" charset="0"/>
                <a:ea typeface="Yu Gothic"/>
              </a:rPr>
              <a:t>t</a:t>
            </a:r>
            <a:r>
              <a:rPr lang="en-US" sz="2200" b="1" err="1">
                <a:solidFill>
                  <a:srgbClr val="1B74AA"/>
                </a:solidFill>
                <a:latin typeface="Arial" panose="020B0604020202020204" pitchFamily="34" charset="0"/>
                <a:ea typeface="Yu Gothic"/>
              </a:rPr>
              <a:t>,</a:t>
            </a:r>
            <a:r>
              <a:rPr lang="en-US" sz="2200" b="1">
                <a:solidFill>
                  <a:srgbClr val="1B74AA"/>
                </a:solidFill>
                <a:latin typeface="Arial" panose="020B0604020202020204" pitchFamily="34" charset="0"/>
                <a:ea typeface="Yu Gothic"/>
              </a:rPr>
              <a:t>x) </a:t>
            </a:r>
            <a:r>
              <a:rPr lang="en-US" sz="2200" b="1" dirty="0">
                <a:solidFill>
                  <a:srgbClr val="1B74AA"/>
                </a:solidFill>
                <a:latin typeface="Arial" panose="020B0604020202020204" pitchFamily="34" charset="0"/>
                <a:ea typeface="Yu Gothic"/>
              </a:rPr>
              <a:t>from TD</a:t>
            </a:r>
            <a:endParaRPr sz="2200" b="1" dirty="0">
              <a:solidFill>
                <a:srgbClr val="1B74AA"/>
              </a:solidFill>
              <a:latin typeface="Arial" panose="020B0604020202020204" pitchFamily="34" charset="0"/>
              <a:ea typeface="Yu Gothic"/>
            </a:endParaRPr>
          </a:p>
        </p:txBody>
      </p:sp>
      <p:sp>
        <p:nvSpPr>
          <p:cNvPr id="22" name="TextBox 21"/>
          <p:cNvSpPr txBox="1"/>
          <p:nvPr/>
        </p:nvSpPr>
        <p:spPr>
          <a:xfrm>
            <a:off x="1197864" y="11887200"/>
            <a:ext cx="11430000" cy="375487"/>
          </a:xfrm>
          <a:prstGeom prst="rect">
            <a:avLst/>
          </a:prstGeom>
          <a:noFill/>
        </p:spPr>
        <p:txBody>
          <a:bodyPr wrap="square" lIns="45720" tIns="18288" rIns="45720" bIns="18288" anchor="t">
            <a:spAutoFit/>
          </a:bodyPr>
          <a:lstStyle/>
          <a:p>
            <a:pPr algn="l">
              <a:spcAft>
                <a:spcPts val="0"/>
              </a:spcAft>
            </a:pPr>
            <a:r>
              <a:rPr lang="en-US" sz="2200" b="0">
                <a:solidFill>
                  <a:srgbClr val="666F79"/>
                </a:solidFill>
                <a:latin typeface="Arial" panose="020B0604020202020204" pitchFamily="34" charset="0"/>
                <a:ea typeface="Yu Gothic"/>
              </a:rPr>
              <a:t>Thermal Desktop and Femap generate training data on the ground.</a:t>
            </a:r>
            <a:endParaRPr lang="en-US" sz="22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4083775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rPr>
              <a:t>Calculate thermal LOS error through rotation of STT and LCT </a:t>
            </a:r>
          </a:p>
        </p:txBody>
      </p:sp>
      <p:sp>
        <p:nvSpPr>
          <p:cNvPr id="4" name="TextBox 3"/>
          <p:cNvSpPr txBox="1"/>
          <p:nvPr/>
        </p:nvSpPr>
        <p:spPr>
          <a:xfrm>
            <a:off x="2344405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10</a:t>
            </a:r>
            <a:endParaRPr sz="1800" b="0" dirty="0">
              <a:solidFill>
                <a:srgbClr val="666F79"/>
              </a:solidFill>
              <a:latin typeface="Arial" panose="020B0604020202020204" pitchFamily="34" charset="0"/>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0" y="3246120"/>
            <a:ext cx="6839712" cy="470898"/>
          </a:xfrm>
          <a:prstGeom prst="rect">
            <a:avLst/>
          </a:prstGeom>
          <a:noFill/>
        </p:spPr>
        <p:txBody>
          <a:bodyPr wrap="square" lIns="36576" tIns="27432" rIns="36576" bIns="27432" anchor="t">
            <a:spAutoFit/>
          </a:bodyPr>
          <a:lstStyle/>
          <a:p>
            <a:pPr algn="ctr">
              <a:spcAft>
                <a:spcPts val="0"/>
              </a:spcAft>
            </a:pPr>
            <a:r>
              <a:rPr lang="en-US" sz="2700" b="1">
                <a:solidFill>
                  <a:srgbClr val="1B74AA"/>
                </a:solidFill>
                <a:latin typeface="Arial" panose="020B0604020202020204" pitchFamily="34" charset="0"/>
                <a:ea typeface="Yu Gothic"/>
              </a:rPr>
              <a:t>LOS-error definition</a:t>
            </a:r>
            <a:endParaRPr lang="en-US" sz="2800" b="1" dirty="0">
              <a:solidFill>
                <a:srgbClr val="1B74AA"/>
              </a:solidFill>
              <a:latin typeface="Arial" panose="020B0604020202020204" pitchFamily="34" charset="0"/>
            </a:endParaRPr>
          </a:p>
        </p:txBody>
      </p:sp>
      <p:sp>
        <p:nvSpPr>
          <p:cNvPr id="9" name="TextBox 8"/>
          <p:cNvSpPr txBox="1"/>
          <p:nvPr/>
        </p:nvSpPr>
        <p:spPr>
          <a:xfrm>
            <a:off x="16001999" y="4297680"/>
            <a:ext cx="7040879" cy="1876155"/>
          </a:xfrm>
          <a:prstGeom prst="rect">
            <a:avLst/>
          </a:prstGeom>
          <a:noFill/>
        </p:spPr>
        <p:txBody>
          <a:bodyPr wrap="square" lIns="27432" rIns="27432">
            <a:spAutoFit/>
          </a:bodyPr>
          <a:lstStyle/>
          <a:p>
            <a:pPr>
              <a:lnSpc>
                <a:spcPct val="110000"/>
              </a:lnSpc>
              <a:spcAft>
                <a:spcPts val="800"/>
              </a:spcAft>
            </a:pPr>
            <a:r>
              <a:rPr lang="en-US" sz="2200" b="0">
                <a:solidFill>
                  <a:srgbClr val="232B34"/>
                </a:solidFill>
                <a:latin typeface="Arial" panose="020B0604020202020204" pitchFamily="34" charset="0"/>
                <a:ea typeface="Yu Gothic"/>
              </a:rPr>
              <a:t>• LCT optical-axis rotation − STT reference rotation</a:t>
            </a:r>
            <a:endParaRPr lang="en-US" sz="2400" dirty="0">
              <a:solidFill>
                <a:srgbClr val="232B34"/>
              </a:solidFill>
              <a:latin typeface="Arial" panose="020B0604020202020204" pitchFamily="34" charset="0"/>
            </a:endParaRPr>
          </a:p>
          <a:p>
            <a:pPr>
              <a:lnSpc>
                <a:spcPct val="110000"/>
              </a:lnSpc>
              <a:spcAft>
                <a:spcPts val="800"/>
              </a:spcAft>
            </a:pPr>
            <a:r>
              <a:rPr lang="en-US" sz="2200" b="0">
                <a:solidFill>
                  <a:srgbClr val="232B34"/>
                </a:solidFill>
                <a:latin typeface="Arial" panose="020B0604020202020204" pitchFamily="34" charset="0"/>
                <a:ea typeface="Yu Gothic"/>
              </a:rPr>
              <a:t>• STT thermal rotation is absorbed into attitude</a:t>
            </a:r>
          </a:p>
          <a:p>
            <a:pPr>
              <a:lnSpc>
                <a:spcPct val="110000"/>
              </a:lnSpc>
              <a:spcAft>
                <a:spcPts val="800"/>
              </a:spcAft>
            </a:pPr>
            <a:r>
              <a:rPr lang="en-US" sz="2200" b="0">
                <a:solidFill>
                  <a:srgbClr val="232B34"/>
                </a:solidFill>
                <a:latin typeface="Arial" panose="020B0604020202020204" pitchFamily="34" charset="0"/>
                <a:ea typeface="Yu Gothic"/>
              </a:rPr>
              <a:t>• Directly gives far-field scan-center error</a:t>
            </a:r>
          </a:p>
          <a:p>
            <a:pPr>
              <a:lnSpc>
                <a:spcPct val="110000"/>
              </a:lnSpc>
              <a:spcAft>
                <a:spcPts val="800"/>
              </a:spcAft>
            </a:pPr>
            <a:r>
              <a:rPr lang="en-US" sz="2200" b="0">
                <a:solidFill>
                  <a:srgbClr val="232B34"/>
                </a:solidFill>
                <a:latin typeface="Arial" panose="020B0604020202020204" pitchFamily="34" charset="0"/>
                <a:ea typeface="Yu Gothic"/>
              </a:rPr>
              <a:t>• Excludes translation-induced tilt</a:t>
            </a:r>
            <a:endParaRPr lang="en-US" sz="2200" b="0" dirty="0">
              <a:solidFill>
                <a:srgbClr val="232B34"/>
              </a:solidFill>
              <a:latin typeface="Arial" panose="020B0604020202020204" pitchFamily="34" charset="0"/>
              <a:ea typeface="Yu Gothic"/>
            </a:endParaRP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latin typeface="Arial" panose="020B0604020202020204" pitchFamily="34" charset="0"/>
              </a:rPr>
              <a:t>STT</a:t>
            </a:r>
            <a:endParaRPr kumimoji="1" lang="ja-JP" altLang="en-US" sz="3200" dirty="0">
              <a:latin typeface="Arial" panose="020B0604020202020204" pitchFamily="34" charset="0"/>
            </a:endParaRPr>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latin typeface="Arial" panose="020B0604020202020204" pitchFamily="34" charset="0"/>
              </a:rPr>
              <a:t>LCT</a:t>
            </a:r>
            <a:endParaRPr kumimoji="1" lang="ja-JP" altLang="en-US" sz="3200" dirty="0">
              <a:latin typeface="Arial" panose="020B0604020202020204" pitchFamily="34" charset="0"/>
            </a:endParaRPr>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097280" y="10607040"/>
            <a:ext cx="14081760" cy="538609"/>
          </a:xfrm>
          <a:prstGeom prst="rect">
            <a:avLst/>
          </a:prstGeom>
          <a:noFill/>
        </p:spPr>
        <p:txBody>
          <a:bodyPr wrap="square">
            <a:spAutoFit/>
          </a:bodyPr>
          <a:lstStyle/>
          <a:p>
            <a:pPr>
              <a:spcAft>
                <a:spcPts val="0"/>
              </a:spcAft>
            </a:pPr>
            <a:r>
              <a:rPr lang="en-US" sz="2900" b="1">
                <a:solidFill>
                  <a:srgbClr val="082B52"/>
                </a:solidFill>
                <a:latin typeface="Arial" panose="020B0604020202020204" pitchFamily="34" charset="0"/>
                <a:ea typeface="Yu Gothic"/>
              </a:rPr>
              <a:t>Far-field LOS error = STT-relative LCT optical-axis rotation, not translation</a:t>
            </a:r>
            <a:endParaRPr lang="en-US" altLang="ja-JP" sz="3200" b="1" dirty="0">
              <a:solidFill>
                <a:srgbClr val="082B52"/>
              </a:solidFill>
              <a:latin typeface="Arial" panose="020B0604020202020204" pitchFamily="34" charset="0"/>
            </a:endParaRPr>
          </a:p>
        </p:txBody>
      </p:sp>
      <mc:AlternateContent xmlns:mc="http://schemas.openxmlformats.org/markup-compatibility/2006">
        <mc:Choice xmlns:a14="http://schemas.microsoft.com/office/drawing/2010/main"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Arial" panose="020B0604020202020204" pitchFamily="34" charset="0"/>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Arial" panose="020B0604020202020204" pitchFamily="34" charset="0"/>
                </a:endParaRPr>
              </a:p>
              <a:p>
                <a:pPr algn="ctr"/>
                <a:r>
                  <a:rPr lang="en-US" sz="3600" b="1" i="1" dirty="0">
                    <a:solidFill>
                      <a:srgbClr val="082B52"/>
                    </a:solidFill>
                    <a:latin typeface="Arial" panose="020B0604020202020204" pitchFamily="34" charset="0"/>
                  </a:rPr>
                  <a:t> </a:t>
                </a:r>
                <a:endParaRPr sz="3600" b="1" i="1" dirty="0">
                  <a:solidFill>
                    <a:srgbClr val="082B52"/>
                  </a:solidFill>
                  <a:latin typeface="Arial" panose="020B0604020202020204" pitchFamily="34" charset="0"/>
                </a:endParaRPr>
              </a:p>
            </p:txBody>
          </p:sp>
        </mc:Choice>
        <mc:Fallback>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Arial" panose="020B0604020202020204" pitchFamily="34" charset="0"/>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Arial" panose="020B0604020202020204" pitchFamily="34" charset="0"/>
                </a:endParaRPr>
              </a:p>
              <a:p>
                <a:pPr algn="ctr"/>
                <a:endParaRPr lang="en-US" altLang="ja-JP" sz="3200" b="1" i="1" dirty="0">
                  <a:solidFill>
                    <a:srgbClr val="082B52"/>
                  </a:solidFill>
                  <a:latin typeface="Arial" panose="020B0604020202020204" pitchFamily="34" charset="0"/>
                </a:endParaRPr>
              </a:p>
              <a:p>
                <a:pPr algn="ctr"/>
                <a:r>
                  <a:rPr lang="en-US" sz="3200" b="1" i="1" dirty="0">
                    <a:solidFill>
                      <a:srgbClr val="082B52"/>
                    </a:solidFill>
                    <a:latin typeface="Arial" panose="020B0604020202020204" pitchFamily="34" charset="0"/>
                  </a:rPr>
                  <a:t> </a:t>
                </a:r>
                <a:endParaRPr sz="3200" b="1" i="1" dirty="0">
                  <a:solidFill>
                    <a:srgbClr val="082B52"/>
                  </a:solidFill>
                  <a:latin typeface="Arial" panose="020B0604020202020204" pitchFamily="34" charset="0"/>
                </a:endParaRPr>
              </a:p>
            </p:txBody>
          </p:sp>
        </mc:Choice>
        <mc:Fallback>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5"/>
                <a:stretch>
                  <a:fillRect/>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DC33983D-AC0D-18DB-72E9-DF2EB746875E}"/>
              </a:ext>
            </a:extLst>
          </p:cNvPr>
          <p:cNvPicPr>
            <a:picLocks noChangeAspect="1"/>
          </p:cNvPicPr>
          <p:nvPr/>
        </p:nvPicPr>
        <p:blipFill>
          <a:blip r:embed="rId6"/>
          <a:stretch>
            <a:fillRect/>
          </a:stretch>
        </p:blipFill>
        <p:spPr>
          <a:xfrm>
            <a:off x="7916399" y="3441668"/>
            <a:ext cx="6803639" cy="6537732"/>
          </a:xfrm>
          <a:prstGeom prst="rect">
            <a:avLst/>
          </a:prstGeom>
        </p:spPr>
      </p:pic>
    </p:spTree>
    <p:extLst>
      <p:ext uri="{BB962C8B-B14F-4D97-AF65-F5344CB8AC3E}">
        <p14:creationId xmlns:p14="http://schemas.microsoft.com/office/powerpoint/2010/main" val="36918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 structure and LOS definition are fixed; only sun face, dissipation, surface, and orbit vary</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11</a:t>
            </a:r>
            <a:endParaRPr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586723607"/>
              </p:ext>
            </p:extLst>
          </p:nvPr>
        </p:nvGraphicFramePr>
        <p:xfrm>
          <a:off x="1097280" y="3665220"/>
          <a:ext cx="21945600" cy="5029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spcAft>
                          <a:spcPts val="0"/>
                        </a:spcAft>
                      </a:pPr>
                      <a:r>
                        <a:rPr lang="en-US" sz="2300" b="1">
                          <a:solidFill>
                            <a:srgbClr val="FFFFFF"/>
                          </a:solidFill>
                          <a:latin typeface="Arial" panose="020B0604020202020204" pitchFamily="34" charset="0"/>
                          <a:ea typeface="Yu Gothic"/>
                        </a:rPr>
                        <a:t>Varied factor</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Cases</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Purpose</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spcAft>
                          <a:spcPts val="0"/>
                        </a:spcAft>
                      </a:pPr>
                      <a:r>
                        <a:rPr lang="en-US" sz="2300" b="0">
                          <a:solidFill>
                            <a:srgbClr val="232B34"/>
                          </a:solidFill>
                          <a:latin typeface="Arial" panose="020B0604020202020204" pitchFamily="34" charset="0"/>
                          <a:ea typeface="Yu Gothic"/>
                        </a:rPr>
                        <a:t>Sun face</a:t>
                      </a:r>
                      <a:endParaRPr lang="en-US" sz="23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MX / MY / PX / PY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400">
                          <a:solidFill>
                            <a:srgbClr val="232B34"/>
                          </a:solidFill>
                          <a:latin typeface="Arial" panose="020B0604020202020204" pitchFamily="34" charset="0"/>
                          <a:ea typeface="Yu Gothic"/>
                        </a:rPr>
                        <a:t>Dominant axis, sign, and magnitude</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spcAft>
                          <a:spcPts val="0"/>
                        </a:spcAft>
                      </a:pPr>
                      <a:r>
                        <a:rPr lang="en-US" sz="2300" b="0">
                          <a:solidFill>
                            <a:srgbClr val="232B34"/>
                          </a:solidFill>
                          <a:latin typeface="Arial" panose="020B0604020202020204" pitchFamily="34" charset="0"/>
                          <a:ea typeface="Yu Gothic"/>
                        </a:rPr>
                        <a:t>Internal dissipation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STT/LCT only / +PROP / +PCDU / all units (one half-power case)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400">
                          <a:solidFill>
                            <a:srgbClr val="232B34"/>
                          </a:solidFill>
                          <a:latin typeface="Arial" panose="020B0604020202020204" pitchFamily="34" charset="0"/>
                          <a:ea typeface="Yu Gothic"/>
                        </a:rPr>
                        <a:t>Variation in mean bias across cases</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spcAft>
                          <a:spcPts val="0"/>
                        </a:spcAft>
                      </a:pPr>
                      <a:r>
                        <a:rPr lang="en-US" sz="2300" b="0">
                          <a:solidFill>
                            <a:srgbClr val="232B34"/>
                          </a:solidFill>
                          <a:latin typeface="Arial" panose="020B0604020202020204" pitchFamily="34" charset="0"/>
                          <a:ea typeface="Yu Gothic"/>
                        </a:rPr>
                        <a:t>Surface properties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Baseline (α = ε = 0.5) / Black / Alodine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400">
                          <a:solidFill>
                            <a:srgbClr val="232B34"/>
                          </a:solidFill>
                          <a:latin typeface="Arial" panose="020B0604020202020204" pitchFamily="34" charset="0"/>
                          <a:ea typeface="Yu Gothic"/>
                        </a:rPr>
                        <a:t>Variation amplitude and residual floor</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spcAft>
                          <a:spcPts val="0"/>
                        </a:spcAft>
                      </a:pPr>
                      <a:r>
                        <a:rPr lang="en-US" sz="2300" b="0">
                          <a:solidFill>
                            <a:srgbClr val="232B34"/>
                          </a:solidFill>
                          <a:latin typeface="Arial" panose="020B0604020202020204" pitchFamily="34" charset="0"/>
                          <a:ea typeface="Yu Gothic"/>
                        </a:rPr>
                        <a:t>Orbit / thermal environment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Eclipse / continuous illumination; LTAN06 / LTAN18</a:t>
                      </a:r>
                      <a:endParaRPr lang="en-US" sz="23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spcAft>
                          <a:spcPts val="0"/>
                        </a:spcAft>
                      </a:pPr>
                      <a:r>
                        <a:rPr lang="en-US" sz="2400">
                          <a:solidFill>
                            <a:srgbClr val="232B34"/>
                          </a:solidFill>
                          <a:latin typeface="Arial" panose="020B0604020202020204" pitchFamily="34" charset="0"/>
                          <a:ea typeface="Yu Gothic"/>
                        </a:rPr>
                        <a:t>Applicability across thermal and orbit conditions</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1097280" y="11338560"/>
            <a:ext cx="21945600" cy="732508"/>
          </a:xfrm>
          <a:prstGeom prst="rect">
            <a:avLst/>
          </a:prstGeom>
          <a:noFill/>
        </p:spPr>
        <p:txBody>
          <a:bodyPr wrap="square" lIns="36576" tIns="27432" rIns="36576" bIns="27432" anchor="t">
            <a:spAutoFit/>
          </a:bodyPr>
          <a:lstStyle/>
          <a:p>
            <a:pPr>
              <a:spcAft>
                <a:spcPts val="0"/>
              </a:spcAft>
            </a:pPr>
            <a:r>
              <a:rPr lang="en-US" sz="2200" b="0">
                <a:solidFill>
                  <a:srgbClr val="D03B46"/>
                </a:solidFill>
                <a:latin typeface="Arial" panose="020B0604020202020204" pitchFamily="34" charset="0"/>
                <a:ea typeface="Yu Gothic"/>
              </a:rPr>
              <a:t>PZ/MZ sun-face cases are not included;</a:t>
            </a:r>
            <a:endParaRPr lang="en-US" sz="2200" b="0" dirty="0">
              <a:solidFill>
                <a:srgbClr val="D03B46"/>
              </a:solidFill>
              <a:latin typeface="Arial" panose="020B0604020202020204" pitchFamily="34" charset="0"/>
              <a:ea typeface="Yu Gothic"/>
            </a:endParaRPr>
          </a:p>
          <a:p>
            <a:pPr>
              <a:spcAft>
                <a:spcPts val="0"/>
              </a:spcAft>
            </a:pPr>
            <a:r>
              <a:rPr lang="en-US" sz="2200" b="0">
                <a:solidFill>
                  <a:srgbClr val="D03B46"/>
                </a:solidFill>
                <a:latin typeface="Arial" panose="020B0604020202020204" pitchFamily="34" charset="0"/>
                <a:ea typeface="Yu Gothic"/>
              </a:rPr>
              <a:t>they host the STT/LCT and are outside this model's scope.</a:t>
            </a:r>
            <a:endParaRPr lang="en-US" sz="2600" b="1" dirty="0">
              <a:solidFill>
                <a:srgbClr val="D03B46"/>
              </a:solidFill>
              <a:latin typeface="Arial" panose="020B0604020202020204" pitchFamily="34" charset="0"/>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en-US" altLang="ja-JP" sz="2800">
                <a:latin typeface="Arial" panose="020B0604020202020204" pitchFamily="34" charset="0"/>
              </a:rPr>
              <a:t>Case parameters</a:t>
            </a:r>
            <a:endParaRPr kumimoji="1" lang="en-US" altLang="ja-JP" sz="2800" dirty="0">
              <a:latin typeface="Arial" panose="020B0604020202020204" pitchFamily="34" charset="0"/>
            </a:endParaRPr>
          </a:p>
        </p:txBody>
      </p:sp>
      <p:sp>
        <p:nvSpPr>
          <p:cNvPr id="10" name="TextBox 9"/>
          <p:cNvSpPr txBox="1"/>
          <p:nvPr/>
        </p:nvSpPr>
        <p:spPr>
          <a:xfrm>
            <a:off x="1097280" y="9418320"/>
            <a:ext cx="21945600" cy="1395831"/>
          </a:xfrm>
          <a:prstGeom prst="rect">
            <a:avLst/>
          </a:prstGeom>
          <a:noFill/>
        </p:spPr>
        <p:txBody>
          <a:bodyPr wrap="square" lIns="45720" tIns="18288" rIns="45720" bIns="18288" anchor="t">
            <a:spAutoFit/>
          </a:bodyPr>
          <a:lstStyle/>
          <a:p>
            <a:pPr algn="l">
              <a:lnSpc>
                <a:spcPct val="120000"/>
              </a:lnSpc>
              <a:spcAft>
                <a:spcPts val="0"/>
              </a:spcAft>
            </a:pPr>
            <a:r>
              <a:rPr lang="en-US" sz="2500" b="1">
                <a:solidFill>
                  <a:srgbClr val="082B52"/>
                </a:solidFill>
                <a:latin typeface="Arial" panose="020B0604020202020204" pitchFamily="34" charset="0"/>
                <a:ea typeface="Yu Gothic"/>
              </a:rPr>
              <a:t>Fixed parameters: structure and dimensions, STT/LCT placement, material, and LOS definition</a:t>
            </a:r>
          </a:p>
          <a:p>
            <a:pPr algn="l">
              <a:lnSpc>
                <a:spcPct val="120000"/>
              </a:lnSpc>
              <a:spcAft>
                <a:spcPts val="0"/>
              </a:spcAft>
            </a:pPr>
            <a:r>
              <a:rPr lang="en-US" altLang="ja-JP" sz="2500" b="1">
                <a:solidFill>
                  <a:srgbClr val="082B52"/>
                </a:solidFill>
                <a:latin typeface="Arial" panose="020B0604020202020204" pitchFamily="34" charset="0"/>
                <a:ea typeface="Yu Gothic"/>
              </a:rPr>
              <a:t>Current analysis: 21 cases.</a:t>
            </a:r>
            <a:endParaRPr lang="en-US" sz="2500" b="1" dirty="0">
              <a:solidFill>
                <a:srgbClr val="082B52"/>
              </a:solidFill>
              <a:latin typeface="Arial" panose="020B0604020202020204" pitchFamily="34" charset="0"/>
              <a:ea typeface="Yu Gothic"/>
            </a:endParaRPr>
          </a:p>
          <a:p>
            <a:pPr algn="l">
              <a:lnSpc>
                <a:spcPct val="120000"/>
              </a:lnSpc>
              <a:spcAft>
                <a:spcPts val="0"/>
              </a:spcAft>
            </a:pPr>
            <a:r>
              <a:rPr lang="en-US" altLang="ja-JP" sz="2500" b="1" dirty="0">
                <a:solidFill>
                  <a:srgbClr val="082B52"/>
                </a:solidFill>
                <a:latin typeface="Arial" panose="020B0604020202020204" pitchFamily="34" charset="0"/>
                <a:ea typeface="Yu Gothic"/>
              </a:rPr>
              <a:t>Across-condition evaluation is limited to the same spacecraft bus; coefficients are not transferred unchanged to another structure.</a:t>
            </a:r>
            <a:endParaRPr sz="2500" b="1" dirty="0">
              <a:solidFill>
                <a:srgbClr val="082B52"/>
              </a:solidFill>
              <a:latin typeface="Arial" panose="020B0604020202020204" pitchFamily="34" charset="0"/>
              <a:ea typeface="Yu Gothic"/>
            </a:endParaRPr>
          </a:p>
        </p:txBody>
      </p:sp>
    </p:spTree>
    <p:extLst>
      <p:ext uri="{BB962C8B-B14F-4D97-AF65-F5344CB8AC3E}">
        <p14:creationId xmlns:p14="http://schemas.microsoft.com/office/powerpoint/2010/main" val="2385323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altLang="ja-JP" sz="3200" b="1">
                <a:solidFill>
                  <a:srgbClr val="082B52"/>
                </a:solidFill>
                <a:latin typeface="Arial" panose="020B0604020202020204" pitchFamily="34" charset="0"/>
                <a:ea typeface="Yu Gothic"/>
              </a:rPr>
              <a:t>Results: thermal LOS varies at the orbital period; the dominant axis and mean offset follow the sun face</a:t>
            </a:r>
            <a:endParaRPr lang="en-US" sz="3200" b="1" dirty="0">
              <a:solidFill>
                <a:srgbClr val="082B52"/>
              </a:solidFill>
              <a:latin typeface="Arial" panose="020B0604020202020204" pitchFamily="34" charset="0"/>
            </a:endParaRPr>
          </a:p>
        </p:txBody>
      </p:sp>
      <p:sp>
        <p:nvSpPr>
          <p:cNvPr id="15" name="TextBox 3">
            <a:extLst>
              <a:ext uri="{FF2B5EF4-FFF2-40B4-BE49-F238E27FC236}">
                <a16:creationId xmlns:a16="http://schemas.microsoft.com/office/drawing/2014/main" id="{3FDE0B2A-84AF-B318-D633-0F7FDE84BD9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12</a:t>
            </a:r>
            <a:endParaRPr sz="1800" b="0" dirty="0">
              <a:solidFill>
                <a:srgbClr val="666F79"/>
              </a:solidFill>
              <a:latin typeface="Arial" panose="020B0604020202020204" pitchFamily="34" charset="0"/>
              <a:ea typeface="Yu Gothic"/>
            </a:endParaRPr>
          </a:p>
        </p:txBody>
      </p:sp>
      <p:pic>
        <p:nvPicPr>
          <p:cNvPr id="17" name="Picture 7" descr="04_LTAN06_800km_1213COLD_MY_ALL_HEAT_MY_0p5_far_field_los_angle_budget.png">
            <a:extLst>
              <a:ext uri="{FF2B5EF4-FFF2-40B4-BE49-F238E27FC236}">
                <a16:creationId xmlns:a16="http://schemas.microsoft.com/office/drawing/2014/main" id="{EF6173D2-A246-1BCD-BC6A-F5B628313A3F}"/>
              </a:ext>
            </a:extLst>
          </p:cNvPr>
          <p:cNvPicPr>
            <a:picLocks noChangeAspect="1"/>
          </p:cNvPicPr>
          <p:nvPr/>
        </p:nvPicPr>
        <p:blipFill>
          <a:blip r:embed="rId3"/>
          <a:stretch>
            <a:fillRect/>
          </a:stretch>
        </p:blipFill>
        <p:spPr>
          <a:xfrm>
            <a:off x="1066619" y="2988426"/>
            <a:ext cx="11781048" cy="8568034"/>
          </a:xfrm>
          <a:prstGeom prst="rect">
            <a:avLst/>
          </a:prstGeom>
        </p:spPr>
      </p:pic>
      <p:sp>
        <p:nvSpPr>
          <p:cNvPr id="19" name="TextBox 8">
            <a:extLst>
              <a:ext uri="{FF2B5EF4-FFF2-40B4-BE49-F238E27FC236}">
                <a16:creationId xmlns:a16="http://schemas.microsoft.com/office/drawing/2014/main" id="{E5AE464D-DFE6-09C6-65DA-8D2CC851F626}"/>
              </a:ext>
            </a:extLst>
          </p:cNvPr>
          <p:cNvSpPr txBox="1"/>
          <p:nvPr/>
        </p:nvSpPr>
        <p:spPr>
          <a:xfrm>
            <a:off x="12847320" y="11475720"/>
            <a:ext cx="11045952" cy="378565"/>
          </a:xfrm>
          <a:prstGeom prst="rect">
            <a:avLst/>
          </a:prstGeom>
          <a:noFill/>
        </p:spPr>
        <p:txBody>
          <a:bodyPr wrap="square" lIns="36576" tIns="27432" rIns="36576" bIns="27432" anchor="t">
            <a:spAutoFit/>
          </a:bodyPr>
          <a:lstStyle/>
          <a:p>
            <a:pPr algn="ctr">
              <a:spcAft>
                <a:spcPts val="0"/>
              </a:spcAft>
            </a:pPr>
            <a:r>
              <a:rPr lang="en-US" sz="2100" b="1">
                <a:solidFill>
                  <a:srgbClr val="1B74AA"/>
                </a:solidFill>
                <a:latin typeface="Arial" panose="020B0604020202020204" pitchFamily="34" charset="0"/>
                <a:ea typeface="Yu Gothic"/>
              </a:rPr>
              <a:t>Panel temperatures</a:t>
            </a:r>
            <a:endParaRPr lang="en-US" sz="2100" b="1" dirty="0">
              <a:solidFill>
                <a:srgbClr val="1B74AA"/>
              </a:solidFill>
              <a:latin typeface="Arial" panose="020B0604020202020204" pitchFamily="34" charset="0"/>
              <a:ea typeface="Yu Gothic"/>
            </a:endParaRPr>
          </a:p>
        </p:txBody>
      </p:sp>
      <p:sp>
        <p:nvSpPr>
          <p:cNvPr id="21" name="TextBox 9">
            <a:extLst>
              <a:ext uri="{FF2B5EF4-FFF2-40B4-BE49-F238E27FC236}">
                <a16:creationId xmlns:a16="http://schemas.microsoft.com/office/drawing/2014/main" id="{E830988C-07D9-F5B9-9874-7C1D60418F77}"/>
              </a:ext>
            </a:extLst>
          </p:cNvPr>
          <p:cNvSpPr txBox="1"/>
          <p:nvPr/>
        </p:nvSpPr>
        <p:spPr>
          <a:xfrm>
            <a:off x="1069848" y="11475720"/>
            <a:ext cx="11777472" cy="378565"/>
          </a:xfrm>
          <a:prstGeom prst="rect">
            <a:avLst/>
          </a:prstGeom>
          <a:noFill/>
        </p:spPr>
        <p:txBody>
          <a:bodyPr wrap="square" lIns="36576" tIns="27432" rIns="36576" bIns="27432" anchor="t">
            <a:spAutoFit/>
          </a:bodyPr>
          <a:lstStyle/>
          <a:p>
            <a:pPr algn="ctr">
              <a:spcAft>
                <a:spcPts val="0"/>
              </a:spcAft>
            </a:pPr>
            <a:r>
              <a:rPr lang="en-US" sz="2100" b="1">
                <a:solidFill>
                  <a:srgbClr val="1B74AA"/>
                </a:solidFill>
                <a:latin typeface="Arial" panose="020B0604020202020204" pitchFamily="34" charset="0"/>
                <a:ea typeface="Yu Gothic"/>
              </a:rPr>
              <a:t>Case 04 (MY sun face): far-field LOS</a:t>
            </a:r>
            <a:endParaRPr lang="en-US" sz="2100" b="1" dirty="0">
              <a:solidFill>
                <a:srgbClr val="1B74AA"/>
              </a:solidFill>
              <a:latin typeface="Arial" panose="020B0604020202020204" pitchFamily="34" charset="0"/>
              <a:ea typeface="Yu Gothic"/>
            </a:endParaRPr>
          </a:p>
        </p:txBody>
      </p:sp>
      <p:pic>
        <p:nvPicPr>
          <p:cNvPr id="25" name="図 24">
            <a:extLst>
              <a:ext uri="{FF2B5EF4-FFF2-40B4-BE49-F238E27FC236}">
                <a16:creationId xmlns:a16="http://schemas.microsoft.com/office/drawing/2014/main" id="{5B2B2B61-04B6-BD30-69A8-D3793BED63C6}"/>
              </a:ext>
            </a:extLst>
          </p:cNvPr>
          <p:cNvPicPr>
            <a:picLocks noChangeAspect="1"/>
          </p:cNvPicPr>
          <p:nvPr/>
        </p:nvPicPr>
        <p:blipFill>
          <a:blip r:embed="rId4"/>
          <a:stretch>
            <a:fillRect/>
          </a:stretch>
        </p:blipFill>
        <p:spPr>
          <a:xfrm>
            <a:off x="12847667" y="3089848"/>
            <a:ext cx="11043623" cy="7696091"/>
          </a:xfrm>
          <a:prstGeom prst="rect">
            <a:avLst/>
          </a:prstGeom>
        </p:spPr>
      </p:pic>
      <p:sp>
        <p:nvSpPr>
          <p:cNvPr id="26" name="テキスト ボックス 25">
            <a:extLst>
              <a:ext uri="{FF2B5EF4-FFF2-40B4-BE49-F238E27FC236}">
                <a16:creationId xmlns:a16="http://schemas.microsoft.com/office/drawing/2014/main" id="{E19AF93F-1049-8626-F574-E8F86249A9BE}"/>
              </a:ext>
            </a:extLst>
          </p:cNvPr>
          <p:cNvSpPr txBox="1"/>
          <p:nvPr/>
        </p:nvSpPr>
        <p:spPr>
          <a:xfrm>
            <a:off x="1097280" y="11932920"/>
            <a:ext cx="22128480" cy="1539139"/>
          </a:xfrm>
          <a:prstGeom prst="rect">
            <a:avLst/>
          </a:prstGeom>
          <a:noFill/>
        </p:spPr>
        <p:txBody>
          <a:bodyPr wrap="square" rtlCol="0">
            <a:spAutoFit/>
          </a:bodyPr>
          <a:lstStyle/>
          <a:p>
            <a:pPr>
              <a:lnSpc>
                <a:spcPct val="105000"/>
              </a:lnSpc>
              <a:spcAft>
                <a:spcPts val="400"/>
              </a:spcAft>
            </a:pPr>
            <a:r>
              <a:rPr lang="en-US" sz="2800" b="1">
                <a:solidFill>
                  <a:srgbClr val="D03B46"/>
                </a:solidFill>
                <a:latin typeface="Arial" panose="020B0604020202020204" pitchFamily="34" charset="0"/>
                <a:ea typeface="Yu Gothic"/>
              </a:rPr>
              <a:t>• Orbital-period thermal LOS; dominant axis: MY/PY → y, MX/PX → x</a:t>
            </a:r>
            <a:endParaRPr lang="en-US" sz="2800" b="1" dirty="0">
              <a:solidFill>
                <a:srgbClr val="D03B46"/>
              </a:solidFill>
              <a:latin typeface="Arial" panose="020B0604020202020204" pitchFamily="34" charset="0"/>
              <a:ea typeface="Yu Gothic"/>
            </a:endParaRPr>
          </a:p>
          <a:p>
            <a:pPr>
              <a:lnSpc>
                <a:spcPct val="105000"/>
              </a:lnSpc>
              <a:spcAft>
                <a:spcPts val="400"/>
              </a:spcAft>
            </a:pPr>
            <a:r>
              <a:rPr lang="en-US" altLang="ja-JP" sz="2800" b="1">
                <a:solidFill>
                  <a:srgbClr val="D03B46"/>
                </a:solidFill>
                <a:latin typeface="Arial" panose="020B0604020202020204" pitchFamily="34" charset="0"/>
                <a:ea typeface="Yu Gothic"/>
              </a:rPr>
              <a:t>• Dominant-axis variation follows sun-facing–opposite-panel center ΔT</a:t>
            </a:r>
            <a:endParaRPr kumimoji="1" lang="en-US" altLang="ja-JP" sz="2800" b="1" dirty="0">
              <a:solidFill>
                <a:srgbClr val="FF0000"/>
              </a:solidFill>
              <a:latin typeface="Arial" panose="020B0604020202020204" pitchFamily="34" charset="0"/>
            </a:endParaRPr>
          </a:p>
          <a:p>
            <a:pPr>
              <a:lnSpc>
                <a:spcPct val="105000"/>
              </a:lnSpc>
              <a:spcAft>
                <a:spcPts val="400"/>
              </a:spcAft>
            </a:pPr>
            <a:r>
              <a:rPr lang="en-US" sz="2800" b="1">
                <a:solidFill>
                  <a:srgbClr val="D03B46"/>
                </a:solidFill>
                <a:latin typeface="Arial" panose="020B0604020202020204" pitchFamily="34" charset="0"/>
                <a:ea typeface="Yu Gothic"/>
              </a:rPr>
              <a:t>• Raw RMS: 150–1280 µrad; surface sets amplitude/floor, dissipation shifts the case mean</a:t>
            </a:r>
            <a:endParaRPr lang="en-US" sz="2800" b="1" dirty="0">
              <a:solidFill>
                <a:srgbClr val="D03B46"/>
              </a:solidFill>
              <a:latin typeface="Arial" panose="020B0604020202020204" pitchFamily="34" charset="0"/>
              <a:ea typeface="Yu Gothic"/>
            </a:endParaRPr>
          </a:p>
        </p:txBody>
      </p:sp>
      <p:sp>
        <p:nvSpPr>
          <p:cNvPr id="3" name="TextBox 1">
            <a:extLst>
              <a:ext uri="{FF2B5EF4-FFF2-40B4-BE49-F238E27FC236}">
                <a16:creationId xmlns:a16="http://schemas.microsoft.com/office/drawing/2014/main" id="{EFF92B7E-D74D-E897-B84B-C149C90DF9CC}"/>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4" name="テキスト ボックス 3">
            <a:extLst>
              <a:ext uri="{FF2B5EF4-FFF2-40B4-BE49-F238E27FC236}">
                <a16:creationId xmlns:a16="http://schemas.microsoft.com/office/drawing/2014/main" id="{21A999EB-6657-85F3-AAE5-DE1992702995}"/>
              </a:ext>
            </a:extLst>
          </p:cNvPr>
          <p:cNvSpPr txBox="1"/>
          <p:nvPr/>
        </p:nvSpPr>
        <p:spPr>
          <a:xfrm>
            <a:off x="491123" y="8500840"/>
            <a:ext cx="830580" cy="1107996"/>
          </a:xfrm>
          <a:prstGeom prst="rect">
            <a:avLst/>
          </a:prstGeom>
          <a:noFill/>
        </p:spPr>
        <p:txBody>
          <a:bodyPr wrap="square" rtlCol="0">
            <a:spAutoFit/>
          </a:bodyPr>
          <a:lstStyle/>
          <a:p>
            <a:r>
              <a:rPr kumimoji="1" lang="en-US" altLang="ja-JP" sz="6600" dirty="0">
                <a:solidFill>
                  <a:srgbClr val="FF0000"/>
                </a:solidFill>
                <a:latin typeface="Arial" panose="020B0604020202020204" pitchFamily="34" charset="0"/>
              </a:rPr>
              <a:t>Y</a:t>
            </a:r>
            <a:endParaRPr kumimoji="1" lang="ja-JP" altLang="en-US" sz="6600" dirty="0">
              <a:solidFill>
                <a:srgbClr val="FF0000"/>
              </a:solidFill>
              <a:latin typeface="Arial" panose="020B0604020202020204" pitchFamily="34" charset="0"/>
            </a:endParaRPr>
          </a:p>
        </p:txBody>
      </p:sp>
      <p:sp>
        <p:nvSpPr>
          <p:cNvPr id="8" name="テキスト ボックス 7">
            <a:extLst>
              <a:ext uri="{FF2B5EF4-FFF2-40B4-BE49-F238E27FC236}">
                <a16:creationId xmlns:a16="http://schemas.microsoft.com/office/drawing/2014/main" id="{BE04E9AC-A06E-0E2C-D324-6DBC4126B62F}"/>
              </a:ext>
            </a:extLst>
          </p:cNvPr>
          <p:cNvSpPr txBox="1"/>
          <p:nvPr/>
        </p:nvSpPr>
        <p:spPr>
          <a:xfrm>
            <a:off x="23315794" y="6383895"/>
            <a:ext cx="830580" cy="1107996"/>
          </a:xfrm>
          <a:prstGeom prst="rect">
            <a:avLst/>
          </a:prstGeom>
          <a:noFill/>
        </p:spPr>
        <p:txBody>
          <a:bodyPr wrap="square" rtlCol="0">
            <a:spAutoFit/>
          </a:bodyPr>
          <a:lstStyle/>
          <a:p>
            <a:r>
              <a:rPr kumimoji="1" lang="en-US" altLang="ja-JP" sz="6600" dirty="0">
                <a:solidFill>
                  <a:srgbClr val="FF0000"/>
                </a:solidFill>
                <a:latin typeface="Arial" panose="020B0604020202020204" pitchFamily="34" charset="0"/>
              </a:rPr>
              <a:t>Y</a:t>
            </a:r>
            <a:endParaRPr kumimoji="1" lang="ja-JP" altLang="en-US" sz="6600" dirty="0">
              <a:solidFill>
                <a:srgbClr val="FF0000"/>
              </a:solidFill>
              <a:latin typeface="Arial" panose="020B0604020202020204" pitchFamily="34" charset="0"/>
            </a:endParaRPr>
          </a:p>
        </p:txBody>
      </p:sp>
    </p:spTree>
    <p:extLst>
      <p:ext uri="{BB962C8B-B14F-4D97-AF65-F5344CB8AC3E}">
        <p14:creationId xmlns:p14="http://schemas.microsoft.com/office/powerpoint/2010/main" val="1379133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A057F-DCF1-6E39-54A9-E6F0694682F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9374F04-0A41-3729-1974-27E20239906C}"/>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03</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531B5912-5AC4-3FF6-4101-82BE892654CC}"/>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Reduced-orde</a:t>
            </a:r>
            <a:r>
              <a:rPr lang="en-US" altLang="ja-JP" sz="4800" dirty="0">
                <a:solidFill>
                  <a:srgbClr val="FFFFFF"/>
                </a:solidFill>
                <a:latin typeface="Arial" panose="020B0604020202020204" pitchFamily="34" charset="0"/>
                <a:cs typeface="Arial" panose="020B0604020202020204" pitchFamily="34" charset="0"/>
              </a:rPr>
              <a:t>r model</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58C68F76-E521-BBBA-3069-24EB0790BF4F}"/>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16566712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13</a:t>
            </a:r>
            <a:endParaRPr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468880" y="3200400"/>
            <a:ext cx="4572000" cy="470898"/>
          </a:xfrm>
          <a:prstGeom prst="rect">
            <a:avLst/>
          </a:prstGeom>
          <a:noFill/>
        </p:spPr>
        <p:txBody>
          <a:bodyPr wrap="square" lIns="36576" tIns="27432" rIns="36576" bIns="27432" anchor="t">
            <a:spAutoFit/>
          </a:bodyPr>
          <a:lstStyle/>
          <a:p>
            <a:pPr algn="ctr">
              <a:spcAft>
                <a:spcPts val="0"/>
              </a:spcAft>
            </a:pPr>
            <a:r>
              <a:rPr lang="en-US" altLang="ja-JP" sz="2700" b="1">
                <a:solidFill>
                  <a:srgbClr val="082B52"/>
                </a:solidFill>
                <a:latin typeface="Arial" panose="020B0604020202020204" pitchFamily="34" charset="0"/>
                <a:ea typeface="Yu Gothic"/>
              </a:rPr>
              <a:t>Model requirements</a:t>
            </a:r>
            <a:endParaRPr lang="en-US" sz="2700" b="1" dirty="0">
              <a:solidFill>
                <a:srgbClr val="082B52"/>
              </a:solidFill>
              <a:latin typeface="Arial" panose="020B0604020202020204" pitchFamily="34" charset="0"/>
            </a:endParaRPr>
          </a:p>
        </p:txBody>
      </p:sp>
      <p:sp>
        <p:nvSpPr>
          <p:cNvPr id="7" name="TextBox 6"/>
          <p:cNvSpPr txBox="1"/>
          <p:nvPr/>
        </p:nvSpPr>
        <p:spPr>
          <a:xfrm>
            <a:off x="1645920" y="4251960"/>
            <a:ext cx="6217920" cy="3149837"/>
          </a:xfrm>
          <a:prstGeom prst="rect">
            <a:avLst/>
          </a:prstGeom>
          <a:noFill/>
        </p:spPr>
        <p:txBody>
          <a:bodyPr wrap="square" lIns="27432" rIns="27432">
            <a:spAutoFit/>
          </a:bodyPr>
          <a:lstStyle/>
          <a:p>
            <a:pPr>
              <a:lnSpc>
                <a:spcPct val="115000"/>
              </a:lnSpc>
              <a:spcAft>
                <a:spcPts val="3400"/>
              </a:spcAft>
            </a:pPr>
            <a:r>
              <a:rPr lang="en-US" sz="2500" b="0">
                <a:solidFill>
                  <a:srgbClr val="232B34"/>
                </a:solidFill>
                <a:latin typeface="Arial" panose="020B0604020202020204" pitchFamily="34" charset="0"/>
                <a:ea typeface="Yu Gothic"/>
              </a:rPr>
              <a:t>• No onboard TD/Femap</a:t>
            </a:r>
            <a:endParaRPr lang="en-US" sz="2500">
              <a:solidFill>
                <a:srgbClr val="232B34"/>
              </a:solidFill>
              <a:latin typeface="Arial" panose="020B0604020202020204" pitchFamily="34" charset="0"/>
            </a:endParaRPr>
          </a:p>
          <a:p>
            <a:pPr>
              <a:lnSpc>
                <a:spcPct val="115000"/>
              </a:lnSpc>
              <a:spcAft>
                <a:spcPts val="3400"/>
              </a:spcAft>
            </a:pPr>
            <a:r>
              <a:rPr lang="en-US" sz="2500" b="0">
                <a:solidFill>
                  <a:srgbClr val="232B34"/>
                </a:solidFill>
                <a:latin typeface="Arial" panose="020B0604020202020204" pitchFamily="34" charset="0"/>
                <a:ea typeface="Yu Gothic"/>
              </a:rPr>
              <a:t>• Few temperatures and operating flags</a:t>
            </a:r>
          </a:p>
          <a:p>
            <a:pPr>
              <a:lnSpc>
                <a:spcPct val="115000"/>
              </a:lnSpc>
              <a:spcAft>
                <a:spcPts val="3400"/>
              </a:spcAft>
            </a:pPr>
            <a:r>
              <a:rPr lang="en-US" sz="2500" b="0">
                <a:solidFill>
                  <a:srgbClr val="232B34"/>
                </a:solidFill>
                <a:latin typeface="Arial" panose="020B0604020202020204" pitchFamily="34" charset="0"/>
                <a:ea typeface="Yu Gothic"/>
              </a:rPr>
              <a:t>• Small, fixed coefficient set</a:t>
            </a:r>
          </a:p>
          <a:p>
            <a:pPr>
              <a:lnSpc>
                <a:spcPct val="115000"/>
              </a:lnSpc>
              <a:spcAft>
                <a:spcPts val="3400"/>
              </a:spcAft>
            </a:pPr>
            <a:r>
              <a:rPr lang="en-US" sz="2500" b="0">
                <a:solidFill>
                  <a:srgbClr val="232B34"/>
                </a:solidFill>
                <a:latin typeface="Arial" panose="020B0604020202020204" pitchFamily="34" charset="0"/>
                <a:ea typeface="Yu Gothic"/>
              </a:rPr>
              <a:t>• Output: scan-center correction angle</a:t>
            </a:r>
            <a:endParaRPr lang="en-US" sz="2500" b="0" dirty="0">
              <a:solidFill>
                <a:srgbClr val="232B34"/>
              </a:solidFill>
              <a:latin typeface="Arial" panose="020B0604020202020204" pitchFamily="34" charset="0"/>
              <a:ea typeface="Yu Gothic"/>
            </a:endParaRPr>
          </a:p>
        </p:txBody>
      </p:sp>
      <p:graphicFrame>
        <p:nvGraphicFramePr>
          <p:cNvPr id="8" name="Table 7"/>
          <p:cNvGraphicFramePr>
            <a:graphicFrameLocks noGrp="1"/>
          </p:cNvGraphicFramePr>
          <p:nvPr>
            <p:extLst>
              <p:ext uri="{D42A27DB-BD31-4B8C-83A1-F6EECF244321}">
                <p14:modId xmlns:p14="http://schemas.microsoft.com/office/powerpoint/2010/main" val="3366587659"/>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spcAft>
                          <a:spcPts val="0"/>
                        </a:spcAft>
                      </a:pPr>
                      <a:r>
                        <a:rPr lang="en-US" altLang="ja-JP" sz="2300" b="1">
                          <a:solidFill>
                            <a:srgbClr val="FFFFFF"/>
                          </a:solidFill>
                          <a:latin typeface="Arial" panose="020B0604020202020204" pitchFamily="34" charset="0"/>
                          <a:ea typeface="Yu Gothic"/>
                        </a:rPr>
                        <a:t>Candidate model</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Strengths / limitations</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lang="en-US" sz="2300" b="0">
                          <a:solidFill>
                            <a:srgbClr val="232B34"/>
                          </a:solidFill>
                          <a:latin typeface="Arial" panose="020B0604020202020204" pitchFamily="34" charset="0"/>
                          <a:ea typeface="Yu Gothic"/>
                        </a:rPr>
                        <a:t>Constant bias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300" b="0">
                          <a:solidFill>
                            <a:srgbClr val="232B34"/>
                          </a:solidFill>
                          <a:latin typeface="Arial" panose="020B0604020202020204" pitchFamily="34" charset="0"/>
                          <a:ea typeface="Yu Gothic"/>
                        </a:rPr>
                        <a:t>Lightweight / cannot represent within-orbit variation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spcAft>
                          <a:spcPts val="0"/>
                        </a:spcAft>
                      </a:pPr>
                      <a:r>
                        <a:rPr lang="en-US" sz="2300" b="0">
                          <a:solidFill>
                            <a:srgbClr val="232B34"/>
                          </a:solidFill>
                          <a:latin typeface="Arial" panose="020B0604020202020204" pitchFamily="34" charset="0"/>
                          <a:ea typeface="Yu Gothic"/>
                        </a:rPr>
                        <a:t>Fourier series in orbital phase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300" b="0">
                          <a:solidFill>
                            <a:srgbClr val="232B34"/>
                          </a:solidFill>
                          <a:latin typeface="Arial" panose="020B0604020202020204" pitchFamily="34" charset="0"/>
                          <a:ea typeface="Yu Gothic"/>
                        </a:rPr>
                        <a:t>Represents periodicity / must be rebuilt when orbit or conditions change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spcAft>
                          <a:spcPts val="0"/>
                        </a:spcAft>
                      </a:pPr>
                      <a:r>
                        <a:rPr lang="en-US" sz="2300" b="0">
                          <a:solidFill>
                            <a:srgbClr val="232B34"/>
                          </a:solidFill>
                          <a:latin typeface="Arial" panose="020B0604020202020204" pitchFamily="34" charset="0"/>
                          <a:ea typeface="Yu Gothic"/>
                        </a:rPr>
                        <a:t>Multiple mounting-point temperatures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300" b="0">
                          <a:solidFill>
                            <a:srgbClr val="232B34"/>
                          </a:solidFill>
                          <a:latin typeface="Arial" panose="020B0604020202020204" pitchFamily="34" charset="0"/>
                          <a:ea typeface="Yu Gothic"/>
                        </a:rPr>
                        <a:t>Flexible / collinearity with ΔT destabilizes coefficients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spcAft>
                          <a:spcPts val="0"/>
                        </a:spcAft>
                      </a:pPr>
                      <a:r>
                        <a:rPr lang="en-US" sz="2300" b="0">
                          <a:solidFill>
                            <a:srgbClr val="232B34"/>
                          </a:solidFill>
                          <a:latin typeface="Arial" panose="020B0604020202020204" pitchFamily="34" charset="0"/>
                          <a:ea typeface="Yu Gothic"/>
                        </a:rPr>
                        <a:t>Sun-face temperature 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300" b="0">
                          <a:solidFill>
                            <a:srgbClr val="232B34"/>
                          </a:solidFill>
                          <a:latin typeface="Arial" panose="020B0604020202020204" pitchFamily="34" charset="0"/>
                          <a:ea typeface="Yu Gothic"/>
                        </a:rPr>
                        <a:t>Physically interpretable / does not fully track variation</a:t>
                      </a:r>
                      <a:endParaRPr lang="en-US" sz="2300" b="0" dirty="0">
                        <a:solidFill>
                          <a:srgbClr val="232B34"/>
                        </a:solidFill>
                        <a:latin typeface="Arial" panose="020B0604020202020204" pitchFamily="34" charset="0"/>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spcAft>
                          <a:spcPts val="0"/>
                        </a:spcAft>
                      </a:pPr>
                      <a:r>
                        <a:rPr lang="en-US" sz="2300" b="0">
                          <a:solidFill>
                            <a:srgbClr val="232B34"/>
                          </a:solidFill>
                          <a:latin typeface="Arial" panose="020B0604020202020204" pitchFamily="34" charset="0"/>
                          <a:ea typeface="Yu Gothic"/>
                        </a:rPr>
                        <a:t>Sun-face temperature difference ΔT</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tc>
                  <a:txBody>
                    <a:bodyPr/>
                    <a:lstStyle/>
                    <a:p>
                      <a:pPr algn="ctr">
                        <a:spcAft>
                          <a:spcPts val="0"/>
                        </a:spcAft>
                      </a:pPr>
                      <a:r>
                        <a:rPr lang="en-US" sz="2300" b="0">
                          <a:solidFill>
                            <a:srgbClr val="232B34"/>
                          </a:solidFill>
                          <a:latin typeface="Arial" panose="020B0604020202020204" pitchFamily="34" charset="0"/>
                          <a:ea typeface="Yu Gothic"/>
                        </a:rPr>
                        <a:t>Physically interpretable / cannot explain mean offsets across cases</a:t>
                      </a:r>
                      <a:endParaRPr lang="en-US" sz="2300" b="0" dirty="0">
                        <a:solidFill>
                          <a:srgbClr val="232B34"/>
                        </a:solidFill>
                        <a:latin typeface="Arial" panose="020B0604020202020204" pitchFamily="34" charset="0"/>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spcAft>
                          <a:spcPts val="0"/>
                        </a:spcAft>
                      </a:pPr>
                      <a:r>
                        <a:rPr lang="en-US" sz="2300" b="1">
                          <a:solidFill>
                            <a:srgbClr val="232B34"/>
                          </a:solidFill>
                          <a:latin typeface="Arial" panose="020B0604020202020204" pitchFamily="34" charset="0"/>
                          <a:ea typeface="Yu Gothic"/>
                        </a:rPr>
                        <a:t>Hierarchical ΔT</a:t>
                      </a:r>
                      <a:endParaRPr lang="en-US" sz="2300" b="1" dirty="0" err="1">
                        <a:solidFill>
                          <a:srgbClr val="232B34"/>
                        </a:solidFill>
                        <a:latin typeface="Arial" panose="020B0604020202020204" pitchFamily="34" charset="0"/>
                        <a:ea typeface="Yu Gothic"/>
                      </a:endParaRPr>
                    </a:p>
                  </a:txBody>
                  <a:tcPr marL="64008" marR="64008" marT="27432" marB="27432" anchor="ctr">
                    <a:solidFill>
                      <a:schemeClr val="accent6">
                        <a:lumMod val="20000"/>
                        <a:lumOff val="80000"/>
                      </a:schemeClr>
                    </a:solidFill>
                  </a:tcPr>
                </a:tc>
                <a:tc>
                  <a:txBody>
                    <a:bodyPr/>
                    <a:lstStyle/>
                    <a:p>
                      <a:pPr algn="ctr">
                        <a:spcAft>
                          <a:spcPts val="0"/>
                        </a:spcAft>
                      </a:pPr>
                      <a:r>
                        <a:rPr lang="en-US" sz="2300" b="1">
                          <a:solidFill>
                            <a:srgbClr val="232B34"/>
                          </a:solidFill>
                          <a:latin typeface="Arial" panose="020B0604020202020204" pitchFamily="34" charset="0"/>
                          <a:ea typeface="Yu Gothic"/>
                        </a:rPr>
                        <a:t>Separates within-orbit variation from means across cases</a:t>
                      </a:r>
                      <a:endParaRPr lang="en-US" sz="2300" b="1" dirty="0">
                        <a:solidFill>
                          <a:srgbClr val="232B34"/>
                        </a:solidFill>
                        <a:latin typeface="Arial" panose="020B0604020202020204" pitchFamily="34" charset="0"/>
                        <a:ea typeface="Yu Gothic"/>
                      </a:endParaRPr>
                    </a:p>
                  </a:txBody>
                  <a:tcPr marL="64008" marR="64008" marT="27432" marB="27432" anchor="ctr">
                    <a:solidFill>
                      <a:schemeClr val="accent6">
                        <a:lumMod val="20000"/>
                        <a:lumOff val="80000"/>
                      </a:schemeClr>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1536193" y="11862122"/>
            <a:ext cx="20877428" cy="978729"/>
          </a:xfrm>
          <a:prstGeom prst="rect">
            <a:avLst/>
          </a:prstGeom>
          <a:noFill/>
        </p:spPr>
        <p:txBody>
          <a:bodyPr wrap="square" lIns="36576" tIns="27432" rIns="36576" bIns="27432" anchor="t">
            <a:spAutoFit/>
          </a:bodyPr>
          <a:lstStyle/>
          <a:p>
            <a:pPr algn="ctr">
              <a:spcAft>
                <a:spcPts val="0"/>
              </a:spcAft>
            </a:pPr>
            <a:r>
              <a:rPr lang="en-US" sz="3000" b="1">
                <a:solidFill>
                  <a:srgbClr val="082B52"/>
                </a:solidFill>
                <a:latin typeface="Arial" panose="020B0604020202020204" pitchFamily="34" charset="0"/>
                <a:ea typeface="Yu Gothic"/>
              </a:rPr>
              <a:t>→ Adopt a hierarchical model that separately predicts thermal-LOS variation from sun-face–opposite-panel ΔT</a:t>
            </a:r>
            <a:endParaRPr lang="en-US" sz="3000" b="1" dirty="0">
              <a:solidFill>
                <a:srgbClr val="082B52"/>
              </a:solidFill>
              <a:latin typeface="Arial" panose="020B0604020202020204" pitchFamily="34" charset="0"/>
              <a:ea typeface="Yu Gothic"/>
            </a:endParaRPr>
          </a:p>
          <a:p>
            <a:pPr algn="ctr">
              <a:spcAft>
                <a:spcPts val="0"/>
              </a:spcAft>
            </a:pPr>
            <a:r>
              <a:rPr lang="en-US" sz="3000" b="1">
                <a:solidFill>
                  <a:srgbClr val="082B52"/>
                </a:solidFill>
                <a:latin typeface="Arial" panose="020B0604020202020204" pitchFamily="34" charset="0"/>
                <a:ea typeface="Yu Gothic"/>
              </a:rPr>
              <a:t>and thermal-LOS bias from the mean offset across cases</a:t>
            </a:r>
            <a:endParaRPr lang="en-US" altLang="ja-JP" sz="3200" dirty="0">
              <a:latin typeface="Arial" panose="020B0604020202020204" pitchFamily="34" charset="0"/>
            </a:endParaRPr>
          </a:p>
        </p:txBody>
      </p:sp>
      <p:sp>
        <p:nvSpPr>
          <p:cNvPr id="12" name="TextBox 2">
            <a:extLst>
              <a:ext uri="{FF2B5EF4-FFF2-40B4-BE49-F238E27FC236}">
                <a16:creationId xmlns:a16="http://schemas.microsoft.com/office/drawing/2014/main" id="{0B50638C-A598-E0CC-394F-5BF42CDB1937}"/>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altLang="ja-JP" sz="3200" b="1" dirty="0">
              <a:solidFill>
                <a:srgbClr val="082B52"/>
              </a:solidFill>
              <a:latin typeface="Arial" panose="020B0604020202020204" pitchFamily="34" charset="0"/>
            </a:endParaRPr>
          </a:p>
          <a:p>
            <a:pPr algn="l">
              <a:spcAft>
                <a:spcPts val="0"/>
              </a:spcAft>
            </a:pPr>
            <a:r>
              <a:rPr lang="en-US" altLang="ja-JP" sz="3200" b="1">
                <a:solidFill>
                  <a:srgbClr val="082B52"/>
                </a:solidFill>
                <a:latin typeface="Arial" panose="020B0604020202020204" pitchFamily="34" charset="0"/>
              </a:rPr>
              <a:t>Reduced-order model selection</a:t>
            </a:r>
            <a:endParaRPr lang="en-US" altLang="ja-JP" sz="3200" b="1" dirty="0">
              <a:solidFill>
                <a:srgbClr val="082B52"/>
              </a:solidFill>
              <a:latin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19" name="Rounded Rectangle 4">
            <a:extLst>
              <a:ext uri="{FF2B5EF4-FFF2-40B4-BE49-F238E27FC236}">
                <a16:creationId xmlns:a16="http://schemas.microsoft.com/office/drawing/2014/main" id="{1692870B-777D-D90D-9A38-0B6DE0C05ABA}"/>
              </a:ext>
            </a:extLst>
          </p:cNvPr>
          <p:cNvSpPr/>
          <p:nvPr/>
        </p:nvSpPr>
        <p:spPr>
          <a:xfrm>
            <a:off x="1280160" y="5647944"/>
            <a:ext cx="21762720" cy="2421523"/>
          </a:xfrm>
          <a:prstGeom prst="roundRect">
            <a:avLst/>
          </a:prstGeom>
          <a:solidFill>
            <a:schemeClr val="accent4">
              <a:lumMod val="20000"/>
              <a:lumOff val="80000"/>
            </a:schemeClr>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r>
              <a:rPr lang="en-US" altLang="ja-JP" sz="3200" b="1">
                <a:solidFill>
                  <a:srgbClr val="082B52"/>
                </a:solidFill>
                <a:latin typeface="Arial" panose="020B0604020202020204" pitchFamily="34" charset="0"/>
                <a:ea typeface="Yu Gothic"/>
              </a:rPr>
              <a:t> Hierarchical </a:t>
            </a:r>
            <a:r>
              <a:rPr lang="en-US" altLang="ja-JP" sz="3200" b="1" dirty="0">
                <a:solidFill>
                  <a:srgbClr val="082B52"/>
                </a:solidFill>
                <a:latin typeface="Arial" panose="020B0604020202020204" pitchFamily="34" charset="0"/>
                <a:ea typeface="Yu Gothic"/>
              </a:rPr>
              <a:t>ΔT </a:t>
            </a:r>
            <a:r>
              <a:rPr lang="en-US" altLang="ja-JP" sz="3200" b="1">
                <a:solidFill>
                  <a:srgbClr val="082B52"/>
                </a:solidFill>
                <a:latin typeface="Arial" panose="020B0604020202020204" pitchFamily="34" charset="0"/>
                <a:ea typeface="Yu Gothic"/>
              </a:rPr>
              <a:t>model  separates time-varying and bias terms using ΔT and operating flags</a:t>
            </a:r>
            <a:endParaRPr lang="en-US" altLang="ja-JP" sz="3200" b="1" dirty="0">
              <a:solidFill>
                <a:srgbClr val="082B52"/>
              </a:solidFill>
              <a:latin typeface="Arial" panose="020B0604020202020204" pitchFamily="34" charset="0"/>
            </a:endParaRP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14</a:t>
            </a:r>
            <a:endParaRPr sz="1800" b="0" dirty="0">
              <a:solidFill>
                <a:srgbClr val="666F79"/>
              </a:solidFill>
              <a:latin typeface="Arial" panose="020B0604020202020204" pitchFamily="34" charset="0"/>
              <a:ea typeface="Yu Gothic"/>
            </a:endParaRP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692998"/>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084E91D8-1988-F135-C79D-012F2C7E199F}"/>
                  </a:ext>
                </a:extLst>
              </p:cNvPr>
              <p:cNvSpPr txBox="1"/>
              <p:nvPr/>
            </p:nvSpPr>
            <p:spPr>
              <a:xfrm>
                <a:off x="6014815" y="4317180"/>
                <a:ext cx="12384864" cy="102534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𝑠𝑢𝑛</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𝑓𝑎𝑐𝑒</m:t>
                      </m:r>
                      <m:r>
                        <a:rPr lang="ja-JP" altLang="en-US" sz="3200" b="1" i="1" dirty="0">
                          <a:solidFill>
                            <a:srgbClr val="1B74AA"/>
                          </a:solidFill>
                          <a:latin typeface="Cambria Math" panose="02040503050406030204" pitchFamily="18" charset="0"/>
                        </a:rPr>
                        <m:t> − </m:t>
                      </m:r>
                      <m:r>
                        <a:rPr lang="ja-JP" altLang="en-US" sz="3200" b="1" i="1" dirty="0">
                          <a:solidFill>
                            <a:srgbClr val="1B74AA"/>
                          </a:solidFill>
                          <a:latin typeface="Cambria Math" panose="02040503050406030204" pitchFamily="18" charset="0"/>
                        </a:rPr>
                        <m:t>𝑜𝑝𝑝𝑜𝑠𝑖𝑡𝑒</m:t>
                      </m:r>
                      <m:r>
                        <a:rPr lang="ja-JP" altLang="en-US" sz="3200" b="1" i="1" dirty="0">
                          <a:solidFill>
                            <a:srgbClr val="1B74AA"/>
                          </a:solidFill>
                          <a:latin typeface="Cambria Math" panose="02040503050406030204" pitchFamily="18" charset="0"/>
                        </a:rPr>
                        <m:t> </m:t>
                      </m:r>
                      <m:r>
                        <a:rPr lang="ja-JP" altLang="en-US" sz="3200" b="1" i="1" dirty="0">
                          <a:solidFill>
                            <a:srgbClr val="1B74AA"/>
                          </a:solidFill>
                          <a:latin typeface="Cambria Math" panose="02040503050406030204" pitchFamily="18" charset="0"/>
                        </a:rPr>
                        <m:t>𝑝𝑎𝑛𝑒𝑙</m:t>
                      </m:r>
                    </m:oMath>
                  </m:oMathPara>
                </a14:m>
                <a:endParaRPr lang="en-US" altLang="ja-JP" sz="3200" b="1" i="1" dirty="0">
                  <a:solidFill>
                    <a:srgbClr val="1B74AA"/>
                  </a:solidFill>
                  <a:latin typeface="Cambria Math" panose="02040503050406030204" pitchFamily="18" charset="0"/>
                </a:endParaRPr>
              </a:p>
              <a:p>
                <a:pPr algn="r"/>
                <a:r>
                  <a:rPr lang="en-US" altLang="ja-JP" sz="2800" dirty="0">
                    <a:solidFill>
                      <a:schemeClr val="bg2"/>
                    </a:solidFill>
                    <a:latin typeface="Arial" panose="020B0604020202020204" pitchFamily="34" charset="0"/>
                  </a:rPr>
                  <a:t>Assumption: onboard panel-center thermocouples</a:t>
                </a:r>
              </a:p>
            </p:txBody>
          </p:sp>
        </mc:Choice>
        <mc:Fallback>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6014815" y="4317180"/>
                <a:ext cx="12384864" cy="1025345"/>
              </a:xfrm>
              <a:prstGeom prst="rect">
                <a:avLst/>
              </a:prstGeom>
              <a:blipFill>
                <a:blip r:embed="rId3"/>
                <a:stretch>
                  <a:fillRect r="-1477" b="-17262"/>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8415528"/>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8827007"/>
                <a:ext cx="1838708" cy="661912"/>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8827007"/>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9741408"/>
            <a:ext cx="5459957" cy="1361976"/>
          </a:xfrm>
          <a:prstGeom prst="rect">
            <a:avLst/>
          </a:prstGeom>
          <a:noFill/>
        </p:spPr>
        <p:txBody>
          <a:bodyPr wrap="square" lIns="36576" tIns="27432" rIns="36576" bIns="27432" anchor="t">
            <a:spAutoFit/>
          </a:bodyPr>
          <a:lstStyle/>
          <a:p>
            <a:pPr algn="ctr">
              <a:lnSpc>
                <a:spcPct val="110000"/>
              </a:lnSpc>
              <a:spcAft>
                <a:spcPts val="400"/>
              </a:spcAft>
            </a:pPr>
            <a:r>
              <a:rPr lang="en-US" sz="2400" b="0">
                <a:solidFill>
                  <a:srgbClr val="232B34"/>
                </a:solidFill>
                <a:latin typeface="Arial" panose="020B0604020202020204" pitchFamily="34" charset="0"/>
                <a:ea typeface="Yu Gothic"/>
              </a:rPr>
              <a:t>Sensitivity a(sun)</a:t>
            </a:r>
            <a:endParaRPr lang="en-US" sz="2500" b="0">
              <a:solidFill>
                <a:srgbClr val="232B34"/>
              </a:solidFill>
              <a:latin typeface="Arial" panose="020B0604020202020204" pitchFamily="34" charset="0"/>
            </a:endParaRPr>
          </a:p>
          <a:p>
            <a:pPr algn="ctr">
              <a:lnSpc>
                <a:spcPct val="110000"/>
              </a:lnSpc>
              <a:spcAft>
                <a:spcPts val="400"/>
              </a:spcAft>
            </a:pPr>
            <a:r>
              <a:rPr lang="en-US" sz="2400" b="0">
                <a:solidFill>
                  <a:srgbClr val="232B34"/>
                </a:solidFill>
                <a:latin typeface="Arial" panose="020B0604020202020204" pitchFamily="34" charset="0"/>
                <a:ea typeface="Yu Gothic"/>
              </a:rPr>
              <a:t>Shared by sun face</a:t>
            </a:r>
          </a:p>
          <a:p>
            <a:pPr algn="ctr">
              <a:lnSpc>
                <a:spcPct val="110000"/>
              </a:lnSpc>
              <a:spcAft>
                <a:spcPts val="400"/>
              </a:spcAft>
            </a:pPr>
            <a:r>
              <a:rPr lang="en-US" sz="2400" b="0">
                <a:solidFill>
                  <a:srgbClr val="232B34"/>
                </a:solidFill>
                <a:latin typeface="Arial" panose="020B0604020202020204" pitchFamily="34" charset="0"/>
                <a:ea typeface="Yu Gothic"/>
              </a:rPr>
              <a:t>+30.6, +28.6, −28.1, −28.7 µrad/K</a:t>
            </a:r>
            <a:endParaRPr lang="en-US" sz="2400" b="0" dirty="0">
              <a:solidFill>
                <a:srgbClr val="232B34"/>
              </a:solidFill>
              <a:latin typeface="Arial" panose="020B0604020202020204" pitchFamily="34" charset="0"/>
              <a:ea typeface="Yu Gothic"/>
            </a:endParaRP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8415528"/>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8827007"/>
                <a:ext cx="1207125" cy="60939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8827007"/>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9741408"/>
            <a:ext cx="6896247" cy="1361976"/>
          </a:xfrm>
          <a:prstGeom prst="rect">
            <a:avLst/>
          </a:prstGeom>
          <a:noFill/>
        </p:spPr>
        <p:txBody>
          <a:bodyPr wrap="square" lIns="36576" tIns="27432" rIns="36576" bIns="27432" anchor="t">
            <a:spAutoFit/>
          </a:bodyPr>
          <a:lstStyle/>
          <a:p>
            <a:pPr algn="ctr">
              <a:lnSpc>
                <a:spcPct val="110000"/>
              </a:lnSpc>
              <a:spcAft>
                <a:spcPts val="400"/>
              </a:spcAft>
            </a:pPr>
            <a:r>
              <a:rPr lang="en-US" sz="2400" b="0">
                <a:solidFill>
                  <a:srgbClr val="232B34"/>
                </a:solidFill>
                <a:latin typeface="Arial" panose="020B0604020202020204" pitchFamily="34" charset="0"/>
                <a:ea typeface="Yu Gothic"/>
              </a:rPr>
              <a:t>Case-dependent DC offset</a:t>
            </a:r>
            <a:endParaRPr lang="en-US" altLang="ja-JP" sz="2800" dirty="0">
              <a:latin typeface="Arial" panose="020B0604020202020204" pitchFamily="34" charset="0"/>
            </a:endParaRPr>
          </a:p>
          <a:p>
            <a:pPr algn="ctr">
              <a:lnSpc>
                <a:spcPct val="110000"/>
              </a:lnSpc>
              <a:spcAft>
                <a:spcPts val="400"/>
              </a:spcAft>
            </a:pPr>
            <a:r>
              <a:rPr lang="en-US" sz="2400" b="0">
                <a:solidFill>
                  <a:srgbClr val="232B34"/>
                </a:solidFill>
                <a:latin typeface="Arial" panose="020B0604020202020204" pitchFamily="34" charset="0"/>
                <a:ea typeface="Yu Gothic"/>
              </a:rPr>
              <a:t>From sun face and ON/OFF flags</a:t>
            </a:r>
          </a:p>
          <a:p>
            <a:pPr algn="ctr">
              <a:lnSpc>
                <a:spcPct val="110000"/>
              </a:lnSpc>
              <a:spcAft>
                <a:spcPts val="400"/>
              </a:spcAft>
            </a:pPr>
            <a:r>
              <a:rPr lang="en-US" altLang="ja-JP" sz="2400" b="0">
                <a:solidFill>
                  <a:srgbClr val="232B34"/>
                </a:solidFill>
                <a:latin typeface="Arial" panose="020B0604020202020204" pitchFamily="34" charset="0"/>
                <a:ea typeface="Yu Gothic"/>
              </a:rPr>
              <a:t>Decomposed by the equation above</a:t>
            </a:r>
            <a:endParaRPr lang="en-US" sz="2400" b="0" dirty="0">
              <a:solidFill>
                <a:srgbClr val="232B34"/>
              </a:solidFill>
              <a:latin typeface="Arial" panose="020B0604020202020204" pitchFamily="34" charset="0"/>
              <a:ea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8374470"/>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1691640" y="8671560"/>
            <a:ext cx="6364224" cy="455509"/>
          </a:xfrm>
          <a:prstGeom prst="rect">
            <a:avLst/>
          </a:prstGeom>
          <a:noFill/>
        </p:spPr>
        <p:txBody>
          <a:bodyPr wrap="square" lIns="36576" tIns="27432" rIns="36576" bIns="27432" anchor="t">
            <a:spAutoFit/>
          </a:bodyPr>
          <a:lstStyle/>
          <a:p>
            <a:pPr algn="ctr">
              <a:spcAft>
                <a:spcPts val="0"/>
              </a:spcAft>
            </a:pPr>
            <a:r>
              <a:rPr lang="en-US" sz="2600" b="1">
                <a:solidFill>
                  <a:srgbClr val="239571"/>
                </a:solidFill>
                <a:latin typeface="Arial" panose="020B0604020202020204" pitchFamily="34" charset="0"/>
                <a:ea typeface="Yu Gothic"/>
              </a:rPr>
              <a:t>Dominant-axis selection</a:t>
            </a:r>
            <a:endParaRPr lang="en-US" sz="2600" b="1" dirty="0">
              <a:solidFill>
                <a:srgbClr val="239571"/>
              </a:solidFill>
              <a:latin typeface="Arial" panose="020B0604020202020204" pitchFamily="34" charset="0"/>
              <a:ea typeface="Yu Gothic"/>
            </a:endParaRPr>
          </a:p>
        </p:txBody>
      </p:sp>
      <p:sp>
        <p:nvSpPr>
          <p:cNvPr id="16" name="TextBox 15">
            <a:extLst>
              <a:ext uri="{FF2B5EF4-FFF2-40B4-BE49-F238E27FC236}">
                <a16:creationId xmlns:a16="http://schemas.microsoft.com/office/drawing/2014/main" id="{624DD618-4F56-C1E8-95A4-7C8FFA3DB2AB}"/>
              </a:ext>
            </a:extLst>
          </p:cNvPr>
          <p:cNvSpPr txBox="1"/>
          <p:nvPr/>
        </p:nvSpPr>
        <p:spPr>
          <a:xfrm>
            <a:off x="1691640" y="9448800"/>
            <a:ext cx="6364224" cy="1920240"/>
          </a:xfrm>
          <a:prstGeom prst="rect">
            <a:avLst/>
          </a:prstGeom>
          <a:noFill/>
        </p:spPr>
        <p:txBody>
          <a:bodyPr wrap="square" lIns="36576" tIns="27432" rIns="36576" bIns="27432" anchor="t">
            <a:spAutoFit/>
          </a:bodyPr>
          <a:lstStyle/>
          <a:p>
            <a:pPr algn="ctr">
              <a:lnSpc>
                <a:spcPct val="110000"/>
              </a:lnSpc>
              <a:spcAft>
                <a:spcPts val="200"/>
              </a:spcAft>
            </a:pPr>
            <a:r>
              <a:rPr lang="en-US" sz="2100" b="0">
                <a:solidFill>
                  <a:srgbClr val="232B34"/>
                </a:solidFill>
                <a:latin typeface="Arial" panose="020B0604020202020204" pitchFamily="34" charset="0"/>
                <a:ea typeface="Yu Gothic"/>
              </a:rPr>
              <a:t>Prediction axis from sun face</a:t>
            </a:r>
            <a:endParaRPr lang="en-US" sz="2500" b="0">
              <a:solidFill>
                <a:srgbClr val="232B34"/>
              </a:solidFill>
              <a:latin typeface="Arial" panose="020B0604020202020204" pitchFamily="34" charset="0"/>
            </a:endParaRPr>
          </a:p>
          <a:p>
            <a:pPr algn="ctr">
              <a:lnSpc>
                <a:spcPct val="110000"/>
              </a:lnSpc>
              <a:spcAft>
                <a:spcPts val="200"/>
              </a:spcAft>
            </a:pPr>
            <a:r>
              <a:rPr lang="en-US" sz="2100" b="0">
                <a:solidFill>
                  <a:srgbClr val="232B34"/>
                </a:solidFill>
                <a:latin typeface="Arial" panose="020B0604020202020204" pitchFamily="34" charset="0"/>
                <a:ea typeface="Yu Gothic"/>
              </a:rPr>
              <a:t>MX/PX → x; MY/PY → y</a:t>
            </a:r>
          </a:p>
          <a:p>
            <a:pPr algn="ctr">
              <a:lnSpc>
                <a:spcPct val="110000"/>
              </a:lnSpc>
              <a:spcAft>
                <a:spcPts val="200"/>
              </a:spcAft>
            </a:pPr>
            <a:r>
              <a:rPr lang="en-US" sz="2100" b="0">
                <a:solidFill>
                  <a:srgbClr val="232B34"/>
                </a:solidFill>
                <a:latin typeface="Arial" panose="020B0604020202020204" pitchFamily="34" charset="0"/>
                <a:ea typeface="Yu Gothic"/>
              </a:rPr>
              <a:t>Non-dominant axis: bias only</a:t>
            </a:r>
          </a:p>
          <a:p>
            <a:pPr algn="ctr">
              <a:lnSpc>
                <a:spcPct val="110000"/>
              </a:lnSpc>
              <a:spcAft>
                <a:spcPts val="200"/>
              </a:spcAft>
            </a:pPr>
            <a:r>
              <a:rPr lang="en-US" sz="2100" b="0">
                <a:solidFill>
                  <a:srgbClr val="232B34"/>
                </a:solidFill>
                <a:latin typeface="Arial" panose="020B0604020202020204" pitchFamily="34" charset="0"/>
                <a:ea typeface="Yu Gothic"/>
              </a:rPr>
              <a:t>MX/PX bias ≈ −600 µrad;</a:t>
            </a:r>
          </a:p>
          <a:p>
            <a:pPr algn="ctr">
              <a:lnSpc>
                <a:spcPct val="110000"/>
              </a:lnSpc>
              <a:spcAft>
                <a:spcPts val="200"/>
              </a:spcAft>
            </a:pPr>
            <a:r>
              <a:rPr lang="en-US" sz="2100" b="0">
                <a:solidFill>
                  <a:srgbClr val="232B34"/>
                </a:solidFill>
                <a:latin typeface="Arial" panose="020B0604020202020204" pitchFamily="34" charset="0"/>
                <a:ea typeface="Yu Gothic"/>
              </a:rPr>
              <a:t>zeroing it degrades acquisition</a:t>
            </a:r>
            <a:endParaRPr lang="en-US" sz="2100" b="0" dirty="0">
              <a:solidFill>
                <a:srgbClr val="232B34"/>
              </a:solidFill>
              <a:latin typeface="Arial" panose="020B0604020202020204" pitchFamily="34" charset="0"/>
              <a:ea typeface="Yu Gothic"/>
            </a:endParaRPr>
          </a:p>
        </p:txBody>
      </p:sp>
      <mc:AlternateContent xmlns:mc="http://schemas.openxmlformats.org/markup-compatibility/2006" xmlns:a14="http://schemas.microsoft.com/office/drawing/2010/main">
        <mc:Choice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379916"/>
                <a:ext cx="9197518"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ja-JP" altLang="en-US" sz="4400" b="1" i="1" dirty="0" err="1">
                              <a:solidFill>
                                <a:srgbClr val="FF0000"/>
                              </a:solidFill>
                              <a:latin typeface="Cambria Math" panose="02040503050406030204" pitchFamily="18" charset="0"/>
                            </a:rPr>
                          </m:ctrlPr>
                        </m:sSubPr>
                        <m:e>
                          <m:r>
                            <a:rPr lang="ja-JP" altLang="en-US" sz="4400" b="1" i="1" dirty="0" err="1">
                              <a:solidFill>
                                <a:srgbClr val="FF0000"/>
                              </a:solidFill>
                              <a:latin typeface="Cambria Math" panose="02040503050406030204" pitchFamily="18" charset="0"/>
                            </a:rPr>
                            <m:t>𝒃</m:t>
                          </m:r>
                        </m:e>
                        <m:sub>
                          <m:r>
                            <a:rPr lang="ja-JP" altLang="en-US" sz="4400" b="1" i="1" dirty="0" err="1">
                              <a:solidFill>
                                <a:srgbClr val="FF0000"/>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xmlns="">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379916"/>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2082492"/>
            <a:ext cx="12192000" cy="553998"/>
          </a:xfrm>
          <a:prstGeom prst="rect">
            <a:avLst/>
          </a:prstGeom>
          <a:noFill/>
        </p:spPr>
        <p:txBody>
          <a:bodyPr wrap="square">
            <a:spAutoFit/>
          </a:bodyPr>
          <a:lstStyle/>
          <a:p>
            <a:pPr algn="ctr">
              <a:spcAft>
                <a:spcPts val="0"/>
              </a:spcAft>
              <a:buNone/>
            </a:pPr>
            <a:r>
              <a:rPr lang="en-US" sz="3000" b="1">
                <a:solidFill>
                  <a:srgbClr val="082B52"/>
                </a:solidFill>
                <a:latin typeface="Arial" panose="020B0604020202020204" pitchFamily="34" charset="0"/>
                <a:ea typeface="Yu Gothic"/>
              </a:rPr>
              <a:t>Panel ΔT: time variation · DC offset: cross-case differences</a:t>
            </a:r>
            <a:endParaRPr lang="en-US" altLang="ja-JP" sz="3200" dirty="0">
              <a:latin typeface="Arial" panose="020B0604020202020204" pitchFamily="34" charset="0"/>
            </a:endParaRPr>
          </a:p>
        </p:txBody>
      </p:sp>
      <mc:AlternateContent xmlns:mc="http://schemas.openxmlformats.org/markup-compatibility/2006" xmlns:a14="http://schemas.microsoft.com/office/drawing/2010/main">
        <mc:Choice Requires="a14">
          <p:sp>
            <p:nvSpPr>
              <p:cNvPr id="6" name="TextBox 5"/>
              <p:cNvSpPr txBox="1"/>
              <p:nvPr/>
            </p:nvSpPr>
            <p:spPr>
              <a:xfrm>
                <a:off x="5955368" y="6289373"/>
                <a:ext cx="12412309"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400" b="1" i="1" dirty="0" smtClean="0">
                              <a:solidFill>
                                <a:srgbClr val="FF0000"/>
                              </a:solidFill>
                              <a:latin typeface="Cambria Math" panose="02040503050406030204" pitchFamily="18" charset="0"/>
                            </a:rPr>
                          </m:ctrlPr>
                        </m:sSubPr>
                        <m:e>
                          <m:r>
                            <a:rPr lang="en-US" sz="4400" b="1" i="1" dirty="0" smtClean="0">
                              <a:solidFill>
                                <a:srgbClr val="FF0000"/>
                              </a:solidFill>
                              <a:latin typeface="Cambria Math" panose="02040503050406030204" pitchFamily="18" charset="0"/>
                            </a:rPr>
                            <m:t>𝒃</m:t>
                          </m:r>
                        </m:e>
                        <m:sub>
                          <m:r>
                            <a:rPr lang="en-US" sz="4400" b="1" i="1" dirty="0" err="1" smtClean="0">
                              <a:solidFill>
                                <a:srgbClr val="FF0000"/>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5955368" y="6289373"/>
                <a:ext cx="12412309" cy="796628"/>
              </a:xfrm>
              <a:prstGeom prst="rect">
                <a:avLst/>
              </a:prstGeom>
              <a:blipFill>
                <a:blip r:embed="rId7"/>
                <a:stretch>
                  <a:fillRect/>
                </a:stretch>
              </a:blipFill>
            </p:spPr>
            <p:txBody>
              <a:bodyPr/>
              <a:lstStyle/>
              <a:p>
                <a:r>
                  <a:rPr lang="ja-JP" altLang="en-US">
                    <a:noFill/>
                  </a:rPr>
                  <a:t> </a:t>
                </a:r>
              </a:p>
            </p:txBody>
          </p:sp>
        </mc:Fallback>
      </mc:AlternateContent>
      <p:sp>
        <p:nvSpPr>
          <p:cNvPr id="23" name="TextBox 22"/>
          <p:cNvSpPr txBox="1"/>
          <p:nvPr/>
        </p:nvSpPr>
        <p:spPr>
          <a:xfrm>
            <a:off x="1280160" y="12694920"/>
            <a:ext cx="21945600" cy="360099"/>
          </a:xfrm>
          <a:prstGeom prst="rect">
            <a:avLst/>
          </a:prstGeom>
          <a:noFill/>
        </p:spPr>
        <p:txBody>
          <a:bodyPr wrap="square" lIns="45720" tIns="18288" rIns="45720" bIns="18288" anchor="t">
            <a:spAutoFit/>
          </a:bodyPr>
          <a:lstStyle/>
          <a:p>
            <a:pPr algn="ctr">
              <a:spcAft>
                <a:spcPts val="0"/>
              </a:spcAft>
            </a:pPr>
            <a:r>
              <a:rPr lang="en-US" sz="2100" b="0">
                <a:solidFill>
                  <a:srgbClr val="666F79"/>
                </a:solidFill>
                <a:latin typeface="Arial" panose="020B0604020202020204" pitchFamily="34" charset="0"/>
                <a:ea typeface="Yu Gothic"/>
              </a:rPr>
              <a:t>16 coefficients; specific to this structure, placement, and LOS definition</a:t>
            </a:r>
            <a:endParaRPr lang="en-US" sz="2100" b="0" dirty="0">
              <a:solidFill>
                <a:srgbClr val="666F79"/>
              </a:solidFill>
              <a:latin typeface="Arial" panose="020B0604020202020204" pitchFamily="34" charset="0"/>
              <a:ea typeface="Yu Gothic"/>
            </a:endParaRPr>
          </a:p>
        </p:txBody>
      </p:sp>
      <mc:AlternateContent xmlns:mc="http://schemas.openxmlformats.org/markup-compatibility/2006">
        <mc:Choice xmlns:a14="http://schemas.microsoft.com/office/drawing/2010/main" Requires="a14">
          <p:sp>
            <p:nvSpPr>
              <p:cNvPr id="18" name="テキスト ボックス 17">
                <a:extLst>
                  <a:ext uri="{FF2B5EF4-FFF2-40B4-BE49-F238E27FC236}">
                    <a16:creationId xmlns:a16="http://schemas.microsoft.com/office/drawing/2014/main" id="{0ECB3AB1-C1D3-88A9-D9E2-BA7E2C2BE272}"/>
                  </a:ext>
                </a:extLst>
              </p:cNvPr>
              <p:cNvSpPr txBox="1"/>
              <p:nvPr/>
            </p:nvSpPr>
            <p:spPr>
              <a:xfrm>
                <a:off x="6065520" y="7000603"/>
                <a:ext cx="12192000" cy="586699"/>
              </a:xfrm>
              <a:prstGeom prst="rect">
                <a:avLst/>
              </a:prstGeom>
              <a:noFill/>
            </p:spPr>
            <p:txBody>
              <a:bodyPr wrap="square">
                <a:spAutoFit/>
              </a:bodyPr>
              <a:lstStyle/>
              <a:p>
                <a:pPr algn="ctr"/>
                <a14:m>
                  <m:oMath xmlns:m="http://schemas.openxmlformats.org/officeDocument/2006/math">
                    <m:sSub>
                      <m:sSubPr>
                        <m:ctrlPr>
                          <a:rPr lang="en-US" altLang="ja-JP" sz="3200" b="1" i="1" dirty="0">
                            <a:solidFill>
                              <a:schemeClr val="accent4">
                                <a:lumMod val="50000"/>
                              </a:schemeClr>
                            </a:solidFill>
                            <a:latin typeface="Cambria Math" panose="02040503050406030204" pitchFamily="18" charset="0"/>
                          </a:rPr>
                        </m:ctrlPr>
                      </m:sSubPr>
                      <m:e>
                        <m:r>
                          <a:rPr lang="en-US" altLang="ja-JP" sz="3200" b="1" i="1" dirty="0">
                            <a:solidFill>
                              <a:schemeClr val="accent4">
                                <a:lumMod val="50000"/>
                              </a:schemeClr>
                            </a:solidFill>
                            <a:latin typeface="Cambria Math" panose="02040503050406030204" pitchFamily="18" charset="0"/>
                          </a:rPr>
                          <m:t>𝑰</m:t>
                        </m:r>
                      </m:e>
                      <m:sub>
                        <m:r>
                          <a:rPr lang="en-US" altLang="ja-JP" sz="3200" b="1" i="1" dirty="0">
                            <a:solidFill>
                              <a:schemeClr val="accent4">
                                <a:lumMod val="50000"/>
                              </a:schemeClr>
                            </a:solidFill>
                            <a:latin typeface="Cambria Math" panose="02040503050406030204" pitchFamily="18" charset="0"/>
                          </a:rPr>
                          <m:t>𝑷𝑹𝑶</m:t>
                        </m:r>
                        <m:r>
                          <a:rPr lang="en-US" altLang="ja-JP" sz="3200" b="1" i="1" dirty="0" smtClean="0">
                            <a:solidFill>
                              <a:schemeClr val="accent4">
                                <a:lumMod val="50000"/>
                              </a:schemeClr>
                            </a:solidFill>
                            <a:latin typeface="Cambria Math" panose="02040503050406030204" pitchFamily="18" charset="0"/>
                          </a:rPr>
                          <m:t>𝑷</m:t>
                        </m:r>
                      </m:sub>
                    </m:sSub>
                    <m:r>
                      <a:rPr lang="en-US" altLang="ja-JP" sz="3200" b="1" i="1" dirty="0" smtClean="0">
                        <a:solidFill>
                          <a:schemeClr val="accent4">
                            <a:lumMod val="50000"/>
                          </a:schemeClr>
                        </a:solidFill>
                        <a:latin typeface="Cambria Math" panose="02040503050406030204" pitchFamily="18" charset="0"/>
                      </a:rPr>
                      <m:t>, </m:t>
                    </m:r>
                    <m:sSub>
                      <m:sSubPr>
                        <m:ctrlPr>
                          <a:rPr lang="en-US" altLang="ja-JP" sz="3200" b="1" i="1" dirty="0" smtClean="0">
                            <a:solidFill>
                              <a:schemeClr val="accent4">
                                <a:lumMod val="50000"/>
                              </a:schemeClr>
                            </a:solidFill>
                            <a:latin typeface="Cambria Math" panose="02040503050406030204" pitchFamily="18" charset="0"/>
                          </a:rPr>
                        </m:ctrlPr>
                      </m:sSubPr>
                      <m:e>
                        <m:r>
                          <a:rPr lang="en-US" altLang="ja-JP" sz="3200" b="1" i="1" dirty="0" smtClean="0">
                            <a:solidFill>
                              <a:schemeClr val="accent4">
                                <a:lumMod val="50000"/>
                              </a:schemeClr>
                            </a:solidFill>
                            <a:latin typeface="Cambria Math" panose="02040503050406030204" pitchFamily="18" charset="0"/>
                          </a:rPr>
                          <m:t>𝑰</m:t>
                        </m:r>
                      </m:e>
                      <m:sub>
                        <m:r>
                          <a:rPr lang="en-US" altLang="ja-JP" sz="3200" b="1" i="1" dirty="0" smtClean="0">
                            <a:solidFill>
                              <a:schemeClr val="accent4">
                                <a:lumMod val="50000"/>
                              </a:schemeClr>
                            </a:solidFill>
                            <a:latin typeface="Cambria Math" panose="02040503050406030204" pitchFamily="18" charset="0"/>
                          </a:rPr>
                          <m:t>𝑷𝑪𝑫𝑼</m:t>
                        </m:r>
                      </m:sub>
                    </m:sSub>
                    <m:r>
                      <a:rPr lang="ja-JP" altLang="en-US" sz="3200" b="1" i="1" dirty="0" smtClean="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𝑢𝑛𝑖𝑡</m:t>
                    </m:r>
                    <m:r>
                      <a:rPr lang="ja-JP" altLang="en-US" sz="3200" b="1" i="1" dirty="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𝑝𝑜𝑤𝑒𝑟</m:t>
                    </m:r>
                    <m:r>
                      <a:rPr lang="ja-JP" altLang="en-US" sz="3200" b="1" i="1" dirty="0">
                        <a:solidFill>
                          <a:schemeClr val="accent4">
                            <a:lumMod val="50000"/>
                          </a:schemeClr>
                        </a:solidFill>
                        <a:latin typeface="Cambria Math" panose="02040503050406030204" pitchFamily="18" charset="0"/>
                      </a:rPr>
                      <m:t> </m:t>
                    </m:r>
                    <m:r>
                      <a:rPr lang="ja-JP" altLang="en-US" sz="3200" b="1" i="1" dirty="0">
                        <a:solidFill>
                          <a:schemeClr val="accent4">
                            <a:lumMod val="50000"/>
                          </a:schemeClr>
                        </a:solidFill>
                        <a:latin typeface="Cambria Math" panose="02040503050406030204" pitchFamily="18" charset="0"/>
                      </a:rPr>
                      <m:t>𝑠𝑡𝑎𝑡𝑒</m:t>
                    </m:r>
                    <m:r>
                      <a:rPr lang="ja-JP" altLang="en-US" sz="3200" b="1" i="1" dirty="0">
                        <a:solidFill>
                          <a:schemeClr val="accent4">
                            <a:lumMod val="50000"/>
                          </a:schemeClr>
                        </a:solidFill>
                        <a:latin typeface="Cambria Math" panose="02040503050406030204" pitchFamily="18" charset="0"/>
                      </a:rPr>
                      <m:t> (</m:t>
                    </m:r>
                  </m:oMath>
                </a14:m>
                <a:r>
                  <a:rPr lang="en-US" altLang="ja-JP" sz="3200" dirty="0">
                    <a:solidFill>
                      <a:schemeClr val="accent4">
                        <a:lumMod val="50000"/>
                      </a:schemeClr>
                    </a:solidFill>
                    <a:latin typeface="Arial" panose="020B0604020202020204" pitchFamily="34" charset="0"/>
                  </a:rPr>
                  <a:t>ON/OFF)</a:t>
                </a:r>
              </a:p>
            </p:txBody>
          </p:sp>
        </mc:Choice>
        <mc:Fallback>
          <p:sp>
            <p:nvSpPr>
              <p:cNvPr id="18" name="テキスト ボックス 17">
                <a:extLst>
                  <a:ext uri="{FF2B5EF4-FFF2-40B4-BE49-F238E27FC236}">
                    <a16:creationId xmlns:a16="http://schemas.microsoft.com/office/drawing/2014/main" id="{0ECB3AB1-C1D3-88A9-D9E2-BA7E2C2BE272}"/>
                  </a:ext>
                </a:extLst>
              </p:cNvPr>
              <p:cNvSpPr txBox="1">
                <a:spLocks noRot="1" noChangeAspect="1" noMove="1" noResize="1" noEditPoints="1" noAdjustHandles="1" noChangeArrowheads="1" noChangeShapeType="1" noTextEdit="1"/>
              </p:cNvSpPr>
              <p:nvPr/>
            </p:nvSpPr>
            <p:spPr>
              <a:xfrm>
                <a:off x="6065520" y="7000603"/>
                <a:ext cx="12192000" cy="586699"/>
              </a:xfrm>
              <a:prstGeom prst="rect">
                <a:avLst/>
              </a:prstGeom>
              <a:blipFill>
                <a:blip r:embed="rId8"/>
                <a:stretch>
                  <a:fillRect t="-13402" b="-31959"/>
                </a:stretch>
              </a:blipFill>
            </p:spPr>
            <p:txBody>
              <a:bodyPr/>
              <a:lstStyle/>
              <a:p>
                <a:r>
                  <a:rPr lang="ja-JP" altLang="en-US">
                    <a:noFill/>
                  </a:rPr>
                  <a:t> </a:t>
                </a:r>
              </a:p>
            </p:txBody>
          </p:sp>
        </mc:Fallback>
      </mc:AlternateContent>
      <p:sp>
        <p:nvSpPr>
          <p:cNvPr id="21" name="テキスト ボックス 20">
            <a:extLst>
              <a:ext uri="{FF2B5EF4-FFF2-40B4-BE49-F238E27FC236}">
                <a16:creationId xmlns:a16="http://schemas.microsoft.com/office/drawing/2014/main" id="{630ECF95-90FC-E07D-3157-676DB548B32D}"/>
              </a:ext>
            </a:extLst>
          </p:cNvPr>
          <p:cNvSpPr txBox="1"/>
          <p:nvPr/>
        </p:nvSpPr>
        <p:spPr>
          <a:xfrm>
            <a:off x="1505572" y="3025973"/>
            <a:ext cx="3066428" cy="1323439"/>
          </a:xfrm>
          <a:prstGeom prst="rect">
            <a:avLst/>
          </a:prstGeom>
          <a:noFill/>
        </p:spPr>
        <p:txBody>
          <a:bodyPr wrap="square" rtlCol="0">
            <a:spAutoFit/>
          </a:bodyPr>
          <a:lstStyle/>
          <a:p>
            <a:r>
              <a:rPr kumimoji="1" lang="en-US" altLang="ja-JP" sz="4000" dirty="0">
                <a:latin typeface="Arial" panose="020B0604020202020204" pitchFamily="34" charset="0"/>
                <a:cs typeface="Arial" panose="020B0604020202020204" pitchFamily="34" charset="0"/>
              </a:rPr>
              <a:t>1st step: time-varying</a:t>
            </a:r>
            <a:endParaRPr kumimoji="1" lang="ja-JP" altLang="en-US" sz="4000" dirty="0">
              <a:latin typeface="Arial" panose="020B0604020202020204" pitchFamily="34" charset="0"/>
              <a:cs typeface="Arial" panose="020B0604020202020204" pitchFamily="34" charset="0"/>
            </a:endParaRPr>
          </a:p>
        </p:txBody>
      </p:sp>
      <p:sp>
        <p:nvSpPr>
          <p:cNvPr id="25" name="テキスト ボックス 24">
            <a:extLst>
              <a:ext uri="{FF2B5EF4-FFF2-40B4-BE49-F238E27FC236}">
                <a16:creationId xmlns:a16="http://schemas.microsoft.com/office/drawing/2014/main" id="{5A01ED33-E65D-57DA-3609-35DC33FCD660}"/>
              </a:ext>
            </a:extLst>
          </p:cNvPr>
          <p:cNvSpPr txBox="1"/>
          <p:nvPr/>
        </p:nvSpPr>
        <p:spPr>
          <a:xfrm>
            <a:off x="1585431" y="5878361"/>
            <a:ext cx="2615609" cy="1323439"/>
          </a:xfrm>
          <a:prstGeom prst="rect">
            <a:avLst/>
          </a:prstGeom>
          <a:noFill/>
        </p:spPr>
        <p:txBody>
          <a:bodyPr wrap="square" rtlCol="0">
            <a:spAutoFit/>
          </a:bodyPr>
          <a:lstStyle/>
          <a:p>
            <a:r>
              <a:rPr kumimoji="1" lang="en-US" altLang="ja-JP" sz="4000" dirty="0">
                <a:latin typeface="Arial" panose="020B0604020202020204" pitchFamily="34" charset="0"/>
                <a:cs typeface="Arial" panose="020B0604020202020204" pitchFamily="34" charset="0"/>
              </a:rPr>
              <a:t>2nd step: bias</a:t>
            </a:r>
          </a:p>
        </p:txBody>
      </p:sp>
    </p:spTree>
    <p:extLst>
      <p:ext uri="{BB962C8B-B14F-4D97-AF65-F5344CB8AC3E}">
        <p14:creationId xmlns:p14="http://schemas.microsoft.com/office/powerpoint/2010/main" val="3462377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7277"/>
            <a:ext cx="22037040" cy="107106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endParaRPr>
          </a:p>
          <a:p>
            <a:r>
              <a:rPr lang="en-US" altLang="ja-JP" sz="3200" b="1">
                <a:latin typeface="Arial" panose="020B0604020202020204" pitchFamily="34" charset="0"/>
              </a:rPr>
              <a:t>The test case is excluded from all coefficient estimates to evaluate prediction under unseen conditions</a:t>
            </a:r>
            <a:endParaRPr lang="en-US"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15</a:t>
            </a:r>
            <a:endParaRPr sz="1800" b="0" dirty="0">
              <a:solidFill>
                <a:srgbClr val="666F79"/>
              </a:solidFill>
              <a:latin typeface="Arial" panose="020B0604020202020204" pitchFamily="34" charset="0"/>
              <a:ea typeface="Yu Gothic"/>
            </a:endParaRPr>
          </a:p>
        </p:txBody>
      </p:sp>
      <p:sp>
        <p:nvSpPr>
          <p:cNvPr id="5" name="Rounded Rectangle 4"/>
          <p:cNvSpPr/>
          <p:nvPr/>
        </p:nvSpPr>
        <p:spPr>
          <a:xfrm>
            <a:off x="1581912" y="3383280"/>
            <a:ext cx="6190488" cy="585216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783080" y="3675888"/>
            <a:ext cx="5788151" cy="452432"/>
          </a:xfrm>
          <a:prstGeom prst="rect">
            <a:avLst/>
          </a:prstGeom>
          <a:noFill/>
        </p:spPr>
        <p:txBody>
          <a:bodyPr wrap="square" lIns="45720" tIns="18288" rIns="45720" bIns="18288" anchor="t">
            <a:spAutoFit/>
          </a:bodyPr>
          <a:lstStyle/>
          <a:p>
            <a:pPr algn="ctr">
              <a:spcAft>
                <a:spcPts val="0"/>
              </a:spcAft>
            </a:pPr>
            <a:r>
              <a:rPr lang="en-US" sz="2700" b="1">
                <a:solidFill>
                  <a:srgbClr val="239571"/>
                </a:solidFill>
                <a:latin typeface="Arial" panose="020B0604020202020204" pitchFamily="34" charset="0"/>
                <a:ea typeface="Yu Gothic"/>
              </a:rPr>
              <a:t>① Fit each case</a:t>
            </a:r>
            <a:endParaRPr lang="en-US" sz="2700" b="1" dirty="0">
              <a:solidFill>
                <a:srgbClr val="239571"/>
              </a:solidFill>
              <a:latin typeface="Arial" panose="020B0604020202020204" pitchFamily="34" charset="0"/>
              <a:ea typeface="Yu Gothic"/>
            </a:endParaRPr>
          </a:p>
        </p:txBody>
      </p:sp>
      <p:sp>
        <p:nvSpPr>
          <p:cNvPr id="7" name="TextBox 6"/>
          <p:cNvSpPr txBox="1"/>
          <p:nvPr/>
        </p:nvSpPr>
        <p:spPr>
          <a:xfrm>
            <a:off x="1856231" y="4617720"/>
            <a:ext cx="5641848" cy="1274964"/>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Use the first orbit of each case
to estimate its sensitivity a
and mean b</a:t>
            </a:r>
            <a:endParaRPr lang="en-US" sz="2400" b="0" dirty="0">
              <a:solidFill>
                <a:srgbClr val="232B34"/>
              </a:solidFill>
              <a:latin typeface="Arial" panose="020B0604020202020204" pitchFamily="34" charset="0"/>
              <a:ea typeface="Yu Gothic"/>
            </a:endParaRPr>
          </a:p>
        </p:txBody>
      </p:sp>
      <p:sp>
        <p:nvSpPr>
          <p:cNvPr id="8" name="Rounded Rectangle 7"/>
          <p:cNvSpPr/>
          <p:nvPr/>
        </p:nvSpPr>
        <p:spPr>
          <a:xfrm>
            <a:off x="8458200" y="3383280"/>
            <a:ext cx="6656832" cy="585216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59368" y="3675888"/>
            <a:ext cx="6254496" cy="452432"/>
          </a:xfrm>
          <a:prstGeom prst="rect">
            <a:avLst/>
          </a:prstGeom>
          <a:noFill/>
        </p:spPr>
        <p:txBody>
          <a:bodyPr wrap="square" lIns="45720" tIns="18288" rIns="45720" bIns="18288" anchor="t">
            <a:spAutoFit/>
          </a:bodyPr>
          <a:lstStyle/>
          <a:p>
            <a:pPr algn="ctr">
              <a:spcAft>
                <a:spcPts val="0"/>
              </a:spcAft>
            </a:pPr>
            <a:r>
              <a:rPr lang="en-US" sz="2700" b="1">
                <a:solidFill>
                  <a:srgbClr val="1B74AA"/>
                </a:solidFill>
                <a:latin typeface="Arial" panose="020B0604020202020204" pitchFamily="34" charset="0"/>
                <a:ea typeface="Yu Gothic"/>
              </a:rPr>
              <a:t>② Share within each sun face</a:t>
            </a:r>
            <a:endParaRPr lang="en-US" sz="2700" b="1" dirty="0">
              <a:solidFill>
                <a:srgbClr val="1B74AA"/>
              </a:solidFill>
              <a:latin typeface="Arial" panose="020B0604020202020204" pitchFamily="34" charset="0"/>
              <a:ea typeface="Yu Gothic"/>
            </a:endParaRPr>
          </a:p>
        </p:txBody>
      </p:sp>
      <p:sp>
        <p:nvSpPr>
          <p:cNvPr id="10" name="TextBox 9"/>
          <p:cNvSpPr txBox="1"/>
          <p:nvPr/>
        </p:nvSpPr>
        <p:spPr>
          <a:xfrm>
            <a:off x="8732520" y="4617720"/>
            <a:ext cx="6108192" cy="2124428"/>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Median a within each sun face
becomes the shared sensitivity
Fit mean b across cases from
sun face and dissipation flags</a:t>
            </a:r>
            <a:endParaRPr lang="en-US" sz="2400" b="0" dirty="0">
              <a:solidFill>
                <a:srgbClr val="232B34"/>
              </a:solidFill>
              <a:latin typeface="Arial" panose="020B0604020202020204" pitchFamily="34" charset="0"/>
              <a:ea typeface="Yu Gothic"/>
            </a:endParaRPr>
          </a:p>
        </p:txBody>
      </p:sp>
      <p:sp>
        <p:nvSpPr>
          <p:cNvPr id="11" name="Rounded Rectangle 10"/>
          <p:cNvSpPr/>
          <p:nvPr/>
        </p:nvSpPr>
        <p:spPr>
          <a:xfrm>
            <a:off x="15782544" y="3383280"/>
            <a:ext cx="7013448" cy="585216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983712" y="3675888"/>
            <a:ext cx="6611112" cy="452432"/>
          </a:xfrm>
          <a:prstGeom prst="rect">
            <a:avLst/>
          </a:prstGeom>
          <a:noFill/>
        </p:spPr>
        <p:txBody>
          <a:bodyPr wrap="square" lIns="45720" tIns="18288" rIns="45720" bIns="18288" anchor="t">
            <a:spAutoFit/>
          </a:bodyPr>
          <a:lstStyle/>
          <a:p>
            <a:pPr algn="ctr">
              <a:spcAft>
                <a:spcPts val="0"/>
              </a:spcAft>
            </a:pPr>
            <a:r>
              <a:rPr lang="en-US" sz="2700" b="1">
                <a:solidFill>
                  <a:srgbClr val="EC9427"/>
                </a:solidFill>
                <a:latin typeface="Arial" panose="020B0604020202020204" pitchFamily="34" charset="0"/>
                <a:ea typeface="Yu Gothic"/>
              </a:rPr>
              <a:t>③ Test an unseen case</a:t>
            </a:r>
            <a:endParaRPr lang="en-US" sz="2700" b="1" dirty="0">
              <a:solidFill>
                <a:srgbClr val="EC9427"/>
              </a:solidFill>
              <a:latin typeface="Arial" panose="020B0604020202020204" pitchFamily="34" charset="0"/>
              <a:ea typeface="Yu Gothic"/>
            </a:endParaRPr>
          </a:p>
        </p:txBody>
      </p:sp>
      <p:sp>
        <p:nvSpPr>
          <p:cNvPr id="13" name="TextBox 12"/>
          <p:cNvSpPr txBox="1"/>
          <p:nvPr/>
        </p:nvSpPr>
        <p:spPr>
          <a:xfrm>
            <a:off x="16056864" y="4617720"/>
            <a:ext cx="6464808" cy="2549159"/>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nested leave-one-case-out
Exclude the test case from shared sensitivity
and both-axis mean models
Evaluate its next two orbits</a:t>
            </a:r>
            <a:endParaRPr lang="en-US" sz="2400" b="0" dirty="0">
              <a:solidFill>
                <a:srgbClr val="232B34"/>
              </a:solidFill>
              <a:latin typeface="Arial" panose="020B0604020202020204" pitchFamily="34" charset="0"/>
              <a:ea typeface="Yu Gothic"/>
            </a:endParaRPr>
          </a:p>
        </p:txBody>
      </p:sp>
      <p:sp>
        <p:nvSpPr>
          <p:cNvPr id="14" name="Right Arrow 13"/>
          <p:cNvSpPr/>
          <p:nvPr/>
        </p:nvSpPr>
        <p:spPr>
          <a:xfrm>
            <a:off x="7973568"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5307055"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10149840"/>
            <a:ext cx="19659600" cy="467820"/>
          </a:xfrm>
          <a:prstGeom prst="rect">
            <a:avLst/>
          </a:prstGeom>
          <a:noFill/>
        </p:spPr>
        <p:txBody>
          <a:bodyPr wrap="square" lIns="45720" tIns="18288" rIns="45720" bIns="18288" anchor="t">
            <a:spAutoFit/>
          </a:bodyPr>
          <a:lstStyle/>
          <a:p>
            <a:pPr algn="ctr"/>
            <a:r>
              <a:rPr lang="en-US" altLang="ja-JP" sz="2800" b="1">
                <a:latin typeface="Arial" panose="020B0604020202020204" pitchFamily="34" charset="0"/>
              </a:rPr>
              <a:t>Evaluate how well fixed shared coefficients predict unseen operating conditions</a:t>
            </a:r>
            <a:endParaRPr lang="en-US" altLang="ja-JP" sz="2800" dirty="0">
              <a:latin typeface="Arial" panose="020B0604020202020204" pitchFamily="34" charset="0"/>
            </a:endParaRPr>
          </a:p>
        </p:txBody>
      </p:sp>
      <p:sp>
        <p:nvSpPr>
          <p:cNvPr id="18" name="TextBox 17"/>
          <p:cNvSpPr txBox="1"/>
          <p:nvPr/>
        </p:nvSpPr>
        <p:spPr>
          <a:xfrm>
            <a:off x="2039112" y="11292840"/>
            <a:ext cx="20299680" cy="406265"/>
          </a:xfrm>
          <a:prstGeom prst="rect">
            <a:avLst/>
          </a:prstGeom>
          <a:noFill/>
        </p:spPr>
        <p:txBody>
          <a:bodyPr wrap="square" lIns="45720" tIns="18288" rIns="45720" bIns="18288" anchor="t">
            <a:spAutoFit/>
          </a:bodyPr>
          <a:lstStyle/>
          <a:p>
            <a:pPr algn="r"/>
            <a:r>
              <a:rPr lang="en-US" altLang="ja-JP" sz="2400">
                <a:latin typeface="Arial" panose="020B0604020202020204" pitchFamily="34" charset="0"/>
              </a:rPr>
              <a:t>Across-condition evaluation within the same structure and LOS definition</a:t>
            </a:r>
            <a:endParaRPr lang="en-US" altLang="ja-JP" sz="2400" dirty="0">
              <a:latin typeface="Arial" panose="020B0604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Arial" panose="020B0604020202020204" pitchFamily="34" charset="0"/>
              <a:ea typeface="Yu Gothic"/>
            </a:endParaRPr>
          </a:p>
          <a:p>
            <a:pPr algn="l">
              <a:lnSpc>
                <a:spcPct val="110000"/>
              </a:lnSpc>
              <a:spcAft>
                <a:spcPts val="0"/>
              </a:spcAft>
            </a:pPr>
            <a:r>
              <a:rPr lang="en-US" sz="3100" b="1">
                <a:solidFill>
                  <a:srgbClr val="082B52"/>
                </a:solidFill>
                <a:latin typeface="Arial" panose="020B0604020202020204" pitchFamily="34" charset="0"/>
                <a:ea typeface="Yu Gothic"/>
              </a:rPr>
              <a:t>For unseen cases, median dominant-axis error is 4.9 µrad—one to two orders below the raw 615 µrad</a:t>
            </a:r>
            <a:endParaRPr lang="en-US" sz="31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16</a:t>
            </a:r>
            <a:endParaRPr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1239012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p3_a_emp_by_sunface.png"/>
          <p:cNvPicPr>
            <a:picLocks noChangeAspect="1"/>
          </p:cNvPicPr>
          <p:nvPr/>
        </p:nvPicPr>
        <p:blipFill>
          <a:blip r:embed="rId3"/>
          <a:stretch>
            <a:fillRect/>
          </a:stretch>
        </p:blipFill>
        <p:spPr>
          <a:xfrm>
            <a:off x="1410788" y="3154680"/>
            <a:ext cx="10345782" cy="6035040"/>
          </a:xfrm>
          <a:prstGeom prst="rect">
            <a:avLst/>
          </a:prstGeom>
        </p:spPr>
      </p:pic>
      <p:pic>
        <p:nvPicPr>
          <p:cNvPr id="8" name="Picture 7" descr="image.png"/>
          <p:cNvPicPr>
            <a:picLocks noChangeAspect="1"/>
          </p:cNvPicPr>
          <p:nvPr/>
        </p:nvPicPr>
        <p:blipFill>
          <a:blip r:embed="rId4"/>
          <a:stretch>
            <a:fillRect/>
          </a:stretch>
        </p:blipFill>
        <p:spPr>
          <a:xfrm>
            <a:off x="12712446" y="3154680"/>
            <a:ext cx="10511028" cy="6035040"/>
          </a:xfrm>
          <a:prstGeom prst="rect">
            <a:avLst/>
          </a:prstGeom>
        </p:spPr>
      </p:pic>
      <p:sp>
        <p:nvSpPr>
          <p:cNvPr id="9" name="TextBox 8"/>
          <p:cNvSpPr txBox="1"/>
          <p:nvPr/>
        </p:nvSpPr>
        <p:spPr>
          <a:xfrm>
            <a:off x="1005840" y="9418320"/>
            <a:ext cx="11155680" cy="360099"/>
          </a:xfrm>
          <a:prstGeom prst="rect">
            <a:avLst/>
          </a:prstGeom>
          <a:noFill/>
        </p:spPr>
        <p:txBody>
          <a:bodyPr wrap="square" lIns="45720" tIns="18288" rIns="45720" bIns="18288" anchor="t">
            <a:spAutoFit/>
          </a:bodyPr>
          <a:lstStyle/>
          <a:p>
            <a:pPr algn="ctr">
              <a:spcAft>
                <a:spcPts val="0"/>
              </a:spcAft>
            </a:pPr>
            <a:r>
              <a:rPr lang="en-US" sz="2100" b="1">
                <a:solidFill>
                  <a:srgbClr val="1B74AA"/>
                </a:solidFill>
                <a:latin typeface="Arial" panose="020B0604020202020204" pitchFamily="34" charset="0"/>
                <a:ea typeface="Yu Gothic"/>
              </a:rPr>
              <a:t>Sun-face sensitivities a (case-specific and shared)</a:t>
            </a:r>
            <a:endParaRPr lang="en-US" sz="2100" b="1" dirty="0" err="1">
              <a:solidFill>
                <a:srgbClr val="1B74AA"/>
              </a:solidFill>
              <a:latin typeface="Arial" panose="020B0604020202020204" pitchFamily="34" charset="0"/>
              <a:ea typeface="Yu Gothic"/>
            </a:endParaRPr>
          </a:p>
        </p:txBody>
      </p:sp>
      <p:sp>
        <p:nvSpPr>
          <p:cNvPr id="10" name="TextBox 9"/>
          <p:cNvSpPr txBox="1"/>
          <p:nvPr/>
        </p:nvSpPr>
        <p:spPr>
          <a:xfrm>
            <a:off x="12390120" y="9418320"/>
            <a:ext cx="11155680" cy="360099"/>
          </a:xfrm>
          <a:prstGeom prst="rect">
            <a:avLst/>
          </a:prstGeom>
          <a:noFill/>
        </p:spPr>
        <p:txBody>
          <a:bodyPr wrap="square" lIns="45720" tIns="18288" rIns="45720" bIns="18288" anchor="t">
            <a:spAutoFit/>
          </a:bodyPr>
          <a:lstStyle/>
          <a:p>
            <a:pPr algn="ctr">
              <a:spcAft>
                <a:spcPts val="0"/>
              </a:spcAft>
            </a:pPr>
            <a:r>
              <a:rPr lang="en-US" sz="2100" b="1">
                <a:solidFill>
                  <a:srgbClr val="239571"/>
                </a:solidFill>
                <a:latin typeface="Arial" panose="020B0604020202020204" pitchFamily="34" charset="0"/>
                <a:ea typeface="Yu Gothic"/>
              </a:rPr>
              <a:t>Case bias b: empirical versus predicted</a:t>
            </a:r>
            <a:endParaRPr lang="en-US" sz="2100" b="1" dirty="0">
              <a:solidFill>
                <a:srgbClr val="239571"/>
              </a:solidFill>
              <a:latin typeface="Arial" panose="020B0604020202020204" pitchFamily="34" charset="0"/>
              <a:ea typeface="Yu Gothic"/>
            </a:endParaRPr>
          </a:p>
        </p:txBody>
      </p:sp>
      <p:sp>
        <p:nvSpPr>
          <p:cNvPr id="11" name="Rounded Rectangle 10"/>
          <p:cNvSpPr/>
          <p:nvPr/>
        </p:nvSpPr>
        <p:spPr>
          <a:xfrm>
            <a:off x="1463040" y="10058400"/>
            <a:ext cx="6583680"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72768" y="10222992"/>
            <a:ext cx="6364224" cy="529376"/>
          </a:xfrm>
          <a:prstGeom prst="rect">
            <a:avLst/>
          </a:prstGeom>
          <a:noFill/>
        </p:spPr>
        <p:txBody>
          <a:bodyPr wrap="square" lIns="45720" tIns="18288" rIns="45720" bIns="18288" anchor="t">
            <a:spAutoFit/>
          </a:bodyPr>
          <a:lstStyle/>
          <a:p>
            <a:pPr algn="ctr">
              <a:spcAft>
                <a:spcPts val="0"/>
              </a:spcAft>
            </a:pPr>
            <a:r>
              <a:rPr lang="en-US" sz="3200" b="1">
                <a:solidFill>
                  <a:srgbClr val="1B74AA"/>
                </a:solidFill>
                <a:latin typeface="Arial" panose="020B0604020202020204" pitchFamily="34" charset="0"/>
                <a:ea typeface="Yu Gothic"/>
              </a:rPr>
              <a:t>615 µrad</a:t>
            </a:r>
            <a:endParaRPr lang="en-US" sz="3200" b="1" dirty="0">
              <a:solidFill>
                <a:srgbClr val="1B74AA"/>
              </a:solidFill>
              <a:latin typeface="Arial" panose="020B0604020202020204" pitchFamily="34" charset="0"/>
              <a:ea typeface="Yu Gothic"/>
            </a:endParaRPr>
          </a:p>
        </p:txBody>
      </p:sp>
      <p:sp>
        <p:nvSpPr>
          <p:cNvPr id="13" name="TextBox 12"/>
          <p:cNvSpPr txBox="1"/>
          <p:nvPr/>
        </p:nvSpPr>
        <p:spPr>
          <a:xfrm>
            <a:off x="1572768" y="11056924"/>
            <a:ext cx="6364224"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Median raw dominant-axis LOS RMS</a:t>
            </a:r>
            <a:endParaRPr lang="en-US" sz="1900" b="0" dirty="0">
              <a:solidFill>
                <a:srgbClr val="666F79"/>
              </a:solidFill>
              <a:latin typeface="Arial" panose="020B0604020202020204" pitchFamily="34" charset="0"/>
              <a:ea typeface="Yu Gothic"/>
            </a:endParaRPr>
          </a:p>
        </p:txBody>
      </p:sp>
      <p:sp>
        <p:nvSpPr>
          <p:cNvPr id="14" name="Rounded Rectangle 13"/>
          <p:cNvSpPr/>
          <p:nvPr/>
        </p:nvSpPr>
        <p:spPr>
          <a:xfrm>
            <a:off x="8869680" y="10058400"/>
            <a:ext cx="6583680"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979407" y="10222992"/>
            <a:ext cx="6364224" cy="529376"/>
          </a:xfrm>
          <a:prstGeom prst="rect">
            <a:avLst/>
          </a:prstGeom>
          <a:noFill/>
        </p:spPr>
        <p:txBody>
          <a:bodyPr wrap="square" lIns="45720" tIns="18288" rIns="45720" bIns="18288" anchor="t">
            <a:spAutoFit/>
          </a:bodyPr>
          <a:lstStyle/>
          <a:p>
            <a:pPr algn="ctr">
              <a:spcAft>
                <a:spcPts val="0"/>
              </a:spcAft>
            </a:pPr>
            <a:r>
              <a:rPr lang="en-US" sz="3200" b="1">
                <a:solidFill>
                  <a:srgbClr val="239571"/>
                </a:solidFill>
                <a:latin typeface="Arial" panose="020B0604020202020204" pitchFamily="34" charset="0"/>
                <a:ea typeface="Yu Gothic"/>
              </a:rPr>
              <a:t>4.9 µrad</a:t>
            </a:r>
            <a:endParaRPr lang="en-US" sz="3200" b="1" dirty="0">
              <a:solidFill>
                <a:srgbClr val="239571"/>
              </a:solidFill>
              <a:latin typeface="Arial" panose="020B0604020202020204" pitchFamily="34" charset="0"/>
              <a:ea typeface="Yu Gothic"/>
            </a:endParaRPr>
          </a:p>
        </p:txBody>
      </p:sp>
      <p:sp>
        <p:nvSpPr>
          <p:cNvPr id="16" name="TextBox 15"/>
          <p:cNvSpPr txBox="1"/>
          <p:nvPr/>
        </p:nvSpPr>
        <p:spPr>
          <a:xfrm>
            <a:off x="8979407" y="11056924"/>
            <a:ext cx="6364224"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Median test RMSE on unseen cases (mean 5.5)</a:t>
            </a:r>
            <a:endParaRPr lang="en-US" sz="1800" b="0" dirty="0">
              <a:solidFill>
                <a:srgbClr val="666F79"/>
              </a:solidFill>
              <a:latin typeface="Arial" panose="020B0604020202020204" pitchFamily="34" charset="0"/>
              <a:ea typeface="Yu Gothic"/>
            </a:endParaRPr>
          </a:p>
        </p:txBody>
      </p:sp>
      <p:sp>
        <p:nvSpPr>
          <p:cNvPr id="17" name="Rounded Rectangle 16"/>
          <p:cNvSpPr/>
          <p:nvPr/>
        </p:nvSpPr>
        <p:spPr>
          <a:xfrm>
            <a:off x="16276320" y="10058400"/>
            <a:ext cx="6583680" cy="178308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6386048" y="10222992"/>
            <a:ext cx="6364224" cy="529376"/>
          </a:xfrm>
          <a:prstGeom prst="rect">
            <a:avLst/>
          </a:prstGeom>
          <a:noFill/>
        </p:spPr>
        <p:txBody>
          <a:bodyPr wrap="square" lIns="45720" tIns="18288" rIns="45720" bIns="18288" anchor="t">
            <a:spAutoFit/>
          </a:bodyPr>
          <a:lstStyle/>
          <a:p>
            <a:pPr algn="ctr">
              <a:spcAft>
                <a:spcPts val="0"/>
              </a:spcAft>
            </a:pPr>
            <a:r>
              <a:rPr lang="en-US" sz="3200" b="1">
                <a:solidFill>
                  <a:srgbClr val="EC9427"/>
                </a:solidFill>
                <a:latin typeface="Arial" panose="020B0604020202020204" pitchFamily="34" charset="0"/>
                <a:ea typeface="Yu Gothic"/>
              </a:rPr>
              <a:t>3.8 µrad</a:t>
            </a:r>
            <a:endParaRPr lang="en-US" sz="3200" b="1" dirty="0">
              <a:solidFill>
                <a:srgbClr val="EC9427"/>
              </a:solidFill>
              <a:latin typeface="Arial" panose="020B0604020202020204" pitchFamily="34" charset="0"/>
              <a:ea typeface="Yu Gothic"/>
            </a:endParaRPr>
          </a:p>
        </p:txBody>
      </p:sp>
      <p:sp>
        <p:nvSpPr>
          <p:cNvPr id="19" name="TextBox 18"/>
          <p:cNvSpPr txBox="1"/>
          <p:nvPr/>
        </p:nvSpPr>
        <p:spPr>
          <a:xfrm>
            <a:off x="16386048" y="11056924"/>
            <a:ext cx="6364224" cy="642868"/>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LOO RMSE of case-mean DC bias</a:t>
            </a:r>
            <a:endParaRPr lang="en-US" sz="1900" b="0" dirty="0">
              <a:solidFill>
                <a:srgbClr val="666F79"/>
              </a:solidFill>
              <a:latin typeface="Arial" panose="020B0604020202020204" pitchFamily="34" charset="0"/>
              <a:ea typeface="Yu Gothic"/>
            </a:endParaRPr>
          </a:p>
          <a:p>
            <a:pPr algn="ctr">
              <a:lnSpc>
                <a:spcPct val="105000"/>
              </a:lnSpc>
              <a:spcAft>
                <a:spcPts val="0"/>
              </a:spcAft>
            </a:pPr>
            <a:r>
              <a:rPr lang="en-US" altLang="ja-JP" sz="1900">
                <a:solidFill>
                  <a:srgbClr val="666F79"/>
                </a:solidFill>
                <a:latin typeface="Arial" panose="020B0604020202020204" pitchFamily="34" charset="0"/>
                <a:ea typeface="Yu Gothic"/>
              </a:rPr>
              <a:t>※</a:t>
            </a:r>
            <a:r>
              <a:rPr lang="en-US" sz="1900">
                <a:solidFill>
                  <a:srgbClr val="666F79"/>
                </a:solidFill>
                <a:latin typeface="Arial" panose="020B0604020202020204" pitchFamily="34" charset="0"/>
                <a:ea typeface="Yu Gothic"/>
              </a:rPr>
              <a:t>LOO</a:t>
            </a:r>
            <a:r>
              <a:rPr lang="ja-JP" altLang="en-US" sz="1900">
                <a:solidFill>
                  <a:srgbClr val="666F79"/>
                </a:solidFill>
                <a:latin typeface="Arial" panose="020B0604020202020204" pitchFamily="34" charset="0"/>
                <a:ea typeface="Yu Gothic"/>
              </a:rPr>
              <a:t>：</a:t>
            </a:r>
            <a:r>
              <a:rPr lang="en-US" altLang="ja-JP" sz="1900">
                <a:solidFill>
                  <a:srgbClr val="666F79"/>
                </a:solidFill>
                <a:latin typeface="Arial" panose="020B0604020202020204" pitchFamily="34" charset="0"/>
                <a:ea typeface="Yu Gothic"/>
              </a:rPr>
              <a:t>Leave-One-case-Out</a:t>
            </a:r>
            <a:endParaRPr sz="1900" b="0" dirty="0">
              <a:solidFill>
                <a:srgbClr val="666F79"/>
              </a:solidFill>
              <a:latin typeface="Arial" panose="020B0604020202020204" pitchFamily="34" charset="0"/>
              <a:ea typeface="Yu Gothic"/>
            </a:endParaRPr>
          </a:p>
        </p:txBody>
      </p:sp>
      <p:sp>
        <p:nvSpPr>
          <p:cNvPr id="20" name="TextBox 19"/>
          <p:cNvSpPr txBox="1"/>
          <p:nvPr/>
        </p:nvSpPr>
        <p:spPr>
          <a:xfrm>
            <a:off x="1463040" y="12070080"/>
            <a:ext cx="21396960" cy="375487"/>
          </a:xfrm>
          <a:prstGeom prst="rect">
            <a:avLst/>
          </a:prstGeom>
          <a:noFill/>
        </p:spPr>
        <p:txBody>
          <a:bodyPr wrap="square" lIns="45720" tIns="18288" rIns="45720" bIns="18288" anchor="t">
            <a:spAutoFit/>
          </a:bodyPr>
          <a:lstStyle/>
          <a:p>
            <a:pPr algn="ctr">
              <a:spcAft>
                <a:spcPts val="0"/>
              </a:spcAft>
            </a:pPr>
            <a:r>
              <a:rPr lang="en-US" sz="2200" b="0">
                <a:solidFill>
                  <a:srgbClr val="666F79"/>
                </a:solidFill>
                <a:latin typeface="Arial" panose="020B0604020202020204" pitchFamily="34" charset="0"/>
                <a:ea typeface="Yu Gothic"/>
              </a:rPr>
              <a:t>Shared sensitivity: MX +30.6 / MY +28.6 / PX −28.1 / PY −28.7 µrad/K</a:t>
            </a:r>
            <a:endParaRPr lang="en-US" sz="2200" b="0" dirty="0">
              <a:solidFill>
                <a:srgbClr val="666F79"/>
              </a:solidFill>
              <a:latin typeface="Arial" panose="020B0604020202020204" pitchFamily="34" charset="0"/>
              <a:ea typeface="Yu Gothic"/>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614045"/>
            <a:ext cx="22037040" cy="557525"/>
          </a:xfrm>
          <a:prstGeom prst="rect">
            <a:avLst/>
          </a:prstGeom>
          <a:noFill/>
        </p:spPr>
        <p:txBody>
          <a:bodyPr wrap="square" lIns="45720" tIns="18288" rIns="45720" bIns="18288" anchor="ctr">
            <a:spAutoFit/>
          </a:bodyPr>
          <a:lstStyle/>
          <a:p>
            <a:pPr algn="l">
              <a:lnSpc>
                <a:spcPct val="110000"/>
              </a:lnSpc>
              <a:spcAft>
                <a:spcPts val="0"/>
              </a:spcAft>
            </a:pPr>
            <a:r>
              <a:rPr lang="en-US" sz="3200" b="1" dirty="0">
                <a:solidFill>
                  <a:srgbClr val="082B52"/>
                </a:solidFill>
                <a:latin typeface="Arial" panose="020B0604020202020204" pitchFamily="34" charset="0"/>
                <a:ea typeface="Yu Gothic"/>
              </a:rPr>
              <a:t>Even </a:t>
            </a:r>
            <a:r>
              <a:rPr lang="en-US" sz="3200" b="1">
                <a:solidFill>
                  <a:srgbClr val="082B52"/>
                </a:solidFill>
                <a:latin typeface="Arial" panose="020B0604020202020204" pitchFamily="34" charset="0"/>
                <a:ea typeface="Yu Gothic"/>
              </a:rPr>
              <a:t>for the Case with one of the largest thermal LOS errors, 1250 µrad falls to 3.9 µrad</a:t>
            </a:r>
            <a:endParaRPr lang="en-US"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17</a:t>
            </a:r>
            <a:endParaRPr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4081760" cy="87782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case08_no_log_title.png"/>
          <p:cNvPicPr>
            <a:picLocks noChangeAspect="1"/>
          </p:cNvPicPr>
          <p:nvPr/>
        </p:nvPicPr>
        <p:blipFill>
          <a:blip r:embed="rId3"/>
          <a:stretch>
            <a:fillRect/>
          </a:stretch>
        </p:blipFill>
        <p:spPr>
          <a:xfrm>
            <a:off x="2078059" y="3154680"/>
            <a:ext cx="11937320" cy="8503920"/>
          </a:xfrm>
          <a:prstGeom prst="rect">
            <a:avLst/>
          </a:prstGeom>
        </p:spPr>
      </p:pic>
      <p:sp>
        <p:nvSpPr>
          <p:cNvPr id="7" name="TextBox 6"/>
          <p:cNvSpPr txBox="1"/>
          <p:nvPr/>
        </p:nvSpPr>
        <p:spPr>
          <a:xfrm>
            <a:off x="1005840" y="11841480"/>
            <a:ext cx="14081760" cy="375487"/>
          </a:xfrm>
          <a:prstGeom prst="rect">
            <a:avLst/>
          </a:prstGeom>
          <a:noFill/>
        </p:spPr>
        <p:txBody>
          <a:bodyPr wrap="square" lIns="45720" tIns="18288" rIns="45720" bIns="18288" anchor="t">
            <a:spAutoFit/>
          </a:bodyPr>
          <a:lstStyle/>
          <a:p>
            <a:pPr algn="ctr">
              <a:spcAft>
                <a:spcPts val="0"/>
              </a:spcAft>
            </a:pPr>
            <a:r>
              <a:rPr lang="en-US" sz="2200" b="1">
                <a:solidFill>
                  <a:srgbClr val="1B74AA"/>
                </a:solidFill>
                <a:latin typeface="Arial" panose="020B0604020202020204" pitchFamily="34" charset="0"/>
                <a:ea typeface="Yu Gothic"/>
              </a:rPr>
              <a:t>Case 08 (PY sun face, all units dissipating)</a:t>
            </a:r>
            <a:endParaRPr lang="en-US" sz="2200" b="1" dirty="0">
              <a:solidFill>
                <a:srgbClr val="1B74AA"/>
              </a:solidFill>
              <a:latin typeface="Arial" panose="020B0604020202020204" pitchFamily="34" charset="0"/>
              <a:ea typeface="Yu Gothic"/>
            </a:endParaRPr>
          </a:p>
        </p:txBody>
      </p:sp>
      <p:sp>
        <p:nvSpPr>
          <p:cNvPr id="8" name="Rounded Rectangle 7"/>
          <p:cNvSpPr/>
          <p:nvPr/>
        </p:nvSpPr>
        <p:spPr>
          <a:xfrm>
            <a:off x="15727680" y="3474720"/>
            <a:ext cx="7498079" cy="21031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837408" y="3639312"/>
            <a:ext cx="7278623" cy="590931"/>
          </a:xfrm>
          <a:prstGeom prst="rect">
            <a:avLst/>
          </a:prstGeom>
          <a:noFill/>
        </p:spPr>
        <p:txBody>
          <a:bodyPr wrap="square" lIns="45720" tIns="18288" rIns="45720" bIns="18288" anchor="t">
            <a:spAutoFit/>
          </a:bodyPr>
          <a:lstStyle/>
          <a:p>
            <a:pPr algn="ctr">
              <a:spcAft>
                <a:spcPts val="0"/>
              </a:spcAft>
            </a:pPr>
            <a:r>
              <a:rPr lang="en-US" sz="3600" b="1">
                <a:solidFill>
                  <a:srgbClr val="D03B46"/>
                </a:solidFill>
                <a:latin typeface="Arial" panose="020B0604020202020204" pitchFamily="34" charset="0"/>
                <a:ea typeface="Yu Gothic"/>
              </a:rPr>
              <a:t>1250 µrad</a:t>
            </a:r>
            <a:endParaRPr lang="en-US" sz="3600" b="1" dirty="0">
              <a:solidFill>
                <a:srgbClr val="D03B46"/>
              </a:solidFill>
              <a:latin typeface="Arial" panose="020B0604020202020204" pitchFamily="34" charset="0"/>
              <a:ea typeface="Yu Gothic"/>
            </a:endParaRPr>
          </a:p>
        </p:txBody>
      </p:sp>
      <p:sp>
        <p:nvSpPr>
          <p:cNvPr id="10" name="TextBox 9"/>
          <p:cNvSpPr txBox="1"/>
          <p:nvPr/>
        </p:nvSpPr>
        <p:spPr>
          <a:xfrm>
            <a:off x="15837408" y="4652467"/>
            <a:ext cx="7278623"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Raw dominant-axis RMS</a:t>
            </a:r>
            <a:endParaRPr lang="en-US" sz="1900" b="0" dirty="0">
              <a:solidFill>
                <a:srgbClr val="666F79"/>
              </a:solidFill>
              <a:latin typeface="Arial" panose="020B0604020202020204" pitchFamily="34" charset="0"/>
              <a:ea typeface="Yu Gothic"/>
            </a:endParaRPr>
          </a:p>
        </p:txBody>
      </p:sp>
      <p:sp>
        <p:nvSpPr>
          <p:cNvPr id="11" name="Rounded Rectangle 10"/>
          <p:cNvSpPr/>
          <p:nvPr/>
        </p:nvSpPr>
        <p:spPr>
          <a:xfrm>
            <a:off x="15727680" y="5852160"/>
            <a:ext cx="7498079" cy="210312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837408" y="6016752"/>
            <a:ext cx="7278623" cy="590931"/>
          </a:xfrm>
          <a:prstGeom prst="rect">
            <a:avLst/>
          </a:prstGeom>
          <a:noFill/>
        </p:spPr>
        <p:txBody>
          <a:bodyPr wrap="square" lIns="45720" tIns="18288" rIns="45720" bIns="18288" anchor="t">
            <a:spAutoFit/>
          </a:bodyPr>
          <a:lstStyle/>
          <a:p>
            <a:pPr algn="ctr">
              <a:spcAft>
                <a:spcPts val="0"/>
              </a:spcAft>
            </a:pPr>
            <a:r>
              <a:rPr lang="en-US" sz="3600" b="1">
                <a:solidFill>
                  <a:srgbClr val="239571"/>
                </a:solidFill>
                <a:latin typeface="Arial" panose="020B0604020202020204" pitchFamily="34" charset="0"/>
                <a:ea typeface="Yu Gothic"/>
              </a:rPr>
              <a:t>3.9 µrad</a:t>
            </a:r>
            <a:endParaRPr lang="en-US" sz="3600" b="1" dirty="0">
              <a:solidFill>
                <a:srgbClr val="239571"/>
              </a:solidFill>
              <a:latin typeface="Arial" panose="020B0604020202020204" pitchFamily="34" charset="0"/>
              <a:ea typeface="Yu Gothic"/>
            </a:endParaRPr>
          </a:p>
        </p:txBody>
      </p:sp>
      <p:sp>
        <p:nvSpPr>
          <p:cNvPr id="13" name="TextBox 12"/>
          <p:cNvSpPr txBox="1"/>
          <p:nvPr/>
        </p:nvSpPr>
        <p:spPr>
          <a:xfrm>
            <a:off x="15837408" y="7029907"/>
            <a:ext cx="7278623"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Test RMSE for an unseen case</a:t>
            </a:r>
            <a:endParaRPr lang="en-US" sz="1900" b="0" dirty="0">
              <a:solidFill>
                <a:srgbClr val="666F79"/>
              </a:solidFill>
              <a:latin typeface="Arial" panose="020B0604020202020204" pitchFamily="34" charset="0"/>
              <a:ea typeface="Yu Gothic"/>
            </a:endParaRPr>
          </a:p>
        </p:txBody>
      </p:sp>
      <p:sp>
        <p:nvSpPr>
          <p:cNvPr id="14" name="Rounded Rectangle 13"/>
          <p:cNvSpPr/>
          <p:nvPr/>
        </p:nvSpPr>
        <p:spPr>
          <a:xfrm>
            <a:off x="15727680" y="8229600"/>
            <a:ext cx="7498079" cy="237744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928847" y="8522208"/>
            <a:ext cx="7095743" cy="421654"/>
          </a:xfrm>
          <a:prstGeom prst="rect">
            <a:avLst/>
          </a:prstGeom>
          <a:noFill/>
        </p:spPr>
        <p:txBody>
          <a:bodyPr wrap="square" lIns="45720" tIns="18288" rIns="45720" bIns="18288" anchor="t">
            <a:spAutoFit/>
          </a:bodyPr>
          <a:lstStyle/>
          <a:p>
            <a:pPr algn="ctr">
              <a:spcAft>
                <a:spcPts val="0"/>
              </a:spcAft>
            </a:pPr>
            <a:r>
              <a:rPr lang="en-US" sz="2500" b="1">
                <a:solidFill>
                  <a:srgbClr val="1B74AA"/>
                </a:solidFill>
                <a:latin typeface="Arial" panose="020B0604020202020204" pitchFamily="34" charset="0"/>
                <a:ea typeface="Yu Gothic"/>
              </a:rPr>
              <a:t>First scan point is sufficient</a:t>
            </a:r>
            <a:endParaRPr lang="en-US" sz="2500" b="1" dirty="0">
              <a:solidFill>
                <a:srgbClr val="1B74AA"/>
              </a:solidFill>
              <a:latin typeface="Arial" panose="020B0604020202020204" pitchFamily="34" charset="0"/>
              <a:ea typeface="Yu Gothic"/>
            </a:endParaRPr>
          </a:p>
        </p:txBody>
      </p:sp>
      <p:sp>
        <p:nvSpPr>
          <p:cNvPr id="16" name="TextBox 15"/>
          <p:cNvSpPr txBox="1"/>
          <p:nvPr/>
        </p:nvSpPr>
        <p:spPr>
          <a:xfrm>
            <a:off x="16002000" y="9326880"/>
            <a:ext cx="6949440" cy="816377"/>
          </a:xfrm>
          <a:prstGeom prst="rect">
            <a:avLst/>
          </a:prstGeom>
          <a:noFill/>
        </p:spPr>
        <p:txBody>
          <a:bodyPr wrap="square" lIns="45720" tIns="18288" rIns="45720" bIns="18288" anchor="t">
            <a:spAutoFit/>
          </a:bodyPr>
          <a:lstStyle/>
          <a:p>
            <a:pPr algn="ctr">
              <a:lnSpc>
                <a:spcPct val="115000"/>
              </a:lnSpc>
              <a:spcAft>
                <a:spcPts val="0"/>
              </a:spcAft>
            </a:pPr>
            <a:r>
              <a:rPr lang="en-US" sz="2300" b="0">
                <a:solidFill>
                  <a:srgbClr val="232B34"/>
                </a:solidFill>
                <a:latin typeface="Arial" panose="020B0604020202020204" pitchFamily="34" charset="0"/>
                <a:ea typeface="Yu Gothic"/>
              </a:rPr>
              <a:t>Corrected residual is well below
the 150 µrad detection radius</a:t>
            </a:r>
            <a:endParaRPr lang="en-US" sz="2300" b="0" dirty="0">
              <a:solidFill>
                <a:srgbClr val="232B34"/>
              </a:solidFill>
              <a:latin typeface="Arial" panose="020B0604020202020204" pitchFamily="34" charset="0"/>
              <a:ea typeface="Yu Gothic"/>
            </a:endParaRPr>
          </a:p>
        </p:txBody>
      </p:sp>
      <p:sp>
        <p:nvSpPr>
          <p:cNvPr id="17" name="TextBox 16"/>
          <p:cNvSpPr txBox="1"/>
          <p:nvPr/>
        </p:nvSpPr>
        <p:spPr>
          <a:xfrm>
            <a:off x="15727680" y="10835640"/>
            <a:ext cx="7498079" cy="406265"/>
          </a:xfrm>
          <a:prstGeom prst="rect">
            <a:avLst/>
          </a:prstGeom>
          <a:noFill/>
        </p:spPr>
        <p:txBody>
          <a:bodyPr wrap="square" lIns="45720" tIns="18288" rIns="45720" bIns="18288" anchor="t">
            <a:spAutoFit/>
          </a:bodyPr>
          <a:lstStyle/>
          <a:p>
            <a:pPr algn="ctr">
              <a:spcAft>
                <a:spcPts val="0"/>
              </a:spcAft>
            </a:pPr>
            <a:r>
              <a:rPr lang="en-US" sz="2400" b="1">
                <a:solidFill>
                  <a:srgbClr val="082B52"/>
                </a:solidFill>
                <a:latin typeface="Arial" panose="020B0604020202020204" pitchFamily="34" charset="0"/>
                <a:ea typeface="Yu Gothic"/>
              </a:rPr>
              <a:t>ΔT follows the within-orbit variation</a:t>
            </a:r>
            <a:endParaRPr lang="en-US" sz="2400" b="1" dirty="0">
              <a:solidFill>
                <a:srgbClr val="082B52"/>
              </a:solidFill>
              <a:latin typeface="Arial" panose="020B0604020202020204" pitchFamily="34" charset="0"/>
              <a:ea typeface="Yu Gothic"/>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4C12-E688-3234-11EE-84279FCAE88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15655D-FB01-D7FE-B392-D40F7A726B1D}"/>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04</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91072FE8-9762-C1D9-B16C-FDDCF6AD4DC9}"/>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Coarse-acquisition evaluation</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C0939AEC-4843-4E06-1AA6-DC8D5822303E}"/>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896331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conditions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Acquire when the scan-corrected target enters the detection circle</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18</a:t>
            </a:r>
            <a:endParaRPr sz="1800" b="0" dirty="0">
              <a:solidFill>
                <a:srgbClr val="666F79"/>
              </a:solidFill>
              <a:latin typeface="Arial" panose="020B0604020202020204" pitchFamily="34" charset="0"/>
              <a:ea typeface="Yu Gothic"/>
            </a:endParaRP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err="1">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5955485"/>
            <a:ext cx="3895344" cy="378565"/>
          </a:xfrm>
          <a:prstGeom prst="rect">
            <a:avLst/>
          </a:prstGeom>
          <a:noFill/>
        </p:spPr>
        <p:txBody>
          <a:bodyPr wrap="square" lIns="36576" tIns="27432" rIns="36576" bIns="27432" anchor="ctr">
            <a:spAutoFit/>
          </a:bodyPr>
          <a:lstStyle/>
          <a:p>
            <a:pPr algn="ctr">
              <a:spcAft>
                <a:spcPts val="0"/>
              </a:spcAft>
            </a:pPr>
            <a:r>
              <a:rPr lang="en-US" sz="2100" b="1">
                <a:solidFill>
                  <a:srgbClr val="FFFFFF"/>
                </a:solidFill>
                <a:latin typeface="Arial" panose="020B0604020202020204" pitchFamily="34" charset="0"/>
                <a:ea typeface="Yu Gothic"/>
              </a:rPr>
              <a:t>Thermal LOS truth</a:t>
            </a:r>
            <a:endParaRPr lang="en-US" sz="2100" b="1" dirty="0">
              <a:solidFill>
                <a:srgbClr val="FFFFFF"/>
              </a:solidFill>
              <a:latin typeface="Arial" panose="020B0604020202020204" pitchFamily="34" charset="0"/>
              <a:ea typeface="Yu Gothic"/>
            </a:endParaRP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81912" y="7331657"/>
            <a:ext cx="3895344" cy="378565"/>
          </a:xfrm>
          <a:prstGeom prst="rect">
            <a:avLst/>
          </a:prstGeom>
          <a:noFill/>
        </p:spPr>
        <p:txBody>
          <a:bodyPr wrap="square" lIns="36576" tIns="27432" rIns="36576" bIns="27432" anchor="ctr">
            <a:spAutoFit/>
          </a:bodyPr>
          <a:lstStyle/>
          <a:p>
            <a:pPr algn="ctr">
              <a:spcAft>
                <a:spcPts val="0"/>
              </a:spcAft>
            </a:pPr>
            <a:r>
              <a:rPr lang="en-US" sz="2100" b="1" dirty="0">
                <a:solidFill>
                  <a:srgbClr val="FFFFFF"/>
                </a:solidFill>
                <a:latin typeface="Arial" panose="020B0604020202020204" pitchFamily="34" charset="0"/>
                <a:ea typeface="Yu Gothic"/>
              </a:rPr>
              <a:t>Predicted thermal LOS</a:t>
            </a: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19288" y="7217357"/>
            <a:ext cx="3895344" cy="378565"/>
          </a:xfrm>
          <a:prstGeom prst="rect">
            <a:avLst/>
          </a:prstGeom>
          <a:noFill/>
        </p:spPr>
        <p:txBody>
          <a:bodyPr wrap="square" lIns="36576" tIns="27432" rIns="36576" bIns="27432" anchor="ctr">
            <a:spAutoFit/>
          </a:bodyPr>
          <a:lstStyle/>
          <a:p>
            <a:pPr algn="ctr">
              <a:spcAft>
                <a:spcPts val="0"/>
              </a:spcAft>
            </a:pPr>
            <a:r>
              <a:rPr lang="en-US" sz="2100" b="1">
                <a:solidFill>
                  <a:srgbClr val="FFFFFF"/>
                </a:solidFill>
                <a:latin typeface="Arial" panose="020B0604020202020204" pitchFamily="34" charset="0"/>
                <a:ea typeface="Yu Gothic"/>
              </a:rPr>
              <a:t>Scan-center residual</a:t>
            </a:r>
            <a:endParaRPr lang="en-US" sz="2100" b="1" dirty="0">
              <a:solidFill>
                <a:srgbClr val="FFFFFF"/>
              </a:solidFill>
              <a:latin typeface="Arial" panose="020B0604020202020204" pitchFamily="34" charset="0"/>
              <a:ea typeface="Yu Gothic"/>
            </a:endParaRP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149072" y="7217357"/>
            <a:ext cx="3895344" cy="378565"/>
          </a:xfrm>
          <a:prstGeom prst="rect">
            <a:avLst/>
          </a:prstGeom>
          <a:noFill/>
        </p:spPr>
        <p:txBody>
          <a:bodyPr wrap="square" lIns="36576" tIns="27432" rIns="36576" bIns="27432" anchor="ctr">
            <a:spAutoFit/>
          </a:bodyPr>
          <a:lstStyle/>
          <a:p>
            <a:pPr algn="ctr">
              <a:spcAft>
                <a:spcPts val="0"/>
              </a:spcAft>
            </a:pPr>
            <a:r>
              <a:rPr lang="en-US" sz="2100" b="1">
                <a:solidFill>
                  <a:srgbClr val="FFFFFF"/>
                </a:solidFill>
                <a:latin typeface="Arial" panose="020B0604020202020204" pitchFamily="34" charset="0"/>
                <a:ea typeface="Yu Gothic"/>
              </a:rPr>
              <a:t>Rectangular spiral scan</a:t>
            </a:r>
            <a:endParaRPr lang="en-US" sz="2100" b="1" dirty="0">
              <a:solidFill>
                <a:srgbClr val="FFFFFF"/>
              </a:solidFill>
              <a:latin typeface="Arial" panose="020B0604020202020204" pitchFamily="34" charset="0"/>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8214848" y="7217357"/>
            <a:ext cx="3895344" cy="378565"/>
          </a:xfrm>
          <a:prstGeom prst="rect">
            <a:avLst/>
          </a:prstGeom>
          <a:noFill/>
        </p:spPr>
        <p:txBody>
          <a:bodyPr wrap="square" lIns="36576" tIns="27432" rIns="36576" bIns="27432" anchor="ctr">
            <a:spAutoFit/>
          </a:bodyPr>
          <a:lstStyle/>
          <a:p>
            <a:pPr algn="ctr">
              <a:spcAft>
                <a:spcPts val="0"/>
              </a:spcAft>
            </a:pPr>
            <a:r>
              <a:rPr lang="en-US" sz="2100" b="1">
                <a:solidFill>
                  <a:srgbClr val="FFFFFF"/>
                </a:solidFill>
                <a:latin typeface="Arial" panose="020B0604020202020204" pitchFamily="34" charset="0"/>
                <a:ea typeface="Yu Gothic"/>
              </a:rPr>
              <a:t>Acquisition success and time</a:t>
            </a:r>
            <a:endParaRPr lang="en-US" sz="2100" b="1" dirty="0">
              <a:solidFill>
                <a:srgbClr val="FFFFFF"/>
              </a:solidFill>
              <a:latin typeface="Arial" panose="020B0604020202020204" pitchFamily="34" charset="0"/>
              <a:ea typeface="Yu Gothic"/>
            </a:endParaRPr>
          </a:p>
        </p:txBody>
      </p:sp>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en-US" altLang="ja-JP" dirty="0">
                <a:latin typeface="Arial" panose="020B0604020202020204" pitchFamily="34" charset="0"/>
              </a:rPr>
              <a:t>Orbit, attitude, and other</a:t>
            </a:r>
          </a:p>
          <a:p>
            <a:pPr algn="ctr"/>
            <a:r>
              <a:rPr lang="en-US" altLang="ja-JP" dirty="0">
                <a:latin typeface="Arial" panose="020B0604020202020204" pitchFamily="34" charset="0"/>
              </a:rPr>
              <a:t>nonthermal errors</a:t>
            </a:r>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en-US" altLang="ja-JP">
                <a:latin typeface="Arial" panose="020B0604020202020204" pitchFamily="34" charset="0"/>
              </a:rPr>
              <a:t>Thermal LOS truth</a:t>
            </a:r>
            <a:endParaRPr lang="en-US" altLang="ja-JP" dirty="0">
              <a:latin typeface="Arial" panose="020B0604020202020204" pitchFamily="34" charset="0"/>
            </a:endParaRP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en-US" altLang="ja-JP">
                <a:latin typeface="Arial" panose="020B0604020202020204" pitchFamily="34" charset="0"/>
              </a:rPr>
              <a:t>Predicted thermal LOS</a:t>
            </a:r>
            <a:endParaRPr lang="en-US" altLang="ja-JP" dirty="0">
              <a:latin typeface="Arial" panose="020B0604020202020204" pitchFamily="34" charset="0"/>
            </a:endParaRPr>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en-US" altLang="ja-JP">
                <a:latin typeface="Arial" panose="020B0604020202020204" pitchFamily="34" charset="0"/>
              </a:rPr>
              <a:t>Scan-center error</a:t>
            </a:r>
            <a:endParaRPr lang="en-US" altLang="ja-JP" dirty="0">
              <a:latin typeface="Arial" panose="020B0604020202020204" pitchFamily="34" charset="0"/>
            </a:endParaRP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latin typeface="Arial" panose="020B0604020202020204" pitchFamily="34" charset="0"/>
              </a:rPr>
              <a:t>PAT flow</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en-US" altLang="ja-JP" sz="2800">
                <a:latin typeface="Arial" panose="020B0604020202020204" pitchFamily="34" charset="0"/>
              </a:rPr>
              <a:t>Residual</a:t>
            </a:r>
            <a:endParaRPr kumimoji="1" lang="en-US" altLang="ja-JP" sz="2800" dirty="0">
              <a:latin typeface="Arial" panose="020B0604020202020204" pitchFamily="34" charset="0"/>
            </a:endParaRP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1581912" y="8582822"/>
            <a:ext cx="3895344" cy="701731"/>
          </a:xfrm>
          <a:prstGeom prst="rect">
            <a:avLst/>
          </a:prstGeom>
          <a:noFill/>
        </p:spPr>
        <p:txBody>
          <a:bodyPr wrap="square" lIns="36576" tIns="27432" rIns="36576" bIns="27432" anchor="ctr">
            <a:spAutoFit/>
          </a:bodyPr>
          <a:lstStyle/>
          <a:p>
            <a:pPr algn="ctr">
              <a:spcAft>
                <a:spcPts val="0"/>
              </a:spcAft>
            </a:pPr>
            <a:r>
              <a:rPr lang="en-US" sz="2100" b="1">
                <a:solidFill>
                  <a:srgbClr val="FFFFFF"/>
                </a:solidFill>
                <a:latin typeface="Arial" panose="020B0604020202020204" pitchFamily="34" charset="0"/>
                <a:ea typeface="Yu Gothic"/>
              </a:rPr>
              <a:t>Nonthermal errors</a:t>
            </a:r>
          </a:p>
          <a:p>
            <a:pPr algn="ctr">
              <a:spcAft>
                <a:spcPts val="0"/>
              </a:spcAft>
            </a:pPr>
            <a:r>
              <a:rPr lang="en-US" sz="2100" b="1">
                <a:solidFill>
                  <a:srgbClr val="FFFFFF"/>
                </a:solidFill>
                <a:latin typeface="Arial" panose="020B0604020202020204" pitchFamily="34" charset="0"/>
                <a:ea typeface="Yu Gothic"/>
              </a:rPr>
              <a:t>(orbit, attitude, etc.)</a:t>
            </a:r>
            <a:endParaRPr lang="en-US" sz="2100" b="1" dirty="0">
              <a:solidFill>
                <a:srgbClr val="FFFFFF"/>
              </a:solidFill>
              <a:latin typeface="Arial" panose="020B0604020202020204" pitchFamily="34" charset="0"/>
              <a:ea typeface="Yu Gothic"/>
            </a:endParaRP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234440"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344168" y="9720072"/>
            <a:ext cx="3758183" cy="437043"/>
          </a:xfrm>
          <a:prstGeom prst="rect">
            <a:avLst/>
          </a:prstGeom>
          <a:noFill/>
        </p:spPr>
        <p:txBody>
          <a:bodyPr wrap="square" lIns="45720" tIns="18288" rIns="45720" bIns="18288" anchor="t">
            <a:spAutoFit/>
          </a:bodyPr>
          <a:lstStyle/>
          <a:p>
            <a:pPr algn="ctr">
              <a:spcAft>
                <a:spcPts val="0"/>
              </a:spcAft>
            </a:pPr>
            <a:r>
              <a:rPr lang="en-US" sz="2600" b="1">
                <a:solidFill>
                  <a:srgbClr val="1B74AA"/>
                </a:solidFill>
                <a:latin typeface="Arial" panose="020B0604020202020204" pitchFamily="34" charset="0"/>
                <a:ea typeface="Yu Gothic"/>
              </a:rPr>
              <a:t>±1600 µrad</a:t>
            </a:r>
            <a:endParaRPr lang="en-US" sz="2600" b="1" dirty="0">
              <a:solidFill>
                <a:srgbClr val="1B74AA"/>
              </a:solidFill>
              <a:latin typeface="Arial" panose="020B0604020202020204" pitchFamily="34" charset="0"/>
              <a:ea typeface="Yu Gothic"/>
            </a:endParaRPr>
          </a:p>
        </p:txBody>
      </p:sp>
      <p:sp>
        <p:nvSpPr>
          <p:cNvPr id="62" name="TextBox 61"/>
          <p:cNvSpPr txBox="1"/>
          <p:nvPr/>
        </p:nvSpPr>
        <p:spPr>
          <a:xfrm>
            <a:off x="1344168" y="10554004"/>
            <a:ext cx="3758183"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Scan range</a:t>
            </a:r>
            <a:endParaRPr lang="en-US" sz="1800" b="0" dirty="0">
              <a:solidFill>
                <a:srgbClr val="666F79"/>
              </a:solidFill>
              <a:latin typeface="Arial" panose="020B0604020202020204" pitchFamily="34" charset="0"/>
              <a:ea typeface="Yu Gothic"/>
            </a:endParaRPr>
          </a:p>
        </p:txBody>
      </p:sp>
      <p:sp>
        <p:nvSpPr>
          <p:cNvPr id="63" name="Rounded Rectangle 62"/>
          <p:cNvSpPr/>
          <p:nvPr/>
        </p:nvSpPr>
        <p:spPr>
          <a:xfrm>
            <a:off x="5669279" y="9555480"/>
            <a:ext cx="3977639" cy="178308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5779007" y="9720072"/>
            <a:ext cx="3758183" cy="437043"/>
          </a:xfrm>
          <a:prstGeom prst="rect">
            <a:avLst/>
          </a:prstGeom>
          <a:noFill/>
        </p:spPr>
        <p:txBody>
          <a:bodyPr wrap="square" lIns="45720" tIns="18288" rIns="45720" bIns="18288" anchor="t">
            <a:spAutoFit/>
          </a:bodyPr>
          <a:lstStyle/>
          <a:p>
            <a:pPr algn="ctr">
              <a:spcAft>
                <a:spcPts val="0"/>
              </a:spcAft>
            </a:pPr>
            <a:r>
              <a:rPr lang="en-US" sz="2600" b="1">
                <a:solidFill>
                  <a:srgbClr val="1B74AA"/>
                </a:solidFill>
                <a:latin typeface="Arial" panose="020B0604020202020204" pitchFamily="34" charset="0"/>
                <a:ea typeface="Yu Gothic"/>
              </a:rPr>
              <a:t>120 µrad</a:t>
            </a:r>
            <a:endParaRPr lang="en-US" sz="2600" b="1" dirty="0">
              <a:solidFill>
                <a:srgbClr val="1B74AA"/>
              </a:solidFill>
              <a:latin typeface="Arial" panose="020B0604020202020204" pitchFamily="34" charset="0"/>
              <a:ea typeface="Yu Gothic"/>
            </a:endParaRPr>
          </a:p>
        </p:txBody>
      </p:sp>
      <p:sp>
        <p:nvSpPr>
          <p:cNvPr id="65" name="TextBox 64"/>
          <p:cNvSpPr txBox="1"/>
          <p:nvPr/>
        </p:nvSpPr>
        <p:spPr>
          <a:xfrm>
            <a:off x="5779007" y="10554004"/>
            <a:ext cx="3758183"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Scan step</a:t>
            </a:r>
            <a:endParaRPr lang="en-US" sz="1800" b="0" dirty="0">
              <a:solidFill>
                <a:srgbClr val="666F79"/>
              </a:solidFill>
              <a:latin typeface="Arial" panose="020B0604020202020204" pitchFamily="34" charset="0"/>
              <a:ea typeface="Yu Gothic"/>
            </a:endParaRPr>
          </a:p>
        </p:txBody>
      </p:sp>
      <p:sp>
        <p:nvSpPr>
          <p:cNvPr id="66" name="Rounded Rectangle 65"/>
          <p:cNvSpPr/>
          <p:nvPr/>
        </p:nvSpPr>
        <p:spPr>
          <a:xfrm>
            <a:off x="1010411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10213847" y="9720072"/>
            <a:ext cx="3758183" cy="437043"/>
          </a:xfrm>
          <a:prstGeom prst="rect">
            <a:avLst/>
          </a:prstGeom>
          <a:noFill/>
        </p:spPr>
        <p:txBody>
          <a:bodyPr wrap="square" lIns="45720" tIns="18288" rIns="45720" bIns="18288" anchor="t">
            <a:spAutoFit/>
          </a:bodyPr>
          <a:lstStyle/>
          <a:p>
            <a:pPr algn="ctr">
              <a:spcAft>
                <a:spcPts val="0"/>
              </a:spcAft>
            </a:pPr>
            <a:r>
              <a:rPr lang="en-US" sz="2600" b="1">
                <a:solidFill>
                  <a:srgbClr val="239571"/>
                </a:solidFill>
                <a:latin typeface="Arial" panose="020B0604020202020204" pitchFamily="34" charset="0"/>
                <a:ea typeface="Yu Gothic"/>
              </a:rPr>
              <a:t>150 µrad</a:t>
            </a:r>
            <a:endParaRPr lang="en-US" sz="2600" b="1" dirty="0">
              <a:solidFill>
                <a:srgbClr val="239571"/>
              </a:solidFill>
              <a:latin typeface="Arial" panose="020B0604020202020204" pitchFamily="34" charset="0"/>
              <a:ea typeface="Yu Gothic"/>
            </a:endParaRPr>
          </a:p>
        </p:txBody>
      </p:sp>
      <p:sp>
        <p:nvSpPr>
          <p:cNvPr id="68" name="TextBox 67"/>
          <p:cNvSpPr txBox="1"/>
          <p:nvPr/>
        </p:nvSpPr>
        <p:spPr>
          <a:xfrm>
            <a:off x="10213847" y="10554004"/>
            <a:ext cx="3758183"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Detection radius (beacon scale)</a:t>
            </a:r>
            <a:endParaRPr lang="en-US" sz="1800" b="0" dirty="0">
              <a:solidFill>
                <a:srgbClr val="666F79"/>
              </a:solidFill>
              <a:latin typeface="Arial" panose="020B0604020202020204" pitchFamily="34" charset="0"/>
              <a:ea typeface="Yu Gothic"/>
            </a:endParaRPr>
          </a:p>
        </p:txBody>
      </p:sp>
      <p:sp>
        <p:nvSpPr>
          <p:cNvPr id="69" name="Rounded Rectangle 68"/>
          <p:cNvSpPr/>
          <p:nvPr/>
        </p:nvSpPr>
        <p:spPr>
          <a:xfrm>
            <a:off x="14538959"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14648688" y="9720072"/>
            <a:ext cx="3758183" cy="437043"/>
          </a:xfrm>
          <a:prstGeom prst="rect">
            <a:avLst/>
          </a:prstGeom>
          <a:noFill/>
        </p:spPr>
        <p:txBody>
          <a:bodyPr wrap="square" lIns="45720" tIns="18288" rIns="45720" bIns="18288" anchor="t">
            <a:spAutoFit/>
          </a:bodyPr>
          <a:lstStyle/>
          <a:p>
            <a:pPr algn="ctr">
              <a:spcAft>
                <a:spcPts val="0"/>
              </a:spcAft>
            </a:pPr>
            <a:r>
              <a:rPr lang="en-US" sz="2600" b="1">
                <a:solidFill>
                  <a:srgbClr val="239571"/>
                </a:solidFill>
                <a:latin typeface="Arial" panose="020B0604020202020204" pitchFamily="34" charset="0"/>
                <a:ea typeface="Yu Gothic"/>
              </a:rPr>
              <a:t>0.1 s / point</a:t>
            </a:r>
            <a:endParaRPr lang="en-US" sz="2600" b="1" dirty="0">
              <a:solidFill>
                <a:srgbClr val="239571"/>
              </a:solidFill>
              <a:latin typeface="Arial" panose="020B0604020202020204" pitchFamily="34" charset="0"/>
              <a:ea typeface="Yu Gothic"/>
            </a:endParaRPr>
          </a:p>
        </p:txBody>
      </p:sp>
      <p:sp>
        <p:nvSpPr>
          <p:cNvPr id="71" name="TextBox 70"/>
          <p:cNvSpPr txBox="1"/>
          <p:nvPr/>
        </p:nvSpPr>
        <p:spPr>
          <a:xfrm>
            <a:off x="14648688" y="10554004"/>
            <a:ext cx="3758183"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Dwell time</a:t>
            </a:r>
            <a:endParaRPr lang="en-US" sz="1800" b="0" dirty="0">
              <a:solidFill>
                <a:srgbClr val="666F79"/>
              </a:solidFill>
              <a:latin typeface="Arial" panose="020B0604020202020204" pitchFamily="34" charset="0"/>
              <a:ea typeface="Yu Gothic"/>
            </a:endParaRPr>
          </a:p>
        </p:txBody>
      </p:sp>
      <p:sp>
        <p:nvSpPr>
          <p:cNvPr id="72" name="Rounded Rectangle 71"/>
          <p:cNvSpPr/>
          <p:nvPr/>
        </p:nvSpPr>
        <p:spPr>
          <a:xfrm>
            <a:off x="18973800" y="9555480"/>
            <a:ext cx="3977639" cy="178308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19083528" y="9720072"/>
            <a:ext cx="3758183" cy="437043"/>
          </a:xfrm>
          <a:prstGeom prst="rect">
            <a:avLst/>
          </a:prstGeom>
          <a:noFill/>
        </p:spPr>
        <p:txBody>
          <a:bodyPr wrap="square" lIns="45720" tIns="18288" rIns="45720" bIns="18288" anchor="t">
            <a:spAutoFit/>
          </a:bodyPr>
          <a:lstStyle/>
          <a:p>
            <a:pPr algn="ctr">
              <a:spcAft>
                <a:spcPts val="0"/>
              </a:spcAft>
            </a:pPr>
            <a:r>
              <a:rPr lang="en-US" sz="2600" b="1">
                <a:solidFill>
                  <a:srgbClr val="239571"/>
                </a:solidFill>
                <a:latin typeface="Arial" panose="020B0604020202020204" pitchFamily="34" charset="0"/>
                <a:ea typeface="Yu Gothic"/>
              </a:rPr>
              <a:t>27 × 27 = 729 points</a:t>
            </a:r>
            <a:endParaRPr lang="en-US" sz="2600" b="1" dirty="0">
              <a:solidFill>
                <a:srgbClr val="239571"/>
              </a:solidFill>
              <a:latin typeface="Arial" panose="020B0604020202020204" pitchFamily="34" charset="0"/>
              <a:ea typeface="Yu Gothic"/>
            </a:endParaRPr>
          </a:p>
        </p:txBody>
      </p:sp>
      <p:sp>
        <p:nvSpPr>
          <p:cNvPr id="74" name="TextBox 73"/>
          <p:cNvSpPr txBox="1"/>
          <p:nvPr/>
        </p:nvSpPr>
        <p:spPr>
          <a:xfrm>
            <a:off x="19083528" y="10554004"/>
            <a:ext cx="3758183" cy="307648"/>
          </a:xfrm>
          <a:prstGeom prst="rect">
            <a:avLst/>
          </a:prstGeom>
          <a:noFill/>
        </p:spPr>
        <p:txBody>
          <a:bodyPr wrap="square" lIns="45720" tIns="18288" rIns="45720" bIns="18288" anchor="t">
            <a:spAutoFit/>
          </a:bodyPr>
          <a:lstStyle/>
          <a:p>
            <a:pPr algn="ctr">
              <a:lnSpc>
                <a:spcPct val="105000"/>
              </a:lnSpc>
              <a:spcAft>
                <a:spcPts val="0"/>
              </a:spcAft>
            </a:pPr>
            <a:r>
              <a:rPr lang="en-US" sz="1800" b="0">
                <a:solidFill>
                  <a:srgbClr val="666F79"/>
                </a:solidFill>
                <a:latin typeface="Arial" panose="020B0604020202020204" pitchFamily="34" charset="0"/>
                <a:ea typeface="Yu Gothic"/>
              </a:rPr>
              <a:t>Maximum number of scan points</a:t>
            </a:r>
            <a:endParaRPr lang="en-US" sz="1800" b="0" dirty="0">
              <a:solidFill>
                <a:srgbClr val="666F79"/>
              </a:solidFill>
              <a:latin typeface="Arial" panose="020B0604020202020204" pitchFamily="34" charset="0"/>
              <a:ea typeface="Yu Gothic"/>
            </a:endParaRPr>
          </a:p>
        </p:txBody>
      </p:sp>
      <p:sp>
        <p:nvSpPr>
          <p:cNvPr id="75" name="TextBox 74"/>
          <p:cNvSpPr txBox="1"/>
          <p:nvPr/>
        </p:nvSpPr>
        <p:spPr>
          <a:xfrm>
            <a:off x="1234440" y="11539728"/>
            <a:ext cx="21488400" cy="421654"/>
          </a:xfrm>
          <a:prstGeom prst="rect">
            <a:avLst/>
          </a:prstGeom>
          <a:noFill/>
        </p:spPr>
        <p:txBody>
          <a:bodyPr wrap="square" lIns="45720" tIns="18288" rIns="45720" bIns="18288" anchor="t">
            <a:spAutoFit/>
          </a:bodyPr>
          <a:lstStyle/>
          <a:p>
            <a:pPr algn="ctr">
              <a:spcAft>
                <a:spcPts val="0"/>
              </a:spcAft>
            </a:pPr>
            <a:r>
              <a:rPr lang="en-US" sz="2500" b="1">
                <a:solidFill>
                  <a:srgbClr val="082B52"/>
                </a:solidFill>
                <a:latin typeface="Arial" panose="020B0604020202020204" pitchFamily="34" charset="0"/>
                <a:ea typeface="Yu Gothic"/>
              </a:rPr>
              <a:t>No coverage holes: half the grid diagonal ≈ 85 µrad &lt; 150 µrad detection radius</a:t>
            </a:r>
            <a:endParaRPr lang="en-US" sz="2500" b="1" dirty="0">
              <a:solidFill>
                <a:srgbClr val="082B52"/>
              </a:solidFill>
              <a:latin typeface="Arial" panose="020B0604020202020204" pitchFamily="34" charset="0"/>
              <a:ea typeface="Yu Gothic"/>
            </a:endParaRPr>
          </a:p>
        </p:txBody>
      </p:sp>
      <p:sp>
        <p:nvSpPr>
          <p:cNvPr id="76" name="TextBox 75"/>
          <p:cNvSpPr txBox="1"/>
          <p:nvPr/>
        </p:nvSpPr>
        <p:spPr>
          <a:xfrm>
            <a:off x="1234440" y="12088368"/>
            <a:ext cx="21488400" cy="375487"/>
          </a:xfrm>
          <a:prstGeom prst="rect">
            <a:avLst/>
          </a:prstGeom>
          <a:noFill/>
        </p:spPr>
        <p:txBody>
          <a:bodyPr wrap="square" lIns="45720" tIns="18288" rIns="45720" bIns="18288" anchor="t">
            <a:spAutoFit/>
          </a:bodyPr>
          <a:lstStyle/>
          <a:p>
            <a:pPr algn="ctr">
              <a:spcAft>
                <a:spcPts val="0"/>
              </a:spcAft>
            </a:pPr>
            <a:r>
              <a:rPr lang="en-US" sz="2200" b="0">
                <a:solidFill>
                  <a:srgbClr val="D03B46"/>
                </a:solidFill>
                <a:latin typeface="Arial" panose="020B0604020202020204" pitchFamily="34" charset="0"/>
                <a:ea typeface="Yu Gothic"/>
              </a:rPr>
              <a:t>Neglects inter-point slew, settling, and stochastic detection. Times are comparative under these scan conditions.</a:t>
            </a:r>
            <a:endParaRPr lang="en-US" sz="2200" b="0" dirty="0">
              <a:solidFill>
                <a:srgbClr val="D03B46"/>
              </a:solidFill>
              <a:latin typeface="Arial" panose="020B0604020202020204" pitchFamily="34" charset="0"/>
              <a:ea typeface="Yu Gothic"/>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conditions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Orbit prediction, alignment, attitude, and drift are added to the thermal error</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19</a:t>
            </a:r>
            <a:endParaRPr sz="1800" b="0" dirty="0">
              <a:solidFill>
                <a:srgbClr val="666F79"/>
              </a:solidFill>
              <a:latin typeface="Arial" panose="020B0604020202020204" pitchFamily="34" charset="0"/>
              <a:ea typeface="Yu Gothic"/>
            </a:endParaRP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227950797"/>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spcAft>
                          <a:spcPts val="0"/>
                        </a:spcAft>
                      </a:pPr>
                      <a:r>
                        <a:rPr lang="en-US" sz="2100" b="1">
                          <a:solidFill>
                            <a:srgbClr val="FFFFFF"/>
                          </a:solidFill>
                          <a:latin typeface="Arial" panose="020B0604020202020204" pitchFamily="34" charset="0"/>
                          <a:ea typeface="Yu Gothic"/>
                        </a:rPr>
                        <a:t>Component</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Construction</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Time behavior</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Magnitude</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lang="en-US" sz="2100" b="0">
                          <a:solidFill>
                            <a:srgbClr val="232B34"/>
                          </a:solidFill>
                          <a:latin typeface="Arial" panose="020B0604020202020204" pitchFamily="34" charset="0"/>
                          <a:ea typeface="Yu Gothic"/>
                        </a:rPr>
                        <a:t>Orbit prediction</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100" b="0">
                          <a:solidFill>
                            <a:srgbClr val="232B34"/>
                          </a:solidFill>
                          <a:latin typeface="Arial" panose="020B0604020202020204" pitchFamily="34" charset="0"/>
                          <a:ea typeface="Yu Gothic"/>
                        </a:rPr>
                        <a:t>Propagate the latest Sentinel-1 TLE; project error from precise POEORB onto the link transverse plane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Orbital period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Mean 280–700 µrad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spcAft>
                          <a:spcPts val="0"/>
                        </a:spcAft>
                      </a:pPr>
                      <a:r>
                        <a:rPr lang="en-US" sz="2100" b="0">
                          <a:solidFill>
                            <a:srgbClr val="232B34"/>
                          </a:solidFill>
                          <a:latin typeface="Arial" panose="020B0604020202020204" pitchFamily="34" charset="0"/>
                          <a:ea typeface="Yu Gothic"/>
                        </a:rPr>
                        <a:t>Alignment</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100" b="0" dirty="0">
                          <a:solidFill>
                            <a:srgbClr val="232B34"/>
                          </a:solidFill>
                          <a:latin typeface="Arial" panose="020B0604020202020204" pitchFamily="34" charset="0"/>
                          <a:ea typeface="Yu Gothic"/>
                        </a:rPr>
                        <a:t>Constant two-axis residual per case</a:t>
                      </a: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DC</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50 µrad/axis, 1σ</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spcAft>
                          <a:spcPts val="0"/>
                        </a:spcAft>
                      </a:pPr>
                      <a:r>
                        <a:rPr lang="en-US" sz="2100" b="0">
                          <a:solidFill>
                            <a:srgbClr val="232B34"/>
                          </a:solidFill>
                          <a:latin typeface="Arial" panose="020B0604020202020204" pitchFamily="34" charset="0"/>
                          <a:ea typeface="Yu Gothic"/>
                        </a:rPr>
                        <a:t>Attitude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100" b="0">
                          <a:solidFill>
                            <a:srgbClr val="232B34"/>
                          </a:solidFill>
                          <a:latin typeface="Arial" panose="020B0604020202020204" pitchFamily="34" charset="0"/>
                          <a:ea typeface="Yu Gothic"/>
                        </a:rPr>
                        <a:t>Gaussian random draw at each sample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Simplified broadband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50 µrad/axis, 1σ</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spcAft>
                          <a:spcPts val="0"/>
                        </a:spcAft>
                      </a:pPr>
                      <a:r>
                        <a:rPr lang="en-US" sz="2100" b="0">
                          <a:solidFill>
                            <a:srgbClr val="232B34"/>
                          </a:solidFill>
                          <a:latin typeface="Arial" panose="020B0604020202020204" pitchFamily="34" charset="0"/>
                          <a:ea typeface="Yu Gothic"/>
                        </a:rPr>
                        <a:t>Drift</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tc>
                  <a:txBody>
                    <a:bodyPr/>
                    <a:lstStyle/>
                    <a:p>
                      <a:pPr algn="ctr">
                        <a:spcAft>
                          <a:spcPts val="0"/>
                        </a:spcAft>
                      </a:pPr>
                      <a:r>
                        <a:rPr lang="en-US" sz="2100" b="0">
                          <a:solidFill>
                            <a:srgbClr val="232B34"/>
                          </a:solidFill>
                          <a:latin typeface="Arial" panose="020B0604020202020204" pitchFamily="34" charset="0"/>
                          <a:ea typeface="Yu Gothic"/>
                        </a:rPr>
                        <a:t>Sinusoid</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900 s period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dirty="0">
                          <a:solidFill>
                            <a:srgbClr val="232B34"/>
                          </a:solidFill>
                          <a:latin typeface="Arial" panose="020B0604020202020204" pitchFamily="34" charset="0"/>
                          <a:ea typeface="Yu Gothic"/>
                        </a:rPr>
                        <a:t>30 µrad amplitude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3632712" y="11141964"/>
            <a:ext cx="17116994" cy="470898"/>
          </a:xfrm>
          <a:prstGeom prst="rect">
            <a:avLst/>
          </a:prstGeom>
          <a:noFill/>
        </p:spPr>
        <p:txBody>
          <a:bodyPr wrap="none" lIns="36576" tIns="27432" rIns="36576" bIns="27432" anchor="t">
            <a:spAutoFit/>
          </a:bodyPr>
          <a:lstStyle/>
          <a:p>
            <a:pPr algn="ctr"/>
            <a:r>
              <a:rPr lang="en-US" sz="2700" b="1" dirty="0">
                <a:solidFill>
                  <a:srgbClr val="D03B46"/>
                </a:solidFill>
                <a:latin typeface="Arial" panose="020B0604020202020204" pitchFamily="34" charset="0"/>
              </a:rPr>
              <a:t>This is not a spacecraft-specific error budget; it represents a generic GNSS-denied small-LEO scenario.</a:t>
            </a:r>
          </a:p>
        </p:txBody>
      </p:sp>
      <p:sp>
        <p:nvSpPr>
          <p:cNvPr id="9" name="TextBox 8"/>
          <p:cNvSpPr txBox="1"/>
          <p:nvPr/>
        </p:nvSpPr>
        <p:spPr>
          <a:xfrm>
            <a:off x="1097280" y="10241280"/>
            <a:ext cx="22128480" cy="375487"/>
          </a:xfrm>
          <a:prstGeom prst="rect">
            <a:avLst/>
          </a:prstGeom>
          <a:noFill/>
        </p:spPr>
        <p:txBody>
          <a:bodyPr wrap="square" lIns="45720" tIns="18288" rIns="45720" bIns="18288" anchor="t">
            <a:spAutoFit/>
          </a:bodyPr>
          <a:lstStyle/>
          <a:p>
            <a:pPr algn="l">
              <a:spcAft>
                <a:spcPts val="0"/>
              </a:spcAft>
            </a:pPr>
            <a:r>
              <a:rPr lang="en-US" sz="2200" b="0">
                <a:solidFill>
                  <a:srgbClr val="666F79"/>
                </a:solidFill>
                <a:latin typeface="Arial" panose="020B0604020202020204" pitchFamily="34" charset="0"/>
                <a:ea typeface="Yu Gothic"/>
              </a:rPr>
              <a:t>One random seed per case; statistical spread is not evaluated.</a:t>
            </a:r>
            <a:endParaRPr lang="en-US" sz="2200" b="0" dirty="0">
              <a:solidFill>
                <a:srgbClr val="666F79"/>
              </a:solidFill>
              <a:latin typeface="Arial" panose="020B0604020202020204" pitchFamily="34" charset="0"/>
              <a:ea typeface="Yu Gothic"/>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Arial" panose="020B0604020202020204" pitchFamily="34" charset="0"/>
              <a:ea typeface="Yu Gothic"/>
            </a:endParaRPr>
          </a:p>
          <a:p>
            <a:pPr algn="l">
              <a:spcAft>
                <a:spcPts val="0"/>
              </a:spcAft>
            </a:pPr>
            <a:r>
              <a:rPr lang="en-US" sz="3100" b="1">
                <a:solidFill>
                  <a:srgbClr val="082B52"/>
                </a:solidFill>
                <a:latin typeface="Arial" panose="020B0604020202020204" pitchFamily="34" charset="0"/>
                <a:ea typeface="Yu Gothic"/>
              </a:rPr>
              <a:t>With thermal LOS error only, mean acquisition time drops from 14.6 to 0.10 s, matching thermal-truth correction</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20</a:t>
            </a:r>
            <a:endParaRPr sz="1800" b="0" dirty="0">
              <a:solidFill>
                <a:srgbClr val="666F79"/>
              </a:solidFill>
              <a:latin typeface="Arial" panose="020B0604020202020204" pitchFamily="34" charset="0"/>
              <a:ea typeface="Yu Gothic"/>
            </a:endParaRPr>
          </a:p>
        </p:txBody>
      </p:sp>
      <p:sp>
        <p:nvSpPr>
          <p:cNvPr id="5" name="TextBox 4"/>
          <p:cNvSpPr txBox="1"/>
          <p:nvPr/>
        </p:nvSpPr>
        <p:spPr>
          <a:xfrm>
            <a:off x="1188720" y="3738678"/>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No correction</a:t>
            </a:r>
            <a:endParaRPr lang="en-US" sz="2300" b="0" dirty="0">
              <a:solidFill>
                <a:srgbClr val="232B34"/>
              </a:solidFill>
              <a:latin typeface="Arial" panose="020B0604020202020204" pitchFamily="34" charset="0"/>
              <a:ea typeface="Yu Gothic"/>
            </a:endParaRP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74637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D03B46"/>
                </a:solidFill>
                <a:latin typeface="Arial" panose="020B0604020202020204" pitchFamily="34" charset="0"/>
                <a:ea typeface="Yu Gothic"/>
              </a:rPr>
              <a:t>14.6 s</a:t>
            </a:r>
            <a:endParaRPr lang="en-US" sz="2200" b="1" dirty="0">
              <a:solidFill>
                <a:srgbClr val="D03B46"/>
              </a:solidFill>
              <a:latin typeface="Arial" panose="020B0604020202020204" pitchFamily="34" charset="0"/>
              <a:ea typeface="Yu Gothic"/>
            </a:endParaRPr>
          </a:p>
        </p:txBody>
      </p:sp>
      <p:sp>
        <p:nvSpPr>
          <p:cNvPr id="13" name="TextBox 12"/>
          <p:cNvSpPr txBox="1"/>
          <p:nvPr/>
        </p:nvSpPr>
        <p:spPr>
          <a:xfrm>
            <a:off x="1188720" y="5229150"/>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Hierarchical model</a:t>
            </a:r>
            <a:endParaRPr lang="en-US" sz="2300" b="0" dirty="0">
              <a:solidFill>
                <a:srgbClr val="232B34"/>
              </a:solidFill>
              <a:latin typeface="Arial" panose="020B0604020202020204" pitchFamily="34" charset="0"/>
              <a:ea typeface="Yu Gothic"/>
            </a:endParaRPr>
          </a:p>
        </p:txBody>
      </p:sp>
      <p:sp>
        <p:nvSpPr>
          <p:cNvPr id="14" name="Rectangle 13"/>
          <p:cNvSpPr/>
          <p:nvPr/>
        </p:nvSpPr>
        <p:spPr>
          <a:xfrm>
            <a:off x="5667451" y="48280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4828032"/>
            <a:ext cx="91440"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5236845"/>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239571"/>
                </a:solidFill>
                <a:latin typeface="Arial" panose="020B0604020202020204" pitchFamily="34" charset="0"/>
                <a:ea typeface="Yu Gothic"/>
              </a:rPr>
              <a:t>0.10 s</a:t>
            </a:r>
            <a:endParaRPr lang="en-US" sz="2200" b="1" dirty="0">
              <a:solidFill>
                <a:srgbClr val="239571"/>
              </a:solidFill>
              <a:latin typeface="Arial" panose="020B0604020202020204" pitchFamily="34" charset="0"/>
              <a:ea typeface="Yu Gothic"/>
            </a:endParaRPr>
          </a:p>
        </p:txBody>
      </p:sp>
      <p:sp>
        <p:nvSpPr>
          <p:cNvPr id="17" name="TextBox 16"/>
          <p:cNvSpPr txBox="1"/>
          <p:nvPr/>
        </p:nvSpPr>
        <p:spPr>
          <a:xfrm>
            <a:off x="1188720" y="6715049"/>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Thermal-truth upper bound</a:t>
            </a:r>
            <a:endParaRPr lang="en-US" sz="2300" b="0" dirty="0">
              <a:solidFill>
                <a:srgbClr val="232B34"/>
              </a:solidFill>
              <a:latin typeface="Arial" panose="020B0604020202020204" pitchFamily="34" charset="0"/>
              <a:ea typeface="Yu Gothic"/>
            </a:endParaRPr>
          </a:p>
        </p:txBody>
      </p:sp>
      <p:sp>
        <p:nvSpPr>
          <p:cNvPr id="18" name="Rectangle 17"/>
          <p:cNvSpPr/>
          <p:nvPr/>
        </p:nvSpPr>
        <p:spPr>
          <a:xfrm>
            <a:off x="5667451" y="63139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6313932"/>
            <a:ext cx="91440"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6722745"/>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1B74AA"/>
                </a:solidFill>
                <a:latin typeface="Arial" panose="020B0604020202020204" pitchFamily="34" charset="0"/>
                <a:ea typeface="Yu Gothic"/>
              </a:rPr>
              <a:t>0.10 s</a:t>
            </a:r>
            <a:endParaRPr lang="en-US" sz="2200" b="1" dirty="0">
              <a:solidFill>
                <a:srgbClr val="1B74AA"/>
              </a:solidFill>
              <a:latin typeface="Arial" panose="020B0604020202020204" pitchFamily="34" charset="0"/>
              <a:ea typeface="Yu Gothic"/>
            </a:endParaRPr>
          </a:p>
        </p:txBody>
      </p:sp>
      <p:graphicFrame>
        <p:nvGraphicFramePr>
          <p:cNvPr id="21" name="Table 20"/>
          <p:cNvGraphicFramePr>
            <a:graphicFrameLocks noGrp="1"/>
          </p:cNvGraphicFramePr>
          <p:nvPr>
            <p:extLst>
              <p:ext uri="{D42A27DB-BD31-4B8C-83A1-F6EECF244321}">
                <p14:modId xmlns:p14="http://schemas.microsoft.com/office/powerpoint/2010/main" val="2449627809"/>
              </p:ext>
            </p:extLst>
          </p:nvPr>
        </p:nvGraphicFramePr>
        <p:xfrm>
          <a:off x="16276320" y="3017520"/>
          <a:ext cx="6766560" cy="3950208"/>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spcAft>
                          <a:spcPts val="0"/>
                        </a:spcAft>
                      </a:pPr>
                      <a:r>
                        <a:rPr lang="en-US" sz="2000" b="1">
                          <a:solidFill>
                            <a:srgbClr val="FFFFFF"/>
                          </a:solidFill>
                          <a:latin typeface="Arial" panose="020B0604020202020204" pitchFamily="34" charset="0"/>
                          <a:ea typeface="Yu Gothic"/>
                        </a:rPr>
                        <a:t>Correction</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000" b="1">
                          <a:solidFill>
                            <a:srgbClr val="FFFFFF"/>
                          </a:solidFill>
                          <a:latin typeface="Arial" panose="020B0604020202020204" pitchFamily="34" charset="0"/>
                          <a:ea typeface="Yu Gothic"/>
                        </a:rPr>
                        <a:t>Success rate</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000" b="1">
                          <a:solidFill>
                            <a:srgbClr val="FFFFFF"/>
                          </a:solidFill>
                          <a:latin typeface="Arial" panose="020B0604020202020204" pitchFamily="34" charset="0"/>
                          <a:ea typeface="Yu Gothic"/>
                        </a:rPr>
                        <a:t>Mean acquisition time</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spcAft>
                          <a:spcPts val="0"/>
                        </a:spcAft>
                      </a:pPr>
                      <a:r>
                        <a:rPr lang="en-US" sz="2000" b="0">
                          <a:solidFill>
                            <a:srgbClr val="232B34"/>
                          </a:solidFill>
                          <a:latin typeface="Arial" panose="020B0604020202020204" pitchFamily="34" charset="0"/>
                          <a:ea typeface="Yu Gothic"/>
                        </a:rPr>
                        <a:t>No correction</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14.6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spcAft>
                          <a:spcPts val="0"/>
                        </a:spcAft>
                      </a:pPr>
                      <a:r>
                        <a:rPr lang="en-US" sz="2000" b="0">
                          <a:solidFill>
                            <a:srgbClr val="232B34"/>
                          </a:solidFill>
                          <a:latin typeface="Arial" panose="020B0604020202020204" pitchFamily="34" charset="0"/>
                          <a:ea typeface="Yu Gothic"/>
                        </a:rPr>
                        <a:t>Hierarchical model</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0.10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spcAft>
                          <a:spcPts val="0"/>
                        </a:spcAft>
                      </a:pPr>
                      <a:r>
                        <a:rPr lang="en-US" sz="2000" b="0">
                          <a:solidFill>
                            <a:srgbClr val="232B34"/>
                          </a:solidFill>
                          <a:latin typeface="Arial" panose="020B0604020202020204" pitchFamily="34" charset="0"/>
                          <a:ea typeface="Yu Gothic"/>
                        </a:rPr>
                        <a:t>Thermal truth</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000" b="0">
                          <a:solidFill>
                            <a:srgbClr val="232B34"/>
                          </a:solidFill>
                          <a:latin typeface="Arial" panose="020B0604020202020204" pitchFamily="34" charset="0"/>
                          <a:ea typeface="Yu Gothic"/>
                        </a:rPr>
                        <a:t>0.10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78620"/>
          </a:xfrm>
          <a:prstGeom prst="rect">
            <a:avLst/>
          </a:prstGeom>
          <a:noFill/>
        </p:spPr>
        <p:txBody>
          <a:bodyPr wrap="square" lIns="36576" tIns="27432" rIns="36576" bIns="27432" anchor="t">
            <a:spAutoFit/>
          </a:bodyPr>
          <a:lstStyle/>
          <a:p>
            <a:pPr algn="ctr">
              <a:spcAft>
                <a:spcPts val="0"/>
              </a:spcAft>
            </a:pPr>
            <a:r>
              <a:rPr lang="en-US" sz="3400" b="1">
                <a:solidFill>
                  <a:srgbClr val="239571"/>
                </a:solidFill>
                <a:latin typeface="Arial" panose="020B0604020202020204" pitchFamily="34" charset="0"/>
                <a:ea typeface="Yu Gothic"/>
              </a:rPr>
              <a:t>9.3 µrad</a:t>
            </a:r>
            <a:endParaRPr lang="en-US" sz="3400" b="1" dirty="0">
              <a:solidFill>
                <a:srgbClr val="239571"/>
              </a:solidFill>
              <a:latin typeface="Arial" panose="020B0604020202020204" pitchFamily="34" charset="0"/>
              <a:ea typeface="Yu Gothic"/>
            </a:endParaRPr>
          </a:p>
        </p:txBody>
      </p:sp>
      <p:sp>
        <p:nvSpPr>
          <p:cNvPr id="24" name="TextBox 23"/>
          <p:cNvSpPr txBox="1"/>
          <p:nvPr/>
        </p:nvSpPr>
        <p:spPr>
          <a:xfrm>
            <a:off x="16459200" y="9217152"/>
            <a:ext cx="6400800" cy="365760"/>
          </a:xfrm>
          <a:prstGeom prst="rect">
            <a:avLst/>
          </a:prstGeom>
          <a:noFill/>
        </p:spPr>
        <p:txBody>
          <a:bodyPr wrap="square" lIns="36576" tIns="27432" rIns="36576" bIns="27432" anchor="t">
            <a:spAutoFit/>
          </a:bodyPr>
          <a:lstStyle/>
          <a:p>
            <a:pPr algn="ctr">
              <a:spcAft>
                <a:spcPts val="0"/>
              </a:spcAft>
            </a:pPr>
            <a:r>
              <a:rPr lang="en-US" sz="2000" b="0">
                <a:solidFill>
                  <a:srgbClr val="666F79"/>
                </a:solidFill>
                <a:latin typeface="Arial" panose="020B0604020202020204" pitchFamily="34" charset="0"/>
                <a:ea typeface="Yu Gothic"/>
              </a:rPr>
              <a:t>Mean thermal residual after correction</a:t>
            </a:r>
            <a:endParaRPr lang="en-US" sz="2000" b="0" dirty="0">
              <a:solidFill>
                <a:srgbClr val="666F79"/>
              </a:solidFill>
              <a:latin typeface="Arial" panose="020B0604020202020204" pitchFamily="34" charset="0"/>
              <a:ea typeface="Yu Gothic"/>
            </a:endParaRPr>
          </a:p>
        </p:txBody>
      </p:sp>
      <p:sp>
        <p:nvSpPr>
          <p:cNvPr id="25" name="TextBox 24"/>
          <p:cNvSpPr txBox="1"/>
          <p:nvPr/>
        </p:nvSpPr>
        <p:spPr>
          <a:xfrm>
            <a:off x="2011680" y="10424160"/>
            <a:ext cx="20299680" cy="902683"/>
          </a:xfrm>
          <a:prstGeom prst="rect">
            <a:avLst/>
          </a:prstGeom>
          <a:noFill/>
        </p:spPr>
        <p:txBody>
          <a:bodyPr wrap="square" lIns="36576" tIns="27432" rIns="36576" bIns="27432" anchor="t">
            <a:spAutoFit/>
          </a:bodyPr>
          <a:lstStyle/>
          <a:p>
            <a:pPr algn="ctr">
              <a:lnSpc>
                <a:spcPct val="115000"/>
              </a:lnSpc>
              <a:spcAft>
                <a:spcPts val="0"/>
              </a:spcAft>
            </a:pPr>
            <a:r>
              <a:rPr lang="en-US" sz="2500" b="0">
                <a:solidFill>
                  <a:srgbClr val="666F79"/>
                </a:solidFill>
                <a:latin typeface="Arial" panose="020B0604020202020204" pitchFamily="34" charset="0"/>
                <a:ea typeface="Yu Gothic"/>
              </a:rPr>
              <a:t>The residual is far below the 150 µrad detection radius, so acquisition occurs in one dwell.</a:t>
            </a:r>
          </a:p>
          <a:p>
            <a:pPr algn="ctr">
              <a:lnSpc>
                <a:spcPct val="115000"/>
              </a:lnSpc>
              <a:spcAft>
                <a:spcPts val="0"/>
              </a:spcAft>
            </a:pPr>
            <a:r>
              <a:rPr lang="en-US" sz="2500" b="0">
                <a:solidFill>
                  <a:srgbClr val="666F79"/>
                </a:solidFill>
                <a:latin typeface="Arial" panose="020B0604020202020204" pitchFamily="34" charset="0"/>
                <a:ea typeface="Yu Gothic"/>
              </a:rPr>
              <a:t>Mean over 14 COLD baseline-surface cases; the main result includes nonthermal error on the next slide.</a:t>
            </a:r>
            <a:endParaRPr lang="en-US" sz="2500" b="0" dirty="0">
              <a:solidFill>
                <a:srgbClr val="666F79"/>
              </a:solidFill>
              <a:latin typeface="Arial" panose="020B0604020202020204" pitchFamily="34" charset="0"/>
              <a:ea typeface="Yu Gothic"/>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Arial" panose="020B0604020202020204" pitchFamily="34" charset="0"/>
              <a:ea typeface="Yu Gothic"/>
            </a:endParaRPr>
          </a:p>
          <a:p>
            <a:pPr algn="l">
              <a:spcAft>
                <a:spcPts val="0"/>
              </a:spcAft>
            </a:pPr>
            <a:r>
              <a:rPr lang="en-US" sz="3100" b="1">
                <a:solidFill>
                  <a:srgbClr val="082B52"/>
                </a:solidFill>
                <a:latin typeface="Arial" panose="020B0604020202020204" pitchFamily="34" charset="0"/>
                <a:ea typeface="Yu Gothic"/>
              </a:rPr>
              <a:t>With nonthermal LOS error, the mean drops from 19.2 to 5.45 s; the residual is governed by nonthermal error</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21</a:t>
            </a:r>
            <a:endParaRPr sz="1800" b="0" dirty="0">
              <a:solidFill>
                <a:srgbClr val="666F79"/>
              </a:solidFill>
              <a:latin typeface="Arial" panose="020B0604020202020204" pitchFamily="34" charset="0"/>
              <a:ea typeface="Yu Gothic"/>
            </a:endParaRPr>
          </a:p>
        </p:txBody>
      </p:sp>
      <p:sp>
        <p:nvSpPr>
          <p:cNvPr id="5" name="TextBox 4"/>
          <p:cNvSpPr txBox="1"/>
          <p:nvPr/>
        </p:nvSpPr>
        <p:spPr>
          <a:xfrm>
            <a:off x="1371600" y="3910128"/>
            <a:ext cx="4217212"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No correction</a:t>
            </a:r>
            <a:endParaRPr lang="en-US" sz="2300" b="0" dirty="0">
              <a:solidFill>
                <a:srgbClr val="232B34"/>
              </a:solidFill>
              <a:latin typeface="Arial" panose="020B0604020202020204" pitchFamily="34" charset="0"/>
              <a:ea typeface="Yu Gothic"/>
            </a:endParaRP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91782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D03B46"/>
                </a:solidFill>
                <a:latin typeface="Arial" panose="020B0604020202020204" pitchFamily="34" charset="0"/>
                <a:ea typeface="Yu Gothic"/>
              </a:rPr>
              <a:t>19.2 s</a:t>
            </a:r>
            <a:endParaRPr lang="en-US" sz="2200" b="1" dirty="0">
              <a:solidFill>
                <a:srgbClr val="D03B46"/>
              </a:solidFill>
              <a:latin typeface="Arial" panose="020B0604020202020204" pitchFamily="34" charset="0"/>
              <a:ea typeface="Yu Gothic"/>
            </a:endParaRPr>
          </a:p>
        </p:txBody>
      </p:sp>
      <p:sp>
        <p:nvSpPr>
          <p:cNvPr id="9" name="TextBox 8"/>
          <p:cNvSpPr txBox="1"/>
          <p:nvPr/>
        </p:nvSpPr>
        <p:spPr>
          <a:xfrm>
            <a:off x="1371600" y="5738928"/>
            <a:ext cx="4217212"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Hierarchical model</a:t>
            </a:r>
            <a:endParaRPr lang="en-US" sz="2300" b="0" dirty="0">
              <a:solidFill>
                <a:srgbClr val="232B34"/>
              </a:solidFill>
              <a:latin typeface="Arial" panose="020B0604020202020204" pitchFamily="34" charset="0"/>
              <a:ea typeface="Yu Gothic"/>
            </a:endParaRP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2424255"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74662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239571"/>
                </a:solidFill>
                <a:latin typeface="Arial" panose="020B0604020202020204" pitchFamily="34" charset="0"/>
                <a:ea typeface="Yu Gothic"/>
              </a:rPr>
              <a:t>5.45 s</a:t>
            </a:r>
            <a:endParaRPr lang="en-US" sz="2200" b="1" dirty="0">
              <a:solidFill>
                <a:srgbClr val="239571"/>
              </a:solidFill>
              <a:latin typeface="Arial" panose="020B0604020202020204" pitchFamily="34" charset="0"/>
              <a:ea typeface="Yu Gothic"/>
            </a:endParaRPr>
          </a:p>
        </p:txBody>
      </p:sp>
      <p:sp>
        <p:nvSpPr>
          <p:cNvPr id="13" name="Rounded Rectangle 12"/>
          <p:cNvSpPr/>
          <p:nvPr/>
        </p:nvSpPr>
        <p:spPr>
          <a:xfrm>
            <a:off x="16093440" y="4279392"/>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4407408"/>
            <a:ext cx="6492240" cy="578620"/>
          </a:xfrm>
          <a:prstGeom prst="rect">
            <a:avLst/>
          </a:prstGeom>
          <a:noFill/>
        </p:spPr>
        <p:txBody>
          <a:bodyPr wrap="square" lIns="36576" tIns="27432" rIns="36576" bIns="27432" anchor="t">
            <a:spAutoFit/>
          </a:bodyPr>
          <a:lstStyle/>
          <a:p>
            <a:pPr algn="ctr">
              <a:spcAft>
                <a:spcPts val="0"/>
              </a:spcAft>
            </a:pPr>
            <a:r>
              <a:rPr lang="en-US" sz="3400" b="1">
                <a:solidFill>
                  <a:srgbClr val="239571"/>
                </a:solidFill>
                <a:latin typeface="Arial" panose="020B0604020202020204" pitchFamily="34" charset="0"/>
                <a:ea typeface="Yu Gothic"/>
              </a:rPr>
              <a:t>−72%</a:t>
            </a:r>
            <a:endParaRPr lang="en-US" sz="3400" b="1" dirty="0">
              <a:solidFill>
                <a:srgbClr val="239571"/>
              </a:solidFill>
              <a:latin typeface="Arial" panose="020B0604020202020204" pitchFamily="34" charset="0"/>
              <a:ea typeface="Yu Gothic"/>
            </a:endParaRPr>
          </a:p>
        </p:txBody>
      </p:sp>
      <p:sp>
        <p:nvSpPr>
          <p:cNvPr id="15" name="TextBox 14"/>
          <p:cNvSpPr txBox="1"/>
          <p:nvPr/>
        </p:nvSpPr>
        <p:spPr>
          <a:xfrm>
            <a:off x="16184880" y="5084064"/>
            <a:ext cx="6492240" cy="365760"/>
          </a:xfrm>
          <a:prstGeom prst="rect">
            <a:avLst/>
          </a:prstGeom>
          <a:noFill/>
        </p:spPr>
        <p:txBody>
          <a:bodyPr wrap="square" lIns="36576" tIns="27432" rIns="36576" bIns="27432" anchor="t">
            <a:spAutoFit/>
          </a:bodyPr>
          <a:lstStyle/>
          <a:p>
            <a:pPr algn="ctr">
              <a:spcAft>
                <a:spcPts val="0"/>
              </a:spcAft>
            </a:pPr>
            <a:r>
              <a:rPr lang="en-US" sz="2000" b="0">
                <a:solidFill>
                  <a:srgbClr val="666F79"/>
                </a:solidFill>
                <a:latin typeface="Arial" panose="020B0604020202020204" pitchFamily="34" charset="0"/>
                <a:ea typeface="Yu Gothic"/>
              </a:rPr>
              <a:t>Mean acquisition time</a:t>
            </a:r>
            <a:endParaRPr lang="en-US" sz="2000" b="0" dirty="0">
              <a:solidFill>
                <a:srgbClr val="666F79"/>
              </a:solidFill>
              <a:latin typeface="Arial" panose="020B0604020202020204" pitchFamily="34" charset="0"/>
              <a:ea typeface="Yu Gothic"/>
            </a:endParaRPr>
          </a:p>
        </p:txBody>
      </p:sp>
      <p:graphicFrame>
        <p:nvGraphicFramePr>
          <p:cNvPr id="19" name="Table 18"/>
          <p:cNvGraphicFramePr>
            <a:graphicFrameLocks noGrp="1"/>
          </p:cNvGraphicFramePr>
          <p:nvPr>
            <p:extLst>
              <p:ext uri="{D42A27DB-BD31-4B8C-83A1-F6EECF244321}">
                <p14:modId xmlns:p14="http://schemas.microsoft.com/office/powerpoint/2010/main" val="2224568494"/>
              </p:ext>
            </p:extLst>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spcAft>
                          <a:spcPts val="0"/>
                        </a:spcAft>
                      </a:pPr>
                      <a:r>
                        <a:rPr lang="en-US" sz="2100" b="1">
                          <a:solidFill>
                            <a:srgbClr val="FFFFFF"/>
                          </a:solidFill>
                          <a:latin typeface="Arial" panose="020B0604020202020204" pitchFamily="34" charset="0"/>
                          <a:ea typeface="Yu Gothic"/>
                        </a:rPr>
                        <a:t>Metric</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No correction</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Hierarchical model (feedforward)</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spcAft>
                          <a:spcPts val="0"/>
                        </a:spcAft>
                      </a:pPr>
                      <a:r>
                        <a:rPr lang="en-US" sz="2100" b="0">
                          <a:solidFill>
                            <a:srgbClr val="232B34"/>
                          </a:solidFill>
                          <a:latin typeface="Arial" panose="020B0604020202020204" pitchFamily="34" charset="0"/>
                          <a:ea typeface="Yu Gothic"/>
                        </a:rPr>
                        <a:t>Success rate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98%</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100%</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spcAft>
                          <a:spcPts val="0"/>
                        </a:spcAft>
                      </a:pPr>
                      <a:r>
                        <a:rPr lang="en-US" sz="2100" b="0">
                          <a:solidFill>
                            <a:srgbClr val="232B34"/>
                          </a:solidFill>
                          <a:latin typeface="Arial" panose="020B0604020202020204" pitchFamily="34" charset="0"/>
                          <a:ea typeface="Yu Gothic"/>
                        </a:rPr>
                        <a:t>Mean acquisition time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19.2 s</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5.45 s</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spcAft>
                          <a:spcPts val="0"/>
                        </a:spcAft>
                      </a:pPr>
                      <a:r>
                        <a:rPr lang="en-US" sz="2100" b="0">
                          <a:solidFill>
                            <a:srgbClr val="232B34"/>
                          </a:solidFill>
                          <a:latin typeface="Arial" panose="020B0604020202020204" pitchFamily="34" charset="0"/>
                          <a:ea typeface="Yu Gothic"/>
                        </a:rPr>
                        <a:t>Mean initial error after correction</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448 µrad (almost entirely nonthermal)</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spcAft>
                          <a:spcPts val="0"/>
                        </a:spcAft>
                      </a:pPr>
                      <a:r>
                        <a:rPr lang="en-US" sz="2100" b="0">
                          <a:solidFill>
                            <a:srgbClr val="232B34"/>
                          </a:solidFill>
                          <a:latin typeface="Arial" panose="020B0604020202020204" pitchFamily="34" charset="0"/>
                          <a:ea typeface="Yu Gothic"/>
                        </a:rPr>
                        <a:t>PY sun face (thermal ≈1.2 mrad)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37.3–39.5 s / 88–97%</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1.3–1.8 s / 100%</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1355566" y="11942141"/>
            <a:ext cx="21671280" cy="486287"/>
          </a:xfrm>
          <a:prstGeom prst="rect">
            <a:avLst/>
          </a:prstGeom>
          <a:noFill/>
        </p:spPr>
        <p:txBody>
          <a:bodyPr wrap="square" lIns="36576" tIns="27432" rIns="36576" bIns="27432" anchor="t">
            <a:spAutoFit/>
          </a:bodyPr>
          <a:lstStyle/>
          <a:p>
            <a:pPr algn="ctr"/>
            <a:r>
              <a:rPr lang="en-US" altLang="ja-JP" sz="2800" b="1">
                <a:latin typeface="Arial" panose="020B0604020202020204" pitchFamily="34" charset="0"/>
              </a:rPr>
              <a:t>Predicting and removing thermal error shifts the coarse-acquisition limit from thermal to nonthermal error</a:t>
            </a:r>
            <a:endParaRPr lang="en-US" altLang="ja-JP" sz="2800" dirty="0">
              <a:latin typeface="Arial" panose="020B0604020202020204" pitchFamily="34" charset="0"/>
            </a:endParaRPr>
          </a:p>
        </p:txBody>
      </p:sp>
      <p:sp>
        <p:nvSpPr>
          <p:cNvPr id="21" name="矢印: 左カーブ 20">
            <a:extLst>
              <a:ext uri="{FF2B5EF4-FFF2-40B4-BE49-F238E27FC236}">
                <a16:creationId xmlns:a16="http://schemas.microsoft.com/office/drawing/2014/main" id="{28E82314-7B25-09DF-EB76-43768EAEE202}"/>
              </a:ext>
            </a:extLst>
          </p:cNvPr>
          <p:cNvSpPr/>
          <p:nvPr/>
        </p:nvSpPr>
        <p:spPr>
          <a:xfrm>
            <a:off x="14977872" y="4535424"/>
            <a:ext cx="540340" cy="1009507"/>
          </a:xfrm>
          <a:prstGeom prst="curvedLeftArrow">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Arial" panose="020B0604020202020204" pitchFamily="34" charset="0"/>
              <a:ea typeface="Yu Gothic"/>
            </a:endParaRPr>
          </a:p>
          <a:p>
            <a:pPr algn="l">
              <a:lnSpc>
                <a:spcPct val="110000"/>
              </a:lnSpc>
              <a:spcAft>
                <a:spcPts val="0"/>
              </a:spcAft>
            </a:pPr>
            <a:r>
              <a:rPr lang="en-US" sz="3100" b="1">
                <a:solidFill>
                  <a:srgbClr val="082B52"/>
                </a:solidFill>
                <a:latin typeface="Arial" panose="020B0604020202020204" pitchFamily="34" charset="0"/>
                <a:ea typeface="Yu Gothic"/>
              </a:rPr>
              <a:t>Temperature prediction helps the first acquisition; residual updates lower the later-orbit floor</a:t>
            </a:r>
            <a:endParaRPr lang="en-US" sz="31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21</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3716000" cy="69494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fig_residual_update_comparison.png"/>
          <p:cNvPicPr>
            <a:picLocks noChangeAspect="1"/>
          </p:cNvPicPr>
          <p:nvPr/>
        </p:nvPicPr>
        <p:blipFill>
          <a:blip r:embed="rId3"/>
          <a:stretch>
            <a:fillRect/>
          </a:stretch>
        </p:blipFill>
        <p:spPr>
          <a:xfrm>
            <a:off x="1143000" y="3318510"/>
            <a:ext cx="13441680" cy="6347460"/>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1958290513"/>
              </p:ext>
            </p:extLst>
          </p:nvPr>
        </p:nvGraphicFramePr>
        <p:xfrm>
          <a:off x="15270480" y="3291840"/>
          <a:ext cx="8138160" cy="3017517"/>
        </p:xfrm>
        <a:graphic>
          <a:graphicData uri="http://schemas.openxmlformats.org/drawingml/2006/table">
            <a:tbl>
              <a:tblPr firstRow="1" bandRow="1">
                <a:tableStyleId>{5C22544A-7EE6-4342-B048-85BDC9FD1C3A}</a:tableStyleId>
              </a:tblPr>
              <a:tblGrid>
                <a:gridCol w="4295140">
                  <a:extLst>
                    <a:ext uri="{9D8B030D-6E8A-4147-A177-3AD203B41FA5}">
                      <a16:colId xmlns:a16="http://schemas.microsoft.com/office/drawing/2014/main" val="20000"/>
                    </a:ext>
                  </a:extLst>
                </a:gridCol>
                <a:gridCol w="1808480">
                  <a:extLst>
                    <a:ext uri="{9D8B030D-6E8A-4147-A177-3AD203B41FA5}">
                      <a16:colId xmlns:a16="http://schemas.microsoft.com/office/drawing/2014/main" val="20001"/>
                    </a:ext>
                  </a:extLst>
                </a:gridCol>
                <a:gridCol w="2034540">
                  <a:extLst>
                    <a:ext uri="{9D8B030D-6E8A-4147-A177-3AD203B41FA5}">
                      <a16:colId xmlns:a16="http://schemas.microsoft.com/office/drawing/2014/main" val="20002"/>
                    </a:ext>
                  </a:extLst>
                </a:gridCol>
              </a:tblGrid>
              <a:tr h="1005839">
                <a:tc>
                  <a:txBody>
                    <a:bodyPr/>
                    <a:lstStyle/>
                    <a:p>
                      <a:pPr algn="l">
                        <a:spcAft>
                          <a:spcPts val="0"/>
                        </a:spcAft>
                      </a:pPr>
                      <a:r>
                        <a:rPr lang="en-US" sz="2100" b="1">
                          <a:solidFill>
                            <a:srgbClr val="FFFFFF"/>
                          </a:solidFill>
                          <a:latin typeface="Arial" panose="020B0604020202020204" pitchFamily="34" charset="0"/>
                          <a:ea typeface="Yu Gothic"/>
                        </a:rPr>
                        <a:t>Case 16 (PY)</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First orbit</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Orbit 1 onward</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extLst>
                  <a:ext uri="{0D108BD9-81ED-4DB2-BD59-A6C34878D82A}">
                    <a16:rowId xmlns:a16="http://schemas.microsoft.com/office/drawing/2014/main" val="10000"/>
                  </a:ext>
                </a:extLst>
              </a:tr>
              <a:tr h="1005839">
                <a:tc>
                  <a:txBody>
                    <a:bodyPr/>
                    <a:lstStyle/>
                    <a:p>
                      <a:pPr algn="l">
                        <a:spcAft>
                          <a:spcPts val="0"/>
                        </a:spcAft>
                      </a:pPr>
                      <a:r>
                        <a:rPr lang="en-US" sz="2100" b="0">
                          <a:solidFill>
                            <a:srgbClr val="232B34"/>
                          </a:solidFill>
                          <a:latin typeface="Arial" panose="020B0604020202020204" pitchFamily="34" charset="0"/>
                          <a:ea typeface="Yu Gothic"/>
                        </a:rPr>
                        <a:t>Direct Fourier fit to total error</a:t>
                      </a:r>
                      <a:endParaRPr lang="en-US" sz="21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39.5 s</a:t>
                      </a:r>
                      <a:endParaRPr lang="en-US" sz="21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0.38 s</a:t>
                      </a:r>
                      <a:endParaRPr lang="en-US" sz="21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1"/>
                  </a:ext>
                </a:extLst>
              </a:tr>
              <a:tr h="1005839">
                <a:tc>
                  <a:txBody>
                    <a:bodyPr/>
                    <a:lstStyle/>
                    <a:p>
                      <a:pPr algn="l">
                        <a:spcAft>
                          <a:spcPts val="0"/>
                        </a:spcAft>
                      </a:pPr>
                      <a:r>
                        <a:rPr lang="en-US" sz="2100" b="0">
                          <a:solidFill>
                            <a:srgbClr val="232B34"/>
                          </a:solidFill>
                          <a:latin typeface="Arial" panose="020B0604020202020204" pitchFamily="34" charset="0"/>
                          <a:ea typeface="Yu Gothic"/>
                        </a:rPr>
                        <a:t>Hierarchical model + residual Fourier</a:t>
                      </a:r>
                      <a:endParaRPr lang="en-US" sz="21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1.47 s</a:t>
                      </a:r>
                      <a:endParaRPr lang="en-US" sz="21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0.40 s</a:t>
                      </a:r>
                      <a:endParaRPr lang="en-US" sz="21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2"/>
                  </a:ext>
                </a:extLst>
              </a:tr>
            </a:tbl>
          </a:graphicData>
        </a:graphic>
      </p:graphicFrame>
      <p:sp>
        <p:nvSpPr>
          <p:cNvPr id="8" name="Rounded Rectangle 7"/>
          <p:cNvSpPr/>
          <p:nvPr/>
        </p:nvSpPr>
        <p:spPr>
          <a:xfrm>
            <a:off x="15270480" y="6675120"/>
            <a:ext cx="813816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471647" y="6967728"/>
            <a:ext cx="7735824" cy="406265"/>
          </a:xfrm>
          <a:prstGeom prst="rect">
            <a:avLst/>
          </a:prstGeom>
          <a:noFill/>
        </p:spPr>
        <p:txBody>
          <a:bodyPr wrap="square" lIns="45720" tIns="18288" rIns="45720" bIns="18288" anchor="t">
            <a:spAutoFit/>
          </a:bodyPr>
          <a:lstStyle/>
          <a:p>
            <a:pPr algn="ctr">
              <a:spcAft>
                <a:spcPts val="0"/>
              </a:spcAft>
            </a:pPr>
            <a:r>
              <a:rPr lang="en-US" sz="2400" b="1">
                <a:solidFill>
                  <a:srgbClr val="EC9427"/>
                </a:solidFill>
                <a:latin typeface="Arial" panose="020B0604020202020204" pitchFamily="34" charset="0"/>
                <a:ea typeface="Yu Gothic"/>
              </a:rPr>
              <a:t>A constant residual update is insufficient</a:t>
            </a:r>
            <a:endParaRPr lang="en-US" sz="2400" b="1" dirty="0">
              <a:solidFill>
                <a:srgbClr val="EC9427"/>
              </a:solidFill>
              <a:latin typeface="Arial" panose="020B0604020202020204" pitchFamily="34" charset="0"/>
              <a:ea typeface="Yu Gothic"/>
            </a:endParaRPr>
          </a:p>
        </p:txBody>
      </p:sp>
      <p:sp>
        <p:nvSpPr>
          <p:cNvPr id="10" name="TextBox 9"/>
          <p:cNvSpPr txBox="1"/>
          <p:nvPr/>
        </p:nvSpPr>
        <p:spPr>
          <a:xfrm>
            <a:off x="15544800" y="7726679"/>
            <a:ext cx="7589520" cy="782458"/>
          </a:xfrm>
          <a:prstGeom prst="rect">
            <a:avLst/>
          </a:prstGeom>
          <a:noFill/>
        </p:spPr>
        <p:txBody>
          <a:bodyPr wrap="square" lIns="45720" tIns="18288" rIns="45720" bIns="18288" anchor="t">
            <a:spAutoFit/>
          </a:bodyPr>
          <a:lstStyle/>
          <a:p>
            <a:pPr algn="ctr">
              <a:lnSpc>
                <a:spcPct val="115000"/>
              </a:lnSpc>
              <a:spcAft>
                <a:spcPts val="0"/>
              </a:spcAft>
            </a:pPr>
            <a:r>
              <a:rPr lang="en-US" sz="2200" b="0">
                <a:solidFill>
                  <a:srgbClr val="232B34"/>
                </a:solidFill>
                <a:latin typeface="Arial" panose="020B0604020202020204" pitchFamily="34" charset="0"/>
                <a:ea typeface="Yu Gothic"/>
              </a:rPr>
              <a:t>Case 13, orbit 1 onward: 1.66 → 1.35 s;
above the 0.38 s Fourier result.</a:t>
            </a:r>
            <a:endParaRPr lang="en-US" sz="2200" b="0" dirty="0">
              <a:solidFill>
                <a:srgbClr val="232B34"/>
              </a:solidFill>
              <a:latin typeface="Arial" panose="020B0604020202020204" pitchFamily="34" charset="0"/>
              <a:ea typeface="Yu Gothic"/>
            </a:endParaRPr>
          </a:p>
        </p:txBody>
      </p:sp>
      <p:sp>
        <p:nvSpPr>
          <p:cNvPr id="11" name="Rounded Rectangle 10"/>
          <p:cNvSpPr/>
          <p:nvPr/>
        </p:nvSpPr>
        <p:spPr>
          <a:xfrm>
            <a:off x="15270480" y="9418320"/>
            <a:ext cx="8138160" cy="2743200"/>
          </a:xfrm>
          <a:prstGeom prst="roundRect">
            <a:avLst/>
          </a:prstGeom>
          <a:solidFill>
            <a:srgbClr val="F4F6F8"/>
          </a:solidFill>
          <a:ln w="22860">
            <a:solidFill>
              <a:srgbClr val="666F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471647" y="9710928"/>
            <a:ext cx="7735824" cy="406265"/>
          </a:xfrm>
          <a:prstGeom prst="rect">
            <a:avLst/>
          </a:prstGeom>
          <a:noFill/>
        </p:spPr>
        <p:txBody>
          <a:bodyPr wrap="square" lIns="45720" tIns="18288" rIns="45720" bIns="18288" anchor="t">
            <a:spAutoFit/>
          </a:bodyPr>
          <a:lstStyle/>
          <a:p>
            <a:pPr algn="ctr">
              <a:spcAft>
                <a:spcPts val="0"/>
              </a:spcAft>
            </a:pPr>
            <a:r>
              <a:rPr lang="en-US" sz="2400" b="1">
                <a:solidFill>
                  <a:srgbClr val="666F79"/>
                </a:solidFill>
                <a:latin typeface="Arial" panose="020B0604020202020204" pitchFamily="34" charset="0"/>
                <a:ea typeface="Yu Gothic"/>
              </a:rPr>
              <a:t>Scope of this section</a:t>
            </a:r>
            <a:endParaRPr lang="en-US" sz="2400" b="1" dirty="0">
              <a:solidFill>
                <a:srgbClr val="666F79"/>
              </a:solidFill>
              <a:latin typeface="Arial" panose="020B0604020202020204" pitchFamily="34" charset="0"/>
              <a:ea typeface="Yu Gothic"/>
            </a:endParaRPr>
          </a:p>
        </p:txBody>
      </p:sp>
      <p:sp>
        <p:nvSpPr>
          <p:cNvPr id="13" name="TextBox 12"/>
          <p:cNvSpPr txBox="1"/>
          <p:nvPr/>
        </p:nvSpPr>
        <p:spPr>
          <a:xfrm>
            <a:off x="15544800" y="10469880"/>
            <a:ext cx="7589520" cy="1120243"/>
          </a:xfrm>
          <a:prstGeom prst="rect">
            <a:avLst/>
          </a:prstGeom>
          <a:noFill/>
        </p:spPr>
        <p:txBody>
          <a:bodyPr wrap="square" lIns="45720" tIns="18288" rIns="45720" bIns="18288" anchor="t">
            <a:spAutoFit/>
          </a:bodyPr>
          <a:lstStyle/>
          <a:p>
            <a:pPr algn="ctr">
              <a:lnSpc>
                <a:spcPct val="115000"/>
              </a:lnSpc>
              <a:spcAft>
                <a:spcPts val="0"/>
              </a:spcAft>
            </a:pPr>
            <a:r>
              <a:rPr lang="en-US" sz="2100" b="0">
                <a:solidFill>
                  <a:srgbClr val="232B34"/>
                </a:solidFill>
                <a:latin typeface="Arial" panose="020B0604020202020204" pitchFamily="34" charset="0"/>
                <a:ea typeface="Yu Gothic"/>
              </a:rPr>
              <a:t>Thermal-model coefficients are fixed.
Preliminary update of total pointing residual
after acquisition (two cases, dense sampling).</a:t>
            </a:r>
            <a:endParaRPr lang="en-US" sz="2100" b="0" dirty="0">
              <a:solidFill>
                <a:srgbClr val="232B34"/>
              </a:solidFill>
              <a:latin typeface="Arial" panose="020B0604020202020204" pitchFamily="34" charset="0"/>
              <a:ea typeface="Yu Gothic"/>
            </a:endParaRPr>
          </a:p>
        </p:txBody>
      </p:sp>
      <p:sp>
        <p:nvSpPr>
          <p:cNvPr id="14" name="TextBox 13"/>
          <p:cNvSpPr txBox="1"/>
          <p:nvPr/>
        </p:nvSpPr>
        <p:spPr>
          <a:xfrm>
            <a:off x="1005840" y="10241280"/>
            <a:ext cx="13716000" cy="914866"/>
          </a:xfrm>
          <a:prstGeom prst="rect">
            <a:avLst/>
          </a:prstGeom>
          <a:noFill/>
        </p:spPr>
        <p:txBody>
          <a:bodyPr wrap="square" lIns="45720" tIns="18288" rIns="45720" bIns="18288" anchor="t">
            <a:spAutoFit/>
          </a:bodyPr>
          <a:lstStyle/>
          <a:p>
            <a:pPr algn="ctr">
              <a:lnSpc>
                <a:spcPct val="125000"/>
              </a:lnSpc>
              <a:spcAft>
                <a:spcPts val="0"/>
              </a:spcAft>
            </a:pPr>
            <a:r>
              <a:rPr lang="en-US" sz="2400" b="1">
                <a:solidFill>
                  <a:srgbClr val="082B52"/>
                </a:solidFill>
                <a:latin typeface="Arial" panose="020B0604020202020204" pitchFamily="34" charset="0"/>
                <a:ea typeface="Yu Gothic"/>
              </a:rPr>
              <a:t>Primary result: temperature/operating-state feedforward.</a:t>
            </a:r>
          </a:p>
          <a:p>
            <a:pPr algn="ctr">
              <a:lnSpc>
                <a:spcPct val="125000"/>
              </a:lnSpc>
              <a:spcAft>
                <a:spcPts val="0"/>
              </a:spcAft>
            </a:pPr>
            <a:r>
              <a:rPr lang="en-US" sz="2400" b="1">
                <a:solidFill>
                  <a:srgbClr val="082B52"/>
                </a:solidFill>
                <a:latin typeface="Arial" panose="020B0604020202020204" pitchFamily="34" charset="0"/>
                <a:ea typeface="Yu Gothic"/>
              </a:rPr>
              <a:t>Repeated links may reduce the floor further.</a:t>
            </a:r>
            <a:endParaRPr lang="en-US" sz="2400" b="1" dirty="0">
              <a:solidFill>
                <a:srgbClr val="082B52"/>
              </a:solidFill>
              <a:latin typeface="Arial" panose="020B0604020202020204" pitchFamily="34" charset="0"/>
              <a:ea typeface="Yu Gothic"/>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38D44-44E7-1D35-DF49-7E9A67BF43C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6B23DBD-4FCD-AFBE-4A56-E60FA5CE313B}"/>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05</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B6C81B3B-32B3-6E91-EB2F-1BBE2C1FC4D0}"/>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Summary</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6D45131-146B-385A-3BE7-7F628CA9DF9C}"/>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8108146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Summary</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endParaRPr>
          </a:p>
          <a:p>
            <a:pPr algn="l">
              <a:lnSpc>
                <a:spcPct val="110000"/>
              </a:lnSpc>
              <a:spcAft>
                <a:spcPts val="0"/>
              </a:spcAft>
            </a:pPr>
            <a:r>
              <a:rPr lang="en-US" sz="3200" b="1" dirty="0">
                <a:solidFill>
                  <a:srgbClr val="082B52"/>
                </a:solidFill>
                <a:latin typeface="Arial" panose="020B0604020202020204" pitchFamily="34" charset="0"/>
                <a:ea typeface="Yu Gothic"/>
              </a:rPr>
              <a:t>Contribution</a:t>
            </a:r>
            <a:endParaRPr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23</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2643808" y="3383280"/>
            <a:ext cx="9229345" cy="283464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984927" y="3785133"/>
            <a:ext cx="6547104" cy="652486"/>
          </a:xfrm>
          <a:prstGeom prst="rect">
            <a:avLst/>
          </a:prstGeom>
          <a:noFill/>
        </p:spPr>
        <p:txBody>
          <a:bodyPr wrap="square" lIns="45720" tIns="18288" rIns="45720" bIns="18288" anchor="t">
            <a:spAutoFit/>
          </a:bodyPr>
          <a:lstStyle/>
          <a:p>
            <a:pPr algn="ctr">
              <a:spcAft>
                <a:spcPts val="0"/>
              </a:spcAft>
            </a:pPr>
            <a:r>
              <a:rPr lang="en-US" sz="4000" b="1">
                <a:solidFill>
                  <a:srgbClr val="1B74AA"/>
                </a:solidFill>
                <a:latin typeface="Arial" panose="020B0604020202020204" pitchFamily="34" charset="0"/>
                <a:ea typeface="Yu Gothic"/>
              </a:rPr>
              <a:t>4.9 µrad</a:t>
            </a:r>
            <a:endParaRPr lang="en-US" sz="4000" b="1" dirty="0">
              <a:solidFill>
                <a:srgbClr val="1B74AA"/>
              </a:solidFill>
              <a:latin typeface="Arial" panose="020B0604020202020204" pitchFamily="34" charset="0"/>
              <a:ea typeface="Yu Gothic"/>
            </a:endParaRPr>
          </a:p>
        </p:txBody>
      </p:sp>
      <p:sp>
        <p:nvSpPr>
          <p:cNvPr id="7" name="TextBox 6"/>
          <p:cNvSpPr txBox="1"/>
          <p:nvPr/>
        </p:nvSpPr>
        <p:spPr>
          <a:xfrm>
            <a:off x="3248764" y="5013078"/>
            <a:ext cx="8019431" cy="1057405"/>
          </a:xfrm>
          <a:prstGeom prst="rect">
            <a:avLst/>
          </a:prstGeom>
          <a:noFill/>
        </p:spPr>
        <p:txBody>
          <a:bodyPr wrap="square" lIns="45720" tIns="18288" rIns="45720" bIns="18288" anchor="t">
            <a:spAutoFit/>
          </a:bodyPr>
          <a:lstStyle/>
          <a:p>
            <a:pPr algn="ctr">
              <a:lnSpc>
                <a:spcPct val="105000"/>
              </a:lnSpc>
              <a:spcAft>
                <a:spcPts val="0"/>
              </a:spcAft>
            </a:pPr>
            <a:r>
              <a:rPr lang="en-US" sz="3200" b="0">
                <a:latin typeface="Arial" panose="020B0604020202020204" pitchFamily="34" charset="0"/>
                <a:ea typeface="Yu Gothic"/>
              </a:rPr>
              <a:t>Median corrected dominant-axis RMSE
(raw median: 615 µrad)</a:t>
            </a:r>
            <a:endParaRPr lang="en-US" sz="3200" b="0" dirty="0" err="1">
              <a:latin typeface="Arial" panose="020B0604020202020204" pitchFamily="34" charset="0"/>
              <a:ea typeface="Yu Gothic"/>
            </a:endParaRPr>
          </a:p>
        </p:txBody>
      </p:sp>
      <p:sp>
        <p:nvSpPr>
          <p:cNvPr id="11" name="Rounded Rectangle 10"/>
          <p:cNvSpPr/>
          <p:nvPr/>
        </p:nvSpPr>
        <p:spPr>
          <a:xfrm>
            <a:off x="12145617" y="3383280"/>
            <a:ext cx="9229345" cy="283464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3530993" y="3786565"/>
            <a:ext cx="6547104" cy="652486"/>
          </a:xfrm>
          <a:prstGeom prst="rect">
            <a:avLst/>
          </a:prstGeom>
          <a:noFill/>
        </p:spPr>
        <p:txBody>
          <a:bodyPr wrap="square" lIns="45720" tIns="18288" rIns="45720" bIns="18288" anchor="t">
            <a:spAutoFit/>
          </a:bodyPr>
          <a:lstStyle/>
          <a:p>
            <a:pPr algn="ctr">
              <a:spcAft>
                <a:spcPts val="0"/>
              </a:spcAft>
            </a:pPr>
            <a:r>
              <a:rPr lang="en-US" sz="4000" b="1">
                <a:solidFill>
                  <a:srgbClr val="EC9427"/>
                </a:solidFill>
                <a:latin typeface="Arial" panose="020B0604020202020204" pitchFamily="34" charset="0"/>
                <a:ea typeface="Yu Gothic"/>
              </a:rPr>
              <a:t>19.2 → 5.45 s</a:t>
            </a:r>
            <a:endParaRPr lang="en-US" sz="4000" b="1" dirty="0">
              <a:solidFill>
                <a:srgbClr val="EC9427"/>
              </a:solidFill>
              <a:latin typeface="Arial" panose="020B0604020202020204" pitchFamily="34" charset="0"/>
              <a:ea typeface="Yu Gothic"/>
            </a:endParaRPr>
          </a:p>
        </p:txBody>
      </p:sp>
      <p:sp>
        <p:nvSpPr>
          <p:cNvPr id="13" name="TextBox 12"/>
          <p:cNvSpPr txBox="1"/>
          <p:nvPr/>
        </p:nvSpPr>
        <p:spPr>
          <a:xfrm>
            <a:off x="12408669" y="5013077"/>
            <a:ext cx="8703240" cy="1057405"/>
          </a:xfrm>
          <a:prstGeom prst="rect">
            <a:avLst/>
          </a:prstGeom>
          <a:noFill/>
        </p:spPr>
        <p:txBody>
          <a:bodyPr wrap="square" lIns="45720" tIns="18288" rIns="45720" bIns="18288" anchor="t">
            <a:spAutoFit/>
          </a:bodyPr>
          <a:lstStyle/>
          <a:p>
            <a:pPr algn="ctr">
              <a:lnSpc>
                <a:spcPct val="105000"/>
              </a:lnSpc>
              <a:spcAft>
                <a:spcPts val="0"/>
              </a:spcAft>
            </a:pPr>
            <a:r>
              <a:rPr lang="en-US" sz="3200" b="0">
                <a:latin typeface="Arial" panose="020B0604020202020204" pitchFamily="34" charset="0"/>
                <a:ea typeface="Yu Gothic"/>
              </a:rPr>
              <a:t>Mean acquisition time with nonthermal error
Success rate: 98% → 100%</a:t>
            </a:r>
            <a:endParaRPr lang="en-US" sz="3200" b="0" dirty="0">
              <a:latin typeface="Arial" panose="020B0604020202020204" pitchFamily="34" charset="0"/>
              <a:ea typeface="Yu Gothic"/>
            </a:endParaRPr>
          </a:p>
        </p:txBody>
      </p:sp>
      <p:sp>
        <p:nvSpPr>
          <p:cNvPr id="14" name="Rounded Rectangle 13"/>
          <p:cNvSpPr/>
          <p:nvPr/>
        </p:nvSpPr>
        <p:spPr>
          <a:xfrm>
            <a:off x="2643808" y="6949440"/>
            <a:ext cx="18731154" cy="5423358"/>
          </a:xfrm>
          <a:prstGeom prst="roundRect">
            <a:avLst/>
          </a:prstGeom>
          <a:solidFill>
            <a:srgbClr val="FFFFFF"/>
          </a:solidFill>
          <a:ln w="22860">
            <a:solidFill>
              <a:srgbClr val="082B5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248764" y="7445006"/>
            <a:ext cx="16177216" cy="5161413"/>
          </a:xfrm>
          <a:prstGeom prst="rect">
            <a:avLst/>
          </a:prstGeom>
          <a:noFill/>
        </p:spPr>
        <p:txBody>
          <a:bodyPr wrap="square" lIns="45720" tIns="18288" rIns="45720" bIns="18288" anchor="t">
            <a:spAutoFit/>
          </a:bodyPr>
          <a:lstStyle/>
          <a:p>
            <a:pPr>
              <a:lnSpc>
                <a:spcPct val="125000"/>
              </a:lnSpc>
              <a:spcAft>
                <a:spcPts val="0"/>
              </a:spcAft>
            </a:pPr>
            <a:r>
              <a:rPr lang="en-US" sz="4000" dirty="0">
                <a:solidFill>
                  <a:srgbClr val="082B52"/>
                </a:solidFill>
                <a:latin typeface="Arial" panose="020B0604020202020204" pitchFamily="34" charset="0"/>
                <a:ea typeface="Yu Gothic"/>
              </a:rPr>
              <a:t>Results: </a:t>
            </a:r>
          </a:p>
          <a:p>
            <a:pPr>
              <a:lnSpc>
                <a:spcPct val="125000"/>
              </a:lnSpc>
              <a:spcAft>
                <a:spcPts val="0"/>
              </a:spcAft>
            </a:pPr>
            <a:r>
              <a:rPr lang="en-US" sz="3600" b="1">
                <a:solidFill>
                  <a:srgbClr val="082B52"/>
                </a:solidFill>
                <a:latin typeface="Arial" panose="020B0604020202020204" pitchFamily="34" charset="0"/>
                <a:ea typeface="Yu Gothic"/>
              </a:rPr>
              <a:t>For the evaluated box bus, the method can shorten pre-feedback link establishment.</a:t>
            </a:r>
            <a:endParaRPr lang="en-US" sz="3600" b="1" dirty="0">
              <a:solidFill>
                <a:srgbClr val="082B52"/>
              </a:solidFill>
              <a:latin typeface="Arial" panose="020B0604020202020204" pitchFamily="34" charset="0"/>
              <a:ea typeface="Yu Gothic"/>
            </a:endParaRPr>
          </a:p>
          <a:p>
            <a:pPr>
              <a:lnSpc>
                <a:spcPct val="125000"/>
              </a:lnSpc>
              <a:spcAft>
                <a:spcPts val="0"/>
              </a:spcAft>
            </a:pPr>
            <a:endParaRPr lang="en-US" sz="3600" b="1">
              <a:solidFill>
                <a:srgbClr val="082B52"/>
              </a:solidFill>
              <a:latin typeface="Arial" panose="020B0604020202020204" pitchFamily="34" charset="0"/>
              <a:ea typeface="Yu Gothic"/>
            </a:endParaRPr>
          </a:p>
          <a:p>
            <a:r>
              <a:rPr lang="en-US" altLang="ja-JP" sz="4000">
                <a:latin typeface="Arial" panose="020B0604020202020204" pitchFamily="34" charset="0"/>
              </a:rPr>
              <a:t>Contributions: </a:t>
            </a:r>
            <a:endParaRPr lang="en-US" altLang="ja-JP" sz="4000" dirty="0">
              <a:latin typeface="Arial" panose="020B0604020202020204" pitchFamily="34" charset="0"/>
            </a:endParaRPr>
          </a:p>
          <a:p>
            <a:r>
              <a:rPr lang="en-US" altLang="ja-JP" sz="3600" b="1">
                <a:latin typeface="Arial" panose="020B0604020202020204" pitchFamily="34" charset="0"/>
              </a:rPr>
              <a:t>STT–LCT relative LOS, cross-condition coefficient sharing, and connection to coarse-acquisition performance.</a:t>
            </a:r>
            <a:endParaRPr lang="en-US" altLang="ja-JP" sz="3600" b="1" dirty="0">
              <a:latin typeface="Arial" panose="020B0604020202020204" pitchFamily="34" charset="0"/>
            </a:endParaRPr>
          </a:p>
          <a:p>
            <a:endParaRPr lang="en-US" altLang="ja-JP" sz="3600" b="1"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Summary</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altLang="ja-JP" sz="3200" b="1" dirty="0">
              <a:solidFill>
                <a:srgbClr val="082B52"/>
              </a:solidFill>
              <a:latin typeface="Arial" panose="020B0604020202020204" pitchFamily="34" charset="0"/>
              <a:ea typeface="Yu Gothic"/>
            </a:endParaRPr>
          </a:p>
          <a:p>
            <a:pPr algn="l">
              <a:lnSpc>
                <a:spcPct val="110000"/>
              </a:lnSpc>
              <a:spcAft>
                <a:spcPts val="0"/>
              </a:spcAft>
            </a:pPr>
            <a:r>
              <a:rPr lang="en-US" altLang="ja-JP" sz="3200" b="1">
                <a:solidFill>
                  <a:srgbClr val="082B52"/>
                </a:solidFill>
                <a:latin typeface="Arial" panose="020B0604020202020204" pitchFamily="34" charset="0"/>
                <a:ea typeface="Yu Gothic"/>
              </a:rPr>
              <a:t>Limitations of this study </a:t>
            </a:r>
            <a:r>
              <a:rPr lang="ja-JP" altLang="en-US" sz="3200" b="1">
                <a:solidFill>
                  <a:srgbClr val="082B52"/>
                </a:solidFill>
                <a:latin typeface="Arial" panose="020B0604020202020204" pitchFamily="34" charset="0"/>
                <a:ea typeface="Yu Gothic"/>
              </a:rPr>
              <a:t>＆ </a:t>
            </a:r>
            <a:r>
              <a:rPr lang="en-US" altLang="ja-JP" sz="3200" b="1">
                <a:solidFill>
                  <a:srgbClr val="082B52"/>
                </a:solidFill>
                <a:latin typeface="Arial" panose="020B0604020202020204" pitchFamily="34" charset="0"/>
                <a:ea typeface="Yu Gothic"/>
              </a:rPr>
              <a:t>Future </a:t>
            </a:r>
            <a:r>
              <a:rPr lang="en-US" altLang="ja-JP" sz="3200" b="1" dirty="0">
                <a:solidFill>
                  <a:srgbClr val="082B52"/>
                </a:solidFill>
                <a:latin typeface="Arial" panose="020B0604020202020204" pitchFamily="34" charset="0"/>
                <a:ea typeface="Yu Gothic"/>
              </a:rPr>
              <a:t>work</a:t>
            </a:r>
            <a:endParaRPr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22</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280160" y="3200400"/>
            <a:ext cx="10698480" cy="33832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481328" y="3493008"/>
            <a:ext cx="10296144" cy="437043"/>
          </a:xfrm>
          <a:prstGeom prst="rect">
            <a:avLst/>
          </a:prstGeom>
          <a:noFill/>
        </p:spPr>
        <p:txBody>
          <a:bodyPr wrap="square" lIns="45720" tIns="18288" rIns="45720" bIns="18288" anchor="t">
            <a:spAutoFit/>
          </a:bodyPr>
          <a:lstStyle/>
          <a:p>
            <a:pPr algn="l">
              <a:spcAft>
                <a:spcPts val="0"/>
              </a:spcAft>
            </a:pPr>
            <a:r>
              <a:rPr lang="en-US" altLang="ja-JP" sz="2600" b="1">
                <a:solidFill>
                  <a:srgbClr val="1B74AA"/>
                </a:solidFill>
                <a:latin typeface="Arial" panose="020B0604020202020204" pitchFamily="34" charset="0"/>
                <a:ea typeface="Yu Gothic"/>
              </a:rPr>
              <a:t>Validation scope</a:t>
            </a:r>
            <a:endParaRPr lang="en-US" sz="2600" b="1" dirty="0">
              <a:solidFill>
                <a:srgbClr val="1B74AA"/>
              </a:solidFill>
              <a:latin typeface="Arial" panose="020B0604020202020204" pitchFamily="34" charset="0"/>
              <a:ea typeface="Yu Gothic"/>
            </a:endParaRPr>
          </a:p>
        </p:txBody>
      </p:sp>
      <p:sp>
        <p:nvSpPr>
          <p:cNvPr id="7" name="TextBox 6"/>
          <p:cNvSpPr txBox="1"/>
          <p:nvPr/>
        </p:nvSpPr>
        <p:spPr>
          <a:xfrm>
            <a:off x="1554480" y="4343400"/>
            <a:ext cx="10149840" cy="509755"/>
          </a:xfrm>
          <a:prstGeom prst="rect">
            <a:avLst/>
          </a:prstGeom>
          <a:noFill/>
        </p:spPr>
        <p:txBody>
          <a:bodyPr wrap="square" lIns="45720" tIns="18288" rIns="45720" bIns="18288" anchor="t">
            <a:spAutoFit/>
          </a:bodyPr>
          <a:lstStyle/>
          <a:p>
            <a:pPr algn="l">
              <a:lnSpc>
                <a:spcPct val="115000"/>
              </a:lnSpc>
              <a:spcAft>
                <a:spcPts val="0"/>
              </a:spcAft>
            </a:pPr>
            <a:r>
              <a:rPr lang="en-US" altLang="ja-JP" sz="2800">
                <a:solidFill>
                  <a:srgbClr val="232B34"/>
                </a:solidFill>
                <a:latin typeface="Arial" panose="020B0604020202020204" pitchFamily="34" charset="0"/>
                <a:ea typeface="Yu Gothic"/>
              </a:rPr>
              <a:t>Numerical evaluation: same structure and LOS definition</a:t>
            </a:r>
            <a:endParaRPr lang="en-US" sz="2800" b="0" dirty="0">
              <a:solidFill>
                <a:srgbClr val="232B34"/>
              </a:solidFill>
              <a:latin typeface="Arial" panose="020B0604020202020204" pitchFamily="34" charset="0"/>
              <a:ea typeface="Yu Gothic"/>
            </a:endParaRPr>
          </a:p>
        </p:txBody>
      </p:sp>
      <p:sp>
        <p:nvSpPr>
          <p:cNvPr id="8" name="Rounded Rectangle 7"/>
          <p:cNvSpPr/>
          <p:nvPr/>
        </p:nvSpPr>
        <p:spPr>
          <a:xfrm>
            <a:off x="12618720" y="3200400"/>
            <a:ext cx="10698480" cy="33832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819888" y="3493008"/>
            <a:ext cx="10296144" cy="437043"/>
          </a:xfrm>
          <a:prstGeom prst="rect">
            <a:avLst/>
          </a:prstGeom>
          <a:noFill/>
        </p:spPr>
        <p:txBody>
          <a:bodyPr wrap="square" lIns="45720" tIns="18288" rIns="45720" bIns="18288" anchor="t">
            <a:spAutoFit/>
          </a:bodyPr>
          <a:lstStyle/>
          <a:p>
            <a:pPr algn="l">
              <a:spcAft>
                <a:spcPts val="0"/>
              </a:spcAft>
            </a:pPr>
            <a:r>
              <a:rPr lang="en-US" altLang="ja-JP" sz="2600" b="1">
                <a:solidFill>
                  <a:srgbClr val="EC9427"/>
                </a:solidFill>
                <a:latin typeface="Arial" panose="020B0604020202020204" pitchFamily="34" charset="0"/>
                <a:ea typeface="Yu Gothic"/>
              </a:rPr>
              <a:t>Model applicability</a:t>
            </a:r>
            <a:endParaRPr lang="en-US" sz="2600" b="1" dirty="0">
              <a:solidFill>
                <a:srgbClr val="EC9427"/>
              </a:solidFill>
              <a:latin typeface="Arial" panose="020B0604020202020204" pitchFamily="34" charset="0"/>
              <a:ea typeface="Yu Gothic"/>
            </a:endParaRPr>
          </a:p>
        </p:txBody>
      </p:sp>
      <p:sp>
        <p:nvSpPr>
          <p:cNvPr id="10" name="TextBox 9"/>
          <p:cNvSpPr txBox="1"/>
          <p:nvPr/>
        </p:nvSpPr>
        <p:spPr>
          <a:xfrm>
            <a:off x="12893040" y="4343400"/>
            <a:ext cx="10149840" cy="898708"/>
          </a:xfrm>
          <a:prstGeom prst="rect">
            <a:avLst/>
          </a:prstGeom>
          <a:noFill/>
        </p:spPr>
        <p:txBody>
          <a:bodyPr wrap="square" lIns="45720" tIns="18288" rIns="45720" bIns="18288" anchor="t">
            <a:spAutoFit/>
          </a:bodyPr>
          <a:lstStyle/>
          <a:p>
            <a:r>
              <a:rPr lang="en-US" altLang="ja-JP" sz="2800">
                <a:latin typeface="Arial" panose="020B0604020202020204" pitchFamily="34" charset="0"/>
              </a:rPr>
              <a:t>No ground test; flight relevance of the analysis model and sensitivities remains unvalidated</a:t>
            </a:r>
            <a:endParaRPr lang="en-US" altLang="ja-JP" sz="2800" dirty="0">
              <a:latin typeface="Arial" panose="020B0604020202020204" pitchFamily="34" charset="0"/>
            </a:endParaRPr>
          </a:p>
        </p:txBody>
      </p:sp>
      <p:sp>
        <p:nvSpPr>
          <p:cNvPr id="11" name="Rounded Rectangle 10"/>
          <p:cNvSpPr/>
          <p:nvPr/>
        </p:nvSpPr>
        <p:spPr>
          <a:xfrm>
            <a:off x="1280160" y="7040880"/>
            <a:ext cx="10698480" cy="33832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481328" y="7333488"/>
            <a:ext cx="10296144" cy="437043"/>
          </a:xfrm>
          <a:prstGeom prst="rect">
            <a:avLst/>
          </a:prstGeom>
          <a:noFill/>
        </p:spPr>
        <p:txBody>
          <a:bodyPr wrap="square" lIns="45720" tIns="18288" rIns="45720" bIns="18288" anchor="t">
            <a:spAutoFit/>
          </a:bodyPr>
          <a:lstStyle/>
          <a:p>
            <a:pPr algn="l">
              <a:spcAft>
                <a:spcPts val="0"/>
              </a:spcAft>
            </a:pPr>
            <a:r>
              <a:rPr lang="en-US" altLang="ja-JP" sz="2600" b="1" dirty="0">
                <a:solidFill>
                  <a:srgbClr val="D03B46"/>
                </a:solidFill>
                <a:latin typeface="Arial" panose="020B0604020202020204" pitchFamily="34" charset="0"/>
                <a:ea typeface="Yu Gothic"/>
              </a:rPr>
              <a:t>LOS extraction</a:t>
            </a:r>
            <a:endParaRPr sz="2600" b="1" dirty="0">
              <a:solidFill>
                <a:srgbClr val="D03B46"/>
              </a:solidFill>
              <a:latin typeface="Arial" panose="020B0604020202020204" pitchFamily="34" charset="0"/>
              <a:ea typeface="Yu Gothic"/>
            </a:endParaRPr>
          </a:p>
        </p:txBody>
      </p:sp>
      <p:sp>
        <p:nvSpPr>
          <p:cNvPr id="13" name="TextBox 12"/>
          <p:cNvSpPr txBox="1"/>
          <p:nvPr/>
        </p:nvSpPr>
        <p:spPr>
          <a:xfrm>
            <a:off x="1554480" y="8183879"/>
            <a:ext cx="10149840" cy="1005275"/>
          </a:xfrm>
          <a:prstGeom prst="rect">
            <a:avLst/>
          </a:prstGeom>
          <a:noFill/>
        </p:spPr>
        <p:txBody>
          <a:bodyPr wrap="square" lIns="45720" tIns="18288" rIns="45720" bIns="18288" anchor="t">
            <a:spAutoFit/>
          </a:bodyPr>
          <a:lstStyle/>
          <a:p>
            <a:pPr algn="l">
              <a:lnSpc>
                <a:spcPct val="115000"/>
              </a:lnSpc>
              <a:spcAft>
                <a:spcPts val="0"/>
              </a:spcAft>
            </a:pPr>
            <a:r>
              <a:rPr lang="en-US" altLang="ja-JP" sz="2800">
                <a:solidFill>
                  <a:srgbClr val="232B34"/>
                </a:solidFill>
                <a:latin typeface="Arial" panose="020B0604020202020204" pitchFamily="34" charset="0"/>
                <a:ea typeface="Yu Gothic"/>
              </a:rPr>
              <a:t>Representative-node rotations; no interface rigid-body fit or internal STT/LCT deformation</a:t>
            </a:r>
            <a:endParaRPr lang="en-US" sz="2800" b="0" dirty="0">
              <a:solidFill>
                <a:srgbClr val="232B34"/>
              </a:solidFill>
              <a:latin typeface="Arial" panose="020B0604020202020204" pitchFamily="34" charset="0"/>
              <a:ea typeface="Yu Gothic"/>
            </a:endParaRPr>
          </a:p>
        </p:txBody>
      </p:sp>
      <p:sp>
        <p:nvSpPr>
          <p:cNvPr id="14" name="Rounded Rectangle 13"/>
          <p:cNvSpPr/>
          <p:nvPr/>
        </p:nvSpPr>
        <p:spPr>
          <a:xfrm>
            <a:off x="12618720" y="7040880"/>
            <a:ext cx="10698480" cy="33832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819888" y="7333488"/>
            <a:ext cx="10296144" cy="437043"/>
          </a:xfrm>
          <a:prstGeom prst="rect">
            <a:avLst/>
          </a:prstGeom>
          <a:noFill/>
        </p:spPr>
        <p:txBody>
          <a:bodyPr wrap="square" lIns="45720" tIns="18288" rIns="45720" bIns="18288" anchor="t">
            <a:spAutoFit/>
          </a:bodyPr>
          <a:lstStyle/>
          <a:p>
            <a:pPr algn="l">
              <a:spcAft>
                <a:spcPts val="0"/>
              </a:spcAft>
            </a:pPr>
            <a:r>
              <a:rPr lang="en-US" sz="2600" b="1">
                <a:solidFill>
                  <a:srgbClr val="239571"/>
                </a:solidFill>
                <a:latin typeface="Arial" panose="020B0604020202020204" pitchFamily="34" charset="0"/>
                <a:ea typeface="Yu Gothic"/>
              </a:rPr>
              <a:t>Acquisition evaluation</a:t>
            </a:r>
            <a:endParaRPr lang="en-US" sz="2600" b="1" dirty="0">
              <a:solidFill>
                <a:srgbClr val="239571"/>
              </a:solidFill>
              <a:latin typeface="Arial" panose="020B0604020202020204" pitchFamily="34" charset="0"/>
              <a:ea typeface="Yu Gothic"/>
            </a:endParaRPr>
          </a:p>
        </p:txBody>
      </p:sp>
      <p:sp>
        <p:nvSpPr>
          <p:cNvPr id="16" name="TextBox 15"/>
          <p:cNvSpPr txBox="1"/>
          <p:nvPr/>
        </p:nvSpPr>
        <p:spPr>
          <a:xfrm>
            <a:off x="12893040" y="8183879"/>
            <a:ext cx="10149840" cy="467820"/>
          </a:xfrm>
          <a:prstGeom prst="rect">
            <a:avLst/>
          </a:prstGeom>
          <a:noFill/>
        </p:spPr>
        <p:txBody>
          <a:bodyPr wrap="square" lIns="45720" tIns="18288" rIns="45720" bIns="18288" anchor="t">
            <a:spAutoFit/>
          </a:bodyPr>
          <a:lstStyle/>
          <a:p>
            <a:pPr>
              <a:lnSpc>
                <a:spcPct val="100000"/>
              </a:lnSpc>
            </a:pPr>
            <a:r>
              <a:rPr lang="en-US" altLang="ja-JP" sz="2800">
                <a:latin typeface="Arial" panose="020B0604020202020204" pitchFamily="34" charset="0"/>
              </a:rPr>
              <a:t>One nonthermal seed; simplified scan dynamics</a:t>
            </a:r>
            <a:endParaRPr lang="en-US" altLang="ja-JP" sz="2800" dirty="0">
              <a:latin typeface="Arial" panose="020B0604020202020204" pitchFamily="34" charset="0"/>
            </a:endParaRPr>
          </a:p>
        </p:txBody>
      </p:sp>
      <p:sp>
        <p:nvSpPr>
          <p:cNvPr id="18" name="テキスト ボックス 17">
            <a:extLst>
              <a:ext uri="{FF2B5EF4-FFF2-40B4-BE49-F238E27FC236}">
                <a16:creationId xmlns:a16="http://schemas.microsoft.com/office/drawing/2014/main" id="{3FC9870B-A7FE-DBB8-0818-43EE04DF3B1F}"/>
              </a:ext>
            </a:extLst>
          </p:cNvPr>
          <p:cNvSpPr txBox="1"/>
          <p:nvPr/>
        </p:nvSpPr>
        <p:spPr>
          <a:xfrm>
            <a:off x="4986842" y="10480233"/>
            <a:ext cx="14408727" cy="954107"/>
          </a:xfrm>
          <a:prstGeom prst="rect">
            <a:avLst/>
          </a:prstGeom>
          <a:noFill/>
        </p:spPr>
        <p:txBody>
          <a:bodyPr wrap="square">
            <a:spAutoFit/>
          </a:bodyPr>
          <a:lstStyle/>
          <a:p>
            <a:pPr algn="ctr"/>
            <a:r>
              <a:rPr lang="en-US" altLang="ja-JP" sz="2800" b="1" dirty="0">
                <a:latin typeface="Arial" panose="020B0604020202020204" pitchFamily="34" charset="0"/>
              </a:rPr>
              <a:t>Future Work</a:t>
            </a:r>
            <a:r>
              <a:rPr lang="en-US" altLang="ja-JP" sz="2800" b="1">
                <a:latin typeface="Arial" panose="020B0604020202020204" pitchFamily="34" charset="0"/>
              </a:rPr>
              <a:t>: ground-test validation, coefficient re-identification for real spacecraft,</a:t>
            </a:r>
            <a:endParaRPr lang="en-US" altLang="ja-JP" sz="2800" b="1" dirty="0">
              <a:latin typeface="Arial" panose="020B0604020202020204" pitchFamily="34" charset="0"/>
            </a:endParaRPr>
          </a:p>
          <a:p>
            <a:pPr algn="ctr"/>
            <a:r>
              <a:rPr lang="en-US" altLang="ja-JP" sz="2800" b="1">
                <a:latin typeface="Arial" panose="020B0604020202020204" pitchFamily="34" charset="0"/>
              </a:rPr>
              <a:t> and onboard adaptation using post-acquisition residuals</a:t>
            </a:r>
            <a:endParaRPr lang="en-US" altLang="ja-JP" sz="2800" b="1" dirty="0">
              <a:latin typeface="Arial" panose="020B0604020202020204" pitchFamily="34" charset="0"/>
            </a:endParaRPr>
          </a:p>
        </p:txBody>
      </p:sp>
      <p:sp>
        <p:nvSpPr>
          <p:cNvPr id="19" name="TextBox 15">
            <a:extLst>
              <a:ext uri="{FF2B5EF4-FFF2-40B4-BE49-F238E27FC236}">
                <a16:creationId xmlns:a16="http://schemas.microsoft.com/office/drawing/2014/main" id="{F9251454-CFDB-DAE5-071C-F07ADB5CE097}"/>
              </a:ext>
            </a:extLst>
          </p:cNvPr>
          <p:cNvSpPr txBox="1"/>
          <p:nvPr/>
        </p:nvSpPr>
        <p:spPr>
          <a:xfrm>
            <a:off x="1463040" y="11979639"/>
            <a:ext cx="21396960" cy="406265"/>
          </a:xfrm>
          <a:prstGeom prst="rect">
            <a:avLst/>
          </a:prstGeom>
          <a:noFill/>
        </p:spPr>
        <p:txBody>
          <a:bodyPr wrap="square" lIns="45720" tIns="18288" rIns="45720" bIns="18288" anchor="t">
            <a:spAutoFit/>
          </a:bodyPr>
          <a:lstStyle/>
          <a:p>
            <a:pPr algn="ctr">
              <a:spcAft>
                <a:spcPts val="0"/>
              </a:spcAft>
            </a:pPr>
            <a:r>
              <a:rPr lang="en-US" sz="2400" b="0">
                <a:solidFill>
                  <a:srgbClr val="666F79"/>
                </a:solidFill>
                <a:latin typeface="Arial" panose="020B0604020202020204" pitchFamily="34" charset="0"/>
                <a:ea typeface="Yu Gothic"/>
              </a:rPr>
              <a:t>Oral presentation at ICSO 2026 on October 15</a:t>
            </a:r>
            <a:endParaRPr lang="en-US" sz="2400" b="0" dirty="0">
              <a:solidFill>
                <a:srgbClr val="666F79"/>
              </a:solidFill>
              <a:latin typeface="Arial" panose="020B0604020202020204" pitchFamily="34" charset="0"/>
              <a:ea typeface="Yu Gothic"/>
            </a:endParaRPr>
          </a:p>
        </p:txBody>
      </p:sp>
      <p:sp>
        <p:nvSpPr>
          <p:cNvPr id="21" name="TextBox 16">
            <a:extLst>
              <a:ext uri="{FF2B5EF4-FFF2-40B4-BE49-F238E27FC236}">
                <a16:creationId xmlns:a16="http://schemas.microsoft.com/office/drawing/2014/main" id="{EDF69A9B-403D-8D7C-696E-29A646FED75D}"/>
              </a:ext>
            </a:extLst>
          </p:cNvPr>
          <p:cNvSpPr txBox="1"/>
          <p:nvPr/>
        </p:nvSpPr>
        <p:spPr>
          <a:xfrm>
            <a:off x="1463040" y="12728004"/>
            <a:ext cx="21396960" cy="498598"/>
          </a:xfrm>
          <a:prstGeom prst="rect">
            <a:avLst/>
          </a:prstGeom>
          <a:noFill/>
        </p:spPr>
        <p:txBody>
          <a:bodyPr wrap="square" lIns="45720" tIns="18288" rIns="45720" bIns="18288" anchor="t">
            <a:spAutoFit/>
          </a:bodyPr>
          <a:lstStyle/>
          <a:p>
            <a:pPr algn="ctr">
              <a:spcAft>
                <a:spcPts val="0"/>
              </a:spcAft>
            </a:pPr>
            <a:r>
              <a:rPr lang="en-US" sz="3000" b="1">
                <a:solidFill>
                  <a:srgbClr val="1B74AA"/>
                </a:solidFill>
                <a:latin typeface="Arial" panose="020B0604020202020204" pitchFamily="34" charset="0"/>
                <a:ea typeface="Yu Gothic"/>
              </a:rPr>
              <a:t>Thank you for your attention</a:t>
            </a:r>
            <a:endParaRPr lang="en-US" sz="3000" b="1" dirty="0">
              <a:solidFill>
                <a:srgbClr val="1B74AA"/>
              </a:solidFill>
              <a:latin typeface="Arial" panose="020B0604020202020204" pitchFamily="34" charset="0"/>
              <a:ea typeface="Yu Gothic"/>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47842"/>
          </a:xfrm>
          <a:prstGeom prst="rect">
            <a:avLst/>
          </a:prstGeom>
          <a:noFill/>
        </p:spPr>
        <p:txBody>
          <a:bodyPr wrap="square" lIns="36576" tIns="27432" rIns="36576" bIns="27432" anchor="t">
            <a:spAutoFit/>
          </a:bodyPr>
          <a:lstStyle/>
          <a:p>
            <a:pPr algn="ctr">
              <a:spcAft>
                <a:spcPts val="0"/>
              </a:spcAft>
            </a:pPr>
            <a:r>
              <a:rPr lang="en-US" sz="3200" b="1">
                <a:solidFill>
                  <a:srgbClr val="5BB5D8"/>
                </a:solidFill>
                <a:latin typeface="Arial" panose="020B0604020202020204" pitchFamily="34" charset="0"/>
                <a:ea typeface="Yu Gothic"/>
              </a:rPr>
              <a:t>B</a:t>
            </a:r>
            <a:endParaRPr lang="en-US" sz="3200" b="1" dirty="0">
              <a:solidFill>
                <a:srgbClr val="5BB5D8"/>
              </a:solidFill>
              <a:latin typeface="Arial" panose="020B0604020202020204" pitchFamily="34" charset="0"/>
              <a:ea typeface="Yu Gothic"/>
            </a:endParaRP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732508"/>
          </a:xfrm>
          <a:prstGeom prst="rect">
            <a:avLst/>
          </a:prstGeom>
          <a:noFill/>
        </p:spPr>
        <p:txBody>
          <a:bodyPr wrap="square" lIns="36576" tIns="27432" rIns="36576" bIns="27432" anchor="t">
            <a:spAutoFit/>
          </a:bodyPr>
          <a:lstStyle/>
          <a:p>
            <a:pPr algn="ctr">
              <a:spcAft>
                <a:spcPts val="0"/>
              </a:spcAft>
            </a:pPr>
            <a:r>
              <a:rPr lang="en-US" sz="4400" b="1" dirty="0">
                <a:solidFill>
                  <a:srgbClr val="FFFFFF"/>
                </a:solidFill>
                <a:latin typeface="Arial" panose="020B0604020202020204" pitchFamily="34" charset="0"/>
                <a:ea typeface="Yu Gothic"/>
              </a:rPr>
              <a:t>Appendix</a:t>
            </a:r>
            <a:endParaRPr sz="4400" b="1" dirty="0">
              <a:solidFill>
                <a:srgbClr val="FFFFFF"/>
              </a:solidFill>
              <a:latin typeface="Arial" panose="020B0604020202020204" pitchFamily="34" charset="0"/>
              <a:ea typeface="Yu Gothic"/>
            </a:endParaRPr>
          </a:p>
        </p:txBody>
      </p:sp>
      <p:sp>
        <p:nvSpPr>
          <p:cNvPr id="5" name="TextBox 4"/>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784545"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Positioning &amp; limitations</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r>
              <a:rPr lang="ja-JP" altLang="en-US" sz="3200" b="1" dirty="0">
                <a:solidFill>
                  <a:srgbClr val="082B52"/>
                </a:solidFill>
                <a:latin typeface="Arial" panose="020B0604020202020204" pitchFamily="34" charset="0"/>
              </a:rPr>
              <a:t>先行研究の存在：</a:t>
            </a:r>
            <a:r>
              <a:rPr lang="ja-JP" altLang="ja-JP" sz="3200" b="1" dirty="0">
                <a:latin typeface="Arial" panose="020B0604020202020204" pitchFamily="34" charset="0"/>
              </a:rPr>
              <a:t>温度差とLOSの一次関係は光学機器内でも報告されている</a:t>
            </a:r>
            <a:endParaRPr lang="ja-JP" altLang="ja-JP" sz="3200" dirty="0">
              <a:latin typeface="Arial" panose="020B0604020202020204" pitchFamily="34" charset="0"/>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sz="1800" b="0">
                <a:solidFill>
                  <a:srgbClr val="666F79"/>
                </a:solidFill>
                <a:latin typeface="Arial" panose="020B0604020202020204" pitchFamily="34" charset="0"/>
              </a:rPr>
              <a:t>24</a:t>
            </a:r>
            <a:endParaRPr sz="1800" b="0" dirty="0">
              <a:solidFill>
                <a:srgbClr val="666F79"/>
              </a:solidFill>
              <a:latin typeface="Arial" panose="020B0604020202020204" pitchFamily="34" charset="0"/>
            </a:endParaRP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962876" y="3246120"/>
            <a:ext cx="2967287" cy="486287"/>
          </a:xfrm>
          <a:prstGeom prst="rect">
            <a:avLst/>
          </a:prstGeom>
          <a:noFill/>
        </p:spPr>
        <p:txBody>
          <a:bodyPr wrap="none" lIns="36576" tIns="27432" rIns="36576" bIns="27432" anchor="t">
            <a:spAutoFit/>
          </a:bodyPr>
          <a:lstStyle/>
          <a:p>
            <a:pPr algn="ctr"/>
            <a:r>
              <a:rPr lang="en-US" sz="2800" b="1">
                <a:solidFill>
                  <a:srgbClr val="082B52"/>
                </a:solidFill>
                <a:latin typeface="Arial" panose="020B0604020202020204" pitchFamily="34" charset="0"/>
              </a:rPr>
              <a:t>JANUS / prior art</a:t>
            </a:r>
            <a:endParaRPr lang="en-US" sz="2800" b="1" dirty="0">
              <a:solidFill>
                <a:srgbClr val="082B52"/>
              </a:solidFill>
              <a:latin typeface="Arial" panose="020B0604020202020204" pitchFamily="34" charset="0"/>
            </a:endParaRPr>
          </a:p>
        </p:txBody>
      </p:sp>
      <mc:AlternateContent xmlns:mc="http://schemas.openxmlformats.org/markup-compatibility/2006">
        <mc:Choice xmlns:a14="http://schemas.microsoft.com/office/drawing/2010/main" Requires="a14">
          <p:sp>
            <p:nvSpPr>
              <p:cNvPr id="7" name="TextBox 6"/>
              <p:cNvSpPr txBox="1"/>
              <p:nvPr/>
            </p:nvSpPr>
            <p:spPr>
              <a:xfrm>
                <a:off x="1637754" y="4389120"/>
                <a:ext cx="5503519" cy="3098284"/>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a:t>
                </a:r>
                <a:r>
                  <a:rPr lang="en-US" altLang="ja-JP" sz="2600" b="1">
                    <a:solidFill>
                      <a:srgbClr val="1B74AA"/>
                    </a:solidFill>
                    <a:latin typeface="Arial" panose="020B0604020202020204" pitchFamily="34" charset="0"/>
                  </a:rPr>
                  <a:t> </a:t>
                </a:r>
                <a:r>
                  <a:rPr lang="ja-JP" altLang="ja-JP" sz="2600" dirty="0">
                    <a:latin typeface="Arial" panose="020B0604020202020204" pitchFamily="34" charset="0"/>
                  </a:rPr>
                  <a:t>光学ヘッド内部の壁面温度差から</a:t>
                </a:r>
                <a:r>
                  <a:rPr lang="ja-JP" altLang="en-US" sz="2600">
                    <a:latin typeface="Arial" panose="020B0604020202020204" pitchFamily="34" charset="0"/>
                  </a:rPr>
                  <a:t>熱ひずみ由来</a:t>
                </a:r>
                <a:r>
                  <a:rPr lang="en-US" altLang="ja-JP" sz="2600">
                    <a:latin typeface="Arial" panose="020B0604020202020204" pitchFamily="34" charset="0"/>
                  </a:rPr>
                  <a:t>LOS</a:t>
                </a:r>
                <a:r>
                  <a:rPr lang="ja-JP" altLang="en-US" sz="2600">
                    <a:latin typeface="Arial" panose="020B0604020202020204" pitchFamily="34" charset="0"/>
                  </a:rPr>
                  <a:t>誤差</a:t>
                </a:r>
                <a:r>
                  <a:rPr lang="ja-JP" altLang="ja-JP" sz="2600" dirty="0">
                    <a:latin typeface="Arial" panose="020B0604020202020204" pitchFamily="34" charset="0"/>
                  </a:rPr>
                  <a:t>を推定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latin typeface="Arial" panose="020B0604020202020204" pitchFamily="34" charset="0"/>
                  </a:rPr>
                  <a:t>の一次関係</a:t>
                </a:r>
                <a:r>
                  <a:rPr lang="ja-JP" altLang="en-US" sz="2600" dirty="0">
                    <a:latin typeface="Arial" panose="020B0604020202020204" pitchFamily="34" charset="0"/>
                  </a:rPr>
                  <a:t>とその係数</a:t>
                </a:r>
                <a:r>
                  <a:rPr lang="en-US" altLang="ja-JP" sz="2600" dirty="0">
                    <a:latin typeface="Arial" panose="020B0604020202020204" pitchFamily="34" charset="0"/>
                  </a:rPr>
                  <a:t>K</a:t>
                </a:r>
                <a:r>
                  <a:rPr lang="ja-JP" altLang="ja-JP" sz="2600" dirty="0">
                    <a:latin typeface="Arial" panose="020B0604020202020204" pitchFamily="34" charset="0"/>
                  </a:rPr>
                  <a:t>を地上試験で検証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温度センサ値からリアルタイムLOS推定を想定</a:t>
                </a:r>
                <a:r>
                  <a:rPr lang="ja-JP" altLang="en-US" sz="2600" dirty="0">
                    <a:latin typeface="Arial" panose="020B0604020202020204" pitchFamily="34" charset="0"/>
                  </a:rPr>
                  <a:t>する点で本研究に近い</a:t>
                </a:r>
                <a:endParaRPr sz="2600" dirty="0">
                  <a:solidFill>
                    <a:srgbClr val="232B34"/>
                  </a:solidFill>
                  <a:latin typeface="Arial" panose="020B0604020202020204" pitchFamily="34" charset="0"/>
                </a:endParaRPr>
              </a:p>
            </p:txBody>
          </p:sp>
        </mc:Choice>
        <mc:Fallback>
          <p:sp>
            <p:nvSpPr>
              <p:cNvPr id="7" name="TextBox 6"/>
              <p:cNvSpPr txBox="1">
                <a:spLocks noRot="1" noChangeAspect="1" noMove="1" noResize="1" noEditPoints="1" noAdjustHandles="1" noChangeArrowheads="1" noChangeShapeType="1" noTextEdit="1"/>
              </p:cNvSpPr>
              <p:nvPr/>
            </p:nvSpPr>
            <p:spPr>
              <a:xfrm>
                <a:off x="1637754" y="4389120"/>
                <a:ext cx="5503519" cy="3098284"/>
              </a:xfrm>
              <a:prstGeom prst="rect">
                <a:avLst/>
              </a:prstGeom>
              <a:blipFill>
                <a:blip r:embed="rId3"/>
                <a:stretch>
                  <a:fillRect l="-3215" t="-2362" b="-4134"/>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latin typeface="Arial" panose="020B0604020202020204" pitchFamily="34" charset="0"/>
              </a:rPr>
              <a:t>本研究の貢献は、</a:t>
            </a:r>
            <a:endParaRPr lang="en-US" altLang="ja-JP" sz="2800" b="1" dirty="0">
              <a:solidFill>
                <a:schemeClr val="accent2"/>
              </a:solidFill>
              <a:latin typeface="Arial" panose="020B0604020202020204" pitchFamily="34" charset="0"/>
            </a:endParaRPr>
          </a:p>
          <a:p>
            <a:pPr algn="ctr"/>
            <a:r>
              <a:rPr lang="ja-JP" altLang="ja-JP" sz="2800" b="1" dirty="0">
                <a:solidFill>
                  <a:schemeClr val="accent2"/>
                </a:solidFill>
                <a:latin typeface="Arial" panose="020B0604020202020204" pitchFamily="34" charset="0"/>
              </a:rPr>
              <a:t>温度差–LOS</a:t>
            </a:r>
            <a:r>
              <a:rPr lang="ja-JP" altLang="en-US" sz="2800" b="1" dirty="0">
                <a:solidFill>
                  <a:schemeClr val="accent2"/>
                </a:solidFill>
                <a:latin typeface="Arial" panose="020B0604020202020204" pitchFamily="34" charset="0"/>
              </a:rPr>
              <a:t>の一次</a:t>
            </a:r>
            <a:r>
              <a:rPr lang="ja-JP" altLang="ja-JP" sz="2800" b="1" dirty="0">
                <a:solidFill>
                  <a:schemeClr val="accent2"/>
                </a:solidFill>
                <a:latin typeface="Arial" panose="020B0604020202020204" pitchFamily="34" charset="0"/>
              </a:rPr>
              <a:t>関係を衛星バス上のSTT–LCT相対LOS</a:t>
            </a:r>
            <a:r>
              <a:rPr lang="ja-JP" altLang="en-US" sz="2800" b="1" dirty="0">
                <a:solidFill>
                  <a:schemeClr val="accent2"/>
                </a:solidFill>
                <a:latin typeface="Arial" panose="020B0604020202020204" pitchFamily="34" charset="0"/>
              </a:rPr>
              <a:t>予測</a:t>
            </a:r>
            <a:r>
              <a:rPr lang="ja-JP" altLang="ja-JP" sz="2800" b="1" dirty="0">
                <a:solidFill>
                  <a:schemeClr val="accent2"/>
                </a:solidFill>
                <a:latin typeface="Arial" panose="020B0604020202020204" pitchFamily="34" charset="0"/>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6955496" y="3246120"/>
            <a:ext cx="1750607" cy="486287"/>
          </a:xfrm>
          <a:prstGeom prst="rect">
            <a:avLst/>
          </a:prstGeom>
          <a:noFill/>
        </p:spPr>
        <p:txBody>
          <a:bodyPr wrap="none" lIns="36576" tIns="27432" rIns="36576" bIns="27432" anchor="t">
            <a:spAutoFit/>
          </a:bodyPr>
          <a:lstStyle/>
          <a:p>
            <a:pPr algn="ctr"/>
            <a:r>
              <a:rPr lang="en-US" sz="2800" b="1">
                <a:solidFill>
                  <a:srgbClr val="1B74AA"/>
                </a:solidFill>
                <a:latin typeface="Arial" panose="020B0604020202020204" pitchFamily="34" charset="0"/>
              </a:rPr>
              <a:t>This work</a:t>
            </a:r>
            <a:endParaRPr lang="en-US" sz="2800" b="1" dirty="0">
              <a:solidFill>
                <a:srgbClr val="1B74AA"/>
              </a:solidFill>
              <a:latin typeface="Arial" panose="020B0604020202020204" pitchFamily="34" charset="0"/>
            </a:endParaRP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ja-JP" altLang="ja-JP" sz="2600" dirty="0">
                <a:latin typeface="Arial" panose="020B0604020202020204" pitchFamily="34" charset="0"/>
              </a:rPr>
              <a:t>衛星バス上のSTT–LCT相対LOSを対象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太陽指向面–反対面温度差から軌道内変動を予測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発熱・被覆・軌道条件によるケースDCを階層化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予測LOSをscan center補正へ入力 捕捉成功率・捕捉時間まで評価</a:t>
            </a:r>
            <a:endParaRPr lang="en-US" altLang="ja-JP" sz="2600" dirty="0">
              <a:latin typeface="Arial" panose="020B0604020202020204" pitchFamily="34" charset="0"/>
            </a:endParaRPr>
          </a:p>
          <a:p>
            <a:pPr>
              <a:spcAft>
                <a:spcPts val="800"/>
              </a:spcAft>
            </a:pPr>
            <a:r>
              <a:rPr lang="en-US" altLang="ja-JP" sz="2600" b="1">
                <a:solidFill>
                  <a:srgbClr val="1B74AA"/>
                </a:solidFill>
                <a:latin typeface="Arial" panose="020B0604020202020204" pitchFamily="34" charset="0"/>
              </a:rPr>
              <a:t>• </a:t>
            </a:r>
            <a:r>
              <a:rPr lang="en-US" altLang="ja-JP" sz="2600">
                <a:latin typeface="Arial" panose="020B0604020202020204" pitchFamily="34" charset="0"/>
              </a:rPr>
              <a:t>※</a:t>
            </a:r>
            <a:r>
              <a:rPr lang="ja-JP" altLang="en-US" sz="2600" dirty="0">
                <a:latin typeface="Arial" panose="020B0604020202020204" pitchFamily="34" charset="0"/>
              </a:rPr>
              <a:t>非支配軸・別構造・飛行実証は未評価</a:t>
            </a:r>
            <a:endParaRPr sz="2600" dirty="0">
              <a:latin typeface="Arial" panose="020B0604020202020204" pitchFamily="34" charset="0"/>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latin typeface="Arial" panose="020B0604020202020204" pitchFamily="34" charset="0"/>
              </a:rPr>
              <a:t>25 cm</a:t>
            </a:r>
            <a:r>
              <a:rPr kumimoji="1" lang="ja-JP" altLang="en-US" dirty="0">
                <a:latin typeface="Arial" panose="020B0604020202020204" pitchFamily="34" charset="0"/>
              </a:rPr>
              <a:t>程度</a:t>
            </a:r>
          </a:p>
        </p:txBody>
      </p:sp>
      <mc:AlternateContent xmlns:mc="http://schemas.openxmlformats.org/markup-compatibility/2006">
        <mc:Choice xmlns:a14="http://schemas.microsoft.com/office/drawing/2010/main"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latin typeface="Arial" panose="020B0604020202020204" pitchFamily="34" charset="0"/>
                </a:endParaRPr>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latin typeface="Arial" panose="020B0604020202020204" pitchFamily="34" charset="0"/>
                </a:endParaRPr>
              </a:p>
              <a:p>
                <a:pPr algn="ctr"/>
                <a:endParaRPr lang="en-US" altLang="ja-JP" sz="2800" b="1" dirty="0">
                  <a:solidFill>
                    <a:srgbClr val="082B52"/>
                  </a:solidFill>
                </a:endParaRPr>
              </a:p>
            </p:txBody>
          </p:sp>
        </mc:Choice>
        <mc:Fallback>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latin typeface="Arial" panose="020B0604020202020204" pitchFamily="34" charset="0"/>
              </a:rPr>
              <a:t>Optical Wall</a:t>
            </a:r>
            <a:endParaRPr kumimoji="1" lang="ja-JP" altLang="en-US" dirty="0">
              <a:latin typeface="Arial" panose="020B0604020202020204" pitchFamily="34" charset="0"/>
            </a:endParaRPr>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latin typeface="Arial" panose="020B0604020202020204" pitchFamily="34" charset="0"/>
              </a:rPr>
              <a:t>Buffle</a:t>
            </a:r>
            <a:r>
              <a:rPr kumimoji="1" lang="en-US" altLang="ja-JP" dirty="0">
                <a:latin typeface="Arial" panose="020B0604020202020204" pitchFamily="34" charset="0"/>
              </a:rPr>
              <a:t> Wall</a:t>
            </a:r>
            <a:endParaRPr kumimoji="1" lang="ja-JP" altLang="en-US" dirty="0">
              <a:latin typeface="Arial" panose="020B0604020202020204" pitchFamily="34"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983894"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PAT simulation conditions</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r>
              <a:rPr lang="ja-JP" altLang="ja-JP" sz="3200" b="1" dirty="0">
                <a:latin typeface="Arial" panose="020B0604020202020204" pitchFamily="34" charset="0"/>
              </a:rPr>
              <a:t>粗捕捉は矩形スパイラルの離散走査として簡略化する</a:t>
            </a:r>
            <a:endParaRPr lang="ja-JP" altLang="ja-JP" sz="3200" dirty="0">
              <a:latin typeface="Arial" panose="020B0604020202020204" pitchFamily="34" charset="0"/>
            </a:endParaRPr>
          </a:p>
        </p:txBody>
      </p:sp>
      <p:sp>
        <p:nvSpPr>
          <p:cNvPr id="4" name="TextBox 3"/>
          <p:cNvSpPr txBox="1"/>
          <p:nvPr/>
        </p:nvSpPr>
        <p:spPr>
          <a:xfrm>
            <a:off x="23444053" y="12819888"/>
            <a:ext cx="330347" cy="332399"/>
          </a:xfrm>
          <a:prstGeom prst="rect">
            <a:avLst/>
          </a:prstGeom>
          <a:noFill/>
        </p:spPr>
        <p:txBody>
          <a:bodyPr wrap="none" lIns="36576" tIns="27432" rIns="36576" bIns="27432" anchor="t">
            <a:spAutoFit/>
          </a:bodyPr>
          <a:lstStyle/>
          <a:p>
            <a:pPr algn="r"/>
            <a:r>
              <a:rPr lang="en-US" dirty="0">
                <a:solidFill>
                  <a:srgbClr val="666F79"/>
                </a:solidFill>
                <a:latin typeface="Arial" panose="020B0604020202020204" pitchFamily="34" charset="0"/>
              </a:rPr>
              <a:t>25</a:t>
            </a:r>
            <a:endParaRPr sz="1800" b="0" dirty="0">
              <a:solidFill>
                <a:srgbClr val="666F79"/>
              </a:solidFill>
              <a:latin typeface="Arial" panose="020B0604020202020204" pitchFamily="34" charset="0"/>
            </a:endParaRPr>
          </a:p>
        </p:txBody>
      </p:sp>
      <p:graphicFrame>
        <p:nvGraphicFramePr>
          <p:cNvPr id="28" name="Table 27"/>
          <p:cNvGraphicFramePr>
            <a:graphicFrameLocks noGrp="1"/>
          </p:cNvGraphicFramePr>
          <p:nvPr>
            <p:extLst>
              <p:ext uri="{D42A27DB-BD31-4B8C-83A1-F6EECF244321}">
                <p14:modId xmlns:p14="http://schemas.microsoft.com/office/powerpoint/2010/main" val="2038516894"/>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latin typeface="Arial" panose="020B0604020202020204" pitchFamily="34" charset="0"/>
                        </a:rPr>
                        <a:t>パラメータ</a:t>
                      </a:r>
                    </a:p>
                  </a:txBody>
                  <a:tcPr anchor="ctr">
                    <a:solidFill>
                      <a:srgbClr val="082B52"/>
                    </a:solidFill>
                  </a:tcPr>
                </a:tc>
                <a:tc>
                  <a:txBody>
                    <a:bodyPr/>
                    <a:lstStyle/>
                    <a:p>
                      <a:pPr algn="l">
                        <a:buNone/>
                      </a:pPr>
                      <a:r>
                        <a:rPr lang="ja-JP" sz="2400">
                          <a:latin typeface="Arial" panose="020B0604020202020204" pitchFamily="34" charset="0"/>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latin typeface="Arial" panose="020B0604020202020204" pitchFamily="34" charset="0"/>
                        </a:rPr>
                        <a:t>走査範囲</a:t>
                      </a:r>
                    </a:p>
                  </a:txBody>
                  <a:tcPr anchor="ctr">
                    <a:solidFill>
                      <a:srgbClr val="FFFFFF"/>
                    </a:solidFill>
                  </a:tcPr>
                </a:tc>
                <a:tc>
                  <a:txBody>
                    <a:bodyPr/>
                    <a:lstStyle/>
                    <a:p>
                      <a:pPr algn="l">
                        <a:buNone/>
                      </a:pPr>
                      <a:r>
                        <a:rPr lang="en-US" altLang="ja-JP" sz="2400">
                          <a:latin typeface="Arial" panose="020B0604020202020204" pitchFamily="34" charset="0"/>
                        </a:rPr>
                        <a:t>±1600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latin typeface="Arial" panose="020B0604020202020204" pitchFamily="34" charset="0"/>
                        </a:rPr>
                        <a:t>点間隔</a:t>
                      </a:r>
                    </a:p>
                  </a:txBody>
                  <a:tcPr anchor="ctr">
                    <a:solidFill>
                      <a:srgbClr val="F4F6F8"/>
                    </a:solidFill>
                  </a:tcPr>
                </a:tc>
                <a:tc>
                  <a:txBody>
                    <a:bodyPr/>
                    <a:lstStyle/>
                    <a:p>
                      <a:pPr algn="l">
                        <a:buNone/>
                      </a:pPr>
                      <a:r>
                        <a:rPr lang="en-US" altLang="ja-JP" sz="2400">
                          <a:latin typeface="Arial" panose="020B0604020202020204" pitchFamily="34" charset="0"/>
                        </a:rPr>
                        <a:t>40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latin typeface="Arial" panose="020B0604020202020204" pitchFamily="34" charset="0"/>
                        </a:rPr>
                        <a:t>検出半径</a:t>
                      </a:r>
                    </a:p>
                  </a:txBody>
                  <a:tcPr anchor="ctr">
                    <a:solidFill>
                      <a:srgbClr val="FFFFFF"/>
                    </a:solidFill>
                  </a:tcPr>
                </a:tc>
                <a:tc>
                  <a:txBody>
                    <a:bodyPr/>
                    <a:lstStyle/>
                    <a:p>
                      <a:pPr algn="l">
                        <a:buNone/>
                      </a:pPr>
                      <a:r>
                        <a:rPr lang="en-US" altLang="ja-JP" sz="2400">
                          <a:latin typeface="Arial" panose="020B0604020202020204" pitchFamily="34" charset="0"/>
                        </a:rPr>
                        <a:t>25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latin typeface="Arial" panose="020B0604020202020204" pitchFamily="34" charset="0"/>
                        </a:rPr>
                        <a:t>滞在時間</a:t>
                      </a:r>
                    </a:p>
                  </a:txBody>
                  <a:tcPr anchor="ctr">
                    <a:solidFill>
                      <a:srgbClr val="F4F6F8"/>
                    </a:solidFill>
                  </a:tcPr>
                </a:tc>
                <a:tc>
                  <a:txBody>
                    <a:bodyPr/>
                    <a:lstStyle/>
                    <a:p>
                      <a:pPr algn="l">
                        <a:buNone/>
                      </a:pPr>
                      <a:r>
                        <a:rPr lang="ja-JP" sz="2400" dirty="0">
                          <a:latin typeface="Arial" panose="020B0604020202020204" pitchFamily="34" charset="0"/>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latin typeface="Arial" panose="020B0604020202020204" pitchFamily="34" charset="0"/>
                        </a:rPr>
                        <a:t>総走査点数</a:t>
                      </a:r>
                    </a:p>
                  </a:txBody>
                  <a:tcPr anchor="ctr">
                    <a:solidFill>
                      <a:srgbClr val="FFFFFF"/>
                    </a:solidFill>
                  </a:tcPr>
                </a:tc>
                <a:tc>
                  <a:txBody>
                    <a:bodyPr/>
                    <a:lstStyle/>
                    <a:p>
                      <a:pPr algn="l">
                        <a:buNone/>
                      </a:pPr>
                      <a:r>
                        <a:rPr lang="ja-JP" sz="2400" dirty="0">
                          <a:latin typeface="Arial" panose="020B0604020202020204" pitchFamily="34" charset="0"/>
                        </a:rPr>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latin typeface="Arial" panose="020B0604020202020204" pitchFamily="34" charset="0"/>
                        </a:rPr>
                        <a:t>最大走査時間</a:t>
                      </a:r>
                    </a:p>
                  </a:txBody>
                  <a:tcPr anchor="ctr">
                    <a:solidFill>
                      <a:srgbClr val="F4F6F8"/>
                    </a:solidFill>
                  </a:tcPr>
                </a:tc>
                <a:tc>
                  <a:txBody>
                    <a:bodyPr/>
                    <a:lstStyle/>
                    <a:p>
                      <a:pPr algn="l">
                        <a:buNone/>
                      </a:pPr>
                      <a:r>
                        <a:rPr lang="en-US" altLang="ja-JP" sz="2400">
                          <a:latin typeface="Arial" panose="020B0604020202020204" pitchFamily="34" charset="0"/>
                        </a:rPr>
                        <a:t>656.1 s</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latin typeface="Arial" panose="020B0604020202020204" pitchFamily="34" charset="0"/>
              </a:rPr>
              <a:t>簡略化：点間移動・整定時間・受光強度の確率変動は</a:t>
            </a:r>
            <a:r>
              <a:rPr lang="ja-JP" altLang="ja-JP" sz="2400" b="1">
                <a:solidFill>
                  <a:schemeClr val="accent2"/>
                </a:solidFill>
                <a:latin typeface="Arial" panose="020B0604020202020204" pitchFamily="34" charset="0"/>
              </a:rPr>
              <a:t>考慮しない</a:t>
            </a:r>
            <a:br>
              <a:rPr lang="en-US" altLang="ja-JP" sz="2400">
                <a:solidFill>
                  <a:schemeClr val="accent2"/>
                </a:solidFill>
                <a:latin typeface="Arial" panose="020B0604020202020204" pitchFamily="34" charset="0"/>
              </a:rPr>
            </a:br>
            <a:r>
              <a:rPr lang="ja-JP" altLang="ja-JP" sz="2400" b="1">
                <a:solidFill>
                  <a:schemeClr val="accent2"/>
                </a:solidFill>
                <a:latin typeface="Arial" panose="020B0604020202020204" pitchFamily="34" charset="0"/>
              </a:rPr>
              <a:t>各走査点</a:t>
            </a:r>
            <a:r>
              <a:rPr lang="ja-JP" altLang="ja-JP" sz="2400" b="1" dirty="0">
                <a:solidFill>
                  <a:schemeClr val="accent2"/>
                </a:solidFill>
                <a:latin typeface="Arial" panose="020B0604020202020204" pitchFamily="34" charset="0"/>
              </a:rPr>
              <a:t>を独立な捕捉機会として評価する</a:t>
            </a:r>
            <a:endParaRPr sz="2400" b="1" dirty="0">
              <a:solidFill>
                <a:schemeClr val="accent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1264499"/>
            <a:ext cx="8437790" cy="954107"/>
          </a:xfrm>
          <a:prstGeom prst="rect">
            <a:avLst/>
          </a:prstGeom>
          <a:noFill/>
        </p:spPr>
        <p:txBody>
          <a:bodyPr wrap="square">
            <a:spAutoFit/>
          </a:bodyPr>
          <a:lstStyle/>
          <a:p>
            <a:r>
              <a:rPr lang="ja-JP" altLang="ja-JP" sz="2800" b="1" dirty="0">
                <a:latin typeface="Arial" panose="020B0604020202020204" pitchFamily="34" charset="0"/>
              </a:rPr>
              <a:t>真の指向誤差が検出半径内に入った最初の走査点を捕捉時刻とする</a:t>
            </a:r>
            <a:endParaRPr lang="ja-JP" altLang="en-US" sz="2800" b="1" dirty="0">
              <a:latin typeface="Arial" panose="020B0604020202020204" pitchFamily="34" charset="0"/>
            </a:endParaRPr>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latin typeface="Arial" panose="020B0604020202020204" pitchFamily="34" charset="0"/>
              </a:rPr>
              <a:t>※</a:t>
            </a:r>
            <a:r>
              <a:rPr lang="ja-JP" altLang="en-US" dirty="0">
                <a:latin typeface="Arial" panose="020B0604020202020204" pitchFamily="34" charset="0"/>
              </a:rPr>
              <a:t>妥当な</a:t>
            </a:r>
            <a:r>
              <a:rPr lang="ja-JP" altLang="ja-JP" dirty="0">
                <a:latin typeface="Arial" panose="020B0604020202020204" pitchFamily="34" charset="0"/>
              </a:rPr>
              <a:t>検出半径またはstep</a:t>
            </a:r>
            <a:r>
              <a:rPr lang="ja-JP" altLang="en-US" dirty="0">
                <a:latin typeface="Arial" panose="020B0604020202020204" pitchFamily="34" charset="0"/>
              </a:rPr>
              <a:t>は</a:t>
            </a:r>
            <a:r>
              <a:rPr lang="ja-JP" altLang="ja-JP" dirty="0">
                <a:latin typeface="Arial" panose="020B0604020202020204" pitchFamily="34" charset="0"/>
              </a:rPr>
              <a:t>後で再検討する</a:t>
            </a:r>
            <a:endParaRPr lang="ja-JP" altLang="en-US" dirty="0">
              <a:latin typeface="Arial" panose="020B0604020202020204" pitchFamily="34" charset="0"/>
            </a:endParaRPr>
          </a:p>
        </p:txBody>
      </p:sp>
      <p:pic>
        <p:nvPicPr>
          <p:cNvPr id="33" name="図 32">
            <a:extLst>
              <a:ext uri="{FF2B5EF4-FFF2-40B4-BE49-F238E27FC236}">
                <a16:creationId xmlns:a16="http://schemas.microsoft.com/office/drawing/2014/main" id="{7F87C8AD-757E-FFE0-B245-95A29790F9FC}"/>
              </a:ext>
            </a:extLst>
          </p:cNvPr>
          <p:cNvPicPr>
            <a:picLocks noChangeAspect="1"/>
          </p:cNvPicPr>
          <p:nvPr/>
        </p:nvPicPr>
        <p:blipFill>
          <a:blip r:embed="rId3"/>
          <a:stretch>
            <a:fillRect/>
          </a:stretch>
        </p:blipFill>
        <p:spPr>
          <a:xfrm>
            <a:off x="1075418" y="3235223"/>
            <a:ext cx="8437790" cy="760984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422266"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Orbit prediction error</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pPr algn="l"/>
            <a:r>
              <a:rPr lang="ja-JP" altLang="en-US" sz="3200" b="1" dirty="0">
                <a:solidFill>
                  <a:srgbClr val="082B52"/>
                </a:solidFill>
                <a:latin typeface="Arial" panose="020B0604020202020204" pitchFamily="34" charset="0"/>
              </a:rPr>
              <a:t>軌道予測誤差：自身の</a:t>
            </a:r>
            <a:r>
              <a:rPr sz="3200" b="1" dirty="0" err="1">
                <a:solidFill>
                  <a:srgbClr val="082B52"/>
                </a:solidFill>
                <a:latin typeface="Arial" panose="020B0604020202020204" pitchFamily="34" charset="0"/>
              </a:rPr>
              <a:t>位置誤差をリンクLOS横断面へ投影し</a:t>
            </a:r>
            <a:r>
              <a:rPr sz="3200" b="1" dirty="0">
                <a:solidFill>
                  <a:srgbClr val="082B52"/>
                </a:solidFill>
                <a:latin typeface="Arial" panose="020B0604020202020204" pitchFamily="34" charset="0"/>
              </a:rPr>
              <a:t>、</a:t>
            </a:r>
            <a:r>
              <a:rPr lang="ja-JP" altLang="en-US" sz="3200" b="1" dirty="0">
                <a:solidFill>
                  <a:srgbClr val="082B52"/>
                </a:solidFill>
                <a:latin typeface="Arial" panose="020B0604020202020204" pitchFamily="34" charset="0"/>
              </a:rPr>
              <a:t>衛星の座標系 </a:t>
            </a:r>
            <a:r>
              <a:rPr sz="3200" b="1" dirty="0">
                <a:solidFill>
                  <a:srgbClr val="082B52"/>
                </a:solidFill>
                <a:latin typeface="Arial" panose="020B0604020202020204" pitchFamily="34" charset="0"/>
              </a:rPr>
              <a:t>STT/body x–</a:t>
            </a:r>
            <a:r>
              <a:rPr sz="3200" b="1" dirty="0" err="1">
                <a:solidFill>
                  <a:srgbClr val="082B52"/>
                </a:solidFill>
                <a:latin typeface="Arial" panose="020B0604020202020204" pitchFamily="34" charset="0"/>
              </a:rPr>
              <a:t>yへ変換する</a:t>
            </a:r>
            <a:endParaRPr sz="3200" b="1" dirty="0">
              <a:solidFill>
                <a:srgbClr val="082B52"/>
              </a:solidFill>
              <a:latin typeface="Arial" panose="020B0604020202020204" pitchFamily="34" charset="0"/>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Arial" panose="020B0604020202020204" pitchFamily="34" charset="0"/>
              </a:rPr>
              <a:t>26</a:t>
            </a:r>
            <a:endParaRPr sz="1800" b="0" dirty="0">
              <a:solidFill>
                <a:srgbClr val="666F79"/>
              </a:solidFill>
              <a:latin typeface="Arial" panose="020B0604020202020204" pitchFamily="34" charset="0"/>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1405513"/>
          </a:xfrm>
          <a:prstGeom prst="rect">
            <a:avLst/>
          </a:prstGeom>
          <a:noFill/>
        </p:spPr>
        <p:txBody>
          <a:bodyPr wrap="square" lIns="27432" rIns="27432">
            <a:spAutoFit/>
          </a:bodyPr>
          <a:lstStyle/>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orbit </a:t>
            </a:r>
            <a:r>
              <a:rPr sz="2400" dirty="0" err="1">
                <a:solidFill>
                  <a:srgbClr val="232B34"/>
                </a:solidFill>
                <a:latin typeface="Arial" panose="020B0604020202020204" pitchFamily="34" charset="0"/>
              </a:rPr>
              <a:t>catalogから姿勢を構成</a:t>
            </a:r>
            <a:endParaRPr sz="2400" dirty="0">
              <a:solidFill>
                <a:srgbClr val="232B34"/>
              </a:solidFill>
              <a:latin typeface="Arial" panose="020B0604020202020204" pitchFamily="34" charset="0"/>
            </a:endParaRPr>
          </a:p>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STT</a:t>
            </a:r>
            <a:r>
              <a:rPr sz="2400" dirty="0">
                <a:solidFill>
                  <a:srgbClr val="232B34"/>
                </a:solidFill>
                <a:latin typeface="Arial" panose="020B0604020202020204" pitchFamily="34" charset="0"/>
              </a:rPr>
              <a:t>/body x–</a:t>
            </a:r>
            <a:r>
              <a:rPr sz="2400" dirty="0" err="1">
                <a:solidFill>
                  <a:srgbClr val="232B34"/>
                </a:solidFill>
                <a:latin typeface="Arial" panose="020B0604020202020204" pitchFamily="34" charset="0"/>
              </a:rPr>
              <a:t>yへ射影</a:t>
            </a:r>
            <a:endParaRPr sz="2400" dirty="0">
              <a:solidFill>
                <a:srgbClr val="232B34"/>
              </a:solidFill>
              <a:latin typeface="Arial" panose="020B0604020202020204" pitchFamily="34" charset="0"/>
            </a:endParaRPr>
          </a:p>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熱</a:t>
            </a:r>
            <a:r>
              <a:rPr sz="2400" dirty="0">
                <a:solidFill>
                  <a:srgbClr val="232B34"/>
                </a:solidFill>
                <a:latin typeface="Arial" panose="020B0604020202020204" pitchFamily="34" charset="0"/>
              </a:rPr>
              <a:t>LOSと同じ2成分で加算</a:t>
            </a:r>
          </a:p>
        </p:txBody>
      </p:sp>
      <p:graphicFrame>
        <p:nvGraphicFramePr>
          <p:cNvPr id="9" name="Table 8"/>
          <p:cNvGraphicFramePr>
            <a:graphicFrameLocks noGrp="1"/>
          </p:cNvGraphicFramePr>
          <p:nvPr>
            <p:extLst>
              <p:ext uri="{D42A27DB-BD31-4B8C-83A1-F6EECF244321}">
                <p14:modId xmlns:p14="http://schemas.microsoft.com/office/powerpoint/2010/main" val="1704364385"/>
              </p:ext>
            </p:extLst>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lang="en-US" sz="2100" b="1">
                          <a:solidFill>
                            <a:srgbClr val="FFFFFF"/>
                          </a:solidFill>
                          <a:latin typeface="Arial" panose="020B0604020202020204" pitchFamily="34" charset="0"/>
                        </a:rPr>
                        <a:t>Sun</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r>
                        <a:rPr lang="en-US" sz="2100" b="1">
                          <a:solidFill>
                            <a:srgbClr val="FFFFFF"/>
                          </a:solidFill>
                          <a:latin typeface="Arial" panose="020B0604020202020204" pitchFamily="34" charset="0"/>
                        </a:rPr>
                        <a:t>Partner / link</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r>
                        <a:rPr lang="en-US" sz="2100" b="1">
                          <a:solidFill>
                            <a:srgbClr val="FFFFFF"/>
                          </a:solidFill>
                          <a:latin typeface="Arial" panose="020B0604020202020204" pitchFamily="34" charset="0"/>
                        </a:rPr>
                        <a:t>Status</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lang="en-US" sz="2100" b="0">
                          <a:solidFill>
                            <a:srgbClr val="232B34"/>
                          </a:solidFill>
                          <a:latin typeface="Arial" panose="020B0604020202020204" pitchFamily="34" charset="0"/>
                        </a:rPr>
                        <a:t>MY</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along-track ISL 800 km</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lang="en-US" sz="2100" b="0">
                          <a:solidFill>
                            <a:srgbClr val="232B34"/>
                          </a:solidFill>
                          <a:latin typeface="Arial" panose="020B0604020202020204" pitchFamily="34" charset="0"/>
                        </a:rPr>
                        <a:t>PY</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anti-along ISL 800 km</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lang="en-US" sz="2100" b="0">
                          <a:solidFill>
                            <a:srgbClr val="232B34"/>
                          </a:solidFill>
                          <a:latin typeface="Arial" panose="020B0604020202020204" pitchFamily="34" charset="0"/>
                        </a:rPr>
                        <a:t>PX</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nadir ground ~695 km</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lang="en-US" sz="2100" b="0">
                          <a:solidFill>
                            <a:srgbClr val="232B34"/>
                          </a:solidFill>
                          <a:latin typeface="Arial" panose="020B0604020202020204" pitchFamily="34" charset="0"/>
                        </a:rPr>
                        <a:t>MX</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zenith proxy 800 km</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unrealistic</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a:solidFill>
                  <a:schemeClr val="tx2">
                    <a:lumMod val="50000"/>
                  </a:schemeClr>
                </a:solidFill>
                <a:latin typeface="Arial" panose="020B0604020202020204" pitchFamily="34" charset="0"/>
              </a:rPr>
              <a:t>※ LCT</a:t>
            </a:r>
            <a:r>
              <a:rPr lang="ja-JP" altLang="en-US" sz="2400" dirty="0">
                <a:solidFill>
                  <a:schemeClr val="tx2">
                    <a:lumMod val="50000"/>
                  </a:schemeClr>
                </a:solidFill>
                <a:latin typeface="Arial" panose="020B0604020202020204" pitchFamily="34" charset="0"/>
              </a:rPr>
              <a:t>の指向面ごとに、通信相手は地上局</a:t>
            </a:r>
            <a:r>
              <a:rPr lang="en-US" altLang="ja-JP" sz="2400" dirty="0">
                <a:solidFill>
                  <a:schemeClr val="tx2">
                    <a:lumMod val="50000"/>
                  </a:schemeClr>
                </a:solidFill>
                <a:latin typeface="Arial" panose="020B0604020202020204" pitchFamily="34" charset="0"/>
              </a:rPr>
              <a:t>/</a:t>
            </a:r>
            <a:r>
              <a:rPr lang="ja-JP" altLang="en-US" sz="2400" dirty="0">
                <a:solidFill>
                  <a:schemeClr val="tx2">
                    <a:lumMod val="50000"/>
                  </a:schemeClr>
                </a:solidFill>
                <a:latin typeface="Arial" panose="020B0604020202020204" pitchFamily="34" charset="0"/>
              </a:rPr>
              <a:t>衛星をそれぞれ設定</a:t>
            </a:r>
            <a:endParaRPr lang="en-US" altLang="ja-JP" sz="2400" dirty="0">
              <a:solidFill>
                <a:schemeClr val="tx2">
                  <a:lumMod val="50000"/>
                </a:schemeClr>
              </a:solidFill>
              <a:latin typeface="Arial" panose="020B0604020202020204" pitchFamily="34" charset="0"/>
            </a:endParaRPr>
          </a:p>
          <a:p>
            <a:r>
              <a:rPr lang="en-US" altLang="ja-JP" sz="2400" dirty="0">
                <a:solidFill>
                  <a:schemeClr val="tx2">
                    <a:lumMod val="50000"/>
                  </a:schemeClr>
                </a:solidFill>
                <a:latin typeface="Arial" panose="020B0604020202020204" pitchFamily="34" charset="0"/>
              </a:rPr>
              <a:t>※ </a:t>
            </a:r>
            <a:r>
              <a:rPr sz="2400" err="1">
                <a:solidFill>
                  <a:schemeClr val="tx2">
                    <a:lumMod val="50000"/>
                  </a:schemeClr>
                </a:solidFill>
                <a:latin typeface="Yu Gothic"/>
              </a:rPr>
              <a:t>MX</a:t>
            </a:r>
            <a:r>
              <a:rPr sz="2400">
                <a:solidFill>
                  <a:schemeClr val="tx2">
                    <a:lumMod val="50000"/>
                  </a:schemeClr>
                </a:solidFill>
                <a:latin typeface="Yu Gothic"/>
              </a:rPr>
              <a:t>は角度計算可能だが</a:t>
            </a:r>
            <a:r>
              <a:rPr lang="ja-JP" altLang="en-US" sz="2400">
                <a:solidFill>
                  <a:schemeClr val="tx2">
                    <a:lumMod val="50000"/>
                  </a:schemeClr>
                </a:solidFill>
                <a:latin typeface="Arial" panose="020B0604020202020204" pitchFamily="34" charset="0"/>
              </a:rPr>
              <a:t>、</a:t>
            </a:r>
            <a:r>
              <a:rPr lang="en-US" altLang="ja-JP" sz="2400">
                <a:solidFill>
                  <a:schemeClr val="tx2">
                    <a:lumMod val="50000"/>
                  </a:schemeClr>
                </a:solidFill>
                <a:latin typeface="Arial" panose="020B0604020202020204" pitchFamily="34" charset="0"/>
              </a:rPr>
              <a:t>LCT</a:t>
            </a:r>
            <a:r>
              <a:rPr lang="ja-JP" altLang="en-US" sz="2400" dirty="0">
                <a:solidFill>
                  <a:schemeClr val="tx2">
                    <a:lumMod val="50000"/>
                  </a:schemeClr>
                </a:solidFill>
                <a:latin typeface="Arial" panose="020B0604020202020204" pitchFamily="34" charset="0"/>
              </a:rPr>
              <a:t>が天頂方向のため、</a:t>
            </a:r>
            <a:r>
              <a:rPr sz="2400" dirty="0" err="1">
                <a:solidFill>
                  <a:schemeClr val="tx2">
                    <a:lumMod val="50000"/>
                  </a:schemeClr>
                </a:solidFill>
                <a:latin typeface="Arial" panose="020B0604020202020204" pitchFamily="34" charset="0"/>
              </a:rPr>
              <a:t>現実的リンクではない</a:t>
            </a:r>
            <a:endParaRPr sz="2400" dirty="0">
              <a:solidFill>
                <a:schemeClr val="tx2">
                  <a:lumMod val="50000"/>
                </a:schemeClr>
              </a:solidFill>
              <a:latin typeface="Arial" panose="020B0604020202020204" pitchFamily="34"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B1｜21ケースの内訳と評価ID</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B1</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351869942"/>
              </p:ext>
            </p:extLst>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spcAft>
                          <a:spcPts val="0"/>
                        </a:spcAft>
                      </a:pPr>
                      <a:r>
                        <a:rPr sz="2300" b="1">
                          <a:solidFill>
                            <a:srgbClr val="FFFFFF"/>
                          </a:solidFill>
                          <a:latin typeface="Arial" panose="020B0604020202020204" pitchFamily="34" charset="0"/>
                          <a:ea typeface="Yu Gothic"/>
                        </a:rPr>
                        <a:t>ケース</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太陽指向面</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発熱・条件</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spcAft>
                          <a:spcPts val="0"/>
                        </a:spcAft>
                      </a:pPr>
                      <a:r>
                        <a:rPr lang="en-US" sz="2300" b="0">
                          <a:solidFill>
                            <a:srgbClr val="232B34"/>
                          </a:solidFill>
                          <a:latin typeface="Arial" panose="020B0604020202020204" pitchFamily="34" charset="0"/>
                          <a:ea typeface="Yu Gothic"/>
                        </a:rPr>
                        <a:t>04, 13–15</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全発熱 / +PROP / +PCDU / STT・LCTのみ</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lang="en-US" sz="2300" b="0">
                          <a:solidFill>
                            <a:srgbClr val="232B34"/>
                          </a:solidFill>
                          <a:latin typeface="Arial" panose="020B0604020202020204" pitchFamily="34" charset="0"/>
                          <a:ea typeface="Yu Gothic"/>
                        </a:rPr>
                        <a:t>08, 16, 18, 19</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PY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lang="en-US" sz="2300" b="0">
                          <a:solidFill>
                            <a:srgbClr val="232B34"/>
                          </a:solidFill>
                          <a:latin typeface="Arial" panose="020B0604020202020204" pitchFamily="34" charset="0"/>
                          <a:ea typeface="Yu Gothic"/>
                        </a:rPr>
                        <a:t>05, 06, 20, 21</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PX</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lang="en-US" sz="2300" b="0">
                          <a:solidFill>
                            <a:srgbClr val="232B34"/>
                          </a:solidFill>
                          <a:latin typeface="Arial" panose="020B0604020202020204" pitchFamily="34" charset="0"/>
                          <a:ea typeface="Yu Gothic"/>
                        </a:rPr>
                        <a:t>09, 17, 23, 24</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MX</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spcAft>
                          <a:spcPts val="0"/>
                        </a:spcAft>
                      </a:pPr>
                      <a:r>
                        <a:rPr lang="en-US" sz="2300" b="0">
                          <a:solidFill>
                            <a:srgbClr val="232B34"/>
                          </a:solidFill>
                          <a:latin typeface="Arial" panose="020B0604020202020204" pitchFamily="34" charset="0"/>
                          <a:ea typeface="Yu Gothic"/>
                        </a:rPr>
                        <a:t>10–12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全日照 / 太陽面Black / 全面Alodine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spcAft>
                          <a:spcPts val="0"/>
                        </a:spcAft>
                      </a:pPr>
                      <a:r>
                        <a:rPr lang="en-US" sz="2300" b="0">
                          <a:solidFill>
                            <a:srgbClr val="232B34"/>
                          </a:solidFill>
                          <a:latin typeface="Arial" panose="020B0604020202020204" pitchFamily="34" charset="0"/>
                          <a:ea typeface="Yu Gothic"/>
                        </a:rPr>
                        <a:t>22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PROP 12.5 W（半電力）</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spcAft>
                          <a:spcPts val="0"/>
                        </a:spcAft>
                      </a:pPr>
                      <a:r>
                        <a:rPr lang="en-US" sz="2300" b="0">
                          <a:solidFill>
                            <a:srgbClr val="232B34"/>
                          </a:solidFill>
                          <a:latin typeface="Arial" panose="020B0604020202020204" pitchFamily="34" charset="0"/>
                          <a:ea typeface="Yu Gothic"/>
                        </a:rPr>
                        <a:t>25</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LTAN18 / 高度693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1280160" y="10424160"/>
            <a:ext cx="21762720" cy="1333122"/>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Arial" panose="020B0604020202020204" pitchFamily="34" charset="0"/>
                <a:ea typeface="Yu Gothic"/>
              </a:rPr>
              <a:t>評価IDは 04–06 と 08–25。01–03 と 07 はMZ太陽や設定確認のケースで除外</a:t>
            </a:r>
          </a:p>
          <a:p>
            <a:pPr algn="l">
              <a:lnSpc>
                <a:spcPct val="125000"/>
              </a:lnSpc>
              <a:spcAft>
                <a:spcPts val="0"/>
              </a:spcAft>
            </a:pPr>
            <a:r>
              <a:rPr sz="2300" b="0">
                <a:solidFill>
                  <a:srgbClr val="666F79"/>
                </a:solidFill>
                <a:latin typeface="Arial" panose="020B0604020202020204" pitchFamily="34" charset="0"/>
                <a:ea typeface="Yu Gothic"/>
              </a:rPr>
              <a:t>PZ/MZを太陽面にするケースは、その面にSTT/LCTがあるので設定しない</a:t>
            </a:r>
          </a:p>
          <a:p>
            <a:pPr algn="l">
              <a:lnSpc>
                <a:spcPct val="125000"/>
              </a:lnSpc>
              <a:spcAft>
                <a:spcPts val="0"/>
              </a:spcAft>
            </a:pPr>
            <a:r>
              <a:rPr sz="2300" b="0">
                <a:solidFill>
                  <a:srgbClr val="666F79"/>
                </a:solidFill>
                <a:latin typeface="Arial" panose="020B0604020202020204" pitchFamily="34" charset="0"/>
                <a:ea typeface="Yu Gothic"/>
              </a:rPr>
              <a:t>捕捉時間の見出しは、COLD・標準表面の14ケース（04–06, 08–09, 13–21）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9922716"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B2｜矩形スパイラル走査の幾何</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B2</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794375970"/>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spcAft>
                          <a:spcPts val="0"/>
                        </a:spcAft>
                        <a:buNone/>
                      </a:pPr>
                      <a:r>
                        <a:rPr sz="2400">
                          <a:solidFill>
                            <a:srgbClr val="FFFFFF"/>
                          </a:solidFill>
                          <a:latin typeface="Arial" panose="020B0604020202020204" pitchFamily="34" charset="0"/>
                          <a:ea typeface="Yu Gothic"/>
                        </a:rPr>
                        <a:t>パラメータ</a:t>
                      </a:r>
                    </a:p>
                  </a:txBody>
                  <a:tcPr anchor="ctr">
                    <a:solidFill>
                      <a:srgbClr val="082B52"/>
                    </a:solidFill>
                  </a:tcPr>
                </a:tc>
                <a:tc>
                  <a:txBody>
                    <a:bodyPr/>
                    <a:lstStyle/>
                    <a:p>
                      <a:pPr algn="l">
                        <a:spcAft>
                          <a:spcPts val="0"/>
                        </a:spcAft>
                        <a:buNone/>
                      </a:pPr>
                      <a:r>
                        <a:rPr sz="2400">
                          <a:solidFill>
                            <a:srgbClr val="FFFFFF"/>
                          </a:solidFill>
                          <a:latin typeface="Arial" panose="020B0604020202020204" pitchFamily="34" charset="0"/>
                          <a:ea typeface="Yu Gothic"/>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spcAft>
                          <a:spcPts val="0"/>
                        </a:spcAft>
                        <a:buNone/>
                      </a:pPr>
                      <a:r>
                        <a:rPr sz="2400">
                          <a:solidFill>
                            <a:srgbClr val="232B34"/>
                          </a:solidFill>
                          <a:latin typeface="Arial" panose="020B0604020202020204" pitchFamily="34" charset="0"/>
                          <a:ea typeface="Yu Gothic"/>
                        </a:rPr>
                        <a:t>走査範囲</a:t>
                      </a:r>
                    </a:p>
                  </a:txBody>
                  <a:tcPr anchor="ctr">
                    <a:solidFill>
                      <a:srgbClr val="FFFFFF"/>
                    </a:solidFill>
                  </a:tcPr>
                </a:tc>
                <a:tc>
                  <a:txBody>
                    <a:bodyPr/>
                    <a:lstStyle/>
                    <a:p>
                      <a:pPr algn="l">
                        <a:spcAft>
                          <a:spcPts val="0"/>
                        </a:spcAft>
                        <a:buNone/>
                      </a:pPr>
                      <a:r>
                        <a:rPr lang="en-US" sz="2400">
                          <a:solidFill>
                            <a:srgbClr val="232B34"/>
                          </a:solidFill>
                          <a:latin typeface="Arial" panose="020B0604020202020204" pitchFamily="34" charset="0"/>
                          <a:ea typeface="Yu Gothic"/>
                        </a:rPr>
                        <a:t>±1600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1"/>
                  </a:ext>
                </a:extLst>
              </a:tr>
              <a:tr h="901337">
                <a:tc>
                  <a:txBody>
                    <a:bodyPr/>
                    <a:lstStyle/>
                    <a:p>
                      <a:pPr algn="l">
                        <a:spcAft>
                          <a:spcPts val="0"/>
                        </a:spcAft>
                        <a:buNone/>
                      </a:pPr>
                      <a:r>
                        <a:rPr sz="2400">
                          <a:solidFill>
                            <a:srgbClr val="232B34"/>
                          </a:solidFill>
                          <a:latin typeface="Arial" panose="020B0604020202020204" pitchFamily="34" charset="0"/>
                          <a:ea typeface="Yu Gothic"/>
                        </a:rPr>
                        <a:t>点間隔</a:t>
                      </a:r>
                    </a:p>
                  </a:txBody>
                  <a:tcPr anchor="ctr">
                    <a:solidFill>
                      <a:srgbClr val="F4F6F8"/>
                    </a:solidFill>
                  </a:tcPr>
                </a:tc>
                <a:tc>
                  <a:txBody>
                    <a:bodyPr/>
                    <a:lstStyle/>
                    <a:p>
                      <a:pPr algn="l">
                        <a:spcAft>
                          <a:spcPts val="0"/>
                        </a:spcAft>
                        <a:buNone/>
                      </a:pPr>
                      <a:r>
                        <a:rPr lang="en-US" sz="2400">
                          <a:solidFill>
                            <a:srgbClr val="232B34"/>
                          </a:solidFill>
                          <a:latin typeface="Arial" panose="020B0604020202020204" pitchFamily="34" charset="0"/>
                          <a:ea typeface="Yu Gothic"/>
                        </a:rPr>
                        <a:t>120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2"/>
                  </a:ext>
                </a:extLst>
              </a:tr>
              <a:tr h="901337">
                <a:tc>
                  <a:txBody>
                    <a:bodyPr/>
                    <a:lstStyle/>
                    <a:p>
                      <a:pPr algn="l">
                        <a:spcAft>
                          <a:spcPts val="0"/>
                        </a:spcAft>
                        <a:buNone/>
                      </a:pPr>
                      <a:r>
                        <a:rPr sz="2400">
                          <a:solidFill>
                            <a:srgbClr val="232B34"/>
                          </a:solidFill>
                          <a:latin typeface="Arial" panose="020B0604020202020204" pitchFamily="34" charset="0"/>
                          <a:ea typeface="Yu Gothic"/>
                        </a:rPr>
                        <a:t>検出半径</a:t>
                      </a:r>
                    </a:p>
                  </a:txBody>
                  <a:tcPr anchor="ctr">
                    <a:solidFill>
                      <a:srgbClr val="FFFFFF"/>
                    </a:solidFill>
                  </a:tcPr>
                </a:tc>
                <a:tc>
                  <a:txBody>
                    <a:bodyPr/>
                    <a:lstStyle/>
                    <a:p>
                      <a:pPr algn="l">
                        <a:spcAft>
                          <a:spcPts val="0"/>
                        </a:spcAft>
                        <a:buNone/>
                      </a:pPr>
                      <a:r>
                        <a:rPr lang="en-US" sz="2400">
                          <a:solidFill>
                            <a:srgbClr val="232B34"/>
                          </a:solidFill>
                          <a:latin typeface="Arial" panose="020B0604020202020204" pitchFamily="34" charset="0"/>
                          <a:ea typeface="Yu Gothic"/>
                        </a:rPr>
                        <a:t>150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3"/>
                  </a:ext>
                </a:extLst>
              </a:tr>
              <a:tr h="901337">
                <a:tc>
                  <a:txBody>
                    <a:bodyPr/>
                    <a:lstStyle/>
                    <a:p>
                      <a:pPr algn="l">
                        <a:spcAft>
                          <a:spcPts val="0"/>
                        </a:spcAft>
                        <a:buNone/>
                      </a:pPr>
                      <a:r>
                        <a:rPr sz="2400">
                          <a:solidFill>
                            <a:srgbClr val="232B34"/>
                          </a:solidFill>
                          <a:latin typeface="Arial" panose="020B0604020202020204" pitchFamily="34" charset="0"/>
                          <a:ea typeface="Yu Gothic"/>
                        </a:rPr>
                        <a:t>滞在時間</a:t>
                      </a:r>
                    </a:p>
                  </a:txBody>
                  <a:tcPr anchor="ctr">
                    <a:solidFill>
                      <a:srgbClr val="F4F6F8"/>
                    </a:solidFill>
                  </a:tcPr>
                </a:tc>
                <a:tc>
                  <a:txBody>
                    <a:bodyPr/>
                    <a:lstStyle/>
                    <a:p>
                      <a:pPr algn="l">
                        <a:spcAft>
                          <a:spcPts val="0"/>
                        </a:spcAft>
                        <a:buNone/>
                      </a:pPr>
                      <a:r>
                        <a:rPr sz="2400">
                          <a:solidFill>
                            <a:srgbClr val="232B34"/>
                          </a:solidFill>
                          <a:latin typeface="Arial" panose="020B0604020202020204" pitchFamily="34" charset="0"/>
                          <a:ea typeface="Yu Gothic"/>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spcAft>
                          <a:spcPts val="0"/>
                        </a:spcAft>
                        <a:buNone/>
                      </a:pPr>
                      <a:r>
                        <a:rPr sz="2400">
                          <a:solidFill>
                            <a:srgbClr val="232B34"/>
                          </a:solidFill>
                          <a:latin typeface="Arial" panose="020B0604020202020204" pitchFamily="34" charset="0"/>
                          <a:ea typeface="Yu Gothic"/>
                        </a:rPr>
                        <a:t>総走査点数</a:t>
                      </a:r>
                    </a:p>
                  </a:txBody>
                  <a:tcPr anchor="ctr">
                    <a:solidFill>
                      <a:srgbClr val="FFFFFF"/>
                    </a:solidFill>
                  </a:tcPr>
                </a:tc>
                <a:tc>
                  <a:txBody>
                    <a:bodyPr/>
                    <a:lstStyle/>
                    <a:p>
                      <a:pPr algn="l">
                        <a:spcAft>
                          <a:spcPts val="0"/>
                        </a:spcAft>
                        <a:buNone/>
                      </a:pPr>
                      <a:r>
                        <a:rPr sz="2400">
                          <a:solidFill>
                            <a:srgbClr val="232B34"/>
                          </a:solidFill>
                          <a:latin typeface="Arial" panose="020B0604020202020204" pitchFamily="34" charset="0"/>
                          <a:ea typeface="Yu Gothic"/>
                        </a:rPr>
                        <a:t>27 × 27 = 729点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spcAft>
                          <a:spcPts val="0"/>
                        </a:spcAft>
                        <a:buNone/>
                      </a:pPr>
                      <a:r>
                        <a:rPr sz="2400">
                          <a:solidFill>
                            <a:srgbClr val="232B34"/>
                          </a:solidFill>
                          <a:latin typeface="Arial" panose="020B0604020202020204" pitchFamily="34" charset="0"/>
                          <a:ea typeface="Yu Gothic"/>
                        </a:rPr>
                        <a:t>最大走査時間</a:t>
                      </a:r>
                    </a:p>
                  </a:txBody>
                  <a:tcPr anchor="ctr">
                    <a:solidFill>
                      <a:srgbClr val="F4F6F8"/>
                    </a:solidFill>
                  </a:tcPr>
                </a:tc>
                <a:tc>
                  <a:txBody>
                    <a:bodyPr/>
                    <a:lstStyle/>
                    <a:p>
                      <a:pPr algn="l">
                        <a:spcAft>
                          <a:spcPts val="0"/>
                        </a:spcAft>
                        <a:buNone/>
                      </a:pPr>
                      <a:r>
                        <a:rPr lang="en-US" sz="2400">
                          <a:solidFill>
                            <a:srgbClr val="232B34"/>
                          </a:solidFill>
                          <a:latin typeface="Arial" panose="020B0604020202020204" pitchFamily="34" charset="0"/>
                          <a:ea typeface="Yu Gothic"/>
                        </a:rPr>
                        <a:t>72.9 s</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latin typeface="Arial" panose="020B0604020202020204" pitchFamily="34" charset="0"/>
              </a:rPr>
              <a:t>簡略化：点間移動・整定時間・受光強度の確率変動は</a:t>
            </a:r>
            <a:r>
              <a:rPr lang="ja-JP" altLang="ja-JP" sz="2400" b="1">
                <a:solidFill>
                  <a:schemeClr val="accent2"/>
                </a:solidFill>
                <a:latin typeface="Arial" panose="020B0604020202020204" pitchFamily="34" charset="0"/>
              </a:rPr>
              <a:t>考慮しない</a:t>
            </a:r>
            <a:br>
              <a:rPr lang="en-US" altLang="ja-JP" sz="2400">
                <a:solidFill>
                  <a:schemeClr val="accent2"/>
                </a:solidFill>
                <a:latin typeface="Arial" panose="020B0604020202020204" pitchFamily="34" charset="0"/>
              </a:rPr>
            </a:br>
            <a:r>
              <a:rPr lang="ja-JP" altLang="ja-JP" sz="2400" b="1">
                <a:solidFill>
                  <a:schemeClr val="accent2"/>
                </a:solidFill>
                <a:latin typeface="Arial" panose="020B0604020202020204" pitchFamily="34" charset="0"/>
              </a:rPr>
              <a:t>各走査点</a:t>
            </a:r>
            <a:r>
              <a:rPr lang="ja-JP" altLang="ja-JP" sz="2400" b="1" dirty="0">
                <a:solidFill>
                  <a:schemeClr val="accent2"/>
                </a:solidFill>
                <a:latin typeface="Arial" panose="020B0604020202020204" pitchFamily="34" charset="0"/>
              </a:rPr>
              <a:t>を独立な捕捉機会として評価する</a:t>
            </a:r>
            <a:endParaRPr sz="2400" b="1" dirty="0">
              <a:solidFill>
                <a:schemeClr val="accent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latin typeface="Arial" panose="020B0604020202020204" pitchFamily="34" charset="0"/>
              </a:rPr>
              <a:t>真の指向誤差が検出半径内に入った最初の走査点を捕捉時刻とする</a:t>
            </a:r>
            <a:endParaRPr lang="ja-JP" altLang="en-US" sz="2800" b="1" dirty="0">
              <a:latin typeface="Arial" panose="020B0604020202020204" pitchFamily="34" charset="0"/>
            </a:endParaRPr>
          </a:p>
        </p:txBody>
      </p:sp>
      <p:sp>
        <p:nvSpPr>
          <p:cNvPr id="33" name="TextBox 32"/>
          <p:cNvSpPr txBox="1"/>
          <p:nvPr/>
        </p:nvSpPr>
        <p:spPr>
          <a:xfrm>
            <a:off x="12252960" y="9052560"/>
            <a:ext cx="10881360" cy="434350"/>
          </a:xfrm>
          <a:prstGeom prst="rect">
            <a:avLst/>
          </a:prstGeom>
          <a:noFill/>
        </p:spPr>
        <p:txBody>
          <a:bodyPr wrap="square" lIns="45720" tIns="18288" rIns="45720" bIns="18288" anchor="t">
            <a:spAutoFit/>
          </a:bodyPr>
          <a:lstStyle/>
          <a:p>
            <a:pPr algn="l">
              <a:lnSpc>
                <a:spcPct val="120000"/>
              </a:lnSpc>
              <a:spcAft>
                <a:spcPts val="0"/>
              </a:spcAft>
            </a:pPr>
            <a:r>
              <a:rPr sz="2300" b="1">
                <a:solidFill>
                  <a:srgbClr val="239571"/>
                </a:solidFill>
                <a:latin typeface="Arial" panose="020B0604020202020204" pitchFamily="34" charset="0"/>
                <a:ea typeface="Yu Gothic"/>
              </a:rPr>
              <a:t>格子対角の半分 120/√2 ≈ 85 µrad &lt; 検出半径 150 µrad なので掃き残しは無い</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896205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B3｜軌道予測誤差の作り方と、リンク横断面への射影</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B3</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618024"/>
          </a:xfrm>
          <a:prstGeom prst="rect">
            <a:avLst/>
          </a:prstGeom>
          <a:noFill/>
        </p:spPr>
        <p:txBody>
          <a:bodyPr wrap="square" lIns="27432" rIns="27432">
            <a:spAutoFit/>
          </a:bodyPr>
          <a:lstStyle/>
          <a:p>
            <a:pPr>
              <a:lnSpc>
                <a:spcPct val="110000"/>
              </a:lnSpc>
              <a:spcAft>
                <a:spcPts val="1000"/>
              </a:spcAft>
            </a:pPr>
            <a:r>
              <a:rPr sz="2400" b="0">
                <a:solidFill>
                  <a:srgbClr val="232B34"/>
                </a:solidFill>
                <a:latin typeface="Arial" panose="020B0604020202020204" pitchFamily="34" charset="0"/>
                <a:ea typeface="Yu Gothic"/>
              </a:rPr>
              <a:t>• 真値は Sentinel-1 の高精度暦 POEORB</a:t>
            </a:r>
          </a:p>
          <a:p>
            <a:pPr>
              <a:lnSpc>
                <a:spcPct val="110000"/>
              </a:lnSpc>
              <a:spcAft>
                <a:spcPts val="1000"/>
              </a:spcAft>
            </a:pPr>
            <a:r>
              <a:rPr sz="2400" b="0">
                <a:solidFill>
                  <a:srgbClr val="232B34"/>
                </a:solidFill>
                <a:latin typeface="Arial" panose="020B0604020202020204" pitchFamily="34" charset="0"/>
                <a:ea typeface="Yu Gothic"/>
              </a:rPr>
              <a:t>• 予測は直近のTLEを SGP4 で前方伝播</a:t>
            </a:r>
          </a:p>
          <a:p>
            <a:pPr>
              <a:lnSpc>
                <a:spcPct val="110000"/>
              </a:lnSpc>
              <a:spcAft>
                <a:spcPts val="1000"/>
              </a:spcAft>
            </a:pPr>
            <a:r>
              <a:rPr sz="2400" b="0">
                <a:solidFill>
                  <a:srgbClr val="232B34"/>
                </a:solidFill>
                <a:latin typeface="Arial" panose="020B0604020202020204" pitchFamily="34" charset="0"/>
                <a:ea typeface="Yu Gothic"/>
              </a:rPr>
              <a:t>• 差をリンク横断面へ射影し、x–y の2成分にする</a:t>
            </a:r>
          </a:p>
          <a:p>
            <a:pPr>
              <a:lnSpc>
                <a:spcPct val="110000"/>
              </a:lnSpc>
              <a:spcAft>
                <a:spcPts val="1000"/>
              </a:spcAft>
            </a:pPr>
            <a:r>
              <a:rPr sz="2400" b="0">
                <a:solidFill>
                  <a:srgbClr val="232B34"/>
                </a:solidFill>
                <a:latin typeface="Arial" panose="020B0604020202020204" pitchFamily="34" charset="0"/>
                <a:ea typeface="Yu Gothic"/>
              </a:rPr>
              <a:t>• 熱LOSと同じ2成分で足し合わせる</a:t>
            </a:r>
          </a:p>
          <a:p>
            <a:pPr>
              <a:lnSpc>
                <a:spcPct val="110000"/>
              </a:lnSpc>
              <a:spcAft>
                <a:spcPts val="1000"/>
              </a:spcAft>
            </a:pPr>
            <a:r>
              <a:rPr sz="2400" b="0">
                <a:solidFill>
                  <a:srgbClr val="232B34"/>
                </a:solidFill>
                <a:latin typeface="Arial" panose="020B0604020202020204" pitchFamily="34" charset="0"/>
                <a:ea typeface="Yu Gothic"/>
              </a:rPr>
              <a:t>• 時系列の不連続は、TLEが更新された時刻</a:t>
            </a:r>
          </a:p>
        </p:txBody>
      </p:sp>
      <p:graphicFrame>
        <p:nvGraphicFramePr>
          <p:cNvPr id="9" name="Table 8"/>
          <p:cNvGraphicFramePr>
            <a:graphicFrameLocks noGrp="1"/>
          </p:cNvGraphicFramePr>
          <p:nvPr>
            <p:extLst>
              <p:ext uri="{D42A27DB-BD31-4B8C-83A1-F6EECF244321}">
                <p14:modId xmlns:p14="http://schemas.microsoft.com/office/powerpoint/2010/main" val="1382675216"/>
              </p:ext>
            </p:extLst>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spcAft>
                          <a:spcPts val="0"/>
                        </a:spcAft>
                      </a:pPr>
                      <a:r>
                        <a:rPr sz="2100" b="1">
                          <a:solidFill>
                            <a:srgbClr val="FFFFFF"/>
                          </a:solidFill>
                          <a:latin typeface="Arial" panose="020B0604020202020204" pitchFamily="34" charset="0"/>
                          <a:ea typeface="Yu Gothic"/>
                        </a:rPr>
                        <a:t>太陽指向面</a:t>
                      </a:r>
                    </a:p>
                  </a:txBody>
                  <a:tcPr marL="64008" marR="64008" marT="27432" marB="27432" anchor="ctr">
                    <a:solidFill>
                      <a:srgbClr val="082B52"/>
                    </a:solidFill>
                  </a:tcPr>
                </a:tc>
                <a:tc>
                  <a:txBody>
                    <a:bodyPr/>
                    <a:lstStyle/>
                    <a:p>
                      <a:pPr algn="ctr">
                        <a:spcAft>
                          <a:spcPts val="0"/>
                        </a:spcAft>
                      </a:pPr>
                      <a:r>
                        <a:rPr sz="2100" b="1">
                          <a:solidFill>
                            <a:srgbClr val="FFFFFF"/>
                          </a:solidFill>
                          <a:latin typeface="Arial" panose="020B0604020202020204" pitchFamily="34" charset="0"/>
                          <a:ea typeface="Yu Gothic"/>
                        </a:rPr>
                        <a:t>通信相手とリンク</a:t>
                      </a:r>
                    </a:p>
                  </a:txBody>
                  <a:tcPr marL="64008" marR="64008" marT="27432" marB="27432" anchor="ctr">
                    <a:solidFill>
                      <a:srgbClr val="082B52"/>
                    </a:solidFill>
                  </a:tcPr>
                </a:tc>
                <a:tc>
                  <a:txBody>
                    <a:bodyPr/>
                    <a:lstStyle/>
                    <a:p>
                      <a:pPr algn="ctr">
                        <a:spcAft>
                          <a:spcPts val="0"/>
                        </a:spcAft>
                      </a:pPr>
                      <a:r>
                        <a:rPr sz="2100" b="1">
                          <a:solidFill>
                            <a:srgbClr val="FFFFFF"/>
                          </a:solidFill>
                          <a:latin typeface="Arial" panose="020B0604020202020204" pitchFamily="34" charset="0"/>
                          <a:ea typeface="Yu Gothic"/>
                        </a:rPr>
                        <a:t>扱い</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spcAft>
                          <a:spcPts val="0"/>
                        </a:spcAft>
                      </a:pPr>
                      <a:r>
                        <a:rPr lang="en-US" sz="2100" b="0">
                          <a:solidFill>
                            <a:srgbClr val="232B34"/>
                          </a:solidFill>
                          <a:latin typeface="Arial" panose="020B0604020202020204" pitchFamily="34" charset="0"/>
                          <a:ea typeface="Yu Gothic"/>
                        </a:rPr>
                        <a:t>MY</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進行方向の衛星（高度800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spcAft>
                          <a:spcPts val="0"/>
                        </a:spcAft>
                      </a:pPr>
                      <a:r>
                        <a:rPr lang="en-US" sz="2100" b="0">
                          <a:solidFill>
                            <a:srgbClr val="232B34"/>
                          </a:solidFill>
                          <a:latin typeface="Arial" panose="020B0604020202020204" pitchFamily="34" charset="0"/>
                          <a:ea typeface="Yu Gothic"/>
                        </a:rPr>
                        <a:t>PY</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逆進行方向の衛星（高度800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spcAft>
                          <a:spcPts val="0"/>
                        </a:spcAft>
                      </a:pPr>
                      <a:r>
                        <a:rPr lang="en-US" sz="2100" b="0">
                          <a:solidFill>
                            <a:srgbClr val="232B34"/>
                          </a:solidFill>
                          <a:latin typeface="Arial" panose="020B0604020202020204" pitchFamily="34" charset="0"/>
                          <a:ea typeface="Yu Gothic"/>
                        </a:rPr>
                        <a:t>PX</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直下の地上局（約695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spcAft>
                          <a:spcPts val="0"/>
                        </a:spcAft>
                      </a:pPr>
                      <a:r>
                        <a:rPr lang="en-US" sz="2100" b="0">
                          <a:solidFill>
                            <a:srgbClr val="232B34"/>
                          </a:solidFill>
                          <a:latin typeface="Arial" panose="020B0604020202020204" pitchFamily="34" charset="0"/>
                          <a:ea typeface="Yu Gothic"/>
                        </a:rPr>
                        <a:t>MX</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天頂側に置いた仮想の相手（800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幾何のみ・非現実的</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a:solidFill>
                  <a:schemeClr val="tx2">
                    <a:lumMod val="50000"/>
                  </a:schemeClr>
                </a:solidFill>
                <a:latin typeface="Arial" panose="020B0604020202020204" pitchFamily="34" charset="0"/>
              </a:rPr>
              <a:t>※ LCT</a:t>
            </a:r>
            <a:r>
              <a:rPr lang="ja-JP" altLang="en-US" sz="2400" dirty="0">
                <a:solidFill>
                  <a:schemeClr val="tx2">
                    <a:lumMod val="50000"/>
                  </a:schemeClr>
                </a:solidFill>
                <a:latin typeface="Arial" panose="020B0604020202020204" pitchFamily="34" charset="0"/>
              </a:rPr>
              <a:t>の指向面ごとに、通信相手は地上局</a:t>
            </a:r>
            <a:r>
              <a:rPr lang="en-US" altLang="ja-JP" sz="2400" dirty="0">
                <a:solidFill>
                  <a:schemeClr val="tx2">
                    <a:lumMod val="50000"/>
                  </a:schemeClr>
                </a:solidFill>
                <a:latin typeface="Arial" panose="020B0604020202020204" pitchFamily="34" charset="0"/>
              </a:rPr>
              <a:t>/</a:t>
            </a:r>
            <a:r>
              <a:rPr lang="ja-JP" altLang="en-US" sz="2400" dirty="0">
                <a:solidFill>
                  <a:schemeClr val="tx2">
                    <a:lumMod val="50000"/>
                  </a:schemeClr>
                </a:solidFill>
                <a:latin typeface="Arial" panose="020B0604020202020204" pitchFamily="34" charset="0"/>
              </a:rPr>
              <a:t>衛星をそれぞれ設定</a:t>
            </a:r>
            <a:endParaRPr lang="en-US" altLang="ja-JP" sz="2400" dirty="0">
              <a:solidFill>
                <a:schemeClr val="tx2">
                  <a:lumMod val="50000"/>
                </a:schemeClr>
              </a:solidFill>
              <a:latin typeface="Arial" panose="020B0604020202020204" pitchFamily="34" charset="0"/>
            </a:endParaRPr>
          </a:p>
          <a:p>
            <a:r>
              <a:rPr lang="en-US" altLang="ja-JP" sz="2400" dirty="0">
                <a:solidFill>
                  <a:schemeClr val="tx2">
                    <a:lumMod val="50000"/>
                  </a:schemeClr>
                </a:solidFill>
                <a:latin typeface="Arial" panose="020B0604020202020204" pitchFamily="34" charset="0"/>
              </a:rPr>
              <a:t>※ </a:t>
            </a:r>
            <a:r>
              <a:rPr sz="2400" err="1">
                <a:solidFill>
                  <a:schemeClr val="tx2">
                    <a:lumMod val="50000"/>
                  </a:schemeClr>
                </a:solidFill>
                <a:latin typeface="Yu Gothic"/>
              </a:rPr>
              <a:t>MX</a:t>
            </a:r>
            <a:r>
              <a:rPr sz="2400">
                <a:solidFill>
                  <a:schemeClr val="tx2">
                    <a:lumMod val="50000"/>
                  </a:schemeClr>
                </a:solidFill>
                <a:latin typeface="Yu Gothic"/>
              </a:rPr>
              <a:t>は角度計算可能だが</a:t>
            </a:r>
            <a:r>
              <a:rPr lang="ja-JP" altLang="en-US" sz="2400">
                <a:solidFill>
                  <a:schemeClr val="tx2">
                    <a:lumMod val="50000"/>
                  </a:schemeClr>
                </a:solidFill>
                <a:latin typeface="Arial" panose="020B0604020202020204" pitchFamily="34" charset="0"/>
              </a:rPr>
              <a:t>、</a:t>
            </a:r>
            <a:r>
              <a:rPr lang="en-US" altLang="ja-JP" sz="2400">
                <a:solidFill>
                  <a:schemeClr val="tx2">
                    <a:lumMod val="50000"/>
                  </a:schemeClr>
                </a:solidFill>
                <a:latin typeface="Arial" panose="020B0604020202020204" pitchFamily="34" charset="0"/>
              </a:rPr>
              <a:t>LCT</a:t>
            </a:r>
            <a:r>
              <a:rPr lang="ja-JP" altLang="en-US" sz="2400" dirty="0">
                <a:solidFill>
                  <a:schemeClr val="tx2">
                    <a:lumMod val="50000"/>
                  </a:schemeClr>
                </a:solidFill>
                <a:latin typeface="Arial" panose="020B0604020202020204" pitchFamily="34" charset="0"/>
              </a:rPr>
              <a:t>が天頂方向のため、</a:t>
            </a:r>
            <a:r>
              <a:rPr sz="2400" dirty="0" err="1">
                <a:solidFill>
                  <a:schemeClr val="tx2">
                    <a:lumMod val="50000"/>
                  </a:schemeClr>
                </a:solidFill>
                <a:latin typeface="Arial" panose="020B0604020202020204" pitchFamily="34" charset="0"/>
              </a:rPr>
              <a:t>現実的リンクではない</a:t>
            </a:r>
            <a:endParaRPr sz="2400" dirty="0">
              <a:solidFill>
                <a:schemeClr val="tx2">
                  <a:lumMod val="50000"/>
                </a:schemeClr>
              </a:solidFill>
              <a:latin typeface="Arial" panose="020B0604020202020204" pitchFamily="34"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0525445"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B4｜熱と軌道予測は同じ軌道周期。周波数では分けない</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B4</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2945079221"/>
              </p:ext>
            </p:extLst>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spcAft>
                          <a:spcPts val="0"/>
                        </a:spcAft>
                      </a:pPr>
                      <a:r>
                        <a:rPr sz="2300" b="1">
                          <a:solidFill>
                            <a:srgbClr val="FFFFFF"/>
                          </a:solidFill>
                          <a:latin typeface="Arial" panose="020B0604020202020204" pitchFamily="34" charset="0"/>
                          <a:ea typeface="Yu Gothic"/>
                        </a:rPr>
                        <a:t>リンク</a:t>
                      </a:r>
                    </a:p>
                  </a:txBody>
                  <a:tcPr marL="64008" marR="64008" marT="27432" marB="27432"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位置誤差の平均</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spcAft>
                          <a:spcPts val="0"/>
                        </a:spcAft>
                      </a:pPr>
                      <a:r>
                        <a:rPr sz="2300" b="0">
                          <a:solidFill>
                            <a:srgbClr val="232B34"/>
                          </a:solidFill>
                          <a:latin typeface="Arial" panose="020B0604020202020204" pitchFamily="34" charset="0"/>
                          <a:ea typeface="Yu Gothic"/>
                        </a:rPr>
                        <a:t>MY：進行方向の衛星</a:t>
                      </a: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spcAft>
                          <a:spcPts val="0"/>
                        </a:spcAft>
                      </a:pPr>
                      <a:r>
                        <a:rPr sz="2300" b="0">
                          <a:solidFill>
                            <a:srgbClr val="232B34"/>
                          </a:solidFill>
                          <a:latin typeface="Arial" panose="020B0604020202020204" pitchFamily="34" charset="0"/>
                          <a:ea typeface="Yu Gothic"/>
                        </a:rPr>
                        <a:t>PY：逆方向の衛星</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spcAft>
                          <a:spcPts val="0"/>
                        </a:spcAft>
                      </a:pPr>
                      <a:r>
                        <a:rPr sz="2300" b="0">
                          <a:solidFill>
                            <a:srgbClr val="232B34"/>
                          </a:solidFill>
                          <a:latin typeface="Arial" panose="020B0604020202020204" pitchFamily="34" charset="0"/>
                          <a:ea typeface="Yu Gothic"/>
                        </a:rPr>
                        <a:t>PX：直下の地上局</a:t>
                      </a: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約694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spcAft>
                          <a:spcPts val="0"/>
                        </a:spcAft>
                      </a:pPr>
                      <a:r>
                        <a:rPr sz="2300" b="0">
                          <a:solidFill>
                            <a:srgbClr val="232B34"/>
                          </a:solidFill>
                          <a:latin typeface="Arial" panose="020B0604020202020204" pitchFamily="34" charset="0"/>
                          <a:ea typeface="Yu Gothic"/>
                        </a:rPr>
                        <a:t>MX：天頂側の仮想</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約612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913199"/>
          </a:xfrm>
          <a:prstGeom prst="rect">
            <a:avLst/>
          </a:prstGeom>
          <a:noFill/>
        </p:spPr>
        <p:txBody>
          <a:bodyPr wrap="square" lIns="36576" tIns="27432" rIns="36576" bIns="27432" anchor="t">
            <a:spAutoFit/>
          </a:bodyPr>
          <a:lstStyle/>
          <a:p>
            <a:pPr algn="ctr">
              <a:lnSpc>
                <a:spcPct val="120000"/>
              </a:lnSpc>
              <a:spcAft>
                <a:spcPts val="0"/>
              </a:spcAft>
            </a:pPr>
            <a:r>
              <a:rPr sz="2400" b="1">
                <a:solidFill>
                  <a:srgbClr val="EC9427"/>
                </a:solidFill>
                <a:latin typeface="Arial" panose="020B0604020202020204" pitchFamily="34" charset="0"/>
                <a:ea typeface="Yu Gothic"/>
              </a:rPr>
              <a:t>熱：約101分</a:t>
            </a:r>
          </a:p>
          <a:p>
            <a:pPr algn="ctr">
              <a:lnSpc>
                <a:spcPct val="120000"/>
              </a:lnSpc>
              <a:spcAft>
                <a:spcPts val="0"/>
              </a:spcAft>
            </a:pPr>
            <a:r>
              <a:rPr sz="2400" b="1">
                <a:solidFill>
                  <a:srgbClr val="EC9427"/>
                </a:solidFill>
                <a:latin typeface="Arial" panose="020B0604020202020204" pitchFamily="34" charset="0"/>
                <a:ea typeface="Yu Gothic"/>
              </a:rPr>
              <a:t>軌道予測：約101分 と約50分</a:t>
            </a:r>
          </a:p>
        </p:txBody>
      </p:sp>
      <p:sp>
        <p:nvSpPr>
          <p:cNvPr id="10" name="TextBox 9"/>
          <p:cNvSpPr txBox="1"/>
          <p:nvPr/>
        </p:nvSpPr>
        <p:spPr>
          <a:xfrm>
            <a:off x="1097280" y="11247120"/>
            <a:ext cx="22128480" cy="952633"/>
          </a:xfrm>
          <a:prstGeom prst="rect">
            <a:avLst/>
          </a:prstGeom>
          <a:noFill/>
        </p:spPr>
        <p:txBody>
          <a:bodyPr wrap="square" lIns="36576" tIns="27432" rIns="36576" bIns="27432" anchor="t">
            <a:spAutoFit/>
          </a:bodyPr>
          <a:lstStyle/>
          <a:p>
            <a:pPr algn="ctr">
              <a:lnSpc>
                <a:spcPct val="120000"/>
              </a:lnSpc>
              <a:spcAft>
                <a:spcPts val="0"/>
              </a:spcAft>
            </a:pPr>
            <a:r>
              <a:rPr sz="2500" b="1">
                <a:solidFill>
                  <a:srgbClr val="082B52"/>
                </a:solidFill>
                <a:latin typeface="Arial" panose="020B0604020202020204" pitchFamily="34" charset="0"/>
                <a:ea typeface="Yu Gothic"/>
              </a:rPr>
              <a:t>熱ひずみと軌道予測誤差は、大きさも周波数帯も同程度</a:t>
            </a:r>
            <a:endParaRPr lang="en-US" sz="2900" b="1" dirty="0">
              <a:solidFill>
                <a:srgbClr val="D03B46"/>
              </a:solidFill>
              <a:latin typeface="Arial" panose="020B0604020202020204" pitchFamily="34" charset="0"/>
            </a:endParaRPr>
          </a:p>
          <a:p>
            <a:pPr algn="ctr">
              <a:lnSpc>
                <a:spcPct val="120000"/>
              </a:lnSpc>
              <a:spcAft>
                <a:spcPts val="0"/>
              </a:spcAft>
            </a:pPr>
            <a:r>
              <a:rPr sz="2500" b="1">
                <a:solidFill>
                  <a:srgbClr val="082B52"/>
                </a:solidFill>
                <a:latin typeface="Arial" panose="020B0604020202020204" pitchFamily="34" charset="0"/>
                <a:ea typeface="Yu Gothic"/>
              </a:rPr>
              <a:t>『低周波＝熱』という分離は主張しない。温度という別入力で捕捉前に引く</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B5｜LOS定義の比較と、並進を入れない理由</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B5</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
        <p:nvSpPr>
          <p:cNvPr id="7" name="TextBox 6"/>
          <p:cNvSpPr txBox="1"/>
          <p:nvPr/>
        </p:nvSpPr>
        <p:spPr>
          <a:xfrm>
            <a:off x="1097280" y="11338560"/>
            <a:ext cx="21945600" cy="890693"/>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Arial" panose="020B0604020202020204" pitchFamily="34" charset="0"/>
                <a:ea typeface="Yu Gothic"/>
              </a:rPr>
              <a:t>代表節点の回転を機器姿勢の代理にしている。取付面全体の剛体フィットは今後</a:t>
            </a:r>
          </a:p>
          <a:p>
            <a:pPr algn="l">
              <a:lnSpc>
                <a:spcPct val="125000"/>
              </a:lnSpc>
              <a:spcAft>
                <a:spcPts val="0"/>
              </a:spcAft>
            </a:pPr>
            <a:r>
              <a:rPr sz="2300" b="0">
                <a:solidFill>
                  <a:srgbClr val="666F79"/>
                </a:solidFill>
                <a:latin typeface="Arial" panose="020B0604020202020204" pitchFamily="34" charset="0"/>
                <a:ea typeface="Yu Gothic"/>
              </a:rPr>
              <a:t>代表点間の並進による傾きは、衛星間距離で割ると小さいので捕捉評価には入れていない</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B6（1/2）｜モデルが難しいケース</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B6</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459569381"/>
              </p:ext>
            </p:extLst>
          </p:nvPr>
        </p:nvGraphicFramePr>
        <p:xfrm>
          <a:off x="1463040" y="3291840"/>
          <a:ext cx="21396960" cy="475488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3209544">
                  <a:extLst>
                    <a:ext uri="{9D8B030D-6E8A-4147-A177-3AD203B41FA5}">
                      <a16:colId xmlns:a16="http://schemas.microsoft.com/office/drawing/2014/main" val="20001"/>
                    </a:ext>
                  </a:extLst>
                </a:gridCol>
                <a:gridCol w="12838176">
                  <a:extLst>
                    <a:ext uri="{9D8B030D-6E8A-4147-A177-3AD203B41FA5}">
                      <a16:colId xmlns:a16="http://schemas.microsoft.com/office/drawing/2014/main" val="20002"/>
                    </a:ext>
                  </a:extLst>
                </a:gridCol>
              </a:tblGrid>
              <a:tr h="1188720">
                <a:tc>
                  <a:txBody>
                    <a:bodyPr/>
                    <a:lstStyle/>
                    <a:p>
                      <a:pPr algn="l">
                        <a:spcAft>
                          <a:spcPts val="0"/>
                        </a:spcAft>
                      </a:pPr>
                      <a:r>
                        <a:rPr sz="2400" b="1">
                          <a:solidFill>
                            <a:srgbClr val="FFFFFF"/>
                          </a:solidFill>
                          <a:latin typeface="Arial" panose="020B0604020202020204" pitchFamily="34" charset="0"/>
                          <a:ea typeface="Yu Gothic"/>
                        </a:rPr>
                        <a:t>ケース</a:t>
                      </a:r>
                    </a:p>
                  </a:txBody>
                  <a:tcPr marL="128016" marR="128016" anchor="ctr">
                    <a:solidFill>
                      <a:srgbClr val="082B52"/>
                    </a:solidFill>
                  </a:tcPr>
                </a:tc>
                <a:tc>
                  <a:txBody>
                    <a:bodyPr/>
                    <a:lstStyle/>
                    <a:p>
                      <a:pPr algn="ctr">
                        <a:spcAft>
                          <a:spcPts val="0"/>
                        </a:spcAft>
                      </a:pPr>
                      <a:r>
                        <a:rPr sz="2400" b="1">
                          <a:solidFill>
                            <a:srgbClr val="FFFFFF"/>
                          </a:solidFill>
                          <a:latin typeface="Arial" panose="020B0604020202020204" pitchFamily="34" charset="0"/>
                          <a:ea typeface="Yu Gothic"/>
                        </a:rPr>
                        <a:t>残差</a:t>
                      </a:r>
                    </a:p>
                  </a:txBody>
                  <a:tcPr marL="128016" marR="128016" anchor="ctr">
                    <a:solidFill>
                      <a:srgbClr val="082B52"/>
                    </a:solidFill>
                  </a:tcPr>
                </a:tc>
                <a:tc>
                  <a:txBody>
                    <a:bodyPr/>
                    <a:lstStyle/>
                    <a:p>
                      <a:pPr algn="ctr">
                        <a:spcAft>
                          <a:spcPts val="0"/>
                        </a:spcAft>
                      </a:pPr>
                      <a:r>
                        <a:rPr sz="2400" b="1">
                          <a:solidFill>
                            <a:srgbClr val="FFFFFF"/>
                          </a:solidFill>
                          <a:latin typeface="Arial" panose="020B0604020202020204" pitchFamily="34" charset="0"/>
                          <a:ea typeface="Yu Gothic"/>
                        </a:rPr>
                        <a:t>何が表せていないか</a:t>
                      </a:r>
                    </a:p>
                  </a:txBody>
                  <a:tcPr marL="128016" marR="128016"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400" b="0">
                          <a:solidFill>
                            <a:srgbClr val="232B34"/>
                          </a:solidFill>
                          <a:latin typeface="Arial" panose="020B0604020202020204" pitchFamily="34" charset="0"/>
                          <a:ea typeface="Yu Gothic"/>
                        </a:rPr>
                        <a:t>太陽面Black被覆</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約13 µrad</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被覆を変えると感度と変動幅が動く。係数は標準表面で決めている</a:t>
                      </a:r>
                    </a:p>
                  </a:txBody>
                  <a:tcPr marL="128016" marR="128016" anchor="ctr">
                    <a:solidFill>
                      <a:srgbClr val="EBF6FB"/>
                    </a:solidFill>
                  </a:tcPr>
                </a:tc>
                <a:extLst>
                  <a:ext uri="{0D108BD9-81ED-4DB2-BD59-A6C34878D82A}">
                    <a16:rowId xmlns:a16="http://schemas.microsoft.com/office/drawing/2014/main" val="10001"/>
                  </a:ext>
                </a:extLst>
              </a:tr>
              <a:tr h="1188720">
                <a:tc>
                  <a:txBody>
                    <a:bodyPr/>
                    <a:lstStyle/>
                    <a:p>
                      <a:pPr algn="l">
                        <a:spcAft>
                          <a:spcPts val="0"/>
                        </a:spcAft>
                      </a:pPr>
                      <a:r>
                        <a:rPr sz="2400" b="0">
                          <a:solidFill>
                            <a:srgbClr val="232B34"/>
                          </a:solidFill>
                          <a:latin typeface="Arial" panose="020B0604020202020204" pitchFamily="34" charset="0"/>
                          <a:ea typeface="Yu Gothic"/>
                        </a:rPr>
                        <a:t>PROP半電力（12.5 W）</a:t>
                      </a:r>
                    </a:p>
                  </a:txBody>
                  <a:tcPr marL="128016" marR="128016" anchor="ctr">
                    <a:solidFill>
                      <a:srgbClr val="F4F6F8"/>
                    </a:solidFill>
                  </a:tcPr>
                </a:tc>
                <a:tc>
                  <a:txBody>
                    <a:bodyPr/>
                    <a:lstStyle/>
                    <a:p>
                      <a:pPr algn="ctr">
                        <a:spcAft>
                          <a:spcPts val="0"/>
                        </a:spcAft>
                      </a:pPr>
                      <a:r>
                        <a:rPr sz="2400" b="0">
                          <a:solidFill>
                            <a:srgbClr val="232B34"/>
                          </a:solidFill>
                          <a:latin typeface="Arial" panose="020B0604020202020204" pitchFamily="34" charset="0"/>
                          <a:ea typeface="Yu Gothic"/>
                        </a:rPr>
                        <a:t>約16 µrad</a:t>
                      </a:r>
                    </a:p>
                  </a:txBody>
                  <a:tcPr marL="128016" marR="128016" anchor="ctr">
                    <a:solidFill>
                      <a:srgbClr val="F4F6F8"/>
                    </a:solidFill>
                  </a:tcPr>
                </a:tc>
                <a:tc>
                  <a:txBody>
                    <a:bodyPr/>
                    <a:lstStyle/>
                    <a:p>
                      <a:pPr algn="ctr">
                        <a:spcAft>
                          <a:spcPts val="0"/>
                        </a:spcAft>
                      </a:pPr>
                      <a:r>
                        <a:rPr sz="2400" b="0">
                          <a:solidFill>
                            <a:srgbClr val="232B34"/>
                          </a:solidFill>
                          <a:latin typeface="Arial" panose="020B0604020202020204" pitchFamily="34" charset="0"/>
                          <a:ea typeface="Yu Gothic"/>
                        </a:rPr>
                        <a:t>ON/OFFの二値フラグでは25 Wと12.5 Wを区別できない</a:t>
                      </a:r>
                    </a:p>
                  </a:txBody>
                  <a:tcPr marL="128016" marR="128016" anchor="ctr">
                    <a:solidFill>
                      <a:srgbClr val="EBF6FB"/>
                    </a:solidFill>
                  </a:tcPr>
                </a:tc>
                <a:extLst>
                  <a:ext uri="{0D108BD9-81ED-4DB2-BD59-A6C34878D82A}">
                    <a16:rowId xmlns:a16="http://schemas.microsoft.com/office/drawing/2014/main" val="10002"/>
                  </a:ext>
                </a:extLst>
              </a:tr>
              <a:tr h="1188720">
                <a:tc>
                  <a:txBody>
                    <a:bodyPr/>
                    <a:lstStyle/>
                    <a:p>
                      <a:pPr algn="l">
                        <a:spcAft>
                          <a:spcPts val="0"/>
                        </a:spcAft>
                      </a:pPr>
                      <a:r>
                        <a:rPr sz="2400" b="0">
                          <a:solidFill>
                            <a:srgbClr val="232B34"/>
                          </a:solidFill>
                          <a:latin typeface="Arial" panose="020B0604020202020204" pitchFamily="34" charset="0"/>
                          <a:ea typeface="Yu Gothic"/>
                        </a:rPr>
                        <a:t>全日照（HOT）軌道</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DCが数µrad</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蝕がなく熱がほぼ一定。平均の予測が軌道条件の外へ出ている</a:t>
                      </a:r>
                    </a:p>
                  </a:txBody>
                  <a:tcPr marL="128016" marR="128016" anchor="ctr">
                    <a:solidFill>
                      <a:srgbClr val="EBF6FB"/>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1463040" y="8778240"/>
            <a:ext cx="10424160" cy="2926080"/>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828800" y="9006840"/>
            <a:ext cx="9692640" cy="437043"/>
          </a:xfrm>
          <a:prstGeom prst="rect">
            <a:avLst/>
          </a:prstGeom>
          <a:noFill/>
        </p:spPr>
        <p:txBody>
          <a:bodyPr wrap="square" lIns="45720" tIns="18288" rIns="45720" bIns="18288" anchor="t">
            <a:spAutoFit/>
          </a:bodyPr>
          <a:lstStyle/>
          <a:p>
            <a:pPr algn="l">
              <a:spcAft>
                <a:spcPts val="0"/>
              </a:spcAft>
            </a:pPr>
            <a:r>
              <a:rPr sz="2600" b="1">
                <a:solidFill>
                  <a:srgbClr val="082B52"/>
                </a:solidFill>
                <a:latin typeface="Arial" panose="020B0604020202020204" pitchFamily="34" charset="0"/>
                <a:ea typeface="Yu Gothic"/>
              </a:rPr>
              <a:t>共通する構図</a:t>
            </a:r>
          </a:p>
        </p:txBody>
      </p:sp>
      <p:sp>
        <p:nvSpPr>
          <p:cNvPr id="8" name="TextBox 7"/>
          <p:cNvSpPr txBox="1"/>
          <p:nvPr/>
        </p:nvSpPr>
        <p:spPr>
          <a:xfrm>
            <a:off x="1828800" y="9646920"/>
            <a:ext cx="9692640" cy="927818"/>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Arial" panose="020B0604020202020204" pitchFamily="34" charset="0"/>
                <a:ea typeface="Yu Gothic"/>
              </a:rPr>
              <a:t>時変の項ではなく、ケース平均の側が外れている。</a:t>
            </a:r>
          </a:p>
          <a:p>
            <a:pPr algn="l">
              <a:lnSpc>
                <a:spcPct val="125000"/>
              </a:lnSpc>
              <a:spcAft>
                <a:spcPts val="0"/>
              </a:spcAft>
            </a:pPr>
            <a:r>
              <a:rPr sz="2400" b="0">
                <a:solidFill>
                  <a:srgbClr val="232B34"/>
                </a:solidFill>
                <a:latin typeface="Arial" panose="020B0604020202020204" pitchFamily="34" charset="0"/>
                <a:ea typeface="Yu Gothic"/>
              </a:rPr>
              <a:t>被覆・軌道・連続発熱量はいまの入力に入っていない</a:t>
            </a:r>
          </a:p>
        </p:txBody>
      </p:sp>
      <p:sp>
        <p:nvSpPr>
          <p:cNvPr id="9" name="Rounded Rectangle 8"/>
          <p:cNvSpPr/>
          <p:nvPr/>
        </p:nvSpPr>
        <p:spPr>
          <a:xfrm>
            <a:off x="12435840" y="8778240"/>
            <a:ext cx="10424160" cy="29260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0" y="9006840"/>
            <a:ext cx="9692640" cy="437043"/>
          </a:xfrm>
          <a:prstGeom prst="rect">
            <a:avLst/>
          </a:prstGeom>
          <a:noFill/>
        </p:spPr>
        <p:txBody>
          <a:bodyPr wrap="square" lIns="45720" tIns="18288" rIns="45720" bIns="18288" anchor="t">
            <a:spAutoFit/>
          </a:bodyPr>
          <a:lstStyle/>
          <a:p>
            <a:pPr algn="l">
              <a:spcAft>
                <a:spcPts val="0"/>
              </a:spcAft>
            </a:pPr>
            <a:r>
              <a:rPr sz="2600" b="1">
                <a:solidFill>
                  <a:srgbClr val="239571"/>
                </a:solidFill>
                <a:latin typeface="Arial" panose="020B0604020202020204" pitchFamily="34" charset="0"/>
                <a:ea typeface="Yu Gothic"/>
              </a:rPr>
              <a:t>主結果の範囲</a:t>
            </a:r>
          </a:p>
        </p:txBody>
      </p:sp>
      <p:sp>
        <p:nvSpPr>
          <p:cNvPr id="11" name="TextBox 10"/>
          <p:cNvSpPr txBox="1"/>
          <p:nvPr/>
        </p:nvSpPr>
        <p:spPr>
          <a:xfrm>
            <a:off x="12801600" y="9646920"/>
            <a:ext cx="9692640" cy="927818"/>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Arial" panose="020B0604020202020204" pitchFamily="34" charset="0"/>
                <a:ea typeface="Yu Gothic"/>
              </a:rPr>
              <a:t>標準COLD・標準表面の条件で、固定16係数のまま</a:t>
            </a:r>
          </a:p>
          <a:p>
            <a:pPr algn="l">
              <a:lnSpc>
                <a:spcPct val="125000"/>
              </a:lnSpc>
              <a:spcAft>
                <a:spcPts val="0"/>
              </a:spcAft>
            </a:pPr>
            <a:r>
              <a:rPr sz="2400" b="0">
                <a:solidFill>
                  <a:srgbClr val="232B34"/>
                </a:solidFill>
                <a:latin typeface="Arial" panose="020B0604020202020204" pitchFamily="34" charset="0"/>
                <a:ea typeface="Yu Gothic"/>
              </a:rPr>
              <a:t>1〜2桁の低減。被覆・軌道・連続量の明示は今後</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0390793"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B6（2/2）｜取付点の温度を足すと係数が壊れる</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B6</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470898"/>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Arial" panose="020B0604020202020204" pitchFamily="34" charset="0"/>
                <a:ea typeface="Yu Gothic"/>
              </a:rPr>
              <a:t>試したこと</a:t>
            </a:r>
          </a:p>
        </p:txBody>
      </p:sp>
      <p:sp>
        <p:nvSpPr>
          <p:cNvPr id="7" name="TextBox 6"/>
          <p:cNvSpPr txBox="1"/>
          <p:nvPr/>
        </p:nvSpPr>
        <p:spPr>
          <a:xfrm>
            <a:off x="4663110" y="4434840"/>
            <a:ext cx="3383940" cy="1009507"/>
          </a:xfrm>
          <a:prstGeom prst="rect">
            <a:avLst/>
          </a:prstGeom>
          <a:noFill/>
        </p:spPr>
        <p:txBody>
          <a:bodyPr wrap="none" lIns="36576" tIns="27432" rIns="36576" bIns="27432" anchor="t">
            <a:spAutoFit/>
          </a:bodyPr>
          <a:lstStyle/>
          <a:p>
            <a:pPr algn="ctr"/>
            <a:r>
              <a:rPr lang="en-US" sz="3100" b="1">
                <a:solidFill>
                  <a:srgbClr val="082B52"/>
                </a:solidFill>
                <a:latin typeface="Arial" panose="020B0604020202020204" pitchFamily="34" charset="0"/>
              </a:rPr>
              <a:t>LOS = b + a·ΔT
+ c·(Tattach−Tref)</a:t>
            </a:r>
            <a:endParaRPr lang="en-US" sz="3100" b="1" dirty="0">
              <a:solidFill>
                <a:srgbClr val="082B52"/>
              </a:solidFill>
              <a:latin typeface="Arial" panose="020B0604020202020204" pitchFamily="34" charset="0"/>
            </a:endParaRPr>
          </a:p>
        </p:txBody>
      </p:sp>
      <p:sp>
        <p:nvSpPr>
          <p:cNvPr id="8" name="TextBox 7"/>
          <p:cNvSpPr txBox="1"/>
          <p:nvPr/>
        </p:nvSpPr>
        <p:spPr>
          <a:xfrm>
            <a:off x="1828800" y="6217920"/>
            <a:ext cx="9052560" cy="1650324"/>
          </a:xfrm>
          <a:prstGeom prst="rect">
            <a:avLst/>
          </a:prstGeom>
          <a:noFill/>
        </p:spPr>
        <p:txBody>
          <a:bodyPr wrap="square" lIns="27432" rIns="27432">
            <a:spAutoFit/>
          </a:bodyPr>
          <a:lstStyle/>
          <a:p>
            <a:pPr>
              <a:lnSpc>
                <a:spcPct val="110000"/>
              </a:lnSpc>
              <a:spcAft>
                <a:spcPts val="1200"/>
              </a:spcAft>
            </a:pPr>
            <a:r>
              <a:rPr sz="2500" b="0">
                <a:solidFill>
                  <a:srgbClr val="232B34"/>
                </a:solidFill>
                <a:latin typeface="Arial" panose="020B0604020202020204" pitchFamily="34" charset="0"/>
                <a:ea typeface="Yu Gothic"/>
              </a:rPr>
              <a:t>• 温度差と取付点温度の相関が 0.995</a:t>
            </a:r>
          </a:p>
          <a:p>
            <a:pPr>
              <a:lnSpc>
                <a:spcPct val="110000"/>
              </a:lnSpc>
              <a:spcAft>
                <a:spcPts val="1200"/>
              </a:spcAft>
            </a:pPr>
            <a:r>
              <a:rPr sz="2500" b="0">
                <a:solidFill>
                  <a:srgbClr val="232B34"/>
                </a:solidFill>
                <a:latin typeface="Arial" panose="020B0604020202020204" pitchFamily="34" charset="0"/>
                <a:ea typeface="Yu Gothic"/>
              </a:rPr>
              <a:t>• 取付点まわりの温度のばらつきは 0.1 K 程度</a:t>
            </a:r>
          </a:p>
          <a:p>
            <a:pPr>
              <a:lnSpc>
                <a:spcPct val="110000"/>
              </a:lnSpc>
              <a:spcAft>
                <a:spcPts val="1200"/>
              </a:spcAft>
            </a:pPr>
            <a:r>
              <a:rPr sz="2500" b="0">
                <a:solidFill>
                  <a:srgbClr val="232B34"/>
                </a:solidFill>
                <a:latin typeface="Arial" panose="020B0604020202020204" pitchFamily="34" charset="0"/>
                <a:ea typeface="Yu Gothic"/>
              </a:rPr>
              <a:t>• 係数が巨大化し、ケース間で不安定になる</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470898"/>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Arial" panose="020B0604020202020204" pitchFamily="34" charset="0"/>
                <a:ea typeface="Yu Gothic"/>
              </a:rPr>
              <a:t>解釈</a:t>
            </a:r>
          </a:p>
        </p:txBody>
      </p:sp>
      <p:sp>
        <p:nvSpPr>
          <p:cNvPr id="12" name="TextBox 11"/>
          <p:cNvSpPr txBox="1"/>
          <p:nvPr/>
        </p:nvSpPr>
        <p:spPr>
          <a:xfrm>
            <a:off x="14356080" y="4572000"/>
            <a:ext cx="7863840" cy="855619"/>
          </a:xfrm>
          <a:prstGeom prst="rect">
            <a:avLst/>
          </a:prstGeom>
          <a:noFill/>
        </p:spPr>
        <p:txBody>
          <a:bodyPr wrap="square" lIns="36576" tIns="27432" rIns="36576" bIns="27432" anchor="t">
            <a:spAutoFit/>
          </a:bodyPr>
          <a:lstStyle/>
          <a:p>
            <a:pPr algn="ctr">
              <a:spcAft>
                <a:spcPts val="0"/>
              </a:spcAft>
            </a:pPr>
            <a:r>
              <a:rPr sz="2600" b="0">
                <a:solidFill>
                  <a:srgbClr val="232B34"/>
                </a:solidFill>
                <a:latin typeface="Arial" panose="020B0604020202020204" pitchFamily="34" charset="0"/>
                <a:ea typeface="Yu Gothic"/>
              </a:rPr>
              <a:t>効いていたのは軌道内の変動ではなく</a:t>
            </a:r>
          </a:p>
          <a:p>
            <a:pPr algn="ctr">
              <a:spcAft>
                <a:spcPts val="0"/>
              </a:spcAft>
            </a:pPr>
            <a:r>
              <a:rPr sz="2600" b="0">
                <a:solidFill>
                  <a:srgbClr val="232B34"/>
                </a:solidFill>
                <a:latin typeface="Arial" panose="020B0604020202020204" pitchFamily="34" charset="0"/>
                <a:ea typeface="Yu Gothic"/>
              </a:rPr>
              <a:t>ケース平均のDCだった</a:t>
            </a:r>
          </a:p>
        </p:txBody>
      </p:sp>
      <p:sp>
        <p:nvSpPr>
          <p:cNvPr id="13" name="TextBox 12"/>
          <p:cNvSpPr txBox="1"/>
          <p:nvPr/>
        </p:nvSpPr>
        <p:spPr>
          <a:xfrm>
            <a:off x="14721840" y="7543800"/>
            <a:ext cx="7132320" cy="470898"/>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Arial" panose="020B0604020202020204" pitchFamily="34" charset="0"/>
                <a:ea typeface="Yu Gothic"/>
              </a:rPr>
              <a:t>→ b_case 側へ分離した</a:t>
            </a:r>
          </a:p>
        </p:txBody>
      </p:sp>
      <p:sp>
        <p:nvSpPr>
          <p:cNvPr id="14" name="TextBox 13"/>
          <p:cNvSpPr txBox="1"/>
          <p:nvPr/>
        </p:nvSpPr>
        <p:spPr>
          <a:xfrm>
            <a:off x="3840480" y="10652760"/>
            <a:ext cx="16642080" cy="486287"/>
          </a:xfrm>
          <a:prstGeom prst="rect">
            <a:avLst/>
          </a:prstGeom>
          <a:noFill/>
        </p:spPr>
        <p:txBody>
          <a:bodyPr wrap="square" lIns="36576" tIns="27432" rIns="36576" bIns="27432" anchor="t">
            <a:spAutoFit/>
          </a:bodyPr>
          <a:lstStyle/>
          <a:p>
            <a:pPr algn="ctr">
              <a:spcAft>
                <a:spcPts val="0"/>
              </a:spcAft>
            </a:pPr>
            <a:r>
              <a:rPr sz="2800" b="1">
                <a:solidFill>
                  <a:srgbClr val="082B52"/>
                </a:solidFill>
                <a:latin typeface="Arial" panose="020B0604020202020204" pitchFamily="34" charset="0"/>
                <a:ea typeface="Yu Gothic"/>
              </a:rPr>
              <a:t>RMSEだけでなく、係数の安定性と運用上の解釈でモデルを選んだ</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B7｜平均だけを引いた場合（定数バイアスのみ）は未計算</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B7</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2926080" y="3840480"/>
            <a:ext cx="18470880" cy="4206240"/>
          </a:xfrm>
          <a:prstGeom prst="roundRect">
            <a:avLst/>
          </a:prstGeom>
          <a:solidFill>
            <a:srgbClr val="F4F6F8"/>
          </a:solidFill>
          <a:ln w="2286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926080" y="4480560"/>
            <a:ext cx="18470880" cy="775597"/>
          </a:xfrm>
          <a:prstGeom prst="rect">
            <a:avLst/>
          </a:prstGeom>
          <a:noFill/>
        </p:spPr>
        <p:txBody>
          <a:bodyPr wrap="square" lIns="45720" tIns="18288" rIns="45720" bIns="18288" anchor="t">
            <a:spAutoFit/>
          </a:bodyPr>
          <a:lstStyle/>
          <a:p>
            <a:pPr algn="ctr">
              <a:spcAft>
                <a:spcPts val="0"/>
              </a:spcAft>
            </a:pPr>
            <a:r>
              <a:rPr sz="4800" b="1">
                <a:solidFill>
                  <a:srgbClr val="666F79"/>
                </a:solidFill>
                <a:latin typeface="Arial" panose="020B0604020202020204" pitchFamily="34" charset="0"/>
                <a:ea typeface="Yu Gothic"/>
              </a:rPr>
              <a:t>未計算</a:t>
            </a:r>
          </a:p>
        </p:txBody>
      </p:sp>
      <p:sp>
        <p:nvSpPr>
          <p:cNvPr id="7" name="TextBox 6"/>
          <p:cNvSpPr txBox="1"/>
          <p:nvPr/>
        </p:nvSpPr>
        <p:spPr>
          <a:xfrm>
            <a:off x="2926080" y="5852160"/>
            <a:ext cx="18470880" cy="1039195"/>
          </a:xfrm>
          <a:prstGeom prst="rect">
            <a:avLst/>
          </a:prstGeom>
          <a:noFill/>
        </p:spPr>
        <p:txBody>
          <a:bodyPr wrap="square" lIns="45720" tIns="18288" rIns="45720" bIns="18288" anchor="t">
            <a:spAutoFit/>
          </a:bodyPr>
          <a:lstStyle/>
          <a:p>
            <a:pPr algn="ctr">
              <a:lnSpc>
                <a:spcPct val="125000"/>
              </a:lnSpc>
              <a:spcAft>
                <a:spcPts val="0"/>
              </a:spcAft>
            </a:pPr>
            <a:r>
              <a:rPr sz="2700" b="0">
                <a:solidFill>
                  <a:srgbClr val="232B34"/>
                </a:solidFill>
                <a:latin typeface="Arial" panose="020B0604020202020204" pitchFamily="34" charset="0"/>
                <a:ea typeface="Yu Gothic"/>
              </a:rPr>
              <a:t>ΔT(t) を 0 とし、予測したケース平均DCだけを引いた場合の捕捉時間は、</a:t>
            </a:r>
          </a:p>
          <a:p>
            <a:pPr algn="ctr">
              <a:lnSpc>
                <a:spcPct val="125000"/>
              </a:lnSpc>
              <a:spcAft>
                <a:spcPts val="0"/>
              </a:spcAft>
            </a:pPr>
            <a:r>
              <a:rPr sz="2700" b="0">
                <a:solidFill>
                  <a:srgbClr val="232B34"/>
                </a:solidFill>
                <a:latin typeface="Arial" panose="020B0604020202020204" pitchFamily="34" charset="0"/>
                <a:ea typeface="Yu Gothic"/>
              </a:rPr>
              <a:t>今回の走査条件ではまだ計算していない</a:t>
            </a:r>
          </a:p>
        </p:txBody>
      </p:sp>
      <p:sp>
        <p:nvSpPr>
          <p:cNvPr id="8" name="Rounded Rectangle 7"/>
          <p:cNvSpPr/>
          <p:nvPr/>
        </p:nvSpPr>
        <p:spPr>
          <a:xfrm>
            <a:off x="2926080" y="8503920"/>
            <a:ext cx="8869680" cy="256032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127248" y="8796528"/>
            <a:ext cx="8467344" cy="421654"/>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Arial" panose="020B0604020202020204" pitchFamily="34" charset="0"/>
                <a:ea typeface="Yu Gothic"/>
              </a:rPr>
              <a:t>この列が示すはずのこと</a:t>
            </a:r>
          </a:p>
        </p:txBody>
      </p:sp>
      <p:sp>
        <p:nvSpPr>
          <p:cNvPr id="10" name="TextBox 9"/>
          <p:cNvSpPr txBox="1"/>
          <p:nvPr/>
        </p:nvSpPr>
        <p:spPr>
          <a:xfrm>
            <a:off x="3200400" y="9601200"/>
            <a:ext cx="8321040" cy="79432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Arial" panose="020B0604020202020204" pitchFamily="34" charset="0"/>
                <a:ea typeface="Yu Gothic"/>
              </a:rPr>
              <a:t>改善のどれだけが平均の除去で、
どれだけが軌道内の時変項によるのかを分ける</a:t>
            </a:r>
          </a:p>
        </p:txBody>
      </p:sp>
      <p:sp>
        <p:nvSpPr>
          <p:cNvPr id="11" name="Rounded Rectangle 10"/>
          <p:cNvSpPr/>
          <p:nvPr/>
        </p:nvSpPr>
        <p:spPr>
          <a:xfrm>
            <a:off x="12527280" y="8503920"/>
            <a:ext cx="8869680" cy="25603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728448" y="8796528"/>
            <a:ext cx="8467344" cy="421654"/>
          </a:xfrm>
          <a:prstGeom prst="rect">
            <a:avLst/>
          </a:prstGeom>
          <a:noFill/>
        </p:spPr>
        <p:txBody>
          <a:bodyPr wrap="square" lIns="45720" tIns="18288" rIns="45720" bIns="18288" anchor="t">
            <a:spAutoFit/>
          </a:bodyPr>
          <a:lstStyle/>
          <a:p>
            <a:pPr algn="ctr">
              <a:spcAft>
                <a:spcPts val="0"/>
              </a:spcAft>
            </a:pPr>
            <a:r>
              <a:rPr sz="2500" b="1">
                <a:solidFill>
                  <a:srgbClr val="D03B46"/>
                </a:solidFill>
                <a:latin typeface="Arial" panose="020B0604020202020204" pitchFamily="34" charset="0"/>
                <a:ea typeface="Yu Gothic"/>
              </a:rPr>
              <a:t>7月に出した秒は流用しない</a:t>
            </a:r>
          </a:p>
        </p:txBody>
      </p:sp>
      <p:sp>
        <p:nvSpPr>
          <p:cNvPr id="13" name="TextBox 12"/>
          <p:cNvSpPr txBox="1"/>
          <p:nvPr/>
        </p:nvSpPr>
        <p:spPr>
          <a:xfrm>
            <a:off x="12801600" y="9601200"/>
            <a:ext cx="8321040" cy="79432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Arial" panose="020B0604020202020204" pitchFamily="34" charset="0"/>
                <a:ea typeface="Yu Gothic"/>
              </a:rPr>
              <a:t>あのときの走査は点間隔と検出半径が
通信ビーム級に細かく、今日の条件とは別</a:t>
            </a:r>
          </a:p>
        </p:txBody>
      </p:sp>
      <p:sp>
        <p:nvSpPr>
          <p:cNvPr id="14" name="TextBox 13"/>
          <p:cNvSpPr txBox="1"/>
          <p:nvPr/>
        </p:nvSpPr>
        <p:spPr>
          <a:xfrm>
            <a:off x="2926080" y="11430000"/>
            <a:ext cx="18470880" cy="406265"/>
          </a:xfrm>
          <a:prstGeom prst="rect">
            <a:avLst/>
          </a:prstGeom>
          <a:noFill/>
        </p:spPr>
        <p:txBody>
          <a:bodyPr wrap="square" lIns="45720" tIns="18288" rIns="45720" bIns="18288" anchor="t">
            <a:spAutoFit/>
          </a:bodyPr>
          <a:lstStyle/>
          <a:p>
            <a:pPr algn="ctr">
              <a:spcAft>
                <a:spcPts val="0"/>
              </a:spcAft>
            </a:pPr>
            <a:r>
              <a:rPr sz="2400" b="1">
                <a:solidFill>
                  <a:srgbClr val="D03B46"/>
                </a:solidFill>
                <a:latin typeface="Arial" panose="020B0604020202020204" pitchFamily="34" charset="0"/>
                <a:ea typeface="Yu Gothic"/>
              </a:rPr>
              <a:t>本編の結論には、この未計算の列の数字を一切使っていない</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B8｜先行研究の位置づけ（2軸で見る）</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B8</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059908121"/>
              </p:ext>
            </p:extLst>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spcAft>
                          <a:spcPts val="0"/>
                        </a:spcAft>
                      </a:pPr>
                      <a:r>
                        <a:rPr sz="2300" b="1">
                          <a:solidFill>
                            <a:srgbClr val="FFFFFF"/>
                          </a:solidFill>
                          <a:latin typeface="Arial" panose="020B0604020202020204" pitchFamily="34" charset="0"/>
                          <a:ea typeface="Yu Gothic"/>
                        </a:rPr>
                        <a:t>研究</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熱状態からLOSを予測するか / 粗捕捉時間を評価するか</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spcAft>
                          <a:spcPts val="0"/>
                        </a:spcAft>
                      </a:pPr>
                      <a:r>
                        <a:rPr lang="en-US" sz="2300" b="0">
                          <a:solidFill>
                            <a:srgbClr val="232B34"/>
                          </a:solidFill>
                          <a:latin typeface="Arial" panose="020B0604020202020204" pitchFamily="34" charset="0"/>
                          <a:ea typeface="Yu Gothic"/>
                        </a:rPr>
                        <a:t>Riesing 2023（TBIRD）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熱は明示せず姿勢系で吸収 / 軌道上で捕捉を評価</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spcAft>
                          <a:spcPts val="0"/>
                        </a:spcAft>
                      </a:pPr>
                      <a:r>
                        <a:rPr lang="en-US" sz="2300" b="0">
                          <a:solidFill>
                            <a:srgbClr val="232B34"/>
                          </a:solidFill>
                          <a:latin typeface="Arial" panose="020B0604020202020204" pitchFamily="34" charset="0"/>
                          <a:ea typeface="Yu Gothic"/>
                        </a:rPr>
                        <a:t>Shi 2023</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構造設計で熱変形を小さくする / 捕捉時間を評価</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spcAft>
                          <a:spcPts val="0"/>
                        </a:spcAft>
                      </a:pPr>
                      <a:r>
                        <a:rPr lang="en-US" sz="2300" b="0">
                          <a:solidFill>
                            <a:srgbClr val="232B34"/>
                          </a:solidFill>
                          <a:latin typeface="Arial" panose="020B0604020202020204" pitchFamily="34" charset="0"/>
                          <a:ea typeface="Yu Gothic"/>
                        </a:rPr>
                        <a:t>Hu 2022（GEO）</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周期モデルで熱LOSを補正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spcAft>
                          <a:spcPts val="0"/>
                        </a:spcAft>
                      </a:pPr>
                      <a:r>
                        <a:rPr lang="en-US" sz="2300" b="0">
                          <a:solidFill>
                            <a:srgbClr val="232B34"/>
                          </a:solidFill>
                          <a:latin typeface="Arial" panose="020B0604020202020204" pitchFamily="34" charset="0"/>
                          <a:ea typeface="Yu Gothic"/>
                        </a:rPr>
                        <a:t>Li 2025（LEO）</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ニューラルネットで熱LOSを補正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spcAft>
                          <a:spcPts val="0"/>
                        </a:spcAft>
                      </a:pPr>
                      <a:r>
                        <a:rPr lang="en-US" sz="2300" b="0">
                          <a:solidFill>
                            <a:srgbClr val="232B34"/>
                          </a:solidFill>
                          <a:latin typeface="Arial" panose="020B0604020202020204" pitchFamily="34" charset="0"/>
                          <a:ea typeface="Yu Gothic"/>
                        </a:rPr>
                        <a:t>JANUS（Turella）</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壁面温度差に比例する一次式 / 粗捕捉は評価しない</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spcAft>
                          <a:spcPts val="0"/>
                        </a:spcAft>
                      </a:pPr>
                      <a:r>
                        <a:rPr sz="2300" b="0">
                          <a:solidFill>
                            <a:srgbClr val="232B34"/>
                          </a:solidFill>
                          <a:latin typeface="Arial" panose="020B0604020202020204" pitchFamily="34" charset="0"/>
                          <a:ea typeface="Yu Gothic"/>
                        </a:rPr>
                        <a:t>本研究</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太陽面温度差と運用フラグで予測する / 捕捉時間まで評価する</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280160" y="10698480"/>
            <a:ext cx="21762720" cy="406265"/>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Arial" panose="020B0604020202020204" pitchFamily="34" charset="0"/>
                <a:ea typeface="Yu Gothic"/>
              </a:rPr>
              <a:t>新しいのは一次関係そのものではなく、バス上のSTT–LCTへの適用、条件横断の係数共有、捕捉時間への接続</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B9｜解析モデルの妥当性をどう検証するか</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B9</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463040" y="3291840"/>
            <a:ext cx="10607040" cy="356616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584448"/>
            <a:ext cx="10204704" cy="452432"/>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Arial" panose="020B0604020202020204" pitchFamily="34" charset="0"/>
                <a:ea typeface="Yu Gothic"/>
              </a:rPr>
              <a:t>今日の主張の範囲</a:t>
            </a:r>
          </a:p>
        </p:txBody>
      </p:sp>
      <p:sp>
        <p:nvSpPr>
          <p:cNvPr id="7" name="TextBox 6"/>
          <p:cNvSpPr txBox="1"/>
          <p:nvPr/>
        </p:nvSpPr>
        <p:spPr>
          <a:xfrm>
            <a:off x="1737360" y="4434840"/>
            <a:ext cx="10058400" cy="1235788"/>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同一の解析チェーン（Thermal Desktop / Femap）の中での数値評価である。
外しているのはケースであって、構造やLOS定義ではない</a:t>
            </a:r>
          </a:p>
        </p:txBody>
      </p:sp>
      <p:sp>
        <p:nvSpPr>
          <p:cNvPr id="8" name="Rounded Rectangle 7"/>
          <p:cNvSpPr/>
          <p:nvPr/>
        </p:nvSpPr>
        <p:spPr>
          <a:xfrm>
            <a:off x="12801600" y="3291840"/>
            <a:ext cx="10424160" cy="356616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584448"/>
            <a:ext cx="10021824" cy="452432"/>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Arial" panose="020B0604020202020204" pitchFamily="34" charset="0"/>
                <a:ea typeface="Yu Gothic"/>
              </a:rPr>
              <a:t>入っていないもの</a:t>
            </a:r>
          </a:p>
        </p:txBody>
      </p:sp>
      <p:sp>
        <p:nvSpPr>
          <p:cNvPr id="10" name="TextBox 9"/>
          <p:cNvSpPr txBox="1"/>
          <p:nvPr/>
        </p:nvSpPr>
        <p:spPr>
          <a:xfrm>
            <a:off x="13075920" y="4434840"/>
            <a:ext cx="987552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打上げ後のアライメント変化、実機の剛性差、組立公差、
軌道上での経年変化</a:t>
            </a:r>
          </a:p>
        </p:txBody>
      </p:sp>
      <p:sp>
        <p:nvSpPr>
          <p:cNvPr id="11" name="Rounded Rectangle 10"/>
          <p:cNvSpPr/>
          <p:nvPr/>
        </p:nvSpPr>
        <p:spPr>
          <a:xfrm>
            <a:off x="1463040" y="7315200"/>
            <a:ext cx="21762720" cy="310896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607808"/>
            <a:ext cx="21360384" cy="452432"/>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Arial" panose="020B0604020202020204" pitchFamily="34" charset="0"/>
                <a:ea typeface="Yu Gothic"/>
              </a:rPr>
              <a:t>今後の検証</a:t>
            </a:r>
          </a:p>
        </p:txBody>
      </p:sp>
      <p:sp>
        <p:nvSpPr>
          <p:cNvPr id="13" name="TextBox 12"/>
          <p:cNvSpPr txBox="1"/>
          <p:nvPr/>
        </p:nvSpPr>
        <p:spPr>
          <a:xfrm>
            <a:off x="1737360" y="8458200"/>
            <a:ext cx="21214080" cy="863185"/>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Arial" panose="020B0604020202020204" pitchFamily="34" charset="0"/>
                <a:ea typeface="Yu Gothic"/>
              </a:rPr>
              <a:t>地上の熱真空試験で温度と変位を同時に測り、感度 a を実測で確かめる。
係数の取り直しが前提であり、式の形が移せるかを見る</a:t>
            </a:r>
          </a:p>
        </p:txBody>
      </p:sp>
      <p:sp>
        <p:nvSpPr>
          <p:cNvPr id="14" name="TextBox 13"/>
          <p:cNvSpPr txBox="1"/>
          <p:nvPr/>
        </p:nvSpPr>
        <p:spPr>
          <a:xfrm>
            <a:off x="1463040" y="10881360"/>
            <a:ext cx="21762720" cy="437043"/>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Arial" panose="020B0604020202020204" pitchFamily="34" charset="0"/>
                <a:ea typeface="Yu Gothic"/>
              </a:rPr>
              <a:t>主張を『解析を真値として完璧に当てる』に置いていない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B10｜姿勢の前提と、変わる頻度</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B10</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463040" y="3383280"/>
            <a:ext cx="10607040" cy="38404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675888"/>
            <a:ext cx="10204704" cy="452432"/>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Arial" panose="020B0604020202020204" pitchFamily="34" charset="0"/>
                <a:ea typeface="Yu Gothic"/>
              </a:rPr>
              <a:t>前提</a:t>
            </a:r>
          </a:p>
        </p:txBody>
      </p:sp>
      <p:sp>
        <p:nvSpPr>
          <p:cNvPr id="7" name="TextBox 6"/>
          <p:cNvSpPr txBox="1"/>
          <p:nvPr/>
        </p:nvSpPr>
        <p:spPr>
          <a:xfrm>
            <a:off x="1737360" y="4526280"/>
            <a:ext cx="1005840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本体指向を想定し、ケース内では太陽指向面を固定している。
通信中に構体の太陽面が入れ替わる時系列は解析していない</a:t>
            </a:r>
          </a:p>
        </p:txBody>
      </p:sp>
      <p:sp>
        <p:nvSpPr>
          <p:cNvPr id="8" name="Rounded Rectangle 7"/>
          <p:cNvSpPr/>
          <p:nvPr/>
        </p:nvSpPr>
        <p:spPr>
          <a:xfrm>
            <a:off x="12801600" y="3383280"/>
            <a:ext cx="10424160" cy="38404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675888"/>
            <a:ext cx="10021824" cy="452432"/>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Arial" panose="020B0604020202020204" pitchFamily="34" charset="0"/>
                <a:ea typeface="Yu Gothic"/>
              </a:rPr>
              <a:t>ジンバルの場合</a:t>
            </a:r>
          </a:p>
        </p:txBody>
      </p:sp>
      <p:sp>
        <p:nvSpPr>
          <p:cNvPr id="10" name="TextBox 9"/>
          <p:cNvSpPr txBox="1"/>
          <p:nvPr/>
        </p:nvSpPr>
        <p:spPr>
          <a:xfrm>
            <a:off x="13075920" y="4526280"/>
            <a:ext cx="987552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構体姿勢がほぼ一定なら、このケース行列の中では同じ扱いになる。
熱はバス側の温度場で決まるため</a:t>
            </a:r>
          </a:p>
        </p:txBody>
      </p:sp>
      <p:sp>
        <p:nvSpPr>
          <p:cNvPr id="11" name="Rounded Rectangle 10"/>
          <p:cNvSpPr/>
          <p:nvPr/>
        </p:nvSpPr>
        <p:spPr>
          <a:xfrm>
            <a:off x="1463040" y="7680960"/>
            <a:ext cx="21762720" cy="29260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973568"/>
            <a:ext cx="21360384" cy="452432"/>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Arial" panose="020B0604020202020204" pitchFamily="34" charset="0"/>
                <a:ea typeface="Yu Gothic"/>
              </a:rPr>
              <a:t>未解析</a:t>
            </a:r>
          </a:p>
        </p:txBody>
      </p:sp>
      <p:sp>
        <p:nvSpPr>
          <p:cNvPr id="13" name="TextBox 12"/>
          <p:cNvSpPr txBox="1"/>
          <p:nvPr/>
        </p:nvSpPr>
        <p:spPr>
          <a:xfrm>
            <a:off x="1737360" y="8823960"/>
            <a:ext cx="21214080" cy="438453"/>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Arial" panose="020B0604020202020204" pitchFamily="34" charset="0"/>
                <a:ea typeface="Yu Gothic"/>
              </a:rPr>
              <a:t>相手を追い続ける body pointing の時系列、および軌道の途中で発熱機器の電源が入る過渡。どちらも温度場の履歴が変わるため、別に解析が要る</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B11｜残差Fourier更新の数値（予備）</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B11</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724011825"/>
              </p:ext>
            </p:extLst>
          </p:nvPr>
        </p:nvGraphicFramePr>
        <p:xfrm>
          <a:off x="1463040" y="3291840"/>
          <a:ext cx="21396958" cy="4572000"/>
        </p:xfrm>
        <a:graphic>
          <a:graphicData uri="http://schemas.openxmlformats.org/drawingml/2006/table">
            <a:tbl>
              <a:tblPr firstRow="1" bandRow="1">
                <a:tableStyleId>{5C22544A-7EE6-4342-B048-85BDC9FD1C3A}</a:tableStyleId>
              </a:tblPr>
              <a:tblGrid>
                <a:gridCol w="10480143">
                  <a:extLst>
                    <a:ext uri="{9D8B030D-6E8A-4147-A177-3AD203B41FA5}">
                      <a16:colId xmlns:a16="http://schemas.microsoft.com/office/drawing/2014/main" val="20000"/>
                    </a:ext>
                  </a:extLst>
                </a:gridCol>
                <a:gridCol w="3493381">
                  <a:extLst>
                    <a:ext uri="{9D8B030D-6E8A-4147-A177-3AD203B41FA5}">
                      <a16:colId xmlns:a16="http://schemas.microsoft.com/office/drawing/2014/main" val="20001"/>
                    </a:ext>
                  </a:extLst>
                </a:gridCol>
                <a:gridCol w="3493381">
                  <a:extLst>
                    <a:ext uri="{9D8B030D-6E8A-4147-A177-3AD203B41FA5}">
                      <a16:colId xmlns:a16="http://schemas.microsoft.com/office/drawing/2014/main" val="20002"/>
                    </a:ext>
                  </a:extLst>
                </a:gridCol>
                <a:gridCol w="3930053">
                  <a:extLst>
                    <a:ext uri="{9D8B030D-6E8A-4147-A177-3AD203B41FA5}">
                      <a16:colId xmlns:a16="http://schemas.microsoft.com/office/drawing/2014/main" val="20003"/>
                    </a:ext>
                  </a:extLst>
                </a:gridCol>
              </a:tblGrid>
              <a:tr h="914400">
                <a:tc>
                  <a:txBody>
                    <a:bodyPr/>
                    <a:lstStyle/>
                    <a:p>
                      <a:pPr algn="l">
                        <a:spcAft>
                          <a:spcPts val="0"/>
                        </a:spcAft>
                      </a:pPr>
                      <a:r>
                        <a:rPr sz="2300" b="1">
                          <a:solidFill>
                            <a:srgbClr val="FFFFFF"/>
                          </a:solidFill>
                          <a:latin typeface="Arial" panose="020B0604020202020204" pitchFamily="34" charset="0"/>
                          <a:ea typeface="Yu Gothic"/>
                        </a:rPr>
                        <a:t>条件</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全区間</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初周</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Arial" panose="020B0604020202020204" pitchFamily="34" charset="0"/>
                          <a:ea typeface="Yu Gothic"/>
                        </a:rPr>
                        <a:t>Case 13（MY）全誤差を直接Fourier</a:t>
                      </a: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1.39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3.37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0.39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Arial" panose="020B0604020202020204" pitchFamily="34" charset="0"/>
                          <a:ea typeface="Yu Gothic"/>
                        </a:rPr>
                        <a:t>Case 13（MY）階層モデル＋残差Fourier</a:t>
                      </a: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0.79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1.60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0.38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Arial" panose="020B0604020202020204" pitchFamily="34" charset="0"/>
                          <a:ea typeface="Yu Gothic"/>
                        </a:rPr>
                        <a:t>Case 16（PY）全誤差を直接Fourier</a:t>
                      </a: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13.2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39.5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0.38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Arial" panose="020B0604020202020204" pitchFamily="34" charset="0"/>
                          <a:ea typeface="Yu Gothic"/>
                        </a:rPr>
                        <a:t>Case 16（PY）階層モデル＋残差Fourier</a:t>
                      </a: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0.76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1.47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0.40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092440"/>
            <a:ext cx="21396960" cy="360099"/>
          </a:xfrm>
          <a:prstGeom prst="rect">
            <a:avLst/>
          </a:prstGeom>
          <a:noFill/>
        </p:spPr>
        <p:txBody>
          <a:bodyPr wrap="square" lIns="45720" tIns="18288" rIns="45720" bIns="18288" anchor="t">
            <a:spAutoFit/>
          </a:bodyPr>
          <a:lstStyle/>
          <a:p>
            <a:pPr algn="l">
              <a:spcAft>
                <a:spcPts val="0"/>
              </a:spcAft>
            </a:pPr>
            <a:r>
              <a:rPr sz="2100" b="0">
                <a:solidFill>
                  <a:srgbClr val="666F79"/>
                </a:solidFill>
                <a:latin typeface="Arial" panose="020B0604020202020204" pitchFamily="34" charset="0"/>
                <a:ea typeface="Yu Gothic"/>
              </a:rPr>
              <a:t>Case 16 の直接Fourier は成功率 98.7%。他は 100%</a:t>
            </a:r>
          </a:p>
        </p:txBody>
      </p:sp>
      <p:sp>
        <p:nvSpPr>
          <p:cNvPr id="7" name="Rounded Rectangle 6"/>
          <p:cNvSpPr/>
          <p:nvPr/>
        </p:nvSpPr>
        <p:spPr>
          <a:xfrm>
            <a:off x="1463040" y="8961120"/>
            <a:ext cx="1060704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64208" y="9253728"/>
            <a:ext cx="10204704" cy="421654"/>
          </a:xfrm>
          <a:prstGeom prst="rect">
            <a:avLst/>
          </a:prstGeom>
          <a:noFill/>
        </p:spPr>
        <p:txBody>
          <a:bodyPr wrap="square" lIns="45720" tIns="18288" rIns="45720" bIns="18288" anchor="t">
            <a:spAutoFit/>
          </a:bodyPr>
          <a:lstStyle/>
          <a:p>
            <a:pPr algn="l">
              <a:spcAft>
                <a:spcPts val="0"/>
              </a:spcAft>
            </a:pPr>
            <a:r>
              <a:rPr sz="2500" b="1">
                <a:solidFill>
                  <a:srgbClr val="EC9427"/>
                </a:solidFill>
                <a:latin typeface="Arial" panose="020B0604020202020204" pitchFamily="34" charset="0"/>
                <a:ea typeface="Yu Gothic"/>
              </a:rPr>
              <a:t>定数の残差更新との差</a:t>
            </a:r>
          </a:p>
        </p:txBody>
      </p:sp>
      <p:sp>
        <p:nvSpPr>
          <p:cNvPr id="9" name="TextBox 8"/>
          <p:cNvSpPr txBox="1"/>
          <p:nvPr/>
        </p:nvSpPr>
        <p:spPr>
          <a:xfrm>
            <a:off x="1737360" y="10012680"/>
            <a:ext cx="10058400" cy="404983"/>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Arial" panose="020B0604020202020204" pitchFamily="34" charset="0"/>
                <a:ea typeface="Yu Gothic"/>
              </a:rPr>
              <a:t>Case 13 の周1以降は 1.66 → 1.35 s までしか落ちない。軌道周期の山が残る</a:t>
            </a:r>
          </a:p>
        </p:txBody>
      </p:sp>
      <p:sp>
        <p:nvSpPr>
          <p:cNvPr id="10" name="Rounded Rectangle 9"/>
          <p:cNvSpPr/>
          <p:nvPr/>
        </p:nvSpPr>
        <p:spPr>
          <a:xfrm>
            <a:off x="12801600" y="8961120"/>
            <a:ext cx="10424160" cy="24688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002768" y="9253728"/>
            <a:ext cx="10021824" cy="421654"/>
          </a:xfrm>
          <a:prstGeom prst="rect">
            <a:avLst/>
          </a:prstGeom>
          <a:noFill/>
        </p:spPr>
        <p:txBody>
          <a:bodyPr wrap="square" lIns="45720" tIns="18288" rIns="45720" bIns="18288" anchor="t">
            <a:spAutoFit/>
          </a:bodyPr>
          <a:lstStyle/>
          <a:p>
            <a:pPr algn="l">
              <a:spcAft>
                <a:spcPts val="0"/>
              </a:spcAft>
            </a:pPr>
            <a:r>
              <a:rPr sz="2500" b="1">
                <a:solidFill>
                  <a:srgbClr val="D03B46"/>
                </a:solidFill>
                <a:latin typeface="Arial" panose="020B0604020202020204" pitchFamily="34" charset="0"/>
                <a:ea typeface="Yu Gothic"/>
              </a:rPr>
              <a:t>限界</a:t>
            </a:r>
          </a:p>
        </p:txBody>
      </p:sp>
      <p:sp>
        <p:nvSpPr>
          <p:cNvPr id="12" name="TextBox 11"/>
          <p:cNvSpPr txBox="1"/>
          <p:nvPr/>
        </p:nvSpPr>
        <p:spPr>
          <a:xfrm>
            <a:off x="13075920" y="10012680"/>
            <a:ext cx="9875520" cy="79432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Arial" panose="020B0604020202020204" pitchFamily="34" charset="0"/>
                <a:ea typeface="Yu Gothic"/>
              </a:rPr>
              <a:t>2ケースのみ。causal、K=2。60秒刻みの全点を使っており、実センサの疎な成功点では未検証</a:t>
            </a:r>
          </a:p>
        </p:txBody>
      </p:sp>
      <p:sp>
        <p:nvSpPr>
          <p:cNvPr id="13" name="TextBox 12"/>
          <p:cNvSpPr txBox="1"/>
          <p:nvPr/>
        </p:nvSpPr>
        <p:spPr>
          <a:xfrm>
            <a:off x="1463040" y="11704320"/>
            <a:ext cx="21396960" cy="390876"/>
          </a:xfrm>
          <a:prstGeom prst="rect">
            <a:avLst/>
          </a:prstGeom>
          <a:noFill/>
        </p:spPr>
        <p:txBody>
          <a:bodyPr wrap="square" lIns="45720" tIns="18288" rIns="45720" bIns="18288" anchor="t">
            <a:spAutoFit/>
          </a:bodyPr>
          <a:lstStyle/>
          <a:p>
            <a:pPr algn="ctr">
              <a:spcAft>
                <a:spcPts val="0"/>
              </a:spcAft>
            </a:pPr>
            <a:r>
              <a:rPr sz="2300" b="0">
                <a:solidFill>
                  <a:srgbClr val="666F79"/>
                </a:solidFill>
                <a:latin typeface="Arial" panose="020B0604020202020204" pitchFamily="34" charset="0"/>
                <a:ea typeface="Yu Gothic"/>
              </a:rPr>
              <a:t>熱モデルの係数は更新していない。捕捉後の全指向残差に対する予備実験</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B12｜前に聞いた秒と、今日の秒の対応</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B12</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2831917550"/>
              </p:ext>
            </p:extLst>
          </p:nvPr>
        </p:nvGraphicFramePr>
        <p:xfrm>
          <a:off x="1463040" y="3291840"/>
          <a:ext cx="21396959" cy="6035035"/>
        </p:xfrm>
        <a:graphic>
          <a:graphicData uri="http://schemas.openxmlformats.org/drawingml/2006/table">
            <a:tbl>
              <a:tblPr firstRow="1" bandRow="1">
                <a:tableStyleId>{5C22544A-7EE6-4342-B048-85BDC9FD1C3A}</a:tableStyleId>
              </a:tblPr>
              <a:tblGrid>
                <a:gridCol w="4195482">
                  <a:extLst>
                    <a:ext uri="{9D8B030D-6E8A-4147-A177-3AD203B41FA5}">
                      <a16:colId xmlns:a16="http://schemas.microsoft.com/office/drawing/2014/main" val="20000"/>
                    </a:ext>
                  </a:extLst>
                </a:gridCol>
                <a:gridCol w="6293223">
                  <a:extLst>
                    <a:ext uri="{9D8B030D-6E8A-4147-A177-3AD203B41FA5}">
                      <a16:colId xmlns:a16="http://schemas.microsoft.com/office/drawing/2014/main" val="20001"/>
                    </a:ext>
                  </a:extLst>
                </a:gridCol>
                <a:gridCol w="10908254">
                  <a:extLst>
                    <a:ext uri="{9D8B030D-6E8A-4147-A177-3AD203B41FA5}">
                      <a16:colId xmlns:a16="http://schemas.microsoft.com/office/drawing/2014/main" val="20002"/>
                    </a:ext>
                  </a:extLst>
                </a:gridCol>
              </a:tblGrid>
              <a:tr h="1207007">
                <a:tc>
                  <a:txBody>
                    <a:bodyPr/>
                    <a:lstStyle/>
                    <a:p>
                      <a:pPr algn="l">
                        <a:spcAft>
                          <a:spcPts val="0"/>
                        </a:spcAft>
                      </a:pPr>
                      <a:r>
                        <a:rPr sz="2300" b="1">
                          <a:solidFill>
                            <a:srgbClr val="FFFFFF"/>
                          </a:solidFill>
                          <a:latin typeface="Arial" panose="020B0604020202020204" pitchFamily="34" charset="0"/>
                          <a:ea typeface="Yu Gothic"/>
                        </a:rPr>
                        <a:t>いつ</a:t>
                      </a:r>
                    </a:p>
                  </a:txBody>
                  <a:tcPr marL="128016" marR="128016" anchor="ctr">
                    <a:solidFill>
                      <a:srgbClr val="082B52"/>
                    </a:solidFill>
                  </a:tcPr>
                </a:tc>
                <a:tc>
                  <a:txBody>
                    <a:bodyPr/>
                    <a:lstStyle/>
                    <a:p>
                      <a:pPr algn="l">
                        <a:spcAft>
                          <a:spcPts val="0"/>
                        </a:spcAft>
                      </a:pPr>
                      <a:r>
                        <a:rPr sz="2300" b="1">
                          <a:solidFill>
                            <a:srgbClr val="FFFFFF"/>
                          </a:solidFill>
                          <a:latin typeface="Arial" panose="020B0604020202020204" pitchFamily="34" charset="0"/>
                          <a:ea typeface="Yu Gothic"/>
                        </a:rPr>
                        <a:t>何の秒だったか</a:t>
                      </a:r>
                    </a:p>
                  </a:txBody>
                  <a:tcPr marL="128016" marR="128016" anchor="ctr">
                    <a:solidFill>
                      <a:srgbClr val="082B52"/>
                    </a:solidFill>
                  </a:tcPr>
                </a:tc>
                <a:tc>
                  <a:txBody>
                    <a:bodyPr/>
                    <a:lstStyle/>
                    <a:p>
                      <a:pPr algn="l">
                        <a:spcAft>
                          <a:spcPts val="0"/>
                        </a:spcAft>
                      </a:pPr>
                      <a:r>
                        <a:rPr sz="2300" b="1">
                          <a:solidFill>
                            <a:srgbClr val="FFFFFF"/>
                          </a:solidFill>
                          <a:latin typeface="Arial" panose="020B0604020202020204" pitchFamily="34" charset="0"/>
                          <a:ea typeface="Yu Gothic"/>
                        </a:rPr>
                        <a:t>今日の秒と違う理由</a:t>
                      </a:r>
                    </a:p>
                  </a:txBody>
                  <a:tcPr marL="128016" marR="128016" anchor="ctr">
                    <a:solidFill>
                      <a:srgbClr val="082B52"/>
                    </a:solidFill>
                  </a:tcPr>
                </a:tc>
                <a:extLst>
                  <a:ext uri="{0D108BD9-81ED-4DB2-BD59-A6C34878D82A}">
                    <a16:rowId xmlns:a16="http://schemas.microsoft.com/office/drawing/2014/main" val="10000"/>
                  </a:ext>
                </a:extLst>
              </a:tr>
              <a:tr h="1207007">
                <a:tc>
                  <a:txBody>
                    <a:bodyPr/>
                    <a:lstStyle/>
                    <a:p>
                      <a:pPr algn="l">
                        <a:spcAft>
                          <a:spcPts val="0"/>
                        </a:spcAft>
                      </a:pPr>
                      <a:r>
                        <a:rPr sz="2200" b="0">
                          <a:solidFill>
                            <a:srgbClr val="232B34"/>
                          </a:solidFill>
                          <a:latin typeface="Arial" panose="020B0604020202020204" pitchFamily="34" charset="0"/>
                          <a:ea typeface="Yu Gothic"/>
                        </a:rPr>
                        <a:t>2026-05 全体輪講</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仮想の熱バイアスでの捕捉時間と成功率</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熱構造解析ではなく、置いた値での試算だった</a:t>
                      </a:r>
                    </a:p>
                  </a:txBody>
                  <a:tcPr marL="128016" marR="128016" anchor="ctr">
                    <a:solidFill>
                      <a:srgbClr val="EBF6FB"/>
                    </a:solidFill>
                  </a:tcPr>
                </a:tc>
                <a:extLst>
                  <a:ext uri="{0D108BD9-81ED-4DB2-BD59-A6C34878D82A}">
                    <a16:rowId xmlns:a16="http://schemas.microsoft.com/office/drawing/2014/main" val="10001"/>
                  </a:ext>
                </a:extLst>
              </a:tr>
              <a:tr h="1207007">
                <a:tc>
                  <a:txBody>
                    <a:bodyPr/>
                    <a:lstStyle/>
                    <a:p>
                      <a:pPr algn="l">
                        <a:spcAft>
                          <a:spcPts val="0"/>
                        </a:spcAft>
                      </a:pPr>
                      <a:r>
                        <a:rPr sz="2200" b="0">
                          <a:solidFill>
                            <a:srgbClr val="232B34"/>
                          </a:solidFill>
                          <a:latin typeface="Arial" panose="020B0604020202020204" pitchFamily="34" charset="0"/>
                          <a:ea typeface="Yu Gothic"/>
                        </a:rPr>
                        <a:t>2026-07 光通信RG</a:t>
                      </a:r>
                    </a:p>
                  </a:txBody>
                  <a:tcPr marL="128016" marR="128016" anchor="ctr">
                    <a:solidFill>
                      <a:srgbClr val="F4F6F8"/>
                    </a:solidFill>
                  </a:tcPr>
                </a:tc>
                <a:tc>
                  <a:txBody>
                    <a:bodyPr/>
                    <a:lstStyle/>
                    <a:p>
                      <a:pPr algn="l">
                        <a:spcAft>
                          <a:spcPts val="0"/>
                        </a:spcAft>
                      </a:pPr>
                      <a:r>
                        <a:rPr sz="2200" b="0">
                          <a:solidFill>
                            <a:srgbClr val="232B34"/>
                          </a:solidFill>
                          <a:latin typeface="Arial" panose="020B0604020202020204" pitchFamily="34" charset="0"/>
                          <a:ea typeface="Yu Gothic"/>
                        </a:rPr>
                        <a:t>密な走査での捕捉時間</a:t>
                      </a:r>
                    </a:p>
                  </a:txBody>
                  <a:tcPr marL="128016" marR="128016" anchor="ctr">
                    <a:solidFill>
                      <a:srgbClr val="F4F6F8"/>
                    </a:solidFill>
                  </a:tcPr>
                </a:tc>
                <a:tc>
                  <a:txBody>
                    <a:bodyPr/>
                    <a:lstStyle/>
                    <a:p>
                      <a:pPr algn="l">
                        <a:spcAft>
                          <a:spcPts val="0"/>
                        </a:spcAft>
                      </a:pPr>
                      <a:r>
                        <a:rPr sz="2200" b="0">
                          <a:solidFill>
                            <a:srgbClr val="232B34"/>
                          </a:solidFill>
                          <a:latin typeface="Arial" panose="020B0604020202020204" pitchFamily="34" charset="0"/>
                          <a:ea typeface="Yu Gothic"/>
                        </a:rPr>
                        <a:t>点間隔と検出半径が通信ビーム級で、走査の格子に穴があった</a:t>
                      </a:r>
                    </a:p>
                  </a:txBody>
                  <a:tcPr marL="128016" marR="128016" anchor="ctr">
                    <a:solidFill>
                      <a:srgbClr val="EBF6FB"/>
                    </a:solidFill>
                  </a:tcPr>
                </a:tc>
                <a:extLst>
                  <a:ext uri="{0D108BD9-81ED-4DB2-BD59-A6C34878D82A}">
                    <a16:rowId xmlns:a16="http://schemas.microsoft.com/office/drawing/2014/main" val="10002"/>
                  </a:ext>
                </a:extLst>
              </a:tr>
              <a:tr h="1207007">
                <a:tc>
                  <a:txBody>
                    <a:bodyPr/>
                    <a:lstStyle/>
                    <a:p>
                      <a:pPr algn="l">
                        <a:spcAft>
                          <a:spcPts val="0"/>
                        </a:spcAft>
                      </a:pPr>
                      <a:r>
                        <a:rPr sz="2200" b="0">
                          <a:solidFill>
                            <a:srgbClr val="232B34"/>
                          </a:solidFill>
                          <a:latin typeface="Arial" panose="020B0604020202020204" pitchFamily="34" charset="0"/>
                          <a:ea typeface="Yu Gothic"/>
                        </a:rPr>
                        <a:t>2026-08-16 中間メモ</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17ケース集計での捕捉時間</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提出稿はCOLD標準表面の14ケースに絞ったあとの数字が正</a:t>
                      </a:r>
                    </a:p>
                  </a:txBody>
                  <a:tcPr marL="128016" marR="128016" anchor="ctr">
                    <a:solidFill>
                      <a:srgbClr val="EBF6FB"/>
                    </a:solidFill>
                  </a:tcPr>
                </a:tc>
                <a:extLst>
                  <a:ext uri="{0D108BD9-81ED-4DB2-BD59-A6C34878D82A}">
                    <a16:rowId xmlns:a16="http://schemas.microsoft.com/office/drawing/2014/main" val="10003"/>
                  </a:ext>
                </a:extLst>
              </a:tr>
              <a:tr h="1207007">
                <a:tc>
                  <a:txBody>
                    <a:bodyPr/>
                    <a:lstStyle/>
                    <a:p>
                      <a:pPr algn="l">
                        <a:spcAft>
                          <a:spcPts val="0"/>
                        </a:spcAft>
                      </a:pPr>
                      <a:r>
                        <a:rPr sz="2200" b="1">
                          <a:solidFill>
                            <a:srgbClr val="232B34"/>
                          </a:solidFill>
                          <a:latin typeface="Arial" panose="020B0604020202020204" pitchFamily="34" charset="0"/>
                          <a:ea typeface="Yu Gothic"/>
                        </a:rPr>
                        <a:t>今日（提出稿）</a:t>
                      </a:r>
                    </a:p>
                  </a:txBody>
                  <a:tcPr marL="128016" marR="128016" anchor="ctr">
                    <a:solidFill>
                      <a:srgbClr val="EAF8F1"/>
                    </a:solidFill>
                  </a:tcPr>
                </a:tc>
                <a:tc>
                  <a:txBody>
                    <a:bodyPr/>
                    <a:lstStyle/>
                    <a:p>
                      <a:pPr algn="l">
                        <a:spcAft>
                          <a:spcPts val="0"/>
                        </a:spcAft>
                      </a:pPr>
                      <a:r>
                        <a:rPr lang="en-US" sz="2200" b="1">
                          <a:solidFill>
                            <a:srgbClr val="232B34"/>
                          </a:solidFill>
                          <a:latin typeface="Arial" panose="020B0604020202020204" pitchFamily="34" charset="0"/>
                          <a:ea typeface="Yu Gothic"/>
                        </a:rPr>
                        <a:t>14.6 → 0.10 s、19.2 → 5.45 s</a:t>
                      </a:r>
                      <a:endParaRPr lang="en-US" sz="2200" b="1" dirty="0">
                        <a:solidFill>
                          <a:srgbClr val="232B34"/>
                        </a:solidFill>
                        <a:latin typeface="Arial" panose="020B0604020202020204" pitchFamily="34" charset="0"/>
                        <a:ea typeface="Yu Gothic"/>
                      </a:endParaRPr>
                    </a:p>
                  </a:txBody>
                  <a:tcPr marL="128016" marR="128016" anchor="ctr">
                    <a:solidFill>
                      <a:srgbClr val="EAF8F1"/>
                    </a:solidFill>
                  </a:tcPr>
                </a:tc>
                <a:tc>
                  <a:txBody>
                    <a:bodyPr/>
                    <a:lstStyle/>
                    <a:p>
                      <a:pPr algn="l">
                        <a:spcAft>
                          <a:spcPts val="0"/>
                        </a:spcAft>
                      </a:pPr>
                      <a:r>
                        <a:rPr sz="2200" b="1">
                          <a:solidFill>
                            <a:srgbClr val="232B34"/>
                          </a:solidFill>
                          <a:latin typeface="Arial" panose="020B0604020202020204" pitchFamily="34" charset="0"/>
                          <a:ea typeface="Yu Gothic"/>
                        </a:rPr>
                        <a:t>±1600 µrad・120 µradステップ・検出半径150 µrad、14ケース平均</a:t>
                      </a:r>
                    </a:p>
                  </a:txBody>
                  <a:tcPr marL="128016" marR="128016" anchor="ctr">
                    <a:solidFill>
                      <a:srgbClr val="EAF8F1"/>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9875520"/>
            <a:ext cx="21396960" cy="964175"/>
          </a:xfrm>
          <a:prstGeom prst="rect">
            <a:avLst/>
          </a:prstGeom>
          <a:noFill/>
        </p:spPr>
        <p:txBody>
          <a:bodyPr wrap="square" lIns="45720" tIns="18288" rIns="45720" bIns="18288" anchor="t">
            <a:spAutoFit/>
          </a:bodyPr>
          <a:lstStyle/>
          <a:p>
            <a:pPr algn="ctr">
              <a:lnSpc>
                <a:spcPct val="125000"/>
              </a:lnSpc>
              <a:spcAft>
                <a:spcPts val="0"/>
              </a:spcAft>
            </a:pPr>
            <a:r>
              <a:rPr sz="2500" b="1">
                <a:solidFill>
                  <a:srgbClr val="082B52"/>
                </a:solidFill>
                <a:latin typeface="Arial" panose="020B0604020202020204" pitchFamily="34" charset="0"/>
                <a:ea typeface="Yu Gothic"/>
              </a:rPr>
              <a:t>走査条件が違えば秒は変わる。比べてよいのは、同じ走査条件の中での補正方式どうし</a:t>
            </a:r>
          </a:p>
          <a:p>
            <a:pPr algn="ctr">
              <a:lnSpc>
                <a:spcPct val="125000"/>
              </a:lnSpc>
              <a:spcAft>
                <a:spcPts val="0"/>
              </a:spcAft>
            </a:pPr>
            <a:r>
              <a:rPr sz="2500" b="1">
                <a:solidFill>
                  <a:srgbClr val="082B52"/>
                </a:solidFill>
                <a:latin typeface="Arial" panose="020B0604020202020204" pitchFamily="34" charset="0"/>
                <a:ea typeface="Yu Gothic"/>
              </a:rPr>
              <a:t>旧い秒はスクリーンに出さない。対応は口頭で答える</a:t>
            </a: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5792</TotalTime>
  <Words>6739</Words>
  <Application>Microsoft Office PowerPoint</Application>
  <PresentationFormat>ユーザー設定</PresentationFormat>
  <Paragraphs>967</Paragraphs>
  <Slides>45</Slides>
  <Notes>45</Notes>
  <HiddenSlides>15</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45</vt:i4>
      </vt:variant>
    </vt:vector>
  </HeadingPairs>
  <TitlesOfParts>
    <vt:vector size="51" baseType="lpstr">
      <vt:lpstr>Yu Gothic</vt:lpstr>
      <vt:lpstr>Yu Gothic</vt:lpstr>
      <vt:lpstr>Arial</vt:lpstr>
      <vt:lpstr>Calibri</vt:lpstr>
      <vt:lpstr>Cambria Math</vt:lpstr>
      <vt:lpstr>Office テーマ</vt:lpstr>
      <vt:lpstr> Hierarchical Prediction  and Feedforward Correction  of Time-Varying Thermal Line-of-Sight Bias  for Coarse Acquisition  in Satellite Optical Communications</vt:lpstr>
      <vt:lpstr>01</vt:lpstr>
      <vt:lpstr>Reduce scan time by predicting thermal LOS error in optical communications </vt:lpstr>
      <vt:lpstr>PowerPoint プレゼンテーション</vt:lpstr>
      <vt:lpstr>PowerPoint プレゼンテーション</vt:lpstr>
      <vt:lpstr>PowerPoint プレゼンテーション</vt:lpstr>
      <vt:lpstr>02</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03</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04</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05</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衛星光通信の粗捕捉に向けた時変熱バイアスのフィードフォワード補正</dc:title>
  <dc:subject>2026-09-28 全体輪講</dc:subject>
  <dc:creator>高本 英熙</dc:creator>
  <dc:description>260927_labseminar_slide_outline.md と papers/icso/main.typ から作成。土台は 20260721_optcommrg_takamoto_v3_issl.pptx。</dc:description>
  <cp:lastModifiedBy>高本　英熙</cp:lastModifiedBy>
  <cp:revision>70</cp:revision>
  <cp:lastPrinted>2026-10-05T01:11:06Z</cp:lastPrinted>
  <dcterms:created xsi:type="dcterms:W3CDTF">2026-05-11T08:23:04Z</dcterms:created>
  <dcterms:modified xsi:type="dcterms:W3CDTF">2026-10-12T10:44:41Z</dcterms:modified>
</cp:coreProperties>
</file>