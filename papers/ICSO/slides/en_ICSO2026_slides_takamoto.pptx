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277" r:id="rId8"/>
    <p:sldId id="283" r:id="rId9"/>
    <p:sldId id="268" r:id="rId10"/>
    <p:sldId id="269" r:id="rId11"/>
    <p:sldId id="275" r:id="rId12"/>
    <p:sldId id="271" r:id="rId13"/>
    <p:sldId id="321" r:id="rId14"/>
    <p:sldId id="273" r:id="rId15"/>
    <p:sldId id="285" r:id="rId16"/>
    <p:sldId id="322" r:id="rId17"/>
    <p:sldId id="326" r:id="rId18"/>
    <p:sldId id="327" r:id="rId19"/>
    <p:sldId id="328" r:id="rId20"/>
    <p:sldId id="338" r:id="rId21"/>
    <p:sldId id="297" r:id="rId22"/>
    <p:sldId id="299" r:id="rId23"/>
    <p:sldId id="303" r:id="rId24"/>
    <p:sldId id="304" r:id="rId25"/>
    <p:sldId id="329" r:id="rId26"/>
    <p:sldId id="341" r:id="rId27"/>
    <p:sldId id="330" r:id="rId28"/>
    <p:sldId id="331"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72993" autoAdjust="0"/>
  </p:normalViewPr>
  <p:slideViewPr>
    <p:cSldViewPr snapToGrid="0">
      <p:cViewPr varScale="1">
        <p:scale>
          <a:sx n="47" d="100"/>
          <a:sy n="47" d="100"/>
        </p:scale>
        <p:origin x="906" y="48"/>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optical communications, thermal deformation is mainly mitigated through structural design, material selection, and equipment placement.</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This slide shows the overall workflow of this study.</a:t>
            </a:r>
          </a:p>
          <a:p>
            <a:pPr>
              <a:spcAft>
                <a:spcPts val="600"/>
              </a:spcAft>
            </a:pPr>
            <a:r>
              <a:rPr sz="1600">
                <a:latin typeface="Calibri"/>
              </a:rPr>
              <a:t>On the ground, we first define the orbit, attitude, thermal environment, equipment layout, and surface properties.</a:t>
            </a:r>
          </a:p>
          <a:p>
            <a:pPr>
              <a:spcAft>
                <a:spcPts val="600"/>
              </a:spcAft>
            </a:pPr>
            <a:r>
              <a:rPr sz="1600">
                <a:latin typeface="Calibri"/>
              </a:rPr>
              <a:t>Thermal Desktop is then used to calculate the spacecraft temperature field.</a:t>
            </a:r>
          </a:p>
          <a:p>
            <a:pPr>
              <a:spcAft>
                <a:spcPts val="600"/>
              </a:spcAft>
            </a:pPr>
            <a:r>
              <a:rPr sz="1600">
                <a:latin typeface="Calibri"/>
              </a:rPr>
              <a:t>The temperature field is transferred to Femap and Nastran to calculate thermoelastic deformation and the relative rotation between the star tracker and the laser communication terminal.</a:t>
            </a:r>
          </a:p>
          <a:p>
            <a:pPr>
              <a:spcAft>
                <a:spcPts val="600"/>
              </a:spcAft>
            </a:pPr>
            <a:r>
              <a:rPr sz="1600">
                <a:latin typeface="Calibri"/>
              </a:rPr>
              <a:t>From these high-fidelity simulation results, we generate reference thermal-LOS time series and construct a reduced-order prediction model.</a:t>
            </a:r>
          </a:p>
          <a:p>
            <a:pPr>
              <a:spcAft>
                <a:spcPts val="600"/>
              </a:spcAft>
            </a:pPr>
            <a:r>
              <a:rPr sz="1600">
                <a:latin typeface="Calibri"/>
              </a:rPr>
              <a:t>On orbit, Thermal Desktop and Femap are not used.</a:t>
            </a:r>
          </a:p>
          <a:p>
            <a:pPr>
              <a:spcAft>
                <a:spcPts val="600"/>
              </a:spcAft>
            </a:pPr>
            <a:r>
              <a:rPr sz="1600">
                <a:latin typeface="Calibri"/>
              </a:rPr>
              <a:t>Only temperature measurements and operating-state information are input to the reduced-order model, and the predicted thermal LOS is used to correct the scan center.</a:t>
            </a:r>
          </a:p>
          <a:p>
            <a:pPr>
              <a:spcAft>
                <a:spcPts val="600"/>
              </a:spcAft>
            </a:pPr>
            <a:r>
              <a:rPr sz="160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explain the thermoelastic analysis used to generate the reference thermal-LOS data.</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We evaluate a simple box-structure LEO spacecraft, with the star tracker and the laser communication terminal mounted on different panels.</a:t>
            </a:r>
          </a:p>
          <a:p>
            <a:pPr>
              <a:spcAft>
                <a:spcPts val="600"/>
              </a:spcAft>
            </a:pPr>
            <a:r>
              <a:rPr sz="1600">
                <a:latin typeface="Calibri"/>
              </a:rPr>
              <a:t>The spacecraft bus is approximately 0.6 by 0.6 by 1 meter and is modeled using A5052 aluminum shell elements.</a:t>
            </a:r>
          </a:p>
          <a:p>
            <a:pPr>
              <a:spcAft>
                <a:spcPts val="600"/>
              </a:spcAft>
            </a:pPr>
            <a:r>
              <a:rPr sz="1600">
                <a:latin typeface="Calibri"/>
              </a:rPr>
              <a:t>The star tracker is located on the positive-Z panel, and the laser communication terminal is located on the negative-Z panel.</a:t>
            </a:r>
          </a:p>
          <a:p>
            <a:pPr>
              <a:spcAft>
                <a:spcPts val="600"/>
              </a:spcAft>
            </a:pPr>
            <a:r>
              <a:rPr sz="1600">
                <a:latin typeface="Calibri"/>
              </a:rPr>
              <a:t>This model is not intended to reproduce a specific flight spacecraft.</a:t>
            </a:r>
          </a:p>
          <a:p>
            <a:pPr>
              <a:spcAft>
                <a:spcPts val="600"/>
              </a:spcAft>
            </a:pPr>
            <a:r>
              <a:rPr sz="1600">
                <a:latin typeface="Calibri"/>
              </a:rPr>
              <a:t>Instead, we keep the structure fixed and vary the thermal and operating conditions in order to investigate the thermal LOS behavior.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Thermal Desktop is used to calculate the time history of the spacecraft temperature field.</a:t>
            </a:r>
          </a:p>
          <a:p>
            <a:pPr>
              <a:spcAft>
                <a:spcPts val="600"/>
              </a:spcAft>
            </a:pPr>
            <a:r>
              <a:rPr sz="1600">
                <a:latin typeface="Calibri"/>
              </a:rPr>
              <a:t>The baseline orbit is a sun-synchronous orbit at an altitude of 800 kilometers.</a:t>
            </a:r>
          </a:p>
          <a:p>
            <a:pPr>
              <a:spcAft>
                <a:spcPts val="600"/>
              </a:spcAft>
            </a:pPr>
            <a:r>
              <a:rPr sz="1600">
                <a:latin typeface="Calibri"/>
              </a:rPr>
              <a:t>We simulate approximately three orbital periods with about one-minute sampling.</a:t>
            </a:r>
          </a:p>
          <a:p>
            <a:pPr>
              <a:spcAft>
                <a:spcPts val="600"/>
              </a:spcAft>
            </a:pPr>
            <a:r>
              <a:rPr sz="1600">
                <a:latin typeface="Calibri"/>
              </a:rPr>
              <a:t>Across the analysis cases, we vary the sun-facing panel, eclipse condition, surface optical properties, internal equipment dissipation, and orbital conditions.</a:t>
            </a:r>
          </a:p>
          <a:p>
            <a:pPr>
              <a:spcAft>
                <a:spcPts val="600"/>
              </a:spcAft>
            </a:pPr>
            <a:r>
              <a:rPr sz="1600">
                <a:latin typeface="Calibri"/>
              </a:rPr>
              <a:t>The output of this analysis is the panel temperature field as a function of time.</a:t>
            </a:r>
          </a:p>
          <a:p>
            <a:pPr>
              <a:spcAft>
                <a:spcPts val="600"/>
              </a:spcAft>
            </a:pPr>
            <a:r>
              <a:rPr sz="1600">
                <a:latin typeface="Calibri"/>
              </a:rPr>
              <a:t>Again, this analysis is performed only on the ground.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resulting temperature field is then transferred to Femap for thermoelastic structural analysis.</a:t>
            </a:r>
          </a:p>
          <a:p>
            <a:pPr>
              <a:spcAft>
                <a:spcPts val="600"/>
              </a:spcAft>
            </a:pPr>
            <a:r>
              <a:rPr sz="1600">
                <a:latin typeface="Calibri"/>
              </a:rPr>
              <a:t>The spacecraft structure is modeled using A5052 aluminum with the material properties shown here.</a:t>
            </a:r>
          </a:p>
          <a:p>
            <a:pPr>
              <a:spcAft>
                <a:spcPts val="600"/>
              </a:spcAft>
            </a:pPr>
            <a:r>
              <a:rPr sz="1600">
                <a:latin typeface="Calibri"/>
              </a:rPr>
              <a:t>From this analysis, we obtain the translations and rotations of the star-tracker and laser-terminal mounting locations.</a:t>
            </a:r>
          </a:p>
          <a:p>
            <a:pPr>
              <a:spcAft>
                <a:spcPts val="600"/>
              </a:spcAft>
            </a:pPr>
            <a:r>
              <a:rPr sz="1600">
                <a:latin typeface="Calibri"/>
              </a:rPr>
              <a:t>Thermal Desktop and Femap are therefore used only to generate the high-fidelity reference dataset for model development.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a far-field optical link, the relevant quantity is not simply the translation of the mounting points.</a:t>
            </a:r>
          </a:p>
          <a:p>
            <a:pPr>
              <a:spcAft>
                <a:spcPts val="600"/>
              </a:spcAft>
            </a:pPr>
            <a:r>
              <a:rPr sz="1600">
                <a:latin typeface="Calibri"/>
              </a:rPr>
              <a:t>What matters is the relative rotation of the laser communication terminal optical axis with respect to the star-tracker attitude reference.</a:t>
            </a:r>
          </a:p>
          <a:p>
            <a:pPr>
              <a:spcAft>
                <a:spcPts val="600"/>
              </a:spcAft>
            </a:pPr>
            <a:r>
              <a:rPr sz="1600">
                <a:latin typeface="Calibri"/>
              </a:rPr>
              <a:t>Therefore, we define the thermal LOS error as the LCT optical-axis rotation minus the STT reference rotation.</a:t>
            </a:r>
          </a:p>
          <a:p>
            <a:pPr>
              <a:spcAft>
                <a:spcPts val="600"/>
              </a:spcAft>
            </a:pPr>
            <a:r>
              <a:rPr sz="1600">
                <a:latin typeface="Calibri"/>
              </a:rPr>
              <a:t>The thermal rotation of the star tracker itself is absorbed into the attitude reference.</a:t>
            </a:r>
          </a:p>
          <a:p>
            <a:pPr>
              <a:spcAft>
                <a:spcPts val="600"/>
              </a:spcAft>
            </a:pPr>
            <a:r>
              <a:rPr sz="1600">
                <a:latin typeface="Calibri"/>
              </a:rPr>
              <a:t>In this study, translation-induced tilt and the internal thermal deformation of the optical terminals are not included.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introduce the reduced-order thermal-LOS prediction model.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onboard use, the model has to be much simpler than the full Thermal Desktop and Femap analysis.</a:t>
            </a:r>
          </a:p>
          <a:p>
            <a:pPr>
              <a:spcAft>
                <a:spcPts val="600"/>
              </a:spcAft>
            </a:pPr>
            <a:r>
              <a:rPr sz="1600">
                <a:latin typeface="Calibri"/>
              </a:rPr>
              <a:t>It should use only a small number of temperature measurements and operating-state flags, with a small fixed set of coefficients.</a:t>
            </a:r>
          </a:p>
          <a:p>
            <a:pPr>
              <a:spcAft>
                <a:spcPts val="600"/>
              </a:spcAft>
            </a:pPr>
            <a:r>
              <a:rPr sz="1600">
                <a:latin typeface="Calibri"/>
              </a:rPr>
              <a:t>We examined several candidate models.</a:t>
            </a:r>
          </a:p>
          <a:p>
            <a:pPr>
              <a:spcAft>
                <a:spcPts val="600"/>
              </a:spcAft>
            </a:pPr>
            <a:r>
              <a:rPr sz="1600">
                <a:latin typeface="Calibri"/>
              </a:rPr>
              <a:t>A constant bias cannot represent the within-orbit variation.</a:t>
            </a:r>
          </a:p>
          <a:p>
            <a:pPr>
              <a:spcAft>
                <a:spcPts val="600"/>
              </a:spcAft>
            </a:pPr>
            <a:r>
              <a:rPr sz="1600">
                <a:latin typeface="Calibri"/>
              </a:rPr>
              <a:t>A Fourier model can represent periodicity, but it becomes dependent on the particular orbit and operating condition.</a:t>
            </a:r>
          </a:p>
          <a:p>
            <a:pPr>
              <a:spcAft>
                <a:spcPts val="600"/>
              </a:spcAft>
            </a:pPr>
            <a:r>
              <a:rPr sz="1600">
                <a:latin typeface="Calibri"/>
              </a:rPr>
              <a:t>Using many local temperature measurements gives more flexibility, but we found strong collinearity between those temperatures and the panel temperature difference.</a:t>
            </a:r>
          </a:p>
          <a:p>
            <a:pPr>
              <a:spcAft>
                <a:spcPts val="600"/>
              </a:spcAft>
            </a:pPr>
            <a:r>
              <a:rPr sz="1600">
                <a:latin typeface="Calibri"/>
              </a:rPr>
              <a:t>Based on these observations, we selected a hierarchical temperature-difference model.</a:t>
            </a:r>
          </a:p>
          <a:p>
            <a:pPr>
              <a:spcAft>
                <a:spcPts val="600"/>
              </a:spcAft>
            </a:pPr>
            <a:r>
              <a:rPr sz="160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The prediction results are shown here.</a:t>
            </a:r>
          </a:p>
          <a:p>
            <a:pPr>
              <a:spcAft>
                <a:spcPts val="600"/>
              </a:spcAft>
            </a:pPr>
            <a:r>
              <a:rPr sz="1600">
                <a:latin typeface="Calibri"/>
              </a:rPr>
              <a:t>Before correction, the median RMS thermal LOS on the dominant axis is about 615 microradians.</a:t>
            </a:r>
          </a:p>
          <a:p>
            <a:pPr>
              <a:spcAft>
                <a:spcPts val="600"/>
              </a:spcAft>
            </a:pPr>
            <a:r>
              <a:rPr sz="1600">
                <a:latin typeface="Calibri"/>
              </a:rPr>
              <a:t>For unseen operating conditions, the median test RMSE decreases to only 4.9 microradians, with a mean value of 5.5 microradians.</a:t>
            </a:r>
          </a:p>
          <a:p>
            <a:pPr>
              <a:spcAft>
                <a:spcPts val="600"/>
              </a:spcAft>
            </a:pPr>
            <a:r>
              <a:rPr sz="1600">
                <a:latin typeface="Calibri"/>
              </a:rPr>
              <a:t>The case-dependent DC bias is also predicted with a leave-one-out RMSE of 3.8 microradians.</a:t>
            </a:r>
          </a:p>
          <a:p>
            <a:pPr>
              <a:spcAft>
                <a:spcPts val="600"/>
              </a:spcAft>
            </a:pPr>
            <a:r>
              <a:rPr sz="160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DEE1-5294-D44C-968A-17CA41EB6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81D93-C321-E7F0-8820-F3DFEE575376}"/>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E3E0815A-2B11-1951-79A5-8BE2A8440E82}"/>
              </a:ext>
            </a:extLst>
          </p:cNvPr>
          <p:cNvSpPr>
            <a:spLocks noGrp="1"/>
          </p:cNvSpPr>
          <p:nvPr>
            <p:ph type="body" sz="quarter" idx="3"/>
          </p:nvPr>
        </p:nvSpPr>
        <p:spPr/>
        <p:txBody>
          <a:bodyPr/>
          <a:lstStyle/>
          <a:p>
            <a:pPr>
              <a:spcAft>
                <a:spcPts val="600"/>
              </a:spcAft>
            </a:pPr>
            <a:r>
              <a:rPr sz="1600">
                <a:latin typeface="Calibri"/>
              </a:rPr>
              <a:t>Finally, I will evaluate how this thermal-LOS prediction affects coarse-acquisition performance.</a:t>
            </a:r>
          </a:p>
        </p:txBody>
      </p:sp>
      <p:sp>
        <p:nvSpPr>
          <p:cNvPr id="4" name="Slide Number Placeholder 3">
            <a:extLst>
              <a:ext uri="{FF2B5EF4-FFF2-40B4-BE49-F238E27FC236}">
                <a16:creationId xmlns:a16="http://schemas.microsoft.com/office/drawing/2014/main" id="{66FD8850-DC6F-DBD5-02B3-7B3D291FAD6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22495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In addition to thermal LOS error, we include several nonthermal pointing-error components.</a:t>
            </a:r>
          </a:p>
          <a:p>
            <a:pPr>
              <a:spcAft>
                <a:spcPts val="600"/>
              </a:spcAft>
            </a:pPr>
            <a:r>
              <a:rPr sz="1600">
                <a:latin typeface="Calibri"/>
              </a:rPr>
              <a:t>The largest one is orbit-prediction error.</a:t>
            </a:r>
          </a:p>
          <a:p>
            <a:pPr>
              <a:spcAft>
                <a:spcPts val="600"/>
              </a:spcAft>
            </a:pPr>
            <a:r>
              <a:rPr sz="160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a:latin typeface="Calibri"/>
              </a:rPr>
              <a:t>We also include a constant alignment error, random attitude error, and a low-frequency drift term.</a:t>
            </a:r>
          </a:p>
          <a:p>
            <a:pPr>
              <a:spcAft>
                <a:spcPts val="600"/>
              </a:spcAft>
            </a:pPr>
            <a:r>
              <a:rPr sz="1600">
                <a:latin typeface="Calibri"/>
              </a:rPr>
              <a:t>This is not intended to reproduce the exact pointing-error budget of a specific spacecraft.</a:t>
            </a:r>
          </a:p>
          <a:p>
            <a:pPr>
              <a:spcAft>
                <a:spcPts val="600"/>
              </a:spcAft>
            </a:pPr>
            <a:r>
              <a:rPr sz="160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show the acquisition result when only thermal LOS error is included.</a:t>
            </a:r>
          </a:p>
          <a:p>
            <a:pPr>
              <a:spcAft>
                <a:spcPts val="600"/>
              </a:spcAft>
            </a:pPr>
            <a:r>
              <a:rPr sz="1600">
                <a:latin typeface="Calibri"/>
              </a:rPr>
              <a:t>Without correction, the mean acquisition time is 14.6 seconds.</a:t>
            </a:r>
          </a:p>
          <a:p>
            <a:pPr>
              <a:spcAft>
                <a:spcPts val="600"/>
              </a:spcAft>
            </a:pPr>
            <a:r>
              <a:rPr sz="1600">
                <a:latin typeface="Calibri"/>
              </a:rPr>
              <a:t>With the hierarchical reduced-order model, the mean acquisition time decreases to 0.10 seconds.</a:t>
            </a:r>
          </a:p>
          <a:p>
            <a:pPr>
              <a:spcAft>
                <a:spcPts val="600"/>
              </a:spcAft>
            </a:pPr>
            <a:r>
              <a:rPr sz="1600">
                <a:latin typeface="Calibri"/>
              </a:rPr>
              <a:t>This is the same acquisition time obtained when the true thermal LOS is directly removed.</a:t>
            </a:r>
          </a:p>
          <a:p>
            <a:pPr>
              <a:spcAft>
                <a:spcPts val="600"/>
              </a:spcAft>
            </a:pPr>
            <a:r>
              <a:rPr sz="1600">
                <a:latin typeface="Calibri"/>
              </a:rPr>
              <a:t>However, this does not mean that the predicted waveform is perfectly identical to the thermal truth.</a:t>
            </a:r>
          </a:p>
          <a:p>
            <a:pPr>
              <a:spcAft>
                <a:spcPts val="600"/>
              </a:spcAft>
            </a:pPr>
            <a:r>
              <a:rPr sz="160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more important result is obtained when the nonthermal errors are also included.</a:t>
            </a:r>
          </a:p>
          <a:p>
            <a:pPr>
              <a:spcAft>
                <a:spcPts val="600"/>
              </a:spcAft>
            </a:pPr>
            <a:r>
              <a:rPr sz="1600">
                <a:latin typeface="Calibri"/>
              </a:rPr>
              <a:t>Without thermal correction, the mean acquisition time is 19.2 seconds, with a success rate of 98 percent.</a:t>
            </a:r>
          </a:p>
          <a:p>
            <a:pPr>
              <a:spcAft>
                <a:spcPts val="600"/>
              </a:spcAft>
            </a:pPr>
            <a:r>
              <a:rPr sz="1600">
                <a:latin typeface="Calibri"/>
              </a:rPr>
              <a:t>With the feedforward thermal correction, the mean acquisition time decreases to 5.45 seconds.</a:t>
            </a:r>
          </a:p>
          <a:p>
            <a:pPr>
              <a:spcAft>
                <a:spcPts val="600"/>
              </a:spcAft>
            </a:pPr>
            <a:r>
              <a:rPr sz="1600">
                <a:latin typeface="Calibri"/>
              </a:rPr>
              <a:t>This corresponds to a 72 percent reduction, and the success rate increases to 100 percent.</a:t>
            </a:r>
          </a:p>
          <a:p>
            <a:pPr>
              <a:spcAft>
                <a:spcPts val="600"/>
              </a:spcAft>
            </a:pPr>
            <a:r>
              <a:rPr sz="1600">
                <a:latin typeface="Calibri"/>
              </a:rPr>
              <a:t>For the PY sun-facing cases, where the thermal LOS reaches approximately 1.2 milliradians, the acquisition time decreases from around 40 seconds to approximately 1 to 2 seconds.</a:t>
            </a:r>
          </a:p>
          <a:p>
            <a:pPr>
              <a:spcAft>
                <a:spcPts val="600"/>
              </a:spcAft>
            </a:pPr>
            <a:r>
              <a:rPr sz="1600">
                <a:latin typeface="Calibri"/>
              </a:rPr>
              <a:t>After correction, the remaining initial pointing error is about 448 microradians and is almost entirely determined by the nonthermal components.</a:t>
            </a:r>
          </a:p>
          <a:p>
            <a:pPr>
              <a:spcAft>
                <a:spcPts val="600"/>
              </a:spcAft>
            </a:pPr>
            <a:r>
              <a:rPr sz="1600">
                <a:latin typeface="Calibri"/>
              </a:rPr>
              <a:t>Therefore, the role of this method is not to eliminate every pointing error.</a:t>
            </a:r>
          </a:p>
          <a:p>
            <a:pPr>
              <a:spcAft>
                <a:spcPts val="600"/>
              </a:spcAft>
            </a:pPr>
            <a:r>
              <a:rPr sz="160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90BB2-638D-EDF4-6149-BBE2851D0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F4A6F-47ED-540B-CC4A-89B9C5FD2C13}"/>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12BF9D9-BC8D-63EC-738A-C1E5616CE634}"/>
              </a:ext>
            </a:extLst>
          </p:cNvPr>
          <p:cNvSpPr>
            <a:spLocks noGrp="1"/>
          </p:cNvSpPr>
          <p:nvPr>
            <p:ph type="body" sz="quarter" idx="3"/>
          </p:nvPr>
        </p:nvSpPr>
        <p:spPr/>
        <p:txBody>
          <a:bodyPr/>
          <a:lstStyle/>
          <a:p>
            <a:pPr>
              <a:spcAft>
                <a:spcPts val="600"/>
              </a:spcAft>
            </a:pPr>
            <a:r>
              <a:rPr sz="1600">
                <a:latin typeface="Calibri"/>
              </a:rPr>
              <a:t>Finally, I will summarize the results and discuss the current limitations.</a:t>
            </a:r>
          </a:p>
        </p:txBody>
      </p:sp>
      <p:sp>
        <p:nvSpPr>
          <p:cNvPr id="4" name="Slide Number Placeholder 3">
            <a:extLst>
              <a:ext uri="{FF2B5EF4-FFF2-40B4-BE49-F238E27FC236}">
                <a16:creationId xmlns:a16="http://schemas.microsoft.com/office/drawing/2014/main" id="{27C1BA5F-FDC1-4C2F-0440-4E8C9610008F}"/>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688805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a:spcAft>
                <a:spcPts val="600"/>
              </a:spcAft>
            </a:pPr>
            <a:r>
              <a:rPr sz="1600" dirty="0">
                <a:latin typeface="Calibri"/>
              </a:rPr>
              <a:t>Third, after successful acquisition, optical pointing residuals could be used to adapt or update the prediction for repeated links.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sz="1600" dirty="0">
                <a:latin typeface="Calibri"/>
              </a:rPr>
              <a:t>Second, when only thermal error was considered, the mean acquisition time decreased from 14.6 seconds to 0.10 seconds.</a:t>
            </a:r>
          </a:p>
          <a:p>
            <a:pPr>
              <a:spcAft>
                <a:spcPts val="600"/>
              </a:spcAft>
            </a:pPr>
            <a:r>
              <a:rPr sz="1600" dirty="0">
                <a:latin typeface="Calibri"/>
              </a:rPr>
              <a:t>Finally, even when nonthermal errors were included, the mean acquisition time decreased from 19.2 seconds to 5.45 seconds, while the success rate increased from 98 percent to 100 percent.</a:t>
            </a: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a:p>
            <a:pPr>
              <a:spcAft>
                <a:spcPts val="600"/>
              </a:spcAft>
            </a:pPr>
            <a:r>
              <a:rPr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2026/10/5</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26.png"/><Relationship Id="rId4" Type="http://schemas.openxmlformats.org/officeDocument/2006/relationships/image" Target="../media/image2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35.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ja-JP" altLang="en-US" sz="4400" b="0" dirty="0"/>
            </a:br>
            <a:r>
              <a:rPr lang="en-US" altLang="ja-JP" sz="4400" dirty="0"/>
              <a:t>Hierarchical Prediction </a:t>
            </a:r>
            <a:br>
              <a:rPr lang="en-US" altLang="ja-JP" sz="4400" dirty="0"/>
            </a:br>
            <a:r>
              <a:rPr lang="en-US" altLang="ja-JP" sz="4400" dirty="0"/>
              <a:t>and Feedforward Correction </a:t>
            </a:r>
            <a:br>
              <a:rPr lang="en-US" altLang="ja-JP" sz="4400" dirty="0"/>
            </a:br>
            <a:r>
              <a:rPr lang="en-US" altLang="ja-JP" sz="4400" dirty="0"/>
              <a:t>of Time-Varying Thermal Line-of-Sight Bias </a:t>
            </a:r>
            <a:br>
              <a:rPr lang="en-US" altLang="ja-JP" sz="4400" dirty="0"/>
            </a:br>
            <a:r>
              <a:rPr lang="en-US" altLang="ja-JP" sz="4400" dirty="0"/>
              <a:t>for Coarse Acquisition </a:t>
            </a:r>
            <a:br>
              <a:rPr lang="en-US" altLang="ja-JP" sz="4400" dirty="0"/>
            </a:br>
            <a:r>
              <a:rPr lang="en-US" altLang="ja-JP" sz="4400" dirty="0"/>
              <a:t>in Satellite Optical Communications</a:t>
            </a:r>
            <a:endParaRPr sz="4400" b="1" dirty="0">
              <a:solidFill>
                <a:srgbClr val="082B52"/>
              </a:solidFill>
              <a:latin typeface="Yu Gothic"/>
              <a:ea typeface="Yu Gothic"/>
            </a:endParaRP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1</a:t>
            </a:r>
            <a:endParaRPr kumimoji="1" lang="ja-JP" altLang="en-US"/>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sz="3600" b="0" dirty="0">
                <a:solidFill>
                  <a:schemeClr val="tx2">
                    <a:lumMod val="50000"/>
                  </a:schemeClr>
                </a:solidFill>
                <a:latin typeface="Yu Gothic"/>
                <a:ea typeface="Yu Gothic"/>
              </a:rPr>
              <a:t>ICSO</a:t>
            </a:r>
            <a:r>
              <a:rPr lang="ja-JP" altLang="en-US" sz="3600" dirty="0">
                <a:solidFill>
                  <a:schemeClr val="tx2">
                    <a:lumMod val="50000"/>
                  </a:schemeClr>
                </a:solidFill>
                <a:latin typeface="Yu Gothic"/>
                <a:ea typeface="Yu Gothic"/>
              </a:rPr>
              <a:t> </a:t>
            </a:r>
            <a:r>
              <a:rPr lang="en-US" altLang="ja-JP" sz="3600" dirty="0">
                <a:solidFill>
                  <a:schemeClr val="tx2">
                    <a:lumMod val="50000"/>
                  </a:schemeClr>
                </a:solidFill>
                <a:latin typeface="Yu Gothic"/>
                <a:ea typeface="Yu Gothic"/>
              </a:rPr>
              <a:t>2026</a:t>
            </a:r>
            <a:r>
              <a:rPr lang="ja-JP" altLang="en-US" sz="3600" dirty="0">
                <a:solidFill>
                  <a:schemeClr val="tx2">
                    <a:lumMod val="50000"/>
                  </a:schemeClr>
                </a:solidFill>
                <a:latin typeface="Yu Gothic"/>
                <a:ea typeface="Yu Gothic"/>
              </a:rPr>
              <a:t> </a:t>
            </a:r>
            <a:r>
              <a:rPr lang="en-US" altLang="ja-JP" sz="3600" dirty="0">
                <a:solidFill>
                  <a:schemeClr val="tx2">
                    <a:lumMod val="50000"/>
                  </a:schemeClr>
                </a:solidFill>
                <a:latin typeface="Yu Gothic"/>
                <a:ea typeface="Yu Gothic"/>
              </a:rPr>
              <a:t>| October 15, 2026</a:t>
            </a:r>
            <a:endParaRPr lang="en-US" sz="3600" b="0" dirty="0">
              <a:solidFill>
                <a:schemeClr val="tx2">
                  <a:lumMod val="50000"/>
                </a:schemeClr>
              </a:solidFill>
              <a:latin typeface="Yu Gothic"/>
              <a:ea typeface="Yu Gothic"/>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mn-ea"/>
              </a:rPr>
              <a:t>H. TAKAMOTO</a:t>
            </a:r>
            <a:r>
              <a:rPr lang="en-US" altLang="ja-JP" sz="3200" dirty="0">
                <a:latin typeface="+mn-ea"/>
              </a:rPr>
              <a:t>, K. Takashima,</a:t>
            </a:r>
            <a:r>
              <a:rPr lang="en-US" altLang="ja-JP" sz="3200" baseline="30000" dirty="0">
                <a:latin typeface="+mn-ea"/>
              </a:rPr>
              <a:t> </a:t>
            </a:r>
            <a:r>
              <a:rPr lang="en-US" altLang="ja-JP" sz="3200" dirty="0">
                <a:latin typeface="+mn-ea"/>
              </a:rPr>
              <a:t>Y. Kusano,</a:t>
            </a:r>
            <a:r>
              <a:rPr lang="en-US" altLang="ja-JP" sz="3200" baseline="30000" dirty="0">
                <a:latin typeface="+mn-ea"/>
              </a:rPr>
              <a:t> </a:t>
            </a:r>
            <a:r>
              <a:rPr lang="en-US" altLang="ja-JP" sz="3200" dirty="0">
                <a:latin typeface="+mn-ea"/>
              </a:rPr>
              <a:t>S. Ikari, R. </a:t>
            </a:r>
            <a:r>
              <a:rPr lang="en-US" altLang="ja-JP" sz="3200" dirty="0" err="1">
                <a:latin typeface="+mn-ea"/>
              </a:rPr>
              <a:t>Funase</a:t>
            </a:r>
            <a:r>
              <a:rPr lang="en-US" altLang="ja-JP" sz="3200" dirty="0">
                <a:latin typeface="+mn-ea"/>
              </a:rPr>
              <a:t> </a:t>
            </a:r>
          </a:p>
          <a:p>
            <a:endParaRPr lang="en-US" altLang="ja-JP" sz="3200" dirty="0">
              <a:latin typeface="+mn-ea"/>
            </a:endParaRPr>
          </a:p>
          <a:p>
            <a:r>
              <a:rPr lang="en-US" altLang="ja-JP" sz="3200" dirty="0">
                <a:latin typeface="+mn-ea"/>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0725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lang="ja-JP" altLang="en-US" sz="3200" b="1" dirty="0">
                <a:solidFill>
                  <a:srgbClr val="FFFFFF"/>
                </a:solidFill>
                <a:latin typeface="Yu Gothic"/>
              </a:rPr>
              <a:t>Background</a:t>
            </a:r>
            <a:endParaRPr sz="3200" b="1" dirty="0">
              <a:solidFill>
                <a:srgbClr val="FFFFFF"/>
              </a:solidFill>
              <a:latin typeface="Yu Gothic"/>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sz="3200" b="1" dirty="0">
                <a:solidFill>
                  <a:srgbClr val="082B52"/>
                </a:solidFill>
                <a:latin typeface="Yu Gothic"/>
                <a:ea typeface="Yu Gothic"/>
              </a:rPr>
              <a:t>Before optical feedback is available, </a:t>
            </a:r>
            <a:br>
              <a:rPr lang="en-US" sz="3200" b="1" dirty="0">
                <a:solidFill>
                  <a:srgbClr val="082B52"/>
                </a:solidFill>
                <a:latin typeface="Yu Gothic"/>
                <a:ea typeface="Yu Gothic"/>
              </a:rPr>
            </a:br>
            <a:r>
              <a:rPr sz="3200" b="1" dirty="0">
                <a:solidFill>
                  <a:srgbClr val="082B52"/>
                </a:solidFill>
                <a:latin typeface="Yu Gothic"/>
                <a:ea typeface="Yu Gothic"/>
              </a:rPr>
              <a:t>scan-center offset determines coarse-acquisition search time</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3</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sz="2000" b="0">
                <a:solidFill>
                  <a:srgbClr val="666F79"/>
                </a:solidFill>
                <a:latin typeface="Yu Gothic"/>
                <a:ea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Before optical feedback</a:t>
            </a:r>
          </a:p>
        </p:txBody>
      </p:sp>
      <p:sp>
        <p:nvSpPr>
          <p:cNvPr id="8" name="TextBox 7"/>
          <p:cNvSpPr txBox="1"/>
          <p:nvPr/>
        </p:nvSpPr>
        <p:spPr>
          <a:xfrm>
            <a:off x="1463040" y="5074920"/>
            <a:ext cx="5760720" cy="165583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Search an uncertainty region including </a:t>
            </a:r>
            <a:r>
              <a:rPr lang="en-US" altLang="ja-JP" sz="2600" b="1" dirty="0">
                <a:solidFill>
                  <a:schemeClr val="accent6">
                    <a:lumMod val="75000"/>
                  </a:schemeClr>
                </a:solidFill>
                <a:latin typeface="Yu Gothic"/>
                <a:ea typeface="Yu Gothic"/>
              </a:rPr>
              <a:t>thermal LOS</a:t>
            </a:r>
            <a:r>
              <a:rPr lang="en-US" altLang="ja-JP" sz="2600" dirty="0">
                <a:solidFill>
                  <a:srgbClr val="232B34"/>
                </a:solidFill>
                <a:latin typeface="Yu Gothic"/>
                <a:ea typeface="Yu Gothic"/>
              </a:rPr>
              <a:t>, </a:t>
            </a:r>
            <a:r>
              <a:rPr sz="2600" b="0" dirty="0">
                <a:solidFill>
                  <a:srgbClr val="232B34"/>
                </a:solidFill>
                <a:latin typeface="Yu Gothic"/>
                <a:ea typeface="Yu Gothic"/>
              </a:rPr>
              <a:t>attitude</a:t>
            </a:r>
            <a:r>
              <a:rPr lang="en-US" sz="2600" b="0" dirty="0">
                <a:solidFill>
                  <a:srgbClr val="232B34"/>
                </a:solidFill>
                <a:latin typeface="Yu Gothic"/>
                <a:ea typeface="Yu Gothic"/>
              </a:rPr>
              <a:t>,</a:t>
            </a:r>
            <a:r>
              <a:rPr sz="2600" b="0" dirty="0">
                <a:solidFill>
                  <a:srgbClr val="232B34"/>
                </a:solidFill>
                <a:latin typeface="Yu Gothic"/>
                <a:ea typeface="Yu Gothic"/>
              </a:rPr>
              <a:t> and orbit</a:t>
            </a:r>
            <a:r>
              <a:rPr lang="en-US" sz="2600" b="0" dirty="0">
                <a:solidFill>
                  <a:srgbClr val="232B34"/>
                </a:solidFill>
                <a:latin typeface="Yu Gothic"/>
                <a:ea typeface="Yu Gothic"/>
              </a:rPr>
              <a:t> errors</a:t>
            </a:r>
            <a:endParaRPr sz="2600" b="0" dirty="0">
              <a:solidFill>
                <a:srgbClr val="232B34"/>
              </a:solidFill>
              <a:latin typeface="Yu Gothic"/>
              <a:ea typeface="Yu Gothic"/>
            </a:endParaRPr>
          </a:p>
          <a:p>
            <a:pPr algn="ctr">
              <a:spcAft>
                <a:spcPts val="0"/>
              </a:spcAft>
            </a:pPr>
            <a:endParaRPr sz="2600" b="0" dirty="0">
              <a:solidFill>
                <a:srgbClr val="232B34"/>
              </a:solidFill>
              <a:latin typeface="Yu Gothic"/>
              <a:ea typeface="Yu Gothic"/>
            </a:endParaRPr>
          </a:p>
        </p:txBody>
      </p: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Illumination / eclipse / dissipation</a:t>
            </a:r>
          </a:p>
        </p:txBody>
      </p:sp>
      <p:sp>
        <p:nvSpPr>
          <p:cNvPr id="12" name="TextBox 11"/>
          <p:cNvSpPr txBox="1"/>
          <p:nvPr/>
        </p:nvSpPr>
        <p:spPr>
          <a:xfrm>
            <a:off x="8907641" y="4638382"/>
            <a:ext cx="6187721" cy="855619"/>
          </a:xfrm>
          <a:prstGeom prst="rect">
            <a:avLst/>
          </a:prstGeom>
          <a:noFill/>
        </p:spPr>
        <p:txBody>
          <a:bodyPr wrap="none" lIns="36576" tIns="27432" rIns="36576" bIns="27432" anchor="t">
            <a:spAutoFit/>
          </a:bodyPr>
          <a:lstStyle/>
          <a:p>
            <a:pPr algn="ctr"/>
            <a:r>
              <a:rPr sz="2600" b="0" dirty="0">
                <a:solidFill>
                  <a:srgbClr val="232B34"/>
                </a:solidFill>
                <a:latin typeface="Yu Gothic"/>
              </a:rPr>
              <a:t>Temperature field → </a:t>
            </a:r>
            <a:r>
              <a:rPr lang="en-US" sz="2600" b="0" dirty="0">
                <a:solidFill>
                  <a:srgbClr val="232B34"/>
                </a:solidFill>
                <a:latin typeface="Yu Gothic"/>
              </a:rPr>
              <a:t>thermal </a:t>
            </a:r>
            <a:r>
              <a:rPr sz="2600" b="0" dirty="0">
                <a:solidFill>
                  <a:srgbClr val="232B34"/>
                </a:solidFill>
                <a:latin typeface="Yu Gothic"/>
              </a:rPr>
              <a:t>expansion
→ </a:t>
            </a:r>
            <a:r>
              <a:rPr lang="ja-JP" altLang="en-US" sz="2600" dirty="0">
                <a:solidFill>
                  <a:srgbClr val="232B34"/>
                </a:solidFill>
                <a:latin typeface="Yu Gothic"/>
              </a:rPr>
              <a:t>spacecraft-bus distortion</a:t>
            </a:r>
            <a:endParaRPr sz="2600" b="0" dirty="0">
              <a:solidFill>
                <a:srgbClr val="232B34"/>
              </a:solidFill>
              <a:latin typeface="Yu Gothic"/>
            </a:endParaRPr>
          </a:p>
        </p:txBody>
      </p:sp>
      <p:sp>
        <p:nvSpPr>
          <p:cNvPr id="13" name="TextBox 12"/>
          <p:cNvSpPr txBox="1"/>
          <p:nvPr/>
        </p:nvSpPr>
        <p:spPr>
          <a:xfrm>
            <a:off x="8869680" y="5623560"/>
            <a:ext cx="6217920" cy="440120"/>
          </a:xfrm>
          <a:prstGeom prst="rect">
            <a:avLst/>
          </a:prstGeom>
          <a:noFill/>
        </p:spPr>
        <p:txBody>
          <a:bodyPr wrap="square" lIns="36576" tIns="27432" rIns="36576" bIns="27432" anchor="t">
            <a:spAutoFit/>
          </a:bodyPr>
          <a:lstStyle/>
          <a:p>
            <a:pPr algn="ctr">
              <a:spcAft>
                <a:spcPts val="0"/>
              </a:spcAft>
            </a:pPr>
            <a:r>
              <a:rPr sz="2500" b="1" dirty="0">
                <a:solidFill>
                  <a:schemeClr val="accent6">
                    <a:lumMod val="75000"/>
                  </a:schemeClr>
                </a:solidFill>
                <a:latin typeface="Yu Gothic"/>
                <a:ea typeface="Yu Gothic"/>
              </a:rPr>
              <a:t>Thermal LOS: 1</a:t>
            </a:r>
            <a:r>
              <a:rPr lang="en-US" sz="2500" b="1" dirty="0">
                <a:solidFill>
                  <a:schemeClr val="accent6">
                    <a:lumMod val="75000"/>
                  </a:schemeClr>
                </a:solidFill>
                <a:latin typeface="Yu Gothic"/>
                <a:ea typeface="Yu Gothic"/>
              </a:rPr>
              <a:t>0</a:t>
            </a:r>
            <a:r>
              <a:rPr sz="2500" b="1" dirty="0">
                <a:solidFill>
                  <a:schemeClr val="accent6">
                    <a:lumMod val="75000"/>
                  </a:schemeClr>
                </a:solidFill>
                <a:latin typeface="Yu Gothic"/>
                <a:ea typeface="Yu Gothic"/>
              </a:rPr>
              <a:t>0 µrad to 1 </a:t>
            </a:r>
            <a:r>
              <a:rPr sz="2500" b="1" dirty="0" err="1">
                <a:solidFill>
                  <a:schemeClr val="accent6">
                    <a:lumMod val="75000"/>
                  </a:schemeClr>
                </a:solidFill>
                <a:latin typeface="Yu Gothic"/>
                <a:ea typeface="Yu Gothic"/>
              </a:rPr>
              <a:t>mrad</a:t>
            </a:r>
            <a:endParaRPr sz="2900" b="1" dirty="0">
              <a:solidFill>
                <a:schemeClr val="accent6">
                  <a:lumMod val="75000"/>
                </a:schemeClr>
              </a:solidFill>
              <a:latin typeface="Yu Gothic"/>
            </a:endParaRPr>
          </a:p>
        </p:txBody>
      </p: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endParaRPr>
          </a:p>
        </p:txBody>
      </p:sp>
      <p:sp>
        <p:nvSpPr>
          <p:cNvPr id="16" name="TextBox 15"/>
          <p:cNvSpPr txBox="1"/>
          <p:nvPr/>
        </p:nvSpPr>
        <p:spPr>
          <a:xfrm>
            <a:off x="16733520" y="3886200"/>
            <a:ext cx="5760720" cy="886397"/>
          </a:xfrm>
          <a:prstGeom prst="rect">
            <a:avLst/>
          </a:prstGeom>
          <a:noFill/>
        </p:spPr>
        <p:txBody>
          <a:bodyPr wrap="square" lIns="36576" tIns="27432" rIns="36576" bIns="27432" anchor="t">
            <a:spAutoFit/>
          </a:bodyPr>
          <a:lstStyle/>
          <a:p>
            <a:pPr algn="ctr">
              <a:spcAft>
                <a:spcPts val="0"/>
              </a:spcAft>
            </a:pPr>
            <a:r>
              <a:rPr sz="2700" b="1" dirty="0">
                <a:solidFill>
                  <a:srgbClr val="FF0000"/>
                </a:solidFill>
                <a:latin typeface="Yu Gothic"/>
                <a:ea typeface="Yu Gothic"/>
              </a:rPr>
              <a:t>Pre-acquisition predictive correction</a:t>
            </a:r>
            <a:endParaRPr sz="2700" b="1" dirty="0">
              <a:solidFill>
                <a:srgbClr val="FF0000"/>
              </a:solidFill>
              <a:latin typeface="Yu Gothic"/>
            </a:endParaRPr>
          </a:p>
        </p:txBody>
      </p:sp>
      <p:sp>
        <p:nvSpPr>
          <p:cNvPr id="17" name="TextBox 16"/>
          <p:cNvSpPr txBox="1"/>
          <p:nvPr/>
        </p:nvSpPr>
        <p:spPr>
          <a:xfrm>
            <a:off x="16733519" y="5074920"/>
            <a:ext cx="5760720" cy="125572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Subtract </a:t>
            </a:r>
            <a:r>
              <a:rPr sz="2600" b="1" dirty="0">
                <a:solidFill>
                  <a:schemeClr val="accent6">
                    <a:lumMod val="75000"/>
                  </a:schemeClr>
                </a:solidFill>
                <a:latin typeface="Yu Gothic"/>
                <a:ea typeface="Yu Gothic"/>
              </a:rPr>
              <a:t>thermal LOS</a:t>
            </a:r>
            <a:r>
              <a:rPr sz="2600" b="0" dirty="0">
                <a:solidFill>
                  <a:srgbClr val="232B34"/>
                </a:solidFill>
                <a:latin typeface="Yu Gothic"/>
                <a:ea typeface="Yu Gothic"/>
              </a:rPr>
              <a:t> </a:t>
            </a:r>
            <a:endParaRPr lang="en-US" sz="2600" b="0" dirty="0">
              <a:solidFill>
                <a:srgbClr val="232B34"/>
              </a:solidFill>
              <a:latin typeface="Yu Gothic"/>
              <a:ea typeface="Yu Gothic"/>
            </a:endParaRPr>
          </a:p>
          <a:p>
            <a:pPr algn="ctr">
              <a:spcAft>
                <a:spcPts val="0"/>
              </a:spcAft>
            </a:pPr>
            <a:r>
              <a:rPr sz="2600" b="0" dirty="0">
                <a:solidFill>
                  <a:srgbClr val="232B34"/>
                </a:solidFill>
                <a:latin typeface="Yu Gothic"/>
                <a:ea typeface="Yu Gothic"/>
              </a:rPr>
              <a:t>from the scan center</a:t>
            </a:r>
          </a:p>
          <a:p>
            <a:pPr algn="ctr">
              <a:spcAft>
                <a:spcPts val="0"/>
              </a:spcAft>
            </a:pPr>
            <a:r>
              <a:rPr sz="2600" b="0" dirty="0" err="1">
                <a:solidFill>
                  <a:srgbClr val="232B34"/>
                </a:solidFill>
                <a:latin typeface="Yu Gothic"/>
                <a:ea typeface="Yu Gothic"/>
              </a:rPr>
              <a:t>to reduce search time</a:t>
            </a:r>
            <a:endParaRPr sz="2600" b="0" dirty="0">
              <a:solidFill>
                <a:srgbClr val="232B34"/>
              </a:solidFill>
              <a:latin typeface="Yu Gothic"/>
              <a:ea typeface="Yu Gothic"/>
            </a:endParaRPr>
          </a:p>
        </p:txBody>
      </p:sp>
      <p:sp>
        <p:nvSpPr>
          <p:cNvPr id="18" name="TextBox 17"/>
          <p:cNvSpPr txBox="1"/>
          <p:nvPr/>
        </p:nvSpPr>
        <p:spPr>
          <a:xfrm>
            <a:off x="3897207" y="12321036"/>
            <a:ext cx="16588003" cy="1009507"/>
          </a:xfrm>
          <a:prstGeom prst="rect">
            <a:avLst/>
          </a:prstGeom>
          <a:noFill/>
        </p:spPr>
        <p:txBody>
          <a:bodyPr wrap="none" lIns="36576" tIns="27432" rIns="36576" bIns="27432" anchor="t">
            <a:spAutoFit/>
          </a:bodyPr>
          <a:lstStyle/>
          <a:p>
            <a:pPr algn="ctr"/>
            <a:r>
              <a:rPr lang="ja-JP" altLang="en-US" sz="3100" dirty="0">
                <a:solidFill>
                  <a:srgbClr val="082B52"/>
                </a:solidFill>
                <a:latin typeface="Yu Gothic"/>
              </a:rPr>
              <a:t>Without modifying the spacecraft or LCT,</a:t>
            </a:r>
            <a:endParaRPr lang="en-US" altLang="ja-JP" sz="3100" dirty="0">
              <a:solidFill>
                <a:srgbClr val="082B52"/>
              </a:solidFill>
              <a:latin typeface="Yu Gothic"/>
            </a:endParaRPr>
          </a:p>
          <a:p>
            <a:pPr algn="ctr"/>
            <a:r>
              <a:rPr lang="ja-JP" altLang="en-US" sz="3100" dirty="0">
                <a:solidFill>
                  <a:srgbClr val="082B52"/>
                </a:solidFill>
                <a:latin typeface="Yu Gothic"/>
              </a:rPr>
              <a:t> </a:t>
            </a:r>
            <a:r>
              <a:rPr sz="3100" b="1" dirty="0" err="1">
                <a:solidFill>
                  <a:srgbClr val="082B52"/>
                </a:solidFill>
                <a:latin typeface="Yu Gothic"/>
              </a:rPr>
              <a:t>operationally remove only predictable thermal deformation from the initial LOS error.</a:t>
            </a:r>
            <a:endParaRPr lang="en-US"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584775"/>
          </a:xfrm>
          <a:prstGeom prst="rect">
            <a:avLst/>
          </a:prstGeom>
          <a:noFill/>
        </p:spPr>
        <p:txBody>
          <a:bodyPr wrap="square" rtlCol="0">
            <a:spAutoFit/>
          </a:bodyPr>
          <a:lstStyle/>
          <a:p>
            <a:pPr algn="ctr"/>
            <a:r>
              <a:rPr kumimoji="1" lang="en-US" altLang="ja-JP" sz="3200" b="1" dirty="0">
                <a:solidFill>
                  <a:srgbClr val="FF0000"/>
                </a:solidFill>
              </a:rPr>
              <a:t>Our approach</a:t>
            </a:r>
            <a:endParaRPr kumimoji="1" lang="ja-JP" altLang="en-US" sz="3200" b="1" dirty="0">
              <a:solidFill>
                <a:srgbClr val="FF0000"/>
              </a:solidFill>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Yu Gothic"/>
              <a:ea typeface="Yu Gothic"/>
            </a:endParaRPr>
          </a:p>
          <a:p>
            <a:pPr algn="l">
              <a:spcAft>
                <a:spcPts val="0"/>
              </a:spcAft>
            </a:pPr>
            <a:r>
              <a:rPr sz="2000" b="0" dirty="0" err="1">
                <a:solidFill>
                  <a:srgbClr val="666F79"/>
                </a:solidFill>
                <a:latin typeface="Yu Gothic"/>
                <a:ea typeface="Yu Gothic"/>
              </a:rPr>
              <a:t>Background</a:t>
            </a:r>
            <a:endParaRPr sz="2000" b="0" dirty="0">
              <a:solidFill>
                <a:srgbClr val="666F79"/>
              </a:solidFill>
              <a:latin typeface="Yu Gothic"/>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sz="3200" b="1" dirty="0">
                <a:solidFill>
                  <a:srgbClr val="082B52"/>
                </a:solidFill>
                <a:latin typeface="Yu Gothic"/>
                <a:ea typeface="Yu Gothic"/>
              </a:rPr>
              <a:t>Thermal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a:t>
            </a:r>
            <a:r>
              <a:rPr sz="3200" b="1" dirty="0">
                <a:solidFill>
                  <a:srgbClr val="082B52"/>
                </a:solidFill>
                <a:latin typeface="Yu Gothic"/>
                <a:ea typeface="Yu Gothic"/>
              </a:rPr>
              <a:t> can match or exceed orbit-prediction error</a:t>
            </a:r>
            <a:r>
              <a:rPr lang="ja-JP" altLang="en-US" sz="3200" b="1" dirty="0">
                <a:solidFill>
                  <a:srgbClr val="082B52"/>
                </a:solidFill>
                <a:latin typeface="Yu Gothic"/>
                <a:ea typeface="Yu Gothic"/>
              </a:rPr>
              <a:t>—</a:t>
            </a:r>
            <a:r>
              <a:rPr sz="3200" b="1" dirty="0" err="1">
                <a:solidFill>
                  <a:srgbClr val="082B52"/>
                </a:solidFill>
                <a:latin typeface="Yu Gothic"/>
                <a:ea typeface="Yu Gothic"/>
              </a:rPr>
              <a:t>and cannot be optically separated before acquisition</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4</a:t>
            </a:r>
          </a:p>
        </p:txBody>
      </p:sp>
      <p:graphicFrame>
        <p:nvGraphicFramePr>
          <p:cNvPr id="5" name="Table 4"/>
          <p:cNvGraphicFramePr>
            <a:graphicFrameLocks noGrp="1"/>
          </p:cNvGraphicFramePr>
          <p:nvPr>
            <p:extLst>
              <p:ext uri="{D42A27DB-BD31-4B8C-83A1-F6EECF244321}">
                <p14:modId xmlns:p14="http://schemas.microsoft.com/office/powerpoint/2010/main" val="411065855"/>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sz="2400" b="1">
                          <a:solidFill>
                            <a:srgbClr val="FFFFFF"/>
                          </a:solidFill>
                          <a:latin typeface="Yu Gothic"/>
                          <a:ea typeface="Yu Gothic"/>
                        </a:rPr>
                        <a:t>Error source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Approximate magnitude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Time variation</a:t>
                      </a: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sz="2400" b="0" dirty="0" err="1">
                          <a:solidFill>
                            <a:srgbClr val="232B34"/>
                          </a:solidFill>
                          <a:latin typeface="Yu Gothic"/>
                          <a:ea typeface="Yu Gothic"/>
                        </a:rPr>
                        <a:t>Thermal LOS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a:solidFill>
                            <a:srgbClr val="232B34"/>
                          </a:solidFill>
                          <a:latin typeface="Yu Gothic"/>
                          <a:ea typeface="Yu Gothic"/>
                        </a:rPr>
                        <a:t>150 µrad–1000 µrad (this analysis)</a:t>
                      </a: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sz="2400" b="0" dirty="0" err="1">
                          <a:solidFill>
                            <a:srgbClr val="232B34"/>
                          </a:solidFill>
                          <a:latin typeface="Yu Gothic"/>
                          <a:ea typeface="Yu Gothic"/>
                        </a:rPr>
                        <a:t>Orbit prediction</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Several hundred µrad (TLE propagation vs. precise GPS ephemeris)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sz="2400" b="0">
                          <a:solidFill>
                            <a:srgbClr val="232B34"/>
                          </a:solidFill>
                          <a:latin typeface="Yu Gothic"/>
                          <a:ea typeface="Yu Gothic"/>
                        </a:rPr>
                        <a:t>Attitude and calibrated alignment</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Tens of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 to broadband</a:t>
                      </a: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sz="2400" b="0">
                          <a:solidFill>
                            <a:srgbClr val="232B34"/>
                          </a:solidFill>
                          <a:latin typeface="Yu Gothic"/>
                          <a:ea typeface="Yu Gothic"/>
                        </a:rPr>
                        <a:t>Mechanical vibration</a:t>
                      </a:r>
                    </a:p>
                  </a:txBody>
                  <a:tcPr marL="128016" marR="128016" anchor="ctr">
                    <a:solidFill>
                      <a:srgbClr val="F4F6F8"/>
                    </a:solidFill>
                  </a:tcPr>
                </a:tc>
                <a:tc>
                  <a:txBody>
                    <a:bodyPr/>
                    <a:lstStyle/>
                    <a:p>
                      <a:pPr algn="ctr">
                        <a:spcAft>
                          <a:spcPts val="0"/>
                        </a:spcAft>
                      </a:pPr>
                      <a:r>
                        <a:rPr sz="2400" b="0" dirty="0">
                          <a:solidFill>
                            <a:srgbClr val="232B34"/>
                          </a:solidFill>
                          <a:latin typeface="Yu Gothic"/>
                          <a:ea typeface="Yu Gothic"/>
                        </a:rPr>
                        <a:t>Several to tens of µrad</a:t>
                      </a:r>
                    </a:p>
                  </a:txBody>
                  <a:tcPr marL="128016" marR="128016" anchor="ctr">
                    <a:solidFill>
                      <a:srgbClr val="F4F6F8"/>
                    </a:solidFill>
                  </a:tcPr>
                </a:tc>
                <a:tc>
                  <a:txBody>
                    <a:bodyPr/>
                    <a:lstStyle/>
                    <a:p>
                      <a:pPr algn="ctr">
                        <a:spcAft>
                          <a:spcPts val="0"/>
                        </a:spcAft>
                      </a:pPr>
                      <a:r>
                        <a:rPr sz="2400" b="0" dirty="0" err="1">
                          <a:solidFill>
                            <a:srgbClr val="232B34"/>
                          </a:solidFill>
                          <a:latin typeface="Yu Gothic"/>
                          <a:ea typeface="Yu Gothic"/>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sz="2000" b="0" dirty="0">
                <a:solidFill>
                  <a:srgbClr val="666F79"/>
                </a:solidFill>
                <a:latin typeface="Yu Gothic"/>
                <a:ea typeface="Yu Gothic"/>
              </a:rPr>
              <a:t>* </a:t>
            </a:r>
            <a:r>
              <a:rPr sz="2000" b="0" dirty="0" err="1">
                <a:solidFill>
                  <a:srgbClr val="666F79"/>
                </a:solidFill>
                <a:latin typeface="Yu Gothic"/>
                <a:ea typeface="Yu Gothic"/>
              </a:rPr>
              <a:t>Thermal </a:t>
            </a:r>
            <a:r>
              <a:rPr lang="en-US" sz="2000" b="0" dirty="0" err="1">
                <a:solidFill>
                  <a:srgbClr val="666F79"/>
                </a:solidFill>
                <a:latin typeface="Yu Gothic"/>
                <a:ea typeface="Yu Gothic"/>
              </a:rPr>
              <a:t>LOS</a:t>
            </a:r>
            <a:r>
              <a:rPr lang="ja-JP" altLang="en-US" sz="2000" b="0" dirty="0">
                <a:solidFill>
                  <a:srgbClr val="666F79"/>
                </a:solidFill>
                <a:latin typeface="Yu Gothic"/>
                <a:ea typeface="Yu Gothic"/>
              </a:rPr>
              <a:t> and orbit-prediction error are from this analysis; </a:t>
            </a:r>
            <a:r>
              <a:rPr sz="2000" b="0" dirty="0" err="1">
                <a:solidFill>
                  <a:srgbClr val="666F79"/>
                </a:solidFill>
                <a:latin typeface="Yu Gothic"/>
                <a:ea typeface="Yu Gothic"/>
              </a:rPr>
              <a:t>other values are literature-based order-of-magnitude estimates.</a:t>
            </a: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sz="3200" dirty="0" err="1">
                <a:solidFill>
                  <a:srgbClr val="082B52"/>
                </a:solidFill>
                <a:latin typeface="Yu Gothic"/>
                <a:ea typeface="Yu Gothic"/>
              </a:rPr>
              <a:t>Thermal LOS and orbit prediction share </a:t>
            </a:r>
            <a:r>
              <a:rPr lang="ja-JP" altLang="en-US" sz="3200" dirty="0">
                <a:solidFill>
                  <a:srgbClr val="082B52"/>
                </a:solidFill>
                <a:latin typeface="Yu Gothic"/>
                <a:ea typeface="Yu Gothic"/>
              </a:rPr>
              <a:t>similar</a:t>
            </a:r>
            <a:r>
              <a:rPr sz="3200" dirty="0" err="1">
                <a:solidFill>
                  <a:srgbClr val="082B52"/>
                </a:solidFill>
                <a:latin typeface="Yu Gothic"/>
                <a:ea typeface="Yu Gothic"/>
              </a:rPr>
              <a:t> orbital periods</a:t>
            </a:r>
            <a:endParaRPr sz="3200" dirty="0">
              <a:solidFill>
                <a:srgbClr val="082B52"/>
              </a:solidFill>
              <a:latin typeface="Yu Gothic"/>
              <a:ea typeface="Yu Gothic"/>
            </a:endParaRPr>
          </a:p>
          <a:p>
            <a:pPr algn="ctr">
              <a:lnSpc>
                <a:spcPct val="120000"/>
              </a:lnSpc>
              <a:spcAft>
                <a:spcPts val="0"/>
              </a:spcAft>
            </a:pPr>
            <a:r>
              <a:rPr sz="3200" dirty="0" err="1">
                <a:solidFill>
                  <a:srgbClr val="082B52"/>
                </a:solidFill>
                <a:latin typeface="Yu Gothic"/>
                <a:ea typeface="Yu Gothic"/>
              </a:rPr>
              <a:t>Frequency separation of post-acquisition residuals cannot isolate the thermal component</a:t>
            </a:r>
            <a:endParaRPr sz="3200" dirty="0">
              <a:solidFill>
                <a:srgbClr val="082B52"/>
              </a:solidFill>
              <a:latin typeface="Yu Gothic"/>
              <a:ea typeface="Yu Gothic"/>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sz="3200" b="1" dirty="0" err="1">
                <a:latin typeface="Yu Gothic"/>
                <a:ea typeface="Yu Gothic"/>
              </a:rPr>
              <a:t>Do not </a:t>
            </a:r>
            <a:r>
              <a:rPr lang="ja-JP" altLang="en-US" sz="3200" b="1" dirty="0">
                <a:latin typeface="Yu Gothic"/>
                <a:ea typeface="Yu Gothic"/>
              </a:rPr>
              <a:t>separate thermal effects retrospectively</a:t>
            </a:r>
            <a:r>
              <a:rPr sz="3200" b="1" dirty="0" err="1">
                <a:latin typeface="Yu Gothic"/>
                <a:ea typeface="Yu Gothic"/>
              </a:rPr>
              <a:t> from observations</a:t>
            </a:r>
            <a:endParaRPr lang="en-US" sz="3200" b="1" dirty="0">
              <a:latin typeface="Yu Gothic"/>
              <a:ea typeface="Yu Gothic"/>
            </a:endParaRPr>
          </a:p>
          <a:p>
            <a:pPr algn="ctr">
              <a:spcAft>
                <a:spcPts val="0"/>
              </a:spcAft>
            </a:pPr>
            <a:r>
              <a:rPr sz="3200" b="1" dirty="0" err="1">
                <a:latin typeface="Yu Gothic"/>
                <a:ea typeface="Yu Gothic"/>
              </a:rPr>
              <a:t>Use temperature and operating state</a:t>
            </a:r>
            <a:r>
              <a:rPr lang="ja-JP" altLang="en-US" sz="3200" b="1" dirty="0">
                <a:latin typeface="Yu Gothic"/>
                <a:ea typeface="Yu Gothic"/>
              </a:rPr>
              <a:t> </a:t>
            </a:r>
            <a:r>
              <a:rPr sz="3200" b="1" dirty="0" err="1">
                <a:latin typeface="Yu Gothic"/>
                <a:ea typeface="Yu Gothic"/>
              </a:rPr>
              <a:t>to subtract them before acquisition</a:t>
            </a:r>
            <a:endParaRPr sz="3200" b="1" dirty="0">
              <a:latin typeface="Yu Gothic"/>
              <a:ea typeface="Yu Gothic"/>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ja-JP" altLang="ja-JP" sz="2800" b="1" dirty="0">
                <a:solidFill>
                  <a:schemeClr val="tx2">
                    <a:lumMod val="50000"/>
                  </a:schemeClr>
                </a:solidFill>
              </a:rPr>
              <a:t>Main contributors to scan-center LOS error during coarse acquisition</a:t>
            </a:r>
            <a:endParaRPr lang="ja-JP" altLang="ja-JP" sz="2800" dirty="0">
              <a:solidFill>
                <a:schemeClr val="tx2">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Background</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Prior work on thermal-deformation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 prediction and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5</a:t>
            </a: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619788505"/>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5118730">
                  <a:extLst>
                    <a:ext uri="{9D8B030D-6E8A-4147-A177-3AD203B41FA5}">
                      <a16:colId xmlns:a16="http://schemas.microsoft.com/office/drawing/2014/main" val="1548032301"/>
                    </a:ext>
                  </a:extLst>
                </a:gridCol>
                <a:gridCol w="511873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ja-JP" altLang="en-US" sz="2800" b="0" dirty="0">
                          <a:solidFill>
                            <a:schemeClr val="bg1"/>
                          </a:solidFill>
                        </a:rPr>
                        <a:t>Field</a:t>
                      </a:r>
                      <a:endParaRPr lang="ja-JP" sz="2800" b="0" dirty="0">
                        <a:solidFill>
                          <a:schemeClr val="bg1"/>
                        </a:solidFill>
                      </a:endParaRPr>
                    </a:p>
                  </a:txBody>
                  <a:tcPr anchor="ctr">
                    <a:solidFill>
                      <a:schemeClr val="tx1"/>
                    </a:solidFill>
                  </a:tcPr>
                </a:tc>
                <a:tc>
                  <a:txBody>
                    <a:bodyPr/>
                    <a:lstStyle/>
                    <a:p>
                      <a:pPr>
                        <a:buNone/>
                      </a:pPr>
                      <a:r>
                        <a:rPr lang="ja-JP" sz="2800" b="0" dirty="0">
                          <a:solidFill>
                            <a:schemeClr val="tx1"/>
                          </a:solidFill>
                        </a:rPr>
                        <a:t>Optical communications</a:t>
                      </a:r>
                    </a:p>
                  </a:txBody>
                  <a:tcPr anchor="ctr">
                    <a:solidFill>
                      <a:schemeClr val="bg1">
                        <a:lumMod val="95000"/>
                      </a:schemeClr>
                    </a:solidFill>
                  </a:tcPr>
                </a:tc>
                <a:tc>
                  <a:txBody>
                    <a:bodyPr/>
                    <a:lstStyle/>
                    <a:p>
                      <a:pPr>
                        <a:buNone/>
                      </a:pPr>
                      <a:r>
                        <a:rPr lang="ja-JP" sz="2800" b="0" dirty="0">
                          <a:solidFill>
                            <a:schemeClr val="tx1"/>
                          </a:solidFill>
                        </a:rPr>
                        <a:t>Earth observation / optics</a:t>
                      </a:r>
                    </a:p>
                  </a:txBody>
                  <a:tcPr anchor="ctr">
                    <a:solidFill>
                      <a:schemeClr val="bg1">
                        <a:lumMod val="85000"/>
                      </a:schemeClr>
                    </a:solidFill>
                  </a:tcPr>
                </a:tc>
                <a:tc>
                  <a:txBody>
                    <a:bodyPr/>
                    <a:lstStyle/>
                    <a:p>
                      <a:pPr>
                        <a:buNone/>
                      </a:pPr>
                      <a:r>
                        <a:rPr lang="ja-JP" sz="2800" b="0" dirty="0">
                          <a:solidFill>
                            <a:schemeClr val="tx1"/>
                          </a:solidFill>
                        </a:rPr>
                        <a:t>This study</a:t>
                      </a: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ja-JP" sz="2800" b="0" dirty="0">
                          <a:solidFill>
                            <a:schemeClr val="bg1"/>
                          </a:solidFill>
                        </a:rPr>
                        <a:t>Approach to thermal deformation</a:t>
                      </a:r>
                    </a:p>
                  </a:txBody>
                  <a:tcPr anchor="ctr">
                    <a:solidFill>
                      <a:schemeClr val="tx1"/>
                    </a:solidFill>
                  </a:tcPr>
                </a:tc>
                <a:tc>
                  <a:txBody>
                    <a:bodyPr/>
                    <a:lstStyle/>
                    <a:p>
                      <a:pPr>
                        <a:buNone/>
                      </a:pPr>
                      <a:r>
                        <a:rPr lang="ja-JP" sz="2800" b="0" dirty="0">
                          <a:solidFill>
                            <a:schemeClr val="tx1"/>
                          </a:solidFill>
                        </a:rPr>
                        <a:t>Reduce thermal deformation through structure, materials, and equipment placement</a:t>
                      </a:r>
                      <a:br>
                        <a:rPr lang="ja-JP" sz="2800" b="0" dirty="0">
                          <a:solidFill>
                            <a:schemeClr val="tx1"/>
                          </a:solidFill>
                        </a:rPr>
                      </a:br>
                      <a:r>
                        <a:rPr lang="ja-JP" sz="2800" b="0" dirty="0">
                          <a:solidFill>
                            <a:schemeClr val="tx1"/>
                          </a:solidFill>
                        </a:rPr>
                        <a:t>Assess thermal pointing error by FEM</a:t>
                      </a:r>
                    </a:p>
                  </a:txBody>
                  <a:tcPr anchor="ctr">
                    <a:solidFill>
                      <a:schemeClr val="bg1">
                        <a:lumMod val="95000"/>
                      </a:schemeClr>
                    </a:solidFill>
                  </a:tcPr>
                </a:tc>
                <a:tc>
                  <a:txBody>
                    <a:bodyPr/>
                    <a:lstStyle/>
                    <a:p>
                      <a:pPr>
                        <a:buNone/>
                      </a:pPr>
                      <a:r>
                        <a:rPr lang="ja-JP" sz="2800" b="0" dirty="0">
                          <a:solidFill>
                            <a:schemeClr val="tx1"/>
                          </a:solidFill>
                        </a:rPr>
                        <a:t>Predict and correct LOS variation from temperature, orbital phase, and observation geometry</a:t>
                      </a:r>
                    </a:p>
                  </a:txBody>
                  <a:tcPr anchor="ctr">
                    <a:solidFill>
                      <a:schemeClr val="bg1">
                        <a:lumMod val="85000"/>
                      </a:schemeClr>
                    </a:solidFill>
                  </a:tcPr>
                </a:tc>
                <a:tc>
                  <a:txBody>
                    <a:bodyPr/>
                    <a:lstStyle/>
                    <a:p>
                      <a:pPr>
                        <a:buNone/>
                      </a:pPr>
                      <a:r>
                        <a:rPr lang="ja-JP" sz="2800" b="0" dirty="0">
                          <a:solidFill>
                            <a:schemeClr val="tx1"/>
                          </a:solidFill>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ja-JP" sz="2800" b="0" dirty="0">
                          <a:solidFill>
                            <a:schemeClr val="bg1"/>
                          </a:solidFill>
                        </a:rPr>
                        <a:t>Main target</a:t>
                      </a:r>
                    </a:p>
                  </a:txBody>
                  <a:tcPr anchor="ctr">
                    <a:solidFill>
                      <a:schemeClr val="tx1"/>
                    </a:solidFill>
                  </a:tcPr>
                </a:tc>
                <a:tc>
                  <a:txBody>
                    <a:bodyPr/>
                    <a:lstStyle/>
                    <a:p>
                      <a:pPr>
                        <a:buNone/>
                      </a:pPr>
                      <a:r>
                        <a:rPr lang="ja-JP" sz="2800" b="0" dirty="0">
                          <a:solidFill>
                            <a:schemeClr val="tx1"/>
                          </a:solidFill>
                        </a:rPr>
                        <a:t>Optical terminals / spacecraft structures</a:t>
                      </a:r>
                    </a:p>
                  </a:txBody>
                  <a:tcPr anchor="ctr">
                    <a:solidFill>
                      <a:schemeClr val="bg1">
                        <a:lumMod val="95000"/>
                      </a:schemeClr>
                    </a:solidFill>
                  </a:tcPr>
                </a:tc>
                <a:tc>
                  <a:txBody>
                    <a:bodyPr/>
                    <a:lstStyle/>
                    <a:p>
                      <a:pPr>
                        <a:buNone/>
                      </a:pPr>
                      <a:r>
                        <a:rPr lang="ja-JP" sz="2800" b="0" dirty="0">
                          <a:solidFill>
                            <a:schemeClr val="tx1"/>
                          </a:solidFill>
                        </a:rPr>
                        <a:t>Cameras / remote-sensing optical systems</a:t>
                      </a:r>
                    </a:p>
                  </a:txBody>
                  <a:tcPr anchor="ctr">
                    <a:solidFill>
                      <a:schemeClr val="bg1">
                        <a:lumMod val="85000"/>
                      </a:schemeClr>
                    </a:solidFill>
                  </a:tcPr>
                </a:tc>
                <a:tc>
                  <a:txBody>
                    <a:bodyPr/>
                    <a:lstStyle/>
                    <a:p>
                      <a:r>
                        <a:rPr lang="ja-JP" altLang="ja-JP" sz="2800" b="0" dirty="0"/>
                        <a:t>STT–LCT relative LOS across the spacecraft bus</a:t>
                      </a: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ja-JP" sz="2800" b="0" dirty="0">
                          <a:solidFill>
                            <a:schemeClr val="bg1"/>
                          </a:solidFill>
                        </a:rPr>
                        <a:t>Evaluation metric</a:t>
                      </a:r>
                    </a:p>
                  </a:txBody>
                  <a:tcPr anchor="ctr">
                    <a:solidFill>
                      <a:schemeClr val="tx1"/>
                    </a:solidFill>
                  </a:tcPr>
                </a:tc>
                <a:tc>
                  <a:txBody>
                    <a:bodyPr/>
                    <a:lstStyle/>
                    <a:p>
                      <a:pPr>
                        <a:buNone/>
                      </a:pPr>
                      <a:r>
                        <a:rPr lang="ja-JP" sz="2800" b="0" dirty="0">
                          <a:solidFill>
                            <a:schemeClr val="tx1"/>
                          </a:solidFill>
                        </a:rPr>
                        <a:t>Thermal stability, pointing error, link establishment</a:t>
                      </a:r>
                    </a:p>
                  </a:txBody>
                  <a:tcPr anchor="ctr">
                    <a:solidFill>
                      <a:schemeClr val="bg1">
                        <a:lumMod val="95000"/>
                      </a:schemeClr>
                    </a:solidFill>
                  </a:tcPr>
                </a:tc>
                <a:tc>
                  <a:txBody>
                    <a:bodyPr/>
                    <a:lstStyle/>
                    <a:p>
                      <a:pPr>
                        <a:buNone/>
                      </a:pPr>
                      <a:r>
                        <a:rPr lang="ja-JP" sz="2800" b="0" dirty="0">
                          <a:solidFill>
                            <a:schemeClr val="tx1"/>
                          </a:solidFill>
                        </a:rPr>
                        <a:t>LOS prediction error, image-pointing accuracy</a:t>
                      </a:r>
                    </a:p>
                  </a:txBody>
                  <a:tcPr anchor="ctr">
                    <a:solidFill>
                      <a:schemeClr val="bg1">
                        <a:lumMod val="85000"/>
                      </a:schemeClr>
                    </a:solidFill>
                  </a:tcPr>
                </a:tc>
                <a:tc>
                  <a:txBody>
                    <a:bodyPr/>
                    <a:lstStyle/>
                    <a:p>
                      <a:pPr>
                        <a:buNone/>
                      </a:pPr>
                      <a:r>
                        <a:rPr lang="ja-JP" sz="2800" b="0" dirty="0">
                          <a:solidFill>
                            <a:schemeClr val="tx1"/>
                          </a:solidFill>
                        </a:rPr>
                        <a:t>Coarse-acquisition time and success rate</a:t>
                      </a: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ja-JP" sz="2800" b="0" dirty="0">
                          <a:solidFill>
                            <a:schemeClr val="bg1"/>
                          </a:solidFill>
                        </a:rPr>
                        <a:t>Remaining gap</a:t>
                      </a:r>
                    </a:p>
                  </a:txBody>
                  <a:tcPr anchor="ctr">
                    <a:solidFill>
                      <a:schemeClr val="tx1"/>
                    </a:solidFill>
                  </a:tcPr>
                </a:tc>
                <a:tc>
                  <a:txBody>
                    <a:bodyPr/>
                    <a:lstStyle/>
                    <a:p>
                      <a:pPr>
                        <a:buNone/>
                      </a:pPr>
                      <a:r>
                        <a:rPr lang="ja-JP" sz="2800" b="0" dirty="0">
                          <a:solidFill>
                            <a:schemeClr val="tx1"/>
                          </a:solidFill>
                        </a:rPr>
                        <a:t>Limited frameworks for </a:t>
                      </a:r>
                      <a:r>
                        <a:rPr lang="ja-JP" sz="2800" b="1" dirty="0">
                          <a:solidFill>
                            <a:schemeClr val="tx1"/>
                          </a:solidFill>
                        </a:rPr>
                        <a:t>predicting residual thermal LOS error during operations</a:t>
                      </a:r>
                    </a:p>
                  </a:txBody>
                  <a:tcPr anchor="ctr">
                    <a:solidFill>
                      <a:schemeClr val="bg1">
                        <a:lumMod val="95000"/>
                      </a:schemeClr>
                    </a:solidFill>
                  </a:tcPr>
                </a:tc>
                <a:tc>
                  <a:txBody>
                    <a:bodyPr/>
                    <a:lstStyle/>
                    <a:p>
                      <a:pPr>
                        <a:buNone/>
                      </a:pPr>
                      <a:r>
                        <a:rPr lang="ja-JP" altLang="en-US" sz="2800" b="0" dirty="0">
                          <a:solidFill>
                            <a:schemeClr val="tx1"/>
                          </a:solidFill>
                        </a:rPr>
                        <a:t>Not linked to </a:t>
                      </a:r>
                      <a:r>
                        <a:rPr lang="ja-JP" altLang="ja-JP" sz="2800" b="1" dirty="0">
                          <a:solidFill>
                            <a:schemeClr val="tx1"/>
                          </a:solidFill>
                        </a:rPr>
                        <a:t>spacecraft-bus LOS error or coarse-acquisition performance</a:t>
                      </a:r>
                    </a:p>
                  </a:txBody>
                  <a:tcPr anchor="ctr">
                    <a:solidFill>
                      <a:schemeClr val="bg1">
                        <a:lumMod val="85000"/>
                      </a:schemeClr>
                    </a:solidFill>
                  </a:tcPr>
                </a:tc>
                <a:tc>
                  <a:txBody>
                    <a:bodyPr/>
                    <a:lstStyle/>
                    <a:p>
                      <a:pPr>
                        <a:buNone/>
                      </a:pPr>
                      <a:r>
                        <a:rPr lang="ja-JP" sz="2800" b="0" dirty="0">
                          <a:solidFill>
                            <a:schemeClr val="tx1"/>
                          </a:solidFill>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ja-JP" altLang="en-US" dirty="0"/>
              <a:t>References:</a:t>
            </a:r>
            <a:endParaRPr lang="en-US" altLang="ja-JP" dirty="0"/>
          </a:p>
          <a:p>
            <a:pPr marL="342900" lvl="0" indent="-342900">
              <a:buFont typeface="Arial" panose="020B0604020202020204" pitchFamily="34" charset="0"/>
              <a:buChar char="•"/>
            </a:pPr>
            <a:r>
              <a:rPr lang="ja-JP" altLang="ja-JP" dirty="0"/>
              <a:t>Optical comm.: Shi et al. 2023; Zhang et al. 2025</a:t>
            </a:r>
          </a:p>
          <a:p>
            <a:pPr marL="342900" lvl="0" indent="-342900">
              <a:buFont typeface="Arial" panose="020B0604020202020204" pitchFamily="34" charset="0"/>
              <a:buChar char="•"/>
            </a:pPr>
            <a:r>
              <a:rPr lang="ja-JP" altLang="ja-JP" dirty="0"/>
              <a:t>EO</a:t>
            </a:r>
            <a:r>
              <a:rPr lang="ja-JP" altLang="en-US" dirty="0"/>
              <a:t>/optics</a:t>
            </a:r>
            <a:r>
              <a:rPr lang="ja-JP" altLang="ja-JP" dirty="0"/>
              <a:t>: Li et al. 2025; Hu et al. 2022</a:t>
            </a:r>
            <a:r>
              <a:rPr lang="en-US" altLang="ja-JP" dirty="0"/>
              <a:t>; </a:t>
            </a:r>
            <a:r>
              <a:rPr lang="ja-JP" altLang="ja-JP" dirty="0"/>
              <a:t>Turella et al. 2019/2021</a:t>
            </a: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ja-JP" altLang="ja-JP" sz="3200" b="1" dirty="0"/>
              <a:t>From structural mitigation to instrument-specific LOS correction, this study develops a physics-based bus-level LOS model for coarse optical acquisition.</a:t>
            </a:r>
            <a:endParaRPr lang="ja-JP" altLang="en-US" sz="32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4847141" cy="547842"/>
          </a:xfrm>
          <a:prstGeom prst="rect">
            <a:avLst/>
          </a:prstGeom>
          <a:noFill/>
        </p:spPr>
        <p:txBody>
          <a:bodyPr wrap="none" lIns="36576" tIns="27432" rIns="36576" bIns="27432" anchor="t">
            <a:spAutoFit/>
          </a:bodyPr>
          <a:lstStyle/>
          <a:p>
            <a:r>
              <a:rPr lang="ja-JP" altLang="en-US" sz="3200" b="1" dirty="0"/>
              <a:t>Research overview: from thermoelastic truth generation and model construction to evaluation</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Reduced-order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Ground model development</a:t>
            </a:r>
            <a:endParaRPr sz="2700" b="1" dirty="0">
              <a:solidFill>
                <a:srgbClr val="082B52"/>
              </a:solidFill>
              <a:latin typeface="Yu Gothic"/>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ja-JP" sz="2800" dirty="0"/>
              <a:t>Input orbit, attitude, and thermal environment</a:t>
            </a:r>
            <a:endParaRPr lang="en-US" altLang="ja-JP" sz="2800" dirty="0"/>
          </a:p>
          <a:p>
            <a:pPr>
              <a:spcAft>
                <a:spcPts val="800"/>
              </a:spcAft>
            </a:pPr>
            <a:r>
              <a:rPr lang="en-US" altLang="ja-JP" sz="2800" b="1" dirty="0">
                <a:solidFill>
                  <a:srgbClr val="1B74AA"/>
                </a:solidFill>
                <a:latin typeface="Yu Gothic"/>
              </a:rPr>
              <a:t>• </a:t>
            </a:r>
            <a:r>
              <a:rPr lang="ja-JP" altLang="ja-JP" sz="2800" dirty="0"/>
              <a:t>Compute temperature fields and thermoelastic deformation with TD/Femap</a:t>
            </a:r>
            <a:endParaRPr lang="en-US" altLang="ja-JP" sz="2800" dirty="0"/>
          </a:p>
          <a:p>
            <a:pPr>
              <a:spcAft>
                <a:spcPts val="800"/>
              </a:spcAft>
            </a:pPr>
            <a:r>
              <a:rPr lang="en-US" altLang="ja-JP" sz="2800" b="1" dirty="0">
                <a:solidFill>
                  <a:srgbClr val="1B74AA"/>
                </a:solidFill>
                <a:latin typeface="Yu Gothic"/>
              </a:rPr>
              <a:t>• </a:t>
            </a:r>
            <a:r>
              <a:rPr lang="ja-JP" altLang="ja-JP" sz="2800" dirty="0"/>
              <a:t>Generate reference STT–LCT relative-LOS time series</a:t>
            </a:r>
            <a:endParaRPr lang="en-US" altLang="ja-JP" sz="2800" dirty="0"/>
          </a:p>
          <a:p>
            <a:pPr>
              <a:spcAft>
                <a:spcPts val="800"/>
              </a:spcAft>
            </a:pPr>
            <a:r>
              <a:rPr lang="en-US" altLang="ja-JP" sz="2800" b="1" dirty="0">
                <a:solidFill>
                  <a:srgbClr val="1B74AA"/>
                </a:solidFill>
                <a:latin typeface="Yu Gothic"/>
              </a:rPr>
              <a:t>• </a:t>
            </a:r>
            <a:r>
              <a:rPr lang="ja-JP" altLang="ja-JP" sz="2800" dirty="0"/>
              <a:t>Train and evaluate the reduced-order model</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On-orbit correction</a:t>
            </a:r>
            <a:endParaRPr sz="2700" b="1" dirty="0">
              <a:solidFill>
                <a:srgbClr val="1B74AA"/>
              </a:solidFill>
              <a:latin typeface="Yu Gothic"/>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Temperature / operating state</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Predict thermal LOS</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Correct the scan center</a:t>
            </a:r>
            <a:endParaRPr lang="en-US" altLang="ja-JP" sz="2600" dirty="0">
              <a:solidFill>
                <a:srgbClr val="232B34"/>
              </a:solidFill>
              <a:latin typeface="Yu Gothic"/>
            </a:endParaRPr>
          </a:p>
          <a:p>
            <a:pPr>
              <a:spcAft>
                <a:spcPts val="800"/>
              </a:spcAft>
            </a:pPr>
            <a:r>
              <a:rPr lang="en-US" altLang="ja-JP" sz="2600" dirty="0">
                <a:solidFill>
                  <a:srgbClr val="1B74AA"/>
                </a:solidFill>
                <a:latin typeface="Yu Gothic"/>
              </a:rPr>
              <a:t>• </a:t>
            </a:r>
            <a:r>
              <a:rPr lang="ja-JP" altLang="en-US" sz="2600" dirty="0">
                <a:solidFill>
                  <a:srgbClr val="232B34"/>
                </a:solidFill>
                <a:latin typeface="Yu Gothic"/>
              </a:rPr>
              <a:t>Include nonthermal errors</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Residual update</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ja-JP" sz="3200" b="1" dirty="0"/>
              <a:t>TD/Femap runs only on the ground; only the reduced-order model runs onboard</a:t>
            </a:r>
            <a:endParaRPr lang="en-US" altLang="ja-JP" sz="3200" b="1" dirty="0"/>
          </a:p>
          <a:p>
            <a:r>
              <a:rPr lang="en-US" altLang="ja-JP" sz="3200" b="1" dirty="0">
                <a:solidFill>
                  <a:srgbClr val="1B74AA"/>
                </a:solidFill>
                <a:latin typeface="Yu Gothic"/>
              </a:rPr>
              <a:t>• </a:t>
            </a:r>
            <a:r>
              <a:rPr lang="ja-JP" altLang="en-US" sz="3200" b="1" dirty="0"/>
              <a:t>Evaluate LOS error, acquisition success, and acquisition time</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 Orbit</a:t>
            </a:r>
            <a:endParaRPr kumimoji="1" lang="en-US" altLang="ja-JP" sz="2800" dirty="0"/>
          </a:p>
          <a:p>
            <a:r>
              <a:rPr kumimoji="1" lang="ja-JP" altLang="en-US" sz="2800" dirty="0"/>
              <a:t>• Attitude</a:t>
            </a:r>
            <a:endParaRPr kumimoji="1" lang="en-US" altLang="ja-JP" sz="2800" dirty="0"/>
          </a:p>
          <a:p>
            <a:r>
              <a:rPr kumimoji="1" lang="ja-JP" altLang="en-US" sz="2800" dirty="0"/>
              <a:t>• Equipment layout</a:t>
            </a:r>
            <a:endParaRPr kumimoji="1" lang="en-US" altLang="ja-JP" sz="2800" dirty="0"/>
          </a:p>
          <a:p>
            <a:r>
              <a:rPr kumimoji="1" lang="ja-JP" altLang="en-US" sz="2800" dirty="0"/>
              <a:t>• Surface properties</a:t>
            </a:r>
            <a:endParaRPr kumimoji="1" lang="en-US" altLang="ja-JP" sz="2800" dirty="0"/>
          </a:p>
          <a:p>
            <a:r>
              <a:rPr kumimoji="1" lang="ja-JP" altLang="en-US" sz="2800" dirty="0"/>
              <a:t>• Dissipation</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8"/>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ja-JP" altLang="en-US" sz="2000" b="0" dirty="0">
                <a:solidFill>
                  <a:srgbClr val="666F79"/>
                </a:solidFill>
                <a:latin typeface="Yu Gothic"/>
                <a:ea typeface="Yu Gothic"/>
              </a:rPr>
              <a:t>Background</a:t>
            </a:r>
            <a:endParaRPr sz="2000" b="0" dirty="0">
              <a:solidFill>
                <a:srgbClr val="666F79"/>
              </a:solidFill>
              <a:latin typeface="Yu Gothic"/>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6" y="5721775"/>
            <a:ext cx="2189830"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Thermoelastic analysis</a:t>
            </a:r>
            <a:endParaRPr sz="3300" b="1" dirty="0">
              <a:solidFill>
                <a:srgbClr val="FFFFFF"/>
              </a:solidFill>
              <a:latin typeface="Yu Gothic"/>
            </a:endParaRP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We evaluate a box-structure LEO spacecraft with the STT and LCT on different panels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sz="2300" b="1">
                          <a:solidFill>
                            <a:srgbClr val="FFFFFF"/>
                          </a:solidFill>
                          <a:latin typeface="Yu Gothic"/>
                          <a:ea typeface="Yu Gothic"/>
                        </a:rPr>
                        <a:t>Item</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sz="2300" b="0">
                          <a:solidFill>
                            <a:srgbClr val="232B34"/>
                          </a:solidFill>
                          <a:latin typeface="Yu Gothic"/>
                          <a:ea typeface="Yu Gothic"/>
                        </a:rPr>
                        <a:t>Bus dimensions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sz="2300" b="0">
                          <a:solidFill>
                            <a:srgbClr val="232B34"/>
                          </a:solidFill>
                          <a:latin typeface="Yu Gothic"/>
                          <a:ea typeface="Yu Gothic"/>
                        </a:rPr>
                        <a:t>Panels</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10-mm-thick shell elements</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sz="23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sz="2300" b="0">
                          <a:solidFill>
                            <a:srgbClr val="232B34"/>
                          </a:solidFill>
                          <a:latin typeface="Yu Gothic"/>
                          <a:ea typeface="Yu Gothic"/>
                        </a:rPr>
                        <a:t>LCT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Center of MZ panel</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sz="2300" b="0">
                          <a:solidFill>
                            <a:srgbClr val="232B34"/>
                          </a:solidFill>
                          <a:latin typeface="Yu Gothic"/>
                          <a:ea typeface="Yu Gothic"/>
                        </a:rPr>
                        <a:t>STT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371600"/>
          </a:xfrm>
          <a:prstGeom prst="rect">
            <a:avLst/>
          </a:prstGeom>
          <a:noFill/>
        </p:spPr>
        <p:txBody>
          <a:bodyPr wrap="square" lIns="36576" tIns="27432" rIns="36576" bIns="27432" anchor="t">
            <a:spAutoFit/>
          </a:bodyPr>
          <a:lstStyle/>
          <a:p>
            <a:pPr>
              <a:lnSpc>
                <a:spcPct val="115000"/>
              </a:lnSpc>
              <a:spcAft>
                <a:spcPts val="0"/>
              </a:spcAft>
            </a:pPr>
            <a:r>
              <a:rPr sz="2400" b="1">
                <a:solidFill>
                  <a:srgbClr val="082B52"/>
                </a:solidFill>
                <a:latin typeface="Yu Gothic"/>
                <a:ea typeface="Yu Gothic"/>
              </a:rPr>
              <a:t>Not a specific-spacecraft design review.</a:t>
            </a:r>
            <a:endParaRPr lang="en-US" altLang="ja-JP" sz="3200" b="1" dirty="0">
              <a:solidFill>
                <a:srgbClr val="082B52"/>
              </a:solidFill>
              <a:latin typeface="Yu Gothic"/>
            </a:endParaRPr>
          </a:p>
          <a:p>
            <a:pPr>
              <a:lnSpc>
                <a:spcPct val="115000"/>
              </a:lnSpc>
              <a:spcAft>
                <a:spcPts val="0"/>
              </a:spcAft>
            </a:pPr>
            <a:r>
              <a:rPr sz="2400" b="1">
                <a:solidFill>
                  <a:srgbClr val="082B52"/>
                </a:solidFill>
                <a:latin typeface="Yu Gothic"/>
                <a:ea typeface="Yu Gothic"/>
              </a:rPr>
              <a:t>Fixed structure; sun face and dissipation vary.</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pPr>
              <a:spcAft>
                <a:spcPts val="0"/>
              </a:spcAft>
            </a:pPr>
            <a:r>
              <a:rPr sz="2300" b="1">
                <a:solidFill>
                  <a:srgbClr val="232B34"/>
                </a:solidFill>
                <a:latin typeface="Yu Gothic"/>
                <a:ea typeface="Yu Gothic"/>
              </a:rPr>
              <a:t>LOS</a:t>
            </a:r>
          </a:p>
          <a:p>
            <a:pPr>
              <a:spcAft>
                <a:spcPts val="0"/>
              </a:spcAft>
            </a:pPr>
            <a:r>
              <a:rPr sz="2300" b="1">
                <a:solidFill>
                  <a:srgbClr val="232B34"/>
                </a:solidFill>
                <a:latin typeface="Yu Gothic"/>
                <a:ea typeface="Yu Gothic"/>
              </a:rPr>
              <a:t>Boresight ≈ −Z</a:t>
            </a: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analysis-model settings</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Thermal Desktop generates temperature-field time series from orbit, attitude, surface, and dissipation inputs</a:t>
            </a:r>
            <a:endParaRPr lang="en-US" sz="3200" b="1" dirty="0">
              <a:solidFill>
                <a:srgbClr val="082B52"/>
              </a:solidFill>
              <a:latin typeface="Yu Gothic"/>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8</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sz="2300" b="1">
                          <a:solidFill>
                            <a:srgbClr val="FFFFFF"/>
                          </a:solidFill>
                          <a:latin typeface="Yu Gothic"/>
                          <a:ea typeface="Yu Gothic"/>
                        </a:rPr>
                        <a:t>Input</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sz="2300" b="0">
                          <a:solidFill>
                            <a:srgbClr val="232B34"/>
                          </a:solidFill>
                          <a:latin typeface="Yu Gothic"/>
                          <a:ea typeface="Yu Gothic"/>
                        </a:rPr>
                        <a:t>Orbit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Sun-synchronous, 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sz="2300" b="0">
                          <a:solidFill>
                            <a:srgbClr val="232B34"/>
                          </a:solidFill>
                          <a:latin typeface="Yu Gothic"/>
                          <a:ea typeface="Yu Gothic"/>
                        </a:rPr>
                        <a:t>Period</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sz="2300" b="0">
                          <a:solidFill>
                            <a:srgbClr val="232B34"/>
                          </a:solidFill>
                          <a:latin typeface="Yu Gothic"/>
                          <a:ea typeface="Yu Gothic"/>
                        </a:rPr>
                        <a:t>Analysis duration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sz="2300" b="0">
                          <a:solidFill>
                            <a:srgbClr val="232B34"/>
                          </a:solidFill>
                          <a:latin typeface="Yu Gothic"/>
                          <a:ea typeface="Yu Gothic"/>
                        </a:rPr>
                        <a:t>Sampling</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Every ≈60.5 s, 301 points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sz="2300" b="0">
                          <a:solidFill>
                            <a:srgbClr val="232B34"/>
                          </a:solidFill>
                          <a:latin typeface="Yu Gothic"/>
                          <a:ea typeface="Yu Gothic"/>
                        </a:rPr>
                        <a:t>Illumination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Eclipse / continuous illumination</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sz="2300" b="0">
                          <a:solidFill>
                            <a:srgbClr val="232B34"/>
                          </a:solidFill>
                          <a:latin typeface="Yu Gothic"/>
                          <a:ea typeface="Yu Gothic"/>
                        </a:rPr>
                        <a:t>Sun face</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sz="2300" b="0">
                          <a:solidFill>
                            <a:srgbClr val="232B34"/>
                          </a:solidFill>
                          <a:latin typeface="Yu Gothic"/>
                          <a:ea typeface="Yu Gothic"/>
                        </a:rPr>
                        <a:t>Number of nodes</a:t>
                      </a:r>
                      <a:endParaRPr sz="2300" b="0" dirty="0">
                        <a:solidFill>
                          <a:srgbClr val="232B34"/>
                        </a:solidFill>
                        <a:latin typeface="Yu Gothic"/>
                      </a:endParaRPr>
                    </a:p>
                  </a:txBody>
                  <a:tcPr marL="64008" marR="64008" marT="27432" marB="27432" anchor="ctr">
                    <a:solidFill>
                      <a:schemeClr val="bg1"/>
                    </a:solidFill>
                  </a:tcPr>
                </a:tc>
                <a:tc>
                  <a:txBody>
                    <a:bodyPr/>
                    <a:lstStyle/>
                    <a:p>
                      <a:pPr algn="ctr">
                        <a:spcAft>
                          <a:spcPts val="0"/>
                        </a:spcAft>
                      </a:pPr>
                      <a:r>
                        <a:rPr sz="2300" b="0">
                          <a:solidFill>
                            <a:srgbClr val="232B34"/>
                          </a:solidFill>
                          <a:latin typeface="Yu Gothic"/>
                          <a:ea typeface="Yu Gothic"/>
                        </a:rPr>
                        <a:t>125</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Environmental conditions varied by case</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lnSpc>
                <a:spcPct val="110000"/>
              </a:lnSpc>
              <a:spcAft>
                <a:spcPts val="800"/>
              </a:spcAft>
            </a:pPr>
            <a:r>
              <a:rPr sz="2400" b="0">
                <a:solidFill>
                  <a:srgbClr val="232B34"/>
                </a:solidFill>
                <a:latin typeface="Yu Gothic"/>
                <a:ea typeface="Yu Gothic"/>
              </a:rPr>
              <a:t>• Internal-unit power: ON/OFF</a:t>
            </a:r>
            <a:endParaRPr sz="2600" dirty="0">
              <a:solidFill>
                <a:srgbClr val="232B34"/>
              </a:solidFill>
              <a:latin typeface="Yu Gothic"/>
            </a:endParaRPr>
          </a:p>
          <a:p>
            <a:pPr>
              <a:lnSpc>
                <a:spcPct val="110000"/>
              </a:lnSpc>
              <a:spcAft>
                <a:spcPts val="800"/>
              </a:spcAft>
            </a:pPr>
            <a:r>
              <a:rPr sz="2400" b="0">
                <a:solidFill>
                  <a:srgbClr val="232B34"/>
                </a:solidFill>
                <a:latin typeface="Yu Gothic"/>
                <a:ea typeface="Yu Gothic"/>
              </a:rPr>
              <a:t>• Surface: α = ε = 0.5 / Black / Alodine</a:t>
            </a:r>
          </a:p>
          <a:p>
            <a:pPr>
              <a:lnSpc>
                <a:spcPct val="110000"/>
              </a:lnSpc>
              <a:spcAft>
                <a:spcPts val="800"/>
              </a:spcAft>
            </a:pPr>
            <a:r>
              <a:rPr sz="2400" b="0">
                <a:solidFill>
                  <a:srgbClr val="232B34"/>
                </a:solidFill>
                <a:latin typeface="Yu Gothic"/>
                <a:ea typeface="Yu Gothic"/>
              </a:rPr>
              <a:t>• Orbit: LTAN18 / 693 km</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thermal-analysis inputs</a:t>
            </a:r>
            <a:endParaRPr kumimoji="1" lang="ja-JP" altLang="en-US" sz="2800" dirty="0"/>
          </a:p>
        </p:txBody>
      </p:sp>
      <p:sp>
        <p:nvSpPr>
          <p:cNvPr id="16" name="TextBox 15"/>
          <p:cNvSpPr txBox="1"/>
          <p:nvPr/>
        </p:nvSpPr>
        <p:spPr>
          <a:xfrm>
            <a:off x="1335024" y="11978640"/>
            <a:ext cx="109728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Output: panel temperature field T(t), computed on the ground.</a:t>
            </a: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temperature field is mapped into Femap to obtain STT and LCT translations and rotations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9</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sz="2200" b="1">
                          <a:solidFill>
                            <a:srgbClr val="FFFFFF"/>
                          </a:solidFill>
                          <a:latin typeface="Yu Gothic"/>
                          <a:ea typeface="Yu Gothic"/>
                        </a:rPr>
                        <a:t>Structural-analysis setting</a:t>
                      </a:r>
                    </a:p>
                  </a:txBody>
                  <a:tcPr marL="64008" marR="64008" marT="27432" marB="27432" anchor="ctr">
                    <a:solidFill>
                      <a:srgbClr val="082B52"/>
                    </a:solidFill>
                  </a:tcPr>
                </a:tc>
                <a:tc>
                  <a:txBody>
                    <a:bodyPr/>
                    <a:lstStyle/>
                    <a:p>
                      <a:pPr algn="ctr">
                        <a:spcAft>
                          <a:spcPts val="0"/>
                        </a:spcAft>
                      </a:pPr>
                      <a:r>
                        <a:rPr sz="2200" b="1">
                          <a:solidFill>
                            <a:srgbClr val="FFFFFF"/>
                          </a:solidFill>
                          <a:latin typeface="Yu Gothic"/>
                          <a:ea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sz="22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Aluminum A5052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sz="2200" b="0">
                          <a:solidFill>
                            <a:srgbClr val="232B34"/>
                          </a:solidFill>
                          <a:latin typeface="Yu Gothic"/>
                          <a:ea typeface="Yu Gothic"/>
                        </a:rPr>
                        <a:t>Young's modulus</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sz="2200" b="0">
                          <a:solidFill>
                            <a:srgbClr val="232B34"/>
                          </a:solidFill>
                          <a:latin typeface="Yu Gothic"/>
                          <a:ea typeface="Yu Gothic"/>
                        </a:rPr>
                        <a:t>Poisson's ratio</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sz="2200" b="0">
                          <a:solidFill>
                            <a:srgbClr val="232B34"/>
                          </a:solidFill>
                          <a:latin typeface="Yu Gothic"/>
                          <a:ea typeface="Yu Gothic"/>
                        </a:rPr>
                        <a:t>Coefficient of thermal expansion</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sz="2200" b="0">
                          <a:solidFill>
                            <a:srgbClr val="232B34"/>
                          </a:solidFill>
                          <a:latin typeface="Yu Gothic"/>
                          <a:ea typeface="Yu Gothic"/>
                        </a:rPr>
                        <a:t>Density</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sz="2200" b="0">
                          <a:solidFill>
                            <a:srgbClr val="232B34"/>
                          </a:solidFill>
                          <a:latin typeface="Yu Gothic"/>
                          <a:ea typeface="Yu Gothic"/>
                        </a:rPr>
                        <a:t>Reference temperature</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23.9 ℃</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sz="2200" b="0">
                          <a:solidFill>
                            <a:srgbClr val="232B34"/>
                          </a:solidFill>
                          <a:latin typeface="Yu Gothic"/>
                          <a:ea typeface="Yu Gothic"/>
                        </a:rPr>
                        <a:t>Constraint</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structural-analysis settings</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pPr>
              <a:spcAft>
                <a:spcPts val="0"/>
              </a:spcAft>
            </a:pPr>
            <a:r>
              <a:rPr sz="2200" b="1">
                <a:solidFill>
                  <a:srgbClr val="1B74AA"/>
                </a:solidFill>
                <a:latin typeface="Yu Gothic"/>
                <a:ea typeface="Yu Gothic"/>
              </a:rPr>
              <a:t>Input T(t)</a:t>
            </a:r>
          </a:p>
        </p:txBody>
      </p:sp>
      <p:sp>
        <p:nvSpPr>
          <p:cNvPr id="22" name="TextBox 21"/>
          <p:cNvSpPr txBox="1"/>
          <p:nvPr/>
        </p:nvSpPr>
        <p:spPr>
          <a:xfrm>
            <a:off x="1197864" y="11887200"/>
            <a:ext cx="114300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Thermal Desktop and Femap generate training data on the ground.</a:t>
            </a: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For a far-field link, the relevant quantity is rotation of the LCT optical axis relative to the STT</a:t>
            </a:r>
            <a:endParaRPr lang="en-US"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10</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566928"/>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LOS-error definition</a:t>
            </a:r>
            <a:endParaRPr sz="2800" b="1" dirty="0">
              <a:solidFill>
                <a:srgbClr val="1B74AA"/>
              </a:solidFill>
              <a:latin typeface="Yu Gothic"/>
            </a:endParaRPr>
          </a:p>
        </p:txBody>
      </p:sp>
      <p:sp>
        <p:nvSpPr>
          <p:cNvPr id="9" name="TextBox 8"/>
          <p:cNvSpPr txBox="1"/>
          <p:nvPr/>
        </p:nvSpPr>
        <p:spPr>
          <a:xfrm>
            <a:off x="16001999" y="4297680"/>
            <a:ext cx="7040879" cy="2377440"/>
          </a:xfrm>
          <a:prstGeom prst="rect">
            <a:avLst/>
          </a:prstGeom>
          <a:noFill/>
        </p:spPr>
        <p:txBody>
          <a:bodyPr wrap="square" lIns="27432" rIns="27432">
            <a:spAutoFit/>
          </a:bodyPr>
          <a:lstStyle/>
          <a:p>
            <a:pPr>
              <a:lnSpc>
                <a:spcPct val="110000"/>
              </a:lnSpc>
              <a:spcAft>
                <a:spcPts val="800"/>
              </a:spcAft>
            </a:pPr>
            <a:r>
              <a:rPr sz="2200" b="0">
                <a:solidFill>
                  <a:srgbClr val="232B34"/>
                </a:solidFill>
                <a:latin typeface="Yu Gothic"/>
                <a:ea typeface="Yu Gothic"/>
              </a:rPr>
              <a:t>• LCT optical-axis rotation − STT reference rotation</a:t>
            </a:r>
            <a:endParaRPr lang="en-US" sz="2400" dirty="0">
              <a:solidFill>
                <a:srgbClr val="232B34"/>
              </a:solidFill>
              <a:latin typeface="Yu Gothic"/>
            </a:endParaRPr>
          </a:p>
          <a:p>
            <a:pPr>
              <a:lnSpc>
                <a:spcPct val="110000"/>
              </a:lnSpc>
              <a:spcAft>
                <a:spcPts val="800"/>
              </a:spcAft>
            </a:pPr>
            <a:r>
              <a:rPr sz="2200" b="0">
                <a:solidFill>
                  <a:srgbClr val="232B34"/>
                </a:solidFill>
                <a:latin typeface="Yu Gothic"/>
                <a:ea typeface="Yu Gothic"/>
              </a:rPr>
              <a:t>• STT thermal rotation is absorbed into attitude</a:t>
            </a:r>
          </a:p>
          <a:p>
            <a:pPr>
              <a:lnSpc>
                <a:spcPct val="110000"/>
              </a:lnSpc>
              <a:spcAft>
                <a:spcPts val="800"/>
              </a:spcAft>
            </a:pPr>
            <a:r>
              <a:rPr sz="2200" b="0">
                <a:solidFill>
                  <a:srgbClr val="232B34"/>
                </a:solidFill>
                <a:latin typeface="Yu Gothic"/>
                <a:ea typeface="Yu Gothic"/>
              </a:rPr>
              <a:t>• Directly gives far-field scan-center error</a:t>
            </a:r>
          </a:p>
          <a:p>
            <a:pPr>
              <a:lnSpc>
                <a:spcPct val="110000"/>
              </a:lnSpc>
              <a:spcAft>
                <a:spcPts val="800"/>
              </a:spcAft>
            </a:pPr>
            <a:r>
              <a:rPr sz="2200" b="0">
                <a:solidFill>
                  <a:srgbClr val="232B34"/>
                </a:solidFill>
                <a:latin typeface="Yu Gothic"/>
                <a:ea typeface="Yu Gothic"/>
              </a:rPr>
              <a:t>• Excludes translation-induced tilt</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1569660"/>
          </a:xfrm>
          <a:prstGeom prst="rect">
            <a:avLst/>
          </a:prstGeom>
          <a:noFill/>
        </p:spPr>
        <p:txBody>
          <a:bodyPr wrap="square">
            <a:spAutoFit/>
          </a:bodyPr>
          <a:lstStyle/>
          <a:p>
            <a:pPr>
              <a:spcAft>
                <a:spcPts val="0"/>
              </a:spcAft>
            </a:pPr>
            <a:r>
              <a:rPr sz="2900" b="1">
                <a:solidFill>
                  <a:srgbClr val="082B52"/>
                </a:solidFill>
                <a:latin typeface="Yu Gothic"/>
                <a:ea typeface="Yu Gothic"/>
              </a:rPr>
              <a:t>Far-field LOS error = STT-relative LCT optical-axis rotation, not translation</a:t>
            </a:r>
            <a:endParaRPr lang="en-US" altLang="ja-JP" sz="3200" b="1" dirty="0">
              <a:solidFill>
                <a:srgbClr val="082B52"/>
              </a:solidFill>
              <a:latin typeface="Yu Gothic"/>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7"/>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structure and LOS definition are fixed; only sun face, dissipation, surface, and orbit vary</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sz="2300" b="1">
                          <a:solidFill>
                            <a:srgbClr val="FFFFFF"/>
                          </a:solidFill>
                          <a:latin typeface="Yu Gothic"/>
                          <a:ea typeface="Yu Gothic"/>
                        </a:rPr>
                        <a:t>Varied factor</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Cases</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sz="2300" b="0">
                          <a:solidFill>
                            <a:srgbClr val="232B34"/>
                          </a:solidFill>
                          <a:latin typeface="Yu Gothic"/>
                          <a:ea typeface="Yu Gothic"/>
                        </a:rPr>
                        <a:t>Sun face</a:t>
                      </a:r>
                      <a:endParaRPr sz="2300" b="0" dirty="0">
                        <a:solidFill>
                          <a:srgbClr val="232B34"/>
                        </a:solidFill>
                        <a:latin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Dominant axis, sign, and magnitude</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sz="2300" b="0">
                          <a:solidFill>
                            <a:srgbClr val="232B34"/>
                          </a:solidFill>
                          <a:latin typeface="Yu Gothic"/>
                          <a:ea typeface="Yu Gothic"/>
                        </a:rPr>
                        <a:t>Internal dissipation</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STT/LCT only / +PROP / +PCDU / all units (one half-power case)</a:t>
                      </a: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Variation in mean bias across cases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sz="2300" b="0">
                          <a:solidFill>
                            <a:srgbClr val="232B34"/>
                          </a:solidFill>
                          <a:latin typeface="Yu Gothic"/>
                          <a:ea typeface="Yu Gothic"/>
                        </a:rPr>
                        <a:t>Surface properties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Baseline (α = ε = 0.5) / Black / Alodine</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Variation amplitude and residual floor</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sz="2300" b="0">
                          <a:solidFill>
                            <a:srgbClr val="232B34"/>
                          </a:solidFill>
                          <a:latin typeface="Yu Gothic"/>
                          <a:ea typeface="Yu Gothic"/>
                        </a:rPr>
                        <a:t>Orbit / thermal environment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Eclipse / continuous illumination; LTAN06 / LTAN18</a:t>
                      </a:r>
                      <a:endParaRPr sz="23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Applicability across thermal and orbit conditions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sz="2200" b="0" dirty="0">
                <a:solidFill>
                  <a:srgbClr val="D03B46"/>
                </a:solidFill>
                <a:latin typeface="Yu Gothic"/>
                <a:ea typeface="Yu Gothic"/>
              </a:rPr>
              <a:t>PZ/MZ sun-face cases are not included;</a:t>
            </a:r>
            <a:endParaRPr lang="en-US" sz="2200" b="0" dirty="0">
              <a:solidFill>
                <a:srgbClr val="D03B46"/>
              </a:solidFill>
              <a:latin typeface="Yu Gothic"/>
              <a:ea typeface="Yu Gothic"/>
            </a:endParaRPr>
          </a:p>
          <a:p>
            <a:pPr>
              <a:spcAft>
                <a:spcPts val="0"/>
              </a:spcAft>
            </a:pPr>
            <a:r>
              <a:rPr sz="2200" b="0" dirty="0" err="1">
                <a:solidFill>
                  <a:srgbClr val="D03B46"/>
                </a:solidFill>
                <a:latin typeface="Yu Gothic"/>
                <a:ea typeface="Yu Gothic"/>
              </a:rPr>
              <a:t>they host the STT/LCT and are outside this model's scope.</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Case parameters</a:t>
            </a: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sz="2500" b="1" dirty="0" err="1">
                <a:solidFill>
                  <a:srgbClr val="082B52"/>
                </a:solidFill>
                <a:latin typeface="Yu Gothic"/>
                <a:ea typeface="Yu Gothic"/>
              </a:rPr>
              <a:t>Fixed parameters: structure and dimensions, STT/LCT placement, material, and LOS definition</a:t>
            </a:r>
            <a:endParaRPr sz="2500" b="1" dirty="0">
              <a:solidFill>
                <a:srgbClr val="082B52"/>
              </a:solidFill>
              <a:latin typeface="Yu Gothic"/>
              <a:ea typeface="Yu Gothic"/>
            </a:endParaRPr>
          </a:p>
          <a:p>
            <a:pPr algn="l">
              <a:lnSpc>
                <a:spcPct val="120000"/>
              </a:lnSpc>
              <a:spcAft>
                <a:spcPts val="0"/>
              </a:spcAft>
            </a:pPr>
            <a:r>
              <a:rPr lang="ja-JP" altLang="en-US" sz="2500" b="1" dirty="0">
                <a:solidFill>
                  <a:srgbClr val="082B52"/>
                </a:solidFill>
                <a:latin typeface="Yu Gothic"/>
                <a:ea typeface="Yu Gothic"/>
              </a:rPr>
              <a:t>Current analysis: 21 cases.</a:t>
            </a:r>
            <a:endParaRPr lang="en-US" sz="2500" b="1" dirty="0">
              <a:solidFill>
                <a:srgbClr val="082B52"/>
              </a:solidFill>
              <a:latin typeface="Yu Gothic"/>
              <a:ea typeface="Yu Gothic"/>
            </a:endParaRPr>
          </a:p>
          <a:p>
            <a:pPr algn="l">
              <a:lnSpc>
                <a:spcPct val="120000"/>
              </a:lnSpc>
              <a:spcAft>
                <a:spcPts val="0"/>
              </a:spcAft>
            </a:pPr>
            <a:r>
              <a:rPr lang="en-US" altLang="ja-JP" sz="2500" b="1" dirty="0">
                <a:solidFill>
                  <a:srgbClr val="082B52"/>
                </a:solidFill>
                <a:latin typeface="Yu Gothic"/>
                <a:ea typeface="Yu Gothic"/>
              </a:rPr>
              <a:t>Across-condition evaluation is limited to the same spacecraft bus; coefficients are not transferred unchanged to another structure.</a:t>
            </a:r>
            <a:endParaRPr sz="2500" b="1" dirty="0">
              <a:solidFill>
                <a:srgbClr val="082B52"/>
              </a:solidFill>
              <a:latin typeface="Yu Gothic"/>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ja-JP" altLang="en-US" sz="3200" b="1" dirty="0">
                <a:solidFill>
                  <a:srgbClr val="082B52"/>
                </a:solidFill>
                <a:latin typeface="Yu Gothic"/>
                <a:ea typeface="Yu Gothic"/>
              </a:rPr>
              <a:t>Results: thermal LOS varies at the orbital period; the dominant axis and mean offset follow the sun face</a:t>
            </a:r>
            <a:endParaRPr lang="en-US" sz="3200" b="1" dirty="0">
              <a:solidFill>
                <a:srgbClr val="082B52"/>
              </a:solidFill>
              <a:latin typeface="Yu Gothic"/>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2</a:t>
            </a:r>
            <a:endParaRPr sz="1800" b="0" dirty="0">
              <a:solidFill>
                <a:srgbClr val="666F79"/>
              </a:solidFill>
              <a:latin typeface="Yu Gothic"/>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411480"/>
          </a:xfrm>
          <a:prstGeom prst="rect">
            <a:avLst/>
          </a:prstGeom>
          <a:noFill/>
        </p:spPr>
        <p:txBody>
          <a:bodyPr wrap="square" lIns="36576" tIns="27432" rIns="36576" bIns="27432" anchor="t">
            <a:spAutoFit/>
          </a:bodyPr>
          <a:lstStyle/>
          <a:p>
            <a:pPr algn="ctr">
              <a:spcAft>
                <a:spcPts val="0"/>
              </a:spcAft>
            </a:pPr>
            <a:r>
              <a:rPr sz="2100" b="1">
                <a:solidFill>
                  <a:srgbClr val="1B74AA"/>
                </a:solidFill>
                <a:latin typeface="Yu Gothic"/>
                <a:ea typeface="Yu Gothic"/>
              </a:rPr>
              <a:t>Panel temperatures</a:t>
            </a: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486287"/>
          </a:xfrm>
          <a:prstGeom prst="rect">
            <a:avLst/>
          </a:prstGeom>
          <a:noFill/>
        </p:spPr>
        <p:txBody>
          <a:bodyPr wrap="square" lIns="36576" tIns="27432" rIns="36576" bIns="27432" anchor="t">
            <a:spAutoFit/>
          </a:bodyPr>
          <a:lstStyle/>
          <a:p>
            <a:pPr algn="ctr">
              <a:spcAft>
                <a:spcPts val="0"/>
              </a:spcAft>
            </a:pPr>
            <a:r>
              <a:rPr sz="2100" b="1" dirty="0">
                <a:solidFill>
                  <a:srgbClr val="1B74AA"/>
                </a:solidFill>
                <a:latin typeface="Yu Gothic"/>
                <a:ea typeface="Yu Gothic"/>
              </a:rPr>
              <a:t>Case 04 (MY sun face): 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sz="2800" b="1" dirty="0">
                <a:solidFill>
                  <a:srgbClr val="D03B46"/>
                </a:solidFill>
                <a:latin typeface="Yu Gothic"/>
                <a:ea typeface="Yu Gothic"/>
              </a:rPr>
              <a:t>• </a:t>
            </a:r>
            <a:r>
              <a:rPr sz="2800" b="1" dirty="0" err="1">
                <a:solidFill>
                  <a:srgbClr val="D03B46"/>
                </a:solidFill>
                <a:latin typeface="Yu Gothic"/>
                <a:ea typeface="Yu Gothic"/>
              </a:rPr>
              <a:t>Orbital-period thermal LOS; dominant axis: MY/PY → y, MX/PX → x</a:t>
            </a:r>
            <a:endParaRPr lang="en-US" sz="2800" b="1" dirty="0">
              <a:solidFill>
                <a:srgbClr val="D03B46"/>
              </a:solidFill>
              <a:latin typeface="Yu Gothic"/>
              <a:ea typeface="Yu Gothic"/>
            </a:endParaRPr>
          </a:p>
          <a:p>
            <a:pPr>
              <a:lnSpc>
                <a:spcPct val="105000"/>
              </a:lnSpc>
              <a:spcAft>
                <a:spcPts val="400"/>
              </a:spcAft>
            </a:pPr>
            <a:r>
              <a:rPr lang="en-US" altLang="ja-JP" sz="2800" b="1" dirty="0">
                <a:solidFill>
                  <a:srgbClr val="D03B46"/>
                </a:solidFill>
                <a:latin typeface="Yu Gothic"/>
                <a:ea typeface="Yu Gothic"/>
              </a:rPr>
              <a:t>• </a:t>
            </a:r>
            <a:r>
              <a:rPr lang="ja-JP" altLang="en-US" sz="2800" b="1" dirty="0">
                <a:solidFill>
                  <a:srgbClr val="D03B46"/>
                </a:solidFill>
                <a:latin typeface="Yu Gothic"/>
                <a:ea typeface="Yu Gothic"/>
              </a:rPr>
              <a:t>Dominant-axis variation follows sun-facing–opposite-panel center ΔT</a:t>
            </a:r>
            <a:endParaRPr kumimoji="1" lang="en-US" altLang="ja-JP" sz="2800" b="1" dirty="0">
              <a:solidFill>
                <a:srgbClr val="FF0000"/>
              </a:solidFill>
            </a:endParaRPr>
          </a:p>
          <a:p>
            <a:pPr>
              <a:lnSpc>
                <a:spcPct val="105000"/>
              </a:lnSpc>
              <a:spcAft>
                <a:spcPts val="400"/>
              </a:spcAft>
            </a:pPr>
            <a:r>
              <a:rPr sz="2800" b="1" dirty="0">
                <a:solidFill>
                  <a:srgbClr val="D03B46"/>
                </a:solidFill>
                <a:latin typeface="Yu Gothic"/>
                <a:ea typeface="Yu Gothic"/>
              </a:rPr>
              <a:t>• Raw RMS: 150–1280 µrad; surface sets amplitude/floor, dissipation shifts the case mean</a:t>
            </a: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5" y="5806440"/>
            <a:ext cx="2189831"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Reduced-order model</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3</a:t>
            </a:r>
            <a:endParaRPr sz="1800" b="0" dirty="0">
              <a:solidFill>
                <a:srgbClr val="666F79"/>
              </a:solidFill>
              <a:latin typeface="Yu Gothic"/>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ja-JP" altLang="en-US" sz="2700" b="1" dirty="0">
                <a:solidFill>
                  <a:srgbClr val="082B52"/>
                </a:solidFill>
                <a:latin typeface="Yu Gothic"/>
                <a:ea typeface="Yu Gothic"/>
              </a:rPr>
              <a:t>Model requirements</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lnSpc>
                <a:spcPct val="115000"/>
              </a:lnSpc>
              <a:spcAft>
                <a:spcPts val="3400"/>
              </a:spcAft>
            </a:pPr>
            <a:r>
              <a:rPr sz="2500" b="0">
                <a:solidFill>
                  <a:srgbClr val="232B34"/>
                </a:solidFill>
                <a:latin typeface="Yu Gothic"/>
                <a:ea typeface="Yu Gothic"/>
              </a:rPr>
              <a:t>• No onboard TD/Femap</a:t>
            </a:r>
            <a:endParaRPr sz="2500" dirty="0">
              <a:solidFill>
                <a:srgbClr val="232B34"/>
              </a:solidFill>
              <a:latin typeface="Yu Gothic"/>
            </a:endParaRPr>
          </a:p>
          <a:p>
            <a:pPr>
              <a:lnSpc>
                <a:spcPct val="115000"/>
              </a:lnSpc>
              <a:spcAft>
                <a:spcPts val="3400"/>
              </a:spcAft>
            </a:pPr>
            <a:r>
              <a:rPr sz="2500" b="0">
                <a:solidFill>
                  <a:srgbClr val="232B34"/>
                </a:solidFill>
                <a:latin typeface="Yu Gothic"/>
                <a:ea typeface="Yu Gothic"/>
              </a:rPr>
              <a:t>• Few temperatures and operating flags</a:t>
            </a:r>
          </a:p>
          <a:p>
            <a:pPr>
              <a:lnSpc>
                <a:spcPct val="115000"/>
              </a:lnSpc>
              <a:spcAft>
                <a:spcPts val="3400"/>
              </a:spcAft>
            </a:pPr>
            <a:r>
              <a:rPr sz="2500" b="0">
                <a:solidFill>
                  <a:srgbClr val="232B34"/>
                </a:solidFill>
                <a:latin typeface="Yu Gothic"/>
                <a:ea typeface="Yu Gothic"/>
              </a:rPr>
              <a:t>• Small, fixed coefficient set</a:t>
            </a:r>
          </a:p>
          <a:p>
            <a:pPr>
              <a:lnSpc>
                <a:spcPct val="115000"/>
              </a:lnSpc>
              <a:spcAft>
                <a:spcPts val="3400"/>
              </a:spcAft>
            </a:pPr>
            <a:r>
              <a:rPr sz="2500" b="0">
                <a:solidFill>
                  <a:srgbClr val="232B34"/>
                </a:solidFill>
                <a:latin typeface="Yu Gothic"/>
                <a:ea typeface="Yu Gothic"/>
              </a:rPr>
              <a:t>• Output: scan-center correction angle</a:t>
            </a:r>
          </a:p>
        </p:txBody>
      </p:sp>
      <p:graphicFrame>
        <p:nvGraphicFramePr>
          <p:cNvPr id="8" name="Table 7"/>
          <p:cNvGraphicFramePr>
            <a:graphicFrameLocks noGrp="1"/>
          </p:cNvGraphicFramePr>
          <p:nvPr>
            <p:extLst>
              <p:ext uri="{D42A27DB-BD31-4B8C-83A1-F6EECF244321}">
                <p14:modId xmlns:p14="http://schemas.microsoft.com/office/powerpoint/2010/main" val="165713373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ja-JP" altLang="en-US" sz="2300" b="1" dirty="0">
                          <a:solidFill>
                            <a:srgbClr val="FFFFFF"/>
                          </a:solidFill>
                          <a:latin typeface="Yu Gothic"/>
                          <a:ea typeface="Yu Gothic"/>
                        </a:rPr>
                        <a:t>Candidate model</a:t>
                      </a:r>
                      <a:endParaRPr sz="2300" b="1" dirty="0">
                        <a:solidFill>
                          <a:srgbClr val="FFFFFF"/>
                        </a:solidFill>
                        <a:latin typeface="Yu Gothic"/>
                        <a:ea typeface="Yu Gothic"/>
                      </a:endParaRP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Strengths / limitations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300" b="0">
                          <a:solidFill>
                            <a:srgbClr val="232B34"/>
                          </a:solidFill>
                          <a:latin typeface="Yu Gothic"/>
                          <a:ea typeface="Yu Gothic"/>
                        </a:rPr>
                        <a:t>Constant bias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Lightweight / cannot represent within-orbit variation</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sz="2300" b="0">
                          <a:solidFill>
                            <a:srgbClr val="232B34"/>
                          </a:solidFill>
                          <a:latin typeface="Yu Gothic"/>
                          <a:ea typeface="Yu Gothic"/>
                        </a:rPr>
                        <a:t>Fourier series in orbital phase</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Represents periodicity / must be rebuilt when orbit or conditions change</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sz="2300" b="0">
                          <a:solidFill>
                            <a:srgbClr val="232B34"/>
                          </a:solidFill>
                          <a:latin typeface="Yu Gothic"/>
                          <a:ea typeface="Yu Gothic"/>
                        </a:rPr>
                        <a:t>Multiple mounting-point temperatures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Flexible / collinearity with ΔT destabilizes coefficients</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sz="2300" b="0">
                          <a:solidFill>
                            <a:srgbClr val="232B34"/>
                          </a:solidFill>
                          <a:latin typeface="Yu Gothic"/>
                          <a:ea typeface="Yu Gothic"/>
                        </a:rPr>
                        <a:t>Sun-face temperature T</a:t>
                      </a:r>
                    </a:p>
                  </a:txBody>
                  <a:tcPr marL="64008" marR="64008" marT="27432" marB="27432" anchor="ctr">
                    <a:solidFill>
                      <a:srgbClr val="EBF6FB"/>
                    </a:solidFill>
                  </a:tcPr>
                </a:tc>
                <a:tc>
                  <a:txBody>
                    <a:bodyPr/>
                    <a:lstStyle/>
                    <a:p>
                      <a:pPr algn="ctr">
                        <a:spcAft>
                          <a:spcPts val="0"/>
                        </a:spcAft>
                      </a:pPr>
                      <a:r>
                        <a:rPr sz="2300" b="0" dirty="0" err="1">
                          <a:solidFill>
                            <a:srgbClr val="232B34"/>
                          </a:solidFill>
                          <a:latin typeface="Yu Gothic"/>
                          <a:ea typeface="Yu Gothic"/>
                        </a:rPr>
                        <a:t>Physically interpretable / does not fully track variation</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sz="2300" b="0">
                          <a:solidFill>
                            <a:srgbClr val="232B34"/>
                          </a:solidFill>
                          <a:latin typeface="Yu Gothic"/>
                          <a:ea typeface="Yu Gothic"/>
                        </a:rPr>
                        <a:t>Sun-face temperature difference ΔT</a:t>
                      </a:r>
                      <a:endParaRPr sz="2300" b="0" dirty="0">
                        <a:solidFill>
                          <a:srgbClr val="232B34"/>
                        </a:solidFill>
                        <a:latin typeface="Yu Gothic"/>
                      </a:endParaRP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Physically interpretable / cannot explain mean offsets across cases</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sz="2300" b="1" dirty="0" err="1">
                          <a:solidFill>
                            <a:srgbClr val="232B34"/>
                          </a:solidFill>
                          <a:latin typeface="Yu Gothic"/>
                          <a:ea typeface="Yu Gothic"/>
                        </a:rPr>
                        <a:t>Hierarchical ΔT</a:t>
                      </a:r>
                    </a:p>
                  </a:txBody>
                  <a:tcPr marL="64008" marR="64008" marT="27432" marB="27432" anchor="ctr">
                    <a:solidFill>
                      <a:schemeClr val="accent6">
                        <a:lumMod val="20000"/>
                        <a:lumOff val="80000"/>
                      </a:schemeClr>
                    </a:solidFill>
                  </a:tcPr>
                </a:tc>
                <a:tc>
                  <a:txBody>
                    <a:bodyPr/>
                    <a:lstStyle/>
                    <a:p>
                      <a:pPr algn="ctr">
                        <a:spcAft>
                          <a:spcPts val="0"/>
                        </a:spcAft>
                      </a:pPr>
                      <a:r>
                        <a:rPr sz="2300" b="1" dirty="0" err="1">
                          <a:solidFill>
                            <a:srgbClr val="232B34"/>
                          </a:solidFill>
                          <a:latin typeface="Yu Gothic"/>
                          <a:ea typeface="Yu Gothic"/>
                        </a:rPr>
                        <a:t>Separates within-orbit variation from means across cases</a:t>
                      </a:r>
                      <a:endParaRPr sz="2300" b="1" dirty="0">
                        <a:solidFill>
                          <a:srgbClr val="232B34"/>
                        </a:solidFill>
                        <a:latin typeface="Yu Gothic"/>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sz="3000" b="1" dirty="0">
                <a:solidFill>
                  <a:srgbClr val="082B52"/>
                </a:solidFill>
                <a:latin typeface="Yu Gothic"/>
                <a:ea typeface="Yu Gothic"/>
              </a:rPr>
              <a:t>→ Adopt a hierarchical model that separately predicts thermal-LOS variation from sun-face–opposite-panel ΔT</a:t>
            </a:r>
            <a:endParaRPr lang="en-US" sz="3000" b="1" dirty="0">
              <a:solidFill>
                <a:srgbClr val="082B52"/>
              </a:solidFill>
              <a:latin typeface="Yu Gothic"/>
              <a:ea typeface="Yu Gothic"/>
            </a:endParaRPr>
          </a:p>
          <a:p>
            <a:pPr algn="ctr">
              <a:spcAft>
                <a:spcPts val="0"/>
              </a:spcAft>
            </a:pPr>
            <a:r>
              <a:rPr sz="3000" b="1" dirty="0" err="1">
                <a:solidFill>
                  <a:srgbClr val="082B52"/>
                </a:solidFill>
                <a:latin typeface="Yu Gothic"/>
                <a:ea typeface="Yu Gothic"/>
              </a:rPr>
              <a:t>and thermal-LOS bias from the mean offset across cases</a:t>
            </a:r>
            <a:endParaRPr lang="ja-JP" altLang="ja-JP" sz="3200" dirty="0"/>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Yu Gothic"/>
            </a:endParaRPr>
          </a:p>
          <a:p>
            <a:pPr algn="l">
              <a:spcAft>
                <a:spcPts val="0"/>
              </a:spcAft>
            </a:pPr>
            <a:r>
              <a:rPr lang="ja-JP" altLang="en-US" sz="3200" b="1" dirty="0">
                <a:solidFill>
                  <a:srgbClr val="082B52"/>
                </a:solidFill>
                <a:latin typeface="Yu Gothic"/>
              </a:rPr>
              <a:t>Reduced-order model selection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r>
              <a:rPr lang="ja-JP" altLang="en-US" sz="3200" b="1" dirty="0">
                <a:solidFill>
                  <a:srgbClr val="082B52"/>
                </a:solidFill>
                <a:latin typeface="Yu Gothic"/>
                <a:ea typeface="Yu Gothic"/>
              </a:rPr>
              <a:t>Onboard prediction separates time-varying and bias terms using ΔT and operating flags</a:t>
            </a:r>
            <a:endParaRPr lang="ja-JP" altLang="en-US" sz="3200" b="1" dirty="0">
              <a:solidFill>
                <a:srgbClr val="082B52"/>
              </a:solidFill>
              <a:latin typeface="Yu Gothic"/>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4</a:t>
            </a:r>
            <a:endParaRPr sz="1800" b="0" dirty="0">
              <a:solidFill>
                <a:srgbClr val="666F79"/>
              </a:solidFill>
              <a:latin typeface="Yu Gothic"/>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Assumption: onboard panel-center thermocouples</a:t>
                </a: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917174"/>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Sensitivity a(sun)</a:t>
            </a:r>
            <a:endParaRPr sz="2500" b="0" dirty="0">
              <a:solidFill>
                <a:srgbClr val="232B34"/>
              </a:solidFill>
              <a:latin typeface="Yu Gothic"/>
            </a:endParaRPr>
          </a:p>
          <a:p>
            <a:pPr algn="ctr">
              <a:lnSpc>
                <a:spcPct val="110000"/>
              </a:lnSpc>
              <a:spcAft>
                <a:spcPts val="400"/>
              </a:spcAft>
            </a:pPr>
            <a:r>
              <a:rPr sz="2400" b="0" dirty="0" err="1">
                <a:solidFill>
                  <a:srgbClr val="232B34"/>
                </a:solidFill>
                <a:latin typeface="Yu Gothic"/>
                <a:ea typeface="Yu Gothic"/>
              </a:rPr>
              <a:t>Shared by sun face</a:t>
            </a:r>
            <a:endParaRPr sz="2400" b="0" dirty="0">
              <a:solidFill>
                <a:srgbClr val="232B34"/>
              </a:solidFill>
              <a:latin typeface="Yu Gothic"/>
              <a:ea typeface="Yu Gothic"/>
            </a:endParaRPr>
          </a:p>
          <a:p>
            <a:pPr algn="ctr">
              <a:lnSpc>
                <a:spcPct val="110000"/>
              </a:lnSpc>
              <a:spcAft>
                <a:spcPts val="400"/>
              </a:spcAft>
            </a:pPr>
            <a:r>
              <a:rPr sz="2400" b="0" dirty="0">
                <a:solidFill>
                  <a:srgbClr val="232B34"/>
                </a:solidFill>
                <a:latin typeface="Yu Gothic"/>
                <a:ea typeface="Yu Gothic"/>
              </a:rPr>
              <a:t>+30.6, +28.6, −28.1, −28.7 µrad/K</a:t>
            </a: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Case-dependent DC offset</a:t>
            </a:r>
            <a:endParaRPr lang="en-US" altLang="ja-JP" sz="2800" dirty="0"/>
          </a:p>
          <a:p>
            <a:pPr algn="ctr">
              <a:lnSpc>
                <a:spcPct val="110000"/>
              </a:lnSpc>
              <a:spcAft>
                <a:spcPts val="400"/>
              </a:spcAft>
            </a:pPr>
            <a:r>
              <a:rPr sz="2400" b="0" dirty="0" err="1">
                <a:solidFill>
                  <a:srgbClr val="232B34"/>
                </a:solidFill>
                <a:latin typeface="Yu Gothic"/>
                <a:ea typeface="Yu Gothic"/>
              </a:rPr>
              <a:t>From sun face and ON/OFF flags</a:t>
            </a:r>
            <a:endParaRPr sz="2400" b="0" dirty="0">
              <a:solidFill>
                <a:srgbClr val="232B34"/>
              </a:solidFill>
              <a:latin typeface="Yu Gothic"/>
              <a:ea typeface="Yu Gothic"/>
            </a:endParaRPr>
          </a:p>
          <a:p>
            <a:pPr algn="ctr">
              <a:lnSpc>
                <a:spcPct val="110000"/>
              </a:lnSpc>
              <a:spcAft>
                <a:spcPts val="400"/>
              </a:spcAft>
            </a:pPr>
            <a:r>
              <a:rPr lang="ja-JP" altLang="en-US" sz="2400" b="0" dirty="0">
                <a:solidFill>
                  <a:srgbClr val="232B34"/>
                </a:solidFill>
                <a:latin typeface="Yu Gothic"/>
                <a:ea typeface="Yu Gothic"/>
              </a:rPr>
              <a:t>Decomposed by the equation above</a:t>
            </a:r>
            <a:endParaRPr sz="2400" b="0" dirty="0">
              <a:solidFill>
                <a:srgbClr val="232B34"/>
              </a:solidFill>
              <a:latin typeface="Yu Gothic"/>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566928"/>
          </a:xfrm>
          <a:prstGeom prst="rect">
            <a:avLst/>
          </a:prstGeom>
          <a:noFill/>
        </p:spPr>
        <p:txBody>
          <a:bodyPr wrap="square" lIns="36576" tIns="27432" rIns="36576" bIns="27432" anchor="t">
            <a:spAutoFit/>
          </a:bodyPr>
          <a:lstStyle/>
          <a:p>
            <a:pPr algn="ctr">
              <a:spcAft>
                <a:spcPts val="0"/>
              </a:spcAft>
            </a:pPr>
            <a:r>
              <a:rPr sz="2600" b="1">
                <a:solidFill>
                  <a:srgbClr val="239571"/>
                </a:solidFill>
                <a:latin typeface="Yu Gothic"/>
                <a:ea typeface="Yu Gothic"/>
              </a:rPr>
              <a:t>Dominant-axis selection</a:t>
            </a: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sz="2100" b="0" dirty="0" err="1">
                <a:solidFill>
                  <a:srgbClr val="232B34"/>
                </a:solidFill>
                <a:latin typeface="Yu Gothic"/>
                <a:ea typeface="Yu Gothic"/>
              </a:rPr>
              <a:t>Prediction axis from sun face</a:t>
            </a:r>
            <a:endParaRPr sz="2500" b="0" dirty="0">
              <a:solidFill>
                <a:srgbClr val="232B34"/>
              </a:solidFill>
              <a:latin typeface="Yu Gothic"/>
            </a:endParaRPr>
          </a:p>
          <a:p>
            <a:pPr algn="ctr">
              <a:lnSpc>
                <a:spcPct val="110000"/>
              </a:lnSpc>
              <a:spcAft>
                <a:spcPts val="200"/>
              </a:spcAft>
            </a:pPr>
            <a:r>
              <a:rPr sz="2100" b="0" dirty="0">
                <a:solidFill>
                  <a:srgbClr val="232B34"/>
                </a:solidFill>
                <a:latin typeface="Yu Gothic"/>
                <a:ea typeface="Yu Gothic"/>
              </a:rPr>
              <a:t>MX/PX → x; MY/PY → y</a:t>
            </a:r>
          </a:p>
          <a:p>
            <a:pPr algn="ctr">
              <a:lnSpc>
                <a:spcPct val="110000"/>
              </a:lnSpc>
              <a:spcAft>
                <a:spcPts val="200"/>
              </a:spcAft>
            </a:pPr>
            <a:r>
              <a:rPr sz="2100" b="0" dirty="0" err="1">
                <a:solidFill>
                  <a:srgbClr val="232B34"/>
                </a:solidFill>
                <a:latin typeface="Yu Gothic"/>
                <a:ea typeface="Yu Gothic"/>
              </a:rPr>
              <a:t>Non-dominant axis: bias only</a:t>
            </a:r>
            <a:endParaRPr sz="2100" b="0" dirty="0">
              <a:solidFill>
                <a:srgbClr val="232B34"/>
              </a:solidFill>
              <a:latin typeface="Yu Gothic"/>
              <a:ea typeface="Yu Gothic"/>
            </a:endParaRPr>
          </a:p>
          <a:p>
            <a:pPr algn="ctr">
              <a:lnSpc>
                <a:spcPct val="110000"/>
              </a:lnSpc>
              <a:spcAft>
                <a:spcPts val="200"/>
              </a:spcAft>
            </a:pPr>
            <a:r>
              <a:rPr sz="2100" b="0" dirty="0">
                <a:solidFill>
                  <a:srgbClr val="232B34"/>
                </a:solidFill>
                <a:latin typeface="Yu Gothic"/>
                <a:ea typeface="Yu Gothic"/>
              </a:rPr>
              <a:t>MX/PX bias ≈ −600 µrad;</a:t>
            </a:r>
          </a:p>
          <a:p>
            <a:pPr algn="ctr">
              <a:lnSpc>
                <a:spcPct val="110000"/>
              </a:lnSpc>
              <a:spcAft>
                <a:spcPts val="200"/>
              </a:spcAft>
            </a:pPr>
            <a:r>
              <a:rPr sz="2100" b="0" dirty="0" err="1">
                <a:solidFill>
                  <a:srgbClr val="232B34"/>
                </a:solidFill>
                <a:latin typeface="Yu Gothic"/>
                <a:ea typeface="Yu Gothic"/>
              </a:rPr>
              <a:t>zeroing it degrades acquisition</a:t>
            </a:r>
            <a:endParaRPr sz="2100" b="0" dirty="0">
              <a:solidFill>
                <a:srgbClr val="232B34"/>
              </a:solidFill>
              <a:latin typeface="Yu Gothic"/>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84775"/>
          </a:xfrm>
          <a:prstGeom prst="rect">
            <a:avLst/>
          </a:prstGeom>
          <a:noFill/>
        </p:spPr>
        <p:txBody>
          <a:bodyPr wrap="square">
            <a:spAutoFit/>
          </a:bodyPr>
          <a:lstStyle/>
          <a:p>
            <a:pPr algn="ctr">
              <a:spcAft>
                <a:spcPts val="0"/>
              </a:spcAft>
              <a:buNone/>
            </a:pPr>
            <a:r>
              <a:rPr sz="3000" b="1">
                <a:solidFill>
                  <a:srgbClr val="082B52"/>
                </a:solidFill>
                <a:latin typeface="Yu Gothic"/>
                <a:ea typeface="Yu Gothic"/>
              </a:rPr>
              <a:t>Panel ΔT: time variation · DC offset: cross-case differences</a:t>
            </a:r>
            <a:endParaRPr lang="ja-JP" altLang="ja-JP" sz="3200" dirty="0"/>
          </a:p>
        </p:txBody>
      </p:sp>
      <mc:AlternateContent xmlns:mc="http://schemas.openxmlformats.org/markup-compatibility/2006" xmlns:a14="http://schemas.microsoft.com/office/drawing/2010/main">
        <mc:Choice Requires="a14">
          <p:sp>
            <p:nvSpPr>
              <p:cNvPr id="6" name="TextBox 5"/>
              <p:cNvSpPr txBox="1"/>
              <p:nvPr/>
            </p:nvSpPr>
            <p:spPr>
              <a:xfrm>
                <a:off x="5955368" y="6693408"/>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502920"/>
          </a:xfrm>
          <a:prstGeom prst="rect">
            <a:avLst/>
          </a:prstGeom>
          <a:noFill/>
        </p:spPr>
        <p:txBody>
          <a:bodyPr wrap="square" lIns="45720" tIns="18288" rIns="45720" bIns="18288" anchor="t">
            <a:spAutoFit/>
          </a:bodyPr>
          <a:lstStyle/>
          <a:p>
            <a:pPr algn="ctr">
              <a:spcAft>
                <a:spcPts val="0"/>
              </a:spcAft>
            </a:pPr>
            <a:r>
              <a:rPr sz="2100" b="0">
                <a:solidFill>
                  <a:srgbClr val="666F79"/>
                </a:solidFill>
                <a:latin typeface="Yu Gothic"/>
                <a:ea typeface="Yu Gothic"/>
              </a:rPr>
              <a:t>16 coefficients; specific to this structure, placement, and LOS definition</a:t>
            </a:r>
          </a:p>
        </p:txBody>
      </p:sp>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404638"/>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1"/>
                            </a:solidFill>
                            <a:latin typeface="Cambria Math" panose="02040503050406030204" pitchFamily="18" charset="0"/>
                          </a:rPr>
                        </m:ctrlPr>
                      </m:sSubPr>
                      <m:e>
                        <m:r>
                          <a:rPr lang="en-US" altLang="ja-JP" sz="3200" b="1" i="1" dirty="0">
                            <a:solidFill>
                              <a:schemeClr val="accent1"/>
                            </a:solidFill>
                            <a:latin typeface="Cambria Math" panose="02040503050406030204" pitchFamily="18" charset="0"/>
                          </a:rPr>
                          <m:t>𝑰</m:t>
                        </m:r>
                      </m:e>
                      <m:sub>
                        <m:r>
                          <a:rPr lang="en-US" altLang="ja-JP" sz="3200" b="1" i="1" dirty="0">
                            <a:solidFill>
                              <a:schemeClr val="accent1"/>
                            </a:solidFill>
                            <a:latin typeface="Cambria Math" panose="02040503050406030204" pitchFamily="18" charset="0"/>
                          </a:rPr>
                          <m:t>𝑷𝑹𝑶</m:t>
                        </m:r>
                        <m:r>
                          <a:rPr lang="en-US" altLang="ja-JP" sz="3200" b="1" i="1" dirty="0" smtClean="0">
                            <a:solidFill>
                              <a:schemeClr val="accent1"/>
                            </a:solidFill>
                            <a:latin typeface="Cambria Math" panose="02040503050406030204" pitchFamily="18" charset="0"/>
                          </a:rPr>
                          <m:t>𝑷</m:t>
                        </m:r>
                      </m:sub>
                    </m:sSub>
                    <m:r>
                      <a:rPr lang="en-US" altLang="ja-JP" sz="3200" b="1" i="1" dirty="0" smtClean="0">
                        <a:solidFill>
                          <a:schemeClr val="accent1"/>
                        </a:solidFill>
                        <a:latin typeface="Cambria Math" panose="02040503050406030204" pitchFamily="18" charset="0"/>
                      </a:rPr>
                      <m:t>, </m:t>
                    </m:r>
                    <m:sSub>
                      <m:sSubPr>
                        <m:ctrlPr>
                          <a:rPr lang="en-US" altLang="ja-JP" sz="3200" b="1" i="1" dirty="0" smtClean="0">
                            <a:solidFill>
                              <a:schemeClr val="accent1"/>
                            </a:solidFill>
                            <a:latin typeface="Cambria Math" panose="02040503050406030204" pitchFamily="18" charset="0"/>
                          </a:rPr>
                        </m:ctrlPr>
                      </m:sSubPr>
                      <m:e>
                        <m:r>
                          <a:rPr lang="en-US" altLang="ja-JP" sz="3200" b="1" i="1" dirty="0" smtClean="0">
                            <a:solidFill>
                              <a:schemeClr val="accent1"/>
                            </a:solidFill>
                            <a:latin typeface="Cambria Math" panose="02040503050406030204" pitchFamily="18" charset="0"/>
                          </a:rPr>
                          <m:t>𝑰</m:t>
                        </m:r>
                      </m:e>
                      <m:sub>
                        <m:r>
                          <a:rPr lang="en-US" altLang="ja-JP" sz="3200" b="1" i="1" dirty="0" smtClean="0">
                            <a:solidFill>
                              <a:schemeClr val="accent1"/>
                            </a:solidFill>
                            <a:latin typeface="Cambria Math" panose="02040503050406030204" pitchFamily="18" charset="0"/>
                          </a:rPr>
                          <m:t>𝑷𝑪𝑫𝑼</m:t>
                        </m:r>
                      </m:sub>
                    </m:sSub>
                    <m:r>
                      <a:rPr lang="ja-JP" altLang="en-US" sz="3200" b="1" i="1" dirty="0" smtClean="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𝑢𝑛𝑖𝑡</m:t>
                    </m:r>
                    <m:r>
                      <a:rPr lang="ja-JP" altLang="en-US" sz="3200" b="1" i="1" dirty="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𝑝𝑜𝑤𝑒𝑟</m:t>
                    </m:r>
                    <m:r>
                      <a:rPr lang="ja-JP" altLang="en-US" sz="3200" b="1" i="1" dirty="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𝑠𝑡𝑎𝑡𝑒</m:t>
                    </m:r>
                    <m:r>
                      <a:rPr lang="ja-JP" altLang="en-US" sz="3200" b="1" i="1" dirty="0">
                        <a:solidFill>
                          <a:schemeClr val="accent1"/>
                        </a:solidFill>
                        <a:latin typeface="Cambria Math" panose="02040503050406030204" pitchFamily="18" charset="0"/>
                      </a:rPr>
                      <m:t> (</m:t>
                    </m:r>
                  </m:oMath>
                </a14:m>
                <a:r>
                  <a:rPr lang="en-US" altLang="ja-JP" sz="3200" dirty="0">
                    <a:solidFill>
                      <a:schemeClr val="accent1"/>
                    </a:solidFill>
                  </a:rPr>
                  <a:t>ON/OFF</a:t>
                </a:r>
                <a:r>
                  <a:rPr lang="ja-JP" altLang="en-US" sz="3200" dirty="0">
                    <a:solidFill>
                      <a:schemeClr val="accent1"/>
                    </a:solidFill>
                  </a:rPr>
                  <a:t>)</a:t>
                </a:r>
              </a:p>
            </p:txBody>
          </p:sp>
        </mc:Choice>
        <mc:Fallback xmlns="">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404638"/>
                <a:ext cx="12192000" cy="586699"/>
              </a:xfrm>
              <a:prstGeom prst="rect">
                <a:avLst/>
              </a:prstGeom>
              <a:blipFill>
                <a:blip r:embed="rId7"/>
                <a:stretch>
                  <a:fillRect t="-12500" b="-3437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r>
              <a:rPr lang="ja-JP" altLang="ja-JP" sz="3200" b="1" dirty="0"/>
              <a:t>The test case is excluded from all coefficient estimates to evaluate prediction under unseen conditions</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5</a:t>
            </a:r>
            <a:endParaRPr sz="1800" b="0" dirty="0">
              <a:solidFill>
                <a:srgbClr val="666F79"/>
              </a:solidFill>
              <a:latin typeface="Yu Gothic"/>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640080"/>
          </a:xfrm>
          <a:prstGeom prst="rect">
            <a:avLst/>
          </a:prstGeom>
          <a:noFill/>
        </p:spPr>
        <p:txBody>
          <a:bodyPr wrap="square" lIns="45720" tIns="18288" rIns="45720" bIns="18288" anchor="t">
            <a:spAutoFit/>
          </a:bodyPr>
          <a:lstStyle/>
          <a:p>
            <a:pPr algn="ctr">
              <a:spcAft>
                <a:spcPts val="0"/>
              </a:spcAft>
            </a:pPr>
            <a:r>
              <a:rPr sz="2700" b="1">
                <a:solidFill>
                  <a:srgbClr val="239571"/>
                </a:solidFill>
                <a:latin typeface="Yu Gothic"/>
                <a:ea typeface="Yu Gothic"/>
              </a:rPr>
              <a:t>① Fit each case</a:t>
            </a:r>
          </a:p>
        </p:txBody>
      </p:sp>
      <p:sp>
        <p:nvSpPr>
          <p:cNvPr id="7" name="TextBox 6"/>
          <p:cNvSpPr txBox="1"/>
          <p:nvPr/>
        </p:nvSpPr>
        <p:spPr>
          <a:xfrm>
            <a:off x="1856231" y="4617720"/>
            <a:ext cx="564184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Use the first orbit of each case
to estimate its sensitivity a
and mean b</a:t>
            </a: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640080"/>
          </a:xfrm>
          <a:prstGeom prst="rect">
            <a:avLst/>
          </a:prstGeom>
          <a:noFill/>
        </p:spPr>
        <p:txBody>
          <a:bodyPr wrap="square" lIns="45720" tIns="18288" rIns="45720" bIns="18288" anchor="t">
            <a:spAutoFit/>
          </a:bodyPr>
          <a:lstStyle/>
          <a:p>
            <a:pPr algn="ctr">
              <a:spcAft>
                <a:spcPts val="0"/>
              </a:spcAft>
            </a:pPr>
            <a:r>
              <a:rPr sz="2700" b="1">
                <a:solidFill>
                  <a:srgbClr val="1B74AA"/>
                </a:solidFill>
                <a:latin typeface="Yu Gothic"/>
                <a:ea typeface="Yu Gothic"/>
              </a:rPr>
              <a:t>② Share within each sun face</a:t>
            </a:r>
          </a:p>
        </p:txBody>
      </p:sp>
      <p:sp>
        <p:nvSpPr>
          <p:cNvPr id="10" name="TextBox 9"/>
          <p:cNvSpPr txBox="1"/>
          <p:nvPr/>
        </p:nvSpPr>
        <p:spPr>
          <a:xfrm>
            <a:off x="8732520" y="4617720"/>
            <a:ext cx="6108192"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Median a within each sun face
becomes the shared sensitivity
Fit mean b across cases from
sun face and dissipation flags</a:t>
            </a: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640080"/>
          </a:xfrm>
          <a:prstGeom prst="rect">
            <a:avLst/>
          </a:prstGeom>
          <a:noFill/>
        </p:spPr>
        <p:txBody>
          <a:bodyPr wrap="square" lIns="45720" tIns="18288" rIns="45720" bIns="18288" anchor="t">
            <a:spAutoFit/>
          </a:bodyPr>
          <a:lstStyle/>
          <a:p>
            <a:pPr algn="ctr">
              <a:spcAft>
                <a:spcPts val="0"/>
              </a:spcAft>
            </a:pPr>
            <a:r>
              <a:rPr sz="2700" b="1">
                <a:solidFill>
                  <a:srgbClr val="EC9427"/>
                </a:solidFill>
                <a:latin typeface="Yu Gothic"/>
                <a:ea typeface="Yu Gothic"/>
              </a:rPr>
              <a:t>③ Test an unseen case</a:t>
            </a:r>
          </a:p>
        </p:txBody>
      </p:sp>
      <p:sp>
        <p:nvSpPr>
          <p:cNvPr id="13" name="TextBox 12"/>
          <p:cNvSpPr txBox="1"/>
          <p:nvPr/>
        </p:nvSpPr>
        <p:spPr>
          <a:xfrm>
            <a:off x="16056864" y="4617720"/>
            <a:ext cx="646480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nested leave-one-case-out
Exclude the test case from shared sensitivity
and both-axis mean models
Evaluate its next two orbits</a:t>
            </a: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ja-JP" altLang="en-US" sz="2800" b="1" dirty="0"/>
              <a:t>Evaluate how well fixed shared coefficients predict unseen operating conditions</a:t>
            </a:r>
            <a:endParaRPr lang="ja-JP" altLang="ja-JP" sz="2800" dirty="0"/>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ja-JP" altLang="ja-JP" sz="2400" dirty="0"/>
              <a:t>Across-condition evaluation within the same structure and LOS definition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100" b="1">
                <a:solidFill>
                  <a:srgbClr val="082B52"/>
                </a:solidFill>
                <a:latin typeface="Yu Gothic"/>
                <a:ea typeface="Yu Gothic"/>
              </a:rPr>
              <a:t>For unseen cases, median dominant-axis error is 4.9 µrad—one to two orders below the raw 615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6</a:t>
            </a:r>
            <a:endParaRPr sz="1800" b="0" dirty="0">
              <a:solidFill>
                <a:srgbClr val="666F79"/>
              </a:solidFill>
              <a:latin typeface="Yu Gothic"/>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1B74AA"/>
                </a:solidFill>
                <a:latin typeface="Yu Gothic"/>
                <a:ea typeface="Yu Gothic"/>
              </a:rPr>
              <a:t>Sun-face sensitivities a (case-specific and shared)</a:t>
            </a: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239571"/>
                </a:solidFill>
                <a:latin typeface="Yu Gothic"/>
                <a:ea typeface="Yu Gothic"/>
              </a:rPr>
              <a:t>Case bias b: empirical versus predicted</a:t>
            </a:r>
            <a:endParaRPr sz="2100" b="1" dirty="0">
              <a:solidFill>
                <a:srgbClr val="239571"/>
              </a:solidFill>
              <a:latin typeface="Yu Gothic"/>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1B74AA"/>
                </a:solidFill>
                <a:latin typeface="Yu Gothic"/>
                <a:ea typeface="Yu Gothic"/>
              </a:rPr>
              <a:t>615 µrad</a:t>
            </a:r>
          </a:p>
        </p:txBody>
      </p:sp>
      <p:sp>
        <p:nvSpPr>
          <p:cNvPr id="13" name="TextBox 12"/>
          <p:cNvSpPr txBox="1"/>
          <p:nvPr/>
        </p:nvSpPr>
        <p:spPr>
          <a:xfrm>
            <a:off x="157276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Median raw dominant-axis LOS RMS</a:t>
            </a: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239571"/>
                </a:solidFill>
                <a:latin typeface="Yu Gothic"/>
                <a:ea typeface="Yu Gothic"/>
              </a:rPr>
              <a:t>4.9 µrad</a:t>
            </a:r>
          </a:p>
        </p:txBody>
      </p:sp>
      <p:sp>
        <p:nvSpPr>
          <p:cNvPr id="16" name="TextBox 15"/>
          <p:cNvSpPr txBox="1"/>
          <p:nvPr/>
        </p:nvSpPr>
        <p:spPr>
          <a:xfrm>
            <a:off x="8979407"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Median test RMSE on unseen cases (mean 5.5)</a:t>
            </a: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EC9427"/>
                </a:solidFill>
                <a:latin typeface="Yu Gothic"/>
                <a:ea typeface="Yu Gothic"/>
              </a:rPr>
              <a:t>3.8 µrad</a:t>
            </a:r>
          </a:p>
        </p:txBody>
      </p:sp>
      <p:sp>
        <p:nvSpPr>
          <p:cNvPr id="19" name="TextBox 18"/>
          <p:cNvSpPr txBox="1"/>
          <p:nvPr/>
        </p:nvSpPr>
        <p:spPr>
          <a:xfrm>
            <a:off x="1638604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LOO RMSE of case-mean DC bias</a:t>
            </a:r>
          </a:p>
        </p:txBody>
      </p:sp>
      <p:sp>
        <p:nvSpPr>
          <p:cNvPr id="20" name="TextBox 19"/>
          <p:cNvSpPr txBox="1"/>
          <p:nvPr/>
        </p:nvSpPr>
        <p:spPr>
          <a:xfrm>
            <a:off x="1463040" y="12070080"/>
            <a:ext cx="21396960" cy="457200"/>
          </a:xfrm>
          <a:prstGeom prst="rect">
            <a:avLst/>
          </a:prstGeom>
          <a:noFill/>
        </p:spPr>
        <p:txBody>
          <a:bodyPr wrap="square" lIns="45720" tIns="18288" rIns="45720" bIns="18288" anchor="t">
            <a:spAutoFit/>
          </a:bodyPr>
          <a:lstStyle/>
          <a:p>
            <a:pPr algn="ctr">
              <a:spcAft>
                <a:spcPts val="0"/>
              </a:spcAft>
            </a:pPr>
            <a:r>
              <a:rPr sz="2200" b="0">
                <a:solidFill>
                  <a:srgbClr val="666F79"/>
                </a:solidFill>
                <a:latin typeface="Yu Gothic"/>
                <a:ea typeface="Yu Gothic"/>
              </a:rPr>
              <a:t>Shared sensitivity: MX +30.6 / MY +28.6 / PX −28.1 / PY −28.7 µrad/K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sz="3200" b="1" dirty="0">
                <a:solidFill>
                  <a:srgbClr val="082B52"/>
                </a:solidFill>
                <a:latin typeface="Yu Gothic"/>
                <a:ea typeface="Yu Gothic"/>
              </a:rPr>
              <a:t>Even for Case 08, with one of the largest thermal LOS errors, 1250 µrad falls to 3.9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457200"/>
          </a:xfrm>
          <a:prstGeom prst="rect">
            <a:avLst/>
          </a:prstGeom>
          <a:noFill/>
        </p:spPr>
        <p:txBody>
          <a:bodyPr wrap="square" lIns="45720" tIns="18288" rIns="45720" bIns="18288" anchor="t">
            <a:spAutoFit/>
          </a:bodyPr>
          <a:lstStyle/>
          <a:p>
            <a:pPr algn="ctr">
              <a:spcAft>
                <a:spcPts val="0"/>
              </a:spcAft>
            </a:pPr>
            <a:r>
              <a:rPr sz="2200" b="1">
                <a:solidFill>
                  <a:srgbClr val="1B74AA"/>
                </a:solidFill>
                <a:latin typeface="Yu Gothic"/>
                <a:ea typeface="Yu Gothic"/>
              </a:rPr>
              <a:t>Case 08 (PY sun face, all units dissipating)</a:t>
            </a: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1051560"/>
          </a:xfrm>
          <a:prstGeom prst="rect">
            <a:avLst/>
          </a:prstGeom>
          <a:noFill/>
        </p:spPr>
        <p:txBody>
          <a:bodyPr wrap="square" lIns="45720" tIns="18288" rIns="45720" bIns="18288" anchor="t">
            <a:spAutoFit/>
          </a:bodyPr>
          <a:lstStyle/>
          <a:p>
            <a:pPr algn="ctr">
              <a:spcAft>
                <a:spcPts val="0"/>
              </a:spcAft>
            </a:pPr>
            <a:r>
              <a:rPr sz="3600" b="1">
                <a:solidFill>
                  <a:srgbClr val="D03B46"/>
                </a:solidFill>
                <a:latin typeface="Yu Gothic"/>
                <a:ea typeface="Yu Gothic"/>
              </a:rPr>
              <a:t>1250 µrad</a:t>
            </a:r>
          </a:p>
        </p:txBody>
      </p:sp>
      <p:sp>
        <p:nvSpPr>
          <p:cNvPr id="10" name="TextBox 9"/>
          <p:cNvSpPr txBox="1"/>
          <p:nvPr/>
        </p:nvSpPr>
        <p:spPr>
          <a:xfrm>
            <a:off x="15837408" y="465246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Raw dominant-axis RMS</a:t>
            </a: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105156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3.9 µrad</a:t>
            </a:r>
          </a:p>
        </p:txBody>
      </p:sp>
      <p:sp>
        <p:nvSpPr>
          <p:cNvPr id="13" name="TextBox 12"/>
          <p:cNvSpPr txBox="1"/>
          <p:nvPr/>
        </p:nvSpPr>
        <p:spPr>
          <a:xfrm>
            <a:off x="15837408" y="702990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Test RMSE for an unseen case</a:t>
            </a: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First scan point is sufficient</a:t>
            </a:r>
          </a:p>
        </p:txBody>
      </p:sp>
      <p:sp>
        <p:nvSpPr>
          <p:cNvPr id="16" name="TextBox 15"/>
          <p:cNvSpPr txBox="1"/>
          <p:nvPr/>
        </p:nvSpPr>
        <p:spPr>
          <a:xfrm>
            <a:off x="16002000" y="9326880"/>
            <a:ext cx="6949440" cy="1097280"/>
          </a:xfrm>
          <a:prstGeom prst="rect">
            <a:avLst/>
          </a:prstGeom>
          <a:noFill/>
        </p:spPr>
        <p:txBody>
          <a:bodyPr wrap="square" lIns="45720" tIns="18288" rIns="45720" bIns="18288" anchor="t">
            <a:spAutoFit/>
          </a:bodyPr>
          <a:lstStyle/>
          <a:p>
            <a:pPr algn="ctr">
              <a:lnSpc>
                <a:spcPct val="115000"/>
              </a:lnSpc>
              <a:spcAft>
                <a:spcPts val="0"/>
              </a:spcAft>
            </a:pPr>
            <a:r>
              <a:rPr sz="2300" b="0">
                <a:solidFill>
                  <a:srgbClr val="232B34"/>
                </a:solidFill>
                <a:latin typeface="Yu Gothic"/>
                <a:ea typeface="Yu Gothic"/>
              </a:rPr>
              <a:t>Corrected residual is well below
the 150 µrad detection radius</a:t>
            </a:r>
          </a:p>
        </p:txBody>
      </p:sp>
      <p:sp>
        <p:nvSpPr>
          <p:cNvPr id="17" name="TextBox 16"/>
          <p:cNvSpPr txBox="1"/>
          <p:nvPr/>
        </p:nvSpPr>
        <p:spPr>
          <a:xfrm>
            <a:off x="15727680" y="10835640"/>
            <a:ext cx="7498079" cy="54864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ΔT follows the within-orbit variation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35437-8820-FE54-90F4-257360258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8022B-B953-CFCB-50F9-DFE723EF2FF2}"/>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b="0" dirty="0">
                <a:solidFill>
                  <a:srgbClr val="FFFFFF"/>
                </a:solidFill>
                <a:latin typeface="Yu Gothic"/>
              </a:rPr>
              <a:t>4</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B4CFD4D2-F236-BFD7-145C-5F664AC45A6E}"/>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A5AA477-6D32-A249-9BC5-FA7905720E4E}"/>
              </a:ext>
            </a:extLst>
          </p:cNvPr>
          <p:cNvSpPr txBox="1"/>
          <p:nvPr/>
        </p:nvSpPr>
        <p:spPr>
          <a:xfrm>
            <a:off x="9842746" y="5806440"/>
            <a:ext cx="4728987"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Coarse-acquisition evaluation</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5C80EDBD-7565-2F1C-E24E-366C53DE31A9}"/>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7861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Acquire when the scan-corrected target enters the detection circle</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8</a:t>
            </a:r>
            <a:endParaRPr sz="1800" b="0" dirty="0">
              <a:solidFill>
                <a:srgbClr val="666F79"/>
              </a:solidFill>
              <a:latin typeface="Yu Gothic"/>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870448"/>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269480"/>
            <a:ext cx="3895344" cy="50292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Rectangular spiral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Acquisition success and time</a:t>
            </a: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Orbit, attitude, and other</a:t>
            </a:r>
            <a:endParaRPr lang="en-US" altLang="ja-JP" dirty="0"/>
          </a:p>
          <a:p>
            <a:pPr algn="ctr"/>
            <a:r>
              <a:rPr lang="ja-JP" altLang="ja-JP" dirty="0"/>
              <a:t>nonthermal errors</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Thermal LOS truth</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Predicted thermal 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Scan-center error</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Residual</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22208"/>
            <a:ext cx="3895344" cy="82296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Nonthermal errors</a:t>
            </a:r>
          </a:p>
          <a:p>
            <a:pPr algn="ctr">
              <a:spcAft>
                <a:spcPts val="0"/>
              </a:spcAft>
            </a:pPr>
            <a:r>
              <a:rPr sz="2100" b="1">
                <a:solidFill>
                  <a:srgbClr val="FFFFFF"/>
                </a:solidFill>
                <a:latin typeface="Yu Gothic"/>
                <a:ea typeface="Yu Gothic"/>
              </a:rPr>
              <a:t>(orbit, attitude, etc.)</a:t>
            </a: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±1600 µrad</a:t>
            </a:r>
          </a:p>
        </p:txBody>
      </p:sp>
      <p:sp>
        <p:nvSpPr>
          <p:cNvPr id="62" name="TextBox 61"/>
          <p:cNvSpPr txBox="1"/>
          <p:nvPr/>
        </p:nvSpPr>
        <p:spPr>
          <a:xfrm>
            <a:off x="134416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range</a:t>
            </a: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120 µrad</a:t>
            </a:r>
          </a:p>
        </p:txBody>
      </p:sp>
      <p:sp>
        <p:nvSpPr>
          <p:cNvPr id="65" name="TextBox 64"/>
          <p:cNvSpPr txBox="1"/>
          <p:nvPr/>
        </p:nvSpPr>
        <p:spPr>
          <a:xfrm>
            <a:off x="577900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step</a:t>
            </a: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150 µrad</a:t>
            </a:r>
          </a:p>
        </p:txBody>
      </p:sp>
      <p:sp>
        <p:nvSpPr>
          <p:cNvPr id="68" name="TextBox 67"/>
          <p:cNvSpPr txBox="1"/>
          <p:nvPr/>
        </p:nvSpPr>
        <p:spPr>
          <a:xfrm>
            <a:off x="1021384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Detection radius (beacon scale)</a:t>
            </a: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0.1 s / point</a:t>
            </a:r>
          </a:p>
        </p:txBody>
      </p:sp>
      <p:sp>
        <p:nvSpPr>
          <p:cNvPr id="71" name="TextBox 70"/>
          <p:cNvSpPr txBox="1"/>
          <p:nvPr/>
        </p:nvSpPr>
        <p:spPr>
          <a:xfrm>
            <a:off x="1464868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Dwell time</a:t>
            </a: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27 × 27 = 729 points</a:t>
            </a:r>
          </a:p>
        </p:txBody>
      </p:sp>
      <p:sp>
        <p:nvSpPr>
          <p:cNvPr id="74" name="TextBox 73"/>
          <p:cNvSpPr txBox="1"/>
          <p:nvPr/>
        </p:nvSpPr>
        <p:spPr>
          <a:xfrm>
            <a:off x="1908352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Maximum number of scan points</a:t>
            </a: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sz="2500" b="1" dirty="0" err="1">
                <a:solidFill>
                  <a:srgbClr val="082B52"/>
                </a:solidFill>
                <a:latin typeface="Yu Gothic"/>
                <a:ea typeface="Yu Gothic"/>
              </a:rPr>
              <a:t>No coverage holes: half the grid diagonal ≈ 85 µrad &lt; 150 µrad detection radius</a:t>
            </a:r>
            <a:endParaRPr sz="2500" b="1" dirty="0">
              <a:solidFill>
                <a:srgbClr val="082B52"/>
              </a:solidFill>
              <a:latin typeface="Yu Gothic"/>
              <a:ea typeface="Yu Gothic"/>
            </a:endParaRPr>
          </a:p>
        </p:txBody>
      </p:sp>
      <p:sp>
        <p:nvSpPr>
          <p:cNvPr id="76" name="TextBox 75"/>
          <p:cNvSpPr txBox="1"/>
          <p:nvPr/>
        </p:nvSpPr>
        <p:spPr>
          <a:xfrm>
            <a:off x="1234440" y="12088368"/>
            <a:ext cx="21488400" cy="502920"/>
          </a:xfrm>
          <a:prstGeom prst="rect">
            <a:avLst/>
          </a:prstGeom>
          <a:noFill/>
        </p:spPr>
        <p:txBody>
          <a:bodyPr wrap="square" lIns="45720" tIns="18288" rIns="45720" bIns="18288" anchor="t">
            <a:spAutoFit/>
          </a:bodyPr>
          <a:lstStyle/>
          <a:p>
            <a:pPr algn="ctr">
              <a:spcAft>
                <a:spcPts val="0"/>
              </a:spcAft>
            </a:pPr>
            <a:r>
              <a:rPr sz="2200" b="0">
                <a:solidFill>
                  <a:srgbClr val="D03B46"/>
                </a:solidFill>
                <a:latin typeface="Yu Gothic"/>
                <a:ea typeface="Yu Gothic"/>
              </a:rPr>
              <a:t>Neglects inter-point slew, settling, and stochastic detection. Times are comparative under these scan conditions.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Orbit prediction, alignment, attitude, and drift are added to the 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9</a:t>
            </a:r>
            <a:endParaRPr sz="1800" b="0" dirty="0">
              <a:solidFill>
                <a:srgbClr val="666F79"/>
              </a:solidFill>
              <a:latin typeface="Yu Gothic"/>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sz="2100" b="1">
                          <a:solidFill>
                            <a:srgbClr val="FFFFFF"/>
                          </a:solidFill>
                          <a:latin typeface="Yu Gothic"/>
                          <a:ea typeface="Yu Gothic"/>
                        </a:rPr>
                        <a:t>Component</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Construction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Time behavior</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Magnitude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100" b="0">
                          <a:solidFill>
                            <a:srgbClr val="232B34"/>
                          </a:solidFill>
                          <a:latin typeface="Yu Gothic"/>
                          <a:ea typeface="Yu Gothic"/>
                        </a:rPr>
                        <a:t>Orbit prediction</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Propagate the latest Sentinel-1 TLE; project error from precise POEORB onto the link transverse plane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Orbital period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2100" b="0">
                          <a:solidFill>
                            <a:srgbClr val="232B34"/>
                          </a:solidFill>
                          <a:latin typeface="Yu Gothic"/>
                          <a:ea typeface="Yu Gothic"/>
                        </a:rPr>
                        <a:t>Alignment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Constant two-axis residual per case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DC</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sz="2100" b="0">
                          <a:solidFill>
                            <a:srgbClr val="232B34"/>
                          </a:solidFill>
                          <a:latin typeface="Yu Gothic"/>
                          <a:ea typeface="Yu Gothic"/>
                        </a:rPr>
                        <a:t>Attitude</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Gaussian random draw at each sample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Simplified broadband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2100" b="0">
                          <a:solidFill>
                            <a:srgbClr val="232B34"/>
                          </a:solidFill>
                          <a:latin typeface="Yu Gothic"/>
                          <a:ea typeface="Yu Gothic"/>
                        </a:rPr>
                        <a:t>Drift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Sinusoid</a:t>
                      </a:r>
                      <a:endParaRPr sz="21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900 s period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727563" y="11141964"/>
            <a:ext cx="14927292" cy="470898"/>
          </a:xfrm>
          <a:prstGeom prst="rect">
            <a:avLst/>
          </a:prstGeom>
          <a:noFill/>
        </p:spPr>
        <p:txBody>
          <a:bodyPr wrap="none" lIns="36576" tIns="27432" rIns="36576" bIns="27432" anchor="t">
            <a:spAutoFit/>
          </a:bodyPr>
          <a:lstStyle/>
          <a:p>
            <a:pPr algn="ctr"/>
            <a:r>
              <a:rPr sz="2700" b="1" dirty="0" err="1">
                <a:solidFill>
                  <a:srgbClr val="D03B46"/>
                </a:solidFill>
                <a:latin typeface="Yu Gothic"/>
              </a:rPr>
              <a:t>This is not a spacecraft-specific error budget; it represents a generic GNSS-denied small-LEO scenario.</a:t>
            </a:r>
            <a:endParaRPr sz="2700" b="1" dirty="0">
              <a:solidFill>
                <a:srgbClr val="D03B46"/>
              </a:solidFill>
              <a:latin typeface="Yu Gothic"/>
            </a:endParaRPr>
          </a:p>
        </p:txBody>
      </p:sp>
      <p:sp>
        <p:nvSpPr>
          <p:cNvPr id="9" name="TextBox 8"/>
          <p:cNvSpPr txBox="1"/>
          <p:nvPr/>
        </p:nvSpPr>
        <p:spPr>
          <a:xfrm>
            <a:off x="1097280" y="10241280"/>
            <a:ext cx="22128480" cy="50292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One random seed per case; statistical spread is not evaluated.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thermal LOS error only, mean acquisition time drops from 14.6 to 0.10 s, matching thermal-truth correction</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20</a:t>
            </a:r>
            <a:endParaRPr sz="1800" b="0" dirty="0">
              <a:solidFill>
                <a:srgbClr val="666F79"/>
              </a:solidFill>
              <a:latin typeface="Yu Gothic"/>
              <a:ea typeface="Yu Gothic"/>
            </a:endParaRPr>
          </a:p>
        </p:txBody>
      </p:sp>
      <p:sp>
        <p:nvSpPr>
          <p:cNvPr id="5" name="TextBox 4"/>
          <p:cNvSpPr txBox="1"/>
          <p:nvPr/>
        </p:nvSpPr>
        <p:spPr>
          <a:xfrm>
            <a:off x="1188720" y="3236976"/>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14.6 s</a:t>
            </a:r>
          </a:p>
        </p:txBody>
      </p:sp>
      <p:sp>
        <p:nvSpPr>
          <p:cNvPr id="13" name="TextBox 12"/>
          <p:cNvSpPr txBox="1"/>
          <p:nvPr/>
        </p:nvSpPr>
        <p:spPr>
          <a:xfrm>
            <a:off x="1188720" y="4727448"/>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4690872"/>
            <a:ext cx="914400" cy="14859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0.10 s</a:t>
            </a:r>
          </a:p>
        </p:txBody>
      </p:sp>
      <p:sp>
        <p:nvSpPr>
          <p:cNvPr id="17" name="TextBox 16"/>
          <p:cNvSpPr txBox="1"/>
          <p:nvPr/>
        </p:nvSpPr>
        <p:spPr>
          <a:xfrm>
            <a:off x="1188720" y="6213347"/>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Thermal-truth upper bound</a:t>
            </a: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176772"/>
            <a:ext cx="914400" cy="1485900"/>
          </a:xfrm>
          <a:prstGeom prst="rect">
            <a:avLst/>
          </a:prstGeom>
          <a:noFill/>
        </p:spPr>
        <p:txBody>
          <a:bodyPr wrap="square" lIns="36576" tIns="27432" rIns="36576" bIns="27432" anchor="ctr">
            <a:spAutoFit/>
          </a:bodyPr>
          <a:lstStyle/>
          <a:p>
            <a:pPr algn="l">
              <a:spcAft>
                <a:spcPts val="0"/>
              </a:spcAft>
            </a:pPr>
            <a:r>
              <a:rPr sz="2200" b="1">
                <a:solidFill>
                  <a:srgbClr val="1B74AA"/>
                </a:solidFill>
                <a:latin typeface="Yu Gothic"/>
                <a:ea typeface="Yu Gothic"/>
              </a:rPr>
              <a:t>0.10 s</a:t>
            </a:r>
          </a:p>
        </p:txBody>
      </p:sp>
      <p:graphicFrame>
        <p:nvGraphicFramePr>
          <p:cNvPr id="21" name="Table 20"/>
          <p:cNvGraphicFramePr>
            <a:graphicFrameLocks noGrp="1"/>
          </p:cNvGraphicFramePr>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sz="2000" b="1">
                          <a:solidFill>
                            <a:srgbClr val="FFFFFF"/>
                          </a:solidFill>
                          <a:latin typeface="Yu Gothic"/>
                          <a:ea typeface="Yu Gothic"/>
                        </a:rPr>
                        <a:t>Correction</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Success rate</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Mean acquisition time</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sz="2000" b="0">
                          <a:solidFill>
                            <a:srgbClr val="232B34"/>
                          </a:solidFill>
                          <a:latin typeface="Yu Gothic"/>
                          <a:ea typeface="Yu Gothic"/>
                        </a:rPr>
                        <a:t>No correction</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sz="2000" b="0">
                          <a:solidFill>
                            <a:srgbClr val="232B34"/>
                          </a:solidFill>
                          <a:latin typeface="Yu Gothic"/>
                          <a:ea typeface="Yu Gothic"/>
                        </a:rPr>
                        <a:t>Hierarchical model</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sz="2000" b="0">
                          <a:solidFill>
                            <a:srgbClr val="232B34"/>
                          </a:solidFill>
                          <a:latin typeface="Yu Gothic"/>
                          <a:ea typeface="Yu Gothic"/>
                        </a:rPr>
                        <a:t>Thermal truth</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9.3 µrad</a:t>
            </a: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thermal residual after correction</a:t>
            </a:r>
          </a:p>
        </p:txBody>
      </p:sp>
      <p:sp>
        <p:nvSpPr>
          <p:cNvPr id="25" name="TextBox 24"/>
          <p:cNvSpPr txBox="1"/>
          <p:nvPr/>
        </p:nvSpPr>
        <p:spPr>
          <a:xfrm>
            <a:off x="2011680" y="10424160"/>
            <a:ext cx="20299680" cy="1188720"/>
          </a:xfrm>
          <a:prstGeom prst="rect">
            <a:avLst/>
          </a:prstGeom>
          <a:noFill/>
        </p:spPr>
        <p:txBody>
          <a:bodyPr wrap="square" lIns="36576" tIns="27432" rIns="36576" bIns="27432" anchor="t">
            <a:spAutoFit/>
          </a:bodyPr>
          <a:lstStyle/>
          <a:p>
            <a:pPr algn="ctr">
              <a:lnSpc>
                <a:spcPct val="115000"/>
              </a:lnSpc>
              <a:spcAft>
                <a:spcPts val="0"/>
              </a:spcAft>
            </a:pPr>
            <a:r>
              <a:rPr sz="2500" b="0">
                <a:solidFill>
                  <a:srgbClr val="666F79"/>
                </a:solidFill>
                <a:latin typeface="Yu Gothic"/>
                <a:ea typeface="Yu Gothic"/>
              </a:rPr>
              <a:t>The residual is far below the 150 µrad detection radius, so acquisition occurs in one dwell.</a:t>
            </a:r>
          </a:p>
          <a:p>
            <a:pPr algn="ctr">
              <a:lnSpc>
                <a:spcPct val="115000"/>
              </a:lnSpc>
              <a:spcAft>
                <a:spcPts val="0"/>
              </a:spcAft>
            </a:pPr>
            <a:r>
              <a:rPr sz="2500" b="0">
                <a:solidFill>
                  <a:srgbClr val="666F79"/>
                </a:solidFill>
                <a:latin typeface="Yu Gothic"/>
                <a:ea typeface="Yu Gothic"/>
              </a:rPr>
              <a:t>Mean over 14 COLD baseline-surface cases; the main result includes nonthermal error on the next slide.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nonthermal LOS error, the mean drops from 19.2 to 5.45 s; the residual is governed by nonthermal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2</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sp>
        <p:nvSpPr>
          <p:cNvPr id="5" name="TextBox 4"/>
          <p:cNvSpPr txBox="1"/>
          <p:nvPr/>
        </p:nvSpPr>
        <p:spPr>
          <a:xfrm>
            <a:off x="1371600" y="32369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19.2 s</a:t>
            </a:r>
          </a:p>
        </p:txBody>
      </p:sp>
      <p:sp>
        <p:nvSpPr>
          <p:cNvPr id="9" name="TextBox 8"/>
          <p:cNvSpPr txBox="1"/>
          <p:nvPr/>
        </p:nvSpPr>
        <p:spPr>
          <a:xfrm>
            <a:off x="1371600" y="50657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5.45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−72%</a:t>
            </a:r>
          </a:p>
        </p:txBody>
      </p:sp>
      <p:sp>
        <p:nvSpPr>
          <p:cNvPr id="15" name="TextBox 14"/>
          <p:cNvSpPr txBox="1"/>
          <p:nvPr/>
        </p:nvSpPr>
        <p:spPr>
          <a:xfrm>
            <a:off x="16184880" y="391363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square" lIns="36576" tIns="27432" rIns="36576" bIns="27432" anchor="t">
            <a:spAutoFit/>
          </a:bodyPr>
          <a:lstStyle/>
          <a:p>
            <a:pPr algn="ctr">
              <a:spcAft>
                <a:spcPts val="0"/>
              </a:spcAft>
            </a:pPr>
            <a:r>
              <a:rPr sz="3200" b="1">
                <a:solidFill>
                  <a:srgbClr val="1B74AA"/>
                </a:solidFill>
                <a:latin typeface="Yu Gothic"/>
                <a:ea typeface="Yu Gothic"/>
              </a:rPr>
              <a:t>98 → 100%</a:t>
            </a:r>
          </a:p>
        </p:txBody>
      </p:sp>
      <p:sp>
        <p:nvSpPr>
          <p:cNvPr id="18" name="TextBox 17"/>
          <p:cNvSpPr txBox="1"/>
          <p:nvPr/>
        </p:nvSpPr>
        <p:spPr>
          <a:xfrm>
            <a:off x="16184880" y="606247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sz="2100" b="1">
                          <a:solidFill>
                            <a:srgbClr val="FFFFFF"/>
                          </a:solidFill>
                          <a:latin typeface="Yu Gothic"/>
                          <a:ea typeface="Yu Gothic"/>
                        </a:rPr>
                        <a:t>Metric</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No correction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Hierarchical model (feedforward)</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sz="2100" b="0">
                          <a:solidFill>
                            <a:srgbClr val="232B34"/>
                          </a:solidFill>
                          <a:latin typeface="Yu Gothic"/>
                          <a:ea typeface="Yu Gothic"/>
                        </a:rPr>
                        <a:t>Success rate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98%</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100%</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sz="2100" b="0">
                          <a:solidFill>
                            <a:srgbClr val="232B34"/>
                          </a:solidFill>
                          <a:latin typeface="Yu Gothic"/>
                          <a:ea typeface="Yu Gothic"/>
                        </a:rPr>
                        <a:t>Mean acquisition time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19.2 s</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5.45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sz="2100" b="0">
                          <a:solidFill>
                            <a:srgbClr val="232B34"/>
                          </a:solidFill>
                          <a:latin typeface="Yu Gothic"/>
                          <a:ea typeface="Yu Gothic"/>
                        </a:rPr>
                        <a:t>Mean initial error after correction</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448 µrad (almost entirely nonthermal)</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sz="2100" b="0">
                          <a:solidFill>
                            <a:srgbClr val="232B34"/>
                          </a:solidFill>
                          <a:latin typeface="Yu Gothic"/>
                          <a:ea typeface="Yu Gothic"/>
                        </a:rPr>
                        <a:t>PY sun face (thermal ≈1.2 mrad)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37.3–39.5 s / 88–97%</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1.3–1.8 s / 100%</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ja-JP" altLang="ja-JP" sz="2800" b="1" dirty="0"/>
              <a:t>Predicting and removing thermal error shifts the coarse-acquisition limit from thermal to nonthermal error</a:t>
            </a:r>
            <a:endParaRPr lang="ja-JP" altLang="ja-JP"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err="1">
                <a:solidFill>
                  <a:srgbClr val="082B52"/>
                </a:solidFill>
                <a:latin typeface="Yu Gothic"/>
                <a:ea typeface="Yu Gothic"/>
              </a:rPr>
              <a:t>Temperature prediction helps the first acquisition; residual updates lower the later-orbit floor</a:t>
            </a:r>
            <a:endParaRPr sz="31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21</a:t>
            </a: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sz="2100" b="1">
                          <a:solidFill>
                            <a:srgbClr val="FFFFFF"/>
                          </a:solidFill>
                          <a:latin typeface="Yu Gothic"/>
                          <a:ea typeface="Yu Gothic"/>
                        </a:rPr>
                        <a:t>Case 16 (PY)</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First orbit</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Orbit 1 onward</a:t>
                      </a: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sz="2100" b="0">
                          <a:solidFill>
                            <a:srgbClr val="232B34"/>
                          </a:solidFill>
                          <a:latin typeface="Yu Gothic"/>
                          <a:ea typeface="Yu Gothic"/>
                        </a:rPr>
                        <a:t>Direct Fourier fit to total error</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sz="2100" b="0">
                          <a:solidFill>
                            <a:srgbClr val="232B34"/>
                          </a:solidFill>
                          <a:latin typeface="Yu Gothic"/>
                          <a:ea typeface="Yu Gothic"/>
                        </a:rPr>
                        <a:t>Hierarchical model + residual Fourier</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640080"/>
          </a:xfrm>
          <a:prstGeom prst="rect">
            <a:avLst/>
          </a:prstGeom>
          <a:noFill/>
        </p:spPr>
        <p:txBody>
          <a:bodyPr wrap="square" lIns="45720" tIns="18288" rIns="45720" bIns="18288" anchor="t">
            <a:spAutoFit/>
          </a:bodyPr>
          <a:lstStyle/>
          <a:p>
            <a:pPr algn="ctr">
              <a:spcAft>
                <a:spcPts val="0"/>
              </a:spcAft>
            </a:pPr>
            <a:r>
              <a:rPr sz="2400" b="1">
                <a:solidFill>
                  <a:srgbClr val="EC9427"/>
                </a:solidFill>
                <a:latin typeface="Yu Gothic"/>
                <a:ea typeface="Yu Gothic"/>
              </a:rPr>
              <a:t>A constant residual update is insufficient</a:t>
            </a:r>
          </a:p>
        </p:txBody>
      </p:sp>
      <p:sp>
        <p:nvSpPr>
          <p:cNvPr id="10" name="TextBox 9"/>
          <p:cNvSpPr txBox="1"/>
          <p:nvPr/>
        </p:nvSpPr>
        <p:spPr>
          <a:xfrm>
            <a:off x="15544800" y="7726679"/>
            <a:ext cx="7589520" cy="123444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Case 13, orbit 1 onward: 1.66 → 1.35 s;
above the 0.38 s Fourier result.</a:t>
            </a: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640080"/>
          </a:xfrm>
          <a:prstGeom prst="rect">
            <a:avLst/>
          </a:prstGeom>
          <a:noFill/>
        </p:spPr>
        <p:txBody>
          <a:bodyPr wrap="square" lIns="45720" tIns="18288" rIns="45720" bIns="18288" anchor="t">
            <a:spAutoFit/>
          </a:bodyPr>
          <a:lstStyle/>
          <a:p>
            <a:pPr algn="ctr">
              <a:spcAft>
                <a:spcPts val="0"/>
              </a:spcAft>
            </a:pPr>
            <a:r>
              <a:rPr sz="2400" b="1">
                <a:solidFill>
                  <a:srgbClr val="666F79"/>
                </a:solidFill>
                <a:latin typeface="Yu Gothic"/>
                <a:ea typeface="Yu Gothic"/>
              </a:rPr>
              <a:t>Scope of this section</a:t>
            </a:r>
          </a:p>
        </p:txBody>
      </p:sp>
      <p:sp>
        <p:nvSpPr>
          <p:cNvPr id="13" name="TextBox 12"/>
          <p:cNvSpPr txBox="1"/>
          <p:nvPr/>
        </p:nvSpPr>
        <p:spPr>
          <a:xfrm>
            <a:off x="15544800" y="10469880"/>
            <a:ext cx="7589520" cy="1508760"/>
          </a:xfrm>
          <a:prstGeom prst="rect">
            <a:avLst/>
          </a:prstGeom>
          <a:noFill/>
        </p:spPr>
        <p:txBody>
          <a:bodyPr wrap="square" lIns="45720" tIns="18288" rIns="45720" bIns="18288" anchor="t">
            <a:spAutoFit/>
          </a:bodyPr>
          <a:lstStyle/>
          <a:p>
            <a:pPr algn="ctr">
              <a:lnSpc>
                <a:spcPct val="115000"/>
              </a:lnSpc>
              <a:spcAft>
                <a:spcPts val="0"/>
              </a:spcAft>
            </a:pPr>
            <a:r>
              <a:rPr sz="2100" b="0">
                <a:solidFill>
                  <a:srgbClr val="232B34"/>
                </a:solidFill>
                <a:latin typeface="Yu Gothic"/>
                <a:ea typeface="Yu Gothic"/>
              </a:rPr>
              <a:t>Thermal-model coefficients are fixed.
Preliminary update of total pointing residual
after acquisition (two cases, dense sampling).</a:t>
            </a:r>
          </a:p>
        </p:txBody>
      </p:sp>
      <p:sp>
        <p:nvSpPr>
          <p:cNvPr id="14" name="TextBox 13"/>
          <p:cNvSpPr txBox="1"/>
          <p:nvPr/>
        </p:nvSpPr>
        <p:spPr>
          <a:xfrm>
            <a:off x="1005840" y="10241280"/>
            <a:ext cx="13716000" cy="1280160"/>
          </a:xfrm>
          <a:prstGeom prst="rect">
            <a:avLst/>
          </a:prstGeom>
          <a:noFill/>
        </p:spPr>
        <p:txBody>
          <a:bodyPr wrap="square" lIns="45720" tIns="18288" rIns="45720" bIns="18288" anchor="t">
            <a:spAutoFit/>
          </a:bodyPr>
          <a:lstStyle/>
          <a:p>
            <a:pPr algn="ctr">
              <a:lnSpc>
                <a:spcPct val="125000"/>
              </a:lnSpc>
              <a:spcAft>
                <a:spcPts val="0"/>
              </a:spcAft>
            </a:pPr>
            <a:r>
              <a:rPr sz="2400" b="1">
                <a:solidFill>
                  <a:srgbClr val="082B52"/>
                </a:solidFill>
                <a:latin typeface="Yu Gothic"/>
                <a:ea typeface="Yu Gothic"/>
              </a:rPr>
              <a:t>Primary result: temperature/operating-state feedforward.</a:t>
            </a:r>
          </a:p>
          <a:p>
            <a:pPr algn="ctr">
              <a:lnSpc>
                <a:spcPct val="125000"/>
              </a:lnSpc>
              <a:spcAft>
                <a:spcPts val="0"/>
              </a:spcAft>
            </a:pPr>
            <a:r>
              <a:rPr sz="2400" b="1">
                <a:solidFill>
                  <a:srgbClr val="082B52"/>
                </a:solidFill>
                <a:latin typeface="Yu Gothic"/>
                <a:ea typeface="Yu Gothic"/>
              </a:rPr>
              <a:t>Repeated links may reduce the floor further.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85EFC-94D7-A712-6ED4-B60515FAD65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A9901-D1AD-A1A0-1C17-F532CE710C24}"/>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dirty="0">
                <a:solidFill>
                  <a:srgbClr val="FFFFFF"/>
                </a:solidFill>
                <a:latin typeface="Yu Gothic"/>
              </a:rPr>
              <a:t>5</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431E2039-4BC4-D119-7B23-33BE2D1FE169}"/>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534C452-319A-30DF-BF40-A9ECA414720F}"/>
              </a:ext>
            </a:extLst>
          </p:cNvPr>
          <p:cNvSpPr txBox="1"/>
          <p:nvPr/>
        </p:nvSpPr>
        <p:spPr>
          <a:xfrm>
            <a:off x="11535517" y="5806440"/>
            <a:ext cx="1343446"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Summary</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B5F0C05C-36E1-F691-E3B9-B34F22882E98}"/>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737438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Limitations of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22</a:t>
            </a: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1B74AA"/>
                </a:solidFill>
                <a:latin typeface="Yu Gothic"/>
                <a:ea typeface="Yu Gothic"/>
              </a:rPr>
              <a:t>Validation scope</a:t>
            </a:r>
            <a:endParaRPr sz="2600" b="1" dirty="0">
              <a:solidFill>
                <a:srgbClr val="1B74AA"/>
              </a:solidFill>
              <a:latin typeface="Yu Gothic"/>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Numerical evaluation: same structure and LOS definition</a:t>
            </a:r>
            <a:endParaRPr sz="2800" b="0" dirty="0">
              <a:solidFill>
                <a:srgbClr val="232B34"/>
              </a:solidFill>
              <a:latin typeface="Yu Gothic"/>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EC9427"/>
                </a:solidFill>
                <a:latin typeface="Yu Gothic"/>
                <a:ea typeface="Yu Gothic"/>
              </a:rPr>
              <a:t>Model applicability</a:t>
            </a:r>
            <a:endParaRPr sz="2600" b="1" dirty="0">
              <a:solidFill>
                <a:srgbClr val="EC9427"/>
              </a:solidFill>
              <a:latin typeface="Yu Gothic"/>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ja-JP" altLang="ja-JP" sz="2800" dirty="0"/>
              <a:t>No ground test; flight relevance of the analysis model and sensitivities remains unvalidated</a:t>
            </a: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Yu Gothic"/>
                <a:ea typeface="Yu Gothic"/>
              </a:rPr>
              <a:t>LOS extraction</a:t>
            </a:r>
            <a:endParaRPr sz="2600" b="1" dirty="0">
              <a:solidFill>
                <a:srgbClr val="D03B46"/>
              </a:solidFill>
              <a:latin typeface="Yu Gothic"/>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Representative-node rotations; no interface rigid-body fit or internal STT/LCT deformation</a:t>
            </a:r>
            <a:endParaRPr sz="2800" b="0" dirty="0">
              <a:solidFill>
                <a:srgbClr val="232B34"/>
              </a:solidFill>
              <a:latin typeface="Yu Gothic"/>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sz="2600" b="1" dirty="0" err="1">
                <a:solidFill>
                  <a:srgbClr val="239571"/>
                </a:solidFill>
                <a:latin typeface="Yu Gothic"/>
                <a:ea typeface="Yu Gothic"/>
              </a:rPr>
              <a:t>Acquisition evaluation</a:t>
            </a:r>
            <a:endParaRPr sz="2600" b="1" dirty="0">
              <a:solidFill>
                <a:srgbClr val="239571"/>
              </a:solidFill>
              <a:latin typeface="Yu Gothic"/>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ja-JP" altLang="ja-JP" sz="2800" dirty="0"/>
              <a:t>One nonthermal seed; simplified scan dynamics</a:t>
            </a: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1418691"/>
            <a:ext cx="14408727" cy="954107"/>
          </a:xfrm>
          <a:prstGeom prst="rect">
            <a:avLst/>
          </a:prstGeom>
          <a:noFill/>
        </p:spPr>
        <p:txBody>
          <a:bodyPr wrap="square">
            <a:spAutoFit/>
          </a:bodyPr>
          <a:lstStyle/>
          <a:p>
            <a:pPr algn="ctr"/>
            <a:r>
              <a:rPr lang="en-US" altLang="ja-JP" sz="2800" b="1" dirty="0"/>
              <a:t>Future Work: </a:t>
            </a:r>
            <a:r>
              <a:rPr lang="ja-JP" altLang="ja-JP" sz="2800" b="1" dirty="0"/>
              <a:t>ground-test validation, coefficient re-identification for real spacecraft,</a:t>
            </a:r>
            <a:endParaRPr lang="en-US" altLang="ja-JP" sz="2800" b="1" dirty="0"/>
          </a:p>
          <a:p>
            <a:pPr algn="ctr"/>
            <a:r>
              <a:rPr lang="ja-JP" altLang="ja-JP" sz="2800" b="1" dirty="0"/>
              <a:t> and onboard adaptation using post-acquisition residuals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Removing predictable thermal error before acquisition leaves a search governed by nonthermal error</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23</a:t>
            </a:r>
          </a:p>
        </p:txBody>
      </p:sp>
      <p:sp>
        <p:nvSpPr>
          <p:cNvPr id="5" name="Rounded Rectangle 4"/>
          <p:cNvSpPr/>
          <p:nvPr/>
        </p:nvSpPr>
        <p:spPr>
          <a:xfrm>
            <a:off x="1463040" y="3383280"/>
            <a:ext cx="6766560"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572768" y="3547872"/>
            <a:ext cx="6547104" cy="1417320"/>
          </a:xfrm>
          <a:prstGeom prst="rect">
            <a:avLst/>
          </a:prstGeom>
          <a:noFill/>
        </p:spPr>
        <p:txBody>
          <a:bodyPr wrap="square" lIns="45720" tIns="18288" rIns="45720" bIns="18288" anchor="t">
            <a:spAutoFit/>
          </a:bodyPr>
          <a:lstStyle/>
          <a:p>
            <a:pPr algn="ctr">
              <a:spcAft>
                <a:spcPts val="0"/>
              </a:spcAft>
            </a:pPr>
            <a:r>
              <a:rPr sz="4000" b="1">
                <a:solidFill>
                  <a:srgbClr val="1B74AA"/>
                </a:solidFill>
                <a:latin typeface="Yu Gothic"/>
                <a:ea typeface="Yu Gothic"/>
              </a:rPr>
              <a:t>4.9 µrad</a:t>
            </a:r>
          </a:p>
        </p:txBody>
      </p:sp>
      <p:sp>
        <p:nvSpPr>
          <p:cNvPr id="7" name="TextBox 6"/>
          <p:cNvSpPr txBox="1"/>
          <p:nvPr/>
        </p:nvSpPr>
        <p:spPr>
          <a:xfrm>
            <a:off x="15727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dirty="0" err="1">
                <a:latin typeface="Yu Gothic"/>
                <a:ea typeface="Yu Gothic"/>
              </a:rPr>
              <a:t>Median corrected dominant-axis RMSE
(raw median: 615 µrad)</a:t>
            </a:r>
          </a:p>
        </p:txBody>
      </p:sp>
      <p:sp>
        <p:nvSpPr>
          <p:cNvPr id="8" name="Rounded Rectangle 7"/>
          <p:cNvSpPr/>
          <p:nvPr/>
        </p:nvSpPr>
        <p:spPr>
          <a:xfrm>
            <a:off x="8778240" y="3383280"/>
            <a:ext cx="6766560" cy="283464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887967"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14.6 → 0.10 s</a:t>
            </a:r>
          </a:p>
        </p:txBody>
      </p:sp>
      <p:sp>
        <p:nvSpPr>
          <p:cNvPr id="10" name="TextBox 9"/>
          <p:cNvSpPr txBox="1"/>
          <p:nvPr/>
        </p:nvSpPr>
        <p:spPr>
          <a:xfrm>
            <a:off x="8887967" y="4970678"/>
            <a:ext cx="6547104" cy="367280"/>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Mean acquisition time, thermal only</a:t>
            </a:r>
          </a:p>
        </p:txBody>
      </p:sp>
      <p:sp>
        <p:nvSpPr>
          <p:cNvPr id="11" name="Rounded Rectangle 10"/>
          <p:cNvSpPr/>
          <p:nvPr/>
        </p:nvSpPr>
        <p:spPr>
          <a:xfrm>
            <a:off x="16093440" y="3383280"/>
            <a:ext cx="6766560"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203168"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EC9427"/>
                </a:solidFill>
                <a:latin typeface="Yu Gothic"/>
                <a:ea typeface="Yu Gothic"/>
              </a:rPr>
              <a:t>19.2 → 5.45 s</a:t>
            </a:r>
          </a:p>
        </p:txBody>
      </p:sp>
      <p:sp>
        <p:nvSpPr>
          <p:cNvPr id="13" name="TextBox 12"/>
          <p:cNvSpPr txBox="1"/>
          <p:nvPr/>
        </p:nvSpPr>
        <p:spPr>
          <a:xfrm>
            <a:off x="162031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Mean acquisition time with nonthermal error
Success rate: 98% → 100%</a:t>
            </a:r>
          </a:p>
        </p:txBody>
      </p:sp>
      <p:sp>
        <p:nvSpPr>
          <p:cNvPr id="14" name="Rounded Rectangle 13"/>
          <p:cNvSpPr/>
          <p:nvPr/>
        </p:nvSpPr>
        <p:spPr>
          <a:xfrm>
            <a:off x="1463040" y="6949440"/>
            <a:ext cx="21396960" cy="4105656"/>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828800" y="8139544"/>
            <a:ext cx="20665440" cy="1937453"/>
          </a:xfrm>
          <a:prstGeom prst="rect">
            <a:avLst/>
          </a:prstGeom>
          <a:noFill/>
        </p:spPr>
        <p:txBody>
          <a:bodyPr wrap="square" lIns="45720" tIns="18288" rIns="45720" bIns="18288" anchor="t">
            <a:spAutoFit/>
          </a:bodyPr>
          <a:lstStyle/>
          <a:p>
            <a:pPr algn="ctr">
              <a:lnSpc>
                <a:spcPct val="125000"/>
              </a:lnSpc>
              <a:spcAft>
                <a:spcPts val="0"/>
              </a:spcAft>
            </a:pPr>
            <a:r>
              <a:rPr lang="en-US" sz="2700" b="1" dirty="0">
                <a:solidFill>
                  <a:srgbClr val="082B52"/>
                </a:solidFill>
                <a:latin typeface="Yu Gothic"/>
                <a:ea typeface="Yu Gothic"/>
              </a:rPr>
              <a:t>Results: </a:t>
            </a:r>
            <a:r>
              <a:rPr sz="2700" b="1" dirty="0">
                <a:solidFill>
                  <a:srgbClr val="082B52"/>
                </a:solidFill>
                <a:latin typeface="Yu Gothic"/>
                <a:ea typeface="Yu Gothic"/>
              </a:rPr>
              <a:t>For the evaluated box bus, the method can shorten pre-feedback link establishment.</a:t>
            </a:r>
            <a:endParaRPr lang="en-US" altLang="ja-JP" sz="2700" b="1" dirty="0">
              <a:solidFill>
                <a:srgbClr val="082B52"/>
              </a:solidFill>
              <a:latin typeface="Yu Gothic"/>
              <a:ea typeface="Yu Gothic"/>
            </a:endParaRPr>
          </a:p>
          <a:p>
            <a:pPr algn="ctr">
              <a:lnSpc>
                <a:spcPct val="125000"/>
              </a:lnSpc>
              <a:spcAft>
                <a:spcPts val="0"/>
              </a:spcAft>
            </a:pPr>
            <a:endParaRPr sz="2700" b="1" dirty="0">
              <a:solidFill>
                <a:srgbClr val="082B52"/>
              </a:solidFill>
              <a:latin typeface="Yu Gothic"/>
              <a:ea typeface="Yu Gothic"/>
            </a:endParaRPr>
          </a:p>
          <a:p>
            <a:pPr algn="ctr"/>
            <a:r>
              <a:rPr lang="ja-JP" altLang="ja-JP" sz="2800" b="1" dirty="0"/>
              <a:t>Contributions: STT–LCT relative LOS, cross-condition coefficient sharing, and connection to coarse-acquisition performance.</a:t>
            </a:r>
            <a:endParaRPr lang="en-US" altLang="ja-JP" sz="2800" b="1" dirty="0"/>
          </a:p>
          <a:p>
            <a:pPr algn="ctr"/>
            <a:endParaRPr lang="en-US" altLang="ja-JP" sz="2800" b="1" dirty="0"/>
          </a:p>
        </p:txBody>
      </p:sp>
      <p:sp>
        <p:nvSpPr>
          <p:cNvPr id="16" name="TextBox 15"/>
          <p:cNvSpPr txBox="1"/>
          <p:nvPr/>
        </p:nvSpPr>
        <p:spPr>
          <a:xfrm>
            <a:off x="1463040" y="11426190"/>
            <a:ext cx="21396960" cy="548640"/>
          </a:xfrm>
          <a:prstGeom prst="rect">
            <a:avLst/>
          </a:prstGeom>
          <a:noFill/>
        </p:spPr>
        <p:txBody>
          <a:bodyPr wrap="square" lIns="45720" tIns="18288" rIns="45720" bIns="18288" anchor="t">
            <a:spAutoFit/>
          </a:bodyPr>
          <a:lstStyle/>
          <a:p>
            <a:pPr algn="ctr">
              <a:spcAft>
                <a:spcPts val="0"/>
              </a:spcAft>
            </a:pPr>
            <a:r>
              <a:rPr sz="2400" b="0" dirty="0">
                <a:solidFill>
                  <a:srgbClr val="666F79"/>
                </a:solidFill>
                <a:latin typeface="Yu Gothic"/>
                <a:ea typeface="Yu Gothic"/>
              </a:rPr>
              <a:t>Oral presentation at ICSO 2026 on October 15</a:t>
            </a:r>
          </a:p>
        </p:txBody>
      </p:sp>
      <p:sp>
        <p:nvSpPr>
          <p:cNvPr id="17" name="TextBox 16"/>
          <p:cNvSpPr txBox="1"/>
          <p:nvPr/>
        </p:nvSpPr>
        <p:spPr>
          <a:xfrm>
            <a:off x="1463040" y="12294870"/>
            <a:ext cx="21396960" cy="731520"/>
          </a:xfrm>
          <a:prstGeom prst="rect">
            <a:avLst/>
          </a:prstGeom>
          <a:noFill/>
        </p:spPr>
        <p:txBody>
          <a:bodyPr wrap="square" lIns="45720" tIns="18288" rIns="45720" bIns="18288" anchor="t">
            <a:spAutoFit/>
          </a:bodyPr>
          <a:lstStyle/>
          <a:p>
            <a:pPr algn="ctr">
              <a:spcAft>
                <a:spcPts val="0"/>
              </a:spcAft>
            </a:pPr>
            <a:r>
              <a:rPr sz="3000" b="1">
                <a:solidFill>
                  <a:srgbClr val="1B74AA"/>
                </a:solidFill>
                <a:latin typeface="Yu Gothic"/>
                <a:ea typeface="Yu Gothic"/>
              </a:rPr>
              <a:t>Thank you for your attention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square" lIns="36576" tIns="27432" rIns="36576" bIns="27432" anchor="t">
            <a:spAutoFit/>
          </a:bodyPr>
          <a:lstStyle/>
          <a:p>
            <a:pPr algn="ctr">
              <a:spcAft>
                <a:spcPts val="0"/>
              </a:spcAft>
            </a:pPr>
            <a:r>
              <a:rPr sz="3200" b="1">
                <a:solidFill>
                  <a:srgbClr val="5BB5D8"/>
                </a:solidFill>
                <a:latin typeface="Yu Gothic"/>
                <a:ea typeface="Yu Gothic"/>
              </a:rPr>
              <a:t>B</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Yu Gothic"/>
                <a:ea typeface="Yu Gothic"/>
              </a:rPr>
              <a:t>Appendix</a:t>
            </a:r>
            <a:endParaRPr sz="4400" b="1" dirty="0">
              <a:solidFill>
                <a:srgbClr val="FFFFFF"/>
              </a:solidFill>
              <a:latin typeface="Yu Gothic"/>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2</a:t>
            </a:r>
            <a:r>
              <a:rPr lang="en-US" sz="1800" b="0" dirty="0">
                <a:solidFill>
                  <a:srgbClr val="666F79"/>
                </a:solidFill>
                <a:latin typeface="Yu Gothic"/>
              </a:rPr>
              <a:t>4</a:t>
            </a:r>
            <a:endParaRPr sz="1800" b="0" dirty="0">
              <a:solidFill>
                <a:srgbClr val="666F79"/>
              </a:solidFill>
              <a:latin typeface="Yu Gothic"/>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25</a:t>
            </a:r>
            <a:endParaRPr sz="1800" b="0" dirty="0">
              <a:solidFill>
                <a:srgbClr val="666F79"/>
              </a:solidFill>
              <a:latin typeface="Yu Gothic"/>
            </a:endParaRPr>
          </a:p>
        </p:txBody>
      </p:sp>
      <p:graphicFrame>
        <p:nvGraphicFramePr>
          <p:cNvPr id="28" name="Table 27"/>
          <p:cNvGraphicFramePr>
            <a:graphicFrameLocks noGrp="1"/>
          </p:cNvGraphicFramePr>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26</a:t>
            </a:r>
            <a:endParaRPr sz="1800" b="0" dirty="0">
              <a:solidFill>
                <a:srgbClr val="666F79"/>
              </a:solidFill>
              <a:latin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B1｜21ケースの内訳と評価ID</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B1</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Yu Gothic"/>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04, 13–15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08, 16, 18, 19</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05, 06, 20, 21</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09, 17, 23, 24</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sz="2300" b="0">
                          <a:solidFill>
                            <a:srgbClr val="232B34"/>
                          </a:solidFill>
                          <a:latin typeface="Yu Gothic"/>
                          <a:ea typeface="Yu Gothic"/>
                        </a:rPr>
                        <a:t>10–12</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sz="2300" b="0">
                          <a:solidFill>
                            <a:srgbClr val="232B34"/>
                          </a:solidFill>
                          <a:latin typeface="Yu Gothic"/>
                          <a:ea typeface="Yu Gothic"/>
                        </a:rPr>
                        <a:t>22</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sz="2300" b="0">
                          <a:solidFill>
                            <a:srgbClr val="232B34"/>
                          </a:solidFill>
                          <a:latin typeface="Yu Gothic"/>
                          <a:ea typeface="Yu Gothic"/>
                        </a:rPr>
                        <a:t>25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82880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評価IDは 04–06 と 08–25。01–03 と 07 はMZ太陽や設定確認のケースで除外</a:t>
            </a:r>
          </a:p>
          <a:p>
            <a:pPr algn="l">
              <a:lnSpc>
                <a:spcPct val="125000"/>
              </a:lnSpc>
              <a:spcAft>
                <a:spcPts val="0"/>
              </a:spcAft>
            </a:pPr>
            <a:r>
              <a:rPr sz="2300" b="0">
                <a:solidFill>
                  <a:srgbClr val="666F79"/>
                </a:solidFill>
                <a:latin typeface="Yu Gothic"/>
                <a:ea typeface="Yu Gothic"/>
              </a:rPr>
              <a:t>PZ/MZを太陽面にするケースは、その面にSTT/LCTがあるので設定しない</a:t>
            </a:r>
          </a:p>
          <a:p>
            <a:pPr algn="l">
              <a:lnSpc>
                <a:spcPct val="125000"/>
              </a:lnSpc>
              <a:spcAft>
                <a:spcPts val="0"/>
              </a:spcAft>
            </a:pPr>
            <a:r>
              <a:rPr sz="2300" b="0">
                <a:solidFill>
                  <a:srgbClr val="666F79"/>
                </a:solidFill>
                <a:latin typeface="Yu Gothic"/>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9922716"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B2｜矩形スパイラル走査の幾何</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Yu Gothic"/>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Yu Gothic"/>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Yu Gothic"/>
                          <a:ea typeface="Yu Gothic"/>
                        </a:rPr>
                        <a:t>走査範囲</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Yu Gothic"/>
                          <a:ea typeface="Yu Gothic"/>
                        </a:rPr>
                        <a:t>点間隔</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120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Yu Gothic"/>
                          <a:ea typeface="Yu Gothic"/>
                        </a:rPr>
                        <a:t>検出半径</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150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Yu Gothic"/>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Yu Gothic"/>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Yu Gothic"/>
                          <a:ea typeface="Yu Gothic"/>
                        </a:rPr>
                        <a:t>最大走査時間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72.9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3" name="TextBox 32"/>
          <p:cNvSpPr txBox="1"/>
          <p:nvPr/>
        </p:nvSpPr>
        <p:spPr>
          <a:xfrm>
            <a:off x="12252960" y="9052560"/>
            <a:ext cx="10881360" cy="91440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Yu Gothic"/>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8962050"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B3｜軌道予測誤差の作り方と、リンク横断面への射影</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B3</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Yu Gothic"/>
                <a:ea typeface="Yu Gothic"/>
              </a:rPr>
              <a:t>• 真値は Sentinel-1 の高精度暦 POEORB</a:t>
            </a:r>
          </a:p>
          <a:p>
            <a:pPr>
              <a:lnSpc>
                <a:spcPct val="110000"/>
              </a:lnSpc>
              <a:spcAft>
                <a:spcPts val="1000"/>
              </a:spcAft>
            </a:pPr>
            <a:r>
              <a:rPr sz="2400" b="0">
                <a:solidFill>
                  <a:srgbClr val="232B34"/>
                </a:solidFill>
                <a:latin typeface="Yu Gothic"/>
                <a:ea typeface="Yu Gothic"/>
              </a:rPr>
              <a:t>• 予測は直近のTLEを SGP4 で前方伝播</a:t>
            </a:r>
          </a:p>
          <a:p>
            <a:pPr>
              <a:lnSpc>
                <a:spcPct val="110000"/>
              </a:lnSpc>
              <a:spcAft>
                <a:spcPts val="1000"/>
              </a:spcAft>
            </a:pPr>
            <a:r>
              <a:rPr sz="2400" b="0">
                <a:solidFill>
                  <a:srgbClr val="232B34"/>
                </a:solidFill>
                <a:latin typeface="Yu Gothic"/>
                <a:ea typeface="Yu Gothic"/>
              </a:rPr>
              <a:t>• 差をリンク横断面へ射影し、x–y の2成分にする</a:t>
            </a:r>
          </a:p>
          <a:p>
            <a:pPr>
              <a:lnSpc>
                <a:spcPct val="110000"/>
              </a:lnSpc>
              <a:spcAft>
                <a:spcPts val="1000"/>
              </a:spcAft>
            </a:pPr>
            <a:r>
              <a:rPr sz="2400" b="0">
                <a:solidFill>
                  <a:srgbClr val="232B34"/>
                </a:solidFill>
                <a:latin typeface="Yu Gothic"/>
                <a:ea typeface="Yu Gothic"/>
              </a:rPr>
              <a:t>• 熱LOSと同じ2成分で足し合わせる</a:t>
            </a:r>
          </a:p>
          <a:p>
            <a:pPr>
              <a:lnSpc>
                <a:spcPct val="110000"/>
              </a:lnSpc>
              <a:spcAft>
                <a:spcPts val="1000"/>
              </a:spcAft>
            </a:pPr>
            <a:r>
              <a:rPr sz="2400" b="0">
                <a:solidFill>
                  <a:srgbClr val="232B34"/>
                </a:solidFill>
                <a:latin typeface="Yu Gothic"/>
                <a:ea typeface="Yu Gothic"/>
              </a:rPr>
              <a:t>• 時系列の不連続は、TLEが更新された時刻</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Yu Gothic"/>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sz="21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sz="21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sz="21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sz="21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525445"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B4｜熱と軌道予測は同じ軌道周期。周波数では分けない</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B4</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Yu Gothic"/>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Yu Gothic"/>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Yu Gothic"/>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Yu Gothic"/>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Yu Gothic"/>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Yu Gothic"/>
                <a:ea typeface="Yu Gothic"/>
              </a:rPr>
              <a:t>熱：約101分</a:t>
            </a:r>
          </a:p>
          <a:p>
            <a:pPr algn="ctr">
              <a:lnSpc>
                <a:spcPct val="120000"/>
              </a:lnSpc>
              <a:spcAft>
                <a:spcPts val="0"/>
              </a:spcAft>
            </a:pPr>
            <a:r>
              <a:rPr sz="2400" b="1">
                <a:solidFill>
                  <a:srgbClr val="EC9427"/>
                </a:solidFill>
                <a:latin typeface="Yu Gothic"/>
                <a:ea typeface="Yu Gothic"/>
              </a:rPr>
              <a:t>軌道予測：約101分 と約50分</a:t>
            </a:r>
          </a:p>
        </p:txBody>
      </p:sp>
      <p:sp>
        <p:nvSpPr>
          <p:cNvPr id="10" name="TextBox 9"/>
          <p:cNvSpPr txBox="1"/>
          <p:nvPr/>
        </p:nvSpPr>
        <p:spPr>
          <a:xfrm>
            <a:off x="1097280" y="11247120"/>
            <a:ext cx="22128480" cy="1188720"/>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Yu Gothic"/>
                <a:ea typeface="Yu Gothic"/>
              </a:rPr>
              <a:t>熱ひずみと軌道予測誤差は、大きさも周波数帯も同程度</a:t>
            </a:r>
            <a:endParaRPr lang="en-US" sz="2900" b="1" dirty="0">
              <a:solidFill>
                <a:srgbClr val="D03B46"/>
              </a:solidFill>
              <a:latin typeface="Yu Gothic"/>
            </a:endParaRPr>
          </a:p>
          <a:p>
            <a:pPr algn="ctr">
              <a:lnSpc>
                <a:spcPct val="120000"/>
              </a:lnSpc>
              <a:spcAft>
                <a:spcPts val="0"/>
              </a:spcAft>
            </a:pPr>
            <a:r>
              <a:rPr sz="2500" b="1">
                <a:solidFill>
                  <a:srgbClr val="082B52"/>
                </a:solidFill>
                <a:latin typeface="Yu Gothic"/>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B5｜LOS定義の比較と、並進を入れない理由</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B5</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118872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Yu Gothic"/>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B6（1/2）｜モデルが難しいケース</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B6</a:t>
            </a:r>
          </a:p>
        </p:txBody>
      </p:sp>
      <p:graphicFrame>
        <p:nvGraphicFramePr>
          <p:cNvPr id="5" name="Table 4"/>
          <p:cNvGraphicFramePr>
            <a:graphicFrameLocks noGrp="1"/>
          </p:cNvGraphicFramePr>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Yu Gothic"/>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Yu Gothic"/>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Yu Gothic"/>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Yu Gothic"/>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Yu Gothic"/>
                <a:ea typeface="Yu Gothic"/>
              </a:rPr>
              <a:t>共通する構図</a:t>
            </a:r>
          </a:p>
        </p:txBody>
      </p:sp>
      <p:sp>
        <p:nvSpPr>
          <p:cNvPr id="8" name="TextBox 7"/>
          <p:cNvSpPr txBox="1"/>
          <p:nvPr/>
        </p:nvSpPr>
        <p:spPr>
          <a:xfrm>
            <a:off x="18288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時変の項ではなく、ケース平均の側が外れている。</a:t>
            </a:r>
          </a:p>
          <a:p>
            <a:pPr algn="l">
              <a:lnSpc>
                <a:spcPct val="125000"/>
              </a:lnSpc>
              <a:spcAft>
                <a:spcPts val="0"/>
              </a:spcAft>
            </a:pPr>
            <a:r>
              <a:rPr sz="2400" b="0">
                <a:solidFill>
                  <a:srgbClr val="232B34"/>
                </a:solidFill>
                <a:latin typeface="Yu Gothic"/>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Yu Gothic"/>
                <a:ea typeface="Yu Gothic"/>
              </a:rPr>
              <a:t>主結果の範囲</a:t>
            </a:r>
          </a:p>
        </p:txBody>
      </p:sp>
      <p:sp>
        <p:nvSpPr>
          <p:cNvPr id="11" name="TextBox 10"/>
          <p:cNvSpPr txBox="1"/>
          <p:nvPr/>
        </p:nvSpPr>
        <p:spPr>
          <a:xfrm>
            <a:off x="128016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標準COLD・標準表面の条件で、固定16係数のまま</a:t>
            </a:r>
          </a:p>
          <a:p>
            <a:pPr algn="l">
              <a:lnSpc>
                <a:spcPct val="125000"/>
              </a:lnSpc>
              <a:spcAft>
                <a:spcPts val="0"/>
              </a:spcAft>
            </a:pPr>
            <a:r>
              <a:rPr sz="2400" b="0">
                <a:solidFill>
                  <a:srgbClr val="232B34"/>
                </a:solidFill>
                <a:latin typeface="Yu Gothic"/>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390793"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B6（2/2）｜取付点の温度を足すと係数が壊れる</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B6</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試したこと</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Yu Gothic"/>
                <a:ea typeface="Yu Gothic"/>
              </a:rPr>
              <a:t>• 温度差と取付点温度の相関が 0.995</a:t>
            </a:r>
          </a:p>
          <a:p>
            <a:pPr>
              <a:lnSpc>
                <a:spcPct val="110000"/>
              </a:lnSpc>
              <a:spcAft>
                <a:spcPts val="1200"/>
              </a:spcAft>
            </a:pPr>
            <a:r>
              <a:rPr sz="2500" b="0">
                <a:solidFill>
                  <a:srgbClr val="232B34"/>
                </a:solidFill>
                <a:latin typeface="Yu Gothic"/>
                <a:ea typeface="Yu Gothic"/>
              </a:rPr>
              <a:t>• 取付点まわりの温度のばらつきは 0.1 K 程度</a:t>
            </a:r>
          </a:p>
          <a:p>
            <a:pPr>
              <a:lnSpc>
                <a:spcPct val="110000"/>
              </a:lnSpc>
              <a:spcAft>
                <a:spcPts val="1200"/>
              </a:spcAft>
            </a:pPr>
            <a:r>
              <a:rPr sz="2500" b="0">
                <a:solidFill>
                  <a:srgbClr val="232B34"/>
                </a:solidFill>
                <a:latin typeface="Yu Gothic"/>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解釈</a:t>
            </a:r>
          </a:p>
        </p:txBody>
      </p:sp>
      <p:sp>
        <p:nvSpPr>
          <p:cNvPr id="12" name="TextBox 11"/>
          <p:cNvSpPr txBox="1"/>
          <p:nvPr/>
        </p:nvSpPr>
        <p:spPr>
          <a:xfrm>
            <a:off x="14356080" y="4572000"/>
            <a:ext cx="7863840" cy="2011680"/>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Yu Gothic"/>
                <a:ea typeface="Yu Gothic"/>
              </a:rPr>
              <a:t>効いていたのは軌道内の変動ではなく</a:t>
            </a:r>
          </a:p>
          <a:p>
            <a:pPr algn="ctr">
              <a:spcAft>
                <a:spcPts val="0"/>
              </a:spcAft>
            </a:pPr>
            <a:r>
              <a:rPr sz="2600" b="0">
                <a:solidFill>
                  <a:srgbClr val="232B34"/>
                </a:solidFill>
                <a:latin typeface="Yu Gothic"/>
                <a:ea typeface="Yu Gothic"/>
              </a:rPr>
              <a:t>ケース平均のDCだった</a:t>
            </a:r>
          </a:p>
        </p:txBody>
      </p:sp>
      <p:sp>
        <p:nvSpPr>
          <p:cNvPr id="13" name="TextBox 12"/>
          <p:cNvSpPr txBox="1"/>
          <p:nvPr/>
        </p:nvSpPr>
        <p:spPr>
          <a:xfrm>
            <a:off x="14721840" y="7543800"/>
            <a:ext cx="71323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 b_case 側へ分離した</a:t>
            </a:r>
          </a:p>
        </p:txBody>
      </p:sp>
      <p:sp>
        <p:nvSpPr>
          <p:cNvPr id="14" name="TextBox 13"/>
          <p:cNvSpPr txBox="1"/>
          <p:nvPr/>
        </p:nvSpPr>
        <p:spPr>
          <a:xfrm>
            <a:off x="3840480" y="10652760"/>
            <a:ext cx="16642080" cy="640080"/>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Yu Gothic"/>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B7｜平均だけを引いた場合（定数バイアスのみ）は未計算</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B7</a:t>
            </a: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1097280"/>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Yu Gothic"/>
                <a:ea typeface="Yu Gothic"/>
              </a:rPr>
              <a:t>未計算</a:t>
            </a:r>
          </a:p>
        </p:txBody>
      </p:sp>
      <p:sp>
        <p:nvSpPr>
          <p:cNvPr id="7" name="TextBox 6"/>
          <p:cNvSpPr txBox="1"/>
          <p:nvPr/>
        </p:nvSpPr>
        <p:spPr>
          <a:xfrm>
            <a:off x="2926080" y="5852160"/>
            <a:ext cx="18470880" cy="1645920"/>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Yu Gothic"/>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Yu Gothic"/>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この列が示すはずのこと</a:t>
            </a:r>
          </a:p>
        </p:txBody>
      </p:sp>
      <p:sp>
        <p:nvSpPr>
          <p:cNvPr id="10" name="TextBox 9"/>
          <p:cNvSpPr txBox="1"/>
          <p:nvPr/>
        </p:nvSpPr>
        <p:spPr>
          <a:xfrm>
            <a:off x="32004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Yu Gothic"/>
                <a:ea typeface="Yu Gothic"/>
              </a:rPr>
              <a:t>7月に出した秒は流用しない</a:t>
            </a:r>
          </a:p>
        </p:txBody>
      </p:sp>
      <p:sp>
        <p:nvSpPr>
          <p:cNvPr id="13" name="TextBox 12"/>
          <p:cNvSpPr txBox="1"/>
          <p:nvPr/>
        </p:nvSpPr>
        <p:spPr>
          <a:xfrm>
            <a:off x="128016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548640"/>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Yu Gothic"/>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B8｜先行研究の位置づけ（2軸で見る）</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B8</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Yu Gothic"/>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sz="2300" b="0">
                          <a:solidFill>
                            <a:srgbClr val="232B34"/>
                          </a:solidFill>
                          <a:latin typeface="Yu Gothic"/>
                          <a:ea typeface="Yu Gothic"/>
                        </a:rPr>
                        <a:t>Riesing 2023（TBIRD）</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sz="2300" b="0">
                          <a:solidFill>
                            <a:srgbClr val="232B34"/>
                          </a:solidFill>
                          <a:latin typeface="Yu Gothic"/>
                          <a:ea typeface="Yu Gothic"/>
                        </a:rPr>
                        <a:t>Shi 2023</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sz="2300" b="0">
                          <a:solidFill>
                            <a:srgbClr val="232B34"/>
                          </a:solidFill>
                          <a:latin typeface="Yu Gothic"/>
                          <a:ea typeface="Yu Gothic"/>
                        </a:rPr>
                        <a:t>Hu 2022（GEO）</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sz="2300" b="0">
                          <a:solidFill>
                            <a:srgbClr val="232B34"/>
                          </a:solidFill>
                          <a:latin typeface="Yu Gothic"/>
                          <a:ea typeface="Yu Gothic"/>
                        </a:rPr>
                        <a:t>Li 2025（LEO）</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sz="2300" b="0">
                          <a:solidFill>
                            <a:srgbClr val="232B34"/>
                          </a:solidFill>
                          <a:latin typeface="Yu Gothic"/>
                          <a:ea typeface="Yu Gothic"/>
                        </a:rPr>
                        <a:t>JANUS（Turella）</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Yu Gothic"/>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64008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B9｜解析モデルの妥当性をどう検証するか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B9</a:t>
            </a: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今日の主張の範囲</a:t>
            </a:r>
          </a:p>
        </p:txBody>
      </p:sp>
      <p:sp>
        <p:nvSpPr>
          <p:cNvPr id="7" name="TextBox 6"/>
          <p:cNvSpPr txBox="1"/>
          <p:nvPr/>
        </p:nvSpPr>
        <p:spPr>
          <a:xfrm>
            <a:off x="1737360" y="4434840"/>
            <a:ext cx="1005840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入っていないもの</a:t>
            </a:r>
          </a:p>
        </p:txBody>
      </p:sp>
      <p:sp>
        <p:nvSpPr>
          <p:cNvPr id="10" name="TextBox 9"/>
          <p:cNvSpPr txBox="1"/>
          <p:nvPr/>
        </p:nvSpPr>
        <p:spPr>
          <a:xfrm>
            <a:off x="13075920" y="4434840"/>
            <a:ext cx="987552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今後の検証</a:t>
            </a:r>
          </a:p>
        </p:txBody>
      </p:sp>
      <p:sp>
        <p:nvSpPr>
          <p:cNvPr id="13" name="TextBox 12"/>
          <p:cNvSpPr txBox="1"/>
          <p:nvPr/>
        </p:nvSpPr>
        <p:spPr>
          <a:xfrm>
            <a:off x="1737360" y="8458200"/>
            <a:ext cx="21214080" cy="178308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B10｜姿勢の前提と、変わる頻度</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B10</a:t>
            </a: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前提</a:t>
            </a:r>
          </a:p>
        </p:txBody>
      </p:sp>
      <p:sp>
        <p:nvSpPr>
          <p:cNvPr id="7" name="TextBox 6"/>
          <p:cNvSpPr txBox="1"/>
          <p:nvPr/>
        </p:nvSpPr>
        <p:spPr>
          <a:xfrm>
            <a:off x="1737360" y="4526280"/>
            <a:ext cx="1005840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ジンバルの場合</a:t>
            </a:r>
          </a:p>
        </p:txBody>
      </p:sp>
      <p:sp>
        <p:nvSpPr>
          <p:cNvPr id="10" name="TextBox 9"/>
          <p:cNvSpPr txBox="1"/>
          <p:nvPr/>
        </p:nvSpPr>
        <p:spPr>
          <a:xfrm>
            <a:off x="13075920" y="4526280"/>
            <a:ext cx="987552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未解析</a:t>
            </a:r>
          </a:p>
        </p:txBody>
      </p:sp>
      <p:sp>
        <p:nvSpPr>
          <p:cNvPr id="13" name="TextBox 12"/>
          <p:cNvSpPr txBox="1"/>
          <p:nvPr/>
        </p:nvSpPr>
        <p:spPr>
          <a:xfrm>
            <a:off x="1737360" y="8823960"/>
            <a:ext cx="21214080" cy="160020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B11｜残差Fourier更新の数値（予備）</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B11</a:t>
            </a:r>
          </a:p>
        </p:txBody>
      </p:sp>
      <p:graphicFrame>
        <p:nvGraphicFramePr>
          <p:cNvPr id="5" name="Table 4"/>
          <p:cNvGraphicFramePr>
            <a:graphicFrameLocks noGrp="1"/>
          </p:cNvGraphicFramePr>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Yu Gothic"/>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Case 13（MY）全誤差を直接Fourier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1.39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3.37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0.39 s</a:t>
                      </a: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Case 13（MY）階層モデル＋残差Fourier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0.79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1.60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Case 16（PY）全誤差を直接Fourier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13.2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Case 16（PY）階層モデル＋残差Fourier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0.76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457200"/>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Yu Gothic"/>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640080"/>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Yu Gothic"/>
                <a:ea typeface="Yu Gothic"/>
              </a:rPr>
              <a:t>定数の残差更新との差</a:t>
            </a:r>
          </a:p>
        </p:txBody>
      </p:sp>
      <p:sp>
        <p:nvSpPr>
          <p:cNvPr id="9" name="TextBox 8"/>
          <p:cNvSpPr txBox="1"/>
          <p:nvPr/>
        </p:nvSpPr>
        <p:spPr>
          <a:xfrm>
            <a:off x="1737360" y="10012680"/>
            <a:ext cx="1005840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640080"/>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Yu Gothic"/>
                <a:ea typeface="Yu Gothic"/>
              </a:rPr>
              <a:t>限界</a:t>
            </a:r>
          </a:p>
        </p:txBody>
      </p:sp>
      <p:sp>
        <p:nvSpPr>
          <p:cNvPr id="12" name="TextBox 11"/>
          <p:cNvSpPr txBox="1"/>
          <p:nvPr/>
        </p:nvSpPr>
        <p:spPr>
          <a:xfrm>
            <a:off x="13075920" y="10012680"/>
            <a:ext cx="987552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548640"/>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Yu Gothic"/>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B12｜前に聞いた秒と、今日の秒の対応</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B12</a:t>
            </a:r>
          </a:p>
        </p:txBody>
      </p:sp>
      <p:graphicFrame>
        <p:nvGraphicFramePr>
          <p:cNvPr id="5" name="Table 4"/>
          <p:cNvGraphicFramePr>
            <a:graphicFrameLocks noGrp="1"/>
          </p:cNvGraphicFramePr>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Yu Gothic"/>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Yu Gothic"/>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Yu Gothic"/>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Yu Gothic"/>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Yu Gothic"/>
                          <a:ea typeface="Yu Gothic"/>
                        </a:rPr>
                        <a:t>今日（提出稿）</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14.6 → 0.10 s、19.2 → 5.45 s</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1371600"/>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Yu Gothic"/>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Yu Gothic"/>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5190</TotalTime>
  <Words>6987</Words>
  <Application>Microsoft Office PowerPoint</Application>
  <PresentationFormat>ユーザー設定</PresentationFormat>
  <Paragraphs>964</Paragraphs>
  <Slides>45</Slides>
  <Notes>45</Notes>
  <HiddenSlides>14</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游ゴシック</vt:lpstr>
      <vt:lpstr>游ゴシック</vt:lpstr>
      <vt:lpstr>Yu Gothic Medium</vt:lpstr>
      <vt:lpstr>Aptos</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Before optical feedback is available,  scan-center offset determines coarse-acquisition search time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43</cp:revision>
  <cp:lastPrinted>2026-10-05T01:11:06Z</cp:lastPrinted>
  <dcterms:created xsi:type="dcterms:W3CDTF">2026-05-11T08:23:04Z</dcterms:created>
  <dcterms:modified xsi:type="dcterms:W3CDTF">2026-10-06T06:43:51Z</dcterms:modified>
</cp:coreProperties>
</file>