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25"/>
  </p:notesMasterIdLst>
  <p:sldIdLst>
    <p:sldId id="263" r:id="rId2"/>
    <p:sldId id="257" r:id="rId3"/>
    <p:sldId id="282" r:id="rId4"/>
    <p:sldId id="324" r:id="rId5"/>
    <p:sldId id="325" r:id="rId6"/>
    <p:sldId id="266" r:id="rId7"/>
    <p:sldId id="342" r:id="rId8"/>
    <p:sldId id="283" r:id="rId9"/>
    <p:sldId id="268" r:id="rId10"/>
    <p:sldId id="269" r:id="rId11"/>
    <p:sldId id="275" r:id="rId12"/>
    <p:sldId id="271" r:id="rId13"/>
    <p:sldId id="343" r:id="rId14"/>
    <p:sldId id="285" r:id="rId15"/>
    <p:sldId id="321" r:id="rId16"/>
    <p:sldId id="322" r:id="rId17"/>
    <p:sldId id="327" r:id="rId18"/>
    <p:sldId id="344" r:id="rId19"/>
    <p:sldId id="297" r:id="rId20"/>
    <p:sldId id="299" r:id="rId21"/>
    <p:sldId id="304" r:id="rId22"/>
    <p:sldId id="345" r:id="rId23"/>
    <p:sldId id="331" r:id="rId24"/>
  </p:sldIdLst>
  <p:sldSz cx="24382413" cy="13716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B66B"/>
    <a:srgbClr val="1B74AA"/>
    <a:srgbClr val="F4F6F8"/>
    <a:srgbClr val="EF25D7"/>
    <a:srgbClr val="66A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37" autoAdjust="0"/>
    <p:restoredTop sz="64842" autoAdjust="0"/>
  </p:normalViewPr>
  <p:slideViewPr>
    <p:cSldViewPr snapToGrid="0">
      <p:cViewPr varScale="1">
        <p:scale>
          <a:sx n="24" d="100"/>
          <a:sy n="24" d="100"/>
        </p:scale>
        <p:origin x="117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6" d="100"/>
          <a:sy n="56" d="100"/>
        </p:scale>
        <p:origin x="2588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56" tIns="49528" rIns="99056" bIns="49528" rtlCol="0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4023991" y="0"/>
            <a:ext cx="3078427" cy="513508"/>
          </a:xfrm>
          <a:prstGeom prst="rect">
            <a:avLst/>
          </a:prstGeom>
        </p:spPr>
        <p:txBody>
          <a:bodyPr vert="horz" lIns="99056" tIns="49528" rIns="99056" bIns="49528" rtlCol="0"/>
          <a:lstStyle>
            <a:lvl1pPr algn="r">
              <a:defRPr sz="1300"/>
            </a:lvl1pPr>
          </a:lstStyle>
          <a:p>
            <a:fld id="{30F80C97-2400-5344-89F3-3CED47A68B44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56" tIns="49528" rIns="99056" bIns="49528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710407" y="4925408"/>
            <a:ext cx="5683250" cy="4029879"/>
          </a:xfrm>
          <a:prstGeom prst="rect">
            <a:avLst/>
          </a:prstGeom>
        </p:spPr>
        <p:txBody>
          <a:bodyPr vert="horz" lIns="99056" tIns="49528" rIns="99056" bIns="49528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721108"/>
            <a:ext cx="3078427" cy="513507"/>
          </a:xfrm>
          <a:prstGeom prst="rect">
            <a:avLst/>
          </a:prstGeom>
        </p:spPr>
        <p:txBody>
          <a:bodyPr vert="horz" lIns="99056" tIns="49528" rIns="99056" bIns="49528" rtlCol="0" anchor="b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4023991" y="9721108"/>
            <a:ext cx="3078427" cy="513507"/>
          </a:xfrm>
          <a:prstGeom prst="rect">
            <a:avLst/>
          </a:prstGeom>
        </p:spPr>
        <p:txBody>
          <a:bodyPr vert="horz" lIns="99056" tIns="49528" rIns="99056" bIns="49528" rtlCol="0" anchor="b"/>
          <a:lstStyle>
            <a:lvl1pPr algn="r">
              <a:defRPr sz="1300"/>
            </a:lvl1pPr>
          </a:lstStyle>
          <a:p>
            <a:fld id="{6CC54EC6-2177-1447-9798-A1A3B80469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36270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spcAft>
                <a:spcPts val="650"/>
              </a:spcAft>
            </a:pPr>
            <a:r>
              <a:rPr sz="1700" dirty="0">
                <a:latin typeface="Calibri"/>
              </a:rPr>
              <a:t>Good afternoon</a:t>
            </a:r>
            <a:r>
              <a:rPr lang="en-US" sz="1700" dirty="0">
                <a:latin typeface="Calibri"/>
              </a:rPr>
              <a:t>, everyone.</a:t>
            </a:r>
            <a:endParaRPr sz="1700" dirty="0">
              <a:latin typeface="Calibri"/>
            </a:endParaRP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I’m </a:t>
            </a:r>
            <a:r>
              <a:rPr sz="1700" dirty="0">
                <a:latin typeface="Calibri"/>
              </a:rPr>
              <a:t>Hideki Takamoto</a:t>
            </a:r>
            <a:r>
              <a:rPr lang="en-US" sz="1700" dirty="0">
                <a:latin typeface="Calibri"/>
              </a:rPr>
              <a:t>, </a:t>
            </a:r>
            <a:r>
              <a:rPr lang="en-US" altLang="ja-JP" sz="1700" dirty="0">
                <a:latin typeface="Calibri"/>
              </a:rPr>
              <a:t>a master’s student</a:t>
            </a:r>
            <a:r>
              <a:rPr lang="ja-JP" altLang="en-US" sz="1700" dirty="0">
                <a:latin typeface="Calibri"/>
              </a:rPr>
              <a:t> </a:t>
            </a:r>
            <a:r>
              <a:rPr lang="en-US" altLang="ja-JP" sz="1700" dirty="0">
                <a:latin typeface="Calibri"/>
              </a:rPr>
              <a:t>at</a:t>
            </a:r>
            <a:r>
              <a:rPr lang="ja-JP" altLang="en-US" sz="1700" dirty="0">
                <a:latin typeface="Calibri"/>
              </a:rPr>
              <a:t> </a:t>
            </a:r>
            <a:r>
              <a:rPr lang="en-US" altLang="ja-JP" sz="1700" dirty="0">
                <a:latin typeface="Calibri"/>
              </a:rPr>
              <a:t>the University of Tokyo.</a:t>
            </a:r>
          </a:p>
          <a:p>
            <a:pPr>
              <a:spcAft>
                <a:spcPts val="650"/>
              </a:spcAft>
            </a:pPr>
            <a:endParaRPr sz="1700" dirty="0">
              <a:latin typeface="Calibri"/>
            </a:endParaRPr>
          </a:p>
          <a:p>
            <a:pPr>
              <a:spcAft>
                <a:spcPts val="650"/>
              </a:spcAft>
            </a:pPr>
            <a:r>
              <a:rPr sz="1700" dirty="0">
                <a:latin typeface="Calibri"/>
              </a:rPr>
              <a:t>Today, </a:t>
            </a:r>
            <a:r>
              <a:rPr lang="en-US" sz="1700" dirty="0">
                <a:latin typeface="Calibri"/>
              </a:rPr>
              <a:t>I’ll talk about predicting and correcting thermal pointing errors to improve acquisition in optical communications.</a:t>
            </a:r>
            <a:endParaRPr sz="1700" dirty="0">
              <a:latin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ja-JP" sz="1700" dirty="0"/>
              <a:t>First, let me briefly explain the background and motivation of this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spcAft>
                <a:spcPts val="650"/>
              </a:spcAft>
            </a:pPr>
            <a:r>
              <a:rPr sz="1700" dirty="0">
                <a:latin typeface="Calibri"/>
              </a:rPr>
              <a:t>Before acquisition</a:t>
            </a:r>
            <a:r>
              <a:rPr lang="en-US" sz="1700" dirty="0">
                <a:latin typeface="Calibri"/>
              </a:rPr>
              <a:t> in optical communications</a:t>
            </a:r>
            <a:r>
              <a:rPr sz="1700" dirty="0">
                <a:latin typeface="Calibri"/>
              </a:rPr>
              <a:t>, optical feedback is not yet available.</a:t>
            </a:r>
          </a:p>
          <a:p>
            <a:pPr>
              <a:spcAft>
                <a:spcPts val="650"/>
              </a:spcAft>
            </a:pPr>
            <a:r>
              <a:rPr sz="1700" dirty="0">
                <a:latin typeface="Calibri"/>
              </a:rPr>
              <a:t>Therefore, the terminal has to search an uncertainty region that includes thermal LOS error, attitude error, and orbit-prediction error.</a:t>
            </a:r>
            <a:endParaRPr lang="en-US" sz="1700" dirty="0">
              <a:latin typeface="Calibri"/>
            </a:endParaRPr>
          </a:p>
          <a:p>
            <a:pPr>
              <a:spcAft>
                <a:spcPts val="650"/>
              </a:spcAft>
            </a:pPr>
            <a:endParaRPr sz="1700" dirty="0">
              <a:latin typeface="Calibri"/>
            </a:endParaRPr>
          </a:p>
          <a:p>
            <a:pPr>
              <a:spcAft>
                <a:spcPts val="650"/>
              </a:spcAft>
            </a:pPr>
            <a:r>
              <a:rPr sz="1700" dirty="0">
                <a:latin typeface="Calibri"/>
              </a:rPr>
              <a:t>In particular, illumination, eclipse, and internal dissipation generate temperature gradients in the spacecraft.</a:t>
            </a:r>
          </a:p>
          <a:p>
            <a:pPr defTabSz="990555">
              <a:spcAft>
                <a:spcPts val="650"/>
              </a:spcAft>
              <a:defRPr/>
            </a:pPr>
            <a:r>
              <a:rPr sz="1700" dirty="0">
                <a:latin typeface="Calibri"/>
              </a:rPr>
              <a:t>These gradients cause thermal expansion and spacecraft-bus distortion, which</a:t>
            </a:r>
            <a:r>
              <a:rPr lang="ja-JP" altLang="ja-JP" sz="1700" dirty="0"/>
              <a:t> can cause thermal LOS errors ranging from about 100 microradians to over 1 milliradian.</a:t>
            </a:r>
          </a:p>
          <a:p>
            <a:pPr>
              <a:spcAft>
                <a:spcPts val="650"/>
              </a:spcAft>
            </a:pPr>
            <a:endParaRPr sz="1700" dirty="0">
              <a:latin typeface="Calibri"/>
            </a:endParaRPr>
          </a:p>
          <a:p>
            <a:pPr>
              <a:spcAft>
                <a:spcPts val="650"/>
              </a:spcAft>
            </a:pPr>
            <a:r>
              <a:rPr sz="1700" dirty="0">
                <a:latin typeface="Calibri"/>
              </a:rPr>
              <a:t>Our approach is to predict this thermal </a:t>
            </a:r>
            <a:r>
              <a:rPr lang="en-US" sz="1700" dirty="0">
                <a:latin typeface="Calibri"/>
              </a:rPr>
              <a:t>LOS error</a:t>
            </a:r>
            <a:r>
              <a:rPr sz="1700" dirty="0">
                <a:latin typeface="Calibri"/>
              </a:rPr>
              <a:t> and </a:t>
            </a:r>
            <a:r>
              <a:rPr lang="ja-JP" altLang="ja-JP" sz="1700" dirty="0"/>
              <a:t>use it to correct the scan center before acquisition</a:t>
            </a:r>
            <a:r>
              <a:rPr sz="1700" dirty="0">
                <a:latin typeface="Calibri"/>
              </a:rPr>
              <a:t>.</a:t>
            </a:r>
          </a:p>
          <a:p>
            <a:r>
              <a:rPr lang="ja-JP" altLang="ja-JP" sz="1700" dirty="0"/>
              <a:t>This correction does not require any modification to the spacecraft structure or the laser communication terminal.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defTabSz="990555">
              <a:defRPr/>
            </a:pPr>
            <a:r>
              <a:rPr lang="ja-JP" altLang="ja-JP" sz="1700" dirty="0"/>
              <a:t>This table compares the main pointing error sources during coarse acquisition.</a:t>
            </a:r>
          </a:p>
          <a:p>
            <a:endParaRPr lang="en-US" altLang="ja-JP" sz="1700" dirty="0"/>
          </a:p>
          <a:p>
            <a:r>
              <a:rPr lang="ja-JP" altLang="ja-JP" sz="1700" dirty="0"/>
              <a:t>Thermal LOS error can be comparable to, or even larger than, orbit-prediction error.</a:t>
            </a:r>
          </a:p>
          <a:p>
            <a:r>
              <a:rPr lang="ja-JP" altLang="ja-JP" sz="1700" dirty="0"/>
              <a:t>Importantly, both errors vary on similar orbital time scales, making it difficult to separate them from pointing residuals based on frequency alone.</a:t>
            </a:r>
            <a:endParaRPr lang="en-US" altLang="ja-JP" sz="1700" dirty="0"/>
          </a:p>
          <a:p>
            <a:endParaRPr lang="ja-JP" altLang="ja-JP" sz="1700" dirty="0"/>
          </a:p>
          <a:p>
            <a:r>
              <a:rPr lang="ja-JP" altLang="ja-JP" sz="1700" dirty="0"/>
              <a:t>Therefore, we </a:t>
            </a:r>
            <a:r>
              <a:rPr lang="en-US" altLang="ja-JP" sz="1700" dirty="0"/>
              <a:t>selected the way</a:t>
            </a:r>
            <a:r>
              <a:rPr lang="ja-JP" altLang="ja-JP" sz="1700" dirty="0"/>
              <a:t> to predict and correct the thermal component before acquisition.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ja-JP" dirty="0"/>
              <a:t>Previous studies have addressed thermal LOS errors through different approaches.</a:t>
            </a:r>
          </a:p>
          <a:p>
            <a:r>
              <a:rPr lang="ja-JP" altLang="ja-JP" dirty="0"/>
              <a:t>First, </a:t>
            </a:r>
            <a:r>
              <a:rPr lang="ja-JP" altLang="ja-JP" b="1" dirty="0"/>
              <a:t>structural mitigation</a:t>
            </a:r>
            <a:r>
              <a:rPr lang="ja-JP" altLang="ja-JP" dirty="0"/>
              <a:t> aims to reduce thermal deformation through structural design, material selection, and equipment placement.</a:t>
            </a:r>
          </a:p>
          <a:p>
            <a:r>
              <a:rPr lang="ja-JP" altLang="ja-JP" dirty="0"/>
              <a:t>However, these studies mainly focus on reducing deformation, rather than predicting the remaining thermal LOS error from onboard measurements.</a:t>
            </a:r>
          </a:p>
          <a:p>
            <a:r>
              <a:rPr lang="ja-JP" altLang="ja-JP" dirty="0"/>
              <a:t>Second, </a:t>
            </a:r>
            <a:r>
              <a:rPr lang="ja-JP" altLang="ja-JP" b="1" dirty="0"/>
              <a:t>model-based LOS prediction</a:t>
            </a:r>
            <a:r>
              <a:rPr lang="ja-JP" altLang="ja-JP" dirty="0"/>
              <a:t> uses temperature differences, orbital phase, or observation geometry to predict and correct LOS variations.</a:t>
            </a:r>
          </a:p>
          <a:p>
            <a:r>
              <a:rPr lang="ja-JP" altLang="ja-JP" dirty="0"/>
              <a:t>However, the studies shown here mainly focus on individual optical instruments or cameras, without connecting spacecraft-bus LOS prediction to coarse-acquisition performance.</a:t>
            </a:r>
          </a:p>
          <a:p>
            <a:r>
              <a:rPr lang="ja-JP" altLang="ja-JP" b="1" dirty="0"/>
              <a:t>In this study</a:t>
            </a:r>
            <a:r>
              <a:rPr lang="ja-JP" altLang="ja-JP" dirty="0"/>
              <a:t>, we predict the relative LOS between the STT and LCT across the spacecraft bus, using temperature and operating-state information.</a:t>
            </a:r>
          </a:p>
          <a:p>
            <a:r>
              <a:rPr lang="ja-JP" altLang="ja-JP" dirty="0"/>
              <a:t>We then apply this prediction to coarse acquisition and evaluate its impact on acquisition time and success rate.</a:t>
            </a:r>
          </a:p>
          <a:p>
            <a:endParaRPr lang="ja-JP" alt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ja-JP" sz="1700" dirty="0"/>
              <a:t>This slide shows the overall workflow of our study.</a:t>
            </a:r>
          </a:p>
          <a:p>
            <a:r>
              <a:rPr lang="ja-JP" altLang="ja-JP" sz="1700" dirty="0"/>
              <a:t>On the ground, Thermal Desktop and Femap generate reference thermal LOS data, which we use to develop a reduced-order model.</a:t>
            </a:r>
          </a:p>
          <a:p>
            <a:r>
              <a:rPr lang="ja-JP" altLang="ja-JP" sz="1700" dirty="0"/>
              <a:t>On orbit, the model predicts thermal LOS from temperature and operating-state information</a:t>
            </a:r>
            <a:r>
              <a:rPr lang="en-US" altLang="ja-JP" sz="1700" dirty="0"/>
              <a:t>,</a:t>
            </a:r>
            <a:r>
              <a:rPr lang="ja-JP" altLang="ja-JP" sz="1700" dirty="0"/>
              <a:t> and corrects the scan center before acquisition.</a:t>
            </a:r>
          </a:p>
          <a:p>
            <a:r>
              <a:rPr lang="ja-JP" altLang="ja-JP" sz="1700" dirty="0"/>
              <a:t>We then evaluate the model's prediction accuracy and its impact on acquisition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168C1-CAE2-B26B-2CDC-972315F9A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02DE14-7AE6-1F04-DA3D-C4DD1D415B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E6972E-6F08-976C-489A-D198874BB4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ja-JP" sz="1700" dirty="0"/>
              <a:t>Next, I will explain how we evaluate thermal deformation and the resulting LOS error using thermo-structural analysis.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530D4-27A8-6EE2-F8E4-003DAA0451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496781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spcAft>
                <a:spcPts val="650"/>
              </a:spcAft>
            </a:pPr>
            <a:r>
              <a:rPr sz="1700" dirty="0">
                <a:latin typeface="Calibri"/>
              </a:rPr>
              <a:t>We evaluate a simple box-structure LEO spacecraft</a:t>
            </a:r>
            <a:r>
              <a:rPr lang="ja-JP" altLang="en-US" sz="1700" dirty="0">
                <a:latin typeface="Calibri"/>
              </a:rPr>
              <a:t> </a:t>
            </a:r>
            <a:r>
              <a:rPr lang="en-US" altLang="ja-JP" sz="1700" dirty="0">
                <a:latin typeface="Calibri"/>
              </a:rPr>
              <a:t>as</a:t>
            </a:r>
            <a:r>
              <a:rPr lang="ja-JP" altLang="en-US" sz="1700" dirty="0">
                <a:latin typeface="Calibri"/>
              </a:rPr>
              <a:t> </a:t>
            </a:r>
            <a:r>
              <a:rPr lang="en-US" altLang="ja-JP" sz="1700" dirty="0">
                <a:latin typeface="Calibri"/>
              </a:rPr>
              <a:t>a test model</a:t>
            </a:r>
            <a:r>
              <a:rPr sz="1700" dirty="0">
                <a:latin typeface="Calibri"/>
              </a:rPr>
              <a:t>, with the star tracker and the laser communication terminal mounted on </a:t>
            </a:r>
            <a:r>
              <a:rPr lang="en-US" sz="1700" dirty="0">
                <a:latin typeface="Calibri"/>
              </a:rPr>
              <a:t>opposite </a:t>
            </a:r>
            <a:r>
              <a:rPr sz="1700" dirty="0">
                <a:latin typeface="Calibri"/>
              </a:rPr>
              <a:t>panels.</a:t>
            </a: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The </a:t>
            </a:r>
            <a:r>
              <a:rPr sz="1700" dirty="0">
                <a:latin typeface="Calibri"/>
              </a:rPr>
              <a:t>spacecraft bus is </a:t>
            </a:r>
            <a:r>
              <a:rPr lang="en-US" sz="1700" dirty="0">
                <a:latin typeface="Calibri"/>
              </a:rPr>
              <a:t>modeled as a 1meter-class satellite,</a:t>
            </a:r>
            <a:r>
              <a:rPr sz="1700" dirty="0">
                <a:latin typeface="Calibri"/>
              </a:rPr>
              <a:t> using aluminum shell elements</a:t>
            </a:r>
            <a:r>
              <a:rPr lang="en-US" sz="1700" dirty="0">
                <a:latin typeface="Calibri"/>
              </a:rPr>
              <a:t>, on both of thermal desktop and </a:t>
            </a:r>
            <a:r>
              <a:rPr lang="en-US" sz="1700" dirty="0" err="1">
                <a:latin typeface="Calibri"/>
              </a:rPr>
              <a:t>Femap</a:t>
            </a:r>
            <a:r>
              <a:rPr sz="1700" dirty="0">
                <a:latin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ja-JP" sz="1700" dirty="0"/>
              <a:t>First, we use Thermal Desktop to calculate the spacecraft temperature distribution over time.</a:t>
            </a:r>
          </a:p>
          <a:p>
            <a:r>
              <a:rPr lang="ja-JP" altLang="ja-JP" sz="1700" dirty="0"/>
              <a:t>We consider different orbital conditions, sun-facing panels, surface</a:t>
            </a:r>
            <a:r>
              <a:rPr lang="ja-JP" altLang="en-US" sz="1700" dirty="0"/>
              <a:t> </a:t>
            </a:r>
            <a:r>
              <a:rPr lang="en-US" altLang="ja-JP" sz="1700" dirty="0"/>
              <a:t>panel</a:t>
            </a:r>
            <a:r>
              <a:rPr lang="ja-JP" altLang="ja-JP" sz="1700" dirty="0"/>
              <a:t> properties, and internal equipment dissipation.</a:t>
            </a:r>
          </a:p>
          <a:p>
            <a:r>
              <a:rPr lang="ja-JP" altLang="ja-JP" sz="1700" dirty="0"/>
              <a:t>The resulting temperature fields are then used as inputs for thermoelastic structural analysis.</a:t>
            </a:r>
          </a:p>
          <a:p>
            <a:pPr>
              <a:spcAft>
                <a:spcPts val="650"/>
              </a:spcAft>
            </a:pPr>
            <a:endParaRPr sz="1700" dirty="0">
              <a:latin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ja-JP" sz="1700" dirty="0"/>
              <a:t>Next, we transfer the temperature fields from Thermal Desktop to Femap for thermoelastic structural analysis.</a:t>
            </a:r>
          </a:p>
          <a:p>
            <a:r>
              <a:rPr lang="ja-JP" altLang="ja-JP" sz="1700" dirty="0"/>
              <a:t>Using the material properties shown here, we calculate the thermal deformation of the spacecraft structure.</a:t>
            </a:r>
          </a:p>
          <a:p>
            <a:r>
              <a:rPr lang="ja-JP" altLang="ja-JP" sz="1700" dirty="0"/>
              <a:t>From the results, we obtain the translations and rotations at the STT and LCT mounting locations.</a:t>
            </a:r>
          </a:p>
          <a:p>
            <a:pPr>
              <a:spcAft>
                <a:spcPts val="650"/>
              </a:spcAft>
            </a:pPr>
            <a:endParaRPr sz="1700" dirty="0">
              <a:latin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ja-JP" sz="1700" dirty="0"/>
              <a:t>For a far-field optical link, the relevant quantity is not the translation of the mounting points, but their relative rotation.</a:t>
            </a:r>
          </a:p>
          <a:p>
            <a:r>
              <a:rPr lang="ja-JP" altLang="ja-JP" sz="1700" dirty="0"/>
              <a:t>We define the thermal LOS error</a:t>
            </a:r>
            <a:r>
              <a:rPr lang="en-US" altLang="ja-JP" sz="1700" dirty="0"/>
              <a:t>,</a:t>
            </a:r>
            <a:r>
              <a:rPr lang="ja-JP" altLang="ja-JP" sz="1700" dirty="0"/>
              <a:t> as the rotation of the LCT optical axis</a:t>
            </a:r>
            <a:r>
              <a:rPr lang="en-US" altLang="ja-JP" sz="1700" dirty="0"/>
              <a:t>,</a:t>
            </a:r>
            <a:r>
              <a:rPr lang="ja-JP" altLang="ja-JP" sz="1700" dirty="0"/>
              <a:t> relative to the STT attitude reference.</a:t>
            </a:r>
          </a:p>
          <a:p>
            <a:r>
              <a:rPr lang="ja-JP" altLang="ja-JP" sz="1700" dirty="0"/>
              <a:t>The thermal rotation of the STT itself is absorbed into the attitude reference.</a:t>
            </a:r>
          </a:p>
          <a:p>
            <a:pPr>
              <a:spcAft>
                <a:spcPts val="650"/>
              </a:spcAft>
            </a:pPr>
            <a:endParaRPr sz="1700" dirty="0">
              <a:latin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spcAft>
                <a:spcPts val="650"/>
              </a:spcAft>
            </a:pPr>
            <a:r>
              <a:rPr sz="1700" dirty="0">
                <a:latin typeface="Calibri"/>
              </a:rPr>
              <a:t>With the spacecraft structure and LOS definition fixed, we vary four groups of conditions.</a:t>
            </a:r>
          </a:p>
          <a:p>
            <a:pPr>
              <a:spcAft>
                <a:spcPts val="650"/>
              </a:spcAft>
            </a:pPr>
            <a:r>
              <a:rPr sz="1700" dirty="0">
                <a:latin typeface="Calibri"/>
              </a:rPr>
              <a:t>These are the sun-facing panel, internal equipment dissipation, surface properties, and orbital thermal environment.</a:t>
            </a:r>
          </a:p>
          <a:p>
            <a:pPr>
              <a:spcAft>
                <a:spcPts val="650"/>
              </a:spcAft>
            </a:pPr>
            <a:r>
              <a:rPr sz="1700" dirty="0">
                <a:latin typeface="Calibri"/>
              </a:rPr>
              <a:t>In total, we analyze 21 cases.</a:t>
            </a:r>
            <a:endParaRPr lang="en-US" sz="1700" dirty="0">
              <a:latin typeface="Calibri"/>
            </a:endParaRPr>
          </a:p>
          <a:p>
            <a:pPr>
              <a:spcAft>
                <a:spcPts val="650"/>
              </a:spcAft>
            </a:pPr>
            <a:endParaRPr sz="1700" dirty="0">
              <a:latin typeface="Calibri"/>
            </a:endParaRPr>
          </a:p>
          <a:p>
            <a:pPr>
              <a:spcAft>
                <a:spcPts val="650"/>
              </a:spcAft>
            </a:pPr>
            <a:r>
              <a:rPr sz="1700" dirty="0">
                <a:latin typeface="Calibri"/>
              </a:rPr>
              <a:t>The important point is that these are different thermal and operating conditions within the same spacecraft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F6780-497A-6364-27F0-BAAA41BE4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80E1EB-8B2C-7D4E-E84D-EDCF197FFE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4A9AB9-36A8-2B43-5763-BF0F4B8183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ja-JP" sz="1700" dirty="0"/>
              <a:t>Based on these analysis results, we develop a simplified model to predict thermal LOS error using onboard temperature measurements.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9A70E-5124-D353-8FBE-D5530B989F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7346772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ja-JP" sz="1700" dirty="0"/>
              <a:t>Here, I compare four cases with the same sun-facing panel but different equipment dissipation states</a:t>
            </a:r>
            <a:r>
              <a:rPr lang="en-US" altLang="ja-JP" sz="1700" dirty="0"/>
              <a:t> from the numerical simulation by TD and </a:t>
            </a:r>
            <a:r>
              <a:rPr lang="en-US" altLang="ja-JP" sz="1700" dirty="0" err="1"/>
              <a:t>Femap</a:t>
            </a:r>
            <a:r>
              <a:rPr lang="en-US" altLang="ja-JP" sz="1700" dirty="0"/>
              <a:t>.</a:t>
            </a:r>
          </a:p>
          <a:p>
            <a:endParaRPr lang="ja-JP" altLang="ja-JP" sz="1700" dirty="0"/>
          </a:p>
          <a:p>
            <a:r>
              <a:rPr lang="ja-JP" altLang="ja-JP" sz="1700" dirty="0"/>
              <a:t>As you can see, the within-orbit waveforms are very similar, while their mean LOS levels differ substantially between cases.</a:t>
            </a:r>
            <a:endParaRPr lang="en-US" altLang="ja-JP" sz="1700" dirty="0"/>
          </a:p>
          <a:p>
            <a:endParaRPr lang="ja-JP" altLang="ja-JP" sz="1700" dirty="0"/>
          </a:p>
          <a:p>
            <a:r>
              <a:rPr lang="ja-JP" altLang="ja-JP" sz="1700" dirty="0"/>
              <a:t>This suggests that thermal LOS error can be separated into two components: a time-varying component within each orbit and a case-dependent offset.</a:t>
            </a:r>
          </a:p>
          <a:p>
            <a:r>
              <a:rPr lang="ja-JP" altLang="ja-JP" sz="1700" dirty="0"/>
              <a:t>We therefore aim to predict these two components separately using a reduced-order model.</a:t>
            </a:r>
          </a:p>
          <a:p>
            <a:r>
              <a:rPr lang="ja-JP" altLang="ja-JP" sz="1700" b="1" dirty="0"/>
              <a:t>So, how can we predict the time-varying component?</a:t>
            </a:r>
            <a:endParaRPr lang="ja-JP" altLang="ja-JP" sz="17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02541-F1A3-D1BA-31E3-AEDFAF8D0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983E82-966C-7F11-55A4-B9E813E6A9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536858-E9C3-BFD0-3D28-CF5344F9C2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ja-JP" sz="1700" dirty="0"/>
              <a:t>To answer this question, we focus on the temperature difference between the sun-facing and opposite panels.</a:t>
            </a:r>
          </a:p>
          <a:p>
            <a:endParaRPr lang="en-US" altLang="ja-JP" sz="1700" dirty="0"/>
          </a:p>
          <a:p>
            <a:r>
              <a:rPr lang="ja-JP" altLang="ja-JP" sz="1700" dirty="0"/>
              <a:t>The left figure shows the temperature difference between the sun-facing and opposite panels, while the right figure shows the corresponding thermal LOS error.</a:t>
            </a:r>
          </a:p>
          <a:p>
            <a:r>
              <a:rPr lang="ja-JP" altLang="ja-JP" sz="1700" dirty="0"/>
              <a:t>As you can see, both signals follow almost the same waveform.</a:t>
            </a:r>
          </a:p>
          <a:p>
            <a:endParaRPr lang="en-US" altLang="ja-JP" sz="1700" dirty="0"/>
          </a:p>
          <a:p>
            <a:r>
              <a:rPr lang="ja-JP" altLang="ja-JP" sz="1700" dirty="0"/>
              <a:t>This suggests that the panel temperature difference can be used to predict the time-varying thermal LOS component.</a:t>
            </a:r>
          </a:p>
          <a:p>
            <a:endParaRPr lang="en-US" altLang="ja-JP" sz="17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88FFD8-2563-0C26-AF09-06CC675A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5787874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B42EA-D360-34D6-60C7-03B28469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2F6A70-B226-B8D0-76C5-5C29EF4183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2AF636-D9A0-B111-F11B-3033CC3C42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ja-JP" sz="1700" dirty="0"/>
              <a:t>Based on these observations, we developed a hierarchical temperature-difference model.</a:t>
            </a:r>
          </a:p>
          <a:p>
            <a:r>
              <a:rPr lang="ja-JP" altLang="ja-JP" sz="1700" dirty="0"/>
              <a:t>The model predicts thermal LOS error as the sum of two components.</a:t>
            </a:r>
            <a:endParaRPr lang="en-US" altLang="ja-JP" sz="1700" dirty="0"/>
          </a:p>
          <a:p>
            <a:endParaRPr lang="ja-JP" altLang="ja-JP" sz="1700" dirty="0"/>
          </a:p>
          <a:p>
            <a:r>
              <a:rPr lang="ja-JP" altLang="ja-JP" sz="1700" dirty="0"/>
              <a:t>The first component describes the time-varying error using the temperature difference between the sun-facing and opposite panels. The thermal sensitivity</a:t>
            </a:r>
            <a:r>
              <a:rPr lang="ja-JP" altLang="en-US" sz="1700" dirty="0"/>
              <a:t> </a:t>
            </a:r>
            <a:r>
              <a:rPr lang="en-US" altLang="ja-JP" sz="1700" dirty="0"/>
              <a:t>“a”</a:t>
            </a:r>
            <a:r>
              <a:rPr lang="ja-JP" altLang="ja-JP" sz="1700" dirty="0"/>
              <a:t> is shared across cases with the same sun-facing panel.</a:t>
            </a:r>
            <a:endParaRPr lang="en-US" altLang="ja-JP" sz="1700" dirty="0"/>
          </a:p>
          <a:p>
            <a:endParaRPr lang="ja-JP" altLang="ja-JP" sz="1700" dirty="0"/>
          </a:p>
          <a:p>
            <a:r>
              <a:rPr lang="ja-JP" altLang="ja-JP" sz="1700" dirty="0"/>
              <a:t>The second component is a case-dependent offset</a:t>
            </a:r>
            <a:r>
              <a:rPr lang="ja-JP" altLang="en-US" sz="1700" dirty="0"/>
              <a:t>　</a:t>
            </a:r>
            <a:r>
              <a:rPr lang="en-US" altLang="ja-JP" sz="1700" dirty="0"/>
              <a:t>“b”</a:t>
            </a:r>
            <a:r>
              <a:rPr lang="ja-JP" altLang="ja-JP" sz="1700" dirty="0"/>
              <a:t>, modeled using the sun-facing panel and the ON/OFF states of two onboard units.</a:t>
            </a:r>
          </a:p>
          <a:p>
            <a:r>
              <a:rPr lang="ja-JP" altLang="ja-JP" sz="1700" dirty="0"/>
              <a:t>The dominant LOS axis depends on the sun-facing panel. For MX and PX, it is the x-axis, while for MY and PY, it is the y-axis.</a:t>
            </a:r>
            <a:endParaRPr lang="en-US" altLang="ja-JP" sz="1700" dirty="0"/>
          </a:p>
          <a:p>
            <a:endParaRPr lang="ja-JP" altLang="ja-JP" sz="1700" dirty="0"/>
          </a:p>
          <a:p>
            <a:r>
              <a:rPr lang="ja-JP" altLang="ja-JP" sz="1700" dirty="0"/>
              <a:t>For the non-dominant axis, the time variation is much smaller. Therefore, we model it using only a case-dependent offset, without the temperature-difference term.</a:t>
            </a:r>
            <a:endParaRPr lang="en-US" altLang="ja-JP" sz="1700" dirty="0"/>
          </a:p>
          <a:p>
            <a:endParaRPr lang="ja-JP" altLang="ja-JP" sz="1700" dirty="0"/>
          </a:p>
          <a:p>
            <a:r>
              <a:rPr lang="ja-JP" altLang="ja-JP" sz="1700" dirty="0"/>
              <a:t>This simple model allows us to predict thermal LOS error using onboard temperature measurements and operating-state information.</a:t>
            </a:r>
          </a:p>
          <a:p>
            <a:pPr>
              <a:spcAft>
                <a:spcPts val="650"/>
              </a:spcAft>
            </a:pPr>
            <a:endParaRPr sz="1700" dirty="0">
              <a:latin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4A3804-A38E-981D-0A3F-5E89C2E6D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906083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Here I summarize the prediction performance of the hierarchical model under unseen operating conditions.</a:t>
            </a:r>
          </a:p>
          <a:p>
            <a:pPr>
              <a:spcAft>
                <a:spcPts val="650"/>
              </a:spcAft>
            </a:pPr>
            <a:endParaRPr lang="en-US" sz="1700" dirty="0">
              <a:latin typeface="Calibri"/>
            </a:endParaRP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We evaluate the model using leave-one-case-out validation. In each trial, the test case is completely excluded from all coefficient estimation, and its next two orbits are predicted using the fixed model.</a:t>
            </a:r>
          </a:p>
          <a:p>
            <a:pPr>
              <a:spcAft>
                <a:spcPts val="650"/>
              </a:spcAft>
            </a:pPr>
            <a:endParaRPr lang="en-US" sz="1700" dirty="0">
              <a:latin typeface="Calibri"/>
            </a:endParaRP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The bar chart compares the raw dominant-axis thermal LOS RMS with the prediction RMSE for each case.</a:t>
            </a: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Across the evaluated cases, the median raw thermal LOS is 615 microradians, while the median prediction RMSE is only 4.9 microradians.</a:t>
            </a:r>
          </a:p>
          <a:p>
            <a:pPr>
              <a:spcAft>
                <a:spcPts val="650"/>
              </a:spcAft>
            </a:pPr>
            <a:endParaRPr lang="en-US" sz="1700" dirty="0">
              <a:latin typeface="Calibri"/>
            </a:endParaRP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This shows that the reduced-order model can predict thermal LOS under unseen operating conditions with residual errors of only a few microradians.</a:t>
            </a:r>
            <a:endParaRPr sz="1700" dirty="0">
              <a:latin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52224-2406-C2DC-2EDE-07ADBA512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6BD7CF-C364-ABAE-949B-31841A713D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6452E9-11E0-B4E7-2181-92EC8DC09D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ja-JP" sz="1700" dirty="0"/>
              <a:t>Next, we evaluate how the predicted thermal LOS correction improves coarse-acquisition performance.</a:t>
            </a:r>
            <a:r>
              <a:rPr lang="ja-JP" altLang="en-US" sz="1700" dirty="0"/>
              <a:t>（ここまで</a:t>
            </a:r>
            <a:r>
              <a:rPr lang="en-US" altLang="ja-JP" sz="1700" dirty="0"/>
              <a:t>9</a:t>
            </a:r>
            <a:r>
              <a:rPr lang="ja-JP" altLang="en-US" sz="1700" dirty="0"/>
              <a:t>分）</a:t>
            </a:r>
            <a:endParaRPr lang="ja-JP" altLang="ja-JP" sz="17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27468-412A-D2BC-2F0A-FCA43543C9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5766209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The predicted thermal LOS is used to correct the center of a rectangular spiral scan.</a:t>
            </a: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The remaining pointing error consists of the thermal prediction residual and nonthermal errors.</a:t>
            </a: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We evaluate acquisition time and success rate using the scan conditions shown here</a:t>
            </a:r>
          </a:p>
          <a:p>
            <a:pPr>
              <a:spcAft>
                <a:spcPts val="650"/>
              </a:spcAft>
            </a:pPr>
            <a:endParaRPr lang="en-US" sz="1700" dirty="0">
              <a:latin typeface="Calibri"/>
            </a:endParaRP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This is a simplified scan model, so the acquisition times should be interpreted as comparative results under the same conditions.</a:t>
            </a:r>
            <a:endParaRPr sz="1700" dirty="0">
              <a:latin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In addition to the thermal LOS error, we include four nonthermal pointing-error components in the acquisition evaluation.</a:t>
            </a: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These are orbit-prediction error, alignment error, attitude error, and low-frequency drift.</a:t>
            </a:r>
          </a:p>
          <a:p>
            <a:pPr>
              <a:spcAft>
                <a:spcPts val="650"/>
              </a:spcAft>
            </a:pPr>
            <a:endParaRPr lang="en-US" sz="1700" dirty="0">
              <a:latin typeface="Calibri"/>
            </a:endParaRP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The orbit-prediction error is generated by comparing Sentinel-1 TLE propagation using SGP4 with precise POEORB ephemeris data, </a:t>
            </a: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and projecting the difference onto the link trans-verse plane.</a:t>
            </a:r>
          </a:p>
          <a:p>
            <a:pPr>
              <a:spcAft>
                <a:spcPts val="650"/>
              </a:spcAft>
            </a:pPr>
            <a:endParaRPr lang="en-US" sz="1700" dirty="0">
              <a:latin typeface="Calibri"/>
            </a:endParaRP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The other components are modeled as a constant alignment error, random attitude error, and sinusoidal(</a:t>
            </a:r>
            <a:r>
              <a:rPr lang="ja-JP" altLang="en-US" sz="1700" dirty="0">
                <a:latin typeface="Calibri"/>
              </a:rPr>
              <a:t>サイナソイダル</a:t>
            </a:r>
            <a:r>
              <a:rPr lang="en-US" sz="1700" dirty="0">
                <a:latin typeface="Calibri"/>
              </a:rPr>
              <a:t>) drift.</a:t>
            </a: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The orbit-prediction error is relatively large, with a mean magnitude of approximately 280 to 700 microradians depending on the link geometry.</a:t>
            </a:r>
          </a:p>
          <a:p>
            <a:pPr>
              <a:spcAft>
                <a:spcPts val="650"/>
              </a:spcAft>
            </a:pPr>
            <a:endParaRPr lang="en-US" sz="1700" dirty="0">
              <a:latin typeface="Calibri"/>
            </a:endParaRP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This is not a spacecraft-specific error budget. Instead, it represents a generic GNSS-denied small-LEO scenario.</a:t>
            </a: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The numerical evaluation uses one random seed per case, so statistical variation across different noise realizations is not assessed.</a:t>
            </a:r>
            <a:endParaRPr sz="1700" dirty="0">
              <a:latin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defTabSz="990555">
              <a:spcAft>
                <a:spcPts val="650"/>
              </a:spcAft>
              <a:defRPr/>
            </a:pPr>
            <a:r>
              <a:rPr lang="en-US" altLang="ja-JP" sz="1700" dirty="0">
                <a:latin typeface="Calibri"/>
              </a:rPr>
              <a:t>Finally, I present the acquisition results with nonthermal pointing errors included.</a:t>
            </a:r>
          </a:p>
          <a:p>
            <a:r>
              <a:rPr lang="ja-JP" altLang="ja-JP" sz="1700" dirty="0"/>
              <a:t>This graph compares acquisition time across fourteen operating cases.</a:t>
            </a:r>
          </a:p>
          <a:p>
            <a:r>
              <a:rPr lang="ja-JP" altLang="ja-JP" sz="1700" dirty="0"/>
              <a:t>The red bars show the results without correction, and the green bars show the results with our hierarchical model.</a:t>
            </a:r>
          </a:p>
          <a:p>
            <a:pPr defTabSz="990555">
              <a:spcAft>
                <a:spcPts val="650"/>
              </a:spcAft>
              <a:defRPr/>
            </a:pPr>
            <a:endParaRPr lang="en-US" altLang="ja-JP" sz="1700" dirty="0">
              <a:latin typeface="Calibri"/>
            </a:endParaRPr>
          </a:p>
          <a:p>
            <a:pPr defTabSz="990555">
              <a:spcAft>
                <a:spcPts val="650"/>
              </a:spcAft>
              <a:defRPr/>
            </a:pPr>
            <a:r>
              <a:rPr lang="en-US" altLang="ja-JP" sz="1700" dirty="0">
                <a:latin typeface="Calibri"/>
              </a:rPr>
              <a:t>Without thermal correction, the mean acquisition time is 19 seconds.</a:t>
            </a:r>
          </a:p>
          <a:p>
            <a:pPr defTabSz="990555">
              <a:spcAft>
                <a:spcPts val="650"/>
              </a:spcAft>
              <a:defRPr/>
            </a:pPr>
            <a:r>
              <a:rPr lang="en-US" altLang="ja-JP" sz="1700" dirty="0">
                <a:latin typeface="Calibri"/>
              </a:rPr>
              <a:t>With the hierarchical model, it decreases to 5.5 seconds, corresponding to a 72 percent reduction.</a:t>
            </a:r>
          </a:p>
          <a:p>
            <a:pPr defTabSz="990555">
              <a:spcAft>
                <a:spcPts val="650"/>
              </a:spcAft>
              <a:defRPr/>
            </a:pPr>
            <a:r>
              <a:rPr lang="en-US" altLang="ja-JP" sz="1700" dirty="0">
                <a:latin typeface="Calibri"/>
              </a:rPr>
              <a:t>The acquisition success rate also increases from 98 percent to 100 percent.</a:t>
            </a:r>
          </a:p>
          <a:p>
            <a:pPr defTabSz="990555">
              <a:spcAft>
                <a:spcPts val="650"/>
              </a:spcAft>
              <a:defRPr/>
            </a:pPr>
            <a:r>
              <a:rPr lang="en-US" altLang="ja-JP" sz="1700" dirty="0">
                <a:latin typeface="Calibri"/>
              </a:rPr>
              <a:t>The improvement is particularly large for the PY sun-facing cases, where the thermal LOS error is approximately 1.2 milliradians. In these cases, acquisition time decreases from around 40 seconds to approximately 1 to 2 seconds.</a:t>
            </a:r>
          </a:p>
          <a:p>
            <a:pPr defTabSz="990555">
              <a:spcAft>
                <a:spcPts val="650"/>
              </a:spcAft>
              <a:defRPr/>
            </a:pPr>
            <a:endParaRPr lang="en-US" altLang="ja-JP" sz="1700" dirty="0">
              <a:latin typeface="Calibri"/>
            </a:endParaRPr>
          </a:p>
          <a:p>
            <a:pPr defTabSz="990555">
              <a:spcAft>
                <a:spcPts val="650"/>
              </a:spcAft>
              <a:defRPr/>
            </a:pPr>
            <a:r>
              <a:rPr lang="en-US" altLang="ja-JP" sz="1700" dirty="0">
                <a:latin typeface="Calibri"/>
              </a:rPr>
              <a:t>After correction, the remaining pointing error is dominated by nonthermal components.</a:t>
            </a:r>
          </a:p>
          <a:p>
            <a:pPr defTabSz="990555">
              <a:spcAft>
                <a:spcPts val="650"/>
              </a:spcAft>
              <a:defRPr/>
            </a:pPr>
            <a:r>
              <a:rPr lang="en-US" altLang="ja-JP" sz="1700" dirty="0">
                <a:latin typeface="Calibri"/>
              </a:rPr>
              <a:t>Therefore, our approach does not eliminate all pointing errors, but significantly reduces the acquisition burden by removing the predictable thermal component before optical feedback becomes available.</a:t>
            </a:r>
            <a:endParaRPr sz="1700" dirty="0">
              <a:latin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6B410-D6C4-C29F-898B-168C6677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F61FE-FA76-3670-970E-48BE36541D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639460-F670-4213-1C95-B03C1CB9A5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ja-JP" sz="1700" dirty="0"/>
              <a:t>Finally, let me summarize the main findings and limitations of this study.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2322B1-6D4A-1828-04E7-5055022E0E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22003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To summarize, we developed a physics-informed reduced-order model to predict thermal LOS error before optical acquisition.</a:t>
            </a: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The model achieved a median prediction RMSE of 4.9 microradians under unseen operating conditions, and reduced the mean acquisition time by 72 percent in our numerical evaluation.</a:t>
            </a:r>
          </a:p>
          <a:p>
            <a:pPr>
              <a:spcAft>
                <a:spcPts val="650"/>
              </a:spcAft>
            </a:pPr>
            <a:endParaRPr lang="en-US" sz="1700" dirty="0">
              <a:latin typeface="Calibri"/>
            </a:endParaRP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However, two important challenges remain.</a:t>
            </a: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First, the model has only been validated numerically for a simplified spacecraft structure and a fixed STT–LCT configuration.</a:t>
            </a: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We need to examine whether the same model structure works, for more realistic spacecraft and different equipment placements, </a:t>
            </a: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and validate the predictions through ground testing.</a:t>
            </a:r>
          </a:p>
          <a:p>
            <a:pPr>
              <a:spcAft>
                <a:spcPts val="650"/>
              </a:spcAft>
            </a:pPr>
            <a:endParaRPr lang="en-US" sz="1700" dirty="0">
              <a:latin typeface="Calibri"/>
            </a:endParaRP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Second, the model currently relies on fixed coefficients identified on the ground. For practical onboard use, we need adaptive updates based on post-acquisition measurements, while distinguishing thermal error from other pointing errors.</a:t>
            </a:r>
          </a:p>
          <a:p>
            <a:pPr>
              <a:spcAft>
                <a:spcPts val="650"/>
              </a:spcAft>
            </a:pPr>
            <a:endParaRPr lang="en-US" sz="1700" dirty="0">
              <a:latin typeface="Calibri"/>
            </a:endParaRP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Our main message is that thermal deformation can be treated as a predictable bias and corrected before optical feedback becomes available.</a:t>
            </a:r>
          </a:p>
          <a:p>
            <a:pPr>
              <a:spcAft>
                <a:spcPts val="650"/>
              </a:spcAft>
            </a:pPr>
            <a:r>
              <a:rPr lang="en-US" sz="1700" dirty="0">
                <a:latin typeface="Calibri"/>
              </a:rPr>
              <a:t>(</a:t>
            </a:r>
            <a:r>
              <a:rPr lang="ja-JP" altLang="en-US" sz="1700" dirty="0">
                <a:latin typeface="Calibri"/>
              </a:rPr>
              <a:t>泊置く</a:t>
            </a:r>
            <a:r>
              <a:rPr lang="en-US" sz="1700" dirty="0">
                <a:latin typeface="Calibri"/>
              </a:rPr>
              <a:t>)</a:t>
            </a:r>
          </a:p>
          <a:p>
            <a:pPr>
              <a:spcAft>
                <a:spcPts val="650"/>
              </a:spcAft>
            </a:pPr>
            <a:endParaRPr lang="en-US" sz="1700" dirty="0">
              <a:latin typeface="Calibri"/>
            </a:endParaRPr>
          </a:p>
          <a:p>
            <a:pPr defTabSz="990555">
              <a:spcAft>
                <a:spcPts val="650"/>
              </a:spcAft>
              <a:defRPr/>
            </a:pPr>
            <a:r>
              <a:rPr lang="en-US" sz="1700" dirty="0">
                <a:latin typeface="Calibri"/>
              </a:rPr>
              <a:t>Thank you for your attention.</a:t>
            </a:r>
            <a:r>
              <a:rPr lang="ja-JP" altLang="ja-JP" sz="1700" dirty="0"/>
              <a:t> I'd be happy to take any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77201" y="7340600"/>
            <a:ext cx="12431685" cy="2125436"/>
          </a:xfrm>
        </p:spPr>
        <p:txBody>
          <a:bodyPr anchor="b"/>
          <a:lstStyle>
            <a:lvl1pPr algn="l">
              <a:defRPr sz="4800" spc="300">
                <a:latin typeface="Arial" panose="020B0604020202020204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77201" y="9794966"/>
            <a:ext cx="12431684" cy="2351314"/>
          </a:xfrm>
        </p:spPr>
        <p:txBody>
          <a:bodyPr/>
          <a:lstStyle>
            <a:lvl1pPr marL="0" indent="0" algn="l">
              <a:lnSpc>
                <a:spcPct val="50000"/>
              </a:lnSpc>
              <a:buNone/>
              <a:defRPr sz="3600" b="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914354" indent="0" algn="ctr">
              <a:buNone/>
              <a:defRPr sz="4000"/>
            </a:lvl2pPr>
            <a:lvl3pPr marL="1828709" indent="0" algn="ctr">
              <a:buNone/>
              <a:defRPr sz="3600"/>
            </a:lvl3pPr>
            <a:lvl4pPr marL="2743063" indent="0" algn="ctr">
              <a:buNone/>
              <a:defRPr sz="3200"/>
            </a:lvl4pPr>
            <a:lvl5pPr marL="3657417" indent="0" algn="ctr">
              <a:buNone/>
              <a:defRPr sz="3200"/>
            </a:lvl5pPr>
            <a:lvl6pPr marL="4571771" indent="0" algn="ctr">
              <a:buNone/>
              <a:defRPr sz="3200"/>
            </a:lvl6pPr>
            <a:lvl7pPr marL="5486126" indent="0" algn="ctr">
              <a:buNone/>
              <a:defRPr sz="3200"/>
            </a:lvl7pPr>
            <a:lvl8pPr marL="6400480" indent="0" algn="ctr">
              <a:buNone/>
              <a:defRPr sz="3200"/>
            </a:lvl8pPr>
            <a:lvl9pPr marL="7314834" indent="0" algn="ctr">
              <a:buNone/>
              <a:defRPr sz="3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923E69BD-F0A9-D945-85B5-A92D8C4A6243}" type="datetime1">
              <a:rPr kumimoji="1" lang="en-US" altLang="ja-JP" smtClean="0"/>
              <a:pPr/>
              <a:t>10/15/2026</a:t>
            </a:fld>
            <a:endParaRPr kumimoji="1" lang="en-US" altLang="ja-JP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E67BFEE9-6A35-CF42-A39A-CD481C3507E3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ADAD6F10-9E3C-081C-FAC9-2F96D835D9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483539" y="6261101"/>
            <a:ext cx="5625347" cy="698499"/>
          </a:xfrm>
        </p:spPr>
        <p:txBody>
          <a:bodyPr/>
          <a:lstStyle>
            <a:lvl1pPr algn="r">
              <a:buNone/>
              <a:defRPr sz="4000" b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0" name="テキスト プレースホルダー 8">
            <a:extLst>
              <a:ext uri="{FF2B5EF4-FFF2-40B4-BE49-F238E27FC236}">
                <a16:creationId xmlns:a16="http://schemas.microsoft.com/office/drawing/2014/main" id="{3A47DA29-0B22-B527-E246-85A23FDB43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677201" y="6261101"/>
            <a:ext cx="5625347" cy="698499"/>
          </a:xfrm>
        </p:spPr>
        <p:txBody>
          <a:bodyPr/>
          <a:lstStyle>
            <a:lvl1pPr algn="l">
              <a:buNone/>
              <a:defRPr sz="4000" b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テキスト プレースホルダー 8">
            <a:extLst>
              <a:ext uri="{FF2B5EF4-FFF2-40B4-BE49-F238E27FC236}">
                <a16:creationId xmlns:a16="http://schemas.microsoft.com/office/drawing/2014/main" id="{3ABD93C0-C51C-2948-0F33-2EF4B6841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6483538" y="5413377"/>
            <a:ext cx="5625347" cy="698499"/>
          </a:xfrm>
        </p:spPr>
        <p:txBody>
          <a:bodyPr/>
          <a:lstStyle>
            <a:lvl1pPr algn="r">
              <a:buNone/>
              <a:defRPr sz="4000" b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99124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08300" y="4192765"/>
            <a:ext cx="4965808" cy="1795335"/>
          </a:xfrm>
        </p:spPr>
        <p:txBody>
          <a:bodyPr anchor="b"/>
          <a:lstStyle>
            <a:lvl1pPr algn="ctr">
              <a:defRPr sz="560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89" y="7727900"/>
            <a:ext cx="21029831" cy="3000374"/>
          </a:xfrm>
        </p:spPr>
        <p:txBody>
          <a:bodyPr/>
          <a:lstStyle>
            <a:lvl1pPr marL="0" indent="0" algn="ctr">
              <a:buNone/>
              <a:defRPr sz="5600" spc="30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914354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709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063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417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1771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126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48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4834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FB9E95FB-2235-2F42-91D0-8B9F16BE7B80}" type="datetime1">
              <a:rPr kumimoji="1" lang="en-US" altLang="ja-JP" smtClean="0"/>
              <a:pPr/>
              <a:t>10/15/2026</a:t>
            </a:fld>
            <a:endParaRPr kumimoji="1" lang="en-US" altLang="ja-JP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E67BFEE9-6A35-CF42-A39A-CD481C3507E3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872E8AAC-513B-BB73-EF3E-6F21C4AF6A77}"/>
              </a:ext>
            </a:extLst>
          </p:cNvPr>
          <p:cNvCxnSpPr>
            <a:cxnSpLocks/>
          </p:cNvCxnSpPr>
          <p:nvPr userDrawn="1"/>
        </p:nvCxnSpPr>
        <p:spPr>
          <a:xfrm>
            <a:off x="11254952" y="6858000"/>
            <a:ext cx="1872509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003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Arial" panose="020B0604020202020204" pitchFamily="34" charset="0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5378" y="3104147"/>
            <a:ext cx="23020980" cy="9249779"/>
          </a:xfrm>
        </p:spPr>
        <p:txBody>
          <a:bodyPr/>
          <a:lstStyle>
            <a:lvl1pPr>
              <a:defRPr b="1" i="0">
                <a:latin typeface="Arial" panose="020B0604020202020204" pitchFamily="34" charset="0"/>
                <a:ea typeface="Yu Gothic" panose="020B0400000000000000" pitchFamily="34" charset="-128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CB8ED544-ACEE-1142-A4DF-052F81DCAF13}" type="datetime1">
              <a:rPr kumimoji="1" lang="en-US" altLang="ja-JP" smtClean="0"/>
              <a:pPr/>
              <a:t>10/15/2026</a:t>
            </a:fld>
            <a:endParaRPr kumimoji="1" lang="en-US" altLang="ja-JP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E67BFEE9-6A35-CF42-A39A-CD481C3507E3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1B145F9-61C6-1870-CE50-37506B7E4EF4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79682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55A8DA76-1C10-5547-91CE-253BD16E32D7}" type="datetime1">
              <a:rPr kumimoji="1" lang="en-US" altLang="ja-JP" smtClean="0"/>
              <a:pPr/>
              <a:t>10/15/2026</a:t>
            </a:fld>
            <a:endParaRPr kumimoji="1" lang="en-US" altLang="ja-JP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E67BFEE9-6A35-CF42-A39A-CD481C3507E3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055" y="3182735"/>
            <a:ext cx="11364543" cy="9287866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AF5EC9B8-55A0-1456-F399-6D313F6D26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71815" y="3182735"/>
            <a:ext cx="11364543" cy="9287866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D7CF2C5-496E-3F41-87A5-8BF20107D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Arial" panose="020B0604020202020204" pitchFamily="34" charset="0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D55661E-ACB1-18CB-79CA-CE03DAB48599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7148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3DC3E895-CCE5-A241-A85F-670DB4C916C8}" type="datetime1">
              <a:rPr kumimoji="1" lang="en-US" altLang="ja-JP" smtClean="0"/>
              <a:pPr/>
              <a:t>10/15/2026</a:t>
            </a:fld>
            <a:endParaRPr kumimoji="1" lang="en-US" altLang="ja-JP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E67BFEE9-6A35-CF42-A39A-CD481C3507E3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055" y="4092833"/>
            <a:ext cx="11364543" cy="8377768"/>
          </a:xfrm>
          <a:ln w="63500">
            <a:solidFill>
              <a:srgbClr val="66A8D4"/>
            </a:solidFill>
          </a:ln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AF5EC9B8-55A0-1456-F399-6D313F6D26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71815" y="4092833"/>
            <a:ext cx="11364543" cy="8377768"/>
          </a:xfrm>
          <a:ln w="63500">
            <a:solidFill>
              <a:srgbClr val="66A8D4"/>
            </a:solidFill>
          </a:ln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685F9C02-29EC-4168-A599-AFD3B71ED2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4114" y="3213462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2" name="テキスト プレースホルダー 10">
            <a:extLst>
              <a:ext uri="{FF2B5EF4-FFF2-40B4-BE49-F238E27FC236}">
                <a16:creationId xmlns:a16="http://schemas.microsoft.com/office/drawing/2014/main" id="{6165EC21-36B4-4CED-0569-C34ACFFC9B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429459" y="3213462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D06260A-761F-95EE-B2CA-F7236CCF8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Arial" panose="020B0604020202020204" pitchFamily="34" charset="0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3685353A-F7C6-F829-267C-FA087B7BBA8F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6196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F9F4C7F2-45E9-0742-99C2-D62F245DFEC9}" type="datetime1">
              <a:rPr kumimoji="1" lang="en-US" altLang="ja-JP" smtClean="0"/>
              <a:pPr/>
              <a:t>10/15/2026</a:t>
            </a:fld>
            <a:endParaRPr kumimoji="1" lang="en-US" altLang="ja-JP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E67BFEE9-6A35-CF42-A39A-CD481C3507E3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8681" y="3198393"/>
            <a:ext cx="7448868" cy="9287866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C0F6B-7CC3-BA66-8706-C8D1A03DEF88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466772" y="3198393"/>
            <a:ext cx="7448868" cy="9287866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8965DEA-F2AC-C400-E7ED-BAFF867547B1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16387489" y="3198393"/>
            <a:ext cx="7448868" cy="9287866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BD0E9647-9028-AEF2-D4FC-0AC5B2CFA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Arial" panose="020B0604020202020204" pitchFamily="34" charset="0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3A54D1E-D7CD-DFE1-2E29-70A06AFEC982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1782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9C579897-8C2A-CB44-93BE-9BFBC7559B74}" type="datetime1">
              <a:rPr kumimoji="1" lang="en-US" altLang="ja-JP" smtClean="0"/>
              <a:pPr/>
              <a:t>10/15/2026</a:t>
            </a:fld>
            <a:endParaRPr kumimoji="1" lang="en-US" altLang="ja-JP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E67BFEE9-6A35-CF42-A39A-CD481C3507E3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8681" y="4119925"/>
            <a:ext cx="7448868" cy="8366333"/>
          </a:xfrm>
          <a:ln w="63500">
            <a:solidFill>
              <a:srgbClr val="66A8D4"/>
            </a:solidFill>
          </a:ln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テキスト プレースホルダー 10">
            <a:extLst>
              <a:ext uri="{FF2B5EF4-FFF2-40B4-BE49-F238E27FC236}">
                <a16:creationId xmlns:a16="http://schemas.microsoft.com/office/drawing/2014/main" id="{2D417ACA-1B7B-F655-60FA-EDD80F82E67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114" y="3234978"/>
            <a:ext cx="7572561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98EEB2B-456E-ACC0-29AE-C347BAE7F46F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8449492" y="4119925"/>
            <a:ext cx="7448868" cy="8366333"/>
          </a:xfrm>
          <a:ln w="63500">
            <a:solidFill>
              <a:srgbClr val="66A8D4"/>
            </a:solidFill>
          </a:ln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5" name="テキスト プレースホルダー 10">
            <a:extLst>
              <a:ext uri="{FF2B5EF4-FFF2-40B4-BE49-F238E27FC236}">
                <a16:creationId xmlns:a16="http://schemas.microsoft.com/office/drawing/2014/main" id="{6F409C7A-D2E8-2D36-6086-331B6DCB40D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404925" y="3234978"/>
            <a:ext cx="7572561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06D87F6-15FE-35D7-1017-BB745C23F612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16350303" y="4119925"/>
            <a:ext cx="7448868" cy="8366333"/>
          </a:xfrm>
          <a:ln w="63500">
            <a:solidFill>
              <a:srgbClr val="66A8D4"/>
            </a:solidFill>
          </a:ln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7" name="テキスト プレースホルダー 10">
            <a:extLst>
              <a:ext uri="{FF2B5EF4-FFF2-40B4-BE49-F238E27FC236}">
                <a16:creationId xmlns:a16="http://schemas.microsoft.com/office/drawing/2014/main" id="{3B277172-6A10-80CC-49F6-E3A8C945839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6305736" y="3234978"/>
            <a:ext cx="7572561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194081A-47C8-EFEA-0CF4-1F31377C0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Arial" panose="020B0604020202020204" pitchFamily="34" charset="0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4DF2C9F-ACE0-585B-AAD3-3DD14251BADD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58843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BA509540-48D4-DC4E-A020-784E13A6C686}" type="datetime1">
              <a:rPr kumimoji="1" lang="en-US" altLang="ja-JP" smtClean="0"/>
              <a:pPr/>
              <a:t>10/15/2026</a:t>
            </a:fld>
            <a:endParaRPr kumimoji="1" lang="en-US" altLang="ja-JP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E67BFEE9-6A35-CF42-A39A-CD481C3507E3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055" y="3283060"/>
            <a:ext cx="11364543" cy="4306755"/>
          </a:xfrm>
          <a:ln w="63500">
            <a:solidFill>
              <a:srgbClr val="66A8D4"/>
            </a:solidFill>
          </a:ln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DAFEE08-A81F-707C-4BA0-7BC8776B90FF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2474291" y="3283060"/>
            <a:ext cx="11364543" cy="4306755"/>
          </a:xfrm>
          <a:ln w="63500">
            <a:solidFill>
              <a:srgbClr val="66A8D4"/>
            </a:solidFill>
          </a:ln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A329A85-E9A3-6153-8937-4627CC5A7E62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546055" y="8184309"/>
            <a:ext cx="11364543" cy="4306755"/>
          </a:xfrm>
          <a:ln w="63500">
            <a:solidFill>
              <a:srgbClr val="66A8D4"/>
            </a:solidFill>
          </a:ln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569A398-229E-518C-A2F8-E87AC7FEABC2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12474291" y="8184309"/>
            <a:ext cx="11364543" cy="4306755"/>
          </a:xfrm>
          <a:ln w="63500">
            <a:solidFill>
              <a:srgbClr val="66A8D4"/>
            </a:solidFill>
          </a:ln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F385C3C-D291-ECD3-9330-C9FEFA38F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Arial" panose="020B0604020202020204" pitchFamily="34" charset="0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AA52CC1-C979-7DAC-F8FF-07CEF0898376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4936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BA509540-48D4-DC4E-A020-784E13A6C686}" type="datetime1">
              <a:rPr kumimoji="1" lang="en-US" altLang="ja-JP" smtClean="0"/>
              <a:pPr/>
              <a:t>10/15/2026</a:t>
            </a:fld>
            <a:endParaRPr kumimoji="1" lang="en-US" altLang="ja-JP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E67BFEE9-6A35-CF42-A39A-CD481C3507E3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140CB54-3189-CA43-FFF0-6B6D5F85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6055" y="4063353"/>
            <a:ext cx="11364543" cy="3526461"/>
          </a:xfrm>
          <a:ln w="63500">
            <a:solidFill>
              <a:srgbClr val="66A8D4"/>
            </a:solidFill>
          </a:ln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2" name="テキスト プレースホルダー 10">
            <a:extLst>
              <a:ext uri="{FF2B5EF4-FFF2-40B4-BE49-F238E27FC236}">
                <a16:creationId xmlns:a16="http://schemas.microsoft.com/office/drawing/2014/main" id="{C9B2C448-12D1-42AE-F7D0-C8AED70F60C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114" y="3176140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DAFEE08-A81F-707C-4BA0-7BC8776B90FF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2474291" y="4063353"/>
            <a:ext cx="11364543" cy="3526461"/>
          </a:xfrm>
          <a:ln w="63500">
            <a:solidFill>
              <a:srgbClr val="66A8D4"/>
            </a:solidFill>
          </a:ln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4" name="テキスト プレースホルダー 10">
            <a:extLst>
              <a:ext uri="{FF2B5EF4-FFF2-40B4-BE49-F238E27FC236}">
                <a16:creationId xmlns:a16="http://schemas.microsoft.com/office/drawing/2014/main" id="{C1871C9F-CBB5-6510-4C84-37F671317ED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432350" y="3176140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A329A85-E9A3-6153-8937-4627CC5A7E62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546055" y="8964602"/>
            <a:ext cx="11364543" cy="3526461"/>
          </a:xfrm>
          <a:ln w="63500">
            <a:solidFill>
              <a:srgbClr val="66A8D4"/>
            </a:solidFill>
          </a:ln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6" name="テキスト プレースホルダー 10">
            <a:extLst>
              <a:ext uri="{FF2B5EF4-FFF2-40B4-BE49-F238E27FC236}">
                <a16:creationId xmlns:a16="http://schemas.microsoft.com/office/drawing/2014/main" id="{E5E7CD5A-D74B-3BF3-1D34-C6BC3F85556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04114" y="8077389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569A398-229E-518C-A2F8-E87AC7FEABC2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12474291" y="8964602"/>
            <a:ext cx="11364543" cy="3526461"/>
          </a:xfrm>
          <a:ln w="63500">
            <a:solidFill>
              <a:srgbClr val="66A8D4"/>
            </a:solidFill>
          </a:ln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8" name="テキスト プレースホルダー 10">
            <a:extLst>
              <a:ext uri="{FF2B5EF4-FFF2-40B4-BE49-F238E27FC236}">
                <a16:creationId xmlns:a16="http://schemas.microsoft.com/office/drawing/2014/main" id="{2F9C9DEC-0751-3E49-640C-C623BA98351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2432350" y="8077389"/>
            <a:ext cx="11445949" cy="906463"/>
          </a:xfrm>
          <a:solidFill>
            <a:schemeClr val="tx1"/>
          </a:solidFill>
        </p:spPr>
        <p:txBody>
          <a:bodyPr anchor="ctr"/>
          <a:lstStyle>
            <a:lvl1pPr>
              <a:buNone/>
              <a:defRPr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428B87E-4E5C-BD4A-B7B9-5CD017C23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1620" y="1358425"/>
            <a:ext cx="22304738" cy="1550459"/>
          </a:xfrm>
        </p:spPr>
        <p:txBody>
          <a:bodyPr/>
          <a:lstStyle>
            <a:lvl1pPr>
              <a:defRPr b="1" i="0">
                <a:latin typeface="Arial" panose="020B0604020202020204" pitchFamily="34" charset="0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7564866-3642-1515-F78F-EBC63CFFFD78}"/>
              </a:ext>
            </a:extLst>
          </p:cNvPr>
          <p:cNvSpPr/>
          <p:nvPr userDrawn="1"/>
        </p:nvSpPr>
        <p:spPr>
          <a:xfrm>
            <a:off x="815378" y="1358424"/>
            <a:ext cx="409074" cy="155045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8096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セクション見出し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5357813"/>
            <a:ext cx="21029831" cy="3000374"/>
          </a:xfrm>
        </p:spPr>
        <p:txBody>
          <a:bodyPr anchor="ctr"/>
          <a:lstStyle>
            <a:lvl1pPr marL="0" indent="0" algn="ctr">
              <a:buNone/>
              <a:defRPr sz="5600" spc="30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914354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709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063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417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1771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126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48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4834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7DD96E1F-697B-864D-A8BC-B9F203AEA5AC}" type="datetime1">
              <a:rPr kumimoji="1" lang="en-US" altLang="ja-JP" smtClean="0"/>
              <a:pPr/>
              <a:t>10/15/2026</a:t>
            </a:fld>
            <a:endParaRPr kumimoji="1" lang="en-US" altLang="ja-JP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E67BFEE9-6A35-CF42-A39A-CD481C3507E3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41924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タイトルとコンテン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052" y="1391479"/>
            <a:ext cx="23290306" cy="10962448"/>
          </a:xfr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F33846FE-1092-FD42-9AC0-B69E5809E0EF}" type="datetime1">
              <a:rPr kumimoji="1" lang="en-US" altLang="ja-JP" smtClean="0"/>
              <a:pPr/>
              <a:t>10/15/2026</a:t>
            </a:fld>
            <a:endParaRPr kumimoji="1" lang="en-US" altLang="ja-JP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E67BFEE9-6A35-CF42-A39A-CD481C3507E3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157C110-7517-0494-8AD1-7267A24661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6052" y="239182"/>
            <a:ext cx="15916804" cy="745067"/>
          </a:xfrm>
        </p:spPr>
        <p:txBody>
          <a:bodyPr anchor="ctr"/>
          <a:lstStyle>
            <a:lvl1pPr>
              <a:buNone/>
              <a:defRPr sz="4000">
                <a:solidFill>
                  <a:schemeClr val="bg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084573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1A28FF6-6ABD-05E0-14A5-3CA8FD766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7A6230E5-DC19-8048-9011-93E4E558FEAD}" type="datetime1">
              <a:rPr kumimoji="1" lang="en-US" altLang="ja-JP" smtClean="0"/>
              <a:pPr/>
              <a:t>10/15/2026</a:t>
            </a:fld>
            <a:endParaRPr kumimoji="1" lang="en-US" altLang="ja-JP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FB69A14-0AF9-A649-3ABB-D4052E786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06DBC31-6D39-6C3E-5F31-00E86E0A2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fld id="{E67BFEE9-6A35-CF42-A39A-CD481C3507E3}" type="slidenum">
              <a:rPr kumimoji="1" lang="en-US" altLang="ja-JP" smtClean="0"/>
              <a:pPr/>
              <a:t>‹#›</a:t>
            </a:fld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870487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 dirty="0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 dirty="0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 dirty="0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 dirty="0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5492" y="12744452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7A6230E5-DC19-8048-9011-93E4E558FEAD}" type="datetime1">
              <a:rPr kumimoji="1" lang="en-US" altLang="ja-JP" smtClean="0"/>
              <a:pPr/>
              <a:t>10/15/2026</a:t>
            </a:fld>
            <a:endParaRPr kumimoji="1" lang="en-US" altLang="ja-JP" dirty="0">
              <a:latin typeface="Arial" panose="020B0604020202020204" pitchFamily="3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6675" y="12712701"/>
            <a:ext cx="822906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85408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E67BFEE9-6A35-CF42-A39A-CD481C3507E3}" type="slidenum">
              <a:rPr kumimoji="1" lang="en-US" altLang="ja-JP" smtClean="0"/>
              <a:pPr/>
              <a:t>‹#›</a:t>
            </a:fld>
            <a:endParaRPr kumimoji="1" lang="en-US" altLang="ja-JP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459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74" r:id="rId3"/>
    <p:sldLayoutId id="2147483679" r:id="rId4"/>
    <p:sldLayoutId id="2147483683" r:id="rId5"/>
    <p:sldLayoutId id="2147483684" r:id="rId6"/>
    <p:sldLayoutId id="2147483680" r:id="rId7"/>
    <p:sldLayoutId id="2147483681" r:id="rId8"/>
    <p:sldLayoutId id="2147483686" r:id="rId9"/>
    <p:sldLayoutId id="2147483685" r:id="rId10"/>
    <p:sldLayoutId id="2147483682" r:id="rId11"/>
    <p:sldLayoutId id="2147483687" r:id="rId12"/>
  </p:sldLayoutIdLst>
  <p:hf hdr="0" ftr="0" dt="0"/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6400" b="1" kern="1200" spc="300">
          <a:solidFill>
            <a:schemeClr val="tx1"/>
          </a:solidFill>
          <a:latin typeface="Arial" panose="020B0604020202020204" pitchFamily="34" charset="0"/>
          <a:ea typeface="+mn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4800" b="1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2"/>
          </a:solidFill>
          <a:latin typeface="Arial" panose="020B0604020202020204" pitchFamily="34" charset="0"/>
          <a:ea typeface="Yu Gothic Medium" panose="020B0400000000000000" pitchFamily="34" charset="-128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2"/>
          </a:solidFill>
          <a:latin typeface="Arial" panose="020B0604020202020204" pitchFamily="34" charset="0"/>
          <a:ea typeface="Yu Gothic Medium" panose="020B0400000000000000" pitchFamily="34" charset="-128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2"/>
          </a:solidFill>
          <a:latin typeface="Arial" panose="020B0604020202020204" pitchFamily="34" charset="0"/>
          <a:ea typeface="Yu Gothic Medium" panose="020B0400000000000000" pitchFamily="34" charset="-128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b="0" i="0" kern="1200">
          <a:solidFill>
            <a:schemeClr val="tx2"/>
          </a:solidFill>
          <a:latin typeface="Arial" panose="020B0604020202020204" pitchFamily="34" charset="0"/>
          <a:ea typeface="Yu Gothic Medium" panose="020B0400000000000000" pitchFamily="34" charset="-128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EF8D53-DFAD-2781-7D58-CDDA68ED30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74602" y="6201682"/>
            <a:ext cx="14020800" cy="2125436"/>
          </a:xfrm>
        </p:spPr>
        <p:txBody>
          <a:bodyPr wrap="square">
            <a:noAutofit/>
          </a:bodyPr>
          <a:lstStyle/>
          <a:p>
            <a:pPr algn="r"/>
            <a:br>
              <a:rPr lang="en-US" altLang="ja-JP" sz="4400" b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ja-JP" sz="4400">
                <a:latin typeface="Arial" panose="020B0604020202020204" pitchFamily="34" charset="0"/>
                <a:cs typeface="Arial" panose="020B0604020202020204" pitchFamily="34" charset="0"/>
              </a:rPr>
              <a:t>Hierarchical </a:t>
            </a:r>
            <a:r>
              <a:rPr lang="en-US" altLang="ja-JP" sz="4400" dirty="0">
                <a:latin typeface="Arial" panose="020B0604020202020204" pitchFamily="34" charset="0"/>
                <a:cs typeface="Arial" panose="020B0604020202020204" pitchFamily="34" charset="0"/>
              </a:rPr>
              <a:t>Prediction </a:t>
            </a:r>
            <a:br>
              <a:rPr lang="en-US" altLang="ja-JP" sz="4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ja-JP" sz="4400" dirty="0">
                <a:latin typeface="Arial" panose="020B0604020202020204" pitchFamily="34" charset="0"/>
                <a:cs typeface="Arial" panose="020B0604020202020204" pitchFamily="34" charset="0"/>
              </a:rPr>
              <a:t>and Feedforward Correction </a:t>
            </a:r>
            <a:br>
              <a:rPr lang="en-US" altLang="ja-JP" sz="4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ja-JP" sz="4400" dirty="0">
                <a:latin typeface="Arial" panose="020B0604020202020204" pitchFamily="34" charset="0"/>
                <a:cs typeface="Arial" panose="020B0604020202020204" pitchFamily="34" charset="0"/>
              </a:rPr>
              <a:t>of Time-Varying Thermal Line-of-Sight Bias </a:t>
            </a:r>
            <a:br>
              <a:rPr lang="en-US" altLang="ja-JP" sz="4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ja-JP" sz="4400" dirty="0">
                <a:latin typeface="Arial" panose="020B0604020202020204" pitchFamily="34" charset="0"/>
                <a:cs typeface="Arial" panose="020B0604020202020204" pitchFamily="34" charset="0"/>
              </a:rPr>
              <a:t>for Coarse Acquisition </a:t>
            </a:r>
            <a:br>
              <a:rPr lang="en-US" altLang="ja-JP" sz="4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ja-JP" sz="4400" dirty="0">
                <a:latin typeface="Arial" panose="020B0604020202020204" pitchFamily="34" charset="0"/>
                <a:cs typeface="Arial" panose="020B0604020202020204" pitchFamily="34" charset="0"/>
              </a:rPr>
              <a:t>in Satellite Optical Communications</a:t>
            </a:r>
            <a:endParaRPr sz="4400" b="1" dirty="0">
              <a:solidFill>
                <a:srgbClr val="082B52"/>
              </a:solidFill>
              <a:latin typeface="Arial" panose="020B0604020202020204" pitchFamily="34" charset="0"/>
              <a:ea typeface="Yu Gothic"/>
              <a:cs typeface="Arial" panose="020B0604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787606" y="11617362"/>
            <a:ext cx="7132320" cy="59093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3600" b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ICSO</a:t>
            </a:r>
            <a:r>
              <a:rPr lang="en-US" altLang="ja-JP" sz="360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 2026 | </a:t>
            </a:r>
            <a:r>
              <a:rPr lang="en-US" altLang="ja-JP" sz="3600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October 15, 2026</a:t>
            </a:r>
            <a:endParaRPr lang="en-US" sz="3600" b="0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ea typeface="Yu Gothic"/>
              <a:cs typeface="Arial" panose="020B0604020202020204" pitchFamily="34" charset="0"/>
            </a:endParaRPr>
          </a:p>
        </p:txBody>
      </p:sp>
      <p:sp>
        <p:nvSpPr>
          <p:cNvPr id="6" name="Google Shape;70;p1">
            <a:extLst>
              <a:ext uri="{FF2B5EF4-FFF2-40B4-BE49-F238E27FC236}">
                <a16:creationId xmlns:a16="http://schemas.microsoft.com/office/drawing/2014/main" id="{8F5F23AD-2C62-83A6-047B-A7631094E474}"/>
              </a:ext>
            </a:extLst>
          </p:cNvPr>
          <p:cNvSpPr txBox="1">
            <a:spLocks/>
          </p:cNvSpPr>
          <p:nvPr/>
        </p:nvSpPr>
        <p:spPr>
          <a:xfrm>
            <a:off x="9551077" y="8993448"/>
            <a:ext cx="15340923" cy="13891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0" indent="0" algn="l" defTabSz="1828709" rtl="0" eaLnBrk="1" latinLnBrk="0" hangingPunct="1">
              <a:lnSpc>
                <a:spcPct val="5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3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354" indent="0" algn="ctr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4000" b="0" i="0" kern="1200">
                <a:solidFill>
                  <a:schemeClr val="tx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2pPr>
            <a:lvl3pPr marL="1828709" indent="0" algn="ctr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3600" b="0" i="0" kern="1200">
                <a:solidFill>
                  <a:schemeClr val="tx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3pPr>
            <a:lvl4pPr marL="2743063" indent="0" algn="ctr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3200" b="0" i="0" kern="1200">
                <a:solidFill>
                  <a:schemeClr val="tx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4pPr>
            <a:lvl5pPr marL="3657417" indent="0" algn="ctr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3200" b="0" i="0" kern="1200">
                <a:solidFill>
                  <a:schemeClr val="tx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5pPr>
            <a:lvl6pPr marL="4571771" indent="0" algn="ctr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126" indent="0" algn="ctr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480" indent="0" algn="ctr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4834" indent="0" algn="ctr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3200" b="1" u="sng" dirty="0">
                <a:latin typeface="Arial" panose="020B0604020202020204" pitchFamily="34" charset="0"/>
                <a:cs typeface="Arial" panose="020B0604020202020204" pitchFamily="34" charset="0"/>
              </a:rPr>
              <a:t>H. TAKAMOTO</a:t>
            </a:r>
            <a:r>
              <a:rPr lang="en-US" altLang="ja-JP" sz="3200" dirty="0">
                <a:latin typeface="Arial" panose="020B0604020202020204" pitchFamily="34" charset="0"/>
                <a:cs typeface="Arial" panose="020B0604020202020204" pitchFamily="34" charset="0"/>
              </a:rPr>
              <a:t>, K. Takashima,</a:t>
            </a:r>
            <a:r>
              <a:rPr lang="en-US" altLang="ja-JP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ja-JP" sz="3200" dirty="0">
                <a:latin typeface="Arial" panose="020B0604020202020204" pitchFamily="34" charset="0"/>
                <a:cs typeface="Arial" panose="020B0604020202020204" pitchFamily="34" charset="0"/>
              </a:rPr>
              <a:t>Y. Kusano,</a:t>
            </a:r>
            <a:r>
              <a:rPr lang="en-US" altLang="ja-JP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ja-JP" sz="3200" dirty="0">
                <a:latin typeface="Arial" panose="020B0604020202020204" pitchFamily="34" charset="0"/>
                <a:cs typeface="Arial" panose="020B0604020202020204" pitchFamily="34" charset="0"/>
              </a:rPr>
              <a:t>S. Ikari, R. </a:t>
            </a:r>
            <a:r>
              <a:rPr lang="en-US" altLang="ja-JP" sz="3200" dirty="0" err="1">
                <a:latin typeface="Arial" panose="020B0604020202020204" pitchFamily="34" charset="0"/>
                <a:cs typeface="Arial" panose="020B0604020202020204" pitchFamily="34" charset="0"/>
              </a:rPr>
              <a:t>Funase</a:t>
            </a:r>
            <a:r>
              <a:rPr lang="en-US" altLang="ja-JP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endParaRPr lang="en-US" altLang="ja-JP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ja-JP" sz="3200" dirty="0">
                <a:latin typeface="Arial" panose="020B0604020202020204" pitchFamily="34" charset="0"/>
                <a:cs typeface="Arial" panose="020B0604020202020204" pitchFamily="34" charset="0"/>
              </a:rPr>
              <a:t>(The University of Tokyo)</a:t>
            </a:r>
          </a:p>
        </p:txBody>
      </p:sp>
      <p:pic>
        <p:nvPicPr>
          <p:cNvPr id="10" name="Picture 2" descr="東大マーク | 東京大学">
            <a:extLst>
              <a:ext uri="{FF2B5EF4-FFF2-40B4-BE49-F238E27FC236}">
                <a16:creationId xmlns:a16="http://schemas.microsoft.com/office/drawing/2014/main" id="{37C6FA94-99DF-BA36-379D-FD90F4ED5F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93" t="11512" r="27198" b="14363"/>
          <a:stretch>
            <a:fillRect/>
          </a:stretch>
        </p:blipFill>
        <p:spPr bwMode="auto">
          <a:xfrm>
            <a:off x="20664408" y="9784542"/>
            <a:ext cx="3419664" cy="3665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3417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635D3E-6BA3-A5CE-2210-317DCBD6F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01</a:t>
            </a:r>
            <a:endParaRPr lang="en-US" sz="4800" b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4F4820-6A4B-21DF-1929-82AC7C54B2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ja-JP" sz="48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Background</a:t>
            </a:r>
            <a:endParaRPr lang="en-US" sz="4800" b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15B39E-8BAD-5C9C-E46E-51EE9D9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45895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12755A-CE30-29D5-66D8-858C1044B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lang="en-US" sz="3200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Reduce scan time b</a:t>
            </a:r>
            <a:r>
              <a:rPr lang="en-US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y predicting thermal LOS error in optical communications </a:t>
            </a:r>
            <a:endParaRPr sz="3200" b="1" dirty="0">
              <a:solidFill>
                <a:srgbClr val="082B5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335B153-B47B-237D-12A8-7E5DB7762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0828000" y="12700000"/>
            <a:ext cx="2946400" cy="508000"/>
          </a:xfrm>
        </p:spPr>
        <p:txBody>
          <a:bodyPr wrap="square"/>
          <a:lstStyle/>
          <a:p>
            <a:pPr>
              <a:spcAft>
                <a:spcPts val="0"/>
              </a:spcAft>
            </a:pPr>
            <a:r>
              <a:rPr lang="en-US" altLang="ja-JP" sz="2800" dirty="0">
                <a:solidFill>
                  <a:srgbClr val="666F79"/>
                </a:solidFill>
                <a:ea typeface="Yu Gothic"/>
                <a:cs typeface="Arial" panose="020B0604020202020204" pitchFamily="34" charset="0"/>
              </a:rPr>
              <a:t>1/17</a:t>
            </a:r>
            <a:endParaRPr lang="en-US" sz="2800" dirty="0">
              <a:solidFill>
                <a:srgbClr val="666F79"/>
              </a:solidFill>
              <a:ea typeface="Yu Gothic"/>
              <a:cs typeface="Arial" panose="020B0604020202020204" pitchFamily="34" charset="0"/>
            </a:endParaRP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906C556-D817-34D8-3FEC-80F456E48C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lang="en-US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Background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097280" y="3383280"/>
            <a:ext cx="6492240" cy="3200398"/>
          </a:xfrm>
          <a:prstGeom prst="roundRect">
            <a:avLst/>
          </a:prstGeom>
          <a:solidFill>
            <a:srgbClr val="F4F6F8"/>
          </a:solidFill>
          <a:ln w="2540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996539" y="3685032"/>
            <a:ext cx="4693721" cy="54784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en-US" sz="3200" b="1" dirty="0">
                <a:solidFill>
                  <a:srgbClr val="1B74A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Before optical feedback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4416552"/>
            <a:ext cx="5760720" cy="202517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3200" b="0" dirty="0">
                <a:solidFill>
                  <a:srgbClr val="232B34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Search an uncertainty region including </a:t>
            </a:r>
            <a:r>
              <a:rPr lang="en-US" altLang="ja-JP" sz="32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thermal LOS</a:t>
            </a:r>
            <a:r>
              <a:rPr lang="en-US" altLang="ja-JP" sz="3200" dirty="0">
                <a:solidFill>
                  <a:srgbClr val="232B34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, </a:t>
            </a:r>
            <a:r>
              <a:rPr lang="en-US" sz="3200" b="0" dirty="0">
                <a:solidFill>
                  <a:srgbClr val="232B34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attitude, and orbit errors</a:t>
            </a:r>
          </a:p>
          <a:p>
            <a:pPr algn="ctr">
              <a:spcAft>
                <a:spcPts val="0"/>
              </a:spcAft>
            </a:pPr>
            <a:endParaRPr sz="3200" b="0" dirty="0">
              <a:solidFill>
                <a:srgbClr val="232B34"/>
              </a:solidFill>
              <a:latin typeface="Arial" panose="020B0604020202020204" pitchFamily="34" charset="0"/>
              <a:ea typeface="Yu Gothic"/>
              <a:cs typeface="Arial" panose="020B0604020202020204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732519" y="3383279"/>
            <a:ext cx="6492240" cy="3697255"/>
          </a:xfrm>
          <a:prstGeom prst="roundRect">
            <a:avLst/>
          </a:prstGeom>
          <a:solidFill>
            <a:srgbClr val="F4F6F8"/>
          </a:solidFill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497928" y="3648456"/>
            <a:ext cx="4961423" cy="1040285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/>
            <a:r>
              <a:rPr lang="en-US" sz="3200" b="1" dirty="0">
                <a:solidFill>
                  <a:srgbClr val="1B74A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Illumination / eclipse</a:t>
            </a:r>
          </a:p>
          <a:p>
            <a:pPr algn="ctr"/>
            <a:r>
              <a:rPr lang="en-US" sz="3200" b="1" dirty="0">
                <a:solidFill>
                  <a:srgbClr val="1B74A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 dissipation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1098" y="4706962"/>
            <a:ext cx="5060808" cy="153272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en-US" sz="3200" b="0" dirty="0">
                <a:solidFill>
                  <a:srgbClr val="232B3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Temperature field </a:t>
            </a:r>
          </a:p>
          <a:p>
            <a:pPr algn="ctr"/>
            <a:r>
              <a:rPr lang="en-US" sz="3200" b="0" dirty="0">
                <a:solidFill>
                  <a:srgbClr val="232B3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→ thermal expansion
→ </a:t>
            </a:r>
            <a:r>
              <a:rPr lang="en-US" altLang="ja-JP" sz="3200" dirty="0">
                <a:solidFill>
                  <a:srgbClr val="232B3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spacecraft-bus distortion</a:t>
            </a:r>
            <a:endParaRPr lang="en-US" sz="3200" b="0" dirty="0">
              <a:solidFill>
                <a:srgbClr val="232B3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77314" y="6355052"/>
            <a:ext cx="6979245" cy="48628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Thermal LOS</a:t>
            </a:r>
            <a:r>
              <a:rPr lang="en-US" sz="2800" b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: 100 µrad to 1 mrad</a:t>
            </a:r>
            <a:endParaRPr lang="en-US" sz="28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6367759" y="3383280"/>
            <a:ext cx="6492240" cy="3474720"/>
          </a:xfrm>
          <a:prstGeom prst="roundRect">
            <a:avLst/>
          </a:prstGeom>
          <a:solidFill>
            <a:srgbClr val="F4F6F8"/>
          </a:solidFill>
          <a:ln w="2540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733520" y="3424428"/>
            <a:ext cx="5760720" cy="153272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3200" b="1" dirty="0">
                <a:solidFill>
                  <a:srgbClr val="FF0000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Our approach: </a:t>
            </a:r>
          </a:p>
          <a:p>
            <a:pPr algn="ctr">
              <a:spcAft>
                <a:spcPts val="0"/>
              </a:spcAft>
            </a:pPr>
            <a:r>
              <a:rPr lang="en-US" sz="3200" b="1" dirty="0">
                <a:solidFill>
                  <a:srgbClr val="FF0000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Pre-acquisition predictive correction </a:t>
            </a:r>
            <a:endParaRPr lang="en-US" sz="32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733519" y="5074920"/>
            <a:ext cx="5760720" cy="153272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3200" b="0" dirty="0">
                <a:solidFill>
                  <a:srgbClr val="232B34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Subtract </a:t>
            </a:r>
            <a:r>
              <a:rPr lang="en-US" sz="3200" b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thermal LOS</a:t>
            </a:r>
            <a:r>
              <a:rPr lang="en-US" sz="3200" b="0">
                <a:solidFill>
                  <a:srgbClr val="232B34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 </a:t>
            </a:r>
            <a:endParaRPr lang="en-US" sz="3200" b="0" dirty="0">
              <a:solidFill>
                <a:srgbClr val="232B34"/>
              </a:solidFill>
              <a:latin typeface="Arial" panose="020B0604020202020204" pitchFamily="34" charset="0"/>
              <a:ea typeface="Yu Gothic"/>
              <a:cs typeface="Arial" panose="020B0604020202020204" pitchFamily="34" charset="0"/>
            </a:endParaRPr>
          </a:p>
          <a:p>
            <a:pPr algn="ctr">
              <a:spcAft>
                <a:spcPts val="0"/>
              </a:spcAft>
            </a:pPr>
            <a:r>
              <a:rPr lang="en-US" sz="3200" b="0">
                <a:solidFill>
                  <a:srgbClr val="232B34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from the scan center</a:t>
            </a:r>
          </a:p>
          <a:p>
            <a:pPr algn="ctr">
              <a:spcAft>
                <a:spcPts val="0"/>
              </a:spcAft>
            </a:pPr>
            <a:r>
              <a:rPr lang="en-US" sz="3200" b="0">
                <a:solidFill>
                  <a:srgbClr val="232B34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to reduce search time</a:t>
            </a:r>
            <a:endParaRPr lang="en-US" sz="3200" b="0" dirty="0">
              <a:solidFill>
                <a:srgbClr val="232B34"/>
              </a:solidFill>
              <a:latin typeface="Arial" panose="020B0604020202020204" pitchFamily="34" charset="0"/>
              <a:ea typeface="Yu Gothic"/>
              <a:cs typeface="Arial" panose="020B060402020202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842801" y="12321036"/>
            <a:ext cx="16696815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en-US" altLang="ja-JP" sz="3200">
                <a:solidFill>
                  <a:srgbClr val="082B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modifying the spacecraft or LCT,</a:t>
            </a:r>
            <a:endParaRPr lang="en-US" altLang="ja-JP" sz="3200" dirty="0">
              <a:solidFill>
                <a:srgbClr val="082B5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altLang="ja-JP" sz="3200">
                <a:solidFill>
                  <a:srgbClr val="082B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>
                <a:solidFill>
                  <a:srgbClr val="082B5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operationally remove only predictable thermal deformation from the initial LOS error.</a:t>
            </a: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191BBC5C-178E-661F-128A-D617E934A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2889" y="7038281"/>
            <a:ext cx="6647102" cy="5590102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498CF50A-5A18-B28F-3BD0-637684E7A9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273" y="7102959"/>
            <a:ext cx="6647102" cy="5786247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ED170B76-4559-B87C-F49C-D7A69F01E9F7}"/>
              </a:ext>
            </a:extLst>
          </p:cNvPr>
          <p:cNvSpPr/>
          <p:nvPr/>
        </p:nvSpPr>
        <p:spPr>
          <a:xfrm>
            <a:off x="7863839" y="4638382"/>
            <a:ext cx="685800" cy="547842"/>
          </a:xfrm>
          <a:prstGeom prst="rightArrow">
            <a:avLst>
              <a:gd name="adj1" fmla="val 42972"/>
              <a:gd name="adj2" fmla="val 46486"/>
            </a:avLst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矢印: 右 22">
            <a:extLst>
              <a:ext uri="{FF2B5EF4-FFF2-40B4-BE49-F238E27FC236}">
                <a16:creationId xmlns:a16="http://schemas.microsoft.com/office/drawing/2014/main" id="{7CE29811-2011-943C-9089-640BA482954F}"/>
              </a:ext>
            </a:extLst>
          </p:cNvPr>
          <p:cNvSpPr/>
          <p:nvPr/>
        </p:nvSpPr>
        <p:spPr>
          <a:xfrm>
            <a:off x="15523349" y="4592657"/>
            <a:ext cx="685800" cy="547842"/>
          </a:xfrm>
          <a:prstGeom prst="rightArrow">
            <a:avLst>
              <a:gd name="adj1" fmla="val 42972"/>
              <a:gd name="adj2" fmla="val 46486"/>
            </a:avLst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5C8AB17C-24EC-1D70-A57C-9F0A856596A9}"/>
              </a:ext>
            </a:extLst>
          </p:cNvPr>
          <p:cNvGrpSpPr/>
          <p:nvPr/>
        </p:nvGrpSpPr>
        <p:grpSpPr>
          <a:xfrm>
            <a:off x="9418920" y="10282390"/>
            <a:ext cx="4001416" cy="1293583"/>
            <a:chOff x="16462856" y="9295630"/>
            <a:chExt cx="5142607" cy="1784823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3746836C-83E0-C89B-8D50-FAAC411517D8}"/>
                </a:ext>
              </a:extLst>
            </p:cNvPr>
            <p:cNvSpPr/>
            <p:nvPr/>
          </p:nvSpPr>
          <p:spPr>
            <a:xfrm>
              <a:off x="16462856" y="9494484"/>
              <a:ext cx="4041648" cy="129358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2483BE21-E883-1C39-D881-D8A104083EB1}"/>
                </a:ext>
              </a:extLst>
            </p:cNvPr>
            <p:cNvSpPr/>
            <p:nvPr/>
          </p:nvSpPr>
          <p:spPr>
            <a:xfrm rot="20616866">
              <a:off x="19346287" y="9295630"/>
              <a:ext cx="2259176" cy="149655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02CF46DB-EF65-6EE1-AA3D-F75678EF70A2}"/>
                </a:ext>
              </a:extLst>
            </p:cNvPr>
            <p:cNvSpPr/>
            <p:nvPr/>
          </p:nvSpPr>
          <p:spPr>
            <a:xfrm>
              <a:off x="16462856" y="9833739"/>
              <a:ext cx="3178456" cy="12467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F9F08B1E-D52A-72C0-F516-C359D0969945}"/>
              </a:ext>
            </a:extLst>
          </p:cNvPr>
          <p:cNvSpPr/>
          <p:nvPr/>
        </p:nvSpPr>
        <p:spPr>
          <a:xfrm>
            <a:off x="9418920" y="7692650"/>
            <a:ext cx="3690520" cy="129358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200" dirty="0">
                <a:latin typeface="Arial" panose="020B0604020202020204" pitchFamily="34" charset="0"/>
                <a:cs typeface="Arial" panose="020B0604020202020204" pitchFamily="34" charset="0"/>
              </a:rPr>
              <a:t>satellite</a:t>
            </a:r>
            <a:endParaRPr kumimoji="1" lang="ja-JP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DA3A1181-3F38-A986-20EA-E6256C7726FB}"/>
              </a:ext>
            </a:extLst>
          </p:cNvPr>
          <p:cNvCxnSpPr>
            <a:stCxn id="26" idx="3"/>
          </p:cNvCxnSpPr>
          <p:nvPr/>
        </p:nvCxnSpPr>
        <p:spPr>
          <a:xfrm flipV="1">
            <a:off x="13109440" y="8339441"/>
            <a:ext cx="2573873" cy="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32D63509-9AA5-4C46-AFF5-31500EE5B4EE}"/>
              </a:ext>
            </a:extLst>
          </p:cNvPr>
          <p:cNvCxnSpPr>
            <a:cxnSpLocks/>
          </p:cNvCxnSpPr>
          <p:nvPr/>
        </p:nvCxnSpPr>
        <p:spPr>
          <a:xfrm flipV="1">
            <a:off x="13313306" y="9908027"/>
            <a:ext cx="2166139" cy="714885"/>
          </a:xfrm>
          <a:prstGeom prst="line">
            <a:avLst/>
          </a:prstGeom>
          <a:ln w="38100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2BB53D9F-20D7-AC68-2C16-3BC7C9CD5BF1}"/>
              </a:ext>
            </a:extLst>
          </p:cNvPr>
          <p:cNvSpPr txBox="1"/>
          <p:nvPr/>
        </p:nvSpPr>
        <p:spPr>
          <a:xfrm>
            <a:off x="14396375" y="7491220"/>
            <a:ext cx="17007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endParaRPr kumimoji="1" lang="ja-JP" altLang="en-US" sz="3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EEBAA38-44FB-A72D-F047-CAF18749F345}"/>
              </a:ext>
            </a:extLst>
          </p:cNvPr>
          <p:cNvSpPr txBox="1"/>
          <p:nvPr/>
        </p:nvSpPr>
        <p:spPr>
          <a:xfrm>
            <a:off x="15456559" y="9306877"/>
            <a:ext cx="17007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endParaRPr kumimoji="1" lang="ja-JP" altLang="en-US" sz="3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0FC76142-7A1B-8A9E-0887-07C215A349F8}"/>
              </a:ext>
            </a:extLst>
          </p:cNvPr>
          <p:cNvCxnSpPr>
            <a:cxnSpLocks/>
          </p:cNvCxnSpPr>
          <p:nvPr/>
        </p:nvCxnSpPr>
        <p:spPr>
          <a:xfrm flipV="1">
            <a:off x="13410779" y="10665214"/>
            <a:ext cx="2573873" cy="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矢印: 下 31">
            <a:extLst>
              <a:ext uri="{FF2B5EF4-FFF2-40B4-BE49-F238E27FC236}">
                <a16:creationId xmlns:a16="http://schemas.microsoft.com/office/drawing/2014/main" id="{130A2CF9-0DFD-ED8B-DE73-F812611C58A0}"/>
              </a:ext>
            </a:extLst>
          </p:cNvPr>
          <p:cNvSpPr/>
          <p:nvPr/>
        </p:nvSpPr>
        <p:spPr>
          <a:xfrm>
            <a:off x="10949121" y="9212676"/>
            <a:ext cx="900743" cy="937547"/>
          </a:xfrm>
          <a:prstGeom prst="downArrow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4857D43-A2DA-1C29-51E8-BB7CC106C3AB}"/>
              </a:ext>
            </a:extLst>
          </p:cNvPr>
          <p:cNvSpPr txBox="1"/>
          <p:nvPr/>
        </p:nvSpPr>
        <p:spPr>
          <a:xfrm>
            <a:off x="8108355" y="10665214"/>
            <a:ext cx="17007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real:</a:t>
            </a:r>
            <a:endParaRPr kumimoji="1" lang="ja-JP" altLang="en-US" sz="3600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110E13BC-76D1-CCF7-01CC-A941E9F2A1DD}"/>
              </a:ext>
            </a:extLst>
          </p:cNvPr>
          <p:cNvSpPr txBox="1"/>
          <p:nvPr/>
        </p:nvSpPr>
        <p:spPr>
          <a:xfrm>
            <a:off x="7927536" y="8127803"/>
            <a:ext cx="17007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ideal:</a:t>
            </a:r>
            <a:endParaRPr kumimoji="1" lang="ja-JP" altLang="en-US" sz="3600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円弧 34">
            <a:extLst>
              <a:ext uri="{FF2B5EF4-FFF2-40B4-BE49-F238E27FC236}">
                <a16:creationId xmlns:a16="http://schemas.microsoft.com/office/drawing/2014/main" id="{92C183A9-6F38-013B-73E5-155B562B5AE9}"/>
              </a:ext>
            </a:extLst>
          </p:cNvPr>
          <p:cNvSpPr/>
          <p:nvPr/>
        </p:nvSpPr>
        <p:spPr>
          <a:xfrm rot="1912678">
            <a:off x="14120040" y="10170660"/>
            <a:ext cx="651647" cy="634508"/>
          </a:xfrm>
          <a:prstGeom prst="arc">
            <a:avLst>
              <a:gd name="adj1" fmla="val 16200000"/>
              <a:gd name="adj2" fmla="val 21382646"/>
            </a:avLst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577CA35F-9BE4-78AD-5047-860378EAC713}"/>
              </a:ext>
            </a:extLst>
          </p:cNvPr>
          <p:cNvSpPr txBox="1"/>
          <p:nvPr/>
        </p:nvSpPr>
        <p:spPr>
          <a:xfrm>
            <a:off x="11892048" y="9396919"/>
            <a:ext cx="31447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Arial" panose="020B0604020202020204" pitchFamily="34" charset="0"/>
                <a:cs typeface="Arial" panose="020B0604020202020204" pitchFamily="34" charset="0"/>
              </a:rPr>
              <a:t>Thermal distortion</a:t>
            </a:r>
            <a:endParaRPr kumimoji="1" lang="ja-JP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667603CC-24F4-588D-5DAF-CBA089AB0ACD}"/>
              </a:ext>
            </a:extLst>
          </p:cNvPr>
          <p:cNvSpPr txBox="1"/>
          <p:nvPr/>
        </p:nvSpPr>
        <p:spPr>
          <a:xfrm>
            <a:off x="10284672" y="10681272"/>
            <a:ext cx="18439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satellite</a:t>
            </a:r>
            <a:endParaRPr kumimoji="1" lang="ja-JP" altLang="en-US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7172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44673"/>
            <a:ext cx="15910559" cy="65248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Aft>
                <a:spcPts val="0"/>
              </a:spcAft>
            </a:pP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  <a:cs typeface="Arial" panose="020B0604020202020204" pitchFamily="34" charset="0"/>
            </a:endParaRPr>
          </a:p>
          <a:p>
            <a:pPr algn="l">
              <a:spcAft>
                <a:spcPts val="0"/>
              </a:spcAft>
            </a:pPr>
            <a:r>
              <a:rPr lang="en-US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Background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36192" y="1082811"/>
            <a:ext cx="22037040" cy="161999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  <a:ea typeface="Yu Gothic"/>
              <a:cs typeface="Arial" panose="020B0604020202020204" pitchFamily="34" charset="0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Thermal </a:t>
            </a:r>
            <a:r>
              <a:rPr lang="en-US" altLang="ja-JP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LOS error</a:t>
            </a:r>
            <a:r>
              <a:rPr lang="en-US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 can match or exceed orbit-prediction error</a:t>
            </a:r>
            <a:r>
              <a:rPr lang="en-US" altLang="ja-JP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—</a:t>
            </a:r>
            <a:r>
              <a:rPr lang="en-US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and cannot be optically separated before acquisition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828000" y="12700000"/>
            <a:ext cx="2946400" cy="4678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280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2/17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4274270"/>
              </p:ext>
            </p:extLst>
          </p:nvPr>
        </p:nvGraphicFramePr>
        <p:xfrm>
          <a:off x="1463040" y="3200400"/>
          <a:ext cx="21396958" cy="51206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095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494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2412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Yu Gothic"/>
                          <a:cs typeface="Arial" panose="020B0604020202020204" pitchFamily="34" charset="0"/>
                        </a:rPr>
                        <a:t>Error source</a:t>
                      </a:r>
                      <a:endParaRPr lang="en-US" sz="28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  <a:ea typeface="Yu Gothic"/>
                        <a:cs typeface="Arial" panose="020B0604020202020204" pitchFamily="34" charset="0"/>
                      </a:endParaRPr>
                    </a:p>
                  </a:txBody>
                  <a:tcPr marL="128016" marR="128016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Yu Gothic"/>
                          <a:cs typeface="Arial" panose="020B0604020202020204" pitchFamily="34" charset="0"/>
                        </a:rPr>
                        <a:t>Approximate magnitude</a:t>
                      </a:r>
                      <a:endParaRPr lang="en-US" sz="28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  <a:ea typeface="Yu Gothic"/>
                        <a:cs typeface="Arial" panose="020B0604020202020204" pitchFamily="34" charset="0"/>
                      </a:endParaRPr>
                    </a:p>
                  </a:txBody>
                  <a:tcPr marL="128016" marR="128016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Yu Gothic"/>
                          <a:cs typeface="Arial" panose="020B0604020202020204" pitchFamily="34" charset="0"/>
                        </a:rPr>
                        <a:t>Time variation</a:t>
                      </a:r>
                      <a:endParaRPr lang="en-US" sz="28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  <a:ea typeface="Yu Gothic"/>
                        <a:cs typeface="Arial" panose="020B0604020202020204" pitchFamily="34" charset="0"/>
                      </a:endParaRPr>
                    </a:p>
                  </a:txBody>
                  <a:tcPr marL="128016" marR="128016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412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  <a:cs typeface="Arial" panose="020B0604020202020204" pitchFamily="34" charset="0"/>
                        </a:rPr>
                        <a:t>Thermal LOS</a:t>
                      </a:r>
                    </a:p>
                  </a:txBody>
                  <a:tcPr marL="128016" marR="128016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  <a:cs typeface="Arial" panose="020B0604020202020204" pitchFamily="34" charset="0"/>
                        </a:rPr>
                        <a:t>150 µrad–1000 µrad (this analysis)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  <a:cs typeface="Arial" panose="020B0604020202020204" pitchFamily="34" charset="0"/>
                      </a:endParaRPr>
                    </a:p>
                  </a:txBody>
                  <a:tcPr marL="128016" marR="128016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  <a:cs typeface="Arial" panose="020B0604020202020204" pitchFamily="34" charset="0"/>
                        </a:rPr>
                        <a:t>Orbital period (~100 min in LEO)</a:t>
                      </a:r>
                      <a:endParaRPr lang="en-US" sz="2800" b="0" dirty="0" err="1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  <a:cs typeface="Arial" panose="020B0604020202020204" pitchFamily="34" charset="0"/>
                      </a:endParaRPr>
                    </a:p>
                  </a:txBody>
                  <a:tcPr marL="128016" marR="128016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412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  <a:cs typeface="Arial" panose="020B0604020202020204" pitchFamily="34" charset="0"/>
                        </a:rPr>
                        <a:t>Orbit prediction</a:t>
                      </a:r>
                    </a:p>
                  </a:txBody>
                  <a:tcPr marL="128016" marR="128016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  <a:cs typeface="Arial" panose="020B0604020202020204" pitchFamily="34" charset="0"/>
                        </a:rPr>
                        <a:t>Several hundred µrad (TLE propagation vs. precise GPS ephemeris)</a:t>
                      </a:r>
                    </a:p>
                  </a:txBody>
                  <a:tcPr marL="128016" marR="128016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  <a:cs typeface="Arial" panose="020B0604020202020204" pitchFamily="34" charset="0"/>
                        </a:rPr>
                        <a:t>Orbital period (~100 min in LEO)</a:t>
                      </a:r>
                      <a:endParaRPr lang="en-US" sz="2800" b="0" dirty="0" err="1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  <a:cs typeface="Arial" panose="020B0604020202020204" pitchFamily="34" charset="0"/>
                      </a:endParaRPr>
                    </a:p>
                  </a:txBody>
                  <a:tcPr marL="128016" marR="128016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412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  <a:cs typeface="Arial" panose="020B0604020202020204" pitchFamily="34" charset="0"/>
                        </a:rPr>
                        <a:t>Attitude and calibrated alignment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  <a:cs typeface="Arial" panose="020B0604020202020204" pitchFamily="34" charset="0"/>
                      </a:endParaRP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  <a:cs typeface="Arial" panose="020B0604020202020204" pitchFamily="34" charset="0"/>
                        </a:rPr>
                        <a:t>Tens of µrad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  <a:cs typeface="Arial" panose="020B0604020202020204" pitchFamily="34" charset="0"/>
                      </a:endParaRP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  <a:cs typeface="Arial" panose="020B0604020202020204" pitchFamily="34" charset="0"/>
                        </a:rPr>
                        <a:t>DC to broadband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  <a:cs typeface="Arial" panose="020B0604020202020204" pitchFamily="34" charset="0"/>
                      </a:endParaRPr>
                    </a:p>
                  </a:txBody>
                  <a:tcPr marL="128016" marR="128016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412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  <a:cs typeface="Arial" panose="020B0604020202020204" pitchFamily="34" charset="0"/>
                        </a:rPr>
                        <a:t>Mechanical vibration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  <a:cs typeface="Arial" panose="020B0604020202020204" pitchFamily="34" charset="0"/>
                      </a:endParaRPr>
                    </a:p>
                  </a:txBody>
                  <a:tcPr marL="128016" marR="128016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  <a:cs typeface="Arial" panose="020B0604020202020204" pitchFamily="34" charset="0"/>
                        </a:rPr>
                        <a:t>Several to tens of µrad</a:t>
                      </a:r>
                    </a:p>
                  </a:txBody>
                  <a:tcPr marL="128016" marR="128016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  <a:cs typeface="Arial" panose="020B0604020202020204" pitchFamily="34" charset="0"/>
                        </a:rPr>
                        <a:t>High frequency (post-acquisition fine tracking)</a:t>
                      </a:r>
                    </a:p>
                  </a:txBody>
                  <a:tcPr marL="128016" marR="128016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63040" y="8458200"/>
            <a:ext cx="21396960" cy="3447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000" b="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* Thermal LOS</a:t>
            </a:r>
            <a:r>
              <a:rPr lang="en-US" altLang="ja-JP" sz="2000" b="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 and orbit-prediction error are from this analysis</a:t>
            </a:r>
            <a:r>
              <a:rPr lang="en-US" altLang="ja-JP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; </a:t>
            </a:r>
            <a:r>
              <a:rPr lang="en-US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other values are literature-based order-of-magnitude estimates.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  <a:cs typeface="Arial" panose="020B0604020202020204" pitchFamily="34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463040" y="9418320"/>
            <a:ext cx="21396960" cy="3785616"/>
          </a:xfrm>
          <a:prstGeom prst="roundRect">
            <a:avLst/>
          </a:prstGeom>
          <a:solidFill>
            <a:srgbClr val="EBF6FB"/>
          </a:solidFill>
          <a:ln w="22860">
            <a:solidFill>
              <a:srgbClr val="5BB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28800" y="9646920"/>
            <a:ext cx="20665440" cy="118538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en-US" sz="3200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Thermal LOS and orbit prediction share </a:t>
            </a:r>
            <a:r>
              <a:rPr lang="en-US" altLang="ja-JP" sz="3200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similar</a:t>
            </a:r>
            <a:r>
              <a:rPr lang="en-US" sz="3200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 orbital periods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en-US" sz="3200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Frequency separation of post-acquisition residuals cannot isolate the thermal component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1772900"/>
            <a:ext cx="21396960" cy="102181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3200" b="1" dirty="0"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Do not </a:t>
            </a:r>
            <a:r>
              <a:rPr lang="en-US" altLang="ja-JP" sz="3200" b="1" dirty="0"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separate thermal effects retrospectively</a:t>
            </a:r>
            <a:r>
              <a:rPr lang="en-US" sz="3200" b="1" dirty="0"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 from observations</a:t>
            </a:r>
          </a:p>
          <a:p>
            <a:pPr algn="ctr">
              <a:spcAft>
                <a:spcPts val="0"/>
              </a:spcAft>
            </a:pPr>
            <a:r>
              <a:rPr lang="en-US" sz="3200" b="1" dirty="0"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Subtract them before acquisition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94240433-D79D-CFAB-63F5-3885639F5032}"/>
              </a:ext>
            </a:extLst>
          </p:cNvPr>
          <p:cNvSpPr/>
          <p:nvPr/>
        </p:nvSpPr>
        <p:spPr>
          <a:xfrm rot="5400000">
            <a:off x="11918047" y="11028683"/>
            <a:ext cx="685800" cy="547842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98366AD8-6DF9-7CF4-554B-CA06B88994F7}"/>
              </a:ext>
            </a:extLst>
          </p:cNvPr>
          <p:cNvSpPr txBox="1"/>
          <p:nvPr/>
        </p:nvSpPr>
        <p:spPr>
          <a:xfrm>
            <a:off x="5619750" y="2707542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ja-JP" sz="2800" b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 contributors to scan-center LOS error during coarse acquisition</a:t>
            </a:r>
            <a:endParaRPr lang="en-US" altLang="ja-JP" sz="2800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8561"/>
            <a:ext cx="15910559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Background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36192" y="1343202"/>
            <a:ext cx="22037040" cy="109921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  <a:ea typeface="Yu Gothic"/>
              <a:cs typeface="Arial" panose="020B0604020202020204" pitchFamily="34" charset="0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altLang="ja-JP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  <a:cs typeface="Arial" panose="020B0604020202020204" pitchFamily="34" charset="0"/>
              </a:rPr>
              <a:t>Prior work on thermal-deformation LOS error prediction and this study</a:t>
            </a: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  <a:ea typeface="Yu Gothic"/>
              <a:cs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828000" y="12700000"/>
            <a:ext cx="2946400" cy="4678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280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3/17</a:t>
            </a:r>
          </a:p>
        </p:txBody>
      </p: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A46055EF-9EAE-9D40-A161-EC7FBD1C0A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6975197"/>
              </p:ext>
            </p:extLst>
          </p:nvPr>
        </p:nvGraphicFramePr>
        <p:xfrm>
          <a:off x="2160290" y="3045590"/>
          <a:ext cx="20855827" cy="7932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1437">
                  <a:extLst>
                    <a:ext uri="{9D8B030D-6E8A-4147-A177-3AD203B41FA5}">
                      <a16:colId xmlns:a16="http://schemas.microsoft.com/office/drawing/2014/main" val="1548032301"/>
                    </a:ext>
                  </a:extLst>
                </a:gridCol>
                <a:gridCol w="5932449">
                  <a:extLst>
                    <a:ext uri="{9D8B030D-6E8A-4147-A177-3AD203B41FA5}">
                      <a16:colId xmlns:a16="http://schemas.microsoft.com/office/drawing/2014/main" val="2689480544"/>
                    </a:ext>
                  </a:extLst>
                </a:gridCol>
                <a:gridCol w="5852304">
                  <a:extLst>
                    <a:ext uri="{9D8B030D-6E8A-4147-A177-3AD203B41FA5}">
                      <a16:colId xmlns:a16="http://schemas.microsoft.com/office/drawing/2014/main" val="3075504841"/>
                    </a:ext>
                  </a:extLst>
                </a:gridCol>
                <a:gridCol w="5499637">
                  <a:extLst>
                    <a:ext uri="{9D8B030D-6E8A-4147-A177-3AD203B41FA5}">
                      <a16:colId xmlns:a16="http://schemas.microsoft.com/office/drawing/2014/main" val="39855268"/>
                    </a:ext>
                  </a:extLst>
                </a:gridCol>
              </a:tblGrid>
              <a:tr h="64897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2800" b="0" dirty="0" err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Aproach</a:t>
                      </a:r>
                      <a:endParaRPr lang="en-US" altLang="ja-JP" sz="2800" b="0" dirty="0">
                        <a:solidFill>
                          <a:srgbClr val="FFFFFF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2800" b="1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Structural mitigation</a:t>
                      </a:r>
                      <a:endParaRPr lang="ja-JP" sz="2800" b="1" dirty="0">
                        <a:solidFill>
                          <a:srgbClr val="06265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2800" b="1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Model-based LOS prediction</a:t>
                      </a:r>
                      <a:endParaRPr lang="en-US" altLang="ja-JP" sz="2800" b="1" dirty="0">
                        <a:solidFill>
                          <a:srgbClr val="06265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2800" b="1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This study</a:t>
                      </a:r>
                      <a:endParaRPr lang="ja-JP" sz="2800" b="1" dirty="0">
                        <a:solidFill>
                          <a:srgbClr val="06265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067178"/>
                  </a:ext>
                </a:extLst>
              </a:tr>
              <a:tr h="944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800" b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References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8287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2800" b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Shi 2023; Zhang 2025; Gao 2025</a:t>
                      </a:r>
                      <a:endParaRPr lang="en-US" altLang="ja-JP" sz="2800" b="0" dirty="0">
                        <a:solidFill>
                          <a:srgbClr val="06265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it-IT" altLang="ja-JP" sz="2800" b="0" dirty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Hu 2022; Li 2025; </a:t>
                      </a:r>
                    </a:p>
                    <a:p>
                      <a:pPr algn="l">
                        <a:buNone/>
                      </a:pPr>
                      <a:r>
                        <a:rPr lang="it-IT" altLang="ja-JP" sz="2800" b="0" dirty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Turella 2019/2021</a:t>
                      </a:r>
                      <a:endParaRPr lang="en-US" altLang="ja-JP" sz="2800" b="0" dirty="0">
                        <a:solidFill>
                          <a:srgbClr val="06265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8287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28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—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5041142"/>
                  </a:ext>
                </a:extLst>
              </a:tr>
              <a:tr h="22529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800" b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Approach to thermal deformation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8287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2800" b="0" dirty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Reduce deformation by structure, isolation, and placement, or quantify pointing error for layout and thermal control.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2800" b="0" dirty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Predict or correct LOS from temperature difference, diurnal cycle, or observation geometry.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2800" b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Predict bus-level LOS from panel ΔT and equipment state, with coefficients shared across cases.</a:t>
                      </a:r>
                      <a:endParaRPr lang="en-US" altLang="ja-JP" sz="2800" b="0" dirty="0">
                        <a:solidFill>
                          <a:srgbClr val="06265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9285297"/>
                  </a:ext>
                </a:extLst>
              </a:tr>
              <a:tr h="1183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800" b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Main target</a:t>
                      </a:r>
                      <a:endParaRPr lang="en-US" altLang="ja-JP" sz="2800" b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2800" b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 sensor to laser terminal, and instrument-internal LOS</a:t>
                      </a:r>
                      <a:endParaRPr lang="en-US" altLang="ja-JP" sz="2800" b="0" dirty="0">
                        <a:solidFill>
                          <a:srgbClr val="06265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2800" b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Instrument-internal or camera LOS</a:t>
                      </a:r>
                      <a:endParaRPr lang="en-US" altLang="ja-JP" sz="2800" b="0" dirty="0">
                        <a:solidFill>
                          <a:srgbClr val="06265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ja-JP" sz="2800" b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STT–LCT relative LOS across the spacecraft bus</a:t>
                      </a:r>
                      <a:endParaRPr lang="en-US" altLang="ja-JP" sz="2800" b="0" dirty="0">
                        <a:solidFill>
                          <a:srgbClr val="06265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0502729"/>
                  </a:ext>
                </a:extLst>
              </a:tr>
              <a:tr h="1183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800" b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Evaluation metric</a:t>
                      </a:r>
                      <a:endParaRPr lang="en-US" altLang="ja-JP" sz="2800" b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2800" b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Pointing or LOS stability; Shi 2023 also reports acquisition time</a:t>
                      </a:r>
                      <a:endParaRPr lang="en-US" altLang="ja-JP" sz="2800" b="0" dirty="0">
                        <a:solidFill>
                          <a:srgbClr val="06265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2800" b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LOS error or image geolocation accuracy</a:t>
                      </a:r>
                      <a:endParaRPr lang="en-US" altLang="ja-JP" sz="2800" b="0" dirty="0">
                        <a:solidFill>
                          <a:srgbClr val="06265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2800" b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Unseen-case LOS error, plus acquisition time and success rate</a:t>
                      </a:r>
                      <a:endParaRPr lang="en-US" altLang="ja-JP" sz="2800" b="0" dirty="0">
                        <a:solidFill>
                          <a:srgbClr val="06265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446176"/>
                  </a:ext>
                </a:extLst>
              </a:tr>
              <a:tr h="1718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2800" b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Remaining gap</a:t>
                      </a:r>
                      <a:endParaRPr lang="en-US" altLang="ja-JP" sz="2800" b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2800" b="0" dirty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These studies </a:t>
                      </a:r>
                      <a:r>
                        <a:rPr lang="en-US" altLang="ja-JP" sz="2800" b="1" dirty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 not predict residual thermal LOS </a:t>
                      </a:r>
                      <a:r>
                        <a:rPr lang="en-US" altLang="ja-JP" sz="2800" b="0" dirty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from an onboard thermal state.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2800" b="0" dirty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These </a:t>
                      </a:r>
                      <a:r>
                        <a:rPr lang="en-US" altLang="ja-JP" sz="2800" b="1" dirty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studies do not connect bus-level</a:t>
                      </a:r>
                      <a:r>
                        <a:rPr lang="en-US" altLang="ja-JP" sz="2800" b="0" dirty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STT–LCT LOS to coarse acquisition.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ja-JP" sz="2800" b="0" dirty="0">
                          <a:solidFill>
                            <a:srgbClr val="06265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Numerical only, on one simplified bus; not ground- or flight-validated.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7187714"/>
                  </a:ext>
                </a:extLst>
              </a:tr>
            </a:tbl>
          </a:graphicData>
        </a:graphic>
      </p:graphicFrame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579EAF2-D38E-DE80-8D0F-6C285F3EB458}"/>
              </a:ext>
            </a:extLst>
          </p:cNvPr>
          <p:cNvSpPr txBox="1"/>
          <p:nvPr/>
        </p:nvSpPr>
        <p:spPr>
          <a:xfrm>
            <a:off x="2653674" y="11742670"/>
            <a:ext cx="2018402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3200" b="1" dirty="0">
                <a:solidFill>
                  <a:srgbClr val="06265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study predicts bus-level STT–LCT LOS.</a:t>
            </a:r>
          </a:p>
          <a:p>
            <a:pPr algn="ctr"/>
            <a:r>
              <a:rPr lang="en-US" altLang="ja-JP" sz="3200" b="1" dirty="0">
                <a:solidFill>
                  <a:srgbClr val="06265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evaluates that prediction by coarse-acquisition time and success.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66188-687C-CACF-8E62-FDA47B400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536192" y="1810512"/>
            <a:ext cx="18782514" cy="547842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en-US" altLang="ja-JP" sz="3200" b="1" dirty="0">
                <a:latin typeface="Arial" panose="020B0604020202020204" pitchFamily="34" charset="0"/>
                <a:cs typeface="Arial" panose="020B0604020202020204" pitchFamily="34" charset="0"/>
              </a:rPr>
              <a:t>Research overview: from thermoelastic truth generation and model construction to evaluation</a:t>
            </a:r>
            <a:endParaRPr lang="en-US" altLang="ja-JP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000020" y="12699999"/>
            <a:ext cx="774379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r"/>
            <a:r>
              <a:rPr lang="en-US" sz="2800" dirty="0">
                <a:solidFill>
                  <a:srgbClr val="666F79"/>
                </a:solidFill>
                <a:latin typeface="Arial" panose="020B0604020202020204" pitchFamily="34" charset="0"/>
              </a:rPr>
              <a:t>4/17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063240"/>
            <a:ext cx="3444239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71447" y="3329594"/>
            <a:ext cx="1930144" cy="701731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 panose="020B0604020202020204" pitchFamily="34" charset="0"/>
              </a:rPr>
              <a:t>Orbit / attitude
heat &amp; coating</a:t>
            </a:r>
            <a:endParaRPr lang="en-US" sz="21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742688" y="3063240"/>
            <a:ext cx="3444239" cy="1234440"/>
          </a:xfrm>
          <a:prstGeom prst="rect">
            <a:avLst/>
          </a:prstGeom>
          <a:solidFill>
            <a:srgbClr val="1B74AA"/>
          </a:solidFill>
          <a:ln w="16510">
            <a:solidFill>
              <a:srgbClr val="1B7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36229" y="3329594"/>
            <a:ext cx="2257156" cy="701731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 panose="020B0604020202020204" pitchFamily="34" charset="0"/>
              </a:rPr>
              <a:t>Thermal Desktop
temperature</a:t>
            </a:r>
            <a:endParaRPr lang="en-US" sz="21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8241792" y="3680460"/>
            <a:ext cx="274320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70976" y="3063240"/>
            <a:ext cx="3444239" cy="1234440"/>
          </a:xfrm>
          <a:prstGeom prst="rect">
            <a:avLst/>
          </a:prstGeom>
          <a:solidFill>
            <a:srgbClr val="239571"/>
          </a:solidFill>
          <a:ln w="16510">
            <a:solidFill>
              <a:srgbClr val="2395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09401" y="3329594"/>
            <a:ext cx="2167388" cy="701731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 panose="020B0604020202020204" pitchFamily="34" charset="0"/>
              </a:rPr>
              <a:t>Femap / Nastran
rotation</a:t>
            </a:r>
            <a:endParaRPr lang="en-US" sz="21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12070080" y="3680460"/>
            <a:ext cx="274319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2399263" y="3063240"/>
            <a:ext cx="3444239" cy="1234440"/>
          </a:xfrm>
          <a:prstGeom prst="rect">
            <a:avLst/>
          </a:prstGeom>
          <a:solidFill>
            <a:srgbClr val="EC9427"/>
          </a:solidFill>
          <a:ln w="16510">
            <a:solidFill>
              <a:srgbClr val="EC94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283749" y="3329594"/>
            <a:ext cx="1675267" cy="701731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 panose="020B0604020202020204" pitchFamily="34" charset="0"/>
              </a:rPr>
              <a:t>STT–LCT
thermal LOS</a:t>
            </a:r>
            <a:endParaRPr lang="en-US" sz="21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15898367" y="3680460"/>
            <a:ext cx="274321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6227552" y="3063240"/>
            <a:ext cx="3444239" cy="1234440"/>
          </a:xfrm>
          <a:prstGeom prst="rect">
            <a:avLst/>
          </a:prstGeom>
          <a:solidFill>
            <a:srgbClr val="5D4084"/>
          </a:solidFill>
          <a:ln w="16510">
            <a:solidFill>
              <a:srgbClr val="5D4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955744" y="3329594"/>
            <a:ext cx="1987852" cy="701731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 panose="020B0604020202020204" pitchFamily="34" charset="0"/>
              </a:rPr>
              <a:t>Reduced-order
model</a:t>
            </a:r>
            <a:endParaRPr lang="en-US" sz="21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19726655" y="3680460"/>
            <a:ext cx="274321" cy="0"/>
          </a:xfrm>
          <a:prstGeom prst="line">
            <a:avLst/>
          </a:prstGeom>
          <a:ln w="25400">
            <a:solidFill>
              <a:srgbClr val="5BB5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0055840" y="3063240"/>
            <a:ext cx="3444239" cy="1234440"/>
          </a:xfrm>
          <a:prstGeom prst="rect">
            <a:avLst/>
          </a:prstGeom>
          <a:solidFill>
            <a:srgbClr val="082B52"/>
          </a:solidFill>
          <a:ln w="16510">
            <a:solidFill>
              <a:srgbClr val="082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0994027" y="3329594"/>
            <a:ext cx="1567865" cy="701731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 panose="020B0604020202020204" pitchFamily="34" charset="0"/>
              </a:rPr>
              <a:t>PAT
scan center</a:t>
            </a:r>
            <a:endParaRPr lang="en-US" sz="21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14400" y="7188743"/>
            <a:ext cx="15700443" cy="3959156"/>
          </a:xfrm>
          <a:prstGeom prst="rect">
            <a:avLst/>
          </a:prstGeom>
          <a:solidFill>
            <a:srgbClr val="F4F6F8"/>
          </a:solidFill>
          <a:ln w="16510">
            <a:solidFill>
              <a:srgbClr val="B8D5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412457" y="7600223"/>
            <a:ext cx="4846007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en-US" altLang="ja-JP" sz="2800" b="1">
                <a:latin typeface="Arial" panose="020B0604020202020204" pitchFamily="34" charset="0"/>
              </a:rPr>
              <a:t>Ground model development</a:t>
            </a:r>
            <a:endParaRPr lang="en-US" sz="27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95336" y="8560343"/>
            <a:ext cx="12825513" cy="212365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lang="en-US" sz="2600" b="1" dirty="0">
                <a:solidFill>
                  <a:srgbClr val="1B74AA"/>
                </a:solidFill>
                <a:latin typeface="Arial" panose="020B0604020202020204" pitchFamily="34" charset="0"/>
              </a:rPr>
              <a:t>• </a:t>
            </a:r>
            <a:r>
              <a:rPr lang="en-US" altLang="ja-JP" sz="2800" dirty="0">
                <a:latin typeface="Arial" panose="020B0604020202020204" pitchFamily="34" charset="0"/>
              </a:rPr>
              <a:t>Input orbit, attitude, and thermal environment</a:t>
            </a:r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Arial" panose="020B0604020202020204" pitchFamily="34" charset="0"/>
              </a:rPr>
              <a:t>• </a:t>
            </a:r>
            <a:r>
              <a:rPr lang="en-US" altLang="ja-JP" sz="2800" dirty="0">
                <a:latin typeface="Arial" panose="020B0604020202020204" pitchFamily="34" charset="0"/>
              </a:rPr>
              <a:t>Compute temperature fields and thermoelastic deformation with TD/</a:t>
            </a:r>
            <a:r>
              <a:rPr lang="en-US" altLang="ja-JP" sz="2800" dirty="0" err="1">
                <a:latin typeface="Arial" panose="020B0604020202020204" pitchFamily="34" charset="0"/>
              </a:rPr>
              <a:t>Femap</a:t>
            </a:r>
            <a:endParaRPr lang="en-US" altLang="ja-JP" sz="2800" dirty="0">
              <a:latin typeface="Arial" panose="020B0604020202020204" pitchFamily="34" charset="0"/>
            </a:endParaRPr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Arial" panose="020B0604020202020204" pitchFamily="34" charset="0"/>
              </a:rPr>
              <a:t>• </a:t>
            </a:r>
            <a:r>
              <a:rPr lang="en-US" altLang="ja-JP" sz="2800" dirty="0">
                <a:latin typeface="Arial" panose="020B0604020202020204" pitchFamily="34" charset="0"/>
              </a:rPr>
              <a:t>Generate reference STT–LCT relative-LOS time series</a:t>
            </a:r>
          </a:p>
          <a:p>
            <a:pPr>
              <a:spcAft>
                <a:spcPts val="800"/>
              </a:spcAft>
            </a:pPr>
            <a:r>
              <a:rPr lang="en-US" altLang="ja-JP" sz="2800" b="1" dirty="0">
                <a:solidFill>
                  <a:srgbClr val="1B74AA"/>
                </a:solidFill>
                <a:latin typeface="Arial" panose="020B0604020202020204" pitchFamily="34" charset="0"/>
              </a:rPr>
              <a:t>• </a:t>
            </a:r>
            <a:r>
              <a:rPr lang="en-US" altLang="ja-JP" sz="2800" dirty="0">
                <a:latin typeface="Arial" panose="020B0604020202020204" pitchFamily="34" charset="0"/>
              </a:rPr>
              <a:t>Train and evaluate the reduced-order model</a:t>
            </a:r>
            <a:endParaRPr lang="en-US" sz="26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6848306" y="7188743"/>
            <a:ext cx="6651773" cy="3959154"/>
          </a:xfrm>
          <a:prstGeom prst="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7151000" y="7600223"/>
            <a:ext cx="6085786" cy="470956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r>
              <a:rPr lang="en-US" altLang="ja-JP" sz="2700" b="1">
                <a:solidFill>
                  <a:srgbClr val="1B74AA"/>
                </a:solidFill>
                <a:latin typeface="Arial" panose="020B0604020202020204" pitchFamily="34" charset="0"/>
              </a:rPr>
              <a:t>On-orbit correction</a:t>
            </a:r>
            <a:endParaRPr lang="en-US" sz="2700" b="1" dirty="0">
              <a:solidFill>
                <a:srgbClr val="1B74AA"/>
              </a:solidFill>
              <a:latin typeface="Arial" panose="020B0604020202020204" pitchFamily="3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7225771" y="8446043"/>
            <a:ext cx="5806441" cy="2503249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800"/>
              </a:spcAft>
            </a:pPr>
            <a:r>
              <a:rPr lang="en-US" sz="2600" b="1">
                <a:solidFill>
                  <a:srgbClr val="1B74AA"/>
                </a:solidFill>
                <a:latin typeface="Arial" panose="020B0604020202020204" pitchFamily="34" charset="0"/>
              </a:rPr>
              <a:t>• </a:t>
            </a:r>
            <a:r>
              <a:rPr lang="en-US" sz="2600">
                <a:solidFill>
                  <a:srgbClr val="232B34"/>
                </a:solidFill>
                <a:latin typeface="Arial" panose="020B0604020202020204" pitchFamily="34" charset="0"/>
              </a:rPr>
              <a:t>Temperature / operating state</a:t>
            </a:r>
          </a:p>
          <a:p>
            <a:pPr>
              <a:spcAft>
                <a:spcPts val="800"/>
              </a:spcAft>
            </a:pPr>
            <a:r>
              <a:rPr lang="en-US" sz="2600" b="1">
                <a:solidFill>
                  <a:srgbClr val="1B74AA"/>
                </a:solidFill>
                <a:latin typeface="Arial" panose="020B0604020202020204" pitchFamily="34" charset="0"/>
              </a:rPr>
              <a:t>• </a:t>
            </a:r>
            <a:r>
              <a:rPr lang="en-US" altLang="ja-JP" sz="2600">
                <a:solidFill>
                  <a:srgbClr val="232B34"/>
                </a:solidFill>
                <a:latin typeface="Arial" panose="020B0604020202020204" pitchFamily="34" charset="0"/>
              </a:rPr>
              <a:t>Predict thermal LOS</a:t>
            </a:r>
            <a:endParaRPr lang="en-US" altLang="ja-JP" sz="2600" dirty="0">
              <a:solidFill>
                <a:srgbClr val="232B34"/>
              </a:solidFill>
              <a:latin typeface="Arial" panose="020B0604020202020204" pitchFamily="34" charset="0"/>
            </a:endParaRPr>
          </a:p>
          <a:p>
            <a:pPr>
              <a:spcAft>
                <a:spcPts val="800"/>
              </a:spcAft>
            </a:pPr>
            <a:r>
              <a:rPr lang="en-US" altLang="ja-JP" sz="2600" b="1" dirty="0">
                <a:solidFill>
                  <a:srgbClr val="1B74AA"/>
                </a:solidFill>
                <a:latin typeface="Arial" panose="020B0604020202020204" pitchFamily="34" charset="0"/>
              </a:rPr>
              <a:t>• </a:t>
            </a:r>
            <a:r>
              <a:rPr lang="en-US" sz="2600" dirty="0">
                <a:solidFill>
                  <a:srgbClr val="232B34"/>
                </a:solidFill>
                <a:latin typeface="Arial" panose="020B0604020202020204" pitchFamily="34" charset="0"/>
              </a:rPr>
              <a:t>Correct the scan center</a:t>
            </a:r>
            <a:endParaRPr lang="en-US" altLang="ja-JP" sz="2600" dirty="0">
              <a:solidFill>
                <a:srgbClr val="232B34"/>
              </a:solidFill>
              <a:latin typeface="Arial" panose="020B0604020202020204" pitchFamily="34" charset="0"/>
            </a:endParaRPr>
          </a:p>
          <a:p>
            <a:pPr>
              <a:spcAft>
                <a:spcPts val="800"/>
              </a:spcAft>
            </a:pPr>
            <a:r>
              <a:rPr lang="en-US" altLang="ja-JP" sz="2600">
                <a:solidFill>
                  <a:srgbClr val="1B74AA"/>
                </a:solidFill>
                <a:latin typeface="Arial" panose="020B0604020202020204" pitchFamily="34" charset="0"/>
              </a:rPr>
              <a:t>• </a:t>
            </a:r>
            <a:r>
              <a:rPr lang="en-US" altLang="ja-JP" sz="2600">
                <a:solidFill>
                  <a:srgbClr val="232B34"/>
                </a:solidFill>
                <a:latin typeface="Arial" panose="020B0604020202020204" pitchFamily="34" charset="0"/>
              </a:rPr>
              <a:t>Include nonthermal errors</a:t>
            </a:r>
            <a:endParaRPr lang="en-US" sz="2600">
              <a:solidFill>
                <a:srgbClr val="232B34"/>
              </a:solidFill>
              <a:latin typeface="Arial" panose="020B0604020202020204" pitchFamily="34" charset="0"/>
            </a:endParaRPr>
          </a:p>
          <a:p>
            <a:pPr>
              <a:spcAft>
                <a:spcPts val="800"/>
              </a:spcAft>
            </a:pPr>
            <a:r>
              <a:rPr lang="en-US" sz="2600" b="1">
                <a:solidFill>
                  <a:srgbClr val="1B74AA"/>
                </a:solidFill>
                <a:latin typeface="Arial" panose="020B0604020202020204" pitchFamily="34" charset="0"/>
              </a:rPr>
              <a:t>• </a:t>
            </a:r>
            <a:r>
              <a:rPr lang="en-US" sz="2600">
                <a:solidFill>
                  <a:srgbClr val="232B34"/>
                </a:solidFill>
                <a:latin typeface="Arial" panose="020B0604020202020204" pitchFamily="34" charset="0"/>
              </a:rPr>
              <a:t>Residual update</a:t>
            </a:r>
            <a:endParaRPr lang="en-US" sz="26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052664" y="11835849"/>
            <a:ext cx="15922757" cy="1040285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r>
              <a:rPr lang="en-US" altLang="ja-JP" sz="3200" b="1">
                <a:solidFill>
                  <a:srgbClr val="1B74A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lang="en-US" altLang="ja-JP" sz="3200" b="1">
                <a:latin typeface="Arial" panose="020B0604020202020204" pitchFamily="34" charset="0"/>
                <a:cs typeface="Arial" panose="020B0604020202020204" pitchFamily="34" charset="0"/>
              </a:rPr>
              <a:t>TD/Femap runs only on the ground; only the reduced-order model runs onboard</a:t>
            </a:r>
            <a:endParaRPr lang="en-US" altLang="ja-JP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ja-JP" sz="3200" b="1">
                <a:solidFill>
                  <a:srgbClr val="1B74A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</a:t>
            </a:r>
            <a:r>
              <a:rPr lang="en-US" altLang="ja-JP" sz="3200" b="1">
                <a:latin typeface="Arial" panose="020B0604020202020204" pitchFamily="34" charset="0"/>
                <a:cs typeface="Arial" panose="020B0604020202020204" pitchFamily="34" charset="0"/>
              </a:rPr>
              <a:t>Evaluate LOS error, acquisition success, and acquisition time</a:t>
            </a:r>
            <a:endParaRPr lang="en-US" altLang="ja-JP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3715A86D-4060-9A30-BCAB-A905AF7390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987" b="12995"/>
          <a:stretch>
            <a:fillRect/>
          </a:stretch>
        </p:blipFill>
        <p:spPr>
          <a:xfrm>
            <a:off x="4668368" y="4428721"/>
            <a:ext cx="3295472" cy="2714577"/>
          </a:xfrm>
          <a:prstGeom prst="rect">
            <a:avLst/>
          </a:prstGeom>
        </p:spPr>
      </p:pic>
      <p:pic>
        <p:nvPicPr>
          <p:cNvPr id="34" name="図 33">
            <a:extLst>
              <a:ext uri="{FF2B5EF4-FFF2-40B4-BE49-F238E27FC236}">
                <a16:creationId xmlns:a16="http://schemas.microsoft.com/office/drawing/2014/main" id="{F956818A-24FB-86DE-EFEF-CDBD09D72D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33"/>
          <a:stretch>
            <a:fillRect/>
          </a:stretch>
        </p:blipFill>
        <p:spPr>
          <a:xfrm rot="5400000">
            <a:off x="8975763" y="4844559"/>
            <a:ext cx="2594268" cy="17697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C89755C7-CE55-00F5-650C-D30D48A9F5CB}"/>
                  </a:ext>
                </a:extLst>
              </p:cNvPr>
              <p:cNvSpPr txBox="1"/>
              <p:nvPr/>
            </p:nvSpPr>
            <p:spPr>
              <a:xfrm>
                <a:off x="16227552" y="5285419"/>
                <a:ext cx="3499103" cy="1097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kumimoji="1" lang="en-US" altLang="ja-JP" sz="3200" i="1" smtClean="0">
                          <a:latin typeface="Cambria Math" panose="02040503050406030204" pitchFamily="18" charset="0"/>
                        </a:rPr>
                        <m:t>𝛥</m:t>
                      </m:r>
                      <m:acc>
                        <m:accPr>
                          <m:chr m:val="̂"/>
                          <m:ctrlP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ja-JP" sz="3200" i="1">
                          <a:latin typeface="Cambria Math" panose="02040503050406030204" pitchFamily="18" charset="0"/>
                        </a:rPr>
                        <m:t>𝛥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  <m:t>𝑐𝑎𝑠𝑒</m:t>
                          </m:r>
                        </m:sub>
                      </m:sSub>
                    </m:oMath>
                  </m:oMathPara>
                </a14:m>
                <a:endParaRPr kumimoji="1" lang="en-US" altLang="ja-JP" sz="3200" b="0" i="1" dirty="0">
                  <a:latin typeface="Arial" panose="020B0604020202020204" pitchFamily="34" charset="0"/>
                </a:endParaRPr>
              </a:p>
              <a:p>
                <a:endParaRPr kumimoji="1" lang="ja-JP" altLang="en-US" sz="3200" i="1" dirty="0"/>
              </a:p>
            </p:txBody>
          </p:sp>
        </mc:Choice>
        <mc:Fallback xmlns=""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C89755C7-CE55-00F5-650C-D30D48A9F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7552" y="5285419"/>
                <a:ext cx="3499103" cy="109799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8A071E9D-0A17-5410-CA66-EB4C2E4AC8F6}"/>
              </a:ext>
            </a:extLst>
          </p:cNvPr>
          <p:cNvSpPr txBox="1"/>
          <p:nvPr/>
        </p:nvSpPr>
        <p:spPr>
          <a:xfrm>
            <a:off x="914400" y="4611231"/>
            <a:ext cx="3444239" cy="2246769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800">
                <a:latin typeface="Arial" panose="020B0604020202020204" pitchFamily="34" charset="0"/>
              </a:rPr>
              <a:t>• Orbit</a:t>
            </a:r>
            <a:endParaRPr kumimoji="1" lang="en-US" altLang="ja-JP" sz="2800" dirty="0">
              <a:latin typeface="Arial" panose="020B0604020202020204" pitchFamily="34" charset="0"/>
            </a:endParaRPr>
          </a:p>
          <a:p>
            <a:r>
              <a:rPr kumimoji="1" lang="en-US" altLang="ja-JP" sz="2800">
                <a:latin typeface="Arial" panose="020B0604020202020204" pitchFamily="34" charset="0"/>
              </a:rPr>
              <a:t>• Attitude</a:t>
            </a:r>
            <a:endParaRPr kumimoji="1" lang="en-US" altLang="ja-JP" sz="2800" dirty="0">
              <a:latin typeface="Arial" panose="020B0604020202020204" pitchFamily="34" charset="0"/>
            </a:endParaRPr>
          </a:p>
          <a:p>
            <a:r>
              <a:rPr kumimoji="1" lang="en-US" altLang="ja-JP" sz="2800">
                <a:latin typeface="Arial" panose="020B0604020202020204" pitchFamily="34" charset="0"/>
              </a:rPr>
              <a:t>• Equipment layout</a:t>
            </a:r>
            <a:endParaRPr kumimoji="1" lang="en-US" altLang="ja-JP" sz="2800" dirty="0">
              <a:latin typeface="Arial" panose="020B0604020202020204" pitchFamily="34" charset="0"/>
            </a:endParaRPr>
          </a:p>
          <a:p>
            <a:r>
              <a:rPr kumimoji="1" lang="en-US" altLang="ja-JP" sz="2800">
                <a:latin typeface="Arial" panose="020B0604020202020204" pitchFamily="34" charset="0"/>
              </a:rPr>
              <a:t>• Surface properties</a:t>
            </a:r>
            <a:endParaRPr kumimoji="1" lang="en-US" altLang="ja-JP" sz="2800" dirty="0">
              <a:latin typeface="Arial" panose="020B0604020202020204" pitchFamily="34" charset="0"/>
            </a:endParaRPr>
          </a:p>
          <a:p>
            <a:r>
              <a:rPr kumimoji="1" lang="en-US" altLang="ja-JP" sz="2800">
                <a:latin typeface="Arial" panose="020B0604020202020204" pitchFamily="34" charset="0"/>
              </a:rPr>
              <a:t>• Dissipation</a:t>
            </a:r>
            <a:endParaRPr kumimoji="1" lang="en-US" altLang="ja-JP" sz="2800" dirty="0"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テキスト ボックス 45">
                <a:extLst>
                  <a:ext uri="{FF2B5EF4-FFF2-40B4-BE49-F238E27FC236}">
                    <a16:creationId xmlns:a16="http://schemas.microsoft.com/office/drawing/2014/main" id="{6F7F0EF8-C4CA-F7FC-D1B9-80BBC6B4DBEE}"/>
                  </a:ext>
                </a:extLst>
              </p:cNvPr>
              <p:cNvSpPr txBox="1"/>
              <p:nvPr/>
            </p:nvSpPr>
            <p:spPr>
              <a:xfrm>
                <a:off x="20097212" y="5262967"/>
                <a:ext cx="3499103" cy="1097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kumimoji="1" lang="en-US" altLang="ja-JP" sz="320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kumimoji="1" lang="en-US" altLang="ja-JP" sz="3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kumimoji="1" lang="en-US" altLang="ja-JP" sz="3200" i="1">
                          <a:latin typeface="Cambria Math" panose="02040503050406030204" pitchFamily="18" charset="0"/>
                        </a:rPr>
                        <m:t>𝛥</m:t>
                      </m:r>
                      <m:acc>
                        <m:accPr>
                          <m:chr m:val="̂"/>
                          <m:ctrlP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sz="32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</m:oMath>
                  </m:oMathPara>
                </a14:m>
                <a:endParaRPr kumimoji="1" lang="en-US" altLang="ja-JP" sz="3200" b="0" i="1" dirty="0">
                  <a:latin typeface="Arial" panose="020B0604020202020204" pitchFamily="34" charset="0"/>
                </a:endParaRPr>
              </a:p>
              <a:p>
                <a:endParaRPr kumimoji="1" lang="ja-JP" altLang="en-US" sz="3200" i="1" dirty="0"/>
              </a:p>
            </p:txBody>
          </p:sp>
        </mc:Choice>
        <mc:Fallback xmlns="">
          <p:sp>
            <p:nvSpPr>
              <p:cNvPr id="46" name="テキスト ボックス 45">
                <a:extLst>
                  <a:ext uri="{FF2B5EF4-FFF2-40B4-BE49-F238E27FC236}">
                    <a16:creationId xmlns:a16="http://schemas.microsoft.com/office/drawing/2014/main" id="{6F7F0EF8-C4CA-F7FC-D1B9-80BBC6B4DB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97212" y="5262967"/>
                <a:ext cx="3499103" cy="10979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" name="図 29">
            <a:extLst>
              <a:ext uri="{FF2B5EF4-FFF2-40B4-BE49-F238E27FC236}">
                <a16:creationId xmlns:a16="http://schemas.microsoft.com/office/drawing/2014/main" id="{358AC5E1-7ED0-4F63-A640-E1FBA90924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81954" y="4507858"/>
            <a:ext cx="2977135" cy="2518710"/>
          </a:xfrm>
          <a:prstGeom prst="rect">
            <a:avLst/>
          </a:prstGeom>
        </p:spPr>
      </p:pic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1DCE9196-C7D7-872B-D045-F82596F94B28}"/>
              </a:ext>
            </a:extLst>
          </p:cNvPr>
          <p:cNvCxnSpPr/>
          <p:nvPr/>
        </p:nvCxnSpPr>
        <p:spPr>
          <a:xfrm>
            <a:off x="4417662" y="3680460"/>
            <a:ext cx="3003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C3F539BC-335B-005F-652D-A5DDAFB3B955}"/>
              </a:ext>
            </a:extLst>
          </p:cNvPr>
          <p:cNvCxnSpPr/>
          <p:nvPr/>
        </p:nvCxnSpPr>
        <p:spPr>
          <a:xfrm>
            <a:off x="8251886" y="3680460"/>
            <a:ext cx="3003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8F083C85-1959-4396-1842-E99064584238}"/>
              </a:ext>
            </a:extLst>
          </p:cNvPr>
          <p:cNvCxnSpPr/>
          <p:nvPr/>
        </p:nvCxnSpPr>
        <p:spPr>
          <a:xfrm>
            <a:off x="12098948" y="3680460"/>
            <a:ext cx="3003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070BA75E-7B73-DCCF-5536-8984CC6E57C7}"/>
              </a:ext>
            </a:extLst>
          </p:cNvPr>
          <p:cNvCxnSpPr/>
          <p:nvPr/>
        </p:nvCxnSpPr>
        <p:spPr>
          <a:xfrm>
            <a:off x="15898367" y="3680460"/>
            <a:ext cx="3003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E1DEB9D1-AAC3-1A56-67DB-4238E795C90F}"/>
              </a:ext>
            </a:extLst>
          </p:cNvPr>
          <p:cNvCxnSpPr/>
          <p:nvPr/>
        </p:nvCxnSpPr>
        <p:spPr>
          <a:xfrm>
            <a:off x="19726655" y="3680460"/>
            <a:ext cx="3003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1">
            <a:extLst>
              <a:ext uri="{FF2B5EF4-FFF2-40B4-BE49-F238E27FC236}">
                <a16:creationId xmlns:a16="http://schemas.microsoft.com/office/drawing/2014/main" id="{38DB7F46-25D7-2099-9429-B3FBA207AC94}"/>
              </a:ext>
            </a:extLst>
          </p:cNvPr>
          <p:cNvSpPr txBox="1"/>
          <p:nvPr/>
        </p:nvSpPr>
        <p:spPr>
          <a:xfrm>
            <a:off x="548640" y="219456"/>
            <a:ext cx="15910559" cy="363176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altLang="ja-JP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Background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3432855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97D2E-EE4C-6864-E091-29ED8542D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C65F31-16F0-0F0B-B262-B7B55B1CB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02</a:t>
            </a:r>
            <a:endParaRPr sz="4800" b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1A17A4B-80F0-CB64-6693-69D53F63BF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ja-JP" sz="48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Thermoelastic Analysis</a:t>
            </a:r>
            <a:endParaRPr sz="4800" b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42C795B-7F6C-CF95-3769-F196E7D33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57091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363176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Thermoelastic analysis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1040285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  <a:ea typeface="Yu Gothic"/>
            </a:endParaRPr>
          </a:p>
          <a:p>
            <a:pPr algn="l">
              <a:spcAft>
                <a:spcPts val="0"/>
              </a:spcAft>
            </a:pPr>
            <a:r>
              <a:rPr lang="en-US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</a:rPr>
              <a:t>We evaluate a box-structure LEO spacecraft with the STT and LCT on different panels</a:t>
            </a: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828000" y="12699999"/>
            <a:ext cx="2946400" cy="48628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280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5/17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48111"/>
              </p:ext>
            </p:extLst>
          </p:nvPr>
        </p:nvGraphicFramePr>
        <p:xfrm>
          <a:off x="17411701" y="3764280"/>
          <a:ext cx="6362700" cy="7193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11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015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9891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Yu Gothic"/>
                        </a:rPr>
                        <a:t>Item</a:t>
                      </a:r>
                      <a:endParaRPr lang="en-US" sz="28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Yu Gothic"/>
                        </a:rPr>
                        <a:t>Setting</a:t>
                      </a:r>
                      <a:endParaRPr lang="en-US" sz="28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891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Bus dimensions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590 × 600 × 990 mm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9891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Panels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10-mm-thick shell elements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9891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Material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A5052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9891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LCT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Center of MZ panel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98919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STT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Center of PZ panel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6824960" y="11430000"/>
            <a:ext cx="6949440" cy="1499834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en-US" sz="28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</a:rPr>
              <a:t>Not a specific-spacecraft design review.</a:t>
            </a:r>
            <a:endParaRPr lang="en-US" altLang="ja-JP" sz="2800" b="1" dirty="0">
              <a:solidFill>
                <a:srgbClr val="082B52"/>
              </a:solidFill>
              <a:latin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en-US" sz="28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</a:rPr>
              <a:t>Fixed structure; sun face and dissipation vary.</a:t>
            </a: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CCEF93ED-B9FC-B970-0B05-59AC1CDB4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093" y="3764280"/>
            <a:ext cx="4377691" cy="6995395"/>
          </a:xfrm>
          <a:prstGeom prst="rect">
            <a:avLst/>
          </a:prstGeom>
        </p:spPr>
      </p:pic>
      <p:sp>
        <p:nvSpPr>
          <p:cNvPr id="18" name="TextBox 6"/>
          <p:cNvSpPr txBox="1"/>
          <p:nvPr/>
        </p:nvSpPr>
        <p:spPr>
          <a:xfrm>
            <a:off x="2569216" y="3261360"/>
            <a:ext cx="1430008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Arial" panose="020B0604020202020204" pitchFamily="34" charset="0"/>
              </a:rPr>
              <a:t>PZ: STT</a:t>
            </a:r>
          </a:p>
        </p:txBody>
      </p:sp>
      <p:sp>
        <p:nvSpPr>
          <p:cNvPr id="19" name="TextBox 7"/>
          <p:cNvSpPr txBox="1"/>
          <p:nvPr/>
        </p:nvSpPr>
        <p:spPr>
          <a:xfrm>
            <a:off x="2707409" y="10894945"/>
            <a:ext cx="1511761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ctr"/>
            <a:r>
              <a:rPr lang="en-US" sz="2800" b="1">
                <a:solidFill>
                  <a:srgbClr val="082B52"/>
                </a:solidFill>
                <a:latin typeface="Arial" panose="020B0604020202020204" pitchFamily="34" charset="0"/>
              </a:rPr>
              <a:t>MZ: LCT</a:t>
            </a:r>
            <a:endParaRPr lang="en-US" sz="28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20" name="TextBox 8"/>
          <p:cNvSpPr txBox="1"/>
          <p:nvPr/>
        </p:nvSpPr>
        <p:spPr>
          <a:xfrm>
            <a:off x="3507104" y="5259118"/>
            <a:ext cx="1823320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lang="en-US" sz="2800" b="1" dirty="0">
                <a:solidFill>
                  <a:srgbClr val="EC9427"/>
                </a:solidFill>
                <a:latin typeface="Arial" panose="020B0604020202020204" pitchFamily="34" charset="0"/>
              </a:rPr>
              <a:t>MY: PCDU</a:t>
            </a:r>
          </a:p>
        </p:txBody>
      </p:sp>
      <p:sp>
        <p:nvSpPr>
          <p:cNvPr id="21" name="TextBox 9"/>
          <p:cNvSpPr txBox="1"/>
          <p:nvPr/>
        </p:nvSpPr>
        <p:spPr>
          <a:xfrm>
            <a:off x="1929554" y="8298180"/>
            <a:ext cx="1760803" cy="486287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lang="en-US" sz="2800" b="1">
                <a:solidFill>
                  <a:srgbClr val="EF25D7"/>
                </a:solidFill>
                <a:latin typeface="Arial" panose="020B0604020202020204" pitchFamily="34" charset="0"/>
              </a:rPr>
              <a:t>PY: PROP</a:t>
            </a:r>
            <a:endParaRPr lang="en-US" sz="2800" b="1" dirty="0">
              <a:solidFill>
                <a:srgbClr val="EF25D7"/>
              </a:solidFill>
              <a:latin typeface="Arial" panose="020B0604020202020204" pitchFamily="34" charset="0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F82260-522D-6761-0595-3DE00DE7B20B}"/>
              </a:ext>
            </a:extLst>
          </p:cNvPr>
          <p:cNvSpPr txBox="1"/>
          <p:nvPr/>
        </p:nvSpPr>
        <p:spPr>
          <a:xfrm>
            <a:off x="3921478" y="11736067"/>
            <a:ext cx="302736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US" sz="2800" b="1">
                <a:solidFill>
                  <a:srgbClr val="232B34"/>
                </a:solidFill>
                <a:latin typeface="Arial" panose="020B0604020202020204" pitchFamily="34" charset="0"/>
                <a:ea typeface="Yu Gothic"/>
              </a:rPr>
              <a:t>LOS</a:t>
            </a:r>
          </a:p>
          <a:p>
            <a:pPr>
              <a:spcAft>
                <a:spcPts val="0"/>
              </a:spcAft>
            </a:pPr>
            <a:r>
              <a:rPr lang="en-US" sz="2800" b="1">
                <a:solidFill>
                  <a:srgbClr val="232B34"/>
                </a:solidFill>
                <a:latin typeface="Arial" panose="020B0604020202020204" pitchFamily="34" charset="0"/>
                <a:ea typeface="Yu Gothic"/>
              </a:rPr>
              <a:t>Boresight ≈ −Z</a:t>
            </a:r>
            <a:endParaRPr lang="en-US" sz="2800" b="1" dirty="0">
              <a:solidFill>
                <a:srgbClr val="232B34"/>
              </a:solidFill>
              <a:latin typeface="Arial" panose="020B0604020202020204" pitchFamily="34" charset="0"/>
              <a:ea typeface="Yu Gothic"/>
            </a:endParaRPr>
          </a:p>
        </p:txBody>
      </p:sp>
      <p:sp>
        <p:nvSpPr>
          <p:cNvPr id="27" name="矢印: 下 26">
            <a:extLst>
              <a:ext uri="{FF2B5EF4-FFF2-40B4-BE49-F238E27FC236}">
                <a16:creationId xmlns:a16="http://schemas.microsoft.com/office/drawing/2014/main" id="{3ABEA4DE-C3B5-7BEA-4021-0D8E1D0BB0E3}"/>
              </a:ext>
            </a:extLst>
          </p:cNvPr>
          <p:cNvSpPr/>
          <p:nvPr/>
        </p:nvSpPr>
        <p:spPr>
          <a:xfrm>
            <a:off x="2893199" y="11612814"/>
            <a:ext cx="873478" cy="1123188"/>
          </a:xfrm>
          <a:prstGeom prst="down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800"/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757886C6-D7F5-0F38-ACF6-8EA5310D4B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5235" y="3766102"/>
            <a:ext cx="4658580" cy="6944390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02DA67B2-8B68-27F3-69F6-53903FB726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8621" y="3764280"/>
            <a:ext cx="5428009" cy="6395069"/>
          </a:xfrm>
          <a:prstGeom prst="rect">
            <a:avLst/>
          </a:prstGeom>
        </p:spPr>
      </p:pic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598F395-2105-83B7-C6FD-2BE0EC3D3A1F}"/>
              </a:ext>
            </a:extLst>
          </p:cNvPr>
          <p:cNvSpPr txBox="1"/>
          <p:nvPr/>
        </p:nvSpPr>
        <p:spPr>
          <a:xfrm>
            <a:off x="7569857" y="3275705"/>
            <a:ext cx="3202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Arial" panose="020B0604020202020204" pitchFamily="34" charset="0"/>
              </a:rPr>
              <a:t>Thermal Desktop</a:t>
            </a:r>
            <a:endParaRPr kumimoji="1" lang="ja-JP" altLang="en-US" sz="2800" dirty="0">
              <a:latin typeface="Arial" panose="020B0604020202020204" pitchFamily="34" charset="0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A6373989-AC26-4AC6-D467-74D9A3AB9AD8}"/>
              </a:ext>
            </a:extLst>
          </p:cNvPr>
          <p:cNvSpPr txBox="1"/>
          <p:nvPr/>
        </p:nvSpPr>
        <p:spPr>
          <a:xfrm>
            <a:off x="14922114" y="3275705"/>
            <a:ext cx="12745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Arial" panose="020B0604020202020204" pitchFamily="34" charset="0"/>
              </a:rPr>
              <a:t>Femap</a:t>
            </a:r>
            <a:endParaRPr kumimoji="1" lang="ja-JP" altLang="en-US" sz="2800" dirty="0">
              <a:latin typeface="Arial" panose="020B0604020202020204" pitchFamily="34" charset="0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674E08F0-D963-68BA-D4B8-F9D37A3BD261}"/>
              </a:ext>
            </a:extLst>
          </p:cNvPr>
          <p:cNvSpPr txBox="1"/>
          <p:nvPr/>
        </p:nvSpPr>
        <p:spPr>
          <a:xfrm>
            <a:off x="17410176" y="3154680"/>
            <a:ext cx="63642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2800" b="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Main analysis-model settings</a:t>
            </a:r>
            <a:endParaRPr kumimoji="1" lang="en-US" altLang="ja-JP" sz="2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6903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363176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Thermoelastic analysis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1040285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  <a:ea typeface="Yu Gothic"/>
            </a:endParaRPr>
          </a:p>
          <a:p>
            <a:pPr algn="l">
              <a:spcAft>
                <a:spcPts val="0"/>
              </a:spcAft>
            </a:pPr>
            <a:r>
              <a:rPr lang="en-US" sz="3200" b="1">
                <a:solidFill>
                  <a:srgbClr val="082B52"/>
                </a:solidFill>
                <a:latin typeface="Arial" panose="020B0604020202020204" pitchFamily="34" charset="0"/>
                <a:ea typeface="Yu Gothic"/>
              </a:rPr>
              <a:t>Thermal Desktop generates temperature-field time series from orbit, attitude, surface, and dissipation inputs</a:t>
            </a: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828000" y="12699999"/>
            <a:ext cx="2946400" cy="48628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280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6/17</a:t>
            </a:r>
            <a:endParaRPr lang="en-US" sz="2800" dirty="0">
              <a:solidFill>
                <a:srgbClr val="666F79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7838640"/>
              </p:ext>
            </p:extLst>
          </p:nvPr>
        </p:nvGraphicFramePr>
        <p:xfrm>
          <a:off x="1339533" y="3597098"/>
          <a:ext cx="10789920" cy="8255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3196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Yu Gothic"/>
                        </a:rPr>
                        <a:t>Input</a:t>
                      </a:r>
                      <a:endParaRPr lang="en-US" sz="28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Yu Gothic"/>
                        </a:rPr>
                        <a:t>Setting</a:t>
                      </a:r>
                      <a:endParaRPr lang="en-US" sz="28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Orbit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Sun-synchronous, LTAN06 / h = 800 km 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Period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≈6050 s (≈101 min)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Analysis duration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≈18,157 s (3 orbits)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Sampling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Every ≈60.5 s, 301 points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3196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Illumination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Eclipse / continuous illumination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3197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Sun face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MX / MY / PX / PY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3197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Number of nodes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4008" marR="64008" marT="27432" marB="27432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125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942852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2618720" y="3608070"/>
            <a:ext cx="10424160" cy="324993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13030200" y="3819948"/>
            <a:ext cx="9601200" cy="48628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2800" b="1" dirty="0">
                <a:solidFill>
                  <a:srgbClr val="1B74AA"/>
                </a:solidFill>
                <a:latin typeface="Arial" panose="020B0604020202020204" pitchFamily="34" charset="0"/>
                <a:ea typeface="Yu Gothic"/>
              </a:rPr>
              <a:t>Environmental conditions varied by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0" y="4461792"/>
            <a:ext cx="9052560" cy="2259273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lang="en-US" sz="2800" b="0" dirty="0">
                <a:solidFill>
                  <a:srgbClr val="232B34"/>
                </a:solidFill>
                <a:latin typeface="Arial" panose="020B0604020202020204" pitchFamily="34" charset="0"/>
                <a:ea typeface="Yu Gothic"/>
              </a:rPr>
              <a:t>• Orbita</a:t>
            </a:r>
            <a:r>
              <a:rPr lang="en-US" sz="2800" dirty="0">
                <a:solidFill>
                  <a:srgbClr val="232B34"/>
                </a:solidFill>
                <a:latin typeface="Arial" panose="020B0604020202020204" pitchFamily="34" charset="0"/>
                <a:ea typeface="Yu Gothic"/>
              </a:rPr>
              <a:t>l Conditions</a:t>
            </a:r>
            <a:endParaRPr lang="en-US" sz="2800" dirty="0">
              <a:solidFill>
                <a:srgbClr val="232B34"/>
              </a:solidFill>
              <a:latin typeface="Arial" panose="020B0604020202020204" pitchFamily="34" charset="0"/>
            </a:endParaRP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lang="en-US" sz="2800" b="0" dirty="0">
                <a:solidFill>
                  <a:srgbClr val="232B34"/>
                </a:solidFill>
                <a:latin typeface="Arial" panose="020B0604020202020204" pitchFamily="34" charset="0"/>
                <a:ea typeface="Yu Gothic"/>
              </a:rPr>
              <a:t>• Sun-facing panel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lang="en-US" sz="2800" b="0" dirty="0">
                <a:solidFill>
                  <a:srgbClr val="232B34"/>
                </a:solidFill>
                <a:ea typeface="Yu Gothic"/>
              </a:rPr>
              <a:t>• Optical properties of panels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lang="en-US" altLang="ja-JP" sz="2800" dirty="0">
                <a:solidFill>
                  <a:srgbClr val="232B34"/>
                </a:solidFill>
                <a:latin typeface="Arial" panose="020B0604020202020204" pitchFamily="34" charset="0"/>
                <a:ea typeface="Yu Gothic"/>
              </a:rPr>
              <a:t>• Internal Equipment dissipation</a:t>
            </a:r>
            <a:endParaRPr lang="en-US" sz="2800" dirty="0">
              <a:solidFill>
                <a:srgbClr val="232B34"/>
              </a:solidFill>
              <a:latin typeface="Arial" panose="020B0604020202020204" pitchFamily="34" charset="0"/>
              <a:ea typeface="Yu Gothic"/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5385EA07-7CC6-CA16-E9A6-96A7DDD83B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2613" y="7209036"/>
            <a:ext cx="5106287" cy="5760251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11BA4D21-78E8-44D2-D440-0C5D426F96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98011" y="7209035"/>
            <a:ext cx="4845671" cy="5760251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A0CDADD-D375-9200-9F52-3AD6FA1CF093}"/>
              </a:ext>
            </a:extLst>
          </p:cNvPr>
          <p:cNvSpPr txBox="1"/>
          <p:nvPr/>
        </p:nvSpPr>
        <p:spPr>
          <a:xfrm>
            <a:off x="1335024" y="3017520"/>
            <a:ext cx="10789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2800" b="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Main thermal-analysis inputs</a:t>
            </a:r>
            <a:endParaRPr kumimoji="1" lang="en-US" altLang="ja-JP" sz="2800" dirty="0">
              <a:latin typeface="Arial" panose="020B0604020202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335024" y="11978640"/>
            <a:ext cx="10972800" cy="4678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8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Output: panel temperature field T(t), computed on the ground.</a:t>
            </a:r>
            <a:endParaRPr lang="en-US" sz="2800" b="0" dirty="0">
              <a:solidFill>
                <a:srgbClr val="666F79"/>
              </a:solidFill>
              <a:latin typeface="Arial" panose="020B0604020202020204" pitchFamily="34" charset="0"/>
              <a:ea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34901872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363176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000" b="0">
                <a:solidFill>
                  <a:srgbClr val="666F79"/>
                </a:solidFill>
                <a:latin typeface="Arial" panose="020B0604020202020204" pitchFamily="34" charset="0"/>
                <a:ea typeface="Yu Gothic" panose="020B0400000000000000" pitchFamily="50" charset="-128"/>
              </a:rPr>
              <a:t>Thermoelastic analysis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 panose="020B0400000000000000" pitchFamily="50" charset="-128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1040285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  <a:ea typeface="Yu Gothic"/>
            </a:endParaRPr>
          </a:p>
          <a:p>
            <a:pPr algn="l">
              <a:spcAft>
                <a:spcPts val="0"/>
              </a:spcAft>
            </a:pPr>
            <a:r>
              <a:rPr lang="en-US" sz="3200" b="1">
                <a:solidFill>
                  <a:srgbClr val="082B52"/>
                </a:solidFill>
                <a:latin typeface="Arial" panose="020B0604020202020204" pitchFamily="34" charset="0"/>
                <a:ea typeface="Yu Gothic"/>
              </a:rPr>
              <a:t>The temperature field is mapped into Femap to obtain STT and LCT translations and rotations</a:t>
            </a: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828000" y="12699999"/>
            <a:ext cx="2946400" cy="48628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280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7/17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6744855"/>
              </p:ext>
            </p:extLst>
          </p:nvPr>
        </p:nvGraphicFramePr>
        <p:xfrm>
          <a:off x="1197699" y="3836670"/>
          <a:ext cx="10881360" cy="777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7155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Yu Gothic"/>
                        </a:rPr>
                        <a:t>Structural-analysis setting</a:t>
                      </a:r>
                      <a:endParaRPr lang="en-US" sz="28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Yu Gothic"/>
                        </a:rPr>
                        <a:t>Value</a:t>
                      </a:r>
                      <a:endParaRPr lang="en-US" sz="28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082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Material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Aluminum A5052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Young's modulus</a:t>
                      </a: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70.327 </a:t>
                      </a:r>
                      <a:r>
                        <a:rPr lang="en-US" sz="2800" b="0" dirty="0" err="1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GPa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Poisson's ratio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0.33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Coefficient of thermal expansion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2.376×10⁻⁵ /K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Density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2685 kg/m³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Reference temperature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23.9 ℃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28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Constraint</a:t>
                      </a:r>
                      <a:endParaRPr lang="en-US" sz="28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  <a:ea typeface="Yu Gothic"/>
                      </a:endParaRP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  <a:ea typeface="Yu Gothic"/>
                        </a:rPr>
                        <a:t>Small region near the STT</a:t>
                      </a:r>
                    </a:p>
                  </a:txBody>
                  <a:tcPr marL="64008" marR="64008" marT="27432" marB="27432" anchor="ctr">
                    <a:solidFill>
                      <a:srgbClr val="EB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11" name="図 10">
            <a:extLst>
              <a:ext uri="{FF2B5EF4-FFF2-40B4-BE49-F238E27FC236}">
                <a16:creationId xmlns:a16="http://schemas.microsoft.com/office/drawing/2014/main" id="{33EA1EC9-3A8D-5610-E95D-DAD2EA5D3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1942" y="3905404"/>
            <a:ext cx="5432458" cy="5394601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9819C62F-71DC-7E63-A5D1-87F199B583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5704" y="3905404"/>
            <a:ext cx="4858544" cy="5394601"/>
          </a:xfrm>
          <a:prstGeom prst="rect">
            <a:avLst/>
          </a:prstGeom>
        </p:spPr>
      </p:pic>
      <p:sp>
        <p:nvSpPr>
          <p:cNvPr id="14" name="矢印: 右 13">
            <a:extLst>
              <a:ext uri="{FF2B5EF4-FFF2-40B4-BE49-F238E27FC236}">
                <a16:creationId xmlns:a16="http://schemas.microsoft.com/office/drawing/2014/main" id="{274F2E0C-AA92-CDB0-DFC5-34073207F1FB}"/>
              </a:ext>
            </a:extLst>
          </p:cNvPr>
          <p:cNvSpPr/>
          <p:nvPr/>
        </p:nvSpPr>
        <p:spPr>
          <a:xfrm>
            <a:off x="17681719" y="6406172"/>
            <a:ext cx="549242" cy="82679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80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926A544-E0FB-FDB4-1194-CFA22C5E6846}"/>
              </a:ext>
            </a:extLst>
          </p:cNvPr>
          <p:cNvSpPr txBox="1"/>
          <p:nvPr/>
        </p:nvSpPr>
        <p:spPr>
          <a:xfrm>
            <a:off x="1197864" y="3273552"/>
            <a:ext cx="1088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28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Main structural-analysis settings</a:t>
            </a:r>
            <a:endParaRPr kumimoji="1" lang="en-US" altLang="ja-JP" sz="2800" dirty="0">
              <a:latin typeface="Arial" panose="020B0604020202020204" pitchFamily="34" charset="0"/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041DF615-0588-9513-FBA8-0B01D88C40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94545" y="10012017"/>
            <a:ext cx="2523589" cy="2999895"/>
          </a:xfrm>
          <a:prstGeom prst="rect">
            <a:avLst/>
          </a:prstGeom>
        </p:spPr>
      </p:pic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DB910861-8EB1-0B83-13D2-A55697BCFD48}"/>
              </a:ext>
            </a:extLst>
          </p:cNvPr>
          <p:cNvCxnSpPr/>
          <p:nvPr/>
        </p:nvCxnSpPr>
        <p:spPr>
          <a:xfrm flipV="1">
            <a:off x="17956339" y="7524750"/>
            <a:ext cx="0" cy="22669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A8BC2C95-4E51-07EA-299C-28233B3B7BA8}"/>
              </a:ext>
            </a:extLst>
          </p:cNvPr>
          <p:cNvSpPr txBox="1"/>
          <p:nvPr/>
        </p:nvSpPr>
        <p:spPr>
          <a:xfrm>
            <a:off x="19491981" y="12280232"/>
            <a:ext cx="25235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0"/>
              </a:spcAft>
            </a:pPr>
            <a:r>
              <a:rPr lang="en-US" sz="2800" b="1">
                <a:solidFill>
                  <a:srgbClr val="1B74AA"/>
                </a:solidFill>
                <a:latin typeface="Arial" panose="020B0604020202020204" pitchFamily="34" charset="0"/>
                <a:ea typeface="Yu Gothic"/>
              </a:rPr>
              <a:t> </a:t>
            </a:r>
            <a:r>
              <a:rPr lang="en-US" sz="2800" b="1" dirty="0">
                <a:solidFill>
                  <a:srgbClr val="1B74AA"/>
                </a:solidFill>
                <a:latin typeface="Arial" panose="020B0604020202020204" pitchFamily="34" charset="0"/>
                <a:ea typeface="Yu Gothic"/>
              </a:rPr>
              <a:t>T(</a:t>
            </a:r>
            <a:r>
              <a:rPr lang="en-US" sz="2800" b="1" dirty="0" err="1">
                <a:solidFill>
                  <a:srgbClr val="1B74AA"/>
                </a:solidFill>
                <a:latin typeface="Arial" panose="020B0604020202020204" pitchFamily="34" charset="0"/>
                <a:ea typeface="Yu Gothic"/>
              </a:rPr>
              <a:t>t</a:t>
            </a:r>
            <a:r>
              <a:rPr lang="en-US" sz="2800" b="1" err="1">
                <a:solidFill>
                  <a:srgbClr val="1B74AA"/>
                </a:solidFill>
                <a:latin typeface="Arial" panose="020B0604020202020204" pitchFamily="34" charset="0"/>
                <a:ea typeface="Yu Gothic"/>
              </a:rPr>
              <a:t>,</a:t>
            </a:r>
            <a:r>
              <a:rPr lang="en-US" sz="2800" b="1">
                <a:solidFill>
                  <a:srgbClr val="1B74AA"/>
                </a:solidFill>
                <a:latin typeface="Arial" panose="020B0604020202020204" pitchFamily="34" charset="0"/>
                <a:ea typeface="Yu Gothic"/>
              </a:rPr>
              <a:t>x) </a:t>
            </a:r>
            <a:r>
              <a:rPr lang="en-US" sz="2800" b="1" dirty="0">
                <a:solidFill>
                  <a:srgbClr val="1B74AA"/>
                </a:solidFill>
                <a:latin typeface="Arial" panose="020B0604020202020204" pitchFamily="34" charset="0"/>
                <a:ea typeface="Yu Gothic"/>
              </a:rPr>
              <a:t>from TD</a:t>
            </a:r>
            <a:endParaRPr sz="2800" b="1" dirty="0">
              <a:solidFill>
                <a:srgbClr val="1B74AA"/>
              </a:solidFill>
              <a:latin typeface="Arial" panose="020B0604020202020204" pitchFamily="34" charset="0"/>
              <a:ea typeface="Yu Gothic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97864" y="11887200"/>
            <a:ext cx="11430000" cy="4678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8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Thermal Desktop and Femap generate training data on the ground.</a:t>
            </a:r>
            <a:endParaRPr lang="en-US" sz="2800" b="0" dirty="0">
              <a:solidFill>
                <a:srgbClr val="666F79"/>
              </a:solidFill>
              <a:latin typeface="Arial" panose="020B0604020202020204" pitchFamily="34" charset="0"/>
              <a:ea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40837759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363176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Thermoelastic analysis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36192" y="1298448"/>
            <a:ext cx="22037040" cy="1040285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  <a:ea typeface="Yu Gothic"/>
            </a:endParaRPr>
          </a:p>
          <a:p>
            <a:pPr algn="l">
              <a:spcAft>
                <a:spcPts val="0"/>
              </a:spcAft>
            </a:pPr>
            <a:r>
              <a:rPr lang="en-US" sz="3200" b="1" dirty="0">
                <a:solidFill>
                  <a:srgbClr val="082B52"/>
                </a:solidFill>
                <a:latin typeface="Arial" panose="020B0604020202020204" pitchFamily="34" charset="0"/>
              </a:rPr>
              <a:t>Calculate thermal LOS error through rotation of STT and LCT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828000" y="12699999"/>
            <a:ext cx="2946400" cy="48628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280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8/17</a:t>
            </a:r>
            <a:endParaRPr lang="en-US" sz="2800" dirty="0">
              <a:solidFill>
                <a:srgbClr val="666F79"/>
              </a:solidFill>
              <a:latin typeface="Arial" panose="020B0604020202020204" pitchFamily="34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5544800" y="2788920"/>
            <a:ext cx="7753350" cy="8229600"/>
          </a:xfrm>
          <a:prstGeom prst="roundRect">
            <a:avLst/>
          </a:prstGeom>
          <a:solidFill>
            <a:srgbClr val="EBF6FB"/>
          </a:solidFill>
          <a:ln w="16510">
            <a:solidFill>
              <a:srgbClr val="5B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0" y="3246120"/>
            <a:ext cx="6839712" cy="48628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2800" b="1" dirty="0">
                <a:solidFill>
                  <a:srgbClr val="1B74AA"/>
                </a:solidFill>
                <a:latin typeface="Arial" panose="020B0604020202020204" pitchFamily="34" charset="0"/>
                <a:ea typeface="Yu Gothic"/>
              </a:rPr>
              <a:t>LOS-error definition</a:t>
            </a:r>
            <a:endParaRPr lang="en-US" sz="2800" b="1" dirty="0">
              <a:solidFill>
                <a:srgbClr val="1B74AA"/>
              </a:solidFill>
              <a:latin typeface="Arial" panose="020B0604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6001999" y="4297680"/>
            <a:ext cx="7040879" cy="3207225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lang="en-US" sz="2800" b="0" dirty="0">
                <a:solidFill>
                  <a:srgbClr val="232B34"/>
                </a:solidFill>
                <a:latin typeface="Arial" panose="020B0604020202020204" pitchFamily="34" charset="0"/>
                <a:ea typeface="Yu Gothic"/>
              </a:rPr>
              <a:t>• LCT optical-axis rotation − STT reference rotation</a:t>
            </a:r>
            <a:endParaRPr lang="en-US" sz="2800" dirty="0">
              <a:solidFill>
                <a:srgbClr val="232B34"/>
              </a:solidFill>
              <a:latin typeface="Arial" panose="020B0604020202020204" pitchFamily="34" charset="0"/>
            </a:endParaRP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lang="en-US" sz="2800" b="0" dirty="0">
                <a:solidFill>
                  <a:srgbClr val="232B34"/>
                </a:solidFill>
                <a:latin typeface="Arial" panose="020B0604020202020204" pitchFamily="34" charset="0"/>
                <a:ea typeface="Yu Gothic"/>
              </a:rPr>
              <a:t>• STT thermal rotation is absorbed into attitude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lang="en-US" sz="2800" b="0" dirty="0">
                <a:solidFill>
                  <a:srgbClr val="232B34"/>
                </a:solidFill>
                <a:latin typeface="Arial" panose="020B0604020202020204" pitchFamily="34" charset="0"/>
                <a:ea typeface="Yu Gothic"/>
              </a:rPr>
              <a:t>• Directly gives far-field scan-center error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lang="en-US" sz="2800" b="0" dirty="0">
                <a:solidFill>
                  <a:srgbClr val="232B34"/>
                </a:solidFill>
                <a:latin typeface="Arial" panose="020B0604020202020204" pitchFamily="34" charset="0"/>
                <a:ea typeface="Yu Gothic"/>
              </a:rPr>
              <a:t>• Excludes translation-induced tilt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3B09D20F-F818-E6BB-4A04-9D0C10968E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534" y="3840480"/>
            <a:ext cx="4959858" cy="4925293"/>
          </a:xfrm>
          <a:prstGeom prst="rect">
            <a:avLst/>
          </a:prstGeom>
        </p:spPr>
      </p:pic>
      <p:sp>
        <p:nvSpPr>
          <p:cNvPr id="18" name="矢印: 右 17">
            <a:extLst>
              <a:ext uri="{FF2B5EF4-FFF2-40B4-BE49-F238E27FC236}">
                <a16:creationId xmlns:a16="http://schemas.microsoft.com/office/drawing/2014/main" id="{E8A036E3-901B-13D6-50ED-4213CF64C986}"/>
              </a:ext>
            </a:extLst>
          </p:cNvPr>
          <p:cNvSpPr/>
          <p:nvPr/>
        </p:nvSpPr>
        <p:spPr>
          <a:xfrm>
            <a:off x="6956602" y="6031204"/>
            <a:ext cx="549242" cy="82679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DFCAD75C-E1E5-BAB9-ED79-8FB22B4FA1E6}"/>
              </a:ext>
            </a:extLst>
          </p:cNvPr>
          <p:cNvCxnSpPr/>
          <p:nvPr/>
        </p:nvCxnSpPr>
        <p:spPr>
          <a:xfrm>
            <a:off x="5162550" y="8096250"/>
            <a:ext cx="209550" cy="164211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79843408-97F9-6B75-249B-559F34913E3D}"/>
              </a:ext>
            </a:extLst>
          </p:cNvPr>
          <p:cNvCxnSpPr>
            <a:cxnSpLocks/>
          </p:cNvCxnSpPr>
          <p:nvPr/>
        </p:nvCxnSpPr>
        <p:spPr>
          <a:xfrm flipH="1">
            <a:off x="3009900" y="3246120"/>
            <a:ext cx="1123950" cy="131079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B184EC83-A793-1DED-82CE-9E07315E52C8}"/>
              </a:ext>
            </a:extLst>
          </p:cNvPr>
          <p:cNvSpPr txBox="1"/>
          <p:nvPr/>
        </p:nvSpPr>
        <p:spPr>
          <a:xfrm>
            <a:off x="4133850" y="2856893"/>
            <a:ext cx="2381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dirty="0">
                <a:latin typeface="Arial" panose="020B0604020202020204" pitchFamily="34" charset="0"/>
              </a:rPr>
              <a:t>STT</a:t>
            </a:r>
            <a:endParaRPr kumimoji="1" lang="ja-JP" altLang="en-US" sz="3200" dirty="0">
              <a:latin typeface="Arial" panose="020B0604020202020204" pitchFamily="34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84993092-E9AF-32CC-CA46-5B89D3B7856E}"/>
              </a:ext>
            </a:extLst>
          </p:cNvPr>
          <p:cNvSpPr txBox="1"/>
          <p:nvPr/>
        </p:nvSpPr>
        <p:spPr>
          <a:xfrm>
            <a:off x="5267325" y="9738360"/>
            <a:ext cx="2381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dirty="0">
                <a:latin typeface="Arial" panose="020B0604020202020204" pitchFamily="34" charset="0"/>
              </a:rPr>
              <a:t>LCT</a:t>
            </a:r>
            <a:endParaRPr kumimoji="1" lang="ja-JP" altLang="en-US" sz="3200" dirty="0">
              <a:latin typeface="Arial" panose="020B0604020202020204" pitchFamily="34" charset="0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BF1EEF1-B803-E3EF-7B07-EF16B7C0DEB8}"/>
              </a:ext>
            </a:extLst>
          </p:cNvPr>
          <p:cNvSpPr txBox="1"/>
          <p:nvPr/>
        </p:nvSpPr>
        <p:spPr>
          <a:xfrm>
            <a:off x="1097280" y="10607040"/>
            <a:ext cx="1408176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US" sz="29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</a:rPr>
              <a:t>Far-field LOS error = STT-relative LCT optical-axis rotation, not translation</a:t>
            </a:r>
            <a:endParaRPr lang="en-US" altLang="ja-JP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9">
                <a:extLst>
                  <a:ext uri="{FF2B5EF4-FFF2-40B4-BE49-F238E27FC236}">
                    <a16:creationId xmlns:a16="http://schemas.microsoft.com/office/drawing/2014/main" id="{1D5E19C6-D5A3-C347-891E-06621B675036}"/>
                  </a:ext>
                </a:extLst>
              </p:cNvPr>
              <p:cNvSpPr txBox="1"/>
              <p:nvPr/>
            </p:nvSpPr>
            <p:spPr>
              <a:xfrm>
                <a:off x="16004709" y="8060269"/>
                <a:ext cx="6833537" cy="1187761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:r>
                  <a:rPr lang="en-US" sz="3600" b="1" i="1" dirty="0">
                    <a:solidFill>
                      <a:srgbClr val="082B52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36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6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𝒕𝒉𝒆𝒓𝒎𝒂𝒍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𝒕𝒓𝒖𝒆</m:t>
                        </m:r>
                      </m:sub>
                    </m:sSub>
                    <m:r>
                      <a:rPr lang="en-US" altLang="ja-JP" sz="3600" b="1" i="1" smtClean="0">
                        <a:solidFill>
                          <a:srgbClr val="082B5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36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6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𝑳𝑪𝑻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𝒓𝒐𝒕</m:t>
                        </m:r>
                      </m:sub>
                    </m:sSub>
                    <m:r>
                      <a:rPr lang="en-US" altLang="ja-JP" sz="3600" b="1" i="1" smtClean="0">
                        <a:solidFill>
                          <a:srgbClr val="082B52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ja-JP" sz="36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6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𝑺𝑻𝑻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6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𝒓𝒐𝒕</m:t>
                        </m:r>
                      </m:sub>
                    </m:sSub>
                  </m:oMath>
                </a14:m>
                <a:endParaRPr lang="en-US" altLang="ja-JP" sz="3600" b="1" i="1" dirty="0">
                  <a:solidFill>
                    <a:srgbClr val="082B52"/>
                  </a:solidFill>
                  <a:latin typeface="Arial" panose="020B0604020202020204" pitchFamily="34" charset="0"/>
                </a:endParaRPr>
              </a:p>
              <a:p>
                <a:pPr algn="ctr"/>
                <a:r>
                  <a:rPr lang="en-US" sz="3600" b="1" i="1" dirty="0">
                    <a:solidFill>
                      <a:srgbClr val="082B52"/>
                    </a:solidFill>
                    <a:latin typeface="Arial" panose="020B0604020202020204" pitchFamily="34" charset="0"/>
                  </a:rPr>
                  <a:t> </a:t>
                </a:r>
                <a:endParaRPr sz="3600" b="1" i="1" dirty="0">
                  <a:solidFill>
                    <a:srgbClr val="082B52"/>
                  </a:solidFill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1" name="TextBox 9">
                <a:extLst>
                  <a:ext uri="{FF2B5EF4-FFF2-40B4-BE49-F238E27FC236}">
                    <a16:creationId xmlns:a16="http://schemas.microsoft.com/office/drawing/2014/main" id="{1D5E19C6-D5A3-C347-891E-06621B675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4709" y="8060269"/>
                <a:ext cx="6833537" cy="1187761"/>
              </a:xfrm>
              <a:prstGeom prst="rect">
                <a:avLst/>
              </a:prstGeom>
              <a:blipFill>
                <a:blip r:embed="rId4"/>
                <a:stretch>
                  <a:fillRect l="-3033" t="-9744" b="-20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">
                <a:extLst>
                  <a:ext uri="{FF2B5EF4-FFF2-40B4-BE49-F238E27FC236}">
                    <a16:creationId xmlns:a16="http://schemas.microsoft.com/office/drawing/2014/main" id="{C6979E3C-0BB9-6EF7-CE62-35CD169FE964}"/>
                  </a:ext>
                </a:extLst>
              </p:cNvPr>
              <p:cNvSpPr txBox="1"/>
              <p:nvPr/>
            </p:nvSpPr>
            <p:spPr>
              <a:xfrm>
                <a:off x="17297234" y="9002784"/>
                <a:ext cx="4259051" cy="1577804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:r>
                  <a:rPr lang="en-US" sz="3200" b="1" i="1" dirty="0">
                    <a:solidFill>
                      <a:srgbClr val="082B52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32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2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𝒕𝒉𝒆𝒓𝒎𝒂𝒍</m:t>
                        </m:r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𝒕𝒓𝒖𝒆</m:t>
                        </m:r>
                      </m:sub>
                    </m:sSub>
                    <m:r>
                      <a:rPr lang="en-US" altLang="ja-JP" sz="3200" b="1" i="1" smtClean="0">
                        <a:solidFill>
                          <a:srgbClr val="082B5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altLang="ja-JP" sz="32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r>
                      <a:rPr lang="en-US" altLang="ja-JP" sz="3200" b="1" i="1" smtClean="0">
                        <a:solidFill>
                          <a:srgbClr val="082B52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ja-JP" sz="32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3200" b="1" i="1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ja-JP" sz="3200" b="1" i="1" smtClean="0">
                            <a:solidFill>
                              <a:srgbClr val="082B52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  <m:r>
                      <a:rPr lang="en-US" altLang="ja-JP" sz="3200" b="1" i="1" smtClean="0">
                        <a:solidFill>
                          <a:srgbClr val="082B52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ja-JP" sz="3200" b="1" i="1" dirty="0">
                  <a:solidFill>
                    <a:srgbClr val="082B52"/>
                  </a:solidFill>
                  <a:latin typeface="Arial" panose="020B0604020202020204" pitchFamily="34" charset="0"/>
                </a:endParaRPr>
              </a:p>
              <a:p>
                <a:pPr algn="ctr"/>
                <a:endParaRPr lang="en-US" altLang="ja-JP" sz="3200" b="1" i="1" dirty="0">
                  <a:solidFill>
                    <a:srgbClr val="082B52"/>
                  </a:solidFill>
                  <a:latin typeface="Arial" panose="020B0604020202020204" pitchFamily="34" charset="0"/>
                </a:endParaRPr>
              </a:p>
              <a:p>
                <a:pPr algn="ctr"/>
                <a:r>
                  <a:rPr lang="en-US" sz="3200" b="1" i="1" dirty="0">
                    <a:solidFill>
                      <a:srgbClr val="082B52"/>
                    </a:solidFill>
                    <a:latin typeface="Arial" panose="020B0604020202020204" pitchFamily="34" charset="0"/>
                  </a:rPr>
                  <a:t> </a:t>
                </a:r>
                <a:endParaRPr sz="3200" b="1" i="1" dirty="0">
                  <a:solidFill>
                    <a:srgbClr val="082B52"/>
                  </a:solidFill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3" name="TextBox 9">
                <a:extLst>
                  <a:ext uri="{FF2B5EF4-FFF2-40B4-BE49-F238E27FC236}">
                    <a16:creationId xmlns:a16="http://schemas.microsoft.com/office/drawing/2014/main" id="{C6979E3C-0BB9-6EF7-CE62-35CD169FE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97234" y="9002784"/>
                <a:ext cx="4259051" cy="1577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図 5">
            <a:extLst>
              <a:ext uri="{FF2B5EF4-FFF2-40B4-BE49-F238E27FC236}">
                <a16:creationId xmlns:a16="http://schemas.microsoft.com/office/drawing/2014/main" id="{DC33983D-AC0D-18DB-72E9-DF2EB74687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6399" y="3441668"/>
            <a:ext cx="6803639" cy="653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8561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363176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Thermoelastic analysis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498600" y="1915160"/>
            <a:ext cx="2184400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Aft>
                <a:spcPts val="0"/>
              </a:spcAft>
            </a:pPr>
            <a:r>
              <a:rPr lang="en-US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</a:rPr>
              <a:t>We evaluate 21 cases across four thermal and operating conditions</a:t>
            </a: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828000" y="12699999"/>
            <a:ext cx="2946400" cy="48628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280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9/17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812C021-EB3E-24E5-7F1D-6D205A212F96}"/>
              </a:ext>
            </a:extLst>
          </p:cNvPr>
          <p:cNvSpPr txBox="1"/>
          <p:nvPr/>
        </p:nvSpPr>
        <p:spPr>
          <a:xfrm>
            <a:off x="2540000" y="3065780"/>
            <a:ext cx="19304000" cy="1066800"/>
          </a:xfrm>
          <a:prstGeom prst="rect">
            <a:avLst/>
          </a:prstGeom>
          <a:noFill/>
        </p:spPr>
        <p:txBody>
          <a:bodyPr vert="horz" wrap="square" lIns="152400" tIns="0" rIns="152400" bIns="0" rtlCol="0" anchor="ctr">
            <a:noAutofit/>
          </a:bodyPr>
          <a:lstStyle/>
          <a:p>
            <a:pPr algn="ctr"/>
            <a:r>
              <a:rPr kumimoji="1" lang="en-US" altLang="ja-JP" sz="6800" b="1">
                <a:solidFill>
                  <a:srgbClr val="082B52"/>
                </a:solidFill>
                <a:latin typeface="Arial" panose="020B0604020202020204" pitchFamily="34" charset="0"/>
              </a:rPr>
              <a:t>21 cases</a:t>
            </a:r>
            <a:endParaRPr kumimoji="1" lang="en-US" altLang="ja-JP" sz="68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3349CEF-F05B-741C-D26E-D16CD5D16F17}"/>
              </a:ext>
            </a:extLst>
          </p:cNvPr>
          <p:cNvSpPr txBox="1"/>
          <p:nvPr/>
        </p:nvSpPr>
        <p:spPr>
          <a:xfrm>
            <a:off x="2540000" y="4183380"/>
            <a:ext cx="19304000" cy="508000"/>
          </a:xfrm>
          <a:prstGeom prst="rect">
            <a:avLst/>
          </a:prstGeom>
          <a:noFill/>
        </p:spPr>
        <p:txBody>
          <a:bodyPr vert="horz" wrap="square" lIns="152400" tIns="0" rIns="152400" bIns="0" rtlCol="0" anchor="ctr">
            <a:noAutofit/>
          </a:bodyPr>
          <a:lstStyle/>
          <a:p>
            <a:pPr algn="ctr"/>
            <a:r>
              <a:rPr kumimoji="1" lang="en-US" altLang="ja-JP" sz="2800" dirty="0">
                <a:solidFill>
                  <a:srgbClr val="232B34"/>
                </a:solidFill>
                <a:latin typeface="Arial" panose="020B0604020202020204" pitchFamily="34" charset="0"/>
              </a:rPr>
              <a:t>Thermoelastic analysis across different </a:t>
            </a:r>
            <a:r>
              <a:rPr kumimoji="1" lang="en-US" altLang="ja-JP" sz="2800">
                <a:solidFill>
                  <a:srgbClr val="232B34"/>
                </a:solidFill>
                <a:latin typeface="Arial" panose="020B0604020202020204" pitchFamily="34" charset="0"/>
              </a:rPr>
              <a:t>operating conditions</a:t>
            </a:r>
            <a:endParaRPr kumimoji="1" lang="en-US" altLang="ja-JP" sz="28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79DC3E62-8A04-3396-2AC9-C96D8E778E82}"/>
              </a:ext>
            </a:extLst>
          </p:cNvPr>
          <p:cNvSpPr/>
          <p:nvPr/>
        </p:nvSpPr>
        <p:spPr>
          <a:xfrm>
            <a:off x="914400" y="4996180"/>
            <a:ext cx="11023600" cy="2743200"/>
          </a:xfrm>
          <a:prstGeom prst="roundRect">
            <a:avLst>
              <a:gd name="adj" fmla="val 8000"/>
            </a:avLst>
          </a:prstGeom>
          <a:solidFill>
            <a:srgbClr val="E7F3FA"/>
          </a:solidFill>
          <a:ln w="19050">
            <a:solidFill>
              <a:srgbClr val="1B74A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802937D-6CBA-994A-8E93-04192C2681FD}"/>
              </a:ext>
            </a:extLst>
          </p:cNvPr>
          <p:cNvSpPr txBox="1"/>
          <p:nvPr/>
        </p:nvSpPr>
        <p:spPr>
          <a:xfrm>
            <a:off x="1219200" y="5453380"/>
            <a:ext cx="10414000" cy="660400"/>
          </a:xfrm>
          <a:prstGeom prst="rect">
            <a:avLst/>
          </a:prstGeom>
          <a:noFill/>
        </p:spPr>
        <p:txBody>
          <a:bodyPr vert="horz" wrap="square" lIns="152400" tIns="0" rIns="152400" bIns="0" rtlCol="0" anchor="ctr">
            <a:noAutofit/>
          </a:bodyPr>
          <a:lstStyle/>
          <a:p>
            <a:pPr algn="ctr"/>
            <a:r>
              <a:rPr kumimoji="1" lang="en-US" altLang="ja-JP" sz="3200" b="1">
                <a:solidFill>
                  <a:srgbClr val="082B52"/>
                </a:solidFill>
                <a:latin typeface="Arial" panose="020B0604020202020204" pitchFamily="34" charset="0"/>
              </a:rPr>
              <a:t>Sun-facing panel</a:t>
            </a:r>
            <a:endParaRPr kumimoji="1" lang="en-US" altLang="ja-JP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582A9A8-5E7F-A360-2E20-BF1A0DE9F54E}"/>
              </a:ext>
            </a:extLst>
          </p:cNvPr>
          <p:cNvSpPr txBox="1"/>
          <p:nvPr/>
        </p:nvSpPr>
        <p:spPr>
          <a:xfrm>
            <a:off x="1219200" y="6418580"/>
            <a:ext cx="10414000" cy="711200"/>
          </a:xfrm>
          <a:prstGeom prst="rect">
            <a:avLst/>
          </a:prstGeom>
          <a:noFill/>
        </p:spPr>
        <p:txBody>
          <a:bodyPr vert="horz" wrap="square" lIns="152400" tIns="0" rIns="152400" bIns="0" rtlCol="0" anchor="ctr">
            <a:noAutofit/>
          </a:bodyPr>
          <a:lstStyle/>
          <a:p>
            <a:pPr algn="ctr"/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MX / MY / PX </a:t>
            </a:r>
            <a:r>
              <a:rPr kumimoji="1" lang="en-US" altLang="ja-JP" sz="3200">
                <a:solidFill>
                  <a:srgbClr val="232B34"/>
                </a:solidFill>
                <a:latin typeface="Arial" panose="020B0604020202020204" pitchFamily="34" charset="0"/>
              </a:rPr>
              <a:t>/ PY</a:t>
            </a:r>
            <a:endParaRPr kumimoji="1" lang="en-US" altLang="ja-JP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D52C217C-13B8-807C-0662-CEA946350246}"/>
              </a:ext>
            </a:extLst>
          </p:cNvPr>
          <p:cNvSpPr/>
          <p:nvPr/>
        </p:nvSpPr>
        <p:spPr>
          <a:xfrm>
            <a:off x="12446000" y="4996180"/>
            <a:ext cx="11023600" cy="2743200"/>
          </a:xfrm>
          <a:prstGeom prst="roundRect">
            <a:avLst>
              <a:gd name="adj" fmla="val 8000"/>
            </a:avLst>
          </a:prstGeom>
          <a:solidFill>
            <a:srgbClr val="E7F3FA"/>
          </a:solidFill>
          <a:ln w="19050">
            <a:solidFill>
              <a:srgbClr val="1B74A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8567FD8-EB95-B128-A723-72DB348688B8}"/>
              </a:ext>
            </a:extLst>
          </p:cNvPr>
          <p:cNvSpPr txBox="1"/>
          <p:nvPr/>
        </p:nvSpPr>
        <p:spPr>
          <a:xfrm>
            <a:off x="12750800" y="5453380"/>
            <a:ext cx="10414000" cy="660400"/>
          </a:xfrm>
          <a:prstGeom prst="rect">
            <a:avLst/>
          </a:prstGeom>
          <a:noFill/>
        </p:spPr>
        <p:txBody>
          <a:bodyPr vert="horz" wrap="square" lIns="152400" tIns="0" rIns="152400" bIns="0" rtlCol="0" anchor="ctr">
            <a:noAutofit/>
          </a:bodyPr>
          <a:lstStyle/>
          <a:p>
            <a:pPr algn="ctr"/>
            <a:r>
              <a:rPr kumimoji="1" lang="en-US" altLang="ja-JP" sz="3200" b="1">
                <a:solidFill>
                  <a:srgbClr val="082B52"/>
                </a:solidFill>
                <a:latin typeface="Arial" panose="020B0604020202020204" pitchFamily="34" charset="0"/>
              </a:rPr>
              <a:t>Internal dissipation</a:t>
            </a:r>
            <a:endParaRPr kumimoji="1" lang="en-US" altLang="ja-JP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59D7869-D33D-1378-6827-937290A31FDD}"/>
              </a:ext>
            </a:extLst>
          </p:cNvPr>
          <p:cNvSpPr txBox="1"/>
          <p:nvPr/>
        </p:nvSpPr>
        <p:spPr>
          <a:xfrm>
            <a:off x="12750800" y="6418580"/>
            <a:ext cx="10414000" cy="711200"/>
          </a:xfrm>
          <a:prstGeom prst="rect">
            <a:avLst/>
          </a:prstGeom>
          <a:noFill/>
        </p:spPr>
        <p:txBody>
          <a:bodyPr vert="horz" wrap="square" lIns="152400" tIns="0" rIns="152400" bIns="0" rtlCol="0" anchor="ctr">
            <a:noAutofit/>
          </a:bodyPr>
          <a:lstStyle/>
          <a:p>
            <a:pPr algn="ctr"/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Equipment ON/</a:t>
            </a:r>
            <a:r>
              <a:rPr kumimoji="1" lang="en-US" altLang="ja-JP" sz="3200">
                <a:solidFill>
                  <a:srgbClr val="232B34"/>
                </a:solidFill>
                <a:latin typeface="Arial" panose="020B0604020202020204" pitchFamily="34" charset="0"/>
              </a:rPr>
              <a:t>OFF states</a:t>
            </a:r>
            <a:endParaRPr kumimoji="1" lang="en-US" altLang="ja-JP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C4DC1285-C950-D1A7-82F0-21479349D6A2}"/>
              </a:ext>
            </a:extLst>
          </p:cNvPr>
          <p:cNvSpPr/>
          <p:nvPr/>
        </p:nvSpPr>
        <p:spPr>
          <a:xfrm>
            <a:off x="914400" y="8044180"/>
            <a:ext cx="11023600" cy="2743200"/>
          </a:xfrm>
          <a:prstGeom prst="roundRect">
            <a:avLst>
              <a:gd name="adj" fmla="val 8000"/>
            </a:avLst>
          </a:prstGeom>
          <a:solidFill>
            <a:srgbClr val="E7F3FA"/>
          </a:solidFill>
          <a:ln w="19050">
            <a:solidFill>
              <a:srgbClr val="1B74A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FA8F193-E565-7F4C-CCE5-D1B869C53562}"/>
              </a:ext>
            </a:extLst>
          </p:cNvPr>
          <p:cNvSpPr txBox="1"/>
          <p:nvPr/>
        </p:nvSpPr>
        <p:spPr>
          <a:xfrm>
            <a:off x="1219200" y="8501380"/>
            <a:ext cx="10414000" cy="660400"/>
          </a:xfrm>
          <a:prstGeom prst="rect">
            <a:avLst/>
          </a:prstGeom>
          <a:noFill/>
        </p:spPr>
        <p:txBody>
          <a:bodyPr vert="horz" wrap="square" lIns="152400" tIns="0" rIns="152400" bIns="0" rtlCol="0" anchor="ctr">
            <a:noAutofit/>
          </a:bodyPr>
          <a:lstStyle/>
          <a:p>
            <a:pPr algn="ctr"/>
            <a:r>
              <a:rPr kumimoji="1" lang="en-US" altLang="ja-JP" sz="3200" b="1">
                <a:solidFill>
                  <a:srgbClr val="082B52"/>
                </a:solidFill>
                <a:latin typeface="Arial" panose="020B0604020202020204" pitchFamily="34" charset="0"/>
              </a:rPr>
              <a:t>Surface properties</a:t>
            </a:r>
            <a:endParaRPr kumimoji="1" lang="en-US" altLang="ja-JP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8D30FF0-B76B-8F1C-1E77-8EC399A8BC07}"/>
              </a:ext>
            </a:extLst>
          </p:cNvPr>
          <p:cNvSpPr txBox="1"/>
          <p:nvPr/>
        </p:nvSpPr>
        <p:spPr>
          <a:xfrm>
            <a:off x="1219200" y="9466580"/>
            <a:ext cx="10414000" cy="711200"/>
          </a:xfrm>
          <a:prstGeom prst="rect">
            <a:avLst/>
          </a:prstGeom>
          <a:noFill/>
        </p:spPr>
        <p:txBody>
          <a:bodyPr vert="horz" wrap="square" lIns="152400" tIns="0" rIns="152400" bIns="0" rtlCol="0" anchor="ctr">
            <a:noAutofit/>
          </a:bodyPr>
          <a:lstStyle/>
          <a:p>
            <a:pPr algn="ctr"/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Baseline / Black </a:t>
            </a:r>
            <a:r>
              <a:rPr kumimoji="1" lang="en-US" altLang="ja-JP" sz="3200">
                <a:solidFill>
                  <a:srgbClr val="232B34"/>
                </a:solidFill>
                <a:latin typeface="Arial" panose="020B0604020202020204" pitchFamily="34" charset="0"/>
              </a:rPr>
              <a:t>/ Alodine</a:t>
            </a:r>
            <a:endParaRPr kumimoji="1" lang="en-US" altLang="ja-JP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FB410F1-97D8-62D9-2485-9004E8DF7F35}"/>
              </a:ext>
            </a:extLst>
          </p:cNvPr>
          <p:cNvSpPr/>
          <p:nvPr/>
        </p:nvSpPr>
        <p:spPr>
          <a:xfrm>
            <a:off x="12446000" y="8044180"/>
            <a:ext cx="11023600" cy="2743200"/>
          </a:xfrm>
          <a:prstGeom prst="roundRect">
            <a:avLst>
              <a:gd name="adj" fmla="val 8000"/>
            </a:avLst>
          </a:prstGeom>
          <a:solidFill>
            <a:srgbClr val="E7F3FA"/>
          </a:solidFill>
          <a:ln w="19050">
            <a:solidFill>
              <a:srgbClr val="1B74A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6A9C423-D009-C641-1A41-16433FA7C6A8}"/>
              </a:ext>
            </a:extLst>
          </p:cNvPr>
          <p:cNvSpPr txBox="1"/>
          <p:nvPr/>
        </p:nvSpPr>
        <p:spPr>
          <a:xfrm>
            <a:off x="12750800" y="8501380"/>
            <a:ext cx="10414000" cy="660400"/>
          </a:xfrm>
          <a:prstGeom prst="rect">
            <a:avLst/>
          </a:prstGeom>
          <a:noFill/>
        </p:spPr>
        <p:txBody>
          <a:bodyPr vert="horz" wrap="square" lIns="152400" tIns="0" rIns="152400" bIns="0" rtlCol="0" anchor="ctr">
            <a:noAutofit/>
          </a:bodyPr>
          <a:lstStyle/>
          <a:p>
            <a:pPr algn="ctr"/>
            <a:r>
              <a:rPr kumimoji="1" lang="en-US" altLang="ja-JP" sz="3200" b="1">
                <a:solidFill>
                  <a:srgbClr val="082B52"/>
                </a:solidFill>
                <a:latin typeface="Arial" panose="020B0604020202020204" pitchFamily="34" charset="0"/>
              </a:rPr>
              <a:t>Orbital environment</a:t>
            </a:r>
            <a:endParaRPr kumimoji="1" lang="en-US" altLang="ja-JP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BEAD937-4CE3-4080-7FD2-28E0BCF873F7}"/>
              </a:ext>
            </a:extLst>
          </p:cNvPr>
          <p:cNvSpPr txBox="1"/>
          <p:nvPr/>
        </p:nvSpPr>
        <p:spPr>
          <a:xfrm>
            <a:off x="12750800" y="9466580"/>
            <a:ext cx="10414000" cy="711200"/>
          </a:xfrm>
          <a:prstGeom prst="rect">
            <a:avLst/>
          </a:prstGeom>
          <a:noFill/>
        </p:spPr>
        <p:txBody>
          <a:bodyPr vert="horz" wrap="square" lIns="152400" tIns="0" rIns="152400" bIns="0" rtlCol="0" anchor="ctr">
            <a:noAutofit/>
          </a:bodyPr>
          <a:lstStyle/>
          <a:p>
            <a:pPr algn="ctr"/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Eclipse / </a:t>
            </a:r>
            <a:r>
              <a:rPr kumimoji="1" lang="en-US" altLang="ja-JP" sz="3200">
                <a:solidFill>
                  <a:srgbClr val="232B34"/>
                </a:solidFill>
                <a:latin typeface="Arial" panose="020B0604020202020204" pitchFamily="34" charset="0"/>
              </a:rPr>
              <a:t>Continuous illumination</a:t>
            </a:r>
            <a:endParaRPr kumimoji="1" lang="en-US" altLang="ja-JP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8DE9F6F-C92C-34D1-85C8-86B4FAE0BE93}"/>
              </a:ext>
            </a:extLst>
          </p:cNvPr>
          <p:cNvSpPr txBox="1"/>
          <p:nvPr/>
        </p:nvSpPr>
        <p:spPr>
          <a:xfrm>
            <a:off x="1016000" y="11142980"/>
            <a:ext cx="22352000" cy="609600"/>
          </a:xfrm>
          <a:prstGeom prst="rect">
            <a:avLst/>
          </a:prstGeom>
          <a:noFill/>
        </p:spPr>
        <p:txBody>
          <a:bodyPr vert="horz" wrap="square" lIns="152400" tIns="0" rIns="152400" bIns="0" rtlCol="0" anchor="ctr">
            <a:noAutofit/>
          </a:bodyPr>
          <a:lstStyle/>
          <a:p>
            <a:pPr algn="ctr"/>
            <a:r>
              <a:rPr kumimoji="1" lang="en-US" altLang="ja-JP" sz="3200" b="1" dirty="0">
                <a:solidFill>
                  <a:srgbClr val="082B52"/>
                </a:solidFill>
                <a:latin typeface="Arial" panose="020B0604020202020204" pitchFamily="34" charset="0"/>
              </a:rPr>
              <a:t>Same spacecraft structure and LOS definition across all </a:t>
            </a:r>
            <a:r>
              <a:rPr kumimoji="1" lang="en-US" altLang="ja-JP" sz="3200" b="1">
                <a:solidFill>
                  <a:srgbClr val="082B52"/>
                </a:solidFill>
                <a:latin typeface="Arial" panose="020B0604020202020204" pitchFamily="34" charset="0"/>
              </a:rPr>
              <a:t>cases.</a:t>
            </a:r>
            <a:endParaRPr kumimoji="1" lang="en-US" altLang="ja-JP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5B09AA5-9FD6-8D60-3F8B-91006EC162FE}"/>
              </a:ext>
            </a:extLst>
          </p:cNvPr>
          <p:cNvSpPr txBox="1"/>
          <p:nvPr/>
        </p:nvSpPr>
        <p:spPr>
          <a:xfrm>
            <a:off x="1016000" y="11854180"/>
            <a:ext cx="22352000" cy="558800"/>
          </a:xfrm>
          <a:prstGeom prst="rect">
            <a:avLst/>
          </a:prstGeom>
          <a:noFill/>
        </p:spPr>
        <p:txBody>
          <a:bodyPr vert="horz" wrap="square" lIns="152400" tIns="0" rIns="152400" bIns="0" rtlCol="0" anchor="ctr">
            <a:noAutofit/>
          </a:bodyPr>
          <a:lstStyle/>
          <a:p>
            <a:pPr algn="ctr"/>
            <a:r>
              <a:rPr kumimoji="1" lang="en-US" altLang="ja-JP" sz="2800" dirty="0">
                <a:solidFill>
                  <a:srgbClr val="666F79"/>
                </a:solidFill>
                <a:latin typeface="Arial" panose="020B0604020202020204" pitchFamily="34" charset="0"/>
              </a:rPr>
              <a:t>Validation across operating conditions, not across different spacecraft </a:t>
            </a:r>
            <a:r>
              <a:rPr kumimoji="1" lang="en-US" altLang="ja-JP" sz="2800">
                <a:solidFill>
                  <a:srgbClr val="666F79"/>
                </a:solidFill>
                <a:latin typeface="Arial" panose="020B0604020202020204" pitchFamily="34" charset="0"/>
              </a:rPr>
              <a:t>structures.</a:t>
            </a:r>
            <a:endParaRPr kumimoji="1" lang="en-US" altLang="ja-JP" sz="2800" dirty="0">
              <a:solidFill>
                <a:srgbClr val="666F79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3237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057F-DCF1-6E39-54A9-E6F069468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374F04-0A41-3729-1974-27E202399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03</a:t>
            </a:r>
            <a:endParaRPr sz="4800" b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31B5912-5AC4-3FF6-4101-82BE89265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ja-JP" sz="48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Reduced-orde</a:t>
            </a:r>
            <a:r>
              <a:rPr lang="en-US" altLang="ja-JP" sz="48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model</a:t>
            </a:r>
            <a:endParaRPr sz="4800" b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8C68F76-E521-BBBA-3069-24EB0790B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66712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363176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Reduced-order model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828000" y="12699999"/>
            <a:ext cx="2946400" cy="48628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280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10/17</a:t>
            </a: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0B50638C-A598-E0CC-394F-5BF42CDB1937}"/>
              </a:ext>
            </a:extLst>
          </p:cNvPr>
          <p:cNvSpPr txBox="1"/>
          <p:nvPr/>
        </p:nvSpPr>
        <p:spPr>
          <a:xfrm>
            <a:off x="1536192" y="1298447"/>
            <a:ext cx="22037040" cy="1040285"/>
          </a:xfrm>
          <a:prstGeom prst="rect">
            <a:avLst/>
          </a:prstGeom>
          <a:noFill/>
        </p:spPr>
        <p:txBody>
          <a:bodyPr wrap="square" lIns="0" tIns="27432" rIns="0" bIns="27432" anchor="t">
            <a:spAutoFit/>
          </a:bodyPr>
          <a:lstStyle/>
          <a:p>
            <a:pPr algn="l">
              <a:spcAft>
                <a:spcPts val="0"/>
              </a:spcAft>
            </a:pPr>
            <a:endParaRPr lang="en-US" altLang="ja-JP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  <a:p>
            <a:pPr algn="l">
              <a:spcAft>
                <a:spcPts val="0"/>
              </a:spcAft>
            </a:pPr>
            <a:r>
              <a:rPr lang="en-US" altLang="ja-JP" sz="3200" b="1" dirty="0">
                <a:solidFill>
                  <a:srgbClr val="082B52"/>
                </a:solidFill>
                <a:latin typeface="Arial" panose="020B0604020202020204" pitchFamily="34" charset="0"/>
              </a:rPr>
              <a:t>Thermal LOS shows similar orbital variations but different offsets across operating conditions</a:t>
            </a: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73024BC2-000B-22A8-CC84-A9E292B1E48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641600"/>
            <a:ext cx="14173200" cy="6997700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1F0F569-CAAC-2847-C29F-DD3224303F03}"/>
              </a:ext>
            </a:extLst>
          </p:cNvPr>
          <p:cNvSpPr txBox="1"/>
          <p:nvPr/>
        </p:nvSpPr>
        <p:spPr>
          <a:xfrm>
            <a:off x="457200" y="9753600"/>
            <a:ext cx="13817600" cy="353943"/>
          </a:xfrm>
          <a:prstGeom prst="rect">
            <a:avLst/>
          </a:prstGeom>
          <a:noFill/>
        </p:spPr>
        <p:txBody>
          <a:bodyPr vert="horz" wrap="square" lIns="0" tIns="0" rIns="0" rtlCol="0">
            <a:spAutoFit/>
          </a:bodyPr>
          <a:lstStyle/>
          <a:p>
            <a:pPr algn="ctr"/>
            <a:r>
              <a:rPr kumimoji="1" lang="en-US" altLang="ja-JP" sz="2000">
                <a:solidFill>
                  <a:srgbClr val="666F79"/>
                </a:solidFill>
                <a:latin typeface="Arial" panose="020B0604020202020204" pitchFamily="34" charset="0"/>
              </a:rPr>
              <a:t>Same sun face, different dissipation states</a:t>
            </a:r>
            <a:endParaRPr kumimoji="1" lang="ja-JP" altLang="en-US" sz="2000">
              <a:solidFill>
                <a:srgbClr val="666F79"/>
              </a:solidFill>
              <a:latin typeface="Arial" panose="020B0604020202020204" pitchFamily="34" charset="0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D4DC98C-9606-8B55-EA1F-84EC0CF1E39B}"/>
              </a:ext>
            </a:extLst>
          </p:cNvPr>
          <p:cNvSpPr/>
          <p:nvPr/>
        </p:nvSpPr>
        <p:spPr>
          <a:xfrm>
            <a:off x="14630400" y="2641600"/>
            <a:ext cx="9271000" cy="3403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0EE92B3-B8C2-95DE-ED43-23C53F0D6F13}"/>
              </a:ext>
            </a:extLst>
          </p:cNvPr>
          <p:cNvSpPr txBox="1"/>
          <p:nvPr/>
        </p:nvSpPr>
        <p:spPr>
          <a:xfrm>
            <a:off x="15036800" y="2997200"/>
            <a:ext cx="8458200" cy="538609"/>
          </a:xfrm>
          <a:prstGeom prst="rect">
            <a:avLst/>
          </a:prstGeom>
          <a:noFill/>
        </p:spPr>
        <p:txBody>
          <a:bodyPr vert="horz" wrap="square" lIns="0" tIns="0" rtlCol="0">
            <a:spAutoFit/>
          </a:bodyPr>
          <a:lstStyle/>
          <a:p>
            <a:r>
              <a:rPr kumimoji="1" lang="en-US" altLang="ja-JP" sz="3200" b="1" dirty="0">
                <a:solidFill>
                  <a:srgbClr val="1B74AA"/>
                </a:solidFill>
                <a:latin typeface="Arial" panose="020B0604020202020204" pitchFamily="34" charset="0"/>
              </a:rPr>
              <a:t>Observation</a:t>
            </a:r>
            <a:endParaRPr kumimoji="1" lang="ja-JP" altLang="en-US" sz="3200" b="1" dirty="0">
              <a:solidFill>
                <a:srgbClr val="1B74AA"/>
              </a:solidFill>
              <a:latin typeface="Arial" panose="020B0604020202020204" pitchFamily="34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C947A9B-DBDD-2C41-4E24-14423AC74B7A}"/>
              </a:ext>
            </a:extLst>
          </p:cNvPr>
          <p:cNvSpPr txBox="1"/>
          <p:nvPr/>
        </p:nvSpPr>
        <p:spPr>
          <a:xfrm>
            <a:off x="15036800" y="3860800"/>
            <a:ext cx="8458200" cy="1031051"/>
          </a:xfrm>
          <a:prstGeom prst="rect">
            <a:avLst/>
          </a:prstGeom>
          <a:noFill/>
        </p:spPr>
        <p:txBody>
          <a:bodyPr vert="horz" wrap="square" lIns="0" tIns="0" rtlCol="0">
            <a:spAutoFit/>
          </a:bodyPr>
          <a:lstStyle/>
          <a:p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Similar within-orbit waveform, different mean offsets</a:t>
            </a:r>
            <a:endParaRPr kumimoji="1" lang="ja-JP" altLang="en-US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FBD414F-76AA-36B7-986F-1D7C3D1C3025}"/>
              </a:ext>
            </a:extLst>
          </p:cNvPr>
          <p:cNvSpPr/>
          <p:nvPr/>
        </p:nvSpPr>
        <p:spPr>
          <a:xfrm>
            <a:off x="14630400" y="6350000"/>
            <a:ext cx="9271000" cy="3403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C9D77C1-6123-F76E-5F55-E5C4ED516CCD}"/>
              </a:ext>
            </a:extLst>
          </p:cNvPr>
          <p:cNvSpPr txBox="1"/>
          <p:nvPr/>
        </p:nvSpPr>
        <p:spPr>
          <a:xfrm>
            <a:off x="15036800" y="6705600"/>
            <a:ext cx="8458200" cy="538609"/>
          </a:xfrm>
          <a:prstGeom prst="rect">
            <a:avLst/>
          </a:prstGeom>
          <a:noFill/>
        </p:spPr>
        <p:txBody>
          <a:bodyPr vert="horz" wrap="square" lIns="0" tIns="0" rtlCol="0">
            <a:spAutoFit/>
          </a:bodyPr>
          <a:lstStyle/>
          <a:p>
            <a:r>
              <a:rPr kumimoji="1" lang="en-US" altLang="ja-JP" sz="3200" b="1">
                <a:solidFill>
                  <a:srgbClr val="1B74AA"/>
                </a:solidFill>
                <a:latin typeface="Arial" panose="020B0604020202020204" pitchFamily="34" charset="0"/>
              </a:rPr>
              <a:t>Interpretation</a:t>
            </a:r>
            <a:endParaRPr kumimoji="1" lang="ja-JP" altLang="en-US" sz="3200" b="1">
              <a:solidFill>
                <a:srgbClr val="1B74AA"/>
              </a:solidFill>
              <a:latin typeface="Arial" panose="020B0604020202020204" pitchFamily="34" charset="0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E50AB4-CF08-D5A2-9AFD-10047BB40ADA}"/>
              </a:ext>
            </a:extLst>
          </p:cNvPr>
          <p:cNvSpPr txBox="1"/>
          <p:nvPr/>
        </p:nvSpPr>
        <p:spPr>
          <a:xfrm>
            <a:off x="15036800" y="7569200"/>
            <a:ext cx="8458200" cy="1031051"/>
          </a:xfrm>
          <a:prstGeom prst="rect">
            <a:avLst/>
          </a:prstGeom>
          <a:noFill/>
        </p:spPr>
        <p:txBody>
          <a:bodyPr vert="horz" wrap="square" lIns="0" tIns="0" rtlCol="0">
            <a:spAutoFit/>
          </a:bodyPr>
          <a:lstStyle/>
          <a:p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Orbital variation is largely shared:</a:t>
            </a:r>
          </a:p>
          <a:p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Equipment dissipation shifts the mean level</a:t>
            </a:r>
            <a:endParaRPr kumimoji="1" lang="ja-JP" altLang="en-US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BFC333D9-28DE-C5D6-F940-2FE716237A0F}"/>
              </a:ext>
            </a:extLst>
          </p:cNvPr>
          <p:cNvSpPr txBox="1"/>
          <p:nvPr/>
        </p:nvSpPr>
        <p:spPr>
          <a:xfrm>
            <a:off x="1016000" y="10975340"/>
            <a:ext cx="22352000" cy="477054"/>
          </a:xfrm>
          <a:prstGeom prst="rect">
            <a:avLst/>
          </a:prstGeom>
          <a:noFill/>
        </p:spPr>
        <p:txBody>
          <a:bodyPr vert="horz" wrap="square" lIns="0" tIns="0" rtlCol="0">
            <a:spAutoFit/>
          </a:bodyPr>
          <a:lstStyle/>
          <a:p>
            <a:pPr algn="ctr"/>
            <a:r>
              <a:rPr kumimoji="1" lang="en-US" altLang="ja-JP" sz="2800" b="1" dirty="0">
                <a:solidFill>
                  <a:srgbClr val="232B34"/>
                </a:solidFill>
                <a:latin typeface="Arial" panose="020B0604020202020204" pitchFamily="34" charset="0"/>
              </a:rPr>
              <a:t>Modeling choice</a:t>
            </a:r>
            <a:endParaRPr kumimoji="1" lang="ja-JP" altLang="en-US" sz="2800" b="1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641413B7-9739-75B8-4AE7-C1B238DFD044}"/>
              </a:ext>
            </a:extLst>
          </p:cNvPr>
          <p:cNvSpPr txBox="1"/>
          <p:nvPr/>
        </p:nvSpPr>
        <p:spPr>
          <a:xfrm>
            <a:off x="762000" y="11498580"/>
            <a:ext cx="22860000" cy="661720"/>
          </a:xfrm>
          <a:prstGeom prst="rect">
            <a:avLst/>
          </a:prstGeom>
          <a:noFill/>
        </p:spPr>
        <p:txBody>
          <a:bodyPr vert="horz" wrap="square" lIns="0" tIns="0" rtlCol="0">
            <a:spAutoFit/>
          </a:bodyPr>
          <a:lstStyle/>
          <a:p>
            <a:pPr algn="ctr"/>
            <a:r>
              <a:rPr kumimoji="1" lang="en-US" altLang="ja-JP" sz="4000" b="1" dirty="0">
                <a:solidFill>
                  <a:srgbClr val="082B52"/>
                </a:solidFill>
                <a:latin typeface="Arial" panose="020B0604020202020204" pitchFamily="34" charset="0"/>
              </a:rPr>
              <a:t>Thermal LOS  =  Time-varying term  +  Case-dependent bias</a:t>
            </a:r>
            <a:endParaRPr kumimoji="1" lang="ja-JP" altLang="en-US" sz="40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463AB-B8F3-8DC8-987F-A486F27B8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2">
            <a:extLst>
              <a:ext uri="{FF2B5EF4-FFF2-40B4-BE49-F238E27FC236}">
                <a16:creationId xmlns:a16="http://schemas.microsoft.com/office/drawing/2014/main" id="{DF026E16-6558-6EEA-9100-74BFD8FDF688}"/>
              </a:ext>
            </a:extLst>
          </p:cNvPr>
          <p:cNvSpPr txBox="1"/>
          <p:nvPr/>
        </p:nvSpPr>
        <p:spPr>
          <a:xfrm>
            <a:off x="1536192" y="1269999"/>
            <a:ext cx="22037040" cy="1040285"/>
          </a:xfrm>
          <a:prstGeom prst="rect">
            <a:avLst/>
          </a:prstGeom>
          <a:noFill/>
        </p:spPr>
        <p:txBody>
          <a:bodyPr wrap="square" lIns="0" tIns="27432" rIns="0" bIns="27432" anchor="t">
            <a:spAutoFit/>
          </a:bodyPr>
          <a:lstStyle/>
          <a:p>
            <a:pPr algn="l">
              <a:spcAft>
                <a:spcPts val="0"/>
              </a:spcAft>
            </a:pP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  <a:ea typeface="Yu Gothic"/>
            </a:endParaRPr>
          </a:p>
          <a:p>
            <a:pPr algn="l">
              <a:spcAft>
                <a:spcPts val="0"/>
              </a:spcAft>
            </a:pPr>
            <a:r>
              <a:rPr lang="en-US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</a:rPr>
              <a:t>Thermal LOS variation closely follows the sun-facing–opposite-panel temperature difference</a:t>
            </a: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19" name="TextBox 8">
            <a:extLst>
              <a:ext uri="{FF2B5EF4-FFF2-40B4-BE49-F238E27FC236}">
                <a16:creationId xmlns:a16="http://schemas.microsoft.com/office/drawing/2014/main" id="{E5AE464D-DFE6-09C6-65DA-8D2CC851F626}"/>
              </a:ext>
            </a:extLst>
          </p:cNvPr>
          <p:cNvSpPr txBox="1"/>
          <p:nvPr/>
        </p:nvSpPr>
        <p:spPr>
          <a:xfrm>
            <a:off x="12192000" y="8902699"/>
            <a:ext cx="8636000" cy="366254"/>
          </a:xfrm>
          <a:prstGeom prst="rect">
            <a:avLst/>
          </a:prstGeom>
          <a:noFill/>
        </p:spPr>
        <p:txBody>
          <a:bodyPr wrap="square" lIns="0" tIns="0" rIns="0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2200">
                <a:solidFill>
                  <a:srgbClr val="232B34"/>
                </a:solidFill>
                <a:latin typeface="Arial" panose="020B0604020202020204" pitchFamily="34" charset="0"/>
                <a:ea typeface="Yu Gothic"/>
              </a:rPr>
              <a:t>Far-field LOS, Y axis (MY-PY)</a:t>
            </a:r>
            <a:endParaRPr lang="en-US" sz="2200" dirty="0">
              <a:solidFill>
                <a:srgbClr val="232B34"/>
              </a:solidFill>
              <a:latin typeface="Arial" panose="020B0604020202020204" pitchFamily="34" charset="0"/>
              <a:ea typeface="Yu Gothic"/>
            </a:endParaRPr>
          </a:p>
        </p:txBody>
      </p:sp>
      <p:sp>
        <p:nvSpPr>
          <p:cNvPr id="21" name="TextBox 9">
            <a:extLst>
              <a:ext uri="{FF2B5EF4-FFF2-40B4-BE49-F238E27FC236}">
                <a16:creationId xmlns:a16="http://schemas.microsoft.com/office/drawing/2014/main" id="{E830988C-07D9-F5B9-9874-7C1D60418F77}"/>
              </a:ext>
            </a:extLst>
          </p:cNvPr>
          <p:cNvSpPr txBox="1"/>
          <p:nvPr/>
        </p:nvSpPr>
        <p:spPr>
          <a:xfrm>
            <a:off x="3556000" y="8902699"/>
            <a:ext cx="8636000" cy="366254"/>
          </a:xfrm>
          <a:prstGeom prst="rect">
            <a:avLst/>
          </a:prstGeom>
          <a:noFill/>
        </p:spPr>
        <p:txBody>
          <a:bodyPr wrap="square" lIns="0" tIns="0" rIns="0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2200">
                <a:solidFill>
                  <a:srgbClr val="232B34"/>
                </a:solidFill>
                <a:latin typeface="Arial" panose="020B0604020202020204" pitchFamily="34" charset="0"/>
                <a:ea typeface="Yu Gothic"/>
              </a:rPr>
              <a:t>MY center - PY center</a:t>
            </a:r>
            <a:endParaRPr lang="en-US" sz="2200" dirty="0">
              <a:solidFill>
                <a:srgbClr val="232B34"/>
              </a:solidFill>
              <a:latin typeface="Arial" panose="020B0604020202020204" pitchFamily="34" charset="0"/>
              <a:ea typeface="Yu Gothic"/>
            </a:endParaRP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EFF92B7E-D74D-E897-B84B-C149C90DF9CC}"/>
              </a:ext>
            </a:extLst>
          </p:cNvPr>
          <p:cNvSpPr txBox="1"/>
          <p:nvPr/>
        </p:nvSpPr>
        <p:spPr>
          <a:xfrm>
            <a:off x="548640" y="219456"/>
            <a:ext cx="15910559" cy="363176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Thermoelastic analysis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5E02E62-9C27-6F62-21F1-013F7AF88BB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2514600"/>
            <a:ext cx="17272000" cy="63373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4644474-2800-11CD-2A9F-BA8FABCE5C2D}"/>
              </a:ext>
            </a:extLst>
          </p:cNvPr>
          <p:cNvSpPr txBox="1"/>
          <p:nvPr/>
        </p:nvSpPr>
        <p:spPr>
          <a:xfrm>
            <a:off x="22715519" y="12700000"/>
            <a:ext cx="1058881" cy="52322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pPr algn="r"/>
            <a:r>
              <a:rPr kumimoji="1" lang="en-US" altLang="ja-JP" sz="2800" dirty="0">
                <a:solidFill>
                  <a:srgbClr val="666F79"/>
                </a:solidFill>
                <a:latin typeface="Arial" panose="020B0604020202020204" pitchFamily="34" charset="0"/>
              </a:rPr>
              <a:t>11/17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EBFDC49E-42C3-3E76-07A5-0A35A981641D}"/>
              </a:ext>
            </a:extLst>
          </p:cNvPr>
          <p:cNvSpPr/>
          <p:nvPr/>
        </p:nvSpPr>
        <p:spPr>
          <a:xfrm>
            <a:off x="1549400" y="9410700"/>
            <a:ext cx="10414000" cy="1879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E24CA26-54E3-ECAC-C341-8B856C2CCF4F}"/>
              </a:ext>
            </a:extLst>
          </p:cNvPr>
          <p:cNvSpPr txBox="1"/>
          <p:nvPr/>
        </p:nvSpPr>
        <p:spPr>
          <a:xfrm>
            <a:off x="1854200" y="9613900"/>
            <a:ext cx="9804400" cy="538609"/>
          </a:xfrm>
          <a:prstGeom prst="rect">
            <a:avLst/>
          </a:prstGeom>
          <a:noFill/>
        </p:spPr>
        <p:txBody>
          <a:bodyPr vert="horz" wrap="square" lIns="0" tIns="0" rtlCol="0">
            <a:spAutoFit/>
          </a:bodyPr>
          <a:lstStyle/>
          <a:p>
            <a:r>
              <a:rPr kumimoji="1" lang="en-US" altLang="ja-JP" sz="3200" b="1" dirty="0">
                <a:solidFill>
                  <a:srgbClr val="1B74AA"/>
                </a:solidFill>
                <a:latin typeface="Arial" panose="020B0604020202020204" pitchFamily="34" charset="0"/>
              </a:rPr>
              <a:t>Observation</a:t>
            </a:r>
            <a:endParaRPr kumimoji="1" lang="ja-JP" altLang="en-US" sz="3200" b="1" dirty="0">
              <a:solidFill>
                <a:srgbClr val="1B74AA"/>
              </a:solidFill>
              <a:latin typeface="Arial" panose="020B060402020202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F8614E5-7D34-D641-F722-C386D55F2E7B}"/>
              </a:ext>
            </a:extLst>
          </p:cNvPr>
          <p:cNvSpPr txBox="1"/>
          <p:nvPr/>
        </p:nvSpPr>
        <p:spPr>
          <a:xfrm>
            <a:off x="1854200" y="10147300"/>
            <a:ext cx="9804400" cy="1031051"/>
          </a:xfrm>
          <a:prstGeom prst="rect">
            <a:avLst/>
          </a:prstGeom>
          <a:noFill/>
        </p:spPr>
        <p:txBody>
          <a:bodyPr vert="horz" wrap="square" lIns="0" tIns="0" rtlCol="0">
            <a:spAutoFit/>
          </a:bodyPr>
          <a:lstStyle/>
          <a:p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Panel ΔT and thermal LOS show nearly identical orbital variations.</a:t>
            </a:r>
            <a:endParaRPr kumimoji="1" lang="ja-JP" altLang="en-US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A25FFBB-4051-0301-E72A-13F241E15A87}"/>
              </a:ext>
            </a:extLst>
          </p:cNvPr>
          <p:cNvSpPr/>
          <p:nvPr/>
        </p:nvSpPr>
        <p:spPr>
          <a:xfrm>
            <a:off x="12420600" y="9410700"/>
            <a:ext cx="10414000" cy="1879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BF882E8-D503-C866-6FA9-3C117439925C}"/>
              </a:ext>
            </a:extLst>
          </p:cNvPr>
          <p:cNvSpPr txBox="1"/>
          <p:nvPr/>
        </p:nvSpPr>
        <p:spPr>
          <a:xfrm>
            <a:off x="12725400" y="9613900"/>
            <a:ext cx="9804400" cy="538609"/>
          </a:xfrm>
          <a:prstGeom prst="rect">
            <a:avLst/>
          </a:prstGeom>
          <a:noFill/>
        </p:spPr>
        <p:txBody>
          <a:bodyPr vert="horz" wrap="square" lIns="0" tIns="0" rtlCol="0">
            <a:spAutoFit/>
          </a:bodyPr>
          <a:lstStyle/>
          <a:p>
            <a:r>
              <a:rPr kumimoji="1" lang="en-US" altLang="ja-JP" sz="3200" b="1" dirty="0">
                <a:solidFill>
                  <a:srgbClr val="1B74AA"/>
                </a:solidFill>
                <a:latin typeface="Arial" panose="020B0604020202020204" pitchFamily="34" charset="0"/>
              </a:rPr>
              <a:t>Interpretation</a:t>
            </a:r>
            <a:endParaRPr kumimoji="1" lang="ja-JP" altLang="en-US" sz="3200" b="1" dirty="0">
              <a:solidFill>
                <a:srgbClr val="1B74AA"/>
              </a:solidFill>
              <a:latin typeface="Arial" panose="020B0604020202020204" pitchFamily="34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8352675-40F2-C1A8-0CA3-01EABCB77E42}"/>
              </a:ext>
            </a:extLst>
          </p:cNvPr>
          <p:cNvSpPr txBox="1"/>
          <p:nvPr/>
        </p:nvSpPr>
        <p:spPr>
          <a:xfrm>
            <a:off x="12725400" y="10147300"/>
            <a:ext cx="9804400" cy="1031051"/>
          </a:xfrm>
          <a:prstGeom prst="rect">
            <a:avLst/>
          </a:prstGeom>
          <a:noFill/>
        </p:spPr>
        <p:txBody>
          <a:bodyPr vert="horz" wrap="square" lIns="0" tIns="0" rtlCol="0">
            <a:spAutoFit/>
          </a:bodyPr>
          <a:lstStyle/>
          <a:p>
            <a:r>
              <a:rPr kumimoji="1" lang="en-US" altLang="ja-JP" sz="3200">
                <a:solidFill>
                  <a:srgbClr val="232B34"/>
                </a:solidFill>
                <a:latin typeface="Arial" panose="020B0604020202020204" pitchFamily="34" charset="0"/>
              </a:rPr>
              <a:t>Panel ΔT is a promising predictor of time-varying thermal LOS.</a:t>
            </a:r>
            <a:endParaRPr kumimoji="1" lang="ja-JP" altLang="en-US" sz="320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CAD0B94-16B8-C068-4413-C72F39D059A8}"/>
              </a:ext>
            </a:extLst>
          </p:cNvPr>
          <p:cNvSpPr txBox="1"/>
          <p:nvPr/>
        </p:nvSpPr>
        <p:spPr>
          <a:xfrm>
            <a:off x="1016000" y="12019280"/>
            <a:ext cx="22352000" cy="661720"/>
          </a:xfrm>
          <a:prstGeom prst="rect">
            <a:avLst/>
          </a:prstGeom>
          <a:noFill/>
        </p:spPr>
        <p:txBody>
          <a:bodyPr vert="horz" wrap="square" lIns="0" tIns="0" rtlCol="0">
            <a:spAutoFit/>
          </a:bodyPr>
          <a:lstStyle/>
          <a:p>
            <a:pPr algn="ctr"/>
            <a:r>
              <a:rPr kumimoji="1" lang="en-US" altLang="ja-JP" sz="4000" b="1" dirty="0">
                <a:solidFill>
                  <a:srgbClr val="082B52"/>
                </a:solidFill>
                <a:latin typeface="Arial" panose="020B0604020202020204" pitchFamily="34" charset="0"/>
              </a:rPr>
              <a:t>Time-varying thermal LOS  ∝  Panel ΔT</a:t>
            </a:r>
            <a:endParaRPr kumimoji="1" lang="ja-JP" altLang="en-US" sz="40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91333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1498A-D134-1DB7-BEEC-89F4ACDAB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132FC5-CEFF-682E-12E1-776DF31BA0AA}"/>
              </a:ext>
            </a:extLst>
          </p:cNvPr>
          <p:cNvSpPr txBox="1"/>
          <p:nvPr/>
        </p:nvSpPr>
        <p:spPr>
          <a:xfrm>
            <a:off x="548640" y="219456"/>
            <a:ext cx="15910559" cy="363176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Reduced-order model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06BBAA-7C1E-6C59-0838-394848810869}"/>
              </a:ext>
            </a:extLst>
          </p:cNvPr>
          <p:cNvSpPr txBox="1"/>
          <p:nvPr/>
        </p:nvSpPr>
        <p:spPr>
          <a:xfrm>
            <a:off x="1536192" y="1298448"/>
            <a:ext cx="22037040" cy="1040285"/>
          </a:xfrm>
          <a:prstGeom prst="rect">
            <a:avLst/>
          </a:prstGeom>
          <a:noFill/>
        </p:spPr>
        <p:txBody>
          <a:bodyPr wrap="square" lIns="0" tIns="27432" rIns="0" bIns="27432" anchor="t">
            <a:spAutoFit/>
          </a:bodyPr>
          <a:lstStyle/>
          <a:p>
            <a:pPr algn="l">
              <a:spcAft>
                <a:spcPts val="0"/>
              </a:spcAft>
            </a:pP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  <a:ea typeface="Yu Gothic"/>
            </a:endParaRPr>
          </a:p>
          <a:p>
            <a:pPr algn="l">
              <a:spcAft>
                <a:spcPts val="0"/>
              </a:spcAft>
            </a:pPr>
            <a:r>
              <a:rPr lang="en-US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</a:rPr>
              <a:t>A hierarchical model predicts thermal LOS using panel ΔT and operating states</a:t>
            </a:r>
            <a:endParaRPr lang="en-US" altLang="ja-JP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C37490-C33E-76CF-2AD2-84281E463F88}"/>
              </a:ext>
            </a:extLst>
          </p:cNvPr>
          <p:cNvSpPr txBox="1"/>
          <p:nvPr/>
        </p:nvSpPr>
        <p:spPr>
          <a:xfrm>
            <a:off x="20828000" y="12699999"/>
            <a:ext cx="2946400" cy="48628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280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12/17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3955A62B-4A75-CEB7-EAB9-614B6031AE0A}"/>
              </a:ext>
            </a:extLst>
          </p:cNvPr>
          <p:cNvSpPr txBox="1"/>
          <p:nvPr/>
        </p:nvSpPr>
        <p:spPr>
          <a:xfrm>
            <a:off x="1016000" y="4615180"/>
            <a:ext cx="223520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kumimoji="1" lang="en-US" altLang="ja-JP" sz="3200">
                <a:solidFill>
                  <a:srgbClr val="1B74AA"/>
                </a:solidFill>
                <a:latin typeface="Arial" panose="020B0604020202020204" pitchFamily="34" charset="0"/>
              </a:rPr>
              <a:t>Time-varying component      </a:t>
            </a:r>
            <a:r>
              <a:rPr kumimoji="1" lang="en-US" altLang="ja-JP" sz="3200">
                <a:solidFill>
                  <a:srgbClr val="EC9427"/>
                </a:solidFill>
                <a:latin typeface="Arial" panose="020B0604020202020204" pitchFamily="34" charset="0"/>
              </a:rPr>
              <a:t>Case-dependent offset</a:t>
            </a:r>
            <a:endParaRPr kumimoji="1" lang="ja-JP" altLang="en-US" sz="3200">
              <a:solidFill>
                <a:srgbClr val="EC9427"/>
              </a:solidFill>
              <a:latin typeface="Arial" panose="020B0604020202020204" pitchFamily="34" charset="0"/>
            </a:endParaRPr>
          </a:p>
        </p:txBody>
      </p:sp>
      <p:sp>
        <p:nvSpPr>
          <p:cNvPr id="53" name="四角形: 角を丸くする 52">
            <a:extLst>
              <a:ext uri="{FF2B5EF4-FFF2-40B4-BE49-F238E27FC236}">
                <a16:creationId xmlns:a16="http://schemas.microsoft.com/office/drawing/2014/main" id="{DF004FA0-42CA-1CD8-FC09-7607D9F53F40}"/>
              </a:ext>
            </a:extLst>
          </p:cNvPr>
          <p:cNvSpPr/>
          <p:nvPr/>
        </p:nvSpPr>
        <p:spPr>
          <a:xfrm>
            <a:off x="812800" y="5402580"/>
            <a:ext cx="11176000" cy="495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33F1985C-181D-6A6F-401F-59751EE1DD4C}"/>
              </a:ext>
            </a:extLst>
          </p:cNvPr>
          <p:cNvSpPr/>
          <p:nvPr/>
        </p:nvSpPr>
        <p:spPr>
          <a:xfrm>
            <a:off x="12395200" y="5402580"/>
            <a:ext cx="11176000" cy="495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3366D19E-618F-9175-3EF1-98B12DEAF33B}"/>
              </a:ext>
            </a:extLst>
          </p:cNvPr>
          <p:cNvSpPr txBox="1"/>
          <p:nvPr/>
        </p:nvSpPr>
        <p:spPr>
          <a:xfrm>
            <a:off x="1168400" y="5681980"/>
            <a:ext cx="104648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kumimoji="1" lang="en-US" altLang="ja-JP" sz="3200">
                <a:solidFill>
                  <a:srgbClr val="1B74AA"/>
                </a:solidFill>
                <a:latin typeface="Arial" panose="020B0604020202020204" pitchFamily="34" charset="0"/>
              </a:rPr>
              <a:t>Time-varying component</a:t>
            </a:r>
            <a:endParaRPr kumimoji="1" lang="ja-JP" altLang="en-US" sz="3200">
              <a:solidFill>
                <a:srgbClr val="1B74AA"/>
              </a:solidFill>
              <a:latin typeface="Arial" panose="020B0604020202020204" pitchFamily="34" charset="0"/>
            </a:endParaRPr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FD8CEFE9-D406-B6DC-E53D-E7B7FF9DF519}"/>
              </a:ext>
            </a:extLst>
          </p:cNvPr>
          <p:cNvSpPr txBox="1"/>
          <p:nvPr/>
        </p:nvSpPr>
        <p:spPr>
          <a:xfrm>
            <a:off x="12750800" y="5681980"/>
            <a:ext cx="104648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kumimoji="1" lang="en-US" altLang="ja-JP" sz="3200">
                <a:solidFill>
                  <a:srgbClr val="EC9427"/>
                </a:solidFill>
                <a:latin typeface="Arial" panose="020B0604020202020204" pitchFamily="34" charset="0"/>
              </a:rPr>
              <a:t>Case-dependent offset</a:t>
            </a:r>
            <a:endParaRPr kumimoji="1" lang="ja-JP" altLang="en-US" sz="3200">
              <a:solidFill>
                <a:srgbClr val="EC9427"/>
              </a:solidFill>
              <a:latin typeface="Arial" panose="020B0604020202020204" pitchFamily="34" charset="0"/>
            </a:endParaRPr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54D7A6D4-D811-FE0E-E035-B75C97B1FB91}"/>
              </a:ext>
            </a:extLst>
          </p:cNvPr>
          <p:cNvSpPr txBox="1"/>
          <p:nvPr/>
        </p:nvSpPr>
        <p:spPr>
          <a:xfrm>
            <a:off x="1219200" y="8323580"/>
            <a:ext cx="10363200" cy="177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Thermal sensitivity is shared across cases with the same sun-facing panel.</a:t>
            </a:r>
            <a:endParaRPr kumimoji="1" lang="ja-JP" altLang="en-US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EEB14079-1657-0596-C786-7576ADF87021}"/>
              </a:ext>
            </a:extLst>
          </p:cNvPr>
          <p:cNvSpPr txBox="1"/>
          <p:nvPr/>
        </p:nvSpPr>
        <p:spPr>
          <a:xfrm>
            <a:off x="12801600" y="8323580"/>
            <a:ext cx="10363200" cy="177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Baseline offset by sun face + equipment ON/OFF states</a:t>
            </a:r>
            <a:endParaRPr kumimoji="1" lang="ja-JP" altLang="en-US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5">
                <a:extLst>
                  <a:ext uri="{FF2B5EF4-FFF2-40B4-BE49-F238E27FC236}">
                    <a16:creationId xmlns:a16="http://schemas.microsoft.com/office/drawing/2014/main" id="{931F66EB-B5E0-F6D1-15E4-26E467FF6666}"/>
                  </a:ext>
                </a:extLst>
              </p:cNvPr>
              <p:cNvSpPr txBox="1"/>
              <p:nvPr/>
            </p:nvSpPr>
            <p:spPr>
              <a:xfrm>
                <a:off x="7161047" y="3314700"/>
                <a:ext cx="10060318" cy="863954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ja-JP" altLang="en-US" sz="48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sz="48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ja-JP" altLang="en-US" sz="48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𝒅𝒐𝒎</m:t>
                          </m:r>
                        </m:sub>
                      </m:sSub>
                      <m:d>
                        <m:dPr>
                          <m:ctrlPr>
                            <a:rPr lang="ja-JP" altLang="en-US" sz="4800" b="1" i="1" dirty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ja-JP" altLang="en-US" sz="4800" b="1" i="1" dirty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en-US" altLang="ja-JP" sz="4800" b="1" i="1" dirty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≈ </m:t>
                      </m:r>
                      <m:sSub>
                        <m:sSubPr>
                          <m:ctrlPr>
                            <a:rPr lang="ja-JP" altLang="en-US" sz="4800" b="1" i="1" dirty="0" err="1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sz="4800" b="1" i="1" dirty="0" err="1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ja-JP" altLang="en-US" sz="4800" b="1" i="1" dirty="0" err="1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𝒔𝒖𝒏𝒇𝒂𝒄𝒆</m:t>
                          </m:r>
                        </m:sub>
                      </m:sSub>
                      <m:r>
                        <a:rPr lang="ja-JP" altLang="en-US" sz="4800" b="1" i="1" dirty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ja-JP" sz="4800" b="1" i="1" dirty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· </m:t>
                      </m:r>
                      <m:r>
                        <a:rPr lang="ja-JP" altLang="en-US" sz="4800" b="1" i="0" dirty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𝚫</m:t>
                      </m:r>
                      <m:r>
                        <a:rPr lang="ja-JP" altLang="en-US" sz="4800" b="1" i="1" dirty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  <m:d>
                        <m:dPr>
                          <m:ctrlPr>
                            <a:rPr lang="ja-JP" altLang="en-US" sz="4800" b="1" i="1" dirty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ja-JP" altLang="en-US" sz="4800" b="1" i="1" dirty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en-US" altLang="ja-JP" sz="4800" b="1" i="1" dirty="0" smtClean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ja-JP" altLang="en-US" sz="4800" b="1" i="1" dirty="0" err="1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sz="4800" b="1" i="1" dirty="0" err="1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ja-JP" altLang="en-US" sz="4800" b="1" i="1" dirty="0" err="1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  <m:t>𝒄𝒂𝒔𝒆</m:t>
                          </m:r>
                        </m:sub>
                      </m:sSub>
                      <m:r>
                        <a:rPr lang="ja-JP" altLang="en-US" sz="4800" b="1" i="1" dirty="0">
                          <a:solidFill>
                            <a:srgbClr val="F2B66B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sz="4800" dirty="0"/>
              </a:p>
            </p:txBody>
          </p:sp>
        </mc:Choice>
        <mc:Fallback xmlns="">
          <p:sp>
            <p:nvSpPr>
              <p:cNvPr id="65" name="TextBox 5">
                <a:extLst>
                  <a:ext uri="{FF2B5EF4-FFF2-40B4-BE49-F238E27FC236}">
                    <a16:creationId xmlns:a16="http://schemas.microsoft.com/office/drawing/2014/main" id="{931F66EB-B5E0-F6D1-15E4-26E467FF66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1047" y="3314700"/>
                <a:ext cx="10060318" cy="8639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テキスト ボックス 66">
                <a:extLst>
                  <a:ext uri="{FF2B5EF4-FFF2-40B4-BE49-F238E27FC236}">
                    <a16:creationId xmlns:a16="http://schemas.microsoft.com/office/drawing/2014/main" id="{F36C4E8E-6213-C83C-E4A8-62919192B1F0}"/>
                  </a:ext>
                </a:extLst>
              </p:cNvPr>
              <p:cNvSpPr txBox="1"/>
              <p:nvPr/>
            </p:nvSpPr>
            <p:spPr>
              <a:xfrm>
                <a:off x="548640" y="6685280"/>
                <a:ext cx="12195810" cy="6988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ja-JP" altLang="en-US" sz="3600" b="1" i="0" dirty="0" smtClean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𝚫</m:t>
                      </m:r>
                      <m:r>
                        <a:rPr lang="ja-JP" altLang="en-US" sz="3600" b="1" i="1" dirty="0" smtClean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  <m:d>
                        <m:dPr>
                          <m:ctrlPr>
                            <a:rPr lang="ja-JP" altLang="en-US" sz="3600" b="1" i="1" dirty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ja-JP" altLang="en-US" sz="3600" b="1" i="1" dirty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en-US" altLang="ja-JP" sz="3600" b="1" i="1" dirty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ja-JP" altLang="en-US" sz="3600" b="1" i="1" dirty="0" err="1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sz="3600" b="1" i="1" dirty="0" err="1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ja-JP" altLang="en-US" sz="3600" b="1" i="1" dirty="0" err="1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𝒔𝒖𝒏𝒇𝒂𝒄𝒆</m:t>
                          </m:r>
                        </m:sub>
                      </m:sSub>
                      <m:d>
                        <m:dPr>
                          <m:ctrlPr>
                            <a:rPr lang="ja-JP" altLang="en-US" sz="3600" b="1" i="1" dirty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ja-JP" altLang="en-US" sz="3600" b="1" i="1" dirty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en-US" altLang="ja-JP" sz="3600" b="1" i="1" dirty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ja-JP" altLang="en-US" sz="3600" b="1" i="1" dirty="0" err="1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sz="3600" b="1" i="1" dirty="0" err="1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ja-JP" altLang="en-US" sz="3600" b="1" i="1" dirty="0" err="1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𝒐𝒑𝒑𝒐𝒔𝒊𝒕𝒆</m:t>
                          </m:r>
                        </m:sub>
                      </m:sSub>
                      <m:d>
                        <m:dPr>
                          <m:ctrlPr>
                            <a:rPr lang="ja-JP" altLang="en-US" sz="3600" b="1" i="1" dirty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ja-JP" altLang="en-US" sz="3600" b="1" i="1" dirty="0">
                              <a:solidFill>
                                <a:srgbClr val="1B74AA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ja-JP" altLang="en-US" sz="3600" b="1" i="1" dirty="0">
                          <a:solidFill>
                            <a:srgbClr val="1B74A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ja-JP" altLang="en-US" sz="3600" dirty="0"/>
              </a:p>
            </p:txBody>
          </p:sp>
        </mc:Choice>
        <mc:Fallback xmlns="">
          <p:sp>
            <p:nvSpPr>
              <p:cNvPr id="67" name="テキスト ボックス 66">
                <a:extLst>
                  <a:ext uri="{FF2B5EF4-FFF2-40B4-BE49-F238E27FC236}">
                    <a16:creationId xmlns:a16="http://schemas.microsoft.com/office/drawing/2014/main" id="{F36C4E8E-6213-C83C-E4A8-62919192B1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6685280"/>
                <a:ext cx="12195810" cy="6988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テキスト ボックス 68">
                <a:extLst>
                  <a:ext uri="{FF2B5EF4-FFF2-40B4-BE49-F238E27FC236}">
                    <a16:creationId xmlns:a16="http://schemas.microsoft.com/office/drawing/2014/main" id="{A3C40BCF-AE4C-9B60-387A-A45B239D9C97}"/>
                  </a:ext>
                </a:extLst>
              </p:cNvPr>
              <p:cNvSpPr txBox="1"/>
              <p:nvPr/>
            </p:nvSpPr>
            <p:spPr>
              <a:xfrm>
                <a:off x="11633200" y="6570980"/>
                <a:ext cx="13104495" cy="6988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ja-JP" sz="3600" b="1" i="1" dirty="0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3600" b="1" i="1" dirty="0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altLang="ja-JP" sz="3600" b="1" i="1" dirty="0" err="1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  <m:t>𝒄𝒂𝒔𝒆</m:t>
                          </m:r>
                        </m:sub>
                      </m:sSub>
                      <m:r>
                        <a:rPr lang="en-US" altLang="ja-JP" sz="3600" b="1" i="1" dirty="0" smtClean="0">
                          <a:solidFill>
                            <a:srgbClr val="F2B66B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ja-JP" sz="3600" b="1" i="1" dirty="0">
                          <a:solidFill>
                            <a:srgbClr val="F2B66B"/>
                          </a:solidFill>
                          <a:latin typeface="Cambria Math" panose="02040503050406030204" pitchFamily="18" charset="0"/>
                        </a:rPr>
                        <m:t>≈ </m:t>
                      </m:r>
                      <m:sSub>
                        <m:sSubPr>
                          <m:ctrlPr>
                            <a:rPr lang="en-US" altLang="ja-JP" sz="3600" b="1" i="1" dirty="0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3600" b="1" i="1" dirty="0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altLang="ja-JP" sz="3600" b="1" i="1" dirty="0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altLang="ja-JP" sz="3600" b="1" i="1" dirty="0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ja-JP" sz="3600" b="1" i="1" dirty="0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  <m:t>𝒔𝒖𝒏𝒇𝒂𝒄𝒆</m:t>
                          </m:r>
                        </m:sub>
                      </m:sSub>
                      <m:r>
                        <a:rPr lang="en-US" altLang="ja-JP" sz="3600" b="1" i="1" dirty="0" smtClean="0">
                          <a:solidFill>
                            <a:srgbClr val="F2B66B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ja-JP" sz="3600" b="1" i="1" dirty="0">
                          <a:solidFill>
                            <a:srgbClr val="F2B66B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altLang="ja-JP" sz="3600" b="1" i="1" dirty="0" err="1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3600" b="1" i="1" dirty="0" err="1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ja-JP" sz="3600" b="1" i="1" dirty="0" err="1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  <m:t>𝑷𝑹𝑶𝑷</m:t>
                          </m:r>
                        </m:sub>
                      </m:sSub>
                      <m:sSub>
                        <m:sSubPr>
                          <m:ctrlPr>
                            <a:rPr lang="en-US" altLang="ja-JP" sz="3600" b="1" i="1" dirty="0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3600" b="1" i="1" dirty="0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altLang="ja-JP" sz="3600" b="1" i="1" dirty="0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  <m:t>𝑷𝑹𝑶𝑷</m:t>
                          </m:r>
                        </m:sub>
                      </m:sSub>
                      <m:r>
                        <a:rPr lang="en-US" altLang="ja-JP" sz="3600" b="1" i="1" dirty="0" smtClean="0">
                          <a:solidFill>
                            <a:srgbClr val="F2B66B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ja-JP" sz="3600" b="1" i="1" dirty="0">
                          <a:solidFill>
                            <a:srgbClr val="F2B66B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altLang="ja-JP" sz="3600" b="1" i="1" dirty="0" err="1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3600" b="1" i="1" dirty="0" err="1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altLang="ja-JP" sz="3600" b="1" i="1" dirty="0" err="1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  <m:t>𝑷𝑪𝑫𝑼</m:t>
                          </m:r>
                        </m:sub>
                      </m:sSub>
                      <m:sSub>
                        <m:sSubPr>
                          <m:ctrlPr>
                            <a:rPr lang="en-US" altLang="ja-JP" sz="3600" b="1" i="1" dirty="0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3600" b="1" i="1" dirty="0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altLang="ja-JP" sz="3600" b="1" i="1" dirty="0" smtClean="0">
                              <a:solidFill>
                                <a:srgbClr val="F2B66B"/>
                              </a:solidFill>
                              <a:latin typeface="Cambria Math" panose="02040503050406030204" pitchFamily="18" charset="0"/>
                            </a:rPr>
                            <m:t>𝑷𝑪𝑫𝑼</m:t>
                          </m:r>
                        </m:sub>
                      </m:sSub>
                    </m:oMath>
                  </m:oMathPara>
                </a14:m>
                <a:endParaRPr lang="en-US" altLang="ja-JP" sz="3600" b="1" i="1" dirty="0">
                  <a:solidFill>
                    <a:srgbClr val="F2B66B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9" name="テキスト ボックス 68">
                <a:extLst>
                  <a:ext uri="{FF2B5EF4-FFF2-40B4-BE49-F238E27FC236}">
                    <a16:creationId xmlns:a16="http://schemas.microsoft.com/office/drawing/2014/main" id="{A3C40BCF-AE4C-9B60-387A-A45B239D9C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33200" y="6570980"/>
                <a:ext cx="13104495" cy="6988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91EF2A0F-5545-F390-13C5-181EFF721AD9}"/>
              </a:ext>
            </a:extLst>
          </p:cNvPr>
          <p:cNvSpPr txBox="1"/>
          <p:nvPr/>
        </p:nvSpPr>
        <p:spPr>
          <a:xfrm>
            <a:off x="5969393" y="10890265"/>
            <a:ext cx="1244362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i="1" dirty="0"/>
              <a:t>Dom</a:t>
            </a:r>
            <a:r>
              <a:rPr kumimoji="1" lang="en-US" altLang="ja-JP" sz="3200" dirty="0"/>
              <a:t>inant LOS axis depends on the sun-facing panel:</a:t>
            </a:r>
          </a:p>
          <a:p>
            <a:pPr algn="ctr"/>
            <a:r>
              <a:rPr kumimoji="1" lang="en-US" altLang="ja-JP" sz="3200" dirty="0"/>
              <a:t>MX/PX → x-axis, MY/PY → y-axis</a:t>
            </a:r>
          </a:p>
          <a:p>
            <a:pPr algn="ctr"/>
            <a:endParaRPr kumimoji="1" lang="en-US" altLang="ja-JP" sz="3200" dirty="0"/>
          </a:p>
          <a:p>
            <a:pPr algn="ctr"/>
            <a:r>
              <a:rPr kumimoji="1" lang="en-US" altLang="ja-JP" sz="3200" dirty="0"/>
              <a:t>Non-dominant axis: Case-dependent offset only</a:t>
            </a:r>
          </a:p>
        </p:txBody>
      </p:sp>
    </p:spTree>
    <p:extLst>
      <p:ext uri="{BB962C8B-B14F-4D97-AF65-F5344CB8AC3E}">
        <p14:creationId xmlns:p14="http://schemas.microsoft.com/office/powerpoint/2010/main" val="3462377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8561"/>
            <a:ext cx="15910559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Reduced-order model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498600" y="1803400"/>
            <a:ext cx="21336000" cy="711200"/>
          </a:xfrm>
          <a:prstGeom prst="rect">
            <a:avLst/>
          </a:prstGeom>
          <a:noFill/>
        </p:spPr>
        <p:txBody>
          <a:bodyPr wrap="square" lIns="0" tIns="25400" rIns="0" bIns="25400" anchor="ctr">
            <a:noAutofit/>
          </a:bodyPr>
          <a:lstStyle/>
          <a:p>
            <a:pPr>
              <a:lnSpc>
                <a:spcPct val="110000"/>
              </a:lnSpc>
            </a:pPr>
            <a:r>
              <a:rPr lang="en-US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</a:rPr>
              <a:t>The hierarchical model predicts unseen thermal LOS with a median </a:t>
            </a:r>
            <a:r>
              <a:rPr lang="en-US" altLang="ja-JP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</a:rPr>
              <a:t>RMSE</a:t>
            </a:r>
            <a:r>
              <a:rPr lang="en-US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</a:rPr>
              <a:t> of 4.9 µrad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828000" y="12700000"/>
            <a:ext cx="2946400" cy="4678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280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13/17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6FF6BB2-0549-E90A-ECA4-F9252B9B5B95}"/>
              </a:ext>
            </a:extLst>
          </p:cNvPr>
          <p:cNvSpPr txBox="1"/>
          <p:nvPr/>
        </p:nvSpPr>
        <p:spPr>
          <a:xfrm>
            <a:off x="1168400" y="3251200"/>
            <a:ext cx="21336000" cy="1320800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Leave-one-case-out validation: each test case is excluded from all coefficient estimation.</a:t>
            </a:r>
          </a:p>
          <a:p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The next two orbits are then predicted using the fixed model.</a:t>
            </a: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9330E7DE-5204-498E-9EBE-17B5C338C06F}"/>
              </a:ext>
            </a:extLst>
          </p:cNvPr>
          <p:cNvSpPr/>
          <p:nvPr/>
        </p:nvSpPr>
        <p:spPr>
          <a:xfrm>
            <a:off x="15849600" y="4157328"/>
            <a:ext cx="7747000" cy="219267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C75B16F-D397-DA24-9DB1-85F4EEC3BA59}"/>
              </a:ext>
            </a:extLst>
          </p:cNvPr>
          <p:cNvSpPr txBox="1"/>
          <p:nvPr/>
        </p:nvSpPr>
        <p:spPr>
          <a:xfrm>
            <a:off x="16052800" y="4419600"/>
            <a:ext cx="7340600" cy="1371600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pPr algn="ctr"/>
            <a:r>
              <a:rPr kumimoji="1" lang="en-US" altLang="ja-JP" sz="7200" b="1">
                <a:solidFill>
                  <a:srgbClr val="666F79"/>
                </a:solidFill>
                <a:latin typeface="Arial" panose="020B0604020202020204" pitchFamily="34" charset="0"/>
              </a:rPr>
              <a:t>615 µrad</a:t>
            </a:r>
            <a:endParaRPr kumimoji="1" lang="en-US" altLang="ja-JP" sz="7200" b="1" dirty="0">
              <a:solidFill>
                <a:srgbClr val="666F79"/>
              </a:solidFill>
              <a:latin typeface="Arial" panose="020B0604020202020204" pitchFamily="34" charset="0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C10C07CD-A6F9-3FCE-8582-012C9F26DF28}"/>
              </a:ext>
            </a:extLst>
          </p:cNvPr>
          <p:cNvSpPr txBox="1"/>
          <p:nvPr/>
        </p:nvSpPr>
        <p:spPr>
          <a:xfrm>
            <a:off x="16103600" y="5657850"/>
            <a:ext cx="7239000" cy="914400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pPr algn="ctr"/>
            <a:r>
              <a:rPr kumimoji="1" lang="en-US" altLang="ja-JP" sz="2800" dirty="0">
                <a:solidFill>
                  <a:srgbClr val="232B34"/>
                </a:solidFill>
                <a:latin typeface="Arial" panose="020B0604020202020204" pitchFamily="34" charset="0"/>
              </a:rPr>
              <a:t>Median raw dominant-axis RMS</a:t>
            </a:r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6F13F99B-2D36-4EA9-ED47-1DB495EE727A}"/>
              </a:ext>
            </a:extLst>
          </p:cNvPr>
          <p:cNvSpPr/>
          <p:nvPr/>
        </p:nvSpPr>
        <p:spPr>
          <a:xfrm>
            <a:off x="15849600" y="7340600"/>
            <a:ext cx="7747000" cy="3175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B2C59734-9378-31D2-8E2E-8D4180E9A6EA}"/>
              </a:ext>
            </a:extLst>
          </p:cNvPr>
          <p:cNvSpPr txBox="1"/>
          <p:nvPr/>
        </p:nvSpPr>
        <p:spPr>
          <a:xfrm>
            <a:off x="16052800" y="7797800"/>
            <a:ext cx="7340600" cy="1371600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pPr algn="ctr"/>
            <a:r>
              <a:rPr kumimoji="1" lang="en-US" altLang="ja-JP" sz="7200" b="1">
                <a:solidFill>
                  <a:srgbClr val="1B74AA"/>
                </a:solidFill>
                <a:latin typeface="Arial" panose="020B0604020202020204" pitchFamily="34" charset="0"/>
              </a:rPr>
              <a:t>4.9 µrad</a:t>
            </a:r>
            <a:endParaRPr kumimoji="1" lang="en-US" altLang="ja-JP" sz="7200" b="1" dirty="0">
              <a:solidFill>
                <a:srgbClr val="1B74AA"/>
              </a:solidFill>
              <a:latin typeface="Arial" panose="020B0604020202020204" pitchFamily="34" charset="0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195AFA0-83B8-62D5-B548-EA478A83DCD0}"/>
              </a:ext>
            </a:extLst>
          </p:cNvPr>
          <p:cNvSpPr txBox="1"/>
          <p:nvPr/>
        </p:nvSpPr>
        <p:spPr>
          <a:xfrm>
            <a:off x="16103600" y="9245600"/>
            <a:ext cx="7239000" cy="914400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pPr algn="ctr"/>
            <a:r>
              <a:rPr kumimoji="1" lang="en-US" altLang="ja-JP" sz="2800" dirty="0">
                <a:solidFill>
                  <a:srgbClr val="232B34"/>
                </a:solidFill>
                <a:latin typeface="Arial" panose="020B0604020202020204" pitchFamily="34" charset="0"/>
              </a:rPr>
              <a:t>Median </a:t>
            </a:r>
            <a:r>
              <a:rPr kumimoji="1" lang="en-US" altLang="ja-JP" sz="2800" dirty="0">
                <a:solidFill>
                  <a:srgbClr val="FF0000"/>
                </a:solidFill>
                <a:latin typeface="Arial" panose="020B0604020202020204" pitchFamily="34" charset="0"/>
              </a:rPr>
              <a:t>prediction</a:t>
            </a:r>
            <a:r>
              <a:rPr kumimoji="1" lang="en-US" altLang="ja-JP" sz="2800" dirty="0">
                <a:solidFill>
                  <a:srgbClr val="232B34"/>
                </a:solidFill>
                <a:latin typeface="Arial" panose="020B0604020202020204" pitchFamily="34" charset="0"/>
              </a:rPr>
              <a:t> RMSE on unseen cases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C33686D3-FEB9-CFB4-A43A-CEAB9698A499}"/>
              </a:ext>
            </a:extLst>
          </p:cNvPr>
          <p:cNvSpPr txBox="1"/>
          <p:nvPr/>
        </p:nvSpPr>
        <p:spPr>
          <a:xfrm>
            <a:off x="812800" y="11099800"/>
            <a:ext cx="22860000" cy="812800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pPr algn="ctr"/>
            <a:r>
              <a:rPr kumimoji="1" lang="en-US" altLang="ja-JP" sz="3200" b="1" dirty="0">
                <a:solidFill>
                  <a:srgbClr val="082B52"/>
                </a:solidFill>
                <a:latin typeface="Arial" panose="020B0604020202020204" pitchFamily="34" charset="0"/>
              </a:rPr>
              <a:t>The prediction residual is roughly one to two orders of magnitude smaller than the raw thermal </a:t>
            </a:r>
            <a:r>
              <a:rPr kumimoji="1" lang="en-US" altLang="ja-JP" sz="3200" b="1">
                <a:solidFill>
                  <a:srgbClr val="082B52"/>
                </a:solidFill>
                <a:latin typeface="Arial" panose="020B0604020202020204" pitchFamily="34" charset="0"/>
              </a:rPr>
              <a:t>LOS.</a:t>
            </a:r>
            <a:endParaRPr kumimoji="1" lang="en-US" altLang="ja-JP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2DCBE9C-C98D-1628-793A-90143D925CDA}"/>
              </a:ext>
            </a:extLst>
          </p:cNvPr>
          <p:cNvSpPr txBox="1"/>
          <p:nvPr/>
        </p:nvSpPr>
        <p:spPr>
          <a:xfrm>
            <a:off x="812800" y="12217400"/>
            <a:ext cx="22860000" cy="508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kumimoji="1" lang="en-US" altLang="ja-JP" sz="2800" dirty="0">
                <a:solidFill>
                  <a:srgbClr val="666F79"/>
                </a:solidFill>
                <a:latin typeface="Arial" panose="020B0604020202020204" pitchFamily="34" charset="0"/>
              </a:rPr>
              <a:t>Evaluated within the same spacecraft structure and LOS </a:t>
            </a:r>
            <a:r>
              <a:rPr kumimoji="1" lang="en-US" altLang="ja-JP" sz="2800">
                <a:solidFill>
                  <a:srgbClr val="666F79"/>
                </a:solidFill>
                <a:latin typeface="Arial" panose="020B0604020202020204" pitchFamily="34" charset="0"/>
              </a:rPr>
              <a:t>definition.</a:t>
            </a:r>
            <a:endParaRPr kumimoji="1" lang="en-US" altLang="ja-JP" sz="2800" dirty="0">
              <a:solidFill>
                <a:srgbClr val="666F79"/>
              </a:solidFill>
              <a:latin typeface="Arial" panose="020B0604020202020204" pitchFamily="34" charset="0"/>
            </a:endParaRPr>
          </a:p>
        </p:txBody>
      </p:sp>
      <p:pic>
        <p:nvPicPr>
          <p:cNvPr id="39" name="図 38">
            <a:extLst>
              <a:ext uri="{FF2B5EF4-FFF2-40B4-BE49-F238E27FC236}">
                <a16:creationId xmlns:a16="http://schemas.microsoft.com/office/drawing/2014/main" id="{4E03188F-D841-375E-AAC3-7FF09731EEC8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165600"/>
            <a:ext cx="14732000" cy="648970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5E505C25-17E9-800A-12C3-13D6CDDB30D1}"/>
              </a:ext>
            </a:extLst>
          </p:cNvPr>
          <p:cNvSpPr/>
          <p:nvPr/>
        </p:nvSpPr>
        <p:spPr>
          <a:xfrm>
            <a:off x="19202400" y="6572250"/>
            <a:ext cx="1085850" cy="67386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44C12-E688-3234-11EE-84279FCAE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15655D-FB01-D7FE-B392-D40F7A726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04</a:t>
            </a:r>
            <a:endParaRPr sz="4800" b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1072FE8-9762-C1D9-B16C-FDDCF6AD4D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ja-JP" sz="48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Coarse-acquisition evaluation</a:t>
            </a:r>
            <a:endParaRPr sz="4800" b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0939AEC-4843-4E06-1AA6-DC8D58223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896331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363176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Acquisition conditions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498600" y="1797420"/>
            <a:ext cx="21844000" cy="660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Aft>
                <a:spcPts val="0"/>
              </a:spcAft>
            </a:pPr>
            <a:r>
              <a:rPr lang="en-US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</a:rPr>
              <a:t>Feedforward thermal correction reduces the scan-center error before acquisition</a:t>
            </a: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828000" y="12699999"/>
            <a:ext cx="2946400" cy="48628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280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14/17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675C5842-DCD9-A659-788A-AE50A5363437}"/>
              </a:ext>
            </a:extLst>
          </p:cNvPr>
          <p:cNvSpPr txBox="1"/>
          <p:nvPr/>
        </p:nvSpPr>
        <p:spPr>
          <a:xfrm>
            <a:off x="-1385343" y="4517816"/>
            <a:ext cx="22352000" cy="5588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Scan-center error    ·Nonthermal pointing errors    True thermal LOS    ·    Predicted thermal LOS</a:t>
            </a: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35122DDD-2BE4-3692-3849-176071055CCF}"/>
              </a:ext>
            </a:extLst>
          </p:cNvPr>
          <p:cNvSpPr/>
          <p:nvPr/>
        </p:nvSpPr>
        <p:spPr>
          <a:xfrm>
            <a:off x="812800" y="6263335"/>
            <a:ext cx="6604000" cy="198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4D2E6F81-C4CA-5898-5C2D-354B079DB350}"/>
              </a:ext>
            </a:extLst>
          </p:cNvPr>
          <p:cNvSpPr txBox="1"/>
          <p:nvPr/>
        </p:nvSpPr>
        <p:spPr>
          <a:xfrm>
            <a:off x="1016000" y="6618935"/>
            <a:ext cx="6197600" cy="12700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Thermal LOS residual</a:t>
            </a:r>
            <a:b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</a:br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+ </a:t>
            </a:r>
            <a:r>
              <a:rPr kumimoji="1" lang="en-US" altLang="ja-JP" sz="3200">
                <a:solidFill>
                  <a:srgbClr val="232B34"/>
                </a:solidFill>
                <a:latin typeface="Arial" panose="020B0604020202020204" pitchFamily="34" charset="0"/>
              </a:rPr>
              <a:t>nonthermal errors</a:t>
            </a:r>
            <a:endParaRPr kumimoji="1" lang="en-US" altLang="ja-JP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CCAD04CB-CF06-6E94-FBC9-9821EB0702A4}"/>
              </a:ext>
            </a:extLst>
          </p:cNvPr>
          <p:cNvSpPr/>
          <p:nvPr/>
        </p:nvSpPr>
        <p:spPr>
          <a:xfrm>
            <a:off x="8890000" y="6263335"/>
            <a:ext cx="6604000" cy="198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3524872-8790-24D3-AE6A-9BCBF0C9C4DF}"/>
              </a:ext>
            </a:extLst>
          </p:cNvPr>
          <p:cNvSpPr txBox="1"/>
          <p:nvPr/>
        </p:nvSpPr>
        <p:spPr>
          <a:xfrm>
            <a:off x="9093200" y="6618935"/>
            <a:ext cx="6197600" cy="12700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Rectangular </a:t>
            </a:r>
            <a:r>
              <a:rPr kumimoji="1" lang="en-US" altLang="ja-JP" sz="3200">
                <a:solidFill>
                  <a:srgbClr val="232B34"/>
                </a:solidFill>
                <a:latin typeface="Arial" panose="020B0604020202020204" pitchFamily="34" charset="0"/>
              </a:rPr>
              <a:t>spiral scan</a:t>
            </a:r>
            <a:endParaRPr kumimoji="1" lang="en-US" altLang="ja-JP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6F3BEA4E-BFF5-A67A-EADF-77B9F32E4586}"/>
              </a:ext>
            </a:extLst>
          </p:cNvPr>
          <p:cNvSpPr/>
          <p:nvPr/>
        </p:nvSpPr>
        <p:spPr>
          <a:xfrm>
            <a:off x="16967200" y="6263335"/>
            <a:ext cx="6604000" cy="198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9EF46721-AD03-8DC6-5477-691640E1525A}"/>
              </a:ext>
            </a:extLst>
          </p:cNvPr>
          <p:cNvSpPr txBox="1"/>
          <p:nvPr/>
        </p:nvSpPr>
        <p:spPr>
          <a:xfrm>
            <a:off x="17170400" y="6618935"/>
            <a:ext cx="6197600" cy="12700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Acquisition time </a:t>
            </a:r>
            <a:r>
              <a:rPr kumimoji="1" lang="en-US" altLang="ja-JP" sz="3200">
                <a:solidFill>
                  <a:srgbClr val="232B34"/>
                </a:solidFill>
                <a:latin typeface="Arial" panose="020B0604020202020204" pitchFamily="34" charset="0"/>
              </a:rPr>
              <a:t>and success</a:t>
            </a:r>
            <a:endParaRPr kumimoji="1" lang="en-US" altLang="ja-JP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35" name="矢印: 右 34">
            <a:extLst>
              <a:ext uri="{FF2B5EF4-FFF2-40B4-BE49-F238E27FC236}">
                <a16:creationId xmlns:a16="http://schemas.microsoft.com/office/drawing/2014/main" id="{BDC4C066-5B88-10F0-F1AB-7F703D86FD5C}"/>
              </a:ext>
            </a:extLst>
          </p:cNvPr>
          <p:cNvSpPr/>
          <p:nvPr/>
        </p:nvSpPr>
        <p:spPr>
          <a:xfrm>
            <a:off x="7569200" y="7025335"/>
            <a:ext cx="558800" cy="406400"/>
          </a:xfrm>
          <a:prstGeom prst="rightArrow">
            <a:avLst/>
          </a:prstGeom>
          <a:solidFill>
            <a:srgbClr val="1B74A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矢印: 右 36">
            <a:extLst>
              <a:ext uri="{FF2B5EF4-FFF2-40B4-BE49-F238E27FC236}">
                <a16:creationId xmlns:a16="http://schemas.microsoft.com/office/drawing/2014/main" id="{C19EAE89-073C-E998-ABB6-A1B070B6ED56}"/>
              </a:ext>
            </a:extLst>
          </p:cNvPr>
          <p:cNvSpPr/>
          <p:nvPr/>
        </p:nvSpPr>
        <p:spPr>
          <a:xfrm>
            <a:off x="15646400" y="7025335"/>
            <a:ext cx="558800" cy="406400"/>
          </a:xfrm>
          <a:prstGeom prst="rightArrow">
            <a:avLst/>
          </a:prstGeom>
          <a:solidFill>
            <a:srgbClr val="1B74A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四角形: 角を丸くする 37">
            <a:extLst>
              <a:ext uri="{FF2B5EF4-FFF2-40B4-BE49-F238E27FC236}">
                <a16:creationId xmlns:a16="http://schemas.microsoft.com/office/drawing/2014/main" id="{57437F3B-F74E-615E-C016-FF5EE407BCBC}"/>
              </a:ext>
            </a:extLst>
          </p:cNvPr>
          <p:cNvSpPr/>
          <p:nvPr/>
        </p:nvSpPr>
        <p:spPr>
          <a:xfrm>
            <a:off x="812800" y="8752535"/>
            <a:ext cx="5461000" cy="248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6D972B8E-C965-A3AB-3194-BCDE3D727D4A}"/>
              </a:ext>
            </a:extLst>
          </p:cNvPr>
          <p:cNvSpPr txBox="1"/>
          <p:nvPr/>
        </p:nvSpPr>
        <p:spPr>
          <a:xfrm>
            <a:off x="965200" y="9209735"/>
            <a:ext cx="5156200" cy="9906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4400" b="1" dirty="0">
                <a:solidFill>
                  <a:srgbClr val="082B52"/>
                </a:solidFill>
                <a:latin typeface="Arial" panose="020B0604020202020204" pitchFamily="34" charset="0"/>
              </a:rPr>
              <a:t>±</a:t>
            </a:r>
            <a:r>
              <a:rPr kumimoji="1" lang="en-US" altLang="ja-JP" sz="4400" b="1">
                <a:solidFill>
                  <a:srgbClr val="082B52"/>
                </a:solidFill>
                <a:latin typeface="Arial" panose="020B0604020202020204" pitchFamily="34" charset="0"/>
              </a:rPr>
              <a:t>1600 µrad</a:t>
            </a:r>
            <a:endParaRPr kumimoji="1" lang="en-US" altLang="ja-JP" sz="44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F4A1E820-9BFE-0A1B-ACF9-4669432194FC}"/>
              </a:ext>
            </a:extLst>
          </p:cNvPr>
          <p:cNvSpPr txBox="1"/>
          <p:nvPr/>
        </p:nvSpPr>
        <p:spPr>
          <a:xfrm>
            <a:off x="965200" y="10327335"/>
            <a:ext cx="5156200" cy="5588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3200">
                <a:solidFill>
                  <a:srgbClr val="232B34"/>
                </a:solidFill>
                <a:latin typeface="Arial" panose="020B0604020202020204" pitchFamily="34" charset="0"/>
              </a:rPr>
              <a:t>Scan range</a:t>
            </a:r>
            <a:endParaRPr kumimoji="1" lang="en-US" altLang="ja-JP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742B04A1-B101-B7C6-60D3-7028B463ED4B}"/>
              </a:ext>
            </a:extLst>
          </p:cNvPr>
          <p:cNvSpPr/>
          <p:nvPr/>
        </p:nvSpPr>
        <p:spPr>
          <a:xfrm>
            <a:off x="6578600" y="8752535"/>
            <a:ext cx="5461000" cy="248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CF0A08AF-F305-A5DA-A519-E4E011803761}"/>
              </a:ext>
            </a:extLst>
          </p:cNvPr>
          <p:cNvSpPr txBox="1"/>
          <p:nvPr/>
        </p:nvSpPr>
        <p:spPr>
          <a:xfrm>
            <a:off x="6731000" y="9209735"/>
            <a:ext cx="5156200" cy="9906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4400" b="1">
                <a:solidFill>
                  <a:srgbClr val="082B52"/>
                </a:solidFill>
                <a:latin typeface="Arial" panose="020B0604020202020204" pitchFamily="34" charset="0"/>
              </a:rPr>
              <a:t>120 µrad</a:t>
            </a:r>
            <a:endParaRPr kumimoji="1" lang="en-US" altLang="ja-JP" sz="44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3A9E193F-F1A3-4ACA-A173-8EDBFD42D4C3}"/>
              </a:ext>
            </a:extLst>
          </p:cNvPr>
          <p:cNvSpPr txBox="1"/>
          <p:nvPr/>
        </p:nvSpPr>
        <p:spPr>
          <a:xfrm>
            <a:off x="6731000" y="10327335"/>
            <a:ext cx="5156200" cy="5588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3200">
                <a:solidFill>
                  <a:srgbClr val="232B34"/>
                </a:solidFill>
                <a:latin typeface="Arial" panose="020B0604020202020204" pitchFamily="34" charset="0"/>
              </a:rPr>
              <a:t>Scan step</a:t>
            </a:r>
            <a:endParaRPr kumimoji="1" lang="en-US" altLang="ja-JP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6CF9140D-BB44-F400-B929-C899238A7488}"/>
              </a:ext>
            </a:extLst>
          </p:cNvPr>
          <p:cNvSpPr/>
          <p:nvPr/>
        </p:nvSpPr>
        <p:spPr>
          <a:xfrm>
            <a:off x="12344400" y="8752535"/>
            <a:ext cx="5461000" cy="248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266C109C-54FE-08C4-9055-7269BEFCA963}"/>
              </a:ext>
            </a:extLst>
          </p:cNvPr>
          <p:cNvSpPr txBox="1"/>
          <p:nvPr/>
        </p:nvSpPr>
        <p:spPr>
          <a:xfrm>
            <a:off x="12496800" y="9209735"/>
            <a:ext cx="5156200" cy="9906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4400" b="1">
                <a:solidFill>
                  <a:srgbClr val="082B52"/>
                </a:solidFill>
                <a:latin typeface="Arial" panose="020B0604020202020204" pitchFamily="34" charset="0"/>
              </a:rPr>
              <a:t>150 µrad</a:t>
            </a:r>
            <a:endParaRPr kumimoji="1" lang="en-US" altLang="ja-JP" sz="44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F1FC6BF4-C7BB-5D7F-9DC0-F2C041F7A3F5}"/>
              </a:ext>
            </a:extLst>
          </p:cNvPr>
          <p:cNvSpPr txBox="1"/>
          <p:nvPr/>
        </p:nvSpPr>
        <p:spPr>
          <a:xfrm>
            <a:off x="12496800" y="10327335"/>
            <a:ext cx="5156200" cy="5588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3200">
                <a:solidFill>
                  <a:srgbClr val="232B34"/>
                </a:solidFill>
                <a:latin typeface="Arial" panose="020B0604020202020204" pitchFamily="34" charset="0"/>
              </a:rPr>
              <a:t>Detection radius</a:t>
            </a:r>
            <a:endParaRPr kumimoji="1" lang="en-US" altLang="ja-JP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9C263403-3D4E-4E10-F598-4F4AE957ADF8}"/>
              </a:ext>
            </a:extLst>
          </p:cNvPr>
          <p:cNvSpPr/>
          <p:nvPr/>
        </p:nvSpPr>
        <p:spPr>
          <a:xfrm>
            <a:off x="18110200" y="8752535"/>
            <a:ext cx="5461000" cy="248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82D9D416-23AB-E81F-8CF6-A02DFA9777EB}"/>
              </a:ext>
            </a:extLst>
          </p:cNvPr>
          <p:cNvSpPr txBox="1"/>
          <p:nvPr/>
        </p:nvSpPr>
        <p:spPr>
          <a:xfrm>
            <a:off x="18262600" y="9209735"/>
            <a:ext cx="5156200" cy="9906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4400" b="1" dirty="0">
                <a:solidFill>
                  <a:srgbClr val="082B52"/>
                </a:solidFill>
                <a:latin typeface="Arial" panose="020B0604020202020204" pitchFamily="34" charset="0"/>
              </a:rPr>
              <a:t>0.1 s </a:t>
            </a:r>
            <a:r>
              <a:rPr kumimoji="1" lang="en-US" altLang="ja-JP" sz="4400" b="1">
                <a:solidFill>
                  <a:srgbClr val="082B52"/>
                </a:solidFill>
                <a:latin typeface="Arial" panose="020B0604020202020204" pitchFamily="34" charset="0"/>
              </a:rPr>
              <a:t>/ point</a:t>
            </a:r>
            <a:endParaRPr kumimoji="1" lang="en-US" altLang="ja-JP" sz="44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EA84CD9-F25A-21B4-6E69-49404831622D}"/>
              </a:ext>
            </a:extLst>
          </p:cNvPr>
          <p:cNvSpPr txBox="1"/>
          <p:nvPr/>
        </p:nvSpPr>
        <p:spPr>
          <a:xfrm>
            <a:off x="18262600" y="10327335"/>
            <a:ext cx="5156200" cy="5588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3200">
                <a:solidFill>
                  <a:srgbClr val="232B34"/>
                </a:solidFill>
                <a:latin typeface="Arial" panose="020B0604020202020204" pitchFamily="34" charset="0"/>
              </a:rPr>
              <a:t>Dwell time</a:t>
            </a:r>
            <a:endParaRPr kumimoji="1" lang="en-US" altLang="ja-JP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07ED7B7A-A629-4A76-3A90-23EB385C1916}"/>
              </a:ext>
            </a:extLst>
          </p:cNvPr>
          <p:cNvSpPr txBox="1"/>
          <p:nvPr/>
        </p:nvSpPr>
        <p:spPr>
          <a:xfrm>
            <a:off x="1016000" y="11597335"/>
            <a:ext cx="22352000" cy="5080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2800" dirty="0">
                <a:solidFill>
                  <a:srgbClr val="666F79"/>
                </a:solidFill>
                <a:latin typeface="Arial" panose="020B0604020202020204" pitchFamily="34" charset="0"/>
              </a:rPr>
              <a:t>No coverage holes: half the grid diagonal ≈ 85 µrad &lt; 150 µrad detection </a:t>
            </a:r>
            <a:r>
              <a:rPr kumimoji="1" lang="en-US" altLang="ja-JP" sz="2800">
                <a:solidFill>
                  <a:srgbClr val="666F79"/>
                </a:solidFill>
                <a:latin typeface="Arial" panose="020B0604020202020204" pitchFamily="34" charset="0"/>
              </a:rPr>
              <a:t>radius.</a:t>
            </a:r>
            <a:endParaRPr kumimoji="1" lang="en-US" altLang="ja-JP" sz="2800" dirty="0">
              <a:solidFill>
                <a:srgbClr val="666F79"/>
              </a:solidFill>
              <a:latin typeface="Arial" panose="020B0604020202020204" pitchFamily="34" charset="0"/>
            </a:endParaRP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8626C565-7B50-9605-A002-E5DDE04CEAB2}"/>
              </a:ext>
            </a:extLst>
          </p:cNvPr>
          <p:cNvSpPr txBox="1"/>
          <p:nvPr/>
        </p:nvSpPr>
        <p:spPr>
          <a:xfrm>
            <a:off x="1016000" y="12156135"/>
            <a:ext cx="22352000" cy="5080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2800" dirty="0">
                <a:solidFill>
                  <a:srgbClr val="666F79"/>
                </a:solidFill>
                <a:latin typeface="Arial" panose="020B0604020202020204" pitchFamily="34" charset="0"/>
              </a:rPr>
              <a:t>Inter-point slew, settling time, and stochastic detection are </a:t>
            </a:r>
            <a:r>
              <a:rPr kumimoji="1" lang="en-US" altLang="ja-JP" sz="2800">
                <a:solidFill>
                  <a:srgbClr val="666F79"/>
                </a:solidFill>
                <a:latin typeface="Arial" panose="020B0604020202020204" pitchFamily="34" charset="0"/>
              </a:rPr>
              <a:t>neglected.</a:t>
            </a:r>
            <a:endParaRPr kumimoji="1" lang="en-US" altLang="ja-JP" sz="2800" dirty="0">
              <a:solidFill>
                <a:srgbClr val="666F79"/>
              </a:solidFill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5">
                <a:extLst>
                  <a:ext uri="{FF2B5EF4-FFF2-40B4-BE49-F238E27FC236}">
                    <a16:creationId xmlns:a16="http://schemas.microsoft.com/office/drawing/2014/main" id="{B2F8E3D3-81C0-1E44-CB8E-ECA1663B07EE}"/>
                  </a:ext>
                </a:extLst>
              </p:cNvPr>
              <p:cNvSpPr txBox="1"/>
              <p:nvPr/>
            </p:nvSpPr>
            <p:spPr>
              <a:xfrm>
                <a:off x="2295912" y="3605597"/>
                <a:ext cx="15483854" cy="893899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48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8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b>
                          <m: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𝒔𝒄𝒂𝒏</m:t>
                          </m:r>
                          <m:d>
                            <m:dPr>
                              <m:ctrlPr>
                                <a:rPr lang="en-US" sz="4800" b="1" i="1" dirty="0">
                                  <a:solidFill>
                                    <a:srgbClr val="082B5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800" b="1" i="1" dirty="0">
                                  <a:solidFill>
                                    <a:srgbClr val="082B52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sub>
                      </m:sSub>
                      <m:r>
                        <a:rPr lang="en-US" sz="4800" b="1" i="1" dirty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b>
                          <m: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𝒏𝒐𝒏𝒕𝒉𝒆𝒓𝒎𝒂𝒍</m:t>
                          </m:r>
                          <m:d>
                            <m:dPr>
                              <m:ctrlPr>
                                <a:rPr lang="en-US" sz="4800" b="1" i="1" dirty="0">
                                  <a:solidFill>
                                    <a:srgbClr val="082B5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800" b="1" i="1" dirty="0">
                                  <a:solidFill>
                                    <a:srgbClr val="082B52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sub>
                      </m:sSub>
                      <m:r>
                        <a:rPr lang="en-US" sz="4800" b="1" i="1" dirty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48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8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𝒕𝒉𝒆𝒓𝒎𝒂𝒍</m:t>
                          </m:r>
                          <m:r>
                            <a:rPr lang="en-US" sz="48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48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𝒕𝒓𝒖𝒆</m:t>
                          </m:r>
                        </m:sub>
                      </m:sSub>
                      <m:d>
                        <m:dPr>
                          <m:ctrlPr>
                            <a:rPr lang="en-US" sz="4800" b="1" i="1" dirty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800" b="1" i="1" dirty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en-US" sz="4800" b="1" i="1" dirty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4800" b="1" i="1" dirty="0" err="1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4800" b="1" i="1" dirty="0" err="1">
                                  <a:solidFill>
                                    <a:srgbClr val="082B5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800" b="1" i="1" dirty="0" err="1">
                                  <a:solidFill>
                                    <a:srgbClr val="082B52"/>
                                  </a:solidFill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  <m:sub>
                          <m: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𝒕𝒉𝒆𝒓𝒎𝒂𝒍</m:t>
                          </m:r>
                        </m:sub>
                      </m:sSub>
                      <m:d>
                        <m:dPr>
                          <m:ctrlPr>
                            <a:rPr lang="en-US" sz="4800" b="1" i="1" dirty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800" b="1" i="1" dirty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</m:oMath>
                  </m:oMathPara>
                </a14:m>
                <a:endParaRPr lang="en-US" sz="4800" b="1" i="1" dirty="0">
                  <a:solidFill>
                    <a:srgbClr val="082B5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7" name="TextBox 5">
                <a:extLst>
                  <a:ext uri="{FF2B5EF4-FFF2-40B4-BE49-F238E27FC236}">
                    <a16:creationId xmlns:a16="http://schemas.microsoft.com/office/drawing/2014/main" id="{B2F8E3D3-81C0-1E44-CB8E-ECA1663B07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5912" y="3605597"/>
                <a:ext cx="15483854" cy="8938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9" name="図 78">
            <a:extLst>
              <a:ext uri="{FF2B5EF4-FFF2-40B4-BE49-F238E27FC236}">
                <a16:creationId xmlns:a16="http://schemas.microsoft.com/office/drawing/2014/main" id="{5AC411ED-DF28-70EC-BD22-B980F7ABCB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49987" y="1815094"/>
            <a:ext cx="4621213" cy="416776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363176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Acquisition conditions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498600" y="1792938"/>
            <a:ext cx="21844000" cy="660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Aft>
                <a:spcPts val="0"/>
              </a:spcAft>
            </a:pPr>
            <a:r>
              <a:rPr lang="en-US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</a:rPr>
              <a:t>We include orbit, alignment, attitude, and drift errors in the acquisition evaluation</a:t>
            </a: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828000" y="12699999"/>
            <a:ext cx="2946400" cy="48628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280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15/17</a:t>
            </a:r>
          </a:p>
        </p:txBody>
      </p:sp>
      <p:graphicFrame>
        <p:nvGraphicFramePr>
          <p:cNvPr id="13" name="表 12">
            <a:extLst>
              <a:ext uri="{FF2B5EF4-FFF2-40B4-BE49-F238E27FC236}">
                <a16:creationId xmlns:a16="http://schemas.microsoft.com/office/drawing/2014/main" id="{C0ACC8E1-D0C7-EA93-5B8E-7410584846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0323695"/>
              </p:ext>
            </p:extLst>
          </p:nvPr>
        </p:nvGraphicFramePr>
        <p:xfrm>
          <a:off x="3175000" y="5484903"/>
          <a:ext cx="18034000" cy="584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3430506109"/>
                    </a:ext>
                  </a:extLst>
                </a:gridCol>
                <a:gridCol w="9906000">
                  <a:extLst>
                    <a:ext uri="{9D8B030D-6E8A-4147-A177-3AD203B41FA5}">
                      <a16:colId xmlns:a16="http://schemas.microsoft.com/office/drawing/2014/main" val="2795157317"/>
                    </a:ext>
                  </a:extLst>
                </a:gridCol>
              </a:tblGrid>
              <a:tr h="11684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1">
                          <a:solidFill>
                            <a:srgbClr val="082B52"/>
                          </a:solidFill>
                          <a:latin typeface="Arial" panose="020B0604020202020204" pitchFamily="34" charset="0"/>
                        </a:rPr>
                        <a:t>Error source</a:t>
                      </a:r>
                      <a:endParaRPr kumimoji="1" lang="en-US" altLang="ja-JP" sz="3200" b="1" dirty="0">
                        <a:solidFill>
                          <a:srgbClr val="082B5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127000" marR="127000" marT="50800" marB="50800" anchor="ctr">
                    <a:lnL w="15875" cmpd="sng">
                      <a:solidFill>
                        <a:srgbClr val="5BB5D8"/>
                      </a:solidFill>
                    </a:lnL>
                    <a:lnR w="15875" cmpd="sng">
                      <a:solidFill>
                        <a:srgbClr val="5BB5D8"/>
                      </a:solidFill>
                    </a:lnR>
                    <a:lnT w="15875" cmpd="sng">
                      <a:solidFill>
                        <a:srgbClr val="5BB5D8"/>
                      </a:solidFill>
                    </a:lnT>
                    <a:lnB w="15875" cmpd="sng">
                      <a:solidFill>
                        <a:srgbClr val="5BB5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1">
                          <a:solidFill>
                            <a:srgbClr val="082B52"/>
                          </a:solidFill>
                          <a:latin typeface="Arial" panose="020B0604020202020204" pitchFamily="34" charset="0"/>
                        </a:rPr>
                        <a:t>Magnitude</a:t>
                      </a:r>
                      <a:endParaRPr kumimoji="1" lang="en-US" altLang="ja-JP" sz="3200" b="1" dirty="0">
                        <a:solidFill>
                          <a:srgbClr val="082B5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127000" marR="127000" marT="50800" marB="50800" anchor="ctr">
                    <a:lnL w="15875" cmpd="sng">
                      <a:solidFill>
                        <a:srgbClr val="5BB5D8"/>
                      </a:solidFill>
                    </a:lnL>
                    <a:lnR w="15875" cmpd="sng">
                      <a:solidFill>
                        <a:srgbClr val="5BB5D8"/>
                      </a:solidFill>
                    </a:lnR>
                    <a:lnT w="15875" cmpd="sng">
                      <a:solidFill>
                        <a:srgbClr val="5BB5D8"/>
                      </a:solidFill>
                    </a:lnT>
                    <a:lnB w="15875" cmpd="sng">
                      <a:solidFill>
                        <a:srgbClr val="5BB5D8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0445863"/>
                  </a:ext>
                </a:extLst>
              </a:tr>
              <a:tr h="11684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</a:rPr>
                        <a:t>Orbit prediction</a:t>
                      </a:r>
                      <a:endParaRPr kumimoji="1" lang="en-US" altLang="ja-JP" sz="32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127000" marR="127000" marT="50800" marB="50800" anchor="ctr">
                    <a:lnL w="15875" cmpd="sng">
                      <a:solidFill>
                        <a:srgbClr val="5BB5D8"/>
                      </a:solidFill>
                    </a:lnL>
                    <a:lnR w="15875" cmpd="sng">
                      <a:solidFill>
                        <a:srgbClr val="5BB5D8"/>
                      </a:solidFill>
                    </a:lnR>
                    <a:lnT w="15875" cmpd="sng">
                      <a:solidFill>
                        <a:srgbClr val="5BB5D8"/>
                      </a:solidFill>
                    </a:lnT>
                    <a:lnB w="15875" cmpd="sng">
                      <a:solidFill>
                        <a:srgbClr val="5BB5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1" dirty="0">
                          <a:solidFill>
                            <a:srgbClr val="1B74AA"/>
                          </a:solidFill>
                          <a:latin typeface="Arial" panose="020B0604020202020204" pitchFamily="34" charset="0"/>
                        </a:rPr>
                        <a:t>Mean </a:t>
                      </a:r>
                      <a:r>
                        <a:rPr kumimoji="1" lang="en-US" altLang="ja-JP" sz="3200" b="1">
                          <a:solidFill>
                            <a:srgbClr val="1B74AA"/>
                          </a:solidFill>
                          <a:latin typeface="Arial" panose="020B0604020202020204" pitchFamily="34" charset="0"/>
                        </a:rPr>
                        <a:t>280–700 µrad</a:t>
                      </a:r>
                      <a:endParaRPr kumimoji="1" lang="en-US" altLang="ja-JP" sz="3200" b="1" dirty="0">
                        <a:solidFill>
                          <a:srgbClr val="1B74AA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127000" marR="127000" marT="50800" marB="50800" anchor="ctr">
                    <a:lnL w="15875" cmpd="sng">
                      <a:solidFill>
                        <a:srgbClr val="5BB5D8"/>
                      </a:solidFill>
                    </a:lnL>
                    <a:lnR w="15875" cmpd="sng">
                      <a:solidFill>
                        <a:srgbClr val="5BB5D8"/>
                      </a:solidFill>
                    </a:lnR>
                    <a:lnT w="15875" cmpd="sng">
                      <a:solidFill>
                        <a:srgbClr val="5BB5D8"/>
                      </a:solidFill>
                    </a:lnT>
                    <a:lnB w="15875" cmpd="sng">
                      <a:solidFill>
                        <a:srgbClr val="5BB5D8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9867178"/>
                  </a:ext>
                </a:extLst>
              </a:tr>
              <a:tr h="11684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</a:rPr>
                        <a:t>Alignment</a:t>
                      </a:r>
                      <a:endParaRPr kumimoji="1" lang="en-US" altLang="ja-JP" sz="32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127000" marR="127000" marT="50800" marB="50800" anchor="ctr">
                    <a:lnL w="15875" cmpd="sng">
                      <a:solidFill>
                        <a:srgbClr val="5BB5D8"/>
                      </a:solidFill>
                    </a:lnL>
                    <a:lnR w="15875" cmpd="sng">
                      <a:solidFill>
                        <a:srgbClr val="5BB5D8"/>
                      </a:solidFill>
                    </a:lnR>
                    <a:lnT w="15875" cmpd="sng">
                      <a:solidFill>
                        <a:srgbClr val="5BB5D8"/>
                      </a:solidFill>
                    </a:lnT>
                    <a:lnB w="15875" cmpd="sng">
                      <a:solidFill>
                        <a:srgbClr val="5BB5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</a:rPr>
                        <a:t>50 µrad/axis </a:t>
                      </a:r>
                      <a:r>
                        <a:rPr kumimoji="1" lang="en-US" altLang="ja-JP" sz="32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</a:rPr>
                        <a:t>(1σ)</a:t>
                      </a:r>
                      <a:endParaRPr kumimoji="1" lang="en-US" altLang="ja-JP" sz="32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127000" marR="127000" marT="50800" marB="50800" anchor="ctr">
                    <a:lnL w="15875" cmpd="sng">
                      <a:solidFill>
                        <a:srgbClr val="5BB5D8"/>
                      </a:solidFill>
                    </a:lnL>
                    <a:lnR w="15875" cmpd="sng">
                      <a:solidFill>
                        <a:srgbClr val="5BB5D8"/>
                      </a:solidFill>
                    </a:lnR>
                    <a:lnT w="15875" cmpd="sng">
                      <a:solidFill>
                        <a:srgbClr val="5BB5D8"/>
                      </a:solidFill>
                    </a:lnT>
                    <a:lnB w="15875" cmpd="sng">
                      <a:solidFill>
                        <a:srgbClr val="5BB5D8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1625157"/>
                  </a:ext>
                </a:extLst>
              </a:tr>
              <a:tr h="11684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</a:rPr>
                        <a:t>Attitude</a:t>
                      </a:r>
                      <a:endParaRPr kumimoji="1" lang="en-US" altLang="ja-JP" sz="32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127000" marR="127000" marT="50800" marB="50800" anchor="ctr">
                    <a:lnL w="15875" cmpd="sng">
                      <a:solidFill>
                        <a:srgbClr val="5BB5D8"/>
                      </a:solidFill>
                    </a:lnL>
                    <a:lnR w="15875" cmpd="sng">
                      <a:solidFill>
                        <a:srgbClr val="5BB5D8"/>
                      </a:solidFill>
                    </a:lnR>
                    <a:lnT w="15875" cmpd="sng">
                      <a:solidFill>
                        <a:srgbClr val="5BB5D8"/>
                      </a:solidFill>
                    </a:lnT>
                    <a:lnB w="15875" cmpd="sng">
                      <a:solidFill>
                        <a:srgbClr val="5BB5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</a:rPr>
                        <a:t>50 µrad/axis </a:t>
                      </a:r>
                      <a:r>
                        <a:rPr kumimoji="1" lang="en-US" altLang="ja-JP" sz="32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</a:rPr>
                        <a:t>(1σ)</a:t>
                      </a:r>
                      <a:endParaRPr kumimoji="1" lang="en-US" altLang="ja-JP" sz="32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127000" marR="127000" marT="50800" marB="50800" anchor="ctr">
                    <a:lnL w="15875" cmpd="sng">
                      <a:solidFill>
                        <a:srgbClr val="5BB5D8"/>
                      </a:solidFill>
                    </a:lnL>
                    <a:lnR w="15875" cmpd="sng">
                      <a:solidFill>
                        <a:srgbClr val="5BB5D8"/>
                      </a:solidFill>
                    </a:lnR>
                    <a:lnT w="15875" cmpd="sng">
                      <a:solidFill>
                        <a:srgbClr val="5BB5D8"/>
                      </a:solidFill>
                    </a:lnT>
                    <a:lnB w="15875" cmpd="sng">
                      <a:solidFill>
                        <a:srgbClr val="5BB5D8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470620"/>
                  </a:ext>
                </a:extLst>
              </a:tr>
              <a:tr h="11684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>
                          <a:solidFill>
                            <a:srgbClr val="232B34"/>
                          </a:solidFill>
                          <a:latin typeface="Arial" panose="020B0604020202020204" pitchFamily="34" charset="0"/>
                        </a:rPr>
                        <a:t>Drift</a:t>
                      </a:r>
                      <a:endParaRPr kumimoji="1" lang="en-US" altLang="ja-JP" sz="3200" b="0" dirty="0">
                        <a:solidFill>
                          <a:srgbClr val="232B34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127000" marR="127000" marT="50800" marB="50800" anchor="ctr">
                    <a:lnL w="15875" cmpd="sng">
                      <a:solidFill>
                        <a:srgbClr val="5BB5D8"/>
                      </a:solidFill>
                    </a:lnL>
                    <a:lnR w="15875" cmpd="sng">
                      <a:solidFill>
                        <a:srgbClr val="5BB5D8"/>
                      </a:solidFill>
                    </a:lnR>
                    <a:lnT w="15875" cmpd="sng">
                      <a:solidFill>
                        <a:srgbClr val="5BB5D8"/>
                      </a:solidFill>
                    </a:lnT>
                    <a:lnB w="15875" cmpd="sng">
                      <a:solidFill>
                        <a:srgbClr val="5BB5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3200" b="0" dirty="0">
                          <a:solidFill>
                            <a:srgbClr val="232B34"/>
                          </a:solidFill>
                          <a:latin typeface="Arial" panose="020B0604020202020204" pitchFamily="34" charset="0"/>
                        </a:rPr>
                        <a:t>30 µrad amplitude</a:t>
                      </a:r>
                    </a:p>
                  </a:txBody>
                  <a:tcPr marL="127000" marR="127000" marT="50800" marB="50800" anchor="ctr">
                    <a:lnL w="15875" cmpd="sng">
                      <a:solidFill>
                        <a:srgbClr val="5BB5D8"/>
                      </a:solidFill>
                    </a:lnL>
                    <a:lnR w="15875" cmpd="sng">
                      <a:solidFill>
                        <a:srgbClr val="5BB5D8"/>
                      </a:solidFill>
                    </a:lnR>
                    <a:lnT w="15875" cmpd="sng">
                      <a:solidFill>
                        <a:srgbClr val="5BB5D8"/>
                      </a:solidFill>
                    </a:lnT>
                    <a:lnB w="15875" cmpd="sng">
                      <a:solidFill>
                        <a:srgbClr val="5BB5D8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72742"/>
                  </a:ext>
                </a:extLst>
              </a:tr>
            </a:tbl>
          </a:graphicData>
        </a:graphic>
      </p:graphicFrame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1BE47D1-00FB-3C2F-2517-72B2281E8DB4}"/>
              </a:ext>
            </a:extLst>
          </p:cNvPr>
          <p:cNvSpPr txBox="1"/>
          <p:nvPr/>
        </p:nvSpPr>
        <p:spPr>
          <a:xfrm>
            <a:off x="1016000" y="11700433"/>
            <a:ext cx="223520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kumimoji="1" lang="en-US" altLang="ja-JP" sz="3200" b="1" dirty="0">
                <a:solidFill>
                  <a:srgbClr val="082B52"/>
                </a:solidFill>
                <a:latin typeface="Arial" panose="020B0604020202020204" pitchFamily="34" charset="0"/>
              </a:rPr>
              <a:t>Representative GNSS-denied LEO scenario — not a spacecraft-specific error budget.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89D80FF-0406-03F1-6A4D-18482338098A}"/>
              </a:ext>
            </a:extLst>
          </p:cNvPr>
          <p:cNvSpPr txBox="1"/>
          <p:nvPr/>
        </p:nvSpPr>
        <p:spPr>
          <a:xfrm>
            <a:off x="1016000" y="12437033"/>
            <a:ext cx="223520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kumimoji="1" lang="en-US" altLang="ja-JP" sz="3200" dirty="0">
                <a:solidFill>
                  <a:srgbClr val="666F79"/>
                </a:solidFill>
                <a:latin typeface="Arial" panose="020B0604020202020204" pitchFamily="34" charset="0"/>
              </a:rPr>
              <a:t>Orbit error: TLE/SGP4 prediction vs. Sentinel-1 precise </a:t>
            </a:r>
            <a:r>
              <a:rPr kumimoji="1" lang="en-US" altLang="ja-JP" sz="3200">
                <a:solidFill>
                  <a:srgbClr val="666F79"/>
                </a:solidFill>
                <a:latin typeface="Arial" panose="020B0604020202020204" pitchFamily="34" charset="0"/>
              </a:rPr>
              <a:t>ephemeris.</a:t>
            </a:r>
            <a:endParaRPr kumimoji="1" lang="en-US" altLang="ja-JP" sz="3200" dirty="0">
              <a:solidFill>
                <a:srgbClr val="666F79"/>
              </a:solidFill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5">
                <a:extLst>
                  <a:ext uri="{FF2B5EF4-FFF2-40B4-BE49-F238E27FC236}">
                    <a16:creationId xmlns:a16="http://schemas.microsoft.com/office/drawing/2014/main" id="{877B3AB5-E05C-3982-5B86-493D685B53C1}"/>
                  </a:ext>
                </a:extLst>
              </p:cNvPr>
              <p:cNvSpPr txBox="1"/>
              <p:nvPr/>
            </p:nvSpPr>
            <p:spPr>
              <a:xfrm>
                <a:off x="4815793" y="3383280"/>
                <a:ext cx="14691458" cy="864019"/>
              </a:xfrm>
              <a:prstGeom prst="rect">
                <a:avLst/>
              </a:prstGeom>
              <a:noFill/>
            </p:spPr>
            <p:txBody>
              <a:bodyPr wrap="none" lIns="36576" tIns="27432" rIns="36576" bIns="27432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48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800" b="1" i="1" dirty="0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b>
                          <m: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𝒏𝒐𝒏𝒕𝒉𝒆𝒓𝒎𝒂𝒍</m:t>
                          </m:r>
                        </m:sub>
                      </m:sSub>
                      <m:r>
                        <a:rPr lang="en-US" sz="4800" b="1" i="1" dirty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b>
                          <m: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𝒐𝒓𝒃𝒊𝒕</m:t>
                          </m:r>
                        </m:sub>
                      </m:sSub>
                      <m:r>
                        <a:rPr lang="en-US" sz="4800" b="1" i="1" dirty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b>
                          <m: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𝒂𝒍𝒊𝒈𝒏𝒎𝒆𝒏𝒕</m:t>
                          </m:r>
                        </m:sub>
                      </m:sSub>
                      <m:r>
                        <a:rPr lang="en-US" sz="4800" b="1" i="1" dirty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b>
                          <m: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𝒂𝒕𝒕𝒊𝒕𝒖𝒅𝒆</m:t>
                          </m:r>
                        </m:sub>
                      </m:sSub>
                      <m:r>
                        <a:rPr lang="en-US" sz="4800" b="1" i="1" dirty="0">
                          <a:solidFill>
                            <a:srgbClr val="082B52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b>
                          <m:r>
                            <a:rPr lang="en-US" sz="4800" b="1" i="1" dirty="0" err="1" smtClean="0">
                              <a:solidFill>
                                <a:srgbClr val="082B52"/>
                              </a:solidFill>
                              <a:latin typeface="Cambria Math" panose="02040503050406030204" pitchFamily="18" charset="0"/>
                            </a:rPr>
                            <m:t>𝒅𝒓𝒊𝒇𝒕</m:t>
                          </m:r>
                        </m:sub>
                      </m:sSub>
                    </m:oMath>
                  </m:oMathPara>
                </a14:m>
                <a:endParaRPr lang="en-US" sz="4800" b="1" i="1" dirty="0" err="1">
                  <a:solidFill>
                    <a:srgbClr val="082B52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TextBox 5">
                <a:extLst>
                  <a:ext uri="{FF2B5EF4-FFF2-40B4-BE49-F238E27FC236}">
                    <a16:creationId xmlns:a16="http://schemas.microsoft.com/office/drawing/2014/main" id="{877B3AB5-E05C-3982-5B86-493D685B53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793" y="3383280"/>
                <a:ext cx="14691458" cy="8640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"/>
            <a:ext cx="15910559" cy="363176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Acquisition results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498600" y="1775010"/>
            <a:ext cx="2184400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Aft>
                <a:spcPts val="0"/>
              </a:spcAft>
            </a:pPr>
            <a:r>
              <a:rPr lang="en-US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</a:rPr>
              <a:t>Feedforward thermal correction reduces acquisition time across operating conditions</a:t>
            </a:r>
            <a:endParaRPr lang="en-US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828000" y="12699999"/>
            <a:ext cx="2946400" cy="486287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280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16/17</a:t>
            </a: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73FDF8B9-5D7E-679E-1223-C845D75806E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" y="3585876"/>
            <a:ext cx="14732000" cy="71882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36216BD0-556A-025E-B88A-42FAE746AEB7}"/>
              </a:ext>
            </a:extLst>
          </p:cNvPr>
          <p:cNvSpPr/>
          <p:nvPr/>
        </p:nvSpPr>
        <p:spPr>
          <a:xfrm>
            <a:off x="15595600" y="3397620"/>
            <a:ext cx="8001000" cy="2667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0627827-40C4-8797-C4D0-6F1CC410939F}"/>
              </a:ext>
            </a:extLst>
          </p:cNvPr>
          <p:cNvSpPr txBox="1"/>
          <p:nvPr/>
        </p:nvSpPr>
        <p:spPr>
          <a:xfrm>
            <a:off x="15798800" y="3651620"/>
            <a:ext cx="7594600" cy="12192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4000" b="1" dirty="0">
                <a:solidFill>
                  <a:srgbClr val="082B52"/>
                </a:solidFill>
                <a:latin typeface="Arial" panose="020B0604020202020204" pitchFamily="34" charset="0"/>
              </a:rPr>
              <a:t>19 → 5.5 s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8F485EF-D3DB-938E-DA83-4F672D12640E}"/>
              </a:ext>
            </a:extLst>
          </p:cNvPr>
          <p:cNvSpPr txBox="1"/>
          <p:nvPr/>
        </p:nvSpPr>
        <p:spPr>
          <a:xfrm>
            <a:off x="15798800" y="4972420"/>
            <a:ext cx="7594600" cy="8128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2800" dirty="0">
                <a:solidFill>
                  <a:srgbClr val="232B34"/>
                </a:solidFill>
                <a:latin typeface="Arial" panose="020B0604020202020204" pitchFamily="34" charset="0"/>
              </a:rPr>
              <a:t>Mean acquisition time</a:t>
            </a: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5CA85EA-B92C-4BA4-CA1E-D0121504F78E}"/>
              </a:ext>
            </a:extLst>
          </p:cNvPr>
          <p:cNvSpPr/>
          <p:nvPr/>
        </p:nvSpPr>
        <p:spPr>
          <a:xfrm>
            <a:off x="15595600" y="6318620"/>
            <a:ext cx="8001000" cy="241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9B50A9A-429A-D85F-0096-36B7EB036D06}"/>
              </a:ext>
            </a:extLst>
          </p:cNvPr>
          <p:cNvSpPr txBox="1"/>
          <p:nvPr/>
        </p:nvSpPr>
        <p:spPr>
          <a:xfrm>
            <a:off x="15798800" y="6521820"/>
            <a:ext cx="7594600" cy="11176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5600" b="1">
                <a:solidFill>
                  <a:srgbClr val="239571"/>
                </a:solidFill>
                <a:latin typeface="Arial" panose="020B0604020202020204" pitchFamily="34" charset="0"/>
              </a:rPr>
              <a:t>−72%</a:t>
            </a:r>
            <a:endParaRPr kumimoji="1" lang="en-US" altLang="ja-JP" sz="5600" b="1" dirty="0">
              <a:solidFill>
                <a:srgbClr val="239571"/>
              </a:solidFill>
              <a:latin typeface="Arial" panose="020B0604020202020204" pitchFamily="34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B704AC9-3483-6325-DAC2-8EA3D605B894}"/>
              </a:ext>
            </a:extLst>
          </p:cNvPr>
          <p:cNvSpPr txBox="1"/>
          <p:nvPr/>
        </p:nvSpPr>
        <p:spPr>
          <a:xfrm>
            <a:off x="15798800" y="7715620"/>
            <a:ext cx="7594600" cy="8128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2800" dirty="0">
                <a:solidFill>
                  <a:srgbClr val="232B34"/>
                </a:solidFill>
                <a:latin typeface="Arial" panose="020B0604020202020204" pitchFamily="34" charset="0"/>
              </a:rPr>
              <a:t>Reduction in mean </a:t>
            </a:r>
            <a:r>
              <a:rPr kumimoji="1" lang="en-US" altLang="ja-JP" sz="2800">
                <a:solidFill>
                  <a:srgbClr val="232B34"/>
                </a:solidFill>
                <a:latin typeface="Arial" panose="020B0604020202020204" pitchFamily="34" charset="0"/>
              </a:rPr>
              <a:t>acquisition time</a:t>
            </a:r>
            <a:endParaRPr kumimoji="1" lang="en-US" altLang="ja-JP" sz="28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638E8FD-A054-4563-5388-047D87559C0C}"/>
              </a:ext>
            </a:extLst>
          </p:cNvPr>
          <p:cNvSpPr txBox="1"/>
          <p:nvPr/>
        </p:nvSpPr>
        <p:spPr>
          <a:xfrm>
            <a:off x="15595600" y="8985620"/>
            <a:ext cx="8001000" cy="6604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3200" b="1" dirty="0">
                <a:solidFill>
                  <a:srgbClr val="082B52"/>
                </a:solidFill>
                <a:latin typeface="Arial" panose="020B0604020202020204" pitchFamily="34" charset="0"/>
              </a:rPr>
              <a:t>Success rate: 98% → </a:t>
            </a:r>
            <a:r>
              <a:rPr kumimoji="1" lang="en-US" altLang="ja-JP" sz="3200" b="1">
                <a:solidFill>
                  <a:srgbClr val="082B52"/>
                </a:solidFill>
                <a:latin typeface="Arial" panose="020B0604020202020204" pitchFamily="34" charset="0"/>
              </a:rPr>
              <a:t>100%</a:t>
            </a:r>
            <a:endParaRPr kumimoji="1" lang="en-US" altLang="ja-JP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D99163D0-3C5F-053E-FDA7-3DA21DC1712A}"/>
              </a:ext>
            </a:extLst>
          </p:cNvPr>
          <p:cNvSpPr txBox="1"/>
          <p:nvPr/>
        </p:nvSpPr>
        <p:spPr>
          <a:xfrm>
            <a:off x="812800" y="11297020"/>
            <a:ext cx="22860000" cy="8128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3200" b="1" dirty="0">
                <a:solidFill>
                  <a:srgbClr val="082B52"/>
                </a:solidFill>
                <a:latin typeface="Arial" panose="020B0604020202020204" pitchFamily="34" charset="0"/>
              </a:rPr>
              <a:t>Thermal correction reduces acquisition time even when nonthermal pointing errors </a:t>
            </a:r>
            <a:r>
              <a:rPr kumimoji="1" lang="en-US" altLang="ja-JP" sz="3200" b="1">
                <a:solidFill>
                  <a:srgbClr val="082B52"/>
                </a:solidFill>
                <a:latin typeface="Arial" panose="020B0604020202020204" pitchFamily="34" charset="0"/>
              </a:rPr>
              <a:t>remain.</a:t>
            </a:r>
            <a:endParaRPr kumimoji="1" lang="en-US" altLang="ja-JP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BBB33C62-F459-3D69-D9F0-D8B029CF23BC}"/>
              </a:ext>
            </a:extLst>
          </p:cNvPr>
          <p:cNvSpPr txBox="1"/>
          <p:nvPr/>
        </p:nvSpPr>
        <p:spPr>
          <a:xfrm>
            <a:off x="812800" y="12211420"/>
            <a:ext cx="22860000" cy="558800"/>
          </a:xfrm>
          <a:prstGeom prst="rect">
            <a:avLst/>
          </a:prstGeom>
          <a:noFill/>
        </p:spPr>
        <p:txBody>
          <a:bodyPr vert="horz" wrap="square" lIns="101600" tIns="0" rIns="101600" bIns="0" rtlCol="0" anchor="ctr">
            <a:noAutofit/>
          </a:bodyPr>
          <a:lstStyle/>
          <a:p>
            <a:pPr algn="ctr"/>
            <a:r>
              <a:rPr kumimoji="1" lang="en-US" altLang="ja-JP" sz="2800" dirty="0">
                <a:solidFill>
                  <a:srgbClr val="666F79"/>
                </a:solidFill>
                <a:latin typeface="Arial" panose="020B0604020202020204" pitchFamily="34" charset="0"/>
              </a:rPr>
              <a:t>After correction, the residual pointing error is dominated by nonthermal </a:t>
            </a:r>
            <a:r>
              <a:rPr kumimoji="1" lang="en-US" altLang="ja-JP" sz="2800">
                <a:solidFill>
                  <a:srgbClr val="666F79"/>
                </a:solidFill>
                <a:latin typeface="Arial" panose="020B0604020202020204" pitchFamily="34" charset="0"/>
              </a:rPr>
              <a:t>components.</a:t>
            </a:r>
            <a:endParaRPr kumimoji="1" lang="en-US" altLang="ja-JP" sz="2800" dirty="0">
              <a:solidFill>
                <a:srgbClr val="666F79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38D44-44E7-1D35-DF49-7E9A67BF4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B23DBD-4FCD-AFBE-4A56-E60FA5CE3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b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05</a:t>
            </a:r>
            <a:endParaRPr sz="4800" b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C81B3B-32B3-6E91-EB2F-1BBE2C1FC4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ja-JP" sz="48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endParaRPr sz="4800" b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6D45131-146B-385A-3BE7-7F628CA9D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108146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8561"/>
            <a:ext cx="15910559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000" b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Summary</a:t>
            </a:r>
            <a:endParaRPr lang="en-US" sz="2000" b="0" dirty="0">
              <a:solidFill>
                <a:srgbClr val="666F79"/>
              </a:solidFill>
              <a:latin typeface="Arial" panose="020B0604020202020204" pitchFamily="34" charset="0"/>
              <a:ea typeface="Yu Gothi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473200" y="1752600"/>
            <a:ext cx="218440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10000"/>
              </a:lnSpc>
              <a:spcAft>
                <a:spcPts val="0"/>
              </a:spcAft>
            </a:pPr>
            <a:r>
              <a:rPr lang="en-US" sz="3200" b="1" dirty="0">
                <a:solidFill>
                  <a:srgbClr val="082B52"/>
                </a:solidFill>
                <a:latin typeface="Arial" panose="020B0604020202020204" pitchFamily="34" charset="0"/>
                <a:ea typeface="Yu Gothic"/>
              </a:rPr>
              <a:t>Thermal LOS prediction improves coarse acquisition, with further validation needed for flight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828000" y="12700000"/>
            <a:ext cx="2946400" cy="4678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2800" dirty="0">
                <a:solidFill>
                  <a:srgbClr val="666F79"/>
                </a:solidFill>
                <a:latin typeface="Arial" panose="020B0604020202020204" pitchFamily="34" charset="0"/>
                <a:ea typeface="Yu Gothic"/>
              </a:rPr>
              <a:t>17/17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C3B6D75-74A1-685C-AD47-32DC11171D17}"/>
              </a:ext>
            </a:extLst>
          </p:cNvPr>
          <p:cNvSpPr txBox="1"/>
          <p:nvPr/>
        </p:nvSpPr>
        <p:spPr>
          <a:xfrm>
            <a:off x="1003300" y="3378200"/>
            <a:ext cx="21336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kumimoji="1" lang="en-US" altLang="ja-JP" sz="3200" b="1" dirty="0">
                <a:solidFill>
                  <a:srgbClr val="082B52"/>
                </a:solidFill>
                <a:latin typeface="Arial" panose="020B0604020202020204" pitchFamily="34" charset="0"/>
              </a:rPr>
              <a:t>Key Findings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3E85712-3144-CCA6-C415-5D6B60792708}"/>
              </a:ext>
            </a:extLst>
          </p:cNvPr>
          <p:cNvSpPr txBox="1"/>
          <p:nvPr/>
        </p:nvSpPr>
        <p:spPr>
          <a:xfrm>
            <a:off x="1003300" y="3987800"/>
            <a:ext cx="21336000" cy="1168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A physics-informed reduced-order model predicts thermal LOS from panel temperatures and operating states, enabling feedforward correction before optical feedback.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F45693D-14A1-11AC-7D27-C5C8156004F8}"/>
              </a:ext>
            </a:extLst>
          </p:cNvPr>
          <p:cNvSpPr txBox="1"/>
          <p:nvPr/>
        </p:nvSpPr>
        <p:spPr>
          <a:xfrm>
            <a:off x="1003300" y="5073650"/>
            <a:ext cx="213360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kumimoji="1" lang="en-US" altLang="ja-JP" sz="3200" b="1" dirty="0">
                <a:solidFill>
                  <a:srgbClr val="1B74AA"/>
                </a:solidFill>
                <a:latin typeface="Arial" panose="020B0604020202020204" pitchFamily="34" charset="0"/>
              </a:rPr>
              <a:t>4.9 µrad</a:t>
            </a:r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  median prediction RMSE    |    </a:t>
            </a:r>
            <a:r>
              <a:rPr kumimoji="1" lang="en-US" altLang="ja-JP" sz="3200" b="1" dirty="0">
                <a:solidFill>
                  <a:srgbClr val="1B74AA"/>
                </a:solidFill>
                <a:latin typeface="Arial" panose="020B0604020202020204" pitchFamily="34" charset="0"/>
              </a:rPr>
              <a:t>72%</a:t>
            </a:r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  reduction in mean acquisition time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E0D3DFAD-BCA5-D445-01A7-84E11328703F}"/>
              </a:ext>
            </a:extLst>
          </p:cNvPr>
          <p:cNvSpPr/>
          <p:nvPr/>
        </p:nvSpPr>
        <p:spPr>
          <a:xfrm>
            <a:off x="812800" y="6096000"/>
            <a:ext cx="10820400" cy="523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3A327490-44AF-5D61-8C64-A0B857B59E9E}"/>
              </a:ext>
            </a:extLst>
          </p:cNvPr>
          <p:cNvSpPr/>
          <p:nvPr/>
        </p:nvSpPr>
        <p:spPr>
          <a:xfrm>
            <a:off x="12496800" y="6096000"/>
            <a:ext cx="10820400" cy="523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5BB5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FDC837-C1D1-6419-9DC3-AFDFF7955A38}"/>
              </a:ext>
            </a:extLst>
          </p:cNvPr>
          <p:cNvSpPr txBox="1"/>
          <p:nvPr/>
        </p:nvSpPr>
        <p:spPr>
          <a:xfrm>
            <a:off x="1168400" y="6324600"/>
            <a:ext cx="10109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kumimoji="1" lang="en-US" altLang="ja-JP" sz="3200" b="1" dirty="0">
                <a:solidFill>
                  <a:srgbClr val="1B74AA"/>
                </a:solidFill>
                <a:latin typeface="Arial" panose="020B0604020202020204" pitchFamily="34" charset="0"/>
              </a:rPr>
              <a:t>Future work 01:</a:t>
            </a:r>
            <a:r>
              <a:rPr kumimoji="1" lang="en-US" altLang="ja-JP" sz="3200" b="1" dirty="0">
                <a:solidFill>
                  <a:srgbClr val="082B52"/>
                </a:solidFill>
                <a:latin typeface="Arial" panose="020B0604020202020204" pitchFamily="34" charset="0"/>
              </a:rPr>
              <a:t>  Model generalization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61D23DF-6A80-0350-1F3D-93523DDD3056}"/>
              </a:ext>
            </a:extLst>
          </p:cNvPr>
          <p:cNvSpPr txBox="1"/>
          <p:nvPr/>
        </p:nvSpPr>
        <p:spPr>
          <a:xfrm>
            <a:off x="12852400" y="6324600"/>
            <a:ext cx="10109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kumimoji="1" lang="en-US" altLang="ja-JP" sz="3200" b="1" dirty="0">
                <a:solidFill>
                  <a:srgbClr val="1B74AA"/>
                </a:solidFill>
                <a:latin typeface="Arial" panose="020B0604020202020204" pitchFamily="34" charset="0"/>
              </a:rPr>
              <a:t>Future work 02:</a:t>
            </a:r>
            <a:r>
              <a:rPr kumimoji="1" lang="en-US" altLang="ja-JP" sz="3200" b="1" dirty="0">
                <a:solidFill>
                  <a:srgbClr val="082B52"/>
                </a:solidFill>
                <a:latin typeface="Arial" panose="020B0604020202020204" pitchFamily="34" charset="0"/>
              </a:rPr>
              <a:t>  Onboard adaptation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F7DC16A-3BF0-8866-AE18-11D109FC55F8}"/>
              </a:ext>
            </a:extLst>
          </p:cNvPr>
          <p:cNvSpPr txBox="1"/>
          <p:nvPr/>
        </p:nvSpPr>
        <p:spPr>
          <a:xfrm>
            <a:off x="1168400" y="7035800"/>
            <a:ext cx="101092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kumimoji="1" lang="en-US" altLang="ja-JP" sz="3200" b="1" dirty="0">
                <a:solidFill>
                  <a:srgbClr val="666F79"/>
                </a:solidFill>
                <a:latin typeface="Arial" panose="020B0604020202020204" pitchFamily="34" charset="0"/>
              </a:rPr>
              <a:t>Current limitation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FA9FF72-8DE6-D011-0DE3-505EBFCDB1C5}"/>
              </a:ext>
            </a:extLst>
          </p:cNvPr>
          <p:cNvSpPr txBox="1"/>
          <p:nvPr/>
        </p:nvSpPr>
        <p:spPr>
          <a:xfrm>
            <a:off x="1168400" y="7569200"/>
            <a:ext cx="10109200" cy="1219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Numerically validated on one simplified box bus with a fixed STT–LCT placement.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75F95F1-680D-A4F2-6C36-A6C99BE1D645}"/>
              </a:ext>
            </a:extLst>
          </p:cNvPr>
          <p:cNvSpPr txBox="1"/>
          <p:nvPr/>
        </p:nvSpPr>
        <p:spPr>
          <a:xfrm>
            <a:off x="1168400" y="8940800"/>
            <a:ext cx="101092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kumimoji="1" lang="en-US" altLang="ja-JP" sz="3200" b="1">
                <a:solidFill>
                  <a:srgbClr val="1B74AA"/>
                </a:solidFill>
                <a:latin typeface="Arial" panose="020B0604020202020204" pitchFamily="34" charset="0"/>
              </a:rPr>
              <a:t>Next step</a:t>
            </a:r>
            <a:endParaRPr kumimoji="1" lang="en-US" altLang="ja-JP" sz="3200" b="1" dirty="0">
              <a:solidFill>
                <a:srgbClr val="1B74AA"/>
              </a:solidFill>
              <a:latin typeface="Arial" panose="020B0604020202020204" pitchFamily="34" charset="0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43DE4781-EB39-2A1E-D98E-47D4A919F4C1}"/>
              </a:ext>
            </a:extLst>
          </p:cNvPr>
          <p:cNvSpPr txBox="1"/>
          <p:nvPr/>
        </p:nvSpPr>
        <p:spPr>
          <a:xfrm>
            <a:off x="1168400" y="9474200"/>
            <a:ext cx="10109200" cy="162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Test whether panel ΔT plus a case bias still holds for realistic structures and different equipment placements and validate it by ground testing.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2098170-21DB-D063-3F2F-D012628F4B6D}"/>
              </a:ext>
            </a:extLst>
          </p:cNvPr>
          <p:cNvSpPr txBox="1"/>
          <p:nvPr/>
        </p:nvSpPr>
        <p:spPr>
          <a:xfrm>
            <a:off x="12852400" y="7035800"/>
            <a:ext cx="101092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kumimoji="1" lang="en-US" altLang="ja-JP" sz="3200" b="1">
                <a:solidFill>
                  <a:srgbClr val="666F79"/>
                </a:solidFill>
                <a:latin typeface="Arial" panose="020B0604020202020204" pitchFamily="34" charset="0"/>
              </a:rPr>
              <a:t>Current limitation</a:t>
            </a:r>
            <a:endParaRPr kumimoji="1" lang="en-US" altLang="ja-JP" sz="3200" b="1" dirty="0">
              <a:solidFill>
                <a:srgbClr val="666F79"/>
              </a:solidFill>
              <a:latin typeface="Arial" panose="020B0604020202020204" pitchFamily="34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A42CDC0-A482-57F6-6E42-B15C578926AB}"/>
              </a:ext>
            </a:extLst>
          </p:cNvPr>
          <p:cNvSpPr txBox="1"/>
          <p:nvPr/>
        </p:nvSpPr>
        <p:spPr>
          <a:xfrm>
            <a:off x="12852400" y="7569200"/>
            <a:ext cx="10109200" cy="1219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Fixed coefficients rely on ground-based thermo-structural </a:t>
            </a:r>
            <a:r>
              <a:rPr kumimoji="1" lang="en-US" altLang="ja-JP" sz="3200">
                <a:solidFill>
                  <a:srgbClr val="232B34"/>
                </a:solidFill>
                <a:latin typeface="Arial" panose="020B0604020202020204" pitchFamily="34" charset="0"/>
              </a:rPr>
              <a:t>predictions.</a:t>
            </a:r>
            <a:endParaRPr kumimoji="1" lang="en-US" altLang="ja-JP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24A183CC-69F2-D8AE-E093-FD8A58CAF336}"/>
              </a:ext>
            </a:extLst>
          </p:cNvPr>
          <p:cNvSpPr txBox="1"/>
          <p:nvPr/>
        </p:nvSpPr>
        <p:spPr>
          <a:xfrm>
            <a:off x="12852400" y="8940800"/>
            <a:ext cx="101092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kumimoji="1" lang="en-US" altLang="ja-JP" sz="3200" b="1">
                <a:solidFill>
                  <a:srgbClr val="1B74AA"/>
                </a:solidFill>
                <a:latin typeface="Arial" panose="020B0604020202020204" pitchFamily="34" charset="0"/>
              </a:rPr>
              <a:t>Next step</a:t>
            </a:r>
            <a:endParaRPr kumimoji="1" lang="en-US" altLang="ja-JP" sz="3200" b="1" dirty="0">
              <a:solidFill>
                <a:srgbClr val="1B74AA"/>
              </a:solidFill>
              <a:latin typeface="Arial" panose="020B0604020202020204" pitchFamily="34" charset="0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18A50DE-1C43-56DA-986B-7DF728C55BFC}"/>
              </a:ext>
            </a:extLst>
          </p:cNvPr>
          <p:cNvSpPr txBox="1"/>
          <p:nvPr/>
        </p:nvSpPr>
        <p:spPr>
          <a:xfrm>
            <a:off x="12852400" y="9474200"/>
            <a:ext cx="10109200" cy="162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Update the model using post-acquisition observations while separating thermal and nonthermal pointing </a:t>
            </a:r>
            <a:r>
              <a:rPr kumimoji="1" lang="en-US" altLang="ja-JP" sz="3200">
                <a:solidFill>
                  <a:srgbClr val="232B34"/>
                </a:solidFill>
                <a:latin typeface="Arial" panose="020B0604020202020204" pitchFamily="34" charset="0"/>
              </a:rPr>
              <a:t>errors.</a:t>
            </a:r>
            <a:endParaRPr kumimoji="1" lang="en-US" altLang="ja-JP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9627B55-F6EA-CDD8-4D97-F50346145211}"/>
              </a:ext>
            </a:extLst>
          </p:cNvPr>
          <p:cNvSpPr txBox="1"/>
          <p:nvPr/>
        </p:nvSpPr>
        <p:spPr>
          <a:xfrm>
            <a:off x="1016000" y="11633200"/>
            <a:ext cx="22352000" cy="711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kumimoji="1" lang="en-US" altLang="ja-JP" sz="3200" b="1" dirty="0">
                <a:solidFill>
                  <a:srgbClr val="082B52"/>
                </a:solidFill>
                <a:latin typeface="Arial" panose="020B0604020202020204" pitchFamily="34" charset="0"/>
              </a:rPr>
              <a:t>Thermal distortion can be treated as a predictable bias—not merely an acquisition </a:t>
            </a:r>
            <a:r>
              <a:rPr kumimoji="1" lang="en-US" altLang="ja-JP" sz="3200" b="1">
                <a:solidFill>
                  <a:srgbClr val="082B52"/>
                </a:solidFill>
                <a:latin typeface="Arial" panose="020B0604020202020204" pitchFamily="34" charset="0"/>
              </a:rPr>
              <a:t>uncertainty.</a:t>
            </a:r>
            <a:endParaRPr kumimoji="1" lang="en-US" altLang="ja-JP" sz="3200" b="1" dirty="0">
              <a:solidFill>
                <a:srgbClr val="082B52"/>
              </a:solidFill>
              <a:latin typeface="Arial" panose="020B0604020202020204" pitchFamily="34" charset="0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F94413F-41C3-266A-C40F-9B027DE83D4F}"/>
              </a:ext>
            </a:extLst>
          </p:cNvPr>
          <p:cNvSpPr txBox="1"/>
          <p:nvPr/>
        </p:nvSpPr>
        <p:spPr>
          <a:xfrm>
            <a:off x="1016000" y="12649200"/>
            <a:ext cx="223520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kumimoji="1" lang="en-US" altLang="ja-JP" sz="3200" dirty="0">
                <a:solidFill>
                  <a:srgbClr val="232B34"/>
                </a:solidFill>
                <a:latin typeface="Arial" panose="020B0604020202020204" pitchFamily="34" charset="0"/>
              </a:rPr>
              <a:t>Thank you for your </a:t>
            </a:r>
            <a:r>
              <a:rPr kumimoji="1" lang="en-US" altLang="ja-JP" sz="3200">
                <a:solidFill>
                  <a:srgbClr val="232B34"/>
                </a:solidFill>
                <a:latin typeface="Arial" panose="020B0604020202020204" pitchFamily="34" charset="0"/>
              </a:rPr>
              <a:t>attention.</a:t>
            </a:r>
            <a:endParaRPr kumimoji="1" lang="en-US" altLang="ja-JP" sz="3200" dirty="0">
              <a:solidFill>
                <a:srgbClr val="232B34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ISSL true">
      <a:dk1>
        <a:srgbClr val="062654"/>
      </a:dk1>
      <a:lt1>
        <a:srgbClr val="FFFFFF"/>
      </a:lt1>
      <a:dk2>
        <a:srgbClr val="4B4B4B"/>
      </a:dk2>
      <a:lt2>
        <a:srgbClr val="8D8D8D"/>
      </a:lt2>
      <a:accent1>
        <a:srgbClr val="067BCA"/>
      </a:accent1>
      <a:accent2>
        <a:srgbClr val="C95656"/>
      </a:accent2>
      <a:accent3>
        <a:srgbClr val="EBA123"/>
      </a:accent3>
      <a:accent4>
        <a:srgbClr val="87AC70"/>
      </a:accent4>
      <a:accent5>
        <a:srgbClr val="B3618D"/>
      </a:accent5>
      <a:accent6>
        <a:srgbClr val="D16449"/>
      </a:accent6>
      <a:hlink>
        <a:srgbClr val="467886"/>
      </a:hlink>
      <a:folHlink>
        <a:srgbClr val="96607D"/>
      </a:folHlink>
    </a:clrScheme>
    <a:fontScheme name="Office テーマ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issl-template-ja-16-9" id="{4C5265F7-3B2E-5145-B81F-B8693CA354B3}" vid="{5C8F6914-05D8-EA47-8853-1E6EC346794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issl-template-ja-16-9</Template>
  <TotalTime>9423</TotalTime>
  <Words>3628</Words>
  <Application>Microsoft Office PowerPoint</Application>
  <PresentationFormat>ユーザー設定</PresentationFormat>
  <Paragraphs>469</Paragraphs>
  <Slides>23</Slides>
  <Notes>23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23</vt:i4>
      </vt:variant>
    </vt:vector>
  </HeadingPairs>
  <TitlesOfParts>
    <vt:vector size="29" baseType="lpstr">
      <vt:lpstr>游ゴシック</vt:lpstr>
      <vt:lpstr>游ゴシック</vt:lpstr>
      <vt:lpstr>Arial</vt:lpstr>
      <vt:lpstr>Calibri</vt:lpstr>
      <vt:lpstr>Cambria Math</vt:lpstr>
      <vt:lpstr>Office テーマ</vt:lpstr>
      <vt:lpstr> Hierarchical Prediction  and Feedforward Correction  of Time-Varying Thermal Line-of-Sight Bias  for Coarse Acquisition  in Satellite Optical Communications</vt:lpstr>
      <vt:lpstr>01</vt:lpstr>
      <vt:lpstr>Reduce scan time by predicting thermal LOS error in optical communications </vt:lpstr>
      <vt:lpstr>PowerPoint プレゼンテーション</vt:lpstr>
      <vt:lpstr>PowerPoint プレゼンテーション</vt:lpstr>
      <vt:lpstr>PowerPoint プレゼンテーション</vt:lpstr>
      <vt:lpstr>02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03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04</vt:lpstr>
      <vt:lpstr>PowerPoint プレゼンテーション</vt:lpstr>
      <vt:lpstr>PowerPoint プレゼンテーション</vt:lpstr>
      <vt:lpstr>PowerPoint プレゼンテーション</vt:lpstr>
      <vt:lpstr>05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衛星光通信の粗捕捉に向けた時変熱バイアスのフィードフォワード補正</dc:title>
  <dc:subject>2026-09-28 全体輪講</dc:subject>
  <dc:creator>高本 英熙</dc:creator>
  <dc:description>260927_labseminar_slide_outline.md と papers/icso/main.typ から作成。土台は 20260721_optcommrg_takamoto_v3_issl.pptx。</dc:description>
  <cp:lastModifiedBy>高本　英熙</cp:lastModifiedBy>
  <cp:revision>121</cp:revision>
  <cp:lastPrinted>2026-10-15T07:53:41Z</cp:lastPrinted>
  <dcterms:created xsi:type="dcterms:W3CDTF">2026-05-11T08:23:04Z</dcterms:created>
  <dcterms:modified xsi:type="dcterms:W3CDTF">2026-10-16T08:17:29Z</dcterms:modified>
</cp:coreProperties>
</file>