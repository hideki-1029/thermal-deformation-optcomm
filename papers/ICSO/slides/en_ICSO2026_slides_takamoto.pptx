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277" r:id="rId8"/>
    <p:sldId id="283" r:id="rId9"/>
    <p:sldId id="268" r:id="rId10"/>
    <p:sldId id="269" r:id="rId11"/>
    <p:sldId id="275" r:id="rId12"/>
    <p:sldId id="271" r:id="rId13"/>
    <p:sldId id="321" r:id="rId14"/>
    <p:sldId id="273" r:id="rId15"/>
    <p:sldId id="285" r:id="rId16"/>
    <p:sldId id="322" r:id="rId17"/>
    <p:sldId id="326" r:id="rId18"/>
    <p:sldId id="327" r:id="rId19"/>
    <p:sldId id="328" r:id="rId20"/>
    <p:sldId id="338" r:id="rId21"/>
    <p:sldId id="297" r:id="rId22"/>
    <p:sldId id="299" r:id="rId23"/>
    <p:sldId id="303" r:id="rId24"/>
    <p:sldId id="304" r:id="rId25"/>
    <p:sldId id="329" r:id="rId26"/>
    <p:sldId id="341" r:id="rId27"/>
    <p:sldId id="330" r:id="rId28"/>
    <p:sldId id="331"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2993" autoAdjust="0"/>
  </p:normalViewPr>
  <p:slideViewPr>
    <p:cSldViewPr snapToGrid="0">
      <p:cViewPr varScale="1">
        <p:scale>
          <a:sx n="27" d="100"/>
          <a:sy n="27" d="100"/>
        </p:scale>
        <p:origin x="960" y="60"/>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optical communications, thermal deformation is mainly mitigated through structural design, material selection, and equipment placement.</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This slide shows the overall workflow of this study.</a:t>
            </a:r>
          </a:p>
          <a:p>
            <a:pPr>
              <a:spcAft>
                <a:spcPts val="600"/>
              </a:spcAft>
            </a:pPr>
            <a:r>
              <a:rPr sz="1600">
                <a:latin typeface="Calibri"/>
              </a:rPr>
              <a:t>On the ground, we first define the orbit, attitude, thermal environment, equipment layout, and surface properties.</a:t>
            </a:r>
          </a:p>
          <a:p>
            <a:pPr>
              <a:spcAft>
                <a:spcPts val="600"/>
              </a:spcAft>
            </a:pPr>
            <a:r>
              <a:rPr sz="1600">
                <a:latin typeface="Calibri"/>
              </a:rPr>
              <a:t>Thermal Desktop is then used to calculate the spacecraft temperature field.</a:t>
            </a:r>
          </a:p>
          <a:p>
            <a:pPr>
              <a:spcAft>
                <a:spcPts val="600"/>
              </a:spcAft>
            </a:pPr>
            <a:r>
              <a:rPr sz="1600">
                <a:latin typeface="Calibri"/>
              </a:rPr>
              <a:t>The temperature field is transferred to Femap and Nastran to calculate thermoelastic deformation and the relative rotation between the star tracker and the laser communication terminal.</a:t>
            </a:r>
          </a:p>
          <a:p>
            <a:pPr>
              <a:spcAft>
                <a:spcPts val="600"/>
              </a:spcAft>
            </a:pPr>
            <a:r>
              <a:rPr sz="1600">
                <a:latin typeface="Calibri"/>
              </a:rPr>
              <a:t>From these high-fidelity simulation results, we generate reference thermal-LOS time series and construct a reduced-order prediction model.</a:t>
            </a:r>
          </a:p>
          <a:p>
            <a:pPr>
              <a:spcAft>
                <a:spcPts val="600"/>
              </a:spcAft>
            </a:pPr>
            <a:r>
              <a:rPr sz="1600">
                <a:latin typeface="Calibri"/>
              </a:rPr>
              <a:t>On orbit, Thermal Desktop and Femap are not used.</a:t>
            </a:r>
          </a:p>
          <a:p>
            <a:pPr>
              <a:spcAft>
                <a:spcPts val="600"/>
              </a:spcAft>
            </a:pPr>
            <a:r>
              <a:rPr sz="1600">
                <a:latin typeface="Calibri"/>
              </a:rPr>
              <a:t>Only temperature measurements and operating-state information are input to the reduced-order model, and the predicted thermal LOS is used to correct the scan center.</a:t>
            </a:r>
          </a:p>
          <a:p>
            <a:pPr>
              <a:spcAft>
                <a:spcPts val="600"/>
              </a:spcAft>
            </a:pPr>
            <a:r>
              <a:rPr sz="160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explain the thermoelastic analysis used to generate the reference thermal-LOS data.</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We evaluate a simple box-structure LEO spacecraft, with the star tracker and the laser communication terminal mounted on different panels.</a:t>
            </a:r>
          </a:p>
          <a:p>
            <a:pPr>
              <a:spcAft>
                <a:spcPts val="600"/>
              </a:spcAft>
            </a:pPr>
            <a:r>
              <a:rPr sz="1600">
                <a:latin typeface="Calibri"/>
              </a:rPr>
              <a:t>The spacecraft bus is approximately 0.6 by 0.6 by 1 meter and is modeled using A5052 aluminum shell elements.</a:t>
            </a:r>
          </a:p>
          <a:p>
            <a:pPr>
              <a:spcAft>
                <a:spcPts val="600"/>
              </a:spcAft>
            </a:pPr>
            <a:r>
              <a:rPr sz="1600">
                <a:latin typeface="Calibri"/>
              </a:rPr>
              <a:t>The star tracker is located on the positive-Z panel, and the laser communication terminal is located on the negative-Z panel.</a:t>
            </a:r>
          </a:p>
          <a:p>
            <a:pPr>
              <a:spcAft>
                <a:spcPts val="600"/>
              </a:spcAft>
            </a:pPr>
            <a:r>
              <a:rPr sz="1600">
                <a:latin typeface="Calibri"/>
              </a:rPr>
              <a:t>This model is not intended to reproduce a specific flight spacecraft.</a:t>
            </a:r>
          </a:p>
          <a:p>
            <a:pPr>
              <a:spcAft>
                <a:spcPts val="600"/>
              </a:spcAft>
            </a:pPr>
            <a:r>
              <a:rPr sz="1600">
                <a:latin typeface="Calibri"/>
              </a:rPr>
              <a:t>Instead, we keep the structure fixed and vary the thermal and operating conditions in order to investigate the thermal LOS behavior.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Thermal Desktop is used to calculate the time history of the spacecraft temperature field.</a:t>
            </a:r>
          </a:p>
          <a:p>
            <a:pPr>
              <a:spcAft>
                <a:spcPts val="600"/>
              </a:spcAft>
            </a:pPr>
            <a:r>
              <a:rPr sz="1600">
                <a:latin typeface="Calibri"/>
              </a:rPr>
              <a:t>The baseline orbit is a sun-synchronous orbit at an altitude of 800 kilometers.</a:t>
            </a:r>
          </a:p>
          <a:p>
            <a:pPr>
              <a:spcAft>
                <a:spcPts val="600"/>
              </a:spcAft>
            </a:pPr>
            <a:r>
              <a:rPr sz="1600">
                <a:latin typeface="Calibri"/>
              </a:rPr>
              <a:t>We simulate approximately three orbital periods with about one-minute sampling.</a:t>
            </a:r>
          </a:p>
          <a:p>
            <a:pPr>
              <a:spcAft>
                <a:spcPts val="600"/>
              </a:spcAft>
            </a:pPr>
            <a:r>
              <a:rPr sz="1600">
                <a:latin typeface="Calibri"/>
              </a:rPr>
              <a:t>Across the analysis cases, we vary the sun-facing panel, eclipse condition, surface optical properties, internal equipment dissipation, and orbital conditions.</a:t>
            </a:r>
          </a:p>
          <a:p>
            <a:pPr>
              <a:spcAft>
                <a:spcPts val="600"/>
              </a:spcAft>
            </a:pPr>
            <a:r>
              <a:rPr sz="1600">
                <a:latin typeface="Calibri"/>
              </a:rPr>
              <a:t>The output of this analysis is the panel temperature field as a function of time.</a:t>
            </a:r>
          </a:p>
          <a:p>
            <a:pPr>
              <a:spcAft>
                <a:spcPts val="600"/>
              </a:spcAft>
            </a:pPr>
            <a:r>
              <a:rPr sz="1600">
                <a:latin typeface="Calibri"/>
              </a:rPr>
              <a:t>Again, this analysis is performed only on the ground.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resulting temperature field is then transferred to Femap for thermoelastic structural analysis.</a:t>
            </a:r>
          </a:p>
          <a:p>
            <a:pPr>
              <a:spcAft>
                <a:spcPts val="600"/>
              </a:spcAft>
            </a:pPr>
            <a:r>
              <a:rPr sz="1600">
                <a:latin typeface="Calibri"/>
              </a:rPr>
              <a:t>The spacecraft structure is modeled using A5052 aluminum with the material properties shown here.</a:t>
            </a:r>
          </a:p>
          <a:p>
            <a:pPr>
              <a:spcAft>
                <a:spcPts val="600"/>
              </a:spcAft>
            </a:pPr>
            <a:r>
              <a:rPr sz="1600">
                <a:latin typeface="Calibri"/>
              </a:rPr>
              <a:t>From this analysis, we obtain the translations and rotations of the star-tracker and laser-terminal mounting locations.</a:t>
            </a:r>
          </a:p>
          <a:p>
            <a:pPr>
              <a:spcAft>
                <a:spcPts val="600"/>
              </a:spcAft>
            </a:pPr>
            <a:r>
              <a:rPr sz="1600">
                <a:latin typeface="Calibri"/>
              </a:rPr>
              <a:t>Thermal Desktop and Femap are therefore used only to generate the high-fidelity reference dataset for model development.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a far-field optical link, the relevant quantity is not simply the translation of the mounting points.</a:t>
            </a:r>
          </a:p>
          <a:p>
            <a:pPr>
              <a:spcAft>
                <a:spcPts val="600"/>
              </a:spcAft>
            </a:pPr>
            <a:r>
              <a:rPr sz="1600">
                <a:latin typeface="Calibri"/>
              </a:rPr>
              <a:t>What matters is the relative rotation of the laser communication terminal optical axis with respect to the star-tracker attitude reference.</a:t>
            </a:r>
          </a:p>
          <a:p>
            <a:pPr>
              <a:spcAft>
                <a:spcPts val="600"/>
              </a:spcAft>
            </a:pPr>
            <a:r>
              <a:rPr sz="1600">
                <a:latin typeface="Calibri"/>
              </a:rPr>
              <a:t>Therefore, we define the thermal LOS error as the LCT optical-axis rotation minus the STT reference rotation.</a:t>
            </a:r>
          </a:p>
          <a:p>
            <a:pPr>
              <a:spcAft>
                <a:spcPts val="600"/>
              </a:spcAft>
            </a:pPr>
            <a:r>
              <a:rPr sz="1600">
                <a:latin typeface="Calibri"/>
              </a:rPr>
              <a:t>The thermal rotation of the star tracker itself is absorbed into the attitude reference.</a:t>
            </a:r>
          </a:p>
          <a:p>
            <a:pPr>
              <a:spcAft>
                <a:spcPts val="600"/>
              </a:spcAft>
            </a:pPr>
            <a:r>
              <a:rPr sz="1600">
                <a:latin typeface="Calibri"/>
              </a:rPr>
              <a:t>In this study, translation-induced tilt and the internal thermal deformation of the optical terminals are not included.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introduce the reduced-order thermal-LOS prediction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onboard use, the model has to be much simpler than the full Thermal Desktop and Femap analysis.</a:t>
            </a:r>
          </a:p>
          <a:p>
            <a:pPr>
              <a:spcAft>
                <a:spcPts val="600"/>
              </a:spcAft>
            </a:pPr>
            <a:r>
              <a:rPr sz="1600">
                <a:latin typeface="Calibri"/>
              </a:rPr>
              <a:t>It should use only a small number of temperature measurements and operating-state flags, with a small fixed set of coefficients.</a:t>
            </a:r>
          </a:p>
          <a:p>
            <a:pPr>
              <a:spcAft>
                <a:spcPts val="600"/>
              </a:spcAft>
            </a:pPr>
            <a:r>
              <a:rPr sz="1600">
                <a:latin typeface="Calibri"/>
              </a:rPr>
              <a:t>We examined several candidate models.</a:t>
            </a:r>
          </a:p>
          <a:p>
            <a:pPr>
              <a:spcAft>
                <a:spcPts val="600"/>
              </a:spcAft>
            </a:pPr>
            <a:r>
              <a:rPr sz="1600">
                <a:latin typeface="Calibri"/>
              </a:rPr>
              <a:t>A constant bias cannot represent the within-orbit variation.</a:t>
            </a:r>
          </a:p>
          <a:p>
            <a:pPr>
              <a:spcAft>
                <a:spcPts val="600"/>
              </a:spcAft>
            </a:pPr>
            <a:r>
              <a:rPr sz="1600">
                <a:latin typeface="Calibri"/>
              </a:rPr>
              <a:t>A Fourier model can represent periodicity, but it becomes dependent on the particular orbit and operating condition.</a:t>
            </a:r>
          </a:p>
          <a:p>
            <a:pPr>
              <a:spcAft>
                <a:spcPts val="600"/>
              </a:spcAft>
            </a:pPr>
            <a:r>
              <a:rPr sz="1600">
                <a:latin typeface="Calibri"/>
              </a:rPr>
              <a:t>Using many local temperature measurements gives more flexibility, but we found strong collinearity between those temperatures and the panel temperature difference.</a:t>
            </a:r>
          </a:p>
          <a:p>
            <a:pPr>
              <a:spcAft>
                <a:spcPts val="600"/>
              </a:spcAft>
            </a:pPr>
            <a:r>
              <a:rPr sz="1600">
                <a:latin typeface="Calibri"/>
              </a:rPr>
              <a:t>Based on these observations, we selected a hierarchical temperature-difference model.</a:t>
            </a:r>
          </a:p>
          <a:p>
            <a:pPr>
              <a:spcAft>
                <a:spcPts val="600"/>
              </a:spcAft>
            </a:pPr>
            <a:r>
              <a:rPr sz="160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The prediction results are shown here.</a:t>
            </a:r>
          </a:p>
          <a:p>
            <a:pPr>
              <a:spcAft>
                <a:spcPts val="600"/>
              </a:spcAft>
            </a:pPr>
            <a:r>
              <a:rPr sz="1600">
                <a:latin typeface="Calibri"/>
              </a:rPr>
              <a:t>Before correction, the median RMS thermal LOS on the dominant axis is about 615 microradians.</a:t>
            </a:r>
          </a:p>
          <a:p>
            <a:pPr>
              <a:spcAft>
                <a:spcPts val="600"/>
              </a:spcAft>
            </a:pPr>
            <a:r>
              <a:rPr sz="1600">
                <a:latin typeface="Calibri"/>
              </a:rPr>
              <a:t>For unseen operating conditions, the median test RMSE decreases to only 4.9 microradians, with a mean value of 5.5 microradians.</a:t>
            </a:r>
          </a:p>
          <a:p>
            <a:pPr>
              <a:spcAft>
                <a:spcPts val="600"/>
              </a:spcAft>
            </a:pPr>
            <a:r>
              <a:rPr sz="1600">
                <a:latin typeface="Calibri"/>
              </a:rPr>
              <a:t>The case-dependent DC bias is also predicted with a leave-one-out RMSE of 3.8 microradians.</a:t>
            </a:r>
          </a:p>
          <a:p>
            <a:pPr>
              <a:spcAft>
                <a:spcPts val="600"/>
              </a:spcAft>
            </a:pPr>
            <a:r>
              <a:rPr sz="160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DEE1-5294-D44C-968A-17CA41EB6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81D93-C321-E7F0-8820-F3DFEE575376}"/>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E3E0815A-2B11-1951-79A5-8BE2A8440E82}"/>
              </a:ext>
            </a:extLst>
          </p:cNvPr>
          <p:cNvSpPr>
            <a:spLocks noGrp="1"/>
          </p:cNvSpPr>
          <p:nvPr>
            <p:ph type="body" sz="quarter" idx="3"/>
          </p:nvPr>
        </p:nvSpPr>
        <p:spPr/>
        <p:txBody>
          <a:bodyPr/>
          <a:lstStyle/>
          <a:p>
            <a:pPr>
              <a:spcAft>
                <a:spcPts val="600"/>
              </a:spcAft>
            </a:pPr>
            <a:r>
              <a:rPr sz="1600">
                <a:latin typeface="Calibri"/>
              </a:rPr>
              <a:t>Finally, I will evaluate how this thermal-LOS prediction affects coarse-acquisition performance.</a:t>
            </a:r>
          </a:p>
        </p:txBody>
      </p:sp>
      <p:sp>
        <p:nvSpPr>
          <p:cNvPr id="4" name="Slide Number Placeholder 3">
            <a:extLst>
              <a:ext uri="{FF2B5EF4-FFF2-40B4-BE49-F238E27FC236}">
                <a16:creationId xmlns:a16="http://schemas.microsoft.com/office/drawing/2014/main" id="{66FD8850-DC6F-DBD5-02B3-7B3D291FAD6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22495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In addition to thermal LOS error, we include several nonthermal pointing-error components.</a:t>
            </a:r>
          </a:p>
          <a:p>
            <a:pPr>
              <a:spcAft>
                <a:spcPts val="600"/>
              </a:spcAft>
            </a:pPr>
            <a:r>
              <a:rPr sz="1600">
                <a:latin typeface="Calibri"/>
              </a:rPr>
              <a:t>The largest one is orbit-prediction error.</a:t>
            </a:r>
          </a:p>
          <a:p>
            <a:pPr>
              <a:spcAft>
                <a:spcPts val="600"/>
              </a:spcAft>
            </a:pPr>
            <a:r>
              <a:rPr sz="160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a:latin typeface="Calibri"/>
              </a:rPr>
              <a:t>We also include a constant alignment error, random attitude error, and a low-frequency drift term.</a:t>
            </a:r>
          </a:p>
          <a:p>
            <a:pPr>
              <a:spcAft>
                <a:spcPts val="600"/>
              </a:spcAft>
            </a:pPr>
            <a:r>
              <a:rPr sz="1600">
                <a:latin typeface="Calibri"/>
              </a:rPr>
              <a:t>This is not intended to reproduce the exact pointing-error budget of a specific spacecraft.</a:t>
            </a:r>
          </a:p>
          <a:p>
            <a:pPr>
              <a:spcAft>
                <a:spcPts val="600"/>
              </a:spcAft>
            </a:pPr>
            <a:r>
              <a:rPr sz="160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show the acquisition result when only thermal LOS error is included.</a:t>
            </a:r>
          </a:p>
          <a:p>
            <a:pPr>
              <a:spcAft>
                <a:spcPts val="600"/>
              </a:spcAft>
            </a:pPr>
            <a:r>
              <a:rPr sz="1600">
                <a:latin typeface="Calibri"/>
              </a:rPr>
              <a:t>Without correction, the mean acquisition time is 14.6 seconds.</a:t>
            </a:r>
          </a:p>
          <a:p>
            <a:pPr>
              <a:spcAft>
                <a:spcPts val="600"/>
              </a:spcAft>
            </a:pPr>
            <a:r>
              <a:rPr sz="1600">
                <a:latin typeface="Calibri"/>
              </a:rPr>
              <a:t>With the hierarchical reduced-order model, the mean acquisition time decreases to 0.10 seconds.</a:t>
            </a:r>
          </a:p>
          <a:p>
            <a:pPr>
              <a:spcAft>
                <a:spcPts val="600"/>
              </a:spcAft>
            </a:pPr>
            <a:r>
              <a:rPr sz="1600">
                <a:latin typeface="Calibri"/>
              </a:rPr>
              <a:t>This is the same acquisition time obtained when the true thermal LOS is directly removed.</a:t>
            </a:r>
          </a:p>
          <a:p>
            <a:pPr>
              <a:spcAft>
                <a:spcPts val="600"/>
              </a:spcAft>
            </a:pPr>
            <a:r>
              <a:rPr sz="1600">
                <a:latin typeface="Calibri"/>
              </a:rPr>
              <a:t>However, this does not mean that the predicted waveform is perfectly identical to the thermal truth.</a:t>
            </a:r>
          </a:p>
          <a:p>
            <a:pPr>
              <a:spcAft>
                <a:spcPts val="600"/>
              </a:spcAft>
            </a:pPr>
            <a:r>
              <a:rPr sz="160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more important result is obtained when the nonthermal errors are also included.</a:t>
            </a:r>
          </a:p>
          <a:p>
            <a:pPr>
              <a:spcAft>
                <a:spcPts val="600"/>
              </a:spcAft>
            </a:pPr>
            <a:r>
              <a:rPr sz="1600">
                <a:latin typeface="Calibri"/>
              </a:rPr>
              <a:t>Without thermal correction, the mean acquisition time is 19.2 seconds, with a success rate of 98 percent.</a:t>
            </a:r>
          </a:p>
          <a:p>
            <a:pPr>
              <a:spcAft>
                <a:spcPts val="600"/>
              </a:spcAft>
            </a:pPr>
            <a:r>
              <a:rPr sz="1600">
                <a:latin typeface="Calibri"/>
              </a:rPr>
              <a:t>With the feedforward thermal correction, the mean acquisition time decreases to 5.45 seconds.</a:t>
            </a:r>
          </a:p>
          <a:p>
            <a:pPr>
              <a:spcAft>
                <a:spcPts val="600"/>
              </a:spcAft>
            </a:pPr>
            <a:r>
              <a:rPr sz="1600">
                <a:latin typeface="Calibri"/>
              </a:rPr>
              <a:t>This corresponds to a 72 percent reduction, and the success rate increases to 100 percent.</a:t>
            </a:r>
          </a:p>
          <a:p>
            <a:pPr>
              <a:spcAft>
                <a:spcPts val="600"/>
              </a:spcAft>
            </a:pPr>
            <a:r>
              <a:rPr sz="1600">
                <a:latin typeface="Calibri"/>
              </a:rPr>
              <a:t>For the PY sun-facing cases, where the thermal LOS reaches approximately 1.2 milliradians, the acquisition time decreases from around 40 seconds to approximately 1 to 2 seconds.</a:t>
            </a:r>
          </a:p>
          <a:p>
            <a:pPr>
              <a:spcAft>
                <a:spcPts val="600"/>
              </a:spcAft>
            </a:pPr>
            <a:r>
              <a:rPr sz="1600">
                <a:latin typeface="Calibri"/>
              </a:rPr>
              <a:t>After correction, the remaining initial pointing error is about 448 microradians and is almost entirely determined by the nonthermal components.</a:t>
            </a:r>
          </a:p>
          <a:p>
            <a:pPr>
              <a:spcAft>
                <a:spcPts val="600"/>
              </a:spcAft>
            </a:pPr>
            <a:r>
              <a:rPr sz="1600">
                <a:latin typeface="Calibri"/>
              </a:rPr>
              <a:t>Therefore, the role of this method is not to eliminate every pointing error.</a:t>
            </a:r>
          </a:p>
          <a:p>
            <a:pPr>
              <a:spcAft>
                <a:spcPts val="600"/>
              </a:spcAft>
            </a:pPr>
            <a:r>
              <a:rPr sz="160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90BB2-638D-EDF4-6149-BBE2851D0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F4A6F-47ED-540B-CC4A-89B9C5FD2C13}"/>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12BF9D9-BC8D-63EC-738A-C1E5616CE634}"/>
              </a:ext>
            </a:extLst>
          </p:cNvPr>
          <p:cNvSpPr>
            <a:spLocks noGrp="1"/>
          </p:cNvSpPr>
          <p:nvPr>
            <p:ph type="body" sz="quarter" idx="3"/>
          </p:nvPr>
        </p:nvSpPr>
        <p:spPr/>
        <p:txBody>
          <a:bodyPr/>
          <a:lstStyle/>
          <a:p>
            <a:pPr>
              <a:spcAft>
                <a:spcPts val="600"/>
              </a:spcAft>
            </a:pPr>
            <a:r>
              <a:rPr sz="1600">
                <a:latin typeface="Calibri"/>
              </a:rPr>
              <a:t>Finally, I will summarize the results and discuss the current limitations.</a:t>
            </a:r>
          </a:p>
        </p:txBody>
      </p:sp>
      <p:sp>
        <p:nvSpPr>
          <p:cNvPr id="4" name="Slide Number Placeholder 3">
            <a:extLst>
              <a:ext uri="{FF2B5EF4-FFF2-40B4-BE49-F238E27FC236}">
                <a16:creationId xmlns:a16="http://schemas.microsoft.com/office/drawing/2014/main" id="{27C1BA5F-FDC1-4C2F-0440-4E8C9610008F}"/>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688805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a:spcAft>
                <a:spcPts val="600"/>
              </a:spcAft>
            </a:pPr>
            <a:r>
              <a:rPr sz="1600" dirty="0">
                <a:latin typeface="Calibri"/>
              </a:rPr>
              <a:t>Third, after successful acquisition, optical pointing residuals could be used to adapt or update the prediction for repeated links.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sz="1600" dirty="0">
                <a:latin typeface="Calibri"/>
              </a:rPr>
              <a:t>Second, when only thermal error was considered, the mean acquisition time decreased from 14.6 seconds to 0.10 seconds.</a:t>
            </a:r>
          </a:p>
          <a:p>
            <a:pPr>
              <a:spcAft>
                <a:spcPts val="600"/>
              </a:spcAft>
            </a:pPr>
            <a:r>
              <a:rPr sz="1600" dirty="0">
                <a:latin typeface="Calibri"/>
              </a:rPr>
              <a:t>Finally, even when nonthermal errors were included, the mean acquisition time decreased from 19.2 seconds to 5.45 seconds, while the success rate increased from 98 percent to 100 percent.</a:t>
            </a: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a:p>
            <a:pPr>
              <a:spcAft>
                <a:spcPts val="600"/>
              </a:spcAft>
            </a:pPr>
            <a:r>
              <a:rPr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2026/10/5</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8151019" y="8084413"/>
            <a:ext cx="16173450" cy="2125436"/>
          </a:xfrm>
        </p:spPr>
        <p:txBody>
          <a:bodyPr wrap="square">
            <a:noAutofit/>
          </a:bodyPr>
          <a:lstStyle/>
          <a:p>
            <a:br>
              <a:rPr lang="ja-JP" altLang="en-US" sz="4000" b="0" dirty="0"/>
            </a:br>
            <a:r>
              <a:rPr lang="en-US" altLang="ja-JP" sz="4000" dirty="0"/>
              <a:t>Hierarchical Prediction and Feedforward Correction of Time-Varying Thermal Line-of-Sight Bias </a:t>
            </a:r>
            <a:br>
              <a:rPr lang="en-US" altLang="ja-JP" sz="4000" dirty="0"/>
            </a:br>
            <a:r>
              <a:rPr lang="en-US" altLang="ja-JP" sz="4000" dirty="0"/>
              <a:t>for Coarse Acquisition </a:t>
            </a:r>
            <a:br>
              <a:rPr lang="en-US" altLang="ja-JP" sz="4000" dirty="0"/>
            </a:br>
            <a:r>
              <a:rPr lang="en-US" altLang="ja-JP" sz="4000" dirty="0"/>
              <a:t>in Satellite Optical Communications</a:t>
            </a:r>
            <a:endParaRPr sz="4000" b="1" dirty="0">
              <a:solidFill>
                <a:srgbClr val="082B52"/>
              </a:solidFill>
              <a:latin typeface="Yu Gothic"/>
              <a:ea typeface="Yu Gothic"/>
            </a:endParaRP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wrap="square">
            <a:normAutofit/>
          </a:bodyPr>
          <a:lstStyle/>
          <a:p>
            <a:pPr>
              <a:spcAft>
                <a:spcPts val="0"/>
              </a:spcAft>
            </a:pPr>
            <a:r>
              <a:rPr b="1" dirty="0">
                <a:solidFill>
                  <a:srgbClr val="232B34"/>
                </a:solidFill>
                <a:latin typeface="Yu Gothic"/>
                <a:ea typeface="Yu Gothic"/>
              </a:rPr>
              <a:t>Hideki Takamoto (Univ. of Tokyo)</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1</a:t>
            </a:r>
            <a:endParaRPr kumimoji="1" lang="ja-JP" altLang="en-US"/>
          </a:p>
        </p:txBody>
      </p:sp>
      <p:sp>
        <p:nvSpPr>
          <p:cNvPr id="9" name="TextBox 8"/>
          <p:cNvSpPr txBox="1"/>
          <p:nvPr/>
        </p:nvSpPr>
        <p:spPr>
          <a:xfrm>
            <a:off x="16285002" y="11787540"/>
            <a:ext cx="7132320" cy="898708"/>
          </a:xfrm>
          <a:prstGeom prst="rect">
            <a:avLst/>
          </a:prstGeom>
          <a:noFill/>
        </p:spPr>
        <p:txBody>
          <a:bodyPr wrap="square" lIns="45720" tIns="18288" rIns="45720" bIns="18288" anchor="t">
            <a:spAutoFit/>
          </a:bodyPr>
          <a:lstStyle/>
          <a:p>
            <a:pPr algn="r">
              <a:spcAft>
                <a:spcPts val="0"/>
              </a:spcAft>
            </a:pPr>
            <a:r>
              <a:rPr sz="2800" b="0" dirty="0">
                <a:solidFill>
                  <a:srgbClr val="666F79"/>
                </a:solidFill>
                <a:latin typeface="Yu Gothic"/>
                <a:ea typeface="Yu Gothic"/>
              </a:rPr>
              <a:t>ICSO 2026 paper submitted</a:t>
            </a:r>
            <a:endParaRPr lang="en-US" sz="2800" b="0" dirty="0">
              <a:solidFill>
                <a:srgbClr val="666F79"/>
              </a:solidFill>
              <a:latin typeface="Yu Gothic"/>
              <a:ea typeface="Yu Gothic"/>
            </a:endParaRPr>
          </a:p>
          <a:p>
            <a:pPr algn="r">
              <a:spcAft>
                <a:spcPts val="0"/>
              </a:spcAft>
            </a:pPr>
            <a:r>
              <a:rPr lang="en-US" sz="2800" dirty="0">
                <a:solidFill>
                  <a:srgbClr val="666F79"/>
                </a:solidFill>
                <a:latin typeface="Yu Gothic"/>
                <a:ea typeface="Yu Gothic"/>
              </a:rPr>
              <a:t>2026/10/15</a:t>
            </a:r>
            <a:endParaRPr lang="en-US" sz="2800" b="0" dirty="0">
              <a:solidFill>
                <a:srgbClr val="666F79"/>
              </a:solidFill>
              <a:latin typeface="Yu Gothic"/>
              <a:ea typeface="Yu Gothic"/>
            </a:endParaRP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lang="ja-JP" altLang="en-US" sz="3200" b="1" dirty="0">
                <a:solidFill>
                  <a:srgbClr val="FFFFFF"/>
                </a:solidFill>
                <a:latin typeface="Yu Gothic"/>
              </a:rPr>
              <a:t>Background</a:t>
            </a:r>
            <a:endParaRPr sz="3200" b="1" dirty="0">
              <a:solidFill>
                <a:srgbClr val="FFFFFF"/>
              </a:solidFill>
              <a:latin typeface="Yu Gothic"/>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sz="3200" b="1" dirty="0">
                <a:solidFill>
                  <a:srgbClr val="082B52"/>
                </a:solidFill>
                <a:latin typeface="Yu Gothic"/>
                <a:ea typeface="Yu Gothic"/>
              </a:rPr>
              <a:t>Before optical feedback is available, </a:t>
            </a:r>
            <a:br>
              <a:rPr lang="en-US" sz="3200" b="1" dirty="0">
                <a:solidFill>
                  <a:srgbClr val="082B52"/>
                </a:solidFill>
                <a:latin typeface="Yu Gothic"/>
                <a:ea typeface="Yu Gothic"/>
              </a:rPr>
            </a:br>
            <a:r>
              <a:rPr sz="3200" b="1" dirty="0">
                <a:solidFill>
                  <a:srgbClr val="082B52"/>
                </a:solidFill>
                <a:latin typeface="Yu Gothic"/>
                <a:ea typeface="Yu Gothic"/>
              </a:rPr>
              <a:t>scan-center offset determines coarse-acquisition search time</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3</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a:solidFill>
                  <a:srgbClr val="666F79"/>
                </a:solidFill>
                <a:latin typeface="Yu Gothic"/>
                <a:ea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Before optical feedback</a:t>
            </a:r>
          </a:p>
        </p:txBody>
      </p:sp>
      <p:sp>
        <p:nvSpPr>
          <p:cNvPr id="8" name="TextBox 7"/>
          <p:cNvSpPr txBox="1"/>
          <p:nvPr/>
        </p:nvSpPr>
        <p:spPr>
          <a:xfrm>
            <a:off x="1463040" y="5074920"/>
            <a:ext cx="5760720" cy="165583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Search an uncertainty region including </a:t>
            </a:r>
            <a:r>
              <a:rPr lang="en-US" altLang="ja-JP" sz="2600" b="1" dirty="0">
                <a:solidFill>
                  <a:schemeClr val="accent6">
                    <a:lumMod val="75000"/>
                  </a:schemeClr>
                </a:solidFill>
                <a:latin typeface="Yu Gothic"/>
                <a:ea typeface="Yu Gothic"/>
              </a:rPr>
              <a:t>thermal LOS</a:t>
            </a:r>
            <a:r>
              <a:rPr lang="en-US" altLang="ja-JP" sz="2600" dirty="0">
                <a:solidFill>
                  <a:srgbClr val="232B34"/>
                </a:solidFill>
                <a:latin typeface="Yu Gothic"/>
                <a:ea typeface="Yu Gothic"/>
              </a:rPr>
              <a:t>, </a:t>
            </a:r>
            <a:r>
              <a:rPr sz="2600" b="0" dirty="0">
                <a:solidFill>
                  <a:srgbClr val="232B34"/>
                </a:solidFill>
                <a:latin typeface="Yu Gothic"/>
                <a:ea typeface="Yu Gothic"/>
              </a:rPr>
              <a:t>attitude</a:t>
            </a:r>
            <a:r>
              <a:rPr lang="en-US" sz="2600" b="0" dirty="0">
                <a:solidFill>
                  <a:srgbClr val="232B34"/>
                </a:solidFill>
                <a:latin typeface="Yu Gothic"/>
                <a:ea typeface="Yu Gothic"/>
              </a:rPr>
              <a:t>,</a:t>
            </a:r>
            <a:r>
              <a:rPr sz="2600" b="0" dirty="0">
                <a:solidFill>
                  <a:srgbClr val="232B34"/>
                </a:solidFill>
                <a:latin typeface="Yu Gothic"/>
                <a:ea typeface="Yu Gothic"/>
              </a:rPr>
              <a:t> and orbit</a:t>
            </a:r>
            <a:r>
              <a:rPr lang="en-US" sz="2600" b="0" dirty="0">
                <a:solidFill>
                  <a:srgbClr val="232B34"/>
                </a:solidFill>
                <a:latin typeface="Yu Gothic"/>
                <a:ea typeface="Yu Gothic"/>
              </a:rPr>
              <a:t> errors</a:t>
            </a:r>
            <a:endParaRPr sz="2600" b="0" dirty="0">
              <a:solidFill>
                <a:srgbClr val="232B34"/>
              </a:solidFill>
              <a:latin typeface="Yu Gothic"/>
              <a:ea typeface="Yu Gothic"/>
            </a:endParaRPr>
          </a:p>
          <a:p>
            <a:pPr algn="ctr">
              <a:spcAft>
                <a:spcPts val="0"/>
              </a:spcAft>
            </a:pPr>
            <a:endParaRPr sz="2600" b="0" dirty="0">
              <a:solidFill>
                <a:srgbClr val="232B34"/>
              </a:solidFill>
              <a:latin typeface="Yu Gothic"/>
              <a:ea typeface="Yu Gothic"/>
            </a:endParaRPr>
          </a:p>
        </p:txBody>
      </p: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Illumination / eclipse / dissipation</a:t>
            </a:r>
          </a:p>
        </p:txBody>
      </p:sp>
      <p:sp>
        <p:nvSpPr>
          <p:cNvPr id="12" name="TextBox 11"/>
          <p:cNvSpPr txBox="1"/>
          <p:nvPr/>
        </p:nvSpPr>
        <p:spPr>
          <a:xfrm>
            <a:off x="8907641" y="4638382"/>
            <a:ext cx="6187721" cy="855619"/>
          </a:xfrm>
          <a:prstGeom prst="rect">
            <a:avLst/>
          </a:prstGeom>
          <a:noFill/>
        </p:spPr>
        <p:txBody>
          <a:bodyPr wrap="none" lIns="36576" tIns="27432" rIns="36576" bIns="27432" anchor="t">
            <a:spAutoFit/>
          </a:bodyPr>
          <a:lstStyle/>
          <a:p>
            <a:pPr algn="ctr"/>
            <a:r>
              <a:rPr sz="2600" b="0" dirty="0">
                <a:solidFill>
                  <a:srgbClr val="232B34"/>
                </a:solidFill>
                <a:latin typeface="Yu Gothic"/>
              </a:rPr>
              <a:t>Temperature field → </a:t>
            </a:r>
            <a:r>
              <a:rPr lang="en-US" sz="2600" b="0" dirty="0">
                <a:solidFill>
                  <a:srgbClr val="232B34"/>
                </a:solidFill>
                <a:latin typeface="Yu Gothic"/>
              </a:rPr>
              <a:t>thermal </a:t>
            </a:r>
            <a:r>
              <a:rPr sz="2600" b="0" dirty="0">
                <a:solidFill>
                  <a:srgbClr val="232B34"/>
                </a:solidFill>
                <a:latin typeface="Yu Gothic"/>
              </a:rPr>
              <a:t>expansion
→ </a:t>
            </a:r>
            <a:r>
              <a:rPr lang="ja-JP" altLang="en-US" sz="2600" dirty="0">
                <a:solidFill>
                  <a:srgbClr val="232B34"/>
                </a:solidFill>
                <a:latin typeface="Yu Gothic"/>
              </a:rPr>
              <a:t>spacecraft-bus distortion</a:t>
            </a:r>
            <a:endParaRPr sz="2600" b="0" dirty="0">
              <a:solidFill>
                <a:srgbClr val="232B34"/>
              </a:solidFill>
              <a:latin typeface="Yu Gothic"/>
            </a:endParaRPr>
          </a:p>
        </p:txBody>
      </p:sp>
      <p:sp>
        <p:nvSpPr>
          <p:cNvPr id="13" name="TextBox 12"/>
          <p:cNvSpPr txBox="1"/>
          <p:nvPr/>
        </p:nvSpPr>
        <p:spPr>
          <a:xfrm>
            <a:off x="8869680" y="5623560"/>
            <a:ext cx="6217920" cy="440120"/>
          </a:xfrm>
          <a:prstGeom prst="rect">
            <a:avLst/>
          </a:prstGeom>
          <a:noFill/>
        </p:spPr>
        <p:txBody>
          <a:bodyPr wrap="square" lIns="36576" tIns="27432" rIns="36576" bIns="27432" anchor="t">
            <a:spAutoFit/>
          </a:bodyPr>
          <a:lstStyle/>
          <a:p>
            <a:pPr algn="ctr">
              <a:spcAft>
                <a:spcPts val="0"/>
              </a:spcAft>
            </a:pPr>
            <a:r>
              <a:rPr sz="2500" b="1" dirty="0">
                <a:solidFill>
                  <a:schemeClr val="accent6">
                    <a:lumMod val="75000"/>
                  </a:schemeClr>
                </a:solidFill>
                <a:latin typeface="Yu Gothic"/>
                <a:ea typeface="Yu Gothic"/>
              </a:rPr>
              <a:t>Thermal LOS: 1</a:t>
            </a:r>
            <a:r>
              <a:rPr lang="en-US" sz="2500" b="1" dirty="0">
                <a:solidFill>
                  <a:schemeClr val="accent6">
                    <a:lumMod val="75000"/>
                  </a:schemeClr>
                </a:solidFill>
                <a:latin typeface="Yu Gothic"/>
                <a:ea typeface="Yu Gothic"/>
              </a:rPr>
              <a:t>0</a:t>
            </a:r>
            <a:r>
              <a:rPr sz="2500" b="1" dirty="0">
                <a:solidFill>
                  <a:schemeClr val="accent6">
                    <a:lumMod val="75000"/>
                  </a:schemeClr>
                </a:solidFill>
                <a:latin typeface="Yu Gothic"/>
                <a:ea typeface="Yu Gothic"/>
              </a:rPr>
              <a:t>0 µrad to 1 </a:t>
            </a:r>
            <a:r>
              <a:rPr sz="2500" b="1" dirty="0" err="1">
                <a:solidFill>
                  <a:schemeClr val="accent6">
                    <a:lumMod val="75000"/>
                  </a:schemeClr>
                </a:solidFill>
                <a:latin typeface="Yu Gothic"/>
                <a:ea typeface="Yu Gothic"/>
              </a:rPr>
              <a:t>mrad</a:t>
            </a:r>
            <a:endParaRPr sz="2900" b="1" dirty="0">
              <a:solidFill>
                <a:schemeClr val="accent6">
                  <a:lumMod val="75000"/>
                </a:schemeClr>
              </a:solidFill>
              <a:latin typeface="Yu Gothic"/>
            </a:endParaRPr>
          </a:p>
        </p:txBody>
      </p: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endParaRPr>
          </a:p>
        </p:txBody>
      </p:sp>
      <p:sp>
        <p:nvSpPr>
          <p:cNvPr id="16" name="TextBox 15"/>
          <p:cNvSpPr txBox="1"/>
          <p:nvPr/>
        </p:nvSpPr>
        <p:spPr>
          <a:xfrm>
            <a:off x="16733520" y="3886200"/>
            <a:ext cx="5760720" cy="886397"/>
          </a:xfrm>
          <a:prstGeom prst="rect">
            <a:avLst/>
          </a:prstGeom>
          <a:noFill/>
        </p:spPr>
        <p:txBody>
          <a:bodyPr wrap="square" lIns="36576" tIns="27432" rIns="36576" bIns="27432" anchor="t">
            <a:spAutoFit/>
          </a:bodyPr>
          <a:lstStyle/>
          <a:p>
            <a:pPr algn="ctr">
              <a:spcAft>
                <a:spcPts val="0"/>
              </a:spcAft>
            </a:pPr>
            <a:r>
              <a:rPr sz="2700" b="1" dirty="0">
                <a:solidFill>
                  <a:srgbClr val="FF0000"/>
                </a:solidFill>
                <a:latin typeface="Yu Gothic"/>
                <a:ea typeface="Yu Gothic"/>
              </a:rPr>
              <a:t>Pre-acquisition predictive correction</a:t>
            </a:r>
            <a:endParaRPr sz="2700" b="1" dirty="0">
              <a:solidFill>
                <a:srgbClr val="FF0000"/>
              </a:solidFill>
              <a:latin typeface="Yu Gothic"/>
            </a:endParaRPr>
          </a:p>
        </p:txBody>
      </p:sp>
      <p:sp>
        <p:nvSpPr>
          <p:cNvPr id="17" name="TextBox 16"/>
          <p:cNvSpPr txBox="1"/>
          <p:nvPr/>
        </p:nvSpPr>
        <p:spPr>
          <a:xfrm>
            <a:off x="16733519" y="5074920"/>
            <a:ext cx="5760720" cy="125572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Subtract </a:t>
            </a:r>
            <a:r>
              <a:rPr sz="2600" b="1" dirty="0">
                <a:solidFill>
                  <a:schemeClr val="accent6">
                    <a:lumMod val="75000"/>
                  </a:schemeClr>
                </a:solidFill>
                <a:latin typeface="Yu Gothic"/>
                <a:ea typeface="Yu Gothic"/>
              </a:rPr>
              <a:t>thermal LOS</a:t>
            </a:r>
            <a:r>
              <a:rPr sz="2600" b="0" dirty="0">
                <a:solidFill>
                  <a:srgbClr val="232B34"/>
                </a:solidFill>
                <a:latin typeface="Yu Gothic"/>
                <a:ea typeface="Yu Gothic"/>
              </a:rPr>
              <a:t> </a:t>
            </a:r>
            <a:endParaRPr lang="en-US" sz="2600" b="0" dirty="0">
              <a:solidFill>
                <a:srgbClr val="232B34"/>
              </a:solidFill>
              <a:latin typeface="Yu Gothic"/>
              <a:ea typeface="Yu Gothic"/>
            </a:endParaRPr>
          </a:p>
          <a:p>
            <a:pPr algn="ctr">
              <a:spcAft>
                <a:spcPts val="0"/>
              </a:spcAft>
            </a:pPr>
            <a:r>
              <a:rPr sz="2600" b="0" dirty="0">
                <a:solidFill>
                  <a:srgbClr val="232B34"/>
                </a:solidFill>
                <a:latin typeface="Yu Gothic"/>
                <a:ea typeface="Yu Gothic"/>
              </a:rPr>
              <a:t>from the scan center</a:t>
            </a:r>
          </a:p>
          <a:p>
            <a:pPr algn="ctr">
              <a:spcAft>
                <a:spcPts val="0"/>
              </a:spcAft>
            </a:pPr>
            <a:r>
              <a:rPr sz="2600" b="0" dirty="0" err="1">
                <a:solidFill>
                  <a:srgbClr val="232B34"/>
                </a:solidFill>
                <a:latin typeface="Yu Gothic"/>
                <a:ea typeface="Yu Gothic"/>
              </a:rPr>
              <a:t>to reduce search time</a:t>
            </a:r>
            <a:endParaRPr sz="2600" b="0" dirty="0">
              <a:solidFill>
                <a:srgbClr val="232B34"/>
              </a:solidFill>
              <a:latin typeface="Yu Gothic"/>
              <a:ea typeface="Yu Gothic"/>
            </a:endParaRPr>
          </a:p>
        </p:txBody>
      </p:sp>
      <p:sp>
        <p:nvSpPr>
          <p:cNvPr id="18" name="TextBox 17"/>
          <p:cNvSpPr txBox="1"/>
          <p:nvPr/>
        </p:nvSpPr>
        <p:spPr>
          <a:xfrm>
            <a:off x="3897207" y="12321036"/>
            <a:ext cx="16588003" cy="1009507"/>
          </a:xfrm>
          <a:prstGeom prst="rect">
            <a:avLst/>
          </a:prstGeom>
          <a:noFill/>
        </p:spPr>
        <p:txBody>
          <a:bodyPr wrap="none" lIns="36576" tIns="27432" rIns="36576" bIns="27432" anchor="t">
            <a:spAutoFit/>
          </a:bodyPr>
          <a:lstStyle/>
          <a:p>
            <a:pPr algn="ctr"/>
            <a:r>
              <a:rPr lang="ja-JP" altLang="en-US" sz="3100" dirty="0">
                <a:solidFill>
                  <a:srgbClr val="082B52"/>
                </a:solidFill>
                <a:latin typeface="Yu Gothic"/>
              </a:rPr>
              <a:t>Without modifying the spacecraft or LCT,</a:t>
            </a:r>
            <a:endParaRPr lang="en-US" altLang="ja-JP" sz="3100" dirty="0">
              <a:solidFill>
                <a:srgbClr val="082B52"/>
              </a:solidFill>
              <a:latin typeface="Yu Gothic"/>
            </a:endParaRPr>
          </a:p>
          <a:p>
            <a:pPr algn="ctr"/>
            <a:r>
              <a:rPr lang="ja-JP" altLang="en-US" sz="3100" dirty="0">
                <a:solidFill>
                  <a:srgbClr val="082B52"/>
                </a:solidFill>
                <a:latin typeface="Yu Gothic"/>
              </a:rPr>
              <a:t> </a:t>
            </a:r>
            <a:r>
              <a:rPr sz="3100" b="1" dirty="0" err="1">
                <a:solidFill>
                  <a:srgbClr val="082B52"/>
                </a:solidFill>
                <a:latin typeface="Yu Gothic"/>
              </a:rPr>
              <a:t>operationally remove only predictable thermal deformation from the initial LOS error.</a:t>
            </a:r>
            <a:endParaRPr lang="en-US"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584775"/>
          </a:xfrm>
          <a:prstGeom prst="rect">
            <a:avLst/>
          </a:prstGeom>
          <a:noFill/>
        </p:spPr>
        <p:txBody>
          <a:bodyPr wrap="square" rtlCol="0">
            <a:spAutoFit/>
          </a:bodyPr>
          <a:lstStyle/>
          <a:p>
            <a:pPr algn="ctr"/>
            <a:r>
              <a:rPr kumimoji="1" lang="en-US" altLang="ja-JP" sz="3200" b="1" dirty="0">
                <a:solidFill>
                  <a:srgbClr val="FF0000"/>
                </a:solidFill>
              </a:rPr>
              <a:t>Our approach</a:t>
            </a:r>
            <a:endParaRPr kumimoji="1" lang="ja-JP" altLang="en-US" sz="3200" b="1" dirty="0">
              <a:solidFill>
                <a:srgbClr val="FF0000"/>
              </a:solidFill>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Yu Gothic"/>
              <a:ea typeface="Yu Gothic"/>
            </a:endParaRPr>
          </a:p>
          <a:p>
            <a:pPr algn="l">
              <a:spcAft>
                <a:spcPts val="0"/>
              </a:spcAft>
            </a:pPr>
            <a:r>
              <a:rPr sz="2000" b="0" dirty="0" err="1">
                <a:solidFill>
                  <a:srgbClr val="666F79"/>
                </a:solidFill>
                <a:latin typeface="Yu Gothic"/>
                <a:ea typeface="Yu Gothic"/>
              </a:rPr>
              <a:t>Background</a:t>
            </a:r>
            <a:endParaRPr sz="2000" b="0" dirty="0">
              <a:solidFill>
                <a:srgbClr val="666F79"/>
              </a:solidFill>
              <a:latin typeface="Yu Gothic"/>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sz="3200" b="1" dirty="0">
                <a:solidFill>
                  <a:srgbClr val="082B52"/>
                </a:solidFill>
                <a:latin typeface="Yu Gothic"/>
                <a:ea typeface="Yu Gothic"/>
              </a:rPr>
              <a:t>Thermal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a:t>
            </a:r>
            <a:r>
              <a:rPr sz="3200" b="1" dirty="0">
                <a:solidFill>
                  <a:srgbClr val="082B52"/>
                </a:solidFill>
                <a:latin typeface="Yu Gothic"/>
                <a:ea typeface="Yu Gothic"/>
              </a:rPr>
              <a:t> can match or exceed orbit-prediction error</a:t>
            </a:r>
            <a:r>
              <a:rPr lang="ja-JP" altLang="en-US" sz="3200" b="1" dirty="0">
                <a:solidFill>
                  <a:srgbClr val="082B52"/>
                </a:solidFill>
                <a:latin typeface="Yu Gothic"/>
                <a:ea typeface="Yu Gothic"/>
              </a:rPr>
              <a:t>—</a:t>
            </a:r>
            <a:r>
              <a:rPr sz="3200" b="1" dirty="0" err="1">
                <a:solidFill>
                  <a:srgbClr val="082B52"/>
                </a:solidFill>
                <a:latin typeface="Yu Gothic"/>
                <a:ea typeface="Yu Gothic"/>
              </a:rPr>
              <a:t>and cannot be optically separated before acquisition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4</a:t>
            </a:r>
          </a:p>
        </p:txBody>
      </p:sp>
      <p:graphicFrame>
        <p:nvGraphicFramePr>
          <p:cNvPr id="5" name="Table 4"/>
          <p:cNvGraphicFramePr>
            <a:graphicFrameLocks noGrp="1"/>
          </p:cNvGraphicFramePr>
          <p:nvPr>
            <p:extLst>
              <p:ext uri="{D42A27DB-BD31-4B8C-83A1-F6EECF244321}">
                <p14:modId xmlns:p14="http://schemas.microsoft.com/office/powerpoint/2010/main" val="411065855"/>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400" b="1">
                          <a:solidFill>
                            <a:srgbClr val="FFFFFF"/>
                          </a:solidFill>
                          <a:latin typeface="Yu Gothic"/>
                          <a:ea typeface="Yu Gothic"/>
                        </a:rPr>
                        <a:t>Error source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Approximate magnitude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Time variation</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400" b="0" dirty="0" err="1">
                          <a:solidFill>
                            <a:srgbClr val="232B34"/>
                          </a:solidFill>
                          <a:latin typeface="Yu Gothic"/>
                          <a:ea typeface="Yu Gothic"/>
                        </a:rPr>
                        <a:t>Thermal LOS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a:solidFill>
                            <a:srgbClr val="232B34"/>
                          </a:solidFill>
                          <a:latin typeface="Yu Gothic"/>
                          <a:ea typeface="Yu Gothic"/>
                        </a:rPr>
                        <a:t>150 µrad–1000 µrad (this analysis)</a:t>
                      </a: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400" b="0" dirty="0" err="1">
                          <a:solidFill>
                            <a:srgbClr val="232B34"/>
                          </a:solidFill>
                          <a:latin typeface="Yu Gothic"/>
                          <a:ea typeface="Yu Gothic"/>
                        </a:rPr>
                        <a:t>Orbit prediction</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Several hundred µrad (TLE propagation vs. precise GPS ephemeris)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400" b="0">
                          <a:solidFill>
                            <a:srgbClr val="232B34"/>
                          </a:solidFill>
                          <a:latin typeface="Yu Gothic"/>
                          <a:ea typeface="Yu Gothic"/>
                        </a:rPr>
                        <a:t>Attitude and calibrated alignment</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Tens of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 to broadband</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400" b="0">
                          <a:solidFill>
                            <a:srgbClr val="232B34"/>
                          </a:solidFill>
                          <a:latin typeface="Yu Gothic"/>
                          <a:ea typeface="Yu Gothic"/>
                        </a:rPr>
                        <a:t>Mechanical vibration</a:t>
                      </a:r>
                    </a:p>
                  </a:txBody>
                  <a:tcPr marL="128016" marR="128016" anchor="ctr">
                    <a:solidFill>
                      <a:srgbClr val="F4F6F8"/>
                    </a:solidFill>
                  </a:tcPr>
                </a:tc>
                <a:tc>
                  <a:txBody>
                    <a:bodyPr/>
                    <a:lstStyle/>
                    <a:p>
                      <a:pPr algn="ctr">
                        <a:spcAft>
                          <a:spcPts val="0"/>
                        </a:spcAft>
                      </a:pPr>
                      <a:r>
                        <a:rPr sz="2400" b="0" dirty="0">
                          <a:solidFill>
                            <a:srgbClr val="232B34"/>
                          </a:solidFill>
                          <a:latin typeface="Yu Gothic"/>
                          <a:ea typeface="Yu Gothic"/>
                        </a:rPr>
                        <a:t>Several to tens of µrad</a:t>
                      </a:r>
                    </a:p>
                  </a:txBody>
                  <a:tcPr marL="128016" marR="128016" anchor="ctr">
                    <a:solidFill>
                      <a:srgbClr val="F4F6F8"/>
                    </a:solidFill>
                  </a:tcPr>
                </a:tc>
                <a:tc>
                  <a:txBody>
                    <a:bodyPr/>
                    <a:lstStyle/>
                    <a:p>
                      <a:pPr algn="ctr">
                        <a:spcAft>
                          <a:spcPts val="0"/>
                        </a:spcAft>
                      </a:pPr>
                      <a:r>
                        <a:rPr sz="2400" b="0" dirty="0" err="1">
                          <a:solidFill>
                            <a:srgbClr val="232B34"/>
                          </a:solidFill>
                          <a:latin typeface="Yu Gothic"/>
                          <a:ea typeface="Yu Gothic"/>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Yu Gothic"/>
                <a:ea typeface="Yu Gothic"/>
              </a:rPr>
              <a:t>* </a:t>
            </a:r>
            <a:r>
              <a:rPr sz="2000" b="0" dirty="0" err="1">
                <a:solidFill>
                  <a:srgbClr val="666F79"/>
                </a:solidFill>
                <a:latin typeface="Yu Gothic"/>
                <a:ea typeface="Yu Gothic"/>
              </a:rPr>
              <a:t>Thermal </a:t>
            </a:r>
            <a:r>
              <a:rPr lang="en-US" sz="2000" b="0" dirty="0" err="1">
                <a:solidFill>
                  <a:srgbClr val="666F79"/>
                </a:solidFill>
                <a:latin typeface="Yu Gothic"/>
                <a:ea typeface="Yu Gothic"/>
              </a:rPr>
              <a:t>LOS</a:t>
            </a:r>
            <a:r>
              <a:rPr lang="ja-JP" altLang="en-US" sz="2000" b="0" dirty="0">
                <a:solidFill>
                  <a:srgbClr val="666F79"/>
                </a:solidFill>
                <a:latin typeface="Yu Gothic"/>
                <a:ea typeface="Yu Gothic"/>
              </a:rPr>
              <a:t> and orbit-prediction error are from this analysis; </a:t>
            </a:r>
            <a:r>
              <a:rPr sz="2000" b="0" dirty="0" err="1">
                <a:solidFill>
                  <a:srgbClr val="666F79"/>
                </a:solidFill>
                <a:latin typeface="Yu Gothic"/>
                <a:ea typeface="Yu Gothic"/>
              </a:rPr>
              <a:t>other values are literature-based order-of-magnitude estimates.</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Yu Gothic"/>
                <a:ea typeface="Yu Gothic"/>
              </a:rPr>
              <a:t>Thermal LOS and orbit prediction share </a:t>
            </a:r>
            <a:r>
              <a:rPr lang="ja-JP" altLang="en-US" sz="3200" dirty="0">
                <a:solidFill>
                  <a:srgbClr val="082B52"/>
                </a:solidFill>
                <a:latin typeface="Yu Gothic"/>
                <a:ea typeface="Yu Gothic"/>
              </a:rPr>
              <a:t>similar</a:t>
            </a:r>
            <a:r>
              <a:rPr sz="3200" dirty="0" err="1">
                <a:solidFill>
                  <a:srgbClr val="082B52"/>
                </a:solidFill>
                <a:latin typeface="Yu Gothic"/>
                <a:ea typeface="Yu Gothic"/>
              </a:rPr>
              <a:t> orbital periods</a:t>
            </a:r>
            <a:endParaRPr sz="3200" dirty="0">
              <a:solidFill>
                <a:srgbClr val="082B52"/>
              </a:solidFill>
              <a:latin typeface="Yu Gothic"/>
              <a:ea typeface="Yu Gothic"/>
            </a:endParaRPr>
          </a:p>
          <a:p>
            <a:pPr algn="ctr">
              <a:lnSpc>
                <a:spcPct val="120000"/>
              </a:lnSpc>
              <a:spcAft>
                <a:spcPts val="0"/>
              </a:spcAft>
            </a:pPr>
            <a:r>
              <a:rPr sz="3200" dirty="0" err="1">
                <a:solidFill>
                  <a:srgbClr val="082B52"/>
                </a:solidFill>
                <a:latin typeface="Yu Gothic"/>
                <a:ea typeface="Yu Gothic"/>
              </a:rPr>
              <a:t>Frequency separation of post-acquisition residuals cannot isolate the thermal component</a:t>
            </a:r>
            <a:endParaRPr sz="3200" dirty="0">
              <a:solidFill>
                <a:srgbClr val="082B52"/>
              </a:solidFill>
              <a:latin typeface="Yu Gothic"/>
              <a:ea typeface="Yu Gothic"/>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Yu Gothic"/>
                <a:ea typeface="Yu Gothic"/>
              </a:rPr>
              <a:t>Do not </a:t>
            </a:r>
            <a:r>
              <a:rPr lang="ja-JP" altLang="en-US" sz="3200" b="1" dirty="0">
                <a:latin typeface="Yu Gothic"/>
                <a:ea typeface="Yu Gothic"/>
              </a:rPr>
              <a:t>separate thermal effects retrospectively</a:t>
            </a:r>
            <a:r>
              <a:rPr sz="3200" b="1" dirty="0" err="1">
                <a:latin typeface="Yu Gothic"/>
                <a:ea typeface="Yu Gothic"/>
              </a:rPr>
              <a:t> from observations</a:t>
            </a:r>
            <a:endParaRPr lang="en-US" sz="3200" b="1" dirty="0">
              <a:latin typeface="Yu Gothic"/>
              <a:ea typeface="Yu Gothic"/>
            </a:endParaRPr>
          </a:p>
          <a:p>
            <a:pPr algn="ctr">
              <a:spcAft>
                <a:spcPts val="0"/>
              </a:spcAft>
            </a:pPr>
            <a:r>
              <a:rPr sz="3200" b="1" dirty="0" err="1">
                <a:latin typeface="Yu Gothic"/>
                <a:ea typeface="Yu Gothic"/>
              </a:rPr>
              <a:t>Use temperature and operating state</a:t>
            </a:r>
            <a:r>
              <a:rPr lang="ja-JP" altLang="en-US" sz="3200" b="1" dirty="0">
                <a:latin typeface="Yu Gothic"/>
                <a:ea typeface="Yu Gothic"/>
              </a:rPr>
              <a:t> </a:t>
            </a:r>
            <a:r>
              <a:rPr sz="3200" b="1" dirty="0" err="1">
                <a:latin typeface="Yu Gothic"/>
                <a:ea typeface="Yu Gothic"/>
              </a:rPr>
              <a:t>to subtract them before acquisition</a:t>
            </a:r>
            <a:endParaRPr sz="3200" b="1" dirty="0">
              <a:latin typeface="Yu Gothic"/>
              <a:ea typeface="Yu Gothic"/>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ja-JP" altLang="ja-JP" sz="2800" b="1" dirty="0">
                <a:solidFill>
                  <a:schemeClr val="tx2">
                    <a:lumMod val="50000"/>
                  </a:schemeClr>
                </a:solidFill>
              </a:rPr>
              <a:t>Main contributors to scan-center LOS error during coarse acquisition</a:t>
            </a:r>
            <a:endParaRPr lang="ja-JP" altLang="ja-JP" sz="2800" dirty="0">
              <a:solidFill>
                <a:schemeClr val="tx2">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Background</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Prior work on thermal-deformation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 prediction and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619788505"/>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5118730">
                  <a:extLst>
                    <a:ext uri="{9D8B030D-6E8A-4147-A177-3AD203B41FA5}">
                      <a16:colId xmlns:a16="http://schemas.microsoft.com/office/drawing/2014/main" val="1548032301"/>
                    </a:ext>
                  </a:extLst>
                </a:gridCol>
                <a:gridCol w="511873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rPr>
                        <a:t>Field</a:t>
                      </a:r>
                      <a:endParaRPr lang="ja-JP" sz="2800" b="0" dirty="0">
                        <a:solidFill>
                          <a:schemeClr val="bg1"/>
                        </a:solidFill>
                      </a:endParaRPr>
                    </a:p>
                  </a:txBody>
                  <a:tcPr anchor="ctr">
                    <a:solidFill>
                      <a:schemeClr val="tx1"/>
                    </a:solidFill>
                  </a:tcPr>
                </a:tc>
                <a:tc>
                  <a:txBody>
                    <a:bodyPr/>
                    <a:lstStyle/>
                    <a:p>
                      <a:pPr>
                        <a:buNone/>
                      </a:pPr>
                      <a:r>
                        <a:rPr lang="ja-JP" sz="2800" b="0" dirty="0">
                          <a:solidFill>
                            <a:schemeClr val="tx1"/>
                          </a:solidFill>
                        </a:rPr>
                        <a:t>Optical communications</a:t>
                      </a:r>
                    </a:p>
                  </a:txBody>
                  <a:tcPr anchor="ctr">
                    <a:solidFill>
                      <a:schemeClr val="bg1">
                        <a:lumMod val="95000"/>
                      </a:schemeClr>
                    </a:solidFill>
                  </a:tcPr>
                </a:tc>
                <a:tc>
                  <a:txBody>
                    <a:bodyPr/>
                    <a:lstStyle/>
                    <a:p>
                      <a:pPr>
                        <a:buNone/>
                      </a:pPr>
                      <a:r>
                        <a:rPr lang="ja-JP" sz="2800" b="0" dirty="0">
                          <a:solidFill>
                            <a:schemeClr val="tx1"/>
                          </a:solidFill>
                        </a:rPr>
                        <a:t>Earth observation / optics</a:t>
                      </a:r>
                    </a:p>
                  </a:txBody>
                  <a:tcPr anchor="ctr">
                    <a:solidFill>
                      <a:schemeClr val="bg1">
                        <a:lumMod val="85000"/>
                      </a:schemeClr>
                    </a:solidFill>
                  </a:tcPr>
                </a:tc>
                <a:tc>
                  <a:txBody>
                    <a:bodyPr/>
                    <a:lstStyle/>
                    <a:p>
                      <a:pPr>
                        <a:buNone/>
                      </a:pPr>
                      <a:r>
                        <a:rPr lang="ja-JP" sz="2800" b="0" dirty="0">
                          <a:solidFill>
                            <a:schemeClr val="tx1"/>
                          </a:solidFill>
                        </a:rPr>
                        <a:t>This study</a:t>
                      </a: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rPr>
                        <a:t>Approach to thermal deformation</a:t>
                      </a:r>
                    </a:p>
                  </a:txBody>
                  <a:tcPr anchor="ctr">
                    <a:solidFill>
                      <a:schemeClr val="tx1"/>
                    </a:solidFill>
                  </a:tcPr>
                </a:tc>
                <a:tc>
                  <a:txBody>
                    <a:bodyPr/>
                    <a:lstStyle/>
                    <a:p>
                      <a:pPr>
                        <a:buNone/>
                      </a:pPr>
                      <a:r>
                        <a:rPr lang="ja-JP" sz="2800" b="0" dirty="0">
                          <a:solidFill>
                            <a:schemeClr val="tx1"/>
                          </a:solidFill>
                        </a:rPr>
                        <a:t>Reduce thermal deformation through structure, materials, and equipment placement</a:t>
                      </a:r>
                      <a:br>
                        <a:rPr lang="ja-JP" sz="2800" b="0" dirty="0">
                          <a:solidFill>
                            <a:schemeClr val="tx1"/>
                          </a:solidFill>
                        </a:rPr>
                      </a:br>
                      <a:r>
                        <a:rPr lang="ja-JP" sz="2800" b="0" dirty="0">
                          <a:solidFill>
                            <a:schemeClr val="tx1"/>
                          </a:solidFill>
                        </a:rPr>
                        <a:t>Assess thermal pointing error by FEM</a:t>
                      </a:r>
                    </a:p>
                  </a:txBody>
                  <a:tcPr anchor="ctr">
                    <a:solidFill>
                      <a:schemeClr val="bg1">
                        <a:lumMod val="95000"/>
                      </a:schemeClr>
                    </a:solidFill>
                  </a:tcPr>
                </a:tc>
                <a:tc>
                  <a:txBody>
                    <a:bodyPr/>
                    <a:lstStyle/>
                    <a:p>
                      <a:pPr>
                        <a:buNone/>
                      </a:pPr>
                      <a:r>
                        <a:rPr lang="ja-JP" sz="2800" b="0" dirty="0">
                          <a:solidFill>
                            <a:schemeClr val="tx1"/>
                          </a:solidFill>
                        </a:rPr>
                        <a:t>Predict and correct LOS variation from temperature, orbital phase, and observation geometry</a:t>
                      </a:r>
                    </a:p>
                  </a:txBody>
                  <a:tcPr anchor="ctr">
                    <a:solidFill>
                      <a:schemeClr val="bg1">
                        <a:lumMod val="85000"/>
                      </a:schemeClr>
                    </a:solidFill>
                  </a:tcPr>
                </a:tc>
                <a:tc>
                  <a:txBody>
                    <a:bodyPr/>
                    <a:lstStyle/>
                    <a:p>
                      <a:pPr>
                        <a:buNone/>
                      </a:pPr>
                      <a:r>
                        <a:rPr lang="ja-JP" sz="2800" b="0" dirty="0">
                          <a:solidFill>
                            <a:schemeClr val="tx1"/>
                          </a:solidFill>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rPr>
                        <a:t>Main target</a:t>
                      </a:r>
                    </a:p>
                  </a:txBody>
                  <a:tcPr anchor="ctr">
                    <a:solidFill>
                      <a:schemeClr val="tx1"/>
                    </a:solidFill>
                  </a:tcPr>
                </a:tc>
                <a:tc>
                  <a:txBody>
                    <a:bodyPr/>
                    <a:lstStyle/>
                    <a:p>
                      <a:pPr>
                        <a:buNone/>
                      </a:pPr>
                      <a:r>
                        <a:rPr lang="ja-JP" sz="2800" b="0" dirty="0">
                          <a:solidFill>
                            <a:schemeClr val="tx1"/>
                          </a:solidFill>
                        </a:rPr>
                        <a:t>Optical terminals / spacecraft structures</a:t>
                      </a:r>
                    </a:p>
                  </a:txBody>
                  <a:tcPr anchor="ctr">
                    <a:solidFill>
                      <a:schemeClr val="bg1">
                        <a:lumMod val="95000"/>
                      </a:schemeClr>
                    </a:solidFill>
                  </a:tcPr>
                </a:tc>
                <a:tc>
                  <a:txBody>
                    <a:bodyPr/>
                    <a:lstStyle/>
                    <a:p>
                      <a:pPr>
                        <a:buNone/>
                      </a:pPr>
                      <a:r>
                        <a:rPr lang="ja-JP" sz="2800" b="0" dirty="0">
                          <a:solidFill>
                            <a:schemeClr val="tx1"/>
                          </a:solidFill>
                        </a:rPr>
                        <a:t>Cameras / remote-sensing optical systems</a:t>
                      </a:r>
                    </a:p>
                  </a:txBody>
                  <a:tcPr anchor="ctr">
                    <a:solidFill>
                      <a:schemeClr val="bg1">
                        <a:lumMod val="85000"/>
                      </a:schemeClr>
                    </a:solidFill>
                  </a:tcPr>
                </a:tc>
                <a:tc>
                  <a:txBody>
                    <a:bodyPr/>
                    <a:lstStyle/>
                    <a:p>
                      <a:r>
                        <a:rPr lang="ja-JP" altLang="ja-JP" sz="2800" b="0" dirty="0"/>
                        <a:t>STT–LCT relative LOS across the spacecraft bus</a:t>
                      </a: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rPr>
                        <a:t>Evaluation metric</a:t>
                      </a:r>
                    </a:p>
                  </a:txBody>
                  <a:tcPr anchor="ctr">
                    <a:solidFill>
                      <a:schemeClr val="tx1"/>
                    </a:solidFill>
                  </a:tcPr>
                </a:tc>
                <a:tc>
                  <a:txBody>
                    <a:bodyPr/>
                    <a:lstStyle/>
                    <a:p>
                      <a:pPr>
                        <a:buNone/>
                      </a:pPr>
                      <a:r>
                        <a:rPr lang="ja-JP" sz="2800" b="0" dirty="0">
                          <a:solidFill>
                            <a:schemeClr val="tx1"/>
                          </a:solidFill>
                        </a:rPr>
                        <a:t>Thermal stability, pointing error, link establishment</a:t>
                      </a:r>
                    </a:p>
                  </a:txBody>
                  <a:tcPr anchor="ctr">
                    <a:solidFill>
                      <a:schemeClr val="bg1">
                        <a:lumMod val="95000"/>
                      </a:schemeClr>
                    </a:solidFill>
                  </a:tcPr>
                </a:tc>
                <a:tc>
                  <a:txBody>
                    <a:bodyPr/>
                    <a:lstStyle/>
                    <a:p>
                      <a:pPr>
                        <a:buNone/>
                      </a:pPr>
                      <a:r>
                        <a:rPr lang="ja-JP" sz="2800" b="0" dirty="0">
                          <a:solidFill>
                            <a:schemeClr val="tx1"/>
                          </a:solidFill>
                        </a:rPr>
                        <a:t>LOS prediction error, image-pointing accuracy</a:t>
                      </a:r>
                    </a:p>
                  </a:txBody>
                  <a:tcPr anchor="ctr">
                    <a:solidFill>
                      <a:schemeClr val="bg1">
                        <a:lumMod val="85000"/>
                      </a:schemeClr>
                    </a:solidFill>
                  </a:tcPr>
                </a:tc>
                <a:tc>
                  <a:txBody>
                    <a:bodyPr/>
                    <a:lstStyle/>
                    <a:p>
                      <a:pPr>
                        <a:buNone/>
                      </a:pPr>
                      <a:r>
                        <a:rPr lang="ja-JP" sz="2800" b="0" dirty="0">
                          <a:solidFill>
                            <a:schemeClr val="tx1"/>
                          </a:solidFill>
                        </a:rPr>
                        <a:t>Coarse-acquisition time and success rate</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rPr>
                        <a:t>Remaining gap</a:t>
                      </a:r>
                    </a:p>
                  </a:txBody>
                  <a:tcPr anchor="ctr">
                    <a:solidFill>
                      <a:schemeClr val="tx1"/>
                    </a:solidFill>
                  </a:tcPr>
                </a:tc>
                <a:tc>
                  <a:txBody>
                    <a:bodyPr/>
                    <a:lstStyle/>
                    <a:p>
                      <a:pPr>
                        <a:buNone/>
                      </a:pPr>
                      <a:r>
                        <a:rPr lang="ja-JP" sz="2800" b="0" dirty="0">
                          <a:solidFill>
                            <a:schemeClr val="tx1"/>
                          </a:solidFill>
                        </a:rPr>
                        <a:t>Limited frameworks for </a:t>
                      </a:r>
                      <a:r>
                        <a:rPr lang="ja-JP" sz="2800" b="1" dirty="0">
                          <a:solidFill>
                            <a:schemeClr val="tx1"/>
                          </a:solidFill>
                        </a:rPr>
                        <a:t>predicting residual thermal LOS error during operations</a:t>
                      </a:r>
                    </a:p>
                  </a:txBody>
                  <a:tcPr anchor="ctr">
                    <a:solidFill>
                      <a:schemeClr val="bg1">
                        <a:lumMod val="95000"/>
                      </a:schemeClr>
                    </a:solidFill>
                  </a:tcPr>
                </a:tc>
                <a:tc>
                  <a:txBody>
                    <a:bodyPr/>
                    <a:lstStyle/>
                    <a:p>
                      <a:pPr>
                        <a:buNone/>
                      </a:pPr>
                      <a:r>
                        <a:rPr lang="ja-JP" altLang="en-US" sz="2800" b="0" dirty="0">
                          <a:solidFill>
                            <a:schemeClr val="tx1"/>
                          </a:solidFill>
                        </a:rPr>
                        <a:t>Not linked to </a:t>
                      </a:r>
                      <a:r>
                        <a:rPr lang="ja-JP" altLang="ja-JP" sz="2800" b="1" dirty="0">
                          <a:solidFill>
                            <a:schemeClr val="tx1"/>
                          </a:solidFill>
                        </a:rPr>
                        <a:t>spacecraft-bus LOS error or coarse-acquisition performance</a:t>
                      </a:r>
                    </a:p>
                  </a:txBody>
                  <a:tcPr anchor="ctr">
                    <a:solidFill>
                      <a:schemeClr val="bg1">
                        <a:lumMod val="85000"/>
                      </a:schemeClr>
                    </a:solidFill>
                  </a:tcPr>
                </a:tc>
                <a:tc>
                  <a:txBody>
                    <a:bodyPr/>
                    <a:lstStyle/>
                    <a:p>
                      <a:pPr>
                        <a:buNone/>
                      </a:pPr>
                      <a:r>
                        <a:rPr lang="ja-JP" sz="2800" b="0" dirty="0">
                          <a:solidFill>
                            <a:schemeClr val="tx1"/>
                          </a:solidFill>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References:</a:t>
            </a:r>
            <a:endParaRPr lang="en-US" altLang="ja-JP" dirty="0"/>
          </a:p>
          <a:p>
            <a:pPr marL="342900" lvl="0" indent="-342900">
              <a:buFont typeface="Arial" panose="020B0604020202020204" pitchFamily="34" charset="0"/>
              <a:buChar char="•"/>
            </a:pPr>
            <a:r>
              <a:rPr lang="ja-JP" altLang="ja-JP" dirty="0"/>
              <a:t>Optical comm.: Shi et al. 2023; Zhang et al. 2025</a:t>
            </a:r>
          </a:p>
          <a:p>
            <a:pPr marL="342900" lvl="0" indent="-342900">
              <a:buFont typeface="Arial" panose="020B0604020202020204" pitchFamily="34" charset="0"/>
              <a:buChar char="•"/>
            </a:pPr>
            <a:r>
              <a:rPr lang="ja-JP" altLang="ja-JP" dirty="0"/>
              <a:t>EO</a:t>
            </a:r>
            <a:r>
              <a:rPr lang="ja-JP" altLang="en-US" dirty="0"/>
              <a:t>/optics</a:t>
            </a:r>
            <a:r>
              <a:rPr lang="ja-JP" altLang="ja-JP" dirty="0"/>
              <a:t>: Li et al. 2025; Hu et al. 2022</a:t>
            </a:r>
            <a:r>
              <a:rPr lang="en-US" altLang="ja-JP" dirty="0"/>
              <a:t>; </a:t>
            </a:r>
            <a:r>
              <a:rPr lang="ja-JP" altLang="ja-JP" dirty="0"/>
              <a:t>Turella et al. 2019/2021</a:t>
            </a: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ja-JP" altLang="ja-JP" sz="3200" b="1" dirty="0"/>
              <a:t>From structural mitigation to instrument-specific LOS correction, this study develops a physics-based bus-level LOS model for coarse optical acquisition.</a:t>
            </a:r>
            <a:endParaRPr lang="ja-JP" altLang="en-US" sz="32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4847141" cy="547842"/>
          </a:xfrm>
          <a:prstGeom prst="rect">
            <a:avLst/>
          </a:prstGeom>
          <a:noFill/>
        </p:spPr>
        <p:txBody>
          <a:bodyPr wrap="none" lIns="36576" tIns="27432" rIns="36576" bIns="27432" anchor="t">
            <a:spAutoFit/>
          </a:bodyPr>
          <a:lstStyle/>
          <a:p>
            <a:r>
              <a:rPr lang="ja-JP" altLang="en-US" sz="3200" b="1" dirty="0"/>
              <a:t>Research overview: from thermoelastic truth generation and model construction to evaluation</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Reduced-order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Ground model development</a:t>
            </a:r>
            <a:endParaRPr sz="2700" b="1" dirty="0">
              <a:solidFill>
                <a:srgbClr val="082B52"/>
              </a:solidFill>
              <a:latin typeface="Yu Gothic"/>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ja-JP" sz="2800" dirty="0"/>
              <a:t>Input orbit, attitude, and thermal environment</a:t>
            </a:r>
            <a:endParaRPr lang="en-US" altLang="ja-JP" sz="2800" dirty="0"/>
          </a:p>
          <a:p>
            <a:pPr>
              <a:spcAft>
                <a:spcPts val="800"/>
              </a:spcAft>
            </a:pPr>
            <a:r>
              <a:rPr lang="en-US" altLang="ja-JP" sz="2800" b="1" dirty="0">
                <a:solidFill>
                  <a:srgbClr val="1B74AA"/>
                </a:solidFill>
                <a:latin typeface="Yu Gothic"/>
              </a:rPr>
              <a:t>• </a:t>
            </a:r>
            <a:r>
              <a:rPr lang="ja-JP" altLang="ja-JP" sz="2800" dirty="0"/>
              <a:t>Compute temperature fields and thermoelastic deformation with TD/Femap</a:t>
            </a:r>
            <a:endParaRPr lang="en-US" altLang="ja-JP" sz="2800" dirty="0"/>
          </a:p>
          <a:p>
            <a:pPr>
              <a:spcAft>
                <a:spcPts val="800"/>
              </a:spcAft>
            </a:pPr>
            <a:r>
              <a:rPr lang="en-US" altLang="ja-JP" sz="2800" b="1" dirty="0">
                <a:solidFill>
                  <a:srgbClr val="1B74AA"/>
                </a:solidFill>
                <a:latin typeface="Yu Gothic"/>
              </a:rPr>
              <a:t>• </a:t>
            </a:r>
            <a:r>
              <a:rPr lang="ja-JP" altLang="ja-JP" sz="2800" dirty="0"/>
              <a:t>Generate reference STT–LCT relative-LOS time series</a:t>
            </a:r>
            <a:endParaRPr lang="en-US" altLang="ja-JP" sz="2800" dirty="0"/>
          </a:p>
          <a:p>
            <a:pPr>
              <a:spcAft>
                <a:spcPts val="800"/>
              </a:spcAft>
            </a:pPr>
            <a:r>
              <a:rPr lang="en-US" altLang="ja-JP" sz="2800" b="1" dirty="0">
                <a:solidFill>
                  <a:srgbClr val="1B74AA"/>
                </a:solidFill>
                <a:latin typeface="Yu Gothic"/>
              </a:rPr>
              <a:t>• </a:t>
            </a:r>
            <a:r>
              <a:rPr lang="ja-JP" altLang="ja-JP" sz="2800" dirty="0"/>
              <a:t>Train and evaluate the reduced-order model</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On-orbit correction</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Temperature / operating state</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Predict thermal LOS</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Correct the scan center</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Include nonthermal errors</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Residual update</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ja-JP" sz="3200" b="1" dirty="0"/>
              <a:t>TD/Femap runs only on the ground; only the reduced-order model runs onboard</a:t>
            </a:r>
            <a:endParaRPr lang="en-US" altLang="ja-JP" sz="3200" b="1" dirty="0"/>
          </a:p>
          <a:p>
            <a:r>
              <a:rPr lang="en-US" altLang="ja-JP" sz="3200" b="1" dirty="0">
                <a:solidFill>
                  <a:srgbClr val="1B74AA"/>
                </a:solidFill>
                <a:latin typeface="Yu Gothic"/>
              </a:rPr>
              <a:t>• </a:t>
            </a:r>
            <a:r>
              <a:rPr lang="ja-JP" altLang="en-US" sz="3200" b="1" dirty="0"/>
              <a:t>Evaluate LOS error, acquisition success, and acquisition time</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 Orbit</a:t>
            </a:r>
            <a:endParaRPr kumimoji="1" lang="en-US" altLang="ja-JP" sz="2800" dirty="0"/>
          </a:p>
          <a:p>
            <a:r>
              <a:rPr kumimoji="1" lang="ja-JP" altLang="en-US" sz="2800" dirty="0"/>
              <a:t>• Attitude</a:t>
            </a:r>
            <a:endParaRPr kumimoji="1" lang="en-US" altLang="ja-JP" sz="2800" dirty="0"/>
          </a:p>
          <a:p>
            <a:r>
              <a:rPr kumimoji="1" lang="ja-JP" altLang="en-US" sz="2800" dirty="0"/>
              <a:t>• Equipment layout</a:t>
            </a:r>
            <a:endParaRPr kumimoji="1" lang="en-US" altLang="ja-JP" sz="2800" dirty="0"/>
          </a:p>
          <a:p>
            <a:r>
              <a:rPr kumimoji="1" lang="ja-JP" altLang="en-US" sz="2800" dirty="0"/>
              <a:t>• Surface properties</a:t>
            </a:r>
            <a:endParaRPr kumimoji="1" lang="en-US" altLang="ja-JP" sz="2800" dirty="0"/>
          </a:p>
          <a:p>
            <a:r>
              <a:rPr kumimoji="1" lang="ja-JP" altLang="en-US" sz="2800" dirty="0"/>
              <a:t>• Dissipation</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Background</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6" y="5721775"/>
            <a:ext cx="2189830"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Thermoelastic analysis</a:t>
            </a:r>
            <a:endParaRPr sz="3300" b="1" dirty="0">
              <a:solidFill>
                <a:srgbClr val="FFFFFF"/>
              </a:solidFill>
              <a:latin typeface="Yu Gothic"/>
            </a:endParaRP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We evaluate a box-structure LEO spacecraft with the STT and LCT on different panels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Item</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Bus dimensions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Panels</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10-mm-thick shell elements</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Not a specific-spacecraft design review.</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Boresight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analysis-model settings</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Thermal Desktop generates temperature-field time series from orbit, attitude, surface, and dissipation inputs</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Input</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Orbit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Sun-synchronous, 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Period</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Analysis duration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Sampling</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Every ≈60.5 s, 301 points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Illumination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Eclipse / continuous illumination</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Sun face</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Number of nodes</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Environmental conditions varied by case</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lnSpc>
                <a:spcPct val="110000"/>
              </a:lnSpc>
              <a:spcAft>
                <a:spcPts val="800"/>
              </a:spcAft>
            </a:pPr>
            <a:r>
              <a:rPr sz="2400" b="0">
                <a:solidFill>
                  <a:srgbClr val="232B34"/>
                </a:solidFill>
                <a:latin typeface="Yu Gothic"/>
                <a:ea typeface="Yu Gothic"/>
              </a:rPr>
              <a:t>• Internal-unit power: ON/OFF</a:t>
            </a:r>
            <a:endParaRPr sz="2600" dirty="0">
              <a:solidFill>
                <a:srgbClr val="232B34"/>
              </a:solidFill>
              <a:latin typeface="Yu Gothic"/>
            </a:endParaRPr>
          </a:p>
          <a:p>
            <a:pPr>
              <a:lnSpc>
                <a:spcPct val="110000"/>
              </a:lnSpc>
              <a:spcAft>
                <a:spcPts val="800"/>
              </a:spcAft>
            </a:pPr>
            <a:r>
              <a:rPr sz="2400" b="0">
                <a:solidFill>
                  <a:srgbClr val="232B34"/>
                </a:solidFill>
                <a:latin typeface="Yu Gothic"/>
                <a:ea typeface="Yu Gothic"/>
              </a:rPr>
              <a:t>• Surface: α = ε = 0.5 / Black / Alodine</a:t>
            </a:r>
          </a:p>
          <a:p>
            <a:pPr>
              <a:lnSpc>
                <a:spcPct val="110000"/>
              </a:lnSpc>
              <a:spcAft>
                <a:spcPts val="800"/>
              </a:spcAft>
            </a:pPr>
            <a:r>
              <a:rPr sz="2400" b="0">
                <a:solidFill>
                  <a:srgbClr val="232B34"/>
                </a:solidFill>
                <a:latin typeface="Yu Gothic"/>
                <a:ea typeface="Yu Gothic"/>
              </a:rPr>
              <a:t>• Orbit: LTAN18 / 693 km</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thermal-analysis inputs</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Output: panel temperature field T(t), computed on the ground.</a:t>
            </a: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temperature field is mapped into Femap to obtain STT and LCT translations and rotations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Structural-analysis setting</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Aluminum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Young's modulus</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Poisson's ratio</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Coefficient of thermal expansion</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Density</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Reference temperature</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Constraint</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structural-analysis settings</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pPr>
              <a:spcAft>
                <a:spcPts val="0"/>
              </a:spcAft>
            </a:pPr>
            <a:r>
              <a:rPr sz="2200" b="1">
                <a:solidFill>
                  <a:srgbClr val="1B74AA"/>
                </a:solidFill>
                <a:latin typeface="Yu Gothic"/>
                <a:ea typeface="Yu Gothic"/>
              </a:rPr>
              <a:t>Input T(t)</a:t>
            </a: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Thermal Desktop and Femap generate training data on the ground.</a:t>
            </a: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For a far-field link, the relevant quantity is rotation of the LCT optical axis relative to the STT</a:t>
            </a:r>
            <a:endParaRPr lang="en-US"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LOS-error definition</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 optical-axis rotation − STT reference rotation</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 thermal rotation is absorbed into attitude</a:t>
            </a:r>
          </a:p>
          <a:p>
            <a:pPr>
              <a:lnSpc>
                <a:spcPct val="110000"/>
              </a:lnSpc>
              <a:spcAft>
                <a:spcPts val="800"/>
              </a:spcAft>
            </a:pPr>
            <a:r>
              <a:rPr sz="2200" b="0">
                <a:solidFill>
                  <a:srgbClr val="232B34"/>
                </a:solidFill>
                <a:latin typeface="Yu Gothic"/>
                <a:ea typeface="Yu Gothic"/>
              </a:rPr>
              <a:t>• Directly gives far-field scan-center error</a:t>
            </a:r>
          </a:p>
          <a:p>
            <a:pPr>
              <a:lnSpc>
                <a:spcPct val="110000"/>
              </a:lnSpc>
              <a:spcAft>
                <a:spcPts val="800"/>
              </a:spcAft>
            </a:pPr>
            <a:r>
              <a:rPr sz="2200" b="0">
                <a:solidFill>
                  <a:srgbClr val="232B34"/>
                </a:solidFill>
                <a:latin typeface="Yu Gothic"/>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Far-field LOS error = STT-relative LCT optical-axis rotation, not translation</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structure and LOS definition are fixed; only sun face, dissipation, surface, and orbit vary</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Varied factor</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Cases</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Sun face</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Dominant axis, sign, and magnitude</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Internal dissipation</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 only / +PROP / +PCDU / all units (one half-power case)</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Variation in mean bias across cases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Surface properties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Baseline (α = ε = 0.5) /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Variation amplitude and residual floor</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Orbit / thermal environment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Eclipse / continuous illumination; 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Applicability across thermal and orbit conditions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PZ/MZ sun-face cases are not included;</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they host the STT/LCT and are outside this model's scope.</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Case parameters</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Fixed parameters: structure and dimensions, STT/LCT placement, material, and LOS definition</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Current analysis: 21 cases.</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Across-condition evaluation is limited to the same spacecraft bus; coefficients are not transferred unchanged to another structure.</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Results: thermal LOS varies at the orbital period; the dominant axis and mean offset follow the sun face</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Panel temperatures</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 (MY sun face): 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Orbital-period thermal LOS; dominant axis: MY/PY → y, MX/PX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Dominant-axis variation follows sun-facing–opposite-panel center ΔT</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5" y="5806440"/>
            <a:ext cx="2189831"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Reduced-order model</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Model requirements</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No onboard TD/Femap</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Few temperatures and operating flags</a:t>
            </a:r>
          </a:p>
          <a:p>
            <a:pPr>
              <a:lnSpc>
                <a:spcPct val="115000"/>
              </a:lnSpc>
              <a:spcAft>
                <a:spcPts val="3400"/>
              </a:spcAft>
            </a:pPr>
            <a:r>
              <a:rPr sz="2500" b="0">
                <a:solidFill>
                  <a:srgbClr val="232B34"/>
                </a:solidFill>
                <a:latin typeface="Yu Gothic"/>
                <a:ea typeface="Yu Gothic"/>
              </a:rPr>
              <a:t>• Small, fixed coefficient set</a:t>
            </a:r>
          </a:p>
          <a:p>
            <a:pPr>
              <a:lnSpc>
                <a:spcPct val="115000"/>
              </a:lnSpc>
              <a:spcAft>
                <a:spcPts val="3400"/>
              </a:spcAft>
            </a:pPr>
            <a:r>
              <a:rPr sz="2500" b="0">
                <a:solidFill>
                  <a:srgbClr val="232B34"/>
                </a:solidFill>
                <a:latin typeface="Yu Gothic"/>
                <a:ea typeface="Yu Gothic"/>
              </a:rPr>
              <a:t>• Output: scan-center correction angle</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Candidate model</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Strengths / limitations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Constant bias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Lightweight / cannot represent within-orbit variation</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Fourier series in orbital phase</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Represents periodicity / must be rebuilt when orbit or conditions change</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Multiple mounting-point temperatures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Flexible / collinearity with ΔT destabilizes coefficients</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Sun-face temperature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Physically interpretable / does not fully track variation</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Sun-face temperature difference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Physically interpretable / cannot explain mean offsets across cases</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Hierarchical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Separates within-orbit variation from means across cases</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Adopt a hierarchical model that separately predicts thermal-LOS variation from sun-face–opposite-panel ΔT</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and thermal-LOS bias from the mean offset across cases</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Reduced-order model selection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Onboard prediction separates time-varying and bias terms using ΔT and operating flags</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Assumption: onboard panel-center thermocouples</a:t>
                </a: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Sensitivity a(sun)</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Shared by sun face</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+28.6, −28.1,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Case-dependent DC offset</a:t>
            </a:r>
            <a:endParaRPr lang="en-US" altLang="ja-JP" sz="2800" dirty="0"/>
          </a:p>
          <a:p>
            <a:pPr algn="ctr">
              <a:lnSpc>
                <a:spcPct val="110000"/>
              </a:lnSpc>
              <a:spcAft>
                <a:spcPts val="400"/>
              </a:spcAft>
            </a:pPr>
            <a:r>
              <a:rPr sz="2400" b="0" dirty="0" err="1">
                <a:solidFill>
                  <a:srgbClr val="232B34"/>
                </a:solidFill>
                <a:latin typeface="Yu Gothic"/>
                <a:ea typeface="Yu Gothic"/>
              </a:rPr>
              <a:t>From sun face and ON/OFF flags</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Decomposed by the equation above</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Dominant-axis selection</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Prediction axis from sun face</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x; MY/PY → y</a:t>
            </a:r>
          </a:p>
          <a:p>
            <a:pPr algn="ctr">
              <a:lnSpc>
                <a:spcPct val="110000"/>
              </a:lnSpc>
              <a:spcAft>
                <a:spcPts val="200"/>
              </a:spcAft>
            </a:pPr>
            <a:r>
              <a:rPr sz="2100" b="0" dirty="0" err="1">
                <a:solidFill>
                  <a:srgbClr val="232B34"/>
                </a:solidFill>
                <a:latin typeface="Yu Gothic"/>
                <a:ea typeface="Yu Gothic"/>
              </a:rPr>
              <a:t>Non-dominant axis: bias only</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MX/PX bias ≈ −600 µrad;</a:t>
            </a:r>
          </a:p>
          <a:p>
            <a:pPr algn="ctr">
              <a:lnSpc>
                <a:spcPct val="110000"/>
              </a:lnSpc>
              <a:spcAft>
                <a:spcPts val="200"/>
              </a:spcAft>
            </a:pPr>
            <a:r>
              <a:rPr sz="2100" b="0" dirty="0" err="1">
                <a:solidFill>
                  <a:srgbClr val="232B34"/>
                </a:solidFill>
                <a:latin typeface="Yu Gothic"/>
                <a:ea typeface="Yu Gothic"/>
              </a:rPr>
              <a:t>zeroing it degrades acquisition</a:t>
            </a:r>
            <a:endParaRPr sz="2100" b="0" dirty="0">
              <a:solidFill>
                <a:srgbClr val="232B34"/>
              </a:solidFill>
              <a:latin typeface="Yu Gothic"/>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Panel ΔT: time variation · DC offset: cross-case differences</a:t>
            </a:r>
            <a:endParaRPr lang="ja-JP" altLang="ja-JP" sz="3200" dirty="0"/>
          </a:p>
        </p:txBody>
      </p:sp>
      <mc:AlternateContent xmlns:mc="http://schemas.openxmlformats.org/markup-compatibility/2006" xmlns:a14="http://schemas.microsoft.com/office/drawing/2010/main">
        <mc:Choice Requires="a14">
          <p:sp>
            <p:nvSpPr>
              <p:cNvPr id="6" name="TextBox 5"/>
              <p:cNvSpPr txBox="1"/>
              <p:nvPr/>
            </p:nvSpPr>
            <p:spPr>
              <a:xfrm>
                <a:off x="5955368" y="6693408"/>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16 coefficients; specific to this structure, placement, and LOS definition</a:t>
            </a: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404638"/>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1"/>
                            </a:solidFill>
                            <a:latin typeface="Cambria Math" panose="02040503050406030204" pitchFamily="18" charset="0"/>
                          </a:rPr>
                        </m:ctrlPr>
                      </m:sSubPr>
                      <m:e>
                        <m:r>
                          <a:rPr lang="en-US" altLang="ja-JP" sz="3200" b="1" i="1" dirty="0">
                            <a:solidFill>
                              <a:schemeClr val="accent1"/>
                            </a:solidFill>
                            <a:latin typeface="Cambria Math" panose="02040503050406030204" pitchFamily="18" charset="0"/>
                          </a:rPr>
                          <m:t>𝑰</m:t>
                        </m:r>
                      </m:e>
                      <m:sub>
                        <m:r>
                          <a:rPr lang="en-US" altLang="ja-JP" sz="3200" b="1" i="1" dirty="0">
                            <a:solidFill>
                              <a:schemeClr val="accent1"/>
                            </a:solidFill>
                            <a:latin typeface="Cambria Math" panose="02040503050406030204" pitchFamily="18" charset="0"/>
                          </a:rPr>
                          <m:t>𝑷𝑹𝑶</m:t>
                        </m:r>
                        <m:r>
                          <a:rPr lang="en-US" altLang="ja-JP" sz="3200" b="1" i="1" dirty="0" smtClean="0">
                            <a:solidFill>
                              <a:schemeClr val="accent1"/>
                            </a:solidFill>
                            <a:latin typeface="Cambria Math" panose="02040503050406030204" pitchFamily="18" charset="0"/>
                          </a:rPr>
                          <m:t>𝑷</m:t>
                        </m:r>
                      </m:sub>
                    </m:sSub>
                    <m:r>
                      <a:rPr lang="en-US" altLang="ja-JP" sz="3200" b="1" i="1" dirty="0" smtClean="0">
                        <a:solidFill>
                          <a:schemeClr val="accent1"/>
                        </a:solidFill>
                        <a:latin typeface="Cambria Math" panose="02040503050406030204" pitchFamily="18" charset="0"/>
                      </a:rPr>
                      <m:t>, </m:t>
                    </m:r>
                    <m:sSub>
                      <m:sSubPr>
                        <m:ctrlPr>
                          <a:rPr lang="en-US" altLang="ja-JP" sz="3200" b="1" i="1" dirty="0" smtClean="0">
                            <a:solidFill>
                              <a:schemeClr val="accent1"/>
                            </a:solidFill>
                            <a:latin typeface="Cambria Math" panose="02040503050406030204" pitchFamily="18" charset="0"/>
                          </a:rPr>
                        </m:ctrlPr>
                      </m:sSubPr>
                      <m:e>
                        <m:r>
                          <a:rPr lang="en-US" altLang="ja-JP" sz="3200" b="1" i="1" dirty="0" smtClean="0">
                            <a:solidFill>
                              <a:schemeClr val="accent1"/>
                            </a:solidFill>
                            <a:latin typeface="Cambria Math" panose="02040503050406030204" pitchFamily="18" charset="0"/>
                          </a:rPr>
                          <m:t>𝑰</m:t>
                        </m:r>
                      </m:e>
                      <m:sub>
                        <m:r>
                          <a:rPr lang="en-US" altLang="ja-JP" sz="3200" b="1" i="1" dirty="0" smtClean="0">
                            <a:solidFill>
                              <a:schemeClr val="accent1"/>
                            </a:solidFill>
                            <a:latin typeface="Cambria Math" panose="02040503050406030204" pitchFamily="18" charset="0"/>
                          </a:rPr>
                          <m:t>𝑷𝑪𝑫𝑼</m:t>
                        </m:r>
                      </m:sub>
                    </m:sSub>
                    <m:r>
                      <a:rPr lang="ja-JP" altLang="en-US" sz="3200" b="1" i="1" dirty="0" smtClean="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𝑢𝑛𝑖𝑡</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𝑝𝑜𝑤𝑒𝑟</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𝑠𝑡𝑎𝑡𝑒</m:t>
                    </m:r>
                    <m:r>
                      <a:rPr lang="ja-JP" altLang="en-US" sz="3200" b="1" i="1" dirty="0">
                        <a:solidFill>
                          <a:schemeClr val="accent1"/>
                        </a:solidFill>
                        <a:latin typeface="Cambria Math" panose="02040503050406030204" pitchFamily="18" charset="0"/>
                      </a:rPr>
                      <m:t> (</m:t>
                    </m:r>
                  </m:oMath>
                </a14:m>
                <a:r>
                  <a:rPr lang="en-US" altLang="ja-JP" sz="3200" dirty="0">
                    <a:solidFill>
                      <a:schemeClr val="accent1"/>
                    </a:solidFill>
                  </a:rPr>
                  <a:t>ON/OFF</a:t>
                </a:r>
                <a:r>
                  <a:rPr lang="ja-JP" altLang="en-US" sz="3200" dirty="0">
                    <a:solidFill>
                      <a:schemeClr val="accent1"/>
                    </a:solidFill>
                  </a:rPr>
                  <a:t>)</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404638"/>
                <a:ext cx="12192000" cy="586699"/>
              </a:xfrm>
              <a:prstGeom prst="rect">
                <a:avLst/>
              </a:prstGeom>
              <a:blipFill>
                <a:blip r:embed="rId7"/>
                <a:stretch>
                  <a:fillRect t="-12500" b="-3437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The test case is excluded from all coefficient estimates to evaluate prediction under unseen conditions</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Fit each case</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Use the first orbit of each case
to estimate its sensitivity a
and mean b</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Share within each sun face</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Median a within each sun face
becomes the shared sensitivity
Fit mean b across cases from
sun face and dissipation flags</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Test an unseen case</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Exclude the test case from shared sensitivity
and both-axis mean models
Evaluate its next two orbits</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Evaluate how well fixed shared coefficients predict unseen operating conditions</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Across-condition evaluation within the same structure and LOS definition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100" b="1">
                <a:solidFill>
                  <a:srgbClr val="082B52"/>
                </a:solidFill>
                <a:latin typeface="Yu Gothic"/>
                <a:ea typeface="Yu Gothic"/>
              </a:rPr>
              <a:t>For unseen cases, median dominant-axis error is 4.9 µrad—one to two orders below the raw 615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Sun-face sensitivities a (case-specific and shared)</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Case bias b: empirical versus predicted</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Median raw dominant-axis LOS RMS</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Median test RMSE on unseen cases (mean 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LOO RMSE of case-mean DC bias</a:t>
            </a: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Shared sensitivity: MX +30.6 / MY +28.6 / PX −28.1 / PY −28.7 µrad/K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Even for Case 08, with one of the largest thermal LOS errors, 1250 µrad falls to 3.9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 (PY sun face, all units dissipating)</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Raw dominant-axis 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Test RMSE for an unseen case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First scan point is sufficient</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Corrected residual is well below
the 150 µrad detection radius</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ΔT follows the within-orbit variation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35437-8820-FE54-90F4-257360258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8022B-B953-CFCB-50F9-DFE723EF2FF2}"/>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b="0" dirty="0">
                <a:solidFill>
                  <a:srgbClr val="FFFFFF"/>
                </a:solidFill>
                <a:latin typeface="Yu Gothic"/>
              </a:rPr>
              <a:t>4</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B4CFD4D2-F236-BFD7-145C-5F664AC45A6E}"/>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5AA477-6D32-A249-9BC5-FA7905720E4E}"/>
              </a:ext>
            </a:extLst>
          </p:cNvPr>
          <p:cNvSpPr txBox="1"/>
          <p:nvPr/>
        </p:nvSpPr>
        <p:spPr>
          <a:xfrm>
            <a:off x="9842746" y="5806440"/>
            <a:ext cx="4728987"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Coarse-acquisition evaluation</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5C80EDBD-7565-2F1C-E24E-366C53DE31A9}"/>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7861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Acquire when the scan-corrected target enters the detection circle</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Rectangular spiral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Acquisition success and time</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Orbit, attitude, and other</a:t>
            </a:r>
            <a:endParaRPr lang="en-US" altLang="ja-JP" dirty="0"/>
          </a:p>
          <a:p>
            <a:pPr algn="ctr"/>
            <a:r>
              <a:rPr lang="ja-JP" altLang="ja-JP" dirty="0"/>
              <a:t>nonthermal errors</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Thermal LOS truth</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Predicted thermal 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Scan-center error</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Residual</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Nonthermal errors</a:t>
            </a:r>
          </a:p>
          <a:p>
            <a:pPr algn="ctr">
              <a:spcAft>
                <a:spcPts val="0"/>
              </a:spcAft>
            </a:pPr>
            <a:r>
              <a:rPr sz="2100" b="1">
                <a:solidFill>
                  <a:srgbClr val="FFFFFF"/>
                </a:solidFill>
                <a:latin typeface="Yu Gothic"/>
                <a:ea typeface="Yu Gothic"/>
              </a:rPr>
              <a:t>(orbit, attitude, etc.)</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range</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step</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Detection radius (beacon scale)</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point</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Dwell time</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 points</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Maximum number of scan points</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No coverage holes: half the grid diagonal ≈ 85 µrad &lt; 150 µrad detection radius</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Neglects inter-point slew, settling, and stochastic detection. Times are comparative under these scan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Orbit prediction, alignment, attitude, and drift are added to the 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Component</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Construction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Time behavior</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Magnitude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Orbit prediction</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Propagate the latest Sentinel-1 TLE; project error from precise POEORB onto the link transverse plane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Orbital period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Alignment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Constant two-axis residual per case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Attitude</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Gaussian random draw at each sample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Simplified broadband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Drift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Sinusoid</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900 s period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This is not a spacecraft-specific error budget; it represents a generic GNSS-denied small-LEO scenario.</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One random seed per case; statistical spread is not evaluated.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thermal LOS error only, mean acquisition time drops from 14.6 to 0.10 s, matching thermal-truth correction</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Thermal-truth upper bound</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Correction</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Success rate</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Mean acquisition time</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No correction</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Hierarchical model</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Thermal truth</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thermal residual after correction</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The residual is far below the 150 µrad detection radius, so acquisition occurs in one dwell.</a:t>
            </a:r>
          </a:p>
          <a:p>
            <a:pPr algn="ctr">
              <a:lnSpc>
                <a:spcPct val="115000"/>
              </a:lnSpc>
              <a:spcAft>
                <a:spcPts val="0"/>
              </a:spcAft>
            </a:pPr>
            <a:r>
              <a:rPr sz="2500" b="0">
                <a:solidFill>
                  <a:srgbClr val="666F79"/>
                </a:solidFill>
                <a:latin typeface="Yu Gothic"/>
                <a:ea typeface="Yu Gothic"/>
              </a:rPr>
              <a:t>Mean over 14 COLD baseline-surface cases; the main result includes nonthermal error on the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nonthermal LOS error, the mean drops from 19.2 to 5.45 s; the residual is governed by nonthermal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391363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square" lIns="36576" tIns="27432" rIns="36576" bIns="27432" anchor="t">
            <a:spAutoFit/>
          </a:bodyPr>
          <a:lstStyle/>
          <a:p>
            <a:pPr algn="ctr">
              <a:spcAft>
                <a:spcPts val="0"/>
              </a:spcAft>
            </a:pPr>
            <a:r>
              <a:rPr sz="3200" b="1">
                <a:solidFill>
                  <a:srgbClr val="1B74AA"/>
                </a:solidFill>
                <a:latin typeface="Yu Gothic"/>
                <a:ea typeface="Yu Gothic"/>
              </a:rPr>
              <a:t>98 → 100%</a:t>
            </a:r>
          </a:p>
        </p:txBody>
      </p:sp>
      <p:sp>
        <p:nvSpPr>
          <p:cNvPr id="18" name="TextBox 17"/>
          <p:cNvSpPr txBox="1"/>
          <p:nvPr/>
        </p:nvSpPr>
        <p:spPr>
          <a:xfrm>
            <a:off x="16184880" y="606247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Metric</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No correction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Hierarchical model (feedforward)</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Success rate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Mean acquisition time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Mean initial error after correction</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 (almost entirely nonthermal)</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 sun face (thermal ≈1.2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Predicting and removing thermal error shifts the coarse-acquisition limit from thermal to nonthermal error</a:t>
            </a:r>
            <a:endParaRPr lang="ja-JP" altLang="ja-JP"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Temperature prediction helps the first acquisition; residual updates lower the later-orbit floor</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 (PY)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First orbit</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Orbit 1 onward</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Direct Fourier fit to total error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Hierarchical model + residual 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A constant residual update is insufficient</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orbit 1 onward: 1.66 → 1.35 s;
above the 0.38 s Fourier result.</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Scope of this section</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Thermal-model coefficients are fixed.
Preliminary update of total pointing residual
after acquisition (two cases, dense sampling).</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Primary result: temperature/operating-state feedforward.</a:t>
            </a:r>
          </a:p>
          <a:p>
            <a:pPr algn="ctr">
              <a:lnSpc>
                <a:spcPct val="125000"/>
              </a:lnSpc>
              <a:spcAft>
                <a:spcPts val="0"/>
              </a:spcAft>
            </a:pPr>
            <a:r>
              <a:rPr sz="2400" b="1">
                <a:solidFill>
                  <a:srgbClr val="082B52"/>
                </a:solidFill>
                <a:latin typeface="Yu Gothic"/>
                <a:ea typeface="Yu Gothic"/>
              </a:rPr>
              <a:t>Repeated links may reduce the floor further.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85EFC-94D7-A712-6ED4-B60515FAD6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A9901-D1AD-A1A0-1C17-F532CE710C24}"/>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dirty="0">
                <a:solidFill>
                  <a:srgbClr val="FFFFFF"/>
                </a:solidFill>
                <a:latin typeface="Yu Gothic"/>
              </a:rPr>
              <a:t>5</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431E2039-4BC4-D119-7B23-33BE2D1FE169}"/>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534C452-319A-30DF-BF40-A9ECA414720F}"/>
              </a:ext>
            </a:extLst>
          </p:cNvPr>
          <p:cNvSpPr txBox="1"/>
          <p:nvPr/>
        </p:nvSpPr>
        <p:spPr>
          <a:xfrm>
            <a:off x="11535517" y="5806440"/>
            <a:ext cx="1343446"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Summary</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B5F0C05C-36E1-F691-E3B9-B34F22882E98}"/>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37438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Limitations of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Validation scope</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Numerical evaluation: same structure and LOS definition</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Model applicability</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No ground test; flight relevance of the analysis model and sensitivities remains unvalidated</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 extraction</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Representative-node rotations; no interface rigid-body fit or internal STT/LCT deformation</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Acquisition evaluation</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One nonthermal seed; simplified scan dynamics</a:t>
            </a: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1418691"/>
            <a:ext cx="14408727" cy="954107"/>
          </a:xfrm>
          <a:prstGeom prst="rect">
            <a:avLst/>
          </a:prstGeom>
          <a:noFill/>
        </p:spPr>
        <p:txBody>
          <a:bodyPr wrap="square">
            <a:spAutoFit/>
          </a:bodyPr>
          <a:lstStyle/>
          <a:p>
            <a:pPr algn="ctr"/>
            <a:r>
              <a:rPr lang="en-US" altLang="ja-JP" sz="2800" b="1" dirty="0"/>
              <a:t>Future Work: </a:t>
            </a:r>
            <a:r>
              <a:rPr lang="ja-JP" altLang="ja-JP" sz="2800" b="1" dirty="0"/>
              <a:t>ground-test validation, coefficient re-identification for real spacecraft,</a:t>
            </a:r>
            <a:endParaRPr lang="en-US" altLang="ja-JP" sz="2800" b="1" dirty="0"/>
          </a:p>
          <a:p>
            <a:pPr algn="ctr"/>
            <a:r>
              <a:rPr lang="ja-JP" altLang="ja-JP" sz="2800" b="1" dirty="0"/>
              <a:t> and onboard adaptation using post-acquisition residuals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Removing predictable thermal error before acquisition leaves a search governed by nonthermal error</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1463040" y="3383280"/>
            <a:ext cx="6766560"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572768" y="3547872"/>
            <a:ext cx="6547104" cy="1417320"/>
          </a:xfrm>
          <a:prstGeom prst="rect">
            <a:avLst/>
          </a:prstGeom>
          <a:noFill/>
        </p:spPr>
        <p:txBody>
          <a:bodyPr wrap="square" lIns="45720" tIns="18288" rIns="45720" bIns="18288" anchor="t">
            <a:spAutoFit/>
          </a:bodyPr>
          <a:lstStyle/>
          <a:p>
            <a:pPr algn="ctr">
              <a:spcAft>
                <a:spcPts val="0"/>
              </a:spcAft>
            </a:pPr>
            <a:r>
              <a:rPr sz="4000" b="1">
                <a:solidFill>
                  <a:srgbClr val="1B74AA"/>
                </a:solidFill>
                <a:latin typeface="Yu Gothic"/>
                <a:ea typeface="Yu Gothic"/>
              </a:rPr>
              <a:t>4.9 µrad</a:t>
            </a:r>
          </a:p>
        </p:txBody>
      </p:sp>
      <p:sp>
        <p:nvSpPr>
          <p:cNvPr id="7" name="TextBox 6"/>
          <p:cNvSpPr txBox="1"/>
          <p:nvPr/>
        </p:nvSpPr>
        <p:spPr>
          <a:xfrm>
            <a:off x="15727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err="1">
                <a:latin typeface="Yu Gothic"/>
                <a:ea typeface="Yu Gothic"/>
              </a:rPr>
              <a:t>Median corrected dominant-axis RMSE
(raw median: 615 µrad)</a:t>
            </a:r>
          </a:p>
        </p:txBody>
      </p:sp>
      <p:sp>
        <p:nvSpPr>
          <p:cNvPr id="8" name="Rounded Rectangle 7"/>
          <p:cNvSpPr/>
          <p:nvPr/>
        </p:nvSpPr>
        <p:spPr>
          <a:xfrm>
            <a:off x="8778240" y="3383280"/>
            <a:ext cx="6766560" cy="283464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887967"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14.6 → 0.10 s</a:t>
            </a:r>
          </a:p>
        </p:txBody>
      </p:sp>
      <p:sp>
        <p:nvSpPr>
          <p:cNvPr id="10" name="TextBox 9"/>
          <p:cNvSpPr txBox="1"/>
          <p:nvPr/>
        </p:nvSpPr>
        <p:spPr>
          <a:xfrm>
            <a:off x="8887967" y="4970678"/>
            <a:ext cx="6547104" cy="367280"/>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thermal only</a:t>
            </a:r>
          </a:p>
        </p:txBody>
      </p:sp>
      <p:sp>
        <p:nvSpPr>
          <p:cNvPr id="11" name="Rounded Rectangle 10"/>
          <p:cNvSpPr/>
          <p:nvPr/>
        </p:nvSpPr>
        <p:spPr>
          <a:xfrm>
            <a:off x="16093440" y="3383280"/>
            <a:ext cx="6766560"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203168"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EC9427"/>
                </a:solidFill>
                <a:latin typeface="Yu Gothic"/>
                <a:ea typeface="Yu Gothic"/>
              </a:rPr>
              <a:t>19.2 → 5.45 s</a:t>
            </a:r>
          </a:p>
        </p:txBody>
      </p:sp>
      <p:sp>
        <p:nvSpPr>
          <p:cNvPr id="13" name="TextBox 12"/>
          <p:cNvSpPr txBox="1"/>
          <p:nvPr/>
        </p:nvSpPr>
        <p:spPr>
          <a:xfrm>
            <a:off x="162031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with nonthermal error
Success rate: 98% → 100%</a:t>
            </a:r>
          </a:p>
        </p:txBody>
      </p:sp>
      <p:sp>
        <p:nvSpPr>
          <p:cNvPr id="14" name="Rounded Rectangle 13"/>
          <p:cNvSpPr/>
          <p:nvPr/>
        </p:nvSpPr>
        <p:spPr>
          <a:xfrm>
            <a:off x="1463040" y="6949440"/>
            <a:ext cx="21396960" cy="4105656"/>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828800" y="8139544"/>
            <a:ext cx="20665440" cy="1937453"/>
          </a:xfrm>
          <a:prstGeom prst="rect">
            <a:avLst/>
          </a:prstGeom>
          <a:noFill/>
        </p:spPr>
        <p:txBody>
          <a:bodyPr wrap="square" lIns="45720" tIns="18288" rIns="45720" bIns="18288" anchor="t">
            <a:spAutoFit/>
          </a:bodyPr>
          <a:lstStyle/>
          <a:p>
            <a:pPr algn="ctr">
              <a:lnSpc>
                <a:spcPct val="125000"/>
              </a:lnSpc>
              <a:spcAft>
                <a:spcPts val="0"/>
              </a:spcAft>
            </a:pPr>
            <a:r>
              <a:rPr lang="en-US" sz="2700" b="1" dirty="0">
                <a:solidFill>
                  <a:srgbClr val="082B52"/>
                </a:solidFill>
                <a:latin typeface="Yu Gothic"/>
                <a:ea typeface="Yu Gothic"/>
              </a:rPr>
              <a:t>Results: </a:t>
            </a:r>
            <a:r>
              <a:rPr sz="2700" b="1" dirty="0">
                <a:solidFill>
                  <a:srgbClr val="082B52"/>
                </a:solidFill>
                <a:latin typeface="Yu Gothic"/>
                <a:ea typeface="Yu Gothic"/>
              </a:rPr>
              <a:t>For the evaluated box bus, the method can shorten pre-feedback link establishment.</a:t>
            </a:r>
            <a:endParaRPr lang="en-US" altLang="ja-JP" sz="2700" b="1" dirty="0">
              <a:solidFill>
                <a:srgbClr val="082B52"/>
              </a:solidFill>
              <a:latin typeface="Yu Gothic"/>
              <a:ea typeface="Yu Gothic"/>
            </a:endParaRPr>
          </a:p>
          <a:p>
            <a:pPr algn="ctr">
              <a:lnSpc>
                <a:spcPct val="125000"/>
              </a:lnSpc>
              <a:spcAft>
                <a:spcPts val="0"/>
              </a:spcAft>
            </a:pPr>
            <a:endParaRPr sz="2700" b="1" dirty="0">
              <a:solidFill>
                <a:srgbClr val="082B52"/>
              </a:solidFill>
              <a:latin typeface="Yu Gothic"/>
              <a:ea typeface="Yu Gothic"/>
            </a:endParaRPr>
          </a:p>
          <a:p>
            <a:pPr algn="ctr"/>
            <a:r>
              <a:rPr lang="ja-JP" altLang="ja-JP" sz="2800" b="1" dirty="0"/>
              <a:t>Contributions: STT–LCT relative LOS, cross-condition coefficient sharing, and connection to coarse-acquisition performance.</a:t>
            </a:r>
            <a:endParaRPr lang="en-US" altLang="ja-JP" sz="2800" b="1" dirty="0"/>
          </a:p>
          <a:p>
            <a:pPr algn="ctr"/>
            <a:endParaRPr lang="en-US" altLang="ja-JP" sz="2800" b="1" dirty="0"/>
          </a:p>
        </p:txBody>
      </p:sp>
      <p:sp>
        <p:nvSpPr>
          <p:cNvPr id="16" name="TextBox 15"/>
          <p:cNvSpPr txBox="1"/>
          <p:nvPr/>
        </p:nvSpPr>
        <p:spPr>
          <a:xfrm>
            <a:off x="1463040" y="11426190"/>
            <a:ext cx="21396960" cy="548640"/>
          </a:xfrm>
          <a:prstGeom prst="rect">
            <a:avLst/>
          </a:prstGeom>
          <a:noFill/>
        </p:spPr>
        <p:txBody>
          <a:bodyPr wrap="square" lIns="45720" tIns="18288" rIns="45720" bIns="18288" anchor="t">
            <a:spAutoFit/>
          </a:bodyPr>
          <a:lstStyle/>
          <a:p>
            <a:pPr algn="ctr">
              <a:spcAft>
                <a:spcPts val="0"/>
              </a:spcAft>
            </a:pPr>
            <a:r>
              <a:rPr sz="2400" b="0" dirty="0">
                <a:solidFill>
                  <a:srgbClr val="666F79"/>
                </a:solidFill>
                <a:latin typeface="Yu Gothic"/>
                <a:ea typeface="Yu Gothic"/>
              </a:rPr>
              <a:t>Oral presentation at ICSO 2026 on October 15</a:t>
            </a:r>
          </a:p>
        </p:txBody>
      </p:sp>
      <p:sp>
        <p:nvSpPr>
          <p:cNvPr id="17" name="TextBox 16"/>
          <p:cNvSpPr txBox="1"/>
          <p:nvPr/>
        </p:nvSpPr>
        <p:spPr>
          <a:xfrm>
            <a:off x="1463040" y="12294870"/>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Thank you for your attention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3773</TotalTime>
  <Words>6966</Words>
  <Application>Microsoft Office PowerPoint</Application>
  <PresentationFormat>ユーザー設定</PresentationFormat>
  <Paragraphs>963</Paragraphs>
  <Slides>45</Slides>
  <Notes>45</Notes>
  <HiddenSlides>14</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Yu Gothic</vt:lpstr>
      <vt:lpstr>Yu Gothic</vt:lpstr>
      <vt:lpstr>Yu Gothic Medium</vt:lpstr>
      <vt:lpstr>Aptos</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Before optical feedback is available,  scan-center offset determines coarse-acquisition search time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40</cp:revision>
  <cp:lastPrinted>2026-10-05T01:11:06Z</cp:lastPrinted>
  <dcterms:created xsi:type="dcterms:W3CDTF">2026-05-11T08:23:04Z</dcterms:created>
  <dcterms:modified xsi:type="dcterms:W3CDTF">2026-10-05T05:02:04Z</dcterms:modified>
</cp:coreProperties>
</file>