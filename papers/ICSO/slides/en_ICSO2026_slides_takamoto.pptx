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7"/>
  </p:notesMasterIdLst>
  <p:sldIdLst>
    <p:sldId id="263" r:id="rId2"/>
    <p:sldId id="257" r:id="rId3"/>
    <p:sldId id="282" r:id="rId4"/>
    <p:sldId id="324" r:id="rId5"/>
    <p:sldId id="325" r:id="rId6"/>
    <p:sldId id="266" r:id="rId7"/>
    <p:sldId id="342" r:id="rId8"/>
    <p:sldId id="283" r:id="rId9"/>
    <p:sldId id="268" r:id="rId10"/>
    <p:sldId id="269" r:id="rId11"/>
    <p:sldId id="275" r:id="rId12"/>
    <p:sldId id="271" r:id="rId13"/>
    <p:sldId id="321" r:id="rId14"/>
    <p:sldId id="343" r:id="rId15"/>
    <p:sldId id="285" r:id="rId16"/>
    <p:sldId id="322" r:id="rId17"/>
    <p:sldId id="326" r:id="rId18"/>
    <p:sldId id="327" r:id="rId19"/>
    <p:sldId id="328" r:id="rId20"/>
    <p:sldId id="344" r:id="rId21"/>
    <p:sldId id="297" r:id="rId22"/>
    <p:sldId id="299" r:id="rId23"/>
    <p:sldId id="303" r:id="rId24"/>
    <p:sldId id="304" r:id="rId25"/>
    <p:sldId id="329" r:id="rId26"/>
    <p:sldId id="345" r:id="rId27"/>
    <p:sldId id="331" r:id="rId28"/>
    <p:sldId id="330" r:id="rId29"/>
    <p:sldId id="309" r:id="rId30"/>
    <p:sldId id="294" r:id="rId31"/>
    <p:sldId id="339" r:id="rId32"/>
    <p:sldId id="340" r:id="rId33"/>
    <p:sldId id="311" r:id="rId34"/>
    <p:sldId id="298" r:id="rId35"/>
    <p:sldId id="301" r:id="rId36"/>
    <p:sldId id="302" r:id="rId37"/>
    <p:sldId id="313" r:id="rId38"/>
    <p:sldId id="332" r:id="rId39"/>
    <p:sldId id="286" r:id="rId40"/>
    <p:sldId id="333" r:id="rId41"/>
    <p:sldId id="310" r:id="rId42"/>
    <p:sldId id="334" r:id="rId43"/>
    <p:sldId id="335" r:id="rId44"/>
    <p:sldId id="336" r:id="rId45"/>
    <p:sldId id="337" r:id="rId46"/>
  </p:sldIdLst>
  <p:sldSz cx="24382413"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25D7"/>
    <a:srgbClr val="66A8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637" autoAdjust="0"/>
    <p:restoredTop sz="92822" autoAdjust="0"/>
  </p:normalViewPr>
  <p:slideViewPr>
    <p:cSldViewPr snapToGrid="0">
      <p:cViewPr varScale="1">
        <p:scale>
          <a:sx n="34" d="100"/>
          <a:sy n="34" d="100"/>
        </p:scale>
        <p:origin x="428" y="88"/>
      </p:cViewPr>
      <p:guideLst/>
    </p:cSldViewPr>
  </p:slideViewPr>
  <p:notesTextViewPr>
    <p:cViewPr>
      <p:scale>
        <a:sx n="1" d="1"/>
        <a:sy n="1" d="1"/>
      </p:scale>
      <p:origin x="0" y="0"/>
    </p:cViewPr>
  </p:notesTextViewPr>
  <p:notesViewPr>
    <p:cSldViewPr snapToGrid="0">
      <p:cViewPr varScale="1">
        <p:scale>
          <a:sx n="56" d="100"/>
          <a:sy n="56" d="100"/>
        </p:scale>
        <p:origin x="2588" y="5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80C97-2400-5344-89F3-3CED47A68B44}" type="datetimeFigureOut">
              <a:rPr kumimoji="1" lang="ja-JP" altLang="en-US" smtClean="0"/>
              <a:t>2026/10/10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C54EC6-2177-1447-9798-A1A3B8046948}" type="slidenum">
              <a:rPr kumimoji="1" lang="ja-JP" altLang="en-US" smtClean="0"/>
              <a:t>‹#›</a:t>
            </a:fld>
            <a:endParaRPr kumimoji="1" lang="ja-JP" altLang="en-US"/>
          </a:p>
        </p:txBody>
      </p:sp>
    </p:spTree>
    <p:extLst>
      <p:ext uri="{BB962C8B-B14F-4D97-AF65-F5344CB8AC3E}">
        <p14:creationId xmlns:p14="http://schemas.microsoft.com/office/powerpoint/2010/main" val="38536270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Good afternoon.</a:t>
            </a:r>
          </a:p>
          <a:p>
            <a:pPr>
              <a:spcAft>
                <a:spcPts val="600"/>
              </a:spcAft>
            </a:pPr>
            <a:r>
              <a:rPr sz="1600">
                <a:latin typeface="Calibri"/>
              </a:rPr>
              <a:t>My name is Hideki Takamoto from the University of Tokyo.</a:t>
            </a:r>
          </a:p>
          <a:p>
            <a:pPr>
              <a:spcAft>
                <a:spcPts val="600"/>
              </a:spcAft>
            </a:pPr>
            <a:r>
              <a:rPr sz="1600">
                <a:latin typeface="Calibri"/>
              </a:rPr>
              <a:t>Today, I will present our work on hierarchical prediction and feedforward correction of time-varying thermal line-of-sight bias for coarse acquisition in satellite optical communications.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Before acquisition</a:t>
            </a:r>
            <a:r>
              <a:rPr lang="en-US" sz="1600" dirty="0">
                <a:latin typeface="Calibri"/>
              </a:rPr>
              <a:t> in optical communications</a:t>
            </a:r>
            <a:r>
              <a:rPr sz="1600" dirty="0">
                <a:latin typeface="Calibri"/>
              </a:rPr>
              <a:t>, optical feedback from the other terminal is not yet available.</a:t>
            </a:r>
          </a:p>
          <a:p>
            <a:pPr>
              <a:spcAft>
                <a:spcPts val="600"/>
              </a:spcAft>
            </a:pPr>
            <a:r>
              <a:rPr sz="1600" dirty="0">
                <a:latin typeface="Calibri"/>
              </a:rPr>
              <a:t>Therefore, the terminal has to search an uncertainty region that includes thermal LOS error, attitude error, and orbit-prediction error.</a:t>
            </a:r>
          </a:p>
          <a:p>
            <a:pPr>
              <a:spcAft>
                <a:spcPts val="600"/>
              </a:spcAft>
            </a:pPr>
            <a:r>
              <a:rPr sz="1600" dirty="0">
                <a:latin typeface="Calibri"/>
              </a:rPr>
              <a:t>In particular, illumination, eclipse, and internal dissipation generate temperature gradients in the spacecraft.</a:t>
            </a:r>
          </a:p>
          <a:p>
            <a:pPr>
              <a:spcAft>
                <a:spcPts val="600"/>
              </a:spcAft>
            </a:pPr>
            <a:r>
              <a:rPr sz="1600" dirty="0">
                <a:latin typeface="Calibri"/>
              </a:rPr>
              <a:t>These gradients cause thermal expansion and spacecraft-bus distortion, which can result in thermal LOS errors on the order of hundreds of microradians or even more than one milliradian.</a:t>
            </a:r>
          </a:p>
          <a:p>
            <a:pPr>
              <a:spcAft>
                <a:spcPts val="600"/>
              </a:spcAft>
            </a:pPr>
            <a:r>
              <a:rPr sz="1600" dirty="0">
                <a:latin typeface="Calibri"/>
              </a:rPr>
              <a:t>Our approach is to predict this thermal component before acquisition and subtract it from the scan center.</a:t>
            </a:r>
          </a:p>
          <a:p>
            <a:pPr>
              <a:spcAft>
                <a:spcPts val="600"/>
              </a:spcAft>
            </a:pPr>
            <a:r>
              <a:rPr sz="1600" dirty="0">
                <a:latin typeface="Calibri"/>
              </a:rPr>
              <a:t>The important point is that this is an operational correction.</a:t>
            </a:r>
          </a:p>
          <a:p>
            <a:pPr>
              <a:spcAft>
                <a:spcPts val="600"/>
              </a:spcAft>
            </a:pPr>
            <a:r>
              <a:rPr sz="1600" dirty="0">
                <a:latin typeface="Calibri"/>
              </a:rPr>
              <a:t>It does not require modification of the spacecraft structure or the laser communication terminal.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This table summarizes the main error sources contributing to the scan-center LOS error during coarse acquisition.</a:t>
            </a:r>
          </a:p>
          <a:p>
            <a:pPr>
              <a:spcAft>
                <a:spcPts val="600"/>
              </a:spcAft>
            </a:pPr>
            <a:r>
              <a:rPr sz="1600">
                <a:latin typeface="Calibri"/>
              </a:rPr>
              <a:t>Among these components, thermal LOS error can be comparable to, or even larger than, orbit-prediction error.</a:t>
            </a:r>
          </a:p>
          <a:p>
            <a:pPr>
              <a:spcAft>
                <a:spcPts val="600"/>
              </a:spcAft>
            </a:pPr>
            <a:r>
              <a:rPr sz="1600">
                <a:latin typeface="Calibri"/>
              </a:rPr>
              <a:t>Another important point is that thermal LOS error and orbit-prediction error vary on similar orbital time scales.</a:t>
            </a:r>
          </a:p>
          <a:p>
            <a:pPr>
              <a:spcAft>
                <a:spcPts val="600"/>
              </a:spcAft>
            </a:pPr>
            <a:r>
              <a:rPr sz="1600">
                <a:latin typeface="Calibri"/>
              </a:rPr>
              <a:t>Therefore, after acquisition, we cannot simply identify the thermal component from the pointing residual based on frequency.</a:t>
            </a:r>
          </a:p>
          <a:p>
            <a:pPr>
              <a:spcAft>
                <a:spcPts val="600"/>
              </a:spcAft>
            </a:pPr>
            <a:r>
              <a:rPr sz="1600">
                <a:latin typeface="Calibri"/>
              </a:rPr>
              <a:t>Instead, in this study, we use temperature and operating-state information as independent inputs to predict and remove the thermal component before acquisition.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kumimoji="1" lang="ja-JP" altLang="ja-JP" sz="1200" b="0" kern="1200" dirty="0">
                <a:solidFill>
                  <a:schemeClr val="tx1"/>
                </a:solidFill>
                <a:effectLst/>
                <a:latin typeface="+mn-lt"/>
                <a:ea typeface="+mn-ea"/>
                <a:cs typeface="+mn-cs"/>
              </a:rPr>
              <a:t>Previous work can be roughly divided into two approaches.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ja-JP" sz="1200" b="0" kern="1200" dirty="0">
                <a:solidFill>
                  <a:schemeClr val="tx1"/>
                </a:solidFill>
                <a:effectLst/>
                <a:latin typeface="+mn-lt"/>
                <a:ea typeface="+mn-ea"/>
                <a:cs typeface="+mn-cs"/>
              </a:rPr>
              <a:t>In </a:t>
            </a:r>
            <a:r>
              <a:rPr kumimoji="1" lang="en-US" altLang="ja-JP" sz="1200" b="0" kern="1200" dirty="0">
                <a:solidFill>
                  <a:schemeClr val="tx1"/>
                </a:solidFill>
                <a:effectLst/>
                <a:latin typeface="+mn-lt"/>
                <a:ea typeface="+mn-ea"/>
                <a:cs typeface="+mn-cs"/>
              </a:rPr>
              <a:t>conventional PAT design of </a:t>
            </a:r>
            <a:r>
              <a:rPr kumimoji="1" lang="ja-JP" altLang="ja-JP" sz="1200" b="0" kern="1200" dirty="0">
                <a:solidFill>
                  <a:schemeClr val="tx1"/>
                </a:solidFill>
                <a:effectLst/>
                <a:latin typeface="+mn-lt"/>
                <a:ea typeface="+mn-ea"/>
                <a:cs typeface="+mn-cs"/>
              </a:rPr>
              <a:t>optical communications, thermal deformation is mainly </a:t>
            </a:r>
            <a:r>
              <a:rPr kumimoji="1" lang="en-US" altLang="ja-JP" sz="1200" b="0" kern="1200" dirty="0">
                <a:solidFill>
                  <a:schemeClr val="tx1"/>
                </a:solidFill>
                <a:effectLst/>
                <a:latin typeface="+mn-lt"/>
                <a:ea typeface="+mn-ea"/>
                <a:cs typeface="+mn-cs"/>
              </a:rPr>
              <a:t>absorbed through </a:t>
            </a:r>
            <a:r>
              <a:rPr lang="en-US" altLang="ja-JP" sz="1200" b="0" dirty="0">
                <a:solidFill>
                  <a:schemeClr val="tx1"/>
                </a:solidFill>
              </a:rPr>
              <a:t>scan range or beam divergence,  or </a:t>
            </a:r>
            <a:r>
              <a:rPr kumimoji="1" lang="ja-JP" altLang="ja-JP" sz="1200" b="0" kern="1200" dirty="0">
                <a:solidFill>
                  <a:schemeClr val="tx1"/>
                </a:solidFill>
                <a:effectLst/>
                <a:latin typeface="+mn-lt"/>
                <a:ea typeface="+mn-ea"/>
                <a:cs typeface="+mn-cs"/>
              </a:rPr>
              <a:t>mitigated through structural design, material selection, and equipment placement.</a:t>
            </a:r>
            <a:r>
              <a:rPr kumimoji="1" lang="ja-JP" altLang="en-US" sz="1200" b="0" kern="1200" dirty="0">
                <a:solidFill>
                  <a:schemeClr val="tx1"/>
                </a:solidFill>
                <a:effectLst/>
                <a:latin typeface="+mn-lt"/>
                <a:ea typeface="+mn-ea"/>
                <a:cs typeface="+mn-cs"/>
              </a:rPr>
              <a:t>　</a:t>
            </a:r>
            <a:endParaRPr kumimoji="1" lang="ja-JP" altLang="ja-JP" sz="1200" b="0" kern="1200" dirty="0">
              <a:solidFill>
                <a:schemeClr val="tx1"/>
              </a:solidFill>
              <a:effectLst/>
              <a:latin typeface="+mn-lt"/>
              <a:ea typeface="+mn-ea"/>
              <a:cs typeface="+mn-cs"/>
            </a:endParaRP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Earth observation and optical instruments, thermal LOS variation is predicted and corrected using temperature, orbital phase, or observation geometry, but these models are typically tied to a specific optical instrument or observation system</a:t>
            </a:r>
            <a:r>
              <a:rPr kumimoji="1" lang="en-US" altLang="ja-JP" sz="1200" b="0" kern="1200" dirty="0">
                <a:solidFill>
                  <a:schemeClr val="tx1"/>
                </a:solidFill>
                <a:effectLst/>
                <a:latin typeface="+mn-lt"/>
                <a:ea typeface="+mn-ea"/>
                <a:cs typeface="+mn-cs"/>
              </a:rPr>
              <a:t> and not connected to Optical Communications</a:t>
            </a:r>
            <a:r>
              <a:rPr kumimoji="1" lang="ja-JP" altLang="ja-JP" sz="1200" b="0" kern="1200" dirty="0">
                <a:solidFill>
                  <a:schemeClr val="tx1"/>
                </a:solidFill>
                <a:effectLst/>
                <a:latin typeface="+mn-lt"/>
                <a:ea typeface="+mn-ea"/>
                <a:cs typeface="+mn-cs"/>
              </a:rPr>
              <a:t>.  </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this study, we instead predict the relative LOS between the STT and LCT across the spacecraft bus using a physics-based model, and then use that prediction directly for coarse optical acquisition.</a:t>
            </a:r>
          </a:p>
          <a:p>
            <a:pPr>
              <a:spcAft>
                <a:spcPts val="600"/>
              </a:spcAft>
            </a:pPr>
            <a:endParaRPr sz="16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This slide shows the overall workflow of this study.</a:t>
            </a:r>
          </a:p>
          <a:p>
            <a:pPr>
              <a:spcAft>
                <a:spcPts val="600"/>
              </a:spcAft>
            </a:pPr>
            <a:r>
              <a:rPr sz="1600" dirty="0">
                <a:latin typeface="Calibri"/>
              </a:rPr>
              <a:t>On the ground, we first define the orbit, attitude, thermal environment, equipment layout, and surface properties.</a:t>
            </a:r>
          </a:p>
          <a:p>
            <a:pPr>
              <a:spcAft>
                <a:spcPts val="600"/>
              </a:spcAft>
            </a:pPr>
            <a:r>
              <a:rPr sz="1600" dirty="0">
                <a:latin typeface="Calibri"/>
              </a:rPr>
              <a:t>Thermal Desktop is then used to calculate the spacecraft temperature field.</a:t>
            </a:r>
          </a:p>
          <a:p>
            <a:pPr>
              <a:spcAft>
                <a:spcPts val="600"/>
              </a:spcAft>
            </a:pPr>
            <a:r>
              <a:rPr sz="1600" dirty="0">
                <a:latin typeface="Calibri"/>
              </a:rPr>
              <a:t>The temperature field is transferred to </a:t>
            </a:r>
            <a:r>
              <a:rPr sz="1600" dirty="0" err="1">
                <a:latin typeface="Calibri"/>
              </a:rPr>
              <a:t>Femap</a:t>
            </a:r>
            <a:r>
              <a:rPr sz="1600" dirty="0">
                <a:latin typeface="Calibri"/>
              </a:rPr>
              <a:t> and Nastran to calculate thermoelastic deformation and the relative rotation between the star tracker and the laser communication terminal.</a:t>
            </a:r>
          </a:p>
          <a:p>
            <a:pPr>
              <a:spcAft>
                <a:spcPts val="600"/>
              </a:spcAft>
            </a:pPr>
            <a:r>
              <a:rPr sz="1600" dirty="0">
                <a:latin typeface="Calibri"/>
              </a:rPr>
              <a:t>From these high-fidelity simulation results, we generate reference thermal-LOS time series and construct a reduced-order prediction model.</a:t>
            </a:r>
          </a:p>
          <a:p>
            <a:pPr>
              <a:spcAft>
                <a:spcPts val="600"/>
              </a:spcAft>
            </a:pPr>
            <a:r>
              <a:rPr sz="1600" dirty="0">
                <a:latin typeface="Calibri"/>
              </a:rPr>
              <a:t>On orbit, Thermal Desktop and </a:t>
            </a:r>
            <a:r>
              <a:rPr sz="1600" dirty="0" err="1">
                <a:latin typeface="Calibri"/>
              </a:rPr>
              <a:t>Femap</a:t>
            </a:r>
            <a:r>
              <a:rPr sz="1600" dirty="0">
                <a:latin typeface="Calibri"/>
              </a:rPr>
              <a:t> are not used.</a:t>
            </a:r>
          </a:p>
          <a:p>
            <a:pPr>
              <a:spcAft>
                <a:spcPts val="600"/>
              </a:spcAft>
            </a:pPr>
            <a:r>
              <a:rPr sz="1600" dirty="0">
                <a:latin typeface="Calibri"/>
              </a:rPr>
              <a:t>Only temperature measurements and operating-state information are input to the reduced-order model, and the predicted thermal LOS is used to correct the scan center.</a:t>
            </a:r>
          </a:p>
          <a:p>
            <a:pPr>
              <a:spcAft>
                <a:spcPts val="600"/>
              </a:spcAft>
            </a:pPr>
            <a:r>
              <a:rPr sz="1600" dirty="0">
                <a:latin typeface="Calibri"/>
              </a:rPr>
              <a:t>Finally, we evaluate not only the LOS prediction error, but also acquisition success rate and acquisition time.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168C1-CAE2-B26B-2CDC-972315F9A9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2DE14-7AE6-1F04-DA3D-C4DD1D415B3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26E6972E-6F08-976C-489A-D198874BB47E}"/>
              </a:ext>
            </a:extLst>
          </p:cNvPr>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a:extLst>
              <a:ext uri="{FF2B5EF4-FFF2-40B4-BE49-F238E27FC236}">
                <a16:creationId xmlns:a16="http://schemas.microsoft.com/office/drawing/2014/main" id="{E10530D4-27A8-6EE2-F8E4-003DAA04517A}"/>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8496781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We evaluate a simple box-structure LEO spacecraft</a:t>
            </a:r>
            <a:r>
              <a:rPr lang="ja-JP" altLang="en-US" sz="1600" dirty="0">
                <a:latin typeface="Calibri"/>
              </a:rPr>
              <a:t> </a:t>
            </a:r>
            <a:r>
              <a:rPr lang="en-US" altLang="ja-JP" sz="1600" dirty="0">
                <a:latin typeface="Calibri"/>
              </a:rPr>
              <a:t>as</a:t>
            </a:r>
            <a:r>
              <a:rPr lang="ja-JP" altLang="en-US" sz="1600" dirty="0">
                <a:latin typeface="Calibri"/>
              </a:rPr>
              <a:t> </a:t>
            </a:r>
            <a:r>
              <a:rPr lang="en-US" altLang="ja-JP" sz="1600" dirty="0">
                <a:latin typeface="Calibri"/>
              </a:rPr>
              <a:t>a test model</a:t>
            </a:r>
            <a:r>
              <a:rPr sz="1600" dirty="0">
                <a:latin typeface="Calibri"/>
              </a:rPr>
              <a:t>, with the star tracker and the laser communication terminal mounted on </a:t>
            </a:r>
            <a:r>
              <a:rPr lang="en-US" sz="1600" dirty="0">
                <a:latin typeface="Calibri"/>
              </a:rPr>
              <a:t>opposite </a:t>
            </a:r>
            <a:r>
              <a:rPr sz="1600" dirty="0">
                <a:latin typeface="Calibri"/>
              </a:rPr>
              <a:t>panels.</a:t>
            </a:r>
          </a:p>
          <a:p>
            <a:pPr>
              <a:spcAft>
                <a:spcPts val="600"/>
              </a:spcAft>
            </a:pPr>
            <a:r>
              <a:rPr lang="en-US" sz="1600" dirty="0">
                <a:latin typeface="Calibri"/>
              </a:rPr>
              <a:t>The </a:t>
            </a:r>
            <a:r>
              <a:rPr sz="1600" dirty="0">
                <a:latin typeface="Calibri"/>
              </a:rPr>
              <a:t>spacecraft bus is </a:t>
            </a:r>
            <a:r>
              <a:rPr lang="en-US" sz="1600" dirty="0">
                <a:latin typeface="Calibri"/>
              </a:rPr>
              <a:t>modeled as a 1meter-class satellite</a:t>
            </a:r>
            <a:r>
              <a:rPr sz="1600" dirty="0">
                <a:latin typeface="Calibri"/>
              </a:rPr>
              <a:t> using aluminum shell elements</a:t>
            </a:r>
            <a:r>
              <a:rPr lang="en-US" sz="1600" dirty="0">
                <a:latin typeface="Calibri"/>
              </a:rPr>
              <a:t> on both of thermal desktop and </a:t>
            </a:r>
            <a:r>
              <a:rPr lang="en-US" sz="1600" dirty="0" err="1">
                <a:latin typeface="Calibri"/>
              </a:rPr>
              <a:t>Femap</a:t>
            </a:r>
            <a:r>
              <a:rPr sz="1600" dirty="0">
                <a:latin typeface="Calibri"/>
              </a:rPr>
              <a: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First, Thermal Desktop is used to calculate the time history of the spacecraft temperature field.</a:t>
            </a:r>
          </a:p>
          <a:p>
            <a:pPr>
              <a:spcAft>
                <a:spcPts val="600"/>
              </a:spcAft>
            </a:pPr>
            <a:r>
              <a:rPr lang="en-US" sz="1600" dirty="0">
                <a:latin typeface="Calibri"/>
              </a:rPr>
              <a:t>The setting for thermal analysis is shown as table.</a:t>
            </a:r>
            <a:endParaRPr sz="1600" dirty="0">
              <a:latin typeface="Calibri"/>
            </a:endParaRPr>
          </a:p>
          <a:p>
            <a:pPr>
              <a:spcAft>
                <a:spcPts val="600"/>
              </a:spcAft>
            </a:pPr>
            <a:r>
              <a:rPr sz="1600" dirty="0">
                <a:latin typeface="Calibri"/>
              </a:rPr>
              <a:t>Across the analysis cases, we vary </a:t>
            </a:r>
            <a:r>
              <a:rPr lang="en-US" sz="1600" dirty="0">
                <a:latin typeface="Calibri"/>
              </a:rPr>
              <a:t>the orbital conditions, </a:t>
            </a:r>
            <a:r>
              <a:rPr sz="1600" dirty="0">
                <a:latin typeface="Calibri"/>
              </a:rPr>
              <a:t>the sun-facing panel, </a:t>
            </a:r>
            <a:r>
              <a:rPr lang="en-US" sz="1600" dirty="0">
                <a:latin typeface="Calibri"/>
              </a:rPr>
              <a:t>the </a:t>
            </a:r>
            <a:r>
              <a:rPr sz="1600" dirty="0">
                <a:latin typeface="Calibri"/>
              </a:rPr>
              <a:t>optical properties</a:t>
            </a:r>
            <a:r>
              <a:rPr lang="en-US" sz="1600" dirty="0">
                <a:latin typeface="Calibri"/>
              </a:rPr>
              <a:t> of panels</a:t>
            </a:r>
            <a:r>
              <a:rPr sz="1600" dirty="0">
                <a:latin typeface="Calibri"/>
              </a:rPr>
              <a:t>,</a:t>
            </a:r>
            <a:r>
              <a:rPr lang="en-US" sz="1600" dirty="0">
                <a:latin typeface="Calibri"/>
              </a:rPr>
              <a:t> and</a:t>
            </a:r>
            <a:r>
              <a:rPr sz="1600" dirty="0">
                <a:latin typeface="Calibri"/>
              </a:rPr>
              <a:t> internal equipment dissipation</a:t>
            </a:r>
            <a:r>
              <a:rPr 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The resulting temperature </a:t>
            </a:r>
            <a:r>
              <a:rPr lang="en-US" sz="1600" dirty="0">
                <a:latin typeface="Calibri"/>
              </a:rPr>
              <a:t>time-series </a:t>
            </a:r>
            <a:r>
              <a:rPr sz="1600" dirty="0">
                <a:latin typeface="Calibri"/>
              </a:rPr>
              <a:t>field is then transferred to </a:t>
            </a:r>
            <a:r>
              <a:rPr sz="1600" dirty="0" err="1">
                <a:latin typeface="Calibri"/>
              </a:rPr>
              <a:t>Femap</a:t>
            </a:r>
            <a:r>
              <a:rPr sz="1600" dirty="0">
                <a:latin typeface="Calibri"/>
              </a:rPr>
              <a:t> for thermoelastic structural analysis.</a:t>
            </a:r>
          </a:p>
          <a:p>
            <a:pPr>
              <a:spcAft>
                <a:spcPts val="600"/>
              </a:spcAft>
            </a:pPr>
            <a:r>
              <a:rPr sz="1600" dirty="0">
                <a:latin typeface="Calibri"/>
              </a:rPr>
              <a:t>The spacecraft structure is modeled with the material properties shown here.</a:t>
            </a:r>
          </a:p>
          <a:p>
            <a:pPr>
              <a:spcAft>
                <a:spcPts val="600"/>
              </a:spcAft>
            </a:pPr>
            <a:r>
              <a:rPr sz="1600" dirty="0">
                <a:latin typeface="Calibri"/>
              </a:rPr>
              <a:t>From this analysis, we obtain the translations and rotations of the star-tracker and laser-terminal mounting locations.</a:t>
            </a:r>
          </a:p>
          <a:p>
            <a:pPr>
              <a:spcAft>
                <a:spcPts val="600"/>
              </a:spcAft>
            </a:pPr>
            <a:r>
              <a:rPr lang="ja-JP" altLang="en-US" sz="1600" dirty="0">
                <a:latin typeface="Calibri"/>
              </a:rPr>
              <a:t>（</a:t>
            </a:r>
            <a:r>
              <a:rPr sz="1600" dirty="0">
                <a:latin typeface="Calibri"/>
              </a:rPr>
              <a:t>Thermal Desktop and </a:t>
            </a:r>
            <a:r>
              <a:rPr sz="1600" dirty="0" err="1">
                <a:latin typeface="Calibri"/>
              </a:rPr>
              <a:t>Femap</a:t>
            </a:r>
            <a:r>
              <a:rPr sz="1600" dirty="0">
                <a:latin typeface="Calibri"/>
              </a:rPr>
              <a:t> are therefore used only to generate the high-fidelity reference dataset for model development.</a:t>
            </a:r>
            <a:r>
              <a:rPr lang="ja-JP" alt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For a far-field optical link, the relevant quantity is not simply the translation of the mounting points.</a:t>
            </a:r>
          </a:p>
          <a:p>
            <a:pPr>
              <a:spcAft>
                <a:spcPts val="600"/>
              </a:spcAft>
            </a:pPr>
            <a:r>
              <a:rPr sz="1600" dirty="0">
                <a:latin typeface="Calibri"/>
              </a:rPr>
              <a:t>What matters is the relative rotation of the laser communication terminal optical axis with respect to the star-tracker attitude reference.</a:t>
            </a:r>
          </a:p>
          <a:p>
            <a:pPr>
              <a:spcAft>
                <a:spcPts val="600"/>
              </a:spcAft>
            </a:pPr>
            <a:r>
              <a:rPr sz="1600" dirty="0">
                <a:latin typeface="Calibri"/>
              </a:rPr>
              <a:t>Therefore, we define the thermal LOS error as the LCT optical-axis rotation minus the STT reference rotation.</a:t>
            </a:r>
          </a:p>
          <a:p>
            <a:pPr>
              <a:spcAft>
                <a:spcPts val="600"/>
              </a:spcAft>
            </a:pPr>
            <a:r>
              <a:rPr sz="1600" dirty="0">
                <a:latin typeface="Calibri"/>
              </a:rPr>
              <a:t>The thermal rotation of the star tracker itself is absorbed into the attitude reference.</a:t>
            </a:r>
          </a:p>
          <a:p>
            <a:pPr>
              <a:spcAft>
                <a:spcPts val="600"/>
              </a:spcAft>
            </a:pPr>
            <a:r>
              <a:rPr lang="ja-JP" altLang="en-US" sz="1600" dirty="0">
                <a:latin typeface="Calibri"/>
              </a:rPr>
              <a:t>（</a:t>
            </a:r>
            <a:r>
              <a:rPr sz="1600" dirty="0">
                <a:latin typeface="Calibri"/>
              </a:rPr>
              <a:t>In this study, translation-induced tilt and the internal thermal deformation of the optical terminals are not included.</a:t>
            </a:r>
            <a:r>
              <a:rPr lang="ja-JP" alt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With the spacecraft structure and LOS definition fixed, we vary four groups of conditions.</a:t>
            </a:r>
          </a:p>
          <a:p>
            <a:pPr>
              <a:spcAft>
                <a:spcPts val="600"/>
              </a:spcAft>
            </a:pPr>
            <a:r>
              <a:rPr sz="1600">
                <a:latin typeface="Calibri"/>
              </a:rPr>
              <a:t>These are the sun-facing panel, internal equipment dissipation, surface properties, and orbital thermal environment.</a:t>
            </a:r>
          </a:p>
          <a:p>
            <a:pPr>
              <a:spcAft>
                <a:spcPts val="600"/>
              </a:spcAft>
            </a:pPr>
            <a:r>
              <a:rPr sz="1600">
                <a:latin typeface="Calibri"/>
              </a:rPr>
              <a:t>In total, we analyze 21 cases.</a:t>
            </a:r>
          </a:p>
          <a:p>
            <a:pPr>
              <a:spcAft>
                <a:spcPts val="600"/>
              </a:spcAft>
            </a:pPr>
            <a:r>
              <a:rPr sz="1600">
                <a:latin typeface="Calibri"/>
              </a:rPr>
              <a:t>The important point is that these are different thermal and operating conditions within the same spacecraft configuration.</a:t>
            </a:r>
          </a:p>
          <a:p>
            <a:pPr>
              <a:spcAft>
                <a:spcPts val="600"/>
              </a:spcAft>
            </a:pPr>
            <a:r>
              <a:rPr sz="1600">
                <a:latin typeface="Calibri"/>
              </a:rPr>
              <a:t>We are not assuming that the numerical coefficients identified here can be transferred unchanged to a completely different spacecraft.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02541-F1A3-D1BA-31E3-AEDFAF8D0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983E82-966C-7F11-55A4-B9E813E6A98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13536858-E9C3-BFD0-3D28-CF5344F9C22E}"/>
              </a:ext>
            </a:extLst>
          </p:cNvPr>
          <p:cNvSpPr>
            <a:spLocks noGrp="1"/>
          </p:cNvSpPr>
          <p:nvPr>
            <p:ph type="body" sz="quarter" idx="3"/>
          </p:nvPr>
        </p:nvSpPr>
        <p:spPr/>
        <p:txBody>
          <a:bodyPr/>
          <a:lstStyle/>
          <a:p>
            <a:pPr>
              <a:spcAft>
                <a:spcPts val="600"/>
              </a:spcAft>
            </a:pPr>
            <a:r>
              <a:rPr sz="1600" dirty="0">
                <a:latin typeface="Calibri"/>
              </a:rPr>
              <a:t>This slide shows one representative result.</a:t>
            </a:r>
          </a:p>
          <a:p>
            <a:pPr>
              <a:spcAft>
                <a:spcPts val="600"/>
              </a:spcAft>
            </a:pPr>
            <a:r>
              <a:rPr sz="1600" dirty="0">
                <a:latin typeface="Calibri"/>
              </a:rPr>
              <a:t>Both the spacecraft temperature and the thermal LOS vary approximately with the orbital period.</a:t>
            </a:r>
          </a:p>
          <a:p>
            <a:pPr>
              <a:spcAft>
                <a:spcPts val="600"/>
              </a:spcAft>
            </a:pPr>
            <a:r>
              <a:rPr sz="1600" dirty="0">
                <a:latin typeface="Calibri"/>
              </a:rPr>
              <a:t>We also found that the dominant LOS axis depends strongly on the sun-facing panel.</a:t>
            </a:r>
          </a:p>
          <a:p>
            <a:pPr>
              <a:spcAft>
                <a:spcPts val="600"/>
              </a:spcAft>
            </a:pPr>
            <a:r>
              <a:rPr sz="1600" dirty="0">
                <a:latin typeface="Calibri"/>
              </a:rPr>
              <a:t>For MY and PY sun-facing cases, the dominant variation appears mainly in the y direction, while MX and PX mainly affect the x direction.</a:t>
            </a:r>
          </a:p>
          <a:p>
            <a:pPr>
              <a:spcAft>
                <a:spcPts val="600"/>
              </a:spcAft>
            </a:pPr>
            <a:r>
              <a:rPr sz="1600" dirty="0">
                <a:latin typeface="Calibri"/>
              </a:rPr>
              <a:t>Most importantly, the time-varying thermal LOS closely follows the temperature difference between the sun-facing panel and the opposite panel.</a:t>
            </a:r>
          </a:p>
          <a:p>
            <a:pPr>
              <a:spcAft>
                <a:spcPts val="600"/>
              </a:spcAft>
            </a:pPr>
            <a:r>
              <a:rPr sz="1600" dirty="0">
                <a:latin typeface="Calibri"/>
              </a:rPr>
              <a:t>Across all cases, the raw thermal LOS ranges from approximately 150 to 1280 microradians.</a:t>
            </a:r>
          </a:p>
          <a:p>
            <a:pPr>
              <a:spcAft>
                <a:spcPts val="600"/>
              </a:spcAft>
            </a:pPr>
            <a:r>
              <a:rPr sz="1600" dirty="0">
                <a:latin typeface="Calibri"/>
              </a:rPr>
              <a:t>We also observed that the surface thermal condition mainly affects the time-varying amplitude, while internal dissipation mainly shifts the mean bias.</a:t>
            </a:r>
          </a:p>
          <a:p>
            <a:pPr>
              <a:spcAft>
                <a:spcPts val="600"/>
              </a:spcAft>
            </a:pPr>
            <a:r>
              <a:rPr sz="1600" dirty="0">
                <a:latin typeface="Calibri"/>
              </a:rPr>
              <a:t>This observation motivates the reduced-order model shown next.</a:t>
            </a:r>
          </a:p>
        </p:txBody>
      </p:sp>
      <p:sp>
        <p:nvSpPr>
          <p:cNvPr id="4" name="Slide Number Placeholder 3">
            <a:extLst>
              <a:ext uri="{FF2B5EF4-FFF2-40B4-BE49-F238E27FC236}">
                <a16:creationId xmlns:a16="http://schemas.microsoft.com/office/drawing/2014/main" id="{4988FFD8-2563-0C26-AF09-06CC675A6156}"/>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5787874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F6780-497A-6364-27F0-BAAA41BE4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80E1EB-8B2C-7D4E-E84D-EDCF197FFEA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DF4A9AB9-36A8-2B43-5763-BF0F4B81836D}"/>
              </a:ext>
            </a:extLst>
          </p:cNvPr>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a:extLst>
              <a:ext uri="{FF2B5EF4-FFF2-40B4-BE49-F238E27FC236}">
                <a16:creationId xmlns:a16="http://schemas.microsoft.com/office/drawing/2014/main" id="{E619A70E-5124-D353-8FBE-D5530B989FCA}"/>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7346772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For onboard use, the model has to be much simpler than the full Thermal Desktop and </a:t>
            </a:r>
            <a:r>
              <a:rPr sz="1600" dirty="0" err="1">
                <a:latin typeface="Calibri"/>
              </a:rPr>
              <a:t>Femap</a:t>
            </a:r>
            <a:r>
              <a:rPr sz="1600" dirty="0">
                <a:latin typeface="Calibri"/>
              </a:rPr>
              <a:t> analysis.</a:t>
            </a:r>
          </a:p>
          <a:p>
            <a:pPr>
              <a:spcAft>
                <a:spcPts val="600"/>
              </a:spcAft>
            </a:pPr>
            <a:r>
              <a:rPr sz="1600" dirty="0">
                <a:latin typeface="Calibri"/>
              </a:rPr>
              <a:t>It should use only a small number of temperature measurements and operating-state flags, with a small fixed set of coefficients.</a:t>
            </a:r>
          </a:p>
          <a:p>
            <a:pPr>
              <a:spcAft>
                <a:spcPts val="600"/>
              </a:spcAft>
            </a:pPr>
            <a:r>
              <a:rPr lang="en-US" sz="1600" dirty="0">
                <a:latin typeface="Calibri"/>
              </a:rPr>
              <a:t>After w</a:t>
            </a:r>
            <a:r>
              <a:rPr sz="1600" dirty="0">
                <a:latin typeface="Calibri"/>
              </a:rPr>
              <a:t>e examined several candidate </a:t>
            </a:r>
            <a:r>
              <a:rPr lang="en-US" sz="1600" dirty="0">
                <a:latin typeface="Calibri"/>
              </a:rPr>
              <a:t>reduced-order </a:t>
            </a:r>
            <a:r>
              <a:rPr sz="1600" dirty="0">
                <a:latin typeface="Calibri"/>
              </a:rPr>
              <a:t>models</a:t>
            </a:r>
            <a:r>
              <a:rPr lang="en-US" sz="1600" dirty="0">
                <a:latin typeface="Calibri"/>
              </a:rPr>
              <a:t>,</a:t>
            </a:r>
            <a:r>
              <a:rPr sz="1600" dirty="0">
                <a:latin typeface="Calibri"/>
              </a:rPr>
              <a:t> we selected a hierarchical temperature-difference model.</a:t>
            </a:r>
          </a:p>
          <a:p>
            <a:pPr>
              <a:spcAft>
                <a:spcPts val="600"/>
              </a:spcAft>
            </a:pPr>
            <a:r>
              <a:rPr sz="1600" dirty="0">
                <a:latin typeface="Calibri"/>
              </a:rPr>
              <a:t>The basic idea is to separate the time-varying thermal component within an orbit from the mean bias that changes across operating conditions.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B42EA-D360-34D6-60C7-03B28469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F6A70-B226-B8D0-76C5-5C29EF41831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8F2AF636-D9A0-B111-F11B-3033CC3C424E}"/>
              </a:ext>
            </a:extLst>
          </p:cNvPr>
          <p:cNvSpPr>
            <a:spLocks noGrp="1"/>
          </p:cNvSpPr>
          <p:nvPr>
            <p:ph type="body" sz="quarter" idx="3"/>
          </p:nvPr>
        </p:nvSpPr>
        <p:spPr/>
        <p:txBody>
          <a:bodyPr/>
          <a:lstStyle/>
          <a:p>
            <a:pPr>
              <a:spcAft>
                <a:spcPts val="600"/>
              </a:spcAft>
            </a:pPr>
            <a:r>
              <a:rPr sz="1600" dirty="0">
                <a:latin typeface="Calibri"/>
              </a:rPr>
              <a:t>This is the core prediction model.</a:t>
            </a:r>
          </a:p>
          <a:p>
            <a:pPr>
              <a:spcAft>
                <a:spcPts val="600"/>
              </a:spcAft>
            </a:pPr>
            <a:r>
              <a:rPr sz="1600" dirty="0">
                <a:latin typeface="Calibri"/>
              </a:rPr>
              <a:t>The coefficients of this model are identified on the ground from the thermo-structural simulation database.</a:t>
            </a:r>
          </a:p>
          <a:p>
            <a:pPr>
              <a:spcAft>
                <a:spcPts val="600"/>
              </a:spcAft>
            </a:pPr>
            <a:r>
              <a:rPr sz="1600" dirty="0">
                <a:latin typeface="Calibri"/>
              </a:rPr>
              <a:t>For the dominant LOS axis, the time-varying component is modeled as a linear function of the temperature difference between the sun-facing panel and the opposite panel.</a:t>
            </a:r>
          </a:p>
          <a:p>
            <a:pPr>
              <a:spcAft>
                <a:spcPts val="600"/>
              </a:spcAft>
            </a:pPr>
            <a:r>
              <a:rPr sz="1600" dirty="0">
                <a:latin typeface="Calibri"/>
              </a:rPr>
              <a:t>The thermal sensitivity, a, is shared among cases with the same sun-facing panel.</a:t>
            </a:r>
          </a:p>
          <a:p>
            <a:pPr>
              <a:spcAft>
                <a:spcPts val="600"/>
              </a:spcAft>
            </a:pPr>
            <a:r>
              <a:rPr sz="1600" dirty="0">
                <a:latin typeface="Calibri"/>
              </a:rPr>
              <a:t>The remaining DC offset, b, is modeled using the sun-facing panel and equipment ON/OFF states.</a:t>
            </a:r>
          </a:p>
          <a:p>
            <a:pPr>
              <a:spcAft>
                <a:spcPts val="600"/>
              </a:spcAft>
            </a:pPr>
            <a:r>
              <a:rPr sz="1600" dirty="0">
                <a:latin typeface="Calibri"/>
              </a:rPr>
              <a:t>So, in simple terms, the panel temperature difference explains the variation within an orbit, while the operating state explains the offset between different cases.</a:t>
            </a:r>
          </a:p>
          <a:p>
            <a:pPr>
              <a:spcAft>
                <a:spcPts val="600"/>
              </a:spcAft>
            </a:pPr>
            <a:r>
              <a:rPr sz="1600" dirty="0">
                <a:latin typeface="Calibri"/>
              </a:rPr>
              <a:t>For the non-dominant axis, only the bias component is predicted.</a:t>
            </a:r>
          </a:p>
          <a:p>
            <a:pPr>
              <a:spcAft>
                <a:spcPts val="600"/>
              </a:spcAft>
            </a:pPr>
            <a:r>
              <a:rPr sz="1600" dirty="0">
                <a:latin typeface="Calibri"/>
              </a:rPr>
              <a:t>The complete model uses only 16 coefficients for this spacecraft structure, STT–LCT placement, and LOS definition.</a:t>
            </a:r>
          </a:p>
        </p:txBody>
      </p:sp>
      <p:sp>
        <p:nvSpPr>
          <p:cNvPr id="4" name="Slide Number Placeholder 3">
            <a:extLst>
              <a:ext uri="{FF2B5EF4-FFF2-40B4-BE49-F238E27FC236}">
                <a16:creationId xmlns:a16="http://schemas.microsoft.com/office/drawing/2014/main" id="{4E4A3804-A38E-981D-0A3F-5E89C2E6D807}"/>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7906083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Let me briefly explain how the coefficients a and b are determined.</a:t>
            </a:r>
          </a:p>
          <a:p>
            <a:pPr>
              <a:spcAft>
                <a:spcPts val="600"/>
              </a:spcAft>
            </a:pPr>
            <a:r>
              <a:rPr sz="1600">
                <a:latin typeface="Calibri"/>
              </a:rPr>
              <a:t>First, for each analysis case, we use the first orbit to fit the relationship between the panel temperature difference and the thermal LOS.</a:t>
            </a:r>
          </a:p>
          <a:p>
            <a:pPr>
              <a:spcAft>
                <a:spcPts val="600"/>
              </a:spcAft>
            </a:pPr>
            <a:r>
              <a:rPr sz="1600">
                <a:latin typeface="Calibri"/>
              </a:rPr>
              <a:t>This gives a case-specific thermal sensitivity, a, and a mean offset, b.</a:t>
            </a:r>
          </a:p>
          <a:p>
            <a:pPr>
              <a:spcAft>
                <a:spcPts val="600"/>
              </a:spcAft>
            </a:pPr>
            <a:r>
              <a:rPr sz="1600">
                <a:latin typeface="Calibri"/>
              </a:rPr>
              <a:t>Next, the thermal sensitivity a is shared across cases with the same sun-facing panel.</a:t>
            </a:r>
          </a:p>
          <a:p>
            <a:pPr>
              <a:spcAft>
                <a:spcPts val="600"/>
              </a:spcAft>
            </a:pPr>
            <a:r>
              <a:rPr sz="1600">
                <a:latin typeface="Calibri"/>
              </a:rPr>
              <a:t>We use the median sensitivity of those cases as the shared coefficient.</a:t>
            </a:r>
          </a:p>
          <a:p>
            <a:pPr>
              <a:spcAft>
                <a:spcPts val="600"/>
              </a:spcAft>
            </a:pPr>
            <a:r>
              <a:rPr sz="1600">
                <a:latin typeface="Calibri"/>
              </a:rPr>
              <a:t>The mean offset b is treated differently.</a:t>
            </a:r>
          </a:p>
          <a:p>
            <a:pPr>
              <a:spcAft>
                <a:spcPts val="600"/>
              </a:spcAft>
            </a:pPr>
            <a:r>
              <a:rPr sz="1600">
                <a:latin typeface="Calibri"/>
              </a:rPr>
              <a:t>Instead of assigning an independent offset to every case, we model it using the sun-facing panel and equipment ON/OFF states.</a:t>
            </a:r>
          </a:p>
          <a:p>
            <a:pPr>
              <a:spcAft>
                <a:spcPts val="600"/>
              </a:spcAft>
            </a:pPr>
            <a:r>
              <a:rPr sz="1600">
                <a:latin typeface="Calibri"/>
              </a:rPr>
              <a:t>Therefore, the final onboard model does not require independent coefficients for every operating condition.</a:t>
            </a:r>
          </a:p>
          <a:p>
            <a:pPr>
              <a:spcAft>
                <a:spcPts val="600"/>
              </a:spcAft>
            </a:pPr>
            <a:r>
              <a:rPr sz="1600">
                <a:latin typeface="Calibri"/>
              </a:rPr>
              <a:t>To evaluate prediction under unseen conditions, we use a nested leave-one-case-out procedure.</a:t>
            </a:r>
          </a:p>
          <a:p>
            <a:pPr>
              <a:spcAft>
                <a:spcPts val="600"/>
              </a:spcAft>
            </a:pPr>
            <a:r>
              <a:rPr sz="1600">
                <a:latin typeface="Calibri"/>
              </a:rPr>
              <a:t>The test case is completely excluded from both the shared thermal-sensitivity estimation and the DC-bias model.</a:t>
            </a:r>
          </a:p>
          <a:p>
            <a:pPr>
              <a:spcAft>
                <a:spcPts val="600"/>
              </a:spcAft>
            </a:pPr>
            <a:r>
              <a:rPr sz="1600">
                <a:latin typeface="Calibri"/>
              </a:rPr>
              <a:t>Then, using only the fixed coefficients obtained from the remaining cases, we predict the excluded case and evaluate its next two orbits.</a:t>
            </a:r>
          </a:p>
          <a:p>
            <a:pPr>
              <a:spcAft>
                <a:spcPts val="600"/>
              </a:spcAft>
            </a:pPr>
            <a:r>
              <a:rPr sz="1600">
                <a:latin typeface="Calibri"/>
              </a:rPr>
              <a:t>So, this evaluates generalization to an unseen operating condition within the same spacecraft configuration.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The prediction results are shown here.</a:t>
            </a:r>
          </a:p>
          <a:p>
            <a:pPr>
              <a:spcAft>
                <a:spcPts val="600"/>
              </a:spcAft>
            </a:pPr>
            <a:r>
              <a:rPr sz="1600" dirty="0">
                <a:latin typeface="Calibri"/>
              </a:rPr>
              <a:t>Before correction, the median RMS thermal LOS on the dominant axis is about 615 microradians.</a:t>
            </a:r>
          </a:p>
          <a:p>
            <a:pPr>
              <a:spcAft>
                <a:spcPts val="600"/>
              </a:spcAft>
            </a:pPr>
            <a:r>
              <a:rPr sz="1600" dirty="0">
                <a:latin typeface="Calibri"/>
              </a:rPr>
              <a:t>For unseen operating conditions, the median test RMSE decreases to only 4.9 microradians, with a mean value of 5.5 microradians.</a:t>
            </a:r>
          </a:p>
          <a:p>
            <a:pPr>
              <a:spcAft>
                <a:spcPts val="600"/>
              </a:spcAft>
            </a:pPr>
            <a:r>
              <a:rPr sz="1600" dirty="0">
                <a:latin typeface="Calibri"/>
              </a:rPr>
              <a:t>The case-dependent DC bias is also predicted with a leave-one</a:t>
            </a:r>
            <a:r>
              <a:rPr lang="en-US" sz="1600" dirty="0">
                <a:latin typeface="Calibri"/>
              </a:rPr>
              <a:t>-case</a:t>
            </a:r>
            <a:r>
              <a:rPr sz="1600" dirty="0">
                <a:latin typeface="Calibri"/>
              </a:rPr>
              <a:t>-out RMSE of 3.8 microradians.</a:t>
            </a:r>
          </a:p>
          <a:p>
            <a:pPr>
              <a:spcAft>
                <a:spcPts val="600"/>
              </a:spcAft>
            </a:pPr>
            <a:r>
              <a:rPr sz="1600" dirty="0">
                <a:latin typeface="Calibri"/>
              </a:rPr>
              <a:t>Therefore, within the evaluated conditions, this relatively simple reduced-order model reduces the dominant thermal LOS error by approximately one to two orders of magnitude.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This slide shows Case 08, which is one of the cases with the largest thermal LOS error.</a:t>
            </a:r>
          </a:p>
          <a:p>
            <a:pPr>
              <a:spcAft>
                <a:spcPts val="600"/>
              </a:spcAft>
            </a:pPr>
            <a:r>
              <a:rPr sz="1600">
                <a:latin typeface="Calibri"/>
              </a:rPr>
              <a:t>The raw dominant-axis thermal LOS RMS is about 1250 microradians.</a:t>
            </a:r>
          </a:p>
          <a:p>
            <a:pPr>
              <a:spcAft>
                <a:spcPts val="600"/>
              </a:spcAft>
            </a:pPr>
            <a:r>
              <a:rPr sz="1600">
                <a:latin typeface="Calibri"/>
              </a:rPr>
              <a:t>Even though this case is excluded from coefficient estimation, the prediction RMSE is only 3.9 microradians.</a:t>
            </a:r>
          </a:p>
          <a:p>
            <a:pPr>
              <a:spcAft>
                <a:spcPts val="600"/>
              </a:spcAft>
            </a:pPr>
            <a:r>
              <a:rPr sz="1600">
                <a:latin typeface="Calibri"/>
              </a:rPr>
              <a:t>As shown in the time series, the panel temperature difference successfully follows the large within-orbit variation of the thermal LOS.</a:t>
            </a:r>
          </a:p>
          <a:p>
            <a:pPr>
              <a:spcAft>
                <a:spcPts val="600"/>
              </a:spcAft>
            </a:pPr>
            <a:r>
              <a:rPr sz="1600">
                <a:latin typeface="Calibri"/>
              </a:rPr>
              <a:t>This remaining error is already much smaller than the 150-microradian detection radius used in the coarse-acquisition simulation.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52224-2406-C2DC-2EDE-07ADBA512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6BD7CF-C364-ABAE-949B-31841A713D3D}"/>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AE6452E9-11E0-B4E7-2181-92EC8DC09D9F}"/>
              </a:ext>
            </a:extLst>
          </p:cNvPr>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a:extLst>
              <a:ext uri="{FF2B5EF4-FFF2-40B4-BE49-F238E27FC236}">
                <a16:creationId xmlns:a16="http://schemas.microsoft.com/office/drawing/2014/main" id="{00F27468-412A-D2BC-2F0A-FCA43543C94D}"/>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5766209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The predicted thermal LOS is used directly to shift the center of the coarse-acquisition scan.</a:t>
            </a:r>
          </a:p>
          <a:p>
            <a:pPr>
              <a:spcAft>
                <a:spcPts val="600"/>
              </a:spcAft>
            </a:pPr>
            <a:r>
              <a:rPr sz="1600" dirty="0">
                <a:latin typeface="Calibri"/>
              </a:rPr>
              <a:t>The scan-center error consists of nonthermal pointing errors plus the difference between the true thermal LOS and the predicted thermal LOS.</a:t>
            </a:r>
          </a:p>
          <a:p>
            <a:pPr>
              <a:spcAft>
                <a:spcPts val="600"/>
              </a:spcAft>
            </a:pPr>
            <a:r>
              <a:rPr sz="1600" dirty="0">
                <a:latin typeface="Calibri"/>
              </a:rPr>
              <a:t>We use a simplified rectangular spiral scan.</a:t>
            </a:r>
          </a:p>
          <a:p>
            <a:pPr>
              <a:spcAft>
                <a:spcPts val="600"/>
              </a:spcAft>
            </a:pPr>
            <a:r>
              <a:rPr sz="1600" dirty="0">
                <a:latin typeface="Calibri"/>
              </a:rPr>
              <a:t>The scan range is plus or minus 1600 microradians, the scan step is 120 microradians, the detection radius is 150 microradians, and the dwell time is 0.1 seconds per point.</a:t>
            </a:r>
          </a:p>
          <a:p>
            <a:pPr>
              <a:spcAft>
                <a:spcPts val="600"/>
              </a:spcAft>
            </a:pPr>
            <a:r>
              <a:rPr sz="1600" dirty="0">
                <a:latin typeface="Calibri"/>
              </a:rPr>
              <a:t>Because half of the grid diagonal is smaller than the detection radius, the scan geometry has no coverage holes.</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In this numerical evaluation, inter-point motion, settling time, and probabilistic detection are neglected.</a:t>
            </a:r>
          </a:p>
          <a:p>
            <a:pPr>
              <a:spcAft>
                <a:spcPts val="600"/>
              </a:spcAft>
            </a:pPr>
            <a:r>
              <a:rPr sz="1600" dirty="0">
                <a:latin typeface="Calibri"/>
              </a:rPr>
              <a:t>Therefore, the absolute acquisition times should be interpreted as comparative values under the same scan conditions.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In addition to thermal LOS error, we include several nonthermal pointing-error components.</a:t>
            </a:r>
          </a:p>
          <a:p>
            <a:pPr>
              <a:spcAft>
                <a:spcPts val="600"/>
              </a:spcAft>
            </a:pPr>
            <a:r>
              <a:rPr sz="1600" dirty="0">
                <a:latin typeface="Calibri"/>
              </a:rPr>
              <a:t>The largest one is orbit-prediction error.</a:t>
            </a:r>
          </a:p>
          <a:p>
            <a:pPr>
              <a:spcAft>
                <a:spcPts val="600"/>
              </a:spcAft>
            </a:pPr>
            <a:r>
              <a:rPr sz="1600" dirty="0">
                <a:latin typeface="Calibri"/>
              </a:rPr>
              <a:t>We generate this error by propagating Sentinel-1 TLE data and comparing the predicted position with precise POEORB ephemeris data, and then projecting the resulting position error onto the link transverse plane.</a:t>
            </a:r>
          </a:p>
          <a:p>
            <a:pPr>
              <a:spcAft>
                <a:spcPts val="600"/>
              </a:spcAft>
            </a:pPr>
            <a:r>
              <a:rPr sz="1600" dirty="0">
                <a:latin typeface="Calibri"/>
              </a:rPr>
              <a:t>We also include a constant alignment error, random attitude error, and a low-frequency drift term.</a:t>
            </a:r>
          </a:p>
          <a:p>
            <a:pPr>
              <a:spcAft>
                <a:spcPts val="600"/>
              </a:spcAft>
            </a:pPr>
            <a:r>
              <a:rPr sz="1600" dirty="0">
                <a:latin typeface="Calibri"/>
              </a:rPr>
              <a:t>This is not intended to reproduce the exact pointing-error budget of a specific spacecraft.</a:t>
            </a:r>
          </a:p>
          <a:p>
            <a:pPr>
              <a:spcAft>
                <a:spcPts val="600"/>
              </a:spcAft>
            </a:pPr>
            <a:r>
              <a:rPr sz="1600" dirty="0">
                <a:latin typeface="Calibri"/>
              </a:rPr>
              <a:t>Instead, it represents a generic small-LEO scenario without high-accuracy GNSS-based onboard orbit knowledge.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First, I show the acquisition result when only thermal LOS error is included.</a:t>
            </a:r>
          </a:p>
          <a:p>
            <a:pPr>
              <a:spcAft>
                <a:spcPts val="600"/>
              </a:spcAft>
            </a:pPr>
            <a:r>
              <a:rPr sz="1600" dirty="0">
                <a:latin typeface="Calibri"/>
              </a:rPr>
              <a:t>Without correction, the mean acquisition time is 14.6 seconds.</a:t>
            </a:r>
          </a:p>
          <a:p>
            <a:pPr>
              <a:spcAft>
                <a:spcPts val="600"/>
              </a:spcAft>
            </a:pPr>
            <a:r>
              <a:rPr sz="1600" dirty="0">
                <a:latin typeface="Calibri"/>
              </a:rPr>
              <a:t>With the hierarchical reduced-order model, the mean acquisition time decreases to 0.10 seconds.</a:t>
            </a:r>
          </a:p>
          <a:p>
            <a:pPr>
              <a:spcAft>
                <a:spcPts val="600"/>
              </a:spcAft>
            </a:pPr>
            <a:r>
              <a:rPr sz="1600" dirty="0">
                <a:latin typeface="Calibri"/>
              </a:rPr>
              <a:t>This is the same acquisition time obtained when the true thermal LOS is directly removed.</a:t>
            </a:r>
          </a:p>
          <a:p>
            <a:pPr>
              <a:spcAft>
                <a:spcPts val="600"/>
              </a:spcAft>
            </a:pPr>
            <a:r>
              <a:rPr sz="1600" dirty="0">
                <a:latin typeface="Calibri"/>
              </a:rPr>
              <a:t>However, this does not mean that the predicted waveform is perfectly identical to the thermal truth.</a:t>
            </a:r>
          </a:p>
          <a:p>
            <a:pPr>
              <a:spcAft>
                <a:spcPts val="600"/>
              </a:spcAft>
            </a:pPr>
            <a:r>
              <a:rPr sz="1600" dirty="0">
                <a:latin typeface="Calibri"/>
              </a:rPr>
              <a:t>It simply means that the remaining thermal residual, about 9 microradians on average, is already well inside the 150-microradian detection radius.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I show the acquisition result when the nonthermal errors are included.</a:t>
            </a:r>
          </a:p>
          <a:p>
            <a:pPr marL="0" marR="0" lvl="0" indent="0" algn="l" defTabSz="914400" rtl="0" eaLnBrk="1" fontAlgn="auto" latinLnBrk="0" hangingPunct="1">
              <a:lnSpc>
                <a:spcPct val="100000"/>
              </a:lnSpc>
              <a:spcBef>
                <a:spcPts val="0"/>
              </a:spcBef>
              <a:spcAft>
                <a:spcPts val="600"/>
              </a:spcAft>
              <a:buClrTx/>
              <a:buSzTx/>
              <a:buFontTx/>
              <a:buNone/>
              <a:tabLst/>
              <a:defRPr/>
            </a:pPr>
            <a:endParaRPr sz="1600" dirty="0">
              <a:latin typeface="Calibri"/>
            </a:endParaRPr>
          </a:p>
          <a:p>
            <a:pPr>
              <a:spcAft>
                <a:spcPts val="600"/>
              </a:spcAft>
            </a:pPr>
            <a:r>
              <a:rPr sz="1600" dirty="0">
                <a:latin typeface="Calibri"/>
              </a:rPr>
              <a:t>Without thermal correction, the mean acquisition time is 19.2 seconds, with a success rate of 98 percent.</a:t>
            </a:r>
          </a:p>
          <a:p>
            <a:pPr>
              <a:spcAft>
                <a:spcPts val="600"/>
              </a:spcAft>
            </a:pPr>
            <a:r>
              <a:rPr sz="1600" dirty="0">
                <a:latin typeface="Calibri"/>
              </a:rPr>
              <a:t>With the feedforward thermal correction, the mean acquisition time decreases to 5.45 seconds.</a:t>
            </a:r>
          </a:p>
          <a:p>
            <a:pPr>
              <a:spcAft>
                <a:spcPts val="600"/>
              </a:spcAft>
            </a:pPr>
            <a:r>
              <a:rPr sz="1600" dirty="0">
                <a:latin typeface="Calibri"/>
              </a:rPr>
              <a:t>This corresponds to a 72 percent reduction, and the success rate increases to 100 percent.</a:t>
            </a:r>
          </a:p>
          <a:p>
            <a:pPr>
              <a:spcAft>
                <a:spcPts val="600"/>
              </a:spcAft>
            </a:pPr>
            <a:r>
              <a:rPr sz="1600" dirty="0">
                <a:latin typeface="Calibri"/>
              </a:rPr>
              <a:t>For the PY sun-facing cases, where the thermal LOS reaches approximately 1.2 milliradians, the acquisition time decreases from around 40 seconds to approximately 1 to 2 seconds.</a:t>
            </a:r>
          </a:p>
          <a:p>
            <a:pPr>
              <a:spcAft>
                <a:spcPts val="600"/>
              </a:spcAft>
            </a:pPr>
            <a:r>
              <a:rPr sz="1600" dirty="0">
                <a:latin typeface="Calibri"/>
              </a:rPr>
              <a:t>After correction, the remaining initial pointing error is about 448 microradians and is almost entirely determined by the nonthermal components.</a:t>
            </a:r>
          </a:p>
          <a:p>
            <a:pPr>
              <a:spcAft>
                <a:spcPts val="600"/>
              </a:spcAft>
            </a:pPr>
            <a:r>
              <a:rPr sz="1600" dirty="0">
                <a:latin typeface="Calibri"/>
              </a:rPr>
              <a:t>Therefore, the role of this method is not to eliminate every pointing error.</a:t>
            </a:r>
          </a:p>
          <a:p>
            <a:pPr>
              <a:spcAft>
                <a:spcPts val="600"/>
              </a:spcAft>
            </a:pPr>
            <a:r>
              <a:rPr sz="1600" dirty="0">
                <a:latin typeface="Calibri"/>
              </a:rPr>
              <a:t>Instead, it removes the predictable thermal component before optical feedback becomes available, shifting the dominant acquisition limitation from thermal error to nonthermal error.</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Finally, as a preliminary extension, we also examined the use of post-acquisition pointing residuals for repeated links.</a:t>
            </a:r>
          </a:p>
          <a:p>
            <a:pPr>
              <a:spcAft>
                <a:spcPts val="600"/>
              </a:spcAft>
            </a:pPr>
            <a:r>
              <a:rPr sz="1600">
                <a:latin typeface="Calibri"/>
              </a:rPr>
              <a:t>For the first acquisition, temperature-based prediction is important because previous optical residuals may not be available.</a:t>
            </a:r>
          </a:p>
          <a:p>
            <a:pPr>
              <a:spcAft>
                <a:spcPts val="600"/>
              </a:spcAft>
            </a:pPr>
            <a:r>
              <a:rPr sz="1600">
                <a:latin typeface="Calibri"/>
              </a:rPr>
              <a:t>After successful acquisition, however, periodic information contained in the residual can be used to reduce the remaining error in later orbits.</a:t>
            </a:r>
          </a:p>
          <a:p>
            <a:pPr>
              <a:spcAft>
                <a:spcPts val="600"/>
              </a:spcAft>
            </a:pPr>
            <a:r>
              <a:rPr sz="1600">
                <a:latin typeface="Calibri"/>
              </a:rPr>
              <a:t>In the two numerical cases shown here, combining the feedforward thermal model with a Fourier model of the residual reduces later-orbit acquisition time further.</a:t>
            </a:r>
          </a:p>
          <a:p>
            <a:pPr>
              <a:spcAft>
                <a:spcPts val="600"/>
              </a:spcAft>
            </a:pPr>
            <a:r>
              <a:rPr sz="1600">
                <a:latin typeface="Calibri"/>
              </a:rPr>
              <a:t>However, this is only a preliminary study.</a:t>
            </a:r>
          </a:p>
          <a:p>
            <a:pPr>
              <a:spcAft>
                <a:spcPts val="600"/>
              </a:spcAft>
            </a:pPr>
            <a:r>
              <a:rPr sz="1600">
                <a:latin typeface="Calibri"/>
              </a:rPr>
              <a:t>The thermal-model coefficients themselves are not updated, and the analysis currently uses only two cases with densely sampled residual data.</a:t>
            </a:r>
          </a:p>
          <a:p>
            <a:pPr>
              <a:spcAft>
                <a:spcPts val="600"/>
              </a:spcAft>
            </a:pPr>
            <a:r>
              <a:rPr sz="1600">
                <a:latin typeface="Calibri"/>
              </a:rPr>
              <a:t>Therefore, the primary result of this work remains the pre-acquisition feedforward correction based on temperature and operating-state information.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6B410-D6C4-C29F-898B-168C6677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5F61FE-FA76-3670-970E-48BE36541DFE}"/>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D9639460-F670-4213-1C95-B03C1CB9A504}"/>
              </a:ext>
            </a:extLst>
          </p:cNvPr>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a:extLst>
              <a:ext uri="{FF2B5EF4-FFF2-40B4-BE49-F238E27FC236}">
                <a16:creationId xmlns:a16="http://schemas.microsoft.com/office/drawing/2014/main" id="{2B2322B1-6D4A-1828-04E7-5055022E0EBB}"/>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5022003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To summarize, we treated thermal deformation as a predictable time-varying LOS bias before coarse acquisition.</a:t>
            </a:r>
          </a:p>
          <a:p>
            <a:pPr>
              <a:spcAft>
                <a:spcPts val="600"/>
              </a:spcAft>
            </a:pPr>
            <a:r>
              <a:rPr sz="1600" dirty="0">
                <a:latin typeface="Calibri"/>
              </a:rPr>
              <a:t>First, using panel temperature differences and operating-state information, the median dominant-axis thermal LOS error for unseen operating conditions was reduced from about 615 microradians to 4.9 microradians.</a:t>
            </a:r>
          </a:p>
          <a:p>
            <a:pPr>
              <a:spcAft>
                <a:spcPts val="600"/>
              </a:spcAft>
            </a:pPr>
            <a:r>
              <a:rPr lang="en-US" sz="1600" dirty="0">
                <a:latin typeface="Calibri"/>
              </a:rPr>
              <a:t>Second</a:t>
            </a:r>
            <a:r>
              <a:rPr sz="1600" dirty="0">
                <a:latin typeface="Calibri"/>
              </a:rPr>
              <a:t>, even when nonthermal errors were included, the mean acquisition time decreased from 19.2 seconds to 5.45 seconds, while the success rate increased from 98 percent to 100 percent.</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The main contribution of this work is to predict the STT–LCT relative LOS across the spacecraft bus using a model that generalizes across multiple operating conditions, and to directly connect that prediction to coarse-acquisition performance.</a:t>
            </a:r>
          </a:p>
          <a:p>
            <a:pPr>
              <a:spcAft>
                <a:spcPts val="600"/>
              </a:spcAft>
            </a:pPr>
            <a:r>
              <a:rPr sz="1600" dirty="0">
                <a:latin typeface="Calibri"/>
              </a:rPr>
              <a:t>By removing the predictable thermal component before optical feedback becomes available, the remaining acquisition problem becomes dominated by nonthermal errors.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There are several limitations to the current study.</a:t>
            </a:r>
          </a:p>
          <a:p>
            <a:pPr>
              <a:spcAft>
                <a:spcPts val="600"/>
              </a:spcAft>
            </a:pPr>
            <a:r>
              <a:rPr sz="1600" dirty="0">
                <a:latin typeface="Calibri"/>
              </a:rPr>
              <a:t>First, the validation is entirely numerical and is limited to the same spacecraft structure and LOS definition.</a:t>
            </a:r>
          </a:p>
          <a:p>
            <a:pPr>
              <a:spcAft>
                <a:spcPts val="600"/>
              </a:spcAft>
            </a:pPr>
            <a:r>
              <a:rPr sz="1600" dirty="0">
                <a:latin typeface="Calibri"/>
              </a:rPr>
              <a:t>Second, ground-test validation has not yet been performed, so the flight relevance of the thermo-structural model and the identified thermal sensitivities remains to be demonstrated.</a:t>
            </a:r>
          </a:p>
          <a:p>
            <a:pPr>
              <a:spcAft>
                <a:spcPts val="600"/>
              </a:spcAft>
            </a:pPr>
            <a:r>
              <a:rPr sz="1600" dirty="0">
                <a:latin typeface="Calibri"/>
              </a:rPr>
              <a:t>Third, the LOS is calculated using representative-node rotations.</a:t>
            </a:r>
          </a:p>
          <a:p>
            <a:pPr>
              <a:spcAft>
                <a:spcPts val="600"/>
              </a:spcAft>
            </a:pPr>
            <a:r>
              <a:rPr sz="1600" dirty="0">
                <a:latin typeface="Calibri"/>
              </a:rPr>
              <a:t>A rigid-body fit of the mounting interface and internal thermal deformation of the STT and LCT are not included.</a:t>
            </a:r>
          </a:p>
          <a:p>
            <a:pPr>
              <a:spcAft>
                <a:spcPts val="600"/>
              </a:spcAft>
            </a:pPr>
            <a:r>
              <a:rPr sz="1600" dirty="0">
                <a:latin typeface="Calibri"/>
              </a:rPr>
              <a:t>Finally, the acquisition simulation uses one nonthermal-error realization and simplified scan dynamics.</a:t>
            </a:r>
          </a:p>
          <a:p>
            <a:pPr>
              <a:spcAft>
                <a:spcPts val="600"/>
              </a:spcAft>
            </a:pPr>
            <a:endParaRPr sz="1600" dirty="0">
              <a:latin typeface="Calibri"/>
            </a:endParaRPr>
          </a:p>
          <a:p>
            <a:pPr>
              <a:spcAft>
                <a:spcPts val="600"/>
              </a:spcAft>
            </a:pPr>
            <a:r>
              <a:rPr sz="1600" dirty="0">
                <a:latin typeface="Calibri"/>
              </a:rPr>
              <a:t>There are three main directions for future work.</a:t>
            </a:r>
          </a:p>
          <a:p>
            <a:pPr>
              <a:spcAft>
                <a:spcPts val="600"/>
              </a:spcAft>
            </a:pPr>
            <a:r>
              <a:rPr sz="1600" dirty="0">
                <a:latin typeface="Calibri"/>
              </a:rPr>
              <a:t>First, we plan to validate the thermo-structural sensitivities through ground thermal testing.</a:t>
            </a:r>
          </a:p>
          <a:p>
            <a:pPr>
              <a:spcAft>
                <a:spcPts val="600"/>
              </a:spcAft>
            </a:pPr>
            <a:r>
              <a:rPr sz="1600" dirty="0">
                <a:latin typeface="Calibri"/>
              </a:rPr>
              <a:t>Second, for application to an actual spacecraft, the coefficients must be re-identified for the real structure and mounting configuration, while we investigate whether the same model structure can be retained.</a:t>
            </a:r>
          </a:p>
          <a:p>
            <a:pPr marL="0" marR="0" lvl="0" indent="0" algn="l" defTabSz="914400" rtl="0" eaLnBrk="1" fontAlgn="auto" latinLnBrk="0" hangingPunct="1">
              <a:lnSpc>
                <a:spcPct val="100000"/>
              </a:lnSpc>
              <a:spcBef>
                <a:spcPts val="0"/>
              </a:spcBef>
              <a:spcAft>
                <a:spcPts val="600"/>
              </a:spcAft>
              <a:buClrTx/>
              <a:buSzTx/>
              <a:buFontTx/>
              <a:buNone/>
              <a:tabLst/>
              <a:defRPr/>
            </a:pPr>
            <a:r>
              <a:rPr sz="1600" dirty="0">
                <a:latin typeface="Calibri"/>
              </a:rPr>
              <a:t>Third, after successful acquisition, optical pointing residuals could be used to adapt or update the prediction for repeated links.</a:t>
            </a:r>
            <a:br>
              <a:rPr lang="en-US" sz="1600" dirty="0">
                <a:latin typeface="Calibri"/>
              </a:rPr>
            </a:br>
            <a:br>
              <a:rPr lang="en-US" sz="1600" dirty="0">
                <a:latin typeface="Calibri"/>
              </a:rPr>
            </a:br>
            <a:r>
              <a:rPr lang="en-US" altLang="ja-JP" sz="1600" dirty="0">
                <a:latin typeface="Calibri"/>
              </a:rPr>
              <a:t>Thank you very much for your attention.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A: Appendix</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ΔT一次関係はJANUSにある。差分はバス相対LOS、階層DC、粗捕捉性能への接続。</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全解析ケースの設計</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熱も軌道も軌道位相依存。低周波残差を熱として取り込む説明は修正する。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LOS定義の比較</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被覆や半電力を聞かれたときの枚。発熱の係数を太陽面に依らず共有している点は、まだ検証していないと正直に言う。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見かけのRMSE改善より、共線で係数解釈が壊れることを問題視した。</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聞かれたら、平均だけを引いた列は未計算だと答える。7月の静的バイアス補正の秒は、点間隔40 µrad・検出半径25 µradの旧走査のもので、今日の条件では比較にならない。</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何が新しいのかを聞かれたときの枚。予測するか、捕捉時間まで見るか、の2軸で置く。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5月に出たモデルの妥当性の問いへの答え。同じ解析の中の評価であることを認めた上で、地上試験で感度を確かめる筋を示す。</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姿勢の頻度を聞かれたときの枚。ケース内で太陽面を固定している前提を先に言い、変わる場合は別解析が要ると答える。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5月に構想した適応補正がどこまで進んだかを聞かれたときの枚。本編Slide 21の数値の全文。</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旧い秒を聞かれたときの手元用。5月は2.43 s → 0.74 s・成功率97.5%で仮想バイアス。7月光RGは124.6 s と 156.9 → 59.6 s で、点間隔40 µrad・検出半径25 µradの密走査。8月16日のメモは12.1 s と 16.3 → 4.75 s で17ケース集計。いずれも走査条件かケース集合が今日と違う。</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677201" y="7340600"/>
            <a:ext cx="12431685" cy="2125436"/>
          </a:xfrm>
        </p:spPr>
        <p:txBody>
          <a:bodyPr anchor="b"/>
          <a:lstStyle>
            <a:lvl1pPr algn="l">
              <a:defRPr sz="4800" spc="300"/>
            </a:lvl1pPr>
          </a:lstStyle>
          <a:p>
            <a:r>
              <a:rPr lang="ja-JP" altLang="en-US"/>
              <a:t>マスター タイトルの書式設定</a:t>
            </a:r>
            <a:endParaRPr lang="en-US" dirty="0"/>
          </a:p>
        </p:txBody>
      </p:sp>
      <p:sp>
        <p:nvSpPr>
          <p:cNvPr id="3" name="Subtitle 2"/>
          <p:cNvSpPr>
            <a:spLocks noGrp="1"/>
          </p:cNvSpPr>
          <p:nvPr>
            <p:ph type="subTitle" idx="1"/>
          </p:nvPr>
        </p:nvSpPr>
        <p:spPr>
          <a:xfrm>
            <a:off x="9677201" y="9794966"/>
            <a:ext cx="12431684" cy="2351314"/>
          </a:xfrm>
        </p:spPr>
        <p:txBody>
          <a:bodyPr/>
          <a:lstStyle>
            <a:lvl1pPr marL="0" indent="0" algn="l">
              <a:lnSpc>
                <a:spcPct val="50000"/>
              </a:lnSpc>
              <a:buNone/>
              <a:defRPr sz="3600" b="0">
                <a:solidFill>
                  <a:schemeClr val="tx2"/>
                </a:solidFill>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923E69BD-F0A9-D945-85B5-A92D8C4A6243}"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9" name="テキスト プレースホルダー 8">
            <a:extLst>
              <a:ext uri="{FF2B5EF4-FFF2-40B4-BE49-F238E27FC236}">
                <a16:creationId xmlns:a16="http://schemas.microsoft.com/office/drawing/2014/main" id="{ADAD6F10-9E3C-081C-FAC9-2F96D835D91D}"/>
              </a:ext>
            </a:extLst>
          </p:cNvPr>
          <p:cNvSpPr>
            <a:spLocks noGrp="1"/>
          </p:cNvSpPr>
          <p:nvPr>
            <p:ph type="body" sz="quarter" idx="13"/>
          </p:nvPr>
        </p:nvSpPr>
        <p:spPr>
          <a:xfrm>
            <a:off x="16483539" y="6261101"/>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
        <p:nvSpPr>
          <p:cNvPr id="10" name="テキスト プレースホルダー 8">
            <a:extLst>
              <a:ext uri="{FF2B5EF4-FFF2-40B4-BE49-F238E27FC236}">
                <a16:creationId xmlns:a16="http://schemas.microsoft.com/office/drawing/2014/main" id="{3A47DA29-0B22-B527-E246-85A23FDB4324}"/>
              </a:ext>
            </a:extLst>
          </p:cNvPr>
          <p:cNvSpPr>
            <a:spLocks noGrp="1"/>
          </p:cNvSpPr>
          <p:nvPr>
            <p:ph type="body" sz="quarter" idx="14"/>
          </p:nvPr>
        </p:nvSpPr>
        <p:spPr>
          <a:xfrm>
            <a:off x="9677201" y="6261101"/>
            <a:ext cx="5625347" cy="698499"/>
          </a:xfrm>
        </p:spPr>
        <p:txBody>
          <a:bodyPr/>
          <a:lstStyle>
            <a:lvl1pPr algn="l">
              <a:buNone/>
              <a:defRPr sz="4000" b="0">
                <a:solidFill>
                  <a:schemeClr val="tx2"/>
                </a:solidFill>
              </a:defRPr>
            </a:lvl1pPr>
          </a:lstStyle>
          <a:p>
            <a:pPr lvl="0"/>
            <a:r>
              <a:rPr kumimoji="1" lang="ja-JP" altLang="en-US"/>
              <a:t>マスター テキストの書式設定</a:t>
            </a:r>
          </a:p>
        </p:txBody>
      </p:sp>
      <p:sp>
        <p:nvSpPr>
          <p:cNvPr id="11" name="テキスト プレースホルダー 8">
            <a:extLst>
              <a:ext uri="{FF2B5EF4-FFF2-40B4-BE49-F238E27FC236}">
                <a16:creationId xmlns:a16="http://schemas.microsoft.com/office/drawing/2014/main" id="{3ABD93C0-C51C-2948-0F33-2EF4B6841AEC}"/>
              </a:ext>
            </a:extLst>
          </p:cNvPr>
          <p:cNvSpPr>
            <a:spLocks noGrp="1"/>
          </p:cNvSpPr>
          <p:nvPr>
            <p:ph type="body" sz="quarter" idx="15"/>
          </p:nvPr>
        </p:nvSpPr>
        <p:spPr>
          <a:xfrm>
            <a:off x="16483538" y="5413377"/>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299124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708300" y="4192765"/>
            <a:ext cx="4965808" cy="1795335"/>
          </a:xfrm>
        </p:spPr>
        <p:txBody>
          <a:bodyPr anchor="b"/>
          <a:lstStyle>
            <a:lvl1pPr algn="ctr">
              <a:defRPr sz="5600">
                <a:solidFill>
                  <a:schemeClr val="bg1"/>
                </a:solidFill>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676289" y="7727900"/>
            <a:ext cx="21029831" cy="3000374"/>
          </a:xfrm>
        </p:spPr>
        <p:txBody>
          <a:bodyP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FB9E95FB-2235-2F42-91D0-8B9F16BE7B80}"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872E8AAC-513B-BB73-EF3E-6F21C4AF6A77}"/>
              </a:ext>
            </a:extLst>
          </p:cNvPr>
          <p:cNvCxnSpPr>
            <a:cxnSpLocks/>
          </p:cNvCxnSpPr>
          <p:nvPr userDrawn="1"/>
        </p:nvCxnSpPr>
        <p:spPr>
          <a:xfrm>
            <a:off x="11254952" y="6858000"/>
            <a:ext cx="1872509" cy="0"/>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0003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815378" y="3104147"/>
            <a:ext cx="23020980" cy="9249779"/>
          </a:xfrm>
        </p:spPr>
        <p:txBody>
          <a:bodyPr/>
          <a:lstStyle>
            <a:lvl1pPr>
              <a:defRPr b="1" i="0">
                <a:latin typeface="Yu Gothic" panose="020B0400000000000000" pitchFamily="34" charset="-128"/>
                <a:ea typeface="Yu Gothic" panose="020B0400000000000000" pitchFamily="34" charset="-128"/>
              </a:defRPr>
            </a:lvl1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CB8ED544-ACEE-1142-A4DF-052F81DCAF13}"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9" name="正方形/長方形 8">
            <a:extLst>
              <a:ext uri="{FF2B5EF4-FFF2-40B4-BE49-F238E27FC236}">
                <a16:creationId xmlns:a16="http://schemas.microsoft.com/office/drawing/2014/main" id="{71B145F9-61C6-1870-CE50-37506B7E4EF4}"/>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796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5A8DA76-1C10-5547-91CE-253BD16E32D7}"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9D7CF2C5-496E-3F41-87A5-8BF20107D1CA}"/>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8D55661E-ACB1-18CB-79CA-CE03DAB48599}"/>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37148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3DC3E895-CCE5-A241-A85F-670DB4C916C8}"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1" name="テキスト プレースホルダー 10">
            <a:extLst>
              <a:ext uri="{FF2B5EF4-FFF2-40B4-BE49-F238E27FC236}">
                <a16:creationId xmlns:a16="http://schemas.microsoft.com/office/drawing/2014/main" id="{685F9C02-29EC-4168-A599-AFD3B71ED232}"/>
              </a:ext>
            </a:extLst>
          </p:cNvPr>
          <p:cNvSpPr>
            <a:spLocks noGrp="1"/>
          </p:cNvSpPr>
          <p:nvPr>
            <p:ph type="body" sz="quarter" idx="14"/>
          </p:nvPr>
        </p:nvSpPr>
        <p:spPr>
          <a:xfrm>
            <a:off x="504114"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2" name="テキスト プレースホルダー 10">
            <a:extLst>
              <a:ext uri="{FF2B5EF4-FFF2-40B4-BE49-F238E27FC236}">
                <a16:creationId xmlns:a16="http://schemas.microsoft.com/office/drawing/2014/main" id="{6165EC21-36B4-4CED-0569-C34ACFFC9B2E}"/>
              </a:ext>
            </a:extLst>
          </p:cNvPr>
          <p:cNvSpPr>
            <a:spLocks noGrp="1"/>
          </p:cNvSpPr>
          <p:nvPr>
            <p:ph type="body" sz="quarter" idx="15"/>
          </p:nvPr>
        </p:nvSpPr>
        <p:spPr>
          <a:xfrm>
            <a:off x="12429459"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BD06260A-761F-95EE-B2CA-F7236CCF8AA8}"/>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3" name="正方形/長方形 12">
            <a:extLst>
              <a:ext uri="{FF2B5EF4-FFF2-40B4-BE49-F238E27FC236}">
                <a16:creationId xmlns:a16="http://schemas.microsoft.com/office/drawing/2014/main" id="{3685353A-F7C6-F829-267C-FA087B7BBA8F}"/>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6196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F9F4C7F2-45E9-0742-99C2-D62F245DFEC9}"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Content Placeholder 2">
            <a:extLst>
              <a:ext uri="{FF2B5EF4-FFF2-40B4-BE49-F238E27FC236}">
                <a16:creationId xmlns:a16="http://schemas.microsoft.com/office/drawing/2014/main" id="{9D8C0F6B-7CC3-BA66-8706-C8D1A03DEF88}"/>
              </a:ext>
            </a:extLst>
          </p:cNvPr>
          <p:cNvSpPr>
            <a:spLocks noGrp="1"/>
          </p:cNvSpPr>
          <p:nvPr>
            <p:ph sz="half" idx="14"/>
          </p:nvPr>
        </p:nvSpPr>
        <p:spPr>
          <a:xfrm>
            <a:off x="8466772"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Content Placeholder 2">
            <a:extLst>
              <a:ext uri="{FF2B5EF4-FFF2-40B4-BE49-F238E27FC236}">
                <a16:creationId xmlns:a16="http://schemas.microsoft.com/office/drawing/2014/main" id="{E8965DEA-F2AC-C400-E7ED-BAFF867547B1}"/>
              </a:ext>
            </a:extLst>
          </p:cNvPr>
          <p:cNvSpPr>
            <a:spLocks noGrp="1"/>
          </p:cNvSpPr>
          <p:nvPr>
            <p:ph sz="half" idx="15"/>
          </p:nvPr>
        </p:nvSpPr>
        <p:spPr>
          <a:xfrm>
            <a:off x="16387489"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Title 1">
            <a:extLst>
              <a:ext uri="{FF2B5EF4-FFF2-40B4-BE49-F238E27FC236}">
                <a16:creationId xmlns:a16="http://schemas.microsoft.com/office/drawing/2014/main" id="{BD0E9647-9028-AEF2-D4FC-0AC5B2CFAF7E}"/>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93A54D1E-D7CD-DFE1-2E29-70A06AFEC982}"/>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17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C579897-8C2A-CB44-93BE-9BFBC7559B74}"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テキスト プレースホルダー 10">
            <a:extLst>
              <a:ext uri="{FF2B5EF4-FFF2-40B4-BE49-F238E27FC236}">
                <a16:creationId xmlns:a16="http://schemas.microsoft.com/office/drawing/2014/main" id="{2D417ACA-1B7B-F655-60FA-EDD80F82E67F}"/>
              </a:ext>
            </a:extLst>
          </p:cNvPr>
          <p:cNvSpPr>
            <a:spLocks noGrp="1"/>
          </p:cNvSpPr>
          <p:nvPr>
            <p:ph type="body" sz="quarter" idx="16"/>
          </p:nvPr>
        </p:nvSpPr>
        <p:spPr>
          <a:xfrm>
            <a:off x="504114"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4" name="Content Placeholder 2">
            <a:extLst>
              <a:ext uri="{FF2B5EF4-FFF2-40B4-BE49-F238E27FC236}">
                <a16:creationId xmlns:a16="http://schemas.microsoft.com/office/drawing/2014/main" id="{D98EEB2B-456E-ACC0-29AE-C347BAE7F46F}"/>
              </a:ext>
            </a:extLst>
          </p:cNvPr>
          <p:cNvSpPr>
            <a:spLocks noGrp="1"/>
          </p:cNvSpPr>
          <p:nvPr>
            <p:ph sz="half" idx="17"/>
          </p:nvPr>
        </p:nvSpPr>
        <p:spPr>
          <a:xfrm>
            <a:off x="8449492"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テキスト プレースホルダー 10">
            <a:extLst>
              <a:ext uri="{FF2B5EF4-FFF2-40B4-BE49-F238E27FC236}">
                <a16:creationId xmlns:a16="http://schemas.microsoft.com/office/drawing/2014/main" id="{6F409C7A-D2E8-2D36-6086-331B6DCB40DF}"/>
              </a:ext>
            </a:extLst>
          </p:cNvPr>
          <p:cNvSpPr>
            <a:spLocks noGrp="1"/>
          </p:cNvSpPr>
          <p:nvPr>
            <p:ph type="body" sz="quarter" idx="18"/>
          </p:nvPr>
        </p:nvSpPr>
        <p:spPr>
          <a:xfrm>
            <a:off x="8404925"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6" name="Content Placeholder 2">
            <a:extLst>
              <a:ext uri="{FF2B5EF4-FFF2-40B4-BE49-F238E27FC236}">
                <a16:creationId xmlns:a16="http://schemas.microsoft.com/office/drawing/2014/main" id="{206D87F6-15FE-35D7-1017-BB745C23F612}"/>
              </a:ext>
            </a:extLst>
          </p:cNvPr>
          <p:cNvSpPr>
            <a:spLocks noGrp="1"/>
          </p:cNvSpPr>
          <p:nvPr>
            <p:ph sz="half" idx="19"/>
          </p:nvPr>
        </p:nvSpPr>
        <p:spPr>
          <a:xfrm>
            <a:off x="16350303"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テキスト プレースホルダー 10">
            <a:extLst>
              <a:ext uri="{FF2B5EF4-FFF2-40B4-BE49-F238E27FC236}">
                <a16:creationId xmlns:a16="http://schemas.microsoft.com/office/drawing/2014/main" id="{3B277172-6A10-80CC-49F6-E3A8C9458398}"/>
              </a:ext>
            </a:extLst>
          </p:cNvPr>
          <p:cNvSpPr>
            <a:spLocks noGrp="1"/>
          </p:cNvSpPr>
          <p:nvPr>
            <p:ph type="body" sz="quarter" idx="20"/>
          </p:nvPr>
        </p:nvSpPr>
        <p:spPr>
          <a:xfrm>
            <a:off x="16305736"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2194081A-47C8-EFEA-0CF4-1F31377C0986}"/>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34DF2C9F-ACE0-585B-AAD3-3DD14251BADD}"/>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55884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3F385C3C-D291-ECD3-9330-C9FEFA38FAE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2AA52CC1-C979-7DAC-F8FF-07CEF0898376}"/>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7493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テキスト プレースホルダー 10">
            <a:extLst>
              <a:ext uri="{FF2B5EF4-FFF2-40B4-BE49-F238E27FC236}">
                <a16:creationId xmlns:a16="http://schemas.microsoft.com/office/drawing/2014/main" id="{C9B2C448-12D1-42AE-F7D0-C8AED70F60CB}"/>
              </a:ext>
            </a:extLst>
          </p:cNvPr>
          <p:cNvSpPr>
            <a:spLocks noGrp="1"/>
          </p:cNvSpPr>
          <p:nvPr>
            <p:ph type="body" sz="quarter" idx="16"/>
          </p:nvPr>
        </p:nvSpPr>
        <p:spPr>
          <a:xfrm>
            <a:off x="504114"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テキスト プレースホルダー 10">
            <a:extLst>
              <a:ext uri="{FF2B5EF4-FFF2-40B4-BE49-F238E27FC236}">
                <a16:creationId xmlns:a16="http://schemas.microsoft.com/office/drawing/2014/main" id="{C1871C9F-CBB5-6510-4C84-37F671317ED2}"/>
              </a:ext>
            </a:extLst>
          </p:cNvPr>
          <p:cNvSpPr>
            <a:spLocks noGrp="1"/>
          </p:cNvSpPr>
          <p:nvPr>
            <p:ph type="body" sz="quarter" idx="18"/>
          </p:nvPr>
        </p:nvSpPr>
        <p:spPr>
          <a:xfrm>
            <a:off x="12432350"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テキスト プレースホルダー 10">
            <a:extLst>
              <a:ext uri="{FF2B5EF4-FFF2-40B4-BE49-F238E27FC236}">
                <a16:creationId xmlns:a16="http://schemas.microsoft.com/office/drawing/2014/main" id="{E5E7CD5A-D74B-3BF3-1D34-C6BC3F85556B}"/>
              </a:ext>
            </a:extLst>
          </p:cNvPr>
          <p:cNvSpPr>
            <a:spLocks noGrp="1"/>
          </p:cNvSpPr>
          <p:nvPr>
            <p:ph type="body" sz="quarter" idx="20"/>
          </p:nvPr>
        </p:nvSpPr>
        <p:spPr>
          <a:xfrm>
            <a:off x="504114"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8" name="テキスト プレースホルダー 10">
            <a:extLst>
              <a:ext uri="{FF2B5EF4-FFF2-40B4-BE49-F238E27FC236}">
                <a16:creationId xmlns:a16="http://schemas.microsoft.com/office/drawing/2014/main" id="{2F9C9DEC-0751-3E49-640C-C623BA98351A}"/>
              </a:ext>
            </a:extLst>
          </p:cNvPr>
          <p:cNvSpPr>
            <a:spLocks noGrp="1"/>
          </p:cNvSpPr>
          <p:nvPr>
            <p:ph type="body" sz="quarter" idx="22"/>
          </p:nvPr>
        </p:nvSpPr>
        <p:spPr>
          <a:xfrm>
            <a:off x="12432350"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4428B87E-4E5C-BD4A-B7B9-5CD017C2316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67564866-3642-1515-F78F-EBC63CFFFD78}"/>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8096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676291" y="5357813"/>
            <a:ext cx="21029831" cy="3000374"/>
          </a:xfrm>
        </p:spPr>
        <p:txBody>
          <a:bodyPr anchor="ct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DD96E1F-697B-864D-A8BC-B9F203AEA5AC}"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Tree>
    <p:extLst>
      <p:ext uri="{BB962C8B-B14F-4D97-AF65-F5344CB8AC3E}">
        <p14:creationId xmlns:p14="http://schemas.microsoft.com/office/powerpoint/2010/main" val="2341924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052" y="1391479"/>
            <a:ext cx="23290306" cy="1096244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33846FE-1092-FD42-9AC0-B69E5809E0EF}" type="datetime1">
              <a:rPr kumimoji="1" lang="ja-JP" altLang="en-US" smtClean="0"/>
              <a:t>2026/10/10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9084573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A1A28FF6-6ABD-05E0-14A5-3CA8FD766292}"/>
              </a:ext>
            </a:extLst>
          </p:cNvPr>
          <p:cNvSpPr>
            <a:spLocks noGrp="1"/>
          </p:cNvSpPr>
          <p:nvPr>
            <p:ph type="dt" sz="half" idx="10"/>
          </p:nvPr>
        </p:nvSpPr>
        <p:spPr/>
        <p:txBody>
          <a:bodyPr/>
          <a:lstStyle/>
          <a:p>
            <a:fld id="{7A6230E5-DC19-8048-9011-93E4E558FEAD}" type="datetime1">
              <a:rPr kumimoji="1" lang="ja-JP" altLang="en-US" smtClean="0"/>
              <a:t>2026/10/10</a:t>
            </a:fld>
            <a:endParaRPr kumimoji="1" lang="ja-JP" altLang="en-US"/>
          </a:p>
        </p:txBody>
      </p:sp>
      <p:sp>
        <p:nvSpPr>
          <p:cNvPr id="4" name="フッター プレースホルダー 3">
            <a:extLst>
              <a:ext uri="{FF2B5EF4-FFF2-40B4-BE49-F238E27FC236}">
                <a16:creationId xmlns:a16="http://schemas.microsoft.com/office/drawing/2014/main" id="{5FB69A14-0AF9-A649-3ABB-D4052E786C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06DBC31-6D39-6C3E-5F31-00E86E0A20B1}"/>
              </a:ext>
            </a:extLst>
          </p:cNvPr>
          <p:cNvSpPr>
            <a:spLocks noGrp="1"/>
          </p:cNvSpPr>
          <p:nvPr>
            <p:ph type="sldNum" sz="quarter" idx="12"/>
          </p:nvPr>
        </p:nvSpPr>
        <p:spPr/>
        <p:txBody>
          <a:body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2870487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4" name="Date Placeholder 3"/>
          <p:cNvSpPr>
            <a:spLocks noGrp="1"/>
          </p:cNvSpPr>
          <p:nvPr>
            <p:ph type="dt" sz="half" idx="2"/>
          </p:nvPr>
        </p:nvSpPr>
        <p:spPr>
          <a:xfrm>
            <a:off x="355492" y="12744452"/>
            <a:ext cx="5486043"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7A6230E5-DC19-8048-9011-93E4E558FEAD}" type="datetime1">
              <a:rPr kumimoji="1" lang="ja-JP" altLang="en-US" smtClean="0"/>
              <a:t>2026/10/10</a:t>
            </a:fld>
            <a:endParaRPr kumimoji="1" lang="ja-JP" altLang="en-US"/>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18540879" y="12712701"/>
            <a:ext cx="5486043" cy="730250"/>
          </a:xfrm>
          <a:prstGeom prst="rect">
            <a:avLst/>
          </a:prstGeom>
        </p:spPr>
        <p:txBody>
          <a:bodyPr vert="horz" lIns="91440" tIns="45720" rIns="91440" bIns="45720" rtlCol="0" anchor="ctr"/>
          <a:lstStyle>
            <a:lvl1pPr algn="r">
              <a:defRPr sz="3600">
                <a:solidFill>
                  <a:schemeClr val="tx1">
                    <a:tint val="82000"/>
                  </a:schemeClr>
                </a:solidFill>
              </a:defRPr>
            </a:lvl1p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616459202"/>
      </p:ext>
    </p:extLst>
  </p:cSld>
  <p:clrMap bg1="lt1" tx1="dk1" bg2="lt2" tx2="dk2" accent1="accent1" accent2="accent2" accent3="accent3" accent4="accent4" accent5="accent5" accent6="accent6" hlink="hlink" folHlink="folHlink"/>
  <p:sldLayoutIdLst>
    <p:sldLayoutId id="2147483673" r:id="rId1"/>
    <p:sldLayoutId id="2147483675" r:id="rId2"/>
    <p:sldLayoutId id="2147483674" r:id="rId3"/>
    <p:sldLayoutId id="2147483679" r:id="rId4"/>
    <p:sldLayoutId id="2147483683" r:id="rId5"/>
    <p:sldLayoutId id="2147483684" r:id="rId6"/>
    <p:sldLayoutId id="2147483680" r:id="rId7"/>
    <p:sldLayoutId id="2147483681" r:id="rId8"/>
    <p:sldLayoutId id="2147483686" r:id="rId9"/>
    <p:sldLayoutId id="2147483685" r:id="rId10"/>
    <p:sldLayoutId id="2147483682" r:id="rId11"/>
    <p:sldLayoutId id="2147483687" r:id="rId12"/>
  </p:sldLayoutIdLst>
  <p:hf hdr="0" ftr="0" dt="0"/>
  <p:txStyles>
    <p:titleStyle>
      <a:lvl1pPr algn="l" defTabSz="1828709" rtl="0" eaLnBrk="1" latinLnBrk="0" hangingPunct="1">
        <a:lnSpc>
          <a:spcPct val="90000"/>
        </a:lnSpc>
        <a:spcBef>
          <a:spcPct val="0"/>
        </a:spcBef>
        <a:buNone/>
        <a:defRPr kumimoji="1" sz="6400" b="1" kern="1200" spc="300">
          <a:solidFill>
            <a:schemeClr val="tx1"/>
          </a:solidFill>
          <a:latin typeface="+mn-ea"/>
          <a:ea typeface="+mn-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kumimoji="1" sz="4800" b="1" kern="1200">
          <a:solidFill>
            <a:schemeClr val="tx1"/>
          </a:solidFill>
          <a:latin typeface="+mn-lt"/>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709" rtl="0" eaLnBrk="1" latinLnBrk="0" hangingPunct="1">
        <a:defRPr kumimoji="1" sz="3600" kern="1200">
          <a:solidFill>
            <a:schemeClr val="tx1"/>
          </a:solidFill>
          <a:latin typeface="+mn-lt"/>
          <a:ea typeface="+mn-ea"/>
          <a:cs typeface="+mn-cs"/>
        </a:defRPr>
      </a:lvl1pPr>
      <a:lvl2pPr marL="914354" algn="l" defTabSz="1828709" rtl="0" eaLnBrk="1" latinLnBrk="0" hangingPunct="1">
        <a:defRPr kumimoji="1" sz="3600" kern="1200">
          <a:solidFill>
            <a:schemeClr val="tx1"/>
          </a:solidFill>
          <a:latin typeface="+mn-lt"/>
          <a:ea typeface="+mn-ea"/>
          <a:cs typeface="+mn-cs"/>
        </a:defRPr>
      </a:lvl2pPr>
      <a:lvl3pPr marL="1828709" algn="l" defTabSz="1828709" rtl="0" eaLnBrk="1" latinLnBrk="0" hangingPunct="1">
        <a:defRPr kumimoji="1" sz="3600" kern="1200">
          <a:solidFill>
            <a:schemeClr val="tx1"/>
          </a:solidFill>
          <a:latin typeface="+mn-lt"/>
          <a:ea typeface="+mn-ea"/>
          <a:cs typeface="+mn-cs"/>
        </a:defRPr>
      </a:lvl3pPr>
      <a:lvl4pPr marL="2743063" algn="l" defTabSz="1828709" rtl="0" eaLnBrk="1" latinLnBrk="0" hangingPunct="1">
        <a:defRPr kumimoji="1" sz="3600" kern="1200">
          <a:solidFill>
            <a:schemeClr val="tx1"/>
          </a:solidFill>
          <a:latin typeface="+mn-lt"/>
          <a:ea typeface="+mn-ea"/>
          <a:cs typeface="+mn-cs"/>
        </a:defRPr>
      </a:lvl4pPr>
      <a:lvl5pPr marL="3657417" algn="l" defTabSz="1828709" rtl="0" eaLnBrk="1" latinLnBrk="0" hangingPunct="1">
        <a:defRPr kumimoji="1" sz="3600" kern="1200">
          <a:solidFill>
            <a:schemeClr val="tx1"/>
          </a:solidFill>
          <a:latin typeface="+mn-lt"/>
          <a:ea typeface="+mn-ea"/>
          <a:cs typeface="+mn-cs"/>
        </a:defRPr>
      </a:lvl5pPr>
      <a:lvl6pPr marL="4571771" algn="l" defTabSz="1828709" rtl="0" eaLnBrk="1" latinLnBrk="0" hangingPunct="1">
        <a:defRPr kumimoji="1" sz="3600" kern="1200">
          <a:solidFill>
            <a:schemeClr val="tx1"/>
          </a:solidFill>
          <a:latin typeface="+mn-lt"/>
          <a:ea typeface="+mn-ea"/>
          <a:cs typeface="+mn-cs"/>
        </a:defRPr>
      </a:lvl6pPr>
      <a:lvl7pPr marL="5486126" algn="l" defTabSz="1828709" rtl="0" eaLnBrk="1" latinLnBrk="0" hangingPunct="1">
        <a:defRPr kumimoji="1" sz="3600" kern="1200">
          <a:solidFill>
            <a:schemeClr val="tx1"/>
          </a:solidFill>
          <a:latin typeface="+mn-lt"/>
          <a:ea typeface="+mn-ea"/>
          <a:cs typeface="+mn-cs"/>
        </a:defRPr>
      </a:lvl7pPr>
      <a:lvl8pPr marL="6400480" algn="l" defTabSz="1828709" rtl="0" eaLnBrk="1" latinLnBrk="0" hangingPunct="1">
        <a:defRPr kumimoji="1" sz="3600" kern="1200">
          <a:solidFill>
            <a:schemeClr val="tx1"/>
          </a:solidFill>
          <a:latin typeface="+mn-lt"/>
          <a:ea typeface="+mn-ea"/>
          <a:cs typeface="+mn-cs"/>
        </a:defRPr>
      </a:lvl8pPr>
      <a:lvl9pPr marL="7314834" algn="l" defTabSz="1828709" rtl="0" eaLnBrk="1" latinLnBrk="0" hangingPunct="1">
        <a:defRPr kumimoji="1"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5.png"/><Relationship Id="rId7"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0.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31.png"/></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30.xml"/><Relationship Id="rId1" Type="http://schemas.openxmlformats.org/officeDocument/2006/relationships/slideLayout" Target="../slideLayouts/slideLayout3.xml"/><Relationship Id="rId6" Type="http://schemas.openxmlformats.org/officeDocument/2006/relationships/image" Target="../media/image58.png"/><Relationship Id="rId5" Type="http://schemas.openxmlformats.org/officeDocument/2006/relationships/image" Target="../media/image35.png"/><Relationship Id="rId4" Type="http://schemas.openxmlformats.org/officeDocument/2006/relationships/image" Target="../media/image34.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68.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35.xml"/><Relationship Id="rId1" Type="http://schemas.openxmlformats.org/officeDocument/2006/relationships/slideLayout" Target="../slideLayouts/slideLayout3.xml"/><Relationship Id="rId4" Type="http://schemas.openxmlformats.org/officeDocument/2006/relationships/image" Target="../media/image680.png"/></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EF8D53-DFAD-2781-7D58-CDDA68ED3053}"/>
              </a:ext>
            </a:extLst>
          </p:cNvPr>
          <p:cNvSpPr>
            <a:spLocks noGrp="1"/>
          </p:cNvSpPr>
          <p:nvPr>
            <p:ph type="ctrTitle"/>
          </p:nvPr>
        </p:nvSpPr>
        <p:spPr>
          <a:xfrm>
            <a:off x="9274602" y="6201682"/>
            <a:ext cx="14020800" cy="2125436"/>
          </a:xfrm>
        </p:spPr>
        <p:txBody>
          <a:bodyPr wrap="square">
            <a:noAutofit/>
          </a:bodyPr>
          <a:lstStyle/>
          <a:p>
            <a:pPr algn="r"/>
            <a:br>
              <a:rPr lang="ja-JP" altLang="en-US" sz="4400" b="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Hierarchical Prediction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and Feedforward Correction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of Time-Varying Thermal Line-of-Sight Bias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for Coarse Acquisition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in Satellite Optical Communications</a:t>
            </a:r>
            <a:endParaRPr sz="4400" b="1" dirty="0">
              <a:solidFill>
                <a:srgbClr val="082B52"/>
              </a:solidFill>
              <a:latin typeface="Arial" panose="020B0604020202020204" pitchFamily="34" charset="0"/>
              <a:ea typeface="Yu Gothic"/>
              <a:cs typeface="Arial" panose="020B0604020202020204" pitchFamily="34" charset="0"/>
            </a:endParaRPr>
          </a:p>
        </p:txBody>
      </p:sp>
      <p:sp>
        <p:nvSpPr>
          <p:cNvPr id="9" name="TextBox 8"/>
          <p:cNvSpPr txBox="1"/>
          <p:nvPr/>
        </p:nvSpPr>
        <p:spPr>
          <a:xfrm>
            <a:off x="8787606" y="11617362"/>
            <a:ext cx="7132320" cy="590931"/>
          </a:xfrm>
          <a:prstGeom prst="rect">
            <a:avLst/>
          </a:prstGeom>
          <a:noFill/>
        </p:spPr>
        <p:txBody>
          <a:bodyPr wrap="square" lIns="45720" tIns="18288" rIns="45720" bIns="18288" anchor="t">
            <a:spAutoFit/>
          </a:bodyPr>
          <a:lstStyle/>
          <a:p>
            <a:pPr algn="r">
              <a:spcAft>
                <a:spcPts val="0"/>
              </a:spcAft>
            </a:pPr>
            <a:r>
              <a:rPr sz="3600" b="0" dirty="0">
                <a:solidFill>
                  <a:schemeClr val="tx2">
                    <a:lumMod val="50000"/>
                  </a:schemeClr>
                </a:solidFill>
                <a:latin typeface="Arial" panose="020B0604020202020204" pitchFamily="34" charset="0"/>
                <a:ea typeface="Yu Gothic"/>
                <a:cs typeface="Arial" panose="020B0604020202020204" pitchFamily="34" charset="0"/>
              </a:rPr>
              <a:t>ICSO</a:t>
            </a:r>
            <a:r>
              <a:rPr lang="ja-JP" altLang="en-US" sz="3600" dirty="0">
                <a:solidFill>
                  <a:schemeClr val="tx2">
                    <a:lumMod val="50000"/>
                  </a:schemeClr>
                </a:solidFill>
                <a:latin typeface="Arial" panose="020B0604020202020204" pitchFamily="34" charset="0"/>
                <a:ea typeface="Yu Gothic"/>
                <a:cs typeface="Arial" panose="020B0604020202020204" pitchFamily="34" charset="0"/>
              </a:rPr>
              <a:t> </a:t>
            </a:r>
            <a:r>
              <a:rPr lang="en-US" altLang="ja-JP" sz="3600" dirty="0">
                <a:solidFill>
                  <a:schemeClr val="tx2">
                    <a:lumMod val="50000"/>
                  </a:schemeClr>
                </a:solidFill>
                <a:latin typeface="Arial" panose="020B0604020202020204" pitchFamily="34" charset="0"/>
                <a:ea typeface="Yu Gothic"/>
                <a:cs typeface="Arial" panose="020B0604020202020204" pitchFamily="34" charset="0"/>
              </a:rPr>
              <a:t>2026</a:t>
            </a:r>
            <a:r>
              <a:rPr lang="ja-JP" altLang="en-US" sz="3600" dirty="0">
                <a:solidFill>
                  <a:schemeClr val="tx2">
                    <a:lumMod val="50000"/>
                  </a:schemeClr>
                </a:solidFill>
                <a:latin typeface="Arial" panose="020B0604020202020204" pitchFamily="34" charset="0"/>
                <a:ea typeface="Yu Gothic"/>
                <a:cs typeface="Arial" panose="020B0604020202020204" pitchFamily="34" charset="0"/>
              </a:rPr>
              <a:t> </a:t>
            </a:r>
            <a:r>
              <a:rPr lang="en-US" altLang="ja-JP" sz="3600" dirty="0">
                <a:solidFill>
                  <a:schemeClr val="tx2">
                    <a:lumMod val="50000"/>
                  </a:schemeClr>
                </a:solidFill>
                <a:latin typeface="Arial" panose="020B0604020202020204" pitchFamily="34" charset="0"/>
                <a:ea typeface="Yu Gothic"/>
                <a:cs typeface="Arial" panose="020B0604020202020204" pitchFamily="34" charset="0"/>
              </a:rPr>
              <a:t>| October 15, 2026</a:t>
            </a:r>
            <a:endParaRPr lang="en-US" sz="3600" b="0" dirty="0">
              <a:solidFill>
                <a:schemeClr val="tx2">
                  <a:lumMod val="50000"/>
                </a:schemeClr>
              </a:solidFill>
              <a:latin typeface="Arial" panose="020B0604020202020204" pitchFamily="34" charset="0"/>
              <a:ea typeface="Yu Gothic"/>
              <a:cs typeface="Arial" panose="020B0604020202020204" pitchFamily="34" charset="0"/>
            </a:endParaRPr>
          </a:p>
        </p:txBody>
      </p:sp>
      <p:sp>
        <p:nvSpPr>
          <p:cNvPr id="6" name="Google Shape;70;p1">
            <a:extLst>
              <a:ext uri="{FF2B5EF4-FFF2-40B4-BE49-F238E27FC236}">
                <a16:creationId xmlns:a16="http://schemas.microsoft.com/office/drawing/2014/main" id="{8F5F23AD-2C62-83A6-047B-A7631094E474}"/>
              </a:ext>
            </a:extLst>
          </p:cNvPr>
          <p:cNvSpPr txBox="1">
            <a:spLocks/>
          </p:cNvSpPr>
          <p:nvPr/>
        </p:nvSpPr>
        <p:spPr>
          <a:xfrm>
            <a:off x="9551077" y="8993448"/>
            <a:ext cx="15340923" cy="1389189"/>
          </a:xfrm>
          <a:prstGeom prst="rect">
            <a:avLst/>
          </a:prstGeom>
          <a:noFill/>
          <a:ln>
            <a:noFill/>
          </a:ln>
        </p:spPr>
        <p:txBody>
          <a:bodyPr spcFirstLastPara="1" vert="horz" wrap="square" lIns="91425" tIns="91425" rIns="91425" bIns="91425" rtlCol="0" anchor="t" anchorCtr="0">
            <a:noAutofit/>
          </a:bodyPr>
          <a:lstStyle>
            <a:lvl1pPr marL="0" indent="0" algn="l" defTabSz="1828709" rtl="0" eaLnBrk="1" latinLnBrk="0" hangingPunct="1">
              <a:lnSpc>
                <a:spcPct val="50000"/>
              </a:lnSpc>
              <a:spcBef>
                <a:spcPts val="2000"/>
              </a:spcBef>
              <a:buFont typeface="Arial" panose="020B0604020202020204" pitchFamily="34" charset="0"/>
              <a:buNone/>
              <a:defRPr kumimoji="1" sz="3600" b="0" kern="1200">
                <a:solidFill>
                  <a:schemeClr val="tx2"/>
                </a:solidFill>
                <a:latin typeface="+mn-lt"/>
                <a:ea typeface="+mn-ea"/>
                <a:cs typeface="+mn-cs"/>
              </a:defRPr>
            </a:lvl1pPr>
            <a:lvl2pPr marL="914354" indent="0" algn="ctr" defTabSz="1828709" rtl="0" eaLnBrk="1" latinLnBrk="0" hangingPunct="1">
              <a:lnSpc>
                <a:spcPct val="90000"/>
              </a:lnSpc>
              <a:spcBef>
                <a:spcPts val="1000"/>
              </a:spcBef>
              <a:buFont typeface="Arial" panose="020B0604020202020204" pitchFamily="34" charset="0"/>
              <a:buNone/>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1828709" indent="0" algn="ctr" defTabSz="1828709" rtl="0" eaLnBrk="1" latinLnBrk="0" hangingPunct="1">
              <a:lnSpc>
                <a:spcPct val="90000"/>
              </a:lnSpc>
              <a:spcBef>
                <a:spcPts val="1000"/>
              </a:spcBef>
              <a:buFont typeface="Arial" panose="020B0604020202020204" pitchFamily="34" charset="0"/>
              <a:buNone/>
              <a:defRPr kumimoji="1" sz="3600" b="0" i="0" kern="1200">
                <a:solidFill>
                  <a:schemeClr val="tx2"/>
                </a:solidFill>
                <a:latin typeface="Yu Gothic Medium" panose="020B0400000000000000" pitchFamily="34" charset="-128"/>
                <a:ea typeface="Yu Gothic Medium" panose="020B0400000000000000" pitchFamily="34" charset="-128"/>
                <a:cs typeface="+mn-cs"/>
              </a:defRPr>
            </a:lvl3pPr>
            <a:lvl4pPr marL="2743063"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4pPr>
            <a:lvl5pPr marL="3657417"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5pPr>
            <a:lvl6pPr marL="4571771"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6pPr>
            <a:lvl7pPr marL="5486126"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7pPr>
            <a:lvl8pPr marL="6400480"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8pPr>
            <a:lvl9pPr marL="7314834"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9pPr>
          </a:lstStyle>
          <a:p>
            <a:r>
              <a:rPr lang="en-US" altLang="ja-JP" sz="3200" b="1" u="sng" dirty="0">
                <a:latin typeface="Arial" panose="020B0604020202020204" pitchFamily="34" charset="0"/>
                <a:cs typeface="Arial" panose="020B0604020202020204" pitchFamily="34" charset="0"/>
              </a:rPr>
              <a:t>H. TAKAMOTO</a:t>
            </a:r>
            <a:r>
              <a:rPr lang="en-US" altLang="ja-JP" sz="3200" dirty="0">
                <a:latin typeface="Arial" panose="020B0604020202020204" pitchFamily="34" charset="0"/>
                <a:cs typeface="Arial" panose="020B0604020202020204" pitchFamily="34" charset="0"/>
              </a:rPr>
              <a:t>, K. Takashima,</a:t>
            </a:r>
            <a:r>
              <a:rPr lang="en-US" altLang="ja-JP" sz="3200" baseline="30000" dirty="0">
                <a:latin typeface="Arial" panose="020B0604020202020204" pitchFamily="34" charset="0"/>
                <a:cs typeface="Arial" panose="020B0604020202020204" pitchFamily="34" charset="0"/>
              </a:rPr>
              <a:t> </a:t>
            </a:r>
            <a:r>
              <a:rPr lang="en-US" altLang="ja-JP" sz="3200" dirty="0">
                <a:latin typeface="Arial" panose="020B0604020202020204" pitchFamily="34" charset="0"/>
                <a:cs typeface="Arial" panose="020B0604020202020204" pitchFamily="34" charset="0"/>
              </a:rPr>
              <a:t>Y. Kusano,</a:t>
            </a:r>
            <a:r>
              <a:rPr lang="en-US" altLang="ja-JP" sz="3200" baseline="30000" dirty="0">
                <a:latin typeface="Arial" panose="020B0604020202020204" pitchFamily="34" charset="0"/>
                <a:cs typeface="Arial" panose="020B0604020202020204" pitchFamily="34" charset="0"/>
              </a:rPr>
              <a:t> </a:t>
            </a:r>
            <a:r>
              <a:rPr lang="en-US" altLang="ja-JP" sz="3200" dirty="0">
                <a:latin typeface="Arial" panose="020B0604020202020204" pitchFamily="34" charset="0"/>
                <a:cs typeface="Arial" panose="020B0604020202020204" pitchFamily="34" charset="0"/>
              </a:rPr>
              <a:t>S. Ikari, R. </a:t>
            </a:r>
            <a:r>
              <a:rPr lang="en-US" altLang="ja-JP" sz="3200" dirty="0" err="1">
                <a:latin typeface="Arial" panose="020B0604020202020204" pitchFamily="34" charset="0"/>
                <a:cs typeface="Arial" panose="020B0604020202020204" pitchFamily="34" charset="0"/>
              </a:rPr>
              <a:t>Funase</a:t>
            </a:r>
            <a:r>
              <a:rPr lang="en-US" altLang="ja-JP" sz="3200" dirty="0">
                <a:latin typeface="Arial" panose="020B0604020202020204" pitchFamily="34" charset="0"/>
                <a:cs typeface="Arial" panose="020B0604020202020204" pitchFamily="34" charset="0"/>
              </a:rPr>
              <a:t> </a:t>
            </a:r>
          </a:p>
          <a:p>
            <a:endParaRPr lang="en-US" altLang="ja-JP" sz="3200" dirty="0">
              <a:latin typeface="Arial" panose="020B0604020202020204" pitchFamily="34" charset="0"/>
              <a:cs typeface="Arial" panose="020B0604020202020204" pitchFamily="34" charset="0"/>
            </a:endParaRPr>
          </a:p>
          <a:p>
            <a:r>
              <a:rPr lang="en-US" altLang="ja-JP" sz="3200" dirty="0">
                <a:latin typeface="Arial" panose="020B0604020202020204" pitchFamily="34" charset="0"/>
                <a:cs typeface="Arial" panose="020B0604020202020204" pitchFamily="34" charset="0"/>
              </a:rPr>
              <a:t>(The University of Tokyo)</a:t>
            </a:r>
          </a:p>
        </p:txBody>
      </p:sp>
      <p:pic>
        <p:nvPicPr>
          <p:cNvPr id="10" name="Picture 2" descr="東大マーク | 東京大学">
            <a:extLst>
              <a:ext uri="{FF2B5EF4-FFF2-40B4-BE49-F238E27FC236}">
                <a16:creationId xmlns:a16="http://schemas.microsoft.com/office/drawing/2014/main" id="{37C6FA94-99DF-BA36-379D-FD90F4ED5F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193" t="11512" r="27198" b="14363"/>
          <a:stretch>
            <a:fillRect/>
          </a:stretch>
        </p:blipFill>
        <p:spPr bwMode="auto">
          <a:xfrm>
            <a:off x="20664408" y="9784542"/>
            <a:ext cx="3419664" cy="3665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3417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35D3E-6BA3-A5CE-2210-317DCBD6F138}"/>
              </a:ext>
            </a:extLst>
          </p:cNvPr>
          <p:cNvSpPr>
            <a:spLocks noGrp="1"/>
          </p:cNvSpPr>
          <p:nvPr>
            <p:ph type="title"/>
          </p:nvPr>
        </p:nvSpPr>
        <p:spPr/>
        <p:txBody>
          <a:bodyPr>
            <a:normAutofit/>
          </a:bodyPr>
          <a:lstStyle/>
          <a:p>
            <a:r>
              <a:rPr sz="4800" b="0" dirty="0">
                <a:solidFill>
                  <a:srgbClr val="FFFFFF"/>
                </a:solidFill>
                <a:latin typeface="Arial" panose="020B0604020202020204" pitchFamily="34" charset="0"/>
                <a:cs typeface="Arial" panose="020B0604020202020204" pitchFamily="34" charset="0"/>
              </a:rPr>
              <a:t>01</a:t>
            </a:r>
          </a:p>
        </p:txBody>
      </p:sp>
      <p:sp>
        <p:nvSpPr>
          <p:cNvPr id="3" name="テキスト プレースホルダー 2">
            <a:extLst>
              <a:ext uri="{FF2B5EF4-FFF2-40B4-BE49-F238E27FC236}">
                <a16:creationId xmlns:a16="http://schemas.microsoft.com/office/drawing/2014/main" id="{BC4F4820-6A4B-21DF-1929-82AC7C54B27D}"/>
              </a:ext>
            </a:extLst>
          </p:cNvPr>
          <p:cNvSpPr>
            <a:spLocks noGrp="1"/>
          </p:cNvSpPr>
          <p:nvPr>
            <p:ph type="body" idx="1"/>
          </p:nvPr>
        </p:nvSpPr>
        <p:spPr/>
        <p:txBody>
          <a:bodyPr>
            <a:normAutofit/>
          </a:bodyPr>
          <a:lstStyle/>
          <a:p>
            <a:r>
              <a:rPr lang="ja-JP" altLang="en-US" sz="4800" b="1" dirty="0">
                <a:solidFill>
                  <a:srgbClr val="FFFFFF"/>
                </a:solidFill>
                <a:latin typeface="+mj-lt"/>
                <a:cs typeface="Arial" panose="020B0604020202020204" pitchFamily="34" charset="0"/>
              </a:rPr>
              <a:t>Background</a:t>
            </a:r>
            <a:endParaRPr sz="4800" b="1" dirty="0">
              <a:solidFill>
                <a:srgbClr val="FFFFFF"/>
              </a:solidFill>
              <a:latin typeface="+mj-lt"/>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3915B39E-8BAD-5C9C-E46E-51EE9D9101C0}"/>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345895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2755A-CE30-29D5-66D8-858C1044B084}"/>
              </a:ext>
            </a:extLst>
          </p:cNvPr>
          <p:cNvSpPr>
            <a:spLocks noGrp="1"/>
          </p:cNvSpPr>
          <p:nvPr>
            <p:ph type="title"/>
          </p:nvPr>
        </p:nvSpPr>
        <p:spPr/>
        <p:txBody>
          <a:bodyPr wrap="square"/>
          <a:lstStyle/>
          <a:p>
            <a:pPr>
              <a:spcAft>
                <a:spcPts val="0"/>
              </a:spcAft>
            </a:pPr>
            <a:r>
              <a:rPr lang="en-US" sz="3200" dirty="0">
                <a:solidFill>
                  <a:srgbClr val="082B52"/>
                </a:solidFill>
                <a:latin typeface="Arial" panose="020B0604020202020204" pitchFamily="34" charset="0"/>
                <a:ea typeface="Yu Gothic"/>
                <a:cs typeface="Arial" panose="020B0604020202020204" pitchFamily="34" charset="0"/>
              </a:rPr>
              <a:t>Reduce scan time b</a:t>
            </a:r>
            <a:r>
              <a:rPr lang="en-US" sz="3200" b="1" dirty="0">
                <a:solidFill>
                  <a:srgbClr val="082B52"/>
                </a:solidFill>
                <a:latin typeface="Arial" panose="020B0604020202020204" pitchFamily="34" charset="0"/>
                <a:ea typeface="Yu Gothic"/>
                <a:cs typeface="Arial" panose="020B0604020202020204" pitchFamily="34" charset="0"/>
              </a:rPr>
              <a:t>y predicting thermal LOS error in optical communications </a:t>
            </a:r>
            <a:endParaRPr sz="3200" b="1" dirty="0">
              <a:solidFill>
                <a:srgbClr val="082B52"/>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7335B153-B47B-237D-12A8-7E5DB77621F1}"/>
              </a:ext>
            </a:extLst>
          </p:cNvPr>
          <p:cNvSpPr>
            <a:spLocks noGrp="1"/>
          </p:cNvSpPr>
          <p:nvPr>
            <p:ph type="sldNum" sz="quarter" idx="12"/>
          </p:nvPr>
        </p:nvSpPr>
        <p:spPr/>
        <p:txBody>
          <a:bodyPr wrap="square"/>
          <a:lstStyle/>
          <a:p>
            <a:pPr algn="r">
              <a:spcAft>
                <a:spcPts val="0"/>
              </a:spcAft>
            </a:pPr>
            <a:r>
              <a:rPr lang="en-US" altLang="ja-JP" sz="1800" b="0" dirty="0">
                <a:solidFill>
                  <a:srgbClr val="666F79"/>
                </a:solidFill>
                <a:latin typeface="Arial" panose="020B0604020202020204" pitchFamily="34" charset="0"/>
                <a:ea typeface="Yu Gothic"/>
                <a:cs typeface="Arial" panose="020B0604020202020204" pitchFamily="34" charset="0"/>
              </a:rPr>
              <a:t>3</a:t>
            </a:r>
            <a:endParaRPr sz="1800" b="0" dirty="0">
              <a:solidFill>
                <a:srgbClr val="666F79"/>
              </a:solidFill>
              <a:latin typeface="Arial" panose="020B0604020202020204" pitchFamily="34" charset="0"/>
              <a:ea typeface="Yu Gothic"/>
              <a:cs typeface="Arial" panose="020B0604020202020204" pitchFamily="34" charset="0"/>
            </a:endParaRPr>
          </a:p>
        </p:txBody>
      </p:sp>
      <p:sp>
        <p:nvSpPr>
          <p:cNvPr id="5" name="テキスト プレースホルダー 4">
            <a:extLst>
              <a:ext uri="{FF2B5EF4-FFF2-40B4-BE49-F238E27FC236}">
                <a16:creationId xmlns:a16="http://schemas.microsoft.com/office/drawing/2014/main" id="{A906C556-D817-34D8-3FEC-80F456E48CE2}"/>
              </a:ext>
            </a:extLst>
          </p:cNvPr>
          <p:cNvSpPr>
            <a:spLocks noGrp="1"/>
          </p:cNvSpPr>
          <p:nvPr>
            <p:ph type="body" sz="quarter" idx="13"/>
          </p:nvPr>
        </p:nvSpPr>
        <p:spPr/>
        <p:txBody>
          <a:bodyPr wrap="square"/>
          <a:lstStyle/>
          <a:p>
            <a:pPr>
              <a:spcAft>
                <a:spcPts val="0"/>
              </a:spcAft>
            </a:pPr>
            <a:r>
              <a:rPr sz="2000" b="0" dirty="0">
                <a:solidFill>
                  <a:srgbClr val="666F79"/>
                </a:solidFill>
                <a:latin typeface="Yu Gothic"/>
                <a:ea typeface="Yu Gothic"/>
              </a:rPr>
              <a:t>Background</a:t>
            </a:r>
          </a:p>
        </p:txBody>
      </p:sp>
      <p:sp>
        <p:nvSpPr>
          <p:cNvPr id="6" name="Rounded Rectangle 5"/>
          <p:cNvSpPr/>
          <p:nvPr/>
        </p:nvSpPr>
        <p:spPr>
          <a:xfrm>
            <a:off x="1097280" y="3383280"/>
            <a:ext cx="6492240" cy="3200398"/>
          </a:xfrm>
          <a:prstGeom prst="roundRect">
            <a:avLst/>
          </a:prstGeom>
          <a:solidFill>
            <a:srgbClr val="F4F6F8"/>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rial" panose="020B0604020202020204" pitchFamily="34" charset="0"/>
              <a:cs typeface="Arial" panose="020B0604020202020204" pitchFamily="34" charset="0"/>
            </a:endParaRPr>
          </a:p>
        </p:txBody>
      </p:sp>
      <p:sp>
        <p:nvSpPr>
          <p:cNvPr id="7" name="TextBox 6"/>
          <p:cNvSpPr txBox="1"/>
          <p:nvPr/>
        </p:nvSpPr>
        <p:spPr>
          <a:xfrm>
            <a:off x="1996539" y="3685032"/>
            <a:ext cx="4693721" cy="547842"/>
          </a:xfrm>
          <a:prstGeom prst="rect">
            <a:avLst/>
          </a:prstGeom>
          <a:noFill/>
        </p:spPr>
        <p:txBody>
          <a:bodyPr wrap="none" lIns="36576" tIns="27432" rIns="36576" bIns="27432" anchor="t">
            <a:spAutoFit/>
          </a:bodyPr>
          <a:lstStyle/>
          <a:p>
            <a:pPr algn="ctr"/>
            <a:r>
              <a:rPr sz="3200" b="1" dirty="0">
                <a:solidFill>
                  <a:srgbClr val="1B74AA"/>
                </a:solidFill>
                <a:latin typeface="Arial" panose="020B0604020202020204" pitchFamily="34" charset="0"/>
                <a:cs typeface="Arial" panose="020B0604020202020204" pitchFamily="34" charset="0"/>
              </a:rPr>
              <a:t>Before optical feedback</a:t>
            </a:r>
          </a:p>
        </p:txBody>
      </p:sp>
      <p:sp>
        <p:nvSpPr>
          <p:cNvPr id="8" name="TextBox 7"/>
          <p:cNvSpPr txBox="1"/>
          <p:nvPr/>
        </p:nvSpPr>
        <p:spPr>
          <a:xfrm>
            <a:off x="1463040" y="4416552"/>
            <a:ext cx="5760720" cy="2025170"/>
          </a:xfrm>
          <a:prstGeom prst="rect">
            <a:avLst/>
          </a:prstGeom>
          <a:noFill/>
        </p:spPr>
        <p:txBody>
          <a:bodyPr wrap="square" lIns="36576" tIns="27432" rIns="36576" bIns="27432" anchor="t">
            <a:spAutoFit/>
          </a:bodyPr>
          <a:lstStyle/>
          <a:p>
            <a:pPr algn="ctr">
              <a:spcAft>
                <a:spcPts val="0"/>
              </a:spcAft>
            </a:pPr>
            <a:r>
              <a:rPr sz="3200" b="0" dirty="0">
                <a:solidFill>
                  <a:srgbClr val="232B34"/>
                </a:solidFill>
                <a:latin typeface="Arial" panose="020B0604020202020204" pitchFamily="34" charset="0"/>
                <a:ea typeface="Yu Gothic"/>
                <a:cs typeface="Arial" panose="020B0604020202020204" pitchFamily="34" charset="0"/>
              </a:rPr>
              <a:t>Search an uncertainty region including </a:t>
            </a:r>
            <a:r>
              <a:rPr lang="en-US" altLang="ja-JP" sz="3200" b="1" dirty="0">
                <a:solidFill>
                  <a:schemeClr val="accent6">
                    <a:lumMod val="75000"/>
                  </a:schemeClr>
                </a:solidFill>
                <a:latin typeface="Arial" panose="020B0604020202020204" pitchFamily="34" charset="0"/>
                <a:ea typeface="Yu Gothic"/>
                <a:cs typeface="Arial" panose="020B0604020202020204" pitchFamily="34" charset="0"/>
              </a:rPr>
              <a:t>thermal LOS</a:t>
            </a:r>
            <a:r>
              <a:rPr lang="en-US" altLang="ja-JP" sz="3200" dirty="0">
                <a:solidFill>
                  <a:srgbClr val="232B34"/>
                </a:solidFill>
                <a:latin typeface="Arial" panose="020B0604020202020204" pitchFamily="34" charset="0"/>
                <a:ea typeface="Yu Gothic"/>
                <a:cs typeface="Arial" panose="020B0604020202020204" pitchFamily="34" charset="0"/>
              </a:rPr>
              <a:t>, </a:t>
            </a:r>
            <a:r>
              <a:rPr sz="3200" b="0" dirty="0">
                <a:solidFill>
                  <a:srgbClr val="232B34"/>
                </a:solidFill>
                <a:latin typeface="Arial" panose="020B0604020202020204" pitchFamily="34" charset="0"/>
                <a:ea typeface="Yu Gothic"/>
                <a:cs typeface="Arial" panose="020B0604020202020204" pitchFamily="34" charset="0"/>
              </a:rPr>
              <a:t>attitude</a:t>
            </a:r>
            <a:r>
              <a:rPr lang="en-US" sz="3200" b="0" dirty="0">
                <a:solidFill>
                  <a:srgbClr val="232B34"/>
                </a:solidFill>
                <a:latin typeface="Arial" panose="020B0604020202020204" pitchFamily="34" charset="0"/>
                <a:ea typeface="Yu Gothic"/>
                <a:cs typeface="Arial" panose="020B0604020202020204" pitchFamily="34" charset="0"/>
              </a:rPr>
              <a:t>,</a:t>
            </a:r>
            <a:r>
              <a:rPr sz="3200" b="0" dirty="0">
                <a:solidFill>
                  <a:srgbClr val="232B34"/>
                </a:solidFill>
                <a:latin typeface="Arial" panose="020B0604020202020204" pitchFamily="34" charset="0"/>
                <a:ea typeface="Yu Gothic"/>
                <a:cs typeface="Arial" panose="020B0604020202020204" pitchFamily="34" charset="0"/>
              </a:rPr>
              <a:t> and orbit</a:t>
            </a:r>
            <a:r>
              <a:rPr lang="en-US" sz="3200" b="0" dirty="0">
                <a:solidFill>
                  <a:srgbClr val="232B34"/>
                </a:solidFill>
                <a:latin typeface="Arial" panose="020B0604020202020204" pitchFamily="34" charset="0"/>
                <a:ea typeface="Yu Gothic"/>
                <a:cs typeface="Arial" panose="020B0604020202020204" pitchFamily="34" charset="0"/>
              </a:rPr>
              <a:t> errors</a:t>
            </a:r>
            <a:endParaRPr sz="3200" b="0" dirty="0">
              <a:solidFill>
                <a:srgbClr val="232B34"/>
              </a:solidFill>
              <a:latin typeface="Arial" panose="020B0604020202020204" pitchFamily="34" charset="0"/>
              <a:ea typeface="Yu Gothic"/>
              <a:cs typeface="Arial" panose="020B0604020202020204" pitchFamily="34" charset="0"/>
            </a:endParaRPr>
          </a:p>
          <a:p>
            <a:pPr algn="ctr">
              <a:spcAft>
                <a:spcPts val="0"/>
              </a:spcAft>
            </a:pPr>
            <a:endParaRPr sz="3200" b="0" dirty="0">
              <a:solidFill>
                <a:srgbClr val="232B34"/>
              </a:solidFill>
              <a:latin typeface="Arial" panose="020B0604020202020204" pitchFamily="34" charset="0"/>
              <a:ea typeface="Yu Gothic"/>
              <a:cs typeface="Arial" panose="020B0604020202020204" pitchFamily="34" charset="0"/>
            </a:endParaRPr>
          </a:p>
        </p:txBody>
      </p:sp>
      <p:sp>
        <p:nvSpPr>
          <p:cNvPr id="10" name="Rounded Rectangle 9"/>
          <p:cNvSpPr/>
          <p:nvPr/>
        </p:nvSpPr>
        <p:spPr>
          <a:xfrm>
            <a:off x="8732519" y="3383279"/>
            <a:ext cx="6492240" cy="3697255"/>
          </a:xfrm>
          <a:prstGeom prst="roundRect">
            <a:avLst/>
          </a:prstGeom>
          <a:solidFill>
            <a:srgbClr val="F4F6F8"/>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rial" panose="020B0604020202020204" pitchFamily="34" charset="0"/>
              <a:cs typeface="Arial" panose="020B0604020202020204" pitchFamily="34" charset="0"/>
            </a:endParaRPr>
          </a:p>
        </p:txBody>
      </p:sp>
      <p:sp>
        <p:nvSpPr>
          <p:cNvPr id="11" name="TextBox 10"/>
          <p:cNvSpPr txBox="1"/>
          <p:nvPr/>
        </p:nvSpPr>
        <p:spPr>
          <a:xfrm>
            <a:off x="9497928" y="3648456"/>
            <a:ext cx="4961423" cy="1040285"/>
          </a:xfrm>
          <a:prstGeom prst="rect">
            <a:avLst/>
          </a:prstGeom>
          <a:noFill/>
        </p:spPr>
        <p:txBody>
          <a:bodyPr wrap="square" lIns="36576" tIns="27432" rIns="36576" bIns="27432" anchor="t">
            <a:spAutoFit/>
          </a:bodyPr>
          <a:lstStyle/>
          <a:p>
            <a:pPr algn="ctr"/>
            <a:r>
              <a:rPr sz="3200" b="1" dirty="0">
                <a:solidFill>
                  <a:srgbClr val="EC9427"/>
                </a:solidFill>
                <a:latin typeface="Arial" panose="020B0604020202020204" pitchFamily="34" charset="0"/>
                <a:cs typeface="Arial" panose="020B0604020202020204" pitchFamily="34" charset="0"/>
              </a:rPr>
              <a:t>Illumination / eclipse</a:t>
            </a:r>
            <a:endParaRPr lang="en-US" sz="3200" b="1" dirty="0">
              <a:solidFill>
                <a:srgbClr val="EC9427"/>
              </a:solidFill>
              <a:latin typeface="Arial" panose="020B0604020202020204" pitchFamily="34" charset="0"/>
              <a:cs typeface="Arial" panose="020B0604020202020204" pitchFamily="34" charset="0"/>
            </a:endParaRPr>
          </a:p>
          <a:p>
            <a:pPr algn="ctr"/>
            <a:r>
              <a:rPr lang="en-US" sz="3200" b="1" dirty="0">
                <a:solidFill>
                  <a:srgbClr val="EC9427"/>
                </a:solidFill>
                <a:latin typeface="Arial" panose="020B0604020202020204" pitchFamily="34" charset="0"/>
                <a:cs typeface="Arial" panose="020B0604020202020204" pitchFamily="34" charset="0"/>
              </a:rPr>
              <a:t>/ dissipation</a:t>
            </a:r>
          </a:p>
        </p:txBody>
      </p:sp>
      <p:sp>
        <p:nvSpPr>
          <p:cNvPr id="12" name="TextBox 11"/>
          <p:cNvSpPr txBox="1"/>
          <p:nvPr/>
        </p:nvSpPr>
        <p:spPr>
          <a:xfrm>
            <a:off x="9471098" y="4638382"/>
            <a:ext cx="5060808" cy="1532727"/>
          </a:xfrm>
          <a:prstGeom prst="rect">
            <a:avLst/>
          </a:prstGeom>
          <a:noFill/>
        </p:spPr>
        <p:txBody>
          <a:bodyPr wrap="none" lIns="36576" tIns="27432" rIns="36576" bIns="27432" anchor="t">
            <a:spAutoFit/>
          </a:bodyPr>
          <a:lstStyle/>
          <a:p>
            <a:pPr algn="ctr"/>
            <a:r>
              <a:rPr sz="3200" b="0" dirty="0">
                <a:solidFill>
                  <a:srgbClr val="232B34"/>
                </a:solidFill>
                <a:latin typeface="Arial" panose="020B0604020202020204" pitchFamily="34" charset="0"/>
                <a:cs typeface="Arial" panose="020B0604020202020204" pitchFamily="34" charset="0"/>
              </a:rPr>
              <a:t>Temperature field </a:t>
            </a:r>
            <a:endParaRPr lang="en-US" sz="3200" b="0" dirty="0">
              <a:solidFill>
                <a:srgbClr val="232B34"/>
              </a:solidFill>
              <a:latin typeface="Arial" panose="020B0604020202020204" pitchFamily="34" charset="0"/>
              <a:cs typeface="Arial" panose="020B0604020202020204" pitchFamily="34" charset="0"/>
            </a:endParaRPr>
          </a:p>
          <a:p>
            <a:pPr algn="ctr"/>
            <a:r>
              <a:rPr sz="3200" b="0" dirty="0">
                <a:solidFill>
                  <a:srgbClr val="232B34"/>
                </a:solidFill>
                <a:latin typeface="Arial" panose="020B0604020202020204" pitchFamily="34" charset="0"/>
                <a:cs typeface="Arial" panose="020B0604020202020204" pitchFamily="34" charset="0"/>
              </a:rPr>
              <a:t>→ </a:t>
            </a:r>
            <a:r>
              <a:rPr lang="en-US" sz="3200" b="0" dirty="0">
                <a:solidFill>
                  <a:srgbClr val="232B34"/>
                </a:solidFill>
                <a:latin typeface="Arial" panose="020B0604020202020204" pitchFamily="34" charset="0"/>
                <a:cs typeface="Arial" panose="020B0604020202020204" pitchFamily="34" charset="0"/>
              </a:rPr>
              <a:t>thermal </a:t>
            </a:r>
            <a:r>
              <a:rPr sz="3200" b="0" dirty="0">
                <a:solidFill>
                  <a:srgbClr val="232B34"/>
                </a:solidFill>
                <a:latin typeface="Arial" panose="020B0604020202020204" pitchFamily="34" charset="0"/>
                <a:cs typeface="Arial" panose="020B0604020202020204" pitchFamily="34" charset="0"/>
              </a:rPr>
              <a:t>expansion
→ </a:t>
            </a:r>
            <a:r>
              <a:rPr lang="ja-JP" altLang="en-US" sz="3200" dirty="0">
                <a:solidFill>
                  <a:srgbClr val="232B34"/>
                </a:solidFill>
                <a:latin typeface="Arial" panose="020B0604020202020204" pitchFamily="34" charset="0"/>
                <a:cs typeface="Arial" panose="020B0604020202020204" pitchFamily="34" charset="0"/>
              </a:rPr>
              <a:t>spacecraft-bus distortion</a:t>
            </a:r>
            <a:endParaRPr sz="3200" b="0" dirty="0">
              <a:solidFill>
                <a:srgbClr val="232B34"/>
              </a:solidFill>
              <a:latin typeface="Arial" panose="020B0604020202020204" pitchFamily="34" charset="0"/>
              <a:cs typeface="Arial" panose="020B0604020202020204" pitchFamily="34" charset="0"/>
            </a:endParaRPr>
          </a:p>
        </p:txBody>
      </p:sp>
      <p:sp>
        <p:nvSpPr>
          <p:cNvPr id="13" name="TextBox 12"/>
          <p:cNvSpPr txBox="1"/>
          <p:nvPr/>
        </p:nvSpPr>
        <p:spPr>
          <a:xfrm>
            <a:off x="8477314" y="6355052"/>
            <a:ext cx="6979245" cy="486287"/>
          </a:xfrm>
          <a:prstGeom prst="rect">
            <a:avLst/>
          </a:prstGeom>
          <a:noFill/>
        </p:spPr>
        <p:txBody>
          <a:bodyPr wrap="square" lIns="36576" tIns="27432" rIns="36576" bIns="27432" anchor="t">
            <a:spAutoFit/>
          </a:bodyPr>
          <a:lstStyle/>
          <a:p>
            <a:pPr algn="ctr">
              <a:spcAft>
                <a:spcPts val="0"/>
              </a:spcAft>
            </a:pPr>
            <a:r>
              <a:rPr sz="2800" b="1" dirty="0">
                <a:solidFill>
                  <a:schemeClr val="accent6">
                    <a:lumMod val="75000"/>
                  </a:schemeClr>
                </a:solidFill>
                <a:latin typeface="Arial" panose="020B0604020202020204" pitchFamily="34" charset="0"/>
                <a:ea typeface="Yu Gothic"/>
                <a:cs typeface="Arial" panose="020B0604020202020204" pitchFamily="34" charset="0"/>
              </a:rPr>
              <a:t>Thermal LOS: 1</a:t>
            </a:r>
            <a:r>
              <a:rPr lang="en-US" sz="2800" b="1" dirty="0">
                <a:solidFill>
                  <a:schemeClr val="accent6">
                    <a:lumMod val="75000"/>
                  </a:schemeClr>
                </a:solidFill>
                <a:latin typeface="Arial" panose="020B0604020202020204" pitchFamily="34" charset="0"/>
                <a:ea typeface="Yu Gothic"/>
                <a:cs typeface="Arial" panose="020B0604020202020204" pitchFamily="34" charset="0"/>
              </a:rPr>
              <a:t>0</a:t>
            </a:r>
            <a:r>
              <a:rPr sz="2800" b="1" dirty="0">
                <a:solidFill>
                  <a:schemeClr val="accent6">
                    <a:lumMod val="75000"/>
                  </a:schemeClr>
                </a:solidFill>
                <a:latin typeface="Arial" panose="020B0604020202020204" pitchFamily="34" charset="0"/>
                <a:ea typeface="Yu Gothic"/>
                <a:cs typeface="Arial" panose="020B0604020202020204" pitchFamily="34" charset="0"/>
              </a:rPr>
              <a:t>0 µrad to 1 </a:t>
            </a:r>
            <a:r>
              <a:rPr sz="2800" b="1" dirty="0" err="1">
                <a:solidFill>
                  <a:schemeClr val="accent6">
                    <a:lumMod val="75000"/>
                  </a:schemeClr>
                </a:solidFill>
                <a:latin typeface="Arial" panose="020B0604020202020204" pitchFamily="34" charset="0"/>
                <a:ea typeface="Yu Gothic"/>
                <a:cs typeface="Arial" panose="020B0604020202020204" pitchFamily="34" charset="0"/>
              </a:rPr>
              <a:t>mrad</a:t>
            </a:r>
            <a:endParaRPr sz="2800" b="1" dirty="0">
              <a:solidFill>
                <a:schemeClr val="accent6">
                  <a:lumMod val="75000"/>
                </a:schemeClr>
              </a:solidFill>
              <a:latin typeface="Arial" panose="020B0604020202020204" pitchFamily="34" charset="0"/>
              <a:cs typeface="Arial" panose="020B0604020202020204" pitchFamily="34" charset="0"/>
            </a:endParaRPr>
          </a:p>
        </p:txBody>
      </p:sp>
      <p:sp>
        <p:nvSpPr>
          <p:cNvPr id="15" name="Rounded Rectangle 14"/>
          <p:cNvSpPr/>
          <p:nvPr/>
        </p:nvSpPr>
        <p:spPr>
          <a:xfrm>
            <a:off x="16367759" y="3383280"/>
            <a:ext cx="6492240" cy="3474720"/>
          </a:xfrm>
          <a:prstGeom prst="roundRect">
            <a:avLst/>
          </a:prstGeom>
          <a:solidFill>
            <a:srgbClr val="F4F6F8"/>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F0000"/>
              </a:solidFill>
              <a:latin typeface="Arial" panose="020B0604020202020204" pitchFamily="34" charset="0"/>
              <a:cs typeface="Arial" panose="020B0604020202020204" pitchFamily="34" charset="0"/>
            </a:endParaRPr>
          </a:p>
        </p:txBody>
      </p:sp>
      <p:sp>
        <p:nvSpPr>
          <p:cNvPr id="16" name="TextBox 15"/>
          <p:cNvSpPr txBox="1"/>
          <p:nvPr/>
        </p:nvSpPr>
        <p:spPr>
          <a:xfrm>
            <a:off x="16733520" y="3630168"/>
            <a:ext cx="5760720" cy="1040285"/>
          </a:xfrm>
          <a:prstGeom prst="rect">
            <a:avLst/>
          </a:prstGeom>
          <a:noFill/>
        </p:spPr>
        <p:txBody>
          <a:bodyPr wrap="square" lIns="36576" tIns="27432" rIns="36576" bIns="27432" anchor="t">
            <a:spAutoFit/>
          </a:bodyPr>
          <a:lstStyle/>
          <a:p>
            <a:pPr algn="ctr">
              <a:spcAft>
                <a:spcPts val="0"/>
              </a:spcAft>
            </a:pPr>
            <a:r>
              <a:rPr sz="3200" b="1" dirty="0">
                <a:solidFill>
                  <a:srgbClr val="FF0000"/>
                </a:solidFill>
                <a:latin typeface="Arial" panose="020B0604020202020204" pitchFamily="34" charset="0"/>
                <a:ea typeface="Yu Gothic"/>
                <a:cs typeface="Arial" panose="020B0604020202020204" pitchFamily="34" charset="0"/>
              </a:rPr>
              <a:t>Pre-acquisition predictive correction</a:t>
            </a:r>
            <a:endParaRPr sz="3200" b="1" dirty="0">
              <a:solidFill>
                <a:srgbClr val="FF0000"/>
              </a:solidFill>
              <a:latin typeface="Arial" panose="020B0604020202020204" pitchFamily="34" charset="0"/>
              <a:cs typeface="Arial" panose="020B0604020202020204" pitchFamily="34" charset="0"/>
            </a:endParaRPr>
          </a:p>
        </p:txBody>
      </p:sp>
      <p:sp>
        <p:nvSpPr>
          <p:cNvPr id="17" name="TextBox 16"/>
          <p:cNvSpPr txBox="1"/>
          <p:nvPr/>
        </p:nvSpPr>
        <p:spPr>
          <a:xfrm>
            <a:off x="16733519" y="5074920"/>
            <a:ext cx="5760720" cy="1532727"/>
          </a:xfrm>
          <a:prstGeom prst="rect">
            <a:avLst/>
          </a:prstGeom>
          <a:noFill/>
        </p:spPr>
        <p:txBody>
          <a:bodyPr wrap="square" lIns="36576" tIns="27432" rIns="36576" bIns="27432" anchor="t">
            <a:spAutoFit/>
          </a:bodyPr>
          <a:lstStyle/>
          <a:p>
            <a:pPr algn="ctr">
              <a:spcAft>
                <a:spcPts val="0"/>
              </a:spcAft>
            </a:pPr>
            <a:r>
              <a:rPr sz="3200" b="0" dirty="0">
                <a:solidFill>
                  <a:srgbClr val="232B34"/>
                </a:solidFill>
                <a:latin typeface="Arial" panose="020B0604020202020204" pitchFamily="34" charset="0"/>
                <a:ea typeface="Yu Gothic"/>
                <a:cs typeface="Arial" panose="020B0604020202020204" pitchFamily="34" charset="0"/>
              </a:rPr>
              <a:t>Subtract </a:t>
            </a:r>
            <a:r>
              <a:rPr sz="3200" b="1" dirty="0">
                <a:solidFill>
                  <a:schemeClr val="accent6">
                    <a:lumMod val="75000"/>
                  </a:schemeClr>
                </a:solidFill>
                <a:latin typeface="Arial" panose="020B0604020202020204" pitchFamily="34" charset="0"/>
                <a:ea typeface="Yu Gothic"/>
                <a:cs typeface="Arial" panose="020B0604020202020204" pitchFamily="34" charset="0"/>
              </a:rPr>
              <a:t>thermal LOS</a:t>
            </a:r>
            <a:r>
              <a:rPr sz="3200" b="0" dirty="0">
                <a:solidFill>
                  <a:srgbClr val="232B34"/>
                </a:solidFill>
                <a:latin typeface="Arial" panose="020B0604020202020204" pitchFamily="34" charset="0"/>
                <a:ea typeface="Yu Gothic"/>
                <a:cs typeface="Arial" panose="020B0604020202020204" pitchFamily="34" charset="0"/>
              </a:rPr>
              <a:t> </a:t>
            </a:r>
            <a:endParaRPr lang="en-US" sz="3200" b="0" dirty="0">
              <a:solidFill>
                <a:srgbClr val="232B34"/>
              </a:solidFill>
              <a:latin typeface="Arial" panose="020B0604020202020204" pitchFamily="34" charset="0"/>
              <a:ea typeface="Yu Gothic"/>
              <a:cs typeface="Arial" panose="020B0604020202020204" pitchFamily="34" charset="0"/>
            </a:endParaRPr>
          </a:p>
          <a:p>
            <a:pPr algn="ctr">
              <a:spcAft>
                <a:spcPts val="0"/>
              </a:spcAft>
            </a:pPr>
            <a:r>
              <a:rPr sz="3200" b="0" dirty="0">
                <a:solidFill>
                  <a:srgbClr val="232B34"/>
                </a:solidFill>
                <a:latin typeface="Arial" panose="020B0604020202020204" pitchFamily="34" charset="0"/>
                <a:ea typeface="Yu Gothic"/>
                <a:cs typeface="Arial" panose="020B0604020202020204" pitchFamily="34" charset="0"/>
              </a:rPr>
              <a:t>from the scan center</a:t>
            </a:r>
          </a:p>
          <a:p>
            <a:pPr algn="ctr">
              <a:spcAft>
                <a:spcPts val="0"/>
              </a:spcAft>
            </a:pPr>
            <a:r>
              <a:rPr sz="3200" b="0" dirty="0" err="1">
                <a:solidFill>
                  <a:srgbClr val="232B34"/>
                </a:solidFill>
                <a:latin typeface="Arial" panose="020B0604020202020204" pitchFamily="34" charset="0"/>
                <a:ea typeface="Yu Gothic"/>
                <a:cs typeface="Arial" panose="020B0604020202020204" pitchFamily="34" charset="0"/>
              </a:rPr>
              <a:t>to reduce search time</a:t>
            </a:r>
            <a:endParaRPr sz="3200" b="0" dirty="0">
              <a:solidFill>
                <a:srgbClr val="232B34"/>
              </a:solidFill>
              <a:latin typeface="Arial" panose="020B0604020202020204" pitchFamily="34" charset="0"/>
              <a:ea typeface="Yu Gothic"/>
              <a:cs typeface="Arial" panose="020B0604020202020204" pitchFamily="34" charset="0"/>
            </a:endParaRPr>
          </a:p>
        </p:txBody>
      </p:sp>
      <p:sp>
        <p:nvSpPr>
          <p:cNvPr id="18" name="TextBox 17"/>
          <p:cNvSpPr txBox="1"/>
          <p:nvPr/>
        </p:nvSpPr>
        <p:spPr>
          <a:xfrm>
            <a:off x="3842801" y="12321036"/>
            <a:ext cx="16696815" cy="1040285"/>
          </a:xfrm>
          <a:prstGeom prst="rect">
            <a:avLst/>
          </a:prstGeom>
          <a:noFill/>
        </p:spPr>
        <p:txBody>
          <a:bodyPr wrap="none" lIns="36576" tIns="27432" rIns="36576" bIns="27432" anchor="t">
            <a:spAutoFit/>
          </a:bodyPr>
          <a:lstStyle/>
          <a:p>
            <a:pPr algn="ctr"/>
            <a:r>
              <a:rPr lang="ja-JP" altLang="en-US" sz="3200" dirty="0">
                <a:solidFill>
                  <a:srgbClr val="082B52"/>
                </a:solidFill>
                <a:latin typeface="Arial" panose="020B0604020202020204" pitchFamily="34" charset="0"/>
                <a:cs typeface="Arial" panose="020B0604020202020204" pitchFamily="34" charset="0"/>
              </a:rPr>
              <a:t>Without modifying the spacecraft or LCT,</a:t>
            </a:r>
            <a:endParaRPr lang="en-US" altLang="ja-JP" sz="3200" dirty="0">
              <a:solidFill>
                <a:srgbClr val="082B52"/>
              </a:solidFill>
              <a:latin typeface="Arial" panose="020B0604020202020204" pitchFamily="34" charset="0"/>
              <a:cs typeface="Arial" panose="020B0604020202020204" pitchFamily="34" charset="0"/>
            </a:endParaRPr>
          </a:p>
          <a:p>
            <a:pPr algn="ctr"/>
            <a:r>
              <a:rPr lang="ja-JP" altLang="en-US" sz="3200" dirty="0">
                <a:solidFill>
                  <a:srgbClr val="082B52"/>
                </a:solidFill>
                <a:latin typeface="Arial" panose="020B0604020202020204" pitchFamily="34" charset="0"/>
                <a:cs typeface="Arial" panose="020B0604020202020204" pitchFamily="34" charset="0"/>
              </a:rPr>
              <a:t> </a:t>
            </a:r>
            <a:r>
              <a:rPr sz="3200" b="1" dirty="0" err="1">
                <a:solidFill>
                  <a:srgbClr val="082B52"/>
                </a:solidFill>
                <a:latin typeface="Arial" panose="020B0604020202020204" pitchFamily="34" charset="0"/>
                <a:cs typeface="Arial" panose="020B0604020202020204" pitchFamily="34" charset="0"/>
              </a:rPr>
              <a:t>operationally remove only predictable thermal deformation from the initial LOS error.</a:t>
            </a:r>
            <a:endParaRPr lang="en-US" sz="3200" b="1" dirty="0">
              <a:solidFill>
                <a:srgbClr val="082B52"/>
              </a:solidFill>
              <a:latin typeface="Arial" panose="020B0604020202020204" pitchFamily="34" charset="0"/>
              <a:cs typeface="Arial" panose="020B0604020202020204" pitchFamily="34" charset="0"/>
            </a:endParaRPr>
          </a:p>
        </p:txBody>
      </p:sp>
      <p:pic>
        <p:nvPicPr>
          <p:cNvPr id="20" name="図 19">
            <a:extLst>
              <a:ext uri="{FF2B5EF4-FFF2-40B4-BE49-F238E27FC236}">
                <a16:creationId xmlns:a16="http://schemas.microsoft.com/office/drawing/2014/main" id="{191BBC5C-178E-661F-128A-D617E934A20F}"/>
              </a:ext>
            </a:extLst>
          </p:cNvPr>
          <p:cNvPicPr>
            <a:picLocks noChangeAspect="1"/>
          </p:cNvPicPr>
          <p:nvPr/>
        </p:nvPicPr>
        <p:blipFill>
          <a:blip r:embed="rId3"/>
          <a:stretch>
            <a:fillRect/>
          </a:stretch>
        </p:blipFill>
        <p:spPr>
          <a:xfrm>
            <a:off x="16472889" y="7038281"/>
            <a:ext cx="6647102" cy="5590102"/>
          </a:xfrm>
          <a:prstGeom prst="rect">
            <a:avLst/>
          </a:prstGeom>
        </p:spPr>
      </p:pic>
      <p:pic>
        <p:nvPicPr>
          <p:cNvPr id="22" name="図 21">
            <a:extLst>
              <a:ext uri="{FF2B5EF4-FFF2-40B4-BE49-F238E27FC236}">
                <a16:creationId xmlns:a16="http://schemas.microsoft.com/office/drawing/2014/main" id="{498CF50A-5A18-B28F-3BD0-637684E7A9B3}"/>
              </a:ext>
            </a:extLst>
          </p:cNvPr>
          <p:cNvPicPr>
            <a:picLocks noChangeAspect="1"/>
          </p:cNvPicPr>
          <p:nvPr/>
        </p:nvPicPr>
        <p:blipFill>
          <a:blip r:embed="rId4"/>
          <a:stretch>
            <a:fillRect/>
          </a:stretch>
        </p:blipFill>
        <p:spPr>
          <a:xfrm>
            <a:off x="1062273" y="7102959"/>
            <a:ext cx="6647102" cy="5786247"/>
          </a:xfrm>
          <a:prstGeom prst="rect">
            <a:avLst/>
          </a:prstGeom>
        </p:spPr>
      </p:pic>
      <p:sp>
        <p:nvSpPr>
          <p:cNvPr id="19" name="矢印: 右 18">
            <a:extLst>
              <a:ext uri="{FF2B5EF4-FFF2-40B4-BE49-F238E27FC236}">
                <a16:creationId xmlns:a16="http://schemas.microsoft.com/office/drawing/2014/main" id="{ED170B76-4559-B87C-F49C-D7A69F01E9F7}"/>
              </a:ext>
            </a:extLst>
          </p:cNvPr>
          <p:cNvSpPr/>
          <p:nvPr/>
        </p:nvSpPr>
        <p:spPr>
          <a:xfrm>
            <a:off x="7863839" y="4638382"/>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3" name="矢印: 右 22">
            <a:extLst>
              <a:ext uri="{FF2B5EF4-FFF2-40B4-BE49-F238E27FC236}">
                <a16:creationId xmlns:a16="http://schemas.microsoft.com/office/drawing/2014/main" id="{7CE29811-2011-943C-9089-640BA482954F}"/>
              </a:ext>
            </a:extLst>
          </p:cNvPr>
          <p:cNvSpPr/>
          <p:nvPr/>
        </p:nvSpPr>
        <p:spPr>
          <a:xfrm>
            <a:off x="15523349" y="4592657"/>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3" name="テキスト ボックス 2">
            <a:extLst>
              <a:ext uri="{FF2B5EF4-FFF2-40B4-BE49-F238E27FC236}">
                <a16:creationId xmlns:a16="http://schemas.microsoft.com/office/drawing/2014/main" id="{86194334-C0CE-4143-7C83-1CFACCCD738C}"/>
              </a:ext>
            </a:extLst>
          </p:cNvPr>
          <p:cNvSpPr txBox="1"/>
          <p:nvPr/>
        </p:nvSpPr>
        <p:spPr>
          <a:xfrm>
            <a:off x="18004154" y="2781300"/>
            <a:ext cx="3219450" cy="584775"/>
          </a:xfrm>
          <a:prstGeom prst="rect">
            <a:avLst/>
          </a:prstGeom>
          <a:noFill/>
        </p:spPr>
        <p:txBody>
          <a:bodyPr wrap="square" rtlCol="0">
            <a:spAutoFit/>
          </a:bodyPr>
          <a:lstStyle/>
          <a:p>
            <a:pPr algn="ctr"/>
            <a:r>
              <a:rPr kumimoji="1" lang="en-US" altLang="ja-JP" sz="3200" b="1" dirty="0">
                <a:solidFill>
                  <a:srgbClr val="FF0000"/>
                </a:solidFill>
                <a:latin typeface="Arial" panose="020B0604020202020204" pitchFamily="34" charset="0"/>
                <a:cs typeface="Arial" panose="020B0604020202020204" pitchFamily="34" charset="0"/>
              </a:rPr>
              <a:t>Our approach</a:t>
            </a:r>
            <a:endParaRPr kumimoji="1" lang="ja-JP" altLang="en-US" sz="3200" b="1" dirty="0">
              <a:solidFill>
                <a:srgbClr val="FF0000"/>
              </a:solidFill>
              <a:latin typeface="Arial" panose="020B0604020202020204" pitchFamily="34" charset="0"/>
              <a:cs typeface="Arial" panose="020B0604020202020204" pitchFamily="34" charset="0"/>
            </a:endParaRPr>
          </a:p>
        </p:txBody>
      </p:sp>
      <p:grpSp>
        <p:nvGrpSpPr>
          <p:cNvPr id="9" name="グループ化 8">
            <a:extLst>
              <a:ext uri="{FF2B5EF4-FFF2-40B4-BE49-F238E27FC236}">
                <a16:creationId xmlns:a16="http://schemas.microsoft.com/office/drawing/2014/main" id="{5C8AB17C-24EC-1D70-A57C-9F0A856596A9}"/>
              </a:ext>
            </a:extLst>
          </p:cNvPr>
          <p:cNvGrpSpPr/>
          <p:nvPr/>
        </p:nvGrpSpPr>
        <p:grpSpPr>
          <a:xfrm>
            <a:off x="9418920" y="10282390"/>
            <a:ext cx="4001416" cy="1293583"/>
            <a:chOff x="16462856" y="9295630"/>
            <a:chExt cx="5142607" cy="1784823"/>
          </a:xfrm>
        </p:grpSpPr>
        <p:sp>
          <p:nvSpPr>
            <p:cNvPr id="14" name="正方形/長方形 13">
              <a:extLst>
                <a:ext uri="{FF2B5EF4-FFF2-40B4-BE49-F238E27FC236}">
                  <a16:creationId xmlns:a16="http://schemas.microsoft.com/office/drawing/2014/main" id="{3746836C-83E0-C89B-8D50-FAAC411517D8}"/>
                </a:ext>
              </a:extLst>
            </p:cNvPr>
            <p:cNvSpPr/>
            <p:nvPr/>
          </p:nvSpPr>
          <p:spPr>
            <a:xfrm>
              <a:off x="16462856" y="9494484"/>
              <a:ext cx="4041648" cy="129358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1" name="正方形/長方形 20">
              <a:extLst>
                <a:ext uri="{FF2B5EF4-FFF2-40B4-BE49-F238E27FC236}">
                  <a16:creationId xmlns:a16="http://schemas.microsoft.com/office/drawing/2014/main" id="{2483BE21-E883-1C39-D881-D8A104083EB1}"/>
                </a:ext>
              </a:extLst>
            </p:cNvPr>
            <p:cNvSpPr/>
            <p:nvPr/>
          </p:nvSpPr>
          <p:spPr>
            <a:xfrm rot="20616866">
              <a:off x="19346287" y="9295630"/>
              <a:ext cx="2259176" cy="149655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5" name="正方形/長方形 24">
              <a:extLst>
                <a:ext uri="{FF2B5EF4-FFF2-40B4-BE49-F238E27FC236}">
                  <a16:creationId xmlns:a16="http://schemas.microsoft.com/office/drawing/2014/main" id="{02CF46DB-EF65-6EE1-AA3D-F75678EF70A2}"/>
                </a:ext>
              </a:extLst>
            </p:cNvPr>
            <p:cNvSpPr/>
            <p:nvPr/>
          </p:nvSpPr>
          <p:spPr>
            <a:xfrm>
              <a:off x="16462856" y="9833739"/>
              <a:ext cx="3178456" cy="124671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Arial" panose="020B0604020202020204" pitchFamily="34" charset="0"/>
                <a:cs typeface="Arial" panose="020B0604020202020204" pitchFamily="34" charset="0"/>
              </a:endParaRPr>
            </a:p>
          </p:txBody>
        </p:sp>
      </p:grpSp>
      <p:sp>
        <p:nvSpPr>
          <p:cNvPr id="26" name="正方形/長方形 25">
            <a:extLst>
              <a:ext uri="{FF2B5EF4-FFF2-40B4-BE49-F238E27FC236}">
                <a16:creationId xmlns:a16="http://schemas.microsoft.com/office/drawing/2014/main" id="{F9F08B1E-D52A-72C0-F516-C359D0969945}"/>
              </a:ext>
            </a:extLst>
          </p:cNvPr>
          <p:cNvSpPr/>
          <p:nvPr/>
        </p:nvSpPr>
        <p:spPr>
          <a:xfrm>
            <a:off x="9418920" y="7692650"/>
            <a:ext cx="3690520" cy="1293583"/>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200" dirty="0">
                <a:latin typeface="Arial" panose="020B0604020202020204" pitchFamily="34" charset="0"/>
                <a:cs typeface="Arial" panose="020B0604020202020204" pitchFamily="34" charset="0"/>
              </a:rPr>
              <a:t>satellite</a:t>
            </a:r>
            <a:endParaRPr kumimoji="1" lang="ja-JP" altLang="en-US" sz="3200" dirty="0">
              <a:latin typeface="Arial" panose="020B0604020202020204" pitchFamily="34" charset="0"/>
              <a:cs typeface="Arial" panose="020B0604020202020204" pitchFamily="34" charset="0"/>
            </a:endParaRPr>
          </a:p>
        </p:txBody>
      </p:sp>
      <p:cxnSp>
        <p:nvCxnSpPr>
          <p:cNvPr id="27" name="直線コネクタ 26">
            <a:extLst>
              <a:ext uri="{FF2B5EF4-FFF2-40B4-BE49-F238E27FC236}">
                <a16:creationId xmlns:a16="http://schemas.microsoft.com/office/drawing/2014/main" id="{DA3A1181-3F38-A986-20EA-E6256C7726FB}"/>
              </a:ext>
            </a:extLst>
          </p:cNvPr>
          <p:cNvCxnSpPr>
            <a:stCxn id="26" idx="3"/>
          </p:cNvCxnSpPr>
          <p:nvPr/>
        </p:nvCxnSpPr>
        <p:spPr>
          <a:xfrm flipV="1">
            <a:off x="13109440" y="8339441"/>
            <a:ext cx="2573873" cy="1"/>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8" name="直線コネクタ 27">
            <a:extLst>
              <a:ext uri="{FF2B5EF4-FFF2-40B4-BE49-F238E27FC236}">
                <a16:creationId xmlns:a16="http://schemas.microsoft.com/office/drawing/2014/main" id="{32D63509-9AA5-4C46-AFF5-31500EE5B4EE}"/>
              </a:ext>
            </a:extLst>
          </p:cNvPr>
          <p:cNvCxnSpPr>
            <a:cxnSpLocks/>
          </p:cNvCxnSpPr>
          <p:nvPr/>
        </p:nvCxnSpPr>
        <p:spPr>
          <a:xfrm flipV="1">
            <a:off x="13313306" y="9908027"/>
            <a:ext cx="2166139" cy="714885"/>
          </a:xfrm>
          <a:prstGeom prst="line">
            <a:avLst/>
          </a:prstGeom>
          <a:ln w="38100">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29" name="テキスト ボックス 28">
            <a:extLst>
              <a:ext uri="{FF2B5EF4-FFF2-40B4-BE49-F238E27FC236}">
                <a16:creationId xmlns:a16="http://schemas.microsoft.com/office/drawing/2014/main" id="{2BB53D9F-20D7-AC68-2C16-3BC7C9CD5BF1}"/>
              </a:ext>
            </a:extLst>
          </p:cNvPr>
          <p:cNvSpPr txBox="1"/>
          <p:nvPr/>
        </p:nvSpPr>
        <p:spPr>
          <a:xfrm>
            <a:off x="14396375" y="7491220"/>
            <a:ext cx="1700784" cy="646331"/>
          </a:xfrm>
          <a:prstGeom prst="rect">
            <a:avLst/>
          </a:prstGeom>
          <a:noFill/>
        </p:spPr>
        <p:txBody>
          <a:bodyPr wrap="square" rtlCol="0">
            <a:spAutoFit/>
          </a:bodyPr>
          <a:lstStyle/>
          <a:p>
            <a:r>
              <a:rPr kumimoji="1" lang="en-US" altLang="ja-JP" sz="3600" dirty="0">
                <a:solidFill>
                  <a:schemeClr val="tx1">
                    <a:lumMod val="75000"/>
                    <a:lumOff val="25000"/>
                  </a:schemeClr>
                </a:solidFill>
                <a:latin typeface="Arial" panose="020B0604020202020204" pitchFamily="34" charset="0"/>
                <a:cs typeface="Arial" panose="020B0604020202020204" pitchFamily="34" charset="0"/>
              </a:rPr>
              <a:t>LOS</a:t>
            </a:r>
            <a:endParaRPr kumimoji="1" lang="ja-JP" altLang="en-US" sz="3600" dirty="0">
              <a:solidFill>
                <a:schemeClr val="tx1">
                  <a:lumMod val="75000"/>
                  <a:lumOff val="25000"/>
                </a:schemeClr>
              </a:solidFill>
              <a:latin typeface="Arial" panose="020B0604020202020204" pitchFamily="34" charset="0"/>
              <a:cs typeface="Arial" panose="020B0604020202020204" pitchFamily="34" charset="0"/>
            </a:endParaRPr>
          </a:p>
        </p:txBody>
      </p:sp>
      <p:sp>
        <p:nvSpPr>
          <p:cNvPr id="30" name="テキスト ボックス 29">
            <a:extLst>
              <a:ext uri="{FF2B5EF4-FFF2-40B4-BE49-F238E27FC236}">
                <a16:creationId xmlns:a16="http://schemas.microsoft.com/office/drawing/2014/main" id="{DEEBAA38-44FB-A72D-F047-CAF18749F345}"/>
              </a:ext>
            </a:extLst>
          </p:cNvPr>
          <p:cNvSpPr txBox="1"/>
          <p:nvPr/>
        </p:nvSpPr>
        <p:spPr>
          <a:xfrm>
            <a:off x="15456559" y="9306877"/>
            <a:ext cx="1700784" cy="646331"/>
          </a:xfrm>
          <a:prstGeom prst="rect">
            <a:avLst/>
          </a:prstGeom>
          <a:noFill/>
        </p:spPr>
        <p:txBody>
          <a:bodyPr wrap="square" rtlCol="0">
            <a:spAutoFit/>
          </a:bodyPr>
          <a:lstStyle/>
          <a:p>
            <a:r>
              <a:rPr kumimoji="1" lang="en-US" altLang="ja-JP" sz="3600" dirty="0">
                <a:solidFill>
                  <a:srgbClr val="FF0000"/>
                </a:solidFill>
                <a:latin typeface="Arial" panose="020B0604020202020204" pitchFamily="34" charset="0"/>
                <a:cs typeface="Arial" panose="020B0604020202020204" pitchFamily="34" charset="0"/>
              </a:rPr>
              <a:t>LOS</a:t>
            </a:r>
            <a:endParaRPr kumimoji="1" lang="ja-JP" altLang="en-US" sz="3600" dirty="0">
              <a:solidFill>
                <a:srgbClr val="FF0000"/>
              </a:solidFill>
              <a:latin typeface="Arial" panose="020B0604020202020204" pitchFamily="34" charset="0"/>
              <a:cs typeface="Arial" panose="020B0604020202020204" pitchFamily="34" charset="0"/>
            </a:endParaRPr>
          </a:p>
        </p:txBody>
      </p:sp>
      <p:cxnSp>
        <p:nvCxnSpPr>
          <p:cNvPr id="31" name="直線コネクタ 30">
            <a:extLst>
              <a:ext uri="{FF2B5EF4-FFF2-40B4-BE49-F238E27FC236}">
                <a16:creationId xmlns:a16="http://schemas.microsoft.com/office/drawing/2014/main" id="{0FC76142-7A1B-8A9E-0887-07C215A349F8}"/>
              </a:ext>
            </a:extLst>
          </p:cNvPr>
          <p:cNvCxnSpPr>
            <a:cxnSpLocks/>
          </p:cNvCxnSpPr>
          <p:nvPr/>
        </p:nvCxnSpPr>
        <p:spPr>
          <a:xfrm flipV="1">
            <a:off x="13410779" y="10665214"/>
            <a:ext cx="2573873" cy="1"/>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sp>
        <p:nvSpPr>
          <p:cNvPr id="32" name="矢印: 下 31">
            <a:extLst>
              <a:ext uri="{FF2B5EF4-FFF2-40B4-BE49-F238E27FC236}">
                <a16:creationId xmlns:a16="http://schemas.microsoft.com/office/drawing/2014/main" id="{130A2CF9-0DFD-ED8B-DE73-F812611C58A0}"/>
              </a:ext>
            </a:extLst>
          </p:cNvPr>
          <p:cNvSpPr/>
          <p:nvPr/>
        </p:nvSpPr>
        <p:spPr>
          <a:xfrm>
            <a:off x="10949121" y="9212676"/>
            <a:ext cx="900743" cy="937547"/>
          </a:xfrm>
          <a:prstGeom prst="downArrow">
            <a:avLst/>
          </a:prstGeom>
          <a:solidFill>
            <a:schemeClr val="tx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33" name="テキスト ボックス 32">
            <a:extLst>
              <a:ext uri="{FF2B5EF4-FFF2-40B4-BE49-F238E27FC236}">
                <a16:creationId xmlns:a16="http://schemas.microsoft.com/office/drawing/2014/main" id="{04857D43-A2DA-1C29-51E8-BB7CC106C3AB}"/>
              </a:ext>
            </a:extLst>
          </p:cNvPr>
          <p:cNvSpPr txBox="1"/>
          <p:nvPr/>
        </p:nvSpPr>
        <p:spPr>
          <a:xfrm>
            <a:off x="8108355" y="10665214"/>
            <a:ext cx="1700784" cy="646331"/>
          </a:xfrm>
          <a:prstGeom prst="rect">
            <a:avLst/>
          </a:prstGeom>
          <a:noFill/>
        </p:spPr>
        <p:txBody>
          <a:bodyPr wrap="square" rtlCol="0">
            <a:spAutoFit/>
          </a:bodyPr>
          <a:lstStyle/>
          <a:p>
            <a:r>
              <a:rPr kumimoji="1" lang="en-US" altLang="ja-JP" sz="3600" dirty="0">
                <a:solidFill>
                  <a:schemeClr val="tx2">
                    <a:lumMod val="50000"/>
                  </a:schemeClr>
                </a:solidFill>
                <a:latin typeface="Arial" panose="020B0604020202020204" pitchFamily="34" charset="0"/>
                <a:cs typeface="Arial" panose="020B0604020202020204" pitchFamily="34" charset="0"/>
              </a:rPr>
              <a:t>real:</a:t>
            </a:r>
            <a:endParaRPr kumimoji="1" lang="ja-JP" altLang="en-US" sz="3600" dirty="0">
              <a:solidFill>
                <a:schemeClr val="tx2">
                  <a:lumMod val="50000"/>
                </a:schemeClr>
              </a:solidFill>
              <a:latin typeface="Arial" panose="020B0604020202020204" pitchFamily="34" charset="0"/>
              <a:cs typeface="Arial" panose="020B0604020202020204" pitchFamily="34" charset="0"/>
            </a:endParaRPr>
          </a:p>
        </p:txBody>
      </p:sp>
      <p:sp>
        <p:nvSpPr>
          <p:cNvPr id="34" name="テキスト ボックス 33">
            <a:extLst>
              <a:ext uri="{FF2B5EF4-FFF2-40B4-BE49-F238E27FC236}">
                <a16:creationId xmlns:a16="http://schemas.microsoft.com/office/drawing/2014/main" id="{110E13BC-76D1-CCF7-01CC-A941E9F2A1DD}"/>
              </a:ext>
            </a:extLst>
          </p:cNvPr>
          <p:cNvSpPr txBox="1"/>
          <p:nvPr/>
        </p:nvSpPr>
        <p:spPr>
          <a:xfrm>
            <a:off x="7927536" y="8127803"/>
            <a:ext cx="1700784" cy="646331"/>
          </a:xfrm>
          <a:prstGeom prst="rect">
            <a:avLst/>
          </a:prstGeom>
          <a:noFill/>
        </p:spPr>
        <p:txBody>
          <a:bodyPr wrap="square" rtlCol="0">
            <a:spAutoFit/>
          </a:bodyPr>
          <a:lstStyle/>
          <a:p>
            <a:r>
              <a:rPr kumimoji="1" lang="en-US" altLang="ja-JP" sz="3600" dirty="0">
                <a:solidFill>
                  <a:schemeClr val="tx2">
                    <a:lumMod val="50000"/>
                  </a:schemeClr>
                </a:solidFill>
                <a:latin typeface="Arial" panose="020B0604020202020204" pitchFamily="34" charset="0"/>
                <a:cs typeface="Arial" panose="020B0604020202020204" pitchFamily="34" charset="0"/>
              </a:rPr>
              <a:t>ideal:</a:t>
            </a:r>
            <a:endParaRPr kumimoji="1" lang="ja-JP" altLang="en-US" sz="3600" dirty="0">
              <a:solidFill>
                <a:schemeClr val="tx2">
                  <a:lumMod val="50000"/>
                </a:schemeClr>
              </a:solidFill>
              <a:latin typeface="Arial" panose="020B0604020202020204" pitchFamily="34" charset="0"/>
              <a:cs typeface="Arial" panose="020B0604020202020204" pitchFamily="34" charset="0"/>
            </a:endParaRPr>
          </a:p>
        </p:txBody>
      </p:sp>
      <p:sp>
        <p:nvSpPr>
          <p:cNvPr id="35" name="円弧 34">
            <a:extLst>
              <a:ext uri="{FF2B5EF4-FFF2-40B4-BE49-F238E27FC236}">
                <a16:creationId xmlns:a16="http://schemas.microsoft.com/office/drawing/2014/main" id="{92C183A9-6F38-013B-73E5-155B562B5AE9}"/>
              </a:ext>
            </a:extLst>
          </p:cNvPr>
          <p:cNvSpPr/>
          <p:nvPr/>
        </p:nvSpPr>
        <p:spPr>
          <a:xfrm rot="1912678">
            <a:off x="14120040" y="10170660"/>
            <a:ext cx="651647" cy="634508"/>
          </a:xfrm>
          <a:prstGeom prst="arc">
            <a:avLst>
              <a:gd name="adj1" fmla="val 16200000"/>
              <a:gd name="adj2" fmla="val 21382646"/>
            </a:avLst>
          </a:prstGeom>
          <a:ln w="762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40" name="テキスト ボックス 39">
            <a:extLst>
              <a:ext uri="{FF2B5EF4-FFF2-40B4-BE49-F238E27FC236}">
                <a16:creationId xmlns:a16="http://schemas.microsoft.com/office/drawing/2014/main" id="{577CA35F-9BE4-78AD-5047-860378EAC713}"/>
              </a:ext>
            </a:extLst>
          </p:cNvPr>
          <p:cNvSpPr txBox="1"/>
          <p:nvPr/>
        </p:nvSpPr>
        <p:spPr>
          <a:xfrm>
            <a:off x="11892048" y="9396919"/>
            <a:ext cx="3144770" cy="523220"/>
          </a:xfrm>
          <a:prstGeom prst="rect">
            <a:avLst/>
          </a:prstGeom>
          <a:noFill/>
        </p:spPr>
        <p:txBody>
          <a:bodyPr wrap="square" rtlCol="0">
            <a:spAutoFit/>
          </a:bodyPr>
          <a:lstStyle/>
          <a:p>
            <a:r>
              <a:rPr kumimoji="1" lang="en-US" altLang="ja-JP" sz="2800" dirty="0">
                <a:latin typeface="Arial" panose="020B0604020202020204" pitchFamily="34" charset="0"/>
                <a:cs typeface="Arial" panose="020B0604020202020204" pitchFamily="34" charset="0"/>
              </a:rPr>
              <a:t>Thermal distortion</a:t>
            </a:r>
            <a:endParaRPr kumimoji="1" lang="ja-JP" altLang="en-US" sz="2800" dirty="0">
              <a:latin typeface="Arial" panose="020B0604020202020204" pitchFamily="34" charset="0"/>
              <a:cs typeface="Arial" panose="020B0604020202020204" pitchFamily="34" charset="0"/>
            </a:endParaRPr>
          </a:p>
        </p:txBody>
      </p:sp>
      <p:sp>
        <p:nvSpPr>
          <p:cNvPr id="42" name="テキスト ボックス 41">
            <a:extLst>
              <a:ext uri="{FF2B5EF4-FFF2-40B4-BE49-F238E27FC236}">
                <a16:creationId xmlns:a16="http://schemas.microsoft.com/office/drawing/2014/main" id="{667603CC-24F4-588D-5DAF-CBA089AB0ACD}"/>
              </a:ext>
            </a:extLst>
          </p:cNvPr>
          <p:cNvSpPr txBox="1"/>
          <p:nvPr/>
        </p:nvSpPr>
        <p:spPr>
          <a:xfrm>
            <a:off x="10284672" y="10681272"/>
            <a:ext cx="1843992" cy="584775"/>
          </a:xfrm>
          <a:prstGeom prst="rect">
            <a:avLst/>
          </a:prstGeom>
          <a:noFill/>
        </p:spPr>
        <p:txBody>
          <a:bodyPr wrap="square">
            <a:spAutoFit/>
          </a:bodyPr>
          <a:lstStyle/>
          <a:p>
            <a:pPr algn="ctr"/>
            <a:r>
              <a:rPr kumimoji="1" lang="en-US" altLang="ja-JP" sz="3200" dirty="0">
                <a:solidFill>
                  <a:schemeClr val="bg1"/>
                </a:solidFill>
                <a:latin typeface="Arial" panose="020B0604020202020204" pitchFamily="34" charset="0"/>
                <a:cs typeface="Arial" panose="020B0604020202020204" pitchFamily="34" charset="0"/>
              </a:rPr>
              <a:t>satellite</a:t>
            </a:r>
            <a:endParaRPr kumimoji="1" lang="ja-JP" altLang="en-US" sz="32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671720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44673"/>
            <a:ext cx="15910559" cy="652486"/>
          </a:xfrm>
          <a:prstGeom prst="rect">
            <a:avLst/>
          </a:prstGeom>
          <a:noFill/>
        </p:spPr>
        <p:txBody>
          <a:bodyPr wrap="square" lIns="45720" tIns="18288" rIns="45720" bIns="18288" anchor="ctr">
            <a:spAutoFit/>
          </a:bodyPr>
          <a:lstStyle/>
          <a:p>
            <a:pPr algn="l">
              <a:spcAft>
                <a:spcPts val="0"/>
              </a:spcAft>
            </a:pPr>
            <a:endParaRPr lang="en-US" sz="2000" b="0" dirty="0">
              <a:solidFill>
                <a:srgbClr val="666F79"/>
              </a:solidFill>
              <a:latin typeface="Arial" panose="020B0604020202020204" pitchFamily="34" charset="0"/>
              <a:ea typeface="Yu Gothic"/>
              <a:cs typeface="Arial" panose="020B0604020202020204" pitchFamily="34" charset="0"/>
            </a:endParaRPr>
          </a:p>
          <a:p>
            <a:pPr algn="l">
              <a:spcAft>
                <a:spcPts val="0"/>
              </a:spcAft>
            </a:pPr>
            <a:r>
              <a:rPr sz="2000" b="0" dirty="0" err="1">
                <a:solidFill>
                  <a:srgbClr val="666F79"/>
                </a:solidFill>
                <a:latin typeface="Arial" panose="020B0604020202020204" pitchFamily="34" charset="0"/>
                <a:ea typeface="Yu Gothic"/>
                <a:cs typeface="Arial" panose="020B0604020202020204" pitchFamily="34" charset="0"/>
              </a:rPr>
              <a:t>Background</a:t>
            </a:r>
            <a:endParaRPr sz="2000" b="0" dirty="0">
              <a:solidFill>
                <a:srgbClr val="666F79"/>
              </a:solidFill>
              <a:latin typeface="Arial" panose="020B0604020202020204" pitchFamily="34" charset="0"/>
              <a:ea typeface="Yu Gothic"/>
              <a:cs typeface="Arial" panose="020B0604020202020204" pitchFamily="34" charset="0"/>
            </a:endParaRPr>
          </a:p>
        </p:txBody>
      </p:sp>
      <p:sp>
        <p:nvSpPr>
          <p:cNvPr id="3" name="TextBox 2"/>
          <p:cNvSpPr txBox="1"/>
          <p:nvPr/>
        </p:nvSpPr>
        <p:spPr>
          <a:xfrm>
            <a:off x="1536192" y="1082811"/>
            <a:ext cx="22037040" cy="1619995"/>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cs typeface="Arial" panose="020B0604020202020204" pitchFamily="34" charset="0"/>
            </a:endParaRPr>
          </a:p>
          <a:p>
            <a:pPr algn="l">
              <a:lnSpc>
                <a:spcPct val="110000"/>
              </a:lnSpc>
              <a:spcAft>
                <a:spcPts val="0"/>
              </a:spcAft>
            </a:pPr>
            <a:r>
              <a:rPr sz="3200" b="1" dirty="0">
                <a:solidFill>
                  <a:srgbClr val="082B52"/>
                </a:solidFill>
                <a:latin typeface="Arial" panose="020B0604020202020204" pitchFamily="34" charset="0"/>
                <a:ea typeface="Yu Gothic"/>
                <a:cs typeface="Arial" panose="020B0604020202020204" pitchFamily="34" charset="0"/>
              </a:rPr>
              <a:t>Thermal </a:t>
            </a:r>
            <a:r>
              <a:rPr lang="en-US" altLang="ja-JP" sz="3200" b="1" dirty="0">
                <a:solidFill>
                  <a:srgbClr val="082B52"/>
                </a:solidFill>
                <a:latin typeface="Arial" panose="020B0604020202020204" pitchFamily="34" charset="0"/>
                <a:ea typeface="Yu Gothic"/>
                <a:cs typeface="Arial" panose="020B0604020202020204" pitchFamily="34" charset="0"/>
              </a:rPr>
              <a:t>LOS</a:t>
            </a:r>
            <a:r>
              <a:rPr lang="ja-JP" altLang="en-US" sz="3200" b="1" dirty="0">
                <a:solidFill>
                  <a:srgbClr val="082B52"/>
                </a:solidFill>
                <a:latin typeface="Arial" panose="020B0604020202020204" pitchFamily="34" charset="0"/>
                <a:ea typeface="Yu Gothic"/>
                <a:cs typeface="Arial" panose="020B0604020202020204" pitchFamily="34" charset="0"/>
              </a:rPr>
              <a:t> error</a:t>
            </a:r>
            <a:r>
              <a:rPr sz="3200" b="1" dirty="0">
                <a:solidFill>
                  <a:srgbClr val="082B52"/>
                </a:solidFill>
                <a:latin typeface="Arial" panose="020B0604020202020204" pitchFamily="34" charset="0"/>
                <a:ea typeface="Yu Gothic"/>
                <a:cs typeface="Arial" panose="020B0604020202020204" pitchFamily="34" charset="0"/>
              </a:rPr>
              <a:t> can match or exceed orbit-prediction error</a:t>
            </a:r>
            <a:r>
              <a:rPr lang="ja-JP" altLang="en-US" sz="3200" b="1" dirty="0">
                <a:solidFill>
                  <a:srgbClr val="082B52"/>
                </a:solidFill>
                <a:latin typeface="Arial" panose="020B0604020202020204" pitchFamily="34" charset="0"/>
                <a:ea typeface="Yu Gothic"/>
                <a:cs typeface="Arial" panose="020B0604020202020204" pitchFamily="34" charset="0"/>
              </a:rPr>
              <a:t>—</a:t>
            </a:r>
            <a:r>
              <a:rPr sz="3200" b="1" dirty="0" err="1">
                <a:solidFill>
                  <a:srgbClr val="082B52"/>
                </a:solidFill>
                <a:latin typeface="Arial" panose="020B0604020202020204" pitchFamily="34" charset="0"/>
                <a:ea typeface="Yu Gothic"/>
                <a:cs typeface="Arial" panose="020B0604020202020204" pitchFamily="34" charset="0"/>
              </a:rPr>
              <a:t>and cannot be optically separated before acquisition</a:t>
            </a:r>
            <a:endParaRPr sz="3200" b="1" dirty="0">
              <a:solidFill>
                <a:srgbClr val="082B52"/>
              </a:solidFill>
              <a:latin typeface="Arial" panose="020B0604020202020204" pitchFamily="34" charset="0"/>
              <a:ea typeface="Yu Gothic"/>
              <a:cs typeface="Arial" panose="020B0604020202020204" pitchFamily="34" charset="0"/>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Arial" panose="020B0604020202020204" pitchFamily="34" charset="0"/>
                <a:ea typeface="Yu Gothic"/>
                <a:cs typeface="Arial" panose="020B0604020202020204" pitchFamily="34" charset="0"/>
              </a:rPr>
              <a:t>4</a:t>
            </a:r>
          </a:p>
        </p:txBody>
      </p:sp>
      <p:graphicFrame>
        <p:nvGraphicFramePr>
          <p:cNvPr id="5" name="Table 4"/>
          <p:cNvGraphicFramePr>
            <a:graphicFrameLocks noGrp="1"/>
          </p:cNvGraphicFramePr>
          <p:nvPr>
            <p:extLst>
              <p:ext uri="{D42A27DB-BD31-4B8C-83A1-F6EECF244321}">
                <p14:modId xmlns:p14="http://schemas.microsoft.com/office/powerpoint/2010/main" val="1448428187"/>
              </p:ext>
            </p:extLst>
          </p:nvPr>
        </p:nvGraphicFramePr>
        <p:xfrm>
          <a:off x="1463040" y="3200400"/>
          <a:ext cx="21396958" cy="5120635"/>
        </p:xfrm>
        <a:graphic>
          <a:graphicData uri="http://schemas.openxmlformats.org/drawingml/2006/table">
            <a:tbl>
              <a:tblPr firstRow="1" bandRow="1">
                <a:tableStyleId>{5C22544A-7EE6-4342-B048-85BDC9FD1C3A}</a:tableStyleId>
              </a:tblPr>
              <a:tblGrid>
                <a:gridCol w="7509510">
                  <a:extLst>
                    <a:ext uri="{9D8B030D-6E8A-4147-A177-3AD203B41FA5}">
                      <a16:colId xmlns:a16="http://schemas.microsoft.com/office/drawing/2014/main" val="20000"/>
                    </a:ext>
                  </a:extLst>
                </a:gridCol>
                <a:gridCol w="7349488">
                  <a:extLst>
                    <a:ext uri="{9D8B030D-6E8A-4147-A177-3AD203B41FA5}">
                      <a16:colId xmlns:a16="http://schemas.microsoft.com/office/drawing/2014/main" val="20001"/>
                    </a:ext>
                  </a:extLst>
                </a:gridCol>
                <a:gridCol w="6537960">
                  <a:extLst>
                    <a:ext uri="{9D8B030D-6E8A-4147-A177-3AD203B41FA5}">
                      <a16:colId xmlns:a16="http://schemas.microsoft.com/office/drawing/2014/main" val="20002"/>
                    </a:ext>
                  </a:extLst>
                </a:gridCol>
              </a:tblGrid>
              <a:tr h="1024127">
                <a:tc>
                  <a:txBody>
                    <a:bodyPr/>
                    <a:lstStyle/>
                    <a:p>
                      <a:pPr algn="l">
                        <a:spcAft>
                          <a:spcPts val="0"/>
                        </a:spcAft>
                      </a:pPr>
                      <a:r>
                        <a:rPr sz="2800" b="1" dirty="0">
                          <a:solidFill>
                            <a:srgbClr val="FFFFFF"/>
                          </a:solidFill>
                          <a:latin typeface="Arial" panose="020B0604020202020204" pitchFamily="34" charset="0"/>
                          <a:ea typeface="Yu Gothic"/>
                          <a:cs typeface="Arial" panose="020B0604020202020204" pitchFamily="34" charset="0"/>
                        </a:rPr>
                        <a:t>Error source</a:t>
                      </a:r>
                    </a:p>
                  </a:txBody>
                  <a:tcPr marL="128016" marR="128016" anchor="ctr">
                    <a:solidFill>
                      <a:srgbClr val="082B52"/>
                    </a:solidFill>
                  </a:tcPr>
                </a:tc>
                <a:tc>
                  <a:txBody>
                    <a:bodyPr/>
                    <a:lstStyle/>
                    <a:p>
                      <a:pPr algn="ctr">
                        <a:spcAft>
                          <a:spcPts val="0"/>
                        </a:spcAft>
                      </a:pPr>
                      <a:r>
                        <a:rPr sz="2800" b="1">
                          <a:solidFill>
                            <a:srgbClr val="FFFFFF"/>
                          </a:solidFill>
                          <a:latin typeface="Arial" panose="020B0604020202020204" pitchFamily="34" charset="0"/>
                          <a:ea typeface="Yu Gothic"/>
                          <a:cs typeface="Arial" panose="020B0604020202020204" pitchFamily="34" charset="0"/>
                        </a:rPr>
                        <a:t>Approximate magnitude</a:t>
                      </a:r>
                    </a:p>
                  </a:txBody>
                  <a:tcPr marL="128016" marR="128016" anchor="ctr">
                    <a:solidFill>
                      <a:srgbClr val="082B52"/>
                    </a:solidFill>
                  </a:tcPr>
                </a:tc>
                <a:tc>
                  <a:txBody>
                    <a:bodyPr/>
                    <a:lstStyle/>
                    <a:p>
                      <a:pPr algn="ctr">
                        <a:spcAft>
                          <a:spcPts val="0"/>
                        </a:spcAft>
                      </a:pPr>
                      <a:r>
                        <a:rPr sz="2800" b="1">
                          <a:solidFill>
                            <a:srgbClr val="FFFFFF"/>
                          </a:solidFill>
                          <a:latin typeface="Arial" panose="020B0604020202020204" pitchFamily="34" charset="0"/>
                          <a:ea typeface="Yu Gothic"/>
                          <a:cs typeface="Arial" panose="020B0604020202020204" pitchFamily="34" charset="0"/>
                        </a:rPr>
                        <a:t>Time variation</a:t>
                      </a:r>
                    </a:p>
                  </a:txBody>
                  <a:tcPr marL="128016" marR="128016" anchor="ctr">
                    <a:solidFill>
                      <a:srgbClr val="082B52"/>
                    </a:solidFill>
                  </a:tcPr>
                </a:tc>
                <a:extLst>
                  <a:ext uri="{0D108BD9-81ED-4DB2-BD59-A6C34878D82A}">
                    <a16:rowId xmlns:a16="http://schemas.microsoft.com/office/drawing/2014/main" val="10000"/>
                  </a:ext>
                </a:extLst>
              </a:tr>
              <a:tr h="1024127">
                <a:tc>
                  <a:txBody>
                    <a:bodyPr/>
                    <a:lstStyle/>
                    <a:p>
                      <a:pPr algn="l">
                        <a:spcAft>
                          <a:spcPts val="0"/>
                        </a:spcAft>
                      </a:pPr>
                      <a:r>
                        <a:rPr sz="2800" b="0" dirty="0" err="1">
                          <a:solidFill>
                            <a:srgbClr val="232B34"/>
                          </a:solidFill>
                          <a:latin typeface="Arial" panose="020B0604020202020204" pitchFamily="34" charset="0"/>
                          <a:ea typeface="Yu Gothic"/>
                          <a:cs typeface="Arial" panose="020B0604020202020204" pitchFamily="34" charset="0"/>
                        </a:rPr>
                        <a:t>Thermal LOS</a:t>
                      </a:r>
                      <a:endParaRPr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tc>
                  <a:txBody>
                    <a:bodyPr/>
                    <a:lstStyle/>
                    <a:p>
                      <a:pPr algn="ctr">
                        <a:spcAft>
                          <a:spcPts val="0"/>
                        </a:spcAft>
                      </a:pPr>
                      <a:r>
                        <a:rPr sz="2800" b="0" dirty="0">
                          <a:solidFill>
                            <a:srgbClr val="232B34"/>
                          </a:solidFill>
                          <a:latin typeface="Arial" panose="020B0604020202020204" pitchFamily="34" charset="0"/>
                          <a:ea typeface="Yu Gothic"/>
                          <a:cs typeface="Arial" panose="020B0604020202020204" pitchFamily="34" charset="0"/>
                        </a:rPr>
                        <a:t>150 µrad–1000 µrad (this analysis)</a:t>
                      </a:r>
                    </a:p>
                  </a:txBody>
                  <a:tcPr marL="128016" marR="128016" anchor="ctr">
                    <a:solidFill>
                      <a:schemeClr val="accent6">
                        <a:lumMod val="20000"/>
                        <a:lumOff val="80000"/>
                      </a:schemeClr>
                    </a:solidFill>
                  </a:tcPr>
                </a:tc>
                <a:tc>
                  <a:txBody>
                    <a:bodyPr/>
                    <a:lstStyle/>
                    <a:p>
                      <a:pPr algn="ctr">
                        <a:spcAft>
                          <a:spcPts val="0"/>
                        </a:spcAft>
                      </a:pPr>
                      <a:r>
                        <a:rPr sz="2800" b="0" dirty="0" err="1">
                          <a:solidFill>
                            <a:srgbClr val="232B34"/>
                          </a:solidFill>
                          <a:latin typeface="Arial" panose="020B0604020202020204" pitchFamily="34" charset="0"/>
                          <a:ea typeface="Yu Gothic"/>
                          <a:cs typeface="Arial" panose="020B0604020202020204" pitchFamily="34" charset="0"/>
                        </a:rPr>
                        <a:t>Orbital period (~100 min in LEO)</a:t>
                      </a:r>
                    </a:p>
                  </a:txBody>
                  <a:tcPr marL="128016" marR="128016" anchor="ctr">
                    <a:solidFill>
                      <a:schemeClr val="accent6">
                        <a:lumMod val="20000"/>
                        <a:lumOff val="80000"/>
                      </a:schemeClr>
                    </a:solidFill>
                  </a:tcPr>
                </a:tc>
                <a:extLst>
                  <a:ext uri="{0D108BD9-81ED-4DB2-BD59-A6C34878D82A}">
                    <a16:rowId xmlns:a16="http://schemas.microsoft.com/office/drawing/2014/main" val="10001"/>
                  </a:ext>
                </a:extLst>
              </a:tr>
              <a:tr h="1024127">
                <a:tc>
                  <a:txBody>
                    <a:bodyPr/>
                    <a:lstStyle/>
                    <a:p>
                      <a:pPr algn="l">
                        <a:spcAft>
                          <a:spcPts val="0"/>
                        </a:spcAft>
                      </a:pPr>
                      <a:r>
                        <a:rPr sz="2800" b="0" dirty="0" err="1">
                          <a:solidFill>
                            <a:srgbClr val="232B34"/>
                          </a:solidFill>
                          <a:latin typeface="Arial" panose="020B0604020202020204" pitchFamily="34" charset="0"/>
                          <a:ea typeface="Yu Gothic"/>
                          <a:cs typeface="Arial" panose="020B0604020202020204" pitchFamily="34" charset="0"/>
                        </a:rPr>
                        <a:t>Orbit prediction</a:t>
                      </a:r>
                      <a:endParaRPr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tc>
                  <a:txBody>
                    <a:bodyPr/>
                    <a:lstStyle/>
                    <a:p>
                      <a:pPr algn="ctr">
                        <a:spcAft>
                          <a:spcPts val="0"/>
                        </a:spcAft>
                      </a:pPr>
                      <a:r>
                        <a:rPr sz="2800" b="0" dirty="0" err="1">
                          <a:solidFill>
                            <a:srgbClr val="232B34"/>
                          </a:solidFill>
                          <a:latin typeface="Arial" panose="020B0604020202020204" pitchFamily="34" charset="0"/>
                          <a:ea typeface="Yu Gothic"/>
                          <a:cs typeface="Arial" panose="020B0604020202020204" pitchFamily="34" charset="0"/>
                        </a:rPr>
                        <a:t>Several hundred µrad (TLE propagation vs. precise GPS ephemeris)</a:t>
                      </a:r>
                      <a:endParaRPr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tc>
                  <a:txBody>
                    <a:bodyPr/>
                    <a:lstStyle/>
                    <a:p>
                      <a:pPr algn="ctr">
                        <a:spcAft>
                          <a:spcPts val="0"/>
                        </a:spcAft>
                      </a:pPr>
                      <a:r>
                        <a:rPr sz="2800" b="0" dirty="0" err="1">
                          <a:solidFill>
                            <a:srgbClr val="232B34"/>
                          </a:solidFill>
                          <a:latin typeface="Arial" panose="020B0604020202020204" pitchFamily="34" charset="0"/>
                          <a:ea typeface="Yu Gothic"/>
                          <a:cs typeface="Arial" panose="020B0604020202020204" pitchFamily="34" charset="0"/>
                        </a:rPr>
                        <a:t>Orbital period (~100 min in LEO)</a:t>
                      </a:r>
                    </a:p>
                  </a:txBody>
                  <a:tcPr marL="128016" marR="128016" anchor="ctr">
                    <a:solidFill>
                      <a:schemeClr val="accent6">
                        <a:lumMod val="20000"/>
                        <a:lumOff val="80000"/>
                      </a:schemeClr>
                    </a:solidFill>
                  </a:tcPr>
                </a:tc>
                <a:extLst>
                  <a:ext uri="{0D108BD9-81ED-4DB2-BD59-A6C34878D82A}">
                    <a16:rowId xmlns:a16="http://schemas.microsoft.com/office/drawing/2014/main" val="10002"/>
                  </a:ext>
                </a:extLst>
              </a:tr>
              <a:tr h="1024127">
                <a:tc>
                  <a:txBody>
                    <a:bodyPr/>
                    <a:lstStyle/>
                    <a:p>
                      <a:pPr algn="l">
                        <a:spcAft>
                          <a:spcPts val="0"/>
                        </a:spcAft>
                      </a:pPr>
                      <a:r>
                        <a:rPr sz="2800" b="0">
                          <a:solidFill>
                            <a:srgbClr val="232B34"/>
                          </a:solidFill>
                          <a:latin typeface="Arial" panose="020B0604020202020204" pitchFamily="34" charset="0"/>
                          <a:ea typeface="Yu Gothic"/>
                          <a:cs typeface="Arial" panose="020B0604020202020204" pitchFamily="34" charset="0"/>
                        </a:rPr>
                        <a:t>Attitude and calibrated alignment</a:t>
                      </a:r>
                    </a:p>
                  </a:txBody>
                  <a:tcPr marL="128016" marR="128016" anchor="ctr">
                    <a:solidFill>
                      <a:srgbClr val="FFFFFF"/>
                    </a:solidFill>
                  </a:tcPr>
                </a:tc>
                <a:tc>
                  <a:txBody>
                    <a:bodyPr/>
                    <a:lstStyle/>
                    <a:p>
                      <a:pPr algn="ctr">
                        <a:spcAft>
                          <a:spcPts val="0"/>
                        </a:spcAft>
                      </a:pPr>
                      <a:r>
                        <a:rPr sz="2800" b="0">
                          <a:solidFill>
                            <a:srgbClr val="232B34"/>
                          </a:solidFill>
                          <a:latin typeface="Arial" panose="020B0604020202020204" pitchFamily="34" charset="0"/>
                          <a:ea typeface="Yu Gothic"/>
                          <a:cs typeface="Arial" panose="020B0604020202020204" pitchFamily="34" charset="0"/>
                        </a:rPr>
                        <a:t>Tens of µrad</a:t>
                      </a:r>
                    </a:p>
                  </a:txBody>
                  <a:tcPr marL="128016" marR="128016" anchor="ctr">
                    <a:solidFill>
                      <a:srgbClr val="FFFFFF"/>
                    </a:solidFill>
                  </a:tcPr>
                </a:tc>
                <a:tc>
                  <a:txBody>
                    <a:bodyPr/>
                    <a:lstStyle/>
                    <a:p>
                      <a:pPr algn="ctr">
                        <a:spcAft>
                          <a:spcPts val="0"/>
                        </a:spcAft>
                      </a:pPr>
                      <a:r>
                        <a:rPr sz="2800" b="0">
                          <a:solidFill>
                            <a:srgbClr val="232B34"/>
                          </a:solidFill>
                          <a:latin typeface="Arial" panose="020B0604020202020204" pitchFamily="34" charset="0"/>
                          <a:ea typeface="Yu Gothic"/>
                          <a:cs typeface="Arial" panose="020B0604020202020204" pitchFamily="34" charset="0"/>
                        </a:rPr>
                        <a:t>DC to broadband</a:t>
                      </a:r>
                    </a:p>
                  </a:txBody>
                  <a:tcPr marL="128016" marR="128016" anchor="ctr">
                    <a:solidFill>
                      <a:srgbClr val="EBF6FB"/>
                    </a:solidFill>
                  </a:tcPr>
                </a:tc>
                <a:extLst>
                  <a:ext uri="{0D108BD9-81ED-4DB2-BD59-A6C34878D82A}">
                    <a16:rowId xmlns:a16="http://schemas.microsoft.com/office/drawing/2014/main" val="10003"/>
                  </a:ext>
                </a:extLst>
              </a:tr>
              <a:tr h="1024127">
                <a:tc>
                  <a:txBody>
                    <a:bodyPr/>
                    <a:lstStyle/>
                    <a:p>
                      <a:pPr algn="l">
                        <a:spcAft>
                          <a:spcPts val="0"/>
                        </a:spcAft>
                      </a:pPr>
                      <a:r>
                        <a:rPr sz="2800" b="0">
                          <a:solidFill>
                            <a:srgbClr val="232B34"/>
                          </a:solidFill>
                          <a:latin typeface="Arial" panose="020B0604020202020204" pitchFamily="34" charset="0"/>
                          <a:ea typeface="Yu Gothic"/>
                          <a:cs typeface="Arial" panose="020B0604020202020204" pitchFamily="34" charset="0"/>
                        </a:rPr>
                        <a:t>Mechanical vibration</a:t>
                      </a:r>
                    </a:p>
                  </a:txBody>
                  <a:tcPr marL="128016" marR="128016" anchor="ctr">
                    <a:solidFill>
                      <a:srgbClr val="F4F6F8"/>
                    </a:solidFill>
                  </a:tcPr>
                </a:tc>
                <a:tc>
                  <a:txBody>
                    <a:bodyPr/>
                    <a:lstStyle/>
                    <a:p>
                      <a:pPr algn="ctr">
                        <a:spcAft>
                          <a:spcPts val="0"/>
                        </a:spcAft>
                      </a:pPr>
                      <a:r>
                        <a:rPr sz="2800" b="0" dirty="0">
                          <a:solidFill>
                            <a:srgbClr val="232B34"/>
                          </a:solidFill>
                          <a:latin typeface="Arial" panose="020B0604020202020204" pitchFamily="34" charset="0"/>
                          <a:ea typeface="Yu Gothic"/>
                          <a:cs typeface="Arial" panose="020B0604020202020204" pitchFamily="34" charset="0"/>
                        </a:rPr>
                        <a:t>Several to tens of µrad</a:t>
                      </a:r>
                    </a:p>
                  </a:txBody>
                  <a:tcPr marL="128016" marR="128016" anchor="ctr">
                    <a:solidFill>
                      <a:srgbClr val="F4F6F8"/>
                    </a:solidFill>
                  </a:tcPr>
                </a:tc>
                <a:tc>
                  <a:txBody>
                    <a:bodyPr/>
                    <a:lstStyle/>
                    <a:p>
                      <a:pPr algn="ctr">
                        <a:spcAft>
                          <a:spcPts val="0"/>
                        </a:spcAft>
                      </a:pPr>
                      <a:r>
                        <a:rPr sz="2800" b="0" dirty="0" err="1">
                          <a:solidFill>
                            <a:srgbClr val="232B34"/>
                          </a:solidFill>
                          <a:latin typeface="Arial" panose="020B0604020202020204" pitchFamily="34" charset="0"/>
                          <a:ea typeface="Yu Gothic"/>
                          <a:cs typeface="Arial" panose="020B0604020202020204" pitchFamily="34" charset="0"/>
                        </a:rPr>
                        <a:t>High frequency (post-acquisition fine tracking)</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458200"/>
            <a:ext cx="21396960" cy="344710"/>
          </a:xfrm>
          <a:prstGeom prst="rect">
            <a:avLst/>
          </a:prstGeom>
          <a:noFill/>
        </p:spPr>
        <p:txBody>
          <a:bodyPr wrap="square" lIns="45720" tIns="18288" rIns="45720" bIns="18288" anchor="t">
            <a:spAutoFit/>
          </a:bodyPr>
          <a:lstStyle/>
          <a:p>
            <a:pPr algn="l">
              <a:spcAft>
                <a:spcPts val="0"/>
              </a:spcAft>
            </a:pPr>
            <a:r>
              <a:rPr sz="2000" b="0" dirty="0">
                <a:solidFill>
                  <a:srgbClr val="666F79"/>
                </a:solidFill>
                <a:latin typeface="Arial" panose="020B0604020202020204" pitchFamily="34" charset="0"/>
                <a:ea typeface="Yu Gothic"/>
                <a:cs typeface="Arial" panose="020B0604020202020204" pitchFamily="34" charset="0"/>
              </a:rPr>
              <a:t>* </a:t>
            </a:r>
            <a:r>
              <a:rPr sz="2000" b="0" dirty="0" err="1">
                <a:solidFill>
                  <a:srgbClr val="666F79"/>
                </a:solidFill>
                <a:latin typeface="Arial" panose="020B0604020202020204" pitchFamily="34" charset="0"/>
                <a:ea typeface="Yu Gothic"/>
                <a:cs typeface="Arial" panose="020B0604020202020204" pitchFamily="34" charset="0"/>
              </a:rPr>
              <a:t>Thermal </a:t>
            </a:r>
            <a:r>
              <a:rPr lang="en-US" sz="2000" b="0" dirty="0" err="1">
                <a:solidFill>
                  <a:srgbClr val="666F79"/>
                </a:solidFill>
                <a:latin typeface="Arial" panose="020B0604020202020204" pitchFamily="34" charset="0"/>
                <a:ea typeface="Yu Gothic"/>
                <a:cs typeface="Arial" panose="020B0604020202020204" pitchFamily="34" charset="0"/>
              </a:rPr>
              <a:t>LOS</a:t>
            </a:r>
            <a:r>
              <a:rPr lang="ja-JP" altLang="en-US" sz="2000" b="0" dirty="0">
                <a:solidFill>
                  <a:srgbClr val="666F79"/>
                </a:solidFill>
                <a:latin typeface="Arial" panose="020B0604020202020204" pitchFamily="34" charset="0"/>
                <a:ea typeface="Yu Gothic"/>
                <a:cs typeface="Arial" panose="020B0604020202020204" pitchFamily="34" charset="0"/>
              </a:rPr>
              <a:t> and orbit-prediction error are from this analysis; </a:t>
            </a:r>
            <a:r>
              <a:rPr sz="2000" b="0" dirty="0" err="1">
                <a:solidFill>
                  <a:srgbClr val="666F79"/>
                </a:solidFill>
                <a:latin typeface="Arial" panose="020B0604020202020204" pitchFamily="34" charset="0"/>
                <a:ea typeface="Yu Gothic"/>
                <a:cs typeface="Arial" panose="020B0604020202020204" pitchFamily="34" charset="0"/>
              </a:rPr>
              <a:t>other values are literature-based order-of-magnitude estimates.</a:t>
            </a:r>
          </a:p>
        </p:txBody>
      </p:sp>
      <p:sp>
        <p:nvSpPr>
          <p:cNvPr id="7" name="Rounded Rectangle 6"/>
          <p:cNvSpPr/>
          <p:nvPr/>
        </p:nvSpPr>
        <p:spPr>
          <a:xfrm>
            <a:off x="1463040" y="9418320"/>
            <a:ext cx="21396960" cy="3785616"/>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rial" panose="020B0604020202020204" pitchFamily="34" charset="0"/>
              <a:cs typeface="Arial" panose="020B0604020202020204" pitchFamily="34" charset="0"/>
            </a:endParaRPr>
          </a:p>
        </p:txBody>
      </p:sp>
      <p:sp>
        <p:nvSpPr>
          <p:cNvPr id="8" name="TextBox 7"/>
          <p:cNvSpPr txBox="1"/>
          <p:nvPr/>
        </p:nvSpPr>
        <p:spPr>
          <a:xfrm>
            <a:off x="1828800" y="9646920"/>
            <a:ext cx="20665440" cy="1185389"/>
          </a:xfrm>
          <a:prstGeom prst="rect">
            <a:avLst/>
          </a:prstGeom>
          <a:noFill/>
        </p:spPr>
        <p:txBody>
          <a:bodyPr wrap="square" lIns="45720" tIns="18288" rIns="45720" bIns="18288" anchor="t">
            <a:spAutoFit/>
          </a:bodyPr>
          <a:lstStyle/>
          <a:p>
            <a:pPr algn="ctr">
              <a:lnSpc>
                <a:spcPct val="120000"/>
              </a:lnSpc>
              <a:spcAft>
                <a:spcPts val="0"/>
              </a:spcAft>
            </a:pPr>
            <a:r>
              <a:rPr sz="3200" dirty="0" err="1">
                <a:solidFill>
                  <a:srgbClr val="082B52"/>
                </a:solidFill>
                <a:latin typeface="Arial" panose="020B0604020202020204" pitchFamily="34" charset="0"/>
                <a:ea typeface="Yu Gothic"/>
                <a:cs typeface="Arial" panose="020B0604020202020204" pitchFamily="34" charset="0"/>
              </a:rPr>
              <a:t>Thermal LOS and orbit prediction share </a:t>
            </a:r>
            <a:r>
              <a:rPr lang="ja-JP" altLang="en-US" sz="3200" dirty="0">
                <a:solidFill>
                  <a:srgbClr val="082B52"/>
                </a:solidFill>
                <a:latin typeface="Arial" panose="020B0604020202020204" pitchFamily="34" charset="0"/>
                <a:ea typeface="Yu Gothic"/>
                <a:cs typeface="Arial" panose="020B0604020202020204" pitchFamily="34" charset="0"/>
              </a:rPr>
              <a:t>similar</a:t>
            </a:r>
            <a:r>
              <a:rPr sz="3200" dirty="0" err="1">
                <a:solidFill>
                  <a:srgbClr val="082B52"/>
                </a:solidFill>
                <a:latin typeface="Arial" panose="020B0604020202020204" pitchFamily="34" charset="0"/>
                <a:ea typeface="Yu Gothic"/>
                <a:cs typeface="Arial" panose="020B0604020202020204" pitchFamily="34" charset="0"/>
              </a:rPr>
              <a:t> orbital periods</a:t>
            </a:r>
            <a:endParaRPr sz="3200" dirty="0">
              <a:solidFill>
                <a:srgbClr val="082B52"/>
              </a:solidFill>
              <a:latin typeface="Arial" panose="020B0604020202020204" pitchFamily="34" charset="0"/>
              <a:ea typeface="Yu Gothic"/>
              <a:cs typeface="Arial" panose="020B0604020202020204" pitchFamily="34" charset="0"/>
            </a:endParaRPr>
          </a:p>
          <a:p>
            <a:pPr algn="ctr">
              <a:lnSpc>
                <a:spcPct val="120000"/>
              </a:lnSpc>
              <a:spcAft>
                <a:spcPts val="0"/>
              </a:spcAft>
            </a:pPr>
            <a:r>
              <a:rPr sz="3200" dirty="0" err="1">
                <a:solidFill>
                  <a:srgbClr val="082B52"/>
                </a:solidFill>
                <a:latin typeface="Arial" panose="020B0604020202020204" pitchFamily="34" charset="0"/>
                <a:ea typeface="Yu Gothic"/>
                <a:cs typeface="Arial" panose="020B0604020202020204" pitchFamily="34" charset="0"/>
              </a:rPr>
              <a:t>Frequency separation of post-acquisition residuals cannot isolate the thermal component</a:t>
            </a:r>
            <a:endParaRPr sz="3200" dirty="0">
              <a:solidFill>
                <a:srgbClr val="082B52"/>
              </a:solidFill>
              <a:latin typeface="Arial" panose="020B0604020202020204" pitchFamily="34" charset="0"/>
              <a:ea typeface="Yu Gothic"/>
              <a:cs typeface="Arial" panose="020B0604020202020204" pitchFamily="34" charset="0"/>
            </a:endParaRPr>
          </a:p>
        </p:txBody>
      </p:sp>
      <p:sp>
        <p:nvSpPr>
          <p:cNvPr id="9" name="TextBox 8"/>
          <p:cNvSpPr txBox="1"/>
          <p:nvPr/>
        </p:nvSpPr>
        <p:spPr>
          <a:xfrm>
            <a:off x="1463040" y="11772900"/>
            <a:ext cx="21396960" cy="1021818"/>
          </a:xfrm>
          <a:prstGeom prst="rect">
            <a:avLst/>
          </a:prstGeom>
          <a:noFill/>
        </p:spPr>
        <p:txBody>
          <a:bodyPr wrap="square" lIns="45720" tIns="18288" rIns="45720" bIns="18288" anchor="t">
            <a:spAutoFit/>
          </a:bodyPr>
          <a:lstStyle/>
          <a:p>
            <a:pPr algn="ctr">
              <a:spcAft>
                <a:spcPts val="0"/>
              </a:spcAft>
            </a:pPr>
            <a:r>
              <a:rPr sz="3200" b="1" dirty="0" err="1">
                <a:latin typeface="Arial" panose="020B0604020202020204" pitchFamily="34" charset="0"/>
                <a:ea typeface="Yu Gothic"/>
                <a:cs typeface="Arial" panose="020B0604020202020204" pitchFamily="34" charset="0"/>
              </a:rPr>
              <a:t>Do not </a:t>
            </a:r>
            <a:r>
              <a:rPr lang="ja-JP" altLang="en-US" sz="3200" b="1" dirty="0">
                <a:latin typeface="Arial" panose="020B0604020202020204" pitchFamily="34" charset="0"/>
                <a:ea typeface="Yu Gothic"/>
                <a:cs typeface="Arial" panose="020B0604020202020204" pitchFamily="34" charset="0"/>
              </a:rPr>
              <a:t>separate thermal effects retrospectively</a:t>
            </a:r>
            <a:r>
              <a:rPr sz="3200" b="1" dirty="0" err="1">
                <a:latin typeface="Arial" panose="020B0604020202020204" pitchFamily="34" charset="0"/>
                <a:ea typeface="Yu Gothic"/>
                <a:cs typeface="Arial" panose="020B0604020202020204" pitchFamily="34" charset="0"/>
              </a:rPr>
              <a:t> from observations</a:t>
            </a:r>
            <a:endParaRPr lang="en-US" sz="3200" b="1" dirty="0">
              <a:latin typeface="Arial" panose="020B0604020202020204" pitchFamily="34" charset="0"/>
              <a:ea typeface="Yu Gothic"/>
              <a:cs typeface="Arial" panose="020B0604020202020204" pitchFamily="34" charset="0"/>
            </a:endParaRPr>
          </a:p>
          <a:p>
            <a:pPr algn="ctr">
              <a:spcAft>
                <a:spcPts val="0"/>
              </a:spcAft>
            </a:pPr>
            <a:r>
              <a:rPr sz="3200" b="1" dirty="0" err="1">
                <a:latin typeface="Arial" panose="020B0604020202020204" pitchFamily="34" charset="0"/>
                <a:ea typeface="Yu Gothic"/>
                <a:cs typeface="Arial" panose="020B0604020202020204" pitchFamily="34" charset="0"/>
              </a:rPr>
              <a:t>Use temperature and operating state</a:t>
            </a:r>
            <a:r>
              <a:rPr lang="ja-JP" altLang="en-US" sz="3200" b="1" dirty="0">
                <a:latin typeface="Arial" panose="020B0604020202020204" pitchFamily="34" charset="0"/>
                <a:ea typeface="Yu Gothic"/>
                <a:cs typeface="Arial" panose="020B0604020202020204" pitchFamily="34" charset="0"/>
              </a:rPr>
              <a:t> </a:t>
            </a:r>
            <a:r>
              <a:rPr sz="3200" b="1" dirty="0" err="1">
                <a:latin typeface="Arial" panose="020B0604020202020204" pitchFamily="34" charset="0"/>
                <a:ea typeface="Yu Gothic"/>
                <a:cs typeface="Arial" panose="020B0604020202020204" pitchFamily="34" charset="0"/>
              </a:rPr>
              <a:t>to subtract them before acquisition</a:t>
            </a:r>
            <a:endParaRPr sz="3200" b="1" dirty="0">
              <a:latin typeface="Arial" panose="020B0604020202020204" pitchFamily="34" charset="0"/>
              <a:ea typeface="Yu Gothic"/>
              <a:cs typeface="Arial" panose="020B0604020202020204" pitchFamily="34" charset="0"/>
            </a:endParaRPr>
          </a:p>
        </p:txBody>
      </p:sp>
      <p:sp>
        <p:nvSpPr>
          <p:cNvPr id="11" name="矢印: 右 10">
            <a:extLst>
              <a:ext uri="{FF2B5EF4-FFF2-40B4-BE49-F238E27FC236}">
                <a16:creationId xmlns:a16="http://schemas.microsoft.com/office/drawing/2014/main" id="{94240433-D79D-CFAB-63F5-3885639F5032}"/>
              </a:ext>
            </a:extLst>
          </p:cNvPr>
          <p:cNvSpPr/>
          <p:nvPr/>
        </p:nvSpPr>
        <p:spPr>
          <a:xfrm rot="5400000">
            <a:off x="11918047" y="11028683"/>
            <a:ext cx="685800" cy="547842"/>
          </a:xfrm>
          <a:prstGeom prst="rightArrow">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Arial" panose="020B0604020202020204" pitchFamily="34" charset="0"/>
              <a:cs typeface="Arial" panose="020B0604020202020204" pitchFamily="34" charset="0"/>
            </a:endParaRPr>
          </a:p>
        </p:txBody>
      </p:sp>
      <p:sp>
        <p:nvSpPr>
          <p:cNvPr id="12" name="テキスト ボックス 11">
            <a:extLst>
              <a:ext uri="{FF2B5EF4-FFF2-40B4-BE49-F238E27FC236}">
                <a16:creationId xmlns:a16="http://schemas.microsoft.com/office/drawing/2014/main" id="{98366AD8-6DF9-7CF4-554B-CA06B88994F7}"/>
              </a:ext>
            </a:extLst>
          </p:cNvPr>
          <p:cNvSpPr txBox="1"/>
          <p:nvPr/>
        </p:nvSpPr>
        <p:spPr>
          <a:xfrm>
            <a:off x="5619750" y="2707542"/>
            <a:ext cx="12192000" cy="523220"/>
          </a:xfrm>
          <a:prstGeom prst="rect">
            <a:avLst/>
          </a:prstGeom>
          <a:noFill/>
        </p:spPr>
        <p:txBody>
          <a:bodyPr wrap="square">
            <a:spAutoFit/>
          </a:bodyPr>
          <a:lstStyle/>
          <a:p>
            <a:pPr algn="ctr">
              <a:buNone/>
            </a:pPr>
            <a:r>
              <a:rPr lang="ja-JP" altLang="ja-JP" sz="2800" b="1" dirty="0">
                <a:solidFill>
                  <a:schemeClr val="tx2">
                    <a:lumMod val="50000"/>
                  </a:schemeClr>
                </a:solidFill>
                <a:latin typeface="Arial" panose="020B0604020202020204" pitchFamily="34" charset="0"/>
                <a:cs typeface="Arial" panose="020B0604020202020204" pitchFamily="34" charset="0"/>
              </a:rPr>
              <a:t>Main contributors to scan-center LOS error during coarse acquisition</a:t>
            </a:r>
            <a:endParaRPr lang="ja-JP" altLang="ja-JP" sz="2800" dirty="0">
              <a:solidFill>
                <a:schemeClr val="tx2">
                  <a:lumMod val="50000"/>
                </a:schemeClr>
              </a:solidFill>
              <a:latin typeface="Arial" panose="020B0604020202020204" pitchFamily="34" charset="0"/>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Background</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cs typeface="Arial" panose="020B0604020202020204" pitchFamily="34" charset="0"/>
            </a:endParaRPr>
          </a:p>
          <a:p>
            <a:pPr algn="l">
              <a:lnSpc>
                <a:spcPct val="110000"/>
              </a:lnSpc>
              <a:spcAft>
                <a:spcPts val="0"/>
              </a:spcAft>
            </a:pPr>
            <a:r>
              <a:rPr lang="ja-JP" altLang="en-US" sz="3200" b="1" dirty="0">
                <a:solidFill>
                  <a:srgbClr val="082B52"/>
                </a:solidFill>
                <a:latin typeface="Arial" panose="020B0604020202020204" pitchFamily="34" charset="0"/>
                <a:ea typeface="Yu Gothic"/>
                <a:cs typeface="Arial" panose="020B0604020202020204" pitchFamily="34" charset="0"/>
              </a:rPr>
              <a:t>Prior work on thermal-deformation </a:t>
            </a:r>
            <a:r>
              <a:rPr lang="en-US" altLang="ja-JP" sz="3200" b="1" dirty="0">
                <a:solidFill>
                  <a:srgbClr val="082B52"/>
                </a:solidFill>
                <a:latin typeface="Arial" panose="020B0604020202020204" pitchFamily="34" charset="0"/>
                <a:ea typeface="Yu Gothic"/>
                <a:cs typeface="Arial" panose="020B0604020202020204" pitchFamily="34" charset="0"/>
              </a:rPr>
              <a:t>LOS</a:t>
            </a:r>
            <a:r>
              <a:rPr lang="ja-JP" altLang="en-US" sz="3200" b="1" dirty="0">
                <a:solidFill>
                  <a:srgbClr val="082B52"/>
                </a:solidFill>
                <a:latin typeface="Arial" panose="020B0604020202020204" pitchFamily="34" charset="0"/>
                <a:ea typeface="Yu Gothic"/>
                <a:cs typeface="Arial" panose="020B0604020202020204" pitchFamily="34" charset="0"/>
              </a:rPr>
              <a:t> error prediction and this study</a:t>
            </a:r>
            <a:endParaRPr sz="3200" b="1" dirty="0">
              <a:solidFill>
                <a:srgbClr val="082B52"/>
              </a:solidFill>
              <a:latin typeface="Arial" panose="020B0604020202020204" pitchFamily="34" charset="0"/>
              <a:ea typeface="Yu Gothic"/>
              <a:cs typeface="Arial" panose="020B0604020202020204" pitchFamily="34" charset="0"/>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5</a:t>
            </a:r>
          </a:p>
        </p:txBody>
      </p:sp>
      <p:graphicFrame>
        <p:nvGraphicFramePr>
          <p:cNvPr id="10" name="表 9">
            <a:extLst>
              <a:ext uri="{FF2B5EF4-FFF2-40B4-BE49-F238E27FC236}">
                <a16:creationId xmlns:a16="http://schemas.microsoft.com/office/drawing/2014/main" id="{A46055EF-9EAE-9D40-A161-EC7FBD1C0AFE}"/>
              </a:ext>
            </a:extLst>
          </p:cNvPr>
          <p:cNvGraphicFramePr>
            <a:graphicFrameLocks noGrp="1"/>
          </p:cNvGraphicFramePr>
          <p:nvPr>
            <p:extLst>
              <p:ext uri="{D42A27DB-BD31-4B8C-83A1-F6EECF244321}">
                <p14:modId xmlns:p14="http://schemas.microsoft.com/office/powerpoint/2010/main" val="2501613983"/>
              </p:ext>
            </p:extLst>
          </p:nvPr>
        </p:nvGraphicFramePr>
        <p:xfrm>
          <a:off x="2160290" y="3045590"/>
          <a:ext cx="20474920" cy="6989418"/>
        </p:xfrm>
        <a:graphic>
          <a:graphicData uri="http://schemas.openxmlformats.org/drawingml/2006/table">
            <a:tbl>
              <a:tblPr firstRow="1" bandRow="1">
                <a:tableStyleId>{5C22544A-7EE6-4342-B048-85BDC9FD1C3A}</a:tableStyleId>
              </a:tblPr>
              <a:tblGrid>
                <a:gridCol w="4507210">
                  <a:extLst>
                    <a:ext uri="{9D8B030D-6E8A-4147-A177-3AD203B41FA5}">
                      <a16:colId xmlns:a16="http://schemas.microsoft.com/office/drawing/2014/main" val="1548032301"/>
                    </a:ext>
                  </a:extLst>
                </a:gridCol>
                <a:gridCol w="5730250">
                  <a:extLst>
                    <a:ext uri="{9D8B030D-6E8A-4147-A177-3AD203B41FA5}">
                      <a16:colId xmlns:a16="http://schemas.microsoft.com/office/drawing/2014/main" val="2689480544"/>
                    </a:ext>
                  </a:extLst>
                </a:gridCol>
                <a:gridCol w="5118730">
                  <a:extLst>
                    <a:ext uri="{9D8B030D-6E8A-4147-A177-3AD203B41FA5}">
                      <a16:colId xmlns:a16="http://schemas.microsoft.com/office/drawing/2014/main" val="3075504841"/>
                    </a:ext>
                  </a:extLst>
                </a:gridCol>
                <a:gridCol w="5118730">
                  <a:extLst>
                    <a:ext uri="{9D8B030D-6E8A-4147-A177-3AD203B41FA5}">
                      <a16:colId xmlns:a16="http://schemas.microsoft.com/office/drawing/2014/main" val="39855268"/>
                    </a:ext>
                  </a:extLst>
                </a:gridCol>
              </a:tblGrid>
              <a:tr h="649290">
                <a:tc>
                  <a:txBody>
                    <a:bodyPr/>
                    <a:lstStyle/>
                    <a:p>
                      <a:pPr>
                        <a:buNone/>
                      </a:pPr>
                      <a:r>
                        <a:rPr lang="ja-JP" altLang="en-US" sz="2800" b="0" dirty="0">
                          <a:solidFill>
                            <a:schemeClr val="bg1"/>
                          </a:solidFill>
                          <a:latin typeface="Arial" panose="020B0604020202020204" pitchFamily="34" charset="0"/>
                          <a:cs typeface="Arial" panose="020B0604020202020204" pitchFamily="34" charset="0"/>
                        </a:rPr>
                        <a:t>Field</a:t>
                      </a:r>
                      <a:endParaRPr 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Conventional PAT design</a:t>
                      </a:r>
                      <a:endParaRPr lang="ja-JP" sz="2800" b="0"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ja-JP" sz="2800" b="0" dirty="0">
                          <a:solidFill>
                            <a:schemeClr val="tx1"/>
                          </a:solidFill>
                          <a:latin typeface="Arial" panose="020B0604020202020204" pitchFamily="34" charset="0"/>
                          <a:cs typeface="Arial" panose="020B0604020202020204" pitchFamily="34" charset="0"/>
                        </a:rPr>
                        <a:t>Earth observation / optics</a:t>
                      </a:r>
                    </a:p>
                  </a:txBody>
                  <a:tcPr anchor="ctr">
                    <a:solidFill>
                      <a:schemeClr val="bg1">
                        <a:lumMod val="85000"/>
                      </a:schemeClr>
                    </a:solidFill>
                  </a:tcPr>
                </a:tc>
                <a:tc>
                  <a:txBody>
                    <a:bodyPr/>
                    <a:lstStyle/>
                    <a:p>
                      <a:pPr>
                        <a:buNone/>
                      </a:pPr>
                      <a:r>
                        <a:rPr lang="ja-JP" sz="2800" b="0" dirty="0">
                          <a:solidFill>
                            <a:schemeClr val="tx1"/>
                          </a:solidFill>
                          <a:latin typeface="Arial" panose="020B0604020202020204" pitchFamily="34" charset="0"/>
                          <a:cs typeface="Arial" panose="020B0604020202020204" pitchFamily="34" charset="0"/>
                        </a:rPr>
                        <a:t>This study</a:t>
                      </a:r>
                      <a:r>
                        <a:rPr lang="en-US" altLang="ja-JP" sz="2800" b="0" dirty="0">
                          <a:solidFill>
                            <a:schemeClr val="tx1"/>
                          </a:solidFill>
                          <a:latin typeface="Arial" panose="020B0604020202020204" pitchFamily="34" charset="0"/>
                          <a:cs typeface="Arial" panose="020B0604020202020204" pitchFamily="34" charset="0"/>
                        </a:rPr>
                        <a:t>’s PAT design </a:t>
                      </a:r>
                      <a:endParaRPr lang="ja-JP" sz="2800" b="0" dirty="0">
                        <a:solidFill>
                          <a:schemeClr val="tx1"/>
                        </a:solidFill>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1866067178"/>
                  </a:ext>
                </a:extLst>
              </a:tr>
              <a:tr h="2253419">
                <a:tc>
                  <a:txBody>
                    <a:bodyPr/>
                    <a:lstStyle/>
                    <a:p>
                      <a:pPr>
                        <a:buNone/>
                      </a:pPr>
                      <a:r>
                        <a:rPr lang="ja-JP" sz="2800" b="0" dirty="0">
                          <a:solidFill>
                            <a:schemeClr val="bg1"/>
                          </a:solidFill>
                          <a:latin typeface="Arial" panose="020B0604020202020204" pitchFamily="34" charset="0"/>
                          <a:cs typeface="Arial" panose="020B0604020202020204" pitchFamily="34" charset="0"/>
                        </a:rPr>
                        <a:t>Approach to thermal deformation</a:t>
                      </a:r>
                    </a:p>
                  </a:txBody>
                  <a:tcPr anchor="ctr">
                    <a:solidFill>
                      <a:schemeClr val="tx1"/>
                    </a:solidFill>
                  </a:tcPr>
                </a:tc>
                <a:tc>
                  <a:txBody>
                    <a:bodyPr/>
                    <a:lstStyle/>
                    <a:p>
                      <a:pPr marL="457200" marR="0" lvl="0" indent="-457200" algn="l" defTabSz="1828709" rtl="0" eaLnBrk="1" fontAlgn="auto" latinLnBrk="0" hangingPunct="1">
                        <a:lnSpc>
                          <a:spcPct val="100000"/>
                        </a:lnSpc>
                        <a:spcBef>
                          <a:spcPts val="0"/>
                        </a:spcBef>
                        <a:spcAft>
                          <a:spcPts val="0"/>
                        </a:spcAft>
                        <a:buClrTx/>
                        <a:buSzTx/>
                        <a:buFontTx/>
                        <a:buChar char="-"/>
                        <a:tabLst/>
                        <a:defRPr/>
                      </a:pPr>
                      <a:r>
                        <a:rPr lang="en-US" altLang="ja-JP" sz="2800" b="0" dirty="0">
                          <a:solidFill>
                            <a:schemeClr val="tx1"/>
                          </a:solidFill>
                          <a:latin typeface="Arial" panose="020B0604020202020204" pitchFamily="34" charset="0"/>
                          <a:cs typeface="Arial" panose="020B0604020202020204" pitchFamily="34" charset="0"/>
                        </a:rPr>
                        <a:t>Absorb thermal error through scan range or beam divergence</a:t>
                      </a:r>
                    </a:p>
                    <a:p>
                      <a:pPr marL="457200" marR="0" lvl="0" indent="-457200" algn="l" defTabSz="1828709" rtl="0" eaLnBrk="1" fontAlgn="auto" latinLnBrk="0" hangingPunct="1">
                        <a:lnSpc>
                          <a:spcPct val="100000"/>
                        </a:lnSpc>
                        <a:spcBef>
                          <a:spcPts val="0"/>
                        </a:spcBef>
                        <a:spcAft>
                          <a:spcPts val="0"/>
                        </a:spcAft>
                        <a:buClrTx/>
                        <a:buSzTx/>
                        <a:buFontTx/>
                        <a:buChar char="-"/>
                        <a:tabLst/>
                        <a:defRPr/>
                      </a:pPr>
                      <a:r>
                        <a:rPr lang="ja-JP" sz="2800" b="0" dirty="0">
                          <a:solidFill>
                            <a:schemeClr val="tx1"/>
                          </a:solidFill>
                          <a:latin typeface="Arial" panose="020B0604020202020204" pitchFamily="34" charset="0"/>
                          <a:cs typeface="Arial" panose="020B0604020202020204" pitchFamily="34" charset="0"/>
                        </a:rPr>
                        <a:t>Reduce thermal deformation through structure</a:t>
                      </a:r>
                      <a:r>
                        <a:rPr lang="en-US" altLang="ja-JP" sz="2800" b="0" dirty="0">
                          <a:solidFill>
                            <a:schemeClr val="tx1"/>
                          </a:solidFill>
                          <a:latin typeface="Arial" panose="020B0604020202020204" pitchFamily="34" charset="0"/>
                          <a:cs typeface="Arial" panose="020B0604020202020204" pitchFamily="34" charset="0"/>
                        </a:rPr>
                        <a:t> and materials</a:t>
                      </a:r>
                    </a:p>
                  </a:txBody>
                  <a:tcPr anchor="ctr">
                    <a:solidFill>
                      <a:schemeClr val="bg1">
                        <a:lumMod val="95000"/>
                      </a:schemeClr>
                    </a:solidFill>
                  </a:tcPr>
                </a:tc>
                <a:tc>
                  <a:txBody>
                    <a:bodyPr/>
                    <a:lstStyle/>
                    <a:p>
                      <a:pPr>
                        <a:buNone/>
                      </a:pPr>
                      <a:r>
                        <a:rPr lang="ja-JP" sz="2800" b="0" dirty="0">
                          <a:solidFill>
                            <a:schemeClr val="tx1"/>
                          </a:solidFill>
                          <a:latin typeface="Arial" panose="020B0604020202020204" pitchFamily="34" charset="0"/>
                          <a:cs typeface="Arial" panose="020B0604020202020204" pitchFamily="34" charset="0"/>
                        </a:rPr>
                        <a:t>Predict and correct LOS variation from temperature, orbital phase, and observation geometry</a:t>
                      </a:r>
                    </a:p>
                  </a:txBody>
                  <a:tcPr anchor="ctr">
                    <a:solidFill>
                      <a:schemeClr val="bg1">
                        <a:lumMod val="85000"/>
                      </a:schemeClr>
                    </a:solidFill>
                  </a:tcPr>
                </a:tc>
                <a:tc>
                  <a:txBody>
                    <a:bodyPr/>
                    <a:lstStyle/>
                    <a:p>
                      <a:pPr>
                        <a:buNone/>
                      </a:pPr>
                      <a:r>
                        <a:rPr lang="ja-JP" sz="2800" b="0" dirty="0">
                          <a:solidFill>
                            <a:schemeClr val="tx1"/>
                          </a:solidFill>
                          <a:latin typeface="Arial" panose="020B0604020202020204" pitchFamily="34" charset="0"/>
                          <a:cs typeface="Arial" panose="020B0604020202020204" pitchFamily="34" charset="0"/>
                        </a:rPr>
                        <a:t>Predict spacecraft-bus relative LOS from temperature and operating state</a:t>
                      </a:r>
                    </a:p>
                  </a:txBody>
                  <a:tcPr anchor="ctr">
                    <a:solidFill>
                      <a:schemeClr val="accent6">
                        <a:lumMod val="20000"/>
                        <a:lumOff val="80000"/>
                      </a:schemeClr>
                    </a:solidFill>
                  </a:tcPr>
                </a:tc>
                <a:extLst>
                  <a:ext uri="{0D108BD9-81ED-4DB2-BD59-A6C34878D82A}">
                    <a16:rowId xmlns:a16="http://schemas.microsoft.com/office/drawing/2014/main" val="2469285297"/>
                  </a:ext>
                </a:extLst>
              </a:tr>
              <a:tr h="1184000">
                <a:tc>
                  <a:txBody>
                    <a:bodyPr/>
                    <a:lstStyle/>
                    <a:p>
                      <a:pPr>
                        <a:buNone/>
                      </a:pPr>
                      <a:r>
                        <a:rPr lang="ja-JP" sz="2800" b="0" dirty="0">
                          <a:solidFill>
                            <a:schemeClr val="bg1"/>
                          </a:solidFill>
                          <a:latin typeface="Arial" panose="020B0604020202020204" pitchFamily="34" charset="0"/>
                          <a:cs typeface="Arial" panose="020B0604020202020204" pitchFamily="34" charset="0"/>
                        </a:rPr>
                        <a:t>Main target</a:t>
                      </a:r>
                    </a:p>
                  </a:txBody>
                  <a:tcPr anchor="ctr">
                    <a:solidFill>
                      <a:schemeClr val="tx1"/>
                    </a:solidFill>
                  </a:tcPr>
                </a:tc>
                <a:tc>
                  <a:txBody>
                    <a:bodyPr/>
                    <a:lstStyle/>
                    <a:p>
                      <a:pPr>
                        <a:buNone/>
                      </a:pPr>
                      <a:r>
                        <a:rPr lang="ja-JP" sz="2800" b="0" dirty="0">
                          <a:solidFill>
                            <a:schemeClr val="tx1"/>
                          </a:solidFill>
                          <a:latin typeface="Arial" panose="020B0604020202020204" pitchFamily="34" charset="0"/>
                          <a:cs typeface="Arial" panose="020B0604020202020204" pitchFamily="34" charset="0"/>
                        </a:rPr>
                        <a:t>Optical terminals / spacecraft structures</a:t>
                      </a:r>
                    </a:p>
                  </a:txBody>
                  <a:tcPr anchor="ctr">
                    <a:solidFill>
                      <a:schemeClr val="bg1">
                        <a:lumMod val="95000"/>
                      </a:schemeClr>
                    </a:solidFill>
                  </a:tcPr>
                </a:tc>
                <a:tc>
                  <a:txBody>
                    <a:bodyPr/>
                    <a:lstStyle/>
                    <a:p>
                      <a:pPr>
                        <a:buNone/>
                      </a:pPr>
                      <a:r>
                        <a:rPr lang="ja-JP" sz="2800" b="0" dirty="0">
                          <a:solidFill>
                            <a:schemeClr val="tx1"/>
                          </a:solidFill>
                          <a:latin typeface="Arial" panose="020B0604020202020204" pitchFamily="34" charset="0"/>
                          <a:cs typeface="Arial" panose="020B0604020202020204" pitchFamily="34" charset="0"/>
                        </a:rPr>
                        <a:t>Cameras / remote-sensing optical systems</a:t>
                      </a:r>
                    </a:p>
                  </a:txBody>
                  <a:tcPr anchor="ctr">
                    <a:solidFill>
                      <a:schemeClr val="bg1">
                        <a:lumMod val="85000"/>
                      </a:schemeClr>
                    </a:solidFill>
                  </a:tcPr>
                </a:tc>
                <a:tc>
                  <a:txBody>
                    <a:bodyPr/>
                    <a:lstStyle/>
                    <a:p>
                      <a:r>
                        <a:rPr lang="ja-JP" altLang="ja-JP" sz="2800" b="0" dirty="0">
                          <a:latin typeface="Arial" panose="020B0604020202020204" pitchFamily="34" charset="0"/>
                          <a:cs typeface="Arial" panose="020B0604020202020204" pitchFamily="34" charset="0"/>
                        </a:rPr>
                        <a:t>STT–LCT relative LOS across the spacecraft bus</a:t>
                      </a:r>
                    </a:p>
                  </a:txBody>
                  <a:tcPr anchor="ctr">
                    <a:solidFill>
                      <a:schemeClr val="accent6">
                        <a:lumMod val="20000"/>
                        <a:lumOff val="80000"/>
                      </a:schemeClr>
                    </a:solidFill>
                  </a:tcPr>
                </a:tc>
                <a:extLst>
                  <a:ext uri="{0D108BD9-81ED-4DB2-BD59-A6C34878D82A}">
                    <a16:rowId xmlns:a16="http://schemas.microsoft.com/office/drawing/2014/main" val="1300502729"/>
                  </a:ext>
                </a:extLst>
              </a:tr>
              <a:tr h="1184000">
                <a:tc>
                  <a:txBody>
                    <a:bodyPr/>
                    <a:lstStyle/>
                    <a:p>
                      <a:pPr>
                        <a:buNone/>
                      </a:pPr>
                      <a:r>
                        <a:rPr lang="ja-JP" sz="2800" b="0" dirty="0">
                          <a:solidFill>
                            <a:schemeClr val="bg1"/>
                          </a:solidFill>
                          <a:latin typeface="Arial" panose="020B0604020202020204" pitchFamily="34" charset="0"/>
                          <a:cs typeface="Arial" panose="020B0604020202020204" pitchFamily="34" charset="0"/>
                        </a:rPr>
                        <a:t>Evaluation metric</a:t>
                      </a:r>
                    </a:p>
                  </a:txBody>
                  <a:tcPr anchor="ctr">
                    <a:solidFill>
                      <a:schemeClr val="tx1"/>
                    </a:solidFill>
                  </a:tcPr>
                </a:tc>
                <a:tc>
                  <a:txBody>
                    <a:bodyPr/>
                    <a:lstStyle/>
                    <a:p>
                      <a:pPr>
                        <a:buNone/>
                      </a:pPr>
                      <a:r>
                        <a:rPr lang="ja-JP" sz="2800" b="0" dirty="0">
                          <a:solidFill>
                            <a:schemeClr val="tx1"/>
                          </a:solidFill>
                          <a:latin typeface="Arial" panose="020B0604020202020204" pitchFamily="34" charset="0"/>
                          <a:cs typeface="Arial" panose="020B0604020202020204" pitchFamily="34" charset="0"/>
                        </a:rPr>
                        <a:t>Thermal stability, pointing error, link establishment</a:t>
                      </a:r>
                    </a:p>
                  </a:txBody>
                  <a:tcPr anchor="ctr">
                    <a:solidFill>
                      <a:schemeClr val="bg1">
                        <a:lumMod val="95000"/>
                      </a:schemeClr>
                    </a:solidFill>
                  </a:tcPr>
                </a:tc>
                <a:tc>
                  <a:txBody>
                    <a:bodyPr/>
                    <a:lstStyle/>
                    <a:p>
                      <a:pPr>
                        <a:buNone/>
                      </a:pPr>
                      <a:r>
                        <a:rPr lang="ja-JP" sz="2800" b="0" dirty="0">
                          <a:solidFill>
                            <a:schemeClr val="tx1"/>
                          </a:solidFill>
                          <a:latin typeface="Arial" panose="020B0604020202020204" pitchFamily="34" charset="0"/>
                          <a:cs typeface="Arial" panose="020B0604020202020204" pitchFamily="34" charset="0"/>
                        </a:rPr>
                        <a:t>LOS prediction error, image-pointing accuracy</a:t>
                      </a:r>
                    </a:p>
                  </a:txBody>
                  <a:tcPr anchor="ctr">
                    <a:solidFill>
                      <a:schemeClr val="bg1">
                        <a:lumMod val="85000"/>
                      </a:schemeClr>
                    </a:solidFill>
                  </a:tcPr>
                </a:tc>
                <a:tc>
                  <a:txBody>
                    <a:bodyPr/>
                    <a:lstStyle/>
                    <a:p>
                      <a:pPr>
                        <a:buNone/>
                      </a:pPr>
                      <a:r>
                        <a:rPr lang="ja-JP" sz="2800" b="0" dirty="0">
                          <a:solidFill>
                            <a:schemeClr val="tx1"/>
                          </a:solidFill>
                          <a:latin typeface="Arial" panose="020B0604020202020204" pitchFamily="34" charset="0"/>
                          <a:cs typeface="Arial" panose="020B0604020202020204" pitchFamily="34" charset="0"/>
                        </a:rPr>
                        <a:t>Coarse-acquisition time and success rate</a:t>
                      </a:r>
                    </a:p>
                  </a:txBody>
                  <a:tcPr anchor="ctr">
                    <a:solidFill>
                      <a:schemeClr val="accent6">
                        <a:lumMod val="20000"/>
                        <a:lumOff val="80000"/>
                      </a:schemeClr>
                    </a:solidFill>
                  </a:tcPr>
                </a:tc>
                <a:extLst>
                  <a:ext uri="{0D108BD9-81ED-4DB2-BD59-A6C34878D82A}">
                    <a16:rowId xmlns:a16="http://schemas.microsoft.com/office/drawing/2014/main" val="788446176"/>
                  </a:ext>
                </a:extLst>
              </a:tr>
              <a:tr h="1718709">
                <a:tc>
                  <a:txBody>
                    <a:bodyPr/>
                    <a:lstStyle/>
                    <a:p>
                      <a:pPr>
                        <a:buNone/>
                      </a:pPr>
                      <a:r>
                        <a:rPr lang="ja-JP" sz="2800" b="0" dirty="0">
                          <a:solidFill>
                            <a:schemeClr val="bg1"/>
                          </a:solidFill>
                          <a:latin typeface="Arial" panose="020B0604020202020204" pitchFamily="34" charset="0"/>
                          <a:cs typeface="Arial" panose="020B0604020202020204" pitchFamily="34" charset="0"/>
                        </a:rPr>
                        <a:t>Remaining gap</a:t>
                      </a:r>
                    </a:p>
                  </a:txBody>
                  <a:tcPr anchor="ctr">
                    <a:solidFill>
                      <a:schemeClr val="tx1"/>
                    </a:solidFill>
                  </a:tcPr>
                </a:tc>
                <a:tc>
                  <a:txBody>
                    <a:bodyPr/>
                    <a:lstStyle/>
                    <a:p>
                      <a:pPr>
                        <a:buNone/>
                      </a:pPr>
                      <a:r>
                        <a:rPr lang="ja-JP" sz="2800" b="0" dirty="0">
                          <a:solidFill>
                            <a:schemeClr val="tx1"/>
                          </a:solidFill>
                          <a:latin typeface="Arial" panose="020B0604020202020204" pitchFamily="34" charset="0"/>
                          <a:cs typeface="Arial" panose="020B0604020202020204" pitchFamily="34" charset="0"/>
                        </a:rPr>
                        <a:t>Limited frameworks for </a:t>
                      </a:r>
                      <a:r>
                        <a:rPr lang="ja-JP" sz="2800" b="1" dirty="0">
                          <a:solidFill>
                            <a:schemeClr val="tx1"/>
                          </a:solidFill>
                          <a:latin typeface="Arial" panose="020B0604020202020204" pitchFamily="34" charset="0"/>
                          <a:cs typeface="Arial" panose="020B0604020202020204" pitchFamily="34" charset="0"/>
                        </a:rPr>
                        <a:t>predicting residual thermal LOS error during operations</a:t>
                      </a:r>
                    </a:p>
                  </a:txBody>
                  <a:tcPr anchor="ctr">
                    <a:solidFill>
                      <a:schemeClr val="bg1">
                        <a:lumMod val="95000"/>
                      </a:schemeClr>
                    </a:solidFill>
                  </a:tcPr>
                </a:tc>
                <a:tc>
                  <a:txBody>
                    <a:bodyPr/>
                    <a:lstStyle/>
                    <a:p>
                      <a:pPr>
                        <a:buNone/>
                      </a:pPr>
                      <a:r>
                        <a:rPr lang="ja-JP" altLang="en-US" sz="2800" b="0" dirty="0">
                          <a:solidFill>
                            <a:schemeClr val="tx1"/>
                          </a:solidFill>
                          <a:latin typeface="Arial" panose="020B0604020202020204" pitchFamily="34" charset="0"/>
                          <a:cs typeface="Arial" panose="020B0604020202020204" pitchFamily="34" charset="0"/>
                        </a:rPr>
                        <a:t>Not linked to </a:t>
                      </a:r>
                      <a:r>
                        <a:rPr lang="ja-JP" altLang="ja-JP" sz="2800" b="1" dirty="0">
                          <a:solidFill>
                            <a:schemeClr val="tx1"/>
                          </a:solidFill>
                          <a:latin typeface="Arial" panose="020B0604020202020204" pitchFamily="34" charset="0"/>
                          <a:cs typeface="Arial" panose="020B0604020202020204" pitchFamily="34" charset="0"/>
                        </a:rPr>
                        <a:t>spacecraft-bus LOS error or coarse-acquisition performance</a:t>
                      </a:r>
                    </a:p>
                  </a:txBody>
                  <a:tcPr anchor="ctr">
                    <a:solidFill>
                      <a:schemeClr val="bg1">
                        <a:lumMod val="85000"/>
                      </a:schemeClr>
                    </a:solidFill>
                  </a:tcPr>
                </a:tc>
                <a:tc>
                  <a:txBody>
                    <a:bodyPr/>
                    <a:lstStyle/>
                    <a:p>
                      <a:pPr>
                        <a:buNone/>
                      </a:pPr>
                      <a:r>
                        <a:rPr lang="ja-JP" sz="2800" b="0" dirty="0">
                          <a:solidFill>
                            <a:schemeClr val="tx1"/>
                          </a:solidFill>
                          <a:latin typeface="Arial" panose="020B0604020202020204" pitchFamily="34" charset="0"/>
                          <a:cs typeface="Arial" panose="020B0604020202020204" pitchFamily="34" charset="0"/>
                        </a:rPr>
                        <a:t>—</a:t>
                      </a:r>
                    </a:p>
                  </a:txBody>
                  <a:tcPr anchor="ctr">
                    <a:solidFill>
                      <a:schemeClr val="accent6">
                        <a:lumMod val="20000"/>
                        <a:lumOff val="80000"/>
                      </a:schemeClr>
                    </a:solidFill>
                  </a:tcPr>
                </a:tc>
                <a:extLst>
                  <a:ext uri="{0D108BD9-81ED-4DB2-BD59-A6C34878D82A}">
                    <a16:rowId xmlns:a16="http://schemas.microsoft.com/office/drawing/2014/main" val="3137187714"/>
                  </a:ext>
                </a:extLst>
              </a:tr>
            </a:tbl>
          </a:graphicData>
        </a:graphic>
      </p:graphicFrame>
      <p:sp>
        <p:nvSpPr>
          <p:cNvPr id="12" name="テキスト ボックス 11">
            <a:extLst>
              <a:ext uri="{FF2B5EF4-FFF2-40B4-BE49-F238E27FC236}">
                <a16:creationId xmlns:a16="http://schemas.microsoft.com/office/drawing/2014/main" id="{D62851C0-F2CB-95B5-2980-85533DC73702}"/>
              </a:ext>
            </a:extLst>
          </p:cNvPr>
          <p:cNvSpPr txBox="1"/>
          <p:nvPr/>
        </p:nvSpPr>
        <p:spPr>
          <a:xfrm>
            <a:off x="14268450" y="10176519"/>
            <a:ext cx="8500110" cy="923330"/>
          </a:xfrm>
          <a:prstGeom prst="rect">
            <a:avLst/>
          </a:prstGeom>
          <a:noFill/>
        </p:spPr>
        <p:txBody>
          <a:bodyPr wrap="square">
            <a:spAutoFit/>
          </a:bodyPr>
          <a:lstStyle/>
          <a:p>
            <a:pPr lvl="0"/>
            <a:r>
              <a:rPr lang="ja-JP" altLang="en-US" dirty="0"/>
              <a:t>References:</a:t>
            </a:r>
            <a:endParaRPr lang="en-US" altLang="ja-JP" dirty="0"/>
          </a:p>
          <a:p>
            <a:pPr marL="342900" lvl="0" indent="-342900">
              <a:buFont typeface="Arial" panose="020B0604020202020204" pitchFamily="34" charset="0"/>
              <a:buChar char="•"/>
            </a:pPr>
            <a:r>
              <a:rPr lang="ja-JP" altLang="ja-JP" dirty="0"/>
              <a:t>Optical comm.: Shi et al. 2023; Zhang et al. 2025</a:t>
            </a:r>
          </a:p>
          <a:p>
            <a:pPr marL="342900" lvl="0" indent="-342900">
              <a:buFont typeface="Arial" panose="020B0604020202020204" pitchFamily="34" charset="0"/>
              <a:buChar char="•"/>
            </a:pPr>
            <a:r>
              <a:rPr lang="ja-JP" altLang="ja-JP" dirty="0"/>
              <a:t>EO</a:t>
            </a:r>
            <a:r>
              <a:rPr lang="ja-JP" altLang="en-US" dirty="0"/>
              <a:t>/optics</a:t>
            </a:r>
            <a:r>
              <a:rPr lang="ja-JP" altLang="ja-JP" dirty="0"/>
              <a:t>: Li et al. 2025; Hu et al. 2022</a:t>
            </a:r>
            <a:r>
              <a:rPr lang="en-US" altLang="ja-JP" dirty="0"/>
              <a:t>; </a:t>
            </a:r>
            <a:r>
              <a:rPr lang="ja-JP" altLang="ja-JP" dirty="0"/>
              <a:t>Turella et al. 2019/2021</a:t>
            </a:r>
          </a:p>
        </p:txBody>
      </p:sp>
      <p:sp>
        <p:nvSpPr>
          <p:cNvPr id="9" name="テキスト ボックス 8">
            <a:extLst>
              <a:ext uri="{FF2B5EF4-FFF2-40B4-BE49-F238E27FC236}">
                <a16:creationId xmlns:a16="http://schemas.microsoft.com/office/drawing/2014/main" id="{A579EAF2-D38E-DE80-8D0F-6C285F3EB458}"/>
              </a:ext>
            </a:extLst>
          </p:cNvPr>
          <p:cNvSpPr txBox="1"/>
          <p:nvPr/>
        </p:nvSpPr>
        <p:spPr>
          <a:xfrm>
            <a:off x="2653675" y="11742670"/>
            <a:ext cx="19488150" cy="1077218"/>
          </a:xfrm>
          <a:prstGeom prst="rect">
            <a:avLst/>
          </a:prstGeom>
          <a:noFill/>
        </p:spPr>
        <p:txBody>
          <a:bodyPr wrap="square">
            <a:spAutoFit/>
          </a:bodyPr>
          <a:lstStyle/>
          <a:p>
            <a:pPr algn="ctr"/>
            <a:r>
              <a:rPr lang="ja-JP" altLang="ja-JP" sz="3200" b="1" dirty="0">
                <a:latin typeface="Arial" panose="020B0604020202020204" pitchFamily="34" charset="0"/>
                <a:cs typeface="Arial" panose="020B0604020202020204" pitchFamily="34" charset="0"/>
              </a:rPr>
              <a:t>From structural mitigation to instrument-specific LOS correction, this study develops a physics-based bus-level LOS model for coarse optical acquisition.</a:t>
            </a:r>
            <a:endParaRPr lang="ja-JP" altLang="en-US" sz="3200" b="1" dirty="0">
              <a:latin typeface="Arial" panose="020B0604020202020204" pitchFamily="34" charset="0"/>
              <a:cs typeface="Arial" panose="020B0604020202020204" pitchFamily="34" charset="0"/>
            </a:endParaRPr>
          </a:p>
        </p:txBody>
      </p:sp>
      <p:sp>
        <p:nvSpPr>
          <p:cNvPr id="8" name="テキスト ボックス 7">
            <a:extLst>
              <a:ext uri="{FF2B5EF4-FFF2-40B4-BE49-F238E27FC236}">
                <a16:creationId xmlns:a16="http://schemas.microsoft.com/office/drawing/2014/main" id="{DF0EBE9F-1413-9E71-EA68-2981574F53AC}"/>
              </a:ext>
            </a:extLst>
          </p:cNvPr>
          <p:cNvSpPr txBox="1"/>
          <p:nvPr/>
        </p:nvSpPr>
        <p:spPr>
          <a:xfrm>
            <a:off x="18542441" y="1969820"/>
            <a:ext cx="3220279" cy="923330"/>
          </a:xfrm>
          <a:prstGeom prst="rect">
            <a:avLst/>
          </a:prstGeom>
          <a:noFill/>
        </p:spPr>
        <p:txBody>
          <a:bodyPr wrap="square" rtlCol="0">
            <a:spAutoFit/>
          </a:bodyPr>
          <a:lstStyle/>
          <a:p>
            <a:r>
              <a:rPr kumimoji="1" lang="en-US" altLang="ja-JP" dirty="0">
                <a:solidFill>
                  <a:srgbClr val="FF0000"/>
                </a:solidFill>
              </a:rPr>
              <a:t>Arial</a:t>
            </a:r>
            <a:r>
              <a:rPr kumimoji="1" lang="ja-JP" altLang="en-US" dirty="0">
                <a:solidFill>
                  <a:srgbClr val="FF0000"/>
                </a:solidFill>
              </a:rPr>
              <a:t>に変えられない問題により、文字拡大と</a:t>
            </a:r>
            <a:r>
              <a:rPr kumimoji="1" lang="en-US" altLang="ja-JP" dirty="0">
                <a:solidFill>
                  <a:srgbClr val="FF0000"/>
                </a:solidFill>
              </a:rPr>
              <a:t>Arial</a:t>
            </a:r>
            <a:r>
              <a:rPr kumimoji="1" lang="ja-JP" altLang="en-US" dirty="0">
                <a:solidFill>
                  <a:srgbClr val="FF0000"/>
                </a:solidFill>
              </a:rPr>
              <a:t>への変更は、ここで</a:t>
            </a:r>
            <a:r>
              <a:rPr kumimoji="1" lang="en-US" altLang="ja-JP" dirty="0">
                <a:solidFill>
                  <a:srgbClr val="FF0000"/>
                </a:solidFill>
              </a:rPr>
              <a:t>stop</a:t>
            </a:r>
            <a:endParaRPr kumimoji="1" lang="ja-JP" altLang="en-US" dirty="0">
              <a:solidFill>
                <a:srgbClr val="FF0000"/>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6188-687C-CACF-8E62-FDA47B400589}"/>
            </a:ext>
          </a:extLst>
        </p:cNvPr>
        <p:cNvGrpSpPr/>
        <p:nvPr/>
      </p:nvGrpSpPr>
      <p:grpSpPr>
        <a:xfrm>
          <a:off x="0" y="0"/>
          <a:ext cx="0" cy="0"/>
          <a:chOff x="0" y="0"/>
          <a:chExt cx="0" cy="0"/>
        </a:xfrm>
      </p:grpSpPr>
      <p:sp>
        <p:nvSpPr>
          <p:cNvPr id="3" name="TextBox 2"/>
          <p:cNvSpPr txBox="1"/>
          <p:nvPr/>
        </p:nvSpPr>
        <p:spPr>
          <a:xfrm>
            <a:off x="1536192" y="1810512"/>
            <a:ext cx="18782514" cy="547842"/>
          </a:xfrm>
          <a:prstGeom prst="rect">
            <a:avLst/>
          </a:prstGeom>
          <a:noFill/>
        </p:spPr>
        <p:txBody>
          <a:bodyPr wrap="none" lIns="36576" tIns="27432" rIns="36576" bIns="27432" anchor="t">
            <a:spAutoFit/>
          </a:bodyPr>
          <a:lstStyle/>
          <a:p>
            <a:r>
              <a:rPr lang="ja-JP" altLang="en-US" sz="3200" b="1" dirty="0">
                <a:latin typeface="+mn-ea"/>
                <a:cs typeface="Arial" panose="020B0604020202020204" pitchFamily="34" charset="0"/>
              </a:rPr>
              <a:t>Research overview: from thermoelastic truth generation and model construction to evaluation</a:t>
            </a:r>
            <a:endParaRPr lang="ja-JP" altLang="ja-JP" sz="3200" dirty="0">
              <a:latin typeface="+mn-ea"/>
              <a:cs typeface="Arial" panose="020B0604020202020204" pitchFamily="34" charset="0"/>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6</a:t>
            </a:r>
          </a:p>
        </p:txBody>
      </p:sp>
      <p:sp>
        <p:nvSpPr>
          <p:cNvPr id="5" name="Rectangle 4"/>
          <p:cNvSpPr/>
          <p:nvPr/>
        </p:nvSpPr>
        <p:spPr>
          <a:xfrm>
            <a:off x="91440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755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Orbit / attitude
heat &amp; coating</a:t>
            </a:r>
          </a:p>
        </p:txBody>
      </p:sp>
      <p:sp>
        <p:nvSpPr>
          <p:cNvPr id="8" name="Rectangle 7"/>
          <p:cNvSpPr/>
          <p:nvPr/>
        </p:nvSpPr>
        <p:spPr>
          <a:xfrm>
            <a:off x="4742688" y="3063240"/>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840"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Thermal Desktop
temperature</a:t>
            </a:r>
          </a:p>
        </p:txBody>
      </p:sp>
      <p:cxnSp>
        <p:nvCxnSpPr>
          <p:cNvPr id="10" name="Connector 9"/>
          <p:cNvCxnSpPr/>
          <p:nvPr/>
        </p:nvCxnSpPr>
        <p:spPr>
          <a:xfrm>
            <a:off x="8241792"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063240"/>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44128" y="3172968"/>
            <a:ext cx="3297935" cy="1014984"/>
          </a:xfrm>
          <a:prstGeom prst="rect">
            <a:avLst/>
          </a:prstGeom>
          <a:noFill/>
        </p:spPr>
        <p:txBody>
          <a:bodyPr wrap="none" lIns="36576" tIns="27432" rIns="36576" bIns="27432" anchor="ctr">
            <a:spAutoFit/>
          </a:bodyPr>
          <a:lstStyle/>
          <a:p>
            <a:pPr algn="ctr"/>
            <a:r>
              <a:rPr sz="2100" b="1" dirty="0">
                <a:solidFill>
                  <a:srgbClr val="FFFFFF"/>
                </a:solidFill>
                <a:latin typeface="Yu Gothic"/>
              </a:rPr>
              <a:t>Femap / Nastran
rotation</a:t>
            </a:r>
          </a:p>
        </p:txBody>
      </p:sp>
      <p:cxnSp>
        <p:nvCxnSpPr>
          <p:cNvPr id="13" name="Connector 12"/>
          <p:cNvCxnSpPr/>
          <p:nvPr/>
        </p:nvCxnSpPr>
        <p:spPr>
          <a:xfrm>
            <a:off x="12070080" y="3680460"/>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063240"/>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472415"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STT–LCT
thermal LOS</a:t>
            </a:r>
          </a:p>
        </p:txBody>
      </p:sp>
      <p:cxnSp>
        <p:nvCxnSpPr>
          <p:cNvPr id="16" name="Connector 15"/>
          <p:cNvCxnSpPr/>
          <p:nvPr/>
        </p:nvCxnSpPr>
        <p:spPr>
          <a:xfrm>
            <a:off x="15898367"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063240"/>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300703"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Reduced-order
model</a:t>
            </a:r>
          </a:p>
        </p:txBody>
      </p:sp>
      <p:cxnSp>
        <p:nvCxnSpPr>
          <p:cNvPr id="19" name="Connector 18"/>
          <p:cNvCxnSpPr/>
          <p:nvPr/>
        </p:nvCxnSpPr>
        <p:spPr>
          <a:xfrm>
            <a:off x="19726655"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12899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PAT
scan center</a:t>
            </a:r>
          </a:p>
        </p:txBody>
      </p:sp>
      <p:sp>
        <p:nvSpPr>
          <p:cNvPr id="22" name="Rectangle 21"/>
          <p:cNvSpPr/>
          <p:nvPr/>
        </p:nvSpPr>
        <p:spPr>
          <a:xfrm>
            <a:off x="914400" y="7188743"/>
            <a:ext cx="15700443" cy="3959156"/>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2457" y="7600223"/>
            <a:ext cx="3305520" cy="486287"/>
          </a:xfrm>
          <a:prstGeom prst="rect">
            <a:avLst/>
          </a:prstGeom>
          <a:noFill/>
        </p:spPr>
        <p:txBody>
          <a:bodyPr wrap="none" lIns="36576" tIns="27432" rIns="36576" bIns="27432" anchor="t">
            <a:spAutoFit/>
          </a:bodyPr>
          <a:lstStyle/>
          <a:p>
            <a:r>
              <a:rPr lang="ja-JP" altLang="en-US" sz="2800" b="1" dirty="0"/>
              <a:t>Ground model development</a:t>
            </a:r>
            <a:endParaRPr sz="2700" b="1" dirty="0">
              <a:solidFill>
                <a:srgbClr val="082B52"/>
              </a:solidFill>
              <a:latin typeface="Yu Gothic"/>
            </a:endParaRPr>
          </a:p>
        </p:txBody>
      </p:sp>
      <p:sp>
        <p:nvSpPr>
          <p:cNvPr id="24" name="TextBox 23"/>
          <p:cNvSpPr txBox="1"/>
          <p:nvPr/>
        </p:nvSpPr>
        <p:spPr>
          <a:xfrm>
            <a:off x="1595336" y="8560343"/>
            <a:ext cx="12825513" cy="2123658"/>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lang="ja-JP" altLang="ja-JP" sz="2800" dirty="0"/>
              <a:t>Input orbit, attitude, and thermal environment</a:t>
            </a:r>
            <a:endParaRPr lang="en-US" altLang="ja-JP" sz="2800" dirty="0"/>
          </a:p>
          <a:p>
            <a:pPr>
              <a:spcAft>
                <a:spcPts val="800"/>
              </a:spcAft>
            </a:pPr>
            <a:r>
              <a:rPr lang="en-US" altLang="ja-JP" sz="2800" b="1" dirty="0">
                <a:solidFill>
                  <a:srgbClr val="1B74AA"/>
                </a:solidFill>
                <a:latin typeface="Yu Gothic"/>
              </a:rPr>
              <a:t>• </a:t>
            </a:r>
            <a:r>
              <a:rPr lang="ja-JP" altLang="ja-JP" sz="2800" dirty="0"/>
              <a:t>Compute temperature fields and thermoelastic deformation with TD/Femap</a:t>
            </a:r>
            <a:endParaRPr lang="en-US" altLang="ja-JP" sz="2800" dirty="0"/>
          </a:p>
          <a:p>
            <a:pPr>
              <a:spcAft>
                <a:spcPts val="800"/>
              </a:spcAft>
            </a:pPr>
            <a:r>
              <a:rPr lang="en-US" altLang="ja-JP" sz="2800" b="1" dirty="0">
                <a:solidFill>
                  <a:srgbClr val="1B74AA"/>
                </a:solidFill>
                <a:latin typeface="Yu Gothic"/>
              </a:rPr>
              <a:t>• </a:t>
            </a:r>
            <a:r>
              <a:rPr lang="ja-JP" altLang="ja-JP" sz="2800" dirty="0"/>
              <a:t>Generate reference STT–LCT relative-LOS time series</a:t>
            </a:r>
            <a:endParaRPr lang="en-US" altLang="ja-JP" sz="2800" dirty="0"/>
          </a:p>
          <a:p>
            <a:pPr>
              <a:spcAft>
                <a:spcPts val="800"/>
              </a:spcAft>
            </a:pPr>
            <a:r>
              <a:rPr lang="en-US" altLang="ja-JP" sz="2800" b="1" dirty="0">
                <a:solidFill>
                  <a:srgbClr val="1B74AA"/>
                </a:solidFill>
                <a:latin typeface="Yu Gothic"/>
              </a:rPr>
              <a:t>• </a:t>
            </a:r>
            <a:r>
              <a:rPr lang="ja-JP" altLang="ja-JP" sz="2800" dirty="0"/>
              <a:t>Train and evaluate the reduced-order model</a:t>
            </a:r>
            <a:endParaRPr sz="2600" dirty="0">
              <a:solidFill>
                <a:srgbClr val="232B34"/>
              </a:solidFill>
              <a:latin typeface="Yu Gothic"/>
            </a:endParaRPr>
          </a:p>
        </p:txBody>
      </p:sp>
      <p:sp>
        <p:nvSpPr>
          <p:cNvPr id="25" name="Rectangle 24"/>
          <p:cNvSpPr/>
          <p:nvPr/>
        </p:nvSpPr>
        <p:spPr>
          <a:xfrm>
            <a:off x="16848306" y="7188743"/>
            <a:ext cx="6651773" cy="3959154"/>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7151000" y="7600223"/>
            <a:ext cx="6085786" cy="470956"/>
          </a:xfrm>
          <a:prstGeom prst="rect">
            <a:avLst/>
          </a:prstGeom>
          <a:noFill/>
        </p:spPr>
        <p:txBody>
          <a:bodyPr wrap="square" lIns="36576" tIns="27432" rIns="36576" bIns="27432" anchor="t">
            <a:spAutoFit/>
          </a:bodyPr>
          <a:lstStyle/>
          <a:p>
            <a:r>
              <a:rPr lang="ja-JP" altLang="en-US" sz="2700" b="1" dirty="0">
                <a:solidFill>
                  <a:srgbClr val="1B74AA"/>
                </a:solidFill>
                <a:latin typeface="Yu Gothic"/>
              </a:rPr>
              <a:t>On-orbit correction</a:t>
            </a:r>
            <a:endParaRPr sz="2700" b="1" dirty="0">
              <a:solidFill>
                <a:srgbClr val="1B74AA"/>
              </a:solidFill>
              <a:latin typeface="Yu Gothic"/>
            </a:endParaRPr>
          </a:p>
        </p:txBody>
      </p:sp>
      <p:sp>
        <p:nvSpPr>
          <p:cNvPr id="27" name="TextBox 26"/>
          <p:cNvSpPr txBox="1"/>
          <p:nvPr/>
        </p:nvSpPr>
        <p:spPr>
          <a:xfrm>
            <a:off x="17225771" y="8446043"/>
            <a:ext cx="5806441" cy="2503249"/>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sz="2600" dirty="0" err="1">
                <a:solidFill>
                  <a:srgbClr val="232B34"/>
                </a:solidFill>
                <a:latin typeface="Yu Gothic"/>
              </a:rPr>
              <a:t>Temperature / operating state</a:t>
            </a:r>
            <a:endParaRPr sz="2600" dirty="0">
              <a:solidFill>
                <a:srgbClr val="232B34"/>
              </a:solidFill>
              <a:latin typeface="Yu Gothic"/>
            </a:endParaRPr>
          </a:p>
          <a:p>
            <a:pPr>
              <a:spcAft>
                <a:spcPts val="800"/>
              </a:spcAft>
            </a:pPr>
            <a:r>
              <a:rPr sz="2600" b="1" dirty="0">
                <a:solidFill>
                  <a:srgbClr val="1B74AA"/>
                </a:solidFill>
                <a:latin typeface="Yu Gothic"/>
              </a:rPr>
              <a:t>• </a:t>
            </a:r>
            <a:r>
              <a:rPr lang="ja-JP" altLang="en-US" sz="2600" dirty="0">
                <a:solidFill>
                  <a:srgbClr val="232B34"/>
                </a:solidFill>
                <a:latin typeface="Yu Gothic"/>
              </a:rPr>
              <a:t>Predict thermal LOS</a:t>
            </a:r>
            <a:endParaRPr lang="en-US" altLang="ja-JP" sz="2600" dirty="0">
              <a:solidFill>
                <a:srgbClr val="232B34"/>
              </a:solidFill>
              <a:latin typeface="Yu Gothic"/>
            </a:endParaRPr>
          </a:p>
          <a:p>
            <a:pPr>
              <a:spcAft>
                <a:spcPts val="800"/>
              </a:spcAft>
            </a:pPr>
            <a:r>
              <a:rPr lang="en-US" altLang="ja-JP" sz="2600" b="1" dirty="0">
                <a:solidFill>
                  <a:srgbClr val="1B74AA"/>
                </a:solidFill>
                <a:latin typeface="Yu Gothic"/>
              </a:rPr>
              <a:t>• </a:t>
            </a:r>
            <a:r>
              <a:rPr lang="en-US" sz="2600" dirty="0">
                <a:solidFill>
                  <a:srgbClr val="232B34"/>
                </a:solidFill>
                <a:latin typeface="Yu Gothic"/>
              </a:rPr>
              <a:t>Correct the scan center</a:t>
            </a:r>
            <a:endParaRPr lang="en-US" altLang="ja-JP" sz="2600" dirty="0">
              <a:solidFill>
                <a:srgbClr val="232B34"/>
              </a:solidFill>
              <a:latin typeface="Yu Gothic"/>
            </a:endParaRPr>
          </a:p>
          <a:p>
            <a:pPr>
              <a:spcAft>
                <a:spcPts val="800"/>
              </a:spcAft>
            </a:pPr>
            <a:r>
              <a:rPr lang="en-US" altLang="ja-JP" sz="2600" dirty="0">
                <a:solidFill>
                  <a:srgbClr val="1B74AA"/>
                </a:solidFill>
                <a:latin typeface="Yu Gothic"/>
              </a:rPr>
              <a:t>• </a:t>
            </a:r>
            <a:r>
              <a:rPr lang="ja-JP" altLang="en-US" sz="2600" dirty="0">
                <a:solidFill>
                  <a:srgbClr val="232B34"/>
                </a:solidFill>
                <a:latin typeface="Yu Gothic"/>
              </a:rPr>
              <a:t>Include nonthermal errors</a:t>
            </a:r>
            <a:endParaRPr sz="2600" dirty="0">
              <a:solidFill>
                <a:srgbClr val="232B34"/>
              </a:solidFill>
              <a:latin typeface="Yu Gothic"/>
            </a:endParaRPr>
          </a:p>
          <a:p>
            <a:pPr>
              <a:spcAft>
                <a:spcPts val="800"/>
              </a:spcAft>
            </a:pPr>
            <a:r>
              <a:rPr sz="2600" b="1" dirty="0">
                <a:solidFill>
                  <a:srgbClr val="1B74AA"/>
                </a:solidFill>
                <a:latin typeface="Yu Gothic"/>
              </a:rPr>
              <a:t>• </a:t>
            </a:r>
            <a:r>
              <a:rPr sz="2600" dirty="0" err="1">
                <a:solidFill>
                  <a:srgbClr val="232B34"/>
                </a:solidFill>
                <a:latin typeface="Yu Gothic"/>
              </a:rPr>
              <a:t>Residual update</a:t>
            </a:r>
            <a:endParaRPr sz="2600" dirty="0">
              <a:solidFill>
                <a:srgbClr val="232B34"/>
              </a:solidFill>
              <a:latin typeface="Yu Gothic"/>
            </a:endParaRPr>
          </a:p>
        </p:txBody>
      </p:sp>
      <p:sp>
        <p:nvSpPr>
          <p:cNvPr id="28" name="TextBox 27"/>
          <p:cNvSpPr txBox="1"/>
          <p:nvPr/>
        </p:nvSpPr>
        <p:spPr>
          <a:xfrm>
            <a:off x="3052664" y="11835849"/>
            <a:ext cx="15922757" cy="1040285"/>
          </a:xfrm>
          <a:prstGeom prst="rect">
            <a:avLst/>
          </a:prstGeom>
          <a:noFill/>
        </p:spPr>
        <p:txBody>
          <a:bodyPr wrap="none" lIns="36576" tIns="27432" rIns="36576" bIns="27432" anchor="t">
            <a:spAutoFit/>
          </a:bodyPr>
          <a:lstStyle/>
          <a:p>
            <a:r>
              <a:rPr lang="en-US" altLang="ja-JP" sz="3200" b="1" dirty="0">
                <a:solidFill>
                  <a:srgbClr val="1B74AA"/>
                </a:solidFill>
                <a:latin typeface="Arial" panose="020B0604020202020204" pitchFamily="34" charset="0"/>
                <a:cs typeface="Arial" panose="020B0604020202020204" pitchFamily="34" charset="0"/>
              </a:rPr>
              <a:t>• </a:t>
            </a:r>
            <a:r>
              <a:rPr lang="ja-JP" altLang="ja-JP" sz="3200" b="1" dirty="0">
                <a:latin typeface="Arial" panose="020B0604020202020204" pitchFamily="34" charset="0"/>
                <a:cs typeface="Arial" panose="020B0604020202020204" pitchFamily="34" charset="0"/>
              </a:rPr>
              <a:t>TD/Femap runs only on the ground; only the reduced-order model runs onboard</a:t>
            </a:r>
            <a:endParaRPr lang="en-US" altLang="ja-JP" sz="3200" b="1" dirty="0">
              <a:latin typeface="Arial" panose="020B0604020202020204" pitchFamily="34" charset="0"/>
              <a:cs typeface="Arial" panose="020B0604020202020204" pitchFamily="34" charset="0"/>
            </a:endParaRPr>
          </a:p>
          <a:p>
            <a:r>
              <a:rPr lang="en-US" altLang="ja-JP" sz="3200" b="1" dirty="0">
                <a:solidFill>
                  <a:srgbClr val="1B74AA"/>
                </a:solidFill>
                <a:latin typeface="Arial" panose="020B0604020202020204" pitchFamily="34" charset="0"/>
                <a:cs typeface="Arial" panose="020B0604020202020204" pitchFamily="34" charset="0"/>
              </a:rPr>
              <a:t>• </a:t>
            </a:r>
            <a:r>
              <a:rPr lang="ja-JP" altLang="en-US" sz="3200" b="1" dirty="0">
                <a:latin typeface="Arial" panose="020B0604020202020204" pitchFamily="34" charset="0"/>
                <a:cs typeface="Arial" panose="020B0604020202020204" pitchFamily="34" charset="0"/>
              </a:rPr>
              <a:t>Evaluate LOS error, acquisition success, and acquisition time</a:t>
            </a:r>
            <a:endParaRPr lang="ja-JP" altLang="ja-JP" sz="3200" b="1" dirty="0">
              <a:latin typeface="Arial" panose="020B0604020202020204" pitchFamily="34" charset="0"/>
              <a:cs typeface="Arial" panose="020B0604020202020204" pitchFamily="34" charset="0"/>
            </a:endParaRPr>
          </a:p>
        </p:txBody>
      </p:sp>
      <p:pic>
        <p:nvPicPr>
          <p:cNvPr id="32" name="図 31">
            <a:extLst>
              <a:ext uri="{FF2B5EF4-FFF2-40B4-BE49-F238E27FC236}">
                <a16:creationId xmlns:a16="http://schemas.microsoft.com/office/drawing/2014/main" id="{3715A86D-4060-9A30-BCAB-A905AF739052}"/>
              </a:ext>
            </a:extLst>
          </p:cNvPr>
          <p:cNvPicPr>
            <a:picLocks noChangeAspect="1"/>
          </p:cNvPicPr>
          <p:nvPr/>
        </p:nvPicPr>
        <p:blipFill>
          <a:blip r:embed="rId3"/>
          <a:srcRect t="14987" b="12995"/>
          <a:stretch>
            <a:fillRect/>
          </a:stretch>
        </p:blipFill>
        <p:spPr>
          <a:xfrm>
            <a:off x="4668368" y="4428721"/>
            <a:ext cx="3295472" cy="2714577"/>
          </a:xfrm>
          <a:prstGeom prst="rect">
            <a:avLst/>
          </a:prstGeom>
        </p:spPr>
      </p:pic>
      <p:pic>
        <p:nvPicPr>
          <p:cNvPr id="34" name="図 33">
            <a:extLst>
              <a:ext uri="{FF2B5EF4-FFF2-40B4-BE49-F238E27FC236}">
                <a16:creationId xmlns:a16="http://schemas.microsoft.com/office/drawing/2014/main" id="{F956818A-24FB-86DE-EFEF-CDBD09D72D2F}"/>
              </a:ext>
            </a:extLst>
          </p:cNvPr>
          <p:cNvPicPr>
            <a:picLocks noChangeAspect="1"/>
          </p:cNvPicPr>
          <p:nvPr/>
        </p:nvPicPr>
        <p:blipFill>
          <a:blip r:embed="rId4"/>
          <a:srcRect l="4933"/>
          <a:stretch>
            <a:fillRect/>
          </a:stretch>
        </p:blipFill>
        <p:spPr>
          <a:xfrm rot="5400000">
            <a:off x="8975763" y="4844559"/>
            <a:ext cx="2594268" cy="1769750"/>
          </a:xfrm>
          <a:prstGeom prst="rect">
            <a:avLst/>
          </a:prstGeom>
        </p:spPr>
      </p:pic>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C89755C7-CE55-00F5-650C-D30D48A9F5CB}"/>
                  </a:ext>
                </a:extLst>
              </p:cNvPr>
              <p:cNvSpPr txBox="1"/>
              <p:nvPr/>
            </p:nvSpPr>
            <p:spPr>
              <a:xfrm>
                <a:off x="16227552" y="5285419"/>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r>
                        <a:rPr kumimoji="1" lang="en-US" altLang="ja-JP" sz="3200" b="0" i="1" smtClean="0">
                          <a:latin typeface="Cambria Math" panose="02040503050406030204" pitchFamily="18" charset="0"/>
                        </a:rPr>
                        <m:t>=</m:t>
                      </m:r>
                      <m:r>
                        <a:rPr kumimoji="1" lang="en-US" altLang="ja-JP" sz="3200" b="0" i="1" smtClean="0">
                          <a:latin typeface="Cambria Math" panose="02040503050406030204" pitchFamily="18" charset="0"/>
                        </a:rPr>
                        <m:t>𝑎</m:t>
                      </m:r>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r>
                        <a:rPr kumimoji="1" lang="en-US" altLang="ja-JP" sz="3200" b="0" i="1" smtClean="0">
                          <a:latin typeface="Cambria Math" panose="02040503050406030204" pitchFamily="18" charset="0"/>
                        </a:rPr>
                        <m:t>𝑇</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𝑏</m:t>
                          </m:r>
                        </m:e>
                        <m:sub>
                          <m:r>
                            <a:rPr kumimoji="1" lang="en-US" altLang="ja-JP" sz="3200" i="1">
                              <a:latin typeface="Cambria Math" panose="02040503050406030204" pitchFamily="18" charset="0"/>
                            </a:rPr>
                            <m:t>𝑐𝑎𝑠𝑒</m:t>
                          </m:r>
                        </m:sub>
                      </m:sSub>
                    </m:oMath>
                  </m:oMathPara>
                </a14:m>
                <a:endParaRPr kumimoji="1" lang="en-US" altLang="ja-JP" sz="3200" b="0" i="1" dirty="0"/>
              </a:p>
              <a:p>
                <a:endParaRPr kumimoji="1" lang="ja-JP" altLang="en-US" sz="3200" i="1" dirty="0"/>
              </a:p>
            </p:txBody>
          </p:sp>
        </mc:Choice>
        <mc:Fallback xmlns="">
          <p:sp>
            <p:nvSpPr>
              <p:cNvPr id="39" name="テキスト ボックス 38">
                <a:extLst>
                  <a:ext uri="{FF2B5EF4-FFF2-40B4-BE49-F238E27FC236}">
                    <a16:creationId xmlns:a16="http://schemas.microsoft.com/office/drawing/2014/main" id="{C89755C7-CE55-00F5-650C-D30D48A9F5CB}"/>
                  </a:ext>
                </a:extLst>
              </p:cNvPr>
              <p:cNvSpPr txBox="1">
                <a:spLocks noRot="1" noChangeAspect="1" noMove="1" noResize="1" noEditPoints="1" noAdjustHandles="1" noChangeArrowheads="1" noChangeShapeType="1" noTextEdit="1"/>
              </p:cNvSpPr>
              <p:nvPr/>
            </p:nvSpPr>
            <p:spPr>
              <a:xfrm>
                <a:off x="16227552" y="5285419"/>
                <a:ext cx="3499103" cy="1097993"/>
              </a:xfrm>
              <a:prstGeom prst="rect">
                <a:avLst/>
              </a:prstGeom>
              <a:blipFill>
                <a:blip r:embed="rId5"/>
                <a:stretch>
                  <a:fillRect/>
                </a:stretch>
              </a:blipFill>
            </p:spPr>
            <p:txBody>
              <a:bodyPr/>
              <a:lstStyle/>
              <a:p>
                <a:r>
                  <a:rPr lang="ja-JP" altLang="en-US">
                    <a:noFill/>
                  </a:rPr>
                  <a:t> </a:t>
                </a:r>
              </a:p>
            </p:txBody>
          </p:sp>
        </mc:Fallback>
      </mc:AlternateContent>
      <p:sp>
        <p:nvSpPr>
          <p:cNvPr id="40" name="テキスト ボックス 39">
            <a:extLst>
              <a:ext uri="{FF2B5EF4-FFF2-40B4-BE49-F238E27FC236}">
                <a16:creationId xmlns:a16="http://schemas.microsoft.com/office/drawing/2014/main" id="{8A071E9D-0A17-5410-CA66-EB4C2E4AC8F6}"/>
              </a:ext>
            </a:extLst>
          </p:cNvPr>
          <p:cNvSpPr txBox="1"/>
          <p:nvPr/>
        </p:nvSpPr>
        <p:spPr>
          <a:xfrm>
            <a:off x="914400" y="4611231"/>
            <a:ext cx="3444239" cy="2246769"/>
          </a:xfrm>
          <a:prstGeom prst="rect">
            <a:avLst/>
          </a:prstGeom>
          <a:noFill/>
          <a:ln>
            <a:solidFill>
              <a:schemeClr val="tx2"/>
            </a:solidFill>
          </a:ln>
        </p:spPr>
        <p:txBody>
          <a:bodyPr wrap="square" rtlCol="0">
            <a:spAutoFit/>
          </a:bodyPr>
          <a:lstStyle/>
          <a:p>
            <a:r>
              <a:rPr kumimoji="1" lang="ja-JP" altLang="en-US" sz="2800" dirty="0"/>
              <a:t>• Orbit</a:t>
            </a:r>
            <a:endParaRPr kumimoji="1" lang="en-US" altLang="ja-JP" sz="2800" dirty="0"/>
          </a:p>
          <a:p>
            <a:r>
              <a:rPr kumimoji="1" lang="ja-JP" altLang="en-US" sz="2800" dirty="0"/>
              <a:t>• Attitude</a:t>
            </a:r>
            <a:endParaRPr kumimoji="1" lang="en-US" altLang="ja-JP" sz="2800" dirty="0"/>
          </a:p>
          <a:p>
            <a:r>
              <a:rPr kumimoji="1" lang="ja-JP" altLang="en-US" sz="2800" dirty="0"/>
              <a:t>• Equipment layout</a:t>
            </a:r>
            <a:endParaRPr kumimoji="1" lang="en-US" altLang="ja-JP" sz="2800" dirty="0"/>
          </a:p>
          <a:p>
            <a:r>
              <a:rPr kumimoji="1" lang="ja-JP" altLang="en-US" sz="2800" dirty="0"/>
              <a:t>• Surface properties</a:t>
            </a:r>
            <a:endParaRPr kumimoji="1" lang="en-US" altLang="ja-JP" sz="2800" dirty="0"/>
          </a:p>
          <a:p>
            <a:r>
              <a:rPr kumimoji="1" lang="ja-JP" altLang="en-US" sz="2800" dirty="0"/>
              <a:t>• Dissipation</a:t>
            </a:r>
            <a:endParaRPr kumimoji="1" lang="en-US" altLang="ja-JP" sz="2800" dirty="0"/>
          </a:p>
        </p:txBody>
      </p:sp>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6F7F0EF8-C4CA-F7FC-D1B9-80BBC6B4DBEE}"/>
                  </a:ext>
                </a:extLst>
              </p:cNvPr>
              <p:cNvSpPr txBox="1"/>
              <p:nvPr/>
            </p:nvSpPr>
            <p:spPr>
              <a:xfrm>
                <a:off x="20097212" y="5262967"/>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𝜃</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𝜃</m:t>
                          </m:r>
                        </m:e>
                        <m:sub>
                          <m:r>
                            <a:rPr kumimoji="1" lang="en-US" altLang="ja-JP" sz="3200" b="0" i="1" smtClean="0">
                              <a:latin typeface="Cambria Math" panose="02040503050406030204" pitchFamily="18" charset="0"/>
                            </a:rPr>
                            <m:t>𝑐</m:t>
                          </m:r>
                        </m:sub>
                      </m:sSub>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oMath>
                  </m:oMathPara>
                </a14:m>
                <a:endParaRPr kumimoji="1" lang="en-US" altLang="ja-JP" sz="3200" b="0" i="1" dirty="0"/>
              </a:p>
              <a:p>
                <a:endParaRPr kumimoji="1" lang="ja-JP" altLang="en-US" sz="3200" i="1" dirty="0"/>
              </a:p>
            </p:txBody>
          </p:sp>
        </mc:Choice>
        <mc:Fallback xmlns="">
          <p:sp>
            <p:nvSpPr>
              <p:cNvPr id="46" name="テキスト ボックス 45">
                <a:extLst>
                  <a:ext uri="{FF2B5EF4-FFF2-40B4-BE49-F238E27FC236}">
                    <a16:creationId xmlns:a16="http://schemas.microsoft.com/office/drawing/2014/main" id="{6F7F0EF8-C4CA-F7FC-D1B9-80BBC6B4DBEE}"/>
                  </a:ext>
                </a:extLst>
              </p:cNvPr>
              <p:cNvSpPr txBox="1">
                <a:spLocks noRot="1" noChangeAspect="1" noMove="1" noResize="1" noEditPoints="1" noAdjustHandles="1" noChangeArrowheads="1" noChangeShapeType="1" noTextEdit="1"/>
              </p:cNvSpPr>
              <p:nvPr/>
            </p:nvSpPr>
            <p:spPr>
              <a:xfrm>
                <a:off x="20097212" y="5262967"/>
                <a:ext cx="3499103" cy="1097993"/>
              </a:xfrm>
              <a:prstGeom prst="rect">
                <a:avLst/>
              </a:prstGeom>
              <a:blipFill>
                <a:blip r:embed="rId7"/>
                <a:stretch>
                  <a:fillRect/>
                </a:stretch>
              </a:blipFill>
            </p:spPr>
            <p:txBody>
              <a:bodyPr/>
              <a:lstStyle/>
              <a:p>
                <a:r>
                  <a:rPr lang="ja-JP" altLang="en-US">
                    <a:noFill/>
                  </a:rPr>
                  <a:t> </a:t>
                </a:r>
              </a:p>
            </p:txBody>
          </p:sp>
        </mc:Fallback>
      </mc:AlternateContent>
      <p:pic>
        <p:nvPicPr>
          <p:cNvPr id="30" name="図 29">
            <a:extLst>
              <a:ext uri="{FF2B5EF4-FFF2-40B4-BE49-F238E27FC236}">
                <a16:creationId xmlns:a16="http://schemas.microsoft.com/office/drawing/2014/main" id="{358AC5E1-7ED0-4F63-A640-E1FBA9092487}"/>
              </a:ext>
            </a:extLst>
          </p:cNvPr>
          <p:cNvPicPr>
            <a:picLocks noChangeAspect="1"/>
          </p:cNvPicPr>
          <p:nvPr/>
        </p:nvPicPr>
        <p:blipFill>
          <a:blip r:embed="rId8"/>
          <a:stretch>
            <a:fillRect/>
          </a:stretch>
        </p:blipFill>
        <p:spPr>
          <a:xfrm>
            <a:off x="12581954" y="4507858"/>
            <a:ext cx="2977135" cy="2518710"/>
          </a:xfrm>
          <a:prstGeom prst="rect">
            <a:avLst/>
          </a:prstGeom>
        </p:spPr>
      </p:pic>
      <p:cxnSp>
        <p:nvCxnSpPr>
          <p:cNvPr id="33" name="直線矢印コネクタ 32">
            <a:extLst>
              <a:ext uri="{FF2B5EF4-FFF2-40B4-BE49-F238E27FC236}">
                <a16:creationId xmlns:a16="http://schemas.microsoft.com/office/drawing/2014/main" id="{1DCE9196-C7D7-872B-D045-F82596F94B28}"/>
              </a:ext>
            </a:extLst>
          </p:cNvPr>
          <p:cNvCxnSpPr/>
          <p:nvPr/>
        </p:nvCxnSpPr>
        <p:spPr>
          <a:xfrm>
            <a:off x="4417662"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直線矢印コネクタ 34">
            <a:extLst>
              <a:ext uri="{FF2B5EF4-FFF2-40B4-BE49-F238E27FC236}">
                <a16:creationId xmlns:a16="http://schemas.microsoft.com/office/drawing/2014/main" id="{C3F539BC-335B-005F-652D-A5DDAFB3B955}"/>
              </a:ext>
            </a:extLst>
          </p:cNvPr>
          <p:cNvCxnSpPr/>
          <p:nvPr/>
        </p:nvCxnSpPr>
        <p:spPr>
          <a:xfrm>
            <a:off x="8251886"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直線矢印コネクタ 36">
            <a:extLst>
              <a:ext uri="{FF2B5EF4-FFF2-40B4-BE49-F238E27FC236}">
                <a16:creationId xmlns:a16="http://schemas.microsoft.com/office/drawing/2014/main" id="{8F083C85-1959-4396-1842-E99064584238}"/>
              </a:ext>
            </a:extLst>
          </p:cNvPr>
          <p:cNvCxnSpPr/>
          <p:nvPr/>
        </p:nvCxnSpPr>
        <p:spPr>
          <a:xfrm>
            <a:off x="12098948"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直線矢印コネクタ 37">
            <a:extLst>
              <a:ext uri="{FF2B5EF4-FFF2-40B4-BE49-F238E27FC236}">
                <a16:creationId xmlns:a16="http://schemas.microsoft.com/office/drawing/2014/main" id="{070BA75E-7B73-DCCF-5536-8984CC6E57C7}"/>
              </a:ext>
            </a:extLst>
          </p:cNvPr>
          <p:cNvCxnSpPr/>
          <p:nvPr/>
        </p:nvCxnSpPr>
        <p:spPr>
          <a:xfrm>
            <a:off x="15898367"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直線矢印コネクタ 40">
            <a:extLst>
              <a:ext uri="{FF2B5EF4-FFF2-40B4-BE49-F238E27FC236}">
                <a16:creationId xmlns:a16="http://schemas.microsoft.com/office/drawing/2014/main" id="{E1DEB9D1-AAC3-1A56-67DB-4238E795C90F}"/>
              </a:ext>
            </a:extLst>
          </p:cNvPr>
          <p:cNvCxnSpPr/>
          <p:nvPr/>
        </p:nvCxnSpPr>
        <p:spPr>
          <a:xfrm>
            <a:off x="19726655"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1">
            <a:extLst>
              <a:ext uri="{FF2B5EF4-FFF2-40B4-BE49-F238E27FC236}">
                <a16:creationId xmlns:a16="http://schemas.microsoft.com/office/drawing/2014/main" id="{38DB7F46-25D7-2099-9429-B3FBA207AC94}"/>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ja-JP" altLang="en-US" sz="2000" b="0" dirty="0">
                <a:solidFill>
                  <a:srgbClr val="666F79"/>
                </a:solidFill>
                <a:latin typeface="Yu Gothic"/>
                <a:ea typeface="Yu Gothic"/>
              </a:rPr>
              <a:t>Background</a:t>
            </a:r>
            <a:endParaRPr sz="2000" b="0" dirty="0">
              <a:solidFill>
                <a:srgbClr val="666F79"/>
              </a:solidFill>
              <a:latin typeface="Yu Gothic"/>
              <a:ea typeface="Yu Gothic"/>
            </a:endParaRPr>
          </a:p>
        </p:txBody>
      </p:sp>
    </p:spTree>
    <p:extLst>
      <p:ext uri="{BB962C8B-B14F-4D97-AF65-F5344CB8AC3E}">
        <p14:creationId xmlns:p14="http://schemas.microsoft.com/office/powerpoint/2010/main" val="3432855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97D2E-EE4C-6864-E091-29ED8542D1F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0C65F31-16F0-0F0B-B262-B7B55B1CBEE9}"/>
              </a:ext>
            </a:extLst>
          </p:cNvPr>
          <p:cNvSpPr>
            <a:spLocks noGrp="1"/>
          </p:cNvSpPr>
          <p:nvPr>
            <p:ph type="title"/>
          </p:nvPr>
        </p:nvSpPr>
        <p:spPr/>
        <p:txBody>
          <a:bodyPr>
            <a:normAutofit/>
          </a:bodyPr>
          <a:lstStyle/>
          <a:p>
            <a:r>
              <a:rPr sz="4800" b="0" dirty="0">
                <a:solidFill>
                  <a:srgbClr val="FFFFFF"/>
                </a:solidFill>
                <a:latin typeface="Arial" panose="020B0604020202020204" pitchFamily="34" charset="0"/>
                <a:cs typeface="Arial" panose="020B0604020202020204" pitchFamily="34" charset="0"/>
              </a:rPr>
              <a:t>0</a:t>
            </a:r>
            <a:r>
              <a:rPr lang="en-US" sz="4800" b="0" dirty="0">
                <a:solidFill>
                  <a:srgbClr val="FFFFFF"/>
                </a:solidFill>
                <a:latin typeface="Arial" panose="020B0604020202020204" pitchFamily="34" charset="0"/>
                <a:cs typeface="Arial" panose="020B0604020202020204" pitchFamily="34" charset="0"/>
              </a:rPr>
              <a:t>2</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81A17A4B-80F0-CB64-6693-69D53F63BF1C}"/>
              </a:ext>
            </a:extLst>
          </p:cNvPr>
          <p:cNvSpPr>
            <a:spLocks noGrp="1"/>
          </p:cNvSpPr>
          <p:nvPr>
            <p:ph type="body" idx="1"/>
          </p:nvPr>
        </p:nvSpPr>
        <p:spPr/>
        <p:txBody>
          <a:bodyPr>
            <a:normAutofit/>
          </a:bodyPr>
          <a:lstStyle/>
          <a:p>
            <a:r>
              <a:rPr lang="en-US" altLang="ja-JP" sz="4800" b="1" dirty="0">
                <a:solidFill>
                  <a:srgbClr val="FFFFFF"/>
                </a:solidFill>
                <a:latin typeface="+mj-lt"/>
                <a:cs typeface="Arial" panose="020B0604020202020204" pitchFamily="34" charset="0"/>
              </a:rPr>
              <a:t>Thermoelastic Analysis</a:t>
            </a:r>
            <a:endParaRPr sz="4800" b="1" dirty="0">
              <a:solidFill>
                <a:srgbClr val="FFFFFF"/>
              </a:solidFill>
              <a:latin typeface="+mj-lt"/>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242C795B-7F6C-CF95-3769-F196E7D33204}"/>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157091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dirty="0" err="1">
                <a:solidFill>
                  <a:srgbClr val="666F79"/>
                </a:solidFill>
                <a:latin typeface="Yu Gothic"/>
                <a:ea typeface="Yu Gothic"/>
              </a:rPr>
              <a:t>Thermoelastic analysis</a:t>
            </a:r>
            <a:endParaRPr sz="2000" b="0" dirty="0">
              <a:solidFill>
                <a:srgbClr val="666F79"/>
              </a:solidFill>
              <a:latin typeface="Yu Gothic"/>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We evaluate a box-structure LEO spacecraft with the STT and LCT on different panels</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dirty="0">
                <a:solidFill>
                  <a:srgbClr val="666F79"/>
                </a:solidFill>
                <a:latin typeface="Yu Gothic"/>
                <a:ea typeface="Yu Gothic"/>
              </a:rPr>
              <a:t>7</a:t>
            </a:r>
            <a:endParaRPr sz="1800" b="0" dirty="0">
              <a:solidFill>
                <a:srgbClr val="666F79"/>
              </a:solidFill>
              <a:latin typeface="Yu Gothic"/>
              <a:ea typeface="Yu Gothic"/>
            </a:endParaRPr>
          </a:p>
        </p:txBody>
      </p:sp>
      <p:graphicFrame>
        <p:nvGraphicFramePr>
          <p:cNvPr id="12" name="Table 11"/>
          <p:cNvGraphicFramePr>
            <a:graphicFrameLocks noGrp="1"/>
          </p:cNvGraphicFramePr>
          <p:nvPr>
            <p:extLst>
              <p:ext uri="{D42A27DB-BD31-4B8C-83A1-F6EECF244321}">
                <p14:modId xmlns:p14="http://schemas.microsoft.com/office/powerpoint/2010/main" val="3032678763"/>
              </p:ext>
            </p:extLst>
          </p:nvPr>
        </p:nvGraphicFramePr>
        <p:xfrm>
          <a:off x="17411701" y="3764280"/>
          <a:ext cx="6362700" cy="7193514"/>
        </p:xfrm>
        <a:graphic>
          <a:graphicData uri="http://schemas.openxmlformats.org/drawingml/2006/table">
            <a:tbl>
              <a:tblPr firstRow="1" bandRow="1">
                <a:tableStyleId>{5C22544A-7EE6-4342-B048-85BDC9FD1C3A}</a:tableStyleId>
              </a:tblPr>
              <a:tblGrid>
                <a:gridCol w="2261123">
                  <a:extLst>
                    <a:ext uri="{9D8B030D-6E8A-4147-A177-3AD203B41FA5}">
                      <a16:colId xmlns:a16="http://schemas.microsoft.com/office/drawing/2014/main" val="20000"/>
                    </a:ext>
                  </a:extLst>
                </a:gridCol>
                <a:gridCol w="4101577">
                  <a:extLst>
                    <a:ext uri="{9D8B030D-6E8A-4147-A177-3AD203B41FA5}">
                      <a16:colId xmlns:a16="http://schemas.microsoft.com/office/drawing/2014/main" val="20001"/>
                    </a:ext>
                  </a:extLst>
                </a:gridCol>
              </a:tblGrid>
              <a:tr h="1198919">
                <a:tc>
                  <a:txBody>
                    <a:bodyPr/>
                    <a:lstStyle/>
                    <a:p>
                      <a:pPr algn="l">
                        <a:spcAft>
                          <a:spcPts val="0"/>
                        </a:spcAft>
                      </a:pPr>
                      <a:r>
                        <a:rPr sz="2300" b="1">
                          <a:solidFill>
                            <a:srgbClr val="FFFFFF"/>
                          </a:solidFill>
                          <a:latin typeface="Yu Gothic"/>
                          <a:ea typeface="Yu Gothic"/>
                        </a:rPr>
                        <a:t>Item</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198919">
                <a:tc>
                  <a:txBody>
                    <a:bodyPr/>
                    <a:lstStyle/>
                    <a:p>
                      <a:pPr algn="l">
                        <a:spcAft>
                          <a:spcPts val="0"/>
                        </a:spcAft>
                      </a:pPr>
                      <a:r>
                        <a:rPr sz="2300" b="0">
                          <a:solidFill>
                            <a:srgbClr val="232B34"/>
                          </a:solidFill>
                          <a:latin typeface="Yu Gothic"/>
                          <a:ea typeface="Yu Gothic"/>
                        </a:rPr>
                        <a:t>Bus dimensions</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590 × 600 × 990 mm</a:t>
                      </a:r>
                    </a:p>
                  </a:txBody>
                  <a:tcPr marL="64008" marR="64008" marT="27432" marB="27432" anchor="ctr">
                    <a:solidFill>
                      <a:srgbClr val="EBF6FB"/>
                    </a:solidFill>
                  </a:tcPr>
                </a:tc>
                <a:extLst>
                  <a:ext uri="{0D108BD9-81ED-4DB2-BD59-A6C34878D82A}">
                    <a16:rowId xmlns:a16="http://schemas.microsoft.com/office/drawing/2014/main" val="10001"/>
                  </a:ext>
                </a:extLst>
              </a:tr>
              <a:tr h="1198919">
                <a:tc>
                  <a:txBody>
                    <a:bodyPr/>
                    <a:lstStyle/>
                    <a:p>
                      <a:pPr algn="l">
                        <a:spcAft>
                          <a:spcPts val="0"/>
                        </a:spcAft>
                      </a:pPr>
                      <a:r>
                        <a:rPr sz="2300" b="0">
                          <a:solidFill>
                            <a:srgbClr val="232B34"/>
                          </a:solidFill>
                          <a:latin typeface="Yu Gothic"/>
                          <a:ea typeface="Yu Gothic"/>
                        </a:rPr>
                        <a:t>Panels</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10-mm-thick shell elements</a:t>
                      </a:r>
                    </a:p>
                  </a:txBody>
                  <a:tcPr marL="64008" marR="64008" marT="27432" marB="27432" anchor="ctr">
                    <a:solidFill>
                      <a:srgbClr val="EBF6FB"/>
                    </a:solidFill>
                  </a:tcPr>
                </a:tc>
                <a:extLst>
                  <a:ext uri="{0D108BD9-81ED-4DB2-BD59-A6C34878D82A}">
                    <a16:rowId xmlns:a16="http://schemas.microsoft.com/office/drawing/2014/main" val="10002"/>
                  </a:ext>
                </a:extLst>
              </a:tr>
              <a:tr h="1198919">
                <a:tc>
                  <a:txBody>
                    <a:bodyPr/>
                    <a:lstStyle/>
                    <a:p>
                      <a:pPr algn="l">
                        <a:spcAft>
                          <a:spcPts val="0"/>
                        </a:spcAft>
                      </a:pPr>
                      <a:r>
                        <a:rPr sz="2300" b="0">
                          <a:solidFill>
                            <a:srgbClr val="232B34"/>
                          </a:solidFill>
                          <a:latin typeface="Yu Gothic"/>
                          <a:ea typeface="Yu Gothic"/>
                        </a:rPr>
                        <a:t>Material</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A5052</a:t>
                      </a:r>
                    </a:p>
                  </a:txBody>
                  <a:tcPr marL="64008" marR="64008" marT="27432" marB="27432" anchor="ctr">
                    <a:solidFill>
                      <a:srgbClr val="EBF6FB"/>
                    </a:solidFill>
                  </a:tcPr>
                </a:tc>
                <a:extLst>
                  <a:ext uri="{0D108BD9-81ED-4DB2-BD59-A6C34878D82A}">
                    <a16:rowId xmlns:a16="http://schemas.microsoft.com/office/drawing/2014/main" val="10003"/>
                  </a:ext>
                </a:extLst>
              </a:tr>
              <a:tr h="1198919">
                <a:tc>
                  <a:txBody>
                    <a:bodyPr/>
                    <a:lstStyle/>
                    <a:p>
                      <a:pPr algn="l">
                        <a:spcAft>
                          <a:spcPts val="0"/>
                        </a:spcAft>
                      </a:pPr>
                      <a:r>
                        <a:rPr sz="2300" b="0">
                          <a:solidFill>
                            <a:srgbClr val="232B34"/>
                          </a:solidFill>
                          <a:latin typeface="Yu Gothic"/>
                          <a:ea typeface="Yu Gothic"/>
                        </a:rPr>
                        <a:t>LCT</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Center of MZ panel</a:t>
                      </a:r>
                    </a:p>
                  </a:txBody>
                  <a:tcPr marL="64008" marR="64008" marT="27432" marB="27432" anchor="ctr">
                    <a:solidFill>
                      <a:srgbClr val="EBF6FB"/>
                    </a:solidFill>
                  </a:tcPr>
                </a:tc>
                <a:extLst>
                  <a:ext uri="{0D108BD9-81ED-4DB2-BD59-A6C34878D82A}">
                    <a16:rowId xmlns:a16="http://schemas.microsoft.com/office/drawing/2014/main" val="10004"/>
                  </a:ext>
                </a:extLst>
              </a:tr>
              <a:tr h="1198919">
                <a:tc>
                  <a:txBody>
                    <a:bodyPr/>
                    <a:lstStyle/>
                    <a:p>
                      <a:pPr algn="l">
                        <a:spcAft>
                          <a:spcPts val="0"/>
                        </a:spcAft>
                      </a:pPr>
                      <a:r>
                        <a:rPr sz="2300" b="0">
                          <a:solidFill>
                            <a:srgbClr val="232B34"/>
                          </a:solidFill>
                          <a:latin typeface="Yu Gothic"/>
                          <a:ea typeface="Yu Gothic"/>
                        </a:rPr>
                        <a:t>STT</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Center of PZ panel</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13" name="TextBox 12"/>
          <p:cNvSpPr txBox="1"/>
          <p:nvPr/>
        </p:nvSpPr>
        <p:spPr>
          <a:xfrm>
            <a:off x="16824960" y="11430000"/>
            <a:ext cx="6949440" cy="1371600"/>
          </a:xfrm>
          <a:prstGeom prst="rect">
            <a:avLst/>
          </a:prstGeom>
          <a:noFill/>
        </p:spPr>
        <p:txBody>
          <a:bodyPr wrap="square" lIns="36576" tIns="27432" rIns="36576" bIns="27432" anchor="t">
            <a:spAutoFit/>
          </a:bodyPr>
          <a:lstStyle/>
          <a:p>
            <a:pPr>
              <a:lnSpc>
                <a:spcPct val="115000"/>
              </a:lnSpc>
              <a:spcAft>
                <a:spcPts val="0"/>
              </a:spcAft>
            </a:pPr>
            <a:r>
              <a:rPr sz="2400" b="1">
                <a:solidFill>
                  <a:srgbClr val="082B52"/>
                </a:solidFill>
                <a:latin typeface="Yu Gothic"/>
                <a:ea typeface="Yu Gothic"/>
              </a:rPr>
              <a:t>Not a specific-spacecraft design review.</a:t>
            </a:r>
            <a:endParaRPr lang="en-US" altLang="ja-JP" sz="3200" b="1" dirty="0">
              <a:solidFill>
                <a:srgbClr val="082B52"/>
              </a:solidFill>
              <a:latin typeface="Yu Gothic"/>
            </a:endParaRPr>
          </a:p>
          <a:p>
            <a:pPr>
              <a:lnSpc>
                <a:spcPct val="115000"/>
              </a:lnSpc>
              <a:spcAft>
                <a:spcPts val="0"/>
              </a:spcAft>
            </a:pPr>
            <a:r>
              <a:rPr sz="2400" b="1">
                <a:solidFill>
                  <a:srgbClr val="082B52"/>
                </a:solidFill>
                <a:latin typeface="Yu Gothic"/>
                <a:ea typeface="Yu Gothic"/>
              </a:rPr>
              <a:t>Fixed structure; sun face and dissipation vary.</a:t>
            </a:r>
          </a:p>
        </p:txBody>
      </p:sp>
      <p:pic>
        <p:nvPicPr>
          <p:cNvPr id="17" name="図 16">
            <a:extLst>
              <a:ext uri="{FF2B5EF4-FFF2-40B4-BE49-F238E27FC236}">
                <a16:creationId xmlns:a16="http://schemas.microsoft.com/office/drawing/2014/main" id="{CCEF93ED-B9FC-B970-0B05-59AC1CDB4FC7}"/>
              </a:ext>
            </a:extLst>
          </p:cNvPr>
          <p:cNvPicPr>
            <a:picLocks noChangeAspect="1"/>
          </p:cNvPicPr>
          <p:nvPr/>
        </p:nvPicPr>
        <p:blipFill>
          <a:blip r:embed="rId3"/>
          <a:stretch>
            <a:fillRect/>
          </a:stretch>
        </p:blipFill>
        <p:spPr>
          <a:xfrm>
            <a:off x="1141093" y="3764280"/>
            <a:ext cx="4377691" cy="6995395"/>
          </a:xfrm>
          <a:prstGeom prst="rect">
            <a:avLst/>
          </a:prstGeom>
        </p:spPr>
      </p:pic>
      <p:sp>
        <p:nvSpPr>
          <p:cNvPr id="18" name="TextBox 6"/>
          <p:cNvSpPr txBox="1"/>
          <p:nvPr/>
        </p:nvSpPr>
        <p:spPr>
          <a:xfrm>
            <a:off x="2646962" y="3261360"/>
            <a:ext cx="1274516" cy="424732"/>
          </a:xfrm>
          <a:prstGeom prst="rect">
            <a:avLst/>
          </a:prstGeom>
          <a:noFill/>
        </p:spPr>
        <p:txBody>
          <a:bodyPr wrap="none" lIns="36576" tIns="27432" rIns="36576" bIns="27432" anchor="t">
            <a:spAutoFit/>
          </a:bodyPr>
          <a:lstStyle/>
          <a:p>
            <a:pPr algn="ctr"/>
            <a:r>
              <a:rPr sz="2400" b="1">
                <a:solidFill>
                  <a:srgbClr val="FF0000"/>
                </a:solidFill>
                <a:latin typeface="Yu Gothic"/>
              </a:rPr>
              <a:t>PZ: STT</a:t>
            </a:r>
          </a:p>
        </p:txBody>
      </p:sp>
      <p:sp>
        <p:nvSpPr>
          <p:cNvPr id="19" name="TextBox 7"/>
          <p:cNvSpPr txBox="1"/>
          <p:nvPr/>
        </p:nvSpPr>
        <p:spPr>
          <a:xfrm>
            <a:off x="2729050" y="10894945"/>
            <a:ext cx="1468479" cy="455509"/>
          </a:xfrm>
          <a:prstGeom prst="rect">
            <a:avLst/>
          </a:prstGeom>
          <a:noFill/>
        </p:spPr>
        <p:txBody>
          <a:bodyPr wrap="none" lIns="36576" tIns="27432" rIns="36576" bIns="27432" anchor="t">
            <a:spAutoFit/>
          </a:bodyPr>
          <a:lstStyle/>
          <a:p>
            <a:pPr algn="ctr"/>
            <a:r>
              <a:rPr sz="2600" b="1" dirty="0">
                <a:solidFill>
                  <a:srgbClr val="082B52"/>
                </a:solidFill>
                <a:latin typeface="Yu Gothic"/>
              </a:rPr>
              <a:t>MZ: LCT</a:t>
            </a:r>
          </a:p>
        </p:txBody>
      </p:sp>
      <p:sp>
        <p:nvSpPr>
          <p:cNvPr id="20" name="TextBox 8"/>
          <p:cNvSpPr txBox="1"/>
          <p:nvPr/>
        </p:nvSpPr>
        <p:spPr>
          <a:xfrm>
            <a:off x="3507104" y="5259118"/>
            <a:ext cx="2011680" cy="457200"/>
          </a:xfrm>
          <a:prstGeom prst="rect">
            <a:avLst/>
          </a:prstGeom>
          <a:noFill/>
        </p:spPr>
        <p:txBody>
          <a:bodyPr wrap="none" lIns="36576" tIns="27432" rIns="36576" bIns="27432" anchor="t">
            <a:spAutoFit/>
          </a:bodyPr>
          <a:lstStyle/>
          <a:p>
            <a:pPr algn="l"/>
            <a:r>
              <a:rPr sz="2200" b="1" dirty="0">
                <a:solidFill>
                  <a:srgbClr val="EC9427"/>
                </a:solidFill>
                <a:latin typeface="Yu Gothic"/>
              </a:rPr>
              <a:t>MY: PCDU</a:t>
            </a:r>
          </a:p>
        </p:txBody>
      </p:sp>
      <p:sp>
        <p:nvSpPr>
          <p:cNvPr id="21" name="TextBox 9"/>
          <p:cNvSpPr txBox="1"/>
          <p:nvPr/>
        </p:nvSpPr>
        <p:spPr>
          <a:xfrm>
            <a:off x="1929554" y="8298180"/>
            <a:ext cx="1434816" cy="393954"/>
          </a:xfrm>
          <a:prstGeom prst="rect">
            <a:avLst/>
          </a:prstGeom>
          <a:noFill/>
        </p:spPr>
        <p:txBody>
          <a:bodyPr wrap="none" lIns="36576" tIns="27432" rIns="36576" bIns="27432" anchor="t">
            <a:spAutoFit/>
          </a:bodyPr>
          <a:lstStyle/>
          <a:p>
            <a:pPr algn="l"/>
            <a:r>
              <a:rPr sz="2200" b="1" dirty="0">
                <a:solidFill>
                  <a:srgbClr val="EF25D7"/>
                </a:solidFill>
                <a:latin typeface="Yu Gothic"/>
              </a:rPr>
              <a:t>PY: PROP</a:t>
            </a:r>
          </a:p>
        </p:txBody>
      </p:sp>
      <p:sp>
        <p:nvSpPr>
          <p:cNvPr id="24" name="テキスト ボックス 23">
            <a:extLst>
              <a:ext uri="{FF2B5EF4-FFF2-40B4-BE49-F238E27FC236}">
                <a16:creationId xmlns:a16="http://schemas.microsoft.com/office/drawing/2014/main" id="{59F82260-522D-6761-0595-3DE00DE7B20B}"/>
              </a:ext>
            </a:extLst>
          </p:cNvPr>
          <p:cNvSpPr txBox="1"/>
          <p:nvPr/>
        </p:nvSpPr>
        <p:spPr>
          <a:xfrm>
            <a:off x="3921478" y="11736067"/>
            <a:ext cx="3027363" cy="892552"/>
          </a:xfrm>
          <a:prstGeom prst="rect">
            <a:avLst/>
          </a:prstGeom>
          <a:noFill/>
        </p:spPr>
        <p:txBody>
          <a:bodyPr wrap="square">
            <a:spAutoFit/>
          </a:bodyPr>
          <a:lstStyle/>
          <a:p>
            <a:pPr>
              <a:spcAft>
                <a:spcPts val="0"/>
              </a:spcAft>
            </a:pPr>
            <a:r>
              <a:rPr sz="2300" b="1">
                <a:solidFill>
                  <a:srgbClr val="232B34"/>
                </a:solidFill>
                <a:latin typeface="Yu Gothic"/>
                <a:ea typeface="Yu Gothic"/>
              </a:rPr>
              <a:t>LOS</a:t>
            </a:r>
          </a:p>
          <a:p>
            <a:pPr>
              <a:spcAft>
                <a:spcPts val="0"/>
              </a:spcAft>
            </a:pPr>
            <a:r>
              <a:rPr sz="2300" b="1">
                <a:solidFill>
                  <a:srgbClr val="232B34"/>
                </a:solidFill>
                <a:latin typeface="Yu Gothic"/>
                <a:ea typeface="Yu Gothic"/>
              </a:rPr>
              <a:t>Boresight ≈ −Z</a:t>
            </a:r>
          </a:p>
        </p:txBody>
      </p:sp>
      <p:sp>
        <p:nvSpPr>
          <p:cNvPr id="27" name="矢印: 下 26">
            <a:extLst>
              <a:ext uri="{FF2B5EF4-FFF2-40B4-BE49-F238E27FC236}">
                <a16:creationId xmlns:a16="http://schemas.microsoft.com/office/drawing/2014/main" id="{3ABEA4DE-C3B5-7BEA-4021-0D8E1D0BB0E3}"/>
              </a:ext>
            </a:extLst>
          </p:cNvPr>
          <p:cNvSpPr/>
          <p:nvPr/>
        </p:nvSpPr>
        <p:spPr>
          <a:xfrm>
            <a:off x="2893199" y="11612814"/>
            <a:ext cx="873478" cy="1123188"/>
          </a:xfrm>
          <a:prstGeom prst="down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9" name="図 28">
            <a:extLst>
              <a:ext uri="{FF2B5EF4-FFF2-40B4-BE49-F238E27FC236}">
                <a16:creationId xmlns:a16="http://schemas.microsoft.com/office/drawing/2014/main" id="{757886C6-D7F5-0F38-ACF6-8EA5310D4B71}"/>
              </a:ext>
            </a:extLst>
          </p:cNvPr>
          <p:cNvPicPr>
            <a:picLocks noChangeAspect="1"/>
          </p:cNvPicPr>
          <p:nvPr/>
        </p:nvPicPr>
        <p:blipFill>
          <a:blip r:embed="rId4"/>
          <a:stretch>
            <a:fillRect/>
          </a:stretch>
        </p:blipFill>
        <p:spPr>
          <a:xfrm>
            <a:off x="5745235" y="3766102"/>
            <a:ext cx="4658580" cy="6944390"/>
          </a:xfrm>
          <a:prstGeom prst="rect">
            <a:avLst/>
          </a:prstGeom>
        </p:spPr>
      </p:pic>
      <p:pic>
        <p:nvPicPr>
          <p:cNvPr id="31" name="図 30">
            <a:extLst>
              <a:ext uri="{FF2B5EF4-FFF2-40B4-BE49-F238E27FC236}">
                <a16:creationId xmlns:a16="http://schemas.microsoft.com/office/drawing/2014/main" id="{02DA67B2-8B68-27F3-69F6-53903FB72656}"/>
              </a:ext>
            </a:extLst>
          </p:cNvPr>
          <p:cNvPicPr>
            <a:picLocks noChangeAspect="1"/>
          </p:cNvPicPr>
          <p:nvPr/>
        </p:nvPicPr>
        <p:blipFill>
          <a:blip r:embed="rId5"/>
          <a:stretch>
            <a:fillRect/>
          </a:stretch>
        </p:blipFill>
        <p:spPr>
          <a:xfrm>
            <a:off x="10768621" y="3764280"/>
            <a:ext cx="5428009" cy="6395069"/>
          </a:xfrm>
          <a:prstGeom prst="rect">
            <a:avLst/>
          </a:prstGeom>
        </p:spPr>
      </p:pic>
      <p:sp>
        <p:nvSpPr>
          <p:cNvPr id="32" name="テキスト ボックス 31">
            <a:extLst>
              <a:ext uri="{FF2B5EF4-FFF2-40B4-BE49-F238E27FC236}">
                <a16:creationId xmlns:a16="http://schemas.microsoft.com/office/drawing/2014/main" id="{8598F395-2105-83B7-C6FD-2BE0EC3D3A1F}"/>
              </a:ext>
            </a:extLst>
          </p:cNvPr>
          <p:cNvSpPr txBox="1"/>
          <p:nvPr/>
        </p:nvSpPr>
        <p:spPr>
          <a:xfrm>
            <a:off x="7569857" y="3275705"/>
            <a:ext cx="3202915" cy="523220"/>
          </a:xfrm>
          <a:prstGeom prst="rect">
            <a:avLst/>
          </a:prstGeom>
          <a:noFill/>
        </p:spPr>
        <p:txBody>
          <a:bodyPr wrap="square" rtlCol="0">
            <a:spAutoFit/>
          </a:bodyPr>
          <a:lstStyle/>
          <a:p>
            <a:r>
              <a:rPr kumimoji="1" lang="en-US" altLang="ja-JP" sz="2800" dirty="0"/>
              <a:t>Thermal Desktop</a:t>
            </a:r>
            <a:endParaRPr kumimoji="1" lang="ja-JP" altLang="en-US" sz="2800" dirty="0"/>
          </a:p>
        </p:txBody>
      </p:sp>
      <p:sp>
        <p:nvSpPr>
          <p:cNvPr id="34" name="テキスト ボックス 33">
            <a:extLst>
              <a:ext uri="{FF2B5EF4-FFF2-40B4-BE49-F238E27FC236}">
                <a16:creationId xmlns:a16="http://schemas.microsoft.com/office/drawing/2014/main" id="{A6373989-AC26-4AC6-D467-74D9A3AB9AD8}"/>
              </a:ext>
            </a:extLst>
          </p:cNvPr>
          <p:cNvSpPr txBox="1"/>
          <p:nvPr/>
        </p:nvSpPr>
        <p:spPr>
          <a:xfrm>
            <a:off x="14922114" y="3275705"/>
            <a:ext cx="1274516" cy="523220"/>
          </a:xfrm>
          <a:prstGeom prst="rect">
            <a:avLst/>
          </a:prstGeom>
          <a:noFill/>
        </p:spPr>
        <p:txBody>
          <a:bodyPr wrap="square" rtlCol="0">
            <a:spAutoFit/>
          </a:bodyPr>
          <a:lstStyle/>
          <a:p>
            <a:r>
              <a:rPr kumimoji="1" lang="en-US" altLang="ja-JP" sz="2800" dirty="0"/>
              <a:t>Femap</a:t>
            </a:r>
            <a:endParaRPr kumimoji="1" lang="ja-JP" altLang="en-US" sz="2800" dirty="0"/>
          </a:p>
        </p:txBody>
      </p:sp>
      <p:sp>
        <p:nvSpPr>
          <p:cNvPr id="36" name="テキスト ボックス 35">
            <a:extLst>
              <a:ext uri="{FF2B5EF4-FFF2-40B4-BE49-F238E27FC236}">
                <a16:creationId xmlns:a16="http://schemas.microsoft.com/office/drawing/2014/main" id="{674E08F0-D963-68BA-D4B8-F9D37A3BD261}"/>
              </a:ext>
            </a:extLst>
          </p:cNvPr>
          <p:cNvSpPr txBox="1"/>
          <p:nvPr/>
        </p:nvSpPr>
        <p:spPr>
          <a:xfrm>
            <a:off x="17410176" y="3154680"/>
            <a:ext cx="6364224"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Main analysis-model settings</a:t>
            </a:r>
            <a:endParaRPr kumimoji="1" lang="ja-JP" altLang="en-US" sz="2800" dirty="0"/>
          </a:p>
        </p:txBody>
      </p:sp>
    </p:spTree>
    <p:extLst>
      <p:ext uri="{BB962C8B-B14F-4D97-AF65-F5344CB8AC3E}">
        <p14:creationId xmlns:p14="http://schemas.microsoft.com/office/powerpoint/2010/main" val="236690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Thermal Desktop generates temperature-field time series from orbit, attitude, surface, and dissipation inputs</a:t>
            </a:r>
            <a:endParaRPr lang="en-US" sz="3200" b="1" dirty="0">
              <a:solidFill>
                <a:srgbClr val="082B52"/>
              </a:solidFill>
              <a:latin typeface="Yu Gothic"/>
            </a:endParaRPr>
          </a:p>
        </p:txBody>
      </p:sp>
      <p:sp>
        <p:nvSpPr>
          <p:cNvPr id="4" name="TextBox 3"/>
          <p:cNvSpPr txBox="1"/>
          <p:nvPr/>
        </p:nvSpPr>
        <p:spPr>
          <a:xfrm>
            <a:off x="2346310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8</a:t>
            </a:r>
            <a:endParaRPr sz="1800" b="0" dirty="0">
              <a:solidFill>
                <a:srgbClr val="666F79"/>
              </a:solidFill>
              <a:latin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215911599"/>
              </p:ext>
            </p:extLst>
          </p:nvPr>
        </p:nvGraphicFramePr>
        <p:xfrm>
          <a:off x="1339533" y="3597098"/>
          <a:ext cx="10789920" cy="825573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1031965">
                <a:tc>
                  <a:txBody>
                    <a:bodyPr/>
                    <a:lstStyle/>
                    <a:p>
                      <a:pPr algn="l">
                        <a:spcAft>
                          <a:spcPts val="0"/>
                        </a:spcAft>
                      </a:pPr>
                      <a:r>
                        <a:rPr sz="2300" b="1">
                          <a:solidFill>
                            <a:srgbClr val="FFFFFF"/>
                          </a:solidFill>
                          <a:latin typeface="Yu Gothic"/>
                          <a:ea typeface="Yu Gothic"/>
                        </a:rPr>
                        <a:t>Input</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031965">
                <a:tc>
                  <a:txBody>
                    <a:bodyPr/>
                    <a:lstStyle/>
                    <a:p>
                      <a:pPr algn="l">
                        <a:spcAft>
                          <a:spcPts val="0"/>
                        </a:spcAft>
                      </a:pPr>
                      <a:r>
                        <a:rPr sz="2300" b="0">
                          <a:solidFill>
                            <a:srgbClr val="232B34"/>
                          </a:solidFill>
                          <a:latin typeface="Yu Gothic"/>
                          <a:ea typeface="Yu Gothic"/>
                        </a:rPr>
                        <a:t>Orbit</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Sun-synchronous, LTAN06 / 800 km / COLD</a:t>
                      </a:r>
                    </a:p>
                  </a:txBody>
                  <a:tcPr marL="64008" marR="64008" marT="27432" marB="27432" anchor="ctr">
                    <a:solidFill>
                      <a:srgbClr val="EBF6FB"/>
                    </a:solidFill>
                  </a:tcPr>
                </a:tc>
                <a:extLst>
                  <a:ext uri="{0D108BD9-81ED-4DB2-BD59-A6C34878D82A}">
                    <a16:rowId xmlns:a16="http://schemas.microsoft.com/office/drawing/2014/main" val="10001"/>
                  </a:ext>
                </a:extLst>
              </a:tr>
              <a:tr h="1031965">
                <a:tc>
                  <a:txBody>
                    <a:bodyPr/>
                    <a:lstStyle/>
                    <a:p>
                      <a:pPr algn="l">
                        <a:spcAft>
                          <a:spcPts val="0"/>
                        </a:spcAft>
                      </a:pPr>
                      <a:r>
                        <a:rPr sz="2300" b="0">
                          <a:solidFill>
                            <a:srgbClr val="232B34"/>
                          </a:solidFill>
                          <a:latin typeface="Yu Gothic"/>
                          <a:ea typeface="Yu Gothic"/>
                        </a:rPr>
                        <a:t>Period</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≈6050 s (≈101 min)</a:t>
                      </a:r>
                    </a:p>
                  </a:txBody>
                  <a:tcPr marL="64008" marR="64008" marT="27432" marB="27432" anchor="ctr">
                    <a:solidFill>
                      <a:srgbClr val="EBF6FB"/>
                    </a:solidFill>
                  </a:tcPr>
                </a:tc>
                <a:extLst>
                  <a:ext uri="{0D108BD9-81ED-4DB2-BD59-A6C34878D82A}">
                    <a16:rowId xmlns:a16="http://schemas.microsoft.com/office/drawing/2014/main" val="10002"/>
                  </a:ext>
                </a:extLst>
              </a:tr>
              <a:tr h="1031965">
                <a:tc>
                  <a:txBody>
                    <a:bodyPr/>
                    <a:lstStyle/>
                    <a:p>
                      <a:pPr algn="l">
                        <a:spcAft>
                          <a:spcPts val="0"/>
                        </a:spcAft>
                      </a:pPr>
                      <a:r>
                        <a:rPr sz="2300" b="0">
                          <a:solidFill>
                            <a:srgbClr val="232B34"/>
                          </a:solidFill>
                          <a:latin typeface="Yu Gothic"/>
                          <a:ea typeface="Yu Gothic"/>
                        </a:rPr>
                        <a:t>Analysis duration</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≈18,157 s (3 orbits)</a:t>
                      </a:r>
                    </a:p>
                  </a:txBody>
                  <a:tcPr marL="64008" marR="64008" marT="27432" marB="27432" anchor="ctr">
                    <a:solidFill>
                      <a:srgbClr val="EBF6FB"/>
                    </a:solidFill>
                  </a:tcPr>
                </a:tc>
                <a:extLst>
                  <a:ext uri="{0D108BD9-81ED-4DB2-BD59-A6C34878D82A}">
                    <a16:rowId xmlns:a16="http://schemas.microsoft.com/office/drawing/2014/main" val="10003"/>
                  </a:ext>
                </a:extLst>
              </a:tr>
              <a:tr h="1031965">
                <a:tc>
                  <a:txBody>
                    <a:bodyPr/>
                    <a:lstStyle/>
                    <a:p>
                      <a:pPr algn="l">
                        <a:spcAft>
                          <a:spcPts val="0"/>
                        </a:spcAft>
                      </a:pPr>
                      <a:r>
                        <a:rPr sz="2300" b="0">
                          <a:solidFill>
                            <a:srgbClr val="232B34"/>
                          </a:solidFill>
                          <a:latin typeface="Yu Gothic"/>
                          <a:ea typeface="Yu Gothic"/>
                        </a:rPr>
                        <a:t>Sampling</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Every ≈60.5 s, 301 points</a:t>
                      </a:r>
                    </a:p>
                  </a:txBody>
                  <a:tcPr marL="64008" marR="64008" marT="27432" marB="27432" anchor="ctr">
                    <a:solidFill>
                      <a:srgbClr val="EBF6FB"/>
                    </a:solidFill>
                  </a:tcPr>
                </a:tc>
                <a:extLst>
                  <a:ext uri="{0D108BD9-81ED-4DB2-BD59-A6C34878D82A}">
                    <a16:rowId xmlns:a16="http://schemas.microsoft.com/office/drawing/2014/main" val="10004"/>
                  </a:ext>
                </a:extLst>
              </a:tr>
              <a:tr h="1031965">
                <a:tc>
                  <a:txBody>
                    <a:bodyPr/>
                    <a:lstStyle/>
                    <a:p>
                      <a:pPr algn="l">
                        <a:spcAft>
                          <a:spcPts val="0"/>
                        </a:spcAft>
                      </a:pPr>
                      <a:r>
                        <a:rPr sz="2300" b="0">
                          <a:solidFill>
                            <a:srgbClr val="232B34"/>
                          </a:solidFill>
                          <a:latin typeface="Yu Gothic"/>
                          <a:ea typeface="Yu Gothic"/>
                        </a:rPr>
                        <a:t>Illumination</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Eclipse / continuous illumination</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1031970">
                <a:tc>
                  <a:txBody>
                    <a:bodyPr/>
                    <a:lstStyle/>
                    <a:p>
                      <a:pPr algn="l">
                        <a:spcAft>
                          <a:spcPts val="0"/>
                        </a:spcAft>
                      </a:pPr>
                      <a:r>
                        <a:rPr sz="2300" b="0">
                          <a:solidFill>
                            <a:srgbClr val="232B34"/>
                          </a:solidFill>
                          <a:latin typeface="Yu Gothic"/>
                          <a:ea typeface="Yu Gothic"/>
                        </a:rPr>
                        <a:t>Sun face</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MX / MY / PX / PY</a:t>
                      </a:r>
                    </a:p>
                  </a:txBody>
                  <a:tcPr marL="64008" marR="64008" marT="27432" marB="27432" anchor="ctr">
                    <a:solidFill>
                      <a:srgbClr val="EBF6FB"/>
                    </a:solidFill>
                  </a:tcPr>
                </a:tc>
                <a:extLst>
                  <a:ext uri="{0D108BD9-81ED-4DB2-BD59-A6C34878D82A}">
                    <a16:rowId xmlns:a16="http://schemas.microsoft.com/office/drawing/2014/main" val="10006"/>
                  </a:ext>
                </a:extLst>
              </a:tr>
              <a:tr h="1031970">
                <a:tc>
                  <a:txBody>
                    <a:bodyPr/>
                    <a:lstStyle/>
                    <a:p>
                      <a:pPr algn="l">
                        <a:spcAft>
                          <a:spcPts val="0"/>
                        </a:spcAft>
                      </a:pPr>
                      <a:r>
                        <a:rPr sz="2300" b="0">
                          <a:solidFill>
                            <a:srgbClr val="232B34"/>
                          </a:solidFill>
                          <a:latin typeface="Yu Gothic"/>
                          <a:ea typeface="Yu Gothic"/>
                        </a:rPr>
                        <a:t>Number of nodes</a:t>
                      </a:r>
                      <a:endParaRPr sz="2300" b="0" dirty="0">
                        <a:solidFill>
                          <a:srgbClr val="232B34"/>
                        </a:solidFill>
                        <a:latin typeface="Yu Gothic"/>
                      </a:endParaRPr>
                    </a:p>
                  </a:txBody>
                  <a:tcPr marL="64008" marR="64008" marT="27432" marB="27432" anchor="ctr">
                    <a:solidFill>
                      <a:schemeClr val="bg1"/>
                    </a:solidFill>
                  </a:tcPr>
                </a:tc>
                <a:tc>
                  <a:txBody>
                    <a:bodyPr/>
                    <a:lstStyle/>
                    <a:p>
                      <a:pPr algn="ctr">
                        <a:spcAft>
                          <a:spcPts val="0"/>
                        </a:spcAft>
                      </a:pPr>
                      <a:r>
                        <a:rPr sz="2300" b="0">
                          <a:solidFill>
                            <a:srgbClr val="232B34"/>
                          </a:solidFill>
                          <a:latin typeface="Yu Gothic"/>
                          <a:ea typeface="Yu Gothic"/>
                        </a:rPr>
                        <a:t>125</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4106942852"/>
                  </a:ext>
                </a:extLst>
              </a:tr>
            </a:tbl>
          </a:graphicData>
        </a:graphic>
      </p:graphicFrame>
      <p:sp>
        <p:nvSpPr>
          <p:cNvPr id="6" name="Rounded Rectangle 5"/>
          <p:cNvSpPr/>
          <p:nvPr/>
        </p:nvSpPr>
        <p:spPr>
          <a:xfrm>
            <a:off x="12618720" y="3608070"/>
            <a:ext cx="10424160" cy="324993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030200" y="4065270"/>
            <a:ext cx="9601200" cy="548640"/>
          </a:xfrm>
          <a:prstGeom prst="rect">
            <a:avLst/>
          </a:prstGeom>
          <a:noFill/>
        </p:spPr>
        <p:txBody>
          <a:bodyPr wrap="square" lIns="36576" tIns="27432" rIns="36576" bIns="27432" anchor="t">
            <a:spAutoFit/>
          </a:bodyPr>
          <a:lstStyle/>
          <a:p>
            <a:pPr algn="ctr">
              <a:spcAft>
                <a:spcPts val="0"/>
              </a:spcAft>
            </a:pPr>
            <a:r>
              <a:rPr sz="2700" b="1">
                <a:solidFill>
                  <a:srgbClr val="1B74AA"/>
                </a:solidFill>
                <a:latin typeface="Yu Gothic"/>
                <a:ea typeface="Yu Gothic"/>
              </a:rPr>
              <a:t>Environmental conditions varied by case</a:t>
            </a:r>
          </a:p>
        </p:txBody>
      </p:sp>
      <p:sp>
        <p:nvSpPr>
          <p:cNvPr id="8" name="TextBox 7"/>
          <p:cNvSpPr txBox="1"/>
          <p:nvPr/>
        </p:nvSpPr>
        <p:spPr>
          <a:xfrm>
            <a:off x="13258800" y="4729416"/>
            <a:ext cx="9052560" cy="2010359"/>
          </a:xfrm>
          <a:prstGeom prst="rect">
            <a:avLst/>
          </a:prstGeom>
          <a:noFill/>
        </p:spPr>
        <p:txBody>
          <a:bodyPr wrap="square" lIns="27432" rIns="27432">
            <a:spAutoFit/>
          </a:bodyPr>
          <a:lstStyle/>
          <a:p>
            <a:pPr>
              <a:lnSpc>
                <a:spcPct val="110000"/>
              </a:lnSpc>
              <a:spcAft>
                <a:spcPts val="800"/>
              </a:spcAft>
            </a:pPr>
            <a:r>
              <a:rPr sz="2400" b="0" dirty="0">
                <a:solidFill>
                  <a:srgbClr val="232B34"/>
                </a:solidFill>
                <a:latin typeface="Yu Gothic"/>
                <a:ea typeface="Yu Gothic"/>
              </a:rPr>
              <a:t>• </a:t>
            </a:r>
            <a:r>
              <a:rPr lang="en-US" sz="2400" b="0" dirty="0">
                <a:solidFill>
                  <a:srgbClr val="232B34"/>
                </a:solidFill>
                <a:latin typeface="Yu Gothic"/>
                <a:ea typeface="Yu Gothic"/>
              </a:rPr>
              <a:t>Orbita</a:t>
            </a:r>
            <a:r>
              <a:rPr lang="en-US" sz="2400" dirty="0">
                <a:solidFill>
                  <a:srgbClr val="232B34"/>
                </a:solidFill>
                <a:latin typeface="Yu Gothic"/>
                <a:ea typeface="Yu Gothic"/>
              </a:rPr>
              <a:t>l Conditions</a:t>
            </a:r>
            <a:endParaRPr sz="2600" dirty="0">
              <a:solidFill>
                <a:srgbClr val="232B34"/>
              </a:solidFill>
              <a:latin typeface="Yu Gothic"/>
            </a:endParaRPr>
          </a:p>
          <a:p>
            <a:pPr>
              <a:lnSpc>
                <a:spcPct val="110000"/>
              </a:lnSpc>
              <a:spcAft>
                <a:spcPts val="800"/>
              </a:spcAft>
            </a:pPr>
            <a:r>
              <a:rPr sz="2400" b="0" dirty="0">
                <a:solidFill>
                  <a:srgbClr val="232B34"/>
                </a:solidFill>
                <a:latin typeface="Yu Gothic"/>
                <a:ea typeface="Yu Gothic"/>
              </a:rPr>
              <a:t>• </a:t>
            </a:r>
            <a:r>
              <a:rPr lang="en-US" sz="2400" b="0" dirty="0">
                <a:solidFill>
                  <a:srgbClr val="232B34"/>
                </a:solidFill>
                <a:latin typeface="Yu Gothic"/>
                <a:ea typeface="Yu Gothic"/>
              </a:rPr>
              <a:t>Sun-facing panel</a:t>
            </a:r>
            <a:endParaRPr sz="2400" b="0" dirty="0">
              <a:solidFill>
                <a:srgbClr val="232B34"/>
              </a:solidFill>
              <a:latin typeface="Yu Gothic"/>
              <a:ea typeface="Yu Gothic"/>
            </a:endParaRPr>
          </a:p>
          <a:p>
            <a:pPr>
              <a:lnSpc>
                <a:spcPct val="110000"/>
              </a:lnSpc>
              <a:spcAft>
                <a:spcPts val="800"/>
              </a:spcAft>
            </a:pPr>
            <a:r>
              <a:rPr sz="2400" b="0" dirty="0">
                <a:solidFill>
                  <a:srgbClr val="232B34"/>
                </a:solidFill>
                <a:latin typeface="Yu Gothic"/>
                <a:ea typeface="Yu Gothic"/>
              </a:rPr>
              <a:t>• O</a:t>
            </a:r>
            <a:r>
              <a:rPr lang="en-US" sz="2400" b="0" dirty="0">
                <a:solidFill>
                  <a:srgbClr val="232B34"/>
                </a:solidFill>
                <a:latin typeface="Yu Gothic"/>
                <a:ea typeface="Yu Gothic"/>
              </a:rPr>
              <a:t>ptical properties of panels</a:t>
            </a:r>
          </a:p>
          <a:p>
            <a:pPr>
              <a:lnSpc>
                <a:spcPct val="110000"/>
              </a:lnSpc>
              <a:spcAft>
                <a:spcPts val="800"/>
              </a:spcAft>
            </a:pPr>
            <a:r>
              <a:rPr lang="en-US" altLang="ja-JP" sz="2400" dirty="0">
                <a:solidFill>
                  <a:srgbClr val="232B34"/>
                </a:solidFill>
                <a:latin typeface="Yu Gothic"/>
                <a:ea typeface="Yu Gothic"/>
              </a:rPr>
              <a:t>• Internal Equipment dissipation</a:t>
            </a:r>
            <a:endParaRPr lang="en-US" sz="2400" dirty="0">
              <a:solidFill>
                <a:srgbClr val="232B34"/>
              </a:solidFill>
              <a:latin typeface="Yu Gothic"/>
              <a:ea typeface="Yu Gothic"/>
            </a:endParaRPr>
          </a:p>
        </p:txBody>
      </p:sp>
      <p:pic>
        <p:nvPicPr>
          <p:cNvPr id="11" name="図 10">
            <a:extLst>
              <a:ext uri="{FF2B5EF4-FFF2-40B4-BE49-F238E27FC236}">
                <a16:creationId xmlns:a16="http://schemas.microsoft.com/office/drawing/2014/main" id="{5385EA07-7CC6-CA16-E9A6-96A7DDD83B7D}"/>
              </a:ext>
            </a:extLst>
          </p:cNvPr>
          <p:cNvPicPr>
            <a:picLocks noChangeAspect="1"/>
          </p:cNvPicPr>
          <p:nvPr/>
        </p:nvPicPr>
        <p:blipFill>
          <a:blip r:embed="rId3"/>
          <a:stretch>
            <a:fillRect/>
          </a:stretch>
        </p:blipFill>
        <p:spPr>
          <a:xfrm>
            <a:off x="12762613" y="7209036"/>
            <a:ext cx="5106287" cy="5760251"/>
          </a:xfrm>
          <a:prstGeom prst="rect">
            <a:avLst/>
          </a:prstGeom>
        </p:spPr>
      </p:pic>
      <p:pic>
        <p:nvPicPr>
          <p:cNvPr id="13" name="図 12">
            <a:extLst>
              <a:ext uri="{FF2B5EF4-FFF2-40B4-BE49-F238E27FC236}">
                <a16:creationId xmlns:a16="http://schemas.microsoft.com/office/drawing/2014/main" id="{11BA4D21-78E8-44D2-D440-0C5D426F9686}"/>
              </a:ext>
            </a:extLst>
          </p:cNvPr>
          <p:cNvPicPr>
            <a:picLocks noChangeAspect="1"/>
          </p:cNvPicPr>
          <p:nvPr/>
        </p:nvPicPr>
        <p:blipFill>
          <a:blip r:embed="rId4"/>
          <a:stretch>
            <a:fillRect/>
          </a:stretch>
        </p:blipFill>
        <p:spPr>
          <a:xfrm>
            <a:off x="17898011" y="7209035"/>
            <a:ext cx="4845671" cy="5760251"/>
          </a:xfrm>
          <a:prstGeom prst="rect">
            <a:avLst/>
          </a:prstGeom>
        </p:spPr>
      </p:pic>
      <p:sp>
        <p:nvSpPr>
          <p:cNvPr id="15" name="テキスト ボックス 14">
            <a:extLst>
              <a:ext uri="{FF2B5EF4-FFF2-40B4-BE49-F238E27FC236}">
                <a16:creationId xmlns:a16="http://schemas.microsoft.com/office/drawing/2014/main" id="{0A0CDADD-D375-9200-9F52-3AD6FA1CF093}"/>
              </a:ext>
            </a:extLst>
          </p:cNvPr>
          <p:cNvSpPr txBox="1"/>
          <p:nvPr/>
        </p:nvSpPr>
        <p:spPr>
          <a:xfrm>
            <a:off x="1335024" y="3017520"/>
            <a:ext cx="10789920"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Main thermal-analysis inputs</a:t>
            </a:r>
            <a:endParaRPr kumimoji="1" lang="ja-JP" altLang="en-US" sz="2800" dirty="0"/>
          </a:p>
        </p:txBody>
      </p:sp>
      <p:sp>
        <p:nvSpPr>
          <p:cNvPr id="16" name="TextBox 15"/>
          <p:cNvSpPr txBox="1"/>
          <p:nvPr/>
        </p:nvSpPr>
        <p:spPr>
          <a:xfrm>
            <a:off x="1335024" y="11978640"/>
            <a:ext cx="10972800" cy="54864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Output: panel temperature field T(t), computed on the ground.</a:t>
            </a:r>
          </a:p>
        </p:txBody>
      </p:sp>
    </p:spTree>
    <p:extLst>
      <p:ext uri="{BB962C8B-B14F-4D97-AF65-F5344CB8AC3E}">
        <p14:creationId xmlns:p14="http://schemas.microsoft.com/office/powerpoint/2010/main" val="3490187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The temperature field is mapped into Femap to obtain STT and LCT translations and rotations</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9</a:t>
            </a:r>
            <a:endParaRPr sz="1800" b="0" dirty="0">
              <a:solidFill>
                <a:srgbClr val="666F79"/>
              </a:solidFill>
              <a:latin typeface="Yu Gothic"/>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104497403"/>
              </p:ext>
            </p:extLst>
          </p:nvPr>
        </p:nvGraphicFramePr>
        <p:xfrm>
          <a:off x="1197699" y="3836670"/>
          <a:ext cx="10881360" cy="777240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971550">
                <a:tc>
                  <a:txBody>
                    <a:bodyPr/>
                    <a:lstStyle/>
                    <a:p>
                      <a:pPr algn="l">
                        <a:spcAft>
                          <a:spcPts val="0"/>
                        </a:spcAft>
                      </a:pPr>
                      <a:r>
                        <a:rPr sz="2200" b="1">
                          <a:solidFill>
                            <a:srgbClr val="FFFFFF"/>
                          </a:solidFill>
                          <a:latin typeface="Yu Gothic"/>
                          <a:ea typeface="Yu Gothic"/>
                        </a:rPr>
                        <a:t>Structural-analysis setting</a:t>
                      </a:r>
                    </a:p>
                  </a:txBody>
                  <a:tcPr marL="64008" marR="64008" marT="27432" marB="27432" anchor="ctr">
                    <a:solidFill>
                      <a:srgbClr val="082B52"/>
                    </a:solidFill>
                  </a:tcPr>
                </a:tc>
                <a:tc>
                  <a:txBody>
                    <a:bodyPr/>
                    <a:lstStyle/>
                    <a:p>
                      <a:pPr algn="ctr">
                        <a:spcAft>
                          <a:spcPts val="0"/>
                        </a:spcAft>
                      </a:pPr>
                      <a:r>
                        <a:rPr sz="2200" b="1">
                          <a:solidFill>
                            <a:srgbClr val="FFFFFF"/>
                          </a:solidFill>
                          <a:latin typeface="Yu Gothic"/>
                          <a:ea typeface="Yu Gothic"/>
                        </a:rPr>
                        <a:t>Value</a:t>
                      </a:r>
                    </a:p>
                  </a:txBody>
                  <a:tcPr marL="64008" marR="64008" marT="27432" marB="27432" anchor="ctr">
                    <a:solidFill>
                      <a:srgbClr val="082B52"/>
                    </a:solidFill>
                  </a:tcPr>
                </a:tc>
                <a:extLst>
                  <a:ext uri="{0D108BD9-81ED-4DB2-BD59-A6C34878D82A}">
                    <a16:rowId xmlns:a16="http://schemas.microsoft.com/office/drawing/2014/main" val="10000"/>
                  </a:ext>
                </a:extLst>
              </a:tr>
              <a:tr h="971550">
                <a:tc>
                  <a:txBody>
                    <a:bodyPr/>
                    <a:lstStyle/>
                    <a:p>
                      <a:pPr algn="l">
                        <a:spcAft>
                          <a:spcPts val="0"/>
                        </a:spcAft>
                      </a:pPr>
                      <a:r>
                        <a:rPr sz="2200" b="0">
                          <a:solidFill>
                            <a:srgbClr val="232B34"/>
                          </a:solidFill>
                          <a:latin typeface="Yu Gothic"/>
                          <a:ea typeface="Yu Gothic"/>
                        </a:rPr>
                        <a:t>Material</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Aluminum A5052</a:t>
                      </a:r>
                    </a:p>
                  </a:txBody>
                  <a:tcPr marL="64008" marR="64008" marT="27432" marB="27432" anchor="ctr">
                    <a:solidFill>
                      <a:srgbClr val="EBF6FB"/>
                    </a:solidFill>
                  </a:tcPr>
                </a:tc>
                <a:extLst>
                  <a:ext uri="{0D108BD9-81ED-4DB2-BD59-A6C34878D82A}">
                    <a16:rowId xmlns:a16="http://schemas.microsoft.com/office/drawing/2014/main" val="10001"/>
                  </a:ext>
                </a:extLst>
              </a:tr>
              <a:tr h="971550">
                <a:tc>
                  <a:txBody>
                    <a:bodyPr/>
                    <a:lstStyle/>
                    <a:p>
                      <a:pPr algn="l">
                        <a:spcAft>
                          <a:spcPts val="0"/>
                        </a:spcAft>
                      </a:pPr>
                      <a:r>
                        <a:rPr sz="2200" b="0">
                          <a:solidFill>
                            <a:srgbClr val="232B34"/>
                          </a:solidFill>
                          <a:latin typeface="Yu Gothic"/>
                          <a:ea typeface="Yu Gothic"/>
                        </a:rPr>
                        <a:t>Young's modulus</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70.327 GPa</a:t>
                      </a:r>
                    </a:p>
                  </a:txBody>
                  <a:tcPr marL="64008" marR="64008" marT="27432" marB="27432" anchor="ctr">
                    <a:solidFill>
                      <a:srgbClr val="EBF6FB"/>
                    </a:solidFill>
                  </a:tcPr>
                </a:tc>
                <a:extLst>
                  <a:ext uri="{0D108BD9-81ED-4DB2-BD59-A6C34878D82A}">
                    <a16:rowId xmlns:a16="http://schemas.microsoft.com/office/drawing/2014/main" val="10002"/>
                  </a:ext>
                </a:extLst>
              </a:tr>
              <a:tr h="971550">
                <a:tc>
                  <a:txBody>
                    <a:bodyPr/>
                    <a:lstStyle/>
                    <a:p>
                      <a:pPr algn="l">
                        <a:spcAft>
                          <a:spcPts val="0"/>
                        </a:spcAft>
                      </a:pPr>
                      <a:r>
                        <a:rPr sz="2200" b="0">
                          <a:solidFill>
                            <a:srgbClr val="232B34"/>
                          </a:solidFill>
                          <a:latin typeface="Yu Gothic"/>
                          <a:ea typeface="Yu Gothic"/>
                        </a:rPr>
                        <a:t>Poisson's ratio</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0.33</a:t>
                      </a:r>
                    </a:p>
                  </a:txBody>
                  <a:tcPr marL="64008" marR="64008" marT="27432" marB="27432" anchor="ctr">
                    <a:solidFill>
                      <a:srgbClr val="EBF6FB"/>
                    </a:solidFill>
                  </a:tcPr>
                </a:tc>
                <a:extLst>
                  <a:ext uri="{0D108BD9-81ED-4DB2-BD59-A6C34878D82A}">
                    <a16:rowId xmlns:a16="http://schemas.microsoft.com/office/drawing/2014/main" val="10003"/>
                  </a:ext>
                </a:extLst>
              </a:tr>
              <a:tr h="971550">
                <a:tc>
                  <a:txBody>
                    <a:bodyPr/>
                    <a:lstStyle/>
                    <a:p>
                      <a:pPr algn="l">
                        <a:spcAft>
                          <a:spcPts val="0"/>
                        </a:spcAft>
                      </a:pPr>
                      <a:r>
                        <a:rPr sz="2200" b="0">
                          <a:solidFill>
                            <a:srgbClr val="232B34"/>
                          </a:solidFill>
                          <a:latin typeface="Yu Gothic"/>
                          <a:ea typeface="Yu Gothic"/>
                        </a:rPr>
                        <a:t>Coefficient of thermal expansion</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2.376×10⁻⁵ /K</a:t>
                      </a:r>
                    </a:p>
                  </a:txBody>
                  <a:tcPr marL="64008" marR="64008" marT="27432" marB="27432" anchor="ctr">
                    <a:solidFill>
                      <a:srgbClr val="EBF6FB"/>
                    </a:solidFill>
                  </a:tcPr>
                </a:tc>
                <a:extLst>
                  <a:ext uri="{0D108BD9-81ED-4DB2-BD59-A6C34878D82A}">
                    <a16:rowId xmlns:a16="http://schemas.microsoft.com/office/drawing/2014/main" val="10004"/>
                  </a:ext>
                </a:extLst>
              </a:tr>
              <a:tr h="971550">
                <a:tc>
                  <a:txBody>
                    <a:bodyPr/>
                    <a:lstStyle/>
                    <a:p>
                      <a:pPr algn="l">
                        <a:spcAft>
                          <a:spcPts val="0"/>
                        </a:spcAft>
                      </a:pPr>
                      <a:r>
                        <a:rPr sz="2200" b="0">
                          <a:solidFill>
                            <a:srgbClr val="232B34"/>
                          </a:solidFill>
                          <a:latin typeface="Yu Gothic"/>
                          <a:ea typeface="Yu Gothic"/>
                        </a:rPr>
                        <a:t>Density</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2685 kg/m³</a:t>
                      </a:r>
                    </a:p>
                  </a:txBody>
                  <a:tcPr marL="64008" marR="64008" marT="27432" marB="27432" anchor="ctr">
                    <a:solidFill>
                      <a:srgbClr val="EBF6FB"/>
                    </a:solidFill>
                  </a:tcPr>
                </a:tc>
                <a:extLst>
                  <a:ext uri="{0D108BD9-81ED-4DB2-BD59-A6C34878D82A}">
                    <a16:rowId xmlns:a16="http://schemas.microsoft.com/office/drawing/2014/main" val="10005"/>
                  </a:ext>
                </a:extLst>
              </a:tr>
              <a:tr h="971550">
                <a:tc>
                  <a:txBody>
                    <a:bodyPr/>
                    <a:lstStyle/>
                    <a:p>
                      <a:pPr algn="l">
                        <a:spcAft>
                          <a:spcPts val="0"/>
                        </a:spcAft>
                      </a:pPr>
                      <a:r>
                        <a:rPr sz="2200" b="0">
                          <a:solidFill>
                            <a:srgbClr val="232B34"/>
                          </a:solidFill>
                          <a:latin typeface="Yu Gothic"/>
                          <a:ea typeface="Yu Gothic"/>
                        </a:rPr>
                        <a:t>Reference temperature</a:t>
                      </a:r>
                    </a:p>
                  </a:txBody>
                  <a:tcPr marL="64008" marR="64008" marT="27432" marB="27432" anchor="ctr">
                    <a:solidFill>
                      <a:srgbClr val="F4F6F8"/>
                    </a:solidFill>
                  </a:tcPr>
                </a:tc>
                <a:tc>
                  <a:txBody>
                    <a:bodyPr/>
                    <a:lstStyle/>
                    <a:p>
                      <a:pPr algn="ctr">
                        <a:spcAft>
                          <a:spcPts val="0"/>
                        </a:spcAft>
                      </a:pPr>
                      <a:r>
                        <a:rPr sz="2200" b="0">
                          <a:solidFill>
                            <a:srgbClr val="232B34"/>
                          </a:solidFill>
                          <a:latin typeface="Yu Gothic"/>
                          <a:ea typeface="Yu Gothic"/>
                        </a:rPr>
                        <a:t>23.9 ℃</a:t>
                      </a:r>
                    </a:p>
                  </a:txBody>
                  <a:tcPr marL="64008" marR="64008" marT="27432" marB="27432" anchor="ctr">
                    <a:solidFill>
                      <a:srgbClr val="EBF6FB"/>
                    </a:solidFill>
                  </a:tcPr>
                </a:tc>
                <a:extLst>
                  <a:ext uri="{0D108BD9-81ED-4DB2-BD59-A6C34878D82A}">
                    <a16:rowId xmlns:a16="http://schemas.microsoft.com/office/drawing/2014/main" val="10006"/>
                  </a:ext>
                </a:extLst>
              </a:tr>
              <a:tr h="971550">
                <a:tc>
                  <a:txBody>
                    <a:bodyPr/>
                    <a:lstStyle/>
                    <a:p>
                      <a:pPr algn="l">
                        <a:spcAft>
                          <a:spcPts val="0"/>
                        </a:spcAft>
                      </a:pPr>
                      <a:r>
                        <a:rPr sz="2200" b="0">
                          <a:solidFill>
                            <a:srgbClr val="232B34"/>
                          </a:solidFill>
                          <a:latin typeface="Yu Gothic"/>
                          <a:ea typeface="Yu Gothic"/>
                        </a:rPr>
                        <a:t>Constraint</a:t>
                      </a:r>
                    </a:p>
                  </a:txBody>
                  <a:tcPr marL="64008" marR="64008" marT="27432" marB="27432" anchor="ctr">
                    <a:solidFill>
                      <a:srgbClr val="FFFFFF"/>
                    </a:solidFill>
                  </a:tcPr>
                </a:tc>
                <a:tc>
                  <a:txBody>
                    <a:bodyPr/>
                    <a:lstStyle/>
                    <a:p>
                      <a:pPr algn="ctr">
                        <a:spcAft>
                          <a:spcPts val="0"/>
                        </a:spcAft>
                      </a:pPr>
                      <a:r>
                        <a:rPr sz="2200" b="0">
                          <a:solidFill>
                            <a:srgbClr val="232B34"/>
                          </a:solidFill>
                          <a:latin typeface="Yu Gothic"/>
                          <a:ea typeface="Yu Gothic"/>
                        </a:rPr>
                        <a:t>Small region near the STT</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pic>
        <p:nvPicPr>
          <p:cNvPr id="11" name="図 10">
            <a:extLst>
              <a:ext uri="{FF2B5EF4-FFF2-40B4-BE49-F238E27FC236}">
                <a16:creationId xmlns:a16="http://schemas.microsoft.com/office/drawing/2014/main" id="{33EA1EC9-3A8D-5610-E95D-DAD2EA5D39A2}"/>
              </a:ext>
            </a:extLst>
          </p:cNvPr>
          <p:cNvPicPr>
            <a:picLocks noChangeAspect="1"/>
          </p:cNvPicPr>
          <p:nvPr/>
        </p:nvPicPr>
        <p:blipFill>
          <a:blip r:embed="rId3"/>
          <a:stretch>
            <a:fillRect/>
          </a:stretch>
        </p:blipFill>
        <p:spPr>
          <a:xfrm>
            <a:off x="18341942" y="3905404"/>
            <a:ext cx="5432458" cy="5394601"/>
          </a:xfrm>
          <a:prstGeom prst="rect">
            <a:avLst/>
          </a:prstGeom>
        </p:spPr>
      </p:pic>
      <p:pic>
        <p:nvPicPr>
          <p:cNvPr id="13" name="図 12">
            <a:extLst>
              <a:ext uri="{FF2B5EF4-FFF2-40B4-BE49-F238E27FC236}">
                <a16:creationId xmlns:a16="http://schemas.microsoft.com/office/drawing/2014/main" id="{9819C62F-71DC-7E63-A5D1-87F199B5835C}"/>
              </a:ext>
            </a:extLst>
          </p:cNvPr>
          <p:cNvPicPr>
            <a:picLocks noChangeAspect="1"/>
          </p:cNvPicPr>
          <p:nvPr/>
        </p:nvPicPr>
        <p:blipFill>
          <a:blip r:embed="rId4"/>
          <a:stretch>
            <a:fillRect/>
          </a:stretch>
        </p:blipFill>
        <p:spPr>
          <a:xfrm>
            <a:off x="12605704" y="3905404"/>
            <a:ext cx="4858544" cy="5394601"/>
          </a:xfrm>
          <a:prstGeom prst="rect">
            <a:avLst/>
          </a:prstGeom>
        </p:spPr>
      </p:pic>
      <p:sp>
        <p:nvSpPr>
          <p:cNvPr id="14" name="矢印: 右 13">
            <a:extLst>
              <a:ext uri="{FF2B5EF4-FFF2-40B4-BE49-F238E27FC236}">
                <a16:creationId xmlns:a16="http://schemas.microsoft.com/office/drawing/2014/main" id="{274F2E0C-AA92-CDB0-DFC5-34073207F1FB}"/>
              </a:ext>
            </a:extLst>
          </p:cNvPr>
          <p:cNvSpPr/>
          <p:nvPr/>
        </p:nvSpPr>
        <p:spPr>
          <a:xfrm>
            <a:off x="17681719" y="6406172"/>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926A544-E0FB-FDB4-1194-CFA22C5E6846}"/>
              </a:ext>
            </a:extLst>
          </p:cNvPr>
          <p:cNvSpPr txBox="1"/>
          <p:nvPr/>
        </p:nvSpPr>
        <p:spPr>
          <a:xfrm>
            <a:off x="1197864" y="3273552"/>
            <a:ext cx="10881360" cy="502920"/>
          </a:xfrm>
          <a:prstGeom prst="rect">
            <a:avLst/>
          </a:prstGeom>
          <a:noFill/>
        </p:spPr>
        <p:txBody>
          <a:bodyPr wrap="square" rtlCol="0">
            <a:spAutoFit/>
          </a:bodyPr>
          <a:lstStyle/>
          <a:p>
            <a:pPr algn="ctr">
              <a:spcAft>
                <a:spcPts val="0"/>
              </a:spcAft>
            </a:pPr>
            <a:r>
              <a:rPr sz="2200" b="0">
                <a:solidFill>
                  <a:srgbClr val="666F79"/>
                </a:solidFill>
                <a:latin typeface="Yu Gothic"/>
                <a:ea typeface="Yu Gothic"/>
              </a:rPr>
              <a:t>Main structural-analysis settings</a:t>
            </a:r>
            <a:endParaRPr kumimoji="1" lang="ja-JP" altLang="en-US" sz="2800" dirty="0"/>
          </a:p>
        </p:txBody>
      </p:sp>
      <p:pic>
        <p:nvPicPr>
          <p:cNvPr id="18" name="図 17">
            <a:extLst>
              <a:ext uri="{FF2B5EF4-FFF2-40B4-BE49-F238E27FC236}">
                <a16:creationId xmlns:a16="http://schemas.microsoft.com/office/drawing/2014/main" id="{041DF615-0588-9513-FBA8-0B01D88C40DE}"/>
              </a:ext>
            </a:extLst>
          </p:cNvPr>
          <p:cNvPicPr>
            <a:picLocks noChangeAspect="1"/>
          </p:cNvPicPr>
          <p:nvPr/>
        </p:nvPicPr>
        <p:blipFill>
          <a:blip r:embed="rId5"/>
          <a:stretch>
            <a:fillRect/>
          </a:stretch>
        </p:blipFill>
        <p:spPr>
          <a:xfrm>
            <a:off x="16694545" y="10012017"/>
            <a:ext cx="2523589" cy="2999895"/>
          </a:xfrm>
          <a:prstGeom prst="rect">
            <a:avLst/>
          </a:prstGeom>
        </p:spPr>
      </p:pic>
      <p:cxnSp>
        <p:nvCxnSpPr>
          <p:cNvPr id="20" name="直線矢印コネクタ 19">
            <a:extLst>
              <a:ext uri="{FF2B5EF4-FFF2-40B4-BE49-F238E27FC236}">
                <a16:creationId xmlns:a16="http://schemas.microsoft.com/office/drawing/2014/main" id="{DB910861-8EB1-0B83-13D2-A55697BCFD48}"/>
              </a:ext>
            </a:extLst>
          </p:cNvPr>
          <p:cNvCxnSpPr/>
          <p:nvPr/>
        </p:nvCxnSpPr>
        <p:spPr>
          <a:xfrm flipV="1">
            <a:off x="17956339" y="7524750"/>
            <a:ext cx="0" cy="226695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A8BC2C95-4E51-07EA-299C-28233B3B7BA8}"/>
              </a:ext>
            </a:extLst>
          </p:cNvPr>
          <p:cNvSpPr txBox="1"/>
          <p:nvPr/>
        </p:nvSpPr>
        <p:spPr>
          <a:xfrm>
            <a:off x="19491981" y="12280232"/>
            <a:ext cx="2523589" cy="430887"/>
          </a:xfrm>
          <a:prstGeom prst="rect">
            <a:avLst/>
          </a:prstGeom>
          <a:noFill/>
        </p:spPr>
        <p:txBody>
          <a:bodyPr wrap="square" rtlCol="0">
            <a:spAutoFit/>
          </a:bodyPr>
          <a:lstStyle/>
          <a:p>
            <a:pPr>
              <a:spcAft>
                <a:spcPts val="0"/>
              </a:spcAft>
            </a:pPr>
            <a:r>
              <a:rPr sz="2200" b="1" dirty="0">
                <a:solidFill>
                  <a:srgbClr val="1B74AA"/>
                </a:solidFill>
                <a:latin typeface="Yu Gothic"/>
                <a:ea typeface="Yu Gothic"/>
              </a:rPr>
              <a:t> T(</a:t>
            </a:r>
            <a:r>
              <a:rPr sz="2200" b="1" dirty="0" err="1">
                <a:solidFill>
                  <a:srgbClr val="1B74AA"/>
                </a:solidFill>
                <a:latin typeface="Yu Gothic"/>
                <a:ea typeface="Yu Gothic"/>
              </a:rPr>
              <a:t>t</a:t>
            </a:r>
            <a:r>
              <a:rPr lang="en-US" sz="2200" b="1" dirty="0" err="1">
                <a:solidFill>
                  <a:srgbClr val="1B74AA"/>
                </a:solidFill>
                <a:latin typeface="Yu Gothic"/>
                <a:ea typeface="Yu Gothic"/>
              </a:rPr>
              <a:t>,x</a:t>
            </a:r>
            <a:r>
              <a:rPr sz="2200" b="1" dirty="0">
                <a:solidFill>
                  <a:srgbClr val="1B74AA"/>
                </a:solidFill>
                <a:latin typeface="Yu Gothic"/>
                <a:ea typeface="Yu Gothic"/>
              </a:rPr>
              <a:t>)</a:t>
            </a:r>
            <a:r>
              <a:rPr lang="en-US" sz="2200" b="1" dirty="0">
                <a:solidFill>
                  <a:srgbClr val="1B74AA"/>
                </a:solidFill>
                <a:latin typeface="Yu Gothic"/>
                <a:ea typeface="Yu Gothic"/>
              </a:rPr>
              <a:t> from TD</a:t>
            </a:r>
            <a:endParaRPr sz="2200" b="1" dirty="0">
              <a:solidFill>
                <a:srgbClr val="1B74AA"/>
              </a:solidFill>
              <a:latin typeface="Yu Gothic"/>
              <a:ea typeface="Yu Gothic"/>
            </a:endParaRPr>
          </a:p>
        </p:txBody>
      </p:sp>
      <p:sp>
        <p:nvSpPr>
          <p:cNvPr id="22" name="TextBox 21"/>
          <p:cNvSpPr txBox="1"/>
          <p:nvPr/>
        </p:nvSpPr>
        <p:spPr>
          <a:xfrm>
            <a:off x="1197864" y="11887200"/>
            <a:ext cx="11430000" cy="54864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Thermal Desktop and Femap generate training data on the ground.</a:t>
            </a:r>
          </a:p>
        </p:txBody>
      </p:sp>
    </p:spTree>
    <p:extLst>
      <p:ext uri="{BB962C8B-B14F-4D97-AF65-F5344CB8AC3E}">
        <p14:creationId xmlns:p14="http://schemas.microsoft.com/office/powerpoint/2010/main" val="4083775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lang="en-US" sz="3200" b="1" dirty="0">
                <a:solidFill>
                  <a:srgbClr val="082B52"/>
                </a:solidFill>
                <a:latin typeface="Yu Gothic"/>
              </a:rPr>
              <a:t>Calculate thermal LOS error through rotation of STT and LCT </a:t>
            </a:r>
          </a:p>
        </p:txBody>
      </p:sp>
      <p:sp>
        <p:nvSpPr>
          <p:cNvPr id="4" name="TextBox 3"/>
          <p:cNvSpPr txBox="1"/>
          <p:nvPr/>
        </p:nvSpPr>
        <p:spPr>
          <a:xfrm>
            <a:off x="2344405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10</a:t>
            </a:r>
            <a:endParaRPr sz="1800" b="0" dirty="0">
              <a:solidFill>
                <a:srgbClr val="666F79"/>
              </a:solidFill>
              <a:latin typeface="Yu Gothic"/>
            </a:endParaRPr>
          </a:p>
        </p:txBody>
      </p:sp>
      <p:sp>
        <p:nvSpPr>
          <p:cNvPr id="7" name="Rounded Rectangle 6"/>
          <p:cNvSpPr/>
          <p:nvPr/>
        </p:nvSpPr>
        <p:spPr>
          <a:xfrm>
            <a:off x="15544800" y="2788920"/>
            <a:ext cx="7753350" cy="8229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0" y="3246120"/>
            <a:ext cx="6839712" cy="566928"/>
          </a:xfrm>
          <a:prstGeom prst="rect">
            <a:avLst/>
          </a:prstGeom>
          <a:noFill/>
        </p:spPr>
        <p:txBody>
          <a:bodyPr wrap="square" lIns="36576" tIns="27432" rIns="36576" bIns="27432" anchor="t">
            <a:spAutoFit/>
          </a:bodyPr>
          <a:lstStyle/>
          <a:p>
            <a:pPr algn="ctr">
              <a:spcAft>
                <a:spcPts val="0"/>
              </a:spcAft>
            </a:pPr>
            <a:r>
              <a:rPr sz="2700" b="1">
                <a:solidFill>
                  <a:srgbClr val="1B74AA"/>
                </a:solidFill>
                <a:latin typeface="Yu Gothic"/>
                <a:ea typeface="Yu Gothic"/>
              </a:rPr>
              <a:t>LOS-error definition</a:t>
            </a:r>
            <a:endParaRPr sz="2800" b="1" dirty="0">
              <a:solidFill>
                <a:srgbClr val="1B74AA"/>
              </a:solidFill>
              <a:latin typeface="Yu Gothic"/>
            </a:endParaRPr>
          </a:p>
        </p:txBody>
      </p:sp>
      <p:sp>
        <p:nvSpPr>
          <p:cNvPr id="9" name="TextBox 8"/>
          <p:cNvSpPr txBox="1"/>
          <p:nvPr/>
        </p:nvSpPr>
        <p:spPr>
          <a:xfrm>
            <a:off x="16001999" y="4297680"/>
            <a:ext cx="7040879" cy="2377440"/>
          </a:xfrm>
          <a:prstGeom prst="rect">
            <a:avLst/>
          </a:prstGeom>
          <a:noFill/>
        </p:spPr>
        <p:txBody>
          <a:bodyPr wrap="square" lIns="27432" rIns="27432">
            <a:spAutoFit/>
          </a:bodyPr>
          <a:lstStyle/>
          <a:p>
            <a:pPr>
              <a:lnSpc>
                <a:spcPct val="110000"/>
              </a:lnSpc>
              <a:spcAft>
                <a:spcPts val="800"/>
              </a:spcAft>
            </a:pPr>
            <a:r>
              <a:rPr sz="2200" b="0">
                <a:solidFill>
                  <a:srgbClr val="232B34"/>
                </a:solidFill>
                <a:latin typeface="Yu Gothic"/>
                <a:ea typeface="Yu Gothic"/>
              </a:rPr>
              <a:t>• LCT optical-axis rotation − STT reference rotation</a:t>
            </a:r>
            <a:endParaRPr lang="en-US" sz="2400" dirty="0">
              <a:solidFill>
                <a:srgbClr val="232B34"/>
              </a:solidFill>
              <a:latin typeface="Yu Gothic"/>
            </a:endParaRPr>
          </a:p>
          <a:p>
            <a:pPr>
              <a:lnSpc>
                <a:spcPct val="110000"/>
              </a:lnSpc>
              <a:spcAft>
                <a:spcPts val="800"/>
              </a:spcAft>
            </a:pPr>
            <a:r>
              <a:rPr sz="2200" b="0">
                <a:solidFill>
                  <a:srgbClr val="232B34"/>
                </a:solidFill>
                <a:latin typeface="Yu Gothic"/>
                <a:ea typeface="Yu Gothic"/>
              </a:rPr>
              <a:t>• STT thermal rotation is absorbed into attitude</a:t>
            </a:r>
          </a:p>
          <a:p>
            <a:pPr>
              <a:lnSpc>
                <a:spcPct val="110000"/>
              </a:lnSpc>
              <a:spcAft>
                <a:spcPts val="800"/>
              </a:spcAft>
            </a:pPr>
            <a:r>
              <a:rPr sz="2200" b="0">
                <a:solidFill>
                  <a:srgbClr val="232B34"/>
                </a:solidFill>
                <a:latin typeface="Yu Gothic"/>
                <a:ea typeface="Yu Gothic"/>
              </a:rPr>
              <a:t>• Directly gives far-field scan-center error</a:t>
            </a:r>
          </a:p>
          <a:p>
            <a:pPr>
              <a:lnSpc>
                <a:spcPct val="110000"/>
              </a:lnSpc>
              <a:spcAft>
                <a:spcPts val="800"/>
              </a:spcAft>
            </a:pPr>
            <a:r>
              <a:rPr sz="2200" b="0">
                <a:solidFill>
                  <a:srgbClr val="232B34"/>
                </a:solidFill>
                <a:latin typeface="Yu Gothic"/>
                <a:ea typeface="Yu Gothic"/>
              </a:rPr>
              <a:t>• Excludes translation-induced tilt</a:t>
            </a:r>
          </a:p>
        </p:txBody>
      </p:sp>
      <p:pic>
        <p:nvPicPr>
          <p:cNvPr id="12" name="図 11">
            <a:extLst>
              <a:ext uri="{FF2B5EF4-FFF2-40B4-BE49-F238E27FC236}">
                <a16:creationId xmlns:a16="http://schemas.microsoft.com/office/drawing/2014/main" id="{3B09D20F-F818-E6BB-4A04-9D0C10968E16}"/>
              </a:ext>
            </a:extLst>
          </p:cNvPr>
          <p:cNvPicPr>
            <a:picLocks noChangeAspect="1"/>
          </p:cNvPicPr>
          <p:nvPr/>
        </p:nvPicPr>
        <p:blipFill>
          <a:blip r:embed="rId3"/>
          <a:stretch>
            <a:fillRect/>
          </a:stretch>
        </p:blipFill>
        <p:spPr>
          <a:xfrm>
            <a:off x="1339534" y="3840480"/>
            <a:ext cx="4959858" cy="4925293"/>
          </a:xfrm>
          <a:prstGeom prst="rect">
            <a:avLst/>
          </a:prstGeom>
        </p:spPr>
      </p:pic>
      <p:sp>
        <p:nvSpPr>
          <p:cNvPr id="18" name="矢印: 右 17">
            <a:extLst>
              <a:ext uri="{FF2B5EF4-FFF2-40B4-BE49-F238E27FC236}">
                <a16:creationId xmlns:a16="http://schemas.microsoft.com/office/drawing/2014/main" id="{E8A036E3-901B-13D6-50ED-4213CF64C986}"/>
              </a:ext>
            </a:extLst>
          </p:cNvPr>
          <p:cNvSpPr/>
          <p:nvPr/>
        </p:nvSpPr>
        <p:spPr>
          <a:xfrm>
            <a:off x="6956602" y="6031204"/>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DFCAD75C-E1E5-BAB9-ED79-8FB22B4FA1E6}"/>
              </a:ext>
            </a:extLst>
          </p:cNvPr>
          <p:cNvCxnSpPr/>
          <p:nvPr/>
        </p:nvCxnSpPr>
        <p:spPr>
          <a:xfrm>
            <a:off x="5162550" y="8096250"/>
            <a:ext cx="209550" cy="164211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9843408-97F9-6B75-249B-559F34913E3D}"/>
              </a:ext>
            </a:extLst>
          </p:cNvPr>
          <p:cNvCxnSpPr>
            <a:cxnSpLocks/>
          </p:cNvCxnSpPr>
          <p:nvPr/>
        </p:nvCxnSpPr>
        <p:spPr>
          <a:xfrm flipH="1">
            <a:off x="3009900" y="3246120"/>
            <a:ext cx="1123950" cy="1310795"/>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B184EC83-A793-1DED-82CE-9E07315E52C8}"/>
              </a:ext>
            </a:extLst>
          </p:cNvPr>
          <p:cNvSpPr txBox="1"/>
          <p:nvPr/>
        </p:nvSpPr>
        <p:spPr>
          <a:xfrm>
            <a:off x="4133850" y="2856893"/>
            <a:ext cx="2381250" cy="584775"/>
          </a:xfrm>
          <a:prstGeom prst="rect">
            <a:avLst/>
          </a:prstGeom>
          <a:noFill/>
        </p:spPr>
        <p:txBody>
          <a:bodyPr wrap="square" rtlCol="0">
            <a:spAutoFit/>
          </a:bodyPr>
          <a:lstStyle/>
          <a:p>
            <a:r>
              <a:rPr kumimoji="1" lang="en-US" altLang="ja-JP" sz="3200" dirty="0"/>
              <a:t>STT</a:t>
            </a:r>
            <a:endParaRPr kumimoji="1" lang="ja-JP" altLang="en-US" sz="3200" dirty="0"/>
          </a:p>
        </p:txBody>
      </p:sp>
      <p:sp>
        <p:nvSpPr>
          <p:cNvPr id="25" name="テキスト ボックス 24">
            <a:extLst>
              <a:ext uri="{FF2B5EF4-FFF2-40B4-BE49-F238E27FC236}">
                <a16:creationId xmlns:a16="http://schemas.microsoft.com/office/drawing/2014/main" id="{84993092-E9AF-32CC-CA46-5B89D3B7856E}"/>
              </a:ext>
            </a:extLst>
          </p:cNvPr>
          <p:cNvSpPr txBox="1"/>
          <p:nvPr/>
        </p:nvSpPr>
        <p:spPr>
          <a:xfrm>
            <a:off x="5267325" y="9738360"/>
            <a:ext cx="2381250" cy="584775"/>
          </a:xfrm>
          <a:prstGeom prst="rect">
            <a:avLst/>
          </a:prstGeom>
          <a:noFill/>
        </p:spPr>
        <p:txBody>
          <a:bodyPr wrap="square" rtlCol="0">
            <a:spAutoFit/>
          </a:bodyPr>
          <a:lstStyle/>
          <a:p>
            <a:r>
              <a:rPr kumimoji="1" lang="en-US" altLang="ja-JP" sz="3200" dirty="0"/>
              <a:t>LCT</a:t>
            </a:r>
            <a:endParaRPr kumimoji="1" lang="ja-JP" altLang="en-US" sz="3200" dirty="0"/>
          </a:p>
        </p:txBody>
      </p:sp>
      <p:sp>
        <p:nvSpPr>
          <p:cNvPr id="27" name="テキスト ボックス 26">
            <a:extLst>
              <a:ext uri="{FF2B5EF4-FFF2-40B4-BE49-F238E27FC236}">
                <a16:creationId xmlns:a16="http://schemas.microsoft.com/office/drawing/2014/main" id="{EBF1EEF1-B803-E3EF-7B07-EF16B7C0DEB8}"/>
              </a:ext>
            </a:extLst>
          </p:cNvPr>
          <p:cNvSpPr txBox="1"/>
          <p:nvPr/>
        </p:nvSpPr>
        <p:spPr>
          <a:xfrm>
            <a:off x="1097280" y="10607040"/>
            <a:ext cx="14081760" cy="1569660"/>
          </a:xfrm>
          <a:prstGeom prst="rect">
            <a:avLst/>
          </a:prstGeom>
          <a:noFill/>
        </p:spPr>
        <p:txBody>
          <a:bodyPr wrap="square">
            <a:spAutoFit/>
          </a:bodyPr>
          <a:lstStyle/>
          <a:p>
            <a:pPr>
              <a:spcAft>
                <a:spcPts val="0"/>
              </a:spcAft>
            </a:pPr>
            <a:r>
              <a:rPr sz="2900" b="1">
                <a:solidFill>
                  <a:srgbClr val="082B52"/>
                </a:solidFill>
                <a:latin typeface="Yu Gothic"/>
                <a:ea typeface="Yu Gothic"/>
              </a:rPr>
              <a:t>Far-field LOS error = STT-relative LCT optical-axis rotation, not translation</a:t>
            </a:r>
            <a:endParaRPr lang="en-US" altLang="ja-JP" sz="3200" b="1" dirty="0">
              <a:solidFill>
                <a:srgbClr val="082B52"/>
              </a:solidFill>
              <a:latin typeface="Yu Gothic"/>
            </a:endParaRPr>
          </a:p>
        </p:txBody>
      </p:sp>
      <mc:AlternateContent xmlns:mc="http://schemas.openxmlformats.org/markup-compatibility/2006" xmlns:a14="http://schemas.microsoft.com/office/drawing/2010/main">
        <mc:Choice Requires="a14">
          <p:sp>
            <p:nvSpPr>
              <p:cNvPr id="31" name="TextBox 9">
                <a:extLst>
                  <a:ext uri="{FF2B5EF4-FFF2-40B4-BE49-F238E27FC236}">
                    <a16:creationId xmlns:a16="http://schemas.microsoft.com/office/drawing/2014/main" id="{1D5E19C6-D5A3-C347-891E-06621B675036}"/>
                  </a:ext>
                </a:extLst>
              </p:cNvPr>
              <p:cNvSpPr txBox="1"/>
              <p:nvPr/>
            </p:nvSpPr>
            <p:spPr>
              <a:xfrm>
                <a:off x="16004709" y="7034356"/>
                <a:ext cx="6833537" cy="1187761"/>
              </a:xfrm>
              <a:prstGeom prst="rect">
                <a:avLst/>
              </a:prstGeom>
              <a:noFill/>
            </p:spPr>
            <p:txBody>
              <a:bodyPr wrap="none" lIns="36576" tIns="27432" rIns="36576" bIns="27432" anchor="t">
                <a:spAutoFit/>
              </a:bodyPr>
              <a:lstStyle/>
              <a:p>
                <a:pPr algn="ctr"/>
                <a:r>
                  <a:rPr lang="en-US" sz="3600" b="1" i="1" dirty="0">
                    <a:solidFill>
                      <a:srgbClr val="082B52"/>
                    </a:solidFill>
                    <a:latin typeface="Yu Gothic"/>
                  </a:rPr>
                  <a:t> </a:t>
                </a:r>
                <a14:m>
                  <m:oMath xmlns:m="http://schemas.openxmlformats.org/officeDocument/2006/math">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𝒕𝒉𝒆𝒓𝒎𝒂𝒍</m:t>
                        </m:r>
                        <m:r>
                          <a:rPr lang="en-US" altLang="ja-JP" sz="3600" b="1" i="1" smtClean="0">
                            <a:solidFill>
                              <a:srgbClr val="082B52"/>
                            </a:solidFill>
                            <a:latin typeface="Cambria Math" panose="02040503050406030204" pitchFamily="18" charset="0"/>
                          </a:rPr>
                          <m:t>,</m:t>
                        </m:r>
                        <m:r>
                          <a:rPr lang="en-US" altLang="ja-JP" sz="3600" b="1" i="1" smtClean="0">
                            <a:solidFill>
                              <a:srgbClr val="082B52"/>
                            </a:solidFill>
                            <a:latin typeface="Cambria Math" panose="02040503050406030204" pitchFamily="18" charset="0"/>
                          </a:rPr>
                          <m:t>𝒕𝒓𝒖𝒆</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𝑳𝑪𝑻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𝑺𝑻𝑻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oMath>
                </a14:m>
                <a:endParaRPr lang="en-US" altLang="ja-JP" sz="3600" b="1" i="1" dirty="0">
                  <a:solidFill>
                    <a:srgbClr val="082B52"/>
                  </a:solidFill>
                  <a:latin typeface="Yu Gothic"/>
                </a:endParaRPr>
              </a:p>
              <a:p>
                <a:pPr algn="ctr"/>
                <a:r>
                  <a:rPr lang="en-US" sz="3600" b="1" i="1" dirty="0">
                    <a:solidFill>
                      <a:srgbClr val="082B52"/>
                    </a:solidFill>
                    <a:latin typeface="Yu Gothic"/>
                  </a:rPr>
                  <a:t> </a:t>
                </a:r>
                <a:endParaRPr sz="3600" b="1" i="1" dirty="0">
                  <a:solidFill>
                    <a:srgbClr val="082B52"/>
                  </a:solidFill>
                  <a:latin typeface="Yu Gothic"/>
                </a:endParaRPr>
              </a:p>
            </p:txBody>
          </p:sp>
        </mc:Choice>
        <mc:Fallback xmlns="">
          <p:sp>
            <p:nvSpPr>
              <p:cNvPr id="31" name="TextBox 9">
                <a:extLst>
                  <a:ext uri="{FF2B5EF4-FFF2-40B4-BE49-F238E27FC236}">
                    <a16:creationId xmlns:a16="http://schemas.microsoft.com/office/drawing/2014/main" id="{1D5E19C6-D5A3-C347-891E-06621B675036}"/>
                  </a:ext>
                </a:extLst>
              </p:cNvPr>
              <p:cNvSpPr txBox="1">
                <a:spLocks noRot="1" noChangeAspect="1" noMove="1" noResize="1" noEditPoints="1" noAdjustHandles="1" noChangeArrowheads="1" noChangeShapeType="1" noTextEdit="1"/>
              </p:cNvSpPr>
              <p:nvPr/>
            </p:nvSpPr>
            <p:spPr>
              <a:xfrm>
                <a:off x="16004709" y="7034356"/>
                <a:ext cx="6833537" cy="1187761"/>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TextBox 9">
                <a:extLst>
                  <a:ext uri="{FF2B5EF4-FFF2-40B4-BE49-F238E27FC236}">
                    <a16:creationId xmlns:a16="http://schemas.microsoft.com/office/drawing/2014/main" id="{C6979E3C-0BB9-6EF7-CE62-35CD169FE964}"/>
                  </a:ext>
                </a:extLst>
              </p:cNvPr>
              <p:cNvSpPr txBox="1"/>
              <p:nvPr/>
            </p:nvSpPr>
            <p:spPr>
              <a:xfrm>
                <a:off x="17297234" y="7976871"/>
                <a:ext cx="4259051" cy="1577804"/>
              </a:xfrm>
              <a:prstGeom prst="rect">
                <a:avLst/>
              </a:prstGeom>
              <a:noFill/>
            </p:spPr>
            <p:txBody>
              <a:bodyPr wrap="none" lIns="36576" tIns="27432" rIns="36576" bIns="27432" anchor="t">
                <a:spAutoFit/>
              </a:bodyPr>
              <a:lstStyle/>
              <a:p>
                <a:pPr algn="ctr"/>
                <a:r>
                  <a:rPr lang="en-US" sz="3200" b="1" i="1" dirty="0">
                    <a:solidFill>
                      <a:srgbClr val="082B52"/>
                    </a:solidFill>
                    <a:latin typeface="Yu Gothic"/>
                  </a:rPr>
                  <a:t> </a:t>
                </a:r>
                <a14:m>
                  <m:oMath xmlns:m="http://schemas.openxmlformats.org/officeDocument/2006/math">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𝒕𝒉𝒆𝒓𝒎𝒂𝒍</m:t>
                        </m:r>
                        <m:r>
                          <a:rPr lang="en-US" altLang="ja-JP" sz="3200" b="1" i="1" smtClean="0">
                            <a:solidFill>
                              <a:srgbClr val="082B52"/>
                            </a:solidFill>
                            <a:latin typeface="Cambria Math" panose="02040503050406030204" pitchFamily="18" charset="0"/>
                          </a:rPr>
                          <m:t>,</m:t>
                        </m:r>
                        <m:r>
                          <a:rPr lang="en-US" altLang="ja-JP" sz="3200" b="1" i="1" smtClean="0">
                            <a:solidFill>
                              <a:srgbClr val="082B52"/>
                            </a:solidFill>
                            <a:latin typeface="Cambria Math" panose="02040503050406030204" pitchFamily="18" charset="0"/>
                          </a:rPr>
                          <m:t>𝒕𝒓𝒖𝒆</m:t>
                        </m:r>
                      </m:sub>
                    </m:sSub>
                    <m:r>
                      <a:rPr lang="en-US" altLang="ja-JP" sz="3200" b="1" i="1" smtClean="0">
                        <a:solidFill>
                          <a:srgbClr val="082B52"/>
                        </a:solidFill>
                        <a:latin typeface="Cambria Math" panose="02040503050406030204" pitchFamily="18" charset="0"/>
                      </a:rPr>
                      <m:t>=</m:t>
                    </m:r>
                    <m:sSub>
                      <m:sSubPr>
                        <m:ctrlPr>
                          <a:rPr lang="en-US" altLang="ja-JP" sz="3200" b="1" i="1" smtClean="0">
                            <a:solidFill>
                              <a:srgbClr val="082B52"/>
                            </a:solidFill>
                            <a:latin typeface="Cambria Math" panose="02040503050406030204" pitchFamily="18" charset="0"/>
                          </a:rPr>
                        </m:ctrlPr>
                      </m:sSubPr>
                      <m:e>
                        <m:r>
                          <a:rPr lang="en-US" altLang="ja-JP" sz="3200" b="1" i="1" smtClean="0">
                            <a:solidFill>
                              <a:srgbClr val="082B52"/>
                            </a:solidFill>
                            <a:latin typeface="Cambria Math" panose="02040503050406030204" pitchFamily="18" charset="0"/>
                          </a:rPr>
                          <m:t>[</m:t>
                        </m:r>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𝒙</m:t>
                        </m:r>
                      </m:sub>
                    </m:sSub>
                    <m:r>
                      <a:rPr lang="en-US" altLang="ja-JP" sz="3200" b="1" i="1" smtClean="0">
                        <a:solidFill>
                          <a:srgbClr val="082B52"/>
                        </a:solidFill>
                        <a:latin typeface="Cambria Math" panose="02040503050406030204" pitchFamily="18" charset="0"/>
                      </a:rPr>
                      <m:t>, </m:t>
                    </m:r>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𝒚</m:t>
                        </m:r>
                      </m:sub>
                    </m:sSub>
                    <m:r>
                      <a:rPr lang="en-US" altLang="ja-JP" sz="3200" b="1" i="1" smtClean="0">
                        <a:solidFill>
                          <a:srgbClr val="082B52"/>
                        </a:solidFill>
                        <a:latin typeface="Cambria Math" panose="02040503050406030204" pitchFamily="18" charset="0"/>
                      </a:rPr>
                      <m:t>]</m:t>
                    </m:r>
                  </m:oMath>
                </a14:m>
                <a:endParaRPr lang="en-US" altLang="ja-JP" sz="3200" b="1" i="1" dirty="0">
                  <a:solidFill>
                    <a:srgbClr val="082B52"/>
                  </a:solidFill>
                  <a:latin typeface="Yu Gothic"/>
                </a:endParaRPr>
              </a:p>
              <a:p>
                <a:pPr algn="ctr"/>
                <a:endParaRPr lang="en-US" altLang="ja-JP" sz="3200" b="1" i="1" dirty="0">
                  <a:solidFill>
                    <a:srgbClr val="082B52"/>
                  </a:solidFill>
                  <a:latin typeface="Yu Gothic"/>
                </a:endParaRPr>
              </a:p>
              <a:p>
                <a:pPr algn="ctr"/>
                <a:r>
                  <a:rPr lang="en-US" sz="3200" b="1" i="1" dirty="0">
                    <a:solidFill>
                      <a:srgbClr val="082B52"/>
                    </a:solidFill>
                    <a:latin typeface="Yu Gothic"/>
                  </a:rPr>
                  <a:t> </a:t>
                </a:r>
                <a:endParaRPr sz="3200" b="1" i="1" dirty="0">
                  <a:solidFill>
                    <a:srgbClr val="082B52"/>
                  </a:solidFill>
                  <a:latin typeface="Yu Gothic"/>
                </a:endParaRPr>
              </a:p>
            </p:txBody>
          </p:sp>
        </mc:Choice>
        <mc:Fallback xmlns="">
          <p:sp>
            <p:nvSpPr>
              <p:cNvPr id="33" name="TextBox 9">
                <a:extLst>
                  <a:ext uri="{FF2B5EF4-FFF2-40B4-BE49-F238E27FC236}">
                    <a16:creationId xmlns:a16="http://schemas.microsoft.com/office/drawing/2014/main" id="{C6979E3C-0BB9-6EF7-CE62-35CD169FE964}"/>
                  </a:ext>
                </a:extLst>
              </p:cNvPr>
              <p:cNvSpPr txBox="1">
                <a:spLocks noRot="1" noChangeAspect="1" noMove="1" noResize="1" noEditPoints="1" noAdjustHandles="1" noChangeArrowheads="1" noChangeShapeType="1" noTextEdit="1"/>
              </p:cNvSpPr>
              <p:nvPr/>
            </p:nvSpPr>
            <p:spPr>
              <a:xfrm>
                <a:off x="17297234" y="7976871"/>
                <a:ext cx="4259051" cy="1577804"/>
              </a:xfrm>
              <a:prstGeom prst="rect">
                <a:avLst/>
              </a:prstGeom>
              <a:blipFill>
                <a:blip r:embed="rId6"/>
                <a:stretch>
                  <a:fillRect/>
                </a:stretch>
              </a:blipFill>
            </p:spPr>
            <p:txBody>
              <a:bodyPr/>
              <a:lstStyle/>
              <a:p>
                <a:r>
                  <a:rPr lang="ja-JP" altLang="en-US">
                    <a:noFill/>
                  </a:rPr>
                  <a:t> </a:t>
                </a:r>
              </a:p>
            </p:txBody>
          </p:sp>
        </mc:Fallback>
      </mc:AlternateContent>
      <p:pic>
        <p:nvPicPr>
          <p:cNvPr id="6" name="図 5">
            <a:extLst>
              <a:ext uri="{FF2B5EF4-FFF2-40B4-BE49-F238E27FC236}">
                <a16:creationId xmlns:a16="http://schemas.microsoft.com/office/drawing/2014/main" id="{DC33983D-AC0D-18DB-72E9-DF2EB746875E}"/>
              </a:ext>
            </a:extLst>
          </p:cNvPr>
          <p:cNvPicPr>
            <a:picLocks noChangeAspect="1"/>
          </p:cNvPicPr>
          <p:nvPr/>
        </p:nvPicPr>
        <p:blipFill>
          <a:blip r:embed="rId7"/>
          <a:stretch>
            <a:fillRect/>
          </a:stretch>
        </p:blipFill>
        <p:spPr>
          <a:xfrm>
            <a:off x="7916399" y="3441668"/>
            <a:ext cx="6803639" cy="6537732"/>
          </a:xfrm>
          <a:prstGeom prst="rect">
            <a:avLst/>
          </a:prstGeom>
        </p:spPr>
      </p:pic>
    </p:spTree>
    <p:extLst>
      <p:ext uri="{BB962C8B-B14F-4D97-AF65-F5344CB8AC3E}">
        <p14:creationId xmlns:p14="http://schemas.microsoft.com/office/powerpoint/2010/main" val="3691856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Thermoelastic analysis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The structure and LOS definition are fixed; only sun face, dissipation, surface, and orbit vary</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1</a:t>
            </a:r>
            <a:endParaRPr sz="1800" b="0" dirty="0">
              <a:solidFill>
                <a:srgbClr val="666F79"/>
              </a:solidFill>
              <a:latin typeface="Yu Gothic"/>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051921897"/>
              </p:ext>
            </p:extLst>
          </p:nvPr>
        </p:nvGraphicFramePr>
        <p:xfrm>
          <a:off x="1097280" y="3665220"/>
          <a:ext cx="21945600" cy="5029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9235440">
                  <a:extLst>
                    <a:ext uri="{9D8B030D-6E8A-4147-A177-3AD203B41FA5}">
                      <a16:colId xmlns:a16="http://schemas.microsoft.com/office/drawing/2014/main" val="20001"/>
                    </a:ext>
                  </a:extLst>
                </a:gridCol>
                <a:gridCol w="8595360">
                  <a:extLst>
                    <a:ext uri="{9D8B030D-6E8A-4147-A177-3AD203B41FA5}">
                      <a16:colId xmlns:a16="http://schemas.microsoft.com/office/drawing/2014/main" val="20002"/>
                    </a:ext>
                  </a:extLst>
                </a:gridCol>
              </a:tblGrid>
              <a:tr h="1005840">
                <a:tc>
                  <a:txBody>
                    <a:bodyPr/>
                    <a:lstStyle/>
                    <a:p>
                      <a:pPr algn="l">
                        <a:spcAft>
                          <a:spcPts val="0"/>
                        </a:spcAft>
                      </a:pPr>
                      <a:r>
                        <a:rPr sz="2300" b="1">
                          <a:solidFill>
                            <a:srgbClr val="FFFFFF"/>
                          </a:solidFill>
                          <a:latin typeface="Yu Gothic"/>
                          <a:ea typeface="Yu Gothic"/>
                        </a:rPr>
                        <a:t>Varied factor</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Cases</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Purpose</a:t>
                      </a: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spcAft>
                          <a:spcPts val="0"/>
                        </a:spcAft>
                      </a:pPr>
                      <a:r>
                        <a:rPr sz="2300" b="0">
                          <a:solidFill>
                            <a:srgbClr val="232B34"/>
                          </a:solidFill>
                          <a:latin typeface="Yu Gothic"/>
                          <a:ea typeface="Yu Gothic"/>
                        </a:rPr>
                        <a:t>Sun face</a:t>
                      </a:r>
                      <a:endParaRPr sz="2300" b="0" dirty="0">
                        <a:solidFill>
                          <a:srgbClr val="232B34"/>
                        </a:solidFill>
                        <a:latin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MX / MY / PX / PY</a:t>
                      </a:r>
                    </a:p>
                  </a:txBody>
                  <a:tcPr marL="64008" marR="64008" marT="27432" marB="27432" anchor="ctr">
                    <a:solidFill>
                      <a:srgbClr val="FFFFFF"/>
                    </a:solidFill>
                  </a:tcPr>
                </a:tc>
                <a:tc>
                  <a:txBody>
                    <a:bodyPr/>
                    <a:lstStyle/>
                    <a:p>
                      <a:pPr algn="ctr">
                        <a:spcAft>
                          <a:spcPts val="0"/>
                        </a:spcAft>
                      </a:pPr>
                      <a:r>
                        <a:rPr sz="2400">
                          <a:solidFill>
                            <a:srgbClr val="232B34"/>
                          </a:solidFill>
                          <a:latin typeface="Yu Gothic"/>
                          <a:ea typeface="Yu Gothic"/>
                        </a:rPr>
                        <a:t>Dominant axis, sign, and magnitude</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005840">
                <a:tc>
                  <a:txBody>
                    <a:bodyPr/>
                    <a:lstStyle/>
                    <a:p>
                      <a:pPr algn="l">
                        <a:spcAft>
                          <a:spcPts val="0"/>
                        </a:spcAft>
                      </a:pPr>
                      <a:r>
                        <a:rPr sz="2300" b="0">
                          <a:solidFill>
                            <a:srgbClr val="232B34"/>
                          </a:solidFill>
                          <a:latin typeface="Yu Gothic"/>
                          <a:ea typeface="Yu Gothic"/>
                        </a:rPr>
                        <a:t>Internal dissipation</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STT/LCT only / +PROP / +PCDU / all units (one half-power case)</a:t>
                      </a:r>
                    </a:p>
                  </a:txBody>
                  <a:tcPr marL="64008" marR="64008" marT="27432" marB="27432" anchor="ctr">
                    <a:solidFill>
                      <a:srgbClr val="F4F6F8"/>
                    </a:solidFill>
                  </a:tcPr>
                </a:tc>
                <a:tc>
                  <a:txBody>
                    <a:bodyPr/>
                    <a:lstStyle/>
                    <a:p>
                      <a:pPr algn="ctr">
                        <a:spcAft>
                          <a:spcPts val="0"/>
                        </a:spcAft>
                      </a:pPr>
                      <a:r>
                        <a:rPr sz="2400">
                          <a:solidFill>
                            <a:srgbClr val="232B34"/>
                          </a:solidFill>
                          <a:latin typeface="Yu Gothic"/>
                          <a:ea typeface="Yu Gothic"/>
                        </a:rPr>
                        <a:t>Variation in mean bias across cases</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005840">
                <a:tc>
                  <a:txBody>
                    <a:bodyPr/>
                    <a:lstStyle/>
                    <a:p>
                      <a:pPr algn="l">
                        <a:spcAft>
                          <a:spcPts val="0"/>
                        </a:spcAft>
                      </a:pPr>
                      <a:r>
                        <a:rPr sz="2300" b="0">
                          <a:solidFill>
                            <a:srgbClr val="232B34"/>
                          </a:solidFill>
                          <a:latin typeface="Yu Gothic"/>
                          <a:ea typeface="Yu Gothic"/>
                        </a:rPr>
                        <a:t>Surface properties</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Baseline (α = ε = 0.5) / Black / Alodine</a:t>
                      </a:r>
                    </a:p>
                  </a:txBody>
                  <a:tcPr marL="64008" marR="64008" marT="27432" marB="27432" anchor="ctr">
                    <a:solidFill>
                      <a:srgbClr val="FFFFFF"/>
                    </a:solidFill>
                  </a:tcPr>
                </a:tc>
                <a:tc>
                  <a:txBody>
                    <a:bodyPr/>
                    <a:lstStyle/>
                    <a:p>
                      <a:pPr algn="ctr">
                        <a:spcAft>
                          <a:spcPts val="0"/>
                        </a:spcAft>
                      </a:pPr>
                      <a:r>
                        <a:rPr sz="2400">
                          <a:solidFill>
                            <a:srgbClr val="232B34"/>
                          </a:solidFill>
                          <a:latin typeface="Yu Gothic"/>
                          <a:ea typeface="Yu Gothic"/>
                        </a:rPr>
                        <a:t>Variation amplitude and residual floor</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005840">
                <a:tc>
                  <a:txBody>
                    <a:bodyPr/>
                    <a:lstStyle/>
                    <a:p>
                      <a:pPr algn="l">
                        <a:spcAft>
                          <a:spcPts val="0"/>
                        </a:spcAft>
                      </a:pPr>
                      <a:r>
                        <a:rPr sz="2300" b="0">
                          <a:solidFill>
                            <a:srgbClr val="232B34"/>
                          </a:solidFill>
                          <a:latin typeface="Yu Gothic"/>
                          <a:ea typeface="Yu Gothic"/>
                        </a:rPr>
                        <a:t>Orbit / thermal environment</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Eclipse / continuous illumination; LTAN06 / LTAN18</a:t>
                      </a:r>
                      <a:endParaRPr sz="2300" b="0" dirty="0">
                        <a:solidFill>
                          <a:srgbClr val="232B34"/>
                        </a:solidFill>
                        <a:latin typeface="Yu Gothic"/>
                      </a:endParaRPr>
                    </a:p>
                  </a:txBody>
                  <a:tcPr marL="64008" marR="64008" marT="27432" marB="27432" anchor="ctr">
                    <a:solidFill>
                      <a:srgbClr val="F4F6F8"/>
                    </a:solidFill>
                  </a:tcPr>
                </a:tc>
                <a:tc>
                  <a:txBody>
                    <a:bodyPr/>
                    <a:lstStyle/>
                    <a:p>
                      <a:pPr algn="ctr">
                        <a:spcAft>
                          <a:spcPts val="0"/>
                        </a:spcAft>
                      </a:pPr>
                      <a:r>
                        <a:rPr sz="2400">
                          <a:solidFill>
                            <a:srgbClr val="232B34"/>
                          </a:solidFill>
                          <a:latin typeface="Yu Gothic"/>
                          <a:ea typeface="Yu Gothic"/>
                        </a:rPr>
                        <a:t>Applicability across thermal and orbit conditions</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1097280" y="11338560"/>
            <a:ext cx="21945600" cy="732508"/>
          </a:xfrm>
          <a:prstGeom prst="rect">
            <a:avLst/>
          </a:prstGeom>
          <a:noFill/>
        </p:spPr>
        <p:txBody>
          <a:bodyPr wrap="square" lIns="36576" tIns="27432" rIns="36576" bIns="27432" anchor="t">
            <a:spAutoFit/>
          </a:bodyPr>
          <a:lstStyle/>
          <a:p>
            <a:pPr>
              <a:spcAft>
                <a:spcPts val="0"/>
              </a:spcAft>
            </a:pPr>
            <a:r>
              <a:rPr sz="2200" b="0" dirty="0">
                <a:solidFill>
                  <a:srgbClr val="D03B46"/>
                </a:solidFill>
                <a:latin typeface="Yu Gothic"/>
                <a:ea typeface="Yu Gothic"/>
              </a:rPr>
              <a:t>PZ/MZ sun-face cases are not included;</a:t>
            </a:r>
            <a:endParaRPr lang="en-US" sz="2200" b="0" dirty="0">
              <a:solidFill>
                <a:srgbClr val="D03B46"/>
              </a:solidFill>
              <a:latin typeface="Yu Gothic"/>
              <a:ea typeface="Yu Gothic"/>
            </a:endParaRPr>
          </a:p>
          <a:p>
            <a:pPr>
              <a:spcAft>
                <a:spcPts val="0"/>
              </a:spcAft>
            </a:pPr>
            <a:r>
              <a:rPr sz="2200" b="0" dirty="0" err="1">
                <a:solidFill>
                  <a:srgbClr val="D03B46"/>
                </a:solidFill>
                <a:latin typeface="Yu Gothic"/>
                <a:ea typeface="Yu Gothic"/>
              </a:rPr>
              <a:t>they host the STT/LCT and are outside this model's scope.</a:t>
            </a:r>
            <a:endParaRPr sz="2600" b="1" dirty="0">
              <a:solidFill>
                <a:srgbClr val="D03B46"/>
              </a:solidFill>
              <a:latin typeface="Yu Gothic"/>
            </a:endParaRPr>
          </a:p>
        </p:txBody>
      </p:sp>
      <p:sp>
        <p:nvSpPr>
          <p:cNvPr id="9" name="テキスト ボックス 8">
            <a:extLst>
              <a:ext uri="{FF2B5EF4-FFF2-40B4-BE49-F238E27FC236}">
                <a16:creationId xmlns:a16="http://schemas.microsoft.com/office/drawing/2014/main" id="{E6ED6B3C-14BA-01A2-9F51-A8D5EC699EB3}"/>
              </a:ext>
            </a:extLst>
          </p:cNvPr>
          <p:cNvSpPr txBox="1"/>
          <p:nvPr/>
        </p:nvSpPr>
        <p:spPr>
          <a:xfrm>
            <a:off x="10195444" y="3134017"/>
            <a:ext cx="4720705" cy="523220"/>
          </a:xfrm>
          <a:prstGeom prst="rect">
            <a:avLst/>
          </a:prstGeom>
          <a:noFill/>
        </p:spPr>
        <p:txBody>
          <a:bodyPr wrap="square" rtlCol="0">
            <a:spAutoFit/>
          </a:bodyPr>
          <a:lstStyle/>
          <a:p>
            <a:r>
              <a:rPr kumimoji="1" lang="ja-JP" altLang="en-US" sz="2800" dirty="0"/>
              <a:t>Case parameters</a:t>
            </a:r>
          </a:p>
        </p:txBody>
      </p:sp>
      <p:sp>
        <p:nvSpPr>
          <p:cNvPr id="10" name="TextBox 9"/>
          <p:cNvSpPr txBox="1"/>
          <p:nvPr/>
        </p:nvSpPr>
        <p:spPr>
          <a:xfrm>
            <a:off x="1097280" y="9418320"/>
            <a:ext cx="21945600" cy="1395831"/>
          </a:xfrm>
          <a:prstGeom prst="rect">
            <a:avLst/>
          </a:prstGeom>
          <a:noFill/>
        </p:spPr>
        <p:txBody>
          <a:bodyPr wrap="square" lIns="45720" tIns="18288" rIns="45720" bIns="18288" anchor="t">
            <a:spAutoFit/>
          </a:bodyPr>
          <a:lstStyle/>
          <a:p>
            <a:pPr algn="l">
              <a:lnSpc>
                <a:spcPct val="120000"/>
              </a:lnSpc>
              <a:spcAft>
                <a:spcPts val="0"/>
              </a:spcAft>
            </a:pPr>
            <a:r>
              <a:rPr sz="2500" b="1" dirty="0" err="1">
                <a:solidFill>
                  <a:srgbClr val="082B52"/>
                </a:solidFill>
                <a:latin typeface="Yu Gothic"/>
                <a:ea typeface="Yu Gothic"/>
              </a:rPr>
              <a:t>Fixed parameters: structure and dimensions, STT/LCT placement, material, and LOS definition</a:t>
            </a:r>
            <a:endParaRPr sz="2500" b="1" dirty="0">
              <a:solidFill>
                <a:srgbClr val="082B52"/>
              </a:solidFill>
              <a:latin typeface="Yu Gothic"/>
              <a:ea typeface="Yu Gothic"/>
            </a:endParaRPr>
          </a:p>
          <a:p>
            <a:pPr algn="l">
              <a:lnSpc>
                <a:spcPct val="120000"/>
              </a:lnSpc>
              <a:spcAft>
                <a:spcPts val="0"/>
              </a:spcAft>
            </a:pPr>
            <a:r>
              <a:rPr lang="ja-JP" altLang="en-US" sz="2500" b="1" dirty="0">
                <a:solidFill>
                  <a:srgbClr val="082B52"/>
                </a:solidFill>
                <a:latin typeface="Yu Gothic"/>
                <a:ea typeface="Yu Gothic"/>
              </a:rPr>
              <a:t>Current analysis: 21 cases.</a:t>
            </a:r>
            <a:endParaRPr lang="en-US" sz="2500" b="1" dirty="0">
              <a:solidFill>
                <a:srgbClr val="082B52"/>
              </a:solidFill>
              <a:latin typeface="Yu Gothic"/>
              <a:ea typeface="Yu Gothic"/>
            </a:endParaRPr>
          </a:p>
          <a:p>
            <a:pPr algn="l">
              <a:lnSpc>
                <a:spcPct val="120000"/>
              </a:lnSpc>
              <a:spcAft>
                <a:spcPts val="0"/>
              </a:spcAft>
            </a:pPr>
            <a:r>
              <a:rPr lang="en-US" altLang="ja-JP" sz="2500" b="1" dirty="0">
                <a:solidFill>
                  <a:srgbClr val="082B52"/>
                </a:solidFill>
                <a:latin typeface="Yu Gothic"/>
                <a:ea typeface="Yu Gothic"/>
              </a:rPr>
              <a:t>Across-condition evaluation is limited to the same spacecraft bus; coefficients are not transferred unchanged to another structure.</a:t>
            </a:r>
            <a:endParaRPr sz="2500" b="1" dirty="0">
              <a:solidFill>
                <a:srgbClr val="082B52"/>
              </a:solidFill>
              <a:latin typeface="Yu Gothic"/>
              <a:ea typeface="Yu Gothic"/>
            </a:endParaRPr>
          </a:p>
        </p:txBody>
      </p:sp>
    </p:spTree>
    <p:extLst>
      <p:ext uri="{BB962C8B-B14F-4D97-AF65-F5344CB8AC3E}">
        <p14:creationId xmlns:p14="http://schemas.microsoft.com/office/powerpoint/2010/main" val="23853237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463AB-B8F3-8DC8-987F-A486F27B8B2E}"/>
            </a:ext>
          </a:extLst>
        </p:cNvPr>
        <p:cNvGrpSpPr/>
        <p:nvPr/>
      </p:nvGrpSpPr>
      <p:grpSpPr>
        <a:xfrm>
          <a:off x="0" y="0"/>
          <a:ext cx="0" cy="0"/>
          <a:chOff x="0" y="0"/>
          <a:chExt cx="0" cy="0"/>
        </a:xfrm>
      </p:grpSpPr>
      <p:sp>
        <p:nvSpPr>
          <p:cNvPr id="13" name="TextBox 2">
            <a:extLst>
              <a:ext uri="{FF2B5EF4-FFF2-40B4-BE49-F238E27FC236}">
                <a16:creationId xmlns:a16="http://schemas.microsoft.com/office/drawing/2014/main" id="{DF026E16-6558-6EEA-9100-74BFD8FDF688}"/>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lang="ja-JP" altLang="en-US" sz="3200" b="1" dirty="0">
                <a:solidFill>
                  <a:srgbClr val="082B52"/>
                </a:solidFill>
                <a:latin typeface="Yu Gothic"/>
                <a:ea typeface="Yu Gothic"/>
              </a:rPr>
              <a:t>Results: thermal LOS varies at the orbital period; the dominant axis and mean offset follow the sun face</a:t>
            </a:r>
            <a:endParaRPr lang="en-US" sz="3200" b="1" dirty="0">
              <a:solidFill>
                <a:srgbClr val="082B52"/>
              </a:solidFill>
              <a:latin typeface="Yu Gothic"/>
            </a:endParaRPr>
          </a:p>
        </p:txBody>
      </p:sp>
      <p:sp>
        <p:nvSpPr>
          <p:cNvPr id="15" name="TextBox 3">
            <a:extLst>
              <a:ext uri="{FF2B5EF4-FFF2-40B4-BE49-F238E27FC236}">
                <a16:creationId xmlns:a16="http://schemas.microsoft.com/office/drawing/2014/main" id="{3FDE0B2A-84AF-B318-D633-0F7FDE84BD9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2</a:t>
            </a:r>
            <a:endParaRPr sz="1800" b="0" dirty="0">
              <a:solidFill>
                <a:srgbClr val="666F79"/>
              </a:solidFill>
              <a:latin typeface="Yu Gothic"/>
              <a:ea typeface="Yu Gothic"/>
            </a:endParaRPr>
          </a:p>
        </p:txBody>
      </p:sp>
      <p:pic>
        <p:nvPicPr>
          <p:cNvPr id="17" name="Picture 7" descr="04_LTAN06_800km_1213COLD_MY_ALL_HEAT_MY_0p5_far_field_los_angle_budget.png">
            <a:extLst>
              <a:ext uri="{FF2B5EF4-FFF2-40B4-BE49-F238E27FC236}">
                <a16:creationId xmlns:a16="http://schemas.microsoft.com/office/drawing/2014/main" id="{EF6173D2-A246-1BCD-BC6A-F5B628313A3F}"/>
              </a:ext>
            </a:extLst>
          </p:cNvPr>
          <p:cNvPicPr>
            <a:picLocks noChangeAspect="1"/>
          </p:cNvPicPr>
          <p:nvPr/>
        </p:nvPicPr>
        <p:blipFill>
          <a:blip r:embed="rId3"/>
          <a:stretch>
            <a:fillRect/>
          </a:stretch>
        </p:blipFill>
        <p:spPr>
          <a:xfrm>
            <a:off x="1066619" y="2988426"/>
            <a:ext cx="11781048" cy="8568034"/>
          </a:xfrm>
          <a:prstGeom prst="rect">
            <a:avLst/>
          </a:prstGeom>
        </p:spPr>
      </p:pic>
      <p:sp>
        <p:nvSpPr>
          <p:cNvPr id="19" name="TextBox 8">
            <a:extLst>
              <a:ext uri="{FF2B5EF4-FFF2-40B4-BE49-F238E27FC236}">
                <a16:creationId xmlns:a16="http://schemas.microsoft.com/office/drawing/2014/main" id="{E5AE464D-DFE6-09C6-65DA-8D2CC851F626}"/>
              </a:ext>
            </a:extLst>
          </p:cNvPr>
          <p:cNvSpPr txBox="1"/>
          <p:nvPr/>
        </p:nvSpPr>
        <p:spPr>
          <a:xfrm>
            <a:off x="12847320" y="11475720"/>
            <a:ext cx="11045952" cy="411480"/>
          </a:xfrm>
          <a:prstGeom prst="rect">
            <a:avLst/>
          </a:prstGeom>
          <a:noFill/>
        </p:spPr>
        <p:txBody>
          <a:bodyPr wrap="square" lIns="36576" tIns="27432" rIns="36576" bIns="27432" anchor="t">
            <a:spAutoFit/>
          </a:bodyPr>
          <a:lstStyle/>
          <a:p>
            <a:pPr algn="ctr">
              <a:spcAft>
                <a:spcPts val="0"/>
              </a:spcAft>
            </a:pPr>
            <a:r>
              <a:rPr sz="2100" b="1">
                <a:solidFill>
                  <a:srgbClr val="1B74AA"/>
                </a:solidFill>
                <a:latin typeface="Yu Gothic"/>
                <a:ea typeface="Yu Gothic"/>
              </a:rPr>
              <a:t>Panel temperatures</a:t>
            </a:r>
          </a:p>
        </p:txBody>
      </p:sp>
      <p:sp>
        <p:nvSpPr>
          <p:cNvPr id="21" name="TextBox 9">
            <a:extLst>
              <a:ext uri="{FF2B5EF4-FFF2-40B4-BE49-F238E27FC236}">
                <a16:creationId xmlns:a16="http://schemas.microsoft.com/office/drawing/2014/main" id="{E830988C-07D9-F5B9-9874-7C1D60418F77}"/>
              </a:ext>
            </a:extLst>
          </p:cNvPr>
          <p:cNvSpPr txBox="1"/>
          <p:nvPr/>
        </p:nvSpPr>
        <p:spPr>
          <a:xfrm>
            <a:off x="1069848" y="11475720"/>
            <a:ext cx="11777472" cy="486287"/>
          </a:xfrm>
          <a:prstGeom prst="rect">
            <a:avLst/>
          </a:prstGeom>
          <a:noFill/>
        </p:spPr>
        <p:txBody>
          <a:bodyPr wrap="square" lIns="36576" tIns="27432" rIns="36576" bIns="27432" anchor="t">
            <a:spAutoFit/>
          </a:bodyPr>
          <a:lstStyle/>
          <a:p>
            <a:pPr algn="ctr">
              <a:spcAft>
                <a:spcPts val="0"/>
              </a:spcAft>
            </a:pPr>
            <a:r>
              <a:rPr sz="2100" b="1" dirty="0">
                <a:solidFill>
                  <a:srgbClr val="1B74AA"/>
                </a:solidFill>
                <a:latin typeface="Yu Gothic"/>
                <a:ea typeface="Yu Gothic"/>
              </a:rPr>
              <a:t>Case 04 (MY sun face): far-field LOS</a:t>
            </a:r>
          </a:p>
        </p:txBody>
      </p:sp>
      <p:pic>
        <p:nvPicPr>
          <p:cNvPr id="25" name="図 24">
            <a:extLst>
              <a:ext uri="{FF2B5EF4-FFF2-40B4-BE49-F238E27FC236}">
                <a16:creationId xmlns:a16="http://schemas.microsoft.com/office/drawing/2014/main" id="{5B2B2B61-04B6-BD30-69A8-D3793BED63C6}"/>
              </a:ext>
            </a:extLst>
          </p:cNvPr>
          <p:cNvPicPr>
            <a:picLocks noChangeAspect="1"/>
          </p:cNvPicPr>
          <p:nvPr/>
        </p:nvPicPr>
        <p:blipFill>
          <a:blip r:embed="rId4"/>
          <a:stretch>
            <a:fillRect/>
          </a:stretch>
        </p:blipFill>
        <p:spPr>
          <a:xfrm>
            <a:off x="12847667" y="3089848"/>
            <a:ext cx="11043623" cy="7696091"/>
          </a:xfrm>
          <a:prstGeom prst="rect">
            <a:avLst/>
          </a:prstGeom>
        </p:spPr>
      </p:pic>
      <p:sp>
        <p:nvSpPr>
          <p:cNvPr id="26" name="テキスト ボックス 25">
            <a:extLst>
              <a:ext uri="{FF2B5EF4-FFF2-40B4-BE49-F238E27FC236}">
                <a16:creationId xmlns:a16="http://schemas.microsoft.com/office/drawing/2014/main" id="{E19AF93F-1049-8626-F574-E8F86249A9BE}"/>
              </a:ext>
            </a:extLst>
          </p:cNvPr>
          <p:cNvSpPr txBox="1"/>
          <p:nvPr/>
        </p:nvSpPr>
        <p:spPr>
          <a:xfrm>
            <a:off x="1097280" y="11932920"/>
            <a:ext cx="22128480" cy="1539139"/>
          </a:xfrm>
          <a:prstGeom prst="rect">
            <a:avLst/>
          </a:prstGeom>
          <a:noFill/>
        </p:spPr>
        <p:txBody>
          <a:bodyPr wrap="square" rtlCol="0">
            <a:spAutoFit/>
          </a:bodyPr>
          <a:lstStyle/>
          <a:p>
            <a:pPr>
              <a:lnSpc>
                <a:spcPct val="105000"/>
              </a:lnSpc>
              <a:spcAft>
                <a:spcPts val="400"/>
              </a:spcAft>
            </a:pPr>
            <a:r>
              <a:rPr sz="2800" b="1" dirty="0">
                <a:solidFill>
                  <a:srgbClr val="D03B46"/>
                </a:solidFill>
                <a:latin typeface="Yu Gothic"/>
                <a:ea typeface="Yu Gothic"/>
              </a:rPr>
              <a:t>• </a:t>
            </a:r>
            <a:r>
              <a:rPr sz="2800" b="1" dirty="0" err="1">
                <a:solidFill>
                  <a:srgbClr val="D03B46"/>
                </a:solidFill>
                <a:latin typeface="Yu Gothic"/>
                <a:ea typeface="Yu Gothic"/>
              </a:rPr>
              <a:t>Orbital-period thermal LOS; dominant axis: MY/PY → y, MX/PX → x</a:t>
            </a:r>
            <a:endParaRPr lang="en-US" sz="2800" b="1" dirty="0">
              <a:solidFill>
                <a:srgbClr val="D03B46"/>
              </a:solidFill>
              <a:latin typeface="Yu Gothic"/>
              <a:ea typeface="Yu Gothic"/>
            </a:endParaRPr>
          </a:p>
          <a:p>
            <a:pPr>
              <a:lnSpc>
                <a:spcPct val="105000"/>
              </a:lnSpc>
              <a:spcAft>
                <a:spcPts val="400"/>
              </a:spcAft>
            </a:pPr>
            <a:r>
              <a:rPr lang="en-US" altLang="ja-JP" sz="2800" b="1" dirty="0">
                <a:solidFill>
                  <a:srgbClr val="D03B46"/>
                </a:solidFill>
                <a:latin typeface="Yu Gothic"/>
                <a:ea typeface="Yu Gothic"/>
              </a:rPr>
              <a:t>• </a:t>
            </a:r>
            <a:r>
              <a:rPr lang="ja-JP" altLang="en-US" sz="2800" b="1" dirty="0">
                <a:solidFill>
                  <a:srgbClr val="D03B46"/>
                </a:solidFill>
                <a:latin typeface="Yu Gothic"/>
                <a:ea typeface="Yu Gothic"/>
              </a:rPr>
              <a:t>Dominant-axis variation follows sun-facing–opposite-panel center ΔT</a:t>
            </a:r>
            <a:endParaRPr kumimoji="1" lang="en-US" altLang="ja-JP" sz="2800" b="1" dirty="0">
              <a:solidFill>
                <a:srgbClr val="FF0000"/>
              </a:solidFill>
            </a:endParaRPr>
          </a:p>
          <a:p>
            <a:pPr>
              <a:lnSpc>
                <a:spcPct val="105000"/>
              </a:lnSpc>
              <a:spcAft>
                <a:spcPts val="400"/>
              </a:spcAft>
            </a:pPr>
            <a:r>
              <a:rPr sz="2800" b="1" dirty="0">
                <a:solidFill>
                  <a:srgbClr val="D03B46"/>
                </a:solidFill>
                <a:latin typeface="Yu Gothic"/>
                <a:ea typeface="Yu Gothic"/>
              </a:rPr>
              <a:t>• Raw RMS: 150–1280 µrad; surface sets amplitude/floor, dissipation shifts the case mean</a:t>
            </a:r>
          </a:p>
        </p:txBody>
      </p:sp>
      <p:sp>
        <p:nvSpPr>
          <p:cNvPr id="3" name="TextBox 1">
            <a:extLst>
              <a:ext uri="{FF2B5EF4-FFF2-40B4-BE49-F238E27FC236}">
                <a16:creationId xmlns:a16="http://schemas.microsoft.com/office/drawing/2014/main" id="{EFF92B7E-D74D-E897-B84B-C149C90DF9CC}"/>
              </a:ext>
            </a:extLst>
          </p:cNvPr>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dirty="0" err="1">
                <a:solidFill>
                  <a:srgbClr val="666F79"/>
                </a:solidFill>
                <a:latin typeface="Yu Gothic"/>
                <a:ea typeface="Yu Gothic"/>
              </a:rPr>
              <a:t>Thermoelastic analysis</a:t>
            </a:r>
            <a:endParaRPr sz="2000" b="0" dirty="0">
              <a:solidFill>
                <a:srgbClr val="666F79"/>
              </a:solidFill>
              <a:latin typeface="Yu Gothic"/>
              <a:ea typeface="Yu Gothic"/>
            </a:endParaRPr>
          </a:p>
        </p:txBody>
      </p:sp>
      <p:sp>
        <p:nvSpPr>
          <p:cNvPr id="4" name="テキスト ボックス 3">
            <a:extLst>
              <a:ext uri="{FF2B5EF4-FFF2-40B4-BE49-F238E27FC236}">
                <a16:creationId xmlns:a16="http://schemas.microsoft.com/office/drawing/2014/main" id="{21A999EB-6657-85F3-AAE5-DE1992702995}"/>
              </a:ext>
            </a:extLst>
          </p:cNvPr>
          <p:cNvSpPr txBox="1"/>
          <p:nvPr/>
        </p:nvSpPr>
        <p:spPr>
          <a:xfrm>
            <a:off x="491123" y="8500840"/>
            <a:ext cx="830580" cy="1107996"/>
          </a:xfrm>
          <a:prstGeom prst="rect">
            <a:avLst/>
          </a:prstGeom>
          <a:noFill/>
        </p:spPr>
        <p:txBody>
          <a:bodyPr wrap="square" rtlCol="0">
            <a:spAutoFit/>
          </a:bodyPr>
          <a:lstStyle/>
          <a:p>
            <a:r>
              <a:rPr kumimoji="1" lang="en-US" altLang="ja-JP" sz="6600" dirty="0">
                <a:solidFill>
                  <a:srgbClr val="FF0000"/>
                </a:solidFill>
              </a:rPr>
              <a:t>Y</a:t>
            </a:r>
            <a:endParaRPr kumimoji="1" lang="ja-JP" altLang="en-US" sz="6600" dirty="0">
              <a:solidFill>
                <a:srgbClr val="FF0000"/>
              </a:solidFill>
            </a:endParaRPr>
          </a:p>
        </p:txBody>
      </p:sp>
      <p:sp>
        <p:nvSpPr>
          <p:cNvPr id="8" name="テキスト ボックス 7">
            <a:extLst>
              <a:ext uri="{FF2B5EF4-FFF2-40B4-BE49-F238E27FC236}">
                <a16:creationId xmlns:a16="http://schemas.microsoft.com/office/drawing/2014/main" id="{BE04E9AC-A06E-0E2C-D324-6DBC4126B62F}"/>
              </a:ext>
            </a:extLst>
          </p:cNvPr>
          <p:cNvSpPr txBox="1"/>
          <p:nvPr/>
        </p:nvSpPr>
        <p:spPr>
          <a:xfrm>
            <a:off x="23315794" y="6383895"/>
            <a:ext cx="830580" cy="1107996"/>
          </a:xfrm>
          <a:prstGeom prst="rect">
            <a:avLst/>
          </a:prstGeom>
          <a:noFill/>
        </p:spPr>
        <p:txBody>
          <a:bodyPr wrap="square" rtlCol="0">
            <a:spAutoFit/>
          </a:bodyPr>
          <a:lstStyle/>
          <a:p>
            <a:r>
              <a:rPr kumimoji="1" lang="en-US" altLang="ja-JP" sz="6600" dirty="0">
                <a:solidFill>
                  <a:srgbClr val="FF0000"/>
                </a:solidFill>
              </a:rPr>
              <a:t>Y</a:t>
            </a:r>
            <a:endParaRPr kumimoji="1" lang="ja-JP" altLang="en-US" sz="6600" dirty="0">
              <a:solidFill>
                <a:srgbClr val="FF0000"/>
              </a:solidFill>
            </a:endParaRPr>
          </a:p>
        </p:txBody>
      </p:sp>
    </p:spTree>
    <p:extLst>
      <p:ext uri="{BB962C8B-B14F-4D97-AF65-F5344CB8AC3E}">
        <p14:creationId xmlns:p14="http://schemas.microsoft.com/office/powerpoint/2010/main" val="13791333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A057F-DCF1-6E39-54A9-E6F0694682F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9374F04-0A41-3729-1974-27E20239906C}"/>
              </a:ext>
            </a:extLst>
          </p:cNvPr>
          <p:cNvSpPr>
            <a:spLocks noGrp="1"/>
          </p:cNvSpPr>
          <p:nvPr>
            <p:ph type="title"/>
          </p:nvPr>
        </p:nvSpPr>
        <p:spPr/>
        <p:txBody>
          <a:bodyPr>
            <a:normAutofit/>
          </a:bodyPr>
          <a:lstStyle/>
          <a:p>
            <a:r>
              <a:rPr sz="4800" b="0" dirty="0">
                <a:solidFill>
                  <a:srgbClr val="FFFFFF"/>
                </a:solidFill>
                <a:latin typeface="Arial" panose="020B0604020202020204" pitchFamily="34" charset="0"/>
                <a:cs typeface="Arial" panose="020B0604020202020204" pitchFamily="34" charset="0"/>
              </a:rPr>
              <a:t>0</a:t>
            </a:r>
            <a:r>
              <a:rPr lang="en-US" sz="4800" b="0" dirty="0">
                <a:solidFill>
                  <a:srgbClr val="FFFFFF"/>
                </a:solidFill>
                <a:latin typeface="Arial" panose="020B0604020202020204" pitchFamily="34" charset="0"/>
                <a:cs typeface="Arial" panose="020B0604020202020204" pitchFamily="34" charset="0"/>
              </a:rPr>
              <a:t>3</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531B5912-5AC4-3FF6-4101-82BE892654CC}"/>
              </a:ext>
            </a:extLst>
          </p:cNvPr>
          <p:cNvSpPr>
            <a:spLocks noGrp="1"/>
          </p:cNvSpPr>
          <p:nvPr>
            <p:ph type="body" idx="1"/>
          </p:nvPr>
        </p:nvSpPr>
        <p:spPr/>
        <p:txBody>
          <a:bodyPr>
            <a:normAutofit/>
          </a:bodyPr>
          <a:lstStyle/>
          <a:p>
            <a:r>
              <a:rPr lang="en-US" altLang="ja-JP" sz="4800" b="1" dirty="0">
                <a:solidFill>
                  <a:srgbClr val="FFFFFF"/>
                </a:solidFill>
                <a:latin typeface="+mj-lt"/>
                <a:cs typeface="Arial" panose="020B0604020202020204" pitchFamily="34" charset="0"/>
              </a:rPr>
              <a:t>Reduced-orde</a:t>
            </a:r>
            <a:r>
              <a:rPr lang="en-US" altLang="ja-JP" sz="4800" dirty="0">
                <a:solidFill>
                  <a:srgbClr val="FFFFFF"/>
                </a:solidFill>
                <a:latin typeface="+mj-lt"/>
                <a:cs typeface="Arial" panose="020B0604020202020204" pitchFamily="34" charset="0"/>
              </a:rPr>
              <a:t>r model</a:t>
            </a:r>
            <a:endParaRPr sz="4800" b="1" dirty="0">
              <a:solidFill>
                <a:srgbClr val="FFFFFF"/>
              </a:solidFill>
              <a:latin typeface="+mj-lt"/>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58C68F76-E521-BBBA-3069-24EB0790BF4F}"/>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16566712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Reduced-order model</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3</a:t>
            </a:r>
            <a:endParaRPr sz="1800" b="0" dirty="0">
              <a:solidFill>
                <a:srgbClr val="666F79"/>
              </a:solidFill>
              <a:latin typeface="Yu Gothic"/>
              <a:ea typeface="Yu Gothic"/>
            </a:endParaRPr>
          </a:p>
        </p:txBody>
      </p:sp>
      <p:sp>
        <p:nvSpPr>
          <p:cNvPr id="5" name="Rounded Rectangle 4"/>
          <p:cNvSpPr/>
          <p:nvPr/>
        </p:nvSpPr>
        <p:spPr>
          <a:xfrm>
            <a:off x="1097280" y="2834640"/>
            <a:ext cx="7315200" cy="71323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468880" y="3200400"/>
            <a:ext cx="4572000" cy="470898"/>
          </a:xfrm>
          <a:prstGeom prst="rect">
            <a:avLst/>
          </a:prstGeom>
          <a:noFill/>
        </p:spPr>
        <p:txBody>
          <a:bodyPr wrap="square" lIns="36576" tIns="27432" rIns="36576" bIns="27432" anchor="t">
            <a:spAutoFit/>
          </a:bodyPr>
          <a:lstStyle/>
          <a:p>
            <a:pPr algn="ctr">
              <a:spcAft>
                <a:spcPts val="0"/>
              </a:spcAft>
            </a:pPr>
            <a:r>
              <a:rPr lang="ja-JP" altLang="en-US" sz="2700" b="1" dirty="0">
                <a:solidFill>
                  <a:srgbClr val="082B52"/>
                </a:solidFill>
                <a:latin typeface="Yu Gothic"/>
                <a:ea typeface="Yu Gothic"/>
              </a:rPr>
              <a:t>Model requirements</a:t>
            </a:r>
            <a:endParaRPr sz="2700" b="1" dirty="0">
              <a:solidFill>
                <a:srgbClr val="082B52"/>
              </a:solidFill>
              <a:latin typeface="Yu Gothic"/>
            </a:endParaRPr>
          </a:p>
        </p:txBody>
      </p:sp>
      <p:sp>
        <p:nvSpPr>
          <p:cNvPr id="7" name="TextBox 6"/>
          <p:cNvSpPr txBox="1"/>
          <p:nvPr/>
        </p:nvSpPr>
        <p:spPr>
          <a:xfrm>
            <a:off x="1645920" y="4251960"/>
            <a:ext cx="6217920" cy="2913618"/>
          </a:xfrm>
          <a:prstGeom prst="rect">
            <a:avLst/>
          </a:prstGeom>
          <a:noFill/>
        </p:spPr>
        <p:txBody>
          <a:bodyPr wrap="square" lIns="27432" rIns="27432">
            <a:spAutoFit/>
          </a:bodyPr>
          <a:lstStyle/>
          <a:p>
            <a:pPr>
              <a:lnSpc>
                <a:spcPct val="115000"/>
              </a:lnSpc>
              <a:spcAft>
                <a:spcPts val="3400"/>
              </a:spcAft>
            </a:pPr>
            <a:r>
              <a:rPr sz="2500" b="0">
                <a:solidFill>
                  <a:srgbClr val="232B34"/>
                </a:solidFill>
                <a:latin typeface="Yu Gothic"/>
                <a:ea typeface="Yu Gothic"/>
              </a:rPr>
              <a:t>• No onboard TD/Femap</a:t>
            </a:r>
            <a:endParaRPr sz="2500" dirty="0">
              <a:solidFill>
                <a:srgbClr val="232B34"/>
              </a:solidFill>
              <a:latin typeface="Yu Gothic"/>
            </a:endParaRPr>
          </a:p>
          <a:p>
            <a:pPr>
              <a:lnSpc>
                <a:spcPct val="115000"/>
              </a:lnSpc>
              <a:spcAft>
                <a:spcPts val="3400"/>
              </a:spcAft>
            </a:pPr>
            <a:r>
              <a:rPr sz="2500" b="0">
                <a:solidFill>
                  <a:srgbClr val="232B34"/>
                </a:solidFill>
                <a:latin typeface="Yu Gothic"/>
                <a:ea typeface="Yu Gothic"/>
              </a:rPr>
              <a:t>• Few temperatures and operating flags</a:t>
            </a:r>
          </a:p>
          <a:p>
            <a:pPr>
              <a:lnSpc>
                <a:spcPct val="115000"/>
              </a:lnSpc>
              <a:spcAft>
                <a:spcPts val="3400"/>
              </a:spcAft>
            </a:pPr>
            <a:r>
              <a:rPr sz="2500" b="0">
                <a:solidFill>
                  <a:srgbClr val="232B34"/>
                </a:solidFill>
                <a:latin typeface="Yu Gothic"/>
                <a:ea typeface="Yu Gothic"/>
              </a:rPr>
              <a:t>• Small, fixed coefficient set</a:t>
            </a:r>
          </a:p>
          <a:p>
            <a:pPr>
              <a:lnSpc>
                <a:spcPct val="115000"/>
              </a:lnSpc>
              <a:spcAft>
                <a:spcPts val="3400"/>
              </a:spcAft>
            </a:pPr>
            <a:r>
              <a:rPr sz="2500" b="0">
                <a:solidFill>
                  <a:srgbClr val="232B34"/>
                </a:solidFill>
                <a:latin typeface="Yu Gothic"/>
                <a:ea typeface="Yu Gothic"/>
              </a:rPr>
              <a:t>• Output: scan-center correction angle</a:t>
            </a:r>
          </a:p>
        </p:txBody>
      </p:sp>
      <p:graphicFrame>
        <p:nvGraphicFramePr>
          <p:cNvPr id="8" name="Table 7"/>
          <p:cNvGraphicFramePr>
            <a:graphicFrameLocks noGrp="1"/>
          </p:cNvGraphicFramePr>
          <p:nvPr>
            <p:extLst>
              <p:ext uri="{D42A27DB-BD31-4B8C-83A1-F6EECF244321}">
                <p14:modId xmlns:p14="http://schemas.microsoft.com/office/powerpoint/2010/main" val="1657133732"/>
              </p:ext>
            </p:extLst>
          </p:nvPr>
        </p:nvGraphicFramePr>
        <p:xfrm>
          <a:off x="9144000" y="2834640"/>
          <a:ext cx="13898880" cy="8321040"/>
        </p:xfrm>
        <a:graphic>
          <a:graphicData uri="http://schemas.openxmlformats.org/drawingml/2006/table">
            <a:tbl>
              <a:tblPr firstRow="1" bandRow="1">
                <a:tableStyleId>{5C22544A-7EE6-4342-B048-85BDC9FD1C3A}</a:tableStyleId>
              </a:tblPr>
              <a:tblGrid>
                <a:gridCol w="5212080">
                  <a:extLst>
                    <a:ext uri="{9D8B030D-6E8A-4147-A177-3AD203B41FA5}">
                      <a16:colId xmlns:a16="http://schemas.microsoft.com/office/drawing/2014/main" val="20000"/>
                    </a:ext>
                  </a:extLst>
                </a:gridCol>
                <a:gridCol w="8686800">
                  <a:extLst>
                    <a:ext uri="{9D8B030D-6E8A-4147-A177-3AD203B41FA5}">
                      <a16:colId xmlns:a16="http://schemas.microsoft.com/office/drawing/2014/main" val="20001"/>
                    </a:ext>
                  </a:extLst>
                </a:gridCol>
              </a:tblGrid>
              <a:tr h="1188720">
                <a:tc>
                  <a:txBody>
                    <a:bodyPr/>
                    <a:lstStyle/>
                    <a:p>
                      <a:pPr algn="l">
                        <a:spcAft>
                          <a:spcPts val="0"/>
                        </a:spcAft>
                      </a:pPr>
                      <a:r>
                        <a:rPr lang="ja-JP" altLang="en-US" sz="2300" b="1" dirty="0">
                          <a:solidFill>
                            <a:srgbClr val="FFFFFF"/>
                          </a:solidFill>
                          <a:latin typeface="Yu Gothic"/>
                          <a:ea typeface="Yu Gothic"/>
                        </a:rPr>
                        <a:t>Candidate model</a:t>
                      </a:r>
                      <a:endParaRPr sz="2300" b="1" dirty="0">
                        <a:solidFill>
                          <a:srgbClr val="FFFFFF"/>
                        </a:solidFill>
                        <a:latin typeface="Yu Gothic"/>
                        <a:ea typeface="Yu Gothic"/>
                      </a:endParaRP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Strengths / limitations</a:t>
                      </a:r>
                    </a:p>
                  </a:txBody>
                  <a:tcPr marL="64008" marR="64008" marT="27432" marB="27432"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300" b="0">
                          <a:solidFill>
                            <a:srgbClr val="232B34"/>
                          </a:solidFill>
                          <a:latin typeface="Yu Gothic"/>
                          <a:ea typeface="Yu Gothic"/>
                        </a:rPr>
                        <a:t>Constant bias</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Lightweight / cannot represent within-orbit variation</a:t>
                      </a:r>
                    </a:p>
                  </a:txBody>
                  <a:tcPr marL="64008" marR="64008" marT="27432" marB="27432" anchor="ctr">
                    <a:solidFill>
                      <a:srgbClr val="FFFFFF"/>
                    </a:solidFill>
                  </a:tcPr>
                </a:tc>
                <a:extLst>
                  <a:ext uri="{0D108BD9-81ED-4DB2-BD59-A6C34878D82A}">
                    <a16:rowId xmlns:a16="http://schemas.microsoft.com/office/drawing/2014/main" val="10001"/>
                  </a:ext>
                </a:extLst>
              </a:tr>
              <a:tr h="1188720">
                <a:tc>
                  <a:txBody>
                    <a:bodyPr/>
                    <a:lstStyle/>
                    <a:p>
                      <a:pPr algn="l">
                        <a:spcAft>
                          <a:spcPts val="0"/>
                        </a:spcAft>
                      </a:pPr>
                      <a:r>
                        <a:rPr sz="2300" b="0">
                          <a:solidFill>
                            <a:srgbClr val="232B34"/>
                          </a:solidFill>
                          <a:latin typeface="Yu Gothic"/>
                          <a:ea typeface="Yu Gothic"/>
                        </a:rPr>
                        <a:t>Fourier series in orbital phase</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Represents periodicity / must be rebuilt when orbit or conditions change</a:t>
                      </a:r>
                    </a:p>
                  </a:txBody>
                  <a:tcPr marL="64008" marR="64008" marT="27432" marB="27432" anchor="ctr">
                    <a:solidFill>
                      <a:srgbClr val="F4F6F8"/>
                    </a:solidFill>
                  </a:tcPr>
                </a:tc>
                <a:extLst>
                  <a:ext uri="{0D108BD9-81ED-4DB2-BD59-A6C34878D82A}">
                    <a16:rowId xmlns:a16="http://schemas.microsoft.com/office/drawing/2014/main" val="10002"/>
                  </a:ext>
                </a:extLst>
              </a:tr>
              <a:tr h="1188720">
                <a:tc>
                  <a:txBody>
                    <a:bodyPr/>
                    <a:lstStyle/>
                    <a:p>
                      <a:pPr algn="l">
                        <a:spcAft>
                          <a:spcPts val="0"/>
                        </a:spcAft>
                      </a:pPr>
                      <a:r>
                        <a:rPr sz="2300" b="0">
                          <a:solidFill>
                            <a:srgbClr val="232B34"/>
                          </a:solidFill>
                          <a:latin typeface="Yu Gothic"/>
                          <a:ea typeface="Yu Gothic"/>
                        </a:rPr>
                        <a:t>Multiple mounting-point temperatures</a:t>
                      </a: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Flexible / collinearity with ΔT destabilizes coefficients</a:t>
                      </a:r>
                    </a:p>
                  </a:txBody>
                  <a:tcPr marL="64008" marR="64008" marT="27432" marB="27432" anchor="ctr">
                    <a:solidFill>
                      <a:srgbClr val="FFFFFF"/>
                    </a:solidFill>
                  </a:tcPr>
                </a:tc>
                <a:extLst>
                  <a:ext uri="{0D108BD9-81ED-4DB2-BD59-A6C34878D82A}">
                    <a16:rowId xmlns:a16="http://schemas.microsoft.com/office/drawing/2014/main" val="10003"/>
                  </a:ext>
                </a:extLst>
              </a:tr>
              <a:tr h="1188720">
                <a:tc>
                  <a:txBody>
                    <a:bodyPr/>
                    <a:lstStyle/>
                    <a:p>
                      <a:pPr algn="l">
                        <a:spcAft>
                          <a:spcPts val="0"/>
                        </a:spcAft>
                      </a:pPr>
                      <a:r>
                        <a:rPr sz="2300" b="0">
                          <a:solidFill>
                            <a:srgbClr val="232B34"/>
                          </a:solidFill>
                          <a:latin typeface="Yu Gothic"/>
                          <a:ea typeface="Yu Gothic"/>
                        </a:rPr>
                        <a:t>Sun-face temperature T</a:t>
                      </a:r>
                    </a:p>
                  </a:txBody>
                  <a:tcPr marL="64008" marR="64008" marT="27432" marB="27432" anchor="ctr">
                    <a:solidFill>
                      <a:srgbClr val="EBF6FB"/>
                    </a:solidFill>
                  </a:tcPr>
                </a:tc>
                <a:tc>
                  <a:txBody>
                    <a:bodyPr/>
                    <a:lstStyle/>
                    <a:p>
                      <a:pPr algn="ctr">
                        <a:spcAft>
                          <a:spcPts val="0"/>
                        </a:spcAft>
                      </a:pPr>
                      <a:r>
                        <a:rPr sz="2300" b="0" dirty="0" err="1">
                          <a:solidFill>
                            <a:srgbClr val="232B34"/>
                          </a:solidFill>
                          <a:latin typeface="Yu Gothic"/>
                          <a:ea typeface="Yu Gothic"/>
                        </a:rPr>
                        <a:t>Physically interpretable / does not fully track variation</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10004"/>
                  </a:ext>
                </a:extLst>
              </a:tr>
              <a:tr h="1188720">
                <a:tc>
                  <a:txBody>
                    <a:bodyPr/>
                    <a:lstStyle/>
                    <a:p>
                      <a:pPr algn="l">
                        <a:spcAft>
                          <a:spcPts val="0"/>
                        </a:spcAft>
                      </a:pPr>
                      <a:r>
                        <a:rPr sz="2300" b="0">
                          <a:solidFill>
                            <a:srgbClr val="232B34"/>
                          </a:solidFill>
                          <a:latin typeface="Yu Gothic"/>
                          <a:ea typeface="Yu Gothic"/>
                        </a:rPr>
                        <a:t>Sun-face temperature difference ΔT</a:t>
                      </a:r>
                      <a:endParaRPr sz="2300" b="0" dirty="0">
                        <a:solidFill>
                          <a:srgbClr val="232B34"/>
                        </a:solidFill>
                        <a:latin typeface="Yu Gothic"/>
                      </a:endParaRPr>
                    </a:p>
                  </a:txBody>
                  <a:tcPr marL="64008" marR="64008" marT="27432" marB="27432" anchor="ctr">
                    <a:solidFill>
                      <a:srgbClr val="EBF6FB"/>
                    </a:solidFill>
                  </a:tcPr>
                </a:tc>
                <a:tc>
                  <a:txBody>
                    <a:bodyPr/>
                    <a:lstStyle/>
                    <a:p>
                      <a:pPr algn="ctr">
                        <a:spcAft>
                          <a:spcPts val="0"/>
                        </a:spcAft>
                      </a:pPr>
                      <a:r>
                        <a:rPr sz="2300" b="0">
                          <a:solidFill>
                            <a:srgbClr val="232B34"/>
                          </a:solidFill>
                          <a:latin typeface="Yu Gothic"/>
                          <a:ea typeface="Yu Gothic"/>
                        </a:rPr>
                        <a:t>Physically interpretable / cannot explain mean offsets across cases</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4282857465"/>
                  </a:ext>
                </a:extLst>
              </a:tr>
              <a:tr h="1188720">
                <a:tc>
                  <a:txBody>
                    <a:bodyPr/>
                    <a:lstStyle/>
                    <a:p>
                      <a:pPr algn="l">
                        <a:spcAft>
                          <a:spcPts val="0"/>
                        </a:spcAft>
                      </a:pPr>
                      <a:r>
                        <a:rPr sz="2300" b="1" dirty="0" err="1">
                          <a:solidFill>
                            <a:srgbClr val="232B34"/>
                          </a:solidFill>
                          <a:latin typeface="Yu Gothic"/>
                          <a:ea typeface="Yu Gothic"/>
                        </a:rPr>
                        <a:t>Hierarchical ΔT</a:t>
                      </a:r>
                    </a:p>
                  </a:txBody>
                  <a:tcPr marL="64008" marR="64008" marT="27432" marB="27432" anchor="ctr">
                    <a:solidFill>
                      <a:schemeClr val="accent6">
                        <a:lumMod val="20000"/>
                        <a:lumOff val="80000"/>
                      </a:schemeClr>
                    </a:solidFill>
                  </a:tcPr>
                </a:tc>
                <a:tc>
                  <a:txBody>
                    <a:bodyPr/>
                    <a:lstStyle/>
                    <a:p>
                      <a:pPr algn="ctr">
                        <a:spcAft>
                          <a:spcPts val="0"/>
                        </a:spcAft>
                      </a:pPr>
                      <a:r>
                        <a:rPr sz="2300" b="1" dirty="0" err="1">
                          <a:solidFill>
                            <a:srgbClr val="232B34"/>
                          </a:solidFill>
                          <a:latin typeface="Yu Gothic"/>
                          <a:ea typeface="Yu Gothic"/>
                        </a:rPr>
                        <a:t>Separates within-orbit variation from means across cases</a:t>
                      </a:r>
                      <a:endParaRPr sz="2300" b="1" dirty="0">
                        <a:solidFill>
                          <a:srgbClr val="232B34"/>
                        </a:solidFill>
                        <a:latin typeface="Yu Gothic"/>
                        <a:ea typeface="Yu Gothic"/>
                      </a:endParaRPr>
                    </a:p>
                  </a:txBody>
                  <a:tcPr marL="64008" marR="64008" marT="27432" marB="27432" anchor="ctr">
                    <a:solidFill>
                      <a:schemeClr val="accent6">
                        <a:lumMod val="20000"/>
                        <a:lumOff val="80000"/>
                      </a:schemeClr>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1536193" y="11862122"/>
            <a:ext cx="20877428" cy="978729"/>
          </a:xfrm>
          <a:prstGeom prst="rect">
            <a:avLst/>
          </a:prstGeom>
          <a:noFill/>
        </p:spPr>
        <p:txBody>
          <a:bodyPr wrap="square" lIns="36576" tIns="27432" rIns="36576" bIns="27432" anchor="t">
            <a:spAutoFit/>
          </a:bodyPr>
          <a:lstStyle/>
          <a:p>
            <a:pPr algn="ctr">
              <a:spcAft>
                <a:spcPts val="0"/>
              </a:spcAft>
            </a:pPr>
            <a:r>
              <a:rPr sz="3000" b="1" dirty="0">
                <a:solidFill>
                  <a:srgbClr val="082B52"/>
                </a:solidFill>
                <a:latin typeface="Yu Gothic"/>
                <a:ea typeface="Yu Gothic"/>
              </a:rPr>
              <a:t>→ Adopt a hierarchical model that separately predicts thermal-LOS variation from sun-face–opposite-panel ΔT</a:t>
            </a:r>
            <a:endParaRPr lang="en-US" sz="3000" b="1" dirty="0">
              <a:solidFill>
                <a:srgbClr val="082B52"/>
              </a:solidFill>
              <a:latin typeface="Yu Gothic"/>
              <a:ea typeface="Yu Gothic"/>
            </a:endParaRPr>
          </a:p>
          <a:p>
            <a:pPr algn="ctr">
              <a:spcAft>
                <a:spcPts val="0"/>
              </a:spcAft>
            </a:pPr>
            <a:r>
              <a:rPr sz="3000" b="1" dirty="0" err="1">
                <a:solidFill>
                  <a:srgbClr val="082B52"/>
                </a:solidFill>
                <a:latin typeface="Yu Gothic"/>
                <a:ea typeface="Yu Gothic"/>
              </a:rPr>
              <a:t>and thermal-LOS bias from the mean offset across cases</a:t>
            </a:r>
            <a:endParaRPr lang="ja-JP" altLang="ja-JP" sz="3200" dirty="0"/>
          </a:p>
        </p:txBody>
      </p:sp>
      <p:sp>
        <p:nvSpPr>
          <p:cNvPr id="12" name="TextBox 2">
            <a:extLst>
              <a:ext uri="{FF2B5EF4-FFF2-40B4-BE49-F238E27FC236}">
                <a16:creationId xmlns:a16="http://schemas.microsoft.com/office/drawing/2014/main" id="{0B50638C-A598-E0CC-394F-5BF42CDB1937}"/>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altLang="ja-JP" sz="3200" b="1" dirty="0">
              <a:solidFill>
                <a:srgbClr val="082B52"/>
              </a:solidFill>
              <a:latin typeface="Yu Gothic"/>
            </a:endParaRPr>
          </a:p>
          <a:p>
            <a:pPr algn="l">
              <a:spcAft>
                <a:spcPts val="0"/>
              </a:spcAft>
            </a:pPr>
            <a:r>
              <a:rPr lang="ja-JP" altLang="en-US" sz="3200" b="1" dirty="0">
                <a:solidFill>
                  <a:srgbClr val="082B52"/>
                </a:solidFill>
                <a:latin typeface="Yu Gothic"/>
              </a:rPr>
              <a:t>Reduced-order model selection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498A-D134-1DB7-BEEC-89F4ACDABE1D}"/>
            </a:ext>
          </a:extLst>
        </p:cNvPr>
        <p:cNvGrpSpPr/>
        <p:nvPr/>
      </p:nvGrpSpPr>
      <p:grpSpPr>
        <a:xfrm>
          <a:off x="0" y="0"/>
          <a:ext cx="0" cy="0"/>
          <a:chOff x="0" y="0"/>
          <a:chExt cx="0" cy="0"/>
        </a:xfrm>
      </p:grpSpPr>
      <p:sp>
        <p:nvSpPr>
          <p:cNvPr id="19" name="Rounded Rectangle 4">
            <a:extLst>
              <a:ext uri="{FF2B5EF4-FFF2-40B4-BE49-F238E27FC236}">
                <a16:creationId xmlns:a16="http://schemas.microsoft.com/office/drawing/2014/main" id="{1692870B-777D-D90D-9A38-0B6DE0C05ABA}"/>
              </a:ext>
            </a:extLst>
          </p:cNvPr>
          <p:cNvSpPr/>
          <p:nvPr/>
        </p:nvSpPr>
        <p:spPr>
          <a:xfrm>
            <a:off x="1280160" y="5647944"/>
            <a:ext cx="21762720" cy="2421523"/>
          </a:xfrm>
          <a:prstGeom prst="roundRect">
            <a:avLst/>
          </a:prstGeom>
          <a:solidFill>
            <a:schemeClr val="accent4">
              <a:lumMod val="20000"/>
              <a:lumOff val="80000"/>
            </a:schemeClr>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a:extLst>
              <a:ext uri="{FF2B5EF4-FFF2-40B4-BE49-F238E27FC236}">
                <a16:creationId xmlns:a16="http://schemas.microsoft.com/office/drawing/2014/main" id="{3E132FC5-CEFF-682E-12E1-776DF31BA0AA}"/>
              </a:ext>
            </a:extLst>
          </p:cNvPr>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Reduced-order model</a:t>
            </a:r>
          </a:p>
        </p:txBody>
      </p:sp>
      <p:sp>
        <p:nvSpPr>
          <p:cNvPr id="3" name="TextBox 2">
            <a:extLst>
              <a:ext uri="{FF2B5EF4-FFF2-40B4-BE49-F238E27FC236}">
                <a16:creationId xmlns:a16="http://schemas.microsoft.com/office/drawing/2014/main" id="{3E06BBAA-7C1E-6C59-0838-394848810869}"/>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r>
              <a:rPr lang="ja-JP" altLang="en-US" sz="3200" b="1" dirty="0">
                <a:solidFill>
                  <a:srgbClr val="082B52"/>
                </a:solidFill>
                <a:latin typeface="Yu Gothic"/>
                <a:ea typeface="Yu Gothic"/>
              </a:rPr>
              <a:t> </a:t>
            </a:r>
            <a:r>
              <a:rPr lang="en-US" altLang="ja-JP" sz="3200" b="1" dirty="0">
                <a:solidFill>
                  <a:srgbClr val="082B52"/>
                </a:solidFill>
                <a:latin typeface="Yu Gothic"/>
                <a:ea typeface="Yu Gothic"/>
              </a:rPr>
              <a:t>Hierarchical ΔT model  </a:t>
            </a:r>
            <a:r>
              <a:rPr lang="ja-JP" altLang="en-US" sz="3200" b="1" dirty="0">
                <a:solidFill>
                  <a:srgbClr val="082B52"/>
                </a:solidFill>
                <a:latin typeface="Yu Gothic"/>
                <a:ea typeface="Yu Gothic"/>
              </a:rPr>
              <a:t>separates time-varying and bias terms using ΔT and operating flags</a:t>
            </a:r>
            <a:endParaRPr lang="ja-JP" altLang="en-US" sz="3200" b="1" dirty="0">
              <a:solidFill>
                <a:srgbClr val="082B52"/>
              </a:solidFill>
              <a:latin typeface="Yu Gothic"/>
            </a:endParaRPr>
          </a:p>
        </p:txBody>
      </p:sp>
      <p:sp>
        <p:nvSpPr>
          <p:cNvPr id="4" name="TextBox 3">
            <a:extLst>
              <a:ext uri="{FF2B5EF4-FFF2-40B4-BE49-F238E27FC236}">
                <a16:creationId xmlns:a16="http://schemas.microsoft.com/office/drawing/2014/main" id="{53C37490-C33E-76CF-2AD2-84281E463F8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4</a:t>
            </a:r>
            <a:endParaRPr sz="1800" b="0" dirty="0">
              <a:solidFill>
                <a:srgbClr val="666F79"/>
              </a:solidFill>
              <a:latin typeface="Yu Gothic"/>
              <a:ea typeface="Yu Gothic"/>
            </a:endParaRPr>
          </a:p>
        </p:txBody>
      </p:sp>
      <p:sp>
        <p:nvSpPr>
          <p:cNvPr id="5" name="Rounded Rectangle 4">
            <a:extLst>
              <a:ext uri="{FF2B5EF4-FFF2-40B4-BE49-F238E27FC236}">
                <a16:creationId xmlns:a16="http://schemas.microsoft.com/office/drawing/2014/main" id="{2AE6B36D-D351-9081-078E-979D1A977FE8}"/>
              </a:ext>
            </a:extLst>
          </p:cNvPr>
          <p:cNvSpPr/>
          <p:nvPr/>
        </p:nvSpPr>
        <p:spPr>
          <a:xfrm>
            <a:off x="1280160" y="2880360"/>
            <a:ext cx="21762720" cy="2692998"/>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84E91D8-1988-F135-C79D-012F2C7E199F}"/>
                  </a:ext>
                </a:extLst>
              </p:cNvPr>
              <p:cNvSpPr txBox="1"/>
              <p:nvPr/>
            </p:nvSpPr>
            <p:spPr>
              <a:xfrm>
                <a:off x="6014815" y="4317180"/>
                <a:ext cx="12384864" cy="102534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0" dirty="0" smtClean="0">
                          <a:solidFill>
                            <a:srgbClr val="1B74AA"/>
                          </a:solidFill>
                          <a:latin typeface="Cambria Math" panose="02040503050406030204" pitchFamily="18" charset="0"/>
                        </a:rPr>
                        <m:t>𝚫</m:t>
                      </m:r>
                      <m:r>
                        <a:rPr lang="ja-JP" altLang="en-US" sz="3200" b="1" i="1" dirty="0" smtClean="0">
                          <a:solidFill>
                            <a:srgbClr val="1B74AA"/>
                          </a:solidFill>
                          <a:latin typeface="Cambria Math" panose="02040503050406030204" pitchFamily="18" charset="0"/>
                        </a:rPr>
                        <m:t>𝑻</m:t>
                      </m:r>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𝒔𝒖𝒏𝒇𝒂𝒄𝒆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𝒐𝒑𝒑𝒐𝒔𝒊𝒕𝒆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𝑠𝑢𝑛</m:t>
                      </m:r>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𝑓𝑎𝑐𝑒</m:t>
                      </m:r>
                      <m:r>
                        <a:rPr lang="ja-JP" altLang="en-US" sz="3200" b="1" i="1" dirty="0">
                          <a:solidFill>
                            <a:srgbClr val="1B74AA"/>
                          </a:solidFill>
                          <a:latin typeface="Cambria Math" panose="02040503050406030204" pitchFamily="18" charset="0"/>
                        </a:rPr>
                        <m:t> − </m:t>
                      </m:r>
                      <m:r>
                        <a:rPr lang="ja-JP" altLang="en-US" sz="3200" b="1" i="1" dirty="0">
                          <a:solidFill>
                            <a:srgbClr val="1B74AA"/>
                          </a:solidFill>
                          <a:latin typeface="Cambria Math" panose="02040503050406030204" pitchFamily="18" charset="0"/>
                        </a:rPr>
                        <m:t>𝑜𝑝𝑝𝑜𝑠𝑖𝑡𝑒</m:t>
                      </m:r>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𝑝𝑎𝑛𝑒𝑙</m:t>
                      </m:r>
                    </m:oMath>
                  </m:oMathPara>
                </a14:m>
                <a:endParaRPr lang="en-US" altLang="ja-JP" sz="3200" b="1" i="1" dirty="0">
                  <a:solidFill>
                    <a:srgbClr val="1B74AA"/>
                  </a:solidFill>
                  <a:latin typeface="Cambria Math" panose="02040503050406030204" pitchFamily="18" charset="0"/>
                </a:endParaRPr>
              </a:p>
              <a:p>
                <a:pPr algn="r"/>
                <a:r>
                  <a:rPr lang="en-US" altLang="ja-JP" sz="2800" dirty="0">
                    <a:solidFill>
                      <a:schemeClr val="bg2"/>
                    </a:solidFill>
                  </a:rPr>
                  <a:t>Assumption: onboard panel-center thermocouples</a:t>
                </a:r>
              </a:p>
            </p:txBody>
          </p:sp>
        </mc:Choice>
        <mc:Fallback xmlns="">
          <p:sp>
            <p:nvSpPr>
              <p:cNvPr id="7" name="TextBox 6">
                <a:extLst>
                  <a:ext uri="{FF2B5EF4-FFF2-40B4-BE49-F238E27FC236}">
                    <a16:creationId xmlns:a16="http://schemas.microsoft.com/office/drawing/2014/main" id="{084E91D8-1988-F135-C79D-012F2C7E199F}"/>
                  </a:ext>
                </a:extLst>
              </p:cNvPr>
              <p:cNvSpPr txBox="1">
                <a:spLocks noRot="1" noChangeAspect="1" noMove="1" noResize="1" noEditPoints="1" noAdjustHandles="1" noChangeArrowheads="1" noChangeShapeType="1" noTextEdit="1"/>
              </p:cNvSpPr>
              <p:nvPr/>
            </p:nvSpPr>
            <p:spPr>
              <a:xfrm>
                <a:off x="6014815" y="4317180"/>
                <a:ext cx="12384864" cy="1025345"/>
              </a:xfrm>
              <a:prstGeom prst="rect">
                <a:avLst/>
              </a:prstGeom>
              <a:blipFill>
                <a:blip r:embed="rId3"/>
                <a:stretch>
                  <a:fillRect r="-1477" b="-17262"/>
                </a:stretch>
              </a:blipFill>
            </p:spPr>
            <p:txBody>
              <a:bodyPr/>
              <a:lstStyle/>
              <a:p>
                <a:r>
                  <a:rPr lang="ja-JP" altLang="en-US">
                    <a:noFill/>
                  </a:rPr>
                  <a:t> </a:t>
                </a:r>
              </a:p>
            </p:txBody>
          </p:sp>
        </mc:Fallback>
      </mc:AlternateContent>
      <p:sp>
        <p:nvSpPr>
          <p:cNvPr id="8" name="Rounded Rectangle 7">
            <a:extLst>
              <a:ext uri="{FF2B5EF4-FFF2-40B4-BE49-F238E27FC236}">
                <a16:creationId xmlns:a16="http://schemas.microsoft.com/office/drawing/2014/main" id="{4BDC2FA1-7516-AF2E-394D-574ACF7DA736}"/>
              </a:ext>
            </a:extLst>
          </p:cNvPr>
          <p:cNvSpPr/>
          <p:nvPr/>
        </p:nvSpPr>
        <p:spPr>
          <a:xfrm>
            <a:off x="8530590" y="8415528"/>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7563C52-2DD6-EEAB-89C3-C3793595F8A1}"/>
                  </a:ext>
                </a:extLst>
              </p:cNvPr>
              <p:cNvSpPr txBox="1"/>
              <p:nvPr/>
            </p:nvSpPr>
            <p:spPr>
              <a:xfrm>
                <a:off x="10903077" y="8827007"/>
                <a:ext cx="1838708" cy="661912"/>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1B74AA"/>
                              </a:solidFill>
                              <a:latin typeface="Cambria Math" panose="02040503050406030204" pitchFamily="18" charset="0"/>
                            </a:rPr>
                          </m:ctrlPr>
                        </m:sSubPr>
                        <m:e>
                          <m:r>
                            <a:rPr lang="en-US" sz="3600" b="1" i="1" dirty="0" smtClean="0">
                              <a:solidFill>
                                <a:srgbClr val="1B74AA"/>
                              </a:solidFill>
                              <a:latin typeface="Cambria Math" panose="02040503050406030204" pitchFamily="18" charset="0"/>
                            </a:rPr>
                            <m:t>𝒂</m:t>
                          </m:r>
                        </m:e>
                        <m:sub>
                          <m:r>
                            <a:rPr lang="en-US" sz="3600" b="1" i="1" dirty="0" err="1" smtClean="0">
                              <a:solidFill>
                                <a:srgbClr val="1B74AA"/>
                              </a:solidFill>
                              <a:latin typeface="Cambria Math" panose="02040503050406030204" pitchFamily="18" charset="0"/>
                            </a:rPr>
                            <m:t>𝒔𝒖𝒏𝒇𝒂𝒄</m:t>
                          </m:r>
                          <m:r>
                            <a:rPr lang="en-US" sz="3600" b="1" i="1" dirty="0" err="1">
                              <a:solidFill>
                                <a:srgbClr val="1B74AA"/>
                              </a:solidFill>
                              <a:latin typeface="Cambria Math" panose="02040503050406030204" pitchFamily="18" charset="0"/>
                            </a:rPr>
                            <m:t>𝒆</m:t>
                          </m:r>
                        </m:sub>
                      </m:sSub>
                    </m:oMath>
                  </m:oMathPara>
                </a14:m>
                <a:endParaRPr lang="en-US" sz="3600" b="1" i="1" dirty="0" err="1">
                  <a:solidFill>
                    <a:srgbClr val="1B74AA"/>
                  </a:solidFill>
                  <a:latin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A7563C52-2DD6-EEAB-89C3-C3793595F8A1}"/>
                  </a:ext>
                </a:extLst>
              </p:cNvPr>
              <p:cNvSpPr txBox="1">
                <a:spLocks noRot="1" noChangeAspect="1" noMove="1" noResize="1" noEditPoints="1" noAdjustHandles="1" noChangeArrowheads="1" noChangeShapeType="1" noTextEdit="1"/>
              </p:cNvSpPr>
              <p:nvPr/>
            </p:nvSpPr>
            <p:spPr>
              <a:xfrm>
                <a:off x="10903077" y="8827007"/>
                <a:ext cx="1838708" cy="661912"/>
              </a:xfrm>
              <a:prstGeom prst="rect">
                <a:avLst/>
              </a:prstGeom>
              <a:blipFill>
                <a:blip r:embed="rId4"/>
                <a:stretch>
                  <a:fillRect/>
                </a:stretch>
              </a:blipFill>
            </p:spPr>
            <p:txBody>
              <a:bodyPr/>
              <a:lstStyle/>
              <a:p>
                <a:r>
                  <a:rPr lang="ja-JP" altLang="en-US">
                    <a:noFill/>
                  </a:rPr>
                  <a:t> </a:t>
                </a:r>
              </a:p>
            </p:txBody>
          </p:sp>
        </mc:Fallback>
      </mc:AlternateContent>
      <p:sp>
        <p:nvSpPr>
          <p:cNvPr id="10" name="TextBox 9">
            <a:extLst>
              <a:ext uri="{FF2B5EF4-FFF2-40B4-BE49-F238E27FC236}">
                <a16:creationId xmlns:a16="http://schemas.microsoft.com/office/drawing/2014/main" id="{6D94D195-5AC4-9EAF-E1D4-8CFD8D03EBBB}"/>
              </a:ext>
            </a:extLst>
          </p:cNvPr>
          <p:cNvSpPr txBox="1"/>
          <p:nvPr/>
        </p:nvSpPr>
        <p:spPr>
          <a:xfrm>
            <a:off x="9092451" y="9741408"/>
            <a:ext cx="5459957" cy="917174"/>
          </a:xfrm>
          <a:prstGeom prst="rect">
            <a:avLst/>
          </a:prstGeom>
          <a:noFill/>
        </p:spPr>
        <p:txBody>
          <a:bodyPr wrap="square" lIns="36576" tIns="27432" rIns="36576" bIns="27432" anchor="t">
            <a:spAutoFit/>
          </a:bodyPr>
          <a:lstStyle/>
          <a:p>
            <a:pPr algn="ctr">
              <a:lnSpc>
                <a:spcPct val="110000"/>
              </a:lnSpc>
              <a:spcAft>
                <a:spcPts val="400"/>
              </a:spcAft>
            </a:pPr>
            <a:r>
              <a:rPr sz="2400" b="0" dirty="0" err="1">
                <a:solidFill>
                  <a:srgbClr val="232B34"/>
                </a:solidFill>
                <a:latin typeface="Yu Gothic"/>
                <a:ea typeface="Yu Gothic"/>
              </a:rPr>
              <a:t>Sensitivity a(sun)</a:t>
            </a:r>
            <a:endParaRPr sz="2500" b="0" dirty="0">
              <a:solidFill>
                <a:srgbClr val="232B34"/>
              </a:solidFill>
              <a:latin typeface="Yu Gothic"/>
            </a:endParaRPr>
          </a:p>
          <a:p>
            <a:pPr algn="ctr">
              <a:lnSpc>
                <a:spcPct val="110000"/>
              </a:lnSpc>
              <a:spcAft>
                <a:spcPts val="400"/>
              </a:spcAft>
            </a:pPr>
            <a:r>
              <a:rPr sz="2400" b="0" dirty="0" err="1">
                <a:solidFill>
                  <a:srgbClr val="232B34"/>
                </a:solidFill>
                <a:latin typeface="Yu Gothic"/>
                <a:ea typeface="Yu Gothic"/>
              </a:rPr>
              <a:t>Shared by sun face</a:t>
            </a:r>
            <a:endParaRPr sz="2400" b="0" dirty="0">
              <a:solidFill>
                <a:srgbClr val="232B34"/>
              </a:solidFill>
              <a:latin typeface="Yu Gothic"/>
              <a:ea typeface="Yu Gothic"/>
            </a:endParaRPr>
          </a:p>
          <a:p>
            <a:pPr algn="ctr">
              <a:lnSpc>
                <a:spcPct val="110000"/>
              </a:lnSpc>
              <a:spcAft>
                <a:spcPts val="400"/>
              </a:spcAft>
            </a:pPr>
            <a:r>
              <a:rPr sz="2400" b="0" dirty="0">
                <a:solidFill>
                  <a:srgbClr val="232B34"/>
                </a:solidFill>
                <a:latin typeface="Yu Gothic"/>
                <a:ea typeface="Yu Gothic"/>
              </a:rPr>
              <a:t>+30.6, +28.6, −28.1, −28.7 µrad/K</a:t>
            </a:r>
          </a:p>
        </p:txBody>
      </p:sp>
      <p:sp>
        <p:nvSpPr>
          <p:cNvPr id="11" name="Rounded Rectangle 10">
            <a:extLst>
              <a:ext uri="{FF2B5EF4-FFF2-40B4-BE49-F238E27FC236}">
                <a16:creationId xmlns:a16="http://schemas.microsoft.com/office/drawing/2014/main" id="{99FF712A-A518-82E8-7D7C-FB6543EC27BC}"/>
              </a:ext>
            </a:extLst>
          </p:cNvPr>
          <p:cNvSpPr/>
          <p:nvPr/>
        </p:nvSpPr>
        <p:spPr>
          <a:xfrm>
            <a:off x="15475749" y="8415528"/>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0338C20-CC3D-53A2-DDD6-C3FA8C6CD90C}"/>
                  </a:ext>
                </a:extLst>
              </p:cNvPr>
              <p:cNvSpPr txBox="1"/>
              <p:nvPr/>
            </p:nvSpPr>
            <p:spPr>
              <a:xfrm>
                <a:off x="18625506" y="8827007"/>
                <a:ext cx="1207125" cy="60939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3600" b="1" i="1" dirty="0" smtClean="0">
                              <a:solidFill>
                                <a:srgbClr val="EC9427"/>
                              </a:solidFill>
                              <a:latin typeface="Cambria Math" panose="02040503050406030204" pitchFamily="18" charset="0"/>
                            </a:rPr>
                          </m:ctrlPr>
                        </m:sSubPr>
                        <m:e>
                          <m:r>
                            <a:rPr lang="ja-JP" altLang="en-US" sz="3600" b="1" i="1" dirty="0" smtClean="0">
                              <a:solidFill>
                                <a:srgbClr val="EC9427"/>
                              </a:solidFill>
                              <a:latin typeface="Cambria Math" panose="02040503050406030204" pitchFamily="18" charset="0"/>
                            </a:rPr>
                            <m:t>𝒃</m:t>
                          </m:r>
                        </m:e>
                        <m:sub>
                          <m:r>
                            <a:rPr lang="ja-JP" altLang="en-US" sz="3600" b="1" i="1" dirty="0" err="1">
                              <a:solidFill>
                                <a:srgbClr val="EC9427"/>
                              </a:solidFill>
                              <a:latin typeface="Cambria Math" panose="02040503050406030204" pitchFamily="18" charset="0"/>
                            </a:rPr>
                            <m:t>𝒄𝒂𝒔𝒆</m:t>
                          </m:r>
                        </m:sub>
                      </m:sSub>
                    </m:oMath>
                  </m:oMathPara>
                </a14:m>
                <a:endParaRPr lang="en-US" altLang="ja-JP" sz="3600" b="1" i="1" dirty="0" err="1">
                  <a:solidFill>
                    <a:srgbClr val="EC9427"/>
                  </a:solidFill>
                  <a:latin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10338C20-CC3D-53A2-DDD6-C3FA8C6CD90C}"/>
                  </a:ext>
                </a:extLst>
              </p:cNvPr>
              <p:cNvSpPr txBox="1">
                <a:spLocks noRot="1" noChangeAspect="1" noMove="1" noResize="1" noEditPoints="1" noAdjustHandles="1" noChangeArrowheads="1" noChangeShapeType="1" noTextEdit="1"/>
              </p:cNvSpPr>
              <p:nvPr/>
            </p:nvSpPr>
            <p:spPr>
              <a:xfrm>
                <a:off x="18625506" y="8827007"/>
                <a:ext cx="1207125" cy="609398"/>
              </a:xfrm>
              <a:prstGeom prst="rect">
                <a:avLst/>
              </a:prstGeom>
              <a:blipFill>
                <a:blip r:embed="rId5"/>
                <a:stretch>
                  <a:fillRect/>
                </a:stretch>
              </a:blipFill>
            </p:spPr>
            <p:txBody>
              <a:bodyPr/>
              <a:lstStyle/>
              <a:p>
                <a:r>
                  <a:rPr lang="ja-JP" altLang="en-US">
                    <a:noFill/>
                  </a:rPr>
                  <a:t> </a:t>
                </a:r>
              </a:p>
            </p:txBody>
          </p:sp>
        </mc:Fallback>
      </mc:AlternateContent>
      <p:sp>
        <p:nvSpPr>
          <p:cNvPr id="13" name="TextBox 12">
            <a:extLst>
              <a:ext uri="{FF2B5EF4-FFF2-40B4-BE49-F238E27FC236}">
                <a16:creationId xmlns:a16="http://schemas.microsoft.com/office/drawing/2014/main" id="{156C1A6A-C13A-DA49-FEA6-1393DCCF2BBD}"/>
              </a:ext>
            </a:extLst>
          </p:cNvPr>
          <p:cNvSpPr txBox="1"/>
          <p:nvPr/>
        </p:nvSpPr>
        <p:spPr>
          <a:xfrm>
            <a:off x="15780947" y="9741408"/>
            <a:ext cx="6896247" cy="1361976"/>
          </a:xfrm>
          <a:prstGeom prst="rect">
            <a:avLst/>
          </a:prstGeom>
          <a:noFill/>
        </p:spPr>
        <p:txBody>
          <a:bodyPr wrap="square" lIns="36576" tIns="27432" rIns="36576" bIns="27432" anchor="t">
            <a:spAutoFit/>
          </a:bodyPr>
          <a:lstStyle/>
          <a:p>
            <a:pPr algn="ctr">
              <a:lnSpc>
                <a:spcPct val="110000"/>
              </a:lnSpc>
              <a:spcAft>
                <a:spcPts val="400"/>
              </a:spcAft>
            </a:pPr>
            <a:r>
              <a:rPr sz="2400" b="0" dirty="0" err="1">
                <a:solidFill>
                  <a:srgbClr val="232B34"/>
                </a:solidFill>
                <a:latin typeface="Yu Gothic"/>
                <a:ea typeface="Yu Gothic"/>
              </a:rPr>
              <a:t>Case-dependent DC offset</a:t>
            </a:r>
            <a:endParaRPr lang="en-US" altLang="ja-JP" sz="2800" dirty="0"/>
          </a:p>
          <a:p>
            <a:pPr algn="ctr">
              <a:lnSpc>
                <a:spcPct val="110000"/>
              </a:lnSpc>
              <a:spcAft>
                <a:spcPts val="400"/>
              </a:spcAft>
            </a:pPr>
            <a:r>
              <a:rPr sz="2400" b="0" dirty="0" err="1">
                <a:solidFill>
                  <a:srgbClr val="232B34"/>
                </a:solidFill>
                <a:latin typeface="Yu Gothic"/>
                <a:ea typeface="Yu Gothic"/>
              </a:rPr>
              <a:t>From sun face and ON/OFF flags</a:t>
            </a:r>
            <a:endParaRPr sz="2400" b="0" dirty="0">
              <a:solidFill>
                <a:srgbClr val="232B34"/>
              </a:solidFill>
              <a:latin typeface="Yu Gothic"/>
              <a:ea typeface="Yu Gothic"/>
            </a:endParaRPr>
          </a:p>
          <a:p>
            <a:pPr algn="ctr">
              <a:lnSpc>
                <a:spcPct val="110000"/>
              </a:lnSpc>
              <a:spcAft>
                <a:spcPts val="400"/>
              </a:spcAft>
            </a:pPr>
            <a:r>
              <a:rPr lang="ja-JP" altLang="en-US" sz="2400" b="0" dirty="0">
                <a:solidFill>
                  <a:srgbClr val="232B34"/>
                </a:solidFill>
                <a:latin typeface="Yu Gothic"/>
                <a:ea typeface="Yu Gothic"/>
              </a:rPr>
              <a:t>Decomposed by the equation above</a:t>
            </a:r>
            <a:endParaRPr sz="2400" b="0" dirty="0">
              <a:solidFill>
                <a:srgbClr val="232B34"/>
              </a:solidFill>
              <a:latin typeface="Yu Gothic"/>
              <a:ea typeface="Yu Gothic"/>
            </a:endParaRPr>
          </a:p>
        </p:txBody>
      </p:sp>
      <p:sp>
        <p:nvSpPr>
          <p:cNvPr id="14" name="Rounded Rectangle 13">
            <a:extLst>
              <a:ext uri="{FF2B5EF4-FFF2-40B4-BE49-F238E27FC236}">
                <a16:creationId xmlns:a16="http://schemas.microsoft.com/office/drawing/2014/main" id="{095A4E42-AE1F-F8B8-A7C8-8D643A29AC71}"/>
              </a:ext>
            </a:extLst>
          </p:cNvPr>
          <p:cNvSpPr/>
          <p:nvPr/>
        </p:nvSpPr>
        <p:spPr>
          <a:xfrm>
            <a:off x="1585431" y="8374470"/>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CF5CEC31-2070-52D1-E5A1-354CA8687420}"/>
              </a:ext>
            </a:extLst>
          </p:cNvPr>
          <p:cNvSpPr txBox="1"/>
          <p:nvPr/>
        </p:nvSpPr>
        <p:spPr>
          <a:xfrm>
            <a:off x="1691640" y="8671560"/>
            <a:ext cx="6364224" cy="566928"/>
          </a:xfrm>
          <a:prstGeom prst="rect">
            <a:avLst/>
          </a:prstGeom>
          <a:noFill/>
        </p:spPr>
        <p:txBody>
          <a:bodyPr wrap="square" lIns="36576" tIns="27432" rIns="36576" bIns="27432" anchor="t">
            <a:spAutoFit/>
          </a:bodyPr>
          <a:lstStyle/>
          <a:p>
            <a:pPr algn="ctr">
              <a:spcAft>
                <a:spcPts val="0"/>
              </a:spcAft>
            </a:pPr>
            <a:r>
              <a:rPr sz="2600" b="1">
                <a:solidFill>
                  <a:srgbClr val="239571"/>
                </a:solidFill>
                <a:latin typeface="Yu Gothic"/>
                <a:ea typeface="Yu Gothic"/>
              </a:rPr>
              <a:t>Dominant-axis selection</a:t>
            </a:r>
          </a:p>
        </p:txBody>
      </p:sp>
      <p:sp>
        <p:nvSpPr>
          <p:cNvPr id="16" name="TextBox 15">
            <a:extLst>
              <a:ext uri="{FF2B5EF4-FFF2-40B4-BE49-F238E27FC236}">
                <a16:creationId xmlns:a16="http://schemas.microsoft.com/office/drawing/2014/main" id="{624DD618-4F56-C1E8-95A4-7C8FFA3DB2AB}"/>
              </a:ext>
            </a:extLst>
          </p:cNvPr>
          <p:cNvSpPr txBox="1"/>
          <p:nvPr/>
        </p:nvSpPr>
        <p:spPr>
          <a:xfrm>
            <a:off x="1691640" y="9448800"/>
            <a:ext cx="6364224" cy="1920240"/>
          </a:xfrm>
          <a:prstGeom prst="rect">
            <a:avLst/>
          </a:prstGeom>
          <a:noFill/>
        </p:spPr>
        <p:txBody>
          <a:bodyPr wrap="square" lIns="36576" tIns="27432" rIns="36576" bIns="27432" anchor="t">
            <a:spAutoFit/>
          </a:bodyPr>
          <a:lstStyle/>
          <a:p>
            <a:pPr algn="ctr">
              <a:lnSpc>
                <a:spcPct val="110000"/>
              </a:lnSpc>
              <a:spcAft>
                <a:spcPts val="200"/>
              </a:spcAft>
            </a:pPr>
            <a:r>
              <a:rPr sz="2100" b="0" dirty="0" err="1">
                <a:solidFill>
                  <a:srgbClr val="232B34"/>
                </a:solidFill>
                <a:latin typeface="Yu Gothic"/>
                <a:ea typeface="Yu Gothic"/>
              </a:rPr>
              <a:t>Prediction axis from sun face</a:t>
            </a:r>
            <a:endParaRPr sz="2500" b="0" dirty="0">
              <a:solidFill>
                <a:srgbClr val="232B34"/>
              </a:solidFill>
              <a:latin typeface="Yu Gothic"/>
            </a:endParaRPr>
          </a:p>
          <a:p>
            <a:pPr algn="ctr">
              <a:lnSpc>
                <a:spcPct val="110000"/>
              </a:lnSpc>
              <a:spcAft>
                <a:spcPts val="200"/>
              </a:spcAft>
            </a:pPr>
            <a:r>
              <a:rPr sz="2100" b="0" dirty="0">
                <a:solidFill>
                  <a:srgbClr val="232B34"/>
                </a:solidFill>
                <a:latin typeface="Yu Gothic"/>
                <a:ea typeface="Yu Gothic"/>
              </a:rPr>
              <a:t>MX/PX → x; MY/PY → y</a:t>
            </a:r>
          </a:p>
          <a:p>
            <a:pPr algn="ctr">
              <a:lnSpc>
                <a:spcPct val="110000"/>
              </a:lnSpc>
              <a:spcAft>
                <a:spcPts val="200"/>
              </a:spcAft>
            </a:pPr>
            <a:r>
              <a:rPr sz="2100" b="0" dirty="0" err="1">
                <a:solidFill>
                  <a:srgbClr val="232B34"/>
                </a:solidFill>
                <a:latin typeface="Yu Gothic"/>
                <a:ea typeface="Yu Gothic"/>
              </a:rPr>
              <a:t>Non-dominant axis: bias only</a:t>
            </a:r>
            <a:endParaRPr sz="2100" b="0" dirty="0">
              <a:solidFill>
                <a:srgbClr val="232B34"/>
              </a:solidFill>
              <a:latin typeface="Yu Gothic"/>
              <a:ea typeface="Yu Gothic"/>
            </a:endParaRPr>
          </a:p>
          <a:p>
            <a:pPr algn="ctr">
              <a:lnSpc>
                <a:spcPct val="110000"/>
              </a:lnSpc>
              <a:spcAft>
                <a:spcPts val="200"/>
              </a:spcAft>
            </a:pPr>
            <a:r>
              <a:rPr sz="2100" b="0" dirty="0">
                <a:solidFill>
                  <a:srgbClr val="232B34"/>
                </a:solidFill>
                <a:latin typeface="Yu Gothic"/>
                <a:ea typeface="Yu Gothic"/>
              </a:rPr>
              <a:t>MX/PX bias ≈ −600 µrad;</a:t>
            </a:r>
          </a:p>
          <a:p>
            <a:pPr algn="ctr">
              <a:lnSpc>
                <a:spcPct val="110000"/>
              </a:lnSpc>
              <a:spcAft>
                <a:spcPts val="200"/>
              </a:spcAft>
            </a:pPr>
            <a:r>
              <a:rPr sz="2100" b="0" dirty="0" err="1">
                <a:solidFill>
                  <a:srgbClr val="232B34"/>
                </a:solidFill>
                <a:latin typeface="Yu Gothic"/>
                <a:ea typeface="Yu Gothic"/>
              </a:rPr>
              <a:t>zeroing it degrades acquisition</a:t>
            </a:r>
            <a:endParaRPr sz="2100" b="0" dirty="0">
              <a:solidFill>
                <a:srgbClr val="232B34"/>
              </a:solidFill>
              <a:latin typeface="Yu Gothic"/>
              <a:ea typeface="Yu Gothic"/>
            </a:endParaRPr>
          </a:p>
        </p:txBody>
      </p:sp>
      <mc:AlternateContent xmlns:mc="http://schemas.openxmlformats.org/markup-compatibility/2006" xmlns:a14="http://schemas.microsoft.com/office/drawing/2010/main">
        <mc:Choice Requires="a14">
          <p:sp>
            <p:nvSpPr>
              <p:cNvPr id="20" name="TextBox 5">
                <a:extLst>
                  <a:ext uri="{FF2B5EF4-FFF2-40B4-BE49-F238E27FC236}">
                    <a16:creationId xmlns:a16="http://schemas.microsoft.com/office/drawing/2014/main" id="{03E6F5D4-430D-507D-6683-A2B6E9E55979}"/>
                  </a:ext>
                </a:extLst>
              </p:cNvPr>
              <p:cNvSpPr txBox="1"/>
              <p:nvPr/>
            </p:nvSpPr>
            <p:spPr>
              <a:xfrm>
                <a:off x="7654202" y="3379916"/>
                <a:ext cx="9197518"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4400" b="1" i="1" dirty="0" smtClean="0">
                              <a:solidFill>
                                <a:srgbClr val="082B52"/>
                              </a:solidFill>
                              <a:latin typeface="Cambria Math" panose="02040503050406030204" pitchFamily="18" charset="0"/>
                            </a:rPr>
                          </m:ctrlPr>
                        </m:sSubPr>
                        <m:e>
                          <m:r>
                            <a:rPr lang="ja-JP" altLang="en-US" sz="4400" b="1" i="1" dirty="0" smtClean="0">
                              <a:solidFill>
                                <a:srgbClr val="082B52"/>
                              </a:solidFill>
                              <a:latin typeface="Cambria Math" panose="02040503050406030204" pitchFamily="18" charset="0"/>
                            </a:rPr>
                            <m:t>𝜽</m:t>
                          </m:r>
                        </m:e>
                        <m:sub>
                          <m:r>
                            <a:rPr lang="ja-JP" altLang="en-US" sz="4400" b="1" i="1" dirty="0" smtClean="0">
                              <a:solidFill>
                                <a:srgbClr val="082B52"/>
                              </a:solidFill>
                              <a:latin typeface="Cambria Math" panose="02040503050406030204" pitchFamily="18" charset="0"/>
                            </a:rPr>
                            <m:t>𝒅𝒐𝒎</m:t>
                          </m:r>
                        </m:sub>
                      </m:sSub>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a:solidFill>
                            <a:srgbClr val="082B52"/>
                          </a:solidFill>
                          <a:latin typeface="Cambria Math" panose="02040503050406030204" pitchFamily="18" charset="0"/>
                        </a:rPr>
                        <m:t>≈ </m:t>
                      </m:r>
                      <m:sSub>
                        <m:sSubPr>
                          <m:ctrlPr>
                            <a:rPr lang="ja-JP" altLang="en-US" sz="4400" b="1" i="1" dirty="0" err="1">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𝒂</m:t>
                          </m:r>
                        </m:e>
                        <m:sub>
                          <m:r>
                            <a:rPr lang="ja-JP" altLang="en-US" sz="4400" b="1" i="1" dirty="0" err="1">
                              <a:solidFill>
                                <a:srgbClr val="082B52"/>
                              </a:solidFill>
                              <a:latin typeface="Cambria Math" panose="02040503050406030204" pitchFamily="18" charset="0"/>
                            </a:rPr>
                            <m:t>𝒔𝒖𝒏𝒇𝒂𝒄𝒆</m:t>
                          </m:r>
                        </m:sub>
                      </m:sSub>
                      <m:r>
                        <a:rPr lang="ja-JP" altLang="en-US" sz="4400" b="1" i="1" dirty="0">
                          <a:solidFill>
                            <a:srgbClr val="082B52"/>
                          </a:solidFill>
                          <a:latin typeface="Cambria Math" panose="02040503050406030204" pitchFamily="18" charset="0"/>
                        </a:rPr>
                        <m:t> </m:t>
                      </m:r>
                      <m:r>
                        <a:rPr lang="en-US" altLang="ja-JP" sz="4400" b="1" i="1" dirty="0">
                          <a:solidFill>
                            <a:srgbClr val="082B52"/>
                          </a:solidFill>
                          <a:latin typeface="Cambria Math" panose="02040503050406030204" pitchFamily="18" charset="0"/>
                        </a:rPr>
                        <m:t>· </m:t>
                      </m:r>
                      <m:r>
                        <a:rPr lang="ja-JP" altLang="en-US" sz="4400" b="1" i="0" dirty="0">
                          <a:solidFill>
                            <a:srgbClr val="082B52"/>
                          </a:solidFill>
                          <a:latin typeface="Cambria Math" panose="02040503050406030204" pitchFamily="18" charset="0"/>
                        </a:rPr>
                        <m:t>𝚫</m:t>
                      </m:r>
                      <m:r>
                        <a:rPr lang="ja-JP" altLang="en-US" sz="4400" b="1" i="1" dirty="0">
                          <a:solidFill>
                            <a:srgbClr val="082B52"/>
                          </a:solidFill>
                          <a:latin typeface="Cambria Math" panose="02040503050406030204" pitchFamily="18" charset="0"/>
                        </a:rPr>
                        <m:t>𝑻</m:t>
                      </m:r>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smtClean="0">
                          <a:solidFill>
                            <a:srgbClr val="082B52"/>
                          </a:solidFill>
                          <a:latin typeface="Cambria Math" panose="02040503050406030204" pitchFamily="18" charset="0"/>
                        </a:rPr>
                        <m:t>+</m:t>
                      </m:r>
                      <m:sSub>
                        <m:sSubPr>
                          <m:ctrlPr>
                            <a:rPr lang="ja-JP" altLang="en-US" sz="4400" b="1" i="1" dirty="0" err="1">
                              <a:solidFill>
                                <a:srgbClr val="FF0000"/>
                              </a:solidFill>
                              <a:latin typeface="Cambria Math" panose="02040503050406030204" pitchFamily="18" charset="0"/>
                            </a:rPr>
                          </m:ctrlPr>
                        </m:sSubPr>
                        <m:e>
                          <m:r>
                            <a:rPr lang="ja-JP" altLang="en-US" sz="4400" b="1" i="1" dirty="0" err="1">
                              <a:solidFill>
                                <a:srgbClr val="FF0000"/>
                              </a:solidFill>
                              <a:latin typeface="Cambria Math" panose="02040503050406030204" pitchFamily="18" charset="0"/>
                            </a:rPr>
                            <m:t>𝒃</m:t>
                          </m:r>
                        </m:e>
                        <m:sub>
                          <m:r>
                            <a:rPr lang="ja-JP" altLang="en-US" sz="4400" b="1" i="1" dirty="0" err="1">
                              <a:solidFill>
                                <a:srgbClr val="FF0000"/>
                              </a:solidFill>
                              <a:latin typeface="Cambria Math" panose="02040503050406030204" pitchFamily="18" charset="0"/>
                            </a:rPr>
                            <m:t>𝒄𝒂𝒔𝒆</m:t>
                          </m:r>
                        </m:sub>
                      </m:sSub>
                      <m:r>
                        <a:rPr lang="ja-JP" altLang="en-US" sz="4400" b="1" i="1" dirty="0">
                          <a:solidFill>
                            <a:srgbClr val="082B52"/>
                          </a:solidFill>
                          <a:latin typeface="Cambria Math" panose="02040503050406030204" pitchFamily="18" charset="0"/>
                        </a:rPr>
                        <m:t> </m:t>
                      </m:r>
                    </m:oMath>
                  </m:oMathPara>
                </a14:m>
                <a:endParaRPr dirty="0"/>
              </a:p>
            </p:txBody>
          </p:sp>
        </mc:Choice>
        <mc:Fallback xmlns="">
          <p:sp>
            <p:nvSpPr>
              <p:cNvPr id="20" name="TextBox 5">
                <a:extLst>
                  <a:ext uri="{FF2B5EF4-FFF2-40B4-BE49-F238E27FC236}">
                    <a16:creationId xmlns:a16="http://schemas.microsoft.com/office/drawing/2014/main" id="{03E6F5D4-430D-507D-6683-A2B6E9E55979}"/>
                  </a:ext>
                </a:extLst>
              </p:cNvPr>
              <p:cNvSpPr txBox="1">
                <a:spLocks noRot="1" noChangeAspect="1" noMove="1" noResize="1" noEditPoints="1" noAdjustHandles="1" noChangeArrowheads="1" noChangeShapeType="1" noTextEdit="1"/>
              </p:cNvSpPr>
              <p:nvPr/>
            </p:nvSpPr>
            <p:spPr>
              <a:xfrm>
                <a:off x="7654202" y="3379916"/>
                <a:ext cx="9197518" cy="796628"/>
              </a:xfrm>
              <a:prstGeom prst="rect">
                <a:avLst/>
              </a:prstGeom>
              <a:blipFill>
                <a:blip r:embed="rId6"/>
                <a:stretch>
                  <a:fillRect/>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82252EB3-5D48-3FDD-0ECE-F0B0AEE1F399}"/>
              </a:ext>
            </a:extLst>
          </p:cNvPr>
          <p:cNvSpPr txBox="1"/>
          <p:nvPr/>
        </p:nvSpPr>
        <p:spPr>
          <a:xfrm>
            <a:off x="6156961" y="12082492"/>
            <a:ext cx="12192000" cy="584775"/>
          </a:xfrm>
          <a:prstGeom prst="rect">
            <a:avLst/>
          </a:prstGeom>
          <a:noFill/>
        </p:spPr>
        <p:txBody>
          <a:bodyPr wrap="square">
            <a:spAutoFit/>
          </a:bodyPr>
          <a:lstStyle/>
          <a:p>
            <a:pPr algn="ctr">
              <a:spcAft>
                <a:spcPts val="0"/>
              </a:spcAft>
              <a:buNone/>
            </a:pPr>
            <a:r>
              <a:rPr sz="3000" b="1">
                <a:solidFill>
                  <a:srgbClr val="082B52"/>
                </a:solidFill>
                <a:latin typeface="Yu Gothic"/>
                <a:ea typeface="Yu Gothic"/>
              </a:rPr>
              <a:t>Panel ΔT: time variation · DC offset: cross-case differences</a:t>
            </a:r>
            <a:endParaRPr lang="ja-JP" altLang="ja-JP" sz="3200" dirty="0"/>
          </a:p>
        </p:txBody>
      </p:sp>
      <mc:AlternateContent xmlns:mc="http://schemas.openxmlformats.org/markup-compatibility/2006" xmlns:a14="http://schemas.microsoft.com/office/drawing/2010/main">
        <mc:Choice Requires="a14">
          <p:sp>
            <p:nvSpPr>
              <p:cNvPr id="6" name="TextBox 5"/>
              <p:cNvSpPr txBox="1"/>
              <p:nvPr/>
            </p:nvSpPr>
            <p:spPr>
              <a:xfrm>
                <a:off x="5955368" y="6289373"/>
                <a:ext cx="12412309"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4400" b="1" i="1" dirty="0" smtClean="0">
                              <a:solidFill>
                                <a:srgbClr val="FF0000"/>
                              </a:solidFill>
                              <a:latin typeface="Cambria Math" panose="02040503050406030204" pitchFamily="18" charset="0"/>
                            </a:rPr>
                          </m:ctrlPr>
                        </m:sSubPr>
                        <m:e>
                          <m:r>
                            <a:rPr lang="en-US" sz="4400" b="1" i="1" dirty="0" smtClean="0">
                              <a:solidFill>
                                <a:srgbClr val="FF0000"/>
                              </a:solidFill>
                              <a:latin typeface="Cambria Math" panose="02040503050406030204" pitchFamily="18" charset="0"/>
                            </a:rPr>
                            <m:t>𝒃</m:t>
                          </m:r>
                        </m:e>
                        <m:sub>
                          <m:r>
                            <a:rPr lang="en-US" sz="4400" b="1" i="1" dirty="0" err="1" smtClean="0">
                              <a:solidFill>
                                <a:srgbClr val="FF0000"/>
                              </a:solidFill>
                              <a:latin typeface="Cambria Math" panose="02040503050406030204" pitchFamily="18" charset="0"/>
                            </a:rPr>
                            <m:t>𝒄𝒂𝒔𝒆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smtClean="0">
                              <a:solidFill>
                                <a:srgbClr val="082B52"/>
                              </a:solidFill>
                              <a:latin typeface="Cambria Math" panose="02040503050406030204" pitchFamily="18" charset="0"/>
                            </a:rPr>
                            <m:t>𝟎</m:t>
                          </m:r>
                          <m:r>
                            <a:rPr lang="en-US" sz="4400" b="1" i="1" dirty="0" smtClean="0">
                              <a:solidFill>
                                <a:srgbClr val="082B52"/>
                              </a:solidFill>
                              <a:latin typeface="Cambria Math" panose="02040503050406030204" pitchFamily="18" charset="0"/>
                            </a:rPr>
                            <m:t>,</m:t>
                          </m:r>
                          <m:r>
                            <a:rPr lang="en-US" sz="4400" b="1" i="1" dirty="0" smtClean="0">
                              <a:solidFill>
                                <a:srgbClr val="082B52"/>
                              </a:solidFill>
                              <a:latin typeface="Cambria Math" panose="02040503050406030204" pitchFamily="18" charset="0"/>
                            </a:rPr>
                            <m:t>𝒔𝒖𝒏𝒇𝒂𝒄𝒆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𝑷𝑹𝑶𝑷</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𝑷𝑹𝑶𝑷</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𝑷𝑪𝑫𝑼</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𝑷𝑪𝑫𝑼</m:t>
                          </m:r>
                        </m:sub>
                      </m:sSub>
                    </m:oMath>
                  </m:oMathPara>
                </a14:m>
                <a:endParaRPr lang="en-US" sz="44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5955368" y="6289373"/>
                <a:ext cx="12412309" cy="796628"/>
              </a:xfrm>
              <a:prstGeom prst="rect">
                <a:avLst/>
              </a:prstGeom>
              <a:blipFill>
                <a:blip r:embed="rId7"/>
                <a:stretch>
                  <a:fillRect/>
                </a:stretch>
              </a:blipFill>
            </p:spPr>
            <p:txBody>
              <a:bodyPr/>
              <a:lstStyle/>
              <a:p>
                <a:r>
                  <a:rPr lang="ja-JP" altLang="en-US">
                    <a:noFill/>
                  </a:rPr>
                  <a:t> </a:t>
                </a:r>
              </a:p>
            </p:txBody>
          </p:sp>
        </mc:Fallback>
      </mc:AlternateContent>
      <p:sp>
        <p:nvSpPr>
          <p:cNvPr id="23" name="TextBox 22"/>
          <p:cNvSpPr txBox="1"/>
          <p:nvPr/>
        </p:nvSpPr>
        <p:spPr>
          <a:xfrm>
            <a:off x="1280160" y="12694920"/>
            <a:ext cx="21945600" cy="502920"/>
          </a:xfrm>
          <a:prstGeom prst="rect">
            <a:avLst/>
          </a:prstGeom>
          <a:noFill/>
        </p:spPr>
        <p:txBody>
          <a:bodyPr wrap="square" lIns="45720" tIns="18288" rIns="45720" bIns="18288" anchor="t">
            <a:spAutoFit/>
          </a:bodyPr>
          <a:lstStyle/>
          <a:p>
            <a:pPr algn="ctr">
              <a:spcAft>
                <a:spcPts val="0"/>
              </a:spcAft>
            </a:pPr>
            <a:r>
              <a:rPr sz="2100" b="0">
                <a:solidFill>
                  <a:srgbClr val="666F79"/>
                </a:solidFill>
                <a:latin typeface="Yu Gothic"/>
                <a:ea typeface="Yu Gothic"/>
              </a:rPr>
              <a:t>16 coefficients; specific to this structure, placement, and LOS definition</a:t>
            </a:r>
          </a:p>
        </p:txBody>
      </p:sp>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0ECB3AB1-C1D3-88A9-D9E2-BA7E2C2BE272}"/>
                  </a:ext>
                </a:extLst>
              </p:cNvPr>
              <p:cNvSpPr txBox="1"/>
              <p:nvPr/>
            </p:nvSpPr>
            <p:spPr>
              <a:xfrm>
                <a:off x="6065520" y="7000603"/>
                <a:ext cx="12192000" cy="586699"/>
              </a:xfrm>
              <a:prstGeom prst="rect">
                <a:avLst/>
              </a:prstGeom>
              <a:noFill/>
            </p:spPr>
            <p:txBody>
              <a:bodyPr wrap="square">
                <a:spAutoFit/>
              </a:bodyPr>
              <a:lstStyle/>
              <a:p>
                <a:pPr algn="ctr"/>
                <a14:m>
                  <m:oMath xmlns:m="http://schemas.openxmlformats.org/officeDocument/2006/math">
                    <m:sSub>
                      <m:sSubPr>
                        <m:ctrlPr>
                          <a:rPr lang="en-US" altLang="ja-JP" sz="3200" b="1" i="1" dirty="0">
                            <a:solidFill>
                              <a:schemeClr val="accent4">
                                <a:lumMod val="50000"/>
                              </a:schemeClr>
                            </a:solidFill>
                            <a:latin typeface="Cambria Math" panose="02040503050406030204" pitchFamily="18" charset="0"/>
                          </a:rPr>
                        </m:ctrlPr>
                      </m:sSubPr>
                      <m:e>
                        <m:r>
                          <a:rPr lang="en-US" altLang="ja-JP" sz="3200" b="1" i="1" dirty="0">
                            <a:solidFill>
                              <a:schemeClr val="accent4">
                                <a:lumMod val="50000"/>
                              </a:schemeClr>
                            </a:solidFill>
                            <a:latin typeface="Cambria Math" panose="02040503050406030204" pitchFamily="18" charset="0"/>
                          </a:rPr>
                          <m:t>𝑰</m:t>
                        </m:r>
                      </m:e>
                      <m:sub>
                        <m:r>
                          <a:rPr lang="en-US" altLang="ja-JP" sz="3200" b="1" i="1" dirty="0">
                            <a:solidFill>
                              <a:schemeClr val="accent4">
                                <a:lumMod val="50000"/>
                              </a:schemeClr>
                            </a:solidFill>
                            <a:latin typeface="Cambria Math" panose="02040503050406030204" pitchFamily="18" charset="0"/>
                          </a:rPr>
                          <m:t>𝑷𝑹𝑶</m:t>
                        </m:r>
                        <m:r>
                          <a:rPr lang="en-US" altLang="ja-JP" sz="3200" b="1" i="1" dirty="0" smtClean="0">
                            <a:solidFill>
                              <a:schemeClr val="accent4">
                                <a:lumMod val="50000"/>
                              </a:schemeClr>
                            </a:solidFill>
                            <a:latin typeface="Cambria Math" panose="02040503050406030204" pitchFamily="18" charset="0"/>
                          </a:rPr>
                          <m:t>𝑷</m:t>
                        </m:r>
                      </m:sub>
                    </m:sSub>
                    <m:r>
                      <a:rPr lang="en-US" altLang="ja-JP" sz="3200" b="1" i="1" dirty="0" smtClean="0">
                        <a:solidFill>
                          <a:schemeClr val="accent4">
                            <a:lumMod val="50000"/>
                          </a:schemeClr>
                        </a:solidFill>
                        <a:latin typeface="Cambria Math" panose="02040503050406030204" pitchFamily="18" charset="0"/>
                      </a:rPr>
                      <m:t>, </m:t>
                    </m:r>
                    <m:sSub>
                      <m:sSubPr>
                        <m:ctrlPr>
                          <a:rPr lang="en-US" altLang="ja-JP" sz="3200" b="1" i="1" dirty="0" smtClean="0">
                            <a:solidFill>
                              <a:schemeClr val="accent4">
                                <a:lumMod val="50000"/>
                              </a:schemeClr>
                            </a:solidFill>
                            <a:latin typeface="Cambria Math" panose="02040503050406030204" pitchFamily="18" charset="0"/>
                          </a:rPr>
                        </m:ctrlPr>
                      </m:sSubPr>
                      <m:e>
                        <m:r>
                          <a:rPr lang="en-US" altLang="ja-JP" sz="3200" b="1" i="1" dirty="0" smtClean="0">
                            <a:solidFill>
                              <a:schemeClr val="accent4">
                                <a:lumMod val="50000"/>
                              </a:schemeClr>
                            </a:solidFill>
                            <a:latin typeface="Cambria Math" panose="02040503050406030204" pitchFamily="18" charset="0"/>
                          </a:rPr>
                          <m:t>𝑰</m:t>
                        </m:r>
                      </m:e>
                      <m:sub>
                        <m:r>
                          <a:rPr lang="en-US" altLang="ja-JP" sz="3200" b="1" i="1" dirty="0" smtClean="0">
                            <a:solidFill>
                              <a:schemeClr val="accent4">
                                <a:lumMod val="50000"/>
                              </a:schemeClr>
                            </a:solidFill>
                            <a:latin typeface="Cambria Math" panose="02040503050406030204" pitchFamily="18" charset="0"/>
                          </a:rPr>
                          <m:t>𝑷𝑪𝑫𝑼</m:t>
                        </m:r>
                      </m:sub>
                    </m:sSub>
                    <m:r>
                      <a:rPr lang="ja-JP" altLang="en-US" sz="3200" b="1" i="1" dirty="0" smtClean="0">
                        <a:solidFill>
                          <a:schemeClr val="accent4">
                            <a:lumMod val="50000"/>
                          </a:schemeClr>
                        </a:solidFill>
                        <a:latin typeface="Cambria Math" panose="02040503050406030204" pitchFamily="18" charset="0"/>
                      </a:rPr>
                      <m:t>: </m:t>
                    </m:r>
                    <m:r>
                      <a:rPr lang="ja-JP" altLang="en-US" sz="3200" b="1" i="1" dirty="0">
                        <a:solidFill>
                          <a:schemeClr val="accent4">
                            <a:lumMod val="50000"/>
                          </a:schemeClr>
                        </a:solidFill>
                        <a:latin typeface="Cambria Math" panose="02040503050406030204" pitchFamily="18" charset="0"/>
                      </a:rPr>
                      <m:t>𝑢𝑛𝑖𝑡</m:t>
                    </m:r>
                    <m:r>
                      <a:rPr lang="ja-JP" altLang="en-US" sz="3200" b="1" i="1" dirty="0">
                        <a:solidFill>
                          <a:schemeClr val="accent4">
                            <a:lumMod val="50000"/>
                          </a:schemeClr>
                        </a:solidFill>
                        <a:latin typeface="Cambria Math" panose="02040503050406030204" pitchFamily="18" charset="0"/>
                      </a:rPr>
                      <m:t> </m:t>
                    </m:r>
                    <m:r>
                      <a:rPr lang="ja-JP" altLang="en-US" sz="3200" b="1" i="1" dirty="0">
                        <a:solidFill>
                          <a:schemeClr val="accent4">
                            <a:lumMod val="50000"/>
                          </a:schemeClr>
                        </a:solidFill>
                        <a:latin typeface="Cambria Math" panose="02040503050406030204" pitchFamily="18" charset="0"/>
                      </a:rPr>
                      <m:t>𝑝𝑜𝑤𝑒𝑟</m:t>
                    </m:r>
                    <m:r>
                      <a:rPr lang="ja-JP" altLang="en-US" sz="3200" b="1" i="1" dirty="0">
                        <a:solidFill>
                          <a:schemeClr val="accent4">
                            <a:lumMod val="50000"/>
                          </a:schemeClr>
                        </a:solidFill>
                        <a:latin typeface="Cambria Math" panose="02040503050406030204" pitchFamily="18" charset="0"/>
                      </a:rPr>
                      <m:t> </m:t>
                    </m:r>
                    <m:r>
                      <a:rPr lang="ja-JP" altLang="en-US" sz="3200" b="1" i="1" dirty="0">
                        <a:solidFill>
                          <a:schemeClr val="accent4">
                            <a:lumMod val="50000"/>
                          </a:schemeClr>
                        </a:solidFill>
                        <a:latin typeface="Cambria Math" panose="02040503050406030204" pitchFamily="18" charset="0"/>
                      </a:rPr>
                      <m:t>𝑠𝑡𝑎𝑡𝑒</m:t>
                    </m:r>
                    <m:r>
                      <a:rPr lang="ja-JP" altLang="en-US" sz="3200" b="1" i="1" dirty="0">
                        <a:solidFill>
                          <a:schemeClr val="accent4">
                            <a:lumMod val="50000"/>
                          </a:schemeClr>
                        </a:solidFill>
                        <a:latin typeface="Cambria Math" panose="02040503050406030204" pitchFamily="18" charset="0"/>
                      </a:rPr>
                      <m:t> (</m:t>
                    </m:r>
                  </m:oMath>
                </a14:m>
                <a:r>
                  <a:rPr lang="en-US" altLang="ja-JP" sz="3200" dirty="0">
                    <a:solidFill>
                      <a:schemeClr val="accent4">
                        <a:lumMod val="50000"/>
                      </a:schemeClr>
                    </a:solidFill>
                  </a:rPr>
                  <a:t>ON/OFF</a:t>
                </a:r>
                <a:r>
                  <a:rPr lang="ja-JP" altLang="en-US" sz="3200" dirty="0">
                    <a:solidFill>
                      <a:schemeClr val="accent4">
                        <a:lumMod val="50000"/>
                      </a:schemeClr>
                    </a:solidFill>
                  </a:rPr>
                  <a:t>)</a:t>
                </a:r>
              </a:p>
            </p:txBody>
          </p:sp>
        </mc:Choice>
        <mc:Fallback xmlns="">
          <p:sp>
            <p:nvSpPr>
              <p:cNvPr id="18" name="テキスト ボックス 17">
                <a:extLst>
                  <a:ext uri="{FF2B5EF4-FFF2-40B4-BE49-F238E27FC236}">
                    <a16:creationId xmlns:a16="http://schemas.microsoft.com/office/drawing/2014/main" id="{0ECB3AB1-C1D3-88A9-D9E2-BA7E2C2BE272}"/>
                  </a:ext>
                </a:extLst>
              </p:cNvPr>
              <p:cNvSpPr txBox="1">
                <a:spLocks noRot="1" noChangeAspect="1" noMove="1" noResize="1" noEditPoints="1" noAdjustHandles="1" noChangeArrowheads="1" noChangeShapeType="1" noTextEdit="1"/>
              </p:cNvSpPr>
              <p:nvPr/>
            </p:nvSpPr>
            <p:spPr>
              <a:xfrm>
                <a:off x="6065520" y="7000603"/>
                <a:ext cx="12192000" cy="586699"/>
              </a:xfrm>
              <a:prstGeom prst="rect">
                <a:avLst/>
              </a:prstGeom>
              <a:blipFill>
                <a:blip r:embed="rId8"/>
                <a:stretch>
                  <a:fillRect t="-12371" b="-32990"/>
                </a:stretch>
              </a:blipFill>
            </p:spPr>
            <p:txBody>
              <a:bodyPr/>
              <a:lstStyle/>
              <a:p>
                <a:r>
                  <a:rPr lang="ja-JP" altLang="en-US">
                    <a:noFill/>
                  </a:rPr>
                  <a:t> </a:t>
                </a:r>
              </a:p>
            </p:txBody>
          </p:sp>
        </mc:Fallback>
      </mc:AlternateContent>
      <p:sp>
        <p:nvSpPr>
          <p:cNvPr id="21" name="テキスト ボックス 20">
            <a:extLst>
              <a:ext uri="{FF2B5EF4-FFF2-40B4-BE49-F238E27FC236}">
                <a16:creationId xmlns:a16="http://schemas.microsoft.com/office/drawing/2014/main" id="{630ECF95-90FC-E07D-3157-676DB548B32D}"/>
              </a:ext>
            </a:extLst>
          </p:cNvPr>
          <p:cNvSpPr txBox="1"/>
          <p:nvPr/>
        </p:nvSpPr>
        <p:spPr>
          <a:xfrm>
            <a:off x="1505572" y="3025973"/>
            <a:ext cx="3066428" cy="1323439"/>
          </a:xfrm>
          <a:prstGeom prst="rect">
            <a:avLst/>
          </a:prstGeom>
          <a:noFill/>
        </p:spPr>
        <p:txBody>
          <a:bodyPr wrap="square" rtlCol="0">
            <a:spAutoFit/>
          </a:bodyPr>
          <a:lstStyle/>
          <a:p>
            <a:r>
              <a:rPr kumimoji="1" lang="en-US" altLang="ja-JP" sz="4000" dirty="0">
                <a:latin typeface="Arial" panose="020B0604020202020204" pitchFamily="34" charset="0"/>
                <a:cs typeface="Arial" panose="020B0604020202020204" pitchFamily="34" charset="0"/>
              </a:rPr>
              <a:t>1st step: time-varying</a:t>
            </a:r>
            <a:endParaRPr kumimoji="1" lang="ja-JP" altLang="en-US" sz="4000" dirty="0">
              <a:latin typeface="Arial" panose="020B0604020202020204" pitchFamily="34" charset="0"/>
              <a:cs typeface="Arial" panose="020B0604020202020204" pitchFamily="34" charset="0"/>
            </a:endParaRPr>
          </a:p>
        </p:txBody>
      </p:sp>
      <p:sp>
        <p:nvSpPr>
          <p:cNvPr id="25" name="テキスト ボックス 24">
            <a:extLst>
              <a:ext uri="{FF2B5EF4-FFF2-40B4-BE49-F238E27FC236}">
                <a16:creationId xmlns:a16="http://schemas.microsoft.com/office/drawing/2014/main" id="{5A01ED33-E65D-57DA-3609-35DC33FCD660}"/>
              </a:ext>
            </a:extLst>
          </p:cNvPr>
          <p:cNvSpPr txBox="1"/>
          <p:nvPr/>
        </p:nvSpPr>
        <p:spPr>
          <a:xfrm>
            <a:off x="1585431" y="5878361"/>
            <a:ext cx="2615609" cy="1323439"/>
          </a:xfrm>
          <a:prstGeom prst="rect">
            <a:avLst/>
          </a:prstGeom>
          <a:noFill/>
        </p:spPr>
        <p:txBody>
          <a:bodyPr wrap="square" rtlCol="0">
            <a:spAutoFit/>
          </a:bodyPr>
          <a:lstStyle/>
          <a:p>
            <a:r>
              <a:rPr kumimoji="1" lang="en-US" altLang="ja-JP" sz="4000" dirty="0">
                <a:latin typeface="Arial" panose="020B0604020202020204" pitchFamily="34" charset="0"/>
                <a:cs typeface="Arial" panose="020B0604020202020204" pitchFamily="34" charset="0"/>
              </a:rPr>
              <a:t>2nd step: bias</a:t>
            </a:r>
          </a:p>
        </p:txBody>
      </p:sp>
    </p:spTree>
    <p:extLst>
      <p:ext uri="{BB962C8B-B14F-4D97-AF65-F5344CB8AC3E}">
        <p14:creationId xmlns:p14="http://schemas.microsoft.com/office/powerpoint/2010/main" val="34623773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Reduced-order model</a:t>
            </a:r>
          </a:p>
        </p:txBody>
      </p:sp>
      <p:sp>
        <p:nvSpPr>
          <p:cNvPr id="3" name="TextBox 2"/>
          <p:cNvSpPr txBox="1"/>
          <p:nvPr/>
        </p:nvSpPr>
        <p:spPr>
          <a:xfrm>
            <a:off x="1536192" y="1357277"/>
            <a:ext cx="22037040" cy="107106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r>
              <a:rPr lang="ja-JP" altLang="ja-JP" sz="3200" b="1" dirty="0"/>
              <a:t>The test case is excluded from all coefficient estimates to evaluate prediction under unseen conditions</a:t>
            </a:r>
            <a:endParaRPr sz="3200" b="1" dirty="0">
              <a:solidFill>
                <a:srgbClr val="082B52"/>
              </a:solidFill>
              <a:latin typeface="Yu Gothic"/>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5</a:t>
            </a:r>
            <a:endParaRPr sz="1800" b="0" dirty="0">
              <a:solidFill>
                <a:srgbClr val="666F79"/>
              </a:solidFill>
              <a:latin typeface="Yu Gothic"/>
              <a:ea typeface="Yu Gothic"/>
            </a:endParaRPr>
          </a:p>
        </p:txBody>
      </p:sp>
      <p:sp>
        <p:nvSpPr>
          <p:cNvPr id="5" name="Rounded Rectangle 4"/>
          <p:cNvSpPr/>
          <p:nvPr/>
        </p:nvSpPr>
        <p:spPr>
          <a:xfrm>
            <a:off x="1581912" y="3383280"/>
            <a:ext cx="6190488" cy="585216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783080" y="3675888"/>
            <a:ext cx="5788151" cy="640080"/>
          </a:xfrm>
          <a:prstGeom prst="rect">
            <a:avLst/>
          </a:prstGeom>
          <a:noFill/>
        </p:spPr>
        <p:txBody>
          <a:bodyPr wrap="square" lIns="45720" tIns="18288" rIns="45720" bIns="18288" anchor="t">
            <a:spAutoFit/>
          </a:bodyPr>
          <a:lstStyle/>
          <a:p>
            <a:pPr algn="ctr">
              <a:spcAft>
                <a:spcPts val="0"/>
              </a:spcAft>
            </a:pPr>
            <a:r>
              <a:rPr sz="2700" b="1">
                <a:solidFill>
                  <a:srgbClr val="239571"/>
                </a:solidFill>
                <a:latin typeface="Yu Gothic"/>
                <a:ea typeface="Yu Gothic"/>
              </a:rPr>
              <a:t>① Fit each case</a:t>
            </a:r>
          </a:p>
        </p:txBody>
      </p:sp>
      <p:sp>
        <p:nvSpPr>
          <p:cNvPr id="7" name="TextBox 6"/>
          <p:cNvSpPr txBox="1"/>
          <p:nvPr/>
        </p:nvSpPr>
        <p:spPr>
          <a:xfrm>
            <a:off x="1856231" y="4617720"/>
            <a:ext cx="5641848"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Use the first orbit of each case
to estimate its sensitivity a
and mean b</a:t>
            </a:r>
          </a:p>
        </p:txBody>
      </p:sp>
      <p:sp>
        <p:nvSpPr>
          <p:cNvPr id="8" name="Rounded Rectangle 7"/>
          <p:cNvSpPr/>
          <p:nvPr/>
        </p:nvSpPr>
        <p:spPr>
          <a:xfrm>
            <a:off x="8458200" y="3383280"/>
            <a:ext cx="6656832" cy="585216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659368" y="3675888"/>
            <a:ext cx="6254496" cy="640080"/>
          </a:xfrm>
          <a:prstGeom prst="rect">
            <a:avLst/>
          </a:prstGeom>
          <a:noFill/>
        </p:spPr>
        <p:txBody>
          <a:bodyPr wrap="square" lIns="45720" tIns="18288" rIns="45720" bIns="18288" anchor="t">
            <a:spAutoFit/>
          </a:bodyPr>
          <a:lstStyle/>
          <a:p>
            <a:pPr algn="ctr">
              <a:spcAft>
                <a:spcPts val="0"/>
              </a:spcAft>
            </a:pPr>
            <a:r>
              <a:rPr sz="2700" b="1">
                <a:solidFill>
                  <a:srgbClr val="1B74AA"/>
                </a:solidFill>
                <a:latin typeface="Yu Gothic"/>
                <a:ea typeface="Yu Gothic"/>
              </a:rPr>
              <a:t>② Share within each sun face</a:t>
            </a:r>
          </a:p>
        </p:txBody>
      </p:sp>
      <p:sp>
        <p:nvSpPr>
          <p:cNvPr id="10" name="TextBox 9"/>
          <p:cNvSpPr txBox="1"/>
          <p:nvPr/>
        </p:nvSpPr>
        <p:spPr>
          <a:xfrm>
            <a:off x="8732520" y="4617720"/>
            <a:ext cx="6108192"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Median a within each sun face
becomes the shared sensitivity
Fit mean b across cases from
sun face and dissipation flags</a:t>
            </a:r>
          </a:p>
        </p:txBody>
      </p:sp>
      <p:sp>
        <p:nvSpPr>
          <p:cNvPr id="11" name="Rounded Rectangle 10"/>
          <p:cNvSpPr/>
          <p:nvPr/>
        </p:nvSpPr>
        <p:spPr>
          <a:xfrm>
            <a:off x="15782544" y="3383280"/>
            <a:ext cx="7013448" cy="585216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983712" y="3675888"/>
            <a:ext cx="6611112" cy="640080"/>
          </a:xfrm>
          <a:prstGeom prst="rect">
            <a:avLst/>
          </a:prstGeom>
          <a:noFill/>
        </p:spPr>
        <p:txBody>
          <a:bodyPr wrap="square" lIns="45720" tIns="18288" rIns="45720" bIns="18288" anchor="t">
            <a:spAutoFit/>
          </a:bodyPr>
          <a:lstStyle/>
          <a:p>
            <a:pPr algn="ctr">
              <a:spcAft>
                <a:spcPts val="0"/>
              </a:spcAft>
            </a:pPr>
            <a:r>
              <a:rPr sz="2700" b="1">
                <a:solidFill>
                  <a:srgbClr val="EC9427"/>
                </a:solidFill>
                <a:latin typeface="Yu Gothic"/>
                <a:ea typeface="Yu Gothic"/>
              </a:rPr>
              <a:t>③ Test an unseen case</a:t>
            </a:r>
          </a:p>
        </p:txBody>
      </p:sp>
      <p:sp>
        <p:nvSpPr>
          <p:cNvPr id="13" name="TextBox 12"/>
          <p:cNvSpPr txBox="1"/>
          <p:nvPr/>
        </p:nvSpPr>
        <p:spPr>
          <a:xfrm>
            <a:off x="16056864" y="4617720"/>
            <a:ext cx="6464808" cy="4434840"/>
          </a:xfrm>
          <a:prstGeom prst="rect">
            <a:avLst/>
          </a:prstGeom>
          <a:noFill/>
        </p:spPr>
        <p:txBody>
          <a:bodyPr wrap="square" lIns="45720" tIns="18288" rIns="45720" bIns="18288" anchor="t">
            <a:spAutoFit/>
          </a:bodyPr>
          <a:lstStyle/>
          <a:p>
            <a:pPr algn="ctr">
              <a:lnSpc>
                <a:spcPct val="115000"/>
              </a:lnSpc>
              <a:spcAft>
                <a:spcPts val="0"/>
              </a:spcAft>
            </a:pPr>
            <a:r>
              <a:rPr sz="2400" b="0">
                <a:solidFill>
                  <a:srgbClr val="232B34"/>
                </a:solidFill>
                <a:latin typeface="Yu Gothic"/>
                <a:ea typeface="Yu Gothic"/>
              </a:rPr>
              <a:t>nested leave-one-case-out
Exclude the test case from shared sensitivity
and both-axis mean models
Evaluate its next two orbits</a:t>
            </a:r>
          </a:p>
        </p:txBody>
      </p:sp>
      <p:sp>
        <p:nvSpPr>
          <p:cNvPr id="14" name="Right Arrow 13"/>
          <p:cNvSpPr/>
          <p:nvPr/>
        </p:nvSpPr>
        <p:spPr>
          <a:xfrm>
            <a:off x="7973568"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a:off x="15307055"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77440" y="10149840"/>
            <a:ext cx="19659600" cy="467820"/>
          </a:xfrm>
          <a:prstGeom prst="rect">
            <a:avLst/>
          </a:prstGeom>
          <a:noFill/>
        </p:spPr>
        <p:txBody>
          <a:bodyPr wrap="square" lIns="45720" tIns="18288" rIns="45720" bIns="18288" anchor="t">
            <a:spAutoFit/>
          </a:bodyPr>
          <a:lstStyle/>
          <a:p>
            <a:pPr algn="ctr"/>
            <a:r>
              <a:rPr lang="ja-JP" altLang="en-US" sz="2800" b="1" dirty="0"/>
              <a:t>Evaluate how well fixed shared coefficients predict unseen operating conditions</a:t>
            </a:r>
            <a:endParaRPr lang="ja-JP" altLang="ja-JP" sz="2800" dirty="0"/>
          </a:p>
        </p:txBody>
      </p:sp>
      <p:sp>
        <p:nvSpPr>
          <p:cNvPr id="18" name="TextBox 17"/>
          <p:cNvSpPr txBox="1"/>
          <p:nvPr/>
        </p:nvSpPr>
        <p:spPr>
          <a:xfrm>
            <a:off x="2039112" y="11292840"/>
            <a:ext cx="20299680" cy="406265"/>
          </a:xfrm>
          <a:prstGeom prst="rect">
            <a:avLst/>
          </a:prstGeom>
          <a:noFill/>
        </p:spPr>
        <p:txBody>
          <a:bodyPr wrap="square" lIns="45720" tIns="18288" rIns="45720" bIns="18288" anchor="t">
            <a:spAutoFit/>
          </a:bodyPr>
          <a:lstStyle/>
          <a:p>
            <a:pPr algn="r"/>
            <a:r>
              <a:rPr lang="ja-JP" altLang="ja-JP" sz="2400" dirty="0"/>
              <a:t>Across-condition evaluation within the same structure and LOS definition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Reduced-order model</a:t>
            </a:r>
          </a:p>
        </p:txBody>
      </p:sp>
      <p:sp>
        <p:nvSpPr>
          <p:cNvPr id="3" name="TextBox 2"/>
          <p:cNvSpPr txBox="1"/>
          <p:nvPr/>
        </p:nvSpPr>
        <p:spPr>
          <a:xfrm>
            <a:off x="1536192" y="1359777"/>
            <a:ext cx="22037040" cy="1066061"/>
          </a:xfrm>
          <a:prstGeom prst="rect">
            <a:avLst/>
          </a:prstGeom>
          <a:noFill/>
        </p:spPr>
        <p:txBody>
          <a:bodyPr wrap="square" lIns="45720" tIns="18288" rIns="45720" bIns="18288" anchor="ctr">
            <a:spAutoFit/>
          </a:bodyPr>
          <a:lstStyle/>
          <a:p>
            <a:pPr algn="l">
              <a:lnSpc>
                <a:spcPct val="110000"/>
              </a:lnSpc>
              <a:spcAft>
                <a:spcPts val="0"/>
              </a:spcAft>
            </a:pPr>
            <a:endParaRPr lang="en-US" sz="3100" b="1" dirty="0">
              <a:solidFill>
                <a:srgbClr val="082B52"/>
              </a:solidFill>
              <a:latin typeface="Yu Gothic"/>
              <a:ea typeface="Yu Gothic"/>
            </a:endParaRPr>
          </a:p>
          <a:p>
            <a:pPr algn="l">
              <a:lnSpc>
                <a:spcPct val="110000"/>
              </a:lnSpc>
              <a:spcAft>
                <a:spcPts val="0"/>
              </a:spcAft>
            </a:pPr>
            <a:r>
              <a:rPr sz="3100" b="1" dirty="0">
                <a:solidFill>
                  <a:srgbClr val="082B52"/>
                </a:solidFill>
                <a:latin typeface="Yu Gothic"/>
                <a:ea typeface="Yu Gothic"/>
              </a:rPr>
              <a:t>For unseen cases, median dominant-axis error is 4.9 µrad—one to two orders below the raw 615 µrad</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6</a:t>
            </a:r>
            <a:endParaRPr sz="1800" b="0" dirty="0">
              <a:solidFill>
                <a:srgbClr val="666F79"/>
              </a:solidFill>
              <a:latin typeface="Yu Gothic"/>
              <a:ea typeface="Yu Gothic"/>
            </a:endParaRPr>
          </a:p>
        </p:txBody>
      </p:sp>
      <p:sp>
        <p:nvSpPr>
          <p:cNvPr id="5" name="Rectangle 4"/>
          <p:cNvSpPr/>
          <p:nvPr/>
        </p:nvSpPr>
        <p:spPr>
          <a:xfrm>
            <a:off x="100584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1239012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p3_a_emp_by_sunface.png"/>
          <p:cNvPicPr>
            <a:picLocks noChangeAspect="1"/>
          </p:cNvPicPr>
          <p:nvPr/>
        </p:nvPicPr>
        <p:blipFill>
          <a:blip r:embed="rId3"/>
          <a:stretch>
            <a:fillRect/>
          </a:stretch>
        </p:blipFill>
        <p:spPr>
          <a:xfrm>
            <a:off x="1410788" y="3154680"/>
            <a:ext cx="10345782" cy="6035040"/>
          </a:xfrm>
          <a:prstGeom prst="rect">
            <a:avLst/>
          </a:prstGeom>
        </p:spPr>
      </p:pic>
      <p:pic>
        <p:nvPicPr>
          <p:cNvPr id="8" name="Picture 7" descr="image.png"/>
          <p:cNvPicPr>
            <a:picLocks noChangeAspect="1"/>
          </p:cNvPicPr>
          <p:nvPr/>
        </p:nvPicPr>
        <p:blipFill>
          <a:blip r:embed="rId4"/>
          <a:stretch>
            <a:fillRect/>
          </a:stretch>
        </p:blipFill>
        <p:spPr>
          <a:xfrm>
            <a:off x="12712446" y="3154680"/>
            <a:ext cx="10511028" cy="6035040"/>
          </a:xfrm>
          <a:prstGeom prst="rect">
            <a:avLst/>
          </a:prstGeom>
        </p:spPr>
      </p:pic>
      <p:sp>
        <p:nvSpPr>
          <p:cNvPr id="9" name="TextBox 8"/>
          <p:cNvSpPr txBox="1"/>
          <p:nvPr/>
        </p:nvSpPr>
        <p:spPr>
          <a:xfrm>
            <a:off x="1005840" y="9418320"/>
            <a:ext cx="11155680" cy="360099"/>
          </a:xfrm>
          <a:prstGeom prst="rect">
            <a:avLst/>
          </a:prstGeom>
          <a:noFill/>
        </p:spPr>
        <p:txBody>
          <a:bodyPr wrap="square" lIns="45720" tIns="18288" rIns="45720" bIns="18288" anchor="t">
            <a:spAutoFit/>
          </a:bodyPr>
          <a:lstStyle/>
          <a:p>
            <a:pPr algn="ctr">
              <a:spcAft>
                <a:spcPts val="0"/>
              </a:spcAft>
            </a:pPr>
            <a:r>
              <a:rPr sz="2100" b="1" dirty="0" err="1">
                <a:solidFill>
                  <a:srgbClr val="1B74AA"/>
                </a:solidFill>
                <a:latin typeface="Yu Gothic"/>
                <a:ea typeface="Yu Gothic"/>
              </a:rPr>
              <a:t>Sun-face sensitivities a (case-specific and shared)</a:t>
            </a:r>
          </a:p>
        </p:txBody>
      </p:sp>
      <p:sp>
        <p:nvSpPr>
          <p:cNvPr id="10" name="TextBox 9"/>
          <p:cNvSpPr txBox="1"/>
          <p:nvPr/>
        </p:nvSpPr>
        <p:spPr>
          <a:xfrm>
            <a:off x="12390120" y="9418320"/>
            <a:ext cx="11155680" cy="360099"/>
          </a:xfrm>
          <a:prstGeom prst="rect">
            <a:avLst/>
          </a:prstGeom>
          <a:noFill/>
        </p:spPr>
        <p:txBody>
          <a:bodyPr wrap="square" lIns="45720" tIns="18288" rIns="45720" bIns="18288" anchor="t">
            <a:spAutoFit/>
          </a:bodyPr>
          <a:lstStyle/>
          <a:p>
            <a:pPr algn="ctr">
              <a:spcAft>
                <a:spcPts val="0"/>
              </a:spcAft>
            </a:pPr>
            <a:r>
              <a:rPr sz="2100" b="1" dirty="0" err="1">
                <a:solidFill>
                  <a:srgbClr val="239571"/>
                </a:solidFill>
                <a:latin typeface="Yu Gothic"/>
                <a:ea typeface="Yu Gothic"/>
              </a:rPr>
              <a:t>Case bias b: empirical versus predicted</a:t>
            </a:r>
            <a:endParaRPr sz="2100" b="1" dirty="0">
              <a:solidFill>
                <a:srgbClr val="239571"/>
              </a:solidFill>
              <a:latin typeface="Yu Gothic"/>
              <a:ea typeface="Yu Gothic"/>
            </a:endParaRPr>
          </a:p>
        </p:txBody>
      </p:sp>
      <p:sp>
        <p:nvSpPr>
          <p:cNvPr id="11" name="Rounded Rectangle 10"/>
          <p:cNvSpPr/>
          <p:nvPr/>
        </p:nvSpPr>
        <p:spPr>
          <a:xfrm>
            <a:off x="1463040" y="10058400"/>
            <a:ext cx="6583680"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72768"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1B74AA"/>
                </a:solidFill>
                <a:latin typeface="Yu Gothic"/>
                <a:ea typeface="Yu Gothic"/>
              </a:rPr>
              <a:t>615 µrad</a:t>
            </a:r>
          </a:p>
        </p:txBody>
      </p:sp>
      <p:sp>
        <p:nvSpPr>
          <p:cNvPr id="13" name="TextBox 12"/>
          <p:cNvSpPr txBox="1"/>
          <p:nvPr/>
        </p:nvSpPr>
        <p:spPr>
          <a:xfrm>
            <a:off x="1572768"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Median raw dominant-axis LOS RMS</a:t>
            </a:r>
          </a:p>
        </p:txBody>
      </p:sp>
      <p:sp>
        <p:nvSpPr>
          <p:cNvPr id="14" name="Rounded Rectangle 13"/>
          <p:cNvSpPr/>
          <p:nvPr/>
        </p:nvSpPr>
        <p:spPr>
          <a:xfrm>
            <a:off x="8869680" y="10058400"/>
            <a:ext cx="6583680"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979407"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239571"/>
                </a:solidFill>
                <a:latin typeface="Yu Gothic"/>
                <a:ea typeface="Yu Gothic"/>
              </a:rPr>
              <a:t>4.9 µrad</a:t>
            </a:r>
          </a:p>
        </p:txBody>
      </p:sp>
      <p:sp>
        <p:nvSpPr>
          <p:cNvPr id="16" name="TextBox 15"/>
          <p:cNvSpPr txBox="1"/>
          <p:nvPr/>
        </p:nvSpPr>
        <p:spPr>
          <a:xfrm>
            <a:off x="8979407" y="11056924"/>
            <a:ext cx="6364224"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Median test RMSE on unseen cases (mean 5.5)</a:t>
            </a:r>
          </a:p>
        </p:txBody>
      </p:sp>
      <p:sp>
        <p:nvSpPr>
          <p:cNvPr id="17" name="Rounded Rectangle 16"/>
          <p:cNvSpPr/>
          <p:nvPr/>
        </p:nvSpPr>
        <p:spPr>
          <a:xfrm>
            <a:off x="16276320" y="10058400"/>
            <a:ext cx="6583680" cy="178308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6386048" y="10222992"/>
            <a:ext cx="6364224" cy="891540"/>
          </a:xfrm>
          <a:prstGeom prst="rect">
            <a:avLst/>
          </a:prstGeom>
          <a:noFill/>
        </p:spPr>
        <p:txBody>
          <a:bodyPr wrap="square" lIns="45720" tIns="18288" rIns="45720" bIns="18288" anchor="t">
            <a:spAutoFit/>
          </a:bodyPr>
          <a:lstStyle/>
          <a:p>
            <a:pPr algn="ctr">
              <a:spcAft>
                <a:spcPts val="0"/>
              </a:spcAft>
            </a:pPr>
            <a:r>
              <a:rPr sz="3200" b="1">
                <a:solidFill>
                  <a:srgbClr val="EC9427"/>
                </a:solidFill>
                <a:latin typeface="Yu Gothic"/>
                <a:ea typeface="Yu Gothic"/>
              </a:rPr>
              <a:t>3.8 µrad</a:t>
            </a:r>
          </a:p>
        </p:txBody>
      </p:sp>
      <p:sp>
        <p:nvSpPr>
          <p:cNvPr id="19" name="TextBox 18"/>
          <p:cNvSpPr txBox="1"/>
          <p:nvPr/>
        </p:nvSpPr>
        <p:spPr>
          <a:xfrm>
            <a:off x="16386048" y="11056924"/>
            <a:ext cx="6364224" cy="642868"/>
          </a:xfrm>
          <a:prstGeom prst="rect">
            <a:avLst/>
          </a:prstGeom>
          <a:noFill/>
        </p:spPr>
        <p:txBody>
          <a:bodyPr wrap="square" lIns="45720" tIns="18288" rIns="45720" bIns="18288" anchor="t">
            <a:spAutoFit/>
          </a:bodyPr>
          <a:lstStyle/>
          <a:p>
            <a:pPr algn="ctr">
              <a:lnSpc>
                <a:spcPct val="105000"/>
              </a:lnSpc>
              <a:spcAft>
                <a:spcPts val="0"/>
              </a:spcAft>
            </a:pPr>
            <a:r>
              <a:rPr sz="1900" b="0" dirty="0">
                <a:solidFill>
                  <a:srgbClr val="666F79"/>
                </a:solidFill>
                <a:latin typeface="Yu Gothic"/>
                <a:ea typeface="Yu Gothic"/>
              </a:rPr>
              <a:t>LOO RMSE of case-mean DC bias</a:t>
            </a:r>
            <a:endParaRPr lang="en-US" sz="1900" b="0" dirty="0">
              <a:solidFill>
                <a:srgbClr val="666F79"/>
              </a:solidFill>
              <a:latin typeface="Yu Gothic"/>
              <a:ea typeface="Yu Gothic"/>
            </a:endParaRPr>
          </a:p>
          <a:p>
            <a:pPr algn="ctr">
              <a:lnSpc>
                <a:spcPct val="105000"/>
              </a:lnSpc>
              <a:spcAft>
                <a:spcPts val="0"/>
              </a:spcAft>
            </a:pPr>
            <a:r>
              <a:rPr lang="en-US" altLang="ja-JP" sz="1900" dirty="0">
                <a:solidFill>
                  <a:srgbClr val="666F79"/>
                </a:solidFill>
                <a:latin typeface="Yu Gothic"/>
                <a:ea typeface="Yu Gothic"/>
              </a:rPr>
              <a:t>※</a:t>
            </a:r>
            <a:r>
              <a:rPr lang="en-US" sz="1900" dirty="0">
                <a:solidFill>
                  <a:srgbClr val="666F79"/>
                </a:solidFill>
                <a:latin typeface="Yu Gothic"/>
                <a:ea typeface="Yu Gothic"/>
              </a:rPr>
              <a:t>LOO</a:t>
            </a:r>
            <a:r>
              <a:rPr lang="ja-JP" altLang="en-US" sz="1900" dirty="0">
                <a:solidFill>
                  <a:srgbClr val="666F79"/>
                </a:solidFill>
                <a:latin typeface="Yu Gothic"/>
                <a:ea typeface="Yu Gothic"/>
              </a:rPr>
              <a:t>：</a:t>
            </a:r>
            <a:r>
              <a:rPr lang="en-US" altLang="ja-JP" sz="1900" dirty="0">
                <a:solidFill>
                  <a:srgbClr val="666F79"/>
                </a:solidFill>
                <a:latin typeface="Yu Gothic"/>
                <a:ea typeface="Yu Gothic"/>
              </a:rPr>
              <a:t>Leave-One-case-Out</a:t>
            </a:r>
            <a:endParaRPr sz="1900" b="0" dirty="0">
              <a:solidFill>
                <a:srgbClr val="666F79"/>
              </a:solidFill>
              <a:latin typeface="Yu Gothic"/>
              <a:ea typeface="Yu Gothic"/>
            </a:endParaRPr>
          </a:p>
        </p:txBody>
      </p:sp>
      <p:sp>
        <p:nvSpPr>
          <p:cNvPr id="20" name="TextBox 19"/>
          <p:cNvSpPr txBox="1"/>
          <p:nvPr/>
        </p:nvSpPr>
        <p:spPr>
          <a:xfrm>
            <a:off x="1463040" y="12070080"/>
            <a:ext cx="21396960" cy="457200"/>
          </a:xfrm>
          <a:prstGeom prst="rect">
            <a:avLst/>
          </a:prstGeom>
          <a:noFill/>
        </p:spPr>
        <p:txBody>
          <a:bodyPr wrap="square" lIns="45720" tIns="18288" rIns="45720" bIns="18288" anchor="t">
            <a:spAutoFit/>
          </a:bodyPr>
          <a:lstStyle/>
          <a:p>
            <a:pPr algn="ctr">
              <a:spcAft>
                <a:spcPts val="0"/>
              </a:spcAft>
            </a:pPr>
            <a:r>
              <a:rPr sz="2200" b="0">
                <a:solidFill>
                  <a:srgbClr val="666F79"/>
                </a:solidFill>
                <a:latin typeface="Yu Gothic"/>
                <a:ea typeface="Yu Gothic"/>
              </a:rPr>
              <a:t>Shared sensitivity: MX +30.6 / MY +28.6 / PX −28.1 / PY −28.7 µrad/K</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Reduced-order model</a:t>
            </a:r>
          </a:p>
        </p:txBody>
      </p:sp>
      <p:sp>
        <p:nvSpPr>
          <p:cNvPr id="3" name="TextBox 2"/>
          <p:cNvSpPr txBox="1"/>
          <p:nvPr/>
        </p:nvSpPr>
        <p:spPr>
          <a:xfrm>
            <a:off x="1536192" y="1614045"/>
            <a:ext cx="22037040" cy="557525"/>
          </a:xfrm>
          <a:prstGeom prst="rect">
            <a:avLst/>
          </a:prstGeom>
          <a:noFill/>
        </p:spPr>
        <p:txBody>
          <a:bodyPr wrap="square" lIns="45720" tIns="18288" rIns="45720" bIns="18288" anchor="ctr">
            <a:spAutoFit/>
          </a:bodyPr>
          <a:lstStyle/>
          <a:p>
            <a:pPr algn="l">
              <a:lnSpc>
                <a:spcPct val="110000"/>
              </a:lnSpc>
              <a:spcAft>
                <a:spcPts val="0"/>
              </a:spcAft>
            </a:pPr>
            <a:r>
              <a:rPr sz="3200" b="1" dirty="0">
                <a:solidFill>
                  <a:srgbClr val="082B52"/>
                </a:solidFill>
                <a:latin typeface="Yu Gothic"/>
                <a:ea typeface="Yu Gothic"/>
              </a:rPr>
              <a:t>Even for</a:t>
            </a:r>
            <a:r>
              <a:rPr lang="en-US" sz="3200" b="1" dirty="0">
                <a:solidFill>
                  <a:srgbClr val="082B52"/>
                </a:solidFill>
                <a:latin typeface="Yu Gothic"/>
                <a:ea typeface="Yu Gothic"/>
              </a:rPr>
              <a:t> the</a:t>
            </a:r>
            <a:r>
              <a:rPr sz="3200" b="1" dirty="0">
                <a:solidFill>
                  <a:srgbClr val="082B52"/>
                </a:solidFill>
                <a:latin typeface="Yu Gothic"/>
                <a:ea typeface="Yu Gothic"/>
              </a:rPr>
              <a:t> Case with one of the largest thermal LOS errors, 1250 µrad falls to 3.9 µrad</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7</a:t>
            </a:r>
            <a:endParaRPr sz="1800" b="0" dirty="0">
              <a:solidFill>
                <a:srgbClr val="666F79"/>
              </a:solidFill>
              <a:latin typeface="Yu Gothic"/>
              <a:ea typeface="Yu Gothic"/>
            </a:endParaRPr>
          </a:p>
        </p:txBody>
      </p:sp>
      <p:sp>
        <p:nvSpPr>
          <p:cNvPr id="5" name="Rectangle 4"/>
          <p:cNvSpPr/>
          <p:nvPr/>
        </p:nvSpPr>
        <p:spPr>
          <a:xfrm>
            <a:off x="1005840" y="3017520"/>
            <a:ext cx="14081760" cy="87782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case08_no_log_title.png"/>
          <p:cNvPicPr>
            <a:picLocks noChangeAspect="1"/>
          </p:cNvPicPr>
          <p:nvPr/>
        </p:nvPicPr>
        <p:blipFill>
          <a:blip r:embed="rId3"/>
          <a:stretch>
            <a:fillRect/>
          </a:stretch>
        </p:blipFill>
        <p:spPr>
          <a:xfrm>
            <a:off x="2078059" y="3154680"/>
            <a:ext cx="11937320" cy="8503920"/>
          </a:xfrm>
          <a:prstGeom prst="rect">
            <a:avLst/>
          </a:prstGeom>
        </p:spPr>
      </p:pic>
      <p:sp>
        <p:nvSpPr>
          <p:cNvPr id="7" name="TextBox 6"/>
          <p:cNvSpPr txBox="1"/>
          <p:nvPr/>
        </p:nvSpPr>
        <p:spPr>
          <a:xfrm>
            <a:off x="1005840" y="11841480"/>
            <a:ext cx="14081760" cy="457200"/>
          </a:xfrm>
          <a:prstGeom prst="rect">
            <a:avLst/>
          </a:prstGeom>
          <a:noFill/>
        </p:spPr>
        <p:txBody>
          <a:bodyPr wrap="square" lIns="45720" tIns="18288" rIns="45720" bIns="18288" anchor="t">
            <a:spAutoFit/>
          </a:bodyPr>
          <a:lstStyle/>
          <a:p>
            <a:pPr algn="ctr">
              <a:spcAft>
                <a:spcPts val="0"/>
              </a:spcAft>
            </a:pPr>
            <a:r>
              <a:rPr sz="2200" b="1">
                <a:solidFill>
                  <a:srgbClr val="1B74AA"/>
                </a:solidFill>
                <a:latin typeface="Yu Gothic"/>
                <a:ea typeface="Yu Gothic"/>
              </a:rPr>
              <a:t>Case 08 (PY sun face, all units dissipating)</a:t>
            </a:r>
          </a:p>
        </p:txBody>
      </p:sp>
      <p:sp>
        <p:nvSpPr>
          <p:cNvPr id="8" name="Rounded Rectangle 7"/>
          <p:cNvSpPr/>
          <p:nvPr/>
        </p:nvSpPr>
        <p:spPr>
          <a:xfrm>
            <a:off x="15727680" y="3474720"/>
            <a:ext cx="7498079" cy="21031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837408" y="3639312"/>
            <a:ext cx="7278623" cy="1051560"/>
          </a:xfrm>
          <a:prstGeom prst="rect">
            <a:avLst/>
          </a:prstGeom>
          <a:noFill/>
        </p:spPr>
        <p:txBody>
          <a:bodyPr wrap="square" lIns="45720" tIns="18288" rIns="45720" bIns="18288" anchor="t">
            <a:spAutoFit/>
          </a:bodyPr>
          <a:lstStyle/>
          <a:p>
            <a:pPr algn="ctr">
              <a:spcAft>
                <a:spcPts val="0"/>
              </a:spcAft>
            </a:pPr>
            <a:r>
              <a:rPr sz="3600" b="1">
                <a:solidFill>
                  <a:srgbClr val="D03B46"/>
                </a:solidFill>
                <a:latin typeface="Yu Gothic"/>
                <a:ea typeface="Yu Gothic"/>
              </a:rPr>
              <a:t>1250 µrad</a:t>
            </a:r>
          </a:p>
        </p:txBody>
      </p:sp>
      <p:sp>
        <p:nvSpPr>
          <p:cNvPr id="10" name="TextBox 9"/>
          <p:cNvSpPr txBox="1"/>
          <p:nvPr/>
        </p:nvSpPr>
        <p:spPr>
          <a:xfrm>
            <a:off x="15837408" y="4652467"/>
            <a:ext cx="7278623" cy="883310"/>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Raw dominant-axis RMS</a:t>
            </a:r>
          </a:p>
        </p:txBody>
      </p:sp>
      <p:sp>
        <p:nvSpPr>
          <p:cNvPr id="11" name="Rounded Rectangle 10"/>
          <p:cNvSpPr/>
          <p:nvPr/>
        </p:nvSpPr>
        <p:spPr>
          <a:xfrm>
            <a:off x="15727680" y="5852160"/>
            <a:ext cx="7498079" cy="210312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837408" y="6016752"/>
            <a:ext cx="7278623" cy="1051560"/>
          </a:xfrm>
          <a:prstGeom prst="rect">
            <a:avLst/>
          </a:prstGeom>
          <a:noFill/>
        </p:spPr>
        <p:txBody>
          <a:bodyPr wrap="square" lIns="45720" tIns="18288" rIns="45720" bIns="18288" anchor="t">
            <a:spAutoFit/>
          </a:bodyPr>
          <a:lstStyle/>
          <a:p>
            <a:pPr algn="ctr">
              <a:spcAft>
                <a:spcPts val="0"/>
              </a:spcAft>
            </a:pPr>
            <a:r>
              <a:rPr sz="3600" b="1">
                <a:solidFill>
                  <a:srgbClr val="239571"/>
                </a:solidFill>
                <a:latin typeface="Yu Gothic"/>
                <a:ea typeface="Yu Gothic"/>
              </a:rPr>
              <a:t>3.9 µrad</a:t>
            </a:r>
          </a:p>
        </p:txBody>
      </p:sp>
      <p:sp>
        <p:nvSpPr>
          <p:cNvPr id="13" name="TextBox 12"/>
          <p:cNvSpPr txBox="1"/>
          <p:nvPr/>
        </p:nvSpPr>
        <p:spPr>
          <a:xfrm>
            <a:off x="15837408" y="7029907"/>
            <a:ext cx="7278623" cy="883310"/>
          </a:xfrm>
          <a:prstGeom prst="rect">
            <a:avLst/>
          </a:prstGeom>
          <a:noFill/>
        </p:spPr>
        <p:txBody>
          <a:bodyPr wrap="square" lIns="45720" tIns="18288" rIns="45720" bIns="18288" anchor="t">
            <a:spAutoFit/>
          </a:bodyPr>
          <a:lstStyle/>
          <a:p>
            <a:pPr algn="ctr">
              <a:lnSpc>
                <a:spcPct val="105000"/>
              </a:lnSpc>
              <a:spcAft>
                <a:spcPts val="0"/>
              </a:spcAft>
            </a:pPr>
            <a:r>
              <a:rPr sz="1900" b="0">
                <a:solidFill>
                  <a:srgbClr val="666F79"/>
                </a:solidFill>
                <a:latin typeface="Yu Gothic"/>
                <a:ea typeface="Yu Gothic"/>
              </a:rPr>
              <a:t>Test RMSE for an unseen case</a:t>
            </a:r>
          </a:p>
        </p:txBody>
      </p:sp>
      <p:sp>
        <p:nvSpPr>
          <p:cNvPr id="14" name="Rounded Rectangle 13"/>
          <p:cNvSpPr/>
          <p:nvPr/>
        </p:nvSpPr>
        <p:spPr>
          <a:xfrm>
            <a:off x="15727680" y="8229600"/>
            <a:ext cx="7498079" cy="237744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5928847" y="8522208"/>
            <a:ext cx="7095743" cy="640080"/>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Yu Gothic"/>
                <a:ea typeface="Yu Gothic"/>
              </a:rPr>
              <a:t>First scan point is sufficient</a:t>
            </a:r>
          </a:p>
        </p:txBody>
      </p:sp>
      <p:sp>
        <p:nvSpPr>
          <p:cNvPr id="16" name="TextBox 15"/>
          <p:cNvSpPr txBox="1"/>
          <p:nvPr/>
        </p:nvSpPr>
        <p:spPr>
          <a:xfrm>
            <a:off x="16002000" y="9326880"/>
            <a:ext cx="6949440" cy="1097280"/>
          </a:xfrm>
          <a:prstGeom prst="rect">
            <a:avLst/>
          </a:prstGeom>
          <a:noFill/>
        </p:spPr>
        <p:txBody>
          <a:bodyPr wrap="square" lIns="45720" tIns="18288" rIns="45720" bIns="18288" anchor="t">
            <a:spAutoFit/>
          </a:bodyPr>
          <a:lstStyle/>
          <a:p>
            <a:pPr algn="ctr">
              <a:lnSpc>
                <a:spcPct val="115000"/>
              </a:lnSpc>
              <a:spcAft>
                <a:spcPts val="0"/>
              </a:spcAft>
            </a:pPr>
            <a:r>
              <a:rPr sz="2300" b="0">
                <a:solidFill>
                  <a:srgbClr val="232B34"/>
                </a:solidFill>
                <a:latin typeface="Yu Gothic"/>
                <a:ea typeface="Yu Gothic"/>
              </a:rPr>
              <a:t>Corrected residual is well below
the 150 µrad detection radius</a:t>
            </a:r>
          </a:p>
        </p:txBody>
      </p:sp>
      <p:sp>
        <p:nvSpPr>
          <p:cNvPr id="17" name="TextBox 16"/>
          <p:cNvSpPr txBox="1"/>
          <p:nvPr/>
        </p:nvSpPr>
        <p:spPr>
          <a:xfrm>
            <a:off x="15727680" y="10835640"/>
            <a:ext cx="7498079" cy="548640"/>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Yu Gothic"/>
                <a:ea typeface="Yu Gothic"/>
              </a:rPr>
              <a:t>ΔT follows the within-orbit variation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4C12-E688-3234-11EE-84279FCAE88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715655D-FB01-D7FE-B392-D40F7A726B1D}"/>
              </a:ext>
            </a:extLst>
          </p:cNvPr>
          <p:cNvSpPr>
            <a:spLocks noGrp="1"/>
          </p:cNvSpPr>
          <p:nvPr>
            <p:ph type="title"/>
          </p:nvPr>
        </p:nvSpPr>
        <p:spPr/>
        <p:txBody>
          <a:bodyPr>
            <a:normAutofit/>
          </a:bodyPr>
          <a:lstStyle/>
          <a:p>
            <a:r>
              <a:rPr sz="4800" b="0" dirty="0">
                <a:solidFill>
                  <a:srgbClr val="FFFFFF"/>
                </a:solidFill>
                <a:latin typeface="Arial" panose="020B0604020202020204" pitchFamily="34" charset="0"/>
                <a:cs typeface="Arial" panose="020B0604020202020204" pitchFamily="34" charset="0"/>
              </a:rPr>
              <a:t>0</a:t>
            </a:r>
            <a:r>
              <a:rPr lang="en-US" sz="4800" b="0" dirty="0">
                <a:solidFill>
                  <a:srgbClr val="FFFFFF"/>
                </a:solidFill>
                <a:latin typeface="Arial" panose="020B0604020202020204" pitchFamily="34" charset="0"/>
                <a:cs typeface="Arial" panose="020B0604020202020204" pitchFamily="34" charset="0"/>
              </a:rPr>
              <a:t>4</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91072FE8-9762-C1D9-B16C-FDDCF6AD4DC9}"/>
              </a:ext>
            </a:extLst>
          </p:cNvPr>
          <p:cNvSpPr>
            <a:spLocks noGrp="1"/>
          </p:cNvSpPr>
          <p:nvPr>
            <p:ph type="body" idx="1"/>
          </p:nvPr>
        </p:nvSpPr>
        <p:spPr/>
        <p:txBody>
          <a:bodyPr>
            <a:normAutofit/>
          </a:bodyPr>
          <a:lstStyle/>
          <a:p>
            <a:r>
              <a:rPr lang="en-US" altLang="ja-JP" sz="4800" b="1" dirty="0">
                <a:solidFill>
                  <a:srgbClr val="FFFFFF"/>
                </a:solidFill>
                <a:latin typeface="+mj-lt"/>
                <a:cs typeface="Arial" panose="020B0604020202020204" pitchFamily="34" charset="0"/>
              </a:rPr>
              <a:t>Coarse-acquisition evaluation</a:t>
            </a:r>
            <a:endParaRPr sz="4800" b="1" dirty="0">
              <a:solidFill>
                <a:srgbClr val="FFFFFF"/>
              </a:solidFill>
              <a:latin typeface="+mj-lt"/>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C0939AEC-4843-4E06-1AA6-DC8D5822303E}"/>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3896331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conditions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Acquire when the scan-corrected target enters the detection circle</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8</a:t>
            </a:r>
            <a:endParaRPr sz="1800" b="0" dirty="0">
              <a:solidFill>
                <a:srgbClr val="666F79"/>
              </a:solidFill>
              <a:latin typeface="Yu Gothic"/>
              <a:ea typeface="Yu Gothic"/>
            </a:endParaRPr>
          </a:p>
        </p:txBody>
      </p:sp>
      <p:sp>
        <p:nvSpPr>
          <p:cNvPr id="5" name="Rounded Rectangle 4"/>
          <p:cNvSpPr/>
          <p:nvPr/>
        </p:nvSpPr>
        <p:spPr>
          <a:xfrm>
            <a:off x="1280160" y="3144885"/>
            <a:ext cx="21762720" cy="21488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348263" y="3766677"/>
                <a:ext cx="11626516" cy="1792350"/>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𝒔𝒄𝒂𝒏</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err="1" smtClean="0">
                              <a:solidFill>
                                <a:srgbClr val="082B52"/>
                              </a:solidFill>
                              <a:latin typeface="Cambria Math" panose="02040503050406030204" pitchFamily="18" charset="0"/>
                            </a:rPr>
                          </m:ctrlPr>
                        </m:sSubPr>
                        <m:e>
                          <m:r>
                            <a:rPr lang="en-US" sz="3600" b="1" i="1" dirty="0" err="1"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𝒏𝒐𝒏𝒕𝒉𝒆𝒓𝒎𝒂𝒍</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𝜽</m:t>
                          </m:r>
                        </m:e>
                        <m:sub>
                          <m:r>
                            <a:rPr lang="en-US" sz="3600" b="1" i="1" dirty="0" err="1" smtClean="0">
                              <a:solidFill>
                                <a:srgbClr val="082B52"/>
                              </a:solidFill>
                              <a:latin typeface="Cambria Math" panose="02040503050406030204" pitchFamily="18" charset="0"/>
                            </a:rPr>
                            <m:t>𝒕𝒉𝒆𝒓𝒎𝒂𝒍</m:t>
                          </m:r>
                          <m:r>
                            <a:rPr lang="en-US" sz="3600" b="1" i="1" dirty="0" smtClean="0">
                              <a:solidFill>
                                <a:srgbClr val="082B52"/>
                              </a:solidFill>
                              <a:latin typeface="Cambria Math" panose="02040503050406030204" pitchFamily="18" charset="0"/>
                            </a:rPr>
                            <m:t>, </m:t>
                          </m:r>
                          <m:r>
                            <a:rPr lang="en-US" sz="3600" b="1" i="1" dirty="0" smtClean="0">
                              <a:solidFill>
                                <a:srgbClr val="082B52"/>
                              </a:solidFill>
                              <a:latin typeface="Cambria Math" panose="02040503050406030204" pitchFamily="18" charset="0"/>
                            </a:rPr>
                            <m:t>𝒕𝒓𝒖𝒆</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r>
                        <a:rPr lang="en-US" sz="3600" b="1" i="1" dirty="0">
                          <a:solidFill>
                            <a:srgbClr val="082B52"/>
                          </a:solidFill>
                          <a:latin typeface="Cambria Math" panose="02040503050406030204" pitchFamily="18" charset="0"/>
                        </a:rPr>
                        <m:t>− </m:t>
                      </m:r>
                      <m:sSub>
                        <m:sSubPr>
                          <m:ctrlPr>
                            <a:rPr lang="en-US" sz="3600" b="1" i="1" dirty="0" err="1">
                              <a:solidFill>
                                <a:srgbClr val="082B52"/>
                              </a:solidFill>
                              <a:latin typeface="Cambria Math" panose="02040503050406030204" pitchFamily="18" charset="0"/>
                            </a:rPr>
                          </m:ctrlPr>
                        </m:sSubPr>
                        <m:e>
                          <m:acc>
                            <m:accPr>
                              <m:chr m:val="̂"/>
                              <m:ctrlPr>
                                <a:rPr lang="en-US" sz="3600" b="1" i="1" dirty="0" err="1">
                                  <a:solidFill>
                                    <a:srgbClr val="082B52"/>
                                  </a:solidFill>
                                  <a:latin typeface="Cambria Math" panose="02040503050406030204" pitchFamily="18" charset="0"/>
                                </a:rPr>
                              </m:ctrlPr>
                            </m:accPr>
                            <m:e>
                              <m:r>
                                <a:rPr lang="en-US" sz="3600" b="1" i="1" dirty="0" err="1">
                                  <a:solidFill>
                                    <a:srgbClr val="082B52"/>
                                  </a:solidFill>
                                  <a:latin typeface="Cambria Math" panose="02040503050406030204" pitchFamily="18" charset="0"/>
                                </a:rPr>
                                <m:t>𝜽</m:t>
                              </m:r>
                            </m:e>
                          </m:acc>
                        </m:e>
                        <m:sub>
                          <m:r>
                            <a:rPr lang="en-US" sz="3600" b="1" i="1" dirty="0" err="1" smtClean="0">
                              <a:solidFill>
                                <a:srgbClr val="082B52"/>
                              </a:solidFill>
                              <a:latin typeface="Cambria Math" panose="02040503050406030204" pitchFamily="18" charset="0"/>
                            </a:rPr>
                            <m:t>𝒕𝒉𝒆𝒓𝒎𝒂𝒍</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oMath>
                  </m:oMathPara>
                </a14:m>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348263" y="3766677"/>
                <a:ext cx="11626516" cy="1792350"/>
              </a:xfrm>
              <a:prstGeom prst="rect">
                <a:avLst/>
              </a:prstGeom>
              <a:blipFill>
                <a:blip r:embed="rId3"/>
                <a:stretch>
                  <a:fillRect/>
                </a:stretch>
              </a:blipFill>
            </p:spPr>
            <p:txBody>
              <a:bodyPr/>
              <a:lstStyle/>
              <a:p>
                <a:r>
                  <a:rPr lang="ja-JP" altLang="en-US">
                    <a:noFill/>
                  </a:rPr>
                  <a:t> </a:t>
                </a:r>
              </a:p>
            </p:txBody>
          </p:sp>
        </mc:Fallback>
      </mc:AlternateContent>
      <p:sp>
        <p:nvSpPr>
          <p:cNvPr id="7" name="Rectangle 6"/>
          <p:cNvSpPr/>
          <p:nvPr/>
        </p:nvSpPr>
        <p:spPr>
          <a:xfrm>
            <a:off x="1492437" y="5568045"/>
            <a:ext cx="4045305" cy="1124712"/>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5870448"/>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Thermal LOS truth</a:t>
            </a:r>
          </a:p>
        </p:txBody>
      </p:sp>
      <p:cxnSp>
        <p:nvCxnSpPr>
          <p:cNvPr id="9" name="Connector 8"/>
          <p:cNvCxnSpPr>
            <a:cxnSpLocks/>
          </p:cNvCxnSpPr>
          <p:nvPr/>
        </p:nvCxnSpPr>
        <p:spPr>
          <a:xfrm>
            <a:off x="5554071" y="6175470"/>
            <a:ext cx="794192"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11150" y="697276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81912" y="7269480"/>
            <a:ext cx="3895344" cy="50292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Predicted thermal LOS</a:t>
            </a:r>
          </a:p>
        </p:txBody>
      </p:sp>
      <p:cxnSp>
        <p:nvCxnSpPr>
          <p:cNvPr id="12" name="Connector 11"/>
          <p:cNvCxnSpPr>
            <a:cxnSpLocks/>
          </p:cNvCxnSpPr>
          <p:nvPr/>
        </p:nvCxnSpPr>
        <p:spPr>
          <a:xfrm>
            <a:off x="5559948" y="7524032"/>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949030" y="6840196"/>
            <a:ext cx="4045305"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19288"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Scan-center residual</a:t>
            </a:r>
          </a:p>
        </p:txBody>
      </p:sp>
      <p:cxnSp>
        <p:nvCxnSpPr>
          <p:cNvPr id="15" name="Connector 14"/>
          <p:cNvCxnSpPr>
            <a:cxnSpLocks/>
            <a:stCxn id="13" idx="3"/>
            <a:endCxn id="16" idx="1"/>
          </p:cNvCxnSpPr>
          <p:nvPr/>
        </p:nvCxnSpPr>
        <p:spPr>
          <a:xfrm>
            <a:off x="11994335" y="7457416"/>
            <a:ext cx="1081404" cy="738"/>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3075739" y="6840934"/>
            <a:ext cx="4045305"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149072"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Rectangular spiral scan</a:t>
            </a:r>
            <a:endParaRPr sz="2100" b="1" dirty="0">
              <a:solidFill>
                <a:srgbClr val="FFFFFF"/>
              </a:solidFill>
              <a:latin typeface="Yu Gothic"/>
            </a:endParaRPr>
          </a:p>
        </p:txBody>
      </p:sp>
      <p:cxnSp>
        <p:nvCxnSpPr>
          <p:cNvPr id="18" name="Connector 17"/>
          <p:cNvCxnSpPr>
            <a:cxnSpLocks/>
            <a:stCxn id="16" idx="3"/>
            <a:endCxn id="19" idx="1"/>
          </p:cNvCxnSpPr>
          <p:nvPr/>
        </p:nvCxnSpPr>
        <p:spPr>
          <a:xfrm>
            <a:off x="17121044" y="7458154"/>
            <a:ext cx="1021513"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8142557" y="6840934"/>
            <a:ext cx="4045305"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8214848" y="7132320"/>
            <a:ext cx="3895344" cy="54864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Acquisition success and time</a:t>
            </a:r>
          </a:p>
        </p:txBody>
      </p:sp>
      <p:sp>
        <p:nvSpPr>
          <p:cNvPr id="23" name="テキスト ボックス 22">
            <a:extLst>
              <a:ext uri="{FF2B5EF4-FFF2-40B4-BE49-F238E27FC236}">
                <a16:creationId xmlns:a16="http://schemas.microsoft.com/office/drawing/2014/main" id="{2C5084B7-D52A-49F1-3EFC-7865244A461E}"/>
              </a:ext>
            </a:extLst>
          </p:cNvPr>
          <p:cNvSpPr txBox="1"/>
          <p:nvPr/>
        </p:nvSpPr>
        <p:spPr>
          <a:xfrm>
            <a:off x="8231264" y="4526280"/>
            <a:ext cx="3047107" cy="646331"/>
          </a:xfrm>
          <a:prstGeom prst="rect">
            <a:avLst/>
          </a:prstGeom>
          <a:noFill/>
        </p:spPr>
        <p:txBody>
          <a:bodyPr wrap="square">
            <a:spAutoFit/>
          </a:bodyPr>
          <a:lstStyle/>
          <a:p>
            <a:pPr algn="ctr"/>
            <a:r>
              <a:rPr lang="ja-JP" altLang="ja-JP" dirty="0"/>
              <a:t>Orbit, attitude, and other</a:t>
            </a:r>
            <a:endParaRPr lang="en-US" altLang="ja-JP" dirty="0"/>
          </a:p>
          <a:p>
            <a:pPr algn="ctr"/>
            <a:r>
              <a:rPr lang="ja-JP" altLang="ja-JP" dirty="0"/>
              <a:t>nonthermal errors</a:t>
            </a:r>
            <a:endParaRPr lang="ja-JP" altLang="en-US" dirty="0"/>
          </a:p>
        </p:txBody>
      </p:sp>
      <p:sp>
        <p:nvSpPr>
          <p:cNvPr id="27" name="テキスト ボックス 26">
            <a:extLst>
              <a:ext uri="{FF2B5EF4-FFF2-40B4-BE49-F238E27FC236}">
                <a16:creationId xmlns:a16="http://schemas.microsoft.com/office/drawing/2014/main" id="{475CC5F6-C4A7-901E-2012-409916E2B0A3}"/>
              </a:ext>
            </a:extLst>
          </p:cNvPr>
          <p:cNvSpPr txBox="1"/>
          <p:nvPr/>
        </p:nvSpPr>
        <p:spPr>
          <a:xfrm>
            <a:off x="11646385" y="4513065"/>
            <a:ext cx="3047107" cy="369332"/>
          </a:xfrm>
          <a:prstGeom prst="rect">
            <a:avLst/>
          </a:prstGeom>
          <a:noFill/>
        </p:spPr>
        <p:txBody>
          <a:bodyPr wrap="square">
            <a:spAutoFit/>
          </a:bodyPr>
          <a:lstStyle/>
          <a:p>
            <a:pPr algn="ctr"/>
            <a:r>
              <a:rPr lang="ja-JP" altLang="en-US" dirty="0"/>
              <a:t>Thermal LOS truth</a:t>
            </a:r>
          </a:p>
        </p:txBody>
      </p:sp>
      <p:sp>
        <p:nvSpPr>
          <p:cNvPr id="29" name="テキスト ボックス 28">
            <a:extLst>
              <a:ext uri="{FF2B5EF4-FFF2-40B4-BE49-F238E27FC236}">
                <a16:creationId xmlns:a16="http://schemas.microsoft.com/office/drawing/2014/main" id="{80EE754C-B705-4BAC-5440-55D1A568097F}"/>
              </a:ext>
            </a:extLst>
          </p:cNvPr>
          <p:cNvSpPr txBox="1"/>
          <p:nvPr/>
        </p:nvSpPr>
        <p:spPr>
          <a:xfrm>
            <a:off x="15012614" y="4499702"/>
            <a:ext cx="3603812" cy="369332"/>
          </a:xfrm>
          <a:prstGeom prst="rect">
            <a:avLst/>
          </a:prstGeom>
          <a:noFill/>
        </p:spPr>
        <p:txBody>
          <a:bodyPr wrap="square">
            <a:spAutoFit/>
          </a:bodyPr>
          <a:lstStyle/>
          <a:p>
            <a:r>
              <a:rPr lang="ja-JP" altLang="ja-JP" dirty="0"/>
              <a:t>Predicted thermal LOS</a:t>
            </a:r>
            <a:endParaRPr lang="ja-JP" altLang="en-US" dirty="0"/>
          </a:p>
        </p:txBody>
      </p:sp>
      <p:sp>
        <p:nvSpPr>
          <p:cNvPr id="31" name="テキスト ボックス 30">
            <a:extLst>
              <a:ext uri="{FF2B5EF4-FFF2-40B4-BE49-F238E27FC236}">
                <a16:creationId xmlns:a16="http://schemas.microsoft.com/office/drawing/2014/main" id="{AE261220-F486-34F3-8E3D-9EE1CD64AD9C}"/>
              </a:ext>
            </a:extLst>
          </p:cNvPr>
          <p:cNvSpPr txBox="1"/>
          <p:nvPr/>
        </p:nvSpPr>
        <p:spPr>
          <a:xfrm>
            <a:off x="5976476" y="4577073"/>
            <a:ext cx="2463985" cy="369332"/>
          </a:xfrm>
          <a:prstGeom prst="rect">
            <a:avLst/>
          </a:prstGeom>
          <a:noFill/>
        </p:spPr>
        <p:txBody>
          <a:bodyPr wrap="square">
            <a:spAutoFit/>
          </a:bodyPr>
          <a:lstStyle/>
          <a:p>
            <a:r>
              <a:rPr lang="ja-JP" altLang="en-US" dirty="0"/>
              <a:t>Scan-center error</a:t>
            </a:r>
          </a:p>
        </p:txBody>
      </p:sp>
      <p:cxnSp>
        <p:nvCxnSpPr>
          <p:cNvPr id="32" name="Connector 8">
            <a:extLst>
              <a:ext uri="{FF2B5EF4-FFF2-40B4-BE49-F238E27FC236}">
                <a16:creationId xmlns:a16="http://schemas.microsoft.com/office/drawing/2014/main" id="{6F2944A6-54AC-6362-A88C-0405DF9530B4}"/>
              </a:ext>
            </a:extLst>
          </p:cNvPr>
          <p:cNvCxnSpPr>
            <a:cxnSpLocks/>
          </p:cNvCxnSpPr>
          <p:nvPr/>
        </p:nvCxnSpPr>
        <p:spPr>
          <a:xfrm>
            <a:off x="6348263" y="7524682"/>
            <a:ext cx="1600767"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cxnSp>
        <p:nvCxnSpPr>
          <p:cNvPr id="36" name="Connector 8">
            <a:extLst>
              <a:ext uri="{FF2B5EF4-FFF2-40B4-BE49-F238E27FC236}">
                <a16:creationId xmlns:a16="http://schemas.microsoft.com/office/drawing/2014/main" id="{80236EE0-2DD3-39D4-4028-129355C61A8B}"/>
              </a:ext>
            </a:extLst>
          </p:cNvPr>
          <p:cNvCxnSpPr>
            <a:cxnSpLocks/>
          </p:cNvCxnSpPr>
          <p:nvPr/>
        </p:nvCxnSpPr>
        <p:spPr>
          <a:xfrm flipV="1">
            <a:off x="6348263" y="6162770"/>
            <a:ext cx="0" cy="2837901"/>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45" name="テキスト ボックス 44">
            <a:extLst>
              <a:ext uri="{FF2B5EF4-FFF2-40B4-BE49-F238E27FC236}">
                <a16:creationId xmlns:a16="http://schemas.microsoft.com/office/drawing/2014/main" id="{678E8980-C900-DB3E-45EC-7E03ECD4651C}"/>
              </a:ext>
            </a:extLst>
          </p:cNvPr>
          <p:cNvSpPr txBox="1"/>
          <p:nvPr/>
        </p:nvSpPr>
        <p:spPr>
          <a:xfrm>
            <a:off x="10403131" y="8664275"/>
            <a:ext cx="3036104" cy="523220"/>
          </a:xfrm>
          <a:prstGeom prst="rect">
            <a:avLst/>
          </a:prstGeom>
          <a:noFill/>
        </p:spPr>
        <p:txBody>
          <a:bodyPr wrap="square" rtlCol="0">
            <a:spAutoFit/>
          </a:bodyPr>
          <a:lstStyle/>
          <a:p>
            <a:r>
              <a:rPr kumimoji="1" lang="en-US" altLang="ja-JP" sz="2800" dirty="0"/>
              <a:t>PAT flow</a:t>
            </a:r>
          </a:p>
        </p:txBody>
      </p:sp>
      <p:sp>
        <p:nvSpPr>
          <p:cNvPr id="47" name="テキスト ボックス 46">
            <a:extLst>
              <a:ext uri="{FF2B5EF4-FFF2-40B4-BE49-F238E27FC236}">
                <a16:creationId xmlns:a16="http://schemas.microsoft.com/office/drawing/2014/main" id="{DC1B411D-A44D-CC38-A81F-BFCA7C60B531}"/>
              </a:ext>
            </a:extLst>
          </p:cNvPr>
          <p:cNvSpPr txBox="1"/>
          <p:nvPr/>
        </p:nvSpPr>
        <p:spPr>
          <a:xfrm>
            <a:off x="10697580" y="5428129"/>
            <a:ext cx="2259552" cy="523220"/>
          </a:xfrm>
          <a:prstGeom prst="rect">
            <a:avLst/>
          </a:prstGeom>
          <a:noFill/>
        </p:spPr>
        <p:txBody>
          <a:bodyPr wrap="square" rtlCol="0">
            <a:spAutoFit/>
          </a:bodyPr>
          <a:lstStyle/>
          <a:p>
            <a:r>
              <a:rPr kumimoji="1" lang="ja-JP" altLang="en-US" sz="2800" dirty="0"/>
              <a:t>Residual</a:t>
            </a:r>
          </a:p>
        </p:txBody>
      </p:sp>
      <p:sp>
        <p:nvSpPr>
          <p:cNvPr id="48" name="楕円 47">
            <a:extLst>
              <a:ext uri="{FF2B5EF4-FFF2-40B4-BE49-F238E27FC236}">
                <a16:creationId xmlns:a16="http://schemas.microsoft.com/office/drawing/2014/main" id="{81522D40-88F1-0366-DC15-8612D46AECD4}"/>
              </a:ext>
            </a:extLst>
          </p:cNvPr>
          <p:cNvSpPr/>
          <p:nvPr/>
        </p:nvSpPr>
        <p:spPr>
          <a:xfrm>
            <a:off x="6155871" y="7298876"/>
            <a:ext cx="422097" cy="42083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直線矢印コネクタ 49">
            <a:extLst>
              <a:ext uri="{FF2B5EF4-FFF2-40B4-BE49-F238E27FC236}">
                <a16:creationId xmlns:a16="http://schemas.microsoft.com/office/drawing/2014/main" id="{F0774505-4EFA-9FEE-0C8B-0F0CB82F422D}"/>
              </a:ext>
            </a:extLst>
          </p:cNvPr>
          <p:cNvCxnSpPr>
            <a:cxnSpLocks/>
          </p:cNvCxnSpPr>
          <p:nvPr/>
        </p:nvCxnSpPr>
        <p:spPr>
          <a:xfrm flipH="1">
            <a:off x="6577968" y="5293725"/>
            <a:ext cx="818875" cy="1850441"/>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54" name="Rectangle 9">
            <a:extLst>
              <a:ext uri="{FF2B5EF4-FFF2-40B4-BE49-F238E27FC236}">
                <a16:creationId xmlns:a16="http://schemas.microsoft.com/office/drawing/2014/main" id="{FE085D60-6CD3-6995-2DEE-66C65BF58791}"/>
              </a:ext>
            </a:extLst>
          </p:cNvPr>
          <p:cNvSpPr/>
          <p:nvPr/>
        </p:nvSpPr>
        <p:spPr>
          <a:xfrm>
            <a:off x="1511150" y="838172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10">
            <a:extLst>
              <a:ext uri="{FF2B5EF4-FFF2-40B4-BE49-F238E27FC236}">
                <a16:creationId xmlns:a16="http://schemas.microsoft.com/office/drawing/2014/main" id="{BDC1D837-DBF7-0045-EC3F-3D3F53555A62}"/>
              </a:ext>
            </a:extLst>
          </p:cNvPr>
          <p:cNvSpPr txBox="1"/>
          <p:nvPr/>
        </p:nvSpPr>
        <p:spPr>
          <a:xfrm>
            <a:off x="1581912" y="8522208"/>
            <a:ext cx="3895344" cy="822960"/>
          </a:xfrm>
          <a:prstGeom prst="rect">
            <a:avLst/>
          </a:prstGeom>
          <a:noFill/>
        </p:spPr>
        <p:txBody>
          <a:bodyPr wrap="square" lIns="36576" tIns="27432" rIns="36576" bIns="27432" anchor="ctr">
            <a:spAutoFit/>
          </a:bodyPr>
          <a:lstStyle/>
          <a:p>
            <a:pPr algn="ctr">
              <a:spcAft>
                <a:spcPts val="0"/>
              </a:spcAft>
            </a:pPr>
            <a:r>
              <a:rPr sz="2100" b="1">
                <a:solidFill>
                  <a:srgbClr val="FFFFFF"/>
                </a:solidFill>
                <a:latin typeface="Yu Gothic"/>
                <a:ea typeface="Yu Gothic"/>
              </a:rPr>
              <a:t>Nonthermal errors</a:t>
            </a:r>
          </a:p>
          <a:p>
            <a:pPr algn="ctr">
              <a:spcAft>
                <a:spcPts val="0"/>
              </a:spcAft>
            </a:pPr>
            <a:r>
              <a:rPr sz="2100" b="1">
                <a:solidFill>
                  <a:srgbClr val="FFFFFF"/>
                </a:solidFill>
                <a:latin typeface="Yu Gothic"/>
                <a:ea typeface="Yu Gothic"/>
              </a:rPr>
              <a:t>(orbit, attitude, etc.)</a:t>
            </a:r>
          </a:p>
        </p:txBody>
      </p:sp>
      <p:cxnSp>
        <p:nvCxnSpPr>
          <p:cNvPr id="59" name="Connector 11">
            <a:extLst>
              <a:ext uri="{FF2B5EF4-FFF2-40B4-BE49-F238E27FC236}">
                <a16:creationId xmlns:a16="http://schemas.microsoft.com/office/drawing/2014/main" id="{151DBB24-D977-3F94-369A-48716ED89439}"/>
              </a:ext>
            </a:extLst>
          </p:cNvPr>
          <p:cNvCxnSpPr>
            <a:cxnSpLocks/>
          </p:cNvCxnSpPr>
          <p:nvPr/>
        </p:nvCxnSpPr>
        <p:spPr>
          <a:xfrm>
            <a:off x="5550442" y="8987971"/>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234440"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134416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1B74AA"/>
                </a:solidFill>
                <a:latin typeface="Yu Gothic"/>
                <a:ea typeface="Yu Gothic"/>
              </a:rPr>
              <a:t>±1600 µrad</a:t>
            </a:r>
          </a:p>
        </p:txBody>
      </p:sp>
      <p:sp>
        <p:nvSpPr>
          <p:cNvPr id="62" name="TextBox 61"/>
          <p:cNvSpPr txBox="1"/>
          <p:nvPr/>
        </p:nvSpPr>
        <p:spPr>
          <a:xfrm>
            <a:off x="134416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Scan range</a:t>
            </a:r>
          </a:p>
        </p:txBody>
      </p:sp>
      <p:sp>
        <p:nvSpPr>
          <p:cNvPr id="63" name="Rounded Rectangle 62"/>
          <p:cNvSpPr/>
          <p:nvPr/>
        </p:nvSpPr>
        <p:spPr>
          <a:xfrm>
            <a:off x="5669279"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5779007"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1B74AA"/>
                </a:solidFill>
                <a:latin typeface="Yu Gothic"/>
                <a:ea typeface="Yu Gothic"/>
              </a:rPr>
              <a:t>120 µrad</a:t>
            </a:r>
          </a:p>
        </p:txBody>
      </p:sp>
      <p:sp>
        <p:nvSpPr>
          <p:cNvPr id="65" name="TextBox 64"/>
          <p:cNvSpPr txBox="1"/>
          <p:nvPr/>
        </p:nvSpPr>
        <p:spPr>
          <a:xfrm>
            <a:off x="5779007"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Scan step</a:t>
            </a:r>
          </a:p>
        </p:txBody>
      </p:sp>
      <p:sp>
        <p:nvSpPr>
          <p:cNvPr id="66" name="Rounded Rectangle 65"/>
          <p:cNvSpPr/>
          <p:nvPr/>
        </p:nvSpPr>
        <p:spPr>
          <a:xfrm>
            <a:off x="1010411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10213847"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150 µrad</a:t>
            </a:r>
          </a:p>
        </p:txBody>
      </p:sp>
      <p:sp>
        <p:nvSpPr>
          <p:cNvPr id="68" name="TextBox 67"/>
          <p:cNvSpPr txBox="1"/>
          <p:nvPr/>
        </p:nvSpPr>
        <p:spPr>
          <a:xfrm>
            <a:off x="10213847"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Detection radius (beacon scale)</a:t>
            </a:r>
          </a:p>
        </p:txBody>
      </p:sp>
      <p:sp>
        <p:nvSpPr>
          <p:cNvPr id="69" name="Rounded Rectangle 68"/>
          <p:cNvSpPr/>
          <p:nvPr/>
        </p:nvSpPr>
        <p:spPr>
          <a:xfrm>
            <a:off x="1453895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1464868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0.1 s / point</a:t>
            </a:r>
          </a:p>
        </p:txBody>
      </p:sp>
      <p:sp>
        <p:nvSpPr>
          <p:cNvPr id="71" name="TextBox 70"/>
          <p:cNvSpPr txBox="1"/>
          <p:nvPr/>
        </p:nvSpPr>
        <p:spPr>
          <a:xfrm>
            <a:off x="1464868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Dwell time</a:t>
            </a:r>
          </a:p>
        </p:txBody>
      </p:sp>
      <p:sp>
        <p:nvSpPr>
          <p:cNvPr id="72" name="Rounded Rectangle 71"/>
          <p:cNvSpPr/>
          <p:nvPr/>
        </p:nvSpPr>
        <p:spPr>
          <a:xfrm>
            <a:off x="18973800"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19083528" y="9720072"/>
            <a:ext cx="3758183" cy="891540"/>
          </a:xfrm>
          <a:prstGeom prst="rect">
            <a:avLst/>
          </a:prstGeom>
          <a:noFill/>
        </p:spPr>
        <p:txBody>
          <a:bodyPr wrap="square" lIns="45720" tIns="18288" rIns="45720" bIns="18288" anchor="t">
            <a:spAutoFit/>
          </a:bodyPr>
          <a:lstStyle/>
          <a:p>
            <a:pPr algn="ctr">
              <a:spcAft>
                <a:spcPts val="0"/>
              </a:spcAft>
            </a:pPr>
            <a:r>
              <a:rPr sz="2600" b="1">
                <a:solidFill>
                  <a:srgbClr val="239571"/>
                </a:solidFill>
                <a:latin typeface="Yu Gothic"/>
                <a:ea typeface="Yu Gothic"/>
              </a:rPr>
              <a:t>27 × 27 = 729 points</a:t>
            </a:r>
          </a:p>
        </p:txBody>
      </p:sp>
      <p:sp>
        <p:nvSpPr>
          <p:cNvPr id="74" name="TextBox 73"/>
          <p:cNvSpPr txBox="1"/>
          <p:nvPr/>
        </p:nvSpPr>
        <p:spPr>
          <a:xfrm>
            <a:off x="19083528" y="10554004"/>
            <a:ext cx="3758183" cy="748893"/>
          </a:xfrm>
          <a:prstGeom prst="rect">
            <a:avLst/>
          </a:prstGeom>
          <a:noFill/>
        </p:spPr>
        <p:txBody>
          <a:bodyPr wrap="square" lIns="45720" tIns="18288" rIns="45720" bIns="18288" anchor="t">
            <a:spAutoFit/>
          </a:bodyPr>
          <a:lstStyle/>
          <a:p>
            <a:pPr algn="ctr">
              <a:lnSpc>
                <a:spcPct val="105000"/>
              </a:lnSpc>
              <a:spcAft>
                <a:spcPts val="0"/>
              </a:spcAft>
            </a:pPr>
            <a:r>
              <a:rPr sz="1800" b="0">
                <a:solidFill>
                  <a:srgbClr val="666F79"/>
                </a:solidFill>
                <a:latin typeface="Yu Gothic"/>
                <a:ea typeface="Yu Gothic"/>
              </a:rPr>
              <a:t>Maximum number of scan points</a:t>
            </a:r>
          </a:p>
        </p:txBody>
      </p:sp>
      <p:sp>
        <p:nvSpPr>
          <p:cNvPr id="75" name="TextBox 74"/>
          <p:cNvSpPr txBox="1"/>
          <p:nvPr/>
        </p:nvSpPr>
        <p:spPr>
          <a:xfrm>
            <a:off x="1234440" y="11539728"/>
            <a:ext cx="21488400" cy="421654"/>
          </a:xfrm>
          <a:prstGeom prst="rect">
            <a:avLst/>
          </a:prstGeom>
          <a:noFill/>
        </p:spPr>
        <p:txBody>
          <a:bodyPr wrap="square" lIns="45720" tIns="18288" rIns="45720" bIns="18288" anchor="t">
            <a:spAutoFit/>
          </a:bodyPr>
          <a:lstStyle/>
          <a:p>
            <a:pPr algn="ctr">
              <a:spcAft>
                <a:spcPts val="0"/>
              </a:spcAft>
            </a:pPr>
            <a:r>
              <a:rPr sz="2500" b="1" dirty="0" err="1">
                <a:solidFill>
                  <a:srgbClr val="082B52"/>
                </a:solidFill>
                <a:latin typeface="Yu Gothic"/>
                <a:ea typeface="Yu Gothic"/>
              </a:rPr>
              <a:t>No coverage holes: half the grid diagonal ≈ 85 µrad &lt; 150 µrad detection radius</a:t>
            </a:r>
            <a:endParaRPr sz="2500" b="1" dirty="0">
              <a:solidFill>
                <a:srgbClr val="082B52"/>
              </a:solidFill>
              <a:latin typeface="Yu Gothic"/>
              <a:ea typeface="Yu Gothic"/>
            </a:endParaRPr>
          </a:p>
        </p:txBody>
      </p:sp>
      <p:sp>
        <p:nvSpPr>
          <p:cNvPr id="76" name="TextBox 75"/>
          <p:cNvSpPr txBox="1"/>
          <p:nvPr/>
        </p:nvSpPr>
        <p:spPr>
          <a:xfrm>
            <a:off x="1234440" y="12088368"/>
            <a:ext cx="21488400" cy="502920"/>
          </a:xfrm>
          <a:prstGeom prst="rect">
            <a:avLst/>
          </a:prstGeom>
          <a:noFill/>
        </p:spPr>
        <p:txBody>
          <a:bodyPr wrap="square" lIns="45720" tIns="18288" rIns="45720" bIns="18288" anchor="t">
            <a:spAutoFit/>
          </a:bodyPr>
          <a:lstStyle/>
          <a:p>
            <a:pPr algn="ctr">
              <a:spcAft>
                <a:spcPts val="0"/>
              </a:spcAft>
            </a:pPr>
            <a:r>
              <a:rPr sz="2200" b="0">
                <a:solidFill>
                  <a:srgbClr val="D03B46"/>
                </a:solidFill>
                <a:latin typeface="Yu Gothic"/>
                <a:ea typeface="Yu Gothic"/>
              </a:rPr>
              <a:t>Neglects inter-point slew, settling, and stochastic detection. Times are comparative under these scan conditions.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conditions</a:t>
            </a: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Yu Gothic"/>
              <a:ea typeface="Yu Gothic"/>
            </a:endParaRPr>
          </a:p>
          <a:p>
            <a:pPr algn="l">
              <a:spcAft>
                <a:spcPts val="0"/>
              </a:spcAft>
            </a:pPr>
            <a:r>
              <a:rPr sz="3200" b="1" dirty="0" err="1">
                <a:solidFill>
                  <a:srgbClr val="082B52"/>
                </a:solidFill>
                <a:latin typeface="Yu Gothic"/>
                <a:ea typeface="Yu Gothic"/>
              </a:rPr>
              <a:t>Orbit prediction, alignment, attitude, and drift are added to the thermal error</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1</a:t>
            </a:r>
            <a:r>
              <a:rPr lang="en-US" sz="1800" b="0" dirty="0">
                <a:solidFill>
                  <a:srgbClr val="666F79"/>
                </a:solidFill>
                <a:latin typeface="Yu Gothic"/>
                <a:ea typeface="Yu Gothic"/>
              </a:rPr>
              <a:t>9</a:t>
            </a:r>
            <a:endParaRPr sz="1800" b="0" dirty="0">
              <a:solidFill>
                <a:srgbClr val="666F79"/>
              </a:solidFill>
              <a:latin typeface="Yu Gothic"/>
              <a:ea typeface="Yu Gothic"/>
            </a:endParaRPr>
          </a:p>
        </p:txBody>
      </p:sp>
      <p:sp>
        <p:nvSpPr>
          <p:cNvPr id="5" name="Rounded Rectangle 4"/>
          <p:cNvSpPr/>
          <p:nvPr/>
        </p:nvSpPr>
        <p:spPr>
          <a:xfrm>
            <a:off x="1280160" y="2834640"/>
            <a:ext cx="21762720" cy="19202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792071" y="3383280"/>
                <a:ext cx="10738901" cy="64504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500" b="1" i="1" dirty="0" smtClean="0">
                              <a:solidFill>
                                <a:srgbClr val="082B52"/>
                              </a:solidFill>
                              <a:latin typeface="Cambria Math" panose="02040503050406030204" pitchFamily="18" charset="0"/>
                            </a:rPr>
                          </m:ctrlPr>
                        </m:sSubPr>
                        <m:e>
                          <m:r>
                            <a:rPr lang="en-US" sz="3500" b="1" i="1" dirty="0"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𝒏𝒐𝒏𝒕𝒉𝒆𝒓𝒎𝒂𝒍</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𝒐𝒓𝒃𝒊𝒕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𝒂𝒍𝒊𝒈𝒏𝒎𝒆𝒏𝒕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𝒂𝒕𝒕𝒊𝒕𝒖𝒅𝒆</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𝒅𝒓𝒊𝒇𝒕</m:t>
                          </m:r>
                        </m:sub>
                      </m:sSub>
                    </m:oMath>
                  </m:oMathPara>
                </a14:m>
                <a:endParaRPr lang="en-US" sz="3500" b="1" i="1" dirty="0" err="1">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792071" y="3383280"/>
                <a:ext cx="10738901" cy="645048"/>
              </a:xfrm>
              <a:prstGeom prst="rect">
                <a:avLst/>
              </a:prstGeom>
              <a:blipFill>
                <a:blip r:embed="rId3"/>
                <a:stretch>
                  <a:fillRect/>
                </a:stretch>
              </a:blipFill>
            </p:spPr>
            <p:txBody>
              <a:bodyPr/>
              <a:lstStyle/>
              <a:p>
                <a:r>
                  <a:rPr lang="ja-JP" altLang="en-US">
                    <a:noFill/>
                  </a:rPr>
                  <a:t> </a:t>
                </a:r>
              </a:p>
            </p:txBody>
          </p:sp>
        </mc:Fallback>
      </mc:AlternateContent>
      <p:graphicFrame>
        <p:nvGraphicFramePr>
          <p:cNvPr id="7" name="Table 6"/>
          <p:cNvGraphicFramePr>
            <a:graphicFrameLocks noGrp="1"/>
          </p:cNvGraphicFramePr>
          <p:nvPr>
            <p:extLst>
              <p:ext uri="{D42A27DB-BD31-4B8C-83A1-F6EECF244321}">
                <p14:modId xmlns:p14="http://schemas.microsoft.com/office/powerpoint/2010/main" val="2534477905"/>
              </p:ext>
            </p:extLst>
          </p:nvPr>
        </p:nvGraphicFramePr>
        <p:xfrm>
          <a:off x="1097280" y="5486400"/>
          <a:ext cx="22128480" cy="4572000"/>
        </p:xfrm>
        <a:graphic>
          <a:graphicData uri="http://schemas.openxmlformats.org/drawingml/2006/table">
            <a:tbl>
              <a:tblPr firstRow="1" bandRow="1">
                <a:tableStyleId>{5C22544A-7EE6-4342-B048-85BDC9FD1C3A}</a:tableStyleId>
              </a:tblPr>
              <a:tblGrid>
                <a:gridCol w="438912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5943600">
                  <a:extLst>
                    <a:ext uri="{9D8B030D-6E8A-4147-A177-3AD203B41FA5}">
                      <a16:colId xmlns:a16="http://schemas.microsoft.com/office/drawing/2014/main" val="20003"/>
                    </a:ext>
                  </a:extLst>
                </a:gridCol>
              </a:tblGrid>
              <a:tr h="914400">
                <a:tc>
                  <a:txBody>
                    <a:bodyPr/>
                    <a:lstStyle/>
                    <a:p>
                      <a:pPr algn="l">
                        <a:spcAft>
                          <a:spcPts val="0"/>
                        </a:spcAft>
                      </a:pPr>
                      <a:r>
                        <a:rPr sz="2100" b="1">
                          <a:solidFill>
                            <a:srgbClr val="FFFFFF"/>
                          </a:solidFill>
                          <a:latin typeface="Yu Gothic"/>
                          <a:ea typeface="Yu Gothic"/>
                        </a:rPr>
                        <a:t>Component</a:t>
                      </a:r>
                      <a:endParaRPr sz="2100" b="1" dirty="0">
                        <a:solidFill>
                          <a:srgbClr val="FFFFFF"/>
                        </a:solidFill>
                        <a:latin typeface="Yu Gothic"/>
                      </a:endParaRP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Construction</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Time behavior</a:t>
                      </a:r>
                      <a:endParaRPr sz="2100" b="1" dirty="0">
                        <a:solidFill>
                          <a:srgbClr val="FFFFFF"/>
                        </a:solidFill>
                        <a:latin typeface="Yu Gothic"/>
                      </a:endParaRP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Magnitude</a:t>
                      </a:r>
                    </a:p>
                  </a:txBody>
                  <a:tcPr marL="64008" marR="64008" marT="27432" marB="27432"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100" b="0">
                          <a:solidFill>
                            <a:srgbClr val="232B34"/>
                          </a:solidFill>
                          <a:latin typeface="Yu Gothic"/>
                          <a:ea typeface="Yu Gothic"/>
                        </a:rPr>
                        <a:t>Orbit prediction</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Propagate the latest Sentinel-1 TLE; project error from precise POEORB onto the link transverse plane</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Orbital period</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Mean 280–700 µrad</a:t>
                      </a:r>
                    </a:p>
                  </a:txBody>
                  <a:tcPr marL="64008" marR="64008" marT="27432" marB="27432" anchor="ctr">
                    <a:solidFill>
                      <a:srgbClr val="FFFFFF"/>
                    </a:solidFill>
                  </a:tcPr>
                </a:tc>
                <a:extLst>
                  <a:ext uri="{0D108BD9-81ED-4DB2-BD59-A6C34878D82A}">
                    <a16:rowId xmlns:a16="http://schemas.microsoft.com/office/drawing/2014/main" val="10001"/>
                  </a:ext>
                </a:extLst>
              </a:tr>
              <a:tr h="914400">
                <a:tc>
                  <a:txBody>
                    <a:bodyPr/>
                    <a:lstStyle/>
                    <a:p>
                      <a:pPr algn="l">
                        <a:spcAft>
                          <a:spcPts val="0"/>
                        </a:spcAft>
                      </a:pPr>
                      <a:r>
                        <a:rPr sz="2100" b="0">
                          <a:solidFill>
                            <a:srgbClr val="232B34"/>
                          </a:solidFill>
                          <a:latin typeface="Yu Gothic"/>
                          <a:ea typeface="Yu Gothic"/>
                        </a:rPr>
                        <a:t>Alignment</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Constant two-axis residual per case</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DC</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50 µrad/axis, 1σ</a:t>
                      </a:r>
                    </a:p>
                  </a:txBody>
                  <a:tcPr marL="64008" marR="64008" marT="27432" marB="27432" anchor="ctr">
                    <a:solidFill>
                      <a:srgbClr val="F4F6F8"/>
                    </a:solidFill>
                  </a:tcPr>
                </a:tc>
                <a:extLst>
                  <a:ext uri="{0D108BD9-81ED-4DB2-BD59-A6C34878D82A}">
                    <a16:rowId xmlns:a16="http://schemas.microsoft.com/office/drawing/2014/main" val="10002"/>
                  </a:ext>
                </a:extLst>
              </a:tr>
              <a:tr h="914400">
                <a:tc>
                  <a:txBody>
                    <a:bodyPr/>
                    <a:lstStyle/>
                    <a:p>
                      <a:pPr algn="l">
                        <a:spcAft>
                          <a:spcPts val="0"/>
                        </a:spcAft>
                      </a:pPr>
                      <a:r>
                        <a:rPr sz="2100" b="0">
                          <a:solidFill>
                            <a:srgbClr val="232B34"/>
                          </a:solidFill>
                          <a:latin typeface="Yu Gothic"/>
                          <a:ea typeface="Yu Gothic"/>
                        </a:rPr>
                        <a:t>Attitude</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Gaussian random draw at each sample</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Simplified broadband</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50 µrad/axis, 1σ</a:t>
                      </a:r>
                    </a:p>
                  </a:txBody>
                  <a:tcPr marL="64008" marR="64008" marT="27432" marB="27432" anchor="ctr">
                    <a:solidFill>
                      <a:srgbClr val="FFFFFF"/>
                    </a:solidFill>
                  </a:tcPr>
                </a:tc>
                <a:extLst>
                  <a:ext uri="{0D108BD9-81ED-4DB2-BD59-A6C34878D82A}">
                    <a16:rowId xmlns:a16="http://schemas.microsoft.com/office/drawing/2014/main" val="10003"/>
                  </a:ext>
                </a:extLst>
              </a:tr>
              <a:tr h="914400">
                <a:tc>
                  <a:txBody>
                    <a:bodyPr/>
                    <a:lstStyle/>
                    <a:p>
                      <a:pPr algn="l">
                        <a:spcAft>
                          <a:spcPts val="0"/>
                        </a:spcAft>
                      </a:pPr>
                      <a:r>
                        <a:rPr sz="2100" b="0">
                          <a:solidFill>
                            <a:srgbClr val="232B34"/>
                          </a:solidFill>
                          <a:latin typeface="Yu Gothic"/>
                          <a:ea typeface="Yu Gothic"/>
                        </a:rPr>
                        <a:t>Drift</a:t>
                      </a:r>
                    </a:p>
                  </a:txBody>
                  <a:tcPr marL="64008" marR="64008" marT="27432" marB="27432" anchor="ctr">
                    <a:solidFill>
                      <a:srgbClr val="EBF6FB"/>
                    </a:solidFill>
                  </a:tcPr>
                </a:tc>
                <a:tc>
                  <a:txBody>
                    <a:bodyPr/>
                    <a:lstStyle/>
                    <a:p>
                      <a:pPr algn="ctr">
                        <a:spcAft>
                          <a:spcPts val="0"/>
                        </a:spcAft>
                      </a:pPr>
                      <a:r>
                        <a:rPr sz="2100" b="0">
                          <a:solidFill>
                            <a:srgbClr val="232B34"/>
                          </a:solidFill>
                          <a:latin typeface="Yu Gothic"/>
                          <a:ea typeface="Yu Gothic"/>
                        </a:rPr>
                        <a:t>Sinusoid</a:t>
                      </a:r>
                      <a:endParaRPr sz="2100" b="0" dirty="0">
                        <a:solidFill>
                          <a:srgbClr val="232B34"/>
                        </a:solidFill>
                        <a:latin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900 s period</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30 µrad amplitude</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4727563" y="11141964"/>
            <a:ext cx="14927292" cy="470898"/>
          </a:xfrm>
          <a:prstGeom prst="rect">
            <a:avLst/>
          </a:prstGeom>
          <a:noFill/>
        </p:spPr>
        <p:txBody>
          <a:bodyPr wrap="none" lIns="36576" tIns="27432" rIns="36576" bIns="27432" anchor="t">
            <a:spAutoFit/>
          </a:bodyPr>
          <a:lstStyle/>
          <a:p>
            <a:pPr algn="ctr"/>
            <a:r>
              <a:rPr sz="2700" b="1" dirty="0" err="1">
                <a:solidFill>
                  <a:srgbClr val="D03B46"/>
                </a:solidFill>
                <a:latin typeface="Yu Gothic"/>
              </a:rPr>
              <a:t>This is not a spacecraft-specific error budget; it represents a generic GNSS-denied small-LEO scenario.</a:t>
            </a:r>
            <a:endParaRPr sz="2700" b="1" dirty="0">
              <a:solidFill>
                <a:srgbClr val="D03B46"/>
              </a:solidFill>
              <a:latin typeface="Yu Gothic"/>
            </a:endParaRPr>
          </a:p>
        </p:txBody>
      </p:sp>
      <p:sp>
        <p:nvSpPr>
          <p:cNvPr id="9" name="TextBox 8"/>
          <p:cNvSpPr txBox="1"/>
          <p:nvPr/>
        </p:nvSpPr>
        <p:spPr>
          <a:xfrm>
            <a:off x="1097280" y="10241280"/>
            <a:ext cx="22128480" cy="502920"/>
          </a:xfrm>
          <a:prstGeom prst="rect">
            <a:avLst/>
          </a:prstGeom>
          <a:noFill/>
        </p:spPr>
        <p:txBody>
          <a:bodyPr wrap="square" lIns="45720" tIns="18288" rIns="45720" bIns="18288" anchor="t">
            <a:spAutoFit/>
          </a:bodyPr>
          <a:lstStyle/>
          <a:p>
            <a:pPr algn="l">
              <a:spcAft>
                <a:spcPts val="0"/>
              </a:spcAft>
            </a:pPr>
            <a:r>
              <a:rPr sz="2200" b="0">
                <a:solidFill>
                  <a:srgbClr val="666F79"/>
                </a:solidFill>
                <a:latin typeface="Yu Gothic"/>
                <a:ea typeface="Yu Gothic"/>
              </a:rPr>
              <a:t>One random seed per case; statistical spread is not evaluated.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results</a:t>
            </a: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Yu Gothic"/>
              <a:ea typeface="Yu Gothic"/>
            </a:endParaRPr>
          </a:p>
          <a:p>
            <a:pPr algn="l">
              <a:spcAft>
                <a:spcPts val="0"/>
              </a:spcAft>
            </a:pPr>
            <a:r>
              <a:rPr sz="3100" b="1" dirty="0" err="1">
                <a:solidFill>
                  <a:srgbClr val="082B52"/>
                </a:solidFill>
                <a:latin typeface="Yu Gothic"/>
                <a:ea typeface="Yu Gothic"/>
              </a:rPr>
              <a:t>With thermal LOS error only, mean acquisition time drops from 14.6 to 0.10 s, matching thermal-truth correction</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Yu Gothic"/>
                <a:ea typeface="Yu Gothic"/>
              </a:rPr>
              <a:t>20</a:t>
            </a:r>
            <a:endParaRPr sz="1800" b="0" dirty="0">
              <a:solidFill>
                <a:srgbClr val="666F79"/>
              </a:solidFill>
              <a:latin typeface="Yu Gothic"/>
              <a:ea typeface="Yu Gothic"/>
            </a:endParaRPr>
          </a:p>
        </p:txBody>
      </p:sp>
      <p:sp>
        <p:nvSpPr>
          <p:cNvPr id="5" name="TextBox 4"/>
          <p:cNvSpPr txBox="1"/>
          <p:nvPr/>
        </p:nvSpPr>
        <p:spPr>
          <a:xfrm>
            <a:off x="1188720" y="3236976"/>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No correction</a:t>
            </a:r>
          </a:p>
        </p:txBody>
      </p:sp>
      <p:sp>
        <p:nvSpPr>
          <p:cNvPr id="6" name="Rectangle 5"/>
          <p:cNvSpPr/>
          <p:nvPr/>
        </p:nvSpPr>
        <p:spPr>
          <a:xfrm>
            <a:off x="5667451" y="33375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7451" y="3337560"/>
            <a:ext cx="8888693" cy="12115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694408" y="3200400"/>
            <a:ext cx="914400" cy="1485900"/>
          </a:xfrm>
          <a:prstGeom prst="rect">
            <a:avLst/>
          </a:prstGeom>
          <a:noFill/>
        </p:spPr>
        <p:txBody>
          <a:bodyPr wrap="square" lIns="36576" tIns="27432" rIns="36576" bIns="27432" anchor="ctr">
            <a:spAutoFit/>
          </a:bodyPr>
          <a:lstStyle/>
          <a:p>
            <a:pPr algn="l">
              <a:spcAft>
                <a:spcPts val="0"/>
              </a:spcAft>
            </a:pPr>
            <a:r>
              <a:rPr sz="2200" b="1">
                <a:solidFill>
                  <a:srgbClr val="D03B46"/>
                </a:solidFill>
                <a:latin typeface="Yu Gothic"/>
                <a:ea typeface="Yu Gothic"/>
              </a:rPr>
              <a:t>14.6 s</a:t>
            </a:r>
          </a:p>
        </p:txBody>
      </p:sp>
      <p:sp>
        <p:nvSpPr>
          <p:cNvPr id="13" name="TextBox 12"/>
          <p:cNvSpPr txBox="1"/>
          <p:nvPr/>
        </p:nvSpPr>
        <p:spPr>
          <a:xfrm>
            <a:off x="1188720" y="4727448"/>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Hierarchical model</a:t>
            </a:r>
          </a:p>
        </p:txBody>
      </p:sp>
      <p:sp>
        <p:nvSpPr>
          <p:cNvPr id="14" name="Rectangle 13"/>
          <p:cNvSpPr/>
          <p:nvPr/>
        </p:nvSpPr>
        <p:spPr>
          <a:xfrm>
            <a:off x="5667451" y="48280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7451" y="4828032"/>
            <a:ext cx="91440" cy="12115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694408" y="4690872"/>
            <a:ext cx="914400" cy="1485900"/>
          </a:xfrm>
          <a:prstGeom prst="rect">
            <a:avLst/>
          </a:prstGeom>
          <a:noFill/>
        </p:spPr>
        <p:txBody>
          <a:bodyPr wrap="square" lIns="36576" tIns="27432" rIns="36576" bIns="27432" anchor="ctr">
            <a:spAutoFit/>
          </a:bodyPr>
          <a:lstStyle/>
          <a:p>
            <a:pPr algn="l">
              <a:spcAft>
                <a:spcPts val="0"/>
              </a:spcAft>
            </a:pPr>
            <a:r>
              <a:rPr sz="2200" b="1">
                <a:solidFill>
                  <a:srgbClr val="239571"/>
                </a:solidFill>
                <a:latin typeface="Yu Gothic"/>
                <a:ea typeface="Yu Gothic"/>
              </a:rPr>
              <a:t>0.10 s</a:t>
            </a:r>
          </a:p>
        </p:txBody>
      </p:sp>
      <p:sp>
        <p:nvSpPr>
          <p:cNvPr id="17" name="TextBox 16"/>
          <p:cNvSpPr txBox="1"/>
          <p:nvPr/>
        </p:nvSpPr>
        <p:spPr>
          <a:xfrm>
            <a:off x="1188720" y="6213347"/>
            <a:ext cx="4387291" cy="14127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Thermal-truth upper bound</a:t>
            </a:r>
          </a:p>
        </p:txBody>
      </p:sp>
      <p:sp>
        <p:nvSpPr>
          <p:cNvPr id="18" name="Rectangle 17"/>
          <p:cNvSpPr/>
          <p:nvPr/>
        </p:nvSpPr>
        <p:spPr>
          <a:xfrm>
            <a:off x="5667451" y="63139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7451" y="6313932"/>
            <a:ext cx="91440" cy="121158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694408" y="6176772"/>
            <a:ext cx="914400" cy="1485900"/>
          </a:xfrm>
          <a:prstGeom prst="rect">
            <a:avLst/>
          </a:prstGeom>
          <a:noFill/>
        </p:spPr>
        <p:txBody>
          <a:bodyPr wrap="square" lIns="36576" tIns="27432" rIns="36576" bIns="27432" anchor="ctr">
            <a:spAutoFit/>
          </a:bodyPr>
          <a:lstStyle/>
          <a:p>
            <a:pPr algn="l">
              <a:spcAft>
                <a:spcPts val="0"/>
              </a:spcAft>
            </a:pPr>
            <a:r>
              <a:rPr sz="2200" b="1">
                <a:solidFill>
                  <a:srgbClr val="1B74AA"/>
                </a:solidFill>
                <a:latin typeface="Yu Gothic"/>
                <a:ea typeface="Yu Gothic"/>
              </a:rPr>
              <a:t>0.10 s</a:t>
            </a:r>
          </a:p>
        </p:txBody>
      </p:sp>
      <p:graphicFrame>
        <p:nvGraphicFramePr>
          <p:cNvPr id="21" name="Table 20"/>
          <p:cNvGraphicFramePr>
            <a:graphicFrameLocks noGrp="1"/>
          </p:cNvGraphicFramePr>
          <p:nvPr/>
        </p:nvGraphicFramePr>
        <p:xfrm>
          <a:off x="16276320" y="3017520"/>
          <a:ext cx="6766560" cy="3950208"/>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987552">
                <a:tc>
                  <a:txBody>
                    <a:bodyPr/>
                    <a:lstStyle/>
                    <a:p>
                      <a:pPr algn="l">
                        <a:spcAft>
                          <a:spcPts val="0"/>
                        </a:spcAft>
                      </a:pPr>
                      <a:r>
                        <a:rPr sz="2000" b="1">
                          <a:solidFill>
                            <a:srgbClr val="FFFFFF"/>
                          </a:solidFill>
                          <a:latin typeface="Yu Gothic"/>
                          <a:ea typeface="Yu Gothic"/>
                        </a:rPr>
                        <a:t>Correction</a:t>
                      </a:r>
                    </a:p>
                  </a:txBody>
                  <a:tcPr marL="64008" marR="64008" marT="27432" marB="27432" anchor="ctr">
                    <a:solidFill>
                      <a:srgbClr val="082B52"/>
                    </a:solidFill>
                  </a:tcPr>
                </a:tc>
                <a:tc>
                  <a:txBody>
                    <a:bodyPr/>
                    <a:lstStyle/>
                    <a:p>
                      <a:pPr algn="ctr">
                        <a:spcAft>
                          <a:spcPts val="0"/>
                        </a:spcAft>
                      </a:pPr>
                      <a:r>
                        <a:rPr sz="2000" b="1">
                          <a:solidFill>
                            <a:srgbClr val="FFFFFF"/>
                          </a:solidFill>
                          <a:latin typeface="Yu Gothic"/>
                          <a:ea typeface="Yu Gothic"/>
                        </a:rPr>
                        <a:t>Success rate</a:t>
                      </a:r>
                    </a:p>
                  </a:txBody>
                  <a:tcPr marL="64008" marR="64008" marT="27432" marB="27432" anchor="ctr">
                    <a:solidFill>
                      <a:srgbClr val="082B52"/>
                    </a:solidFill>
                  </a:tcPr>
                </a:tc>
                <a:tc>
                  <a:txBody>
                    <a:bodyPr/>
                    <a:lstStyle/>
                    <a:p>
                      <a:pPr algn="ctr">
                        <a:spcAft>
                          <a:spcPts val="0"/>
                        </a:spcAft>
                      </a:pPr>
                      <a:r>
                        <a:rPr sz="2000" b="1">
                          <a:solidFill>
                            <a:srgbClr val="FFFFFF"/>
                          </a:solidFill>
                          <a:latin typeface="Yu Gothic"/>
                          <a:ea typeface="Yu Gothic"/>
                        </a:rPr>
                        <a:t>Mean acquisition time</a:t>
                      </a:r>
                    </a:p>
                  </a:txBody>
                  <a:tcPr marL="64008" marR="64008" marT="27432" marB="27432" anchor="ctr">
                    <a:solidFill>
                      <a:srgbClr val="082B52"/>
                    </a:solidFill>
                  </a:tcPr>
                </a:tc>
                <a:extLst>
                  <a:ext uri="{0D108BD9-81ED-4DB2-BD59-A6C34878D82A}">
                    <a16:rowId xmlns:a16="http://schemas.microsoft.com/office/drawing/2014/main" val="10000"/>
                  </a:ext>
                </a:extLst>
              </a:tr>
              <a:tr h="987552">
                <a:tc>
                  <a:txBody>
                    <a:bodyPr/>
                    <a:lstStyle/>
                    <a:p>
                      <a:pPr algn="l">
                        <a:spcAft>
                          <a:spcPts val="0"/>
                        </a:spcAft>
                      </a:pPr>
                      <a:r>
                        <a:rPr sz="2000" b="0">
                          <a:solidFill>
                            <a:srgbClr val="232B34"/>
                          </a:solidFill>
                          <a:latin typeface="Yu Gothic"/>
                          <a:ea typeface="Yu Gothic"/>
                        </a:rPr>
                        <a:t>No correction</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14.6 s</a:t>
                      </a:r>
                    </a:p>
                  </a:txBody>
                  <a:tcPr marL="64008" marR="64008" marT="27432" marB="27432" anchor="ctr">
                    <a:solidFill>
                      <a:srgbClr val="EBF6FB"/>
                    </a:solidFill>
                  </a:tcPr>
                </a:tc>
                <a:extLst>
                  <a:ext uri="{0D108BD9-81ED-4DB2-BD59-A6C34878D82A}">
                    <a16:rowId xmlns:a16="http://schemas.microsoft.com/office/drawing/2014/main" val="10001"/>
                  </a:ext>
                </a:extLst>
              </a:tr>
              <a:tr h="987552">
                <a:tc>
                  <a:txBody>
                    <a:bodyPr/>
                    <a:lstStyle/>
                    <a:p>
                      <a:pPr algn="l">
                        <a:spcAft>
                          <a:spcPts val="0"/>
                        </a:spcAft>
                      </a:pPr>
                      <a:r>
                        <a:rPr sz="2000" b="0">
                          <a:solidFill>
                            <a:srgbClr val="232B34"/>
                          </a:solidFill>
                          <a:latin typeface="Yu Gothic"/>
                          <a:ea typeface="Yu Gothic"/>
                        </a:rPr>
                        <a:t>Hierarchical model</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FFFFF"/>
                    </a:solidFill>
                  </a:tcPr>
                </a:tc>
                <a:tc>
                  <a:txBody>
                    <a:bodyPr/>
                    <a:lstStyle/>
                    <a:p>
                      <a:pPr algn="ctr">
                        <a:spcAft>
                          <a:spcPts val="0"/>
                        </a:spcAft>
                      </a:pPr>
                      <a:r>
                        <a:rPr sz="2000" b="0">
                          <a:solidFill>
                            <a:srgbClr val="232B34"/>
                          </a:solidFill>
                          <a:latin typeface="Yu Gothic"/>
                          <a:ea typeface="Yu Gothic"/>
                        </a:rPr>
                        <a:t>0.10 s</a:t>
                      </a:r>
                    </a:p>
                  </a:txBody>
                  <a:tcPr marL="64008" marR="64008" marT="27432" marB="27432" anchor="ctr">
                    <a:solidFill>
                      <a:srgbClr val="EBF6FB"/>
                    </a:solidFill>
                  </a:tcPr>
                </a:tc>
                <a:extLst>
                  <a:ext uri="{0D108BD9-81ED-4DB2-BD59-A6C34878D82A}">
                    <a16:rowId xmlns:a16="http://schemas.microsoft.com/office/drawing/2014/main" val="10003"/>
                  </a:ext>
                </a:extLst>
              </a:tr>
              <a:tr h="987552">
                <a:tc>
                  <a:txBody>
                    <a:bodyPr/>
                    <a:lstStyle/>
                    <a:p>
                      <a:pPr algn="l">
                        <a:spcAft>
                          <a:spcPts val="0"/>
                        </a:spcAft>
                      </a:pPr>
                      <a:r>
                        <a:rPr sz="2000" b="0">
                          <a:solidFill>
                            <a:srgbClr val="232B34"/>
                          </a:solidFill>
                          <a:latin typeface="Yu Gothic"/>
                          <a:ea typeface="Yu Gothic"/>
                        </a:rPr>
                        <a:t>Thermal truth</a:t>
                      </a:r>
                    </a:p>
                  </a:txBody>
                  <a:tcPr marL="64008" marR="64008" marT="27432" marB="27432" anchor="ctr">
                    <a:solidFill>
                      <a:srgbClr val="F4F6F8"/>
                    </a:solidFill>
                  </a:tcPr>
                </a:tc>
                <a:tc>
                  <a:txBody>
                    <a:bodyPr/>
                    <a:lstStyle/>
                    <a:p>
                      <a:pPr algn="ctr">
                        <a:spcAft>
                          <a:spcPts val="0"/>
                        </a:spcAft>
                      </a:pPr>
                      <a:r>
                        <a:rPr sz="2000" b="0">
                          <a:solidFill>
                            <a:srgbClr val="232B34"/>
                          </a:solidFill>
                          <a:latin typeface="Yu Gothic"/>
                          <a:ea typeface="Yu Gothic"/>
                        </a:rPr>
                        <a:t>100%</a:t>
                      </a:r>
                    </a:p>
                  </a:txBody>
                  <a:tcPr marL="64008" marR="64008" marT="27432" marB="27432" anchor="ctr">
                    <a:solidFill>
                      <a:srgbClr val="F4F6F8"/>
                    </a:solidFill>
                  </a:tcPr>
                </a:tc>
                <a:tc>
                  <a:txBody>
                    <a:bodyPr/>
                    <a:lstStyle/>
                    <a:p>
                      <a:pPr algn="ctr">
                        <a:spcAft>
                          <a:spcPts val="0"/>
                        </a:spcAft>
                      </a:pPr>
                      <a:r>
                        <a:rPr sz="2000" b="0">
                          <a:solidFill>
                            <a:srgbClr val="232B34"/>
                          </a:solidFill>
                          <a:latin typeface="Yu Gothic"/>
                          <a:ea typeface="Yu Gothic"/>
                        </a:rPr>
                        <a:t>0.10 s</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2" name="Rounded Rectangle 21"/>
          <p:cNvSpPr/>
          <p:nvPr/>
        </p:nvSpPr>
        <p:spPr>
          <a:xfrm>
            <a:off x="16367759" y="8412480"/>
            <a:ext cx="658368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0" y="8540496"/>
            <a:ext cx="6400800" cy="566928"/>
          </a:xfrm>
          <a:prstGeom prst="rect">
            <a:avLst/>
          </a:prstGeom>
          <a:noFill/>
        </p:spPr>
        <p:txBody>
          <a:bodyPr wrap="square" lIns="36576" tIns="27432" rIns="36576" bIns="27432" anchor="t">
            <a:spAutoFit/>
          </a:bodyPr>
          <a:lstStyle/>
          <a:p>
            <a:pPr algn="ctr">
              <a:spcAft>
                <a:spcPts val="0"/>
              </a:spcAft>
            </a:pPr>
            <a:r>
              <a:rPr sz="3400" b="1">
                <a:solidFill>
                  <a:srgbClr val="239571"/>
                </a:solidFill>
                <a:latin typeface="Yu Gothic"/>
                <a:ea typeface="Yu Gothic"/>
              </a:rPr>
              <a:t>9.3 µrad</a:t>
            </a:r>
          </a:p>
        </p:txBody>
      </p:sp>
      <p:sp>
        <p:nvSpPr>
          <p:cNvPr id="24" name="TextBox 23"/>
          <p:cNvSpPr txBox="1"/>
          <p:nvPr/>
        </p:nvSpPr>
        <p:spPr>
          <a:xfrm>
            <a:off x="16459200" y="9217152"/>
            <a:ext cx="640080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Mean thermal residual after correction</a:t>
            </a:r>
          </a:p>
        </p:txBody>
      </p:sp>
      <p:sp>
        <p:nvSpPr>
          <p:cNvPr id="25" name="TextBox 24"/>
          <p:cNvSpPr txBox="1"/>
          <p:nvPr/>
        </p:nvSpPr>
        <p:spPr>
          <a:xfrm>
            <a:off x="2011680" y="10424160"/>
            <a:ext cx="20299680" cy="1188720"/>
          </a:xfrm>
          <a:prstGeom prst="rect">
            <a:avLst/>
          </a:prstGeom>
          <a:noFill/>
        </p:spPr>
        <p:txBody>
          <a:bodyPr wrap="square" lIns="36576" tIns="27432" rIns="36576" bIns="27432" anchor="t">
            <a:spAutoFit/>
          </a:bodyPr>
          <a:lstStyle/>
          <a:p>
            <a:pPr algn="ctr">
              <a:lnSpc>
                <a:spcPct val="115000"/>
              </a:lnSpc>
              <a:spcAft>
                <a:spcPts val="0"/>
              </a:spcAft>
            </a:pPr>
            <a:r>
              <a:rPr sz="2500" b="0">
                <a:solidFill>
                  <a:srgbClr val="666F79"/>
                </a:solidFill>
                <a:latin typeface="Yu Gothic"/>
                <a:ea typeface="Yu Gothic"/>
              </a:rPr>
              <a:t>The residual is far below the 150 µrad detection radius, so acquisition occurs in one dwell.</a:t>
            </a:r>
          </a:p>
          <a:p>
            <a:pPr algn="ctr">
              <a:lnSpc>
                <a:spcPct val="115000"/>
              </a:lnSpc>
              <a:spcAft>
                <a:spcPts val="0"/>
              </a:spcAft>
            </a:pPr>
            <a:r>
              <a:rPr sz="2500" b="0">
                <a:solidFill>
                  <a:srgbClr val="666F79"/>
                </a:solidFill>
                <a:latin typeface="Yu Gothic"/>
                <a:ea typeface="Yu Gothic"/>
              </a:rPr>
              <a:t>Mean over 14 COLD baseline-surface cases; the main result includes nonthermal error on the next slide.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Acquisition results</a:t>
            </a: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Yu Gothic"/>
              <a:ea typeface="Yu Gothic"/>
            </a:endParaRPr>
          </a:p>
          <a:p>
            <a:pPr algn="l">
              <a:spcAft>
                <a:spcPts val="0"/>
              </a:spcAft>
            </a:pPr>
            <a:r>
              <a:rPr sz="3100" b="1" dirty="0" err="1">
                <a:solidFill>
                  <a:srgbClr val="082B52"/>
                </a:solidFill>
                <a:latin typeface="Yu Gothic"/>
                <a:ea typeface="Yu Gothic"/>
              </a:rPr>
              <a:t>With nonthermal LOS error, the mean drops from 19.2 to 5.45 s; the residual is governed by nonthermal error</a:t>
            </a:r>
            <a:endParaRPr lang="en-US" sz="3200" b="1" dirty="0">
              <a:solidFill>
                <a:srgbClr val="082B52"/>
              </a:solidFill>
              <a:latin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sz="1800" b="0" dirty="0">
                <a:solidFill>
                  <a:srgbClr val="666F79"/>
                </a:solidFill>
                <a:latin typeface="Yu Gothic"/>
                <a:ea typeface="Yu Gothic"/>
              </a:rPr>
              <a:t>2</a:t>
            </a:r>
            <a:r>
              <a:rPr lang="en-US" sz="1800" b="0" dirty="0">
                <a:solidFill>
                  <a:srgbClr val="666F79"/>
                </a:solidFill>
                <a:latin typeface="Yu Gothic"/>
                <a:ea typeface="Yu Gothic"/>
              </a:rPr>
              <a:t>1</a:t>
            </a:r>
            <a:endParaRPr sz="1800" b="0" dirty="0">
              <a:solidFill>
                <a:srgbClr val="666F79"/>
              </a:solidFill>
              <a:latin typeface="Yu Gothic"/>
              <a:ea typeface="Yu Gothic"/>
            </a:endParaRPr>
          </a:p>
        </p:txBody>
      </p:sp>
      <p:sp>
        <p:nvSpPr>
          <p:cNvPr id="5" name="TextBox 4"/>
          <p:cNvSpPr txBox="1"/>
          <p:nvPr/>
        </p:nvSpPr>
        <p:spPr>
          <a:xfrm>
            <a:off x="1371600" y="3236976"/>
            <a:ext cx="4217212" cy="17556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No correction</a:t>
            </a:r>
          </a:p>
        </p:txBody>
      </p:sp>
      <p:sp>
        <p:nvSpPr>
          <p:cNvPr id="6" name="Rectangle 5"/>
          <p:cNvSpPr/>
          <p:nvPr/>
        </p:nvSpPr>
        <p:spPr>
          <a:xfrm>
            <a:off x="5680252" y="33375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80252" y="3337560"/>
            <a:ext cx="8373230" cy="15544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28647" y="3200400"/>
            <a:ext cx="914400" cy="1828800"/>
          </a:xfrm>
          <a:prstGeom prst="rect">
            <a:avLst/>
          </a:prstGeom>
          <a:noFill/>
        </p:spPr>
        <p:txBody>
          <a:bodyPr wrap="square" lIns="36576" tIns="27432" rIns="36576" bIns="27432" anchor="ctr">
            <a:spAutoFit/>
          </a:bodyPr>
          <a:lstStyle/>
          <a:p>
            <a:pPr algn="l">
              <a:spcAft>
                <a:spcPts val="0"/>
              </a:spcAft>
            </a:pPr>
            <a:r>
              <a:rPr sz="2200" b="1">
                <a:solidFill>
                  <a:srgbClr val="D03B46"/>
                </a:solidFill>
                <a:latin typeface="Yu Gothic"/>
                <a:ea typeface="Yu Gothic"/>
              </a:rPr>
              <a:t>19.2 s</a:t>
            </a:r>
          </a:p>
        </p:txBody>
      </p:sp>
      <p:sp>
        <p:nvSpPr>
          <p:cNvPr id="9" name="TextBox 8"/>
          <p:cNvSpPr txBox="1"/>
          <p:nvPr/>
        </p:nvSpPr>
        <p:spPr>
          <a:xfrm>
            <a:off x="1371600" y="5065776"/>
            <a:ext cx="4217212" cy="1755648"/>
          </a:xfrm>
          <a:prstGeom prst="rect">
            <a:avLst/>
          </a:prstGeom>
          <a:noFill/>
        </p:spPr>
        <p:txBody>
          <a:bodyPr wrap="square" lIns="36576" tIns="27432" rIns="36576" bIns="27432" anchor="ctr">
            <a:spAutoFit/>
          </a:bodyPr>
          <a:lstStyle/>
          <a:p>
            <a:pPr algn="l">
              <a:spcAft>
                <a:spcPts val="0"/>
              </a:spcAft>
            </a:pPr>
            <a:r>
              <a:rPr sz="2300" b="0">
                <a:solidFill>
                  <a:srgbClr val="232B34"/>
                </a:solidFill>
                <a:latin typeface="Yu Gothic"/>
                <a:ea typeface="Yu Gothic"/>
              </a:rPr>
              <a:t>Hierarchical model</a:t>
            </a:r>
          </a:p>
        </p:txBody>
      </p:sp>
      <p:sp>
        <p:nvSpPr>
          <p:cNvPr id="10" name="Rectangle 9"/>
          <p:cNvSpPr/>
          <p:nvPr/>
        </p:nvSpPr>
        <p:spPr>
          <a:xfrm>
            <a:off x="5680252" y="51663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80252" y="5166360"/>
            <a:ext cx="2424255" cy="15544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28647" y="5029200"/>
            <a:ext cx="914400" cy="1828800"/>
          </a:xfrm>
          <a:prstGeom prst="rect">
            <a:avLst/>
          </a:prstGeom>
          <a:noFill/>
        </p:spPr>
        <p:txBody>
          <a:bodyPr wrap="square" lIns="36576" tIns="27432" rIns="36576" bIns="27432" anchor="ctr">
            <a:spAutoFit/>
          </a:bodyPr>
          <a:lstStyle/>
          <a:p>
            <a:pPr algn="l">
              <a:spcAft>
                <a:spcPts val="0"/>
              </a:spcAft>
            </a:pPr>
            <a:r>
              <a:rPr sz="2200" b="1">
                <a:solidFill>
                  <a:srgbClr val="239571"/>
                </a:solidFill>
                <a:latin typeface="Yu Gothic"/>
                <a:ea typeface="Yu Gothic"/>
              </a:rPr>
              <a:t>5.45 s</a:t>
            </a:r>
          </a:p>
        </p:txBody>
      </p:sp>
      <p:sp>
        <p:nvSpPr>
          <p:cNvPr id="13" name="Rounded Rectangle 12"/>
          <p:cNvSpPr/>
          <p:nvPr/>
        </p:nvSpPr>
        <p:spPr>
          <a:xfrm>
            <a:off x="16093440" y="4279392"/>
            <a:ext cx="66751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184880" y="4407408"/>
            <a:ext cx="6492240" cy="566928"/>
          </a:xfrm>
          <a:prstGeom prst="rect">
            <a:avLst/>
          </a:prstGeom>
          <a:noFill/>
        </p:spPr>
        <p:txBody>
          <a:bodyPr wrap="square" lIns="36576" tIns="27432" rIns="36576" bIns="27432" anchor="t">
            <a:spAutoFit/>
          </a:bodyPr>
          <a:lstStyle/>
          <a:p>
            <a:pPr algn="ctr">
              <a:spcAft>
                <a:spcPts val="0"/>
              </a:spcAft>
            </a:pPr>
            <a:r>
              <a:rPr sz="3400" b="1">
                <a:solidFill>
                  <a:srgbClr val="239571"/>
                </a:solidFill>
                <a:latin typeface="Yu Gothic"/>
                <a:ea typeface="Yu Gothic"/>
              </a:rPr>
              <a:t>−72%</a:t>
            </a:r>
          </a:p>
        </p:txBody>
      </p:sp>
      <p:sp>
        <p:nvSpPr>
          <p:cNvPr id="15" name="TextBox 14"/>
          <p:cNvSpPr txBox="1"/>
          <p:nvPr/>
        </p:nvSpPr>
        <p:spPr>
          <a:xfrm>
            <a:off x="16184880" y="5084064"/>
            <a:ext cx="6492240" cy="365760"/>
          </a:xfrm>
          <a:prstGeom prst="rect">
            <a:avLst/>
          </a:prstGeom>
          <a:noFill/>
        </p:spPr>
        <p:txBody>
          <a:bodyPr wrap="square" lIns="36576" tIns="27432" rIns="36576" bIns="27432" anchor="t">
            <a:spAutoFit/>
          </a:bodyPr>
          <a:lstStyle/>
          <a:p>
            <a:pPr algn="ctr">
              <a:spcAft>
                <a:spcPts val="0"/>
              </a:spcAft>
            </a:pPr>
            <a:r>
              <a:rPr sz="2000" b="0">
                <a:solidFill>
                  <a:srgbClr val="666F79"/>
                </a:solidFill>
                <a:latin typeface="Yu Gothic"/>
                <a:ea typeface="Yu Gothic"/>
              </a:rPr>
              <a:t>Mean acquisition time</a:t>
            </a:r>
          </a:p>
        </p:txBody>
      </p:sp>
      <p:graphicFrame>
        <p:nvGraphicFramePr>
          <p:cNvPr id="19" name="Table 18"/>
          <p:cNvGraphicFramePr>
            <a:graphicFrameLocks noGrp="1"/>
          </p:cNvGraphicFramePr>
          <p:nvPr/>
        </p:nvGraphicFramePr>
        <p:xfrm>
          <a:off x="2743200" y="7635240"/>
          <a:ext cx="18928080" cy="3246120"/>
        </p:xfrm>
        <a:graphic>
          <a:graphicData uri="http://schemas.openxmlformats.org/drawingml/2006/table">
            <a:tbl>
              <a:tblPr firstRow="1" bandRow="1">
                <a:tableStyleId>{5C22544A-7EE6-4342-B048-85BDC9FD1C3A}</a:tableStyleId>
              </a:tblPr>
              <a:tblGrid>
                <a:gridCol w="7406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49224">
                <a:tc>
                  <a:txBody>
                    <a:bodyPr/>
                    <a:lstStyle/>
                    <a:p>
                      <a:pPr algn="l">
                        <a:spcAft>
                          <a:spcPts val="0"/>
                        </a:spcAft>
                      </a:pPr>
                      <a:r>
                        <a:rPr sz="2100" b="1">
                          <a:solidFill>
                            <a:srgbClr val="FFFFFF"/>
                          </a:solidFill>
                          <a:latin typeface="Yu Gothic"/>
                          <a:ea typeface="Yu Gothic"/>
                        </a:rPr>
                        <a:t>Metric</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No correction</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Hierarchical model (feedforward)</a:t>
                      </a:r>
                    </a:p>
                  </a:txBody>
                  <a:tcPr marL="64008" marR="64008" marT="27432" marB="27432" anchor="ctr">
                    <a:solidFill>
                      <a:srgbClr val="082B52"/>
                    </a:solidFill>
                  </a:tcPr>
                </a:tc>
                <a:extLst>
                  <a:ext uri="{0D108BD9-81ED-4DB2-BD59-A6C34878D82A}">
                    <a16:rowId xmlns:a16="http://schemas.microsoft.com/office/drawing/2014/main" val="10000"/>
                  </a:ext>
                </a:extLst>
              </a:tr>
              <a:tr h="649224">
                <a:tc>
                  <a:txBody>
                    <a:bodyPr/>
                    <a:lstStyle/>
                    <a:p>
                      <a:pPr algn="l">
                        <a:spcAft>
                          <a:spcPts val="0"/>
                        </a:spcAft>
                      </a:pPr>
                      <a:r>
                        <a:rPr sz="2100" b="0">
                          <a:solidFill>
                            <a:srgbClr val="232B34"/>
                          </a:solidFill>
                          <a:latin typeface="Yu Gothic"/>
                          <a:ea typeface="Yu Gothic"/>
                        </a:rPr>
                        <a:t>Success rate</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98%</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100%</a:t>
                      </a:r>
                    </a:p>
                  </a:txBody>
                  <a:tcPr marL="64008" marR="64008" marT="27432" marB="27432" anchor="ctr">
                    <a:solidFill>
                      <a:srgbClr val="EBF6FB"/>
                    </a:solidFill>
                  </a:tcPr>
                </a:tc>
                <a:extLst>
                  <a:ext uri="{0D108BD9-81ED-4DB2-BD59-A6C34878D82A}">
                    <a16:rowId xmlns:a16="http://schemas.microsoft.com/office/drawing/2014/main" val="10001"/>
                  </a:ext>
                </a:extLst>
              </a:tr>
              <a:tr h="649224">
                <a:tc>
                  <a:txBody>
                    <a:bodyPr/>
                    <a:lstStyle/>
                    <a:p>
                      <a:pPr algn="l">
                        <a:spcAft>
                          <a:spcPts val="0"/>
                        </a:spcAft>
                      </a:pPr>
                      <a:r>
                        <a:rPr sz="2100" b="0">
                          <a:solidFill>
                            <a:srgbClr val="232B34"/>
                          </a:solidFill>
                          <a:latin typeface="Yu Gothic"/>
                          <a:ea typeface="Yu Gothic"/>
                        </a:rPr>
                        <a:t>Mean acquisition time</a:t>
                      </a:r>
                    </a:p>
                  </a:txBody>
                  <a:tcPr marL="64008" marR="64008" marT="27432" marB="27432" anchor="ctr">
                    <a:solidFill>
                      <a:srgbClr val="F4F6F8"/>
                    </a:solidFill>
                  </a:tcPr>
                </a:tc>
                <a:tc>
                  <a:txBody>
                    <a:bodyPr/>
                    <a:lstStyle/>
                    <a:p>
                      <a:pPr algn="ctr">
                        <a:spcAft>
                          <a:spcPts val="0"/>
                        </a:spcAft>
                      </a:pPr>
                      <a:r>
                        <a:rPr sz="2100" b="0" dirty="0">
                          <a:solidFill>
                            <a:srgbClr val="232B34"/>
                          </a:solidFill>
                          <a:latin typeface="Yu Gothic"/>
                          <a:ea typeface="Yu Gothic"/>
                        </a:rPr>
                        <a:t>19.2 s</a:t>
                      </a:r>
                    </a:p>
                  </a:txBody>
                  <a:tcPr marL="64008" marR="64008" marT="27432" marB="27432" anchor="ctr">
                    <a:solidFill>
                      <a:srgbClr val="F4F6F8"/>
                    </a:solidFill>
                  </a:tcPr>
                </a:tc>
                <a:tc>
                  <a:txBody>
                    <a:bodyPr/>
                    <a:lstStyle/>
                    <a:p>
                      <a:pPr algn="ctr">
                        <a:spcAft>
                          <a:spcPts val="0"/>
                        </a:spcAft>
                      </a:pPr>
                      <a:r>
                        <a:rPr sz="2100" b="0" dirty="0">
                          <a:solidFill>
                            <a:srgbClr val="232B34"/>
                          </a:solidFill>
                          <a:latin typeface="Yu Gothic"/>
                          <a:ea typeface="Yu Gothic"/>
                        </a:rPr>
                        <a:t>5.45 s</a:t>
                      </a:r>
                    </a:p>
                  </a:txBody>
                  <a:tcPr marL="64008" marR="64008" marT="27432" marB="27432" anchor="ctr">
                    <a:solidFill>
                      <a:srgbClr val="EBF6FB"/>
                    </a:solidFill>
                  </a:tcPr>
                </a:tc>
                <a:extLst>
                  <a:ext uri="{0D108BD9-81ED-4DB2-BD59-A6C34878D82A}">
                    <a16:rowId xmlns:a16="http://schemas.microsoft.com/office/drawing/2014/main" val="10002"/>
                  </a:ext>
                </a:extLst>
              </a:tr>
              <a:tr h="649224">
                <a:tc>
                  <a:txBody>
                    <a:bodyPr/>
                    <a:lstStyle/>
                    <a:p>
                      <a:pPr algn="l">
                        <a:spcAft>
                          <a:spcPts val="0"/>
                        </a:spcAft>
                      </a:pPr>
                      <a:r>
                        <a:rPr sz="2100" b="0">
                          <a:solidFill>
                            <a:srgbClr val="232B34"/>
                          </a:solidFill>
                          <a:latin typeface="Yu Gothic"/>
                          <a:ea typeface="Yu Gothic"/>
                        </a:rPr>
                        <a:t>Mean initial error after correction</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448 µrad (almost entirely nonthermal)</a:t>
                      </a:r>
                    </a:p>
                  </a:txBody>
                  <a:tcPr marL="64008" marR="64008" marT="27432" marB="27432" anchor="ctr">
                    <a:solidFill>
                      <a:srgbClr val="EBF6FB"/>
                    </a:solidFill>
                  </a:tcPr>
                </a:tc>
                <a:extLst>
                  <a:ext uri="{0D108BD9-81ED-4DB2-BD59-A6C34878D82A}">
                    <a16:rowId xmlns:a16="http://schemas.microsoft.com/office/drawing/2014/main" val="10003"/>
                  </a:ext>
                </a:extLst>
              </a:tr>
              <a:tr h="649224">
                <a:tc>
                  <a:txBody>
                    <a:bodyPr/>
                    <a:lstStyle/>
                    <a:p>
                      <a:pPr algn="l">
                        <a:spcAft>
                          <a:spcPts val="0"/>
                        </a:spcAft>
                      </a:pPr>
                      <a:r>
                        <a:rPr sz="2100" b="0">
                          <a:solidFill>
                            <a:srgbClr val="232B34"/>
                          </a:solidFill>
                          <a:latin typeface="Yu Gothic"/>
                          <a:ea typeface="Yu Gothic"/>
                        </a:rPr>
                        <a:t>PY sun face (thermal ≈1.2 mrad)</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37.3–39.5 s / 88–97%</a:t>
                      </a:r>
                    </a:p>
                  </a:txBody>
                  <a:tcPr marL="64008" marR="64008" marT="27432" marB="27432" anchor="ctr">
                    <a:solidFill>
                      <a:srgbClr val="F4F6F8"/>
                    </a:solidFill>
                  </a:tcPr>
                </a:tc>
                <a:tc>
                  <a:txBody>
                    <a:bodyPr/>
                    <a:lstStyle/>
                    <a:p>
                      <a:pPr algn="ctr">
                        <a:spcAft>
                          <a:spcPts val="0"/>
                        </a:spcAft>
                      </a:pPr>
                      <a:r>
                        <a:rPr sz="2100" b="0" dirty="0">
                          <a:solidFill>
                            <a:srgbClr val="232B34"/>
                          </a:solidFill>
                          <a:latin typeface="Yu Gothic"/>
                          <a:ea typeface="Yu Gothic"/>
                        </a:rPr>
                        <a:t>1.3–1.8 s / 100%</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1355566" y="11942141"/>
            <a:ext cx="21671280" cy="486287"/>
          </a:xfrm>
          <a:prstGeom prst="rect">
            <a:avLst/>
          </a:prstGeom>
          <a:noFill/>
        </p:spPr>
        <p:txBody>
          <a:bodyPr wrap="square" lIns="36576" tIns="27432" rIns="36576" bIns="27432" anchor="t">
            <a:spAutoFit/>
          </a:bodyPr>
          <a:lstStyle/>
          <a:p>
            <a:pPr algn="ctr"/>
            <a:r>
              <a:rPr lang="ja-JP" altLang="ja-JP" sz="2800" b="1" dirty="0"/>
              <a:t>Predicting and removing thermal error shifts the coarse-acquisition limit from thermal to nonthermal error</a:t>
            </a:r>
            <a:endParaRPr lang="ja-JP" altLang="ja-JP" sz="2800" dirty="0"/>
          </a:p>
        </p:txBody>
      </p:sp>
      <p:sp>
        <p:nvSpPr>
          <p:cNvPr id="21" name="矢印: 左カーブ 20">
            <a:extLst>
              <a:ext uri="{FF2B5EF4-FFF2-40B4-BE49-F238E27FC236}">
                <a16:creationId xmlns:a16="http://schemas.microsoft.com/office/drawing/2014/main" id="{28E82314-7B25-09DF-EB76-43768EAEE202}"/>
              </a:ext>
            </a:extLst>
          </p:cNvPr>
          <p:cNvSpPr/>
          <p:nvPr/>
        </p:nvSpPr>
        <p:spPr>
          <a:xfrm>
            <a:off x="14977872" y="4535424"/>
            <a:ext cx="540340" cy="1009507"/>
          </a:xfrm>
          <a:prstGeom prst="curvedLeftArrow">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Acquisition results</a:t>
            </a:r>
          </a:p>
        </p:txBody>
      </p:sp>
      <p:sp>
        <p:nvSpPr>
          <p:cNvPr id="3" name="TextBox 2"/>
          <p:cNvSpPr txBox="1"/>
          <p:nvPr/>
        </p:nvSpPr>
        <p:spPr>
          <a:xfrm>
            <a:off x="1536192" y="1359777"/>
            <a:ext cx="22037040" cy="1066061"/>
          </a:xfrm>
          <a:prstGeom prst="rect">
            <a:avLst/>
          </a:prstGeom>
          <a:noFill/>
        </p:spPr>
        <p:txBody>
          <a:bodyPr wrap="square" lIns="45720" tIns="18288" rIns="45720" bIns="18288" anchor="ctr">
            <a:spAutoFit/>
          </a:bodyPr>
          <a:lstStyle/>
          <a:p>
            <a:pPr algn="l">
              <a:lnSpc>
                <a:spcPct val="110000"/>
              </a:lnSpc>
              <a:spcAft>
                <a:spcPts val="0"/>
              </a:spcAft>
            </a:pPr>
            <a:endParaRPr lang="en-US" sz="3100" b="1" dirty="0">
              <a:solidFill>
                <a:srgbClr val="082B52"/>
              </a:solidFill>
              <a:latin typeface="Yu Gothic"/>
              <a:ea typeface="Yu Gothic"/>
            </a:endParaRPr>
          </a:p>
          <a:p>
            <a:pPr algn="l">
              <a:lnSpc>
                <a:spcPct val="110000"/>
              </a:lnSpc>
              <a:spcAft>
                <a:spcPts val="0"/>
              </a:spcAft>
            </a:pPr>
            <a:r>
              <a:rPr sz="3100" b="1" dirty="0" err="1">
                <a:solidFill>
                  <a:srgbClr val="082B52"/>
                </a:solidFill>
                <a:latin typeface="Yu Gothic"/>
                <a:ea typeface="Yu Gothic"/>
              </a:rPr>
              <a:t>Temperature prediction helps the first acquisition; residual updates lower the later-orbit floor</a:t>
            </a:r>
            <a:endParaRPr sz="31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21</a:t>
            </a:r>
          </a:p>
        </p:txBody>
      </p:sp>
      <p:sp>
        <p:nvSpPr>
          <p:cNvPr id="5" name="Rectangle 4"/>
          <p:cNvSpPr/>
          <p:nvPr/>
        </p:nvSpPr>
        <p:spPr>
          <a:xfrm>
            <a:off x="1005840" y="3017520"/>
            <a:ext cx="13716000" cy="69494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fig_residual_update_comparison.png"/>
          <p:cNvPicPr>
            <a:picLocks noChangeAspect="1"/>
          </p:cNvPicPr>
          <p:nvPr/>
        </p:nvPicPr>
        <p:blipFill>
          <a:blip r:embed="rId3"/>
          <a:stretch>
            <a:fillRect/>
          </a:stretch>
        </p:blipFill>
        <p:spPr>
          <a:xfrm>
            <a:off x="1143000" y="3318510"/>
            <a:ext cx="13441680" cy="6347460"/>
          </a:xfrm>
          <a:prstGeom prst="rect">
            <a:avLst/>
          </a:prstGeom>
        </p:spPr>
      </p:pic>
      <p:graphicFrame>
        <p:nvGraphicFramePr>
          <p:cNvPr id="7" name="Table 6"/>
          <p:cNvGraphicFramePr>
            <a:graphicFrameLocks noGrp="1"/>
          </p:cNvGraphicFramePr>
          <p:nvPr/>
        </p:nvGraphicFramePr>
        <p:xfrm>
          <a:off x="15270480" y="3291840"/>
          <a:ext cx="8138160" cy="3017517"/>
        </p:xfrm>
        <a:graphic>
          <a:graphicData uri="http://schemas.openxmlformats.org/drawingml/2006/table">
            <a:tbl>
              <a:tblPr firstRow="1" bandRow="1">
                <a:tableStyleId>{5C22544A-7EE6-4342-B048-85BDC9FD1C3A}</a:tableStyleId>
              </a:tblPr>
              <a:tblGrid>
                <a:gridCol w="4295140">
                  <a:extLst>
                    <a:ext uri="{9D8B030D-6E8A-4147-A177-3AD203B41FA5}">
                      <a16:colId xmlns:a16="http://schemas.microsoft.com/office/drawing/2014/main" val="20000"/>
                    </a:ext>
                  </a:extLst>
                </a:gridCol>
                <a:gridCol w="1808480">
                  <a:extLst>
                    <a:ext uri="{9D8B030D-6E8A-4147-A177-3AD203B41FA5}">
                      <a16:colId xmlns:a16="http://schemas.microsoft.com/office/drawing/2014/main" val="20001"/>
                    </a:ext>
                  </a:extLst>
                </a:gridCol>
                <a:gridCol w="2034540">
                  <a:extLst>
                    <a:ext uri="{9D8B030D-6E8A-4147-A177-3AD203B41FA5}">
                      <a16:colId xmlns:a16="http://schemas.microsoft.com/office/drawing/2014/main" val="20002"/>
                    </a:ext>
                  </a:extLst>
                </a:gridCol>
              </a:tblGrid>
              <a:tr h="1005839">
                <a:tc>
                  <a:txBody>
                    <a:bodyPr/>
                    <a:lstStyle/>
                    <a:p>
                      <a:pPr algn="l">
                        <a:spcAft>
                          <a:spcPts val="0"/>
                        </a:spcAft>
                      </a:pPr>
                      <a:r>
                        <a:rPr sz="2100" b="1">
                          <a:solidFill>
                            <a:srgbClr val="FFFFFF"/>
                          </a:solidFill>
                          <a:latin typeface="Yu Gothic"/>
                          <a:ea typeface="Yu Gothic"/>
                        </a:rPr>
                        <a:t>Case 16 (PY)</a:t>
                      </a:r>
                    </a:p>
                  </a:txBody>
                  <a:tcPr marL="128016" marR="128016" anchor="ctr">
                    <a:solidFill>
                      <a:srgbClr val="082B52"/>
                    </a:solidFill>
                  </a:tcPr>
                </a:tc>
                <a:tc>
                  <a:txBody>
                    <a:bodyPr/>
                    <a:lstStyle/>
                    <a:p>
                      <a:pPr algn="ctr">
                        <a:spcAft>
                          <a:spcPts val="0"/>
                        </a:spcAft>
                      </a:pPr>
                      <a:r>
                        <a:rPr sz="2100" b="1">
                          <a:solidFill>
                            <a:srgbClr val="FFFFFF"/>
                          </a:solidFill>
                          <a:latin typeface="Yu Gothic"/>
                          <a:ea typeface="Yu Gothic"/>
                        </a:rPr>
                        <a:t>First orbit</a:t>
                      </a:r>
                    </a:p>
                  </a:txBody>
                  <a:tcPr marL="128016" marR="128016" anchor="ctr">
                    <a:solidFill>
                      <a:srgbClr val="082B52"/>
                    </a:solidFill>
                  </a:tcPr>
                </a:tc>
                <a:tc>
                  <a:txBody>
                    <a:bodyPr/>
                    <a:lstStyle/>
                    <a:p>
                      <a:pPr algn="ctr">
                        <a:spcAft>
                          <a:spcPts val="0"/>
                        </a:spcAft>
                      </a:pPr>
                      <a:r>
                        <a:rPr sz="2100" b="1">
                          <a:solidFill>
                            <a:srgbClr val="FFFFFF"/>
                          </a:solidFill>
                          <a:latin typeface="Yu Gothic"/>
                          <a:ea typeface="Yu Gothic"/>
                        </a:rPr>
                        <a:t>Orbit 1 onward</a:t>
                      </a:r>
                    </a:p>
                  </a:txBody>
                  <a:tcPr marL="128016" marR="128016" anchor="ctr">
                    <a:solidFill>
                      <a:srgbClr val="082B52"/>
                    </a:solidFill>
                  </a:tcPr>
                </a:tc>
                <a:extLst>
                  <a:ext uri="{0D108BD9-81ED-4DB2-BD59-A6C34878D82A}">
                    <a16:rowId xmlns:a16="http://schemas.microsoft.com/office/drawing/2014/main" val="10000"/>
                  </a:ext>
                </a:extLst>
              </a:tr>
              <a:tr h="1005839">
                <a:tc>
                  <a:txBody>
                    <a:bodyPr/>
                    <a:lstStyle/>
                    <a:p>
                      <a:pPr algn="l">
                        <a:spcAft>
                          <a:spcPts val="0"/>
                        </a:spcAft>
                      </a:pPr>
                      <a:r>
                        <a:rPr sz="2100" b="0">
                          <a:solidFill>
                            <a:srgbClr val="232B34"/>
                          </a:solidFill>
                          <a:latin typeface="Yu Gothic"/>
                          <a:ea typeface="Yu Gothic"/>
                        </a:rPr>
                        <a:t>Direct Fourier fit to total error</a:t>
                      </a:r>
                    </a:p>
                  </a:txBody>
                  <a:tcPr marL="128016" marR="128016" anchor="ctr">
                    <a:solidFill>
                      <a:srgbClr val="FFFFFF"/>
                    </a:solidFill>
                  </a:tcPr>
                </a:tc>
                <a:tc>
                  <a:txBody>
                    <a:bodyPr/>
                    <a:lstStyle/>
                    <a:p>
                      <a:pPr algn="ctr">
                        <a:spcAft>
                          <a:spcPts val="0"/>
                        </a:spcAft>
                      </a:pPr>
                      <a:r>
                        <a:rPr sz="2100" b="0">
                          <a:solidFill>
                            <a:srgbClr val="232B34"/>
                          </a:solidFill>
                          <a:latin typeface="Yu Gothic"/>
                          <a:ea typeface="Yu Gothic"/>
                        </a:rPr>
                        <a:t>39.5 s</a:t>
                      </a:r>
                    </a:p>
                  </a:txBody>
                  <a:tcPr marL="128016" marR="128016" anchor="ctr">
                    <a:solidFill>
                      <a:srgbClr val="FFFFFF"/>
                    </a:solidFill>
                  </a:tcPr>
                </a:tc>
                <a:tc>
                  <a:txBody>
                    <a:bodyPr/>
                    <a:lstStyle/>
                    <a:p>
                      <a:pPr algn="ctr">
                        <a:spcAft>
                          <a:spcPts val="0"/>
                        </a:spcAft>
                      </a:pPr>
                      <a:r>
                        <a:rPr sz="21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1"/>
                  </a:ext>
                </a:extLst>
              </a:tr>
              <a:tr h="1005839">
                <a:tc>
                  <a:txBody>
                    <a:bodyPr/>
                    <a:lstStyle/>
                    <a:p>
                      <a:pPr algn="l">
                        <a:spcAft>
                          <a:spcPts val="0"/>
                        </a:spcAft>
                      </a:pPr>
                      <a:r>
                        <a:rPr sz="2100" b="0">
                          <a:solidFill>
                            <a:srgbClr val="232B34"/>
                          </a:solidFill>
                          <a:latin typeface="Yu Gothic"/>
                          <a:ea typeface="Yu Gothic"/>
                        </a:rPr>
                        <a:t>Hierarchical model + residual Fourier</a:t>
                      </a:r>
                    </a:p>
                  </a:txBody>
                  <a:tcPr marL="128016" marR="128016" anchor="ctr">
                    <a:solidFill>
                      <a:srgbClr val="F4F6F8"/>
                    </a:solidFill>
                  </a:tcPr>
                </a:tc>
                <a:tc>
                  <a:txBody>
                    <a:bodyPr/>
                    <a:lstStyle/>
                    <a:p>
                      <a:pPr algn="ctr">
                        <a:spcAft>
                          <a:spcPts val="0"/>
                        </a:spcAft>
                      </a:pPr>
                      <a:r>
                        <a:rPr sz="2100" b="0">
                          <a:solidFill>
                            <a:srgbClr val="232B34"/>
                          </a:solidFill>
                          <a:latin typeface="Yu Gothic"/>
                          <a:ea typeface="Yu Gothic"/>
                        </a:rPr>
                        <a:t>1.47 s</a:t>
                      </a:r>
                    </a:p>
                  </a:txBody>
                  <a:tcPr marL="128016" marR="128016" anchor="ctr">
                    <a:solidFill>
                      <a:srgbClr val="F4F6F8"/>
                    </a:solidFill>
                  </a:tcPr>
                </a:tc>
                <a:tc>
                  <a:txBody>
                    <a:bodyPr/>
                    <a:lstStyle/>
                    <a:p>
                      <a:pPr algn="ctr">
                        <a:spcAft>
                          <a:spcPts val="0"/>
                        </a:spcAft>
                      </a:pPr>
                      <a:r>
                        <a:rPr sz="2100" b="0">
                          <a:solidFill>
                            <a:srgbClr val="232B34"/>
                          </a:solidFill>
                          <a:latin typeface="Yu Gothic"/>
                          <a:ea typeface="Yu Gothic"/>
                        </a:rPr>
                        <a:t>0.40 s</a:t>
                      </a:r>
                    </a:p>
                  </a:txBody>
                  <a:tcPr marL="128016" marR="128016" anchor="ctr">
                    <a:solidFill>
                      <a:srgbClr val="EBF6FB"/>
                    </a:solidFill>
                  </a:tcPr>
                </a:tc>
                <a:extLst>
                  <a:ext uri="{0D108BD9-81ED-4DB2-BD59-A6C34878D82A}">
                    <a16:rowId xmlns:a16="http://schemas.microsoft.com/office/drawing/2014/main" val="10002"/>
                  </a:ext>
                </a:extLst>
              </a:tr>
            </a:tbl>
          </a:graphicData>
        </a:graphic>
      </p:graphicFrame>
      <p:sp>
        <p:nvSpPr>
          <p:cNvPr id="8" name="Rounded Rectangle 7"/>
          <p:cNvSpPr/>
          <p:nvPr/>
        </p:nvSpPr>
        <p:spPr>
          <a:xfrm>
            <a:off x="15270480" y="6675120"/>
            <a:ext cx="813816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471647" y="6967728"/>
            <a:ext cx="7735824" cy="640080"/>
          </a:xfrm>
          <a:prstGeom prst="rect">
            <a:avLst/>
          </a:prstGeom>
          <a:noFill/>
        </p:spPr>
        <p:txBody>
          <a:bodyPr wrap="square" lIns="45720" tIns="18288" rIns="45720" bIns="18288" anchor="t">
            <a:spAutoFit/>
          </a:bodyPr>
          <a:lstStyle/>
          <a:p>
            <a:pPr algn="ctr">
              <a:spcAft>
                <a:spcPts val="0"/>
              </a:spcAft>
            </a:pPr>
            <a:r>
              <a:rPr sz="2400" b="1">
                <a:solidFill>
                  <a:srgbClr val="EC9427"/>
                </a:solidFill>
                <a:latin typeface="Yu Gothic"/>
                <a:ea typeface="Yu Gothic"/>
              </a:rPr>
              <a:t>A constant residual update is insufficient</a:t>
            </a:r>
          </a:p>
        </p:txBody>
      </p:sp>
      <p:sp>
        <p:nvSpPr>
          <p:cNvPr id="10" name="TextBox 9"/>
          <p:cNvSpPr txBox="1"/>
          <p:nvPr/>
        </p:nvSpPr>
        <p:spPr>
          <a:xfrm>
            <a:off x="15544800" y="7726679"/>
            <a:ext cx="7589520" cy="123444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Case 13, orbit 1 onward: 1.66 → 1.35 s;
above the 0.38 s Fourier result.</a:t>
            </a:r>
          </a:p>
        </p:txBody>
      </p:sp>
      <p:sp>
        <p:nvSpPr>
          <p:cNvPr id="11" name="Rounded Rectangle 10"/>
          <p:cNvSpPr/>
          <p:nvPr/>
        </p:nvSpPr>
        <p:spPr>
          <a:xfrm>
            <a:off x="15270480" y="9418320"/>
            <a:ext cx="8138160" cy="2743200"/>
          </a:xfrm>
          <a:prstGeom prst="roundRect">
            <a:avLst/>
          </a:prstGeom>
          <a:solidFill>
            <a:srgbClr val="F4F6F8"/>
          </a:solidFill>
          <a:ln w="22860">
            <a:solidFill>
              <a:srgbClr val="666F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471647" y="9710928"/>
            <a:ext cx="7735824" cy="640080"/>
          </a:xfrm>
          <a:prstGeom prst="rect">
            <a:avLst/>
          </a:prstGeom>
          <a:noFill/>
        </p:spPr>
        <p:txBody>
          <a:bodyPr wrap="square" lIns="45720" tIns="18288" rIns="45720" bIns="18288" anchor="t">
            <a:spAutoFit/>
          </a:bodyPr>
          <a:lstStyle/>
          <a:p>
            <a:pPr algn="ctr">
              <a:spcAft>
                <a:spcPts val="0"/>
              </a:spcAft>
            </a:pPr>
            <a:r>
              <a:rPr sz="2400" b="1">
                <a:solidFill>
                  <a:srgbClr val="666F79"/>
                </a:solidFill>
                <a:latin typeface="Yu Gothic"/>
                <a:ea typeface="Yu Gothic"/>
              </a:rPr>
              <a:t>Scope of this section</a:t>
            </a:r>
          </a:p>
        </p:txBody>
      </p:sp>
      <p:sp>
        <p:nvSpPr>
          <p:cNvPr id="13" name="TextBox 12"/>
          <p:cNvSpPr txBox="1"/>
          <p:nvPr/>
        </p:nvSpPr>
        <p:spPr>
          <a:xfrm>
            <a:off x="15544800" y="10469880"/>
            <a:ext cx="7589520" cy="1508760"/>
          </a:xfrm>
          <a:prstGeom prst="rect">
            <a:avLst/>
          </a:prstGeom>
          <a:noFill/>
        </p:spPr>
        <p:txBody>
          <a:bodyPr wrap="square" lIns="45720" tIns="18288" rIns="45720" bIns="18288" anchor="t">
            <a:spAutoFit/>
          </a:bodyPr>
          <a:lstStyle/>
          <a:p>
            <a:pPr algn="ctr">
              <a:lnSpc>
                <a:spcPct val="115000"/>
              </a:lnSpc>
              <a:spcAft>
                <a:spcPts val="0"/>
              </a:spcAft>
            </a:pPr>
            <a:r>
              <a:rPr sz="2100" b="0">
                <a:solidFill>
                  <a:srgbClr val="232B34"/>
                </a:solidFill>
                <a:latin typeface="Yu Gothic"/>
                <a:ea typeface="Yu Gothic"/>
              </a:rPr>
              <a:t>Thermal-model coefficients are fixed.
Preliminary update of total pointing residual
after acquisition (two cases, dense sampling).</a:t>
            </a:r>
          </a:p>
        </p:txBody>
      </p:sp>
      <p:sp>
        <p:nvSpPr>
          <p:cNvPr id="14" name="TextBox 13"/>
          <p:cNvSpPr txBox="1"/>
          <p:nvPr/>
        </p:nvSpPr>
        <p:spPr>
          <a:xfrm>
            <a:off x="1005840" y="10241280"/>
            <a:ext cx="13716000" cy="1280160"/>
          </a:xfrm>
          <a:prstGeom prst="rect">
            <a:avLst/>
          </a:prstGeom>
          <a:noFill/>
        </p:spPr>
        <p:txBody>
          <a:bodyPr wrap="square" lIns="45720" tIns="18288" rIns="45720" bIns="18288" anchor="t">
            <a:spAutoFit/>
          </a:bodyPr>
          <a:lstStyle/>
          <a:p>
            <a:pPr algn="ctr">
              <a:lnSpc>
                <a:spcPct val="125000"/>
              </a:lnSpc>
              <a:spcAft>
                <a:spcPts val="0"/>
              </a:spcAft>
            </a:pPr>
            <a:r>
              <a:rPr sz="2400" b="1">
                <a:solidFill>
                  <a:srgbClr val="082B52"/>
                </a:solidFill>
                <a:latin typeface="Yu Gothic"/>
                <a:ea typeface="Yu Gothic"/>
              </a:rPr>
              <a:t>Primary result: temperature/operating-state feedforward.</a:t>
            </a:r>
          </a:p>
          <a:p>
            <a:pPr algn="ctr">
              <a:lnSpc>
                <a:spcPct val="125000"/>
              </a:lnSpc>
              <a:spcAft>
                <a:spcPts val="0"/>
              </a:spcAft>
            </a:pPr>
            <a:r>
              <a:rPr sz="2400" b="1">
                <a:solidFill>
                  <a:srgbClr val="082B52"/>
                </a:solidFill>
                <a:latin typeface="Yu Gothic"/>
                <a:ea typeface="Yu Gothic"/>
              </a:rPr>
              <a:t>Repeated links may reduce the floor further.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38D44-44E7-1D35-DF49-7E9A67BF43C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6B23DBD-4FCD-AFBE-4A56-E60FA5CE313B}"/>
              </a:ext>
            </a:extLst>
          </p:cNvPr>
          <p:cNvSpPr>
            <a:spLocks noGrp="1"/>
          </p:cNvSpPr>
          <p:nvPr>
            <p:ph type="title"/>
          </p:nvPr>
        </p:nvSpPr>
        <p:spPr/>
        <p:txBody>
          <a:bodyPr>
            <a:normAutofit/>
          </a:bodyPr>
          <a:lstStyle/>
          <a:p>
            <a:r>
              <a:rPr sz="4800" b="0" dirty="0">
                <a:solidFill>
                  <a:srgbClr val="FFFFFF"/>
                </a:solidFill>
                <a:latin typeface="Arial" panose="020B0604020202020204" pitchFamily="34" charset="0"/>
                <a:cs typeface="Arial" panose="020B0604020202020204" pitchFamily="34" charset="0"/>
              </a:rPr>
              <a:t>0</a:t>
            </a:r>
            <a:r>
              <a:rPr lang="en-US" sz="4800" b="0" dirty="0">
                <a:solidFill>
                  <a:srgbClr val="FFFFFF"/>
                </a:solidFill>
                <a:latin typeface="Arial" panose="020B0604020202020204" pitchFamily="34" charset="0"/>
                <a:cs typeface="Arial" panose="020B0604020202020204" pitchFamily="34" charset="0"/>
              </a:rPr>
              <a:t>5</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B6C81B3B-32B3-6E91-EB2F-1BBE2C1FC4D0}"/>
              </a:ext>
            </a:extLst>
          </p:cNvPr>
          <p:cNvSpPr>
            <a:spLocks noGrp="1"/>
          </p:cNvSpPr>
          <p:nvPr>
            <p:ph type="body" idx="1"/>
          </p:nvPr>
        </p:nvSpPr>
        <p:spPr/>
        <p:txBody>
          <a:bodyPr>
            <a:normAutofit/>
          </a:bodyPr>
          <a:lstStyle/>
          <a:p>
            <a:r>
              <a:rPr lang="en-US" altLang="ja-JP" sz="4800" b="1" dirty="0">
                <a:solidFill>
                  <a:srgbClr val="FFFFFF"/>
                </a:solidFill>
                <a:latin typeface="+mj-lt"/>
                <a:cs typeface="Arial" panose="020B0604020202020204" pitchFamily="34" charset="0"/>
              </a:rPr>
              <a:t>Summary</a:t>
            </a:r>
            <a:endParaRPr sz="4800" b="1" dirty="0">
              <a:solidFill>
                <a:srgbClr val="FFFFFF"/>
              </a:solidFill>
              <a:latin typeface="+mj-lt"/>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76D45131-146B-385A-3BE7-7F628CA9DF9C}"/>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8108146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Summary</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Yu Gothic"/>
              <a:ea typeface="Yu Gothic"/>
            </a:endParaRPr>
          </a:p>
          <a:p>
            <a:pPr algn="l">
              <a:lnSpc>
                <a:spcPct val="110000"/>
              </a:lnSpc>
              <a:spcAft>
                <a:spcPts val="0"/>
              </a:spcAft>
            </a:pPr>
            <a:r>
              <a:rPr lang="en-US" sz="3200" b="1" dirty="0">
                <a:solidFill>
                  <a:srgbClr val="082B52"/>
                </a:solidFill>
                <a:latin typeface="Yu Gothic"/>
                <a:ea typeface="Yu Gothic"/>
              </a:rPr>
              <a:t>Contribution</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23</a:t>
            </a:r>
          </a:p>
        </p:txBody>
      </p:sp>
      <p:sp>
        <p:nvSpPr>
          <p:cNvPr id="5" name="Rounded Rectangle 4"/>
          <p:cNvSpPr/>
          <p:nvPr/>
        </p:nvSpPr>
        <p:spPr>
          <a:xfrm>
            <a:off x="2643808" y="3383280"/>
            <a:ext cx="9229345" cy="283464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984927" y="3785133"/>
            <a:ext cx="6547104" cy="1417320"/>
          </a:xfrm>
          <a:prstGeom prst="rect">
            <a:avLst/>
          </a:prstGeom>
          <a:noFill/>
        </p:spPr>
        <p:txBody>
          <a:bodyPr wrap="square" lIns="45720" tIns="18288" rIns="45720" bIns="18288" anchor="t">
            <a:spAutoFit/>
          </a:bodyPr>
          <a:lstStyle/>
          <a:p>
            <a:pPr algn="ctr">
              <a:spcAft>
                <a:spcPts val="0"/>
              </a:spcAft>
            </a:pPr>
            <a:r>
              <a:rPr sz="4000" b="1" dirty="0">
                <a:solidFill>
                  <a:srgbClr val="1B74AA"/>
                </a:solidFill>
                <a:latin typeface="Yu Gothic"/>
                <a:ea typeface="Yu Gothic"/>
              </a:rPr>
              <a:t>4.9 µrad</a:t>
            </a:r>
          </a:p>
        </p:txBody>
      </p:sp>
      <p:sp>
        <p:nvSpPr>
          <p:cNvPr id="7" name="TextBox 6"/>
          <p:cNvSpPr txBox="1"/>
          <p:nvPr/>
        </p:nvSpPr>
        <p:spPr>
          <a:xfrm>
            <a:off x="3248764" y="5013078"/>
            <a:ext cx="8019431" cy="1057405"/>
          </a:xfrm>
          <a:prstGeom prst="rect">
            <a:avLst/>
          </a:prstGeom>
          <a:noFill/>
        </p:spPr>
        <p:txBody>
          <a:bodyPr wrap="square" lIns="45720" tIns="18288" rIns="45720" bIns="18288" anchor="t">
            <a:spAutoFit/>
          </a:bodyPr>
          <a:lstStyle/>
          <a:p>
            <a:pPr algn="ctr">
              <a:lnSpc>
                <a:spcPct val="105000"/>
              </a:lnSpc>
              <a:spcAft>
                <a:spcPts val="0"/>
              </a:spcAft>
            </a:pPr>
            <a:r>
              <a:rPr sz="3200" b="0" dirty="0" err="1">
                <a:latin typeface="Yu Gothic"/>
                <a:ea typeface="Yu Gothic"/>
              </a:rPr>
              <a:t>Median corrected dominant-axis RMSE
(raw median: 615 µrad)</a:t>
            </a:r>
          </a:p>
        </p:txBody>
      </p:sp>
      <p:sp>
        <p:nvSpPr>
          <p:cNvPr id="11" name="Rounded Rectangle 10"/>
          <p:cNvSpPr/>
          <p:nvPr/>
        </p:nvSpPr>
        <p:spPr>
          <a:xfrm>
            <a:off x="12145617" y="3383280"/>
            <a:ext cx="9229345" cy="283464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3530993" y="3786565"/>
            <a:ext cx="6547104" cy="652486"/>
          </a:xfrm>
          <a:prstGeom prst="rect">
            <a:avLst/>
          </a:prstGeom>
          <a:noFill/>
        </p:spPr>
        <p:txBody>
          <a:bodyPr wrap="square" lIns="45720" tIns="18288" rIns="45720" bIns="18288" anchor="t">
            <a:spAutoFit/>
          </a:bodyPr>
          <a:lstStyle/>
          <a:p>
            <a:pPr algn="ctr">
              <a:spcAft>
                <a:spcPts val="0"/>
              </a:spcAft>
            </a:pPr>
            <a:r>
              <a:rPr sz="4000" b="1" dirty="0">
                <a:solidFill>
                  <a:srgbClr val="EC9427"/>
                </a:solidFill>
                <a:latin typeface="Yu Gothic"/>
                <a:ea typeface="Yu Gothic"/>
              </a:rPr>
              <a:t>19.2 → 5.45 s</a:t>
            </a:r>
          </a:p>
        </p:txBody>
      </p:sp>
      <p:sp>
        <p:nvSpPr>
          <p:cNvPr id="13" name="TextBox 12"/>
          <p:cNvSpPr txBox="1"/>
          <p:nvPr/>
        </p:nvSpPr>
        <p:spPr>
          <a:xfrm>
            <a:off x="12408669" y="5013077"/>
            <a:ext cx="8703240" cy="1057405"/>
          </a:xfrm>
          <a:prstGeom prst="rect">
            <a:avLst/>
          </a:prstGeom>
          <a:noFill/>
        </p:spPr>
        <p:txBody>
          <a:bodyPr wrap="square" lIns="45720" tIns="18288" rIns="45720" bIns="18288" anchor="t">
            <a:spAutoFit/>
          </a:bodyPr>
          <a:lstStyle/>
          <a:p>
            <a:pPr algn="ctr">
              <a:lnSpc>
                <a:spcPct val="105000"/>
              </a:lnSpc>
              <a:spcAft>
                <a:spcPts val="0"/>
              </a:spcAft>
            </a:pPr>
            <a:r>
              <a:rPr sz="3200" b="0" dirty="0">
                <a:latin typeface="Yu Gothic"/>
                <a:ea typeface="Yu Gothic"/>
              </a:rPr>
              <a:t>Mean acquisition time with nonthermal error
Success rate: 98% → 100%</a:t>
            </a:r>
          </a:p>
        </p:txBody>
      </p:sp>
      <p:sp>
        <p:nvSpPr>
          <p:cNvPr id="14" name="Rounded Rectangle 13"/>
          <p:cNvSpPr/>
          <p:nvPr/>
        </p:nvSpPr>
        <p:spPr>
          <a:xfrm>
            <a:off x="2643808" y="6949440"/>
            <a:ext cx="18731154" cy="5423358"/>
          </a:xfrm>
          <a:prstGeom prst="roundRect">
            <a:avLst/>
          </a:prstGeom>
          <a:solidFill>
            <a:srgbClr val="FFFFFF"/>
          </a:solidFill>
          <a:ln w="22860">
            <a:solidFill>
              <a:srgbClr val="082B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248764" y="7445006"/>
            <a:ext cx="16177216" cy="5161413"/>
          </a:xfrm>
          <a:prstGeom prst="rect">
            <a:avLst/>
          </a:prstGeom>
          <a:noFill/>
        </p:spPr>
        <p:txBody>
          <a:bodyPr wrap="square" lIns="45720" tIns="18288" rIns="45720" bIns="18288" anchor="t">
            <a:spAutoFit/>
          </a:bodyPr>
          <a:lstStyle/>
          <a:p>
            <a:pPr>
              <a:lnSpc>
                <a:spcPct val="125000"/>
              </a:lnSpc>
              <a:spcAft>
                <a:spcPts val="0"/>
              </a:spcAft>
            </a:pPr>
            <a:r>
              <a:rPr lang="en-US" sz="4000" dirty="0">
                <a:solidFill>
                  <a:srgbClr val="082B52"/>
                </a:solidFill>
                <a:latin typeface="Yu Gothic"/>
                <a:ea typeface="Yu Gothic"/>
              </a:rPr>
              <a:t>Results: </a:t>
            </a:r>
          </a:p>
          <a:p>
            <a:pPr>
              <a:lnSpc>
                <a:spcPct val="125000"/>
              </a:lnSpc>
              <a:spcAft>
                <a:spcPts val="0"/>
              </a:spcAft>
            </a:pPr>
            <a:r>
              <a:rPr sz="3600" b="1" dirty="0">
                <a:solidFill>
                  <a:srgbClr val="082B52"/>
                </a:solidFill>
                <a:latin typeface="Yu Gothic"/>
                <a:ea typeface="Yu Gothic"/>
              </a:rPr>
              <a:t>For the evaluated box bus, the method can shorten pre-feedback link establishment.</a:t>
            </a:r>
            <a:endParaRPr lang="en-US" sz="3600" b="1" dirty="0">
              <a:solidFill>
                <a:srgbClr val="082B52"/>
              </a:solidFill>
              <a:latin typeface="Yu Gothic"/>
              <a:ea typeface="Yu Gothic"/>
            </a:endParaRPr>
          </a:p>
          <a:p>
            <a:pPr>
              <a:lnSpc>
                <a:spcPct val="125000"/>
              </a:lnSpc>
              <a:spcAft>
                <a:spcPts val="0"/>
              </a:spcAft>
            </a:pPr>
            <a:endParaRPr sz="3600" b="1" dirty="0">
              <a:solidFill>
                <a:srgbClr val="082B52"/>
              </a:solidFill>
              <a:latin typeface="Yu Gothic"/>
              <a:ea typeface="Yu Gothic"/>
            </a:endParaRPr>
          </a:p>
          <a:p>
            <a:r>
              <a:rPr lang="ja-JP" altLang="ja-JP" sz="4000" dirty="0"/>
              <a:t>Contributions: </a:t>
            </a:r>
            <a:endParaRPr lang="en-US" altLang="ja-JP" sz="4000" dirty="0"/>
          </a:p>
          <a:p>
            <a:r>
              <a:rPr lang="ja-JP" altLang="ja-JP" sz="3600" b="1" dirty="0"/>
              <a:t>STT–LCT relative LOS, cross-condition coefficient sharing, and connection to coarse-acquisition performance.</a:t>
            </a:r>
            <a:endParaRPr lang="en-US" altLang="ja-JP" sz="3600" b="1" dirty="0"/>
          </a:p>
          <a:p>
            <a:endParaRPr lang="en-US" altLang="ja-JP" sz="3600" b="1"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Summary</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altLang="ja-JP" sz="3200" b="1" dirty="0">
              <a:solidFill>
                <a:srgbClr val="082B52"/>
              </a:solidFill>
              <a:latin typeface="Yu Gothic"/>
              <a:ea typeface="Yu Gothic"/>
            </a:endParaRPr>
          </a:p>
          <a:p>
            <a:pPr algn="l">
              <a:lnSpc>
                <a:spcPct val="110000"/>
              </a:lnSpc>
              <a:spcAft>
                <a:spcPts val="0"/>
              </a:spcAft>
            </a:pPr>
            <a:r>
              <a:rPr lang="ja-JP" altLang="en-US" sz="3200" b="1" dirty="0">
                <a:solidFill>
                  <a:srgbClr val="082B52"/>
                </a:solidFill>
                <a:latin typeface="Yu Gothic"/>
                <a:ea typeface="Yu Gothic"/>
              </a:rPr>
              <a:t>Limitations of this study ＆ </a:t>
            </a:r>
            <a:r>
              <a:rPr lang="en-US" altLang="ja-JP" sz="3200" b="1" dirty="0">
                <a:solidFill>
                  <a:srgbClr val="082B52"/>
                </a:solidFill>
                <a:latin typeface="Yu Gothic"/>
                <a:ea typeface="Yu Gothic"/>
              </a:rPr>
              <a:t>Future work</a:t>
            </a:r>
            <a:endParaRPr sz="3200" b="1" dirty="0">
              <a:solidFill>
                <a:srgbClr val="082B52"/>
              </a:solidFill>
              <a:latin typeface="Yu Gothic"/>
              <a:ea typeface="Yu Gothic"/>
            </a:endParaRP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22</a:t>
            </a:r>
          </a:p>
        </p:txBody>
      </p:sp>
      <p:sp>
        <p:nvSpPr>
          <p:cNvPr id="5" name="Rounded Rectangle 4"/>
          <p:cNvSpPr/>
          <p:nvPr/>
        </p:nvSpPr>
        <p:spPr>
          <a:xfrm>
            <a:off x="1280160" y="3200400"/>
            <a:ext cx="10698480" cy="33832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481328" y="3493008"/>
            <a:ext cx="10296144" cy="437043"/>
          </a:xfrm>
          <a:prstGeom prst="rect">
            <a:avLst/>
          </a:prstGeom>
          <a:noFill/>
        </p:spPr>
        <p:txBody>
          <a:bodyPr wrap="square" lIns="45720" tIns="18288" rIns="45720" bIns="18288" anchor="t">
            <a:spAutoFit/>
          </a:bodyPr>
          <a:lstStyle/>
          <a:p>
            <a:pPr algn="l">
              <a:spcAft>
                <a:spcPts val="0"/>
              </a:spcAft>
            </a:pPr>
            <a:r>
              <a:rPr lang="ja-JP" altLang="en-US" sz="2600" b="1" dirty="0">
                <a:solidFill>
                  <a:srgbClr val="1B74AA"/>
                </a:solidFill>
                <a:latin typeface="Yu Gothic"/>
                <a:ea typeface="Yu Gothic"/>
              </a:rPr>
              <a:t>Validation scope</a:t>
            </a:r>
            <a:endParaRPr sz="2600" b="1" dirty="0">
              <a:solidFill>
                <a:srgbClr val="1B74AA"/>
              </a:solidFill>
              <a:latin typeface="Yu Gothic"/>
              <a:ea typeface="Yu Gothic"/>
            </a:endParaRPr>
          </a:p>
        </p:txBody>
      </p:sp>
      <p:sp>
        <p:nvSpPr>
          <p:cNvPr id="7" name="TextBox 6"/>
          <p:cNvSpPr txBox="1"/>
          <p:nvPr/>
        </p:nvSpPr>
        <p:spPr>
          <a:xfrm>
            <a:off x="1554480" y="4343400"/>
            <a:ext cx="10149840" cy="509755"/>
          </a:xfrm>
          <a:prstGeom prst="rect">
            <a:avLst/>
          </a:prstGeom>
          <a:noFill/>
        </p:spPr>
        <p:txBody>
          <a:bodyPr wrap="square" lIns="45720" tIns="18288" rIns="45720" bIns="18288" anchor="t">
            <a:spAutoFit/>
          </a:bodyPr>
          <a:lstStyle/>
          <a:p>
            <a:pPr algn="l">
              <a:lnSpc>
                <a:spcPct val="115000"/>
              </a:lnSpc>
              <a:spcAft>
                <a:spcPts val="0"/>
              </a:spcAft>
            </a:pPr>
            <a:r>
              <a:rPr lang="ja-JP" altLang="en-US" sz="2800" dirty="0">
                <a:solidFill>
                  <a:srgbClr val="232B34"/>
                </a:solidFill>
                <a:latin typeface="Yu Gothic"/>
                <a:ea typeface="Yu Gothic"/>
              </a:rPr>
              <a:t>Numerical evaluation: same structure and LOS definition</a:t>
            </a:r>
            <a:endParaRPr sz="2800" b="0" dirty="0">
              <a:solidFill>
                <a:srgbClr val="232B34"/>
              </a:solidFill>
              <a:latin typeface="Yu Gothic"/>
              <a:ea typeface="Yu Gothic"/>
            </a:endParaRPr>
          </a:p>
        </p:txBody>
      </p:sp>
      <p:sp>
        <p:nvSpPr>
          <p:cNvPr id="8" name="Rounded Rectangle 7"/>
          <p:cNvSpPr/>
          <p:nvPr/>
        </p:nvSpPr>
        <p:spPr>
          <a:xfrm>
            <a:off x="12618720" y="3200400"/>
            <a:ext cx="10698480" cy="33832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2819888" y="3493008"/>
            <a:ext cx="10296144" cy="437043"/>
          </a:xfrm>
          <a:prstGeom prst="rect">
            <a:avLst/>
          </a:prstGeom>
          <a:noFill/>
        </p:spPr>
        <p:txBody>
          <a:bodyPr wrap="square" lIns="45720" tIns="18288" rIns="45720" bIns="18288" anchor="t">
            <a:spAutoFit/>
          </a:bodyPr>
          <a:lstStyle/>
          <a:p>
            <a:pPr algn="l">
              <a:spcAft>
                <a:spcPts val="0"/>
              </a:spcAft>
            </a:pPr>
            <a:r>
              <a:rPr lang="ja-JP" altLang="en-US" sz="2600" b="1" dirty="0">
                <a:solidFill>
                  <a:srgbClr val="EC9427"/>
                </a:solidFill>
                <a:latin typeface="Yu Gothic"/>
                <a:ea typeface="Yu Gothic"/>
              </a:rPr>
              <a:t>Model applicability</a:t>
            </a:r>
            <a:endParaRPr sz="2600" b="1" dirty="0">
              <a:solidFill>
                <a:srgbClr val="EC9427"/>
              </a:solidFill>
              <a:latin typeface="Yu Gothic"/>
              <a:ea typeface="Yu Gothic"/>
            </a:endParaRPr>
          </a:p>
        </p:txBody>
      </p:sp>
      <p:sp>
        <p:nvSpPr>
          <p:cNvPr id="10" name="TextBox 9"/>
          <p:cNvSpPr txBox="1"/>
          <p:nvPr/>
        </p:nvSpPr>
        <p:spPr>
          <a:xfrm>
            <a:off x="12893040" y="4343400"/>
            <a:ext cx="10149840" cy="898708"/>
          </a:xfrm>
          <a:prstGeom prst="rect">
            <a:avLst/>
          </a:prstGeom>
          <a:noFill/>
        </p:spPr>
        <p:txBody>
          <a:bodyPr wrap="square" lIns="45720" tIns="18288" rIns="45720" bIns="18288" anchor="t">
            <a:spAutoFit/>
          </a:bodyPr>
          <a:lstStyle/>
          <a:p>
            <a:r>
              <a:rPr lang="ja-JP" altLang="ja-JP" sz="2800" dirty="0"/>
              <a:t>No ground test; flight relevance of the analysis model and sensitivities remains unvalidated</a:t>
            </a:r>
          </a:p>
        </p:txBody>
      </p:sp>
      <p:sp>
        <p:nvSpPr>
          <p:cNvPr id="11" name="Rounded Rectangle 10"/>
          <p:cNvSpPr/>
          <p:nvPr/>
        </p:nvSpPr>
        <p:spPr>
          <a:xfrm>
            <a:off x="1280160" y="7040880"/>
            <a:ext cx="10698480" cy="33832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481328" y="7333488"/>
            <a:ext cx="10296144" cy="437043"/>
          </a:xfrm>
          <a:prstGeom prst="rect">
            <a:avLst/>
          </a:prstGeom>
          <a:noFill/>
        </p:spPr>
        <p:txBody>
          <a:bodyPr wrap="square" lIns="45720" tIns="18288" rIns="45720" bIns="18288" anchor="t">
            <a:spAutoFit/>
          </a:bodyPr>
          <a:lstStyle/>
          <a:p>
            <a:pPr algn="l">
              <a:spcAft>
                <a:spcPts val="0"/>
              </a:spcAft>
            </a:pPr>
            <a:r>
              <a:rPr lang="en-US" altLang="ja-JP" sz="2600" b="1" dirty="0">
                <a:solidFill>
                  <a:srgbClr val="D03B46"/>
                </a:solidFill>
                <a:latin typeface="Yu Gothic"/>
                <a:ea typeface="Yu Gothic"/>
              </a:rPr>
              <a:t>LOS extraction</a:t>
            </a:r>
            <a:endParaRPr sz="2600" b="1" dirty="0">
              <a:solidFill>
                <a:srgbClr val="D03B46"/>
              </a:solidFill>
              <a:latin typeface="Yu Gothic"/>
              <a:ea typeface="Yu Gothic"/>
            </a:endParaRPr>
          </a:p>
        </p:txBody>
      </p:sp>
      <p:sp>
        <p:nvSpPr>
          <p:cNvPr id="13" name="TextBox 12"/>
          <p:cNvSpPr txBox="1"/>
          <p:nvPr/>
        </p:nvSpPr>
        <p:spPr>
          <a:xfrm>
            <a:off x="1554480" y="8183879"/>
            <a:ext cx="10149840" cy="1005275"/>
          </a:xfrm>
          <a:prstGeom prst="rect">
            <a:avLst/>
          </a:prstGeom>
          <a:noFill/>
        </p:spPr>
        <p:txBody>
          <a:bodyPr wrap="square" lIns="45720" tIns="18288" rIns="45720" bIns="18288" anchor="t">
            <a:spAutoFit/>
          </a:bodyPr>
          <a:lstStyle/>
          <a:p>
            <a:pPr algn="l">
              <a:lnSpc>
                <a:spcPct val="115000"/>
              </a:lnSpc>
              <a:spcAft>
                <a:spcPts val="0"/>
              </a:spcAft>
            </a:pPr>
            <a:r>
              <a:rPr lang="ja-JP" altLang="en-US" sz="2800" dirty="0">
                <a:solidFill>
                  <a:srgbClr val="232B34"/>
                </a:solidFill>
                <a:latin typeface="Yu Gothic"/>
                <a:ea typeface="Yu Gothic"/>
              </a:rPr>
              <a:t>Representative-node rotations; no interface rigid-body fit or internal STT/LCT deformation</a:t>
            </a:r>
            <a:endParaRPr sz="2800" b="0" dirty="0">
              <a:solidFill>
                <a:srgbClr val="232B34"/>
              </a:solidFill>
              <a:latin typeface="Yu Gothic"/>
              <a:ea typeface="Yu Gothic"/>
            </a:endParaRPr>
          </a:p>
        </p:txBody>
      </p:sp>
      <p:sp>
        <p:nvSpPr>
          <p:cNvPr id="14" name="Rounded Rectangle 13"/>
          <p:cNvSpPr/>
          <p:nvPr/>
        </p:nvSpPr>
        <p:spPr>
          <a:xfrm>
            <a:off x="12618720" y="7040880"/>
            <a:ext cx="10698480" cy="33832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2819888" y="7333488"/>
            <a:ext cx="10296144" cy="437043"/>
          </a:xfrm>
          <a:prstGeom prst="rect">
            <a:avLst/>
          </a:prstGeom>
          <a:noFill/>
        </p:spPr>
        <p:txBody>
          <a:bodyPr wrap="square" lIns="45720" tIns="18288" rIns="45720" bIns="18288" anchor="t">
            <a:spAutoFit/>
          </a:bodyPr>
          <a:lstStyle/>
          <a:p>
            <a:pPr algn="l">
              <a:spcAft>
                <a:spcPts val="0"/>
              </a:spcAft>
            </a:pPr>
            <a:r>
              <a:rPr sz="2600" b="1" dirty="0" err="1">
                <a:solidFill>
                  <a:srgbClr val="239571"/>
                </a:solidFill>
                <a:latin typeface="Yu Gothic"/>
                <a:ea typeface="Yu Gothic"/>
              </a:rPr>
              <a:t>Acquisition evaluation</a:t>
            </a:r>
            <a:endParaRPr sz="2600" b="1" dirty="0">
              <a:solidFill>
                <a:srgbClr val="239571"/>
              </a:solidFill>
              <a:latin typeface="Yu Gothic"/>
              <a:ea typeface="Yu Gothic"/>
            </a:endParaRPr>
          </a:p>
        </p:txBody>
      </p:sp>
      <p:sp>
        <p:nvSpPr>
          <p:cNvPr id="16" name="TextBox 15"/>
          <p:cNvSpPr txBox="1"/>
          <p:nvPr/>
        </p:nvSpPr>
        <p:spPr>
          <a:xfrm>
            <a:off x="12893040" y="8183879"/>
            <a:ext cx="10149840" cy="467820"/>
          </a:xfrm>
          <a:prstGeom prst="rect">
            <a:avLst/>
          </a:prstGeom>
          <a:noFill/>
        </p:spPr>
        <p:txBody>
          <a:bodyPr wrap="square" lIns="45720" tIns="18288" rIns="45720" bIns="18288" anchor="t">
            <a:spAutoFit/>
          </a:bodyPr>
          <a:lstStyle/>
          <a:p>
            <a:pPr>
              <a:lnSpc>
                <a:spcPct val="100000"/>
              </a:lnSpc>
            </a:pPr>
            <a:r>
              <a:rPr lang="ja-JP" altLang="ja-JP" sz="2800" dirty="0"/>
              <a:t>One nonthermal seed; simplified scan dynamics</a:t>
            </a:r>
          </a:p>
        </p:txBody>
      </p:sp>
      <p:sp>
        <p:nvSpPr>
          <p:cNvPr id="18" name="テキスト ボックス 17">
            <a:extLst>
              <a:ext uri="{FF2B5EF4-FFF2-40B4-BE49-F238E27FC236}">
                <a16:creationId xmlns:a16="http://schemas.microsoft.com/office/drawing/2014/main" id="{3FC9870B-A7FE-DBB8-0818-43EE04DF3B1F}"/>
              </a:ext>
            </a:extLst>
          </p:cNvPr>
          <p:cNvSpPr txBox="1"/>
          <p:nvPr/>
        </p:nvSpPr>
        <p:spPr>
          <a:xfrm>
            <a:off x="4986842" y="10480233"/>
            <a:ext cx="14408727" cy="954107"/>
          </a:xfrm>
          <a:prstGeom prst="rect">
            <a:avLst/>
          </a:prstGeom>
          <a:noFill/>
        </p:spPr>
        <p:txBody>
          <a:bodyPr wrap="square">
            <a:spAutoFit/>
          </a:bodyPr>
          <a:lstStyle/>
          <a:p>
            <a:pPr algn="ctr"/>
            <a:r>
              <a:rPr lang="en-US" altLang="ja-JP" sz="2800" b="1" dirty="0"/>
              <a:t>Future Work: </a:t>
            </a:r>
            <a:r>
              <a:rPr lang="ja-JP" altLang="ja-JP" sz="2800" b="1" dirty="0"/>
              <a:t>ground-test validation, coefficient re-identification for real spacecraft,</a:t>
            </a:r>
            <a:endParaRPr lang="en-US" altLang="ja-JP" sz="2800" b="1" dirty="0"/>
          </a:p>
          <a:p>
            <a:pPr algn="ctr"/>
            <a:r>
              <a:rPr lang="ja-JP" altLang="ja-JP" sz="2800" b="1" dirty="0"/>
              <a:t> and onboard adaptation using post-acquisition residuals</a:t>
            </a:r>
          </a:p>
        </p:txBody>
      </p:sp>
      <p:sp>
        <p:nvSpPr>
          <p:cNvPr id="19" name="TextBox 15">
            <a:extLst>
              <a:ext uri="{FF2B5EF4-FFF2-40B4-BE49-F238E27FC236}">
                <a16:creationId xmlns:a16="http://schemas.microsoft.com/office/drawing/2014/main" id="{F9251454-CFDB-DAE5-071C-F07ADB5CE097}"/>
              </a:ext>
            </a:extLst>
          </p:cNvPr>
          <p:cNvSpPr txBox="1"/>
          <p:nvPr/>
        </p:nvSpPr>
        <p:spPr>
          <a:xfrm>
            <a:off x="1463040" y="11979639"/>
            <a:ext cx="21396960" cy="548640"/>
          </a:xfrm>
          <a:prstGeom prst="rect">
            <a:avLst/>
          </a:prstGeom>
          <a:noFill/>
        </p:spPr>
        <p:txBody>
          <a:bodyPr wrap="square" lIns="45720" tIns="18288" rIns="45720" bIns="18288" anchor="t">
            <a:spAutoFit/>
          </a:bodyPr>
          <a:lstStyle/>
          <a:p>
            <a:pPr algn="ctr">
              <a:spcAft>
                <a:spcPts val="0"/>
              </a:spcAft>
            </a:pPr>
            <a:r>
              <a:rPr sz="2400" b="0" dirty="0">
                <a:solidFill>
                  <a:srgbClr val="666F79"/>
                </a:solidFill>
                <a:latin typeface="Yu Gothic"/>
                <a:ea typeface="Yu Gothic"/>
              </a:rPr>
              <a:t>Oral presentation at ICSO 2026 on October 15</a:t>
            </a:r>
          </a:p>
        </p:txBody>
      </p:sp>
      <p:sp>
        <p:nvSpPr>
          <p:cNvPr id="21" name="TextBox 16">
            <a:extLst>
              <a:ext uri="{FF2B5EF4-FFF2-40B4-BE49-F238E27FC236}">
                <a16:creationId xmlns:a16="http://schemas.microsoft.com/office/drawing/2014/main" id="{EDF69A9B-403D-8D7C-696E-29A646FED75D}"/>
              </a:ext>
            </a:extLst>
          </p:cNvPr>
          <p:cNvSpPr txBox="1"/>
          <p:nvPr/>
        </p:nvSpPr>
        <p:spPr>
          <a:xfrm>
            <a:off x="1463040" y="12728004"/>
            <a:ext cx="21396960" cy="731520"/>
          </a:xfrm>
          <a:prstGeom prst="rect">
            <a:avLst/>
          </a:prstGeom>
          <a:noFill/>
        </p:spPr>
        <p:txBody>
          <a:bodyPr wrap="square" lIns="45720" tIns="18288" rIns="45720" bIns="18288" anchor="t">
            <a:spAutoFit/>
          </a:bodyPr>
          <a:lstStyle/>
          <a:p>
            <a:pPr algn="ctr">
              <a:spcAft>
                <a:spcPts val="0"/>
              </a:spcAft>
            </a:pPr>
            <a:r>
              <a:rPr sz="3000" b="1">
                <a:solidFill>
                  <a:srgbClr val="1B74AA"/>
                </a:solidFill>
                <a:latin typeface="Yu Gothic"/>
                <a:ea typeface="Yu Gothic"/>
              </a:rPr>
              <a:t>Thank you for your attention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square" lIns="36576" tIns="27432" rIns="36576" bIns="27432" anchor="t">
            <a:spAutoFit/>
          </a:bodyPr>
          <a:lstStyle/>
          <a:p>
            <a:pPr algn="ctr">
              <a:spcAft>
                <a:spcPts val="0"/>
              </a:spcAft>
            </a:pPr>
            <a:r>
              <a:rPr sz="3200" b="1">
                <a:solidFill>
                  <a:srgbClr val="5BB5D8"/>
                </a:solidFill>
                <a:latin typeface="Yu Gothic"/>
                <a:ea typeface="Yu Gothic"/>
              </a:rPr>
              <a:t>B</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732508"/>
          </a:xfrm>
          <a:prstGeom prst="rect">
            <a:avLst/>
          </a:prstGeom>
          <a:noFill/>
        </p:spPr>
        <p:txBody>
          <a:bodyPr wrap="square" lIns="36576" tIns="27432" rIns="36576" bIns="27432" anchor="t">
            <a:spAutoFit/>
          </a:bodyPr>
          <a:lstStyle/>
          <a:p>
            <a:pPr algn="ctr">
              <a:spcAft>
                <a:spcPts val="0"/>
              </a:spcAft>
            </a:pPr>
            <a:r>
              <a:rPr lang="en-US" sz="4400" b="1" dirty="0">
                <a:solidFill>
                  <a:srgbClr val="FFFFFF"/>
                </a:solidFill>
                <a:latin typeface="Yu Gothic"/>
                <a:ea typeface="Yu Gothic"/>
              </a:rPr>
              <a:t>Appendix</a:t>
            </a:r>
            <a:endParaRPr sz="4400" b="1" dirty="0">
              <a:solidFill>
                <a:srgbClr val="FFFFFF"/>
              </a:solidFill>
              <a:latin typeface="Yu Gothic"/>
              <a:ea typeface="Yu Gothic"/>
            </a:endParaRPr>
          </a:p>
        </p:txBody>
      </p:sp>
      <p:sp>
        <p:nvSpPr>
          <p:cNvPr id="5" name="TextBox 4"/>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Positioning &amp; limitations</a:t>
            </a:r>
          </a:p>
        </p:txBody>
      </p:sp>
      <p:sp>
        <p:nvSpPr>
          <p:cNvPr id="3" name="TextBox 2"/>
          <p:cNvSpPr txBox="1"/>
          <p:nvPr/>
        </p:nvSpPr>
        <p:spPr>
          <a:xfrm>
            <a:off x="1536192" y="1298448"/>
            <a:ext cx="1392220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先行研究の存在：</a:t>
            </a:r>
            <a:r>
              <a:rPr lang="ja-JP" altLang="ja-JP" sz="3200" b="1" dirty="0"/>
              <a:t>温度差とLOSの一次関係は光学機器内でも報告されている</a:t>
            </a:r>
            <a:endParaRPr lang="ja-JP" altLang="ja-JP" sz="3200" dirty="0"/>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2</a:t>
            </a:r>
            <a:r>
              <a:rPr lang="en-US" sz="1800" b="0" dirty="0">
                <a:solidFill>
                  <a:srgbClr val="666F79"/>
                </a:solidFill>
                <a:latin typeface="Yu Gothic"/>
              </a:rPr>
              <a:t>4</a:t>
            </a:r>
            <a:endParaRPr sz="1800" b="0" dirty="0">
              <a:solidFill>
                <a:srgbClr val="666F79"/>
              </a:solidFill>
              <a:latin typeface="Yu Gothic"/>
            </a:endParaRPr>
          </a:p>
        </p:txBody>
      </p:sp>
      <p:sp>
        <p:nvSpPr>
          <p:cNvPr id="5" name="Rounded Rectangle 4"/>
          <p:cNvSpPr/>
          <p:nvPr/>
        </p:nvSpPr>
        <p:spPr>
          <a:xfrm>
            <a:off x="1097280" y="2834640"/>
            <a:ext cx="10698480" cy="7498079"/>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554480" y="3246120"/>
            <a:ext cx="9784080" cy="548640"/>
          </a:xfrm>
          <a:prstGeom prst="rect">
            <a:avLst/>
          </a:prstGeom>
          <a:noFill/>
        </p:spPr>
        <p:txBody>
          <a:bodyPr wrap="none" lIns="36576" tIns="27432" rIns="36576" bIns="27432" anchor="t">
            <a:spAutoFit/>
          </a:bodyPr>
          <a:lstStyle/>
          <a:p>
            <a:pPr algn="ctr"/>
            <a:r>
              <a:rPr sz="2800" b="1" dirty="0">
                <a:solidFill>
                  <a:srgbClr val="082B52"/>
                </a:solidFill>
                <a:latin typeface="Yu Gothic"/>
              </a:rPr>
              <a:t>JANUS / prior art</a:t>
            </a:r>
          </a:p>
        </p:txBody>
      </p:sp>
      <mc:AlternateContent xmlns:mc="http://schemas.openxmlformats.org/markup-compatibility/2006" xmlns:a14="http://schemas.microsoft.com/office/drawing/2010/main">
        <mc:Choice Requires="a14">
          <p:sp>
            <p:nvSpPr>
              <p:cNvPr id="7" name="TextBox 6"/>
              <p:cNvSpPr txBox="1"/>
              <p:nvPr/>
            </p:nvSpPr>
            <p:spPr>
              <a:xfrm>
                <a:off x="1637754" y="4389120"/>
                <a:ext cx="5503519" cy="2698175"/>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ja-JP" altLang="en-US" sz="2600" b="1" dirty="0">
                    <a:solidFill>
                      <a:srgbClr val="1B74AA"/>
                    </a:solidFill>
                    <a:latin typeface="Yu Gothic"/>
                  </a:rPr>
                  <a:t> </a:t>
                </a:r>
                <a:r>
                  <a:rPr lang="ja-JP" altLang="ja-JP" sz="2600" dirty="0"/>
                  <a:t>光学ヘッド内部の壁面温度差から</a:t>
                </a:r>
                <a:r>
                  <a:rPr lang="ja-JP" altLang="en-US" sz="2600" dirty="0"/>
                  <a:t>熱ひずみ由来</a:t>
                </a:r>
                <a:r>
                  <a:rPr lang="ja-JP" altLang="ja-JP" sz="2600" dirty="0"/>
                  <a:t>LOS</a:t>
                </a:r>
                <a:r>
                  <a:rPr lang="ja-JP" altLang="en-US" sz="2600" dirty="0"/>
                  <a:t>誤差</a:t>
                </a:r>
                <a:r>
                  <a:rPr lang="ja-JP" altLang="ja-JP" sz="2600" dirty="0"/>
                  <a:t>を推定 </a:t>
                </a:r>
                <a:endParaRPr lang="en-US" altLang="ja-JP" sz="2600" dirty="0"/>
              </a:p>
              <a:p>
                <a:pPr>
                  <a:spcAft>
                    <a:spcPts val="800"/>
                  </a:spcAft>
                </a:pPr>
                <a:r>
                  <a:rPr lang="en-US" altLang="ja-JP" sz="2600" b="1" dirty="0">
                    <a:solidFill>
                      <a:srgbClr val="1B74AA"/>
                    </a:solidFill>
                    <a:latin typeface="Yu Gothic"/>
                  </a:rPr>
                  <a:t>• </a:t>
                </a:r>
                <a14:m>
                  <m:oMath xmlns:m="http://schemas.openxmlformats.org/officeDocument/2006/math">
                    <m:r>
                      <a:rPr lang="ja-JP" altLang="en-US" sz="2600" i="1">
                        <a:latin typeface="Cambria Math" panose="02040503050406030204" pitchFamily="18" charset="0"/>
                      </a:rPr>
                      <m:t>𝐿𝑂𝑆</m:t>
                    </m:r>
                    <m:r>
                      <a:rPr lang="ja-JP" altLang="en-US" sz="2600">
                        <a:latin typeface="Cambria Math" panose="02040503050406030204" pitchFamily="18" charset="0"/>
                      </a:rPr>
                      <m:t>∝</m:t>
                    </m:r>
                    <m:r>
                      <m:rPr>
                        <m:sty m:val="p"/>
                      </m:rPr>
                      <a:rPr lang="en-US" altLang="ja-JP" sz="2600">
                        <a:latin typeface="Cambria Math" panose="02040503050406030204" pitchFamily="18" charset="0"/>
                      </a:rPr>
                      <m:t>Δ</m:t>
                    </m:r>
                    <m:r>
                      <a:rPr lang="ja-JP" altLang="en-US" sz="2600" i="1">
                        <a:latin typeface="Cambria Math" panose="02040503050406030204" pitchFamily="18" charset="0"/>
                      </a:rPr>
                      <m:t>𝑇</m:t>
                    </m:r>
                  </m:oMath>
                </a14:m>
                <a:r>
                  <a:rPr lang="ja-JP" altLang="ja-JP" sz="2600" dirty="0"/>
                  <a:t>の一次関係</a:t>
                </a:r>
                <a:r>
                  <a:rPr lang="ja-JP" altLang="en-US" sz="2600" dirty="0"/>
                  <a:t>とその係数</a:t>
                </a:r>
                <a:r>
                  <a:rPr lang="en-US" altLang="ja-JP" sz="2600" dirty="0"/>
                  <a:t>K</a:t>
                </a:r>
                <a:r>
                  <a:rPr lang="ja-JP" altLang="ja-JP" sz="2600" dirty="0"/>
                  <a:t>を地上試験で検証 </a:t>
                </a:r>
                <a:endParaRPr lang="en-US" altLang="ja-JP" sz="2600" dirty="0"/>
              </a:p>
              <a:p>
                <a:pPr>
                  <a:spcAft>
                    <a:spcPts val="800"/>
                  </a:spcAft>
                </a:pPr>
                <a:r>
                  <a:rPr lang="en-US" altLang="ja-JP" sz="2600" b="1" dirty="0">
                    <a:solidFill>
                      <a:srgbClr val="1B74AA"/>
                    </a:solidFill>
                    <a:latin typeface="Yu Gothic"/>
                  </a:rPr>
                  <a:t>• </a:t>
                </a:r>
                <a:r>
                  <a:rPr lang="ja-JP" altLang="ja-JP" sz="2600" dirty="0"/>
                  <a:t>温度センサ値からリアルタイムLOS推定を想定</a:t>
                </a:r>
                <a:r>
                  <a:rPr lang="ja-JP" altLang="en-US" sz="2600" dirty="0"/>
                  <a:t>する点で本研究に近い</a:t>
                </a:r>
                <a:endParaRPr sz="2600" dirty="0">
                  <a:solidFill>
                    <a:srgbClr val="232B34"/>
                  </a:solidFill>
                  <a:latin typeface="Yu Gothic"/>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37754" y="4389120"/>
                <a:ext cx="5503519" cy="2698175"/>
              </a:xfrm>
              <a:prstGeom prst="rect">
                <a:avLst/>
              </a:prstGeom>
              <a:blipFill>
                <a:blip r:embed="rId3"/>
                <a:stretch>
                  <a:fillRect l="-3215" t="-2032" r="-2882" b="-4515"/>
                </a:stretch>
              </a:blipFill>
            </p:spPr>
            <p:txBody>
              <a:bodyPr/>
              <a:lstStyle/>
              <a:p>
                <a:r>
                  <a:rPr lang="ja-JP" altLang="en-US">
                    <a:noFill/>
                  </a:rPr>
                  <a:t> </a:t>
                </a:r>
              </a:p>
            </p:txBody>
          </p:sp>
        </mc:Fallback>
      </mc:AlternateContent>
      <p:sp>
        <p:nvSpPr>
          <p:cNvPr id="8" name="TextBox 7"/>
          <p:cNvSpPr txBox="1"/>
          <p:nvPr/>
        </p:nvSpPr>
        <p:spPr>
          <a:xfrm>
            <a:off x="6590653" y="11276147"/>
            <a:ext cx="11201105" cy="1348061"/>
          </a:xfrm>
          <a:prstGeom prst="rect">
            <a:avLst/>
          </a:prstGeom>
          <a:noFill/>
        </p:spPr>
        <p:txBody>
          <a:bodyPr wrap="square" lIns="36576" tIns="27432" rIns="36576" bIns="27432" anchor="t">
            <a:spAutoFit/>
          </a:bodyPr>
          <a:lstStyle/>
          <a:p>
            <a:pPr algn="ctr"/>
            <a:r>
              <a:rPr lang="ja-JP" altLang="ja-JP" sz="2800" b="1" dirty="0">
                <a:solidFill>
                  <a:schemeClr val="accent2"/>
                </a:solidFill>
              </a:rPr>
              <a:t>本研究の貢献は、</a:t>
            </a:r>
            <a:endParaRPr lang="en-US" altLang="ja-JP" sz="2800" b="1" dirty="0">
              <a:solidFill>
                <a:schemeClr val="accent2"/>
              </a:solidFill>
            </a:endParaRPr>
          </a:p>
          <a:p>
            <a:pPr algn="ctr"/>
            <a:r>
              <a:rPr lang="ja-JP" altLang="ja-JP" sz="2800" b="1" dirty="0">
                <a:solidFill>
                  <a:schemeClr val="accent2"/>
                </a:solidFill>
              </a:rPr>
              <a:t>温度差–LOS</a:t>
            </a:r>
            <a:r>
              <a:rPr lang="ja-JP" altLang="en-US" sz="2800" b="1" dirty="0">
                <a:solidFill>
                  <a:schemeClr val="accent2"/>
                </a:solidFill>
              </a:rPr>
              <a:t>の一次</a:t>
            </a:r>
            <a:r>
              <a:rPr lang="ja-JP" altLang="ja-JP" sz="2800" b="1" dirty="0">
                <a:solidFill>
                  <a:schemeClr val="accent2"/>
                </a:solidFill>
              </a:rPr>
              <a:t>関係を衛星バス上のSTT–LCT相対LOS</a:t>
            </a:r>
            <a:r>
              <a:rPr lang="ja-JP" altLang="en-US" sz="2800" b="1" dirty="0">
                <a:solidFill>
                  <a:schemeClr val="accent2"/>
                </a:solidFill>
              </a:rPr>
              <a:t>予測</a:t>
            </a:r>
            <a:r>
              <a:rPr lang="ja-JP" altLang="ja-JP" sz="2800" b="1" dirty="0">
                <a:solidFill>
                  <a:schemeClr val="accent2"/>
                </a:solidFill>
              </a:rPr>
              <a:t>へ拡張し、粗捕捉性能改善まで接続した点にある</a:t>
            </a:r>
          </a:p>
        </p:txBody>
      </p:sp>
      <p:sp>
        <p:nvSpPr>
          <p:cNvPr id="9" name="Rounded Rectangle 8"/>
          <p:cNvSpPr/>
          <p:nvPr/>
        </p:nvSpPr>
        <p:spPr>
          <a:xfrm>
            <a:off x="12481560" y="2834640"/>
            <a:ext cx="10698480" cy="7498079"/>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38760" y="3246120"/>
            <a:ext cx="9784080" cy="548640"/>
          </a:xfrm>
          <a:prstGeom prst="rect">
            <a:avLst/>
          </a:prstGeom>
          <a:noFill/>
        </p:spPr>
        <p:txBody>
          <a:bodyPr wrap="none" lIns="36576" tIns="27432" rIns="36576" bIns="27432" anchor="t">
            <a:spAutoFit/>
          </a:bodyPr>
          <a:lstStyle/>
          <a:p>
            <a:pPr algn="ctr"/>
            <a:r>
              <a:rPr sz="2800" b="1">
                <a:solidFill>
                  <a:srgbClr val="1B74AA"/>
                </a:solidFill>
                <a:latin typeface="Yu Gothic"/>
              </a:rPr>
              <a:t>This work</a:t>
            </a:r>
          </a:p>
        </p:txBody>
      </p:sp>
      <p:sp>
        <p:nvSpPr>
          <p:cNvPr id="11" name="TextBox 10"/>
          <p:cNvSpPr txBox="1"/>
          <p:nvPr/>
        </p:nvSpPr>
        <p:spPr>
          <a:xfrm>
            <a:off x="13007228" y="4223694"/>
            <a:ext cx="6683903" cy="3703578"/>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en-US" sz="2600" b="1" dirty="0">
                <a:solidFill>
                  <a:srgbClr val="1B74AA"/>
                </a:solidFill>
                <a:latin typeface="Yu Gothic"/>
              </a:rPr>
              <a:t> </a:t>
            </a:r>
            <a:r>
              <a:rPr lang="ja-JP" altLang="ja-JP" sz="2600" dirty="0"/>
              <a:t>衛星バス上のSTT–LCT相対LOSを対象 </a:t>
            </a:r>
            <a:endParaRPr lang="en-US" altLang="ja-JP" sz="2600" dirty="0"/>
          </a:p>
          <a:p>
            <a:pPr>
              <a:spcAft>
                <a:spcPts val="800"/>
              </a:spcAft>
            </a:pPr>
            <a:r>
              <a:rPr lang="en-US" altLang="ja-JP" sz="2600" b="1" dirty="0">
                <a:solidFill>
                  <a:srgbClr val="1B74AA"/>
                </a:solidFill>
                <a:latin typeface="Yu Gothic"/>
              </a:rPr>
              <a:t>• </a:t>
            </a:r>
            <a:r>
              <a:rPr lang="ja-JP" altLang="ja-JP" sz="2600" dirty="0"/>
              <a:t>太陽指向面–反対面温度差から軌道内変動を予測 </a:t>
            </a:r>
            <a:endParaRPr lang="en-US" altLang="ja-JP" sz="2600" dirty="0"/>
          </a:p>
          <a:p>
            <a:pPr>
              <a:spcAft>
                <a:spcPts val="800"/>
              </a:spcAft>
            </a:pPr>
            <a:r>
              <a:rPr lang="en-US" altLang="ja-JP" sz="2600" b="1" dirty="0">
                <a:solidFill>
                  <a:srgbClr val="1B74AA"/>
                </a:solidFill>
                <a:latin typeface="Yu Gothic"/>
              </a:rPr>
              <a:t>• </a:t>
            </a:r>
            <a:r>
              <a:rPr lang="ja-JP" altLang="ja-JP" sz="2600" dirty="0"/>
              <a:t>発熱・被覆・軌道条件によるケースDCを階層化 </a:t>
            </a:r>
            <a:endParaRPr lang="en-US" altLang="ja-JP" sz="2600" dirty="0"/>
          </a:p>
          <a:p>
            <a:pPr>
              <a:spcAft>
                <a:spcPts val="800"/>
              </a:spcAft>
            </a:pPr>
            <a:r>
              <a:rPr lang="en-US" altLang="ja-JP" sz="2600" b="1" dirty="0">
                <a:solidFill>
                  <a:srgbClr val="1B74AA"/>
                </a:solidFill>
                <a:latin typeface="Yu Gothic"/>
              </a:rPr>
              <a:t>• </a:t>
            </a:r>
            <a:r>
              <a:rPr lang="ja-JP" altLang="ja-JP" sz="2600" dirty="0"/>
              <a:t>予測LOSをscan center補正へ入力 捕捉成功率・捕捉時間まで評価</a:t>
            </a:r>
            <a:endParaRPr lang="en-US" altLang="ja-JP" sz="2600" dirty="0"/>
          </a:p>
          <a:p>
            <a:pPr>
              <a:spcAft>
                <a:spcPts val="800"/>
              </a:spcAft>
            </a:pPr>
            <a:r>
              <a:rPr lang="en-US" altLang="ja-JP" sz="2600" b="1" dirty="0">
                <a:solidFill>
                  <a:srgbClr val="1B74AA"/>
                </a:solidFill>
                <a:latin typeface="Yu Gothic"/>
              </a:rPr>
              <a:t>•</a:t>
            </a:r>
            <a:r>
              <a:rPr lang="ja-JP" altLang="en-US" sz="2600" b="1" dirty="0">
                <a:solidFill>
                  <a:srgbClr val="1B74AA"/>
                </a:solidFill>
                <a:latin typeface="Yu Gothic"/>
              </a:rPr>
              <a:t> </a:t>
            </a:r>
            <a:r>
              <a:rPr lang="en-US" altLang="ja-JP" sz="2600" dirty="0">
                <a:latin typeface="Yu Gothic"/>
              </a:rPr>
              <a:t>※</a:t>
            </a:r>
            <a:r>
              <a:rPr lang="ja-JP" altLang="en-US" sz="2600" dirty="0">
                <a:latin typeface="Yu Gothic"/>
              </a:rPr>
              <a:t>非支配軸・別構造・飛行実証は未評価</a:t>
            </a:r>
            <a:endParaRPr sz="2600" dirty="0">
              <a:latin typeface="Yu Gothic"/>
            </a:endParaRPr>
          </a:p>
        </p:txBody>
      </p:sp>
      <p:pic>
        <p:nvPicPr>
          <p:cNvPr id="14" name="図 13">
            <a:extLst>
              <a:ext uri="{FF2B5EF4-FFF2-40B4-BE49-F238E27FC236}">
                <a16:creationId xmlns:a16="http://schemas.microsoft.com/office/drawing/2014/main" id="{C7E3B895-1AEF-DE7D-2500-D5414894CC50}"/>
              </a:ext>
            </a:extLst>
          </p:cNvPr>
          <p:cNvPicPr>
            <a:picLocks noChangeAspect="1"/>
          </p:cNvPicPr>
          <p:nvPr/>
        </p:nvPicPr>
        <p:blipFill>
          <a:blip r:embed="rId4"/>
          <a:stretch>
            <a:fillRect/>
          </a:stretch>
        </p:blipFill>
        <p:spPr>
          <a:xfrm>
            <a:off x="7304557" y="4223694"/>
            <a:ext cx="4296893" cy="2768036"/>
          </a:xfrm>
          <a:prstGeom prst="rect">
            <a:avLst/>
          </a:prstGeom>
        </p:spPr>
      </p:pic>
      <p:pic>
        <p:nvPicPr>
          <p:cNvPr id="16" name="図 15">
            <a:extLst>
              <a:ext uri="{FF2B5EF4-FFF2-40B4-BE49-F238E27FC236}">
                <a16:creationId xmlns:a16="http://schemas.microsoft.com/office/drawing/2014/main" id="{1D012430-EBD5-228E-6C1B-2FA194D4495E}"/>
              </a:ext>
            </a:extLst>
          </p:cNvPr>
          <p:cNvPicPr>
            <a:picLocks noChangeAspect="1"/>
          </p:cNvPicPr>
          <p:nvPr/>
        </p:nvPicPr>
        <p:blipFill>
          <a:blip r:embed="rId5"/>
          <a:stretch>
            <a:fillRect/>
          </a:stretch>
        </p:blipFill>
        <p:spPr>
          <a:xfrm>
            <a:off x="19976937" y="4059227"/>
            <a:ext cx="2917297" cy="4445404"/>
          </a:xfrm>
          <a:prstGeom prst="rect">
            <a:avLst/>
          </a:prstGeom>
        </p:spPr>
      </p:pic>
      <p:cxnSp>
        <p:nvCxnSpPr>
          <p:cNvPr id="18" name="直線矢印コネクタ 17">
            <a:extLst>
              <a:ext uri="{FF2B5EF4-FFF2-40B4-BE49-F238E27FC236}">
                <a16:creationId xmlns:a16="http://schemas.microsoft.com/office/drawing/2014/main" id="{236A98E2-DC1C-D091-55C8-8ECEA961E0B2}"/>
              </a:ext>
            </a:extLst>
          </p:cNvPr>
          <p:cNvCxnSpPr>
            <a:cxnSpLocks/>
          </p:cNvCxnSpPr>
          <p:nvPr/>
        </p:nvCxnSpPr>
        <p:spPr>
          <a:xfrm>
            <a:off x="9895114" y="7087295"/>
            <a:ext cx="986246" cy="0"/>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FE3BF317-B001-A8F1-E16A-98CCE95D0F38}"/>
              </a:ext>
            </a:extLst>
          </p:cNvPr>
          <p:cNvSpPr txBox="1"/>
          <p:nvPr/>
        </p:nvSpPr>
        <p:spPr>
          <a:xfrm>
            <a:off x="9836331" y="7235689"/>
            <a:ext cx="1322615" cy="369332"/>
          </a:xfrm>
          <a:prstGeom prst="rect">
            <a:avLst/>
          </a:prstGeom>
          <a:noFill/>
        </p:spPr>
        <p:txBody>
          <a:bodyPr wrap="square" rtlCol="0">
            <a:spAutoFit/>
          </a:bodyPr>
          <a:lstStyle/>
          <a:p>
            <a:r>
              <a:rPr kumimoji="1" lang="en-US" altLang="ja-JP" dirty="0"/>
              <a:t>25 cm</a:t>
            </a:r>
            <a:r>
              <a:rPr kumimoji="1" lang="ja-JP" altLang="en-US" dirty="0"/>
              <a:t>程度</a:t>
            </a:r>
          </a:p>
        </p:txBody>
      </p:sp>
      <mc:AlternateContent xmlns:mc="http://schemas.openxmlformats.org/markup-compatibility/2006" xmlns:a14="http://schemas.microsoft.com/office/drawing/2010/main">
        <mc:Choice Requires="a14">
          <p:sp>
            <p:nvSpPr>
              <p:cNvPr id="22" name="TextBox 5">
                <a:extLst>
                  <a:ext uri="{FF2B5EF4-FFF2-40B4-BE49-F238E27FC236}">
                    <a16:creationId xmlns:a16="http://schemas.microsoft.com/office/drawing/2014/main" id="{8CB7D79D-2AF2-A798-8254-04332A599446}"/>
                  </a:ext>
                </a:extLst>
              </p:cNvPr>
              <p:cNvSpPr txBox="1"/>
              <p:nvPr/>
            </p:nvSpPr>
            <p:spPr>
              <a:xfrm>
                <a:off x="13872760" y="9039727"/>
                <a:ext cx="7916078" cy="998863"/>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ja-JP" altLang="en-US" sz="2800" b="1" i="1" dirty="0" smtClean="0">
                              <a:solidFill>
                                <a:srgbClr val="082B52"/>
                              </a:solidFill>
                              <a:latin typeface="Cambria Math" panose="02040503050406030204" pitchFamily="18" charset="0"/>
                            </a:rPr>
                            <m:t>𝒅𝒐𝒎</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 </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𝒂</m:t>
                          </m:r>
                        </m:e>
                        <m:sub>
                          <m:r>
                            <a:rPr lang="ja-JP" altLang="en-US" sz="2800" b="1" i="1" dirty="0" err="1">
                              <a:solidFill>
                                <a:srgbClr val="082B52"/>
                              </a:solidFill>
                              <a:latin typeface="Cambria Math" panose="02040503050406030204" pitchFamily="18" charset="0"/>
                            </a:rPr>
                            <m:t>𝒔𝒖𝒏𝒇𝒂𝒄𝒆</m:t>
                          </m:r>
                        </m:sub>
                      </m:sSub>
                      <m:r>
                        <a:rPr lang="ja-JP" altLang="en-US"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r>
                        <a:rPr lang="ja-JP" altLang="en-US" sz="2800" b="1" i="0" dirty="0">
                          <a:solidFill>
                            <a:srgbClr val="082B52"/>
                          </a:solidFill>
                          <a:latin typeface="Cambria Math" panose="02040503050406030204" pitchFamily="18" charset="0"/>
                        </a:rPr>
                        <m:t>𝚫</m:t>
                      </m:r>
                      <m:r>
                        <a:rPr lang="ja-JP" altLang="en-US" sz="2800" b="1" i="1" dirty="0">
                          <a:solidFill>
                            <a:srgbClr val="082B52"/>
                          </a:solidFill>
                          <a:latin typeface="Cambria Math" panose="02040503050406030204" pitchFamily="18" charset="0"/>
                        </a:rPr>
                        <m:t>𝑻</m:t>
                      </m:r>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smtClean="0">
                          <a:solidFill>
                            <a:srgbClr val="082B52"/>
                          </a:solidFill>
                          <a:latin typeface="Cambria Math" panose="02040503050406030204" pitchFamily="18" charset="0"/>
                        </a:rPr>
                        <m:t>+</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𝒃</m:t>
                          </m:r>
                        </m:e>
                        <m:sub>
                          <m:r>
                            <a:rPr lang="ja-JP" altLang="en-US" sz="2800" b="1" i="1" dirty="0" err="1">
                              <a:solidFill>
                                <a:srgbClr val="082B52"/>
                              </a:solidFill>
                              <a:latin typeface="Cambria Math" panose="02040503050406030204" pitchFamily="18" charset="0"/>
                            </a:rPr>
                            <m:t>𝒄𝒂𝒔𝒆</m:t>
                          </m:r>
                        </m:sub>
                      </m:sSub>
                      <m:r>
                        <a:rPr lang="ja-JP" altLang="en-US" sz="2800" b="1" i="1" dirty="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 </m:t>
                      </m:r>
                    </m:oMath>
                  </m:oMathPara>
                </a14:m>
                <a:endParaRPr lang="en-US" sz="2800" dirty="0"/>
              </a:p>
              <a:p>
                <a:pPr algn="ctr"/>
                <a14:m>
                  <m:oMathPara xmlns:m="http://schemas.openxmlformats.org/officeDocument/2006/math">
                    <m:oMath>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err="1">
                              <a:solidFill>
                                <a:srgbClr val="082B52"/>
                              </a:solidFill>
                              <a:latin typeface="Cambria Math" panose="02040503050406030204" pitchFamily="18" charset="0"/>
                            </a:rPr>
                            <m:t>𝒄𝒂𝒔𝒆</m:t>
                          </m:r>
                        </m:sub>
                      </m:sSub>
                      <m:r>
                        <a:rPr lang="en-US" altLang="ja-JP" sz="2800" b="1" i="1" dirty="0">
                          <a:solidFill>
                            <a:srgbClr val="082B52"/>
                          </a:solidFill>
                          <a:latin typeface="Cambria Math" panose="02040503050406030204" pitchFamily="18" charset="0"/>
                        </a:rPr>
                        <m:t> ≈ </m:t>
                      </m:r>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a:solidFill>
                                <a:srgbClr val="082B52"/>
                              </a:solidFill>
                              <a:latin typeface="Cambria Math" panose="02040503050406030204" pitchFamily="18" charset="0"/>
                            </a:rPr>
                            <m:t>𝟎</m:t>
                          </m:r>
                          <m:r>
                            <a:rPr lang="en-US" altLang="ja-JP" sz="2800" b="1" i="1" dirty="0">
                              <a:solidFill>
                                <a:srgbClr val="082B52"/>
                              </a:solidFill>
                              <a:latin typeface="Cambria Math" panose="02040503050406030204" pitchFamily="18" charset="0"/>
                            </a:rPr>
                            <m:t>,</m:t>
                          </m:r>
                          <m:r>
                            <a:rPr lang="en-US" altLang="ja-JP" sz="2800" b="1" i="1" dirty="0">
                              <a:solidFill>
                                <a:srgbClr val="082B52"/>
                              </a:solidFill>
                              <a:latin typeface="Cambria Math" panose="02040503050406030204" pitchFamily="18" charset="0"/>
                            </a:rPr>
                            <m:t>𝒔𝒖𝒏𝒇𝒂𝒄𝒆</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𝑷𝑹𝑶𝑷</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𝑷𝑹𝑶𝑷</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𝑷𝑪𝑫𝑼</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𝑷𝑪𝑫𝑼</m:t>
                          </m:r>
                        </m:sub>
                      </m:sSub>
                    </m:oMath>
                  </m:oMathPara>
                </a14:m>
                <a:endParaRPr sz="2800" dirty="0"/>
              </a:p>
            </p:txBody>
          </p:sp>
        </mc:Choice>
        <mc:Fallback xmlns="">
          <p:sp>
            <p:nvSpPr>
              <p:cNvPr id="22" name="TextBox 5">
                <a:extLst>
                  <a:ext uri="{FF2B5EF4-FFF2-40B4-BE49-F238E27FC236}">
                    <a16:creationId xmlns:a16="http://schemas.microsoft.com/office/drawing/2014/main" id="{8CB7D79D-2AF2-A798-8254-04332A599446}"/>
                  </a:ext>
                </a:extLst>
              </p:cNvPr>
              <p:cNvSpPr txBox="1">
                <a:spLocks noRot="1" noChangeAspect="1" noMove="1" noResize="1" noEditPoints="1" noAdjustHandles="1" noChangeArrowheads="1" noChangeShapeType="1" noTextEdit="1"/>
              </p:cNvSpPr>
              <p:nvPr/>
            </p:nvSpPr>
            <p:spPr>
              <a:xfrm>
                <a:off x="13872760" y="9039727"/>
                <a:ext cx="7916078" cy="99886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5">
                <a:extLst>
                  <a:ext uri="{FF2B5EF4-FFF2-40B4-BE49-F238E27FC236}">
                    <a16:creationId xmlns:a16="http://schemas.microsoft.com/office/drawing/2014/main" id="{871BC7F3-CFD6-2181-FEC2-0F7AB8A132AA}"/>
                  </a:ext>
                </a:extLst>
              </p:cNvPr>
              <p:cNvSpPr txBox="1"/>
              <p:nvPr/>
            </p:nvSpPr>
            <p:spPr>
              <a:xfrm>
                <a:off x="2901195" y="9039727"/>
                <a:ext cx="7090659" cy="95801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en-US" altLang="ja-JP" sz="2800" b="1" i="1" dirty="0" smtClean="0">
                              <a:solidFill>
                                <a:srgbClr val="082B52"/>
                              </a:solidFill>
                              <a:latin typeface="Cambria Math" panose="02040503050406030204" pitchFamily="18" charset="0"/>
                            </a:rPr>
                            <m:t>𝑳𝑶𝑺</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𝒚</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𝑲</m:t>
                      </m:r>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𝒐𝒑𝒕𝒊𝒄𝒂𝒍</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𝒃𝒖𝒇𝒇𝒍𝒆</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oMath>
                  </m:oMathPara>
                </a14:m>
                <a:endParaRPr lang="en-US" altLang="ja-JP" sz="2800" b="1" dirty="0">
                  <a:solidFill>
                    <a:srgbClr val="082B52"/>
                  </a:solidFill>
                </a:endParaRPr>
              </a:p>
              <a:p>
                <a:pPr algn="ctr"/>
                <a:endParaRPr lang="en-US" altLang="ja-JP" sz="2800" b="1" dirty="0">
                  <a:solidFill>
                    <a:srgbClr val="082B52"/>
                  </a:solidFill>
                </a:endParaRPr>
              </a:p>
            </p:txBody>
          </p:sp>
        </mc:Choice>
        <mc:Fallback xmlns="">
          <p:sp>
            <p:nvSpPr>
              <p:cNvPr id="24" name="TextBox 5">
                <a:extLst>
                  <a:ext uri="{FF2B5EF4-FFF2-40B4-BE49-F238E27FC236}">
                    <a16:creationId xmlns:a16="http://schemas.microsoft.com/office/drawing/2014/main" id="{871BC7F3-CFD6-2181-FEC2-0F7AB8A132AA}"/>
                  </a:ext>
                </a:extLst>
              </p:cNvPr>
              <p:cNvSpPr txBox="1">
                <a:spLocks noRot="1" noChangeAspect="1" noMove="1" noResize="1" noEditPoints="1" noAdjustHandles="1" noChangeArrowheads="1" noChangeShapeType="1" noTextEdit="1"/>
              </p:cNvSpPr>
              <p:nvPr/>
            </p:nvSpPr>
            <p:spPr>
              <a:xfrm>
                <a:off x="2901195" y="9039727"/>
                <a:ext cx="7090659" cy="958019"/>
              </a:xfrm>
              <a:prstGeom prst="rect">
                <a:avLst/>
              </a:prstGeom>
              <a:blipFill>
                <a:blip r:embed="rId7"/>
                <a:stretch>
                  <a:fillRect/>
                </a:stretch>
              </a:blipFill>
            </p:spPr>
            <p:txBody>
              <a:bodyPr/>
              <a:lstStyle/>
              <a:p>
                <a:r>
                  <a:rPr lang="ja-JP" altLang="en-US">
                    <a:noFill/>
                  </a:rPr>
                  <a:t> </a:t>
                </a:r>
              </a:p>
            </p:txBody>
          </p:sp>
        </mc:Fallback>
      </mc:AlternateContent>
      <p:cxnSp>
        <p:nvCxnSpPr>
          <p:cNvPr id="26" name="直線矢印コネクタ 25">
            <a:extLst>
              <a:ext uri="{FF2B5EF4-FFF2-40B4-BE49-F238E27FC236}">
                <a16:creationId xmlns:a16="http://schemas.microsoft.com/office/drawing/2014/main" id="{364056D2-83C3-D172-16F3-77222404221A}"/>
              </a:ext>
            </a:extLst>
          </p:cNvPr>
          <p:cNvCxnSpPr>
            <a:cxnSpLocks/>
          </p:cNvCxnSpPr>
          <p:nvPr/>
        </p:nvCxnSpPr>
        <p:spPr>
          <a:xfrm>
            <a:off x="9820002" y="4096848"/>
            <a:ext cx="0" cy="58454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D486108-12C4-0CB4-491B-DA4939F62364}"/>
              </a:ext>
            </a:extLst>
          </p:cNvPr>
          <p:cNvCxnSpPr>
            <a:cxnSpLocks/>
          </p:cNvCxnSpPr>
          <p:nvPr/>
        </p:nvCxnSpPr>
        <p:spPr>
          <a:xfrm>
            <a:off x="10881360" y="4096848"/>
            <a:ext cx="0" cy="55028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テキスト ボックス 30">
            <a:extLst>
              <a:ext uri="{FF2B5EF4-FFF2-40B4-BE49-F238E27FC236}">
                <a16:creationId xmlns:a16="http://schemas.microsoft.com/office/drawing/2014/main" id="{8AAB77A2-36D4-590E-EB94-32592F3A750A}"/>
              </a:ext>
            </a:extLst>
          </p:cNvPr>
          <p:cNvSpPr txBox="1"/>
          <p:nvPr/>
        </p:nvSpPr>
        <p:spPr>
          <a:xfrm>
            <a:off x="10332720" y="3722608"/>
            <a:ext cx="1404257" cy="369332"/>
          </a:xfrm>
          <a:prstGeom prst="rect">
            <a:avLst/>
          </a:prstGeom>
          <a:noFill/>
        </p:spPr>
        <p:txBody>
          <a:bodyPr wrap="square" rtlCol="0">
            <a:spAutoFit/>
          </a:bodyPr>
          <a:lstStyle/>
          <a:p>
            <a:r>
              <a:rPr kumimoji="1" lang="en-US" altLang="ja-JP" dirty="0"/>
              <a:t>Optical Wall</a:t>
            </a:r>
            <a:endParaRPr kumimoji="1" lang="ja-JP" altLang="en-US" dirty="0"/>
          </a:p>
        </p:txBody>
      </p:sp>
      <p:sp>
        <p:nvSpPr>
          <p:cNvPr id="33" name="テキスト ボックス 32">
            <a:extLst>
              <a:ext uri="{FF2B5EF4-FFF2-40B4-BE49-F238E27FC236}">
                <a16:creationId xmlns:a16="http://schemas.microsoft.com/office/drawing/2014/main" id="{E314A410-ACD0-9EDE-1676-7B2BA3D84B5F}"/>
              </a:ext>
            </a:extLst>
          </p:cNvPr>
          <p:cNvSpPr txBox="1"/>
          <p:nvPr/>
        </p:nvSpPr>
        <p:spPr>
          <a:xfrm>
            <a:off x="9068890" y="3732074"/>
            <a:ext cx="1404257" cy="369332"/>
          </a:xfrm>
          <a:prstGeom prst="rect">
            <a:avLst/>
          </a:prstGeom>
          <a:noFill/>
        </p:spPr>
        <p:txBody>
          <a:bodyPr wrap="square" rtlCol="0">
            <a:spAutoFit/>
          </a:bodyPr>
          <a:lstStyle/>
          <a:p>
            <a:r>
              <a:rPr kumimoji="1" lang="en-US" altLang="ja-JP" dirty="0" err="1"/>
              <a:t>Buffle</a:t>
            </a:r>
            <a:r>
              <a:rPr kumimoji="1" lang="en-US" altLang="ja-JP" dirty="0"/>
              <a:t> Wall</a:t>
            </a:r>
            <a:endParaRPr kumimoji="1" lang="ja-JP" alt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simulation conditions</a:t>
            </a:r>
          </a:p>
        </p:txBody>
      </p:sp>
      <p:sp>
        <p:nvSpPr>
          <p:cNvPr id="3" name="TextBox 2"/>
          <p:cNvSpPr txBox="1"/>
          <p:nvPr/>
        </p:nvSpPr>
        <p:spPr>
          <a:xfrm>
            <a:off x="1536192" y="1298448"/>
            <a:ext cx="992271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粗捕捉は矩形スパイラルの離散走査として簡略化する</a:t>
            </a:r>
            <a:endParaRPr lang="ja-JP" altLang="ja-JP" sz="3200" dirty="0"/>
          </a:p>
        </p:txBody>
      </p:sp>
      <p:sp>
        <p:nvSpPr>
          <p:cNvPr id="4" name="TextBox 3"/>
          <p:cNvSpPr txBox="1"/>
          <p:nvPr/>
        </p:nvSpPr>
        <p:spPr>
          <a:xfrm>
            <a:off x="23444053" y="12819888"/>
            <a:ext cx="330347"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25</a:t>
            </a:r>
            <a:endParaRPr sz="1800" b="0" dirty="0">
              <a:solidFill>
                <a:srgbClr val="666F79"/>
              </a:solidFill>
              <a:latin typeface="Yu Gothic"/>
            </a:endParaRPr>
          </a:p>
        </p:txBody>
      </p:sp>
      <p:graphicFrame>
        <p:nvGraphicFramePr>
          <p:cNvPr id="28" name="Table 27"/>
          <p:cNvGraphicFramePr>
            <a:graphicFrameLocks noGrp="1"/>
          </p:cNvGraphicFramePr>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buNone/>
                      </a:pPr>
                      <a:r>
                        <a:rPr lang="ja-JP" sz="2400" dirty="0"/>
                        <a:t>パラメータ</a:t>
                      </a:r>
                    </a:p>
                  </a:txBody>
                  <a:tcPr anchor="ctr">
                    <a:solidFill>
                      <a:srgbClr val="082B52"/>
                    </a:solidFill>
                  </a:tcPr>
                </a:tc>
                <a:tc>
                  <a:txBody>
                    <a:bodyPr/>
                    <a:lstStyle/>
                    <a:p>
                      <a:pPr algn="l">
                        <a:buNone/>
                      </a:pPr>
                      <a:r>
                        <a:rPr lang="ja-JP" sz="2400"/>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buNone/>
                      </a:pPr>
                      <a:r>
                        <a:rPr lang="ja-JP" sz="2400" dirty="0"/>
                        <a:t>走査範囲</a:t>
                      </a:r>
                    </a:p>
                  </a:txBody>
                  <a:tcPr anchor="ctr">
                    <a:solidFill>
                      <a:srgbClr val="FFFFFF"/>
                    </a:solidFill>
                  </a:tcPr>
                </a:tc>
                <a:tc>
                  <a:txBody>
                    <a:bodyPr/>
                    <a:lstStyle/>
                    <a:p>
                      <a:pPr algn="l">
                        <a:buNone/>
                      </a:pPr>
                      <a:r>
                        <a:rPr lang="ja-JP" sz="2400"/>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buNone/>
                      </a:pPr>
                      <a:r>
                        <a:rPr lang="ja-JP" sz="2400" dirty="0"/>
                        <a:t>点間隔</a:t>
                      </a:r>
                    </a:p>
                  </a:txBody>
                  <a:tcPr anchor="ctr">
                    <a:solidFill>
                      <a:srgbClr val="F4F6F8"/>
                    </a:solidFill>
                  </a:tcPr>
                </a:tc>
                <a:tc>
                  <a:txBody>
                    <a:bodyPr/>
                    <a:lstStyle/>
                    <a:p>
                      <a:pPr algn="l">
                        <a:buNone/>
                      </a:pPr>
                      <a:r>
                        <a:rPr lang="ja-JP" sz="2400" dirty="0"/>
                        <a:t>40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buNone/>
                      </a:pPr>
                      <a:r>
                        <a:rPr lang="ja-JP" sz="2400" dirty="0"/>
                        <a:t>検出半径</a:t>
                      </a:r>
                    </a:p>
                  </a:txBody>
                  <a:tcPr anchor="ctr">
                    <a:solidFill>
                      <a:srgbClr val="FFFFFF"/>
                    </a:solidFill>
                  </a:tcPr>
                </a:tc>
                <a:tc>
                  <a:txBody>
                    <a:bodyPr/>
                    <a:lstStyle/>
                    <a:p>
                      <a:pPr algn="l">
                        <a:buNone/>
                      </a:pPr>
                      <a:r>
                        <a:rPr lang="ja-JP" sz="2400"/>
                        <a:t>25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buNone/>
                      </a:pPr>
                      <a:r>
                        <a:rPr lang="ja-JP" sz="2400" dirty="0"/>
                        <a:t>滞在時間</a:t>
                      </a:r>
                    </a:p>
                  </a:txBody>
                  <a:tcPr anchor="ctr">
                    <a:solidFill>
                      <a:srgbClr val="F4F6F8"/>
                    </a:solidFill>
                  </a:tcPr>
                </a:tc>
                <a:tc>
                  <a:txBody>
                    <a:bodyPr/>
                    <a:lstStyle/>
                    <a:p>
                      <a:pPr algn="l">
                        <a:buNone/>
                      </a:pPr>
                      <a:r>
                        <a:rPr lang="ja-JP" sz="2400" dirty="0"/>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buNone/>
                      </a:pPr>
                      <a:r>
                        <a:rPr lang="ja-JP" sz="2400"/>
                        <a:t>総走査点数</a:t>
                      </a:r>
                    </a:p>
                  </a:txBody>
                  <a:tcPr anchor="ctr">
                    <a:solidFill>
                      <a:srgbClr val="FFFFFF"/>
                    </a:solidFill>
                  </a:tcPr>
                </a:tc>
                <a:tc>
                  <a:txBody>
                    <a:bodyPr/>
                    <a:lstStyle/>
                    <a:p>
                      <a:pPr algn="l">
                        <a:buNone/>
                      </a:pPr>
                      <a:r>
                        <a:rPr lang="ja-JP" sz="2400" dirty="0"/>
                        <a:t>6561点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buNone/>
                      </a:pPr>
                      <a:r>
                        <a:rPr lang="ja-JP" sz="2400"/>
                        <a:t>最大走査時間</a:t>
                      </a:r>
                    </a:p>
                  </a:txBody>
                  <a:tcPr anchor="ctr">
                    <a:solidFill>
                      <a:srgbClr val="F4F6F8"/>
                    </a:solidFill>
                  </a:tcPr>
                </a:tc>
                <a:tc>
                  <a:txBody>
                    <a:bodyPr/>
                    <a:lstStyle/>
                    <a:p>
                      <a:pPr algn="l">
                        <a:buNone/>
                      </a:pPr>
                      <a:r>
                        <a:rPr lang="ja-JP" sz="2400" dirty="0"/>
                        <a:t>656.1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126449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4" name="テキスト ボックス 33">
            <a:extLst>
              <a:ext uri="{FF2B5EF4-FFF2-40B4-BE49-F238E27FC236}">
                <a16:creationId xmlns:a16="http://schemas.microsoft.com/office/drawing/2014/main" id="{E3A91E62-EA26-8151-3428-B86760823F25}"/>
              </a:ext>
            </a:extLst>
          </p:cNvPr>
          <p:cNvSpPr txBox="1"/>
          <p:nvPr/>
        </p:nvSpPr>
        <p:spPr>
          <a:xfrm>
            <a:off x="12461016" y="9105638"/>
            <a:ext cx="5255484" cy="369332"/>
          </a:xfrm>
          <a:prstGeom prst="rect">
            <a:avLst/>
          </a:prstGeom>
          <a:noFill/>
        </p:spPr>
        <p:txBody>
          <a:bodyPr wrap="square">
            <a:spAutoFit/>
          </a:bodyPr>
          <a:lstStyle/>
          <a:p>
            <a:r>
              <a:rPr lang="en-US" altLang="ja-JP" dirty="0"/>
              <a:t>※</a:t>
            </a:r>
            <a:r>
              <a:rPr lang="ja-JP" altLang="en-US" dirty="0"/>
              <a:t>妥当な</a:t>
            </a:r>
            <a:r>
              <a:rPr lang="ja-JP" altLang="ja-JP" dirty="0"/>
              <a:t>検出半径またはstep</a:t>
            </a:r>
            <a:r>
              <a:rPr lang="ja-JP" altLang="en-US" dirty="0"/>
              <a:t>は</a:t>
            </a:r>
            <a:r>
              <a:rPr lang="ja-JP" altLang="ja-JP" dirty="0"/>
              <a:t>後で再検討する</a:t>
            </a:r>
            <a:endParaRPr lang="ja-JP" altLang="en-US" dirty="0"/>
          </a:p>
        </p:txBody>
      </p:sp>
      <p:pic>
        <p:nvPicPr>
          <p:cNvPr id="33" name="図 32">
            <a:extLst>
              <a:ext uri="{FF2B5EF4-FFF2-40B4-BE49-F238E27FC236}">
                <a16:creationId xmlns:a16="http://schemas.microsoft.com/office/drawing/2014/main" id="{7F87C8AD-757E-FFE0-B245-95A29790F9FC}"/>
              </a:ext>
            </a:extLst>
          </p:cNvPr>
          <p:cNvPicPr>
            <a:picLocks noChangeAspect="1"/>
          </p:cNvPicPr>
          <p:nvPr/>
        </p:nvPicPr>
        <p:blipFill>
          <a:blip r:embed="rId3"/>
          <a:stretch>
            <a:fillRect/>
          </a:stretch>
        </p:blipFill>
        <p:spPr>
          <a:xfrm>
            <a:off x="1075418" y="3235223"/>
            <a:ext cx="8437790" cy="760984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896205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軌道予測誤差：自身の</a:t>
            </a:r>
            <a:r>
              <a:rPr sz="3200" b="1" dirty="0" err="1">
                <a:solidFill>
                  <a:srgbClr val="082B52"/>
                </a:solidFill>
                <a:latin typeface="Yu Gothic"/>
              </a:rPr>
              <a:t>位置誤差をリンクLOS横断面へ投影し</a:t>
            </a:r>
            <a:r>
              <a:rPr sz="3200" b="1" dirty="0">
                <a:solidFill>
                  <a:srgbClr val="082B52"/>
                </a:solidFill>
                <a:latin typeface="Yu Gothic"/>
              </a:rPr>
              <a:t>、</a:t>
            </a:r>
            <a:r>
              <a:rPr lang="ja-JP" altLang="en-US" sz="3200" b="1" dirty="0">
                <a:solidFill>
                  <a:srgbClr val="082B52"/>
                </a:solidFill>
                <a:latin typeface="Yu Gothic"/>
              </a:rPr>
              <a:t>衛星の座標系 </a:t>
            </a:r>
            <a:r>
              <a:rPr sz="3200" b="1" dirty="0">
                <a:solidFill>
                  <a:srgbClr val="082B52"/>
                </a:solidFill>
                <a:latin typeface="Yu Gothic"/>
              </a:rPr>
              <a:t>STT/body x–</a:t>
            </a:r>
            <a:r>
              <a:rPr sz="3200" b="1" dirty="0" err="1">
                <a:solidFill>
                  <a:srgbClr val="082B52"/>
                </a:solidFill>
                <a:latin typeface="Yu Gothic"/>
              </a:rPr>
              <a:t>yへ変換する</a:t>
            </a:r>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26</a:t>
            </a:r>
            <a:endParaRPr sz="1800" b="0" dirty="0">
              <a:solidFill>
                <a:srgbClr val="666F79"/>
              </a:solidFill>
              <a:latin typeface="Yu Gothic"/>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spcAft>
                <a:spcPts val="800"/>
              </a:spcAft>
            </a:pPr>
            <a:r>
              <a:rPr sz="2400" b="1">
                <a:solidFill>
                  <a:srgbClr val="1B74AA"/>
                </a:solidFill>
                <a:latin typeface="Yu Gothic"/>
              </a:rPr>
              <a:t>• </a:t>
            </a:r>
            <a:r>
              <a:rPr sz="2400">
                <a:solidFill>
                  <a:srgbClr val="232B34"/>
                </a:solidFill>
                <a:latin typeface="Yu Gothic"/>
              </a:rPr>
              <a:t>orbit catalogから姿勢を構成</a:t>
            </a:r>
          </a:p>
          <a:p>
            <a:pPr>
              <a:spcAft>
                <a:spcPts val="800"/>
              </a:spcAft>
            </a:pPr>
            <a:r>
              <a:rPr sz="2400" b="1">
                <a:solidFill>
                  <a:srgbClr val="1B74AA"/>
                </a:solidFill>
                <a:latin typeface="Yu Gothic"/>
              </a:rPr>
              <a:t>• </a:t>
            </a:r>
            <a:r>
              <a:rPr sz="2400">
                <a:solidFill>
                  <a:srgbClr val="232B34"/>
                </a:solidFill>
                <a:latin typeface="Yu Gothic"/>
              </a:rPr>
              <a:t>STT/body x–yへ射影</a:t>
            </a:r>
          </a:p>
          <a:p>
            <a:pPr>
              <a:spcAft>
                <a:spcPts val="800"/>
              </a:spcAft>
            </a:pPr>
            <a:r>
              <a:rPr sz="2400" b="1">
                <a:solidFill>
                  <a:srgbClr val="1B74AA"/>
                </a:solidFill>
                <a:latin typeface="Yu Gothic"/>
              </a:rPr>
              <a:t>• </a:t>
            </a:r>
            <a:r>
              <a:rPr sz="2400">
                <a:solidFill>
                  <a:srgbClr val="232B34"/>
                </a:solidFill>
                <a:latin typeface="Yu Gothic"/>
              </a:rPr>
              <a:t>熱LOSと同じ2成分で加算</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r>
                        <a:rPr sz="2100" b="1">
                          <a:solidFill>
                            <a:srgbClr val="FFFFFF"/>
                          </a:solidFill>
                          <a:latin typeface="Yu Gothic"/>
                        </a:rPr>
                        <a:t>Sun</a:t>
                      </a:r>
                    </a:p>
                  </a:txBody>
                  <a:tcPr marL="64008" marR="64008" marT="27432" marB="27432" anchor="ctr">
                    <a:solidFill>
                      <a:srgbClr val="082B52"/>
                    </a:solidFill>
                  </a:tcPr>
                </a:tc>
                <a:tc>
                  <a:txBody>
                    <a:bodyPr/>
                    <a:lstStyle/>
                    <a:p>
                      <a:pPr algn="ctr"/>
                      <a:r>
                        <a:rPr sz="2100" b="1">
                          <a:solidFill>
                            <a:srgbClr val="FFFFFF"/>
                          </a:solidFill>
                          <a:latin typeface="Yu Gothic"/>
                        </a:rPr>
                        <a:t>Partner / link</a:t>
                      </a:r>
                    </a:p>
                  </a:txBody>
                  <a:tcPr marL="64008" marR="64008" marT="27432" marB="27432" anchor="ctr">
                    <a:solidFill>
                      <a:srgbClr val="082B52"/>
                    </a:solidFill>
                  </a:tcPr>
                </a:tc>
                <a:tc>
                  <a:txBody>
                    <a:bodyPr/>
                    <a:lstStyle/>
                    <a:p>
                      <a:pPr algn="ctr"/>
                      <a:r>
                        <a:rPr sz="2100" b="1">
                          <a:solidFill>
                            <a:srgbClr val="FFFFFF"/>
                          </a:solidFill>
                          <a:latin typeface="Yu Gothic"/>
                        </a:rPr>
                        <a:t>Status</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r>
                        <a:rPr sz="2100" b="0">
                          <a:solidFill>
                            <a:srgbClr val="232B34"/>
                          </a:solidFill>
                          <a:latin typeface="Yu Gothic"/>
                        </a:rPr>
                        <a:t>MY</a:t>
                      </a:r>
                    </a:p>
                  </a:txBody>
                  <a:tcPr marL="64008" marR="64008" marT="27432" marB="27432" anchor="ctr">
                    <a:solidFill>
                      <a:srgbClr val="FFFFFF"/>
                    </a:solidFill>
                  </a:tcPr>
                </a:tc>
                <a:tc>
                  <a:txBody>
                    <a:bodyPr/>
                    <a:lstStyle/>
                    <a:p>
                      <a:pPr algn="ctr"/>
                      <a:r>
                        <a:rPr sz="2100" b="0">
                          <a:solidFill>
                            <a:srgbClr val="232B34"/>
                          </a:solidFill>
                          <a:latin typeface="Yu Gothic"/>
                        </a:rPr>
                        <a:t>along-track ISL 800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r>
                        <a:rPr sz="2100" b="0">
                          <a:solidFill>
                            <a:srgbClr val="232B34"/>
                          </a:solidFill>
                          <a:latin typeface="Yu Gothic"/>
                        </a:rPr>
                        <a:t>PY</a:t>
                      </a:r>
                    </a:p>
                  </a:txBody>
                  <a:tcPr marL="64008" marR="64008" marT="27432" marB="27432" anchor="ctr">
                    <a:solidFill>
                      <a:srgbClr val="F4F6F8"/>
                    </a:solidFill>
                  </a:tcPr>
                </a:tc>
                <a:tc>
                  <a:txBody>
                    <a:bodyPr/>
                    <a:lstStyle/>
                    <a:p>
                      <a:pPr algn="ctr"/>
                      <a:r>
                        <a:rPr sz="2100" b="0">
                          <a:solidFill>
                            <a:srgbClr val="232B34"/>
                          </a:solidFill>
                          <a:latin typeface="Yu Gothic"/>
                        </a:rPr>
                        <a:t>anti-along ISL 800 km</a:t>
                      </a:r>
                    </a:p>
                  </a:txBody>
                  <a:tcPr marL="64008" marR="64008" marT="27432" marB="27432" anchor="ctr">
                    <a:solidFill>
                      <a:srgbClr val="F4F6F8"/>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r>
                        <a:rPr sz="2100" b="0">
                          <a:solidFill>
                            <a:srgbClr val="232B34"/>
                          </a:solidFill>
                          <a:latin typeface="Yu Gothic"/>
                        </a:rPr>
                        <a:t>PX</a:t>
                      </a:r>
                    </a:p>
                  </a:txBody>
                  <a:tcPr marL="64008" marR="64008" marT="27432" marB="27432" anchor="ctr">
                    <a:solidFill>
                      <a:srgbClr val="FFFFFF"/>
                    </a:solidFill>
                  </a:tcPr>
                </a:tc>
                <a:tc>
                  <a:txBody>
                    <a:bodyPr/>
                    <a:lstStyle/>
                    <a:p>
                      <a:pPr algn="ctr"/>
                      <a:r>
                        <a:rPr sz="2100" b="0">
                          <a:solidFill>
                            <a:srgbClr val="232B34"/>
                          </a:solidFill>
                          <a:latin typeface="Yu Gothic"/>
                        </a:rPr>
                        <a:t>nadir ground ~695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r>
                        <a:rPr sz="2100" b="0">
                          <a:solidFill>
                            <a:srgbClr val="232B34"/>
                          </a:solidFill>
                          <a:latin typeface="Yu Gothic"/>
                        </a:rPr>
                        <a:t>MX</a:t>
                      </a:r>
                    </a:p>
                  </a:txBody>
                  <a:tcPr marL="64008" marR="64008" marT="27432" marB="27432" anchor="ctr">
                    <a:solidFill>
                      <a:srgbClr val="F4F6F8"/>
                    </a:solidFill>
                  </a:tcPr>
                </a:tc>
                <a:tc>
                  <a:txBody>
                    <a:bodyPr/>
                    <a:lstStyle/>
                    <a:p>
                      <a:pPr algn="ctr"/>
                      <a:r>
                        <a:rPr sz="2100" b="0">
                          <a:solidFill>
                            <a:srgbClr val="232B34"/>
                          </a:solidFill>
                          <a:latin typeface="Yu Gothic"/>
                        </a:rPr>
                        <a:t>zenith proxy 800 km</a:t>
                      </a:r>
                    </a:p>
                  </a:txBody>
                  <a:tcPr marL="64008" marR="64008" marT="27432" marB="27432" anchor="ctr">
                    <a:solidFill>
                      <a:srgbClr val="F4F6F8"/>
                    </a:solidFill>
                  </a:tcPr>
                </a:tc>
                <a:tc>
                  <a:txBody>
                    <a:bodyPr/>
                    <a:lstStyle/>
                    <a:p>
                      <a:pPr algn="ctr"/>
                      <a:r>
                        <a:rPr sz="2100" b="0">
                          <a:solidFill>
                            <a:srgbClr val="232B34"/>
                          </a:solidFill>
                          <a:latin typeface="Yu Gothic"/>
                        </a:rPr>
                        <a:t>unrealistic</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B1｜21ケースの内訳と評価ID</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B1</a:t>
            </a:r>
          </a:p>
        </p:txBody>
      </p:sp>
      <p:graphicFrame>
        <p:nvGraphicFramePr>
          <p:cNvPr id="5" name="Table 4"/>
          <p:cNvGraphicFramePr>
            <a:graphicFrameLocks noGrp="1"/>
          </p:cNvGraphicFramePr>
          <p:nvPr/>
        </p:nvGraphicFramePr>
        <p:xfrm>
          <a:off x="1280160" y="2834640"/>
          <a:ext cx="21762720" cy="7315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904720">
                  <a:extLst>
                    <a:ext uri="{9D8B030D-6E8A-4147-A177-3AD203B41FA5}">
                      <a16:colId xmlns:a16="http://schemas.microsoft.com/office/drawing/2014/main" val="20002"/>
                    </a:ext>
                  </a:extLst>
                </a:gridCol>
              </a:tblGrid>
              <a:tr h="914400">
                <a:tc>
                  <a:txBody>
                    <a:bodyPr/>
                    <a:lstStyle/>
                    <a:p>
                      <a:pPr algn="l">
                        <a:spcAft>
                          <a:spcPts val="0"/>
                        </a:spcAft>
                      </a:pPr>
                      <a:r>
                        <a:rPr sz="2300" b="1">
                          <a:solidFill>
                            <a:srgbClr val="FFFFFF"/>
                          </a:solidFill>
                          <a:latin typeface="Yu Gothic"/>
                          <a:ea typeface="Yu Gothic"/>
                        </a:rPr>
                        <a:t>ケース</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太陽指向面</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発熱・条件</a:t>
                      </a:r>
                    </a:p>
                  </a:txBody>
                  <a:tcPr marL="64008" marR="64008" marT="27432" marB="27432" anchor="ctr">
                    <a:solidFill>
                      <a:srgbClr val="5D4084"/>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Yu Gothic"/>
                          <a:ea typeface="Yu Gothic"/>
                        </a:rPr>
                        <a:t>04, 13–15</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全発熱 / +PROP / +PCDU / STT・LCTのみ</a:t>
                      </a:r>
                    </a:p>
                  </a:txBody>
                  <a:tcPr marL="64008" marR="64008" marT="27432" marB="27432"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Yu Gothic"/>
                          <a:ea typeface="Yu Gothic"/>
                        </a:rPr>
                        <a:t>08, 16, 18, 19</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PY</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Yu Gothic"/>
                          <a:ea typeface="Yu Gothic"/>
                        </a:rPr>
                        <a:t>05, 06, 20, 21</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PX</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Yu Gothic"/>
                          <a:ea typeface="Yu Gothic"/>
                        </a:rPr>
                        <a:t>09, 17, 23, 24</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MX</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4"/>
                  </a:ext>
                </a:extLst>
              </a:tr>
              <a:tr h="914400">
                <a:tc>
                  <a:txBody>
                    <a:bodyPr/>
                    <a:lstStyle/>
                    <a:p>
                      <a:pPr algn="l">
                        <a:spcAft>
                          <a:spcPts val="0"/>
                        </a:spcAft>
                      </a:pPr>
                      <a:r>
                        <a:rPr sz="2300" b="0">
                          <a:solidFill>
                            <a:srgbClr val="232B34"/>
                          </a:solidFill>
                          <a:latin typeface="Yu Gothic"/>
                          <a:ea typeface="Yu Gothic"/>
                        </a:rPr>
                        <a:t>10–12</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全日照 / 太陽面Black / 全面Alodine</a:t>
                      </a:r>
                    </a:p>
                  </a:txBody>
                  <a:tcPr marL="64008" marR="64008" marT="27432" marB="27432" anchor="ctr">
                    <a:solidFill>
                      <a:srgbClr val="EBF6FB"/>
                    </a:solidFill>
                  </a:tcPr>
                </a:tc>
                <a:extLst>
                  <a:ext uri="{0D108BD9-81ED-4DB2-BD59-A6C34878D82A}">
                    <a16:rowId xmlns:a16="http://schemas.microsoft.com/office/drawing/2014/main" val="10005"/>
                  </a:ext>
                </a:extLst>
              </a:tr>
              <a:tr h="914400">
                <a:tc>
                  <a:txBody>
                    <a:bodyPr/>
                    <a:lstStyle/>
                    <a:p>
                      <a:pPr algn="l">
                        <a:spcAft>
                          <a:spcPts val="0"/>
                        </a:spcAft>
                      </a:pPr>
                      <a:r>
                        <a:rPr sz="2300" b="0">
                          <a:solidFill>
                            <a:srgbClr val="232B34"/>
                          </a:solidFill>
                          <a:latin typeface="Yu Gothic"/>
                          <a:ea typeface="Yu Gothic"/>
                        </a:rPr>
                        <a:t>22</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PROP 12.5 W（半電力）</a:t>
                      </a:r>
                    </a:p>
                  </a:txBody>
                  <a:tcPr marL="64008" marR="64008" marT="27432" marB="27432" anchor="ctr">
                    <a:solidFill>
                      <a:srgbClr val="EBF6FB"/>
                    </a:solidFill>
                  </a:tcPr>
                </a:tc>
                <a:extLst>
                  <a:ext uri="{0D108BD9-81ED-4DB2-BD59-A6C34878D82A}">
                    <a16:rowId xmlns:a16="http://schemas.microsoft.com/office/drawing/2014/main" val="10006"/>
                  </a:ext>
                </a:extLst>
              </a:tr>
              <a:tr h="914400">
                <a:tc>
                  <a:txBody>
                    <a:bodyPr/>
                    <a:lstStyle/>
                    <a:p>
                      <a:pPr algn="l">
                        <a:spcAft>
                          <a:spcPts val="0"/>
                        </a:spcAft>
                      </a:pPr>
                      <a:r>
                        <a:rPr sz="2300" b="0">
                          <a:solidFill>
                            <a:srgbClr val="232B34"/>
                          </a:solidFill>
                          <a:latin typeface="Yu Gothic"/>
                          <a:ea typeface="Yu Gothic"/>
                        </a:rPr>
                        <a:t>25</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LTAN18 / 高度693 km</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1280160" y="10424160"/>
            <a:ext cx="21762720" cy="1828800"/>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Yu Gothic"/>
                <a:ea typeface="Yu Gothic"/>
              </a:rPr>
              <a:t>評価IDは 04–06 と 08–25。01–03 と 07 はMZ太陽や設定確認のケースで除外</a:t>
            </a:r>
          </a:p>
          <a:p>
            <a:pPr algn="l">
              <a:lnSpc>
                <a:spcPct val="125000"/>
              </a:lnSpc>
              <a:spcAft>
                <a:spcPts val="0"/>
              </a:spcAft>
            </a:pPr>
            <a:r>
              <a:rPr sz="2300" b="0">
                <a:solidFill>
                  <a:srgbClr val="666F79"/>
                </a:solidFill>
                <a:latin typeface="Yu Gothic"/>
                <a:ea typeface="Yu Gothic"/>
              </a:rPr>
              <a:t>PZ/MZを太陽面にするケースは、その面にSTT/LCTがあるので設定しない</a:t>
            </a:r>
          </a:p>
          <a:p>
            <a:pPr algn="l">
              <a:lnSpc>
                <a:spcPct val="125000"/>
              </a:lnSpc>
              <a:spcAft>
                <a:spcPts val="0"/>
              </a:spcAft>
            </a:pPr>
            <a:r>
              <a:rPr sz="2300" b="0">
                <a:solidFill>
                  <a:srgbClr val="666F79"/>
                </a:solidFill>
                <a:latin typeface="Yu Gothic"/>
                <a:ea typeface="Yu Gothic"/>
              </a:rPr>
              <a:t>捕捉時間の見出しは、COLD・標準表面の14ケース（04–06, 08–09, 13–21）</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9922716"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B2｜矩形スパイラル走査の幾何</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B2</a:t>
            </a:r>
          </a:p>
        </p:txBody>
      </p:sp>
      <p:sp>
        <p:nvSpPr>
          <p:cNvPr id="5" name="Rounded Rectangle 4"/>
          <p:cNvSpPr/>
          <p:nvPr/>
        </p:nvSpPr>
        <p:spPr>
          <a:xfrm>
            <a:off x="1097280" y="2834640"/>
            <a:ext cx="9326880" cy="777240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5669280" y="6492240"/>
            <a:ext cx="658368"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327648" y="5833872"/>
            <a:ext cx="0" cy="658368"/>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010912" y="5833872"/>
            <a:ext cx="1316736"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10912" y="5833872"/>
            <a:ext cx="0" cy="1316735"/>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10912" y="7150607"/>
            <a:ext cx="1975104"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86016" y="5175504"/>
            <a:ext cx="0" cy="1975103"/>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52544" y="5175504"/>
            <a:ext cx="2633472"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52544" y="5175504"/>
            <a:ext cx="0" cy="2633471"/>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52544" y="7808975"/>
            <a:ext cx="3291839"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644383" y="4517136"/>
            <a:ext cx="0" cy="3291839"/>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96128"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54496"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54496"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37760"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937760"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12864"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12864"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279392"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279392"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571231"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71231" y="444398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86600" y="4892040"/>
            <a:ext cx="457200" cy="457200"/>
          </a:xfrm>
          <a:prstGeom prst="ellipse">
            <a:avLst/>
          </a:prstGeom>
          <a:solidFill>
            <a:srgbClr val="FEF5E6"/>
          </a:solidFill>
          <a:ln>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8" name="Table 27"/>
          <p:cNvGraphicFramePr>
            <a:graphicFrameLocks noGrp="1"/>
          </p:cNvGraphicFramePr>
          <p:nvPr>
            <p:extLst>
              <p:ext uri="{D42A27DB-BD31-4B8C-83A1-F6EECF244321}">
                <p14:modId xmlns:p14="http://schemas.microsoft.com/office/powerpoint/2010/main" val="2133534431"/>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spcAft>
                          <a:spcPts val="0"/>
                        </a:spcAft>
                        <a:buNone/>
                      </a:pPr>
                      <a:r>
                        <a:rPr sz="2400">
                          <a:solidFill>
                            <a:srgbClr val="FFFFFF"/>
                          </a:solidFill>
                          <a:latin typeface="Yu Gothic"/>
                          <a:ea typeface="Yu Gothic"/>
                        </a:rPr>
                        <a:t>パラメータ</a:t>
                      </a:r>
                    </a:p>
                  </a:txBody>
                  <a:tcPr anchor="ctr">
                    <a:solidFill>
                      <a:srgbClr val="082B52"/>
                    </a:solidFill>
                  </a:tcPr>
                </a:tc>
                <a:tc>
                  <a:txBody>
                    <a:bodyPr/>
                    <a:lstStyle/>
                    <a:p>
                      <a:pPr algn="l">
                        <a:spcAft>
                          <a:spcPts val="0"/>
                        </a:spcAft>
                        <a:buNone/>
                      </a:pPr>
                      <a:r>
                        <a:rPr sz="2400">
                          <a:solidFill>
                            <a:srgbClr val="FFFFFF"/>
                          </a:solidFill>
                          <a:latin typeface="Yu Gothic"/>
                          <a:ea typeface="Yu Gothic"/>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spcAft>
                          <a:spcPts val="0"/>
                        </a:spcAft>
                        <a:buNone/>
                      </a:pPr>
                      <a:r>
                        <a:rPr sz="2400">
                          <a:solidFill>
                            <a:srgbClr val="232B34"/>
                          </a:solidFill>
                          <a:latin typeface="Yu Gothic"/>
                          <a:ea typeface="Yu Gothic"/>
                        </a:rPr>
                        <a:t>走査範囲</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spcAft>
                          <a:spcPts val="0"/>
                        </a:spcAft>
                        <a:buNone/>
                      </a:pPr>
                      <a:r>
                        <a:rPr sz="2400">
                          <a:solidFill>
                            <a:srgbClr val="232B34"/>
                          </a:solidFill>
                          <a:latin typeface="Yu Gothic"/>
                          <a:ea typeface="Yu Gothic"/>
                        </a:rPr>
                        <a:t>点間隔</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120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spcAft>
                          <a:spcPts val="0"/>
                        </a:spcAft>
                        <a:buNone/>
                      </a:pPr>
                      <a:r>
                        <a:rPr sz="2400">
                          <a:solidFill>
                            <a:srgbClr val="232B34"/>
                          </a:solidFill>
                          <a:latin typeface="Yu Gothic"/>
                          <a:ea typeface="Yu Gothic"/>
                        </a:rPr>
                        <a:t>検出半径</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150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spcAft>
                          <a:spcPts val="0"/>
                        </a:spcAft>
                        <a:buNone/>
                      </a:pPr>
                      <a:r>
                        <a:rPr sz="2400">
                          <a:solidFill>
                            <a:srgbClr val="232B34"/>
                          </a:solidFill>
                          <a:latin typeface="Yu Gothic"/>
                          <a:ea typeface="Yu Gothic"/>
                        </a:rPr>
                        <a:t>滞在時間</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spcAft>
                          <a:spcPts val="0"/>
                        </a:spcAft>
                        <a:buNone/>
                      </a:pPr>
                      <a:r>
                        <a:rPr sz="2400">
                          <a:solidFill>
                            <a:srgbClr val="232B34"/>
                          </a:solidFill>
                          <a:latin typeface="Yu Gothic"/>
                          <a:ea typeface="Yu Gothic"/>
                        </a:rPr>
                        <a:t>総走査点数</a:t>
                      </a:r>
                    </a:p>
                  </a:txBody>
                  <a:tcPr anchor="ctr">
                    <a:solidFill>
                      <a:srgbClr val="FFFFFF"/>
                    </a:solidFill>
                  </a:tcPr>
                </a:tc>
                <a:tc>
                  <a:txBody>
                    <a:bodyPr/>
                    <a:lstStyle/>
                    <a:p>
                      <a:pPr algn="l">
                        <a:spcAft>
                          <a:spcPts val="0"/>
                        </a:spcAft>
                        <a:buNone/>
                      </a:pPr>
                      <a:r>
                        <a:rPr sz="2400">
                          <a:solidFill>
                            <a:srgbClr val="232B34"/>
                          </a:solidFill>
                          <a:latin typeface="Yu Gothic"/>
                          <a:ea typeface="Yu Gothic"/>
                        </a:rPr>
                        <a:t>27 × 27 = 729点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spcAft>
                          <a:spcPts val="0"/>
                        </a:spcAft>
                        <a:buNone/>
                      </a:pPr>
                      <a:r>
                        <a:rPr sz="2400">
                          <a:solidFill>
                            <a:srgbClr val="232B34"/>
                          </a:solidFill>
                          <a:latin typeface="Yu Gothic"/>
                          <a:ea typeface="Yu Gothic"/>
                        </a:rPr>
                        <a:t>最大走査時間</a:t>
                      </a:r>
                    </a:p>
                  </a:txBody>
                  <a:tcPr anchor="ctr">
                    <a:solidFill>
                      <a:srgbClr val="F4F6F8"/>
                    </a:solidFill>
                  </a:tcPr>
                </a:tc>
                <a:tc>
                  <a:txBody>
                    <a:bodyPr/>
                    <a:lstStyle/>
                    <a:p>
                      <a:pPr algn="l">
                        <a:spcAft>
                          <a:spcPts val="0"/>
                        </a:spcAft>
                        <a:buNone/>
                      </a:pPr>
                      <a:r>
                        <a:rPr sz="2400">
                          <a:solidFill>
                            <a:srgbClr val="232B34"/>
                          </a:solidFill>
                          <a:latin typeface="Yu Gothic"/>
                          <a:ea typeface="Yu Gothic"/>
                        </a:rPr>
                        <a:t>72.9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088135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3" name="TextBox 32"/>
          <p:cNvSpPr txBox="1"/>
          <p:nvPr/>
        </p:nvSpPr>
        <p:spPr>
          <a:xfrm>
            <a:off x="12252960" y="9052560"/>
            <a:ext cx="10881360" cy="914400"/>
          </a:xfrm>
          <a:prstGeom prst="rect">
            <a:avLst/>
          </a:prstGeom>
          <a:noFill/>
        </p:spPr>
        <p:txBody>
          <a:bodyPr wrap="square" lIns="45720" tIns="18288" rIns="45720" bIns="18288" anchor="t">
            <a:spAutoFit/>
          </a:bodyPr>
          <a:lstStyle/>
          <a:p>
            <a:pPr algn="l">
              <a:lnSpc>
                <a:spcPct val="120000"/>
              </a:lnSpc>
              <a:spcAft>
                <a:spcPts val="0"/>
              </a:spcAft>
            </a:pPr>
            <a:r>
              <a:rPr sz="2300" b="1">
                <a:solidFill>
                  <a:srgbClr val="239571"/>
                </a:solidFill>
                <a:latin typeface="Yu Gothic"/>
                <a:ea typeface="Yu Gothic"/>
              </a:rPr>
              <a:t>格子対角の半分 120/√2 ≈ 85 µrad &lt; 検出半径 150 µrad なので掃き残しは無い</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8962050"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B3｜軌道予測誤差の作り方と、リンク横断面への射影</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B3</a:t>
            </a: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lnSpc>
                <a:spcPct val="110000"/>
              </a:lnSpc>
              <a:spcAft>
                <a:spcPts val="1000"/>
              </a:spcAft>
            </a:pPr>
            <a:r>
              <a:rPr sz="2400" b="0">
                <a:solidFill>
                  <a:srgbClr val="232B34"/>
                </a:solidFill>
                <a:latin typeface="Yu Gothic"/>
                <a:ea typeface="Yu Gothic"/>
              </a:rPr>
              <a:t>• 真値は Sentinel-1 の高精度暦 POEORB</a:t>
            </a:r>
          </a:p>
          <a:p>
            <a:pPr>
              <a:lnSpc>
                <a:spcPct val="110000"/>
              </a:lnSpc>
              <a:spcAft>
                <a:spcPts val="1000"/>
              </a:spcAft>
            </a:pPr>
            <a:r>
              <a:rPr sz="2400" b="0">
                <a:solidFill>
                  <a:srgbClr val="232B34"/>
                </a:solidFill>
                <a:latin typeface="Yu Gothic"/>
                <a:ea typeface="Yu Gothic"/>
              </a:rPr>
              <a:t>• 予測は直近のTLEを SGP4 で前方伝播</a:t>
            </a:r>
          </a:p>
          <a:p>
            <a:pPr>
              <a:lnSpc>
                <a:spcPct val="110000"/>
              </a:lnSpc>
              <a:spcAft>
                <a:spcPts val="1000"/>
              </a:spcAft>
            </a:pPr>
            <a:r>
              <a:rPr sz="2400" b="0">
                <a:solidFill>
                  <a:srgbClr val="232B34"/>
                </a:solidFill>
                <a:latin typeface="Yu Gothic"/>
                <a:ea typeface="Yu Gothic"/>
              </a:rPr>
              <a:t>• 差をリンク横断面へ射影し、x–y の2成分にする</a:t>
            </a:r>
          </a:p>
          <a:p>
            <a:pPr>
              <a:lnSpc>
                <a:spcPct val="110000"/>
              </a:lnSpc>
              <a:spcAft>
                <a:spcPts val="1000"/>
              </a:spcAft>
            </a:pPr>
            <a:r>
              <a:rPr sz="2400" b="0">
                <a:solidFill>
                  <a:srgbClr val="232B34"/>
                </a:solidFill>
                <a:latin typeface="Yu Gothic"/>
                <a:ea typeface="Yu Gothic"/>
              </a:rPr>
              <a:t>• 熱LOSと同じ2成分で足し合わせる</a:t>
            </a:r>
          </a:p>
          <a:p>
            <a:pPr>
              <a:lnSpc>
                <a:spcPct val="110000"/>
              </a:lnSpc>
              <a:spcAft>
                <a:spcPts val="1000"/>
              </a:spcAft>
            </a:pPr>
            <a:r>
              <a:rPr sz="2400" b="0">
                <a:solidFill>
                  <a:srgbClr val="232B34"/>
                </a:solidFill>
                <a:latin typeface="Yu Gothic"/>
                <a:ea typeface="Yu Gothic"/>
              </a:rPr>
              <a:t>• 時系列の不連続は、TLEが更新された時刻</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spcAft>
                          <a:spcPts val="0"/>
                        </a:spcAft>
                      </a:pPr>
                      <a:r>
                        <a:rPr sz="2100" b="1">
                          <a:solidFill>
                            <a:srgbClr val="FFFFFF"/>
                          </a:solidFill>
                          <a:latin typeface="Yu Gothic"/>
                          <a:ea typeface="Yu Gothic"/>
                        </a:rPr>
                        <a:t>太陽指向面</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通信相手とリンク</a:t>
                      </a:r>
                    </a:p>
                  </a:txBody>
                  <a:tcPr marL="64008" marR="64008" marT="27432" marB="27432" anchor="ctr">
                    <a:solidFill>
                      <a:srgbClr val="082B52"/>
                    </a:solidFill>
                  </a:tcPr>
                </a:tc>
                <a:tc>
                  <a:txBody>
                    <a:bodyPr/>
                    <a:lstStyle/>
                    <a:p>
                      <a:pPr algn="ctr">
                        <a:spcAft>
                          <a:spcPts val="0"/>
                        </a:spcAft>
                      </a:pPr>
                      <a:r>
                        <a:rPr sz="2100" b="1">
                          <a:solidFill>
                            <a:srgbClr val="FFFFFF"/>
                          </a:solidFill>
                          <a:latin typeface="Yu Gothic"/>
                          <a:ea typeface="Yu Gothic"/>
                        </a:rPr>
                        <a:t>扱い</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spcAft>
                          <a:spcPts val="0"/>
                        </a:spcAft>
                      </a:pPr>
                      <a:r>
                        <a:rPr sz="2100" b="0">
                          <a:solidFill>
                            <a:srgbClr val="232B34"/>
                          </a:solidFill>
                          <a:latin typeface="Yu Gothic"/>
                          <a:ea typeface="Yu Gothic"/>
                        </a:rPr>
                        <a:t>MY</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進行方向の衛星（高度800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spcAft>
                          <a:spcPts val="0"/>
                        </a:spcAft>
                      </a:pPr>
                      <a:r>
                        <a:rPr sz="2100" b="0">
                          <a:solidFill>
                            <a:srgbClr val="232B34"/>
                          </a:solidFill>
                          <a:latin typeface="Yu Gothic"/>
                          <a:ea typeface="Yu Gothic"/>
                        </a:rPr>
                        <a:t>PY</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逆進行方向の衛星（高度800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spcAft>
                          <a:spcPts val="0"/>
                        </a:spcAft>
                      </a:pPr>
                      <a:r>
                        <a:rPr sz="2100" b="0">
                          <a:solidFill>
                            <a:srgbClr val="232B34"/>
                          </a:solidFill>
                          <a:latin typeface="Yu Gothic"/>
                          <a:ea typeface="Yu Gothic"/>
                        </a:rPr>
                        <a:t>PX</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直下の地上局（約695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Yu Gothic"/>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spcAft>
                          <a:spcPts val="0"/>
                        </a:spcAft>
                      </a:pPr>
                      <a:r>
                        <a:rPr sz="2100" b="0">
                          <a:solidFill>
                            <a:srgbClr val="232B34"/>
                          </a:solidFill>
                          <a:latin typeface="Yu Gothic"/>
                          <a:ea typeface="Yu Gothic"/>
                        </a:rPr>
                        <a:t>MX</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天頂側に置いた仮想の相手（800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Yu Gothic"/>
                          <a:ea typeface="Yu Gothic"/>
                        </a:rPr>
                        <a:t>幾何のみ・非現実的</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0525445"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B4｜熱と軌道予測は同じ軌道周期。周波数では分けない</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B4</a:t>
            </a:r>
          </a:p>
        </p:txBody>
      </p:sp>
      <p:sp>
        <p:nvSpPr>
          <p:cNvPr id="5" name="Rectangle 4"/>
          <p:cNvSpPr/>
          <p:nvPr/>
        </p:nvSpPr>
        <p:spPr>
          <a:xfrm>
            <a:off x="914400" y="274320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orbit_error_stt_LTAN06_800km_1213COLD_MY_SUN_3orbits.png"/>
          <p:cNvPicPr>
            <a:picLocks noChangeAspect="1"/>
          </p:cNvPicPr>
          <p:nvPr/>
        </p:nvPicPr>
        <p:blipFill>
          <a:blip r:embed="rId3"/>
          <a:stretch>
            <a:fillRect/>
          </a:stretch>
        </p:blipFill>
        <p:spPr>
          <a:xfrm>
            <a:off x="4297679" y="2743200"/>
            <a:ext cx="8046720" cy="8046720"/>
          </a:xfrm>
          <a:prstGeom prst="rect">
            <a:avLst/>
          </a:prstGeom>
        </p:spPr>
      </p:pic>
      <p:graphicFrame>
        <p:nvGraphicFramePr>
          <p:cNvPr id="7" name="Table 6"/>
          <p:cNvGraphicFramePr>
            <a:graphicFrameLocks noGrp="1"/>
          </p:cNvGraphicFramePr>
          <p:nvPr/>
        </p:nvGraphicFramePr>
        <p:xfrm>
          <a:off x="16367759" y="2926080"/>
          <a:ext cx="6583680" cy="47548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950976">
                <a:tc>
                  <a:txBody>
                    <a:bodyPr/>
                    <a:lstStyle/>
                    <a:p>
                      <a:pPr algn="l">
                        <a:spcAft>
                          <a:spcPts val="0"/>
                        </a:spcAft>
                      </a:pPr>
                      <a:r>
                        <a:rPr sz="2300" b="1">
                          <a:solidFill>
                            <a:srgbClr val="FFFFFF"/>
                          </a:solidFill>
                          <a:latin typeface="Yu Gothic"/>
                          <a:ea typeface="Yu Gothic"/>
                        </a:rPr>
                        <a:t>リンク</a:t>
                      </a:r>
                    </a:p>
                  </a:txBody>
                  <a:tcPr marL="64008" marR="64008" marT="27432" marB="27432" anchor="ctr">
                    <a:solidFill>
                      <a:srgbClr val="082B52"/>
                    </a:solidFill>
                  </a:tcPr>
                </a:tc>
                <a:tc>
                  <a:txBody>
                    <a:bodyPr/>
                    <a:lstStyle/>
                    <a:p>
                      <a:pPr algn="ctr">
                        <a:spcAft>
                          <a:spcPts val="0"/>
                        </a:spcAft>
                      </a:pPr>
                      <a:r>
                        <a:rPr sz="2300" b="1">
                          <a:solidFill>
                            <a:srgbClr val="FFFFFF"/>
                          </a:solidFill>
                          <a:latin typeface="Yu Gothic"/>
                          <a:ea typeface="Yu Gothic"/>
                        </a:rPr>
                        <a:t>位置誤差の平均</a:t>
                      </a: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spcAft>
                          <a:spcPts val="0"/>
                        </a:spcAft>
                      </a:pPr>
                      <a:r>
                        <a:rPr sz="2300" b="0">
                          <a:solidFill>
                            <a:srgbClr val="232B34"/>
                          </a:solidFill>
                          <a:latin typeface="Yu Gothic"/>
                          <a:ea typeface="Yu Gothic"/>
                        </a:rPr>
                        <a:t>MY：進行方向の衛星</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spcAft>
                          <a:spcPts val="0"/>
                        </a:spcAft>
                      </a:pPr>
                      <a:r>
                        <a:rPr sz="2300" b="0">
                          <a:solidFill>
                            <a:srgbClr val="232B34"/>
                          </a:solidFill>
                          <a:latin typeface="Yu Gothic"/>
                          <a:ea typeface="Yu Gothic"/>
                        </a:rPr>
                        <a:t>PY：逆方向の衛星</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spcAft>
                          <a:spcPts val="0"/>
                        </a:spcAft>
                      </a:pPr>
                      <a:r>
                        <a:rPr sz="2300" b="0">
                          <a:solidFill>
                            <a:srgbClr val="232B34"/>
                          </a:solidFill>
                          <a:latin typeface="Yu Gothic"/>
                          <a:ea typeface="Yu Gothic"/>
                        </a:rPr>
                        <a:t>PX：直下の地上局</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約694 µrad</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spcAft>
                          <a:spcPts val="0"/>
                        </a:spcAft>
                      </a:pPr>
                      <a:r>
                        <a:rPr sz="2300" b="0">
                          <a:solidFill>
                            <a:srgbClr val="232B34"/>
                          </a:solidFill>
                          <a:latin typeface="Yu Gothic"/>
                          <a:ea typeface="Yu Gothic"/>
                        </a:rPr>
                        <a:t>MX：天頂側の仮想</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約612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16367759" y="8229600"/>
            <a:ext cx="6583680" cy="219456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733520" y="8641080"/>
            <a:ext cx="5852160" cy="1097280"/>
          </a:xfrm>
          <a:prstGeom prst="rect">
            <a:avLst/>
          </a:prstGeom>
          <a:noFill/>
        </p:spPr>
        <p:txBody>
          <a:bodyPr wrap="square" lIns="36576" tIns="27432" rIns="36576" bIns="27432" anchor="t">
            <a:spAutoFit/>
          </a:bodyPr>
          <a:lstStyle/>
          <a:p>
            <a:pPr algn="ctr">
              <a:lnSpc>
                <a:spcPct val="120000"/>
              </a:lnSpc>
              <a:spcAft>
                <a:spcPts val="0"/>
              </a:spcAft>
            </a:pPr>
            <a:r>
              <a:rPr sz="2400" b="1">
                <a:solidFill>
                  <a:srgbClr val="EC9427"/>
                </a:solidFill>
                <a:latin typeface="Yu Gothic"/>
                <a:ea typeface="Yu Gothic"/>
              </a:rPr>
              <a:t>熱：約101分</a:t>
            </a:r>
          </a:p>
          <a:p>
            <a:pPr algn="ctr">
              <a:lnSpc>
                <a:spcPct val="120000"/>
              </a:lnSpc>
              <a:spcAft>
                <a:spcPts val="0"/>
              </a:spcAft>
            </a:pPr>
            <a:r>
              <a:rPr sz="2400" b="1">
                <a:solidFill>
                  <a:srgbClr val="EC9427"/>
                </a:solidFill>
                <a:latin typeface="Yu Gothic"/>
                <a:ea typeface="Yu Gothic"/>
              </a:rPr>
              <a:t>軌道予測：約101分 と約50分</a:t>
            </a:r>
          </a:p>
        </p:txBody>
      </p:sp>
      <p:sp>
        <p:nvSpPr>
          <p:cNvPr id="10" name="TextBox 9"/>
          <p:cNvSpPr txBox="1"/>
          <p:nvPr/>
        </p:nvSpPr>
        <p:spPr>
          <a:xfrm>
            <a:off x="1097280" y="11247120"/>
            <a:ext cx="22128480" cy="1188720"/>
          </a:xfrm>
          <a:prstGeom prst="rect">
            <a:avLst/>
          </a:prstGeom>
          <a:noFill/>
        </p:spPr>
        <p:txBody>
          <a:bodyPr wrap="square" lIns="36576" tIns="27432" rIns="36576" bIns="27432" anchor="t">
            <a:spAutoFit/>
          </a:bodyPr>
          <a:lstStyle/>
          <a:p>
            <a:pPr algn="ctr">
              <a:lnSpc>
                <a:spcPct val="120000"/>
              </a:lnSpc>
              <a:spcAft>
                <a:spcPts val="0"/>
              </a:spcAft>
            </a:pPr>
            <a:r>
              <a:rPr sz="2500" b="1">
                <a:solidFill>
                  <a:srgbClr val="082B52"/>
                </a:solidFill>
                <a:latin typeface="Yu Gothic"/>
                <a:ea typeface="Yu Gothic"/>
              </a:rPr>
              <a:t>熱ひずみと軌道予測誤差は、大きさも周波数帯も同程度</a:t>
            </a:r>
            <a:endParaRPr lang="en-US" sz="2900" b="1" dirty="0">
              <a:solidFill>
                <a:srgbClr val="D03B46"/>
              </a:solidFill>
              <a:latin typeface="Yu Gothic"/>
            </a:endParaRPr>
          </a:p>
          <a:p>
            <a:pPr algn="ctr">
              <a:lnSpc>
                <a:spcPct val="120000"/>
              </a:lnSpc>
              <a:spcAft>
                <a:spcPts val="0"/>
              </a:spcAft>
            </a:pPr>
            <a:r>
              <a:rPr sz="2500" b="1">
                <a:solidFill>
                  <a:srgbClr val="082B52"/>
                </a:solidFill>
                <a:latin typeface="Yu Gothic"/>
                <a:ea typeface="Yu Gothic"/>
              </a:rPr>
              <a:t>『低周波＝熱』という分離は主張しない。温度という別入力で捕捉前に引く</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B5｜LOS定義の比較と、並進を入れない理由</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B5</a:t>
            </a:r>
          </a:p>
        </p:txBody>
      </p:sp>
      <p:sp>
        <p:nvSpPr>
          <p:cNvPr id="5" name="Rectangle 4"/>
          <p:cNvSpPr/>
          <p:nvPr/>
        </p:nvSpPr>
        <p:spPr>
          <a:xfrm>
            <a:off x="1097280" y="2743200"/>
            <a:ext cx="21945600" cy="841248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los_definition_comparison.png"/>
          <p:cNvPicPr>
            <a:picLocks noChangeAspect="1"/>
          </p:cNvPicPr>
          <p:nvPr/>
        </p:nvPicPr>
        <p:blipFill>
          <a:blip r:embed="rId3"/>
          <a:stretch>
            <a:fillRect/>
          </a:stretch>
        </p:blipFill>
        <p:spPr>
          <a:xfrm>
            <a:off x="7443216" y="2743200"/>
            <a:ext cx="9253728" cy="8412480"/>
          </a:xfrm>
          <a:prstGeom prst="rect">
            <a:avLst/>
          </a:prstGeom>
        </p:spPr>
      </p:pic>
      <p:sp>
        <p:nvSpPr>
          <p:cNvPr id="7" name="TextBox 6"/>
          <p:cNvSpPr txBox="1"/>
          <p:nvPr/>
        </p:nvSpPr>
        <p:spPr>
          <a:xfrm>
            <a:off x="1097280" y="11338560"/>
            <a:ext cx="21945600" cy="1188720"/>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Yu Gothic"/>
                <a:ea typeface="Yu Gothic"/>
              </a:rPr>
              <a:t>代表節点の回転を機器姿勢の代理にしている。取付面全体の剛体フィットは今後</a:t>
            </a:r>
          </a:p>
          <a:p>
            <a:pPr algn="l">
              <a:lnSpc>
                <a:spcPct val="125000"/>
              </a:lnSpc>
              <a:spcAft>
                <a:spcPts val="0"/>
              </a:spcAft>
            </a:pPr>
            <a:r>
              <a:rPr sz="2300" b="0">
                <a:solidFill>
                  <a:srgbClr val="666F79"/>
                </a:solidFill>
                <a:latin typeface="Yu Gothic"/>
                <a:ea typeface="Yu Gothic"/>
              </a:rPr>
              <a:t>代表点間の並進による傾きは、衛星間距離で割ると小さいので捕捉評価には入れていない</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B6（1/2）｜モデルが難しいケース</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B6</a:t>
            </a:r>
          </a:p>
        </p:txBody>
      </p:sp>
      <p:graphicFrame>
        <p:nvGraphicFramePr>
          <p:cNvPr id="5" name="Table 4"/>
          <p:cNvGraphicFramePr>
            <a:graphicFrameLocks noGrp="1"/>
          </p:cNvGraphicFramePr>
          <p:nvPr/>
        </p:nvGraphicFramePr>
        <p:xfrm>
          <a:off x="1463040" y="3291840"/>
          <a:ext cx="21396960" cy="4754880"/>
        </p:xfrm>
        <a:graphic>
          <a:graphicData uri="http://schemas.openxmlformats.org/drawingml/2006/table">
            <a:tbl>
              <a:tblPr firstRow="1" bandRow="1">
                <a:tableStyleId>{5C22544A-7EE6-4342-B048-85BDC9FD1C3A}</a:tableStyleId>
              </a:tblPr>
              <a:tblGrid>
                <a:gridCol w="5349240">
                  <a:extLst>
                    <a:ext uri="{9D8B030D-6E8A-4147-A177-3AD203B41FA5}">
                      <a16:colId xmlns:a16="http://schemas.microsoft.com/office/drawing/2014/main" val="20000"/>
                    </a:ext>
                  </a:extLst>
                </a:gridCol>
                <a:gridCol w="3209544">
                  <a:extLst>
                    <a:ext uri="{9D8B030D-6E8A-4147-A177-3AD203B41FA5}">
                      <a16:colId xmlns:a16="http://schemas.microsoft.com/office/drawing/2014/main" val="20001"/>
                    </a:ext>
                  </a:extLst>
                </a:gridCol>
                <a:gridCol w="12838176">
                  <a:extLst>
                    <a:ext uri="{9D8B030D-6E8A-4147-A177-3AD203B41FA5}">
                      <a16:colId xmlns:a16="http://schemas.microsoft.com/office/drawing/2014/main" val="20002"/>
                    </a:ext>
                  </a:extLst>
                </a:gridCol>
              </a:tblGrid>
              <a:tr h="1188720">
                <a:tc>
                  <a:txBody>
                    <a:bodyPr/>
                    <a:lstStyle/>
                    <a:p>
                      <a:pPr algn="l">
                        <a:spcAft>
                          <a:spcPts val="0"/>
                        </a:spcAft>
                      </a:pPr>
                      <a:r>
                        <a:rPr sz="2400" b="1">
                          <a:solidFill>
                            <a:srgbClr val="FFFFFF"/>
                          </a:solidFill>
                          <a:latin typeface="Yu Gothic"/>
                          <a:ea typeface="Yu Gothic"/>
                        </a:rPr>
                        <a:t>ケース</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残差</a:t>
                      </a:r>
                    </a:p>
                  </a:txBody>
                  <a:tcPr marL="128016" marR="128016" anchor="ctr">
                    <a:solidFill>
                      <a:srgbClr val="082B52"/>
                    </a:solidFill>
                  </a:tcPr>
                </a:tc>
                <a:tc>
                  <a:txBody>
                    <a:bodyPr/>
                    <a:lstStyle/>
                    <a:p>
                      <a:pPr algn="ctr">
                        <a:spcAft>
                          <a:spcPts val="0"/>
                        </a:spcAft>
                      </a:pPr>
                      <a:r>
                        <a:rPr sz="2400" b="1">
                          <a:solidFill>
                            <a:srgbClr val="FFFFFF"/>
                          </a:solidFill>
                          <a:latin typeface="Yu Gothic"/>
                          <a:ea typeface="Yu Gothic"/>
                        </a:rPr>
                        <a:t>何が表せていないか</a:t>
                      </a:r>
                    </a:p>
                  </a:txBody>
                  <a:tcPr marL="128016" marR="128016"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400" b="0">
                          <a:solidFill>
                            <a:srgbClr val="232B34"/>
                          </a:solidFill>
                          <a:latin typeface="Yu Gothic"/>
                          <a:ea typeface="Yu Gothic"/>
                        </a:rPr>
                        <a:t>太陽面Black被覆</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約13 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被覆を変えると感度と変動幅が動く。係数は標準表面で決めている</a:t>
                      </a:r>
                    </a:p>
                  </a:txBody>
                  <a:tcPr marL="128016" marR="128016" anchor="ctr">
                    <a:solidFill>
                      <a:srgbClr val="EBF6FB"/>
                    </a:solidFill>
                  </a:tcPr>
                </a:tc>
                <a:extLst>
                  <a:ext uri="{0D108BD9-81ED-4DB2-BD59-A6C34878D82A}">
                    <a16:rowId xmlns:a16="http://schemas.microsoft.com/office/drawing/2014/main" val="10001"/>
                  </a:ext>
                </a:extLst>
              </a:tr>
              <a:tr h="1188720">
                <a:tc>
                  <a:txBody>
                    <a:bodyPr/>
                    <a:lstStyle/>
                    <a:p>
                      <a:pPr algn="l">
                        <a:spcAft>
                          <a:spcPts val="0"/>
                        </a:spcAft>
                      </a:pPr>
                      <a:r>
                        <a:rPr sz="2400" b="0">
                          <a:solidFill>
                            <a:srgbClr val="232B34"/>
                          </a:solidFill>
                          <a:latin typeface="Yu Gothic"/>
                          <a:ea typeface="Yu Gothic"/>
                        </a:rPr>
                        <a:t>PROP半電力（12.5 W）</a:t>
                      </a:r>
                    </a:p>
                  </a:txBody>
                  <a:tcPr marL="128016" marR="128016" anchor="ctr">
                    <a:solidFill>
                      <a:srgbClr val="F4F6F8"/>
                    </a:solidFill>
                  </a:tcPr>
                </a:tc>
                <a:tc>
                  <a:txBody>
                    <a:bodyPr/>
                    <a:lstStyle/>
                    <a:p>
                      <a:pPr algn="ctr">
                        <a:spcAft>
                          <a:spcPts val="0"/>
                        </a:spcAft>
                      </a:pPr>
                      <a:r>
                        <a:rPr sz="2400" b="0">
                          <a:solidFill>
                            <a:srgbClr val="232B34"/>
                          </a:solidFill>
                          <a:latin typeface="Yu Gothic"/>
                          <a:ea typeface="Yu Gothic"/>
                        </a:rPr>
                        <a:t>約16 µrad</a:t>
                      </a:r>
                    </a:p>
                  </a:txBody>
                  <a:tcPr marL="128016" marR="128016" anchor="ctr">
                    <a:solidFill>
                      <a:srgbClr val="F4F6F8"/>
                    </a:solidFill>
                  </a:tcPr>
                </a:tc>
                <a:tc>
                  <a:txBody>
                    <a:bodyPr/>
                    <a:lstStyle/>
                    <a:p>
                      <a:pPr algn="ctr">
                        <a:spcAft>
                          <a:spcPts val="0"/>
                        </a:spcAft>
                      </a:pPr>
                      <a:r>
                        <a:rPr sz="2400" b="0">
                          <a:solidFill>
                            <a:srgbClr val="232B34"/>
                          </a:solidFill>
                          <a:latin typeface="Yu Gothic"/>
                          <a:ea typeface="Yu Gothic"/>
                        </a:rPr>
                        <a:t>ON/OFFの二値フラグでは25 Wと12.5 Wを区別できない</a:t>
                      </a:r>
                    </a:p>
                  </a:txBody>
                  <a:tcPr marL="128016" marR="128016" anchor="ctr">
                    <a:solidFill>
                      <a:srgbClr val="EBF6FB"/>
                    </a:solidFill>
                  </a:tcPr>
                </a:tc>
                <a:extLst>
                  <a:ext uri="{0D108BD9-81ED-4DB2-BD59-A6C34878D82A}">
                    <a16:rowId xmlns:a16="http://schemas.microsoft.com/office/drawing/2014/main" val="10002"/>
                  </a:ext>
                </a:extLst>
              </a:tr>
              <a:tr h="1188720">
                <a:tc>
                  <a:txBody>
                    <a:bodyPr/>
                    <a:lstStyle/>
                    <a:p>
                      <a:pPr algn="l">
                        <a:spcAft>
                          <a:spcPts val="0"/>
                        </a:spcAft>
                      </a:pPr>
                      <a:r>
                        <a:rPr sz="2400" b="0">
                          <a:solidFill>
                            <a:srgbClr val="232B34"/>
                          </a:solidFill>
                          <a:latin typeface="Yu Gothic"/>
                          <a:ea typeface="Yu Gothic"/>
                        </a:rPr>
                        <a:t>全日照（HOT）軌道</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DCが数µrad</a:t>
                      </a:r>
                    </a:p>
                  </a:txBody>
                  <a:tcPr marL="128016" marR="128016" anchor="ctr">
                    <a:solidFill>
                      <a:srgbClr val="FFFFFF"/>
                    </a:solidFill>
                  </a:tcPr>
                </a:tc>
                <a:tc>
                  <a:txBody>
                    <a:bodyPr/>
                    <a:lstStyle/>
                    <a:p>
                      <a:pPr algn="ctr">
                        <a:spcAft>
                          <a:spcPts val="0"/>
                        </a:spcAft>
                      </a:pPr>
                      <a:r>
                        <a:rPr sz="2400" b="0">
                          <a:solidFill>
                            <a:srgbClr val="232B34"/>
                          </a:solidFill>
                          <a:latin typeface="Yu Gothic"/>
                          <a:ea typeface="Yu Gothic"/>
                        </a:rPr>
                        <a:t>蝕がなく熱がほぼ一定。平均の予測が軌道条件の外へ出ている</a:t>
                      </a:r>
                    </a:p>
                  </a:txBody>
                  <a:tcPr marL="128016" marR="128016" anchor="ctr">
                    <a:solidFill>
                      <a:srgbClr val="EBF6FB"/>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1463040" y="8778240"/>
            <a:ext cx="10424160" cy="2926080"/>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828800" y="9006840"/>
            <a:ext cx="9692640" cy="502920"/>
          </a:xfrm>
          <a:prstGeom prst="rect">
            <a:avLst/>
          </a:prstGeom>
          <a:noFill/>
        </p:spPr>
        <p:txBody>
          <a:bodyPr wrap="square" lIns="45720" tIns="18288" rIns="45720" bIns="18288" anchor="t">
            <a:spAutoFit/>
          </a:bodyPr>
          <a:lstStyle/>
          <a:p>
            <a:pPr algn="l">
              <a:spcAft>
                <a:spcPts val="0"/>
              </a:spcAft>
            </a:pPr>
            <a:r>
              <a:rPr sz="2600" b="1">
                <a:solidFill>
                  <a:srgbClr val="082B52"/>
                </a:solidFill>
                <a:latin typeface="Yu Gothic"/>
                <a:ea typeface="Yu Gothic"/>
              </a:rPr>
              <a:t>共通する構図</a:t>
            </a:r>
          </a:p>
        </p:txBody>
      </p:sp>
      <p:sp>
        <p:nvSpPr>
          <p:cNvPr id="8" name="TextBox 7"/>
          <p:cNvSpPr txBox="1"/>
          <p:nvPr/>
        </p:nvSpPr>
        <p:spPr>
          <a:xfrm>
            <a:off x="1828800" y="9646920"/>
            <a:ext cx="9692640" cy="1828800"/>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Yu Gothic"/>
                <a:ea typeface="Yu Gothic"/>
              </a:rPr>
              <a:t>時変の項ではなく、ケース平均の側が外れている。</a:t>
            </a:r>
          </a:p>
          <a:p>
            <a:pPr algn="l">
              <a:lnSpc>
                <a:spcPct val="125000"/>
              </a:lnSpc>
              <a:spcAft>
                <a:spcPts val="0"/>
              </a:spcAft>
            </a:pPr>
            <a:r>
              <a:rPr sz="2400" b="0">
                <a:solidFill>
                  <a:srgbClr val="232B34"/>
                </a:solidFill>
                <a:latin typeface="Yu Gothic"/>
                <a:ea typeface="Yu Gothic"/>
              </a:rPr>
              <a:t>被覆・軌道・連続発熱量はいまの入力に入っていない</a:t>
            </a:r>
          </a:p>
        </p:txBody>
      </p:sp>
      <p:sp>
        <p:nvSpPr>
          <p:cNvPr id="9" name="Rounded Rectangle 8"/>
          <p:cNvSpPr/>
          <p:nvPr/>
        </p:nvSpPr>
        <p:spPr>
          <a:xfrm>
            <a:off x="12435840" y="8778240"/>
            <a:ext cx="10424160" cy="29260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2801600" y="9006840"/>
            <a:ext cx="9692640" cy="502920"/>
          </a:xfrm>
          <a:prstGeom prst="rect">
            <a:avLst/>
          </a:prstGeom>
          <a:noFill/>
        </p:spPr>
        <p:txBody>
          <a:bodyPr wrap="square" lIns="45720" tIns="18288" rIns="45720" bIns="18288" anchor="t">
            <a:spAutoFit/>
          </a:bodyPr>
          <a:lstStyle/>
          <a:p>
            <a:pPr algn="l">
              <a:spcAft>
                <a:spcPts val="0"/>
              </a:spcAft>
            </a:pPr>
            <a:r>
              <a:rPr sz="2600" b="1">
                <a:solidFill>
                  <a:srgbClr val="239571"/>
                </a:solidFill>
                <a:latin typeface="Yu Gothic"/>
                <a:ea typeface="Yu Gothic"/>
              </a:rPr>
              <a:t>主結果の範囲</a:t>
            </a:r>
          </a:p>
        </p:txBody>
      </p:sp>
      <p:sp>
        <p:nvSpPr>
          <p:cNvPr id="11" name="TextBox 10"/>
          <p:cNvSpPr txBox="1"/>
          <p:nvPr/>
        </p:nvSpPr>
        <p:spPr>
          <a:xfrm>
            <a:off x="12801600" y="9646920"/>
            <a:ext cx="9692640" cy="1828800"/>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Yu Gothic"/>
                <a:ea typeface="Yu Gothic"/>
              </a:rPr>
              <a:t>標準COLD・標準表面の条件で、固定16係数のまま</a:t>
            </a:r>
          </a:p>
          <a:p>
            <a:pPr algn="l">
              <a:lnSpc>
                <a:spcPct val="125000"/>
              </a:lnSpc>
              <a:spcAft>
                <a:spcPts val="0"/>
              </a:spcAft>
            </a:pPr>
            <a:r>
              <a:rPr sz="2400" b="0">
                <a:solidFill>
                  <a:srgbClr val="232B34"/>
                </a:solidFill>
                <a:latin typeface="Yu Gothic"/>
                <a:ea typeface="Yu Gothic"/>
              </a:rPr>
              <a:t>1〜2桁の低減。被覆・軌道・連続量の明示は今後</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10390793" cy="1040285"/>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B6（2/2）｜取付点の温度を足すと係数が壊れる</a:t>
            </a:r>
            <a:endParaRPr lang="en-US"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B6</a:t>
            </a:r>
          </a:p>
        </p:txBody>
      </p:sp>
      <p:sp>
        <p:nvSpPr>
          <p:cNvPr id="5" name="Rounded Rectangle 4"/>
          <p:cNvSpPr/>
          <p:nvPr/>
        </p:nvSpPr>
        <p:spPr>
          <a:xfrm>
            <a:off x="1188720" y="2834640"/>
            <a:ext cx="10332720" cy="713232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291840"/>
            <a:ext cx="9418320" cy="548640"/>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Yu Gothic"/>
                <a:ea typeface="Yu Gothic"/>
              </a:rPr>
              <a:t>試したこと</a:t>
            </a:r>
          </a:p>
        </p:txBody>
      </p:sp>
      <p:sp>
        <p:nvSpPr>
          <p:cNvPr id="7" name="TextBox 6"/>
          <p:cNvSpPr txBox="1"/>
          <p:nvPr/>
        </p:nvSpPr>
        <p:spPr>
          <a:xfrm>
            <a:off x="1828800" y="4434840"/>
            <a:ext cx="9052560" cy="1188720"/>
          </a:xfrm>
          <a:prstGeom prst="rect">
            <a:avLst/>
          </a:prstGeom>
          <a:noFill/>
        </p:spPr>
        <p:txBody>
          <a:bodyPr wrap="none" lIns="36576" tIns="27432" rIns="36576" bIns="27432" anchor="t">
            <a:spAutoFit/>
          </a:bodyPr>
          <a:lstStyle/>
          <a:p>
            <a:pPr algn="ctr"/>
            <a:r>
              <a:rPr sz="3100" b="1">
                <a:solidFill>
                  <a:srgbClr val="082B52"/>
                </a:solidFill>
                <a:latin typeface="Yu Gothic"/>
              </a:rPr>
              <a:t>LOS = b + a·ΔT
+ c·(Tattach−Tref)</a:t>
            </a:r>
          </a:p>
        </p:txBody>
      </p:sp>
      <p:sp>
        <p:nvSpPr>
          <p:cNvPr id="8" name="TextBox 7"/>
          <p:cNvSpPr txBox="1"/>
          <p:nvPr/>
        </p:nvSpPr>
        <p:spPr>
          <a:xfrm>
            <a:off x="1828800" y="6217920"/>
            <a:ext cx="9052560" cy="2743200"/>
          </a:xfrm>
          <a:prstGeom prst="rect">
            <a:avLst/>
          </a:prstGeom>
          <a:noFill/>
        </p:spPr>
        <p:txBody>
          <a:bodyPr wrap="square" lIns="27432" rIns="27432">
            <a:spAutoFit/>
          </a:bodyPr>
          <a:lstStyle/>
          <a:p>
            <a:pPr>
              <a:lnSpc>
                <a:spcPct val="110000"/>
              </a:lnSpc>
              <a:spcAft>
                <a:spcPts val="1200"/>
              </a:spcAft>
            </a:pPr>
            <a:r>
              <a:rPr sz="2500" b="0">
                <a:solidFill>
                  <a:srgbClr val="232B34"/>
                </a:solidFill>
                <a:latin typeface="Yu Gothic"/>
                <a:ea typeface="Yu Gothic"/>
              </a:rPr>
              <a:t>• 温度差と取付点温度の相関が 0.995</a:t>
            </a:r>
          </a:p>
          <a:p>
            <a:pPr>
              <a:lnSpc>
                <a:spcPct val="110000"/>
              </a:lnSpc>
              <a:spcAft>
                <a:spcPts val="1200"/>
              </a:spcAft>
            </a:pPr>
            <a:r>
              <a:rPr sz="2500" b="0">
                <a:solidFill>
                  <a:srgbClr val="232B34"/>
                </a:solidFill>
                <a:latin typeface="Yu Gothic"/>
                <a:ea typeface="Yu Gothic"/>
              </a:rPr>
              <a:t>• 取付点まわりの温度のばらつきは 0.1 K 程度</a:t>
            </a:r>
          </a:p>
          <a:p>
            <a:pPr>
              <a:lnSpc>
                <a:spcPct val="110000"/>
              </a:lnSpc>
              <a:spcAft>
                <a:spcPts val="1200"/>
              </a:spcAft>
            </a:pPr>
            <a:r>
              <a:rPr sz="2500" b="0">
                <a:solidFill>
                  <a:srgbClr val="232B34"/>
                </a:solidFill>
                <a:latin typeface="Yu Gothic"/>
                <a:ea typeface="Yu Gothic"/>
              </a:rPr>
              <a:t>• 係数が巨大化し、ケース間で不安定になる</a:t>
            </a:r>
          </a:p>
        </p:txBody>
      </p:sp>
      <p:cxnSp>
        <p:nvCxnSpPr>
          <p:cNvPr id="9" name="Connector 8"/>
          <p:cNvCxnSpPr/>
          <p:nvPr/>
        </p:nvCxnSpPr>
        <p:spPr>
          <a:xfrm>
            <a:off x="11887200" y="6217920"/>
            <a:ext cx="12801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3533120" y="2834640"/>
            <a:ext cx="9509760" cy="713232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90320" y="3291840"/>
            <a:ext cx="8595360" cy="548640"/>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Yu Gothic"/>
                <a:ea typeface="Yu Gothic"/>
              </a:rPr>
              <a:t>解釈</a:t>
            </a:r>
          </a:p>
        </p:txBody>
      </p:sp>
      <p:sp>
        <p:nvSpPr>
          <p:cNvPr id="12" name="TextBox 11"/>
          <p:cNvSpPr txBox="1"/>
          <p:nvPr/>
        </p:nvSpPr>
        <p:spPr>
          <a:xfrm>
            <a:off x="14356080" y="4572000"/>
            <a:ext cx="7863840" cy="2011680"/>
          </a:xfrm>
          <a:prstGeom prst="rect">
            <a:avLst/>
          </a:prstGeom>
          <a:noFill/>
        </p:spPr>
        <p:txBody>
          <a:bodyPr wrap="square" lIns="36576" tIns="27432" rIns="36576" bIns="27432" anchor="t">
            <a:spAutoFit/>
          </a:bodyPr>
          <a:lstStyle/>
          <a:p>
            <a:pPr algn="ctr">
              <a:spcAft>
                <a:spcPts val="0"/>
              </a:spcAft>
            </a:pPr>
            <a:r>
              <a:rPr sz="2600" b="0">
                <a:solidFill>
                  <a:srgbClr val="232B34"/>
                </a:solidFill>
                <a:latin typeface="Yu Gothic"/>
                <a:ea typeface="Yu Gothic"/>
              </a:rPr>
              <a:t>効いていたのは軌道内の変動ではなく</a:t>
            </a:r>
          </a:p>
          <a:p>
            <a:pPr algn="ctr">
              <a:spcAft>
                <a:spcPts val="0"/>
              </a:spcAft>
            </a:pPr>
            <a:r>
              <a:rPr sz="2600" b="0">
                <a:solidFill>
                  <a:srgbClr val="232B34"/>
                </a:solidFill>
                <a:latin typeface="Yu Gothic"/>
                <a:ea typeface="Yu Gothic"/>
              </a:rPr>
              <a:t>ケース平均のDCだった</a:t>
            </a:r>
          </a:p>
        </p:txBody>
      </p:sp>
      <p:sp>
        <p:nvSpPr>
          <p:cNvPr id="13" name="TextBox 12"/>
          <p:cNvSpPr txBox="1"/>
          <p:nvPr/>
        </p:nvSpPr>
        <p:spPr>
          <a:xfrm>
            <a:off x="14721840" y="7543800"/>
            <a:ext cx="7132320" cy="594360"/>
          </a:xfrm>
          <a:prstGeom prst="rect">
            <a:avLst/>
          </a:prstGeom>
          <a:noFill/>
        </p:spPr>
        <p:txBody>
          <a:bodyPr wrap="square" lIns="36576" tIns="27432" rIns="36576" bIns="27432" anchor="t">
            <a:spAutoFit/>
          </a:bodyPr>
          <a:lstStyle/>
          <a:p>
            <a:pPr algn="ctr">
              <a:spcAft>
                <a:spcPts val="0"/>
              </a:spcAft>
            </a:pPr>
            <a:r>
              <a:rPr sz="2700" b="1">
                <a:solidFill>
                  <a:srgbClr val="239571"/>
                </a:solidFill>
                <a:latin typeface="Yu Gothic"/>
                <a:ea typeface="Yu Gothic"/>
              </a:rPr>
              <a:t>→ b_case 側へ分離した</a:t>
            </a:r>
          </a:p>
        </p:txBody>
      </p:sp>
      <p:sp>
        <p:nvSpPr>
          <p:cNvPr id="14" name="TextBox 13"/>
          <p:cNvSpPr txBox="1"/>
          <p:nvPr/>
        </p:nvSpPr>
        <p:spPr>
          <a:xfrm>
            <a:off x="3840480" y="10652760"/>
            <a:ext cx="16642080" cy="640080"/>
          </a:xfrm>
          <a:prstGeom prst="rect">
            <a:avLst/>
          </a:prstGeom>
          <a:noFill/>
        </p:spPr>
        <p:txBody>
          <a:bodyPr wrap="square" lIns="36576" tIns="27432" rIns="36576" bIns="27432" anchor="t">
            <a:spAutoFit/>
          </a:bodyPr>
          <a:lstStyle/>
          <a:p>
            <a:pPr algn="ctr">
              <a:spcAft>
                <a:spcPts val="0"/>
              </a:spcAft>
            </a:pPr>
            <a:r>
              <a:rPr sz="2800" b="1">
                <a:solidFill>
                  <a:srgbClr val="082B52"/>
                </a:solidFill>
                <a:latin typeface="Yu Gothic"/>
                <a:ea typeface="Yu Gothic"/>
              </a:rPr>
              <a:t>RMSEだけでなく、係数の安定性と運用上の解釈でモデルを選んだ</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B7｜平均だけを引いた場合（定数バイアスのみ）は未計算</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B7</a:t>
            </a:r>
          </a:p>
        </p:txBody>
      </p:sp>
      <p:sp>
        <p:nvSpPr>
          <p:cNvPr id="5" name="Rounded Rectangle 4"/>
          <p:cNvSpPr/>
          <p:nvPr/>
        </p:nvSpPr>
        <p:spPr>
          <a:xfrm>
            <a:off x="2926080" y="3840480"/>
            <a:ext cx="18470880" cy="4206240"/>
          </a:xfrm>
          <a:prstGeom prst="roundRect">
            <a:avLst/>
          </a:prstGeom>
          <a:solidFill>
            <a:srgbClr val="F4F6F8"/>
          </a:solidFill>
          <a:ln w="2286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2926080" y="4480560"/>
            <a:ext cx="18470880" cy="1097280"/>
          </a:xfrm>
          <a:prstGeom prst="rect">
            <a:avLst/>
          </a:prstGeom>
          <a:noFill/>
        </p:spPr>
        <p:txBody>
          <a:bodyPr wrap="square" lIns="45720" tIns="18288" rIns="45720" bIns="18288" anchor="t">
            <a:spAutoFit/>
          </a:bodyPr>
          <a:lstStyle/>
          <a:p>
            <a:pPr algn="ctr">
              <a:spcAft>
                <a:spcPts val="0"/>
              </a:spcAft>
            </a:pPr>
            <a:r>
              <a:rPr sz="4800" b="1">
                <a:solidFill>
                  <a:srgbClr val="666F79"/>
                </a:solidFill>
                <a:latin typeface="Yu Gothic"/>
                <a:ea typeface="Yu Gothic"/>
              </a:rPr>
              <a:t>未計算</a:t>
            </a:r>
          </a:p>
        </p:txBody>
      </p:sp>
      <p:sp>
        <p:nvSpPr>
          <p:cNvPr id="7" name="TextBox 6"/>
          <p:cNvSpPr txBox="1"/>
          <p:nvPr/>
        </p:nvSpPr>
        <p:spPr>
          <a:xfrm>
            <a:off x="2926080" y="5852160"/>
            <a:ext cx="18470880" cy="1645920"/>
          </a:xfrm>
          <a:prstGeom prst="rect">
            <a:avLst/>
          </a:prstGeom>
          <a:noFill/>
        </p:spPr>
        <p:txBody>
          <a:bodyPr wrap="square" lIns="45720" tIns="18288" rIns="45720" bIns="18288" anchor="t">
            <a:spAutoFit/>
          </a:bodyPr>
          <a:lstStyle/>
          <a:p>
            <a:pPr algn="ctr">
              <a:lnSpc>
                <a:spcPct val="125000"/>
              </a:lnSpc>
              <a:spcAft>
                <a:spcPts val="0"/>
              </a:spcAft>
            </a:pPr>
            <a:r>
              <a:rPr sz="2700" b="0">
                <a:solidFill>
                  <a:srgbClr val="232B34"/>
                </a:solidFill>
                <a:latin typeface="Yu Gothic"/>
                <a:ea typeface="Yu Gothic"/>
              </a:rPr>
              <a:t>ΔT(t) を 0 とし、予測したケース平均DCだけを引いた場合の捕捉時間は、</a:t>
            </a:r>
          </a:p>
          <a:p>
            <a:pPr algn="ctr">
              <a:lnSpc>
                <a:spcPct val="125000"/>
              </a:lnSpc>
              <a:spcAft>
                <a:spcPts val="0"/>
              </a:spcAft>
            </a:pPr>
            <a:r>
              <a:rPr sz="2700" b="0">
                <a:solidFill>
                  <a:srgbClr val="232B34"/>
                </a:solidFill>
                <a:latin typeface="Yu Gothic"/>
                <a:ea typeface="Yu Gothic"/>
              </a:rPr>
              <a:t>今回の走査条件ではまだ計算していない</a:t>
            </a:r>
          </a:p>
        </p:txBody>
      </p:sp>
      <p:sp>
        <p:nvSpPr>
          <p:cNvPr id="8" name="Rounded Rectangle 7"/>
          <p:cNvSpPr/>
          <p:nvPr/>
        </p:nvSpPr>
        <p:spPr>
          <a:xfrm>
            <a:off x="2926080" y="8503920"/>
            <a:ext cx="8869680" cy="256032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127248" y="8796528"/>
            <a:ext cx="8467344" cy="640080"/>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Yu Gothic"/>
                <a:ea typeface="Yu Gothic"/>
              </a:rPr>
              <a:t>この列が示すはずのこと</a:t>
            </a:r>
          </a:p>
        </p:txBody>
      </p:sp>
      <p:sp>
        <p:nvSpPr>
          <p:cNvPr id="10" name="TextBox 9"/>
          <p:cNvSpPr txBox="1"/>
          <p:nvPr/>
        </p:nvSpPr>
        <p:spPr>
          <a:xfrm>
            <a:off x="3200400" y="9601200"/>
            <a:ext cx="8321040" cy="128016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改善のどれだけが平均の除去で、
どれだけが軌道内の時変項によるのかを分ける</a:t>
            </a:r>
          </a:p>
        </p:txBody>
      </p:sp>
      <p:sp>
        <p:nvSpPr>
          <p:cNvPr id="11" name="Rounded Rectangle 10"/>
          <p:cNvSpPr/>
          <p:nvPr/>
        </p:nvSpPr>
        <p:spPr>
          <a:xfrm>
            <a:off x="12527280" y="8503920"/>
            <a:ext cx="8869680" cy="25603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2728448" y="8796528"/>
            <a:ext cx="8467344" cy="640080"/>
          </a:xfrm>
          <a:prstGeom prst="rect">
            <a:avLst/>
          </a:prstGeom>
          <a:noFill/>
        </p:spPr>
        <p:txBody>
          <a:bodyPr wrap="square" lIns="45720" tIns="18288" rIns="45720" bIns="18288" anchor="t">
            <a:spAutoFit/>
          </a:bodyPr>
          <a:lstStyle/>
          <a:p>
            <a:pPr algn="ctr">
              <a:spcAft>
                <a:spcPts val="0"/>
              </a:spcAft>
            </a:pPr>
            <a:r>
              <a:rPr sz="2500" b="1">
                <a:solidFill>
                  <a:srgbClr val="D03B46"/>
                </a:solidFill>
                <a:latin typeface="Yu Gothic"/>
                <a:ea typeface="Yu Gothic"/>
              </a:rPr>
              <a:t>7月に出した秒は流用しない</a:t>
            </a:r>
          </a:p>
        </p:txBody>
      </p:sp>
      <p:sp>
        <p:nvSpPr>
          <p:cNvPr id="13" name="TextBox 12"/>
          <p:cNvSpPr txBox="1"/>
          <p:nvPr/>
        </p:nvSpPr>
        <p:spPr>
          <a:xfrm>
            <a:off x="12801600" y="9601200"/>
            <a:ext cx="8321040" cy="128016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Yu Gothic"/>
                <a:ea typeface="Yu Gothic"/>
              </a:rPr>
              <a:t>あのときの走査は点間隔と検出半径が
通信ビーム級に細かく、今日の条件とは別</a:t>
            </a:r>
          </a:p>
        </p:txBody>
      </p:sp>
      <p:sp>
        <p:nvSpPr>
          <p:cNvPr id="14" name="TextBox 13"/>
          <p:cNvSpPr txBox="1"/>
          <p:nvPr/>
        </p:nvSpPr>
        <p:spPr>
          <a:xfrm>
            <a:off x="2926080" y="11430000"/>
            <a:ext cx="18470880" cy="548640"/>
          </a:xfrm>
          <a:prstGeom prst="rect">
            <a:avLst/>
          </a:prstGeom>
          <a:noFill/>
        </p:spPr>
        <p:txBody>
          <a:bodyPr wrap="square" lIns="45720" tIns="18288" rIns="45720" bIns="18288" anchor="t">
            <a:spAutoFit/>
          </a:bodyPr>
          <a:lstStyle/>
          <a:p>
            <a:pPr algn="ctr">
              <a:spcAft>
                <a:spcPts val="0"/>
              </a:spcAft>
            </a:pPr>
            <a:r>
              <a:rPr sz="2400" b="1">
                <a:solidFill>
                  <a:srgbClr val="D03B46"/>
                </a:solidFill>
                <a:latin typeface="Yu Gothic"/>
                <a:ea typeface="Yu Gothic"/>
              </a:rPr>
              <a:t>本編の結論には、この未計算の列の数字を一切使っていない</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960120"/>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Yu Gothic"/>
                <a:ea typeface="Yu Gothic"/>
              </a:rPr>
              <a:t>B8｜先行研究の位置づけ（2軸で見る）</a:t>
            </a:r>
          </a:p>
        </p:txBody>
      </p:sp>
      <p:sp>
        <p:nvSpPr>
          <p:cNvPr id="4" name="TextBox 3"/>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r>
              <a:rPr sz="1800" b="0">
                <a:solidFill>
                  <a:srgbClr val="666F79"/>
                </a:solidFill>
                <a:latin typeface="Yu Gothic"/>
                <a:ea typeface="Yu Gothic"/>
              </a:rPr>
              <a:t>B8</a:t>
            </a:r>
          </a:p>
        </p:txBody>
      </p:sp>
      <p:graphicFrame>
        <p:nvGraphicFramePr>
          <p:cNvPr id="5" name="Table 4"/>
          <p:cNvGraphicFramePr>
            <a:graphicFrameLocks noGrp="1"/>
          </p:cNvGraphicFramePr>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spcAft>
                          <a:spcPts val="0"/>
                        </a:spcAft>
                      </a:pPr>
                      <a:r>
                        <a:rPr sz="2300" b="1">
                          <a:solidFill>
                            <a:srgbClr val="FFFFFF"/>
                          </a:solidFill>
                          <a:latin typeface="Yu Gothic"/>
                          <a:ea typeface="Yu Gothic"/>
                        </a:rPr>
                        <a:t>研究</a:t>
                      </a:r>
                    </a:p>
                  </a:txBody>
                  <a:tcPr marL="64008" marR="64008" marT="27432" marB="27432" anchor="ctr">
                    <a:solidFill>
                      <a:srgbClr val="5D4084"/>
                    </a:solidFill>
                  </a:tcPr>
                </a:tc>
                <a:tc>
                  <a:txBody>
                    <a:bodyPr/>
                    <a:lstStyle/>
                    <a:p>
                      <a:pPr algn="ctr">
                        <a:spcAft>
                          <a:spcPts val="0"/>
                        </a:spcAft>
                      </a:pPr>
                      <a:r>
                        <a:rPr sz="2300" b="1">
                          <a:solidFill>
                            <a:srgbClr val="FFFFFF"/>
                          </a:solidFill>
                          <a:latin typeface="Yu Gothic"/>
                          <a:ea typeface="Yu Gothic"/>
                        </a:rPr>
                        <a:t>熱状態からLOSを予測するか / 粗捕捉時間を評価するか</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spcAft>
                          <a:spcPts val="0"/>
                        </a:spcAft>
                      </a:pPr>
                      <a:r>
                        <a:rPr sz="2300" b="0">
                          <a:solidFill>
                            <a:srgbClr val="232B34"/>
                          </a:solidFill>
                          <a:latin typeface="Yu Gothic"/>
                          <a:ea typeface="Yu Gothic"/>
                        </a:rPr>
                        <a:t>Riesing 2023（TBIRD）</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熱は明示せず姿勢系で吸収 / 軌道上で捕捉を評価</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spcAft>
                          <a:spcPts val="0"/>
                        </a:spcAft>
                      </a:pPr>
                      <a:r>
                        <a:rPr sz="2300" b="0">
                          <a:solidFill>
                            <a:srgbClr val="232B34"/>
                          </a:solidFill>
                          <a:latin typeface="Yu Gothic"/>
                          <a:ea typeface="Yu Gothic"/>
                        </a:rPr>
                        <a:t>Shi 2023</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構造設計で熱変形を小さくする / 捕捉時間を評価</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spcAft>
                          <a:spcPts val="0"/>
                        </a:spcAft>
                      </a:pPr>
                      <a:r>
                        <a:rPr sz="2300" b="0">
                          <a:solidFill>
                            <a:srgbClr val="232B34"/>
                          </a:solidFill>
                          <a:latin typeface="Yu Gothic"/>
                          <a:ea typeface="Yu Gothic"/>
                        </a:rPr>
                        <a:t>Hu 2022（GEO）</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周期モデルで熱LOSを補正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spcAft>
                          <a:spcPts val="0"/>
                        </a:spcAft>
                      </a:pPr>
                      <a:r>
                        <a:rPr sz="2300" b="0">
                          <a:solidFill>
                            <a:srgbClr val="232B34"/>
                          </a:solidFill>
                          <a:latin typeface="Yu Gothic"/>
                          <a:ea typeface="Yu Gothic"/>
                        </a:rPr>
                        <a:t>Li 2025（LEO）</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ニューラルネットで熱LOSを補正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spcAft>
                          <a:spcPts val="0"/>
                        </a:spcAft>
                      </a:pPr>
                      <a:r>
                        <a:rPr sz="2300" b="0">
                          <a:solidFill>
                            <a:srgbClr val="232B34"/>
                          </a:solidFill>
                          <a:latin typeface="Yu Gothic"/>
                          <a:ea typeface="Yu Gothic"/>
                        </a:rPr>
                        <a:t>JANUS（Turella）</a:t>
                      </a:r>
                    </a:p>
                  </a:txBody>
                  <a:tcPr marL="64008" marR="64008" marT="27432" marB="27432" anchor="ctr">
                    <a:solidFill>
                      <a:srgbClr val="FFFFFF"/>
                    </a:solidFill>
                  </a:tcPr>
                </a:tc>
                <a:tc>
                  <a:txBody>
                    <a:bodyPr/>
                    <a:lstStyle/>
                    <a:p>
                      <a:pPr algn="ctr">
                        <a:spcAft>
                          <a:spcPts val="0"/>
                        </a:spcAft>
                      </a:pPr>
                      <a:r>
                        <a:rPr sz="2300" b="0">
                          <a:solidFill>
                            <a:srgbClr val="232B34"/>
                          </a:solidFill>
                          <a:latin typeface="Yu Gothic"/>
                          <a:ea typeface="Yu Gothic"/>
                        </a:rPr>
                        <a:t>壁面温度差に比例する一次式 / 粗捕捉は評価しない</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spcAft>
                          <a:spcPts val="0"/>
                        </a:spcAft>
                      </a:pPr>
                      <a:r>
                        <a:rPr sz="2300" b="0">
                          <a:solidFill>
                            <a:srgbClr val="232B34"/>
                          </a:solidFill>
                          <a:latin typeface="Yu Gothic"/>
                          <a:ea typeface="Yu Gothic"/>
                        </a:rPr>
                        <a:t>本研究</a:t>
                      </a:r>
                    </a:p>
                  </a:txBody>
                  <a:tcPr marL="64008" marR="64008" marT="27432" marB="27432" anchor="ctr">
                    <a:solidFill>
                      <a:srgbClr val="F4F6F8"/>
                    </a:solidFill>
                  </a:tcPr>
                </a:tc>
                <a:tc>
                  <a:txBody>
                    <a:bodyPr/>
                    <a:lstStyle/>
                    <a:p>
                      <a:pPr algn="ctr">
                        <a:spcAft>
                          <a:spcPts val="0"/>
                        </a:spcAft>
                      </a:pPr>
                      <a:r>
                        <a:rPr sz="2300" b="0">
                          <a:solidFill>
                            <a:srgbClr val="232B34"/>
                          </a:solidFill>
                          <a:latin typeface="Yu Gothic"/>
                          <a:ea typeface="Yu Gothic"/>
                        </a:rPr>
                        <a:t>太陽面温度差と運用フラグで予測する / 捕捉時間まで評価する</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1280160" y="10698480"/>
            <a:ext cx="21762720" cy="640080"/>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Yu Gothic"/>
                <a:ea typeface="Yu Gothic"/>
              </a:rPr>
              <a:t>新しいのは一次関係そのものではなく、バス上のSTT–LCTへの適用、条件横断の係数共有、捕捉時間への接続</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B9｜解析モデルの妥当性をどう検証するか</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B9</a:t>
            </a:r>
          </a:p>
        </p:txBody>
      </p:sp>
      <p:sp>
        <p:nvSpPr>
          <p:cNvPr id="5" name="Rounded Rectangle 4"/>
          <p:cNvSpPr/>
          <p:nvPr/>
        </p:nvSpPr>
        <p:spPr>
          <a:xfrm>
            <a:off x="1463040" y="3291840"/>
            <a:ext cx="10607040" cy="356616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584448"/>
            <a:ext cx="10204704" cy="640080"/>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Yu Gothic"/>
                <a:ea typeface="Yu Gothic"/>
              </a:rPr>
              <a:t>今日の主張の範囲</a:t>
            </a:r>
          </a:p>
        </p:txBody>
      </p:sp>
      <p:sp>
        <p:nvSpPr>
          <p:cNvPr id="7" name="TextBox 6"/>
          <p:cNvSpPr txBox="1"/>
          <p:nvPr/>
        </p:nvSpPr>
        <p:spPr>
          <a:xfrm>
            <a:off x="1737360" y="4434840"/>
            <a:ext cx="10058400" cy="2240279"/>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同一の解析チェーン（Thermal Desktop / Femap）の中での数値評価である。
外しているのはケースであって、構造やLOS定義ではない</a:t>
            </a:r>
          </a:p>
        </p:txBody>
      </p:sp>
      <p:sp>
        <p:nvSpPr>
          <p:cNvPr id="8" name="Rounded Rectangle 7"/>
          <p:cNvSpPr/>
          <p:nvPr/>
        </p:nvSpPr>
        <p:spPr>
          <a:xfrm>
            <a:off x="12801600" y="3291840"/>
            <a:ext cx="10424160" cy="356616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584448"/>
            <a:ext cx="10021824" cy="640080"/>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Yu Gothic"/>
                <a:ea typeface="Yu Gothic"/>
              </a:rPr>
              <a:t>入っていないもの</a:t>
            </a:r>
          </a:p>
        </p:txBody>
      </p:sp>
      <p:sp>
        <p:nvSpPr>
          <p:cNvPr id="10" name="TextBox 9"/>
          <p:cNvSpPr txBox="1"/>
          <p:nvPr/>
        </p:nvSpPr>
        <p:spPr>
          <a:xfrm>
            <a:off x="13075920" y="4434840"/>
            <a:ext cx="9875520" cy="2240279"/>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打上げ後のアライメント変化、実機の剛性差、組立公差、
軌道上での経年変化</a:t>
            </a:r>
          </a:p>
        </p:txBody>
      </p:sp>
      <p:sp>
        <p:nvSpPr>
          <p:cNvPr id="11" name="Rounded Rectangle 10"/>
          <p:cNvSpPr/>
          <p:nvPr/>
        </p:nvSpPr>
        <p:spPr>
          <a:xfrm>
            <a:off x="1463040" y="7315200"/>
            <a:ext cx="21762720" cy="310896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607808"/>
            <a:ext cx="21360384" cy="640080"/>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Yu Gothic"/>
                <a:ea typeface="Yu Gothic"/>
              </a:rPr>
              <a:t>今後の検証</a:t>
            </a:r>
          </a:p>
        </p:txBody>
      </p:sp>
      <p:sp>
        <p:nvSpPr>
          <p:cNvPr id="13" name="TextBox 12"/>
          <p:cNvSpPr txBox="1"/>
          <p:nvPr/>
        </p:nvSpPr>
        <p:spPr>
          <a:xfrm>
            <a:off x="1737360" y="8458200"/>
            <a:ext cx="21214080" cy="1783080"/>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Yu Gothic"/>
                <a:ea typeface="Yu Gothic"/>
              </a:rPr>
              <a:t>地上の熱真空試験で温度と変位を同時に測り、感度 a を実測で確かめる。
係数の取り直しが前提であり、式の形が移せるかを見る</a:t>
            </a:r>
          </a:p>
        </p:txBody>
      </p:sp>
      <p:sp>
        <p:nvSpPr>
          <p:cNvPr id="14" name="TextBox 13"/>
          <p:cNvSpPr txBox="1"/>
          <p:nvPr/>
        </p:nvSpPr>
        <p:spPr>
          <a:xfrm>
            <a:off x="1463040" y="10881360"/>
            <a:ext cx="21762720" cy="640080"/>
          </a:xfrm>
          <a:prstGeom prst="rect">
            <a:avLst/>
          </a:prstGeom>
          <a:noFill/>
        </p:spPr>
        <p:txBody>
          <a:bodyPr wrap="square" lIns="45720" tIns="18288" rIns="45720" bIns="18288" anchor="t">
            <a:spAutoFit/>
          </a:bodyPr>
          <a:lstStyle/>
          <a:p>
            <a:pPr algn="ctr">
              <a:spcAft>
                <a:spcPts val="0"/>
              </a:spcAft>
            </a:pPr>
            <a:r>
              <a:rPr sz="2600" b="1">
                <a:solidFill>
                  <a:srgbClr val="082B52"/>
                </a:solidFill>
                <a:latin typeface="Yu Gothic"/>
                <a:ea typeface="Yu Gothic"/>
              </a:rPr>
              <a:t>主張を『解析を真値として完璧に当てる』に置いていない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B10｜姿勢の前提と、変わる頻度</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B10</a:t>
            </a:r>
          </a:p>
        </p:txBody>
      </p:sp>
      <p:sp>
        <p:nvSpPr>
          <p:cNvPr id="5" name="Rounded Rectangle 4"/>
          <p:cNvSpPr/>
          <p:nvPr/>
        </p:nvSpPr>
        <p:spPr>
          <a:xfrm>
            <a:off x="1463040" y="3383280"/>
            <a:ext cx="10607040" cy="38404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675888"/>
            <a:ext cx="10204704" cy="640080"/>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Yu Gothic"/>
                <a:ea typeface="Yu Gothic"/>
              </a:rPr>
              <a:t>前提</a:t>
            </a:r>
          </a:p>
        </p:txBody>
      </p:sp>
      <p:sp>
        <p:nvSpPr>
          <p:cNvPr id="7" name="TextBox 6"/>
          <p:cNvSpPr txBox="1"/>
          <p:nvPr/>
        </p:nvSpPr>
        <p:spPr>
          <a:xfrm>
            <a:off x="1737360" y="4526280"/>
            <a:ext cx="10058400" cy="2514600"/>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本体指向を想定し、ケース内では太陽指向面を固定している。
通信中に構体の太陽面が入れ替わる時系列は解析していない</a:t>
            </a:r>
          </a:p>
        </p:txBody>
      </p:sp>
      <p:sp>
        <p:nvSpPr>
          <p:cNvPr id="8" name="Rounded Rectangle 7"/>
          <p:cNvSpPr/>
          <p:nvPr/>
        </p:nvSpPr>
        <p:spPr>
          <a:xfrm>
            <a:off x="12801600" y="3383280"/>
            <a:ext cx="10424160" cy="38404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675888"/>
            <a:ext cx="10021824" cy="640080"/>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Yu Gothic"/>
                <a:ea typeface="Yu Gothic"/>
              </a:rPr>
              <a:t>ジンバルの場合</a:t>
            </a:r>
          </a:p>
        </p:txBody>
      </p:sp>
      <p:sp>
        <p:nvSpPr>
          <p:cNvPr id="10" name="TextBox 9"/>
          <p:cNvSpPr txBox="1"/>
          <p:nvPr/>
        </p:nvSpPr>
        <p:spPr>
          <a:xfrm>
            <a:off x="13075920" y="4526280"/>
            <a:ext cx="9875520" cy="2514600"/>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Yu Gothic"/>
                <a:ea typeface="Yu Gothic"/>
              </a:rPr>
              <a:t>構体姿勢がほぼ一定なら、このケース行列の中では同じ扱いになる。
熱はバス側の温度場で決まるため</a:t>
            </a:r>
          </a:p>
        </p:txBody>
      </p:sp>
      <p:sp>
        <p:nvSpPr>
          <p:cNvPr id="11" name="Rounded Rectangle 10"/>
          <p:cNvSpPr/>
          <p:nvPr/>
        </p:nvSpPr>
        <p:spPr>
          <a:xfrm>
            <a:off x="1463040" y="7680960"/>
            <a:ext cx="21762720" cy="29260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973568"/>
            <a:ext cx="21360384" cy="640080"/>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Yu Gothic"/>
                <a:ea typeface="Yu Gothic"/>
              </a:rPr>
              <a:t>未解析</a:t>
            </a:r>
          </a:p>
        </p:txBody>
      </p:sp>
      <p:sp>
        <p:nvSpPr>
          <p:cNvPr id="13" name="TextBox 12"/>
          <p:cNvSpPr txBox="1"/>
          <p:nvPr/>
        </p:nvSpPr>
        <p:spPr>
          <a:xfrm>
            <a:off x="1737360" y="8823960"/>
            <a:ext cx="21214080" cy="1600200"/>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Yu Gothic"/>
                <a:ea typeface="Yu Gothic"/>
              </a:rPr>
              <a:t>相手を追い続ける body pointing の時系列、および軌道の途中で発熱機器の電源が入る過渡。どちらも温度場の履歴が変わるため、別に解析が要る</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B11｜残差Fourier更新の数値（予備）</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B11</a:t>
            </a:r>
          </a:p>
        </p:txBody>
      </p:sp>
      <p:graphicFrame>
        <p:nvGraphicFramePr>
          <p:cNvPr id="5" name="Table 4"/>
          <p:cNvGraphicFramePr>
            <a:graphicFrameLocks noGrp="1"/>
          </p:cNvGraphicFramePr>
          <p:nvPr/>
        </p:nvGraphicFramePr>
        <p:xfrm>
          <a:off x="1463040" y="3291840"/>
          <a:ext cx="21396958" cy="4572000"/>
        </p:xfrm>
        <a:graphic>
          <a:graphicData uri="http://schemas.openxmlformats.org/drawingml/2006/table">
            <a:tbl>
              <a:tblPr firstRow="1" bandRow="1">
                <a:tableStyleId>{5C22544A-7EE6-4342-B048-85BDC9FD1C3A}</a:tableStyleId>
              </a:tblPr>
              <a:tblGrid>
                <a:gridCol w="10480143">
                  <a:extLst>
                    <a:ext uri="{9D8B030D-6E8A-4147-A177-3AD203B41FA5}">
                      <a16:colId xmlns:a16="http://schemas.microsoft.com/office/drawing/2014/main" val="20000"/>
                    </a:ext>
                  </a:extLst>
                </a:gridCol>
                <a:gridCol w="3493381">
                  <a:extLst>
                    <a:ext uri="{9D8B030D-6E8A-4147-A177-3AD203B41FA5}">
                      <a16:colId xmlns:a16="http://schemas.microsoft.com/office/drawing/2014/main" val="20001"/>
                    </a:ext>
                  </a:extLst>
                </a:gridCol>
                <a:gridCol w="3493381">
                  <a:extLst>
                    <a:ext uri="{9D8B030D-6E8A-4147-A177-3AD203B41FA5}">
                      <a16:colId xmlns:a16="http://schemas.microsoft.com/office/drawing/2014/main" val="20002"/>
                    </a:ext>
                  </a:extLst>
                </a:gridCol>
                <a:gridCol w="3930053">
                  <a:extLst>
                    <a:ext uri="{9D8B030D-6E8A-4147-A177-3AD203B41FA5}">
                      <a16:colId xmlns:a16="http://schemas.microsoft.com/office/drawing/2014/main" val="20003"/>
                    </a:ext>
                  </a:extLst>
                </a:gridCol>
              </a:tblGrid>
              <a:tr h="914400">
                <a:tc>
                  <a:txBody>
                    <a:bodyPr/>
                    <a:lstStyle/>
                    <a:p>
                      <a:pPr algn="l">
                        <a:spcAft>
                          <a:spcPts val="0"/>
                        </a:spcAft>
                      </a:pPr>
                      <a:r>
                        <a:rPr sz="2300" b="1">
                          <a:solidFill>
                            <a:srgbClr val="FFFFFF"/>
                          </a:solidFill>
                          <a:latin typeface="Yu Gothic"/>
                          <a:ea typeface="Yu Gothic"/>
                        </a:rPr>
                        <a:t>条件</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全区間</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初周</a:t>
                      </a:r>
                    </a:p>
                  </a:txBody>
                  <a:tcPr marL="128016" marR="128016" anchor="ctr">
                    <a:solidFill>
                      <a:srgbClr val="082B52"/>
                    </a:solidFill>
                  </a:tcPr>
                </a:tc>
                <a:tc>
                  <a:txBody>
                    <a:bodyPr/>
                    <a:lstStyle/>
                    <a:p>
                      <a:pPr algn="ctr">
                        <a:spcAft>
                          <a:spcPts val="0"/>
                        </a:spcAft>
                      </a:pPr>
                      <a:r>
                        <a:rPr sz="2300" b="1">
                          <a:solidFill>
                            <a:srgbClr val="FFFFFF"/>
                          </a:solidFill>
                          <a:latin typeface="Yu Gothic"/>
                          <a:ea typeface="Yu Gothic"/>
                        </a:rPr>
                        <a:t>周1以降</a:t>
                      </a:r>
                    </a:p>
                  </a:txBody>
                  <a:tcPr marL="128016" marR="128016"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Yu Gothic"/>
                          <a:ea typeface="Yu Gothic"/>
                        </a:rPr>
                        <a:t>Case 13（MY）全誤差を直接Fourier</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1.39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3.37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0.39 s</a:t>
                      </a:r>
                    </a:p>
                  </a:txBody>
                  <a:tcPr marL="128016" marR="128016"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Yu Gothic"/>
                          <a:ea typeface="Yu Gothic"/>
                        </a:rPr>
                        <a:t>Case 13（MY）階層モデル＋残差Fourier</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0.79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1.60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Yu Gothic"/>
                          <a:ea typeface="Yu Gothic"/>
                        </a:rPr>
                        <a:t>Case 16（PY）全誤差を直接Fourier</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13.2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39.5 s</a:t>
                      </a:r>
                    </a:p>
                  </a:txBody>
                  <a:tcPr marL="128016" marR="128016" anchor="ctr">
                    <a:solidFill>
                      <a:srgbClr val="FFFFFF"/>
                    </a:solidFill>
                  </a:tcPr>
                </a:tc>
                <a:tc>
                  <a:txBody>
                    <a:bodyPr/>
                    <a:lstStyle/>
                    <a:p>
                      <a:pPr algn="ctr">
                        <a:spcAft>
                          <a:spcPts val="0"/>
                        </a:spcAft>
                      </a:pPr>
                      <a:r>
                        <a:rPr sz="2300" b="0">
                          <a:solidFill>
                            <a:srgbClr val="232B34"/>
                          </a:solidFill>
                          <a:latin typeface="Yu Gothic"/>
                          <a:ea typeface="Yu Gothic"/>
                        </a:rPr>
                        <a:t>0.38 s</a:t>
                      </a:r>
                    </a:p>
                  </a:txBody>
                  <a:tcPr marL="128016" marR="128016"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Yu Gothic"/>
                          <a:ea typeface="Yu Gothic"/>
                        </a:rPr>
                        <a:t>Case 16（PY）階層モデル＋残差Fourier</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0.76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1.47 s</a:t>
                      </a:r>
                    </a:p>
                  </a:txBody>
                  <a:tcPr marL="128016" marR="128016" anchor="ctr">
                    <a:solidFill>
                      <a:srgbClr val="F4F6F8"/>
                    </a:solidFill>
                  </a:tcPr>
                </a:tc>
                <a:tc>
                  <a:txBody>
                    <a:bodyPr/>
                    <a:lstStyle/>
                    <a:p>
                      <a:pPr algn="ctr">
                        <a:spcAft>
                          <a:spcPts val="0"/>
                        </a:spcAft>
                      </a:pPr>
                      <a:r>
                        <a:rPr sz="2300" b="0">
                          <a:solidFill>
                            <a:srgbClr val="232B34"/>
                          </a:solidFill>
                          <a:latin typeface="Yu Gothic"/>
                          <a:ea typeface="Yu Gothic"/>
                        </a:rPr>
                        <a:t>0.40 s</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092440"/>
            <a:ext cx="21396960" cy="457200"/>
          </a:xfrm>
          <a:prstGeom prst="rect">
            <a:avLst/>
          </a:prstGeom>
          <a:noFill/>
        </p:spPr>
        <p:txBody>
          <a:bodyPr wrap="square" lIns="45720" tIns="18288" rIns="45720" bIns="18288" anchor="t">
            <a:spAutoFit/>
          </a:bodyPr>
          <a:lstStyle/>
          <a:p>
            <a:pPr algn="l">
              <a:spcAft>
                <a:spcPts val="0"/>
              </a:spcAft>
            </a:pPr>
            <a:r>
              <a:rPr sz="2100" b="0">
                <a:solidFill>
                  <a:srgbClr val="666F79"/>
                </a:solidFill>
                <a:latin typeface="Yu Gothic"/>
                <a:ea typeface="Yu Gothic"/>
              </a:rPr>
              <a:t>Case 16 の直接Fourier は成功率 98.7%。他は 100%</a:t>
            </a:r>
          </a:p>
        </p:txBody>
      </p:sp>
      <p:sp>
        <p:nvSpPr>
          <p:cNvPr id="7" name="Rounded Rectangle 6"/>
          <p:cNvSpPr/>
          <p:nvPr/>
        </p:nvSpPr>
        <p:spPr>
          <a:xfrm>
            <a:off x="1463040" y="8961120"/>
            <a:ext cx="1060704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664208" y="9253728"/>
            <a:ext cx="10204704" cy="640080"/>
          </a:xfrm>
          <a:prstGeom prst="rect">
            <a:avLst/>
          </a:prstGeom>
          <a:noFill/>
        </p:spPr>
        <p:txBody>
          <a:bodyPr wrap="square" lIns="45720" tIns="18288" rIns="45720" bIns="18288" anchor="t">
            <a:spAutoFit/>
          </a:bodyPr>
          <a:lstStyle/>
          <a:p>
            <a:pPr algn="l">
              <a:spcAft>
                <a:spcPts val="0"/>
              </a:spcAft>
            </a:pPr>
            <a:r>
              <a:rPr sz="2500" b="1">
                <a:solidFill>
                  <a:srgbClr val="EC9427"/>
                </a:solidFill>
                <a:latin typeface="Yu Gothic"/>
                <a:ea typeface="Yu Gothic"/>
              </a:rPr>
              <a:t>定数の残差更新との差</a:t>
            </a:r>
          </a:p>
        </p:txBody>
      </p:sp>
      <p:sp>
        <p:nvSpPr>
          <p:cNvPr id="9" name="TextBox 8"/>
          <p:cNvSpPr txBox="1"/>
          <p:nvPr/>
        </p:nvSpPr>
        <p:spPr>
          <a:xfrm>
            <a:off x="1737360" y="10012680"/>
            <a:ext cx="10058400" cy="123444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Yu Gothic"/>
                <a:ea typeface="Yu Gothic"/>
              </a:rPr>
              <a:t>Case 13 の周1以降は 1.66 → 1.35 s までしか落ちない。軌道周期の山が残る</a:t>
            </a:r>
          </a:p>
        </p:txBody>
      </p:sp>
      <p:sp>
        <p:nvSpPr>
          <p:cNvPr id="10" name="Rounded Rectangle 9"/>
          <p:cNvSpPr/>
          <p:nvPr/>
        </p:nvSpPr>
        <p:spPr>
          <a:xfrm>
            <a:off x="12801600" y="8961120"/>
            <a:ext cx="10424160" cy="24688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3002768" y="9253728"/>
            <a:ext cx="10021824" cy="640080"/>
          </a:xfrm>
          <a:prstGeom prst="rect">
            <a:avLst/>
          </a:prstGeom>
          <a:noFill/>
        </p:spPr>
        <p:txBody>
          <a:bodyPr wrap="square" lIns="45720" tIns="18288" rIns="45720" bIns="18288" anchor="t">
            <a:spAutoFit/>
          </a:bodyPr>
          <a:lstStyle/>
          <a:p>
            <a:pPr algn="l">
              <a:spcAft>
                <a:spcPts val="0"/>
              </a:spcAft>
            </a:pPr>
            <a:r>
              <a:rPr sz="2500" b="1">
                <a:solidFill>
                  <a:srgbClr val="D03B46"/>
                </a:solidFill>
                <a:latin typeface="Yu Gothic"/>
                <a:ea typeface="Yu Gothic"/>
              </a:rPr>
              <a:t>限界</a:t>
            </a:r>
          </a:p>
        </p:txBody>
      </p:sp>
      <p:sp>
        <p:nvSpPr>
          <p:cNvPr id="12" name="TextBox 11"/>
          <p:cNvSpPr txBox="1"/>
          <p:nvPr/>
        </p:nvSpPr>
        <p:spPr>
          <a:xfrm>
            <a:off x="13075920" y="10012680"/>
            <a:ext cx="9875520" cy="123444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Yu Gothic"/>
                <a:ea typeface="Yu Gothic"/>
              </a:rPr>
              <a:t>2ケースのみ。causal、K=2。60秒刻みの全点を使っており、実センサの疎な成功点では未検証</a:t>
            </a:r>
          </a:p>
        </p:txBody>
      </p:sp>
      <p:sp>
        <p:nvSpPr>
          <p:cNvPr id="13" name="TextBox 12"/>
          <p:cNvSpPr txBox="1"/>
          <p:nvPr/>
        </p:nvSpPr>
        <p:spPr>
          <a:xfrm>
            <a:off x="1463040" y="11704320"/>
            <a:ext cx="21396960" cy="548640"/>
          </a:xfrm>
          <a:prstGeom prst="rect">
            <a:avLst/>
          </a:prstGeom>
          <a:noFill/>
        </p:spPr>
        <p:txBody>
          <a:bodyPr wrap="square" lIns="45720" tIns="18288" rIns="45720" bIns="18288" anchor="t">
            <a:spAutoFit/>
          </a:bodyPr>
          <a:lstStyle/>
          <a:p>
            <a:pPr algn="ctr">
              <a:spcAft>
                <a:spcPts val="0"/>
              </a:spcAft>
            </a:pPr>
            <a:r>
              <a:rPr sz="2300" b="0">
                <a:solidFill>
                  <a:srgbClr val="666F79"/>
                </a:solidFill>
                <a:latin typeface="Yu Gothic"/>
                <a:ea typeface="Yu Gothic"/>
              </a:rPr>
              <a:t>熱モデルの係数は更新していない。捕捉後の全指向残差に対する予備実験</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Yu Gothic"/>
                <a:ea typeface="Yu Gothic"/>
              </a:rPr>
              <a:t>補足</a:t>
            </a:r>
          </a:p>
        </p:txBody>
      </p:sp>
      <p:sp>
        <p:nvSpPr>
          <p:cNvPr id="3" name="TextBox 2"/>
          <p:cNvSpPr txBox="1"/>
          <p:nvPr/>
        </p:nvSpPr>
        <p:spPr>
          <a:xfrm>
            <a:off x="1536192" y="1298448"/>
            <a:ext cx="22037040" cy="1188720"/>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Yu Gothic"/>
                <a:ea typeface="Yu Gothic"/>
              </a:rPr>
              <a:t>B12｜前に聞いた秒と、今日の秒の対応</a:t>
            </a:r>
          </a:p>
        </p:txBody>
      </p:sp>
      <p:sp>
        <p:nvSpPr>
          <p:cNvPr id="4" name="TextBox 3"/>
          <p:cNvSpPr txBox="1"/>
          <p:nvPr/>
        </p:nvSpPr>
        <p:spPr>
          <a:xfrm>
            <a:off x="21762720" y="12819888"/>
            <a:ext cx="2011680" cy="384048"/>
          </a:xfrm>
          <a:prstGeom prst="rect">
            <a:avLst/>
          </a:prstGeom>
          <a:noFill/>
        </p:spPr>
        <p:txBody>
          <a:bodyPr wrap="square" lIns="45720" tIns="18288" rIns="45720" bIns="18288" anchor="t">
            <a:spAutoFit/>
          </a:bodyPr>
          <a:lstStyle/>
          <a:p>
            <a:pPr algn="r">
              <a:spcAft>
                <a:spcPts val="0"/>
              </a:spcAft>
            </a:pPr>
            <a:r>
              <a:rPr sz="1800" b="0">
                <a:solidFill>
                  <a:srgbClr val="666F79"/>
                </a:solidFill>
                <a:latin typeface="Yu Gothic"/>
                <a:ea typeface="Yu Gothic"/>
              </a:rPr>
              <a:t>B12</a:t>
            </a:r>
          </a:p>
        </p:txBody>
      </p:sp>
      <p:graphicFrame>
        <p:nvGraphicFramePr>
          <p:cNvPr id="5" name="Table 4"/>
          <p:cNvGraphicFramePr>
            <a:graphicFrameLocks noGrp="1"/>
          </p:cNvGraphicFramePr>
          <p:nvPr/>
        </p:nvGraphicFramePr>
        <p:xfrm>
          <a:off x="1463040" y="3291840"/>
          <a:ext cx="21396959" cy="6035035"/>
        </p:xfrm>
        <a:graphic>
          <a:graphicData uri="http://schemas.openxmlformats.org/drawingml/2006/table">
            <a:tbl>
              <a:tblPr firstRow="1" bandRow="1">
                <a:tableStyleId>{5C22544A-7EE6-4342-B048-85BDC9FD1C3A}</a:tableStyleId>
              </a:tblPr>
              <a:tblGrid>
                <a:gridCol w="4195482">
                  <a:extLst>
                    <a:ext uri="{9D8B030D-6E8A-4147-A177-3AD203B41FA5}">
                      <a16:colId xmlns:a16="http://schemas.microsoft.com/office/drawing/2014/main" val="20000"/>
                    </a:ext>
                  </a:extLst>
                </a:gridCol>
                <a:gridCol w="6293223">
                  <a:extLst>
                    <a:ext uri="{9D8B030D-6E8A-4147-A177-3AD203B41FA5}">
                      <a16:colId xmlns:a16="http://schemas.microsoft.com/office/drawing/2014/main" val="20001"/>
                    </a:ext>
                  </a:extLst>
                </a:gridCol>
                <a:gridCol w="10908254">
                  <a:extLst>
                    <a:ext uri="{9D8B030D-6E8A-4147-A177-3AD203B41FA5}">
                      <a16:colId xmlns:a16="http://schemas.microsoft.com/office/drawing/2014/main" val="20002"/>
                    </a:ext>
                  </a:extLst>
                </a:gridCol>
              </a:tblGrid>
              <a:tr h="1207007">
                <a:tc>
                  <a:txBody>
                    <a:bodyPr/>
                    <a:lstStyle/>
                    <a:p>
                      <a:pPr algn="l">
                        <a:spcAft>
                          <a:spcPts val="0"/>
                        </a:spcAft>
                      </a:pPr>
                      <a:r>
                        <a:rPr sz="2300" b="1">
                          <a:solidFill>
                            <a:srgbClr val="FFFFFF"/>
                          </a:solidFill>
                          <a:latin typeface="Yu Gothic"/>
                          <a:ea typeface="Yu Gothic"/>
                        </a:rPr>
                        <a:t>いつ</a:t>
                      </a:r>
                    </a:p>
                  </a:txBody>
                  <a:tcPr marL="128016" marR="128016" anchor="ctr">
                    <a:solidFill>
                      <a:srgbClr val="082B52"/>
                    </a:solidFill>
                  </a:tcPr>
                </a:tc>
                <a:tc>
                  <a:txBody>
                    <a:bodyPr/>
                    <a:lstStyle/>
                    <a:p>
                      <a:pPr algn="l">
                        <a:spcAft>
                          <a:spcPts val="0"/>
                        </a:spcAft>
                      </a:pPr>
                      <a:r>
                        <a:rPr sz="2300" b="1">
                          <a:solidFill>
                            <a:srgbClr val="FFFFFF"/>
                          </a:solidFill>
                          <a:latin typeface="Yu Gothic"/>
                          <a:ea typeface="Yu Gothic"/>
                        </a:rPr>
                        <a:t>何の秒だったか</a:t>
                      </a:r>
                    </a:p>
                  </a:txBody>
                  <a:tcPr marL="128016" marR="128016" anchor="ctr">
                    <a:solidFill>
                      <a:srgbClr val="082B52"/>
                    </a:solidFill>
                  </a:tcPr>
                </a:tc>
                <a:tc>
                  <a:txBody>
                    <a:bodyPr/>
                    <a:lstStyle/>
                    <a:p>
                      <a:pPr algn="l">
                        <a:spcAft>
                          <a:spcPts val="0"/>
                        </a:spcAft>
                      </a:pPr>
                      <a:r>
                        <a:rPr sz="2300" b="1">
                          <a:solidFill>
                            <a:srgbClr val="FFFFFF"/>
                          </a:solidFill>
                          <a:latin typeface="Yu Gothic"/>
                          <a:ea typeface="Yu Gothic"/>
                        </a:rPr>
                        <a:t>今日の秒と違う理由</a:t>
                      </a:r>
                    </a:p>
                  </a:txBody>
                  <a:tcPr marL="128016" marR="128016" anchor="ctr">
                    <a:solidFill>
                      <a:srgbClr val="082B52"/>
                    </a:solidFill>
                  </a:tcPr>
                </a:tc>
                <a:extLst>
                  <a:ext uri="{0D108BD9-81ED-4DB2-BD59-A6C34878D82A}">
                    <a16:rowId xmlns:a16="http://schemas.microsoft.com/office/drawing/2014/main" val="10000"/>
                  </a:ext>
                </a:extLst>
              </a:tr>
              <a:tr h="1207007">
                <a:tc>
                  <a:txBody>
                    <a:bodyPr/>
                    <a:lstStyle/>
                    <a:p>
                      <a:pPr algn="l">
                        <a:spcAft>
                          <a:spcPts val="0"/>
                        </a:spcAft>
                      </a:pPr>
                      <a:r>
                        <a:rPr sz="2200" b="0">
                          <a:solidFill>
                            <a:srgbClr val="232B34"/>
                          </a:solidFill>
                          <a:latin typeface="Yu Gothic"/>
                          <a:ea typeface="Yu Gothic"/>
                        </a:rPr>
                        <a:t>2026-05 全体輪講</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仮想の熱バイアスでの捕捉時間と成功率</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熱構造解析ではなく、置いた値での試算だった</a:t>
                      </a:r>
                    </a:p>
                  </a:txBody>
                  <a:tcPr marL="128016" marR="128016" anchor="ctr">
                    <a:solidFill>
                      <a:srgbClr val="EBF6FB"/>
                    </a:solidFill>
                  </a:tcPr>
                </a:tc>
                <a:extLst>
                  <a:ext uri="{0D108BD9-81ED-4DB2-BD59-A6C34878D82A}">
                    <a16:rowId xmlns:a16="http://schemas.microsoft.com/office/drawing/2014/main" val="10001"/>
                  </a:ext>
                </a:extLst>
              </a:tr>
              <a:tr h="1207007">
                <a:tc>
                  <a:txBody>
                    <a:bodyPr/>
                    <a:lstStyle/>
                    <a:p>
                      <a:pPr algn="l">
                        <a:spcAft>
                          <a:spcPts val="0"/>
                        </a:spcAft>
                      </a:pPr>
                      <a:r>
                        <a:rPr sz="2200" b="0">
                          <a:solidFill>
                            <a:srgbClr val="232B34"/>
                          </a:solidFill>
                          <a:latin typeface="Yu Gothic"/>
                          <a:ea typeface="Yu Gothic"/>
                        </a:rPr>
                        <a:t>2026-07 光通信RG</a:t>
                      </a:r>
                    </a:p>
                  </a:txBody>
                  <a:tcPr marL="128016" marR="128016" anchor="ctr">
                    <a:solidFill>
                      <a:srgbClr val="F4F6F8"/>
                    </a:solidFill>
                  </a:tcPr>
                </a:tc>
                <a:tc>
                  <a:txBody>
                    <a:bodyPr/>
                    <a:lstStyle/>
                    <a:p>
                      <a:pPr algn="l">
                        <a:spcAft>
                          <a:spcPts val="0"/>
                        </a:spcAft>
                      </a:pPr>
                      <a:r>
                        <a:rPr sz="2200" b="0">
                          <a:solidFill>
                            <a:srgbClr val="232B34"/>
                          </a:solidFill>
                          <a:latin typeface="Yu Gothic"/>
                          <a:ea typeface="Yu Gothic"/>
                        </a:rPr>
                        <a:t>密な走査での捕捉時間</a:t>
                      </a:r>
                    </a:p>
                  </a:txBody>
                  <a:tcPr marL="128016" marR="128016" anchor="ctr">
                    <a:solidFill>
                      <a:srgbClr val="F4F6F8"/>
                    </a:solidFill>
                  </a:tcPr>
                </a:tc>
                <a:tc>
                  <a:txBody>
                    <a:bodyPr/>
                    <a:lstStyle/>
                    <a:p>
                      <a:pPr algn="l">
                        <a:spcAft>
                          <a:spcPts val="0"/>
                        </a:spcAft>
                      </a:pPr>
                      <a:r>
                        <a:rPr sz="2200" b="0">
                          <a:solidFill>
                            <a:srgbClr val="232B34"/>
                          </a:solidFill>
                          <a:latin typeface="Yu Gothic"/>
                          <a:ea typeface="Yu Gothic"/>
                        </a:rPr>
                        <a:t>点間隔と検出半径が通信ビーム級で、走査の格子に穴があった</a:t>
                      </a:r>
                    </a:p>
                  </a:txBody>
                  <a:tcPr marL="128016" marR="128016" anchor="ctr">
                    <a:solidFill>
                      <a:srgbClr val="EBF6FB"/>
                    </a:solidFill>
                  </a:tcPr>
                </a:tc>
                <a:extLst>
                  <a:ext uri="{0D108BD9-81ED-4DB2-BD59-A6C34878D82A}">
                    <a16:rowId xmlns:a16="http://schemas.microsoft.com/office/drawing/2014/main" val="10002"/>
                  </a:ext>
                </a:extLst>
              </a:tr>
              <a:tr h="1207007">
                <a:tc>
                  <a:txBody>
                    <a:bodyPr/>
                    <a:lstStyle/>
                    <a:p>
                      <a:pPr algn="l">
                        <a:spcAft>
                          <a:spcPts val="0"/>
                        </a:spcAft>
                      </a:pPr>
                      <a:r>
                        <a:rPr sz="2200" b="0">
                          <a:solidFill>
                            <a:srgbClr val="232B34"/>
                          </a:solidFill>
                          <a:latin typeface="Yu Gothic"/>
                          <a:ea typeface="Yu Gothic"/>
                        </a:rPr>
                        <a:t>2026-08-16 中間メモ</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17ケース集計での捕捉時間</a:t>
                      </a:r>
                    </a:p>
                  </a:txBody>
                  <a:tcPr marL="128016" marR="128016" anchor="ctr">
                    <a:solidFill>
                      <a:srgbClr val="FFFFFF"/>
                    </a:solidFill>
                  </a:tcPr>
                </a:tc>
                <a:tc>
                  <a:txBody>
                    <a:bodyPr/>
                    <a:lstStyle/>
                    <a:p>
                      <a:pPr algn="l">
                        <a:spcAft>
                          <a:spcPts val="0"/>
                        </a:spcAft>
                      </a:pPr>
                      <a:r>
                        <a:rPr sz="2200" b="0">
                          <a:solidFill>
                            <a:srgbClr val="232B34"/>
                          </a:solidFill>
                          <a:latin typeface="Yu Gothic"/>
                          <a:ea typeface="Yu Gothic"/>
                        </a:rPr>
                        <a:t>提出稿はCOLD標準表面の14ケースに絞ったあとの数字が正</a:t>
                      </a:r>
                    </a:p>
                  </a:txBody>
                  <a:tcPr marL="128016" marR="128016" anchor="ctr">
                    <a:solidFill>
                      <a:srgbClr val="EBF6FB"/>
                    </a:solidFill>
                  </a:tcPr>
                </a:tc>
                <a:extLst>
                  <a:ext uri="{0D108BD9-81ED-4DB2-BD59-A6C34878D82A}">
                    <a16:rowId xmlns:a16="http://schemas.microsoft.com/office/drawing/2014/main" val="10003"/>
                  </a:ext>
                </a:extLst>
              </a:tr>
              <a:tr h="1207007">
                <a:tc>
                  <a:txBody>
                    <a:bodyPr/>
                    <a:lstStyle/>
                    <a:p>
                      <a:pPr algn="l">
                        <a:spcAft>
                          <a:spcPts val="0"/>
                        </a:spcAft>
                      </a:pPr>
                      <a:r>
                        <a:rPr sz="2200" b="1">
                          <a:solidFill>
                            <a:srgbClr val="232B34"/>
                          </a:solidFill>
                          <a:latin typeface="Yu Gothic"/>
                          <a:ea typeface="Yu Gothic"/>
                        </a:rPr>
                        <a:t>今日（提出稿）</a:t>
                      </a:r>
                    </a:p>
                  </a:txBody>
                  <a:tcPr marL="128016" marR="128016" anchor="ctr">
                    <a:solidFill>
                      <a:srgbClr val="EAF8F1"/>
                    </a:solidFill>
                  </a:tcPr>
                </a:tc>
                <a:tc>
                  <a:txBody>
                    <a:bodyPr/>
                    <a:lstStyle/>
                    <a:p>
                      <a:pPr algn="l">
                        <a:spcAft>
                          <a:spcPts val="0"/>
                        </a:spcAft>
                      </a:pPr>
                      <a:r>
                        <a:rPr sz="2200" b="1">
                          <a:solidFill>
                            <a:srgbClr val="232B34"/>
                          </a:solidFill>
                          <a:latin typeface="Yu Gothic"/>
                          <a:ea typeface="Yu Gothic"/>
                        </a:rPr>
                        <a:t>14.6 → 0.10 s、19.2 → 5.45 s</a:t>
                      </a:r>
                    </a:p>
                  </a:txBody>
                  <a:tcPr marL="128016" marR="128016" anchor="ctr">
                    <a:solidFill>
                      <a:srgbClr val="EAF8F1"/>
                    </a:solidFill>
                  </a:tcPr>
                </a:tc>
                <a:tc>
                  <a:txBody>
                    <a:bodyPr/>
                    <a:lstStyle/>
                    <a:p>
                      <a:pPr algn="l">
                        <a:spcAft>
                          <a:spcPts val="0"/>
                        </a:spcAft>
                      </a:pPr>
                      <a:r>
                        <a:rPr sz="2200" b="1">
                          <a:solidFill>
                            <a:srgbClr val="232B34"/>
                          </a:solidFill>
                          <a:latin typeface="Yu Gothic"/>
                          <a:ea typeface="Yu Gothic"/>
                        </a:rPr>
                        <a:t>±1600 µrad・120 µradステップ・検出半径150 µrad、14ケース平均</a:t>
                      </a:r>
                    </a:p>
                  </a:txBody>
                  <a:tcPr marL="128016" marR="128016" anchor="ctr">
                    <a:solidFill>
                      <a:srgbClr val="EAF8F1"/>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9875520"/>
            <a:ext cx="21396960" cy="1371600"/>
          </a:xfrm>
          <a:prstGeom prst="rect">
            <a:avLst/>
          </a:prstGeom>
          <a:noFill/>
        </p:spPr>
        <p:txBody>
          <a:bodyPr wrap="square" lIns="45720" tIns="18288" rIns="45720" bIns="18288" anchor="t">
            <a:spAutoFit/>
          </a:bodyPr>
          <a:lstStyle/>
          <a:p>
            <a:pPr algn="ctr">
              <a:lnSpc>
                <a:spcPct val="125000"/>
              </a:lnSpc>
              <a:spcAft>
                <a:spcPts val="0"/>
              </a:spcAft>
            </a:pPr>
            <a:r>
              <a:rPr sz="2500" b="1">
                <a:solidFill>
                  <a:srgbClr val="082B52"/>
                </a:solidFill>
                <a:latin typeface="Yu Gothic"/>
                <a:ea typeface="Yu Gothic"/>
              </a:rPr>
              <a:t>走査条件が違えば秒は変わる。比べてよいのは、同じ走査条件の中での補正方式どうし</a:t>
            </a:r>
          </a:p>
          <a:p>
            <a:pPr algn="ctr">
              <a:lnSpc>
                <a:spcPct val="125000"/>
              </a:lnSpc>
              <a:spcAft>
                <a:spcPts val="0"/>
              </a:spcAft>
            </a:pPr>
            <a:r>
              <a:rPr sz="2500" b="1">
                <a:solidFill>
                  <a:srgbClr val="082B52"/>
                </a:solidFill>
                <a:latin typeface="Yu Gothic"/>
                <a:ea typeface="Yu Gothic"/>
              </a:rPr>
              <a:t>旧い秒はスクリーンに出さない。対応は口頭で答える</a:t>
            </a:r>
          </a:p>
        </p:txBody>
      </p:sp>
    </p:spTree>
  </p:cSld>
  <p:clrMapOvr>
    <a:masterClrMapping/>
  </p:clrMapOvr>
</p:sld>
</file>

<file path=ppt/theme/theme1.xml><?xml version="1.0" encoding="utf-8"?>
<a:theme xmlns:a="http://schemas.openxmlformats.org/drawingml/2006/main" name="Office テーマ">
  <a:themeElements>
    <a:clrScheme name="ISSL true">
      <a:dk1>
        <a:srgbClr val="062654"/>
      </a:dk1>
      <a:lt1>
        <a:srgbClr val="FFFFFF"/>
      </a:lt1>
      <a:dk2>
        <a:srgbClr val="4B4B4B"/>
      </a:dk2>
      <a:lt2>
        <a:srgbClr val="8D8D8D"/>
      </a:lt2>
      <a:accent1>
        <a:srgbClr val="067BCA"/>
      </a:accent1>
      <a:accent2>
        <a:srgbClr val="C95656"/>
      </a:accent2>
      <a:accent3>
        <a:srgbClr val="EBA123"/>
      </a:accent3>
      <a:accent4>
        <a:srgbClr val="87AC70"/>
      </a:accent4>
      <a:accent5>
        <a:srgbClr val="B3618D"/>
      </a:accent5>
      <a:accent6>
        <a:srgbClr val="D16449"/>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ssl-template-ja-16-9" id="{4C5265F7-3B2E-5145-B81F-B8693CA354B3}" vid="{5C8F6914-05D8-EA47-8853-1E6EC34679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issl-template-ja-16-9</Template>
  <TotalTime>5753</TotalTime>
  <Words>6846</Words>
  <Application>Microsoft Office PowerPoint</Application>
  <PresentationFormat>ユーザー設定</PresentationFormat>
  <Paragraphs>968</Paragraphs>
  <Slides>45</Slides>
  <Notes>45</Notes>
  <HiddenSlides>15</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45</vt:i4>
      </vt:variant>
    </vt:vector>
  </HeadingPairs>
  <TitlesOfParts>
    <vt:vector size="54" baseType="lpstr">
      <vt:lpstr>Yu Gothic</vt:lpstr>
      <vt:lpstr>Yu Gothic</vt:lpstr>
      <vt:lpstr>Yu Gothic Medium</vt:lpstr>
      <vt:lpstr>Aptos</vt:lpstr>
      <vt:lpstr>Aptos Display</vt:lpstr>
      <vt:lpstr>Arial</vt:lpstr>
      <vt:lpstr>Calibri</vt:lpstr>
      <vt:lpstr>Cambria Math</vt:lpstr>
      <vt:lpstr>Office テーマ</vt:lpstr>
      <vt:lpstr> Hierarchical Prediction  and Feedforward Correction  of Time-Varying Thermal Line-of-Sight Bias  for Coarse Acquisition  in Satellite Optical Communications</vt:lpstr>
      <vt:lpstr>01</vt:lpstr>
      <vt:lpstr>Reduce scan time by predicting thermal LOS error in optical communications </vt:lpstr>
      <vt:lpstr>PowerPoint プレゼンテーション</vt:lpstr>
      <vt:lpstr>PowerPoint プレゼンテーション</vt:lpstr>
      <vt:lpstr>PowerPoint プレゼンテーション</vt:lpstr>
      <vt:lpstr>02</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03</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04</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05</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衛星光通信の粗捕捉に向けた時変熱バイアスのフィードフォワード補正</dc:title>
  <dc:subject>2026-09-28 全体輪講</dc:subject>
  <dc:creator>高本 英熙</dc:creator>
  <dc:description>260927_labseminar_slide_outline.md と papers/icso/main.typ から作成。土台は 20260721_optcommrg_takamoto_v3_issl.pptx。</dc:description>
  <cp:lastModifiedBy>高本　英熙</cp:lastModifiedBy>
  <cp:revision>69</cp:revision>
  <cp:lastPrinted>2026-10-05T01:11:06Z</cp:lastPrinted>
  <dcterms:created xsi:type="dcterms:W3CDTF">2026-05-11T08:23:04Z</dcterms:created>
  <dcterms:modified xsi:type="dcterms:W3CDTF">2026-10-10T11:14:29Z</dcterms:modified>
</cp:coreProperties>
</file>