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21" r:id="rId14"/>
    <p:sldId id="343" r:id="rId15"/>
    <p:sldId id="285" r:id="rId16"/>
    <p:sldId id="322" r:id="rId17"/>
    <p:sldId id="326" r:id="rId18"/>
    <p:sldId id="327" r:id="rId19"/>
    <p:sldId id="328" r:id="rId20"/>
    <p:sldId id="344" r:id="rId21"/>
    <p:sldId id="297" r:id="rId22"/>
    <p:sldId id="299" r:id="rId23"/>
    <p:sldId id="303" r:id="rId24"/>
    <p:sldId id="304" r:id="rId25"/>
    <p:sldId id="329" r:id="rId26"/>
    <p:sldId id="345" r:id="rId27"/>
    <p:sldId id="331" r:id="rId28"/>
    <p:sldId id="330"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4939" autoAdjust="0"/>
  </p:normalViewPr>
  <p:slideViewPr>
    <p:cSldViewPr snapToGrid="0">
      <p:cViewPr varScale="1">
        <p:scale>
          <a:sx n="28" d="100"/>
          <a:sy n="28" d="100"/>
        </p:scale>
        <p:origin x="852" y="32"/>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This slide shows the overall workflow of this study.</a:t>
            </a:r>
          </a:p>
          <a:p>
            <a:pPr>
              <a:spcAft>
                <a:spcPts val="600"/>
              </a:spcAft>
            </a:pPr>
            <a:r>
              <a:rPr sz="1600" dirty="0">
                <a:latin typeface="Calibri"/>
              </a:rPr>
              <a:t>On the ground, we first define the orbit, attitude, thermal environment, equipment layout, and surface properties.</a:t>
            </a:r>
          </a:p>
          <a:p>
            <a:pPr>
              <a:spcAft>
                <a:spcPts val="600"/>
              </a:spcAft>
            </a:pPr>
            <a:r>
              <a:rPr sz="1600" dirty="0">
                <a:latin typeface="Calibri"/>
              </a:rPr>
              <a:t>Thermal Desktop is then used to calculate the spacecraft temperature field.</a:t>
            </a:r>
          </a:p>
          <a:p>
            <a:pPr>
              <a:spcAft>
                <a:spcPts val="600"/>
              </a:spcAft>
            </a:pPr>
            <a:r>
              <a:rPr sz="1600" dirty="0">
                <a:latin typeface="Calibri"/>
              </a:rPr>
              <a:t>The temperature field is transferred to </a:t>
            </a:r>
            <a:r>
              <a:rPr sz="1600" dirty="0" err="1">
                <a:latin typeface="Calibri"/>
              </a:rPr>
              <a:t>Femap</a:t>
            </a:r>
            <a:r>
              <a:rPr sz="1600" dirty="0">
                <a:latin typeface="Calibri"/>
              </a:rPr>
              <a:t> and Nastran to calculate thermoelastic deformation and the relative rotation between the star tracker and the laser communication terminal.</a:t>
            </a:r>
          </a:p>
          <a:p>
            <a:pPr>
              <a:spcAft>
                <a:spcPts val="600"/>
              </a:spcAft>
            </a:pPr>
            <a:r>
              <a:rPr sz="1600" dirty="0">
                <a:latin typeface="Calibri"/>
              </a:rPr>
              <a:t>From these high-fidelity simulation results, we generate reference thermal-LOS time series and construct a reduced-order prediction model.</a:t>
            </a:r>
          </a:p>
          <a:p>
            <a:pPr>
              <a:spcAft>
                <a:spcPts val="600"/>
              </a:spcAft>
            </a:pPr>
            <a:r>
              <a:rPr sz="1600" dirty="0">
                <a:latin typeface="Calibri"/>
              </a:rPr>
              <a:t>On orbit, Thermal Desktop and </a:t>
            </a:r>
            <a:r>
              <a:rPr sz="1600" dirty="0" err="1">
                <a:latin typeface="Calibri"/>
              </a:rPr>
              <a:t>Femap</a:t>
            </a:r>
            <a:r>
              <a:rPr sz="1600" dirty="0">
                <a:latin typeface="Calibri"/>
              </a:rPr>
              <a:t> are not used.</a:t>
            </a:r>
          </a:p>
          <a:p>
            <a:pPr>
              <a:spcAft>
                <a:spcPts val="600"/>
              </a:spcAft>
            </a:pPr>
            <a:r>
              <a:rPr sz="1600" dirty="0">
                <a:latin typeface="Calibri"/>
              </a:rPr>
              <a:t>Only temperature measurements and operating-state information are input to the reduced-order model, and the predicted thermal LOS is used to correct the scan center.</a:t>
            </a:r>
          </a:p>
          <a:p>
            <a:pPr>
              <a:spcAft>
                <a:spcPts val="600"/>
              </a:spcAft>
            </a:pPr>
            <a:r>
              <a:rPr sz="1600" dirty="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lang="en-US" sz="1600" dirty="0">
                <a:latin typeface="Calibri"/>
              </a:rPr>
              <a:t>The setting for thermal analysis is shown as table.</a:t>
            </a:r>
            <a:endParaRPr sz="1600" dirty="0">
              <a:latin typeface="Calibri"/>
            </a:endParaRPr>
          </a:p>
          <a:p>
            <a:pPr>
              <a:spcAft>
                <a:spcPts val="600"/>
              </a:spcAft>
            </a:pPr>
            <a:r>
              <a:rPr sz="1600" dirty="0">
                <a:latin typeface="Calibri"/>
              </a:rPr>
              <a:t>Across the analysis cases, we vary </a:t>
            </a:r>
            <a:r>
              <a:rPr lang="en-US" sz="1600" dirty="0">
                <a:latin typeface="Calibri"/>
              </a:rPr>
              <a:t>the orbital conditions, </a:t>
            </a:r>
            <a:r>
              <a:rPr sz="1600" dirty="0">
                <a:latin typeface="Calibri"/>
              </a:rPr>
              <a:t>the sun-facing panel, </a:t>
            </a:r>
            <a:r>
              <a:rPr lang="en-US" sz="1600" dirty="0">
                <a:latin typeface="Calibri"/>
              </a:rPr>
              <a:t>the </a:t>
            </a:r>
            <a:r>
              <a:rPr sz="1600" dirty="0">
                <a:latin typeface="Calibri"/>
              </a:rPr>
              <a:t>optical properties</a:t>
            </a:r>
            <a:r>
              <a:rPr lang="en-US" sz="1600" dirty="0">
                <a:latin typeface="Calibri"/>
              </a:rPr>
              <a:t> of panels</a:t>
            </a:r>
            <a:r>
              <a:rPr sz="1600" dirty="0">
                <a:latin typeface="Calibri"/>
              </a:rPr>
              <a:t>,</a:t>
            </a:r>
            <a:r>
              <a:rPr lang="en-US" sz="1600" dirty="0">
                <a:latin typeface="Calibri"/>
              </a:rPr>
              <a:t> and</a:t>
            </a:r>
            <a:r>
              <a:rPr sz="1600" dirty="0">
                <a:latin typeface="Calibri"/>
              </a:rPr>
              <a:t> internal equipment dissipation</a:t>
            </a:r>
            <a:r>
              <a:rPr 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resulting temperature </a:t>
            </a:r>
            <a:r>
              <a:rPr lang="en-US" sz="1600" dirty="0">
                <a:latin typeface="Calibri"/>
              </a:rPr>
              <a:t>time-series </a:t>
            </a:r>
            <a:r>
              <a:rPr sz="1600" dirty="0">
                <a:latin typeface="Calibri"/>
              </a:rPr>
              <a:t>field is then transferred to </a:t>
            </a:r>
            <a:r>
              <a:rPr sz="1600" dirty="0" err="1">
                <a:latin typeface="Calibri"/>
              </a:rPr>
              <a:t>Femap</a:t>
            </a:r>
            <a:r>
              <a:rPr sz="1600" dirty="0">
                <a:latin typeface="Calibri"/>
              </a:rPr>
              <a:t> for thermoelastic structural analysis.</a:t>
            </a:r>
          </a:p>
          <a:p>
            <a:pPr>
              <a:spcAft>
                <a:spcPts val="600"/>
              </a:spcAft>
            </a:pPr>
            <a:r>
              <a:rPr sz="1600" dirty="0">
                <a:latin typeface="Calibri"/>
              </a:rPr>
              <a:t>The spacecraft structure is modeled with the material properties shown here.</a:t>
            </a:r>
          </a:p>
          <a:p>
            <a:pPr>
              <a:spcAft>
                <a:spcPts val="600"/>
              </a:spcAft>
            </a:pPr>
            <a:r>
              <a:rPr sz="1600" dirty="0">
                <a:latin typeface="Calibri"/>
              </a:rPr>
              <a:t>From this analysis, we obtain the translations and rotations of the star-tracker and laser-terminal mounting locations.</a:t>
            </a:r>
          </a:p>
          <a:p>
            <a:pPr>
              <a:spcAft>
                <a:spcPts val="600"/>
              </a:spcAft>
            </a:pPr>
            <a:r>
              <a:rPr lang="ja-JP" altLang="en-US" sz="1600" dirty="0">
                <a:latin typeface="Calibri"/>
              </a:rPr>
              <a:t>（</a:t>
            </a:r>
            <a:r>
              <a:rPr sz="1600" dirty="0">
                <a:latin typeface="Calibri"/>
              </a:rPr>
              <a:t>Thermal Desktop and </a:t>
            </a:r>
            <a:r>
              <a:rPr sz="1600" dirty="0" err="1">
                <a:latin typeface="Calibri"/>
              </a:rPr>
              <a:t>Femap</a:t>
            </a:r>
            <a:r>
              <a:rPr sz="1600" dirty="0">
                <a:latin typeface="Calibri"/>
              </a:rPr>
              <a:t> are therefore used only to generate the high-fidelity reference dataset for model development.</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onboard use, the model has to be much simpler than the full Thermal Desktop and </a:t>
            </a:r>
            <a:r>
              <a:rPr sz="1600" dirty="0" err="1">
                <a:latin typeface="Calibri"/>
              </a:rPr>
              <a:t>Femap</a:t>
            </a:r>
            <a:r>
              <a:rPr sz="1600" dirty="0">
                <a:latin typeface="Calibri"/>
              </a:rPr>
              <a:t> analysis.</a:t>
            </a:r>
          </a:p>
          <a:p>
            <a:pPr>
              <a:spcAft>
                <a:spcPts val="600"/>
              </a:spcAft>
            </a:pPr>
            <a:r>
              <a:rPr sz="1600" dirty="0">
                <a:latin typeface="Calibri"/>
              </a:rPr>
              <a:t>It should use only a small number of temperature measurements and operating-state flags, with a small fixed set of coefficients.</a:t>
            </a:r>
          </a:p>
          <a:p>
            <a:pPr>
              <a:spcAft>
                <a:spcPts val="600"/>
              </a:spcAft>
            </a:pPr>
            <a:r>
              <a:rPr lang="en-US" sz="1600" dirty="0">
                <a:latin typeface="Calibri"/>
              </a:rPr>
              <a:t>After w</a:t>
            </a:r>
            <a:r>
              <a:rPr sz="1600" dirty="0">
                <a:latin typeface="Calibri"/>
              </a:rPr>
              <a:t>e examined several candidate </a:t>
            </a:r>
            <a:r>
              <a:rPr lang="en-US" sz="1600" dirty="0">
                <a:latin typeface="Calibri"/>
              </a:rPr>
              <a:t>reduced-order </a:t>
            </a:r>
            <a:r>
              <a:rPr sz="1600" dirty="0">
                <a:latin typeface="Calibri"/>
              </a:rPr>
              <a:t>models</a:t>
            </a:r>
            <a:r>
              <a:rPr lang="en-US" sz="1600" dirty="0">
                <a:latin typeface="Calibri"/>
              </a:rPr>
              <a:t>,</a:t>
            </a:r>
            <a:r>
              <a:rPr sz="1600" dirty="0">
                <a:latin typeface="Calibri"/>
              </a:rPr>
              <a:t> we selected a hierarchical temperature-difference model.</a:t>
            </a:r>
          </a:p>
          <a:p>
            <a:pPr>
              <a:spcAft>
                <a:spcPts val="600"/>
              </a:spcAft>
            </a:pPr>
            <a:r>
              <a:rPr sz="1600" dirty="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 prediction results are shown here.</a:t>
            </a:r>
          </a:p>
          <a:p>
            <a:pPr>
              <a:spcAft>
                <a:spcPts val="600"/>
              </a:spcAft>
            </a:pPr>
            <a:r>
              <a:rPr sz="1600" dirty="0">
                <a:latin typeface="Calibri"/>
              </a:rPr>
              <a:t>Before correction, the median RMS thermal LOS on the dominant axis is about 615 microradians.</a:t>
            </a:r>
          </a:p>
          <a:p>
            <a:pPr>
              <a:spcAft>
                <a:spcPts val="600"/>
              </a:spcAft>
            </a:pPr>
            <a:r>
              <a:rPr sz="1600" dirty="0">
                <a:latin typeface="Calibri"/>
              </a:rPr>
              <a:t>For unseen operating conditions, the median test RMSE decreases to only 4.9 microradians, with a mean value of 5.5 microradians.</a:t>
            </a:r>
          </a:p>
          <a:p>
            <a:pPr>
              <a:spcAft>
                <a:spcPts val="600"/>
              </a:spcAft>
            </a:pPr>
            <a:r>
              <a:rPr sz="1600" dirty="0">
                <a:latin typeface="Calibri"/>
              </a:rPr>
              <a:t>The case-dependent DC bias is also predicted with a leave-one</a:t>
            </a:r>
            <a:r>
              <a:rPr lang="en-US" sz="1600" dirty="0">
                <a:latin typeface="Calibri"/>
              </a:rPr>
              <a:t>-case</a:t>
            </a:r>
            <a:r>
              <a:rPr sz="1600" dirty="0">
                <a:latin typeface="Calibri"/>
              </a:rPr>
              <a:t>-out RMSE of 3.8 microradians.</a:t>
            </a:r>
          </a:p>
          <a:p>
            <a:pPr>
              <a:spcAft>
                <a:spcPts val="600"/>
              </a:spcAft>
            </a:pPr>
            <a:r>
              <a:rPr sz="1600" dirty="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In addition to thermal LOS error, we include several nonthermal pointing-error components.</a:t>
            </a:r>
          </a:p>
          <a:p>
            <a:pPr>
              <a:spcAft>
                <a:spcPts val="600"/>
              </a:spcAft>
            </a:pPr>
            <a:r>
              <a:rPr sz="1600" dirty="0">
                <a:latin typeface="Calibri"/>
              </a:rPr>
              <a:t>The largest one is orbit-prediction error.</a:t>
            </a:r>
          </a:p>
          <a:p>
            <a:pPr>
              <a:spcAft>
                <a:spcPts val="600"/>
              </a:spcAft>
            </a:pPr>
            <a:r>
              <a:rPr sz="1600" dirty="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dirty="0">
                <a:latin typeface="Calibri"/>
              </a:rPr>
              <a:t>We also include a constant alignment error, random attitude error, and a low-frequency drift term.</a:t>
            </a:r>
          </a:p>
          <a:p>
            <a:pPr>
              <a:spcAft>
                <a:spcPts val="600"/>
              </a:spcAft>
            </a:pPr>
            <a:r>
              <a:rPr sz="1600" dirty="0">
                <a:latin typeface="Calibri"/>
              </a:rPr>
              <a:t>This is not intended to reproduce the exact pointing-error budget of a specific spacecraft.</a:t>
            </a:r>
          </a:p>
          <a:p>
            <a:pPr>
              <a:spcAft>
                <a:spcPts val="600"/>
              </a:spcAft>
            </a:pPr>
            <a:r>
              <a:rPr sz="1600" dirty="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lang="en-US" sz="1600" dirty="0">
                <a:latin typeface="Calibri"/>
              </a:rPr>
              <a:t>Second</a:t>
            </a:r>
            <a:r>
              <a:rPr sz="1600" dirty="0">
                <a:latin typeface="Calibri"/>
              </a:rPr>
              <a:t>, even when nonthermal errors were included, the mean acquisition time decreased from 19.2 seconds to 5.45 seconds, while the success rate increased from 98 percent to 100 percent.</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atin typeface="Arial" panose="020B0604020202020204" pitchFamily="34" charset="0"/>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latin typeface="Arial" panose="020B0604020202020204" pitchFamily="34" charset="0"/>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23E69BD-F0A9-D945-85B5-A92D8C4A6243}"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latin typeface="Arial" panose="020B0604020202020204" pitchFamily="34" charset="0"/>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B9E95FB-2235-2F42-91D0-8B9F16BE7B80}"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Arial" panose="020B0604020202020204" pitchFamily="34" charset="0"/>
                <a:ea typeface="Yu Gothic" panose="020B0400000000000000" pitchFamily="34" charset="-128"/>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CB8ED544-ACEE-1142-A4DF-052F81DCAF13}"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55A8DA76-1C10-5547-91CE-253BD16E32D7}"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3DC3E895-CCE5-A241-A85F-670DB4C916C8}"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9F4C7F2-45E9-0742-99C2-D62F245DFEC9}"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C579897-8C2A-CB44-93BE-9BFBC7559B74}"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7DD96E1F-697B-864D-A8BC-B9F203AEA5AC}"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33846FE-1092-FD42-9AC0-B69E5809E0EF}" type="datetime1">
              <a:rPr kumimoji="1" lang="en-US" altLang="ja-JP" smtClean="0"/>
              <a:pPr/>
              <a:t>10/12/2026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lvl1pPr>
              <a:defRPr>
                <a:latin typeface="Arial" panose="020B0604020202020204" pitchFamily="34" charset="0"/>
              </a:defRPr>
            </a:lvl1pPr>
          </a:lstStyle>
          <a:p>
            <a:fld id="{7A6230E5-DC19-8048-9011-93E4E558FEAD}" type="datetime1">
              <a:rPr kumimoji="1" lang="en-US" altLang="ja-JP" smtClean="0"/>
              <a:pPr/>
              <a:t>10/12/2026</a:t>
            </a:fld>
            <a:endParaRPr kumimoji="1" lang="en-US" altLang="ja-JP" dirty="0"/>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latin typeface="Arial" panose="020B0604020202020204" pitchFamily="34" charset="0"/>
              </a:defRPr>
            </a:lvl1pPr>
          </a:lstStyle>
          <a:p>
            <a:fld id="{7A6230E5-DC19-8048-9011-93E4E558FEAD}" type="datetime1">
              <a:rPr kumimoji="1" lang="en-US" altLang="ja-JP" smtClean="0"/>
              <a:pPr/>
              <a:t>10/12/2026</a:t>
            </a:fld>
            <a:endParaRPr kumimoji="1" lang="en-US" altLang="ja-JP" dirty="0">
              <a:latin typeface="Arial" panose="020B0604020202020204" pitchFamily="34" charset="0"/>
            </a:endParaRPr>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latin typeface="Arial" panose="020B0604020202020204" pitchFamily="34" charset="0"/>
              </a:defRPr>
            </a:lvl1pPr>
          </a:lstStyle>
          <a:p>
            <a:fld id="{E67BFEE9-6A35-CF42-A39A-CD481C3507E3}" type="slidenum">
              <a:rPr kumimoji="1" lang="en-US" altLang="ja-JP" smtClean="0"/>
              <a:pPr/>
              <a:t>‹#›</a:t>
            </a:fld>
            <a:endParaRPr kumimoji="1" lang="en-US" altLang="ja-JP" dirty="0">
              <a:latin typeface="Arial" panose="020B0604020202020204" pitchFamily="34" charset="0"/>
            </a:endParaRPr>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Arial" panose="020B0604020202020204" pitchFamily="34" charset="0"/>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Arial" panose="020B0604020202020204" pitchFamily="34" charset="0"/>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5.pn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en-US" altLang="ja-JP" sz="4400" b="0">
                <a:latin typeface="Arial" panose="020B0604020202020204" pitchFamily="34" charset="0"/>
                <a:cs typeface="Arial" panose="020B0604020202020204" pitchFamily="34" charset="0"/>
              </a:rPr>
            </a:br>
            <a:r>
              <a:rPr lang="en-US" altLang="ja-JP" sz="4400">
                <a:latin typeface="Arial" panose="020B0604020202020204" pitchFamily="34" charset="0"/>
                <a:cs typeface="Arial" panose="020B0604020202020204" pitchFamily="34" charset="0"/>
              </a:rPr>
              <a:t>Hierarchical </a:t>
            </a:r>
            <a:r>
              <a:rPr lang="en-US" altLang="ja-JP" sz="4400" dirty="0">
                <a:latin typeface="Arial" panose="020B0604020202020204" pitchFamily="34" charset="0"/>
                <a:cs typeface="Arial" panose="020B0604020202020204" pitchFamily="34" charset="0"/>
              </a:rPr>
              <a:t>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lang="en-US" sz="3600" b="0">
                <a:solidFill>
                  <a:schemeClr val="tx2">
                    <a:lumMod val="50000"/>
                  </a:schemeClr>
                </a:solidFill>
                <a:latin typeface="Arial" panose="020B0604020202020204" pitchFamily="34" charset="0"/>
                <a:ea typeface="Yu Gothic"/>
                <a:cs typeface="Arial" panose="020B0604020202020204" pitchFamily="34" charset="0"/>
              </a:rPr>
              <a:t>ICSO</a:t>
            </a:r>
            <a:r>
              <a:rPr lang="en-US" altLang="ja-JP" sz="3600">
                <a:solidFill>
                  <a:schemeClr val="tx2">
                    <a:lumMod val="50000"/>
                  </a:schemeClr>
                </a:solidFill>
                <a:latin typeface="Arial" panose="020B0604020202020204" pitchFamily="34" charset="0"/>
                <a:ea typeface="Yu Gothic"/>
                <a:cs typeface="Arial" panose="020B0604020202020204" pitchFamily="34" charset="0"/>
              </a:rPr>
              <a:t> 2026 |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01</a:t>
            </a:r>
            <a:endParaRPr lang="en-US"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en-US" altLang="ja-JP" sz="4800" b="1">
                <a:solidFill>
                  <a:srgbClr val="FFFFFF"/>
                </a:solidFill>
                <a:latin typeface="Arial" panose="020B0604020202020204" pitchFamily="34" charset="0"/>
                <a:cs typeface="Arial" panose="020B0604020202020204" pitchFamily="34" charset="0"/>
              </a:rPr>
              <a:t>Background</a:t>
            </a:r>
            <a:endParaRPr lang="en-US"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lang="en-US" altLang="ja-JP" sz="1800" b="0" dirty="0">
                <a:solidFill>
                  <a:srgbClr val="666F79"/>
                </a:solidFill>
                <a:latin typeface="Arial" panose="020B0604020202020204" pitchFamily="34" charset="0"/>
                <a:ea typeface="Yu Gothic"/>
                <a:cs typeface="Arial" panose="020B0604020202020204" pitchFamily="34" charset="0"/>
              </a:rPr>
              <a:t>3</a:t>
            </a:r>
            <a:endParaRPr sz="1800" b="0" dirty="0">
              <a:solidFill>
                <a:srgbClr val="666F79"/>
              </a:solidFill>
              <a:latin typeface="Arial" panose="020B0604020202020204" pitchFamily="34" charset="0"/>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lang="en-US" sz="3200" b="0" dirty="0">
                <a:solidFill>
                  <a:srgbClr val="232B34"/>
                </a:solidFill>
                <a:latin typeface="Arial" panose="020B0604020202020204" pitchFamily="34" charset="0"/>
                <a:ea typeface="Yu Gothic"/>
                <a:cs typeface="Arial" panose="020B0604020202020204" pitchFamily="34" charset="0"/>
              </a:rPr>
              <a:t>attitude, and </a:t>
            </a:r>
            <a:r>
              <a:rPr lang="en-US" sz="3200" b="0">
                <a:solidFill>
                  <a:srgbClr val="232B34"/>
                </a:solidFill>
                <a:latin typeface="Arial" panose="020B0604020202020204" pitchFamily="34" charset="0"/>
                <a:ea typeface="Yu Gothic"/>
                <a:cs typeface="Arial" panose="020B0604020202020204" pitchFamily="34" charset="0"/>
              </a:rPr>
              <a:t>orbit errors</a:t>
            </a: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lang="en-US" sz="3200" b="1">
                <a:solidFill>
                  <a:srgbClr val="EC9427"/>
                </a:solidFill>
                <a:latin typeface="Arial" panose="020B0604020202020204" pitchFamily="34" charset="0"/>
                <a:cs typeface="Arial" panose="020B0604020202020204" pitchFamily="34" charset="0"/>
              </a:rPr>
              <a:t>Illumination / eclipse</a:t>
            </a:r>
            <a:endParaRPr lang="en-US" sz="3200" b="1" dirty="0">
              <a:solidFill>
                <a:srgbClr val="EC9427"/>
              </a:solidFill>
              <a:latin typeface="Arial" panose="020B0604020202020204" pitchFamily="34" charset="0"/>
              <a:cs typeface="Arial" panose="020B0604020202020204" pitchFamily="34" charset="0"/>
            </a:endParaRPr>
          </a:p>
          <a:p>
            <a:pPr algn="ctr"/>
            <a:r>
              <a:rPr lang="en-US" sz="3200" b="1" dirty="0">
                <a:solidFill>
                  <a:srgbClr val="EC9427"/>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638382"/>
            <a:ext cx="5060808" cy="1532727"/>
          </a:xfrm>
          <a:prstGeom prst="rect">
            <a:avLst/>
          </a:prstGeom>
          <a:noFill/>
        </p:spPr>
        <p:txBody>
          <a:bodyPr wrap="none" lIns="36576" tIns="27432" rIns="36576" bIns="27432" anchor="t">
            <a:spAutoFit/>
          </a:bodyPr>
          <a:lstStyle/>
          <a:p>
            <a:pPr algn="ctr"/>
            <a:r>
              <a:rPr lang="en-US" sz="3200" b="0">
                <a:solidFill>
                  <a:srgbClr val="232B34"/>
                </a:solidFill>
                <a:latin typeface="Arial" panose="020B0604020202020204" pitchFamily="34" charset="0"/>
                <a:cs typeface="Arial" panose="020B0604020202020204" pitchFamily="34" charset="0"/>
              </a:rPr>
              <a:t>Temperature field </a:t>
            </a:r>
            <a:endParaRPr lang="en-US" sz="3200" b="0" dirty="0">
              <a:solidFill>
                <a:srgbClr val="232B34"/>
              </a:solidFill>
              <a:latin typeface="Arial" panose="020B0604020202020204" pitchFamily="34" charset="0"/>
              <a:cs typeface="Arial" panose="020B0604020202020204" pitchFamily="34" charset="0"/>
            </a:endParaRPr>
          </a:p>
          <a:p>
            <a:pPr algn="ctr"/>
            <a:r>
              <a:rPr lang="en-US" sz="3200" b="0" dirty="0">
                <a:solidFill>
                  <a:srgbClr val="232B34"/>
                </a:solidFill>
                <a:latin typeface="Arial" panose="020B0604020202020204" pitchFamily="34" charset="0"/>
                <a:cs typeface="Arial" panose="020B0604020202020204" pitchFamily="34" charset="0"/>
              </a:rPr>
              <a:t>→ </a:t>
            </a:r>
            <a:r>
              <a:rPr lang="en-US" sz="3200" b="0">
                <a:solidFill>
                  <a:srgbClr val="232B34"/>
                </a:solidFill>
                <a:latin typeface="Arial" panose="020B0604020202020204" pitchFamily="34" charset="0"/>
                <a:cs typeface="Arial" panose="020B0604020202020204" pitchFamily="34" charset="0"/>
              </a:rPr>
              <a:t>thermal expansion
→ </a:t>
            </a:r>
            <a:r>
              <a:rPr lang="en-US" altLang="ja-JP" sz="3200">
                <a:solidFill>
                  <a:srgbClr val="232B34"/>
                </a:solidFill>
                <a:latin typeface="Arial" panose="020B0604020202020204" pitchFamily="34" charset="0"/>
                <a:cs typeface="Arial" panose="020B0604020202020204" pitchFamily="34" charset="0"/>
              </a:rPr>
              <a:t>spacecraft-bus distortion</a:t>
            </a:r>
            <a:endParaRPr lang="en-US"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lang="en-US" sz="28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sz="2800" b="1">
                <a:solidFill>
                  <a:schemeClr val="accent6">
                    <a:lumMod val="75000"/>
                  </a:schemeClr>
                </a:solidFill>
                <a:latin typeface="Arial" panose="020B0604020202020204" pitchFamily="34" charset="0"/>
                <a:ea typeface="Yu Gothic"/>
                <a:cs typeface="Arial" panose="020B0604020202020204" pitchFamily="34" charset="0"/>
              </a:rPr>
              <a:t>: 100 µrad to 1 mrad</a:t>
            </a:r>
            <a:endParaRPr lang="en-US"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630168"/>
            <a:ext cx="5760720" cy="1040285"/>
          </a:xfrm>
          <a:prstGeom prst="rect">
            <a:avLst/>
          </a:prstGeom>
          <a:noFill/>
        </p:spPr>
        <p:txBody>
          <a:bodyPr wrap="square" lIns="36576" tIns="27432" rIns="36576" bIns="27432" anchor="t">
            <a:spAutoFit/>
          </a:bodyPr>
          <a:lstStyle/>
          <a:p>
            <a:pPr algn="ctr">
              <a:spcAft>
                <a:spcPts val="0"/>
              </a:spcAft>
            </a:pPr>
            <a:r>
              <a:rPr lang="en-US" sz="3200" b="1">
                <a:solidFill>
                  <a:srgbClr val="FF0000"/>
                </a:solidFill>
                <a:latin typeface="Arial" panose="020B0604020202020204" pitchFamily="34" charset="0"/>
                <a:ea typeface="Yu Gothic"/>
                <a:cs typeface="Arial" panose="020B0604020202020204" pitchFamily="34" charset="0"/>
              </a:rPr>
              <a:t>Pre-acquisition predictive correction</a:t>
            </a:r>
            <a:endParaRPr lang="en-US"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Subtract </a:t>
            </a:r>
            <a:r>
              <a:rPr lang="en-US" sz="3200" b="1">
                <a:solidFill>
                  <a:schemeClr val="accent6">
                    <a:lumMod val="75000"/>
                  </a:schemeClr>
                </a:solidFill>
                <a:latin typeface="Arial" panose="020B0604020202020204" pitchFamily="34" charset="0"/>
                <a:ea typeface="Yu Gothic"/>
                <a:cs typeface="Arial" panose="020B0604020202020204" pitchFamily="34" charset="0"/>
              </a:rPr>
              <a:t>thermal LOS</a:t>
            </a:r>
            <a:r>
              <a:rPr lang="en-US" sz="3200" b="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to reduce search time</a:t>
            </a:r>
            <a:endParaRPr lang="en-US"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en-US" altLang="ja-JP" sz="320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en-US" altLang="ja-JP" sz="3200">
                <a:solidFill>
                  <a:srgbClr val="082B52"/>
                </a:solidFill>
                <a:latin typeface="Arial" panose="020B0604020202020204" pitchFamily="34" charset="0"/>
                <a:cs typeface="Arial" panose="020B0604020202020204" pitchFamily="34" charset="0"/>
              </a:rPr>
              <a:t> </a:t>
            </a:r>
            <a:r>
              <a:rPr lang="en-US" sz="3200" b="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646331"/>
          </a:xfrm>
          <a:prstGeom prst="rect">
            <a:avLst/>
          </a:prstGeom>
          <a:noFill/>
        </p:spPr>
        <p:txBody>
          <a:bodyPr wrap="square" rtlCol="0">
            <a:spAutoFit/>
          </a:bodyPr>
          <a:lstStyle/>
          <a:p>
            <a:pPr algn="ctr"/>
            <a:r>
              <a:rPr kumimoji="1" lang="en-US" altLang="ja-JP" sz="3600" b="1" dirty="0">
                <a:solidFill>
                  <a:srgbClr val="FF0000"/>
                </a:solidFill>
                <a:latin typeface="Arial" panose="020B0604020202020204" pitchFamily="34" charset="0"/>
                <a:cs typeface="Arial" panose="020B0604020202020204" pitchFamily="34" charset="0"/>
              </a:rPr>
              <a:t>Our approach</a:t>
            </a:r>
            <a:endParaRPr kumimoji="1" lang="ja-JP" altLang="en-US" sz="3600" b="1" dirty="0">
              <a:solidFill>
                <a:srgbClr val="FF0000"/>
              </a:solidFill>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lang="en-US" sz="2000" b="0">
                <a:solidFill>
                  <a:srgbClr val="666F79"/>
                </a:solidFill>
                <a:latin typeface="Arial" panose="020B0604020202020204" pitchFamily="34" charset="0"/>
                <a:ea typeface="Yu Gothic"/>
                <a:cs typeface="Arial" panose="020B0604020202020204" pitchFamily="34" charset="0"/>
              </a:rPr>
              <a:t>Background</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 error</a:t>
            </a:r>
            <a:r>
              <a:rPr lang="en-US" sz="3200" b="1" dirty="0">
                <a:solidFill>
                  <a:srgbClr val="082B52"/>
                </a:solidFill>
                <a:latin typeface="Arial" panose="020B0604020202020204" pitchFamily="34" charset="0"/>
                <a:ea typeface="Yu Gothic"/>
                <a:cs typeface="Arial" panose="020B0604020202020204" pitchFamily="34" charset="0"/>
              </a:rPr>
              <a:t> can match or exceed orbit-prediction </a:t>
            </a:r>
            <a:r>
              <a:rPr lang="en-US" sz="3200" b="1">
                <a:solidFill>
                  <a:srgbClr val="082B52"/>
                </a:solidFill>
                <a:latin typeface="Arial" panose="020B0604020202020204" pitchFamily="34" charset="0"/>
                <a:ea typeface="Yu Gothic"/>
                <a:cs typeface="Arial" panose="020B0604020202020204" pitchFamily="34" charset="0"/>
              </a:rPr>
              <a:t>error</a:t>
            </a:r>
            <a:r>
              <a:rPr lang="en-US" altLang="ja-JP" sz="3200" b="1">
                <a:solidFill>
                  <a:srgbClr val="082B52"/>
                </a:solidFill>
                <a:latin typeface="Arial" panose="020B0604020202020204" pitchFamily="34" charset="0"/>
                <a:ea typeface="Yu Gothic"/>
                <a:cs typeface="Arial" panose="020B0604020202020204" pitchFamily="34" charset="0"/>
              </a:rPr>
              <a:t>—</a:t>
            </a:r>
            <a:r>
              <a:rPr lang="en-US" sz="3200" b="1">
                <a:solidFill>
                  <a:srgbClr val="082B52"/>
                </a:solidFill>
                <a:latin typeface="Arial" panose="020B0604020202020204" pitchFamily="34" charset="0"/>
                <a:ea typeface="Yu Gothic"/>
                <a:cs typeface="Arial" panose="020B0604020202020204" pitchFamily="34" charset="0"/>
              </a:rPr>
              <a:t>and cannot be optically separated before acquisition</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cs typeface="Arial" panose="020B0604020202020204" pitchFamily="34" charset="0"/>
              </a:rPr>
              <a:t>4</a:t>
            </a:r>
            <a:endParaRPr lang="en-US" sz="1800" b="0" dirty="0">
              <a:solidFill>
                <a:srgbClr val="666F79"/>
              </a:solidFill>
              <a:latin typeface="Arial" panose="020B0604020202020204" pitchFamily="34" charset="0"/>
              <a:ea typeface="Yu Gothic"/>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044274270"/>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lang="en-US" sz="2800" b="1">
                          <a:solidFill>
                            <a:srgbClr val="FFFFFF"/>
                          </a:solidFill>
                          <a:latin typeface="Arial" panose="020B0604020202020204" pitchFamily="34" charset="0"/>
                          <a:ea typeface="Yu Gothic"/>
                          <a:cs typeface="Arial" panose="020B0604020202020204" pitchFamily="34" charset="0"/>
                        </a:rPr>
                        <a:t>Error source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Approximate magnitude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Time variation</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Thermal LOS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150 µrad–1000 µrad (this analysis)</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Orbit prediction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hundred µrad (TLE propagation vs. precise GPS ephemeris)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Attitude and calibrated alignment</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Tens of µrad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DC to broadband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Mechanical vibration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lang="en-US" sz="2000" b="0" dirty="0">
                <a:solidFill>
                  <a:srgbClr val="666F79"/>
                </a:solidFill>
                <a:latin typeface="Arial" panose="020B0604020202020204" pitchFamily="34" charset="0"/>
                <a:ea typeface="Yu Gothic"/>
                <a:cs typeface="Arial" panose="020B0604020202020204" pitchFamily="34" charset="0"/>
              </a:rPr>
              <a:t>* Thermal LOS</a:t>
            </a:r>
            <a:r>
              <a:rPr lang="en-US" altLang="ja-JP" sz="2000" b="0" dirty="0">
                <a:solidFill>
                  <a:srgbClr val="666F79"/>
                </a:solidFill>
                <a:latin typeface="Arial" panose="020B0604020202020204" pitchFamily="34" charset="0"/>
                <a:ea typeface="Yu Gothic"/>
                <a:cs typeface="Arial" panose="020B0604020202020204" pitchFamily="34" charset="0"/>
              </a:rPr>
              <a:t> and orbit-prediction error are from this analysis</a:t>
            </a:r>
            <a:r>
              <a:rPr lang="en-US" altLang="ja-JP" sz="2000" b="0">
                <a:solidFill>
                  <a:srgbClr val="666F79"/>
                </a:solidFill>
                <a:latin typeface="Arial" panose="020B0604020202020204" pitchFamily="34" charset="0"/>
                <a:ea typeface="Yu Gothic"/>
                <a:cs typeface="Arial" panose="020B0604020202020204" pitchFamily="34" charset="0"/>
              </a:rPr>
              <a:t>; </a:t>
            </a:r>
            <a:r>
              <a:rPr lang="en-US" sz="2000" b="0">
                <a:solidFill>
                  <a:srgbClr val="666F79"/>
                </a:solidFill>
                <a:latin typeface="Arial" panose="020B0604020202020204" pitchFamily="34" charset="0"/>
                <a:ea typeface="Yu Gothic"/>
                <a:cs typeface="Arial" panose="020B0604020202020204" pitchFamily="34" charset="0"/>
              </a:rPr>
              <a:t>other values are literature-based order-of-magnitude estimates.</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Thermal LOS and orbit prediction </a:t>
            </a:r>
            <a:r>
              <a:rPr lang="en-US" sz="3200">
                <a:solidFill>
                  <a:srgbClr val="082B52"/>
                </a:solidFill>
                <a:latin typeface="Arial" panose="020B0604020202020204" pitchFamily="34" charset="0"/>
                <a:ea typeface="Yu Gothic"/>
                <a:cs typeface="Arial" panose="020B0604020202020204" pitchFamily="34" charset="0"/>
              </a:rPr>
              <a:t>share </a:t>
            </a:r>
            <a:r>
              <a:rPr lang="en-US" altLang="ja-JP" sz="3200">
                <a:solidFill>
                  <a:srgbClr val="082B52"/>
                </a:solidFill>
                <a:latin typeface="Arial" panose="020B0604020202020204" pitchFamily="34" charset="0"/>
                <a:ea typeface="Yu Gothic"/>
                <a:cs typeface="Arial" panose="020B0604020202020204" pitchFamily="34" charset="0"/>
              </a:rPr>
              <a:t>similar</a:t>
            </a:r>
            <a:r>
              <a:rPr lang="en-US" sz="3200">
                <a:solidFill>
                  <a:srgbClr val="082B52"/>
                </a:solidFill>
                <a:latin typeface="Arial" panose="020B0604020202020204" pitchFamily="34" charset="0"/>
                <a:ea typeface="Yu Gothic"/>
                <a:cs typeface="Arial" panose="020B0604020202020204" pitchFamily="34" charset="0"/>
              </a:rPr>
              <a:t> orbital periods</a:t>
            </a:r>
          </a:p>
          <a:p>
            <a:pPr algn="ctr">
              <a:lnSpc>
                <a:spcPct val="120000"/>
              </a:lnSpc>
              <a:spcAft>
                <a:spcPts val="0"/>
              </a:spcAft>
            </a:pPr>
            <a:r>
              <a:rPr lang="en-US" sz="3200">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endParaRPr lang="en-US" sz="3200"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lang="en-US" sz="3200" b="1" dirty="0">
                <a:latin typeface="Arial" panose="020B0604020202020204" pitchFamily="34" charset="0"/>
                <a:ea typeface="Yu Gothic"/>
                <a:cs typeface="Arial" panose="020B0604020202020204" pitchFamily="34" charset="0"/>
              </a:rPr>
              <a:t>Do not </a:t>
            </a:r>
            <a:r>
              <a:rPr lang="en-US" altLang="ja-JP" sz="3200" b="1" dirty="0">
                <a:latin typeface="Arial" panose="020B0604020202020204" pitchFamily="34" charset="0"/>
                <a:ea typeface="Yu Gothic"/>
                <a:cs typeface="Arial" panose="020B0604020202020204" pitchFamily="34" charset="0"/>
              </a:rPr>
              <a:t>separate thermal </a:t>
            </a:r>
            <a:r>
              <a:rPr lang="en-US" altLang="ja-JP" sz="3200" b="1">
                <a:latin typeface="Arial" panose="020B0604020202020204" pitchFamily="34" charset="0"/>
                <a:ea typeface="Yu Gothic"/>
                <a:cs typeface="Arial" panose="020B0604020202020204" pitchFamily="34" charset="0"/>
              </a:rPr>
              <a:t>effects retrospectively</a:t>
            </a:r>
            <a:r>
              <a:rPr lang="en-US" sz="3200" b="1">
                <a:latin typeface="Arial" panose="020B0604020202020204" pitchFamily="34" charset="0"/>
                <a:ea typeface="Yu Gothic"/>
                <a:cs typeface="Arial" panose="020B0604020202020204" pitchFamily="34" charset="0"/>
              </a:rPr>
              <a:t> from observations</a:t>
            </a:r>
            <a:endParaRPr lang="en-US" sz="3200" b="1" dirty="0">
              <a:latin typeface="Arial" panose="020B0604020202020204" pitchFamily="34" charset="0"/>
              <a:ea typeface="Yu Gothic"/>
              <a:cs typeface="Arial" panose="020B0604020202020204" pitchFamily="34" charset="0"/>
            </a:endParaRPr>
          </a:p>
          <a:p>
            <a:pPr algn="ctr">
              <a:spcAft>
                <a:spcPts val="0"/>
              </a:spcAft>
            </a:pPr>
            <a:r>
              <a:rPr lang="en-US" sz="3200" b="1" dirty="0">
                <a:latin typeface="Arial" panose="020B0604020202020204" pitchFamily="34" charset="0"/>
                <a:ea typeface="Yu Gothic"/>
                <a:cs typeface="Arial" panose="020B0604020202020204" pitchFamily="34" charset="0"/>
              </a:rPr>
              <a:t>Use temperature and operating </a:t>
            </a:r>
            <a:r>
              <a:rPr lang="en-US" sz="3200" b="1">
                <a:latin typeface="Arial" panose="020B0604020202020204" pitchFamily="34" charset="0"/>
                <a:ea typeface="Yu Gothic"/>
                <a:cs typeface="Arial" panose="020B0604020202020204" pitchFamily="34" charset="0"/>
              </a:rPr>
              <a:t>state</a:t>
            </a:r>
            <a:r>
              <a:rPr lang="en-US" altLang="ja-JP" sz="3200" b="1">
                <a:latin typeface="Arial" panose="020B0604020202020204" pitchFamily="34" charset="0"/>
                <a:ea typeface="Yu Gothic"/>
                <a:cs typeface="Arial" panose="020B0604020202020204" pitchFamily="34" charset="0"/>
              </a:rPr>
              <a:t> </a:t>
            </a:r>
            <a:r>
              <a:rPr lang="en-US" sz="3200" b="1">
                <a:latin typeface="Arial" panose="020B0604020202020204" pitchFamily="34" charset="0"/>
                <a:ea typeface="Yu Gothic"/>
                <a:cs typeface="Arial" panose="020B0604020202020204" pitchFamily="34" charset="0"/>
              </a:rPr>
              <a:t>to subtract them before acquisition</a:t>
            </a:r>
            <a:endParaRPr lang="en-US" sz="3200" b="1" dirty="0">
              <a:latin typeface="Arial" panose="020B0604020202020204" pitchFamily="34" charset="0"/>
              <a:ea typeface="Yu Gothic"/>
              <a:cs typeface="Arial" panose="020B0604020202020204" pitchFamily="34" charset="0"/>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en-US" altLang="ja-JP" sz="2800" b="1">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en-US"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altLang="ja-JP" sz="3200" b="1">
                <a:solidFill>
                  <a:srgbClr val="082B52"/>
                </a:solidFill>
                <a:latin typeface="Arial" panose="020B0604020202020204" pitchFamily="34" charset="0"/>
                <a:ea typeface="Yu Gothic"/>
                <a:cs typeface="Arial" panose="020B0604020202020204" pitchFamily="34" charset="0"/>
              </a:rPr>
              <a:t>Prior work on thermal-deformation LOS error prediction and this study</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5</a:t>
            </a:r>
            <a:endParaRPr lang="en-US" sz="1800" b="0" dirty="0">
              <a:solidFill>
                <a:srgbClr val="666F79"/>
              </a:solidFill>
              <a:latin typeface="Arial" panose="020B0604020202020204" pitchFamily="34" charset="0"/>
              <a:ea typeface="Yu Gothic"/>
            </a:endParaRP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735767673"/>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en-US" altLang="ja-JP" sz="2800" b="0">
                          <a:solidFill>
                            <a:schemeClr val="bg1"/>
                          </a:solidFill>
                          <a:latin typeface="Arial" panose="020B0604020202020204" pitchFamily="34" charset="0"/>
                          <a:cs typeface="Arial" panose="020B0604020202020204" pitchFamily="34" charset="0"/>
                        </a:rPr>
                        <a:t>Field</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Conventional PAT design</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Earth observation / optics</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This study’s PAT design </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en-US" altLang="ja-JP" sz="2800" b="0">
                          <a:solidFill>
                            <a:schemeClr val="bg1"/>
                          </a:solidFill>
                          <a:latin typeface="Arial" panose="020B0604020202020204" pitchFamily="34" charset="0"/>
                          <a:cs typeface="Arial" panose="020B0604020202020204" pitchFamily="34" charset="0"/>
                        </a:rPr>
                        <a:t>Approach to thermal deformation</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a:solidFill>
                            <a:schemeClr val="tx1"/>
                          </a:solidFill>
                          <a:latin typeface="Arial" panose="020B0604020202020204" pitchFamily="34" charset="0"/>
                          <a:cs typeface="Arial" panose="020B0604020202020204" pitchFamily="34" charset="0"/>
                        </a:rPr>
                        <a:t>Reduce thermal deformation through structure </a:t>
                      </a:r>
                      <a:r>
                        <a:rPr lang="en-US" altLang="ja-JP" sz="2800" b="0" dirty="0">
                          <a:solidFill>
                            <a:schemeClr val="tx1"/>
                          </a:solidFill>
                          <a:latin typeface="Arial" panose="020B0604020202020204" pitchFamily="34" charset="0"/>
                          <a:cs typeface="Arial" panose="020B0604020202020204" pitchFamily="34" charset="0"/>
                        </a:rPr>
                        <a:t>and materials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Predict spacecraft-bus relative LOS from temperature and operating state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Main target</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en-US" altLang="ja-JP" sz="2800" b="0">
                          <a:latin typeface="Arial" panose="020B0604020202020204" pitchFamily="34" charset="0"/>
                          <a:cs typeface="Arial" panose="020B0604020202020204" pitchFamily="34" charset="0"/>
                        </a:rPr>
                        <a:t>STT–LCT relative LOS across the spacecraft bus</a:t>
                      </a:r>
                      <a:endParaRPr lang="en-US" altLang="ja-JP" sz="2800" b="0" dirty="0">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Evaluation metric</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Thermal stability, pointing error, link establishment</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Coarse-acquisition time and success rate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en-US" altLang="ja-JP" sz="2800" b="0">
                          <a:solidFill>
                            <a:schemeClr val="bg1"/>
                          </a:solidFill>
                          <a:latin typeface="Arial" panose="020B0604020202020204" pitchFamily="34" charset="0"/>
                          <a:cs typeface="Arial" panose="020B0604020202020204" pitchFamily="34" charset="0"/>
                        </a:rPr>
                        <a:t>Remaining gap</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Limited frameworks for </a:t>
                      </a:r>
                      <a:r>
                        <a:rPr lang="en-US" altLang="ja-JP" sz="2800" b="1">
                          <a:solidFill>
                            <a:schemeClr val="tx1"/>
                          </a:solidFill>
                          <a:latin typeface="Arial" panose="020B0604020202020204" pitchFamily="34" charset="0"/>
                          <a:cs typeface="Arial" panose="020B0604020202020204" pitchFamily="34" charset="0"/>
                        </a:rPr>
                        <a:t>predicting residual thermal LOS error during operations</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Not linked to </a:t>
                      </a:r>
                      <a:r>
                        <a:rPr lang="en-US" altLang="ja-JP" sz="2800" b="1">
                          <a:solidFill>
                            <a:schemeClr val="tx1"/>
                          </a:solidFill>
                          <a:latin typeface="Arial" panose="020B0604020202020204" pitchFamily="34" charset="0"/>
                          <a:cs typeface="Arial" panose="020B0604020202020204" pitchFamily="34" charset="0"/>
                        </a:rPr>
                        <a:t>spacecraft-bus LOS error or coarse-acquisition performance</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en-US" altLang="ja-JP">
                <a:latin typeface="Arial" panose="020B0604020202020204" pitchFamily="34" charset="0"/>
              </a:rPr>
              <a:t>References:</a:t>
            </a:r>
            <a:endParaRPr lang="en-US" altLang="ja-JP" dirty="0">
              <a:latin typeface="Arial" panose="020B0604020202020204" pitchFamily="34" charset="0"/>
            </a:endParaRPr>
          </a:p>
          <a:p>
            <a:pPr marL="342900" lvl="0" indent="-342900">
              <a:buFont typeface="Arial" panose="020B0604020202020204" pitchFamily="34" charset="0"/>
              <a:buChar char="•"/>
            </a:pPr>
            <a:r>
              <a:rPr lang="en-US" altLang="ja-JP">
                <a:latin typeface="Arial" panose="020B0604020202020204" pitchFamily="34" charset="0"/>
              </a:rPr>
              <a:t>Optical comm.: Shi et al. 2023; Zhang et al. 2025</a:t>
            </a:r>
          </a:p>
          <a:p>
            <a:pPr marL="342900" lvl="0" indent="-342900">
              <a:buFont typeface="Arial" panose="020B0604020202020204" pitchFamily="34" charset="0"/>
              <a:buChar char="•"/>
            </a:pPr>
            <a:r>
              <a:rPr lang="en-US" altLang="ja-JP">
                <a:latin typeface="Arial" panose="020B0604020202020204" pitchFamily="34" charset="0"/>
              </a:rPr>
              <a:t>EO/optics</a:t>
            </a:r>
            <a:r>
              <a:rPr lang="ja-JP" altLang="ja-JP">
                <a:latin typeface="Arial" panose="020B0604020202020204" pitchFamily="34" charset="0"/>
              </a:rPr>
              <a:t>: </a:t>
            </a:r>
            <a:r>
              <a:rPr lang="ja-JP" altLang="ja-JP" dirty="0">
                <a:latin typeface="Arial" panose="020B0604020202020204" pitchFamily="34" charset="0"/>
              </a:rPr>
              <a:t>Li et al. 2025; Hu et al. 2022</a:t>
            </a:r>
            <a:r>
              <a:rPr lang="en-US" altLang="ja-JP">
                <a:latin typeface="Arial" panose="020B0604020202020204" pitchFamily="34" charset="0"/>
              </a:rPr>
              <a:t>; Turella et al. 2019/2021</a:t>
            </a:r>
            <a:endParaRPr lang="en-US" altLang="ja-JP" dirty="0">
              <a:latin typeface="Arial" panose="020B0604020202020204" pitchFamily="34" charset="0"/>
            </a:endParaRP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en-US" altLang="ja-JP" sz="3200" b="1">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en-US" altLang="ja-JP" sz="3200" b="1"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en-US" altLang="ja-JP" sz="3200" b="1">
                <a:latin typeface="Arial" panose="020B0604020202020204" pitchFamily="34" charset="0"/>
                <a:cs typeface="Arial" panose="020B0604020202020204" pitchFamily="34" charset="0"/>
              </a:rPr>
              <a:t>Research overview: from thermoelastic truth generation and model construction to evaluation</a:t>
            </a:r>
            <a:endParaRPr lang="en-US" altLang="ja-JP" sz="3200" dirty="0">
              <a:latin typeface="Arial" panose="020B0604020202020204" pitchFamily="34" charset="0"/>
              <a:cs typeface="Arial" panose="020B0604020202020204" pitchFamily="34" charset="0"/>
            </a:endParaRPr>
          </a:p>
        </p:txBody>
      </p:sp>
      <p:sp>
        <p:nvSpPr>
          <p:cNvPr id="4" name="TextBox 3"/>
          <p:cNvSpPr txBox="1"/>
          <p:nvPr/>
        </p:nvSpPr>
        <p:spPr>
          <a:xfrm>
            <a:off x="23572293" y="12819888"/>
            <a:ext cx="202107"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6</a:t>
            </a:r>
            <a:endParaRPr lang="en-US" sz="1800" b="0" dirty="0">
              <a:solidFill>
                <a:srgbClr val="666F79"/>
              </a:solidFill>
              <a:latin typeface="Arial" panose="020B0604020202020204" pitchFamily="34" charset="0"/>
            </a:endParaRP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71447" y="3329594"/>
            <a:ext cx="1930144"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Orbit / attitude
heat &amp; coating</a:t>
            </a:r>
            <a:endParaRPr lang="en-US" sz="2100" b="1" dirty="0">
              <a:solidFill>
                <a:srgbClr val="FFFFFF"/>
              </a:solidFill>
              <a:latin typeface="Arial" panose="020B0604020202020204" pitchFamily="34" charset="0"/>
            </a:endParaRP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36229" y="3329594"/>
            <a:ext cx="2257156"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Thermal Desktop
temperature</a:t>
            </a:r>
            <a:endParaRPr lang="en-US" sz="2100" b="1" dirty="0">
              <a:solidFill>
                <a:srgbClr val="FFFFFF"/>
              </a:solidFill>
              <a:latin typeface="Arial" panose="020B0604020202020204" pitchFamily="34" charset="0"/>
            </a:endParaRP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9401" y="3329594"/>
            <a:ext cx="2167388"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Femap / Nastran
rotation</a:t>
            </a:r>
            <a:endParaRPr lang="en-US" sz="2100" b="1" dirty="0">
              <a:solidFill>
                <a:srgbClr val="FFFFFF"/>
              </a:solidFill>
              <a:latin typeface="Arial" panose="020B0604020202020204" pitchFamily="34" charset="0"/>
            </a:endParaRP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83749" y="3329594"/>
            <a:ext cx="1675267"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STT–LCT
thermal LOS</a:t>
            </a:r>
            <a:endParaRPr lang="en-US" sz="2100" b="1" dirty="0">
              <a:solidFill>
                <a:srgbClr val="FFFFFF"/>
              </a:solidFill>
              <a:latin typeface="Arial" panose="020B0604020202020204" pitchFamily="34" charset="0"/>
            </a:endParaRP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55744" y="3329594"/>
            <a:ext cx="1987852"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Reduced-order
model</a:t>
            </a:r>
            <a:endParaRPr lang="en-US" sz="2100" b="1" dirty="0">
              <a:solidFill>
                <a:srgbClr val="FFFFFF"/>
              </a:solidFill>
              <a:latin typeface="Arial" panose="020B0604020202020204" pitchFamily="34" charset="0"/>
            </a:endParaRP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4027" y="3329594"/>
            <a:ext cx="1567865"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PAT
scan center</a:t>
            </a:r>
            <a:endParaRPr lang="en-US" sz="2100" b="1" dirty="0">
              <a:solidFill>
                <a:srgbClr val="FFFFFF"/>
              </a:solidFill>
              <a:latin typeface="Arial" panose="020B0604020202020204" pitchFamily="34" charset="0"/>
            </a:endParaRP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4846007" cy="486287"/>
          </a:xfrm>
          <a:prstGeom prst="rect">
            <a:avLst/>
          </a:prstGeom>
          <a:noFill/>
        </p:spPr>
        <p:txBody>
          <a:bodyPr wrap="none" lIns="36576" tIns="27432" rIns="36576" bIns="27432" anchor="t">
            <a:spAutoFit/>
          </a:bodyPr>
          <a:lstStyle/>
          <a:p>
            <a:r>
              <a:rPr lang="en-US" altLang="ja-JP" sz="2800" b="1">
                <a:latin typeface="Arial" panose="020B0604020202020204" pitchFamily="34" charset="0"/>
              </a:rPr>
              <a:t>Ground model development</a:t>
            </a:r>
            <a:endParaRPr lang="en-US" sz="2700" b="1" dirty="0">
              <a:solidFill>
                <a:srgbClr val="082B52"/>
              </a:solidFill>
              <a:latin typeface="Arial" panose="020B0604020202020204" pitchFamily="34" charset="0"/>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altLang="ja-JP" sz="2800">
                <a:latin typeface="Arial" panose="020B0604020202020204" pitchFamily="34" charset="0"/>
              </a:rPr>
              <a:t>Input orbit, attitude, and thermal environment</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Compute temperature fields and thermoelastic deformation with TD/Femap</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Generate reference STT–LCT relative-LOS time series</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Train and evaluate the reduced-order model</a:t>
            </a:r>
            <a:endParaRPr lang="en-US" sz="2600" dirty="0">
              <a:solidFill>
                <a:srgbClr val="232B34"/>
              </a:solidFill>
              <a:latin typeface="Arial" panose="020B0604020202020204" pitchFamily="34" charset="0"/>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en-US" altLang="ja-JP" sz="2700" b="1">
                <a:solidFill>
                  <a:srgbClr val="1B74AA"/>
                </a:solidFill>
                <a:latin typeface="Arial" panose="020B0604020202020204" pitchFamily="34" charset="0"/>
              </a:rPr>
              <a:t>On-orbit correction</a:t>
            </a:r>
            <a:endParaRPr lang="en-US" sz="2700" b="1" dirty="0">
              <a:solidFill>
                <a:srgbClr val="1B74AA"/>
              </a:solidFill>
              <a:latin typeface="Arial" panose="020B0604020202020204" pitchFamily="34" charset="0"/>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Temperature / operating state</a:t>
            </a:r>
          </a:p>
          <a:p>
            <a:pPr>
              <a:spcAft>
                <a:spcPts val="800"/>
              </a:spcAft>
            </a:pPr>
            <a:r>
              <a:rPr lang="en-US" sz="2600" b="1">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Predict thermal LOS</a:t>
            </a:r>
            <a:endParaRPr lang="en-US" altLang="ja-JP" sz="2600" dirty="0">
              <a:solidFill>
                <a:srgbClr val="232B34"/>
              </a:solidFill>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en-US" sz="2600" dirty="0">
                <a:solidFill>
                  <a:srgbClr val="232B34"/>
                </a:solidFill>
                <a:latin typeface="Arial" panose="020B0604020202020204" pitchFamily="34" charset="0"/>
              </a:rPr>
              <a:t>Correct the scan center</a:t>
            </a:r>
            <a:endParaRPr lang="en-US" altLang="ja-JP" sz="2600" dirty="0">
              <a:solidFill>
                <a:srgbClr val="232B34"/>
              </a:solidFill>
              <a:latin typeface="Arial" panose="020B0604020202020204" pitchFamily="34" charset="0"/>
            </a:endParaRPr>
          </a:p>
          <a:p>
            <a:pPr>
              <a:spcAft>
                <a:spcPts val="800"/>
              </a:spcAft>
            </a:pPr>
            <a:r>
              <a:rPr lang="en-US" altLang="ja-JP" sz="2600">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Include nonthermal errors</a:t>
            </a:r>
            <a:endParaRPr lang="en-US" sz="2600">
              <a:solidFill>
                <a:srgbClr val="232B34"/>
              </a:solidFill>
              <a:latin typeface="Arial" panose="020B0604020202020204" pitchFamily="34" charset="0"/>
            </a:endParaRPr>
          </a:p>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Residual update</a:t>
            </a:r>
            <a:endParaRPr lang="en-US" sz="2600" dirty="0">
              <a:solidFill>
                <a:srgbClr val="232B34"/>
              </a:solidFill>
              <a:latin typeface="Arial" panose="020B0604020202020204" pitchFamily="34" charset="0"/>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Evaluate LOS error, acquisition success, and acquisition time</a:t>
            </a:r>
            <a:endParaRPr lang="en-US"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en-US" altLang="ja-JP" sz="2800">
                <a:latin typeface="Arial" panose="020B0604020202020204" pitchFamily="34" charset="0"/>
              </a:rPr>
              <a:t>• Orbit</a:t>
            </a:r>
            <a:endParaRPr kumimoji="1" lang="en-US" altLang="ja-JP" sz="2800" dirty="0">
              <a:latin typeface="Arial" panose="020B0604020202020204" pitchFamily="34" charset="0"/>
            </a:endParaRPr>
          </a:p>
          <a:p>
            <a:r>
              <a:rPr kumimoji="1" lang="en-US" altLang="ja-JP" sz="2800">
                <a:latin typeface="Arial" panose="020B0604020202020204" pitchFamily="34" charset="0"/>
              </a:rPr>
              <a:t>• Attitude</a:t>
            </a:r>
            <a:endParaRPr kumimoji="1" lang="en-US" altLang="ja-JP" sz="2800" dirty="0">
              <a:latin typeface="Arial" panose="020B0604020202020204" pitchFamily="34" charset="0"/>
            </a:endParaRPr>
          </a:p>
          <a:p>
            <a:r>
              <a:rPr kumimoji="1" lang="en-US" altLang="ja-JP" sz="2800">
                <a:latin typeface="Arial" panose="020B0604020202020204" pitchFamily="34" charset="0"/>
              </a:rPr>
              <a:t>• Equipment layout</a:t>
            </a:r>
            <a:endParaRPr kumimoji="1" lang="en-US" altLang="ja-JP" sz="2800" dirty="0">
              <a:latin typeface="Arial" panose="020B0604020202020204" pitchFamily="34" charset="0"/>
            </a:endParaRPr>
          </a:p>
          <a:p>
            <a:r>
              <a:rPr kumimoji="1" lang="en-US" altLang="ja-JP" sz="2800">
                <a:latin typeface="Arial" panose="020B0604020202020204" pitchFamily="34" charset="0"/>
              </a:rPr>
              <a:t>• Surface properties</a:t>
            </a:r>
            <a:endParaRPr kumimoji="1" lang="en-US" altLang="ja-JP" sz="2800" dirty="0">
              <a:latin typeface="Arial" panose="020B0604020202020204" pitchFamily="34" charset="0"/>
            </a:endParaRPr>
          </a:p>
          <a:p>
            <a:r>
              <a:rPr kumimoji="1" lang="en-US" altLang="ja-JP" sz="2800">
                <a:latin typeface="Arial" panose="020B0604020202020204" pitchFamily="34" charset="0"/>
              </a:rPr>
              <a:t>• Dissipation</a:t>
            </a:r>
            <a:endParaRPr kumimoji="1" lang="en-US" altLang="ja-JP" sz="28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6"/>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7"/>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altLang="ja-JP"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Thermoelastic Analysis</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We evaluate a box-structure LEO spacecraft with the STT and LCT on different panels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Arial" panose="020B0604020202020204" pitchFamily="34" charset="0"/>
                <a:ea typeface="Yu Gothic"/>
              </a:rPr>
              <a:t>7</a:t>
            </a:r>
            <a:endParaRPr sz="1800" b="0" dirty="0">
              <a:solidFill>
                <a:srgbClr val="666F79"/>
              </a:solidFill>
              <a:latin typeface="Arial" panose="020B0604020202020204" pitchFamily="34" charset="0"/>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91740603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lang="en-US" sz="2300" b="1">
                          <a:solidFill>
                            <a:srgbClr val="FFFFFF"/>
                          </a:solidFill>
                          <a:latin typeface="Arial" panose="020B0604020202020204" pitchFamily="34" charset="0"/>
                          <a:ea typeface="Yu Gothic"/>
                        </a:rPr>
                        <a:t>Item</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lang="en-US" sz="2300" b="0">
                          <a:solidFill>
                            <a:srgbClr val="232B34"/>
                          </a:solidFill>
                          <a:latin typeface="Arial" panose="020B0604020202020204" pitchFamily="34" charset="0"/>
                          <a:ea typeface="Yu Gothic"/>
                        </a:rPr>
                        <a:t>Bus dimensions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590 × 600 × 990 mm</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lang="en-US" sz="2300" b="0">
                          <a:solidFill>
                            <a:srgbClr val="232B34"/>
                          </a:solidFill>
                          <a:latin typeface="Arial" panose="020B0604020202020204" pitchFamily="34" charset="0"/>
                          <a:ea typeface="Yu Gothic"/>
                        </a:rPr>
                        <a:t>Panels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10-mm-thick shell elements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lang="en-US" sz="2300" b="0">
                          <a:solidFill>
                            <a:srgbClr val="232B34"/>
                          </a:solidFill>
                          <a:latin typeface="Arial" panose="020B0604020202020204" pitchFamily="34" charset="0"/>
                          <a:ea typeface="Yu Gothic"/>
                        </a:rPr>
                        <a:t>Material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A5052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lang="en-US" sz="2300" b="0">
                          <a:solidFill>
                            <a:srgbClr val="232B34"/>
                          </a:solidFill>
                          <a:latin typeface="Arial" panose="020B0604020202020204" pitchFamily="34" charset="0"/>
                          <a:ea typeface="Yu Gothic"/>
                        </a:rPr>
                        <a:t>LCT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MZ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lang="en-US" sz="2300" b="0">
                          <a:solidFill>
                            <a:srgbClr val="232B34"/>
                          </a:solidFill>
                          <a:latin typeface="Arial" panose="020B0604020202020204" pitchFamily="34" charset="0"/>
                          <a:ea typeface="Yu Gothic"/>
                        </a:rPr>
                        <a:t>STT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PZ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884409"/>
          </a:xfrm>
          <a:prstGeom prst="rect">
            <a:avLst/>
          </a:prstGeom>
          <a:noFill/>
        </p:spPr>
        <p:txBody>
          <a:bodyPr wrap="square" lIns="36576" tIns="27432" rIns="36576" bIns="27432" anchor="t">
            <a:spAutoFit/>
          </a:bodyPr>
          <a:lstStyle/>
          <a:p>
            <a:pPr>
              <a:lnSpc>
                <a:spcPct val="115000"/>
              </a:lnSpc>
              <a:spcAft>
                <a:spcPts val="0"/>
              </a:spcAft>
            </a:pPr>
            <a:r>
              <a:rPr lang="en-US" sz="2400" b="1">
                <a:solidFill>
                  <a:srgbClr val="082B52"/>
                </a:solidFill>
                <a:latin typeface="Arial" panose="020B0604020202020204" pitchFamily="34" charset="0"/>
                <a:ea typeface="Yu Gothic"/>
              </a:rPr>
              <a:t>Not a specific-spacecraft design review.</a:t>
            </a:r>
            <a:endParaRPr lang="en-US" altLang="ja-JP" sz="3200" b="1" dirty="0">
              <a:solidFill>
                <a:srgbClr val="082B52"/>
              </a:solidFill>
              <a:latin typeface="Arial" panose="020B0604020202020204" pitchFamily="34" charset="0"/>
            </a:endParaRPr>
          </a:p>
          <a:p>
            <a:pPr>
              <a:lnSpc>
                <a:spcPct val="115000"/>
              </a:lnSpc>
              <a:spcAft>
                <a:spcPts val="0"/>
              </a:spcAft>
            </a:pPr>
            <a:r>
              <a:rPr lang="en-US" sz="2400" b="1">
                <a:solidFill>
                  <a:srgbClr val="082B52"/>
                </a:solidFill>
                <a:latin typeface="Arial" panose="020B0604020202020204" pitchFamily="34" charset="0"/>
                <a:ea typeface="Yu Gothic"/>
              </a:rPr>
              <a:t>Fixed structure; sun face and dissipation vary.</a:t>
            </a:r>
            <a:endParaRPr lang="en-US" sz="2400" b="1" dirty="0">
              <a:solidFill>
                <a:srgbClr val="082B52"/>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lang="en-US" sz="2400" b="1">
                <a:solidFill>
                  <a:srgbClr val="FF0000"/>
                </a:solidFill>
                <a:latin typeface="Arial" panose="020B0604020202020204" pitchFamily="34" charset="0"/>
              </a:rPr>
              <a:t>PZ: STT</a:t>
            </a:r>
            <a:endParaRPr lang="en-US" sz="2400" b="1" dirty="0">
              <a:solidFill>
                <a:srgbClr val="FF0000"/>
              </a:solidFill>
              <a:latin typeface="Arial" panose="020B0604020202020204" pitchFamily="34" charset="0"/>
            </a:endParaRPr>
          </a:p>
        </p:txBody>
      </p:sp>
      <p:sp>
        <p:nvSpPr>
          <p:cNvPr id="19" name="TextBox 7"/>
          <p:cNvSpPr txBox="1"/>
          <p:nvPr/>
        </p:nvSpPr>
        <p:spPr>
          <a:xfrm>
            <a:off x="2760309" y="10894945"/>
            <a:ext cx="1405961" cy="455509"/>
          </a:xfrm>
          <a:prstGeom prst="rect">
            <a:avLst/>
          </a:prstGeom>
          <a:noFill/>
        </p:spPr>
        <p:txBody>
          <a:bodyPr wrap="none" lIns="36576" tIns="27432" rIns="36576" bIns="27432" anchor="t">
            <a:spAutoFit/>
          </a:bodyPr>
          <a:lstStyle/>
          <a:p>
            <a:pPr algn="ctr"/>
            <a:r>
              <a:rPr lang="en-US" sz="2600" b="1">
                <a:solidFill>
                  <a:srgbClr val="082B52"/>
                </a:solidFill>
                <a:latin typeface="Arial" panose="020B0604020202020204" pitchFamily="34" charset="0"/>
              </a:rPr>
              <a:t>MZ: LCT</a:t>
            </a:r>
            <a:endParaRPr lang="en-US" sz="2600" b="1" dirty="0">
              <a:solidFill>
                <a:srgbClr val="082B52"/>
              </a:solidFill>
              <a:latin typeface="Arial" panose="020B0604020202020204" pitchFamily="34" charset="0"/>
            </a:endParaRPr>
          </a:p>
        </p:txBody>
      </p:sp>
      <p:sp>
        <p:nvSpPr>
          <p:cNvPr id="20" name="TextBox 8"/>
          <p:cNvSpPr txBox="1"/>
          <p:nvPr/>
        </p:nvSpPr>
        <p:spPr>
          <a:xfrm>
            <a:off x="3507104" y="5259118"/>
            <a:ext cx="1447512" cy="393954"/>
          </a:xfrm>
          <a:prstGeom prst="rect">
            <a:avLst/>
          </a:prstGeom>
          <a:noFill/>
        </p:spPr>
        <p:txBody>
          <a:bodyPr wrap="none" lIns="36576" tIns="27432" rIns="36576" bIns="27432" anchor="t">
            <a:spAutoFit/>
          </a:bodyPr>
          <a:lstStyle/>
          <a:p>
            <a:pPr algn="l"/>
            <a:r>
              <a:rPr lang="en-US" sz="2200" b="1">
                <a:solidFill>
                  <a:srgbClr val="EC9427"/>
                </a:solidFill>
                <a:latin typeface="Arial" panose="020B0604020202020204" pitchFamily="34" charset="0"/>
              </a:rPr>
              <a:t>MY: PCDU</a:t>
            </a:r>
            <a:endParaRPr lang="en-US" sz="2200" b="1" dirty="0">
              <a:solidFill>
                <a:srgbClr val="EC9427"/>
              </a:solidFill>
              <a:latin typeface="Arial" panose="020B0604020202020204" pitchFamily="34" charset="0"/>
            </a:endParaRP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lang="en-US" sz="2200" b="1">
                <a:solidFill>
                  <a:srgbClr val="EF25D7"/>
                </a:solidFill>
                <a:latin typeface="Arial" panose="020B0604020202020204" pitchFamily="34" charset="0"/>
              </a:rPr>
              <a:t>PY: PROP</a:t>
            </a:r>
            <a:endParaRPr lang="en-US" sz="2200" b="1" dirty="0">
              <a:solidFill>
                <a:srgbClr val="EF25D7"/>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00219"/>
          </a:xfrm>
          <a:prstGeom prst="rect">
            <a:avLst/>
          </a:prstGeom>
          <a:noFill/>
        </p:spPr>
        <p:txBody>
          <a:bodyPr wrap="square">
            <a:spAutoFit/>
          </a:bodyPr>
          <a:lstStyle/>
          <a:p>
            <a:pPr>
              <a:spcAft>
                <a:spcPts val="0"/>
              </a:spcAft>
            </a:pPr>
            <a:r>
              <a:rPr lang="en-US" sz="2300" b="1">
                <a:solidFill>
                  <a:srgbClr val="232B34"/>
                </a:solidFill>
                <a:latin typeface="Arial" panose="020B0604020202020204" pitchFamily="34" charset="0"/>
                <a:ea typeface="Yu Gothic"/>
              </a:rPr>
              <a:t>LOS</a:t>
            </a:r>
          </a:p>
          <a:p>
            <a:pPr>
              <a:spcAft>
                <a:spcPts val="0"/>
              </a:spcAft>
            </a:pPr>
            <a:r>
              <a:rPr lang="en-US" sz="2300" b="1">
                <a:solidFill>
                  <a:srgbClr val="232B34"/>
                </a:solidFill>
                <a:latin typeface="Arial" panose="020B0604020202020204" pitchFamily="34" charset="0"/>
                <a:ea typeface="Yu Gothic"/>
              </a:rPr>
              <a:t>Boresight ≈ −Z</a:t>
            </a:r>
            <a:endParaRPr lang="en-US" sz="2300" b="1" dirty="0">
              <a:solidFill>
                <a:srgbClr val="232B34"/>
              </a:solidFill>
              <a:latin typeface="Arial" panose="020B0604020202020204" pitchFamily="34" charset="0"/>
              <a:ea typeface="Yu Gothic"/>
            </a:endParaRP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latin typeface="Arial" panose="020B0604020202020204" pitchFamily="34" charset="0"/>
              </a:rPr>
              <a:t>Thermal Desktop</a:t>
            </a:r>
            <a:endParaRPr kumimoji="1" lang="ja-JP" altLang="en-US" sz="2800"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954107"/>
          </a:xfrm>
          <a:prstGeom prst="rect">
            <a:avLst/>
          </a:prstGeom>
          <a:noFill/>
        </p:spPr>
        <p:txBody>
          <a:bodyPr wrap="square" rtlCol="0">
            <a:spAutoFit/>
          </a:bodyPr>
          <a:lstStyle/>
          <a:p>
            <a:r>
              <a:rPr kumimoji="1" lang="en-US" altLang="ja-JP" sz="2800" dirty="0">
                <a:latin typeface="Arial" panose="020B0604020202020204" pitchFamily="34" charset="0"/>
              </a:rPr>
              <a:t>Femap</a:t>
            </a:r>
            <a:endParaRPr kumimoji="1" lang="ja-JP" altLang="en-US" sz="2800" dirty="0">
              <a:latin typeface="Arial" panose="020B0604020202020204" pitchFamily="34" charset="0"/>
            </a:endParaRPr>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analysis-model settings</a:t>
            </a:r>
            <a:endParaRPr kumimoji="1" lang="en-US" altLang="ja-JP" sz="2800" dirty="0">
              <a:latin typeface="Arial" panose="020B0604020202020204" pitchFamily="34" charset="0"/>
            </a:endParaRPr>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Thermal Desktop generates temperature-field time series from orbit, attitude, surface, and dissipation inputs</a:t>
            </a:r>
            <a:endParaRPr lang="en-US" sz="3200" b="1" dirty="0">
              <a:solidFill>
                <a:srgbClr val="082B52"/>
              </a:solidFill>
              <a:latin typeface="Arial" panose="020B0604020202020204" pitchFamily="34" charset="0"/>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8</a:t>
            </a:r>
            <a:endParaRPr sz="1800" b="0" dirty="0">
              <a:solidFill>
                <a:srgbClr val="666F79"/>
              </a:solidFill>
              <a:latin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46066623"/>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lang="en-US" sz="2300" b="1">
                          <a:solidFill>
                            <a:srgbClr val="FFFFFF"/>
                          </a:solidFill>
                          <a:latin typeface="Arial" panose="020B0604020202020204" pitchFamily="34" charset="0"/>
                          <a:ea typeface="Yu Gothic"/>
                        </a:rPr>
                        <a:t>Input</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lang="en-US" sz="2300" b="0">
                          <a:solidFill>
                            <a:srgbClr val="232B34"/>
                          </a:solidFill>
                          <a:latin typeface="Arial" panose="020B0604020202020204" pitchFamily="34" charset="0"/>
                          <a:ea typeface="Yu Gothic"/>
                        </a:rPr>
                        <a:t>Orbit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Sun-synchronous, LTAN06 / 800 km / COLD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lang="en-US" sz="2300" b="0">
                          <a:solidFill>
                            <a:srgbClr val="232B34"/>
                          </a:solidFill>
                          <a:latin typeface="Arial" panose="020B0604020202020204" pitchFamily="34" charset="0"/>
                          <a:ea typeface="Yu Gothic"/>
                        </a:rPr>
                        <a:t>Period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≈6050 s (≈101 min)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lang="en-US" sz="2300" b="0">
                          <a:solidFill>
                            <a:srgbClr val="232B34"/>
                          </a:solidFill>
                          <a:latin typeface="Arial" panose="020B0604020202020204" pitchFamily="34" charset="0"/>
                          <a:ea typeface="Yu Gothic"/>
                        </a:rPr>
                        <a:t>Analysis duration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≈18,157 s (3 orbits)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lang="en-US" sz="2300" b="0">
                          <a:solidFill>
                            <a:srgbClr val="232B34"/>
                          </a:solidFill>
                          <a:latin typeface="Arial" panose="020B0604020202020204" pitchFamily="34" charset="0"/>
                          <a:ea typeface="Yu Gothic"/>
                        </a:rPr>
                        <a:t>Sampling</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Every ≈60.5 s, 301 points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lang="en-US" sz="2300" b="0">
                          <a:solidFill>
                            <a:srgbClr val="232B34"/>
                          </a:solidFill>
                          <a:latin typeface="Arial" panose="020B0604020202020204" pitchFamily="34" charset="0"/>
                          <a:ea typeface="Yu Gothic"/>
                        </a:rPr>
                        <a:t>Illumination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Eclipse / continuous illumination</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 / MY / PX / 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lang="en-US" sz="2300" b="0">
                          <a:solidFill>
                            <a:srgbClr val="232B34"/>
                          </a:solidFill>
                          <a:latin typeface="Arial" panose="020B0604020202020204" pitchFamily="34" charset="0"/>
                          <a:ea typeface="Yu Gothic"/>
                        </a:rPr>
                        <a:t>Number of nodes</a:t>
                      </a:r>
                      <a:endParaRPr lang="en-US" sz="2300" b="0" dirty="0">
                        <a:solidFill>
                          <a:srgbClr val="232B34"/>
                        </a:solidFill>
                        <a:latin typeface="Arial" panose="020B0604020202020204" pitchFamily="34" charset="0"/>
                      </a:endParaRPr>
                    </a:p>
                  </a:txBody>
                  <a:tcPr marL="64008" marR="64008" marT="27432" marB="27432" anchor="ctr">
                    <a:solidFill>
                      <a:schemeClr val="bg1"/>
                    </a:solidFill>
                  </a:tcPr>
                </a:tc>
                <a:tc>
                  <a:txBody>
                    <a:bodyPr/>
                    <a:lstStyle/>
                    <a:p>
                      <a:pPr algn="ctr">
                        <a:spcAft>
                          <a:spcPts val="0"/>
                        </a:spcAft>
                      </a:pPr>
                      <a:r>
                        <a:rPr lang="en-US" sz="2300" b="0">
                          <a:solidFill>
                            <a:srgbClr val="232B34"/>
                          </a:solidFill>
                          <a:latin typeface="Arial" panose="020B0604020202020204" pitchFamily="34" charset="0"/>
                          <a:ea typeface="Yu Gothic"/>
                        </a:rPr>
                        <a:t>125</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Environmental conditions varied by case</a:t>
            </a:r>
            <a:endParaRPr lang="en-US" sz="2700" b="1" dirty="0">
              <a:solidFill>
                <a:srgbClr val="1B74AA"/>
              </a:solidFill>
              <a:latin typeface="Arial" panose="020B0604020202020204" pitchFamily="34" charset="0"/>
              <a:ea typeface="Yu Gothic"/>
            </a:endParaRPr>
          </a:p>
        </p:txBody>
      </p:sp>
      <p:sp>
        <p:nvSpPr>
          <p:cNvPr id="8" name="TextBox 7"/>
          <p:cNvSpPr txBox="1"/>
          <p:nvPr/>
        </p:nvSpPr>
        <p:spPr>
          <a:xfrm>
            <a:off x="13258800" y="4729416"/>
            <a:ext cx="9052560" cy="2010359"/>
          </a:xfrm>
          <a:prstGeom prst="rect">
            <a:avLst/>
          </a:prstGeom>
          <a:noFill/>
        </p:spPr>
        <p:txBody>
          <a:bodyPr wrap="square" lIns="27432" rIns="27432">
            <a:spAutoFit/>
          </a:bodyPr>
          <a:lstStyle/>
          <a:p>
            <a:pPr>
              <a:lnSpc>
                <a:spcPct val="110000"/>
              </a:lnSpc>
              <a:spcAft>
                <a:spcPts val="800"/>
              </a:spcAft>
            </a:pPr>
            <a:r>
              <a:rPr lang="en-US" sz="2400" b="0" dirty="0">
                <a:solidFill>
                  <a:srgbClr val="232B34"/>
                </a:solidFill>
                <a:latin typeface="Arial" panose="020B0604020202020204" pitchFamily="34" charset="0"/>
                <a:ea typeface="Yu Gothic"/>
              </a:rPr>
              <a:t>• </a:t>
            </a:r>
            <a:r>
              <a:rPr lang="en-US" sz="2400" b="0">
                <a:solidFill>
                  <a:srgbClr val="232B34"/>
                </a:solidFill>
                <a:latin typeface="Arial" panose="020B0604020202020204" pitchFamily="34" charset="0"/>
                <a:ea typeface="Yu Gothic"/>
              </a:rPr>
              <a:t>Orbita</a:t>
            </a:r>
            <a:r>
              <a:rPr lang="en-US" sz="2400">
                <a:solidFill>
                  <a:srgbClr val="232B34"/>
                </a:solidFill>
                <a:latin typeface="Arial" panose="020B0604020202020204" pitchFamily="34" charset="0"/>
                <a:ea typeface="Yu Gothic"/>
              </a:rPr>
              <a:t>l Conditions</a:t>
            </a:r>
            <a:endParaRPr lang="en-US" sz="2600">
              <a:solidFill>
                <a:srgbClr val="232B34"/>
              </a:solidFill>
              <a:latin typeface="Arial" panose="020B0604020202020204" pitchFamily="34" charset="0"/>
            </a:endParaRPr>
          </a:p>
          <a:p>
            <a:pPr>
              <a:lnSpc>
                <a:spcPct val="110000"/>
              </a:lnSpc>
              <a:spcAft>
                <a:spcPts val="800"/>
              </a:spcAft>
            </a:pPr>
            <a:r>
              <a:rPr lang="en-US" sz="2400" b="0" dirty="0">
                <a:solidFill>
                  <a:srgbClr val="232B34"/>
                </a:solidFill>
                <a:latin typeface="Arial" panose="020B0604020202020204" pitchFamily="34" charset="0"/>
                <a:ea typeface="Yu Gothic"/>
              </a:rPr>
              <a:t>• </a:t>
            </a:r>
            <a:r>
              <a:rPr lang="en-US" sz="2400" b="0">
                <a:solidFill>
                  <a:srgbClr val="232B34"/>
                </a:solidFill>
                <a:latin typeface="Arial" panose="020B0604020202020204" pitchFamily="34" charset="0"/>
                <a:ea typeface="Yu Gothic"/>
              </a:rPr>
              <a:t>Sun-facing panel</a:t>
            </a:r>
          </a:p>
          <a:p>
            <a:pPr>
              <a:lnSpc>
                <a:spcPct val="110000"/>
              </a:lnSpc>
              <a:spcAft>
                <a:spcPts val="800"/>
              </a:spcAft>
            </a:pPr>
            <a:r>
              <a:rPr lang="en-US" sz="2400" b="0">
                <a:solidFill>
                  <a:srgbClr val="232B34"/>
                </a:solidFill>
                <a:latin typeface="Arial" panose="020B0604020202020204" pitchFamily="34" charset="0"/>
                <a:ea typeface="Yu Gothic"/>
              </a:rPr>
              <a:t>• O</a:t>
            </a:r>
            <a:r>
              <a:rPr lang="en-US" sz="2400" b="0">
                <a:solidFill>
                  <a:srgbClr val="232B34"/>
                </a:solidFill>
                <a:latin typeface="Yu Gothic"/>
                <a:ea typeface="Yu Gothic"/>
              </a:rPr>
              <a:t>ptical </a:t>
            </a:r>
            <a:r>
              <a:rPr lang="en-US" sz="2400" b="0" dirty="0">
                <a:solidFill>
                  <a:srgbClr val="232B34"/>
                </a:solidFill>
                <a:latin typeface="Yu Gothic"/>
                <a:ea typeface="Yu Gothic"/>
              </a:rPr>
              <a:t>properties of panels</a:t>
            </a:r>
          </a:p>
          <a:p>
            <a:pPr>
              <a:lnSpc>
                <a:spcPct val="110000"/>
              </a:lnSpc>
              <a:spcAft>
                <a:spcPts val="800"/>
              </a:spcAft>
            </a:pPr>
            <a:r>
              <a:rPr lang="en-US" altLang="ja-JP" sz="2400" dirty="0">
                <a:solidFill>
                  <a:srgbClr val="232B34"/>
                </a:solidFill>
                <a:latin typeface="Arial" panose="020B0604020202020204" pitchFamily="34" charset="0"/>
                <a:ea typeface="Yu Gothic"/>
              </a:rPr>
              <a:t>• Internal Equipment dissipation</a:t>
            </a:r>
            <a:endParaRPr lang="en-US" sz="2400" dirty="0">
              <a:solidFill>
                <a:srgbClr val="232B34"/>
              </a:solidFill>
              <a:latin typeface="Arial" panose="020B0604020202020204" pitchFamily="34" charset="0"/>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thermal-analysis inputs</a:t>
            </a:r>
            <a:endParaRPr kumimoji="1" lang="en-US" altLang="ja-JP" sz="2800" dirty="0">
              <a:latin typeface="Arial" panose="020B0604020202020204" pitchFamily="34" charset="0"/>
            </a:endParaRPr>
          </a:p>
        </p:txBody>
      </p:sp>
      <p:sp>
        <p:nvSpPr>
          <p:cNvPr id="16" name="TextBox 15"/>
          <p:cNvSpPr txBox="1"/>
          <p:nvPr/>
        </p:nvSpPr>
        <p:spPr>
          <a:xfrm>
            <a:off x="1335024" y="11978640"/>
            <a:ext cx="109728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Output: panel temperature field T(t), computed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panose="020B0400000000000000" pitchFamily="50" charset="-128"/>
              </a:rPr>
              <a:t>Thermoelastic analysis</a:t>
            </a:r>
            <a:endParaRPr lang="en-US" sz="2000" b="0" dirty="0">
              <a:solidFill>
                <a:srgbClr val="666F79"/>
              </a:solidFill>
              <a:latin typeface="Arial" panose="020B0604020202020204" pitchFamily="34" charset="0"/>
              <a:ea typeface="Yu Gothic" panose="020B0400000000000000" pitchFamily="50" charset="-128"/>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temperature field is mapped into Femap to obtain STT and LCT translations and rotations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9</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72321362"/>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lang="en-US" sz="2200" b="1">
                          <a:solidFill>
                            <a:srgbClr val="FFFFFF"/>
                          </a:solidFill>
                          <a:latin typeface="Arial" panose="020B0604020202020204" pitchFamily="34" charset="0"/>
                          <a:ea typeface="Yu Gothic"/>
                        </a:rPr>
                        <a:t>Structural-analysis setting</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200" b="1">
                          <a:solidFill>
                            <a:srgbClr val="FFFFFF"/>
                          </a:solidFill>
                          <a:latin typeface="Arial" panose="020B0604020202020204" pitchFamily="34" charset="0"/>
                          <a:ea typeface="Yu Gothic"/>
                        </a:rPr>
                        <a:t>Value</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lang="en-US" sz="2200" b="0">
                          <a:solidFill>
                            <a:srgbClr val="232B34"/>
                          </a:solidFill>
                          <a:latin typeface="Arial" panose="020B0604020202020204" pitchFamily="34" charset="0"/>
                          <a:ea typeface="Yu Gothic"/>
                        </a:rPr>
                        <a:t>Material</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Aluminum A5052</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lang="en-US" sz="2200" b="0" dirty="0">
                          <a:solidFill>
                            <a:srgbClr val="232B34"/>
                          </a:solidFill>
                          <a:latin typeface="Arial" panose="020B0604020202020204" pitchFamily="34" charset="0"/>
                          <a:ea typeface="Yu Gothic"/>
                        </a:rPr>
                        <a:t>Young's modulus</a:t>
                      </a: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70.327 GPa</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lang="en-US" sz="2200" b="0">
                          <a:solidFill>
                            <a:srgbClr val="232B34"/>
                          </a:solidFill>
                          <a:latin typeface="Arial" panose="020B0604020202020204" pitchFamily="34" charset="0"/>
                          <a:ea typeface="Yu Gothic"/>
                        </a:rPr>
                        <a:t>Poisson's ratio</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0.33</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lang="en-US" sz="2200" b="0">
                          <a:solidFill>
                            <a:srgbClr val="232B34"/>
                          </a:solidFill>
                          <a:latin typeface="Arial" panose="020B0604020202020204" pitchFamily="34" charset="0"/>
                          <a:ea typeface="Yu Gothic"/>
                        </a:rPr>
                        <a:t>Coefficient of thermal expansion</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2.376×10⁻⁵ /K</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lang="en-US" sz="2200" b="0">
                          <a:solidFill>
                            <a:srgbClr val="232B34"/>
                          </a:solidFill>
                          <a:latin typeface="Arial" panose="020B0604020202020204" pitchFamily="34" charset="0"/>
                          <a:ea typeface="Yu Gothic"/>
                        </a:rPr>
                        <a:t>Density</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2685 kg/m³</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lang="en-US" sz="2200" b="0">
                          <a:solidFill>
                            <a:srgbClr val="232B34"/>
                          </a:solidFill>
                          <a:latin typeface="Arial" panose="020B0604020202020204" pitchFamily="34" charset="0"/>
                          <a:ea typeface="Yu Gothic"/>
                        </a:rPr>
                        <a:t>Reference temperature</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23.9 ℃</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lang="en-US" sz="2200" b="0">
                          <a:solidFill>
                            <a:srgbClr val="232B34"/>
                          </a:solidFill>
                          <a:latin typeface="Arial" panose="020B0604020202020204" pitchFamily="34" charset="0"/>
                          <a:ea typeface="Yu Gothic"/>
                        </a:rPr>
                        <a:t>Constraint</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dirty="0">
                          <a:solidFill>
                            <a:srgbClr val="232B34"/>
                          </a:solidFill>
                          <a:latin typeface="Arial" panose="020B0604020202020204" pitchFamily="34" charset="0"/>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structural-analysis settings</a:t>
            </a:r>
            <a:endParaRPr kumimoji="1" lang="en-US" altLang="ja-JP" sz="2800" dirty="0">
              <a:latin typeface="Arial" panose="020B0604020202020204" pitchFamily="34" charset="0"/>
            </a:endParaRPr>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430887"/>
          </a:xfrm>
          <a:prstGeom prst="rect">
            <a:avLst/>
          </a:prstGeom>
          <a:noFill/>
        </p:spPr>
        <p:txBody>
          <a:bodyPr wrap="square" rtlCol="0">
            <a:spAutoFit/>
          </a:bodyPr>
          <a:lstStyle/>
          <a:p>
            <a:pPr>
              <a:spcAft>
                <a:spcPts val="0"/>
              </a:spcAft>
            </a:pPr>
            <a:r>
              <a:rPr lang="en-US" sz="2200" b="1">
                <a:solidFill>
                  <a:srgbClr val="1B74AA"/>
                </a:solidFill>
                <a:latin typeface="Arial" panose="020B0604020202020204" pitchFamily="34" charset="0"/>
                <a:ea typeface="Yu Gothic"/>
              </a:rPr>
              <a:t> </a:t>
            </a:r>
            <a:r>
              <a:rPr lang="en-US" sz="2200" b="1" dirty="0">
                <a:solidFill>
                  <a:srgbClr val="1B74AA"/>
                </a:solidFill>
                <a:latin typeface="Arial" panose="020B0604020202020204" pitchFamily="34" charset="0"/>
                <a:ea typeface="Yu Gothic"/>
              </a:rPr>
              <a:t>T(</a:t>
            </a:r>
            <a:r>
              <a:rPr lang="en-US" sz="2200" b="1" dirty="0" err="1">
                <a:solidFill>
                  <a:srgbClr val="1B74AA"/>
                </a:solidFill>
                <a:latin typeface="Arial" panose="020B0604020202020204" pitchFamily="34" charset="0"/>
                <a:ea typeface="Yu Gothic"/>
              </a:rPr>
              <a:t>t</a:t>
            </a:r>
            <a:r>
              <a:rPr lang="en-US" sz="2200" b="1" err="1">
                <a:solidFill>
                  <a:srgbClr val="1B74AA"/>
                </a:solidFill>
                <a:latin typeface="Arial" panose="020B0604020202020204" pitchFamily="34" charset="0"/>
                <a:ea typeface="Yu Gothic"/>
              </a:rPr>
              <a:t>,</a:t>
            </a:r>
            <a:r>
              <a:rPr lang="en-US" sz="2200" b="1">
                <a:solidFill>
                  <a:srgbClr val="1B74AA"/>
                </a:solidFill>
                <a:latin typeface="Arial" panose="020B0604020202020204" pitchFamily="34" charset="0"/>
                <a:ea typeface="Yu Gothic"/>
              </a:rPr>
              <a:t>x) </a:t>
            </a:r>
            <a:r>
              <a:rPr lang="en-US" sz="2200" b="1" dirty="0">
                <a:solidFill>
                  <a:srgbClr val="1B74AA"/>
                </a:solidFill>
                <a:latin typeface="Arial" panose="020B0604020202020204" pitchFamily="34" charset="0"/>
                <a:ea typeface="Yu Gothic"/>
              </a:rPr>
              <a:t>from TD</a:t>
            </a:r>
            <a:endParaRPr sz="2200" b="1" dirty="0">
              <a:solidFill>
                <a:srgbClr val="1B74AA"/>
              </a:solidFill>
              <a:latin typeface="Arial" panose="020B0604020202020204" pitchFamily="34" charset="0"/>
              <a:ea typeface="Yu Gothic"/>
            </a:endParaRPr>
          </a:p>
        </p:txBody>
      </p:sp>
      <p:sp>
        <p:nvSpPr>
          <p:cNvPr id="22" name="TextBox 21"/>
          <p:cNvSpPr txBox="1"/>
          <p:nvPr/>
        </p:nvSpPr>
        <p:spPr>
          <a:xfrm>
            <a:off x="1197864" y="11887200"/>
            <a:ext cx="114300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Thermal Desktop and Femap generate training data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rPr>
              <a:t>Calculate thermal LOS error through rotation of STT and LCT </a:t>
            </a: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10</a:t>
            </a:r>
            <a:endParaRPr sz="1800" b="0" dirty="0">
              <a:solidFill>
                <a:srgbClr val="666F79"/>
              </a:solidFill>
              <a:latin typeface="Arial" panose="020B0604020202020204" pitchFamily="34" charset="0"/>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LOS-error definition</a:t>
            </a:r>
            <a:endParaRPr lang="en-US" sz="2800" b="1" dirty="0">
              <a:solidFill>
                <a:srgbClr val="1B74AA"/>
              </a:solidFill>
              <a:latin typeface="Arial" panose="020B0604020202020204" pitchFamily="34" charset="0"/>
            </a:endParaRPr>
          </a:p>
        </p:txBody>
      </p:sp>
      <p:sp>
        <p:nvSpPr>
          <p:cNvPr id="9" name="TextBox 8"/>
          <p:cNvSpPr txBox="1"/>
          <p:nvPr/>
        </p:nvSpPr>
        <p:spPr>
          <a:xfrm>
            <a:off x="16001999" y="4297680"/>
            <a:ext cx="7040879" cy="1876155"/>
          </a:xfrm>
          <a:prstGeom prst="rect">
            <a:avLst/>
          </a:prstGeom>
          <a:noFill/>
        </p:spPr>
        <p:txBody>
          <a:bodyPr wrap="square" lIns="27432" rIns="27432">
            <a:spAutoFit/>
          </a:bodyPr>
          <a:lstStyle/>
          <a:p>
            <a:pPr>
              <a:lnSpc>
                <a:spcPct val="110000"/>
              </a:lnSpc>
              <a:spcAft>
                <a:spcPts val="800"/>
              </a:spcAft>
            </a:pPr>
            <a:r>
              <a:rPr lang="en-US" sz="2200" b="0">
                <a:solidFill>
                  <a:srgbClr val="232B34"/>
                </a:solidFill>
                <a:latin typeface="Arial" panose="020B0604020202020204" pitchFamily="34" charset="0"/>
                <a:ea typeface="Yu Gothic"/>
              </a:rPr>
              <a:t>• LCT optical-axis rotation − STT reference rotation</a:t>
            </a:r>
            <a:endParaRPr lang="en-US" sz="2400" dirty="0">
              <a:solidFill>
                <a:srgbClr val="232B34"/>
              </a:solidFill>
              <a:latin typeface="Arial" panose="020B0604020202020204" pitchFamily="34" charset="0"/>
            </a:endParaRPr>
          </a:p>
          <a:p>
            <a:pPr>
              <a:lnSpc>
                <a:spcPct val="110000"/>
              </a:lnSpc>
              <a:spcAft>
                <a:spcPts val="800"/>
              </a:spcAft>
            </a:pPr>
            <a:r>
              <a:rPr lang="en-US" sz="2200" b="0">
                <a:solidFill>
                  <a:srgbClr val="232B34"/>
                </a:solidFill>
                <a:latin typeface="Arial" panose="020B0604020202020204" pitchFamily="34" charset="0"/>
                <a:ea typeface="Yu Gothic"/>
              </a:rPr>
              <a:t>• STT thermal rotation is absorbed into attitude</a:t>
            </a:r>
          </a:p>
          <a:p>
            <a:pPr>
              <a:lnSpc>
                <a:spcPct val="110000"/>
              </a:lnSpc>
              <a:spcAft>
                <a:spcPts val="800"/>
              </a:spcAft>
            </a:pPr>
            <a:r>
              <a:rPr lang="en-US" sz="2200" b="0">
                <a:solidFill>
                  <a:srgbClr val="232B34"/>
                </a:solidFill>
                <a:latin typeface="Arial" panose="020B0604020202020204" pitchFamily="34" charset="0"/>
                <a:ea typeface="Yu Gothic"/>
              </a:rPr>
              <a:t>• Directly gives far-field scan-center error</a:t>
            </a:r>
          </a:p>
          <a:p>
            <a:pPr>
              <a:lnSpc>
                <a:spcPct val="110000"/>
              </a:lnSpc>
              <a:spcAft>
                <a:spcPts val="800"/>
              </a:spcAft>
            </a:pPr>
            <a:r>
              <a:rPr lang="en-US" sz="2200" b="0">
                <a:solidFill>
                  <a:srgbClr val="232B34"/>
                </a:solidFill>
                <a:latin typeface="Arial" panose="020B0604020202020204" pitchFamily="34" charset="0"/>
                <a:ea typeface="Yu Gothic"/>
              </a:rPr>
              <a:t>• Excludes translation-induced tilt</a:t>
            </a:r>
            <a:endParaRPr lang="en-US" sz="2200" b="0" dirty="0">
              <a:solidFill>
                <a:srgbClr val="232B34"/>
              </a:solidFill>
              <a:latin typeface="Arial" panose="020B0604020202020204" pitchFamily="34" charset="0"/>
              <a:ea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latin typeface="Arial" panose="020B0604020202020204" pitchFamily="34" charset="0"/>
              </a:rPr>
              <a:t>STT</a:t>
            </a:r>
            <a:endParaRPr kumimoji="1" lang="ja-JP" altLang="en-US" sz="3200" dirty="0">
              <a:latin typeface="Arial" panose="020B0604020202020204" pitchFamily="34" charset="0"/>
            </a:endParaRPr>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latin typeface="Arial" panose="020B0604020202020204" pitchFamily="34" charset="0"/>
              </a:rPr>
              <a:t>LCT</a:t>
            </a:r>
            <a:endParaRPr kumimoji="1" lang="ja-JP" altLang="en-US" sz="3200" dirty="0">
              <a:latin typeface="Arial" panose="020B0604020202020204" pitchFamily="34" charset="0"/>
            </a:endParaRPr>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538609"/>
          </a:xfrm>
          <a:prstGeom prst="rect">
            <a:avLst/>
          </a:prstGeom>
          <a:noFill/>
        </p:spPr>
        <p:txBody>
          <a:bodyPr wrap="square">
            <a:spAutoFit/>
          </a:bodyPr>
          <a:lstStyle/>
          <a:p>
            <a:pPr>
              <a:spcAft>
                <a:spcPts val="0"/>
              </a:spcAft>
            </a:pPr>
            <a:r>
              <a:rPr lang="en-US" sz="2900" b="1">
                <a:solidFill>
                  <a:srgbClr val="082B52"/>
                </a:solidFill>
                <a:latin typeface="Arial" panose="020B0604020202020204" pitchFamily="34" charset="0"/>
                <a:ea typeface="Yu Gothic"/>
              </a:rPr>
              <a:t>Far-field LOS error = STT-relative LCT optical-axis rotation, not translation</a:t>
            </a:r>
            <a:endParaRPr lang="en-US" altLang="ja-JP" sz="32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Arial" panose="020B0604020202020204" pitchFamily="34" charset="0"/>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Arial" panose="020B0604020202020204" pitchFamily="34" charset="0"/>
                </a:endParaRPr>
              </a:p>
              <a:p>
                <a:pPr algn="ctr"/>
                <a:r>
                  <a:rPr lang="en-US" sz="3600" b="1" i="1" dirty="0">
                    <a:solidFill>
                      <a:srgbClr val="082B52"/>
                    </a:solidFill>
                    <a:latin typeface="Arial" panose="020B0604020202020204" pitchFamily="34" charset="0"/>
                  </a:rPr>
                  <a:t> </a:t>
                </a:r>
                <a:endParaRPr sz="3600" b="1" i="1" dirty="0">
                  <a:solidFill>
                    <a:srgbClr val="082B52"/>
                  </a:solidFill>
                  <a:latin typeface="Arial" panose="020B0604020202020204" pitchFamily="34" charset="0"/>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Arial" panose="020B0604020202020204" pitchFamily="34" charset="0"/>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Arial" panose="020B0604020202020204" pitchFamily="34" charset="0"/>
                </a:endParaRPr>
              </a:p>
              <a:p>
                <a:pPr algn="ctr"/>
                <a:endParaRPr lang="en-US" altLang="ja-JP" sz="3200" b="1" i="1" dirty="0">
                  <a:solidFill>
                    <a:srgbClr val="082B52"/>
                  </a:solidFill>
                  <a:latin typeface="Arial" panose="020B0604020202020204" pitchFamily="34" charset="0"/>
                </a:endParaRPr>
              </a:p>
              <a:p>
                <a:pPr algn="ctr"/>
                <a:r>
                  <a:rPr lang="en-US" sz="3200" b="1" i="1" dirty="0">
                    <a:solidFill>
                      <a:srgbClr val="082B52"/>
                    </a:solidFill>
                    <a:latin typeface="Arial" panose="020B0604020202020204" pitchFamily="34" charset="0"/>
                  </a:rPr>
                  <a:t> </a:t>
                </a:r>
                <a:endParaRPr sz="3200" b="1" i="1" dirty="0">
                  <a:solidFill>
                    <a:srgbClr val="082B52"/>
                  </a:solidFill>
                  <a:latin typeface="Arial" panose="020B0604020202020204" pitchFamily="34" charset="0"/>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5"/>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6"/>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structure and LOS definition are fixed; only sun face, dissipation, surface, and orbit vary</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11</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58672360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lang="en-US" sz="2300" b="1">
                          <a:solidFill>
                            <a:srgbClr val="FFFFFF"/>
                          </a:solidFill>
                          <a:latin typeface="Arial" panose="020B0604020202020204" pitchFamily="34" charset="0"/>
                          <a:ea typeface="Yu Gothic"/>
                        </a:rPr>
                        <a:t>Varied factor</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Cases</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Purpose</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MX / MY / PX / 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Dominant axis, sign, and magnitude</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lang="en-US" sz="2300" b="0">
                          <a:solidFill>
                            <a:srgbClr val="232B34"/>
                          </a:solidFill>
                          <a:latin typeface="Arial" panose="020B0604020202020204" pitchFamily="34" charset="0"/>
                          <a:ea typeface="Yu Gothic"/>
                        </a:rPr>
                        <a:t>Internal dissipation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STT/LCT only / +PROP / +PCDU / all units (one half-power case)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Variation in mean bias across cases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lang="en-US" sz="2300" b="0">
                          <a:solidFill>
                            <a:srgbClr val="232B34"/>
                          </a:solidFill>
                          <a:latin typeface="Arial" panose="020B0604020202020204" pitchFamily="34" charset="0"/>
                          <a:ea typeface="Yu Gothic"/>
                        </a:rPr>
                        <a:t>Surface properties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Baseline (α = ε = 0.5) / Black / Alodine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Variation amplitude and residual floor</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lang="en-US" sz="2300" b="0">
                          <a:solidFill>
                            <a:srgbClr val="232B34"/>
                          </a:solidFill>
                          <a:latin typeface="Arial" panose="020B0604020202020204" pitchFamily="34" charset="0"/>
                          <a:ea typeface="Yu Gothic"/>
                        </a:rPr>
                        <a:t>Orbit / thermal environment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Eclipse / continuous illumination; LTAN06 / LTAN18</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Applicability across thermal and orbit conditions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lang="en-US" sz="2200" b="0">
                <a:solidFill>
                  <a:srgbClr val="D03B46"/>
                </a:solidFill>
                <a:latin typeface="Arial" panose="020B0604020202020204" pitchFamily="34" charset="0"/>
                <a:ea typeface="Yu Gothic"/>
              </a:rPr>
              <a:t>PZ/MZ sun-face cases are not included;</a:t>
            </a:r>
            <a:endParaRPr lang="en-US" sz="2200" b="0" dirty="0">
              <a:solidFill>
                <a:srgbClr val="D03B46"/>
              </a:solidFill>
              <a:latin typeface="Arial" panose="020B0604020202020204" pitchFamily="34" charset="0"/>
              <a:ea typeface="Yu Gothic"/>
            </a:endParaRPr>
          </a:p>
          <a:p>
            <a:pPr>
              <a:spcAft>
                <a:spcPts val="0"/>
              </a:spcAft>
            </a:pPr>
            <a:r>
              <a:rPr lang="en-US" sz="2200" b="0">
                <a:solidFill>
                  <a:srgbClr val="D03B46"/>
                </a:solidFill>
                <a:latin typeface="Arial" panose="020B0604020202020204" pitchFamily="34" charset="0"/>
                <a:ea typeface="Yu Gothic"/>
              </a:rPr>
              <a:t>they host the STT/LCT and are outside this model's scope.</a:t>
            </a:r>
            <a:endParaRPr lang="en-US" sz="2600" b="1" dirty="0">
              <a:solidFill>
                <a:srgbClr val="D03B46"/>
              </a:solidFill>
              <a:latin typeface="Arial" panose="020B0604020202020204" pitchFamily="34" charset="0"/>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en-US" altLang="ja-JP" sz="2800">
                <a:latin typeface="Arial" panose="020B0604020202020204" pitchFamily="34" charset="0"/>
              </a:rPr>
              <a:t>Case parameters</a:t>
            </a:r>
            <a:endParaRPr kumimoji="1" lang="en-US" altLang="ja-JP" sz="2800" dirty="0">
              <a:latin typeface="Arial" panose="020B0604020202020204" pitchFamily="34" charset="0"/>
            </a:endParaRP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lang="en-US" sz="2500" b="1">
                <a:solidFill>
                  <a:srgbClr val="082B52"/>
                </a:solidFill>
                <a:latin typeface="Arial" panose="020B0604020202020204" pitchFamily="34" charset="0"/>
                <a:ea typeface="Yu Gothic"/>
              </a:rPr>
              <a:t>Fixed parameters: structure and dimensions, STT/LCT placement, material, and LOS definition</a:t>
            </a:r>
          </a:p>
          <a:p>
            <a:pPr algn="l">
              <a:lnSpc>
                <a:spcPct val="120000"/>
              </a:lnSpc>
              <a:spcAft>
                <a:spcPts val="0"/>
              </a:spcAft>
            </a:pPr>
            <a:r>
              <a:rPr lang="en-US" altLang="ja-JP" sz="2500" b="1">
                <a:solidFill>
                  <a:srgbClr val="082B52"/>
                </a:solidFill>
                <a:latin typeface="Arial" panose="020B0604020202020204" pitchFamily="34" charset="0"/>
                <a:ea typeface="Yu Gothic"/>
              </a:rPr>
              <a:t>Current analysis: 21 cases.</a:t>
            </a:r>
            <a:endParaRPr lang="en-US" sz="2500" b="1" dirty="0">
              <a:solidFill>
                <a:srgbClr val="082B52"/>
              </a:solidFill>
              <a:latin typeface="Arial" panose="020B0604020202020204" pitchFamily="34" charset="0"/>
              <a:ea typeface="Yu Gothic"/>
            </a:endParaRPr>
          </a:p>
          <a:p>
            <a:pPr algn="l">
              <a:lnSpc>
                <a:spcPct val="120000"/>
              </a:lnSpc>
              <a:spcAft>
                <a:spcPts val="0"/>
              </a:spcAft>
            </a:pPr>
            <a:r>
              <a:rPr lang="en-US" altLang="ja-JP" sz="2500" b="1" dirty="0">
                <a:solidFill>
                  <a:srgbClr val="082B52"/>
                </a:solidFill>
                <a:latin typeface="Arial" panose="020B0604020202020204" pitchFamily="34" charset="0"/>
                <a:ea typeface="Yu Gothic"/>
              </a:rPr>
              <a:t>Across-condition evaluation is limited to the same spacecraft bus; coefficients are not transferred unchanged to another structure.</a:t>
            </a:r>
            <a:endParaRPr sz="2500" b="1" dirty="0">
              <a:solidFill>
                <a:srgbClr val="082B52"/>
              </a:solidFill>
              <a:latin typeface="Arial" panose="020B0604020202020204" pitchFamily="34" charset="0"/>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altLang="ja-JP" sz="3200" b="1">
                <a:solidFill>
                  <a:srgbClr val="082B52"/>
                </a:solidFill>
                <a:latin typeface="Arial" panose="020B0604020202020204" pitchFamily="34" charset="0"/>
                <a:ea typeface="Yu Gothic"/>
              </a:rPr>
              <a:t>Results: thermal LOS varies at the orbital period; the dominant axis and mean offset follow the sun face</a:t>
            </a:r>
            <a:endParaRPr lang="en-US" sz="3200" b="1" dirty="0">
              <a:solidFill>
                <a:srgbClr val="082B52"/>
              </a:solidFill>
              <a:latin typeface="Arial" panose="020B0604020202020204" pitchFamily="34" charset="0"/>
            </a:endParaRPr>
          </a:p>
        </p:txBody>
      </p:sp>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378565"/>
          </a:xfrm>
          <a:prstGeom prst="rect">
            <a:avLst/>
          </a:prstGeom>
          <a:noFill/>
        </p:spPr>
        <p:txBody>
          <a:bodyPr wrap="square" lIns="36576" tIns="27432" rIns="36576" bIns="27432" anchor="t">
            <a:spAutoFit/>
          </a:bodyPr>
          <a:lstStyle/>
          <a:p>
            <a:pPr algn="ctr">
              <a:spcAft>
                <a:spcPts val="0"/>
              </a:spcAft>
            </a:pPr>
            <a:r>
              <a:rPr lang="en-US" sz="2100" b="1">
                <a:solidFill>
                  <a:srgbClr val="1B74AA"/>
                </a:solidFill>
                <a:latin typeface="Arial" panose="020B0604020202020204" pitchFamily="34" charset="0"/>
                <a:ea typeface="Yu Gothic"/>
              </a:rPr>
              <a:t>Far-field LOS, Y axis (MY-PY)</a:t>
            </a:r>
            <a:endParaRPr lang="en-US" sz="2100" b="1" dirty="0">
              <a:solidFill>
                <a:srgbClr val="1B74AA"/>
              </a:solidFill>
              <a:latin typeface="Arial" panose="020B0604020202020204" pitchFamily="34" charset="0"/>
              <a:ea typeface="Yu Gothic"/>
            </a:endParaRP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378565"/>
          </a:xfrm>
          <a:prstGeom prst="rect">
            <a:avLst/>
          </a:prstGeom>
          <a:noFill/>
        </p:spPr>
        <p:txBody>
          <a:bodyPr wrap="square" lIns="36576" tIns="27432" rIns="36576" bIns="27432" anchor="t">
            <a:spAutoFit/>
          </a:bodyPr>
          <a:lstStyle/>
          <a:p>
            <a:pPr algn="ctr">
              <a:spcAft>
                <a:spcPts val="0"/>
              </a:spcAft>
            </a:pPr>
            <a:r>
              <a:rPr lang="en-US" sz="2100" b="1">
                <a:solidFill>
                  <a:srgbClr val="1B74AA"/>
                </a:solidFill>
                <a:latin typeface="Arial" panose="020B0604020202020204" pitchFamily="34" charset="0"/>
                <a:ea typeface="Yu Gothic"/>
              </a:rPr>
              <a:t>MY center - PY center</a:t>
            </a:r>
            <a:endParaRPr lang="en-US" sz="2100" b="1" dirty="0">
              <a:solidFill>
                <a:srgbClr val="1B74AA"/>
              </a:solidFill>
              <a:latin typeface="Arial" panose="020B0604020202020204" pitchFamily="34" charset="0"/>
              <a:ea typeface="Yu Gothic"/>
            </a:endParaRPr>
          </a:p>
        </p:txBody>
      </p:sp>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lang="en-US" sz="2800" b="1" dirty="0">
                <a:solidFill>
                  <a:srgbClr val="D03B46"/>
                </a:solidFill>
                <a:latin typeface="Arial" panose="020B0604020202020204" pitchFamily="34" charset="0"/>
                <a:ea typeface="Yu Gothic"/>
              </a:rPr>
              <a:t>• Orbital-period thermal LOS; dominant axis: MY/PY → y, MX/PX → x</a:t>
            </a:r>
          </a:p>
          <a:p>
            <a:pPr>
              <a:lnSpc>
                <a:spcPct val="105000"/>
              </a:lnSpc>
              <a:spcAft>
                <a:spcPts val="400"/>
              </a:spcAft>
            </a:pPr>
            <a:r>
              <a:rPr lang="en-US" altLang="ja-JP" sz="2800" b="1" dirty="0">
                <a:solidFill>
                  <a:srgbClr val="D03B46"/>
                </a:solidFill>
                <a:latin typeface="Arial" panose="020B0604020202020204" pitchFamily="34" charset="0"/>
                <a:ea typeface="Yu Gothic"/>
              </a:rPr>
              <a:t>• Dominant-axis variation follows sun-facing–opposite-panel center ΔT</a:t>
            </a:r>
            <a:endParaRPr kumimoji="1" lang="en-US" altLang="ja-JP" sz="2800" b="1" dirty="0">
              <a:solidFill>
                <a:srgbClr val="FF0000"/>
              </a:solidFill>
              <a:latin typeface="Arial" panose="020B0604020202020204" pitchFamily="34" charset="0"/>
            </a:endParaRPr>
          </a:p>
          <a:p>
            <a:pPr>
              <a:lnSpc>
                <a:spcPct val="105000"/>
              </a:lnSpc>
              <a:spcAft>
                <a:spcPts val="400"/>
              </a:spcAft>
            </a:pPr>
            <a:r>
              <a:rPr lang="en-US" sz="2800" b="1" dirty="0">
                <a:solidFill>
                  <a:srgbClr val="D03B46"/>
                </a:solidFill>
                <a:latin typeface="Arial" panose="020B0604020202020204" pitchFamily="34" charset="0"/>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pic>
        <p:nvPicPr>
          <p:cNvPr id="5" name="図 4">
            <a:extLst>
              <a:ext uri="{FF2B5EF4-FFF2-40B4-BE49-F238E27FC236}">
                <a16:creationId xmlns:a16="http://schemas.microsoft.com/office/drawing/2014/main" id="{55E02E62-9C27-6F62-21F1-013F7AF88BB1}"/>
              </a:ext>
            </a:extLst>
          </p:cNvPr>
          <p:cNvPicPr>
            <a:picLocks/>
          </p:cNvPicPr>
          <p:nvPr/>
        </p:nvPicPr>
        <p:blipFill>
          <a:blip r:embed="rId3"/>
          <a:stretch>
            <a:fillRect/>
          </a:stretch>
        </p:blipFill>
        <p:spPr>
          <a:xfrm>
            <a:off x="1408906" y="3194050"/>
            <a:ext cx="21564600" cy="7906617"/>
          </a:xfrm>
          <a:prstGeom prst="rect">
            <a:avLst/>
          </a:prstGeom>
        </p:spPr>
      </p:pic>
      <p:sp>
        <p:nvSpPr>
          <p:cNvPr id="6" name="テキスト ボックス 5">
            <a:extLst>
              <a:ext uri="{FF2B5EF4-FFF2-40B4-BE49-F238E27FC236}">
                <a16:creationId xmlns:a16="http://schemas.microsoft.com/office/drawing/2014/main" id="{54644474-2800-11CD-2A9F-BA8FABCE5C2D}"/>
              </a:ext>
            </a:extLst>
          </p:cNvPr>
          <p:cNvSpPr txBox="1"/>
          <p:nvPr/>
        </p:nvSpPr>
        <p:spPr>
          <a:xfrm>
            <a:off x="23333254" y="12819888"/>
            <a:ext cx="441146" cy="369332"/>
          </a:xfrm>
          <a:prstGeom prst="rect">
            <a:avLst/>
          </a:prstGeom>
          <a:noFill/>
        </p:spPr>
        <p:txBody>
          <a:bodyPr vert="horz" wrap="none" rtlCol="0">
            <a:spAutoFit/>
          </a:bodyPr>
          <a:lstStyle/>
          <a:p>
            <a:pPr algn="r"/>
            <a:r>
              <a:rPr kumimoji="1" lang="en-US" altLang="ja-JP">
                <a:solidFill>
                  <a:srgbClr val="666F79"/>
                </a:solidFill>
                <a:latin typeface="Arial" panose="020B0604020202020204" pitchFamily="34" charset="0"/>
              </a:rPr>
              <a:t>12</a:t>
            </a:r>
            <a:endParaRPr kumimoji="1" lang="ja-JP" altLang="en-US">
              <a:solidFill>
                <a:srgbClr val="666F79"/>
              </a:solidFill>
              <a:latin typeface="Arial" panose="020B0604020202020204" pitchFamily="34" charset="0"/>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Reduced-orde</a:t>
            </a:r>
            <a:r>
              <a:rPr lang="en-US" altLang="ja-JP" sz="4800" dirty="0">
                <a:solidFill>
                  <a:srgbClr val="FFFFFF"/>
                </a:solidFill>
                <a:latin typeface="Arial" panose="020B0604020202020204" pitchFamily="34" charset="0"/>
                <a:cs typeface="Arial" panose="020B0604020202020204" pitchFamily="34" charset="0"/>
              </a:rPr>
              <a:t>r model</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13</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en-US" altLang="ja-JP" sz="2700" b="1">
                <a:solidFill>
                  <a:srgbClr val="082B52"/>
                </a:solidFill>
                <a:latin typeface="Arial" panose="020B0604020202020204" pitchFamily="34" charset="0"/>
                <a:ea typeface="Yu Gothic"/>
              </a:rPr>
              <a:t>Model requirements</a:t>
            </a:r>
            <a:endParaRPr lang="en-US" sz="2700" b="1" dirty="0">
              <a:solidFill>
                <a:srgbClr val="082B52"/>
              </a:solidFill>
              <a:latin typeface="Arial" panose="020B0604020202020204" pitchFamily="34" charset="0"/>
            </a:endParaRPr>
          </a:p>
        </p:txBody>
      </p:sp>
      <p:sp>
        <p:nvSpPr>
          <p:cNvPr id="7" name="TextBox 6"/>
          <p:cNvSpPr txBox="1"/>
          <p:nvPr/>
        </p:nvSpPr>
        <p:spPr>
          <a:xfrm>
            <a:off x="1645920" y="4251960"/>
            <a:ext cx="6217920" cy="3149837"/>
          </a:xfrm>
          <a:prstGeom prst="rect">
            <a:avLst/>
          </a:prstGeom>
          <a:noFill/>
        </p:spPr>
        <p:txBody>
          <a:bodyPr wrap="square" lIns="27432" rIns="27432">
            <a:spAutoFit/>
          </a:bodyPr>
          <a:lstStyle/>
          <a:p>
            <a:pPr>
              <a:lnSpc>
                <a:spcPct val="115000"/>
              </a:lnSpc>
              <a:spcAft>
                <a:spcPts val="3400"/>
              </a:spcAft>
            </a:pPr>
            <a:r>
              <a:rPr lang="en-US" sz="2500" b="0">
                <a:solidFill>
                  <a:srgbClr val="232B34"/>
                </a:solidFill>
                <a:latin typeface="Arial" panose="020B0604020202020204" pitchFamily="34" charset="0"/>
                <a:ea typeface="Yu Gothic"/>
              </a:rPr>
              <a:t>• No onboard TD/Femap</a:t>
            </a:r>
            <a:endParaRPr lang="en-US" sz="2500">
              <a:solidFill>
                <a:srgbClr val="232B34"/>
              </a:solidFill>
              <a:latin typeface="Arial" panose="020B0604020202020204" pitchFamily="34" charset="0"/>
            </a:endParaRPr>
          </a:p>
          <a:p>
            <a:pPr>
              <a:lnSpc>
                <a:spcPct val="115000"/>
              </a:lnSpc>
              <a:spcAft>
                <a:spcPts val="3400"/>
              </a:spcAft>
            </a:pPr>
            <a:r>
              <a:rPr lang="en-US" sz="2500" b="0">
                <a:solidFill>
                  <a:srgbClr val="232B34"/>
                </a:solidFill>
                <a:latin typeface="Arial" panose="020B0604020202020204" pitchFamily="34" charset="0"/>
                <a:ea typeface="Yu Gothic"/>
              </a:rPr>
              <a:t>• Few temperatures and operating flags</a:t>
            </a:r>
          </a:p>
          <a:p>
            <a:pPr>
              <a:lnSpc>
                <a:spcPct val="115000"/>
              </a:lnSpc>
              <a:spcAft>
                <a:spcPts val="3400"/>
              </a:spcAft>
            </a:pPr>
            <a:r>
              <a:rPr lang="en-US" sz="2500" b="0">
                <a:solidFill>
                  <a:srgbClr val="232B34"/>
                </a:solidFill>
                <a:latin typeface="Arial" panose="020B0604020202020204" pitchFamily="34" charset="0"/>
                <a:ea typeface="Yu Gothic"/>
              </a:rPr>
              <a:t>• Small, fixed coefficient set</a:t>
            </a:r>
          </a:p>
          <a:p>
            <a:pPr>
              <a:lnSpc>
                <a:spcPct val="115000"/>
              </a:lnSpc>
              <a:spcAft>
                <a:spcPts val="3400"/>
              </a:spcAft>
            </a:pPr>
            <a:r>
              <a:rPr lang="en-US" sz="2500" b="0">
                <a:solidFill>
                  <a:srgbClr val="232B34"/>
                </a:solidFill>
                <a:latin typeface="Arial" panose="020B0604020202020204" pitchFamily="34" charset="0"/>
                <a:ea typeface="Yu Gothic"/>
              </a:rPr>
              <a:t>• Output: scan-center correction angle</a:t>
            </a:r>
            <a:endParaRPr lang="en-US" sz="2500" b="0" dirty="0">
              <a:solidFill>
                <a:srgbClr val="232B34"/>
              </a:solidFill>
              <a:latin typeface="Arial" panose="020B0604020202020204" pitchFamily="34" charset="0"/>
              <a:ea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366587659"/>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en-US" altLang="ja-JP" sz="2300" b="1">
                          <a:solidFill>
                            <a:srgbClr val="FFFFFF"/>
                          </a:solidFill>
                          <a:latin typeface="Arial" panose="020B0604020202020204" pitchFamily="34" charset="0"/>
                          <a:ea typeface="Yu Gothic"/>
                        </a:rPr>
                        <a:t>Candidate model</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Strengths / limitations</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lang="en-US" sz="2300" b="0">
                          <a:solidFill>
                            <a:srgbClr val="232B34"/>
                          </a:solidFill>
                          <a:latin typeface="Arial" panose="020B0604020202020204" pitchFamily="34" charset="0"/>
                          <a:ea typeface="Yu Gothic"/>
                        </a:rPr>
                        <a:t>Constant bias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Lightweight / cannot represent within-orbit variation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lang="en-US" sz="2300" b="0">
                          <a:solidFill>
                            <a:srgbClr val="232B34"/>
                          </a:solidFill>
                          <a:latin typeface="Arial" panose="020B0604020202020204" pitchFamily="34" charset="0"/>
                          <a:ea typeface="Yu Gothic"/>
                        </a:rPr>
                        <a:t>Fourier series in orbital phase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Represents periodicity / must be rebuilt when orbit or conditions change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lang="en-US" sz="2300" b="0">
                          <a:solidFill>
                            <a:srgbClr val="232B34"/>
                          </a:solidFill>
                          <a:latin typeface="Arial" panose="020B0604020202020204" pitchFamily="34" charset="0"/>
                          <a:ea typeface="Yu Gothic"/>
                        </a:rPr>
                        <a:t>Multiple mounting-point temperatures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Flexible / collinearity with ΔT destabilizes coefficients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lang="en-US" sz="2300" b="0">
                          <a:solidFill>
                            <a:srgbClr val="232B34"/>
                          </a:solidFill>
                          <a:latin typeface="Arial" panose="020B0604020202020204" pitchFamily="34" charset="0"/>
                          <a:ea typeface="Yu Gothic"/>
                        </a:rPr>
                        <a:t>Sun-face temperature 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Physically interpretable / does not fully track variation</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lang="en-US" sz="2300" b="0">
                          <a:solidFill>
                            <a:srgbClr val="232B34"/>
                          </a:solidFill>
                          <a:latin typeface="Arial" panose="020B0604020202020204" pitchFamily="34" charset="0"/>
                          <a:ea typeface="Yu Gothic"/>
                        </a:rPr>
                        <a:t>Sun-face temperature difference ΔT</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Physically interpretable / cannot explain mean offsets across cases</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lang="en-US" sz="2300" b="1">
                          <a:solidFill>
                            <a:srgbClr val="232B34"/>
                          </a:solidFill>
                          <a:latin typeface="Arial" panose="020B0604020202020204" pitchFamily="34" charset="0"/>
                          <a:ea typeface="Yu Gothic"/>
                        </a:rPr>
                        <a:t>Hierarchical ΔT</a:t>
                      </a:r>
                      <a:endParaRPr lang="en-US" sz="2300" b="1" dirty="0" err="1">
                        <a:solidFill>
                          <a:srgbClr val="232B34"/>
                        </a:solidFill>
                        <a:latin typeface="Arial" panose="020B0604020202020204" pitchFamily="34" charset="0"/>
                        <a:ea typeface="Yu Gothic"/>
                      </a:endParaRPr>
                    </a:p>
                  </a:txBody>
                  <a:tcPr marL="64008" marR="64008" marT="27432" marB="27432" anchor="ctr">
                    <a:solidFill>
                      <a:schemeClr val="accent6">
                        <a:lumMod val="20000"/>
                        <a:lumOff val="80000"/>
                      </a:schemeClr>
                    </a:solidFill>
                  </a:tcPr>
                </a:tc>
                <a:tc>
                  <a:txBody>
                    <a:bodyPr/>
                    <a:lstStyle/>
                    <a:p>
                      <a:pPr algn="ctr">
                        <a:spcAft>
                          <a:spcPts val="0"/>
                        </a:spcAft>
                      </a:pPr>
                      <a:r>
                        <a:rPr lang="en-US" sz="2300" b="1">
                          <a:solidFill>
                            <a:srgbClr val="232B34"/>
                          </a:solidFill>
                          <a:latin typeface="Arial" panose="020B0604020202020204" pitchFamily="34" charset="0"/>
                          <a:ea typeface="Yu Gothic"/>
                        </a:rPr>
                        <a:t>Separates within-orbit variation from means across cases</a:t>
                      </a:r>
                      <a:endParaRPr lang="en-US" sz="2300" b="1" dirty="0">
                        <a:solidFill>
                          <a:srgbClr val="232B34"/>
                        </a:solidFill>
                        <a:latin typeface="Arial" panose="020B0604020202020204" pitchFamily="34" charset="0"/>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lang="en-US" sz="3000" b="1">
                <a:solidFill>
                  <a:srgbClr val="082B52"/>
                </a:solidFill>
                <a:latin typeface="Arial" panose="020B0604020202020204" pitchFamily="34" charset="0"/>
                <a:ea typeface="Yu Gothic"/>
              </a:rPr>
              <a:t>→ Adopt a hierarchical model that separately predicts thermal-LOS variation from sun-face–opposite-panel ΔT</a:t>
            </a:r>
            <a:endParaRPr lang="en-US" sz="3000" b="1" dirty="0">
              <a:solidFill>
                <a:srgbClr val="082B52"/>
              </a:solidFill>
              <a:latin typeface="Arial" panose="020B0604020202020204" pitchFamily="34" charset="0"/>
              <a:ea typeface="Yu Gothic"/>
            </a:endParaRPr>
          </a:p>
          <a:p>
            <a:pPr algn="ctr">
              <a:spcAft>
                <a:spcPts val="0"/>
              </a:spcAft>
            </a:pPr>
            <a:r>
              <a:rPr lang="en-US" sz="3000" b="1">
                <a:solidFill>
                  <a:srgbClr val="082B52"/>
                </a:solidFill>
                <a:latin typeface="Arial" panose="020B0604020202020204" pitchFamily="34" charset="0"/>
                <a:ea typeface="Yu Gothic"/>
              </a:rPr>
              <a:t>and thermal-LOS bias from the mean offset across cases</a:t>
            </a:r>
            <a:endParaRPr lang="en-US" altLang="ja-JP" sz="3200" dirty="0">
              <a:latin typeface="Arial" panose="020B0604020202020204" pitchFamily="34" charset="0"/>
            </a:endParaRPr>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Arial" panose="020B0604020202020204" pitchFamily="34" charset="0"/>
            </a:endParaRPr>
          </a:p>
          <a:p>
            <a:pPr algn="l">
              <a:spcAft>
                <a:spcPts val="0"/>
              </a:spcAft>
            </a:pPr>
            <a:r>
              <a:rPr lang="en-US" altLang="ja-JP" sz="3200" b="1">
                <a:solidFill>
                  <a:srgbClr val="082B52"/>
                </a:solidFill>
                <a:latin typeface="Arial" panose="020B0604020202020204" pitchFamily="34" charset="0"/>
              </a:rPr>
              <a:t>Reduced-order model selection</a:t>
            </a:r>
            <a:endParaRPr lang="en-US" altLang="ja-JP" sz="3200" b="1" dirty="0">
              <a:solidFill>
                <a:srgbClr val="082B52"/>
              </a:solidFill>
              <a:latin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19" name="Rounded Rectangle 4">
            <a:extLst>
              <a:ext uri="{FF2B5EF4-FFF2-40B4-BE49-F238E27FC236}">
                <a16:creationId xmlns:a16="http://schemas.microsoft.com/office/drawing/2014/main" id="{1692870B-777D-D90D-9A38-0B6DE0C05ABA}"/>
              </a:ext>
            </a:extLst>
          </p:cNvPr>
          <p:cNvSpPr/>
          <p:nvPr/>
        </p:nvSpPr>
        <p:spPr>
          <a:xfrm>
            <a:off x="1280160" y="5647944"/>
            <a:ext cx="21762720" cy="2421523"/>
          </a:xfrm>
          <a:prstGeom prst="roundRect">
            <a:avLst/>
          </a:prstGeom>
          <a:solidFill>
            <a:schemeClr val="accent4">
              <a:lumMod val="20000"/>
              <a:lumOff val="80000"/>
            </a:schemeClr>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r>
              <a:rPr lang="en-US" altLang="ja-JP" sz="3200" b="1">
                <a:solidFill>
                  <a:srgbClr val="082B52"/>
                </a:solidFill>
                <a:latin typeface="Arial" panose="020B0604020202020204" pitchFamily="34" charset="0"/>
                <a:ea typeface="Yu Gothic"/>
              </a:rPr>
              <a:t> Hierarchical </a:t>
            </a:r>
            <a:r>
              <a:rPr lang="en-US" altLang="ja-JP" sz="3200" b="1" dirty="0">
                <a:solidFill>
                  <a:srgbClr val="082B52"/>
                </a:solidFill>
                <a:latin typeface="Arial" panose="020B0604020202020204" pitchFamily="34" charset="0"/>
                <a:ea typeface="Yu Gothic"/>
              </a:rPr>
              <a:t>ΔT </a:t>
            </a:r>
            <a:r>
              <a:rPr lang="en-US" altLang="ja-JP" sz="3200" b="1">
                <a:solidFill>
                  <a:srgbClr val="082B52"/>
                </a:solidFill>
                <a:latin typeface="Arial" panose="020B0604020202020204" pitchFamily="34" charset="0"/>
                <a:ea typeface="Yu Gothic"/>
              </a:rPr>
              <a:t>model  separates time-varying and bias terms using ΔT and operating flags</a:t>
            </a:r>
            <a:endParaRPr lang="en-US" altLang="ja-JP" sz="3200" b="1" dirty="0">
              <a:solidFill>
                <a:srgbClr val="082B52"/>
              </a:solidFill>
              <a:latin typeface="Arial" panose="020B0604020202020204" pitchFamily="34" charset="0"/>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14</a:t>
            </a:r>
            <a:endParaRPr sz="1800" b="0" dirty="0">
              <a:solidFill>
                <a:srgbClr val="666F79"/>
              </a:solidFill>
              <a:latin typeface="Arial" panose="020B0604020202020204" pitchFamily="34" charset="0"/>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692998"/>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6014815" y="4317180"/>
                <a:ext cx="12384864" cy="102534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dirty="0">
                    <a:solidFill>
                      <a:schemeClr val="bg2"/>
                    </a:solidFill>
                    <a:latin typeface="Arial" panose="020B0604020202020204" pitchFamily="34" charset="0"/>
                  </a:rPr>
                  <a:t>Assumption: onboard panel-center thermocouples</a:t>
                </a: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6014815" y="4317180"/>
                <a:ext cx="12384864" cy="1025345"/>
              </a:xfrm>
              <a:prstGeom prst="rect">
                <a:avLst/>
              </a:prstGeom>
              <a:blipFill>
                <a:blip r:embed="rId3"/>
                <a:stretch>
                  <a:fillRect r="-1477" b="-17262"/>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1361976"/>
          </a:xfrm>
          <a:prstGeom prst="rect">
            <a:avLst/>
          </a:prstGeom>
          <a:noFill/>
        </p:spPr>
        <p:txBody>
          <a:bodyPr wrap="square" lIns="36576" tIns="27432" rIns="36576" bIns="27432" anchor="t">
            <a:spAutoFit/>
          </a:bodyPr>
          <a:lstStyle/>
          <a:p>
            <a:pPr algn="ctr">
              <a:lnSpc>
                <a:spcPct val="110000"/>
              </a:lnSpc>
              <a:spcAft>
                <a:spcPts val="400"/>
              </a:spcAft>
            </a:pPr>
            <a:r>
              <a:rPr lang="en-US" sz="2400" b="0">
                <a:solidFill>
                  <a:srgbClr val="232B34"/>
                </a:solidFill>
                <a:latin typeface="Arial" panose="020B0604020202020204" pitchFamily="34" charset="0"/>
                <a:ea typeface="Yu Gothic"/>
              </a:rPr>
              <a:t>Sensitivity a(sun)</a:t>
            </a:r>
            <a:endParaRPr lang="en-US" sz="2500" b="0">
              <a:solidFill>
                <a:srgbClr val="232B34"/>
              </a:solidFill>
              <a:latin typeface="Arial" panose="020B0604020202020204" pitchFamily="34" charset="0"/>
            </a:endParaRPr>
          </a:p>
          <a:p>
            <a:pPr algn="ctr">
              <a:lnSpc>
                <a:spcPct val="110000"/>
              </a:lnSpc>
              <a:spcAft>
                <a:spcPts val="400"/>
              </a:spcAft>
            </a:pPr>
            <a:r>
              <a:rPr lang="en-US" sz="2400" b="0">
                <a:solidFill>
                  <a:srgbClr val="232B34"/>
                </a:solidFill>
                <a:latin typeface="Arial" panose="020B0604020202020204" pitchFamily="34" charset="0"/>
                <a:ea typeface="Yu Gothic"/>
              </a:rPr>
              <a:t>Shared by sun face</a:t>
            </a:r>
          </a:p>
          <a:p>
            <a:pPr algn="ctr">
              <a:lnSpc>
                <a:spcPct val="110000"/>
              </a:lnSpc>
              <a:spcAft>
                <a:spcPts val="400"/>
              </a:spcAft>
            </a:pPr>
            <a:r>
              <a:rPr lang="en-US" sz="2400" b="0">
                <a:solidFill>
                  <a:srgbClr val="232B34"/>
                </a:solidFill>
                <a:latin typeface="Arial" panose="020B0604020202020204" pitchFamily="34" charset="0"/>
                <a:ea typeface="Yu Gothic"/>
              </a:rPr>
              <a:t>+30.6, +28.6, −28.1, −28.7 µrad/K</a:t>
            </a:r>
            <a:endParaRPr lang="en-US" sz="2400" b="0" dirty="0">
              <a:solidFill>
                <a:srgbClr val="232B34"/>
              </a:solidFill>
              <a:latin typeface="Arial" panose="020B0604020202020204" pitchFamily="34" charset="0"/>
              <a:ea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lang="en-US" sz="2400" b="0">
                <a:solidFill>
                  <a:srgbClr val="232B34"/>
                </a:solidFill>
                <a:latin typeface="Arial" panose="020B0604020202020204" pitchFamily="34" charset="0"/>
                <a:ea typeface="Yu Gothic"/>
              </a:rPr>
              <a:t>Case-dependent DC offset</a:t>
            </a:r>
            <a:endParaRPr lang="en-US" altLang="ja-JP" sz="2800" dirty="0">
              <a:latin typeface="Arial" panose="020B0604020202020204" pitchFamily="34" charset="0"/>
            </a:endParaRPr>
          </a:p>
          <a:p>
            <a:pPr algn="ctr">
              <a:lnSpc>
                <a:spcPct val="110000"/>
              </a:lnSpc>
              <a:spcAft>
                <a:spcPts val="400"/>
              </a:spcAft>
            </a:pPr>
            <a:r>
              <a:rPr lang="en-US" sz="2400" b="0">
                <a:solidFill>
                  <a:srgbClr val="232B34"/>
                </a:solidFill>
                <a:latin typeface="Arial" panose="020B0604020202020204" pitchFamily="34" charset="0"/>
                <a:ea typeface="Yu Gothic"/>
              </a:rPr>
              <a:t>From sun face and ON/OFF flags</a:t>
            </a:r>
          </a:p>
          <a:p>
            <a:pPr algn="ctr">
              <a:lnSpc>
                <a:spcPct val="110000"/>
              </a:lnSpc>
              <a:spcAft>
                <a:spcPts val="400"/>
              </a:spcAft>
            </a:pPr>
            <a:r>
              <a:rPr lang="en-US" altLang="ja-JP" sz="2400" b="0">
                <a:solidFill>
                  <a:srgbClr val="232B34"/>
                </a:solidFill>
                <a:latin typeface="Arial" panose="020B0604020202020204" pitchFamily="34" charset="0"/>
                <a:ea typeface="Yu Gothic"/>
              </a:rPr>
              <a:t>Decomposed by the equation above</a:t>
            </a:r>
            <a:endParaRPr lang="en-US" sz="2400" b="0" dirty="0">
              <a:solidFill>
                <a:srgbClr val="232B34"/>
              </a:solidFill>
              <a:latin typeface="Arial" panose="020B0604020202020204" pitchFamily="34" charset="0"/>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455509"/>
          </a:xfrm>
          <a:prstGeom prst="rect">
            <a:avLst/>
          </a:prstGeom>
          <a:noFill/>
        </p:spPr>
        <p:txBody>
          <a:bodyPr wrap="square" lIns="36576" tIns="27432" rIns="36576" bIns="27432" anchor="t">
            <a:spAutoFit/>
          </a:bodyPr>
          <a:lstStyle/>
          <a:p>
            <a:pPr algn="ctr">
              <a:spcAft>
                <a:spcPts val="0"/>
              </a:spcAft>
            </a:pPr>
            <a:r>
              <a:rPr lang="en-US" sz="2600" b="1">
                <a:solidFill>
                  <a:srgbClr val="239571"/>
                </a:solidFill>
                <a:latin typeface="Arial" panose="020B0604020202020204" pitchFamily="34" charset="0"/>
                <a:ea typeface="Yu Gothic"/>
              </a:rPr>
              <a:t>Dominant-axis selection</a:t>
            </a:r>
            <a:endParaRPr lang="en-US" sz="2600" b="1" dirty="0">
              <a:solidFill>
                <a:srgbClr val="239571"/>
              </a:solidFill>
              <a:latin typeface="Arial" panose="020B0604020202020204" pitchFamily="34" charset="0"/>
              <a:ea typeface="Yu Gothic"/>
            </a:endParaRP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lang="en-US" sz="2100" b="0">
                <a:solidFill>
                  <a:srgbClr val="232B34"/>
                </a:solidFill>
                <a:latin typeface="Arial" panose="020B0604020202020204" pitchFamily="34" charset="0"/>
                <a:ea typeface="Yu Gothic"/>
              </a:rPr>
              <a:t>Prediction axis from sun face</a:t>
            </a:r>
            <a:endParaRPr lang="en-US" sz="2500" b="0">
              <a:solidFill>
                <a:srgbClr val="232B34"/>
              </a:solidFill>
              <a:latin typeface="Arial" panose="020B0604020202020204" pitchFamily="34" charset="0"/>
            </a:endParaRPr>
          </a:p>
          <a:p>
            <a:pPr algn="ctr">
              <a:lnSpc>
                <a:spcPct val="110000"/>
              </a:lnSpc>
              <a:spcAft>
                <a:spcPts val="200"/>
              </a:spcAft>
            </a:pPr>
            <a:r>
              <a:rPr lang="en-US" sz="2100" b="0">
                <a:solidFill>
                  <a:srgbClr val="232B34"/>
                </a:solidFill>
                <a:latin typeface="Arial" panose="020B0604020202020204" pitchFamily="34" charset="0"/>
                <a:ea typeface="Yu Gothic"/>
              </a:rPr>
              <a:t>MX/PX → x; MY/PY → y</a:t>
            </a:r>
          </a:p>
          <a:p>
            <a:pPr algn="ctr">
              <a:lnSpc>
                <a:spcPct val="110000"/>
              </a:lnSpc>
              <a:spcAft>
                <a:spcPts val="200"/>
              </a:spcAft>
            </a:pPr>
            <a:r>
              <a:rPr lang="en-US" sz="2100" b="0">
                <a:solidFill>
                  <a:srgbClr val="232B34"/>
                </a:solidFill>
                <a:latin typeface="Arial" panose="020B0604020202020204" pitchFamily="34" charset="0"/>
                <a:ea typeface="Yu Gothic"/>
              </a:rPr>
              <a:t>Non-dominant axis: bias only</a:t>
            </a:r>
          </a:p>
          <a:p>
            <a:pPr algn="ctr">
              <a:lnSpc>
                <a:spcPct val="110000"/>
              </a:lnSpc>
              <a:spcAft>
                <a:spcPts val="200"/>
              </a:spcAft>
            </a:pPr>
            <a:r>
              <a:rPr lang="en-US" sz="2100" b="0">
                <a:solidFill>
                  <a:srgbClr val="232B34"/>
                </a:solidFill>
                <a:latin typeface="Arial" panose="020B0604020202020204" pitchFamily="34" charset="0"/>
                <a:ea typeface="Yu Gothic"/>
              </a:rPr>
              <a:t>MX/PX bias ≈ −600 µrad;</a:t>
            </a:r>
          </a:p>
          <a:p>
            <a:pPr algn="ctr">
              <a:lnSpc>
                <a:spcPct val="110000"/>
              </a:lnSpc>
              <a:spcAft>
                <a:spcPts val="200"/>
              </a:spcAft>
            </a:pPr>
            <a:r>
              <a:rPr lang="en-US" sz="2100" b="0">
                <a:solidFill>
                  <a:srgbClr val="232B34"/>
                </a:solidFill>
                <a:latin typeface="Arial" panose="020B0604020202020204" pitchFamily="34" charset="0"/>
                <a:ea typeface="Yu Gothic"/>
              </a:rPr>
              <a:t>zeroing it degrades acquisition</a:t>
            </a:r>
            <a:endParaRPr lang="en-US" sz="2100" b="0" dirty="0">
              <a:solidFill>
                <a:srgbClr val="232B34"/>
              </a:solidFill>
              <a:latin typeface="Arial" panose="020B0604020202020204" pitchFamily="34" charset="0"/>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379916"/>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FF0000"/>
                              </a:solidFill>
                              <a:latin typeface="Cambria Math" panose="02040503050406030204" pitchFamily="18" charset="0"/>
                            </a:rPr>
                          </m:ctrlPr>
                        </m:sSubPr>
                        <m:e>
                          <m:r>
                            <a:rPr lang="ja-JP" altLang="en-US" sz="4400" b="1" i="1" dirty="0" err="1">
                              <a:solidFill>
                                <a:srgbClr val="FF0000"/>
                              </a:solidFill>
                              <a:latin typeface="Cambria Math" panose="02040503050406030204" pitchFamily="18" charset="0"/>
                            </a:rPr>
                            <m:t>𝒃</m:t>
                          </m:r>
                        </m:e>
                        <m:sub>
                          <m:r>
                            <a:rPr lang="ja-JP" altLang="en-US" sz="4400" b="1" i="1" dirty="0" err="1">
                              <a:solidFill>
                                <a:srgbClr val="FF0000"/>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379916"/>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53998"/>
          </a:xfrm>
          <a:prstGeom prst="rect">
            <a:avLst/>
          </a:prstGeom>
          <a:noFill/>
        </p:spPr>
        <p:txBody>
          <a:bodyPr wrap="square">
            <a:spAutoFit/>
          </a:bodyPr>
          <a:lstStyle/>
          <a:p>
            <a:pPr algn="ctr">
              <a:spcAft>
                <a:spcPts val="0"/>
              </a:spcAft>
              <a:buNone/>
            </a:pPr>
            <a:r>
              <a:rPr lang="en-US" sz="3000" b="1">
                <a:solidFill>
                  <a:srgbClr val="082B52"/>
                </a:solidFill>
                <a:latin typeface="Arial" panose="020B0604020202020204" pitchFamily="34" charset="0"/>
                <a:ea typeface="Yu Gothic"/>
              </a:rPr>
              <a:t>Panel ΔT: time variation · DC offset: cross-case differences</a:t>
            </a:r>
            <a:endParaRPr lang="en-US" altLang="ja-JP" sz="32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6" name="TextBox 5"/>
              <p:cNvSpPr txBox="1"/>
              <p:nvPr/>
            </p:nvSpPr>
            <p:spPr>
              <a:xfrm>
                <a:off x="5955368" y="6289373"/>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FF0000"/>
                              </a:solidFill>
                              <a:latin typeface="Cambria Math" panose="02040503050406030204" pitchFamily="18" charset="0"/>
                            </a:rPr>
                          </m:ctrlPr>
                        </m:sSubPr>
                        <m:e>
                          <m:r>
                            <a:rPr lang="en-US" sz="4400" b="1" i="1" dirty="0" smtClean="0">
                              <a:solidFill>
                                <a:srgbClr val="FF0000"/>
                              </a:solidFill>
                              <a:latin typeface="Cambria Math" panose="02040503050406030204" pitchFamily="18" charset="0"/>
                            </a:rPr>
                            <m:t>𝒃</m:t>
                          </m:r>
                        </m:e>
                        <m:sub>
                          <m:r>
                            <a:rPr lang="en-US" sz="4400" b="1" i="1" dirty="0" err="1" smtClean="0">
                              <a:solidFill>
                                <a:srgbClr val="FF0000"/>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6289373"/>
                <a:ext cx="12412309" cy="796628"/>
              </a:xfrm>
              <a:prstGeom prst="rect">
                <a:avLst/>
              </a:prstGeom>
              <a:blipFill>
                <a:blip r:embed="rId7"/>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360099"/>
          </a:xfrm>
          <a:prstGeom prst="rect">
            <a:avLst/>
          </a:prstGeom>
          <a:noFill/>
        </p:spPr>
        <p:txBody>
          <a:bodyPr wrap="square" lIns="45720" tIns="18288" rIns="45720" bIns="18288" anchor="t">
            <a:spAutoFit/>
          </a:bodyPr>
          <a:lstStyle/>
          <a:p>
            <a:pPr algn="ctr">
              <a:spcAft>
                <a:spcPts val="0"/>
              </a:spcAft>
            </a:pPr>
            <a:r>
              <a:rPr lang="en-US" sz="2100" b="0">
                <a:solidFill>
                  <a:srgbClr val="666F79"/>
                </a:solidFill>
                <a:latin typeface="Arial" panose="020B0604020202020204" pitchFamily="34" charset="0"/>
                <a:ea typeface="Yu Gothic"/>
              </a:rPr>
              <a:t>16 coefficients; specific to this structure, placement, and LOS definition</a:t>
            </a:r>
            <a:endParaRPr lang="en-US" sz="2100" b="0" dirty="0">
              <a:solidFill>
                <a:srgbClr val="666F79"/>
              </a:solidFill>
              <a:latin typeface="Arial" panose="020B0604020202020204" pitchFamily="34" charset="0"/>
              <a:ea typeface="Yu Gothic"/>
            </a:endParaRP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000603"/>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4">
                                <a:lumMod val="50000"/>
                              </a:schemeClr>
                            </a:solidFill>
                            <a:latin typeface="Cambria Math" panose="02040503050406030204" pitchFamily="18" charset="0"/>
                          </a:rPr>
                        </m:ctrlPr>
                      </m:sSubPr>
                      <m:e>
                        <m:r>
                          <a:rPr lang="en-US" altLang="ja-JP" sz="3200" b="1" i="1" dirty="0">
                            <a:solidFill>
                              <a:schemeClr val="accent4">
                                <a:lumMod val="50000"/>
                              </a:schemeClr>
                            </a:solidFill>
                            <a:latin typeface="Cambria Math" panose="02040503050406030204" pitchFamily="18" charset="0"/>
                          </a:rPr>
                          <m:t>𝑰</m:t>
                        </m:r>
                      </m:e>
                      <m:sub>
                        <m:r>
                          <a:rPr lang="en-US" altLang="ja-JP" sz="3200" b="1" i="1" dirty="0">
                            <a:solidFill>
                              <a:schemeClr val="accent4">
                                <a:lumMod val="50000"/>
                              </a:schemeClr>
                            </a:solidFill>
                            <a:latin typeface="Cambria Math" panose="02040503050406030204" pitchFamily="18" charset="0"/>
                          </a:rPr>
                          <m:t>𝑷𝑹𝑶</m:t>
                        </m:r>
                        <m:r>
                          <a:rPr lang="en-US" altLang="ja-JP" sz="3200" b="1" i="1" dirty="0" smtClean="0">
                            <a:solidFill>
                              <a:schemeClr val="accent4">
                                <a:lumMod val="50000"/>
                              </a:schemeClr>
                            </a:solidFill>
                            <a:latin typeface="Cambria Math" panose="02040503050406030204" pitchFamily="18" charset="0"/>
                          </a:rPr>
                          <m:t>𝑷</m:t>
                        </m:r>
                      </m:sub>
                    </m:sSub>
                    <m:r>
                      <a:rPr lang="en-US" altLang="ja-JP" sz="3200" b="1" i="1" dirty="0" smtClean="0">
                        <a:solidFill>
                          <a:schemeClr val="accent4">
                            <a:lumMod val="50000"/>
                          </a:schemeClr>
                        </a:solidFill>
                        <a:latin typeface="Cambria Math" panose="02040503050406030204" pitchFamily="18" charset="0"/>
                      </a:rPr>
                      <m:t>, </m:t>
                    </m:r>
                    <m:sSub>
                      <m:sSubPr>
                        <m:ctrlPr>
                          <a:rPr lang="en-US" altLang="ja-JP" sz="3200" b="1" i="1" dirty="0" smtClean="0">
                            <a:solidFill>
                              <a:schemeClr val="accent4">
                                <a:lumMod val="50000"/>
                              </a:schemeClr>
                            </a:solidFill>
                            <a:latin typeface="Cambria Math" panose="02040503050406030204" pitchFamily="18" charset="0"/>
                          </a:rPr>
                        </m:ctrlPr>
                      </m:sSubPr>
                      <m:e>
                        <m:r>
                          <a:rPr lang="en-US" altLang="ja-JP" sz="3200" b="1" i="1" dirty="0" smtClean="0">
                            <a:solidFill>
                              <a:schemeClr val="accent4">
                                <a:lumMod val="50000"/>
                              </a:schemeClr>
                            </a:solidFill>
                            <a:latin typeface="Cambria Math" panose="02040503050406030204" pitchFamily="18" charset="0"/>
                          </a:rPr>
                          <m:t>𝑰</m:t>
                        </m:r>
                      </m:e>
                      <m:sub>
                        <m:r>
                          <a:rPr lang="en-US" altLang="ja-JP" sz="3200" b="1" i="1" dirty="0" smtClean="0">
                            <a:solidFill>
                              <a:schemeClr val="accent4">
                                <a:lumMod val="50000"/>
                              </a:schemeClr>
                            </a:solidFill>
                            <a:latin typeface="Cambria Math" panose="02040503050406030204" pitchFamily="18" charset="0"/>
                          </a:rPr>
                          <m:t>𝑷𝑪𝑫𝑼</m:t>
                        </m:r>
                      </m:sub>
                    </m:sSub>
                    <m:r>
                      <a:rPr lang="ja-JP" altLang="en-US" sz="3200" b="1" i="1" dirty="0" smtClean="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𝑢𝑛𝑖𝑡</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𝑝𝑜𝑤𝑒𝑟</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𝑠𝑡𝑎𝑡𝑒</m:t>
                    </m:r>
                    <m:r>
                      <a:rPr lang="ja-JP" altLang="en-US" sz="3200" b="1" i="1" dirty="0">
                        <a:solidFill>
                          <a:schemeClr val="accent4">
                            <a:lumMod val="50000"/>
                          </a:schemeClr>
                        </a:solidFill>
                        <a:latin typeface="Cambria Math" panose="02040503050406030204" pitchFamily="18" charset="0"/>
                      </a:rPr>
                      <m:t> (</m:t>
                    </m:r>
                  </m:oMath>
                </a14:m>
                <a:r>
                  <a:rPr lang="en-US" altLang="ja-JP" sz="3200" dirty="0">
                    <a:solidFill>
                      <a:schemeClr val="accent4">
                        <a:lumMod val="50000"/>
                      </a:schemeClr>
                    </a:solidFill>
                    <a:latin typeface="Arial" panose="020B0604020202020204" pitchFamily="34" charset="0"/>
                  </a:rPr>
                  <a:t>ON/OFF)</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000603"/>
                <a:ext cx="12192000" cy="586699"/>
              </a:xfrm>
              <a:prstGeom prst="rect">
                <a:avLst/>
              </a:prstGeom>
              <a:blipFill>
                <a:blip r:embed="rId8"/>
                <a:stretch>
                  <a:fillRect t="-13402" b="-31959"/>
                </a:stretch>
              </a:blipFill>
            </p:spPr>
            <p:txBody>
              <a:bodyPr/>
              <a:lstStyle/>
              <a:p>
                <a:r>
                  <a:rPr lang="ja-JP" altLang="en-US">
                    <a:noFill/>
                  </a:rPr>
                  <a:t> </a:t>
                </a:r>
              </a:p>
            </p:txBody>
          </p:sp>
        </mc:Fallback>
      </mc:AlternateContent>
      <p:sp>
        <p:nvSpPr>
          <p:cNvPr id="21" name="テキスト ボックス 20">
            <a:extLst>
              <a:ext uri="{FF2B5EF4-FFF2-40B4-BE49-F238E27FC236}">
                <a16:creationId xmlns:a16="http://schemas.microsoft.com/office/drawing/2014/main" id="{630ECF95-90FC-E07D-3157-676DB548B32D}"/>
              </a:ext>
            </a:extLst>
          </p:cNvPr>
          <p:cNvSpPr txBox="1"/>
          <p:nvPr/>
        </p:nvSpPr>
        <p:spPr>
          <a:xfrm>
            <a:off x="1505572" y="3025973"/>
            <a:ext cx="3066428"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1st step: time-varying</a:t>
            </a:r>
            <a:endParaRPr kumimoji="1" lang="ja-JP" altLang="en-US" sz="4000" dirty="0">
              <a:latin typeface="Arial" panose="020B0604020202020204" pitchFamily="34" charset="0"/>
              <a:cs typeface="Arial" panose="020B0604020202020204" pitchFamily="34" charset="0"/>
            </a:endParaRPr>
          </a:p>
        </p:txBody>
      </p:sp>
      <p:sp>
        <p:nvSpPr>
          <p:cNvPr id="25" name="テキスト ボックス 24">
            <a:extLst>
              <a:ext uri="{FF2B5EF4-FFF2-40B4-BE49-F238E27FC236}">
                <a16:creationId xmlns:a16="http://schemas.microsoft.com/office/drawing/2014/main" id="{5A01ED33-E65D-57DA-3609-35DC33FCD660}"/>
              </a:ext>
            </a:extLst>
          </p:cNvPr>
          <p:cNvSpPr txBox="1"/>
          <p:nvPr/>
        </p:nvSpPr>
        <p:spPr>
          <a:xfrm>
            <a:off x="1585431" y="5878361"/>
            <a:ext cx="2615609"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2nd step: bias</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r>
              <a:rPr lang="en-US" altLang="ja-JP" sz="3200" b="1">
                <a:latin typeface="Arial" panose="020B0604020202020204" pitchFamily="34" charset="0"/>
              </a:rPr>
              <a:t>The test case is excluded from all coefficient estimates to evaluate prediction under unseen conditions</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15</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452432"/>
          </a:xfrm>
          <a:prstGeom prst="rect">
            <a:avLst/>
          </a:prstGeom>
          <a:noFill/>
        </p:spPr>
        <p:txBody>
          <a:bodyPr wrap="square" lIns="45720" tIns="18288" rIns="45720" bIns="18288" anchor="t">
            <a:spAutoFit/>
          </a:bodyPr>
          <a:lstStyle/>
          <a:p>
            <a:pPr algn="ctr">
              <a:spcAft>
                <a:spcPts val="0"/>
              </a:spcAft>
            </a:pPr>
            <a:r>
              <a:rPr lang="en-US" sz="2700" b="1">
                <a:solidFill>
                  <a:srgbClr val="239571"/>
                </a:solidFill>
                <a:latin typeface="Arial" panose="020B0604020202020204" pitchFamily="34" charset="0"/>
                <a:ea typeface="Yu Gothic"/>
              </a:rPr>
              <a:t>① Fit each case</a:t>
            </a:r>
            <a:endParaRPr lang="en-US" sz="2700" b="1" dirty="0">
              <a:solidFill>
                <a:srgbClr val="239571"/>
              </a:solidFill>
              <a:latin typeface="Arial" panose="020B0604020202020204" pitchFamily="34" charset="0"/>
              <a:ea typeface="Yu Gothic"/>
            </a:endParaRPr>
          </a:p>
        </p:txBody>
      </p:sp>
      <p:sp>
        <p:nvSpPr>
          <p:cNvPr id="7" name="TextBox 6"/>
          <p:cNvSpPr txBox="1"/>
          <p:nvPr/>
        </p:nvSpPr>
        <p:spPr>
          <a:xfrm>
            <a:off x="1856231" y="4617720"/>
            <a:ext cx="5641848" cy="1274964"/>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Use the first orbit of each case
to estimate its sensitivity a
and mean b</a:t>
            </a:r>
            <a:endParaRPr lang="en-US" sz="2400" b="0" dirty="0">
              <a:solidFill>
                <a:srgbClr val="232B34"/>
              </a:solidFill>
              <a:latin typeface="Arial" panose="020B0604020202020204" pitchFamily="34" charset="0"/>
              <a:ea typeface="Yu Gothic"/>
            </a:endParaRP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452432"/>
          </a:xfrm>
          <a:prstGeom prst="rect">
            <a:avLst/>
          </a:prstGeom>
          <a:noFill/>
        </p:spPr>
        <p:txBody>
          <a:bodyPr wrap="square" lIns="45720" tIns="18288" rIns="45720" bIns="18288" anchor="t">
            <a:spAutoFit/>
          </a:bodyPr>
          <a:lstStyle/>
          <a:p>
            <a:pPr algn="ctr">
              <a:spcAft>
                <a:spcPts val="0"/>
              </a:spcAft>
            </a:pPr>
            <a:r>
              <a:rPr lang="en-US" sz="2700" b="1">
                <a:solidFill>
                  <a:srgbClr val="1B74AA"/>
                </a:solidFill>
                <a:latin typeface="Arial" panose="020B0604020202020204" pitchFamily="34" charset="0"/>
                <a:ea typeface="Yu Gothic"/>
              </a:rPr>
              <a:t>② Share within each sun face</a:t>
            </a:r>
            <a:endParaRPr lang="en-US" sz="2700" b="1" dirty="0">
              <a:solidFill>
                <a:srgbClr val="1B74AA"/>
              </a:solidFill>
              <a:latin typeface="Arial" panose="020B0604020202020204" pitchFamily="34" charset="0"/>
              <a:ea typeface="Yu Gothic"/>
            </a:endParaRPr>
          </a:p>
        </p:txBody>
      </p:sp>
      <p:sp>
        <p:nvSpPr>
          <p:cNvPr id="10" name="TextBox 9"/>
          <p:cNvSpPr txBox="1"/>
          <p:nvPr/>
        </p:nvSpPr>
        <p:spPr>
          <a:xfrm>
            <a:off x="8732520" y="4617720"/>
            <a:ext cx="6108192" cy="2124428"/>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Median a within each sun face
becomes the shared sensitivity
Fit mean b across cases from
sun face and dissipation flags</a:t>
            </a:r>
            <a:endParaRPr lang="en-US" sz="2400" b="0" dirty="0">
              <a:solidFill>
                <a:srgbClr val="232B34"/>
              </a:solidFill>
              <a:latin typeface="Arial" panose="020B0604020202020204" pitchFamily="34" charset="0"/>
              <a:ea typeface="Yu Gothic"/>
            </a:endParaRP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452432"/>
          </a:xfrm>
          <a:prstGeom prst="rect">
            <a:avLst/>
          </a:prstGeom>
          <a:noFill/>
        </p:spPr>
        <p:txBody>
          <a:bodyPr wrap="square" lIns="45720" tIns="18288" rIns="45720" bIns="18288" anchor="t">
            <a:spAutoFit/>
          </a:bodyPr>
          <a:lstStyle/>
          <a:p>
            <a:pPr algn="ctr">
              <a:spcAft>
                <a:spcPts val="0"/>
              </a:spcAft>
            </a:pPr>
            <a:r>
              <a:rPr lang="en-US" sz="2700" b="1">
                <a:solidFill>
                  <a:srgbClr val="EC9427"/>
                </a:solidFill>
                <a:latin typeface="Arial" panose="020B0604020202020204" pitchFamily="34" charset="0"/>
                <a:ea typeface="Yu Gothic"/>
              </a:rPr>
              <a:t>③ Test an unseen case</a:t>
            </a:r>
            <a:endParaRPr lang="en-US" sz="2700" b="1" dirty="0">
              <a:solidFill>
                <a:srgbClr val="EC9427"/>
              </a:solidFill>
              <a:latin typeface="Arial" panose="020B0604020202020204" pitchFamily="34" charset="0"/>
              <a:ea typeface="Yu Gothic"/>
            </a:endParaRPr>
          </a:p>
        </p:txBody>
      </p:sp>
      <p:sp>
        <p:nvSpPr>
          <p:cNvPr id="13" name="TextBox 12"/>
          <p:cNvSpPr txBox="1"/>
          <p:nvPr/>
        </p:nvSpPr>
        <p:spPr>
          <a:xfrm>
            <a:off x="16056864" y="4617720"/>
            <a:ext cx="6464808" cy="2549159"/>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nested leave-one-case-out
Exclude the test case from shared sensitivity
and both-axis mean models
Evaluate its next two orbits</a:t>
            </a:r>
            <a:endParaRPr lang="en-US" sz="2400" b="0" dirty="0">
              <a:solidFill>
                <a:srgbClr val="232B34"/>
              </a:solidFill>
              <a:latin typeface="Arial" panose="020B0604020202020204" pitchFamily="34" charset="0"/>
              <a:ea typeface="Yu Gothic"/>
            </a:endParaRP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en-US" altLang="ja-JP" sz="2800" b="1">
                <a:latin typeface="Arial" panose="020B0604020202020204" pitchFamily="34" charset="0"/>
              </a:rPr>
              <a:t>Evaluate how well fixed shared coefficients predict unseen operating conditions</a:t>
            </a:r>
            <a:endParaRPr lang="en-US" altLang="ja-JP" sz="2800" dirty="0">
              <a:latin typeface="Arial" panose="020B0604020202020204" pitchFamily="34" charset="0"/>
            </a:endParaRPr>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en-US" altLang="ja-JP" sz="2400">
                <a:latin typeface="Arial" panose="020B0604020202020204" pitchFamily="34" charset="0"/>
              </a:rPr>
              <a:t>Across-condition evaluation within the same structure and LOS definition</a:t>
            </a:r>
            <a:endParaRPr lang="en-US" altLang="ja-JP" sz="2400" dirty="0">
              <a:latin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For unseen cases, median dominant-axis error is 4.9 µrad—one to two orders below the raw 615 µrad</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16</a:t>
            </a: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1B74AA"/>
                </a:solidFill>
                <a:latin typeface="Arial" panose="020B0604020202020204" pitchFamily="34" charset="0"/>
                <a:ea typeface="Yu Gothic"/>
              </a:rPr>
              <a:t>Sun-face sensitivities a (case-specific and shared)</a:t>
            </a:r>
            <a:endParaRPr lang="en-US" sz="2100" b="1" dirty="0" err="1">
              <a:solidFill>
                <a:srgbClr val="1B74AA"/>
              </a:solidFill>
              <a:latin typeface="Arial" panose="020B0604020202020204" pitchFamily="34" charset="0"/>
              <a:ea typeface="Yu Gothic"/>
            </a:endParaRP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239571"/>
                </a:solidFill>
                <a:latin typeface="Arial" panose="020B0604020202020204" pitchFamily="34" charset="0"/>
                <a:ea typeface="Yu Gothic"/>
              </a:rPr>
              <a:t>Case bias b: empirical versus predicted</a:t>
            </a:r>
            <a:endParaRPr lang="en-US" sz="2100" b="1" dirty="0">
              <a:solidFill>
                <a:srgbClr val="239571"/>
              </a:solidFill>
              <a:latin typeface="Arial" panose="020B0604020202020204" pitchFamily="34" charset="0"/>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1B74AA"/>
                </a:solidFill>
                <a:latin typeface="Arial" panose="020B0604020202020204" pitchFamily="34" charset="0"/>
                <a:ea typeface="Yu Gothic"/>
              </a:rPr>
              <a:t>615 µrad</a:t>
            </a:r>
            <a:endParaRPr lang="en-US" sz="3200" b="1" dirty="0">
              <a:solidFill>
                <a:srgbClr val="1B74AA"/>
              </a:solidFill>
              <a:latin typeface="Arial" panose="020B0604020202020204" pitchFamily="34" charset="0"/>
              <a:ea typeface="Yu Gothic"/>
            </a:endParaRPr>
          </a:p>
        </p:txBody>
      </p:sp>
      <p:sp>
        <p:nvSpPr>
          <p:cNvPr id="13" name="TextBox 12"/>
          <p:cNvSpPr txBox="1"/>
          <p:nvPr/>
        </p:nvSpPr>
        <p:spPr>
          <a:xfrm>
            <a:off x="1572768" y="11056924"/>
            <a:ext cx="6364224"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Median raw dominant-axis LOS RMS</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239571"/>
                </a:solidFill>
                <a:latin typeface="Arial" panose="020B0604020202020204" pitchFamily="34" charset="0"/>
                <a:ea typeface="Yu Gothic"/>
              </a:rPr>
              <a:t>4.9 µrad</a:t>
            </a:r>
            <a:endParaRPr lang="en-US" sz="3200" b="1" dirty="0">
              <a:solidFill>
                <a:srgbClr val="239571"/>
              </a:solidFill>
              <a:latin typeface="Arial" panose="020B0604020202020204" pitchFamily="34" charset="0"/>
              <a:ea typeface="Yu Gothic"/>
            </a:endParaRPr>
          </a:p>
        </p:txBody>
      </p:sp>
      <p:sp>
        <p:nvSpPr>
          <p:cNvPr id="16" name="TextBox 15"/>
          <p:cNvSpPr txBox="1"/>
          <p:nvPr/>
        </p:nvSpPr>
        <p:spPr>
          <a:xfrm>
            <a:off x="8979407" y="11056924"/>
            <a:ext cx="6364224"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Median test RMSE on unseen cases (mean 5.5)</a:t>
            </a:r>
            <a:endParaRPr lang="en-US" sz="1800" b="0" dirty="0">
              <a:solidFill>
                <a:srgbClr val="666F79"/>
              </a:solidFill>
              <a:latin typeface="Arial" panose="020B0604020202020204" pitchFamily="34" charset="0"/>
              <a:ea typeface="Yu Gothic"/>
            </a:endParaRP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EC9427"/>
                </a:solidFill>
                <a:latin typeface="Arial" panose="020B0604020202020204" pitchFamily="34" charset="0"/>
                <a:ea typeface="Yu Gothic"/>
              </a:rPr>
              <a:t>3.8 µrad</a:t>
            </a:r>
            <a:endParaRPr lang="en-US" sz="3200" b="1" dirty="0">
              <a:solidFill>
                <a:srgbClr val="EC9427"/>
              </a:solidFill>
              <a:latin typeface="Arial" panose="020B0604020202020204" pitchFamily="34" charset="0"/>
              <a:ea typeface="Yu Gothic"/>
            </a:endParaRPr>
          </a:p>
        </p:txBody>
      </p:sp>
      <p:sp>
        <p:nvSpPr>
          <p:cNvPr id="19" name="TextBox 18"/>
          <p:cNvSpPr txBox="1"/>
          <p:nvPr/>
        </p:nvSpPr>
        <p:spPr>
          <a:xfrm>
            <a:off x="16386048" y="11056924"/>
            <a:ext cx="6364224" cy="642868"/>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LOO RMSE of case-mean DC bias</a:t>
            </a:r>
            <a:endParaRPr lang="en-US" sz="1900" b="0" dirty="0">
              <a:solidFill>
                <a:srgbClr val="666F79"/>
              </a:solidFill>
              <a:latin typeface="Arial" panose="020B0604020202020204" pitchFamily="34" charset="0"/>
              <a:ea typeface="Yu Gothic"/>
            </a:endParaRPr>
          </a:p>
          <a:p>
            <a:pPr algn="ctr">
              <a:lnSpc>
                <a:spcPct val="105000"/>
              </a:lnSpc>
              <a:spcAft>
                <a:spcPts val="0"/>
              </a:spcAft>
            </a:pPr>
            <a:r>
              <a:rPr lang="en-US" altLang="ja-JP" sz="1900">
                <a:solidFill>
                  <a:srgbClr val="666F79"/>
                </a:solidFill>
                <a:latin typeface="Arial" panose="020B0604020202020204" pitchFamily="34" charset="0"/>
                <a:ea typeface="Yu Gothic"/>
              </a:rPr>
              <a:t>※</a:t>
            </a:r>
            <a:r>
              <a:rPr lang="en-US" sz="1900">
                <a:solidFill>
                  <a:srgbClr val="666F79"/>
                </a:solidFill>
                <a:latin typeface="Arial" panose="020B0604020202020204" pitchFamily="34" charset="0"/>
                <a:ea typeface="Yu Gothic"/>
              </a:rPr>
              <a:t>LOO</a:t>
            </a:r>
            <a:r>
              <a:rPr lang="ja-JP" altLang="en-US" sz="1900">
                <a:solidFill>
                  <a:srgbClr val="666F79"/>
                </a:solidFill>
                <a:latin typeface="Arial" panose="020B0604020202020204" pitchFamily="34" charset="0"/>
                <a:ea typeface="Yu Gothic"/>
              </a:rPr>
              <a:t>：</a:t>
            </a:r>
            <a:r>
              <a:rPr lang="en-US" altLang="ja-JP" sz="1900">
                <a:solidFill>
                  <a:srgbClr val="666F79"/>
                </a:solidFill>
                <a:latin typeface="Arial" panose="020B0604020202020204" pitchFamily="34" charset="0"/>
                <a:ea typeface="Yu Gothic"/>
              </a:rPr>
              <a:t>Leave-One-case-Out</a:t>
            </a:r>
            <a:endParaRPr sz="1900" b="0" dirty="0">
              <a:solidFill>
                <a:srgbClr val="666F79"/>
              </a:solidFill>
              <a:latin typeface="Arial" panose="020B0604020202020204" pitchFamily="34" charset="0"/>
              <a:ea typeface="Yu Gothic"/>
            </a:endParaRPr>
          </a:p>
        </p:txBody>
      </p:sp>
      <p:sp>
        <p:nvSpPr>
          <p:cNvPr id="20" name="TextBox 19"/>
          <p:cNvSpPr txBox="1"/>
          <p:nvPr/>
        </p:nvSpPr>
        <p:spPr>
          <a:xfrm>
            <a:off x="1463040" y="12070080"/>
            <a:ext cx="21396960" cy="375487"/>
          </a:xfrm>
          <a:prstGeom prst="rect">
            <a:avLst/>
          </a:prstGeom>
          <a:noFill/>
        </p:spPr>
        <p:txBody>
          <a:bodyPr wrap="square" lIns="45720" tIns="18288" rIns="45720" bIns="18288" anchor="t">
            <a:spAutoFit/>
          </a:bodyPr>
          <a:lstStyle/>
          <a:p>
            <a:pPr algn="ctr">
              <a:spcAft>
                <a:spcPts val="0"/>
              </a:spcAft>
            </a:pPr>
            <a:r>
              <a:rPr lang="en-US" sz="2200" b="0">
                <a:solidFill>
                  <a:srgbClr val="666F79"/>
                </a:solidFill>
                <a:latin typeface="Arial" panose="020B0604020202020204" pitchFamily="34" charset="0"/>
                <a:ea typeface="Yu Gothic"/>
              </a:rPr>
              <a:t>Shared sensitivity: MX +30.6 / MY +28.6 / PX −28.1 / PY −28.7 µrad/K</a:t>
            </a:r>
            <a:endParaRPr lang="en-US" sz="2200" b="0" dirty="0">
              <a:solidFill>
                <a:srgbClr val="666F79"/>
              </a:solidFill>
              <a:latin typeface="Arial" panose="020B0604020202020204" pitchFamily="34" charset="0"/>
              <a:ea typeface="Yu Gothi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lang="en-US" sz="3200" b="1" dirty="0">
                <a:solidFill>
                  <a:srgbClr val="082B52"/>
                </a:solidFill>
                <a:latin typeface="Arial" panose="020B0604020202020204" pitchFamily="34" charset="0"/>
                <a:ea typeface="Yu Gothic"/>
              </a:rPr>
              <a:t>Even </a:t>
            </a:r>
            <a:r>
              <a:rPr lang="en-US" sz="3200" b="1">
                <a:solidFill>
                  <a:srgbClr val="082B52"/>
                </a:solidFill>
                <a:latin typeface="Arial" panose="020B0604020202020204" pitchFamily="34" charset="0"/>
                <a:ea typeface="Yu Gothic"/>
              </a:rPr>
              <a:t>for the Case with one of the largest thermal LOS errors, 1250 µrad falls to 3.9 µrad</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17</a:t>
            </a: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375487"/>
          </a:xfrm>
          <a:prstGeom prst="rect">
            <a:avLst/>
          </a:prstGeom>
          <a:noFill/>
        </p:spPr>
        <p:txBody>
          <a:bodyPr wrap="square" lIns="45720" tIns="18288" rIns="45720" bIns="18288" anchor="t">
            <a:spAutoFit/>
          </a:bodyPr>
          <a:lstStyle/>
          <a:p>
            <a:pPr algn="ctr">
              <a:spcAft>
                <a:spcPts val="0"/>
              </a:spcAft>
            </a:pPr>
            <a:r>
              <a:rPr lang="en-US" sz="2200" b="1">
                <a:solidFill>
                  <a:srgbClr val="1B74AA"/>
                </a:solidFill>
                <a:latin typeface="Arial" panose="020B0604020202020204" pitchFamily="34" charset="0"/>
                <a:ea typeface="Yu Gothic"/>
              </a:rPr>
              <a:t>Case 08 (PY sun face, all units dissipating)</a:t>
            </a:r>
            <a:endParaRPr lang="en-US" sz="2200" b="1" dirty="0">
              <a:solidFill>
                <a:srgbClr val="1B74AA"/>
              </a:solidFill>
              <a:latin typeface="Arial" panose="020B0604020202020204" pitchFamily="34" charset="0"/>
              <a:ea typeface="Yu Gothic"/>
            </a:endParaRP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D03B46"/>
                </a:solidFill>
                <a:latin typeface="Arial" panose="020B0604020202020204" pitchFamily="34" charset="0"/>
                <a:ea typeface="Yu Gothic"/>
              </a:rPr>
              <a:t>1250 µrad</a:t>
            </a:r>
            <a:endParaRPr lang="en-US" sz="3600" b="1" dirty="0">
              <a:solidFill>
                <a:srgbClr val="D03B46"/>
              </a:solidFill>
              <a:latin typeface="Arial" panose="020B0604020202020204" pitchFamily="34" charset="0"/>
              <a:ea typeface="Yu Gothic"/>
            </a:endParaRPr>
          </a:p>
        </p:txBody>
      </p:sp>
      <p:sp>
        <p:nvSpPr>
          <p:cNvPr id="10" name="TextBox 9"/>
          <p:cNvSpPr txBox="1"/>
          <p:nvPr/>
        </p:nvSpPr>
        <p:spPr>
          <a:xfrm>
            <a:off x="15837408" y="465246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Raw dominant-axis RMS</a:t>
            </a:r>
            <a:endParaRPr lang="en-US" sz="1900" b="0" dirty="0">
              <a:solidFill>
                <a:srgbClr val="666F79"/>
              </a:solidFill>
              <a:latin typeface="Arial" panose="020B0604020202020204" pitchFamily="34" charset="0"/>
              <a:ea typeface="Yu Gothic"/>
            </a:endParaRP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239571"/>
                </a:solidFill>
                <a:latin typeface="Arial" panose="020B0604020202020204" pitchFamily="34" charset="0"/>
                <a:ea typeface="Yu Gothic"/>
              </a:rPr>
              <a:t>3.9 µrad</a:t>
            </a:r>
            <a:endParaRPr lang="en-US" sz="3600" b="1" dirty="0">
              <a:solidFill>
                <a:srgbClr val="239571"/>
              </a:solidFill>
              <a:latin typeface="Arial" panose="020B0604020202020204" pitchFamily="34" charset="0"/>
              <a:ea typeface="Yu Gothic"/>
            </a:endParaRPr>
          </a:p>
        </p:txBody>
      </p:sp>
      <p:sp>
        <p:nvSpPr>
          <p:cNvPr id="13" name="TextBox 12"/>
          <p:cNvSpPr txBox="1"/>
          <p:nvPr/>
        </p:nvSpPr>
        <p:spPr>
          <a:xfrm>
            <a:off x="15837408" y="702990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Test RMSE for an unseen case</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421654"/>
          </a:xfrm>
          <a:prstGeom prst="rect">
            <a:avLst/>
          </a:prstGeom>
          <a:noFill/>
        </p:spPr>
        <p:txBody>
          <a:bodyPr wrap="square" lIns="45720" tIns="18288" rIns="45720" bIns="18288" anchor="t">
            <a:spAutoFit/>
          </a:bodyPr>
          <a:lstStyle/>
          <a:p>
            <a:pPr algn="ctr">
              <a:spcAft>
                <a:spcPts val="0"/>
              </a:spcAft>
            </a:pPr>
            <a:r>
              <a:rPr lang="en-US" sz="2500" b="1">
                <a:solidFill>
                  <a:srgbClr val="1B74AA"/>
                </a:solidFill>
                <a:latin typeface="Arial" panose="020B0604020202020204" pitchFamily="34" charset="0"/>
                <a:ea typeface="Yu Gothic"/>
              </a:rPr>
              <a:t>First scan point is sufficient</a:t>
            </a:r>
            <a:endParaRPr lang="en-US" sz="2500" b="1" dirty="0">
              <a:solidFill>
                <a:srgbClr val="1B74AA"/>
              </a:solidFill>
              <a:latin typeface="Arial" panose="020B0604020202020204" pitchFamily="34" charset="0"/>
              <a:ea typeface="Yu Gothic"/>
            </a:endParaRPr>
          </a:p>
        </p:txBody>
      </p:sp>
      <p:sp>
        <p:nvSpPr>
          <p:cNvPr id="16" name="TextBox 15"/>
          <p:cNvSpPr txBox="1"/>
          <p:nvPr/>
        </p:nvSpPr>
        <p:spPr>
          <a:xfrm>
            <a:off x="16002000" y="9326880"/>
            <a:ext cx="6949440" cy="816377"/>
          </a:xfrm>
          <a:prstGeom prst="rect">
            <a:avLst/>
          </a:prstGeom>
          <a:noFill/>
        </p:spPr>
        <p:txBody>
          <a:bodyPr wrap="square" lIns="45720" tIns="18288" rIns="45720" bIns="18288" anchor="t">
            <a:spAutoFit/>
          </a:bodyPr>
          <a:lstStyle/>
          <a:p>
            <a:pPr algn="ctr">
              <a:lnSpc>
                <a:spcPct val="115000"/>
              </a:lnSpc>
              <a:spcAft>
                <a:spcPts val="0"/>
              </a:spcAft>
            </a:pPr>
            <a:r>
              <a:rPr lang="en-US" sz="2300" b="0">
                <a:solidFill>
                  <a:srgbClr val="232B34"/>
                </a:solidFill>
                <a:latin typeface="Arial" panose="020B0604020202020204" pitchFamily="34" charset="0"/>
                <a:ea typeface="Yu Gothic"/>
              </a:rPr>
              <a:t>Corrected residual is well below
the 150 µrad detection radius</a:t>
            </a:r>
            <a:endParaRPr lang="en-US" sz="2300" b="0" dirty="0">
              <a:solidFill>
                <a:srgbClr val="232B34"/>
              </a:solidFill>
              <a:latin typeface="Arial" panose="020B0604020202020204" pitchFamily="34" charset="0"/>
              <a:ea typeface="Yu Gothic"/>
            </a:endParaRPr>
          </a:p>
        </p:txBody>
      </p:sp>
      <p:sp>
        <p:nvSpPr>
          <p:cNvPr id="17" name="TextBox 16"/>
          <p:cNvSpPr txBox="1"/>
          <p:nvPr/>
        </p:nvSpPr>
        <p:spPr>
          <a:xfrm>
            <a:off x="15727680" y="10835640"/>
            <a:ext cx="7498079" cy="406265"/>
          </a:xfrm>
          <a:prstGeom prst="rect">
            <a:avLst/>
          </a:prstGeom>
          <a:noFill/>
        </p:spPr>
        <p:txBody>
          <a:bodyPr wrap="square" lIns="45720" tIns="18288" rIns="45720" bIns="18288" anchor="t">
            <a:spAutoFit/>
          </a:bodyPr>
          <a:lstStyle/>
          <a:p>
            <a:pPr algn="ctr">
              <a:spcAft>
                <a:spcPts val="0"/>
              </a:spcAft>
            </a:pPr>
            <a:r>
              <a:rPr lang="en-US" sz="2400" b="1">
                <a:solidFill>
                  <a:srgbClr val="082B52"/>
                </a:solidFill>
                <a:latin typeface="Arial" panose="020B0604020202020204" pitchFamily="34" charset="0"/>
                <a:ea typeface="Yu Gothic"/>
              </a:rPr>
              <a:t>ΔT follows the within-orbit variation</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Coarse-acquisition evaluation</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896331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Acquire when the scan-corrected target enters the detection circle</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18</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955485"/>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Thermal LOS truth</a:t>
            </a:r>
            <a:endParaRPr lang="en-US" sz="2100" b="1" dirty="0">
              <a:solidFill>
                <a:srgbClr val="FFFFFF"/>
              </a:solidFill>
              <a:latin typeface="Arial" panose="020B0604020202020204" pitchFamily="34" charset="0"/>
              <a:ea typeface="Yu Gothic"/>
            </a:endParaRP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331657"/>
            <a:ext cx="3895344" cy="378565"/>
          </a:xfrm>
          <a:prstGeom prst="rect">
            <a:avLst/>
          </a:prstGeom>
          <a:noFill/>
        </p:spPr>
        <p:txBody>
          <a:bodyPr wrap="square" lIns="36576" tIns="27432" rIns="36576" bIns="27432" anchor="ctr">
            <a:spAutoFit/>
          </a:bodyPr>
          <a:lstStyle/>
          <a:p>
            <a:pPr algn="ctr">
              <a:spcAft>
                <a:spcPts val="0"/>
              </a:spcAft>
            </a:pPr>
            <a:r>
              <a:rPr lang="en-US" sz="2100" b="1" dirty="0">
                <a:solidFill>
                  <a:srgbClr val="FFFFFF"/>
                </a:solidFill>
                <a:latin typeface="Arial" panose="020B0604020202020204" pitchFamily="34" charset="0"/>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Scan-center residual</a:t>
            </a:r>
            <a:endParaRPr lang="en-US" sz="2100" b="1" dirty="0">
              <a:solidFill>
                <a:srgbClr val="FFFFFF"/>
              </a:solidFill>
              <a:latin typeface="Arial" panose="020B0604020202020204" pitchFamily="34" charset="0"/>
              <a:ea typeface="Yu Gothic"/>
            </a:endParaRP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Rectangular spiral scan</a:t>
            </a:r>
            <a:endParaRPr lang="en-US" sz="2100" b="1" dirty="0">
              <a:solidFill>
                <a:srgbClr val="FFFFFF"/>
              </a:solidFill>
              <a:latin typeface="Arial" panose="020B0604020202020204" pitchFamily="34" charset="0"/>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Acquisition success and time</a:t>
            </a:r>
            <a:endParaRPr lang="en-US" sz="2100" b="1" dirty="0">
              <a:solidFill>
                <a:srgbClr val="FFFFFF"/>
              </a:solidFill>
              <a:latin typeface="Arial" panose="020B0604020202020204" pitchFamily="34" charset="0"/>
              <a:ea typeface="Yu Gothic"/>
            </a:endParaRP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en-US" altLang="ja-JP" dirty="0">
                <a:latin typeface="Arial" panose="020B0604020202020204" pitchFamily="34" charset="0"/>
              </a:rPr>
              <a:t>Orbit, attitude, and other</a:t>
            </a:r>
          </a:p>
          <a:p>
            <a:pPr algn="ctr"/>
            <a:r>
              <a:rPr lang="en-US" altLang="ja-JP" dirty="0">
                <a:latin typeface="Arial" panose="020B0604020202020204" pitchFamily="34" charset="0"/>
              </a:rPr>
              <a:t>nonthermal errors</a:t>
            </a:r>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en-US" altLang="ja-JP">
                <a:latin typeface="Arial" panose="020B0604020202020204" pitchFamily="34" charset="0"/>
              </a:rPr>
              <a:t>Thermal LOS truth</a:t>
            </a:r>
            <a:endParaRPr lang="en-US" altLang="ja-JP" dirty="0">
              <a:latin typeface="Arial" panose="020B0604020202020204" pitchFamily="34" charset="0"/>
            </a:endParaRP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en-US" altLang="ja-JP">
                <a:latin typeface="Arial" panose="020B0604020202020204" pitchFamily="34" charset="0"/>
              </a:rPr>
              <a:t>Predicted thermal LOS</a:t>
            </a:r>
            <a:endParaRPr lang="en-US" altLang="ja-JP" dirty="0">
              <a:latin typeface="Arial" panose="020B0604020202020204" pitchFamily="34" charset="0"/>
            </a:endParaRPr>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en-US" altLang="ja-JP">
                <a:latin typeface="Arial" panose="020B0604020202020204" pitchFamily="34" charset="0"/>
              </a:rPr>
              <a:t>Scan-center error</a:t>
            </a:r>
            <a:endParaRPr lang="en-US" altLang="ja-JP" dirty="0">
              <a:latin typeface="Arial" panose="020B0604020202020204" pitchFamily="34" charset="0"/>
            </a:endParaRP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latin typeface="Arial" panose="020B0604020202020204" pitchFamily="34" charset="0"/>
              </a:rPr>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en-US" altLang="ja-JP" sz="2800">
                <a:latin typeface="Arial" panose="020B0604020202020204" pitchFamily="34" charset="0"/>
              </a:rPr>
              <a:t>Residual</a:t>
            </a:r>
            <a:endParaRPr kumimoji="1" lang="en-US" altLang="ja-JP" sz="2800" dirty="0">
              <a:latin typeface="Arial" panose="020B0604020202020204" pitchFamily="34" charset="0"/>
            </a:endParaRP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82822"/>
            <a:ext cx="3895344" cy="701731"/>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Nonthermal errors</a:t>
            </a:r>
          </a:p>
          <a:p>
            <a:pPr algn="ctr">
              <a:spcAft>
                <a:spcPts val="0"/>
              </a:spcAft>
            </a:pPr>
            <a:r>
              <a:rPr lang="en-US" sz="2100" b="1">
                <a:solidFill>
                  <a:srgbClr val="FFFFFF"/>
                </a:solidFill>
                <a:latin typeface="Arial" panose="020B0604020202020204" pitchFamily="34" charset="0"/>
                <a:ea typeface="Yu Gothic"/>
              </a:rPr>
              <a:t>(orbit, attitude, etc.)</a:t>
            </a:r>
            <a:endParaRPr lang="en-US" sz="2100" b="1" dirty="0">
              <a:solidFill>
                <a:srgbClr val="FFFFFF"/>
              </a:solidFill>
              <a:latin typeface="Arial" panose="020B0604020202020204" pitchFamily="34" charset="0"/>
              <a:ea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1B74AA"/>
                </a:solidFill>
                <a:latin typeface="Arial" panose="020B0604020202020204" pitchFamily="34" charset="0"/>
                <a:ea typeface="Yu Gothic"/>
              </a:rPr>
              <a:t>±1600 µrad</a:t>
            </a:r>
            <a:endParaRPr lang="en-US" sz="2600" b="1" dirty="0">
              <a:solidFill>
                <a:srgbClr val="1B74AA"/>
              </a:solidFill>
              <a:latin typeface="Arial" panose="020B0604020202020204" pitchFamily="34" charset="0"/>
              <a:ea typeface="Yu Gothic"/>
            </a:endParaRPr>
          </a:p>
        </p:txBody>
      </p:sp>
      <p:sp>
        <p:nvSpPr>
          <p:cNvPr id="62" name="TextBox 61"/>
          <p:cNvSpPr txBox="1"/>
          <p:nvPr/>
        </p:nvSpPr>
        <p:spPr>
          <a:xfrm>
            <a:off x="134416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Scan range</a:t>
            </a:r>
            <a:endParaRPr lang="en-US" sz="1800" b="0" dirty="0">
              <a:solidFill>
                <a:srgbClr val="666F79"/>
              </a:solidFill>
              <a:latin typeface="Arial" panose="020B0604020202020204" pitchFamily="34" charset="0"/>
              <a:ea typeface="Yu Gothic"/>
            </a:endParaRP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1B74AA"/>
                </a:solidFill>
                <a:latin typeface="Arial" panose="020B0604020202020204" pitchFamily="34" charset="0"/>
                <a:ea typeface="Yu Gothic"/>
              </a:rPr>
              <a:t>120 µrad</a:t>
            </a:r>
            <a:endParaRPr lang="en-US" sz="2600" b="1" dirty="0">
              <a:solidFill>
                <a:srgbClr val="1B74AA"/>
              </a:solidFill>
              <a:latin typeface="Arial" panose="020B0604020202020204" pitchFamily="34" charset="0"/>
              <a:ea typeface="Yu Gothic"/>
            </a:endParaRPr>
          </a:p>
        </p:txBody>
      </p:sp>
      <p:sp>
        <p:nvSpPr>
          <p:cNvPr id="65" name="TextBox 64"/>
          <p:cNvSpPr txBox="1"/>
          <p:nvPr/>
        </p:nvSpPr>
        <p:spPr>
          <a:xfrm>
            <a:off x="5779007"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Scan step</a:t>
            </a:r>
            <a:endParaRPr lang="en-US" sz="1800" b="0" dirty="0">
              <a:solidFill>
                <a:srgbClr val="666F79"/>
              </a:solidFill>
              <a:latin typeface="Arial" panose="020B0604020202020204" pitchFamily="34" charset="0"/>
              <a:ea typeface="Yu Gothic"/>
            </a:endParaRP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150 µrad</a:t>
            </a:r>
            <a:endParaRPr lang="en-US" sz="2600" b="1" dirty="0">
              <a:solidFill>
                <a:srgbClr val="239571"/>
              </a:solidFill>
              <a:latin typeface="Arial" panose="020B0604020202020204" pitchFamily="34" charset="0"/>
              <a:ea typeface="Yu Gothic"/>
            </a:endParaRPr>
          </a:p>
        </p:txBody>
      </p:sp>
      <p:sp>
        <p:nvSpPr>
          <p:cNvPr id="68" name="TextBox 67"/>
          <p:cNvSpPr txBox="1"/>
          <p:nvPr/>
        </p:nvSpPr>
        <p:spPr>
          <a:xfrm>
            <a:off x="10213847"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Detection radius (beacon scale)</a:t>
            </a:r>
            <a:endParaRPr lang="en-US" sz="1800" b="0" dirty="0">
              <a:solidFill>
                <a:srgbClr val="666F79"/>
              </a:solidFill>
              <a:latin typeface="Arial" panose="020B0604020202020204" pitchFamily="34" charset="0"/>
              <a:ea typeface="Yu Gothic"/>
            </a:endParaRP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0.1 s / point</a:t>
            </a:r>
            <a:endParaRPr lang="en-US" sz="2600" b="1" dirty="0">
              <a:solidFill>
                <a:srgbClr val="239571"/>
              </a:solidFill>
              <a:latin typeface="Arial" panose="020B0604020202020204" pitchFamily="34" charset="0"/>
              <a:ea typeface="Yu Gothic"/>
            </a:endParaRPr>
          </a:p>
        </p:txBody>
      </p:sp>
      <p:sp>
        <p:nvSpPr>
          <p:cNvPr id="71" name="TextBox 70"/>
          <p:cNvSpPr txBox="1"/>
          <p:nvPr/>
        </p:nvSpPr>
        <p:spPr>
          <a:xfrm>
            <a:off x="1464868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Dwell time</a:t>
            </a:r>
            <a:endParaRPr lang="en-US" sz="1800" b="0" dirty="0">
              <a:solidFill>
                <a:srgbClr val="666F79"/>
              </a:solidFill>
              <a:latin typeface="Arial" panose="020B0604020202020204" pitchFamily="34" charset="0"/>
              <a:ea typeface="Yu Gothic"/>
            </a:endParaRP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27 × 27 = 729 points</a:t>
            </a:r>
            <a:endParaRPr lang="en-US" sz="2600" b="1" dirty="0">
              <a:solidFill>
                <a:srgbClr val="239571"/>
              </a:solidFill>
              <a:latin typeface="Arial" panose="020B0604020202020204" pitchFamily="34" charset="0"/>
              <a:ea typeface="Yu Gothic"/>
            </a:endParaRPr>
          </a:p>
        </p:txBody>
      </p:sp>
      <p:sp>
        <p:nvSpPr>
          <p:cNvPr id="74" name="TextBox 73"/>
          <p:cNvSpPr txBox="1"/>
          <p:nvPr/>
        </p:nvSpPr>
        <p:spPr>
          <a:xfrm>
            <a:off x="1908352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Maximum number of scan points</a:t>
            </a:r>
            <a:endParaRPr lang="en-US" sz="1800" b="0" dirty="0">
              <a:solidFill>
                <a:srgbClr val="666F79"/>
              </a:solidFill>
              <a:latin typeface="Arial" panose="020B0604020202020204" pitchFamily="34" charset="0"/>
              <a:ea typeface="Yu Gothic"/>
            </a:endParaRP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lang="en-US" sz="2500" b="1">
                <a:solidFill>
                  <a:srgbClr val="082B52"/>
                </a:solidFill>
                <a:latin typeface="Arial" panose="020B0604020202020204" pitchFamily="34" charset="0"/>
                <a:ea typeface="Yu Gothic"/>
              </a:rPr>
              <a:t>No coverage holes: half the grid diagonal ≈ 85 µrad &lt; 150 µrad detection radius</a:t>
            </a:r>
            <a:endParaRPr lang="en-US" sz="2500" b="1" dirty="0">
              <a:solidFill>
                <a:srgbClr val="082B52"/>
              </a:solidFill>
              <a:latin typeface="Arial" panose="020B0604020202020204" pitchFamily="34" charset="0"/>
              <a:ea typeface="Yu Gothic"/>
            </a:endParaRPr>
          </a:p>
        </p:txBody>
      </p:sp>
      <p:sp>
        <p:nvSpPr>
          <p:cNvPr id="76" name="TextBox 75"/>
          <p:cNvSpPr txBox="1"/>
          <p:nvPr/>
        </p:nvSpPr>
        <p:spPr>
          <a:xfrm>
            <a:off x="1234440" y="12088368"/>
            <a:ext cx="21488400" cy="375487"/>
          </a:xfrm>
          <a:prstGeom prst="rect">
            <a:avLst/>
          </a:prstGeom>
          <a:noFill/>
        </p:spPr>
        <p:txBody>
          <a:bodyPr wrap="square" lIns="45720" tIns="18288" rIns="45720" bIns="18288" anchor="t">
            <a:spAutoFit/>
          </a:bodyPr>
          <a:lstStyle/>
          <a:p>
            <a:pPr algn="ctr">
              <a:spcAft>
                <a:spcPts val="0"/>
              </a:spcAft>
            </a:pPr>
            <a:r>
              <a:rPr lang="en-US" sz="2200" b="0">
                <a:solidFill>
                  <a:srgbClr val="D03B46"/>
                </a:solidFill>
                <a:latin typeface="Arial" panose="020B0604020202020204" pitchFamily="34" charset="0"/>
                <a:ea typeface="Yu Gothic"/>
              </a:rPr>
              <a:t>Neglects inter-point slew, settling, and stochastic detection. Times are comparative under these scan conditions.</a:t>
            </a:r>
            <a:endParaRPr lang="en-US" sz="2200" b="0" dirty="0">
              <a:solidFill>
                <a:srgbClr val="D03B46"/>
              </a:solidFill>
              <a:latin typeface="Arial" panose="020B0604020202020204" pitchFamily="34" charset="0"/>
              <a:ea typeface="Yu Gothi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Orbit prediction, alignment, attitude, and drift are added to the 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19</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227950797"/>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lang="en-US" sz="2100" b="1">
                          <a:solidFill>
                            <a:srgbClr val="FFFFFF"/>
                          </a:solidFill>
                          <a:latin typeface="Arial" panose="020B0604020202020204" pitchFamily="34" charset="0"/>
                          <a:ea typeface="Yu Gothic"/>
                        </a:rPr>
                        <a:t>Component</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Construction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Time behavior</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Magnitude</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lang="en-US" sz="2100" b="0">
                          <a:solidFill>
                            <a:srgbClr val="232B34"/>
                          </a:solidFill>
                          <a:latin typeface="Arial" panose="020B0604020202020204" pitchFamily="34" charset="0"/>
                          <a:ea typeface="Yu Gothic"/>
                        </a:rPr>
                        <a:t>Orbit prediction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Propagate the latest Sentinel-1 TLE; project error from precise POEORB onto the link transverse plane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Orbital period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Mean 280–700 µrad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lang="en-US" sz="2100" b="0">
                          <a:solidFill>
                            <a:srgbClr val="232B34"/>
                          </a:solidFill>
                          <a:latin typeface="Arial" panose="020B0604020202020204" pitchFamily="34" charset="0"/>
                          <a:ea typeface="Yu Gothic"/>
                        </a:rPr>
                        <a:t>Alignment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dirty="0">
                          <a:solidFill>
                            <a:srgbClr val="232B34"/>
                          </a:solidFill>
                          <a:latin typeface="Arial" panose="020B0604020202020204" pitchFamily="34" charset="0"/>
                          <a:ea typeface="Yu Gothic"/>
                        </a:rPr>
                        <a:t>Constant two-axis residual per case</a:t>
                      </a: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DC</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50 µrad/axis, 1σ</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lang="en-US" sz="2100" b="0">
                          <a:solidFill>
                            <a:srgbClr val="232B34"/>
                          </a:solidFill>
                          <a:latin typeface="Arial" panose="020B0604020202020204" pitchFamily="34" charset="0"/>
                          <a:ea typeface="Yu Gothic"/>
                        </a:rPr>
                        <a:t>Attitude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Gaussian random draw at each sample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Simplified broadband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50 µrad/axis, 1σ</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lang="en-US" sz="2100" b="0">
                          <a:solidFill>
                            <a:srgbClr val="232B34"/>
                          </a:solidFill>
                          <a:latin typeface="Arial" panose="020B0604020202020204" pitchFamily="34" charset="0"/>
                          <a:ea typeface="Yu Gothic"/>
                        </a:rPr>
                        <a:t>Drift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Sinusoid</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900 s period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dirty="0">
                          <a:solidFill>
                            <a:srgbClr val="232B34"/>
                          </a:solidFill>
                          <a:latin typeface="Arial" panose="020B0604020202020204" pitchFamily="34" charset="0"/>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3632712" y="11141964"/>
            <a:ext cx="17116994" cy="470898"/>
          </a:xfrm>
          <a:prstGeom prst="rect">
            <a:avLst/>
          </a:prstGeom>
          <a:noFill/>
        </p:spPr>
        <p:txBody>
          <a:bodyPr wrap="none" lIns="36576" tIns="27432" rIns="36576" bIns="27432" anchor="t">
            <a:spAutoFit/>
          </a:bodyPr>
          <a:lstStyle/>
          <a:p>
            <a:pPr algn="ctr"/>
            <a:r>
              <a:rPr lang="en-US" sz="2700" b="1" dirty="0">
                <a:solidFill>
                  <a:srgbClr val="D03B46"/>
                </a:solidFill>
                <a:latin typeface="Arial" panose="020B0604020202020204" pitchFamily="34" charset="0"/>
              </a:rPr>
              <a:t>This is not a spacecraft-specific error budget; it represents a generic GNSS-denied small-LEO scenario.</a:t>
            </a:r>
          </a:p>
        </p:txBody>
      </p:sp>
      <p:sp>
        <p:nvSpPr>
          <p:cNvPr id="9" name="TextBox 8"/>
          <p:cNvSpPr txBox="1"/>
          <p:nvPr/>
        </p:nvSpPr>
        <p:spPr>
          <a:xfrm>
            <a:off x="1097280" y="10241280"/>
            <a:ext cx="2212848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One random seed per case; statistical spread is not evaluated.</a:t>
            </a:r>
            <a:endParaRPr lang="en-US" sz="2200" b="0" dirty="0">
              <a:solidFill>
                <a:srgbClr val="666F79"/>
              </a:solidFill>
              <a:latin typeface="Arial" panose="020B0604020202020204" pitchFamily="34" charset="0"/>
              <a:ea typeface="Yu Gothi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thermal LOS error only, mean acquisition time drops from 14.6 to 0.10 s, matching thermal-truth correction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20</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188720" y="3738678"/>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74637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14.6 s</a:t>
            </a:r>
            <a:endParaRPr lang="en-US" sz="2200" b="1" dirty="0">
              <a:solidFill>
                <a:srgbClr val="D03B46"/>
              </a:solidFill>
              <a:latin typeface="Arial" panose="020B0604020202020204" pitchFamily="34" charset="0"/>
              <a:ea typeface="Yu Gothic"/>
            </a:endParaRPr>
          </a:p>
        </p:txBody>
      </p:sp>
      <p:sp>
        <p:nvSpPr>
          <p:cNvPr id="13" name="TextBox 12"/>
          <p:cNvSpPr txBox="1"/>
          <p:nvPr/>
        </p:nvSpPr>
        <p:spPr>
          <a:xfrm>
            <a:off x="1188720" y="5229150"/>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52368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0.10 s</a:t>
            </a:r>
            <a:endParaRPr lang="en-US" sz="2200" b="1" dirty="0">
              <a:solidFill>
                <a:srgbClr val="239571"/>
              </a:solidFill>
              <a:latin typeface="Arial" panose="020B0604020202020204" pitchFamily="34" charset="0"/>
              <a:ea typeface="Yu Gothic"/>
            </a:endParaRPr>
          </a:p>
        </p:txBody>
      </p:sp>
      <p:sp>
        <p:nvSpPr>
          <p:cNvPr id="17" name="TextBox 16"/>
          <p:cNvSpPr txBox="1"/>
          <p:nvPr/>
        </p:nvSpPr>
        <p:spPr>
          <a:xfrm>
            <a:off x="1188720" y="6715049"/>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Thermal-truth upper bound</a:t>
            </a:r>
            <a:endParaRPr lang="en-US" sz="2300" b="0" dirty="0">
              <a:solidFill>
                <a:srgbClr val="232B34"/>
              </a:solidFill>
              <a:latin typeface="Arial" panose="020B0604020202020204" pitchFamily="34" charset="0"/>
              <a:ea typeface="Yu Gothic"/>
            </a:endParaRP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7227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1B74AA"/>
                </a:solidFill>
                <a:latin typeface="Arial" panose="020B0604020202020204" pitchFamily="34" charset="0"/>
                <a:ea typeface="Yu Gothic"/>
              </a:rPr>
              <a:t>0.10 s</a:t>
            </a:r>
            <a:endParaRPr lang="en-US" sz="2200" b="1" dirty="0">
              <a:solidFill>
                <a:srgbClr val="1B74AA"/>
              </a:solidFill>
              <a:latin typeface="Arial" panose="020B0604020202020204" pitchFamily="34" charset="0"/>
              <a:ea typeface="Yu Gothic"/>
            </a:endParaRPr>
          </a:p>
        </p:txBody>
      </p:sp>
      <p:graphicFrame>
        <p:nvGraphicFramePr>
          <p:cNvPr id="21" name="Table 20"/>
          <p:cNvGraphicFramePr>
            <a:graphicFrameLocks noGrp="1"/>
          </p:cNvGraphicFramePr>
          <p:nvPr>
            <p:extLst>
              <p:ext uri="{D42A27DB-BD31-4B8C-83A1-F6EECF244321}">
                <p14:modId xmlns:p14="http://schemas.microsoft.com/office/powerpoint/2010/main" val="2449627809"/>
              </p:ext>
            </p:extLst>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lang="en-US" sz="2000" b="1">
                          <a:solidFill>
                            <a:srgbClr val="FFFFFF"/>
                          </a:solidFill>
                          <a:latin typeface="Arial" panose="020B0604020202020204" pitchFamily="34" charset="0"/>
                          <a:ea typeface="Yu Gothic"/>
                        </a:rPr>
                        <a:t>Correction</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Success rate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Mean acquisition time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lang="en-US" sz="2000" b="0">
                          <a:solidFill>
                            <a:srgbClr val="232B34"/>
                          </a:solidFill>
                          <a:latin typeface="Arial" panose="020B0604020202020204" pitchFamily="34" charset="0"/>
                          <a:ea typeface="Yu Gothic"/>
                        </a:rPr>
                        <a:t>No correction</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14.6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lang="en-US" sz="2000" b="0">
                          <a:solidFill>
                            <a:srgbClr val="232B34"/>
                          </a:solidFill>
                          <a:latin typeface="Arial" panose="020B0604020202020204" pitchFamily="34" charset="0"/>
                          <a:ea typeface="Yu Gothic"/>
                        </a:rPr>
                        <a:t>Hierarchical model</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lang="en-US" sz="2000" b="0">
                          <a:solidFill>
                            <a:srgbClr val="232B34"/>
                          </a:solidFill>
                          <a:latin typeface="Arial" panose="020B0604020202020204" pitchFamily="34" charset="0"/>
                          <a:ea typeface="Yu Gothic"/>
                        </a:rPr>
                        <a:t>Thermal truth</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9.3 µrad</a:t>
            </a:r>
            <a:endParaRPr lang="en-US" sz="3400" b="1" dirty="0">
              <a:solidFill>
                <a:srgbClr val="239571"/>
              </a:solidFill>
              <a:latin typeface="Arial" panose="020B0604020202020204" pitchFamily="34" charset="0"/>
              <a:ea typeface="Yu Gothic"/>
            </a:endParaRP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thermal residual after correction</a:t>
            </a:r>
            <a:endParaRPr lang="en-US" sz="2000" b="0" dirty="0">
              <a:solidFill>
                <a:srgbClr val="666F79"/>
              </a:solidFill>
              <a:latin typeface="Arial" panose="020B0604020202020204" pitchFamily="34" charset="0"/>
              <a:ea typeface="Yu Gothic"/>
            </a:endParaRPr>
          </a:p>
        </p:txBody>
      </p:sp>
      <p:sp>
        <p:nvSpPr>
          <p:cNvPr id="25" name="TextBox 24"/>
          <p:cNvSpPr txBox="1"/>
          <p:nvPr/>
        </p:nvSpPr>
        <p:spPr>
          <a:xfrm>
            <a:off x="2011680" y="10424160"/>
            <a:ext cx="20299680" cy="902683"/>
          </a:xfrm>
          <a:prstGeom prst="rect">
            <a:avLst/>
          </a:prstGeom>
          <a:noFill/>
        </p:spPr>
        <p:txBody>
          <a:bodyPr wrap="square" lIns="36576" tIns="27432" rIns="36576" bIns="27432" anchor="t">
            <a:spAutoFit/>
          </a:bodyPr>
          <a:lstStyle/>
          <a:p>
            <a:pPr algn="ctr">
              <a:lnSpc>
                <a:spcPct val="115000"/>
              </a:lnSpc>
              <a:spcAft>
                <a:spcPts val="0"/>
              </a:spcAft>
            </a:pPr>
            <a:r>
              <a:rPr lang="en-US" sz="2500" b="0">
                <a:solidFill>
                  <a:srgbClr val="666F79"/>
                </a:solidFill>
                <a:latin typeface="Arial" panose="020B0604020202020204" pitchFamily="34" charset="0"/>
                <a:ea typeface="Yu Gothic"/>
              </a:rPr>
              <a:t>The residual is far below the 150 µrad detection radius, so acquisition occurs in one dwell.</a:t>
            </a:r>
          </a:p>
          <a:p>
            <a:pPr algn="ctr">
              <a:lnSpc>
                <a:spcPct val="115000"/>
              </a:lnSpc>
              <a:spcAft>
                <a:spcPts val="0"/>
              </a:spcAft>
            </a:pPr>
            <a:r>
              <a:rPr lang="en-US" sz="2500" b="0">
                <a:solidFill>
                  <a:srgbClr val="666F79"/>
                </a:solidFill>
                <a:latin typeface="Arial" panose="020B0604020202020204" pitchFamily="34" charset="0"/>
                <a:ea typeface="Yu Gothic"/>
              </a:rPr>
              <a:t>Mean over 14 COLD baseline-surface cases; the main result includes nonthermal error on the next slide.</a:t>
            </a:r>
            <a:endParaRPr lang="en-US" sz="2500" b="0" dirty="0">
              <a:solidFill>
                <a:srgbClr val="666F79"/>
              </a:solidFill>
              <a:latin typeface="Arial" panose="020B0604020202020204" pitchFamily="34" charset="0"/>
              <a:ea typeface="Yu Gothi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nonthermal LOS error, the mean drops from 19.2 to 5.45 s; the residual is governed by nonthermal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21</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371600" y="39101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9178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19.2 s</a:t>
            </a:r>
            <a:endParaRPr lang="en-US" sz="2200" b="1" dirty="0">
              <a:solidFill>
                <a:srgbClr val="D03B46"/>
              </a:solidFill>
              <a:latin typeface="Arial" panose="020B0604020202020204" pitchFamily="34" charset="0"/>
              <a:ea typeface="Yu Gothic"/>
            </a:endParaRPr>
          </a:p>
        </p:txBody>
      </p:sp>
      <p:sp>
        <p:nvSpPr>
          <p:cNvPr id="9" name="TextBox 8"/>
          <p:cNvSpPr txBox="1"/>
          <p:nvPr/>
        </p:nvSpPr>
        <p:spPr>
          <a:xfrm>
            <a:off x="1371600" y="57389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7466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5.45 s</a:t>
            </a:r>
            <a:endParaRPr lang="en-US" sz="2200" b="1" dirty="0">
              <a:solidFill>
                <a:srgbClr val="239571"/>
              </a:solidFill>
              <a:latin typeface="Arial" panose="020B0604020202020204" pitchFamily="34" charset="0"/>
              <a:ea typeface="Yu Gothic"/>
            </a:endParaRP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−72%</a:t>
            </a:r>
            <a:endParaRPr lang="en-US" sz="3400" b="1" dirty="0">
              <a:solidFill>
                <a:srgbClr val="239571"/>
              </a:solidFill>
              <a:latin typeface="Arial" panose="020B0604020202020204" pitchFamily="34" charset="0"/>
              <a:ea typeface="Yu Gothic"/>
            </a:endParaRP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acquisition time</a:t>
            </a:r>
            <a:endParaRPr lang="en-US" sz="2000" b="0" dirty="0">
              <a:solidFill>
                <a:srgbClr val="666F79"/>
              </a:solidFill>
              <a:latin typeface="Arial" panose="020B0604020202020204" pitchFamily="34" charset="0"/>
              <a:ea typeface="Yu Gothic"/>
            </a:endParaRPr>
          </a:p>
        </p:txBody>
      </p:sp>
      <p:graphicFrame>
        <p:nvGraphicFramePr>
          <p:cNvPr id="19" name="Table 18"/>
          <p:cNvGraphicFramePr>
            <a:graphicFrameLocks noGrp="1"/>
          </p:cNvGraphicFramePr>
          <p:nvPr>
            <p:extLst>
              <p:ext uri="{D42A27DB-BD31-4B8C-83A1-F6EECF244321}">
                <p14:modId xmlns:p14="http://schemas.microsoft.com/office/powerpoint/2010/main" val="2224568494"/>
              </p:ext>
            </p:extLst>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lang="en-US" sz="2100" b="1">
                          <a:solidFill>
                            <a:srgbClr val="FFFFFF"/>
                          </a:solidFill>
                          <a:latin typeface="Arial" panose="020B0604020202020204" pitchFamily="34" charset="0"/>
                          <a:ea typeface="Yu Gothic"/>
                        </a:rPr>
                        <a:t>Metric</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No correction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Hierarchical model (feedforward)</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lang="en-US" sz="2100" b="0">
                          <a:solidFill>
                            <a:srgbClr val="232B34"/>
                          </a:solidFill>
                          <a:latin typeface="Arial" panose="020B0604020202020204" pitchFamily="34" charset="0"/>
                          <a:ea typeface="Yu Gothic"/>
                        </a:rPr>
                        <a:t>Success rate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98%</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acquisition time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19.2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5.45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initial error after correction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448 µrad (almost entirely nonthermal)</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lang="en-US" sz="2100" b="0">
                          <a:solidFill>
                            <a:srgbClr val="232B34"/>
                          </a:solidFill>
                          <a:latin typeface="Arial" panose="020B0604020202020204" pitchFamily="34" charset="0"/>
                          <a:ea typeface="Yu Gothic"/>
                        </a:rPr>
                        <a:t>PY sun face (thermal ≈1.2 mrad)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37.3–39.5 s / 88–97%</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1.3–1.8 s / 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en-US" altLang="ja-JP" sz="2800" b="1">
                <a:latin typeface="Arial" panose="020B0604020202020204" pitchFamily="34" charset="0"/>
              </a:rPr>
              <a:t>Predicting and removing thermal error shifts the coarse-acquisition limit from thermal to nonthermal error</a:t>
            </a:r>
            <a:endParaRPr lang="en-US" altLang="ja-JP" sz="2800" dirty="0">
              <a:latin typeface="Arial" panose="020B0604020202020204" pitchFamily="34" charset="0"/>
            </a:endParaRPr>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Temperature prediction helps the first acquisition; residual updates lower the later-orbit floor</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21</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958290513"/>
              </p:ext>
            </p:extLst>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lang="en-US" sz="2100" b="1">
                          <a:solidFill>
                            <a:srgbClr val="FFFFFF"/>
                          </a:solidFill>
                          <a:latin typeface="Arial" panose="020B0604020202020204" pitchFamily="34" charset="0"/>
                          <a:ea typeface="Yu Gothic"/>
                        </a:rPr>
                        <a:t>Case 16 (PY)</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First orbit</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Orbit 1 onward</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lang="en-US" sz="2100" b="0">
                          <a:solidFill>
                            <a:srgbClr val="232B34"/>
                          </a:solidFill>
                          <a:latin typeface="Arial" panose="020B0604020202020204" pitchFamily="34" charset="0"/>
                          <a:ea typeface="Yu Gothic"/>
                        </a:rPr>
                        <a:t>Direct Fourier fit to total error</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39.5 s</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0.38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lang="en-US" sz="2100" b="0">
                          <a:solidFill>
                            <a:srgbClr val="232B34"/>
                          </a:solidFill>
                          <a:latin typeface="Arial" panose="020B0604020202020204" pitchFamily="34" charset="0"/>
                          <a:ea typeface="Yu Gothic"/>
                        </a:rPr>
                        <a:t>Hierarchical model + residual Fourier</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1.47 s</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0.40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EC9427"/>
                </a:solidFill>
                <a:latin typeface="Arial" panose="020B0604020202020204" pitchFamily="34" charset="0"/>
                <a:ea typeface="Yu Gothic"/>
              </a:rPr>
              <a:t>A constant residual update is insufficient</a:t>
            </a:r>
            <a:endParaRPr lang="en-US" sz="2400" b="1" dirty="0">
              <a:solidFill>
                <a:srgbClr val="EC9427"/>
              </a:solidFill>
              <a:latin typeface="Arial" panose="020B0604020202020204" pitchFamily="34" charset="0"/>
              <a:ea typeface="Yu Gothic"/>
            </a:endParaRPr>
          </a:p>
        </p:txBody>
      </p:sp>
      <p:sp>
        <p:nvSpPr>
          <p:cNvPr id="10" name="TextBox 9"/>
          <p:cNvSpPr txBox="1"/>
          <p:nvPr/>
        </p:nvSpPr>
        <p:spPr>
          <a:xfrm>
            <a:off x="15544800" y="7726679"/>
            <a:ext cx="7589520" cy="782458"/>
          </a:xfrm>
          <a:prstGeom prst="rect">
            <a:avLst/>
          </a:prstGeom>
          <a:noFill/>
        </p:spPr>
        <p:txBody>
          <a:bodyPr wrap="square" lIns="45720" tIns="18288" rIns="45720" bIns="18288" anchor="t">
            <a:spAutoFit/>
          </a:bodyPr>
          <a:lstStyle/>
          <a:p>
            <a:pPr algn="ctr">
              <a:lnSpc>
                <a:spcPct val="115000"/>
              </a:lnSpc>
              <a:spcAft>
                <a:spcPts val="0"/>
              </a:spcAft>
            </a:pPr>
            <a:r>
              <a:rPr lang="en-US" sz="2200" b="0">
                <a:solidFill>
                  <a:srgbClr val="232B34"/>
                </a:solidFill>
                <a:latin typeface="Arial" panose="020B0604020202020204" pitchFamily="34" charset="0"/>
                <a:ea typeface="Yu Gothic"/>
              </a:rPr>
              <a:t>Case 13, orbit 1 onward: 1.66 → 1.35 s;
above the 0.38 s Fourier result.</a:t>
            </a:r>
            <a:endParaRPr lang="en-US" sz="2200" b="0" dirty="0">
              <a:solidFill>
                <a:srgbClr val="232B34"/>
              </a:solidFill>
              <a:latin typeface="Arial" panose="020B0604020202020204" pitchFamily="34" charset="0"/>
              <a:ea typeface="Yu Gothic"/>
            </a:endParaRP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666F79"/>
                </a:solidFill>
                <a:latin typeface="Arial" panose="020B0604020202020204" pitchFamily="34" charset="0"/>
                <a:ea typeface="Yu Gothic"/>
              </a:rPr>
              <a:t>Scope of this section</a:t>
            </a:r>
            <a:endParaRPr lang="en-US" sz="2400" b="1" dirty="0">
              <a:solidFill>
                <a:srgbClr val="666F79"/>
              </a:solidFill>
              <a:latin typeface="Arial" panose="020B0604020202020204" pitchFamily="34" charset="0"/>
              <a:ea typeface="Yu Gothic"/>
            </a:endParaRPr>
          </a:p>
        </p:txBody>
      </p:sp>
      <p:sp>
        <p:nvSpPr>
          <p:cNvPr id="13" name="TextBox 12"/>
          <p:cNvSpPr txBox="1"/>
          <p:nvPr/>
        </p:nvSpPr>
        <p:spPr>
          <a:xfrm>
            <a:off x="15544800" y="10469880"/>
            <a:ext cx="7589520" cy="1120243"/>
          </a:xfrm>
          <a:prstGeom prst="rect">
            <a:avLst/>
          </a:prstGeom>
          <a:noFill/>
        </p:spPr>
        <p:txBody>
          <a:bodyPr wrap="square" lIns="45720" tIns="18288" rIns="45720" bIns="18288" anchor="t">
            <a:spAutoFit/>
          </a:bodyPr>
          <a:lstStyle/>
          <a:p>
            <a:pPr algn="ctr">
              <a:lnSpc>
                <a:spcPct val="115000"/>
              </a:lnSpc>
              <a:spcAft>
                <a:spcPts val="0"/>
              </a:spcAft>
            </a:pPr>
            <a:r>
              <a:rPr lang="en-US" sz="2100" b="0">
                <a:solidFill>
                  <a:srgbClr val="232B34"/>
                </a:solidFill>
                <a:latin typeface="Arial" panose="020B0604020202020204" pitchFamily="34" charset="0"/>
                <a:ea typeface="Yu Gothic"/>
              </a:rPr>
              <a:t>Thermal-model coefficients are fixed.
Preliminary update of total pointing residual
after acquisition (two cases, dense sampling).</a:t>
            </a:r>
            <a:endParaRPr lang="en-US" sz="2100" b="0" dirty="0">
              <a:solidFill>
                <a:srgbClr val="232B34"/>
              </a:solidFill>
              <a:latin typeface="Arial" panose="020B0604020202020204" pitchFamily="34" charset="0"/>
              <a:ea typeface="Yu Gothic"/>
            </a:endParaRPr>
          </a:p>
        </p:txBody>
      </p:sp>
      <p:sp>
        <p:nvSpPr>
          <p:cNvPr id="14" name="TextBox 13"/>
          <p:cNvSpPr txBox="1"/>
          <p:nvPr/>
        </p:nvSpPr>
        <p:spPr>
          <a:xfrm>
            <a:off x="1005840" y="10241280"/>
            <a:ext cx="13716000" cy="914866"/>
          </a:xfrm>
          <a:prstGeom prst="rect">
            <a:avLst/>
          </a:prstGeom>
          <a:noFill/>
        </p:spPr>
        <p:txBody>
          <a:bodyPr wrap="square" lIns="45720" tIns="18288" rIns="45720" bIns="18288" anchor="t">
            <a:spAutoFit/>
          </a:bodyPr>
          <a:lstStyle/>
          <a:p>
            <a:pPr algn="ctr">
              <a:lnSpc>
                <a:spcPct val="125000"/>
              </a:lnSpc>
              <a:spcAft>
                <a:spcPts val="0"/>
              </a:spcAft>
            </a:pPr>
            <a:r>
              <a:rPr lang="en-US" sz="2400" b="1">
                <a:solidFill>
                  <a:srgbClr val="082B52"/>
                </a:solidFill>
                <a:latin typeface="Arial" panose="020B0604020202020204" pitchFamily="34" charset="0"/>
                <a:ea typeface="Yu Gothic"/>
              </a:rPr>
              <a:t>Primary result: temperature/operating-state feedforward.</a:t>
            </a:r>
          </a:p>
          <a:p>
            <a:pPr algn="ctr">
              <a:lnSpc>
                <a:spcPct val="125000"/>
              </a:lnSpc>
              <a:spcAft>
                <a:spcPts val="0"/>
              </a:spcAft>
            </a:pPr>
            <a:r>
              <a:rPr lang="en-US" sz="2400" b="1">
                <a:solidFill>
                  <a:srgbClr val="082B52"/>
                </a:solidFill>
                <a:latin typeface="Arial" panose="020B0604020202020204" pitchFamily="34" charset="0"/>
                <a:ea typeface="Yu Gothic"/>
              </a:rPr>
              <a:t>Repeated links may reduce the floor further.</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Summary</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pPr algn="l">
              <a:lnSpc>
                <a:spcPct val="110000"/>
              </a:lnSpc>
              <a:spcAft>
                <a:spcPts val="0"/>
              </a:spcAft>
            </a:pPr>
            <a:r>
              <a:rPr lang="en-US" sz="3200" b="1" dirty="0">
                <a:solidFill>
                  <a:srgbClr val="082B52"/>
                </a:solidFill>
                <a:latin typeface="Arial" panose="020B0604020202020204" pitchFamily="34" charset="0"/>
                <a:ea typeface="Yu Gothic"/>
              </a:rPr>
              <a:t>Contribution</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643808" y="3383280"/>
            <a:ext cx="9229345"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984927" y="3785133"/>
            <a:ext cx="6547104" cy="652486"/>
          </a:xfrm>
          <a:prstGeom prst="rect">
            <a:avLst/>
          </a:prstGeom>
          <a:noFill/>
        </p:spPr>
        <p:txBody>
          <a:bodyPr wrap="square" lIns="45720" tIns="18288" rIns="45720" bIns="18288" anchor="t">
            <a:spAutoFit/>
          </a:bodyPr>
          <a:lstStyle/>
          <a:p>
            <a:pPr algn="ctr">
              <a:spcAft>
                <a:spcPts val="0"/>
              </a:spcAft>
            </a:pPr>
            <a:r>
              <a:rPr lang="en-US" sz="4000" b="1">
                <a:solidFill>
                  <a:srgbClr val="1B74AA"/>
                </a:solidFill>
                <a:latin typeface="Arial" panose="020B0604020202020204" pitchFamily="34" charset="0"/>
                <a:ea typeface="Yu Gothic"/>
              </a:rPr>
              <a:t>4.9 µrad</a:t>
            </a:r>
            <a:endParaRPr lang="en-US" sz="4000" b="1" dirty="0">
              <a:solidFill>
                <a:srgbClr val="1B74AA"/>
              </a:solidFill>
              <a:latin typeface="Arial" panose="020B0604020202020204" pitchFamily="34" charset="0"/>
              <a:ea typeface="Yu Gothic"/>
            </a:endParaRPr>
          </a:p>
        </p:txBody>
      </p:sp>
      <p:sp>
        <p:nvSpPr>
          <p:cNvPr id="7" name="TextBox 6"/>
          <p:cNvSpPr txBox="1"/>
          <p:nvPr/>
        </p:nvSpPr>
        <p:spPr>
          <a:xfrm>
            <a:off x="3248764" y="5013078"/>
            <a:ext cx="8019431" cy="1057405"/>
          </a:xfrm>
          <a:prstGeom prst="rect">
            <a:avLst/>
          </a:prstGeom>
          <a:noFill/>
        </p:spPr>
        <p:txBody>
          <a:bodyPr wrap="square" lIns="45720" tIns="18288" rIns="45720" bIns="18288" anchor="t">
            <a:spAutoFit/>
          </a:bodyPr>
          <a:lstStyle/>
          <a:p>
            <a:pPr algn="ctr">
              <a:lnSpc>
                <a:spcPct val="105000"/>
              </a:lnSpc>
              <a:spcAft>
                <a:spcPts val="0"/>
              </a:spcAft>
            </a:pPr>
            <a:r>
              <a:rPr lang="en-US" sz="3200" b="0">
                <a:latin typeface="Arial" panose="020B0604020202020204" pitchFamily="34" charset="0"/>
                <a:ea typeface="Yu Gothic"/>
              </a:rPr>
              <a:t>Median corrected dominant-axis RMSE
(raw median: 615 µrad)</a:t>
            </a:r>
            <a:endParaRPr lang="en-US" sz="3200" b="0" dirty="0" err="1">
              <a:latin typeface="Arial" panose="020B0604020202020204" pitchFamily="34" charset="0"/>
              <a:ea typeface="Yu Gothic"/>
            </a:endParaRPr>
          </a:p>
        </p:txBody>
      </p:sp>
      <p:sp>
        <p:nvSpPr>
          <p:cNvPr id="11" name="Rounded Rectangle 10"/>
          <p:cNvSpPr/>
          <p:nvPr/>
        </p:nvSpPr>
        <p:spPr>
          <a:xfrm>
            <a:off x="12145617" y="3383280"/>
            <a:ext cx="9229345"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3530993" y="3786565"/>
            <a:ext cx="6547104" cy="652486"/>
          </a:xfrm>
          <a:prstGeom prst="rect">
            <a:avLst/>
          </a:prstGeom>
          <a:noFill/>
        </p:spPr>
        <p:txBody>
          <a:bodyPr wrap="square" lIns="45720" tIns="18288" rIns="45720" bIns="18288" anchor="t">
            <a:spAutoFit/>
          </a:bodyPr>
          <a:lstStyle/>
          <a:p>
            <a:pPr algn="ctr">
              <a:spcAft>
                <a:spcPts val="0"/>
              </a:spcAft>
            </a:pPr>
            <a:r>
              <a:rPr lang="en-US" sz="4000" b="1">
                <a:solidFill>
                  <a:srgbClr val="EC9427"/>
                </a:solidFill>
                <a:latin typeface="Arial" panose="020B0604020202020204" pitchFamily="34" charset="0"/>
                <a:ea typeface="Yu Gothic"/>
              </a:rPr>
              <a:t>19.2 → 5.45 s</a:t>
            </a:r>
            <a:endParaRPr lang="en-US" sz="4000" b="1" dirty="0">
              <a:solidFill>
                <a:srgbClr val="EC9427"/>
              </a:solidFill>
              <a:latin typeface="Arial" panose="020B0604020202020204" pitchFamily="34" charset="0"/>
              <a:ea typeface="Yu Gothic"/>
            </a:endParaRPr>
          </a:p>
        </p:txBody>
      </p:sp>
      <p:sp>
        <p:nvSpPr>
          <p:cNvPr id="13" name="TextBox 12"/>
          <p:cNvSpPr txBox="1"/>
          <p:nvPr/>
        </p:nvSpPr>
        <p:spPr>
          <a:xfrm>
            <a:off x="12408669" y="5013077"/>
            <a:ext cx="8703240" cy="1057405"/>
          </a:xfrm>
          <a:prstGeom prst="rect">
            <a:avLst/>
          </a:prstGeom>
          <a:noFill/>
        </p:spPr>
        <p:txBody>
          <a:bodyPr wrap="square" lIns="45720" tIns="18288" rIns="45720" bIns="18288" anchor="t">
            <a:spAutoFit/>
          </a:bodyPr>
          <a:lstStyle/>
          <a:p>
            <a:pPr algn="ctr">
              <a:lnSpc>
                <a:spcPct val="105000"/>
              </a:lnSpc>
              <a:spcAft>
                <a:spcPts val="0"/>
              </a:spcAft>
            </a:pPr>
            <a:r>
              <a:rPr lang="en-US" sz="3200" b="0">
                <a:latin typeface="Arial" panose="020B0604020202020204" pitchFamily="34" charset="0"/>
                <a:ea typeface="Yu Gothic"/>
              </a:rPr>
              <a:t>Mean acquisition time with nonthermal error
Success rate: 98% → 100%</a:t>
            </a:r>
            <a:endParaRPr lang="en-US" sz="3200" b="0" dirty="0">
              <a:latin typeface="Arial" panose="020B0604020202020204" pitchFamily="34" charset="0"/>
              <a:ea typeface="Yu Gothic"/>
            </a:endParaRPr>
          </a:p>
        </p:txBody>
      </p:sp>
      <p:sp>
        <p:nvSpPr>
          <p:cNvPr id="14" name="Rounded Rectangle 13"/>
          <p:cNvSpPr/>
          <p:nvPr/>
        </p:nvSpPr>
        <p:spPr>
          <a:xfrm>
            <a:off x="2643808" y="6949440"/>
            <a:ext cx="18731154" cy="5423358"/>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248764" y="7445006"/>
            <a:ext cx="16177216" cy="5161413"/>
          </a:xfrm>
          <a:prstGeom prst="rect">
            <a:avLst/>
          </a:prstGeom>
          <a:noFill/>
        </p:spPr>
        <p:txBody>
          <a:bodyPr wrap="square" lIns="45720" tIns="18288" rIns="45720" bIns="18288" anchor="t">
            <a:spAutoFit/>
          </a:bodyPr>
          <a:lstStyle/>
          <a:p>
            <a:pPr>
              <a:lnSpc>
                <a:spcPct val="125000"/>
              </a:lnSpc>
              <a:spcAft>
                <a:spcPts val="0"/>
              </a:spcAft>
            </a:pPr>
            <a:r>
              <a:rPr lang="en-US" sz="4000" dirty="0">
                <a:solidFill>
                  <a:srgbClr val="082B52"/>
                </a:solidFill>
                <a:latin typeface="Arial" panose="020B0604020202020204" pitchFamily="34" charset="0"/>
                <a:ea typeface="Yu Gothic"/>
              </a:rPr>
              <a:t>Results: </a:t>
            </a:r>
          </a:p>
          <a:p>
            <a:pPr>
              <a:lnSpc>
                <a:spcPct val="125000"/>
              </a:lnSpc>
              <a:spcAft>
                <a:spcPts val="0"/>
              </a:spcAft>
            </a:pPr>
            <a:r>
              <a:rPr lang="en-US" sz="3600" b="1">
                <a:solidFill>
                  <a:srgbClr val="082B52"/>
                </a:solidFill>
                <a:latin typeface="Arial" panose="020B0604020202020204" pitchFamily="34" charset="0"/>
                <a:ea typeface="Yu Gothic"/>
              </a:rPr>
              <a:t>For the evaluated box bus, the method can shorten pre-feedback link establishment.</a:t>
            </a:r>
            <a:endParaRPr lang="en-US" sz="3600" b="1" dirty="0">
              <a:solidFill>
                <a:srgbClr val="082B52"/>
              </a:solidFill>
              <a:latin typeface="Arial" panose="020B0604020202020204" pitchFamily="34" charset="0"/>
              <a:ea typeface="Yu Gothic"/>
            </a:endParaRPr>
          </a:p>
          <a:p>
            <a:pPr>
              <a:lnSpc>
                <a:spcPct val="125000"/>
              </a:lnSpc>
              <a:spcAft>
                <a:spcPts val="0"/>
              </a:spcAft>
            </a:pPr>
            <a:endParaRPr lang="en-US" sz="3600" b="1">
              <a:solidFill>
                <a:srgbClr val="082B52"/>
              </a:solidFill>
              <a:latin typeface="Arial" panose="020B0604020202020204" pitchFamily="34" charset="0"/>
              <a:ea typeface="Yu Gothic"/>
            </a:endParaRPr>
          </a:p>
          <a:p>
            <a:r>
              <a:rPr lang="en-US" altLang="ja-JP" sz="4000">
                <a:latin typeface="Arial" panose="020B0604020202020204" pitchFamily="34" charset="0"/>
              </a:rPr>
              <a:t>Contributions: </a:t>
            </a:r>
            <a:endParaRPr lang="en-US" altLang="ja-JP" sz="4000" dirty="0">
              <a:latin typeface="Arial" panose="020B0604020202020204" pitchFamily="34" charset="0"/>
            </a:endParaRPr>
          </a:p>
          <a:p>
            <a:r>
              <a:rPr lang="en-US" altLang="ja-JP" sz="3600" b="1">
                <a:latin typeface="Arial" panose="020B0604020202020204" pitchFamily="34" charset="0"/>
              </a:rPr>
              <a:t>STT–LCT relative LOS, cross-condition coefficient sharing, and connection to coarse-acquisition performance.</a:t>
            </a:r>
            <a:endParaRPr lang="en-US" altLang="ja-JP" sz="3600" b="1" dirty="0">
              <a:latin typeface="Arial" panose="020B0604020202020204" pitchFamily="34" charset="0"/>
            </a:endParaRPr>
          </a:p>
          <a:p>
            <a:endParaRPr lang="en-US" altLang="ja-JP" sz="3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Arial" panose="020B0604020202020204" pitchFamily="34" charset="0"/>
              <a:ea typeface="Yu Gothic"/>
            </a:endParaRPr>
          </a:p>
          <a:p>
            <a:pPr algn="l">
              <a:lnSpc>
                <a:spcPct val="110000"/>
              </a:lnSpc>
              <a:spcAft>
                <a:spcPts val="0"/>
              </a:spcAft>
            </a:pPr>
            <a:r>
              <a:rPr lang="en-US" altLang="ja-JP" sz="3200" b="1">
                <a:solidFill>
                  <a:srgbClr val="082B52"/>
                </a:solidFill>
                <a:latin typeface="Arial" panose="020B0604020202020204" pitchFamily="34" charset="0"/>
                <a:ea typeface="Yu Gothic"/>
              </a:rPr>
              <a:t>Limitations of this study </a:t>
            </a:r>
            <a:r>
              <a:rPr lang="ja-JP" altLang="en-US" sz="3200" b="1">
                <a:solidFill>
                  <a:srgbClr val="082B52"/>
                </a:solidFill>
                <a:latin typeface="Arial" panose="020B0604020202020204" pitchFamily="34" charset="0"/>
                <a:ea typeface="Yu Gothic"/>
              </a:rPr>
              <a:t>＆ </a:t>
            </a:r>
            <a:r>
              <a:rPr lang="en-US" altLang="ja-JP" sz="3200" b="1">
                <a:solidFill>
                  <a:srgbClr val="082B52"/>
                </a:solidFill>
                <a:latin typeface="Arial" panose="020B0604020202020204" pitchFamily="34" charset="0"/>
                <a:ea typeface="Yu Gothic"/>
              </a:rPr>
              <a:t>Future </a:t>
            </a:r>
            <a:r>
              <a:rPr lang="en-US" altLang="ja-JP" sz="3200" b="1" dirty="0">
                <a:solidFill>
                  <a:srgbClr val="082B52"/>
                </a:solidFill>
                <a:latin typeface="Arial" panose="020B0604020202020204" pitchFamily="34" charset="0"/>
                <a:ea typeface="Yu Gothic"/>
              </a:rPr>
              <a:t>work</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1B74AA"/>
                </a:solidFill>
                <a:latin typeface="Arial" panose="020B0604020202020204" pitchFamily="34" charset="0"/>
                <a:ea typeface="Yu Gothic"/>
              </a:rPr>
              <a:t>Validation scope</a:t>
            </a:r>
            <a:endParaRPr lang="en-US" sz="2600" b="1" dirty="0">
              <a:solidFill>
                <a:srgbClr val="1B74AA"/>
              </a:solidFill>
              <a:latin typeface="Arial" panose="020B0604020202020204" pitchFamily="34" charset="0"/>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Numerical evaluation: same structure and LOS definition</a:t>
            </a:r>
            <a:endParaRPr lang="en-US" sz="2800" b="0" dirty="0">
              <a:solidFill>
                <a:srgbClr val="232B34"/>
              </a:solidFill>
              <a:latin typeface="Arial" panose="020B0604020202020204" pitchFamily="34" charset="0"/>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EC9427"/>
                </a:solidFill>
                <a:latin typeface="Arial" panose="020B0604020202020204" pitchFamily="34" charset="0"/>
                <a:ea typeface="Yu Gothic"/>
              </a:rPr>
              <a:t>Model applicability</a:t>
            </a:r>
            <a:endParaRPr lang="en-US" sz="2600" b="1" dirty="0">
              <a:solidFill>
                <a:srgbClr val="EC9427"/>
              </a:solidFill>
              <a:latin typeface="Arial" panose="020B0604020202020204" pitchFamily="34" charset="0"/>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en-US" altLang="ja-JP" sz="2800">
                <a:latin typeface="Arial" panose="020B0604020202020204" pitchFamily="34" charset="0"/>
              </a:rPr>
              <a:t>No ground test; flight relevance of the analysis model and sensitivities remains unvalidated</a:t>
            </a:r>
            <a:endParaRPr lang="en-US" altLang="ja-JP" sz="2800" dirty="0">
              <a:latin typeface="Arial" panose="020B0604020202020204" pitchFamily="34" charset="0"/>
            </a:endParaRP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Arial" panose="020B0604020202020204" pitchFamily="34" charset="0"/>
                <a:ea typeface="Yu Gothic"/>
              </a:rPr>
              <a:t>LOS extraction</a:t>
            </a:r>
            <a:endParaRPr sz="2600" b="1" dirty="0">
              <a:solidFill>
                <a:srgbClr val="D03B46"/>
              </a:solidFill>
              <a:latin typeface="Arial" panose="020B0604020202020204" pitchFamily="34" charset="0"/>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Representative-node rotations; no interface rigid-body fit or internal STT/LCT deformation</a:t>
            </a:r>
            <a:endParaRPr lang="en-US" sz="2800" b="0" dirty="0">
              <a:solidFill>
                <a:srgbClr val="232B34"/>
              </a:solidFill>
              <a:latin typeface="Arial" panose="020B0604020202020204" pitchFamily="34" charset="0"/>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lang="en-US" sz="2600" b="1">
                <a:solidFill>
                  <a:srgbClr val="239571"/>
                </a:solidFill>
                <a:latin typeface="Arial" panose="020B0604020202020204" pitchFamily="34" charset="0"/>
                <a:ea typeface="Yu Gothic"/>
              </a:rPr>
              <a:t>Acquisition evaluation</a:t>
            </a:r>
            <a:endParaRPr lang="en-US" sz="2600" b="1" dirty="0">
              <a:solidFill>
                <a:srgbClr val="239571"/>
              </a:solidFill>
              <a:latin typeface="Arial" panose="020B0604020202020204" pitchFamily="34" charset="0"/>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en-US" altLang="ja-JP" sz="2800">
                <a:latin typeface="Arial" panose="020B0604020202020204" pitchFamily="34" charset="0"/>
              </a:rPr>
              <a:t>One nonthermal seed; simplified scan dynamics</a:t>
            </a:r>
            <a:endParaRPr lang="en-US" altLang="ja-JP" sz="2800" dirty="0">
              <a:latin typeface="Arial" panose="020B0604020202020204" pitchFamily="34" charset="0"/>
            </a:endParaRP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latin typeface="Arial" panose="020B0604020202020204" pitchFamily="34" charset="0"/>
              </a:rPr>
              <a:t>Future Work</a:t>
            </a:r>
            <a:r>
              <a:rPr lang="en-US" altLang="ja-JP" sz="2800" b="1">
                <a:latin typeface="Arial" panose="020B0604020202020204" pitchFamily="34" charset="0"/>
              </a:rPr>
              <a:t>: ground-test validation, coefficient re-identification for real spacecraft,</a:t>
            </a:r>
            <a:endParaRPr lang="en-US" altLang="ja-JP" sz="2800" b="1" dirty="0">
              <a:latin typeface="Arial" panose="020B0604020202020204" pitchFamily="34" charset="0"/>
            </a:endParaRPr>
          </a:p>
          <a:p>
            <a:pPr algn="ctr"/>
            <a:r>
              <a:rPr lang="en-US" altLang="ja-JP" sz="2800" b="1">
                <a:latin typeface="Arial" panose="020B0604020202020204" pitchFamily="34" charset="0"/>
              </a:rPr>
              <a:t> and onboard adaptation using post-acquisition residuals</a:t>
            </a:r>
            <a:endParaRPr lang="en-US" altLang="ja-JP" sz="2800" b="1" dirty="0">
              <a:latin typeface="Arial" panose="020B0604020202020204" pitchFamily="34" charset="0"/>
            </a:endParaRP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406265"/>
          </a:xfrm>
          <a:prstGeom prst="rect">
            <a:avLst/>
          </a:prstGeom>
          <a:noFill/>
        </p:spPr>
        <p:txBody>
          <a:bodyPr wrap="square" lIns="45720" tIns="18288" rIns="45720" bIns="18288" anchor="t">
            <a:spAutoFit/>
          </a:bodyPr>
          <a:lstStyle/>
          <a:p>
            <a:pPr algn="ctr">
              <a:spcAft>
                <a:spcPts val="0"/>
              </a:spcAft>
            </a:pPr>
            <a:r>
              <a:rPr lang="en-US" sz="2400" b="0">
                <a:solidFill>
                  <a:srgbClr val="666F79"/>
                </a:solidFill>
                <a:latin typeface="Arial" panose="020B0604020202020204" pitchFamily="34" charset="0"/>
                <a:ea typeface="Yu Gothic"/>
              </a:rPr>
              <a:t>Oral presentation at ICSO 2026 on October 15</a:t>
            </a:r>
            <a:endParaRPr lang="en-US" sz="2400" b="0" dirty="0">
              <a:solidFill>
                <a:srgbClr val="666F79"/>
              </a:solidFill>
              <a:latin typeface="Arial" panose="020B0604020202020204" pitchFamily="34" charset="0"/>
              <a:ea typeface="Yu Gothic"/>
            </a:endParaRP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498598"/>
          </a:xfrm>
          <a:prstGeom prst="rect">
            <a:avLst/>
          </a:prstGeom>
          <a:noFill/>
        </p:spPr>
        <p:txBody>
          <a:bodyPr wrap="square" lIns="45720" tIns="18288" rIns="45720" bIns="18288" anchor="t">
            <a:spAutoFit/>
          </a:bodyPr>
          <a:lstStyle/>
          <a:p>
            <a:pPr algn="ctr">
              <a:spcAft>
                <a:spcPts val="0"/>
              </a:spcAft>
            </a:pPr>
            <a:r>
              <a:rPr lang="en-US" sz="3000" b="1">
                <a:solidFill>
                  <a:srgbClr val="1B74AA"/>
                </a:solidFill>
                <a:latin typeface="Arial" panose="020B0604020202020204" pitchFamily="34" charset="0"/>
                <a:ea typeface="Yu Gothic"/>
              </a:rPr>
              <a:t>Thank you for your attention</a:t>
            </a:r>
            <a:endParaRPr lang="en-US" sz="3000" b="1" dirty="0">
              <a:solidFill>
                <a:srgbClr val="1B74AA"/>
              </a:solidFill>
              <a:latin typeface="Arial" panose="020B0604020202020204" pitchFamily="34" charset="0"/>
              <a:ea typeface="Yu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47842"/>
          </a:xfrm>
          <a:prstGeom prst="rect">
            <a:avLst/>
          </a:prstGeom>
          <a:noFill/>
        </p:spPr>
        <p:txBody>
          <a:bodyPr wrap="square" lIns="36576" tIns="27432" rIns="36576" bIns="27432" anchor="t">
            <a:spAutoFit/>
          </a:bodyPr>
          <a:lstStyle/>
          <a:p>
            <a:pPr algn="ctr">
              <a:spcAft>
                <a:spcPts val="0"/>
              </a:spcAft>
            </a:pPr>
            <a:r>
              <a:rPr lang="en-US" sz="3200" b="1">
                <a:solidFill>
                  <a:srgbClr val="5BB5D8"/>
                </a:solidFill>
                <a:latin typeface="Arial" panose="020B0604020202020204" pitchFamily="34" charset="0"/>
                <a:ea typeface="Yu Gothic"/>
              </a:rPr>
              <a:t>B</a:t>
            </a:r>
            <a:endParaRPr lang="en-US" sz="3200" b="1" dirty="0">
              <a:solidFill>
                <a:srgbClr val="5BB5D8"/>
              </a:solidFill>
              <a:latin typeface="Arial" panose="020B0604020202020204" pitchFamily="34" charset="0"/>
              <a:ea typeface="Yu Gothic"/>
            </a:endParaRP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Arial" panose="020B0604020202020204" pitchFamily="34" charset="0"/>
                <a:ea typeface="Yu Gothic"/>
              </a:rPr>
              <a:t>Appendix</a:t>
            </a:r>
            <a:endParaRPr sz="4400" b="1" dirty="0">
              <a:solidFill>
                <a:srgbClr val="FFFFFF"/>
              </a:solidFill>
              <a:latin typeface="Arial" panose="020B0604020202020204" pitchFamily="34" charset="0"/>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784545"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Positioning &amp; limitations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en-US" sz="3200" b="1" dirty="0">
                <a:solidFill>
                  <a:srgbClr val="082B52"/>
                </a:solidFill>
                <a:latin typeface="Arial" panose="020B0604020202020204" pitchFamily="34" charset="0"/>
              </a:rPr>
              <a:t>先行研究の存在：</a:t>
            </a:r>
            <a:r>
              <a:rPr lang="ja-JP" altLang="ja-JP" sz="3200" b="1" dirty="0">
                <a:latin typeface="Arial" panose="020B0604020202020204" pitchFamily="34" charset="0"/>
              </a:rPr>
              <a:t>温度差とLOSの一次関係は光学機器内でも報告されている</a:t>
            </a:r>
            <a:endParaRPr lang="ja-JP" altLang="ja-JP" sz="3200" dirty="0">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24</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962876" y="3246120"/>
            <a:ext cx="2967287"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JANUS / prior art</a:t>
            </a:r>
            <a:endParaRPr lang="en-US" sz="28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3098284"/>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a:t>
                </a:r>
                <a:r>
                  <a:rPr lang="en-US" altLang="ja-JP" sz="2600" b="1">
                    <a:solidFill>
                      <a:srgbClr val="1B74AA"/>
                    </a:solidFill>
                    <a:latin typeface="Arial" panose="020B0604020202020204" pitchFamily="34" charset="0"/>
                  </a:rPr>
                  <a:t> </a:t>
                </a:r>
                <a:r>
                  <a:rPr lang="ja-JP" altLang="ja-JP" sz="2600" dirty="0">
                    <a:latin typeface="Arial" panose="020B0604020202020204" pitchFamily="34" charset="0"/>
                  </a:rPr>
                  <a:t>光学ヘッド内部の壁面温度差から</a:t>
                </a:r>
                <a:r>
                  <a:rPr lang="ja-JP" altLang="en-US" sz="2600">
                    <a:latin typeface="Arial" panose="020B0604020202020204" pitchFamily="34" charset="0"/>
                  </a:rPr>
                  <a:t>熱ひずみ由来</a:t>
                </a:r>
                <a:r>
                  <a:rPr lang="en-US" altLang="ja-JP" sz="2600">
                    <a:latin typeface="Arial" panose="020B0604020202020204" pitchFamily="34" charset="0"/>
                  </a:rPr>
                  <a:t>LOS</a:t>
                </a:r>
                <a:r>
                  <a:rPr lang="ja-JP" altLang="en-US" sz="2600">
                    <a:latin typeface="Arial" panose="020B0604020202020204" pitchFamily="34" charset="0"/>
                  </a:rPr>
                  <a:t>誤差</a:t>
                </a:r>
                <a:r>
                  <a:rPr lang="ja-JP" altLang="ja-JP" sz="2600" dirty="0">
                    <a:latin typeface="Arial" panose="020B0604020202020204" pitchFamily="34" charset="0"/>
                  </a:rPr>
                  <a:t>を推定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latin typeface="Arial" panose="020B0604020202020204" pitchFamily="34" charset="0"/>
                  </a:rPr>
                  <a:t>の一次関係</a:t>
                </a:r>
                <a:r>
                  <a:rPr lang="ja-JP" altLang="en-US" sz="2600" dirty="0">
                    <a:latin typeface="Arial" panose="020B0604020202020204" pitchFamily="34" charset="0"/>
                  </a:rPr>
                  <a:t>とその係数</a:t>
                </a:r>
                <a:r>
                  <a:rPr lang="en-US" altLang="ja-JP" sz="2600" dirty="0">
                    <a:latin typeface="Arial" panose="020B0604020202020204" pitchFamily="34" charset="0"/>
                  </a:rPr>
                  <a:t>K</a:t>
                </a:r>
                <a:r>
                  <a:rPr lang="ja-JP" altLang="ja-JP" sz="2600" dirty="0">
                    <a:latin typeface="Arial" panose="020B0604020202020204" pitchFamily="34" charset="0"/>
                  </a:rPr>
                  <a:t>を地上試験で検証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温度センサ値からリアルタイムLOS推定を想定</a:t>
                </a:r>
                <a:r>
                  <a:rPr lang="ja-JP" altLang="en-US" sz="2600" dirty="0">
                    <a:latin typeface="Arial" panose="020B0604020202020204" pitchFamily="34" charset="0"/>
                  </a:rPr>
                  <a:t>する点で本研究に近い</a:t>
                </a:r>
                <a:endParaRPr sz="2600" dirty="0">
                  <a:solidFill>
                    <a:srgbClr val="232B34"/>
                  </a:solidFill>
                  <a:latin typeface="Arial" panose="020B0604020202020204" pitchFamily="34"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3098284"/>
              </a:xfrm>
              <a:prstGeom prst="rect">
                <a:avLst/>
              </a:prstGeom>
              <a:blipFill>
                <a:blip r:embed="rId3"/>
                <a:stretch>
                  <a:fillRect l="-3215" t="-2362" b="-4134"/>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latin typeface="Arial" panose="020B0604020202020204" pitchFamily="34" charset="0"/>
              </a:rPr>
              <a:t>本研究の貢献は、</a:t>
            </a:r>
            <a:endParaRPr lang="en-US" altLang="ja-JP" sz="2800" b="1" dirty="0">
              <a:solidFill>
                <a:schemeClr val="accent2"/>
              </a:solidFill>
              <a:latin typeface="Arial" panose="020B0604020202020204" pitchFamily="34" charset="0"/>
            </a:endParaRPr>
          </a:p>
          <a:p>
            <a:pPr algn="ctr"/>
            <a:r>
              <a:rPr lang="ja-JP" altLang="ja-JP" sz="2800" b="1" dirty="0">
                <a:solidFill>
                  <a:schemeClr val="accent2"/>
                </a:solidFill>
                <a:latin typeface="Arial" panose="020B0604020202020204" pitchFamily="34" charset="0"/>
              </a:rPr>
              <a:t>温度差–LOS</a:t>
            </a:r>
            <a:r>
              <a:rPr lang="ja-JP" altLang="en-US" sz="2800" b="1" dirty="0">
                <a:solidFill>
                  <a:schemeClr val="accent2"/>
                </a:solidFill>
                <a:latin typeface="Arial" panose="020B0604020202020204" pitchFamily="34" charset="0"/>
              </a:rPr>
              <a:t>の一次</a:t>
            </a:r>
            <a:r>
              <a:rPr lang="ja-JP" altLang="ja-JP" sz="2800" b="1" dirty="0">
                <a:solidFill>
                  <a:schemeClr val="accent2"/>
                </a:solidFill>
                <a:latin typeface="Arial" panose="020B0604020202020204" pitchFamily="34" charset="0"/>
              </a:rPr>
              <a:t>関係を衛星バス上のSTT–LCT相対LOS</a:t>
            </a:r>
            <a:r>
              <a:rPr lang="ja-JP" altLang="en-US" sz="2800" b="1" dirty="0">
                <a:solidFill>
                  <a:schemeClr val="accent2"/>
                </a:solidFill>
                <a:latin typeface="Arial" panose="020B0604020202020204" pitchFamily="34" charset="0"/>
              </a:rPr>
              <a:t>予測</a:t>
            </a:r>
            <a:r>
              <a:rPr lang="ja-JP" altLang="ja-JP" sz="2800" b="1" dirty="0">
                <a:solidFill>
                  <a:schemeClr val="accent2"/>
                </a:solidFill>
                <a:latin typeface="Arial" panose="020B0604020202020204" pitchFamily="34" charset="0"/>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955496" y="3246120"/>
            <a:ext cx="1750607" cy="486287"/>
          </a:xfrm>
          <a:prstGeom prst="rect">
            <a:avLst/>
          </a:prstGeom>
          <a:noFill/>
        </p:spPr>
        <p:txBody>
          <a:bodyPr wrap="none" lIns="36576" tIns="27432" rIns="36576" bIns="27432" anchor="t">
            <a:spAutoFit/>
          </a:bodyPr>
          <a:lstStyle/>
          <a:p>
            <a:pPr algn="ctr"/>
            <a:r>
              <a:rPr lang="en-US" sz="2800" b="1">
                <a:solidFill>
                  <a:srgbClr val="1B74AA"/>
                </a:solidFill>
                <a:latin typeface="Arial" panose="020B0604020202020204" pitchFamily="34" charset="0"/>
              </a:rPr>
              <a:t>This work</a:t>
            </a:r>
            <a:endParaRPr lang="en-US" sz="2800" b="1" dirty="0">
              <a:solidFill>
                <a:srgbClr val="1B74AA"/>
              </a:solidFill>
              <a:latin typeface="Arial" panose="020B0604020202020204" pitchFamily="34" charset="0"/>
            </a:endParaRP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ja-JP" altLang="ja-JP" sz="2600" dirty="0">
                <a:latin typeface="Arial" panose="020B0604020202020204" pitchFamily="34" charset="0"/>
              </a:rPr>
              <a:t>衛星バス上のSTT–LCT相対LOSを対象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太陽指向面–反対面温度差から軌道内変動を予測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発熱・被覆・軌道条件によるケースDCを階層化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予測LOSをscan center補正へ入力 捕捉成功率・捕捉時間まで評価</a:t>
            </a:r>
            <a:endParaRPr lang="en-US" altLang="ja-JP" sz="2600" dirty="0">
              <a:latin typeface="Arial" panose="020B0604020202020204" pitchFamily="34" charset="0"/>
            </a:endParaRPr>
          </a:p>
          <a:p>
            <a:pPr>
              <a:spcAft>
                <a:spcPts val="800"/>
              </a:spcAft>
            </a:pPr>
            <a:r>
              <a:rPr lang="en-US" altLang="ja-JP" sz="2600" b="1">
                <a:solidFill>
                  <a:srgbClr val="1B74AA"/>
                </a:solidFill>
                <a:latin typeface="Arial" panose="020B0604020202020204" pitchFamily="34" charset="0"/>
              </a:rPr>
              <a:t>• </a:t>
            </a:r>
            <a:r>
              <a:rPr lang="en-US" altLang="ja-JP" sz="2600">
                <a:latin typeface="Arial" panose="020B0604020202020204" pitchFamily="34" charset="0"/>
              </a:rPr>
              <a:t>※</a:t>
            </a:r>
            <a:r>
              <a:rPr lang="ja-JP" altLang="en-US" sz="2600" dirty="0">
                <a:latin typeface="Arial" panose="020B0604020202020204" pitchFamily="34" charset="0"/>
              </a:rPr>
              <a:t>非支配軸・別構造・飛行実証は未評価</a:t>
            </a:r>
            <a:endParaRPr sz="2600" dirty="0">
              <a:latin typeface="Arial" panose="020B0604020202020204" pitchFamily="34" charset="0"/>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latin typeface="Arial" panose="020B0604020202020204" pitchFamily="34" charset="0"/>
              </a:rPr>
              <a:t>25 cm</a:t>
            </a:r>
            <a:r>
              <a:rPr kumimoji="1" lang="ja-JP" altLang="en-US" dirty="0">
                <a:latin typeface="Arial" panose="020B0604020202020204" pitchFamily="34" charset="0"/>
              </a:rPr>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latin typeface="Arial" panose="020B0604020202020204" pitchFamily="34" charset="0"/>
                </a:endParaRPr>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latin typeface="Arial" panose="020B0604020202020204" pitchFamily="34" charset="0"/>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latin typeface="Arial" panose="020B0604020202020204" pitchFamily="34" charset="0"/>
              </a:rPr>
              <a:t>Optical Wall</a:t>
            </a:r>
            <a:endParaRPr kumimoji="1" lang="ja-JP" altLang="en-US" dirty="0">
              <a:latin typeface="Arial" panose="020B0604020202020204" pitchFamily="34" charset="0"/>
            </a:endParaRPr>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latin typeface="Arial" panose="020B0604020202020204" pitchFamily="34" charset="0"/>
              </a:rPr>
              <a:t>Buffle</a:t>
            </a:r>
            <a:r>
              <a:rPr kumimoji="1" lang="en-US" altLang="ja-JP" dirty="0">
                <a:latin typeface="Arial" panose="020B0604020202020204" pitchFamily="34" charset="0"/>
              </a:rPr>
              <a:t> Wall</a:t>
            </a:r>
            <a:endParaRPr kumimoji="1" lang="ja-JP" altLang="en-US" dirty="0">
              <a:latin typeface="Arial" panose="020B0604020202020204" pitchFamily="34"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983894"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PAT simulation conditions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ja-JP" sz="3200" b="1" dirty="0">
                <a:latin typeface="Arial" panose="020B0604020202020204" pitchFamily="34" charset="0"/>
              </a:rPr>
              <a:t>粗捕捉は矩形スパイラルの離散走査として簡略化する</a:t>
            </a:r>
            <a:endParaRPr lang="ja-JP" altLang="ja-JP" sz="3200" dirty="0">
              <a:latin typeface="Arial" panose="020B0604020202020204" pitchFamily="34" charset="0"/>
            </a:endParaRPr>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25</a:t>
            </a:r>
            <a:endParaRPr sz="1800" b="0" dirty="0">
              <a:solidFill>
                <a:srgbClr val="666F79"/>
              </a:solidFill>
              <a:latin typeface="Arial" panose="020B0604020202020204" pitchFamily="34" charset="0"/>
            </a:endParaRPr>
          </a:p>
        </p:txBody>
      </p:sp>
      <p:graphicFrame>
        <p:nvGraphicFramePr>
          <p:cNvPr id="28" name="Table 27"/>
          <p:cNvGraphicFramePr>
            <a:graphicFrameLocks noGrp="1"/>
          </p:cNvGraphicFramePr>
          <p:nvPr>
            <p:extLst>
              <p:ext uri="{D42A27DB-BD31-4B8C-83A1-F6EECF244321}">
                <p14:modId xmlns:p14="http://schemas.microsoft.com/office/powerpoint/2010/main" val="2038516894"/>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latin typeface="Arial" panose="020B0604020202020204" pitchFamily="34" charset="0"/>
                        </a:rPr>
                        <a:t>パラメータ</a:t>
                      </a:r>
                    </a:p>
                  </a:txBody>
                  <a:tcPr anchor="ctr">
                    <a:solidFill>
                      <a:srgbClr val="082B52"/>
                    </a:solidFill>
                  </a:tcPr>
                </a:tc>
                <a:tc>
                  <a:txBody>
                    <a:bodyPr/>
                    <a:lstStyle/>
                    <a:p>
                      <a:pPr algn="l">
                        <a:buNone/>
                      </a:pPr>
                      <a:r>
                        <a:rPr lang="ja-JP" sz="2400">
                          <a:latin typeface="Arial" panose="020B0604020202020204" pitchFamily="34" charset="0"/>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latin typeface="Arial" panose="020B0604020202020204" pitchFamily="34" charset="0"/>
                        </a:rPr>
                        <a:t>走査範囲</a:t>
                      </a:r>
                    </a:p>
                  </a:txBody>
                  <a:tcPr anchor="ctr">
                    <a:solidFill>
                      <a:srgbClr val="FFFFFF"/>
                    </a:solidFill>
                  </a:tcPr>
                </a:tc>
                <a:tc>
                  <a:txBody>
                    <a:bodyPr/>
                    <a:lstStyle/>
                    <a:p>
                      <a:pPr algn="l">
                        <a:buNone/>
                      </a:pPr>
                      <a:r>
                        <a:rPr lang="en-US" altLang="ja-JP" sz="2400">
                          <a:latin typeface="Arial" panose="020B0604020202020204" pitchFamily="34" charset="0"/>
                        </a:rPr>
                        <a:t>±1600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latin typeface="Arial" panose="020B0604020202020204" pitchFamily="34" charset="0"/>
                        </a:rPr>
                        <a:t>点間隔</a:t>
                      </a:r>
                    </a:p>
                  </a:txBody>
                  <a:tcPr anchor="ctr">
                    <a:solidFill>
                      <a:srgbClr val="F4F6F8"/>
                    </a:solidFill>
                  </a:tcPr>
                </a:tc>
                <a:tc>
                  <a:txBody>
                    <a:bodyPr/>
                    <a:lstStyle/>
                    <a:p>
                      <a:pPr algn="l">
                        <a:buNone/>
                      </a:pPr>
                      <a:r>
                        <a:rPr lang="en-US" altLang="ja-JP" sz="2400">
                          <a:latin typeface="Arial" panose="020B0604020202020204" pitchFamily="34" charset="0"/>
                        </a:rPr>
                        <a:t>40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latin typeface="Arial" panose="020B0604020202020204" pitchFamily="34" charset="0"/>
                        </a:rPr>
                        <a:t>検出半径</a:t>
                      </a:r>
                    </a:p>
                  </a:txBody>
                  <a:tcPr anchor="ctr">
                    <a:solidFill>
                      <a:srgbClr val="FFFFFF"/>
                    </a:solidFill>
                  </a:tcPr>
                </a:tc>
                <a:tc>
                  <a:txBody>
                    <a:bodyPr/>
                    <a:lstStyle/>
                    <a:p>
                      <a:pPr algn="l">
                        <a:buNone/>
                      </a:pPr>
                      <a:r>
                        <a:rPr lang="en-US" altLang="ja-JP" sz="2400">
                          <a:latin typeface="Arial" panose="020B0604020202020204" pitchFamily="34" charset="0"/>
                        </a:rPr>
                        <a:t>25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latin typeface="Arial" panose="020B0604020202020204" pitchFamily="34" charset="0"/>
                        </a:rPr>
                        <a:t>滞在時間</a:t>
                      </a:r>
                    </a:p>
                  </a:txBody>
                  <a:tcPr anchor="ctr">
                    <a:solidFill>
                      <a:srgbClr val="F4F6F8"/>
                    </a:solidFill>
                  </a:tcPr>
                </a:tc>
                <a:tc>
                  <a:txBody>
                    <a:bodyPr/>
                    <a:lstStyle/>
                    <a:p>
                      <a:pPr algn="l">
                        <a:buNone/>
                      </a:pPr>
                      <a:r>
                        <a:rPr lang="ja-JP" sz="2400" dirty="0">
                          <a:latin typeface="Arial" panose="020B0604020202020204" pitchFamily="34" charset="0"/>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latin typeface="Arial" panose="020B0604020202020204" pitchFamily="34" charset="0"/>
                        </a:rPr>
                        <a:t>総走査点数</a:t>
                      </a:r>
                    </a:p>
                  </a:txBody>
                  <a:tcPr anchor="ctr">
                    <a:solidFill>
                      <a:srgbClr val="FFFFFF"/>
                    </a:solidFill>
                  </a:tcPr>
                </a:tc>
                <a:tc>
                  <a:txBody>
                    <a:bodyPr/>
                    <a:lstStyle/>
                    <a:p>
                      <a:pPr algn="l">
                        <a:buNone/>
                      </a:pPr>
                      <a:r>
                        <a:rPr lang="ja-JP" sz="2400" dirty="0">
                          <a:latin typeface="Arial" panose="020B0604020202020204" pitchFamily="34" charset="0"/>
                        </a:rPr>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latin typeface="Arial" panose="020B0604020202020204" pitchFamily="34" charset="0"/>
                        </a:rPr>
                        <a:t>最大走査時間</a:t>
                      </a:r>
                    </a:p>
                  </a:txBody>
                  <a:tcPr anchor="ctr">
                    <a:solidFill>
                      <a:srgbClr val="F4F6F8"/>
                    </a:solidFill>
                  </a:tcPr>
                </a:tc>
                <a:tc>
                  <a:txBody>
                    <a:bodyPr/>
                    <a:lstStyle/>
                    <a:p>
                      <a:pPr algn="l">
                        <a:buNone/>
                      </a:pPr>
                      <a:r>
                        <a:rPr lang="en-US" altLang="ja-JP" sz="2400">
                          <a:latin typeface="Arial" panose="020B0604020202020204" pitchFamily="34" charset="0"/>
                        </a:rPr>
                        <a:t>656.1 s</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妥当な</a:t>
            </a:r>
            <a:r>
              <a:rPr lang="ja-JP" altLang="ja-JP" dirty="0">
                <a:latin typeface="Arial" panose="020B0604020202020204" pitchFamily="34" charset="0"/>
              </a:rPr>
              <a:t>検出半径またはstep</a:t>
            </a:r>
            <a:r>
              <a:rPr lang="ja-JP" altLang="en-US" dirty="0">
                <a:latin typeface="Arial" panose="020B0604020202020204" pitchFamily="34" charset="0"/>
              </a:rPr>
              <a:t>は</a:t>
            </a:r>
            <a:r>
              <a:rPr lang="ja-JP" altLang="ja-JP" dirty="0">
                <a:latin typeface="Arial" panose="020B0604020202020204" pitchFamily="34" charset="0"/>
              </a:rPr>
              <a:t>後で再検討する</a:t>
            </a:r>
            <a:endParaRPr lang="ja-JP" altLang="en-US" dirty="0">
              <a:latin typeface="Arial" panose="020B0604020202020204" pitchFamily="34" charset="0"/>
            </a:endParaRPr>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422266"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Orbit prediction error</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pPr algn="l"/>
            <a:r>
              <a:rPr lang="ja-JP" altLang="en-US" sz="3200" b="1" dirty="0">
                <a:solidFill>
                  <a:srgbClr val="082B52"/>
                </a:solidFill>
                <a:latin typeface="Arial" panose="020B0604020202020204" pitchFamily="34" charset="0"/>
              </a:rPr>
              <a:t>軌道予測誤差：自身の</a:t>
            </a:r>
            <a:r>
              <a:rPr sz="3200" b="1" dirty="0" err="1">
                <a:solidFill>
                  <a:srgbClr val="082B52"/>
                </a:solidFill>
                <a:latin typeface="Arial" panose="020B0604020202020204" pitchFamily="34" charset="0"/>
              </a:rPr>
              <a:t>位置誤差をリンクLOS横断面へ投影し</a:t>
            </a:r>
            <a:r>
              <a:rPr sz="3200" b="1" dirty="0">
                <a:solidFill>
                  <a:srgbClr val="082B52"/>
                </a:solidFill>
                <a:latin typeface="Arial" panose="020B0604020202020204" pitchFamily="34" charset="0"/>
              </a:rPr>
              <a:t>、</a:t>
            </a:r>
            <a:r>
              <a:rPr lang="ja-JP" altLang="en-US" sz="3200" b="1" dirty="0">
                <a:solidFill>
                  <a:srgbClr val="082B52"/>
                </a:solidFill>
                <a:latin typeface="Arial" panose="020B0604020202020204" pitchFamily="34" charset="0"/>
              </a:rPr>
              <a:t>衛星の座標系 </a:t>
            </a:r>
            <a:r>
              <a:rPr sz="3200" b="1" dirty="0">
                <a:solidFill>
                  <a:srgbClr val="082B52"/>
                </a:solidFill>
                <a:latin typeface="Arial" panose="020B0604020202020204" pitchFamily="34" charset="0"/>
              </a:rPr>
              <a:t>STT/body x–</a:t>
            </a:r>
            <a:r>
              <a:rPr sz="3200" b="1" dirty="0" err="1">
                <a:solidFill>
                  <a:srgbClr val="082B52"/>
                </a:solidFill>
                <a:latin typeface="Arial" panose="020B0604020202020204" pitchFamily="34" charset="0"/>
              </a:rPr>
              <a:t>yへ変換する</a:t>
            </a:r>
            <a:endParaRPr sz="3200" b="1" dirty="0">
              <a:solidFill>
                <a:srgbClr val="082B52"/>
              </a:solidFill>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26</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1405513"/>
          </a:xfrm>
          <a:prstGeom prst="rect">
            <a:avLst/>
          </a:prstGeom>
          <a:noFill/>
        </p:spPr>
        <p:txBody>
          <a:bodyPr wrap="square" lIns="27432" rIns="27432">
            <a:spAutoFit/>
          </a:bodyPr>
          <a:lstStyle/>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orbit </a:t>
            </a:r>
            <a:r>
              <a:rPr sz="2400" dirty="0" err="1">
                <a:solidFill>
                  <a:srgbClr val="232B34"/>
                </a:solidFill>
                <a:latin typeface="Arial" panose="020B0604020202020204" pitchFamily="34" charset="0"/>
              </a:rPr>
              <a:t>catalogから姿勢を構成</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STT</a:t>
            </a:r>
            <a:r>
              <a:rPr sz="2400" dirty="0">
                <a:solidFill>
                  <a:srgbClr val="232B34"/>
                </a:solidFill>
                <a:latin typeface="Arial" panose="020B0604020202020204" pitchFamily="34" charset="0"/>
              </a:rPr>
              <a:t>/body x–</a:t>
            </a:r>
            <a:r>
              <a:rPr sz="2400" dirty="0" err="1">
                <a:solidFill>
                  <a:srgbClr val="232B34"/>
                </a:solidFill>
                <a:latin typeface="Arial" panose="020B0604020202020204" pitchFamily="34" charset="0"/>
              </a:rPr>
              <a:t>yへ射影</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熱</a:t>
            </a:r>
            <a:r>
              <a:rPr sz="2400" dirty="0">
                <a:solidFill>
                  <a:srgbClr val="232B34"/>
                </a:solidFill>
                <a:latin typeface="Arial" panose="020B0604020202020204" pitchFamily="34" charset="0"/>
              </a:rPr>
              <a:t>LOSと同じ2成分で加算</a:t>
            </a:r>
          </a:p>
        </p:txBody>
      </p:sp>
      <p:graphicFrame>
        <p:nvGraphicFramePr>
          <p:cNvPr id="9" name="Table 8"/>
          <p:cNvGraphicFramePr>
            <a:graphicFrameLocks noGrp="1"/>
          </p:cNvGraphicFramePr>
          <p:nvPr>
            <p:extLst>
              <p:ext uri="{D42A27DB-BD31-4B8C-83A1-F6EECF244321}">
                <p14:modId xmlns:p14="http://schemas.microsoft.com/office/powerpoint/2010/main" val="1704364385"/>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lang="en-US" sz="2100" b="1">
                          <a:solidFill>
                            <a:srgbClr val="FFFFFF"/>
                          </a:solidFill>
                          <a:latin typeface="Arial" panose="020B0604020202020204" pitchFamily="34" charset="0"/>
                        </a:rPr>
                        <a:t>Sun</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Partner / link</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Status</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lang="en-US" sz="2100" b="0">
                          <a:solidFill>
                            <a:srgbClr val="232B34"/>
                          </a:solidFill>
                          <a:latin typeface="Arial" panose="020B0604020202020204" pitchFamily="34" charset="0"/>
                        </a:rPr>
                        <a:t>MY</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along-track ISL 800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lang="en-US" sz="2100" b="0">
                          <a:solidFill>
                            <a:srgbClr val="232B34"/>
                          </a:solidFill>
                          <a:latin typeface="Arial" panose="020B0604020202020204" pitchFamily="34" charset="0"/>
                        </a:rPr>
                        <a:t>PY</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anti-along ISL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lang="en-US" sz="2100" b="0">
                          <a:solidFill>
                            <a:srgbClr val="232B34"/>
                          </a:solidFill>
                          <a:latin typeface="Arial" panose="020B0604020202020204" pitchFamily="34" charset="0"/>
                        </a:rPr>
                        <a:t>PX</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nadir ground ~695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lang="en-US" sz="2100" b="0">
                          <a:solidFill>
                            <a:srgbClr val="232B34"/>
                          </a:solidFill>
                          <a:latin typeface="Arial" panose="020B0604020202020204" pitchFamily="34" charset="0"/>
                        </a:rPr>
                        <a:t>MX</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zenith proxy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unrealistic</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B1｜21ケースの内訳と評価ID</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351869942"/>
              </p:ext>
            </p:extLst>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lang="en-US" sz="2300" b="0">
                          <a:solidFill>
                            <a:srgbClr val="232B34"/>
                          </a:solidFill>
                          <a:latin typeface="Arial" panose="020B0604020202020204" pitchFamily="34" charset="0"/>
                          <a:ea typeface="Yu Gothic"/>
                        </a:rPr>
                        <a:t>04, 13–15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lang="en-US" sz="2300" b="0">
                          <a:solidFill>
                            <a:srgbClr val="232B34"/>
                          </a:solidFill>
                          <a:latin typeface="Arial" panose="020B0604020202020204" pitchFamily="34" charset="0"/>
                          <a:ea typeface="Yu Gothic"/>
                        </a:rPr>
                        <a:t>08, 16, 18, 19</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lang="en-US" sz="2300" b="0">
                          <a:solidFill>
                            <a:srgbClr val="232B34"/>
                          </a:solidFill>
                          <a:latin typeface="Arial" panose="020B0604020202020204" pitchFamily="34" charset="0"/>
                          <a:ea typeface="Yu Gothic"/>
                        </a:rPr>
                        <a:t>05, 06, 20, 21</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PX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lang="en-US" sz="2300" b="0">
                          <a:solidFill>
                            <a:srgbClr val="232B34"/>
                          </a:solidFill>
                          <a:latin typeface="Arial" panose="020B0604020202020204" pitchFamily="34" charset="0"/>
                          <a:ea typeface="Yu Gothic"/>
                        </a:rPr>
                        <a:t>09, 17, 23, 24</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lang="en-US" sz="2300" b="0">
                          <a:solidFill>
                            <a:srgbClr val="232B34"/>
                          </a:solidFill>
                          <a:latin typeface="Arial" panose="020B0604020202020204" pitchFamily="34" charset="0"/>
                          <a:ea typeface="Yu Gothic"/>
                        </a:rPr>
                        <a:t>10–12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lang="en-US" sz="2300" b="0">
                          <a:solidFill>
                            <a:srgbClr val="232B34"/>
                          </a:solidFill>
                          <a:latin typeface="Arial" panose="020B0604020202020204" pitchFamily="34" charset="0"/>
                          <a:ea typeface="Yu Gothic"/>
                        </a:rPr>
                        <a:t>22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lang="en-US" sz="2300" b="0">
                          <a:solidFill>
                            <a:srgbClr val="232B34"/>
                          </a:solidFill>
                          <a:latin typeface="Arial" panose="020B0604020202020204" pitchFamily="34" charset="0"/>
                          <a:ea typeface="Yu Gothic"/>
                        </a:rPr>
                        <a:t>25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333122"/>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評価IDは 04–06 と 08–25。01–03 と 07 はMZ太陽や設定確認のケースで除外</a:t>
            </a:r>
          </a:p>
          <a:p>
            <a:pPr algn="l">
              <a:lnSpc>
                <a:spcPct val="125000"/>
              </a:lnSpc>
              <a:spcAft>
                <a:spcPts val="0"/>
              </a:spcAft>
            </a:pPr>
            <a:r>
              <a:rPr sz="2300" b="0">
                <a:solidFill>
                  <a:srgbClr val="666F79"/>
                </a:solidFill>
                <a:latin typeface="Arial" panose="020B0604020202020204" pitchFamily="34" charset="0"/>
                <a:ea typeface="Yu Gothic"/>
              </a:rPr>
              <a:t>PZ/MZを太陽面にするケースは、その面にSTT/LCTがあるので設定しない</a:t>
            </a:r>
          </a:p>
          <a:p>
            <a:pPr algn="l">
              <a:lnSpc>
                <a:spcPct val="125000"/>
              </a:lnSpc>
              <a:spcAft>
                <a:spcPts val="0"/>
              </a:spcAft>
            </a:pPr>
            <a:r>
              <a:rPr sz="2300" b="0">
                <a:solidFill>
                  <a:srgbClr val="666F79"/>
                </a:solidFill>
                <a:latin typeface="Arial" panose="020B0604020202020204" pitchFamily="34" charset="0"/>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9922716"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B2｜矩形スパイラル走査の幾何</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794375970"/>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Arial" panose="020B0604020202020204" pitchFamily="34" charset="0"/>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Arial" panose="020B0604020202020204" pitchFamily="34" charset="0"/>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Arial" panose="020B0604020202020204" pitchFamily="34" charset="0"/>
                          <a:ea typeface="Yu Gothic"/>
                        </a:rPr>
                        <a:t>走査範囲</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±1600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Arial" panose="020B0604020202020204" pitchFamily="34" charset="0"/>
                          <a:ea typeface="Yu Gothic"/>
                        </a:rPr>
                        <a:t>点間隔</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120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Arial" panose="020B0604020202020204" pitchFamily="34" charset="0"/>
                          <a:ea typeface="Yu Gothic"/>
                        </a:rPr>
                        <a:t>検出半径</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150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Arial" panose="020B0604020202020204" pitchFamily="34" charset="0"/>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Arial" panose="020B0604020202020204" pitchFamily="34" charset="0"/>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Arial" panose="020B0604020202020204" pitchFamily="34" charset="0"/>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Arial" panose="020B0604020202020204" pitchFamily="34" charset="0"/>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Arial" panose="020B0604020202020204" pitchFamily="34" charset="0"/>
                          <a:ea typeface="Yu Gothic"/>
                        </a:rPr>
                        <a:t>最大走査時間</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72.9 s</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3" name="TextBox 32"/>
          <p:cNvSpPr txBox="1"/>
          <p:nvPr/>
        </p:nvSpPr>
        <p:spPr>
          <a:xfrm>
            <a:off x="12252960" y="9052560"/>
            <a:ext cx="10881360" cy="43435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Arial" panose="020B0604020202020204" pitchFamily="34" charset="0"/>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896205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B3｜軌道予測誤差の作り方と、リンク横断面への射影</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618024"/>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Arial" panose="020B0604020202020204" pitchFamily="34" charset="0"/>
                <a:ea typeface="Yu Gothic"/>
              </a:rPr>
              <a:t>• 真値は Sentinel-1 の高精度暦 POEORB</a:t>
            </a:r>
          </a:p>
          <a:p>
            <a:pPr>
              <a:lnSpc>
                <a:spcPct val="110000"/>
              </a:lnSpc>
              <a:spcAft>
                <a:spcPts val="1000"/>
              </a:spcAft>
            </a:pPr>
            <a:r>
              <a:rPr sz="2400" b="0">
                <a:solidFill>
                  <a:srgbClr val="232B34"/>
                </a:solidFill>
                <a:latin typeface="Arial" panose="020B0604020202020204" pitchFamily="34" charset="0"/>
                <a:ea typeface="Yu Gothic"/>
              </a:rPr>
              <a:t>• 予測は直近のTLEを SGP4 で前方伝播</a:t>
            </a:r>
          </a:p>
          <a:p>
            <a:pPr>
              <a:lnSpc>
                <a:spcPct val="110000"/>
              </a:lnSpc>
              <a:spcAft>
                <a:spcPts val="1000"/>
              </a:spcAft>
            </a:pPr>
            <a:r>
              <a:rPr sz="2400" b="0">
                <a:solidFill>
                  <a:srgbClr val="232B34"/>
                </a:solidFill>
                <a:latin typeface="Arial" panose="020B0604020202020204" pitchFamily="34" charset="0"/>
                <a:ea typeface="Yu Gothic"/>
              </a:rPr>
              <a:t>• 差をリンク横断面へ射影し、x–y の2成分にする</a:t>
            </a:r>
          </a:p>
          <a:p>
            <a:pPr>
              <a:lnSpc>
                <a:spcPct val="110000"/>
              </a:lnSpc>
              <a:spcAft>
                <a:spcPts val="1000"/>
              </a:spcAft>
            </a:pPr>
            <a:r>
              <a:rPr sz="2400" b="0">
                <a:solidFill>
                  <a:srgbClr val="232B34"/>
                </a:solidFill>
                <a:latin typeface="Arial" panose="020B0604020202020204" pitchFamily="34" charset="0"/>
                <a:ea typeface="Yu Gothic"/>
              </a:rPr>
              <a:t>• 熱LOSと同じ2成分で足し合わせる</a:t>
            </a:r>
          </a:p>
          <a:p>
            <a:pPr>
              <a:lnSpc>
                <a:spcPct val="110000"/>
              </a:lnSpc>
              <a:spcAft>
                <a:spcPts val="1000"/>
              </a:spcAft>
            </a:pPr>
            <a:r>
              <a:rPr sz="2400" b="0">
                <a:solidFill>
                  <a:srgbClr val="232B34"/>
                </a:solidFill>
                <a:latin typeface="Arial" panose="020B0604020202020204" pitchFamily="34" charset="0"/>
                <a:ea typeface="Yu Gothic"/>
              </a:rPr>
              <a:t>• 時系列の不連続は、TLEが更新された時刻</a:t>
            </a:r>
          </a:p>
        </p:txBody>
      </p:sp>
      <p:graphicFrame>
        <p:nvGraphicFramePr>
          <p:cNvPr id="9" name="Table 8"/>
          <p:cNvGraphicFramePr>
            <a:graphicFrameLocks noGrp="1"/>
          </p:cNvGraphicFramePr>
          <p:nvPr>
            <p:extLst>
              <p:ext uri="{D42A27DB-BD31-4B8C-83A1-F6EECF244321}">
                <p14:modId xmlns:p14="http://schemas.microsoft.com/office/powerpoint/2010/main" val="1382675216"/>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Arial" panose="020B0604020202020204" pitchFamily="34" charset="0"/>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lang="en-US" sz="2100" b="0">
                          <a:solidFill>
                            <a:srgbClr val="232B34"/>
                          </a:solidFill>
                          <a:latin typeface="Arial" panose="020B0604020202020204" pitchFamily="34" charset="0"/>
                          <a:ea typeface="Yu Gothic"/>
                        </a:rPr>
                        <a:t>MY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lang="en-US" sz="2100" b="0">
                          <a:solidFill>
                            <a:srgbClr val="232B34"/>
                          </a:solidFill>
                          <a:latin typeface="Arial" panose="020B0604020202020204" pitchFamily="34" charset="0"/>
                          <a:ea typeface="Yu Gothic"/>
                        </a:rPr>
                        <a:t>PY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lang="en-US" sz="2100" b="0">
                          <a:solidFill>
                            <a:srgbClr val="232B34"/>
                          </a:solidFill>
                          <a:latin typeface="Arial" panose="020B0604020202020204" pitchFamily="34" charset="0"/>
                          <a:ea typeface="Yu Gothic"/>
                        </a:rPr>
                        <a:t>PX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lang="en-US" sz="2100" b="0">
                          <a:solidFill>
                            <a:srgbClr val="232B34"/>
                          </a:solidFill>
                          <a:latin typeface="Arial" panose="020B0604020202020204" pitchFamily="34" charset="0"/>
                          <a:ea typeface="Yu Gothic"/>
                        </a:rPr>
                        <a:t>MX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525445"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B4｜熱と軌道予測は同じ軌道周期。周波数では分けない</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B4</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945079221"/>
              </p:ext>
            </p:extLst>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Arial" panose="020B0604020202020204" pitchFamily="34" charset="0"/>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Arial" panose="020B0604020202020204" pitchFamily="34" charset="0"/>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Arial" panose="020B0604020202020204" pitchFamily="34" charset="0"/>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Arial" panose="020B0604020202020204" pitchFamily="34" charset="0"/>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Arial" panose="020B0604020202020204" pitchFamily="34" charset="0"/>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913199"/>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Arial" panose="020B0604020202020204" pitchFamily="34" charset="0"/>
                <a:ea typeface="Yu Gothic"/>
              </a:rPr>
              <a:t>熱：約101分</a:t>
            </a:r>
          </a:p>
          <a:p>
            <a:pPr algn="ctr">
              <a:lnSpc>
                <a:spcPct val="120000"/>
              </a:lnSpc>
              <a:spcAft>
                <a:spcPts val="0"/>
              </a:spcAft>
            </a:pPr>
            <a:r>
              <a:rPr sz="2400" b="1">
                <a:solidFill>
                  <a:srgbClr val="EC9427"/>
                </a:solidFill>
                <a:latin typeface="Arial" panose="020B0604020202020204" pitchFamily="34" charset="0"/>
                <a:ea typeface="Yu Gothic"/>
              </a:rPr>
              <a:t>軌道予測：約101分 と約50分</a:t>
            </a:r>
          </a:p>
        </p:txBody>
      </p:sp>
      <p:sp>
        <p:nvSpPr>
          <p:cNvPr id="10" name="TextBox 9"/>
          <p:cNvSpPr txBox="1"/>
          <p:nvPr/>
        </p:nvSpPr>
        <p:spPr>
          <a:xfrm>
            <a:off x="1097280" y="11247120"/>
            <a:ext cx="22128480" cy="952633"/>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Arial" panose="020B0604020202020204" pitchFamily="34" charset="0"/>
                <a:ea typeface="Yu Gothic"/>
              </a:rPr>
              <a:t>熱ひずみと軌道予測誤差は、大きさも周波数帯も同程度</a:t>
            </a:r>
            <a:endParaRPr lang="en-US" sz="2900" b="1" dirty="0">
              <a:solidFill>
                <a:srgbClr val="D03B46"/>
              </a:solidFill>
              <a:latin typeface="Arial" panose="020B0604020202020204" pitchFamily="34" charset="0"/>
            </a:endParaRPr>
          </a:p>
          <a:p>
            <a:pPr algn="ctr">
              <a:lnSpc>
                <a:spcPct val="120000"/>
              </a:lnSpc>
              <a:spcAft>
                <a:spcPts val="0"/>
              </a:spcAft>
            </a:pPr>
            <a:r>
              <a:rPr sz="2500" b="1">
                <a:solidFill>
                  <a:srgbClr val="082B52"/>
                </a:solidFill>
                <a:latin typeface="Arial" panose="020B0604020202020204" pitchFamily="34" charset="0"/>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B5｜LOS定義の比較と、並進を入れない理由</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B5</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890693"/>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Arial" panose="020B0604020202020204" pitchFamily="34" charset="0"/>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B6（1/2）｜モデルが難しいケース</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459569381"/>
              </p:ext>
            </p:extLst>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Arial" panose="020B0604020202020204" pitchFamily="34" charset="0"/>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Arial" panose="020B0604020202020204" pitchFamily="34" charset="0"/>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Arial" panose="020B0604020202020204" pitchFamily="34" charset="0"/>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Arial" panose="020B0604020202020204" pitchFamily="34" charset="0"/>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Arial" panose="020B0604020202020204" pitchFamily="34" charset="0"/>
                <a:ea typeface="Yu Gothic"/>
              </a:rPr>
              <a:t>共通する構図</a:t>
            </a:r>
          </a:p>
        </p:txBody>
      </p:sp>
      <p:sp>
        <p:nvSpPr>
          <p:cNvPr id="8" name="TextBox 7"/>
          <p:cNvSpPr txBox="1"/>
          <p:nvPr/>
        </p:nvSpPr>
        <p:spPr>
          <a:xfrm>
            <a:off x="18288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時変の項ではなく、ケース平均の側が外れている。</a:t>
            </a:r>
          </a:p>
          <a:p>
            <a:pPr algn="l">
              <a:lnSpc>
                <a:spcPct val="125000"/>
              </a:lnSpc>
              <a:spcAft>
                <a:spcPts val="0"/>
              </a:spcAft>
            </a:pPr>
            <a:r>
              <a:rPr sz="2400" b="0">
                <a:solidFill>
                  <a:srgbClr val="232B34"/>
                </a:solidFill>
                <a:latin typeface="Arial" panose="020B0604020202020204" pitchFamily="34" charset="0"/>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Arial" panose="020B0604020202020204" pitchFamily="34" charset="0"/>
                <a:ea typeface="Yu Gothic"/>
              </a:rPr>
              <a:t>主結果の範囲</a:t>
            </a:r>
          </a:p>
        </p:txBody>
      </p:sp>
      <p:sp>
        <p:nvSpPr>
          <p:cNvPr id="11" name="TextBox 10"/>
          <p:cNvSpPr txBox="1"/>
          <p:nvPr/>
        </p:nvSpPr>
        <p:spPr>
          <a:xfrm>
            <a:off x="128016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標準COLD・標準表面の条件で、固定16係数のまま</a:t>
            </a:r>
          </a:p>
          <a:p>
            <a:pPr algn="l">
              <a:lnSpc>
                <a:spcPct val="125000"/>
              </a:lnSpc>
              <a:spcAft>
                <a:spcPts val="0"/>
              </a:spcAft>
            </a:pPr>
            <a:r>
              <a:rPr sz="2400" b="0">
                <a:solidFill>
                  <a:srgbClr val="232B34"/>
                </a:solidFill>
                <a:latin typeface="Arial" panose="020B0604020202020204" pitchFamily="34" charset="0"/>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390793"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B6（2/2）｜取付点の温度を足すと係数が壊れる</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試したこと</a:t>
            </a:r>
          </a:p>
        </p:txBody>
      </p:sp>
      <p:sp>
        <p:nvSpPr>
          <p:cNvPr id="7" name="TextBox 6"/>
          <p:cNvSpPr txBox="1"/>
          <p:nvPr/>
        </p:nvSpPr>
        <p:spPr>
          <a:xfrm>
            <a:off x="4663110" y="4434840"/>
            <a:ext cx="3383940" cy="1009507"/>
          </a:xfrm>
          <a:prstGeom prst="rect">
            <a:avLst/>
          </a:prstGeom>
          <a:noFill/>
        </p:spPr>
        <p:txBody>
          <a:bodyPr wrap="none" lIns="36576" tIns="27432" rIns="36576" bIns="27432" anchor="t">
            <a:spAutoFit/>
          </a:bodyPr>
          <a:lstStyle/>
          <a:p>
            <a:pPr algn="ctr"/>
            <a:r>
              <a:rPr lang="en-US" sz="3100" b="1">
                <a:solidFill>
                  <a:srgbClr val="082B52"/>
                </a:solidFill>
                <a:latin typeface="Arial" panose="020B0604020202020204" pitchFamily="34" charset="0"/>
              </a:rPr>
              <a:t>LOS = b + a·ΔT
+ c·(Tattach−Tref)</a:t>
            </a:r>
            <a:endParaRPr lang="en-US" sz="3100" b="1" dirty="0">
              <a:solidFill>
                <a:srgbClr val="082B52"/>
              </a:solidFill>
              <a:latin typeface="Arial" panose="020B0604020202020204" pitchFamily="34" charset="0"/>
            </a:endParaRPr>
          </a:p>
        </p:txBody>
      </p:sp>
      <p:sp>
        <p:nvSpPr>
          <p:cNvPr id="8" name="TextBox 7"/>
          <p:cNvSpPr txBox="1"/>
          <p:nvPr/>
        </p:nvSpPr>
        <p:spPr>
          <a:xfrm>
            <a:off x="1828800" y="6217920"/>
            <a:ext cx="9052560" cy="1650324"/>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Arial" panose="020B0604020202020204" pitchFamily="34" charset="0"/>
                <a:ea typeface="Yu Gothic"/>
              </a:rPr>
              <a:t>• 温度差と取付点温度の相関が 0.995</a:t>
            </a:r>
          </a:p>
          <a:p>
            <a:pPr>
              <a:lnSpc>
                <a:spcPct val="110000"/>
              </a:lnSpc>
              <a:spcAft>
                <a:spcPts val="1200"/>
              </a:spcAft>
            </a:pPr>
            <a:r>
              <a:rPr sz="2500" b="0">
                <a:solidFill>
                  <a:srgbClr val="232B34"/>
                </a:solidFill>
                <a:latin typeface="Arial" panose="020B0604020202020204" pitchFamily="34" charset="0"/>
                <a:ea typeface="Yu Gothic"/>
              </a:rPr>
              <a:t>• 取付点まわりの温度のばらつきは 0.1 K 程度</a:t>
            </a:r>
          </a:p>
          <a:p>
            <a:pPr>
              <a:lnSpc>
                <a:spcPct val="110000"/>
              </a:lnSpc>
              <a:spcAft>
                <a:spcPts val="1200"/>
              </a:spcAft>
            </a:pPr>
            <a:r>
              <a:rPr sz="2500" b="0">
                <a:solidFill>
                  <a:srgbClr val="232B34"/>
                </a:solidFill>
                <a:latin typeface="Arial" panose="020B0604020202020204" pitchFamily="34" charset="0"/>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解釈</a:t>
            </a:r>
          </a:p>
        </p:txBody>
      </p:sp>
      <p:sp>
        <p:nvSpPr>
          <p:cNvPr id="12" name="TextBox 11"/>
          <p:cNvSpPr txBox="1"/>
          <p:nvPr/>
        </p:nvSpPr>
        <p:spPr>
          <a:xfrm>
            <a:off x="14356080" y="4572000"/>
            <a:ext cx="7863840" cy="855619"/>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Arial" panose="020B0604020202020204" pitchFamily="34" charset="0"/>
                <a:ea typeface="Yu Gothic"/>
              </a:rPr>
              <a:t>効いていたのは軌道内の変動ではなく</a:t>
            </a:r>
          </a:p>
          <a:p>
            <a:pPr algn="ctr">
              <a:spcAft>
                <a:spcPts val="0"/>
              </a:spcAft>
            </a:pPr>
            <a:r>
              <a:rPr sz="2600" b="0">
                <a:solidFill>
                  <a:srgbClr val="232B34"/>
                </a:solidFill>
                <a:latin typeface="Arial" panose="020B0604020202020204" pitchFamily="34" charset="0"/>
                <a:ea typeface="Yu Gothic"/>
              </a:rPr>
              <a:t>ケース平均のDCだった</a:t>
            </a:r>
          </a:p>
        </p:txBody>
      </p:sp>
      <p:sp>
        <p:nvSpPr>
          <p:cNvPr id="13" name="TextBox 12"/>
          <p:cNvSpPr txBox="1"/>
          <p:nvPr/>
        </p:nvSpPr>
        <p:spPr>
          <a:xfrm>
            <a:off x="14721840" y="7543800"/>
            <a:ext cx="7132320" cy="470898"/>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Arial" panose="020B0604020202020204" pitchFamily="34" charset="0"/>
                <a:ea typeface="Yu Gothic"/>
              </a:rPr>
              <a:t>→ b_case 側へ分離した</a:t>
            </a:r>
          </a:p>
        </p:txBody>
      </p:sp>
      <p:sp>
        <p:nvSpPr>
          <p:cNvPr id="14" name="TextBox 13"/>
          <p:cNvSpPr txBox="1"/>
          <p:nvPr/>
        </p:nvSpPr>
        <p:spPr>
          <a:xfrm>
            <a:off x="3840480" y="10652760"/>
            <a:ext cx="16642080" cy="486287"/>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Arial" panose="020B0604020202020204" pitchFamily="34" charset="0"/>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B7｜平均だけを引いた場合（定数バイアスのみ）は未計算</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B7</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775597"/>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Arial" panose="020B0604020202020204" pitchFamily="34" charset="0"/>
                <a:ea typeface="Yu Gothic"/>
              </a:rPr>
              <a:t>未計算</a:t>
            </a:r>
          </a:p>
        </p:txBody>
      </p:sp>
      <p:sp>
        <p:nvSpPr>
          <p:cNvPr id="7" name="TextBox 6"/>
          <p:cNvSpPr txBox="1"/>
          <p:nvPr/>
        </p:nvSpPr>
        <p:spPr>
          <a:xfrm>
            <a:off x="2926080" y="5852160"/>
            <a:ext cx="18470880" cy="1039195"/>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Arial" panose="020B0604020202020204" pitchFamily="34" charset="0"/>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Arial" panose="020B0604020202020204" pitchFamily="34" charset="0"/>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Arial" panose="020B0604020202020204" pitchFamily="34" charset="0"/>
                <a:ea typeface="Yu Gothic"/>
              </a:rPr>
              <a:t>この列が示すはずのこと</a:t>
            </a:r>
          </a:p>
        </p:txBody>
      </p:sp>
      <p:sp>
        <p:nvSpPr>
          <p:cNvPr id="10" name="TextBox 9"/>
          <p:cNvSpPr txBox="1"/>
          <p:nvPr/>
        </p:nvSpPr>
        <p:spPr>
          <a:xfrm>
            <a:off x="32004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Arial" panose="020B0604020202020204" pitchFamily="34" charset="0"/>
                <a:ea typeface="Yu Gothic"/>
              </a:rPr>
              <a:t>7月に出した秒は流用しない</a:t>
            </a:r>
          </a:p>
        </p:txBody>
      </p:sp>
      <p:sp>
        <p:nvSpPr>
          <p:cNvPr id="13" name="TextBox 12"/>
          <p:cNvSpPr txBox="1"/>
          <p:nvPr/>
        </p:nvSpPr>
        <p:spPr>
          <a:xfrm>
            <a:off x="128016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406265"/>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Arial" panose="020B0604020202020204" pitchFamily="34" charset="0"/>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B8｜先行研究の位置づけ（2軸で見る）</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B8</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059908121"/>
              </p:ext>
            </p:extLst>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Arial" panose="020B0604020202020204" pitchFamily="34" charset="0"/>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lang="en-US" sz="2300" b="0">
                          <a:solidFill>
                            <a:srgbClr val="232B34"/>
                          </a:solidFill>
                          <a:latin typeface="Arial" panose="020B0604020202020204" pitchFamily="34" charset="0"/>
                          <a:ea typeface="Yu Gothic"/>
                        </a:rPr>
                        <a:t>Riesing 2023（TBIRD）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lang="en-US" sz="2300" b="0">
                          <a:solidFill>
                            <a:srgbClr val="232B34"/>
                          </a:solidFill>
                          <a:latin typeface="Arial" panose="020B0604020202020204" pitchFamily="34" charset="0"/>
                          <a:ea typeface="Yu Gothic"/>
                        </a:rPr>
                        <a:t>Shi 2023</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lang="en-US" sz="2300" b="0">
                          <a:solidFill>
                            <a:srgbClr val="232B34"/>
                          </a:solidFill>
                          <a:latin typeface="Arial" panose="020B0604020202020204" pitchFamily="34" charset="0"/>
                          <a:ea typeface="Yu Gothic"/>
                        </a:rPr>
                        <a:t>Hu 2022（GEO）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lang="en-US" sz="2300" b="0">
                          <a:solidFill>
                            <a:srgbClr val="232B34"/>
                          </a:solidFill>
                          <a:latin typeface="Arial" panose="020B0604020202020204" pitchFamily="34" charset="0"/>
                          <a:ea typeface="Yu Gothic"/>
                        </a:rPr>
                        <a:t>Li 2025（LEO）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lang="en-US" sz="2300" b="0">
                          <a:solidFill>
                            <a:srgbClr val="232B34"/>
                          </a:solidFill>
                          <a:latin typeface="Arial" panose="020B0604020202020204" pitchFamily="34" charset="0"/>
                          <a:ea typeface="Yu Gothic"/>
                        </a:rPr>
                        <a:t>JANUS（Turella）</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Arial" panose="020B0604020202020204" pitchFamily="34" charset="0"/>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406265"/>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Arial" panose="020B0604020202020204" pitchFamily="34" charset="0"/>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B9｜解析モデルの妥当性をどう検証するか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B9</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今日の主張の範囲</a:t>
            </a:r>
          </a:p>
        </p:txBody>
      </p:sp>
      <p:sp>
        <p:nvSpPr>
          <p:cNvPr id="7" name="TextBox 6"/>
          <p:cNvSpPr txBox="1"/>
          <p:nvPr/>
        </p:nvSpPr>
        <p:spPr>
          <a:xfrm>
            <a:off x="1737360" y="4434840"/>
            <a:ext cx="10058400" cy="1235788"/>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入っていないもの</a:t>
            </a:r>
          </a:p>
        </p:txBody>
      </p:sp>
      <p:sp>
        <p:nvSpPr>
          <p:cNvPr id="10" name="TextBox 9"/>
          <p:cNvSpPr txBox="1"/>
          <p:nvPr/>
        </p:nvSpPr>
        <p:spPr>
          <a:xfrm>
            <a:off x="13075920" y="443484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今後の検証</a:t>
            </a:r>
          </a:p>
        </p:txBody>
      </p:sp>
      <p:sp>
        <p:nvSpPr>
          <p:cNvPr id="13" name="TextBox 12"/>
          <p:cNvSpPr txBox="1"/>
          <p:nvPr/>
        </p:nvSpPr>
        <p:spPr>
          <a:xfrm>
            <a:off x="1737360" y="8458200"/>
            <a:ext cx="21214080" cy="863185"/>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437043"/>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Arial" panose="020B0604020202020204" pitchFamily="34" charset="0"/>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B10｜姿勢の前提と、変わる頻度</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B10</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前提</a:t>
            </a:r>
          </a:p>
        </p:txBody>
      </p:sp>
      <p:sp>
        <p:nvSpPr>
          <p:cNvPr id="7" name="TextBox 6"/>
          <p:cNvSpPr txBox="1"/>
          <p:nvPr/>
        </p:nvSpPr>
        <p:spPr>
          <a:xfrm>
            <a:off x="1737360" y="4526280"/>
            <a:ext cx="1005840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ジンバルの場合</a:t>
            </a:r>
          </a:p>
        </p:txBody>
      </p:sp>
      <p:sp>
        <p:nvSpPr>
          <p:cNvPr id="10" name="TextBox 9"/>
          <p:cNvSpPr txBox="1"/>
          <p:nvPr/>
        </p:nvSpPr>
        <p:spPr>
          <a:xfrm>
            <a:off x="13075920" y="452628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未解析</a:t>
            </a:r>
          </a:p>
        </p:txBody>
      </p:sp>
      <p:sp>
        <p:nvSpPr>
          <p:cNvPr id="13" name="TextBox 12"/>
          <p:cNvSpPr txBox="1"/>
          <p:nvPr/>
        </p:nvSpPr>
        <p:spPr>
          <a:xfrm>
            <a:off x="1737360" y="8823960"/>
            <a:ext cx="21214080" cy="438453"/>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B11｜残差Fourier更新の数値（予備）</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724011825"/>
              </p:ext>
            </p:extLst>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Arial" panose="020B0604020202020204" pitchFamily="34" charset="0"/>
                          <a:ea typeface="Yu Gothic"/>
                        </a:rPr>
                        <a:t>Case 13（MY）全誤差を直接Fourier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1.39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3.37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0.39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Arial" panose="020B0604020202020204" pitchFamily="34" charset="0"/>
                          <a:ea typeface="Yu Gothic"/>
                        </a:rPr>
                        <a:t>Case 13（MY）階層モデル＋残差Fourier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0.79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1.60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Arial" panose="020B0604020202020204" pitchFamily="34" charset="0"/>
                          <a:ea typeface="Yu Gothic"/>
                        </a:rPr>
                        <a:t>Case 16（PY）全誤差を直接Fourier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13.2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39.5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Arial" panose="020B0604020202020204" pitchFamily="34" charset="0"/>
                          <a:ea typeface="Yu Gothic"/>
                        </a:rPr>
                        <a:t>Case 16（PY）階層モデル＋残差Fourier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0.76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1.47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0.40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360099"/>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Arial" panose="020B0604020202020204" pitchFamily="34" charset="0"/>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421654"/>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Arial" panose="020B0604020202020204" pitchFamily="34" charset="0"/>
                <a:ea typeface="Yu Gothic"/>
              </a:rPr>
              <a:t>定数の残差更新との差</a:t>
            </a:r>
          </a:p>
        </p:txBody>
      </p:sp>
      <p:sp>
        <p:nvSpPr>
          <p:cNvPr id="9" name="TextBox 8"/>
          <p:cNvSpPr txBox="1"/>
          <p:nvPr/>
        </p:nvSpPr>
        <p:spPr>
          <a:xfrm>
            <a:off x="1737360" y="10012680"/>
            <a:ext cx="10058400" cy="404983"/>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421654"/>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Arial" panose="020B0604020202020204" pitchFamily="34" charset="0"/>
                <a:ea typeface="Yu Gothic"/>
              </a:rPr>
              <a:t>限界</a:t>
            </a:r>
          </a:p>
        </p:txBody>
      </p:sp>
      <p:sp>
        <p:nvSpPr>
          <p:cNvPr id="12" name="TextBox 11"/>
          <p:cNvSpPr txBox="1"/>
          <p:nvPr/>
        </p:nvSpPr>
        <p:spPr>
          <a:xfrm>
            <a:off x="13075920" y="10012680"/>
            <a:ext cx="9875520" cy="79432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390876"/>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Arial" panose="020B0604020202020204" pitchFamily="34" charset="0"/>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B12｜前に聞いた秒と、今日の秒の対応</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B12</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2831917550"/>
              </p:ext>
            </p:extLst>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Arial" panose="020B0604020202020204" pitchFamily="34" charset="0"/>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Arial" panose="020B0604020202020204" pitchFamily="34" charset="0"/>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Arial" panose="020B0604020202020204" pitchFamily="34" charset="0"/>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Arial" panose="020B0604020202020204" pitchFamily="34" charset="0"/>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Arial" panose="020B0604020202020204" pitchFamily="34" charset="0"/>
                          <a:ea typeface="Yu Gothic"/>
                        </a:rPr>
                        <a:t>今日（提出稿）</a:t>
                      </a:r>
                    </a:p>
                  </a:txBody>
                  <a:tcPr marL="128016" marR="128016" anchor="ctr">
                    <a:solidFill>
                      <a:srgbClr val="EAF8F1"/>
                    </a:solidFill>
                  </a:tcPr>
                </a:tc>
                <a:tc>
                  <a:txBody>
                    <a:bodyPr/>
                    <a:lstStyle/>
                    <a:p>
                      <a:pPr algn="l">
                        <a:spcAft>
                          <a:spcPts val="0"/>
                        </a:spcAft>
                      </a:pPr>
                      <a:r>
                        <a:rPr lang="en-US" sz="2200" b="1">
                          <a:solidFill>
                            <a:srgbClr val="232B34"/>
                          </a:solidFill>
                          <a:latin typeface="Arial" panose="020B0604020202020204" pitchFamily="34" charset="0"/>
                          <a:ea typeface="Yu Gothic"/>
                        </a:rPr>
                        <a:t>14.6 → 0.10 s、19.2 → 5.45 s</a:t>
                      </a:r>
                      <a:endParaRPr lang="en-US" sz="2200" b="1" dirty="0">
                        <a:solidFill>
                          <a:srgbClr val="232B34"/>
                        </a:solidFill>
                        <a:latin typeface="Arial" panose="020B0604020202020204" pitchFamily="34" charset="0"/>
                        <a:ea typeface="Yu Gothic"/>
                      </a:endParaRPr>
                    </a:p>
                  </a:txBody>
                  <a:tcPr marL="128016" marR="128016" anchor="ctr">
                    <a:solidFill>
                      <a:srgbClr val="EAF8F1"/>
                    </a:solidFill>
                  </a:tcPr>
                </a:tc>
                <a:tc>
                  <a:txBody>
                    <a:bodyPr/>
                    <a:lstStyle/>
                    <a:p>
                      <a:pPr algn="l">
                        <a:spcAft>
                          <a:spcPts val="0"/>
                        </a:spcAft>
                      </a:pPr>
                      <a:r>
                        <a:rPr sz="2200" b="1">
                          <a:solidFill>
                            <a:srgbClr val="232B34"/>
                          </a:solidFill>
                          <a:latin typeface="Arial" panose="020B0604020202020204" pitchFamily="34" charset="0"/>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964175"/>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Arial" panose="020B0604020202020204" pitchFamily="34" charset="0"/>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Arial" panose="020B0604020202020204" pitchFamily="34" charset="0"/>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5833</TotalTime>
  <Words>6739</Words>
  <Application>Microsoft Office PowerPoint</Application>
  <PresentationFormat>ユーザー設定</PresentationFormat>
  <Paragraphs>965</Paragraphs>
  <Slides>45</Slides>
  <Notes>45</Notes>
  <HiddenSlides>15</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45</vt:i4>
      </vt:variant>
    </vt:vector>
  </HeadingPairs>
  <TitlesOfParts>
    <vt:vector size="51" baseType="lpstr">
      <vt:lpstr>游ゴシック</vt:lpstr>
      <vt:lpstr>游ゴシック</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71</cp:revision>
  <cp:lastPrinted>2026-10-05T01:11:06Z</cp:lastPrinted>
  <dcterms:created xsi:type="dcterms:W3CDTF">2026-05-11T08:23:04Z</dcterms:created>
  <dcterms:modified xsi:type="dcterms:W3CDTF">2026-10-12T14:04:06Z</dcterms:modified>
</cp:coreProperties>
</file>