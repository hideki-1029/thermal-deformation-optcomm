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25D7"/>
    <a:srgbClr val="66A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7" autoAdjust="0"/>
    <p:restoredTop sz="91484" autoAdjust="0"/>
  </p:normalViewPr>
  <p:slideViewPr>
    <p:cSldViewPr snapToGrid="0">
      <p:cViewPr>
        <p:scale>
          <a:sx n="50" d="100"/>
          <a:sy n="50" d="100"/>
        </p:scale>
        <p:origin x="-168" y="-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80C97-2400-5344-89F3-3CED47A68B44}" type="datetimeFigureOut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54EC6-2177-1447-9798-A1A3B80469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362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77201" y="7340600"/>
            <a:ext cx="12431685" cy="2125436"/>
          </a:xfrm>
        </p:spPr>
        <p:txBody>
          <a:bodyPr anchor="b"/>
          <a:lstStyle>
            <a:lvl1pPr algn="l">
              <a:defRPr sz="4800" spc="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77201" y="9794966"/>
            <a:ext cx="12431684" cy="2351314"/>
          </a:xfrm>
        </p:spPr>
        <p:txBody>
          <a:bodyPr/>
          <a:lstStyle>
            <a:lvl1pPr marL="0" indent="0" algn="l">
              <a:lnSpc>
                <a:spcPct val="50000"/>
              </a:lnSpc>
              <a:buNone/>
              <a:defRPr sz="3600" b="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69BD-F0A9-D945-85B5-A92D8C4A6243}" type="datetime1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DAD6F10-9E3C-081C-FAC9-2F96D835D9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83539" y="6261101"/>
            <a:ext cx="5625347" cy="698499"/>
          </a:xfrm>
        </p:spPr>
        <p:txBody>
          <a:bodyPr/>
          <a:lstStyle>
            <a:lvl1pPr algn="r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テキスト プレースホルダー 8">
            <a:extLst>
              <a:ext uri="{FF2B5EF4-FFF2-40B4-BE49-F238E27FC236}">
                <a16:creationId xmlns:a16="http://schemas.microsoft.com/office/drawing/2014/main" id="{3A47DA29-0B22-B527-E246-85A23FDB43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77201" y="6261101"/>
            <a:ext cx="5625347" cy="698499"/>
          </a:xfrm>
        </p:spPr>
        <p:txBody>
          <a:bodyPr/>
          <a:lstStyle>
            <a:lvl1pPr algn="l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8">
            <a:extLst>
              <a:ext uri="{FF2B5EF4-FFF2-40B4-BE49-F238E27FC236}">
                <a16:creationId xmlns:a16="http://schemas.microsoft.com/office/drawing/2014/main" id="{3ABD93C0-C51C-2948-0F33-2EF4B6841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83538" y="5413377"/>
            <a:ext cx="5625347" cy="698499"/>
          </a:xfrm>
        </p:spPr>
        <p:txBody>
          <a:bodyPr/>
          <a:lstStyle>
            <a:lvl1pPr algn="r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912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8300" y="4192765"/>
            <a:ext cx="4965808" cy="1795335"/>
          </a:xfrm>
        </p:spPr>
        <p:txBody>
          <a:bodyPr anchor="b"/>
          <a:lstStyle>
            <a:lvl1pPr algn="ctr">
              <a:defRPr sz="56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89" y="7727900"/>
            <a:ext cx="21029831" cy="3000374"/>
          </a:xfrm>
        </p:spPr>
        <p:txBody>
          <a:bodyPr/>
          <a:lstStyle>
            <a:lvl1pPr marL="0" indent="0" algn="ctr">
              <a:buNone/>
              <a:defRPr sz="5600" spc="300">
                <a:solidFill>
                  <a:schemeClr val="bg1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E95FB-2235-2F42-91D0-8B9F16BE7B80}" type="datetime1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72E8AAC-513B-BB73-EF3E-6F21C4AF6A77}"/>
              </a:ext>
            </a:extLst>
          </p:cNvPr>
          <p:cNvCxnSpPr>
            <a:cxnSpLocks/>
          </p:cNvCxnSpPr>
          <p:nvPr userDrawn="1"/>
        </p:nvCxnSpPr>
        <p:spPr>
          <a:xfrm>
            <a:off x="11254952" y="6858000"/>
            <a:ext cx="187250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00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378" y="3104147"/>
            <a:ext cx="23020980" cy="924977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D544-ACEE-1142-A4DF-052F81DCAF13}" type="datetime1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1B145F9-61C6-1870-CE50-37506B7E4EF4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968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DA76-1C10-5547-91CE-253BD16E32D7}" type="datetime1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3182735"/>
            <a:ext cx="11364543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F5EC9B8-55A0-1456-F399-6D313F6D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71815" y="3182735"/>
            <a:ext cx="11364543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D7CF2C5-496E-3F41-87A5-8BF20107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D55661E-ACB1-18CB-79CA-CE03DAB48599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14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E895-CCE5-A241-A85F-670DB4C916C8}" type="datetime1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92833"/>
            <a:ext cx="11364543" cy="8377768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F5EC9B8-55A0-1456-F399-6D313F6D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71815" y="4092833"/>
            <a:ext cx="11364543" cy="8377768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85F9C02-29EC-4168-A599-AFD3B71ED2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114" y="3213462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6165EC21-36B4-4CED-0569-C34ACFFC9B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29459" y="3213462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D06260A-761F-95EE-B2CA-F7236CCF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685353A-F7C6-F829-267C-FA087B7BBA8F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619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4C7F2-45E9-0742-99C2-D62F245DFEC9}" type="datetime1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C0F6B-7CC3-BA66-8706-C8D1A03DEF8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66772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8965DEA-F2AC-C400-E7ED-BAFF867547B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6387489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D0E9647-9028-AEF2-D4FC-0AC5B2CF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3A54D1E-D7CD-DFE1-2E29-70A06AFEC982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78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9897-8C2A-CB44-93BE-9BFBC7559B74}" type="datetime1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テキスト プレースホルダー 10">
            <a:extLst>
              <a:ext uri="{FF2B5EF4-FFF2-40B4-BE49-F238E27FC236}">
                <a16:creationId xmlns:a16="http://schemas.microsoft.com/office/drawing/2014/main" id="{2D417ACA-1B7B-F655-60FA-EDD80F82E6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114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8EEB2B-456E-ACC0-29AE-C347BAE7F46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49492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テキスト プレースホルダー 10">
            <a:extLst>
              <a:ext uri="{FF2B5EF4-FFF2-40B4-BE49-F238E27FC236}">
                <a16:creationId xmlns:a16="http://schemas.microsoft.com/office/drawing/2014/main" id="{6F409C7A-D2E8-2D36-6086-331B6DCB40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04925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6D87F6-15FE-35D7-1017-BB745C23F61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16350303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3B277172-6A10-80CC-49F6-E3A8C94583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305736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94081A-47C8-EFEA-0CF4-1F31377C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4DF2C9F-ACE0-585B-AAD3-3DD14251BADD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5884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9540-48D4-DC4E-A020-784E13A6C686}" type="datetime1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3283060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AFEE08-A81F-707C-4BA0-7BC8776B90F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2474291" y="3283060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329A85-E9A3-6153-8937-4627CC5A7E6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46055" y="8184309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69A398-229E-518C-A2F8-E87AC7FEABC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12474291" y="8184309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385C3C-D291-ECD3-9330-C9FEFA38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AA52CC1-C979-7DAC-F8FF-07CEF0898376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493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9540-48D4-DC4E-A020-784E13A6C686}" type="datetime1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63353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C9B2C448-12D1-42AE-F7D0-C8AED70F60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114" y="3176140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AFEE08-A81F-707C-4BA0-7BC8776B90F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2474291" y="4063353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C1871C9F-CBB5-6510-4C84-37F671317E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432350" y="3176140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329A85-E9A3-6153-8937-4627CC5A7E6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46055" y="8964602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テキスト プレースホルダー 10">
            <a:extLst>
              <a:ext uri="{FF2B5EF4-FFF2-40B4-BE49-F238E27FC236}">
                <a16:creationId xmlns:a16="http://schemas.microsoft.com/office/drawing/2014/main" id="{E5E7CD5A-D74B-3BF3-1D34-C6BC3F8555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4114" y="8077389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69A398-229E-518C-A2F8-E87AC7FEABC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12474291" y="8964602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2F9C9DEC-0751-3E49-640C-C623BA9835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432350" y="8077389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28B87E-4E5C-BD4A-B7B9-5CD017C23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7564866-3642-1515-F78F-EBC63CFFFD78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09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5357813"/>
            <a:ext cx="21029831" cy="3000374"/>
          </a:xfrm>
        </p:spPr>
        <p:txBody>
          <a:bodyPr anchor="ctr"/>
          <a:lstStyle>
            <a:lvl1pPr marL="0" indent="0" algn="ctr">
              <a:buNone/>
              <a:defRPr sz="5600" spc="300">
                <a:solidFill>
                  <a:schemeClr val="bg1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6E1F-697B-864D-A8BC-B9F203AEA5AC}" type="datetime1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192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052" y="1391479"/>
            <a:ext cx="23290306" cy="1096244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6FE-1092-FD42-9AC0-B69E5809E0EF}" type="datetime1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08457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1A28FF6-6ABD-05E0-14A5-3CA8FD76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30E5-DC19-8048-9011-93E4E558FEAD}" type="datetime1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FB69A14-0AF9-A649-3ABB-D4052E78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6DBC31-6D39-6C3E-5F31-00E86E0A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pPr/>
              <a:t>‹#›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28704873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5492" y="12744452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230E5-DC19-8048-9011-93E4E558FEAD}" type="datetime1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5408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BFEE9-6A35-CF42-A39A-CD481C3507E3}" type="slidenum">
              <a:rPr kumimoji="1" lang="ja-JP" altLang="en-US" smtClean="0"/>
              <a:pPr/>
              <a:t>‹#›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61645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4" r:id="rId3"/>
    <p:sldLayoutId id="2147483679" r:id="rId4"/>
    <p:sldLayoutId id="2147483683" r:id="rId5"/>
    <p:sldLayoutId id="2147483684" r:id="rId6"/>
    <p:sldLayoutId id="2147483680" r:id="rId7"/>
    <p:sldLayoutId id="2147483681" r:id="rId8"/>
    <p:sldLayoutId id="2147483686" r:id="rId9"/>
    <p:sldLayoutId id="2147483685" r:id="rId10"/>
    <p:sldLayoutId id="2147483682" r:id="rId11"/>
    <p:sldLayoutId id="2147483687" r:id="rId12"/>
  </p:sldLayoutIdLst>
  <p:hf hdr="0" ftr="0" dt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6400" b="1" kern="1200" spc="3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4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92640" y="6995160"/>
            <a:ext cx="1339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900" b="1">
                <a:solidFill>
                  <a:srgbClr val="082B52"/>
                </a:solidFill>
                <a:latin typeface="Yu Gothic"/>
              </a:rPr>
              <a:t>Hierarchical Prediction and Feedforward Correction of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900" b="1">
                <a:solidFill>
                  <a:srgbClr val="082B52"/>
                </a:solidFill>
                <a:latin typeface="Yu Gothic"/>
              </a:rPr>
              <a:t>Time-Varying Thermal Line-of-Sight Bias for Coarse Acquisition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900" b="1">
                <a:solidFill>
                  <a:srgbClr val="082B52"/>
                </a:solidFill>
                <a:latin typeface="Yu Gothic"/>
              </a:rPr>
              <a:t>in Satellite Optical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10451592"/>
            <a:ext cx="13395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232B34"/>
                </a:solidFill>
                <a:latin typeface="Yu Gothic"/>
              </a:rPr>
              <a:t>Hideki Takamoto, Kazuki Takashima, Yuki Kusano, Satoshi Ikari, and Ryu Funase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1201400"/>
            <a:ext cx="13395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Department of Aeronautics and Astronautics, The University of Tokyo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04920" y="5394960"/>
            <a:ext cx="5623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666F79"/>
                </a:solidFill>
                <a:latin typeface="Yu Gothic"/>
              </a:rPr>
              <a:t>ICSO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04920" y="5879592"/>
            <a:ext cx="5623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666F79"/>
                </a:solidFill>
                <a:latin typeface="Yu Gothic"/>
              </a:rPr>
              <a:t>Paper 293 · Oral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04920" y="6364224"/>
            <a:ext cx="5623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PAT and Receiver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Background and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82B52"/>
                </a:solidFill>
                <a:latin typeface="Yu Gothic"/>
              </a:rPr>
              <a:t>Thermal LOS bias can dominate the coarse-acquisition scan before optical feedback is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063240"/>
            <a:ext cx="6446520" cy="2926080"/>
          </a:xfrm>
          <a:prstGeom prst="roundRect">
            <a:avLst/>
          </a:prstGeom>
          <a:solidFill>
            <a:srgbClr val="EAF5FB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2" y="3227832"/>
            <a:ext cx="59344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B74AA"/>
                </a:solidFill>
                <a:latin typeface="Yu Gothic"/>
              </a:rPr>
              <a:t>Before optical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86200"/>
            <a:ext cx="5897880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32B34"/>
                </a:solidFill>
                <a:latin typeface="Yu Gothic"/>
              </a:rPr>
              <a:t>Attitude, orbit, alignment, and thermal errors define the search region.</a:t>
            </a:r>
          </a:p>
        </p:txBody>
      </p:sp>
      <p:sp>
        <p:nvSpPr>
          <p:cNvPr id="8" name="Chevron 7"/>
          <p:cNvSpPr/>
          <p:nvPr/>
        </p:nvSpPr>
        <p:spPr>
          <a:xfrm>
            <a:off x="7790688" y="4069080"/>
            <a:ext cx="502920" cy="685800"/>
          </a:xfrm>
          <a:prstGeom prst="chevron">
            <a:avLst/>
          </a:prstGeom>
          <a:solidFill>
            <a:srgbClr val="4BA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59" y="3063240"/>
            <a:ext cx="6446520" cy="2926080"/>
          </a:xfrm>
          <a:prstGeom prst="roundRect">
            <a:avLst/>
          </a:prstGeom>
          <a:solidFill>
            <a:srgbClr val="FFF4E8"/>
          </a:solidFill>
          <a:ln w="1397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51391" y="3227832"/>
            <a:ext cx="59344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C9427"/>
                </a:solidFill>
                <a:latin typeface="Yu Gothic"/>
              </a:rPr>
              <a:t>Thermoelastic 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886200"/>
            <a:ext cx="5897880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32B34"/>
                </a:solidFill>
                <a:latin typeface="Yu Gothic"/>
              </a:rPr>
              <a:t>Known illumination and dissipation drive bus deformation.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32B34"/>
                </a:solidFill>
                <a:latin typeface="Yu Gothic"/>
              </a:rPr>
              <a:t>150 µrad to &gt;1 mrad</a:t>
            </a:r>
          </a:p>
        </p:txBody>
      </p:sp>
      <p:sp>
        <p:nvSpPr>
          <p:cNvPr id="12" name="Chevron 11"/>
          <p:cNvSpPr/>
          <p:nvPr/>
        </p:nvSpPr>
        <p:spPr>
          <a:xfrm>
            <a:off x="15288767" y="4069080"/>
            <a:ext cx="502920" cy="685800"/>
          </a:xfrm>
          <a:prstGeom prst="chevron">
            <a:avLst/>
          </a:prstGeom>
          <a:solidFill>
            <a:srgbClr val="4BA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093439" y="3063240"/>
            <a:ext cx="6446520" cy="2926080"/>
          </a:xfrm>
          <a:prstGeom prst="roundRect">
            <a:avLst/>
          </a:prstGeom>
          <a:solidFill>
            <a:srgbClr val="EAF7F2"/>
          </a:solidFill>
          <a:ln w="1397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49472" y="3227832"/>
            <a:ext cx="59344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239571"/>
                </a:solidFill>
                <a:latin typeface="Yu Gothic"/>
              </a:rPr>
              <a:t>Feedforward scan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67759" y="3886200"/>
            <a:ext cx="5897880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32B34"/>
                </a:solidFill>
                <a:latin typeface="Yu Gothic"/>
              </a:rPr>
              <a:t>Predict the thermal component before acquisition and subtract it from the scan center.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6263640"/>
            <a:ext cx="7315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Representative prior work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097280" y="6720840"/>
          <a:ext cx="2217419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9412"/>
                <a:gridCol w="5897393"/>
                <a:gridCol w="5897393"/>
              </a:tblGrid>
              <a:tr h="1074420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</a:rPr>
                        <a:t>Research stream</a:t>
                      </a:r>
                    </a:p>
                  </a:txBody>
                  <a:tcPr>
                    <a:solidFill>
                      <a:srgbClr val="082B52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</a:rPr>
                        <a:t>Thermal-state LOS prediction</a:t>
                      </a:r>
                    </a:p>
                  </a:txBody>
                  <a:tcPr>
                    <a:solidFill>
                      <a:srgbClr val="082B52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</a:rPr>
                        <a:t>Acquisition evaluation</a:t>
                      </a:r>
                    </a:p>
                  </a:txBody>
                  <a:tcPr>
                    <a:solidFill>
                      <a:srgbClr val="082B52"/>
                    </a:solidFill>
                  </a:tcPr>
                </a:tc>
              </a:tr>
              <a:tr h="1074420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32B34"/>
                          </a:solidFill>
                          <a:latin typeface="Yu Gothic"/>
                        </a:rPr>
                        <a:t>Optical communication / PAT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32B34"/>
                          </a:solidFill>
                          <a:latin typeface="Yu Gothic"/>
                        </a:rP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32B34"/>
                          </a:solidFill>
                          <a:latin typeface="Yu Gothic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32B34"/>
                          </a:solidFill>
                          <a:latin typeface="Yu Gothic"/>
                        </a:rPr>
                        <a:t>Earth-observation &amp; deep-space instruments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32B34"/>
                          </a:solidFill>
                          <a:latin typeface="Yu Gothic"/>
                        </a:rPr>
                        <a:t>Yes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32B34"/>
                          </a:solidFill>
                          <a:latin typeface="Yu Gothic"/>
                        </a:rPr>
                        <a:t>No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</a:tr>
              <a:tr h="1074420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82B52"/>
                          </a:solidFill>
                          <a:latin typeface="Yu Gothic"/>
                        </a:rPr>
                        <a:t>This work</a:t>
                      </a:r>
                    </a:p>
                  </a:txBody>
                  <a:tcPr>
                    <a:solidFill>
                      <a:srgbClr val="EAF7F2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82B52"/>
                          </a:solidFill>
                          <a:latin typeface="Yu Gothic"/>
                        </a:rPr>
                        <a:t>Yes</a:t>
                      </a:r>
                    </a:p>
                  </a:txBody>
                  <a:tcPr>
                    <a:solidFill>
                      <a:srgbClr val="EAF7F2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82B52"/>
                          </a:solidFill>
                          <a:latin typeface="Yu Gothic"/>
                        </a:rPr>
                        <a:t>Yes</a:t>
                      </a:r>
                    </a:p>
                  </a:txBody>
                  <a:tcPr>
                    <a:solidFill>
                      <a:srgbClr val="EAF7F2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886200" y="11082528"/>
            <a:ext cx="16733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239571"/>
                </a:solidFill>
                <a:latin typeface="Yu Gothic"/>
              </a:rPr>
              <a:t>This work connects thermal-state prediction to acquisition performance.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Representative sources: Kaushal 2017; Shi 2023; Zhang 2025; Hu 2022; Li 2025; Turella 2019/2021.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82B52"/>
                </a:solidFill>
                <a:latin typeface="Yu Gothic"/>
              </a:rPr>
              <a:t>The relevant far-field quantity is the LCT optical-axis rotation relative to the STT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3</a:t>
            </a:r>
          </a:p>
        </p:txBody>
      </p:sp>
      <p:pic>
        <p:nvPicPr>
          <p:cNvPr id="5" name="Picture 4" descr="fig_los_defi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359" y="2971800"/>
            <a:ext cx="11765280" cy="8823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5681959" y="3456432"/>
            <a:ext cx="7452360" cy="1920240"/>
          </a:xfrm>
          <a:prstGeom prst="roundRect">
            <a:avLst/>
          </a:prstGeom>
          <a:solidFill>
            <a:srgbClr val="EAF5FB"/>
          </a:solidFill>
          <a:ln w="1651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956280" y="3794760"/>
            <a:ext cx="6903720" cy="1143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082B52"/>
                </a:solidFill>
                <a:latin typeface="Cambria Math"/>
              </a:rPr>
              <a:t>θ</a:t>
            </a:r>
            <a:r>
              <a:rPr sz="2400" b="1" baseline="-25000">
                <a:solidFill>
                  <a:srgbClr val="082B52"/>
                </a:solidFill>
                <a:latin typeface="Cambria Math"/>
              </a:rPr>
              <a:t>th</a:t>
            </a:r>
            <a:r>
              <a:rPr sz="3800" b="1">
                <a:solidFill>
                  <a:srgbClr val="082B52"/>
                </a:solidFill>
                <a:latin typeface="Cambria Math"/>
              </a:rPr>
              <a:t> = θ</a:t>
            </a:r>
            <a:r>
              <a:rPr sz="2400" b="1" baseline="-25000">
                <a:solidFill>
                  <a:srgbClr val="082B52"/>
                </a:solidFill>
                <a:latin typeface="Cambria Math"/>
              </a:rPr>
              <a:t>LCT</a:t>
            </a:r>
            <a:r>
              <a:rPr sz="3800" b="1">
                <a:solidFill>
                  <a:srgbClr val="082B52"/>
                </a:solidFill>
                <a:latin typeface="Cambria Math"/>
              </a:rPr>
              <a:t> − θ</a:t>
            </a:r>
            <a:r>
              <a:rPr sz="2400" b="1" baseline="-25000">
                <a:solidFill>
                  <a:srgbClr val="082B52"/>
                </a:solidFill>
                <a:latin typeface="Cambria Math"/>
              </a:rPr>
              <a:t>STT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681959" y="5806440"/>
            <a:ext cx="74523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937992" y="5971031"/>
            <a:ext cx="694029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B74AA"/>
                </a:solidFill>
                <a:latin typeface="Yu Gothic"/>
              </a:rPr>
              <a:t>Attitude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56280" y="6629400"/>
            <a:ext cx="6903720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Thermal rotation of the STT is absorbed into the estimated attitude frame.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81959" y="8257031"/>
            <a:ext cx="74523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937992" y="8421624"/>
            <a:ext cx="694029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239571"/>
                </a:solidFill>
                <a:latin typeface="Yu Gothic"/>
              </a:rPr>
              <a:t>Communication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56280" y="9079992"/>
            <a:ext cx="6903720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The LCT rotation relative to that frame appears directly as scan-center error.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64840" y="10725912"/>
            <a:ext cx="7086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Centerline translation is negligible for the far-field link.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§3, Figure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Thermoelastic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82B52"/>
                </a:solidFill>
                <a:latin typeface="Yu Gothic"/>
              </a:rPr>
              <a:t>A box-structure LEO bus is analysed across 21 operating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017520"/>
            <a:ext cx="14996159" cy="8458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td_tdall_f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420674"/>
            <a:ext cx="14630400" cy="76427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6504920" y="3063240"/>
            <a:ext cx="6583680" cy="2331720"/>
          </a:xfrm>
          <a:prstGeom prst="roundRect">
            <a:avLst/>
          </a:prstGeom>
          <a:solidFill>
            <a:srgbClr val="F4F9FC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60952" y="3227832"/>
            <a:ext cx="607161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B74AA"/>
                </a:solidFill>
                <a:latin typeface="Yu Gothic"/>
              </a:rPr>
              <a:t>Spacecraft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79240" y="3886200"/>
            <a:ext cx="6035040" cy="1344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0.6 × 0.6 × 1.0 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A5052, reference 24 °C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STT on PZ · LCT on MZ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504920" y="5669280"/>
            <a:ext cx="6583680" cy="2057400"/>
          </a:xfrm>
          <a:prstGeom prst="roundRect">
            <a:avLst/>
          </a:prstGeom>
          <a:solidFill>
            <a:srgbClr val="FFF4E8"/>
          </a:solidFill>
          <a:ln w="1397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760952" y="5833872"/>
            <a:ext cx="607161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C9427"/>
                </a:solidFill>
                <a:latin typeface="Yu Gothic"/>
              </a:rPr>
              <a:t>21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79240" y="6492240"/>
            <a:ext cx="603504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Sun face: MX / MY / PX / PY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Dissipation · surface · orbit variants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504920" y="8001000"/>
            <a:ext cx="6583680" cy="2423160"/>
          </a:xfrm>
          <a:prstGeom prst="roundRect">
            <a:avLst/>
          </a:prstGeom>
          <a:solidFill>
            <a:srgbClr val="EAF7F2"/>
          </a:solidFill>
          <a:ln w="1397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60952" y="8165592"/>
            <a:ext cx="607161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239571"/>
                </a:solidFill>
                <a:latin typeface="Yu Gothic"/>
              </a:rPr>
              <a:t>Common analysis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79240" y="8823960"/>
            <a:ext cx="6035040" cy="143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Thermal Desktop temperature field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→ Femap rotations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→ STT–LCT relative 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0" y="10652760"/>
            <a:ext cx="6309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82B52"/>
                </a:solidFill>
                <a:latin typeface="Yu Gothic"/>
              </a:rPr>
              <a:t>One fixed structure; operating conditions vary across cases.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§4–5, Tables 2–4, Figure 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Observed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82B52"/>
                </a:solidFill>
                <a:latin typeface="Yu Gothic"/>
              </a:rPr>
              <a:t>Thermal LOS follows the orbit; its dominant axis and DC offset follow the sun 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953512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B74AA"/>
                </a:solidFill>
                <a:latin typeface="Yu Gothic"/>
              </a:rPr>
              <a:t>MY-panel temperature · Case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81560" y="2953512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239571"/>
                </a:solidFill>
                <a:latin typeface="Yu Gothic"/>
              </a:rPr>
              <a:t>STT-relative LOS, dominant y axis</a:t>
            </a:r>
          </a:p>
        </p:txBody>
      </p:sp>
      <p:pic>
        <p:nvPicPr>
          <p:cNvPr id="7" name="Picture 6" descr="case04_panel_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977639"/>
            <a:ext cx="10744200" cy="4389120"/>
          </a:xfrm>
          <a:prstGeom prst="rect">
            <a:avLst/>
          </a:prstGeom>
        </p:spPr>
      </p:pic>
      <p:pic>
        <p:nvPicPr>
          <p:cNvPr id="8" name="Picture 7" descr="case04_los_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0" y="3977639"/>
            <a:ext cx="1074420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97280" y="9464040"/>
            <a:ext cx="6903720" cy="1920240"/>
          </a:xfrm>
          <a:prstGeom prst="roundRect">
            <a:avLst/>
          </a:prstGeom>
          <a:solidFill>
            <a:srgbClr val="F4F9FC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9628632"/>
            <a:ext cx="63916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B74AA"/>
                </a:solidFill>
                <a:latin typeface="Yu Gothic"/>
              </a:rPr>
              <a:t>Same orbital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0287000"/>
            <a:ext cx="63550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232B34"/>
                </a:solidFill>
                <a:latin typeface="Yu Gothic"/>
              </a:rPr>
              <a:t>Temperature and thermal LOS repeat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9464040"/>
            <a:ext cx="6903720" cy="1920240"/>
          </a:xfrm>
          <a:prstGeom prst="roundRect">
            <a:avLst/>
          </a:prstGeom>
          <a:solidFill>
            <a:srgbClr val="FFF4E8"/>
          </a:solidFill>
          <a:ln w="1397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8552" y="9628632"/>
            <a:ext cx="63916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EC9427"/>
                </a:solidFill>
                <a:latin typeface="Yu Gothic"/>
              </a:rPr>
              <a:t>Sun face sets the axis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0287000"/>
            <a:ext cx="63550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232B34"/>
                </a:solidFill>
                <a:latin typeface="Yu Gothic"/>
              </a:rPr>
              <a:t>MY/PY → y dominant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232B34"/>
                </a:solidFill>
                <a:latin typeface="Yu Gothic"/>
              </a:rPr>
              <a:t>MX/PX → x dominant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367759" y="9464040"/>
            <a:ext cx="6903720" cy="1920240"/>
          </a:xfrm>
          <a:prstGeom prst="roundRect">
            <a:avLst/>
          </a:prstGeom>
          <a:solidFill>
            <a:srgbClr val="EAF7F2"/>
          </a:solidFill>
          <a:ln w="1397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623792" y="9628632"/>
            <a:ext cx="63916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239571"/>
                </a:solidFill>
                <a:latin typeface="Yu Gothic"/>
              </a:rPr>
              <a:t>Raw RMS: 150–1280 µrad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0" y="10287000"/>
            <a:ext cx="63550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232B34"/>
                </a:solidFill>
                <a:latin typeface="Yu Gothic"/>
              </a:rPr>
              <a:t>Dissipation mainly shifts the case DC bias.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§5, Figure 4. Plots are cropped from the final-paper source figures.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Hierarchical sun-face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82B52"/>
                </a:solidFill>
                <a:latin typeface="Yu Gothic"/>
              </a:rPr>
              <a:t>Orbital variation is a(sun)·ΔT; the DC term is predicted from sun face and dissipation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91840"/>
            <a:ext cx="5669280" cy="3520440"/>
          </a:xfrm>
          <a:prstGeom prst="roundRect">
            <a:avLst/>
          </a:prstGeom>
          <a:solidFill>
            <a:srgbClr val="EAF5FB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2" y="3456432"/>
            <a:ext cx="515721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B74AA"/>
                </a:solidFill>
                <a:latin typeface="Yu Gothic"/>
              </a:rPr>
              <a:t>Onboard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5120640" cy="2532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Panel-center temperature difference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ΔT(t) = T(sun face) − T(opposite)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Sun face + dissipation flags</a:t>
            </a:r>
          </a:p>
        </p:txBody>
      </p:sp>
      <p:sp>
        <p:nvSpPr>
          <p:cNvPr id="8" name="Chevron 7"/>
          <p:cNvSpPr/>
          <p:nvPr/>
        </p:nvSpPr>
        <p:spPr>
          <a:xfrm>
            <a:off x="7040880" y="4526280"/>
            <a:ext cx="658368" cy="960120"/>
          </a:xfrm>
          <a:prstGeom prst="chevron">
            <a:avLst/>
          </a:prstGeom>
          <a:solidFill>
            <a:srgbClr val="4BA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01000" y="3172968"/>
            <a:ext cx="8183879" cy="3767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456432"/>
            <a:ext cx="7543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82B52"/>
                </a:solidFill>
                <a:latin typeface="Yu Gothic"/>
              </a:rPr>
              <a:t>Hierarchical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178808"/>
            <a:ext cx="7543800" cy="9326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82B52"/>
                </a:solidFill>
                <a:latin typeface="Cambria Math"/>
              </a:rPr>
              <a:t>θ</a:t>
            </a:r>
            <a:r>
              <a:rPr sz="2000" b="1" baseline="-25000">
                <a:solidFill>
                  <a:srgbClr val="082B52"/>
                </a:solidFill>
                <a:latin typeface="Cambria Math"/>
              </a:rPr>
              <a:t>dom</a:t>
            </a:r>
            <a:r>
              <a:rPr sz="3200" b="1">
                <a:solidFill>
                  <a:srgbClr val="082B52"/>
                </a:solidFill>
                <a:latin typeface="Cambria Math"/>
              </a:rPr>
              <a:t>(t) ≈ b</a:t>
            </a:r>
            <a:r>
              <a:rPr sz="2000" b="1" baseline="-25000">
                <a:solidFill>
                  <a:srgbClr val="082B52"/>
                </a:solidFill>
                <a:latin typeface="Cambria Math"/>
              </a:rPr>
              <a:t>case</a:t>
            </a:r>
            <a:r>
              <a:rPr sz="3200" b="1">
                <a:solidFill>
                  <a:srgbClr val="082B52"/>
                </a:solidFill>
                <a:latin typeface="Cambria Math"/>
              </a:rPr>
              <a:t> + a(sun)·ΔT(t)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5330952"/>
            <a:ext cx="7543800" cy="7132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EC9427"/>
                </a:solidFill>
                <a:latin typeface="Cambria Math"/>
              </a:rPr>
              <a:t>b</a:t>
            </a:r>
            <a:r>
              <a:rPr sz="1600" b="1" baseline="-25000">
                <a:solidFill>
                  <a:srgbClr val="EC9427"/>
                </a:solidFill>
                <a:latin typeface="Cambria Math"/>
              </a:rPr>
              <a:t>case</a:t>
            </a:r>
            <a:r>
              <a:rPr sz="2400" b="1">
                <a:solidFill>
                  <a:srgbClr val="EC9427"/>
                </a:solidFill>
                <a:latin typeface="Cambria Math"/>
              </a:rPr>
              <a:t> ≈ b</a:t>
            </a:r>
            <a:r>
              <a:rPr sz="1600" b="1" baseline="-25000">
                <a:solidFill>
                  <a:srgbClr val="EC9427"/>
                </a:solidFill>
                <a:latin typeface="Cambria Math"/>
              </a:rPr>
              <a:t>0</a:t>
            </a:r>
            <a:r>
              <a:rPr sz="2400" b="1">
                <a:solidFill>
                  <a:srgbClr val="EC9427"/>
                </a:solidFill>
                <a:latin typeface="Cambria Math"/>
              </a:rPr>
              <a:t>(sun) + c</a:t>
            </a:r>
            <a:r>
              <a:rPr sz="1500" b="1" baseline="-25000">
                <a:solidFill>
                  <a:srgbClr val="EC9427"/>
                </a:solidFill>
                <a:latin typeface="Cambria Math"/>
              </a:rPr>
              <a:t>PROP</a:t>
            </a:r>
            <a:r>
              <a:rPr sz="2400" b="1">
                <a:solidFill>
                  <a:srgbClr val="EC9427"/>
                </a:solidFill>
                <a:latin typeface="Cambria Math"/>
              </a:rPr>
              <a:t> I</a:t>
            </a:r>
            <a:r>
              <a:rPr sz="1500" b="1" baseline="-25000">
                <a:solidFill>
                  <a:srgbClr val="EC9427"/>
                </a:solidFill>
                <a:latin typeface="Cambria Math"/>
              </a:rPr>
              <a:t>PROP</a:t>
            </a:r>
            <a:r>
              <a:rPr sz="2400" b="1">
                <a:solidFill>
                  <a:srgbClr val="EC9427"/>
                </a:solidFill>
                <a:latin typeface="Cambria Math"/>
              </a:rPr>
              <a:t> + c</a:t>
            </a:r>
            <a:r>
              <a:rPr sz="1500" b="1" baseline="-25000">
                <a:solidFill>
                  <a:srgbClr val="EC9427"/>
                </a:solidFill>
                <a:latin typeface="Cambria Math"/>
              </a:rPr>
              <a:t>PCDU</a:t>
            </a:r>
            <a:r>
              <a:rPr sz="2400" b="1">
                <a:solidFill>
                  <a:srgbClr val="EC9427"/>
                </a:solidFill>
                <a:latin typeface="Cambria Math"/>
              </a:rPr>
              <a:t> I</a:t>
            </a:r>
            <a:r>
              <a:rPr sz="1500" b="1" baseline="-25000">
                <a:solidFill>
                  <a:srgbClr val="EC9427"/>
                </a:solidFill>
                <a:latin typeface="Cambria Math"/>
              </a:rPr>
              <a:t>PCDU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153912"/>
            <a:ext cx="3520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16 fixed coefficients</a:t>
            </a:r>
          </a:p>
        </p:txBody>
      </p:sp>
      <p:sp>
        <p:nvSpPr>
          <p:cNvPr id="14" name="Chevron 13"/>
          <p:cNvSpPr/>
          <p:nvPr/>
        </p:nvSpPr>
        <p:spPr>
          <a:xfrm>
            <a:off x="16459200" y="4526280"/>
            <a:ext cx="658368" cy="960120"/>
          </a:xfrm>
          <a:prstGeom prst="chevron">
            <a:avLst/>
          </a:prstGeom>
          <a:solidFill>
            <a:srgbClr val="4BA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419320" y="3291840"/>
            <a:ext cx="5669280" cy="3520440"/>
          </a:xfrm>
          <a:prstGeom prst="roundRect">
            <a:avLst/>
          </a:prstGeom>
          <a:solidFill>
            <a:srgbClr val="EAF7F2"/>
          </a:solidFill>
          <a:ln w="1397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75352" y="3456432"/>
            <a:ext cx="515721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239571"/>
                </a:solidFill>
                <a:latin typeface="Yu Gothic"/>
              </a:rPr>
              <a:t>Predicted thermal 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93640" y="4114800"/>
            <a:ext cx="5120640" cy="2532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32B34"/>
                </a:solidFill>
                <a:latin typeface="Yu Gothic"/>
              </a:rPr>
              <a:t>Two-axis scan-center correction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32B34"/>
                </a:solidFill>
                <a:latin typeface="Yu Gothic"/>
              </a:rPr>
              <a:t>computed before acquisition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7635240"/>
            <a:ext cx="982980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0552" y="7799831"/>
            <a:ext cx="931773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B74AA"/>
                </a:solidFill>
                <a:latin typeface="Yu Gothic"/>
              </a:rPr>
              <a:t>Within-orbit variation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39" y="8458200"/>
            <a:ext cx="9281160" cy="1344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A shared sensitivity a(sun) maps ΔT(t) to the dominant-axis time variation.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664440" y="7635240"/>
            <a:ext cx="982980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20472" y="7799831"/>
            <a:ext cx="931773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EC9427"/>
                </a:solidFill>
                <a:latin typeface="Yu Gothic"/>
              </a:rPr>
              <a:t>Across-condition 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38760" y="8458200"/>
            <a:ext cx="9281160" cy="1344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Sun face and operating flags predict the case DC bias across conditions.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10469880"/>
            <a:ext cx="20528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082B52"/>
                </a:solidFill>
                <a:latin typeface="Yu Gothic"/>
              </a:rPr>
              <a:t>The first-order ΔT–LOS relation is known; the contribution here is bus-relative STT–LCT LOS, cross-condition DC prediction, and acquisition 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§6, Eqs. 3–6, Figure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Cross-condition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82B52"/>
                </a:solidFill>
                <a:latin typeface="Yu Gothic"/>
              </a:rPr>
              <a:t>Nested leave-one-case-out RMSE is 4.9 µrad against 615 µrad raw 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7</a:t>
            </a:r>
          </a:p>
        </p:txBody>
      </p:sp>
      <p:pic>
        <p:nvPicPr>
          <p:cNvPr id="5" name="Picture 4" descr="p3_a_emp_by_sun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107055"/>
            <a:ext cx="10744200" cy="6267450"/>
          </a:xfrm>
          <a:prstGeom prst="rect">
            <a:avLst/>
          </a:prstGeom>
        </p:spPr>
      </p:pic>
      <p:pic>
        <p:nvPicPr>
          <p:cNvPr id="6" name="Picture 5" descr="p3_b_emp_vs_b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0" y="2985691"/>
            <a:ext cx="11338560" cy="651017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88720" y="9710928"/>
            <a:ext cx="6629400" cy="1828800"/>
          </a:xfrm>
          <a:prstGeom prst="roundRect">
            <a:avLst/>
          </a:prstGeom>
          <a:solidFill>
            <a:srgbClr val="F4F9FC"/>
          </a:solidFill>
          <a:ln w="1524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9875519"/>
            <a:ext cx="630021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B74AA"/>
                </a:solidFill>
                <a:latin typeface="Yu Gothic"/>
              </a:rPr>
              <a:t>28–31 µrad/K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0771632"/>
            <a:ext cx="630021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shared sensitivity magnitude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9710928"/>
            <a:ext cx="6629400" cy="182880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9875519"/>
            <a:ext cx="630021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C9427"/>
                </a:solidFill>
                <a:latin typeface="Yu Gothic"/>
              </a:rPr>
              <a:t>3.8 µrad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10771632"/>
            <a:ext cx="630021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LOO case-bias RMSE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550640" y="9710928"/>
            <a:ext cx="6629400" cy="1828800"/>
          </a:xfrm>
          <a:prstGeom prst="roundRect">
            <a:avLst/>
          </a:prstGeom>
          <a:solidFill>
            <a:srgbClr val="EAF7F2"/>
          </a:solidFill>
          <a:ln w="1524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15232" y="9875519"/>
            <a:ext cx="630021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239571"/>
                </a:solidFill>
                <a:latin typeface="Yu Gothic"/>
              </a:rPr>
              <a:t>4.9 vs 615 µrad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15232" y="10771632"/>
            <a:ext cx="630021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median test RMSE vs raw 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21 cases; the test case is excluded from shared sensitivity and both Level-2 axis-bias estimates. Paper §6, Figure 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Time-series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82B52"/>
                </a:solidFill>
                <a:latin typeface="Yu Gothic"/>
              </a:rPr>
              <a:t>Case 08 (PY, all units on): 1250 µrad raw RMS falls to 3.9 µrad test RMSE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12984480" cy="8732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e08_prediction_without_lo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158" y="3063240"/>
            <a:ext cx="11808962" cy="8412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4676120" y="3429000"/>
            <a:ext cx="8138160" cy="1920240"/>
          </a:xfrm>
          <a:prstGeom prst="roundRect">
            <a:avLst/>
          </a:prstGeom>
          <a:solidFill>
            <a:srgbClr val="FCECEF"/>
          </a:solidFill>
          <a:ln w="1524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40712" y="3593592"/>
            <a:ext cx="78089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D03B46"/>
                </a:solidFill>
                <a:latin typeface="Yu Gothic"/>
              </a:rPr>
              <a:t>1250 µrad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40712" y="4542739"/>
            <a:ext cx="7808976" cy="4800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raw dominant-axis 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76120" y="5715000"/>
            <a:ext cx="8138160" cy="1920240"/>
          </a:xfrm>
          <a:prstGeom prst="roundRect">
            <a:avLst/>
          </a:prstGeom>
          <a:solidFill>
            <a:srgbClr val="EAF7F2"/>
          </a:solidFill>
          <a:ln w="1524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40712" y="5879592"/>
            <a:ext cx="78089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239571"/>
                </a:solidFill>
                <a:latin typeface="Yu Gothic"/>
              </a:rPr>
              <a:t>3.9 µrad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40712" y="6828739"/>
            <a:ext cx="7808976" cy="4800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nested-LOO test RMSE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76120" y="8001000"/>
            <a:ext cx="8138160" cy="2468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932152" y="8165592"/>
            <a:ext cx="762609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B74AA"/>
                </a:solidFill>
                <a:latin typeface="Yu Gothic"/>
              </a:rPr>
              <a:t>What the model captures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50440" y="8823960"/>
            <a:ext cx="758952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The predicted case DC sets the offset; shared a(sun)·ΔT(t) follows the repeating orbital variation.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0" y="10817352"/>
            <a:ext cx="7680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82B52"/>
                </a:solidFill>
                <a:latin typeface="Yu Gothic"/>
              </a:rPr>
              <a:t>Prediction tracks the largest thermal case with a two-order-of-magnitude reduction.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§6, Figure 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Coarse-acquisition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82B52"/>
                </a:solidFill>
                <a:latin typeface="Yu Gothic"/>
              </a:rPr>
              <a:t>The prediction is subtracted from the scan center before the rectangular spiral 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246120"/>
            <a:ext cx="5074920" cy="2971800"/>
          </a:xfrm>
          <a:prstGeom prst="roundRect">
            <a:avLst/>
          </a:prstGeom>
          <a:solidFill>
            <a:srgbClr val="EAF5FB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410712"/>
            <a:ext cx="45628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B74AA"/>
                </a:solidFill>
                <a:latin typeface="Yu Gothic"/>
              </a:rPr>
              <a:t>TD / Femap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069080"/>
            <a:ext cx="4526280" cy="1984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Thermal LOS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time series</a:t>
            </a:r>
          </a:p>
        </p:txBody>
      </p:sp>
      <p:sp>
        <p:nvSpPr>
          <p:cNvPr id="8" name="Chevron 7"/>
          <p:cNvSpPr/>
          <p:nvPr/>
        </p:nvSpPr>
        <p:spPr>
          <a:xfrm>
            <a:off x="6144768" y="4279392"/>
            <a:ext cx="420624" cy="658368"/>
          </a:xfrm>
          <a:prstGeom prst="chevron">
            <a:avLst/>
          </a:prstGeom>
          <a:solidFill>
            <a:srgbClr val="4BA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0" y="3246120"/>
            <a:ext cx="5074920" cy="2971800"/>
          </a:xfrm>
          <a:prstGeom prst="roundRect">
            <a:avLst/>
          </a:prstGeom>
          <a:solidFill>
            <a:srgbClr val="FFF4E8"/>
          </a:solidFill>
          <a:ln w="1397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8312" y="3410712"/>
            <a:ext cx="45628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EC9427"/>
                </a:solidFill>
                <a:latin typeface="Yu Gothic"/>
              </a:rPr>
              <a:t>Hierarchical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4069080"/>
            <a:ext cx="4526280" cy="1984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Predicted thermal LOS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from ΔT and operating flags</a:t>
            </a:r>
          </a:p>
        </p:txBody>
      </p:sp>
      <p:sp>
        <p:nvSpPr>
          <p:cNvPr id="12" name="Chevron 11"/>
          <p:cNvSpPr/>
          <p:nvPr/>
        </p:nvSpPr>
        <p:spPr>
          <a:xfrm>
            <a:off x="12088367" y="4279392"/>
            <a:ext cx="420624" cy="658368"/>
          </a:xfrm>
          <a:prstGeom prst="chevron">
            <a:avLst/>
          </a:prstGeom>
          <a:solidFill>
            <a:srgbClr val="4BA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755880" y="3246120"/>
            <a:ext cx="5074920" cy="2971800"/>
          </a:xfrm>
          <a:prstGeom prst="roundRect">
            <a:avLst/>
          </a:prstGeom>
          <a:solidFill>
            <a:srgbClr val="EAF7F2"/>
          </a:solidFill>
          <a:ln w="1397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11911" y="3410712"/>
            <a:ext cx="45628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239571"/>
                </a:solidFill>
                <a:latin typeface="Yu Gothic"/>
              </a:rPr>
              <a:t>Scan-center correction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30200" y="4069080"/>
            <a:ext cx="4526280" cy="1984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Corrected center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= nominal − predicted thermal LOS</a:t>
            </a:r>
          </a:p>
        </p:txBody>
      </p:sp>
      <p:sp>
        <p:nvSpPr>
          <p:cNvPr id="16" name="Chevron 15"/>
          <p:cNvSpPr/>
          <p:nvPr/>
        </p:nvSpPr>
        <p:spPr>
          <a:xfrm>
            <a:off x="18031968" y="4279392"/>
            <a:ext cx="420624" cy="658368"/>
          </a:xfrm>
          <a:prstGeom prst="chevron">
            <a:avLst/>
          </a:prstGeom>
          <a:solidFill>
            <a:srgbClr val="4BA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699480" y="3246120"/>
            <a:ext cx="5074920" cy="2971800"/>
          </a:xfrm>
          <a:prstGeom prst="roundRect">
            <a:avLst/>
          </a:prstGeom>
          <a:solidFill>
            <a:srgbClr val="F4F9FC"/>
          </a:solidFill>
          <a:ln w="1397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955512" y="3410712"/>
            <a:ext cx="45628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082B52"/>
                </a:solidFill>
                <a:latin typeface="Yu Gothic"/>
              </a:rPr>
              <a:t>Rectangular spiral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73800" y="4069080"/>
            <a:ext cx="4526280" cy="1984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First point inside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detection radius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6629400"/>
            <a:ext cx="165963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82B52"/>
                </a:solidFill>
                <a:latin typeface="Yu Gothic"/>
              </a:rPr>
              <a:t>Acquisition time is used as a practical proxy for residual initial pointing uncertainty.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7726679"/>
            <a:ext cx="3977639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6151" y="7891271"/>
            <a:ext cx="3648456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B74AA"/>
                </a:solidFill>
                <a:latin typeface="Yu Gothic"/>
              </a:rPr>
              <a:t>±1600 µrad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1" y="8919972"/>
            <a:ext cx="364845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scan range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7726679"/>
            <a:ext cx="3977639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88152" y="7891271"/>
            <a:ext cx="3648456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B74AA"/>
                </a:solidFill>
                <a:latin typeface="Yu Gothic"/>
              </a:rPr>
              <a:t>120 µrad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8152" y="8919972"/>
            <a:ext cx="364845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scan step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7726679"/>
            <a:ext cx="3977639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0152" y="7891271"/>
            <a:ext cx="3648456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39571"/>
                </a:solidFill>
                <a:latin typeface="Yu Gothic"/>
              </a:rPr>
              <a:t>150 µrad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8919972"/>
            <a:ext cx="364845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detection radius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767559" y="7726679"/>
            <a:ext cx="3977639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932151" y="7891271"/>
            <a:ext cx="3648456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39571"/>
                </a:solidFill>
                <a:latin typeface="Yu Gothic"/>
              </a:rPr>
              <a:t>0.1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32151" y="8919972"/>
            <a:ext cx="364845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dwell / point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339560" y="7726679"/>
            <a:ext cx="3977639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504152" y="7891271"/>
            <a:ext cx="3648456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39571"/>
                </a:solidFill>
                <a:latin typeface="Yu Gothic"/>
              </a:rPr>
              <a:t>27 × 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04152" y="8919972"/>
            <a:ext cx="364845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maximum grid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10222992"/>
            <a:ext cx="1316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No coverage holes: 120/√2 ≈ 85 µrad &lt; 150 µrad.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10789920"/>
            <a:ext cx="1316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D03B46"/>
                </a:solidFill>
                <a:latin typeface="Yu Gothic"/>
              </a:rPr>
              <a:t>Slew, settling, and stochastic detection are not modeled.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§7.1, Table 6, Figures 8–9; beacon field basis: Shi et al. 2023.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PAT results · thermal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82B52"/>
                </a:solidFill>
                <a:latin typeface="Yu Gothic"/>
              </a:rPr>
              <a:t>With thermal error only, mean acquisition time falls from 14.6 s to 0.10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54680"/>
            <a:ext cx="1280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82B52"/>
                </a:solidFill>
                <a:latin typeface="Yu Gothic"/>
              </a:rPr>
              <a:t>Mean acquisition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77639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232B34"/>
                </a:solidFill>
                <a:latin typeface="Yu Gothic"/>
              </a:rPr>
              <a:t>No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0679" y="3995927"/>
            <a:ext cx="9692639" cy="603504"/>
          </a:xfrm>
          <a:prstGeom prst="rect">
            <a:avLst/>
          </a:prstGeom>
          <a:solidFill>
            <a:srgbClr val="F1F4F6"/>
          </a:solidFill>
          <a:ln>
            <a:solidFill>
              <a:srgbClr val="F1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40679" y="3995927"/>
            <a:ext cx="9692639" cy="603504"/>
          </a:xfrm>
          <a:prstGeom prst="rect">
            <a:avLst/>
          </a:prstGeom>
          <a:solidFill>
            <a:srgbClr val="D03B46"/>
          </a:solidFill>
          <a:ln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70480" y="3977639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D03B46"/>
                </a:solidFill>
                <a:latin typeface="Yu Gothic"/>
              </a:rPr>
              <a:t>14.6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5166360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232B34"/>
                </a:solidFill>
                <a:latin typeface="Yu Gothic"/>
              </a:rPr>
              <a:t>Hierarchical ΔT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79" y="5184648"/>
            <a:ext cx="9692639" cy="603504"/>
          </a:xfrm>
          <a:prstGeom prst="rect">
            <a:avLst/>
          </a:prstGeom>
          <a:solidFill>
            <a:srgbClr val="F1F4F6"/>
          </a:solidFill>
          <a:ln>
            <a:solidFill>
              <a:srgbClr val="F1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40679" y="5184648"/>
            <a:ext cx="145389" cy="603504"/>
          </a:xfrm>
          <a:prstGeom prst="rect">
            <a:avLst/>
          </a:prstGeom>
          <a:solidFill>
            <a:srgbClr val="239571"/>
          </a:solidFill>
          <a:ln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0" y="5166360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239571"/>
                </a:solidFill>
                <a:latin typeface="Yu Gothic"/>
              </a:rPr>
              <a:t>0.10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6355080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232B34"/>
                </a:solidFill>
                <a:latin typeface="Yu Gothic"/>
              </a:rPr>
              <a:t>Thermal truth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79" y="6373368"/>
            <a:ext cx="9692639" cy="603504"/>
          </a:xfrm>
          <a:prstGeom prst="rect">
            <a:avLst/>
          </a:prstGeom>
          <a:solidFill>
            <a:srgbClr val="F1F4F6"/>
          </a:solidFill>
          <a:ln>
            <a:solidFill>
              <a:srgbClr val="F1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79" y="6373368"/>
            <a:ext cx="145389" cy="603504"/>
          </a:xfrm>
          <a:prstGeom prst="rect">
            <a:avLst/>
          </a:prstGeom>
          <a:solidFill>
            <a:srgbClr val="1B74AA"/>
          </a:solidFill>
          <a:ln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70480" y="6355080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B74AA"/>
                </a:solidFill>
                <a:latin typeface="Yu Gothic"/>
              </a:rPr>
              <a:t>0.10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465040" y="3520440"/>
            <a:ext cx="5623560" cy="2057400"/>
          </a:xfrm>
          <a:prstGeom prst="roundRect">
            <a:avLst/>
          </a:prstGeom>
          <a:solidFill>
            <a:srgbClr val="EAF7F2"/>
          </a:solidFill>
          <a:ln w="1524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629632" y="3685032"/>
            <a:ext cx="5294376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39571"/>
                </a:solidFill>
                <a:latin typeface="Yu Gothic"/>
              </a:rPr>
              <a:t>9.3 µrad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29632" y="4713732"/>
            <a:ext cx="529437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mean two-axis thermal residual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465040" y="5989320"/>
            <a:ext cx="5623560" cy="2057400"/>
          </a:xfrm>
          <a:prstGeom prst="roundRect">
            <a:avLst/>
          </a:prstGeom>
          <a:solidFill>
            <a:srgbClr val="EAF5FB"/>
          </a:solidFill>
          <a:ln w="1524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629632" y="6153912"/>
            <a:ext cx="5294376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500" b="1">
                <a:solidFill>
                  <a:srgbClr val="1B74AA"/>
                </a:solidFill>
                <a:latin typeface="Yu Gothic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29632" y="7182612"/>
            <a:ext cx="529437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success for all three methods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8366760"/>
            <a:ext cx="20756880" cy="2377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8531352"/>
            <a:ext cx="2024481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239571"/>
                </a:solidFill>
                <a:latin typeface="Yu Gothic"/>
              </a:rPr>
              <a:t>Why one scan point is enough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9189720"/>
            <a:ext cx="20208239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9.3 µrad residual ≪ 150 µrad detection radius.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The prediction reaches the thermal-truth upper bound.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1109960"/>
            <a:ext cx="15270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14 COLD baseline-surface cases · 301 epochs × 3 orbits per 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§7.3, Table 7.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PAT results · with nonthermal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82B52"/>
                </a:solidFill>
                <a:latin typeface="Yu Gothic"/>
              </a:rPr>
              <a:t>With nonthermal error, the remaining search is no longer thermal: 19.2 s to 5.45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54680"/>
            <a:ext cx="1280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82B52"/>
                </a:solidFill>
                <a:latin typeface="Yu Gothic"/>
              </a:rPr>
              <a:t>Mean acquisition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77639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232B34"/>
                </a:solidFill>
                <a:latin typeface="Yu Gothic"/>
              </a:rPr>
              <a:t>No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0679" y="3995927"/>
            <a:ext cx="9692639" cy="603504"/>
          </a:xfrm>
          <a:prstGeom prst="rect">
            <a:avLst/>
          </a:prstGeom>
          <a:solidFill>
            <a:srgbClr val="F1F4F6"/>
          </a:solidFill>
          <a:ln>
            <a:solidFill>
              <a:srgbClr val="F1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40679" y="3995927"/>
            <a:ext cx="9692639" cy="603504"/>
          </a:xfrm>
          <a:prstGeom prst="rect">
            <a:avLst/>
          </a:prstGeom>
          <a:solidFill>
            <a:srgbClr val="D03B46"/>
          </a:solidFill>
          <a:ln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70480" y="3977639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D03B46"/>
                </a:solidFill>
                <a:latin typeface="Yu Gothic"/>
              </a:rPr>
              <a:t>19.2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5257800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232B34"/>
                </a:solidFill>
                <a:latin typeface="Yu Gothic"/>
              </a:rPr>
              <a:t>Hierarchical ΔT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79" y="5276088"/>
            <a:ext cx="9692639" cy="603504"/>
          </a:xfrm>
          <a:prstGeom prst="rect">
            <a:avLst/>
          </a:prstGeom>
          <a:solidFill>
            <a:srgbClr val="F1F4F6"/>
          </a:solidFill>
          <a:ln>
            <a:solidFill>
              <a:srgbClr val="F1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40679" y="5276088"/>
            <a:ext cx="2751296" cy="603504"/>
          </a:xfrm>
          <a:prstGeom prst="rect">
            <a:avLst/>
          </a:prstGeom>
          <a:solidFill>
            <a:srgbClr val="239571"/>
          </a:solidFill>
          <a:ln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0" y="5257800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239571"/>
                </a:solidFill>
                <a:latin typeface="Yu Gothic"/>
              </a:rPr>
              <a:t>5.45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465040" y="3520440"/>
            <a:ext cx="5623560" cy="2057400"/>
          </a:xfrm>
          <a:prstGeom prst="roundRect">
            <a:avLst/>
          </a:prstGeom>
          <a:solidFill>
            <a:srgbClr val="EAF7F2"/>
          </a:solidFill>
          <a:ln w="1524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629632" y="3685032"/>
            <a:ext cx="5294376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239571"/>
                </a:solidFill>
                <a:latin typeface="Yu Gothic"/>
              </a:rPr>
              <a:t>−72%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29632" y="4713732"/>
            <a:ext cx="529437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mean acquisition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465040" y="5989320"/>
            <a:ext cx="5623560" cy="2057400"/>
          </a:xfrm>
          <a:prstGeom prst="roundRect">
            <a:avLst/>
          </a:prstGeom>
          <a:solidFill>
            <a:srgbClr val="EAF5FB"/>
          </a:solidFill>
          <a:ln w="1524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629632" y="6153912"/>
            <a:ext cx="5294376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B74AA"/>
                </a:solidFill>
                <a:latin typeface="Yu Gothic"/>
              </a:rPr>
              <a:t>98 →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29632" y="7182612"/>
            <a:ext cx="529437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acquisition success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7589520"/>
            <a:ext cx="10058400" cy="2423160"/>
          </a:xfrm>
          <a:prstGeom prst="roundRect">
            <a:avLst/>
          </a:prstGeom>
          <a:solidFill>
            <a:srgbClr val="FFF4E8"/>
          </a:solidFill>
          <a:ln w="1397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7754112"/>
            <a:ext cx="954633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EC9427"/>
                </a:solidFill>
                <a:latin typeface="Yu Gothic"/>
              </a:rPr>
              <a:t>After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8412480"/>
            <a:ext cx="9509760" cy="143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Mean initial error = 448 µrad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≈ synthesized nonthermal error floor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938760" y="7589520"/>
            <a:ext cx="10058400" cy="2423160"/>
          </a:xfrm>
          <a:prstGeom prst="roundRect">
            <a:avLst/>
          </a:prstGeom>
          <a:solidFill>
            <a:srgbClr val="EAF7F2"/>
          </a:solidFill>
          <a:ln w="1397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94792" y="7754112"/>
            <a:ext cx="954633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239571"/>
                </a:solidFill>
                <a:latin typeface="Yu Gothic"/>
              </a:rPr>
              <a:t>Largest benefit: PY sun 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13080" y="8412480"/>
            <a:ext cx="9509760" cy="143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37.3–39.5 s and 88–97%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→ 1.3–1.8 s and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10497312"/>
            <a:ext cx="18699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082B52"/>
                </a:solidFill>
                <a:latin typeface="Yu Gothic"/>
              </a:rPr>
              <a:t>The method removes predictable thermal bias; it does not claim to eliminate total pointing error.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One nonthermal-error seed per case; not a Monte Carlo ensemble. Paper §7.2–7.3, Table 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Scope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82B52"/>
                </a:solidFill>
                <a:latin typeface="Yu Gothic"/>
              </a:rPr>
              <a:t>The present evaluation is numerical and structure-specific; several floors remain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154680"/>
            <a:ext cx="10607040" cy="3154680"/>
          </a:xfrm>
          <a:prstGeom prst="roundRect">
            <a:avLst/>
          </a:prstGeom>
          <a:solidFill>
            <a:srgbClr val="EAF5FB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4752" y="3319272"/>
            <a:ext cx="1009497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B74AA"/>
                </a:solidFill>
                <a:latin typeface="Yu Gothic"/>
              </a:rPr>
              <a:t>Same simulation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977640"/>
            <a:ext cx="10058400" cy="2167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Truth and reduced model use the same TD/Femap mechanics. LOO removes cases, not the shared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573000" y="3154680"/>
            <a:ext cx="10607040" cy="3154680"/>
          </a:xfrm>
          <a:prstGeom prst="roundRect">
            <a:avLst/>
          </a:prstGeom>
          <a:solidFill>
            <a:srgbClr val="FFF4E8"/>
          </a:solidFill>
          <a:ln w="1397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29032" y="3319272"/>
            <a:ext cx="1009497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C9427"/>
                </a:solidFill>
                <a:latin typeface="Yu Gothic"/>
              </a:rPr>
              <a:t>LOS extraction proxy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47320" y="3977640"/>
            <a:ext cx="10058400" cy="2167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Representative node rotations are used; a rigid-body fit over mounting interfaces remains to be tested.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6858000"/>
            <a:ext cx="10607040" cy="3154680"/>
          </a:xfrm>
          <a:prstGeom prst="roundRect">
            <a:avLst/>
          </a:prstGeom>
          <a:solidFill>
            <a:srgbClr val="FCECEF"/>
          </a:solidFill>
          <a:ln w="1397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7022592"/>
            <a:ext cx="1009497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D03B46"/>
                </a:solidFill>
                <a:latin typeface="Yu Gothic"/>
              </a:rPr>
              <a:t>Unmodeled operating factors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7680960"/>
            <a:ext cx="10058400" cy="2167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Black coating, HOT orbit, and half-power dissipation raise the residual floor and are not explicit in Level 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573000" y="6858000"/>
            <a:ext cx="10607040" cy="3154680"/>
          </a:xfrm>
          <a:prstGeom prst="roundRect">
            <a:avLst/>
          </a:prstGeom>
          <a:solidFill>
            <a:srgbClr val="EAF7F2"/>
          </a:solidFill>
          <a:ln w="1397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29032" y="7022592"/>
            <a:ext cx="1009497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239571"/>
                </a:solidFill>
                <a:latin typeface="Yu Gothic"/>
              </a:rPr>
              <a:t>Simplified acquisition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47320" y="7680960"/>
            <a:ext cx="10058400" cy="2167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Nonthermal error uses one seed; scan dynamics and stochastic detection are neglected; no ground test yet.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10680192"/>
            <a:ext cx="18882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10844784"/>
            <a:ext cx="18242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082B52"/>
                </a:solidFill>
                <a:latin typeface="Yu Gothic"/>
              </a:rPr>
              <a:t>The measured sensitivity (~30 µrad/K) is specific to this structure, placement, and LOS definition; another spacecraft requires re-identification.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§6 limitations, §7.4, §8.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82B52"/>
                </a:solidFill>
                <a:latin typeface="Yu Gothic"/>
              </a:rPr>
              <a:t>Predictable thermal bias can be removed before acquisition; nonthermal error sets the remaining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29000"/>
            <a:ext cx="6903720" cy="2743200"/>
          </a:xfrm>
          <a:prstGeom prst="roundRect">
            <a:avLst/>
          </a:prstGeom>
          <a:solidFill>
            <a:srgbClr val="EAF5FB"/>
          </a:solidFill>
          <a:ln w="1524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3593592"/>
            <a:ext cx="657453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B74AA"/>
                </a:solidFill>
                <a:latin typeface="Yu Gothic"/>
              </a:rPr>
              <a:t>4.9 vs 615 µrad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5020056"/>
            <a:ext cx="657453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nested-LOO RMSE vs raw 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429000"/>
            <a:ext cx="6903720" cy="2743200"/>
          </a:xfrm>
          <a:prstGeom prst="roundRect">
            <a:avLst/>
          </a:prstGeom>
          <a:solidFill>
            <a:srgbClr val="EAF7F2"/>
          </a:solidFill>
          <a:ln w="1524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3593592"/>
            <a:ext cx="657453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39571"/>
                </a:solidFill>
                <a:latin typeface="Yu Gothic"/>
              </a:rPr>
              <a:t>14.6 → 0.10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7112" y="5020056"/>
            <a:ext cx="657453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thermal error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67759" y="3429000"/>
            <a:ext cx="6903720" cy="274320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532351" y="3593592"/>
            <a:ext cx="657453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EC9427"/>
                </a:solidFill>
                <a:latin typeface="Yu Gothic"/>
              </a:rPr>
              <a:t>19.2 → 5.45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32351" y="5020056"/>
            <a:ext cx="657453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66F79"/>
                </a:solidFill>
                <a:latin typeface="Yu Gothic"/>
              </a:rPr>
              <a:t>with nonthermal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6903720"/>
            <a:ext cx="2171700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7315200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B74AA"/>
                </a:solidFill>
                <a:latin typeface="Yu Gothic"/>
              </a:rPr>
              <a:t>Bus-relative STT–LCT thermal LOS</a:t>
            </a:r>
          </a:p>
        </p:txBody>
      </p:sp>
      <p:sp>
        <p:nvSpPr>
          <p:cNvPr id="16" name="Chevron 15"/>
          <p:cNvSpPr/>
          <p:nvPr/>
        </p:nvSpPr>
        <p:spPr>
          <a:xfrm>
            <a:off x="8485632" y="7370064"/>
            <a:ext cx="594360" cy="566928"/>
          </a:xfrm>
          <a:prstGeom prst="chevron">
            <a:avLst/>
          </a:prstGeom>
          <a:solidFill>
            <a:srgbClr val="4BA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7315200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C9427"/>
                </a:solidFill>
                <a:latin typeface="Yu Gothic"/>
              </a:rPr>
              <a:t>Shared coefficients across conditions</a:t>
            </a:r>
          </a:p>
        </p:txBody>
      </p:sp>
      <p:sp>
        <p:nvSpPr>
          <p:cNvPr id="18" name="Chevron 17"/>
          <p:cNvSpPr/>
          <p:nvPr/>
        </p:nvSpPr>
        <p:spPr>
          <a:xfrm>
            <a:off x="15892272" y="7370064"/>
            <a:ext cx="594360" cy="566928"/>
          </a:xfrm>
          <a:prstGeom prst="chevron">
            <a:avLst/>
          </a:prstGeom>
          <a:solidFill>
            <a:srgbClr val="4BA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96359" y="7315200"/>
            <a:ext cx="5897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239571"/>
                </a:solidFill>
                <a:latin typeface="Yu Gothic"/>
              </a:rPr>
              <a:t>Feedforward coarse acquisition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8549640"/>
            <a:ext cx="1815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82B52"/>
                </a:solidFill>
                <a:latin typeface="Yu Gothic"/>
              </a:rPr>
              <a:t>Under the evaluated conditions, this reduces search burden before optical feedback is available.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0561320"/>
            <a:ext cx="795527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666F79"/>
                </a:solidFill>
                <a:latin typeface="Yu Gothic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ICSO 2026 · Paper 293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BACKUP · Case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82B52"/>
                </a:solidFill>
                <a:latin typeface="Yu Gothic"/>
              </a:rPr>
              <a:t>The 21-case matrix separates sun face, dissipation, surface, and orbit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B1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3063240"/>
          <a:ext cx="22265639" cy="800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5883"/>
                <a:gridCol w="6274862"/>
                <a:gridCol w="12144894"/>
              </a:tblGrid>
              <a:tr h="1000125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Yu Gothic"/>
                        </a:rPr>
                        <a:t>Case(s)</a:t>
                      </a:r>
                    </a:p>
                  </a:txBody>
                  <a:tcPr>
                    <a:solidFill>
                      <a:srgbClr val="082B52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Yu Gothic"/>
                        </a:rPr>
                        <a:t>Purpose</a:t>
                      </a:r>
                    </a:p>
                  </a:txBody>
                  <a:tcPr>
                    <a:solidFill>
                      <a:srgbClr val="082B52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Yu Gothic"/>
                        </a:rPr>
                        <a:t>Conditions</a:t>
                      </a:r>
                    </a:p>
                  </a:txBody>
                  <a:tcPr>
                    <a:solidFill>
                      <a:srgbClr val="082B52"/>
                    </a:solidFill>
                  </a:tcPr>
                </a:tc>
              </a:tr>
              <a:tr h="1000125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04–06, 08–09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Sun face /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MX/MY/PX/PY; all units or STT/LCT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10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Thermal environment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MY; HOT orbit with continuous illumination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</a:tr>
              <a:tr h="1000125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11–12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Surface properties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MY; Black sun face or Alodine surfaces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13–21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Dissipation modes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PROP only / PCDU only / no additional dissipation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</a:tr>
              <a:tr h="1000125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Continuous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MY; half PROP power (12.5 W) + PCDU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23–24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MX dissipation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MX; PROP only or PCDU only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</a:tr>
              <a:tr h="1000125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Orbit 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2B34"/>
                          </a:solidFill>
                          <a:latin typeface="Yu Gothic"/>
                        </a:rPr>
                        <a:t>MY; LTAN18, 693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48840" y="11292840"/>
            <a:ext cx="20071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Evaluated IDs: 04–06 and 08–25. Cases 01–03 and 07 were MZ/setup runs and are excluded.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Table 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BACKUP · Scan geometry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82B52"/>
                </a:solidFill>
                <a:latin typeface="Yu Gothic"/>
              </a:rPr>
              <a:t>A 120 µrad step with a 150 µrad detection radius leaves no coverage holes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B2</a:t>
            </a:r>
          </a:p>
        </p:txBody>
      </p:sp>
      <p:pic>
        <p:nvPicPr>
          <p:cNvPr id="5" name="Picture 4" descr="fig_rectangular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383" y="2834640"/>
            <a:ext cx="9328512" cy="9006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64640" y="3291840"/>
            <a:ext cx="8641080" cy="2560320"/>
          </a:xfrm>
          <a:prstGeom prst="roundRect">
            <a:avLst/>
          </a:prstGeom>
          <a:solidFill>
            <a:srgbClr val="EAF7F2"/>
          </a:solidFill>
          <a:ln w="1397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520672" y="3456432"/>
            <a:ext cx="812901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239571"/>
                </a:solidFill>
                <a:latin typeface="Yu Gothic"/>
              </a:rPr>
              <a:t>Coverage 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38960" y="4114800"/>
            <a:ext cx="8092440" cy="1572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232B34"/>
                </a:solidFill>
                <a:latin typeface="Yu Gothic"/>
              </a:rPr>
              <a:t>Half-diagonal = 120/√2 ≈ 85 µrad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232B34"/>
                </a:solidFill>
                <a:latin typeface="Yu Gothic"/>
              </a:rPr>
              <a:t>85 µrad &lt; 150 µrad detection radius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264640" y="6309360"/>
            <a:ext cx="8641080" cy="2606040"/>
          </a:xfrm>
          <a:prstGeom prst="roundRect">
            <a:avLst/>
          </a:prstGeom>
          <a:solidFill>
            <a:srgbClr val="EAF5FB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20672" y="6473952"/>
            <a:ext cx="812901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B74AA"/>
                </a:solidFill>
                <a:latin typeface="Yu Gothic"/>
              </a:rPr>
              <a:t>Full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0" y="7132320"/>
            <a:ext cx="8092440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Range: ±1600 µrad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Grid: 27 × 27 = 729 points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Maximum: 72.9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0" y="9372600"/>
            <a:ext cx="8641080" cy="1965960"/>
          </a:xfrm>
          <a:prstGeom prst="roundRect">
            <a:avLst/>
          </a:prstGeom>
          <a:solidFill>
            <a:srgbClr val="FFF4E8"/>
          </a:solidFill>
          <a:ln w="1397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20672" y="9537192"/>
            <a:ext cx="812901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C9427"/>
                </a:solidFill>
                <a:latin typeface="Yu Gothic"/>
              </a:rP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0" y="10195560"/>
            <a:ext cx="8092440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The 150 µrad radius represents a coarse beacon field, not the narrow communication beam.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§7.1, Table 6, Figure 9; field-of-view basis: Shi et al. 2023.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BACKUP · Nonthermal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82B52"/>
                </a:solidFill>
                <a:latin typeface="Yu Gothic"/>
              </a:rPr>
              <a:t>The nonthermal synthesis combines orbit, alignment, attitude, and drift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B3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154680"/>
            <a:ext cx="10561320" cy="2788920"/>
          </a:xfrm>
          <a:prstGeom prst="roundRect">
            <a:avLst/>
          </a:prstGeom>
          <a:solidFill>
            <a:srgbClr val="EAF5FB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2" y="3319272"/>
            <a:ext cx="100492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B74AA"/>
                </a:solidFill>
                <a:latin typeface="Yu Gothic"/>
              </a:rPr>
              <a:t>Orbit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77640"/>
            <a:ext cx="10012680" cy="18013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Latest Sentinel-1 TLE propagated by SGP4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vs precise POEORB, projected to link transverse plane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90119" y="3154680"/>
            <a:ext cx="10561320" cy="2788920"/>
          </a:xfrm>
          <a:prstGeom prst="roundRect">
            <a:avLst/>
          </a:prstGeom>
          <a:solidFill>
            <a:srgbClr val="FFF4E8"/>
          </a:solidFill>
          <a:ln w="1397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46151" y="3319272"/>
            <a:ext cx="100492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EC9427"/>
                </a:solidFill>
                <a:latin typeface="Yu Gothic"/>
              </a:rPr>
              <a:t>Alignment residual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4440" y="3977640"/>
            <a:ext cx="10012680" cy="18013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Constant two-axis residual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1σ = 50 µrad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6492240"/>
            <a:ext cx="10561320" cy="2788920"/>
          </a:xfrm>
          <a:prstGeom prst="roundRect">
            <a:avLst/>
          </a:prstGeom>
          <a:solidFill>
            <a:srgbClr val="EAF7F2"/>
          </a:solidFill>
          <a:ln w="1397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6656831"/>
            <a:ext cx="100492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239571"/>
                </a:solidFill>
                <a:latin typeface="Yu Gothic"/>
              </a:rPr>
              <a:t>Attitude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7315200"/>
            <a:ext cx="10012680" cy="18013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Random two-axis determination/control error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1σ = 50 µrad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90119" y="6492240"/>
            <a:ext cx="10561320" cy="2788920"/>
          </a:xfrm>
          <a:prstGeom prst="roundRect">
            <a:avLst/>
          </a:prstGeom>
          <a:solidFill>
            <a:srgbClr val="FCECEF"/>
          </a:solidFill>
          <a:ln w="1397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46151" y="6656831"/>
            <a:ext cx="100492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D03B46"/>
                </a:solidFill>
                <a:latin typeface="Yu Gothic"/>
              </a:rPr>
              <a:t>Low-frequency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4440" y="7315200"/>
            <a:ext cx="10012680" cy="18013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Amplitude 30 µrad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Period 900 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10104120"/>
            <a:ext cx="1988820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10332720"/>
            <a:ext cx="19156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82B52"/>
                </a:solidFill>
                <a:latin typeface="Yu Gothic"/>
              </a:rPr>
              <a:t>Thermal LOS and orbit error both contain near-orbital-period content; frequency alone cannot isolate the thermal term after acquisition.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One fixed seed per case; not a spacecraft-specific error budget or Monte Carlo ensemble. Paper §7.2.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BACKUP · Preliminary residual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82B52"/>
                </a:solidFill>
                <a:latin typeface="Yu Gothic"/>
              </a:rPr>
              <a:t>A preliminary residual Fourier update preserves first-orbit FF and lowers later-orbit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B4</a:t>
            </a:r>
          </a:p>
        </p:txBody>
      </p:sp>
      <p:pic>
        <p:nvPicPr>
          <p:cNvPr id="5" name="Picture 4" descr="fig_residual_upda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337560"/>
            <a:ext cx="14813280" cy="69951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6230600" y="3383280"/>
            <a:ext cx="6766560" cy="2240280"/>
          </a:xfrm>
          <a:prstGeom prst="roundRect">
            <a:avLst/>
          </a:prstGeom>
          <a:solidFill>
            <a:srgbClr val="EAF5FB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86632" y="3547872"/>
            <a:ext cx="625449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B74AA"/>
                </a:solidFill>
                <a:latin typeface="Yu Gothic"/>
              </a:rPr>
              <a:t>Causal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4920" y="4206240"/>
            <a:ext cx="6217920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K = 2 Fourier coefficients are fitted in orbit n and applied to orbit n+1.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30600" y="5989320"/>
            <a:ext cx="6766560" cy="2240280"/>
          </a:xfrm>
          <a:prstGeom prst="roundRect">
            <a:avLst/>
          </a:prstGeom>
          <a:solidFill>
            <a:srgbClr val="FCECEF"/>
          </a:solidFill>
          <a:ln w="1397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86632" y="6153912"/>
            <a:ext cx="625449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D03B46"/>
                </a:solidFill>
                <a:latin typeface="Yu Gothic"/>
              </a:rPr>
              <a:t>Why FF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04920" y="6812280"/>
            <a:ext cx="6217920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232B34"/>
                </a:solidFill>
                <a:latin typeface="Yu Gothic"/>
              </a:rPr>
              <a:t>Direct Fourier is uncorrected in orbit 0: Case 16 requires 39.5 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230600" y="8595360"/>
            <a:ext cx="6766560" cy="2331720"/>
          </a:xfrm>
          <a:prstGeom prst="roundRect">
            <a:avLst/>
          </a:prstGeom>
          <a:solidFill>
            <a:srgbClr val="FFF4E8"/>
          </a:solidFill>
          <a:ln w="1397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86632" y="8759952"/>
            <a:ext cx="625449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C9427"/>
                </a:solidFill>
                <a:latin typeface="Yu Gothic"/>
              </a:rPr>
              <a:t>Preliminary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04920" y="9418320"/>
            <a:ext cx="6217920" cy="1344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232B34"/>
                </a:solidFill>
                <a:latin typeface="Yu Gothic"/>
              </a:rPr>
              <a:t>Two cases; dense 60.5 s samples; failed-point residuals and receiver realization are not validated.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§7.4, Figure 10.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BACKUP · LOS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82B52"/>
                </a:solidFill>
                <a:latin typeface="Yu Gothic"/>
              </a:rPr>
              <a:t>Representative node rotations are a proxy for equipment attitude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B5</a:t>
            </a:r>
          </a:p>
        </p:txBody>
      </p:sp>
      <p:pic>
        <p:nvPicPr>
          <p:cNvPr id="5" name="Picture 4" descr="fig_los_defi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59" y="2926080"/>
            <a:ext cx="11643360" cy="8732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64640" y="3291840"/>
            <a:ext cx="8503920" cy="2423160"/>
          </a:xfrm>
          <a:prstGeom prst="roundRect">
            <a:avLst/>
          </a:prstGeom>
          <a:solidFill>
            <a:srgbClr val="EAF5FB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520672" y="3456432"/>
            <a:ext cx="79918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B74AA"/>
                </a:solidFill>
                <a:latin typeface="Yu Gothic"/>
              </a:rPr>
              <a:t>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38960" y="4114800"/>
            <a:ext cx="7955280" cy="143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Thermal rotations at representative STT and LCT center nodes are differenced in the transverse axes.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264640" y="6172200"/>
            <a:ext cx="8503920" cy="2240280"/>
          </a:xfrm>
          <a:prstGeom prst="roundRect">
            <a:avLst/>
          </a:prstGeom>
          <a:solidFill>
            <a:srgbClr val="FFF4E8"/>
          </a:solidFill>
          <a:ln w="1397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20672" y="6336792"/>
            <a:ext cx="79918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C9427"/>
                </a:solidFill>
                <a:latin typeface="Yu Gothic"/>
              </a:rPr>
              <a:t>Not yet 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0" y="6995160"/>
            <a:ext cx="7955280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32B34"/>
                </a:solidFill>
                <a:latin typeface="Yu Gothic"/>
              </a:rPr>
              <a:t>Least-squares rigid-body attitude fitted over each mounting interface.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0" y="8869680"/>
            <a:ext cx="8503920" cy="2057400"/>
          </a:xfrm>
          <a:prstGeom prst="roundRect">
            <a:avLst/>
          </a:prstGeom>
          <a:solidFill>
            <a:srgbClr val="EAF7F2"/>
          </a:solidFill>
          <a:ln w="1397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20672" y="9034272"/>
            <a:ext cx="79918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239571"/>
                </a:solidFill>
                <a:latin typeface="Yu Gothic"/>
              </a:rPr>
              <a:t>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0" y="9692640"/>
            <a:ext cx="7955280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232B34"/>
                </a:solidFill>
                <a:latin typeface="Yu Gothic"/>
              </a:rPr>
              <a:t>The present LOS definition and extraction method are shared by truth and reduced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§4, analysis procedure.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BACKUP · Hard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82B52"/>
                </a:solidFill>
                <a:latin typeface="Yu Gothic"/>
              </a:rPr>
              <a:t>The largest residuals identify missing variables rather than model universality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B6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03320"/>
            <a:ext cx="6766560" cy="3749039"/>
          </a:xfrm>
          <a:prstGeom prst="roundRect">
            <a:avLst/>
          </a:prstGeom>
          <a:solidFill>
            <a:srgbClr val="FCECEF"/>
          </a:solidFill>
          <a:ln w="13970">
            <a:solidFill>
              <a:srgbClr val="D0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2" y="3867911"/>
            <a:ext cx="625449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D03B46"/>
                </a:solidFill>
                <a:latin typeface="Yu Gothic"/>
              </a:rPr>
              <a:t>Black coating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26280"/>
            <a:ext cx="6217920" cy="276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≈13 µrad test RMSE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Surface properties change orbital amplitude and residual floor.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3703320"/>
            <a:ext cx="6766560" cy="3749039"/>
          </a:xfrm>
          <a:prstGeom prst="roundRect">
            <a:avLst/>
          </a:prstGeom>
          <a:solidFill>
            <a:srgbClr val="FFF4E8"/>
          </a:solidFill>
          <a:ln w="1397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5672" y="3867911"/>
            <a:ext cx="625449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9427"/>
                </a:solidFill>
                <a:latin typeface="Yu Gothic"/>
              </a:rPr>
              <a:t>HOT orbit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4526280"/>
            <a:ext cx="6217920" cy="276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Several-µrad DC residual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Continuous illumination is not explicit in Level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0" y="3703320"/>
            <a:ext cx="6766560" cy="3749039"/>
          </a:xfrm>
          <a:prstGeom prst="roundRect">
            <a:avLst/>
          </a:prstGeom>
          <a:solidFill>
            <a:srgbClr val="EAF5FB"/>
          </a:solidFill>
          <a:ln w="1397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58032" y="3867911"/>
            <a:ext cx="625449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B74AA"/>
                </a:solidFill>
                <a:latin typeface="Yu Gothic"/>
              </a:rPr>
              <a:t>Half PROP 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0" y="4526280"/>
            <a:ext cx="6217920" cy="276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≈16 µrad test RMSE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232B34"/>
                </a:solidFill>
                <a:latin typeface="Yu Gothic"/>
              </a:rPr>
              <a:t>A binary dissipation flag cannot represent continuous power.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8458200"/>
            <a:ext cx="19248120" cy="1920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8732520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239571"/>
                </a:solidFill>
                <a:latin typeface="Yu Gothic"/>
              </a:rPr>
              <a:t>Next Level-2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8668512"/>
            <a:ext cx="13213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82B52"/>
                </a:solidFill>
                <a:latin typeface="Yu Gothic"/>
              </a:rPr>
              <a:t>surface state  ·  orbit/thermal environment  ·  continuous dissipation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0744200"/>
            <a:ext cx="18013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666F79"/>
                </a:solidFill>
                <a:latin typeface="Yu Gothic"/>
              </a:rPr>
              <a:t>The model structure is portable; the present coefficients are not claimed to be universal.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§6 discussion and limitations.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BACKUP · Pending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82B52"/>
                </a:solidFill>
                <a:latin typeface="Yu Gothic"/>
              </a:rPr>
              <a:t>Constant-bias-only PAT comparison is reserved for a controlled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B7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3657600"/>
            <a:ext cx="18699480" cy="5212080"/>
          </a:xfrm>
          <a:prstGeom prst="roundRect">
            <a:avLst/>
          </a:prstGeom>
          <a:solidFill>
            <a:srgbClr val="F1F4F6"/>
          </a:solidFill>
          <a:ln w="15240"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4343400"/>
            <a:ext cx="15041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666F79"/>
                </a:solidFill>
                <a:latin typeface="Yu Gothic"/>
              </a:rPr>
              <a:t>PENDING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5532120"/>
            <a:ext cx="1504188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232B34"/>
                </a:solidFill>
                <a:latin typeface="Yu Gothic"/>
              </a:rPr>
              <a:t>Set ΔT(t) = 0 while retaining the predicted case DC bias.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232B34"/>
                </a:solidFill>
                <a:latin typeface="Yu Gothic"/>
              </a:rPr>
              <a:t>This will quantify how much acquisition improvement comes from DC correction versus orbital variation.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7680960"/>
            <a:ext cx="15041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D03B46"/>
                </a:solidFill>
                <a:latin typeface="Yu Gothic"/>
              </a:rPr>
              <a:t>No value from this pending ablation is used in the main-slide conclusions.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Reserved slot from the oral-slide outline; not yet computed.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600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66F79"/>
                </a:solidFill>
                <a:latin typeface="Yu Gothic"/>
              </a:rPr>
              <a:t>BACKUP · Prior work and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298448"/>
            <a:ext cx="22082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82B52"/>
                </a:solidFill>
                <a:latin typeface="Yu Gothic"/>
              </a:rPr>
              <a:t>This work connects thermal-state LOS prediction to optical-communication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14280" y="125272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666F79"/>
                </a:solidFill>
                <a:latin typeface="Yu Gothic"/>
              </a:rPr>
              <a:t>B8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999232"/>
          <a:ext cx="22631399" cy="8183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0357"/>
                <a:gridCol w="5747657"/>
                <a:gridCol w="8441871"/>
                <a:gridCol w="3951514"/>
              </a:tblGrid>
              <a:tr h="1022984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</a:rPr>
                        <a:t>Study</a:t>
                      </a:r>
                    </a:p>
                  </a:txBody>
                  <a:tcPr>
                    <a:solidFill>
                      <a:srgbClr val="082B52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</a:rPr>
                        <a:t>System / domain</a:t>
                      </a:r>
                    </a:p>
                  </a:txBody>
                  <a:tcPr>
                    <a:solidFill>
                      <a:srgbClr val="082B52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</a:rPr>
                        <a:t>Thermal treatment</a:t>
                      </a:r>
                    </a:p>
                  </a:txBody>
                  <a:tcPr>
                    <a:solidFill>
                      <a:srgbClr val="082B52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</a:rPr>
                        <a:t>Acquisition</a:t>
                      </a:r>
                    </a:p>
                  </a:txBody>
                  <a:tcPr>
                    <a:solidFill>
                      <a:srgbClr val="082B52"/>
                    </a:solidFill>
                  </a:tcPr>
                </a:tc>
              </a:tr>
              <a:tr h="1022984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Riesing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CubeSat optical PAT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Not modeled; absorbed by attitude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Yes, in orbit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2984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Rüddenklau 2026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Optical terminal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FF of attitude / mounting errors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Yes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</a:tr>
              <a:tr h="1022984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Shi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Optical-comm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Reduced by structural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2984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Zhang 2025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Inter-satellite pointing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Finite-element assessment / guidance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Impact evaluated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</a:tr>
              <a:tr h="1022984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Hu 2022 / Li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GEO / LEO Earth observation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Periodic model / neural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2984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Turella 2019/2021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JUICE/JANUS camera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Wall-to-wall ΔT proportional model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2B34"/>
                          </a:solidFill>
                          <a:latin typeface="Yu Gothic"/>
                        </a:rPr>
                        <a:t>No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</a:tr>
              <a:tr h="1022991">
                <a:tc>
                  <a:txBody>
                    <a:bodyPr wrap="square" anchor="ctr" lIns="73152" rIns="73152" tIns="73152" bIns="73152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82B52"/>
                          </a:solidFill>
                          <a:latin typeface="Yu Gothic"/>
                        </a:rPr>
                        <a:t>This work</a:t>
                      </a:r>
                    </a:p>
                  </a:txBody>
                  <a:tcPr>
                    <a:solidFill>
                      <a:srgbClr val="EAF7F2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82B52"/>
                          </a:solidFill>
                          <a:latin typeface="Yu Gothic"/>
                        </a:rPr>
                        <a:t>Optical-comm spacecraft bus</a:t>
                      </a:r>
                    </a:p>
                  </a:txBody>
                  <a:tcPr>
                    <a:solidFill>
                      <a:srgbClr val="EAF7F2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82B52"/>
                          </a:solidFill>
                          <a:latin typeface="Yu Gothic"/>
                        </a:rPr>
                        <a:t>Hierarchical sun-face ΔT prediction</a:t>
                      </a:r>
                    </a:p>
                  </a:txBody>
                  <a:tcPr>
                    <a:solidFill>
                      <a:srgbClr val="EAF7F2"/>
                    </a:solidFill>
                  </a:tcPr>
                </a:tc>
                <a:tc>
                  <a:txBody>
                    <a:bodyPr wrap="square" anchor="ctr" lIns="73152" rIns="73152" tIns="73152" bIns="7315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82B52"/>
                          </a:solidFill>
                          <a:latin typeface="Yu Gothic"/>
                        </a:rPr>
                        <a:t>Yes</a:t>
                      </a:r>
                    </a:p>
                  </a:txBody>
                  <a:tcPr>
                    <a:solidFill>
                      <a:srgbClr val="EAF7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03120" y="11292840"/>
            <a:ext cx="20162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82B52"/>
                </a:solidFill>
                <a:latin typeface="Yu Gothic"/>
              </a:rPr>
              <a:t>Novelty is not the first-order temperature–LOS relation itself; it is the bus-relative STT–LCT application, cross-condition DC prediction, and acquisition connection.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051792"/>
            <a:ext cx="2148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66F79"/>
                </a:solidFill>
                <a:latin typeface="Yu Gothic"/>
              </a:rPr>
              <a:t>Paper §2 and related-work overview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ISSL true">
      <a:dk1>
        <a:srgbClr val="062654"/>
      </a:dk1>
      <a:lt1>
        <a:srgbClr val="FFFFFF"/>
      </a:lt1>
      <a:dk2>
        <a:srgbClr val="4B4B4B"/>
      </a:dk2>
      <a:lt2>
        <a:srgbClr val="8D8D8D"/>
      </a:lt2>
      <a:accent1>
        <a:srgbClr val="067BCA"/>
      </a:accent1>
      <a:accent2>
        <a:srgbClr val="C95656"/>
      </a:accent2>
      <a:accent3>
        <a:srgbClr val="EBA123"/>
      </a:accent3>
      <a:accent4>
        <a:srgbClr val="87AC70"/>
      </a:accent4>
      <a:accent5>
        <a:srgbClr val="B3618D"/>
      </a:accent5>
      <a:accent6>
        <a:srgbClr val="D16449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ssl-template-ja-16-9" id="{4C5265F7-3B2E-5145-B81F-B8693CA354B3}" vid="{5C8F6914-05D8-EA47-8853-1E6EC34679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issl-template-ja-16-9</Template>
  <TotalTime>3012</TotalTime>
  <Words>4953</Words>
  <Application>Microsoft Office PowerPoint</Application>
  <PresentationFormat>ユーザー設定</PresentationFormat>
  <Paragraphs>1015</Paragraphs>
  <Slides>54</Slides>
  <Notes>54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54</vt:i4>
      </vt:variant>
    </vt:vector>
  </HeadingPairs>
  <TitlesOfParts>
    <vt:vector size="61" baseType="lpstr">
      <vt:lpstr>Yu Gothic</vt:lpstr>
      <vt:lpstr>Yu Gothic</vt:lpstr>
      <vt:lpstr>Yu Gothic Medium</vt:lpstr>
      <vt:lpstr>Aptos</vt:lpstr>
      <vt:lpstr>Arial</vt:lpstr>
      <vt:lpstr>Cambria Math</vt:lpstr>
      <vt:lpstr>Office テーマ</vt:lpstr>
      <vt:lpstr>Feedforward and Adaptive Correction of Time-Varying Thermal Bias for Coarse Acquisition in Optical Communication Systems</vt:lpstr>
      <vt:lpstr>01</vt:lpstr>
      <vt:lpstr>本日の目標：熱ひずみ予測モデルをレビューしてもらう</vt:lpstr>
      <vt:lpstr>やりたいこと：熱ひずみによる粗捕捉開始時の scan-center error を運用側で改善</vt:lpstr>
      <vt:lpstr>進捗：2か月で熱LOS真値生成・軽量モデル構築・PAT統合評価まで進んだ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Prediction and Feedforward Correction of Time-Varying Thermal LOS Bias</dc:title>
  <dc:creator>Hideki Takamoto</dc:creator>
  <cp:lastModifiedBy>高本　英熙</cp:lastModifiedBy>
  <cp:revision>21</cp:revision>
  <cp:lastPrinted>2026-07-21T04:01:32Z</cp:lastPrinted>
  <dcterms:created xsi:type="dcterms:W3CDTF">2026-05-11T08:23:04Z</dcterms:created>
  <dcterms:modified xsi:type="dcterms:W3CDTF">2026-08-16T12:33:00Z</dcterms:modified>
  <dc:subject>ICSO 2026 oral presentation, Paper 293</dc:subject>
  <dc:description>Generated from the final ICSO paper and oral-slide outline.</dc:description>
</cp:coreProperties>
</file>