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0"/>
  </p:notesMasterIdLst>
  <p:sldIdLst>
    <p:sldId id="263" r:id="rId2"/>
    <p:sldId id="257" r:id="rId3"/>
    <p:sldId id="258" r:id="rId4"/>
    <p:sldId id="282" r:id="rId5"/>
    <p:sldId id="264" r:id="rId6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A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71"/>
  </p:normalViewPr>
  <p:slideViewPr>
    <p:cSldViewPr snapToGrid="0">
      <p:cViewPr varScale="1">
        <p:scale>
          <a:sx n="35" d="100"/>
          <a:sy n="35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80C97-2400-5344-89F3-3CED47A68B44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C54EC6-2177-1447-9798-A1A3B80469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362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7月6日の発表以降の進捗として、階層ΔTモデル、PAT評価、軌道予測誤差の導入を報告する。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冒頭で前回までの位置づけと今回のゴールを共有する。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本日は完成報告ではなく設計レビュー。モデル、PAT、Adaptiveの3点についてフィードバックをもらいたい。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光RG向けの復習。熱変形自体ではなくSTT基準とLCT光軸の差が粗捕捉開始時のscan-center errorになる。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7月6日との違いを一枚で示す。当時の25.8秒は条件が異なる予備結果なので今回とは直接比較しない。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77201" y="7340600"/>
            <a:ext cx="12431685" cy="2125436"/>
          </a:xfrm>
        </p:spPr>
        <p:txBody>
          <a:bodyPr anchor="b"/>
          <a:lstStyle>
            <a:lvl1pPr algn="l">
              <a:defRPr sz="4800" spc="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77201" y="9794966"/>
            <a:ext cx="12431684" cy="2351314"/>
          </a:xfrm>
        </p:spPr>
        <p:txBody>
          <a:bodyPr/>
          <a:lstStyle>
            <a:lvl1pPr marL="0" indent="0" algn="l">
              <a:lnSpc>
                <a:spcPct val="50000"/>
              </a:lnSpc>
              <a:buNone/>
              <a:defRPr sz="3600" b="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E69BD-F0A9-D945-85B5-A92D8C4A6243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ADAD6F10-9E3C-081C-FAC9-2F96D835D9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83539" y="6261101"/>
            <a:ext cx="5625347" cy="698499"/>
          </a:xfrm>
        </p:spPr>
        <p:txBody>
          <a:bodyPr/>
          <a:lstStyle>
            <a:lvl1pPr algn="r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テキスト プレースホルダー 8">
            <a:extLst>
              <a:ext uri="{FF2B5EF4-FFF2-40B4-BE49-F238E27FC236}">
                <a16:creationId xmlns:a16="http://schemas.microsoft.com/office/drawing/2014/main" id="{3A47DA29-0B22-B527-E246-85A23FDB43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77201" y="6261101"/>
            <a:ext cx="5625347" cy="698499"/>
          </a:xfrm>
        </p:spPr>
        <p:txBody>
          <a:bodyPr/>
          <a:lstStyle>
            <a:lvl1pPr algn="l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テキスト プレースホルダー 8">
            <a:extLst>
              <a:ext uri="{FF2B5EF4-FFF2-40B4-BE49-F238E27FC236}">
                <a16:creationId xmlns:a16="http://schemas.microsoft.com/office/drawing/2014/main" id="{3ABD93C0-C51C-2948-0F33-2EF4B6841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483538" y="5413377"/>
            <a:ext cx="5625347" cy="698499"/>
          </a:xfrm>
        </p:spPr>
        <p:txBody>
          <a:bodyPr/>
          <a:lstStyle>
            <a:lvl1pPr algn="r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9124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8300" y="4192765"/>
            <a:ext cx="4965808" cy="1795335"/>
          </a:xfrm>
        </p:spPr>
        <p:txBody>
          <a:bodyPr anchor="b"/>
          <a:lstStyle>
            <a:lvl1pPr algn="ctr">
              <a:defRPr sz="56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89" y="7727900"/>
            <a:ext cx="21029831" cy="3000374"/>
          </a:xfrm>
        </p:spPr>
        <p:txBody>
          <a:bodyPr/>
          <a:lstStyle>
            <a:lvl1pPr marL="0" indent="0" algn="ctr">
              <a:buNone/>
              <a:defRPr sz="5600" spc="300">
                <a:solidFill>
                  <a:schemeClr val="bg1"/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E95FB-2235-2F42-91D0-8B9F16BE7B80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72E8AAC-513B-BB73-EF3E-6F21C4AF6A77}"/>
              </a:ext>
            </a:extLst>
          </p:cNvPr>
          <p:cNvCxnSpPr>
            <a:cxnSpLocks/>
          </p:cNvCxnSpPr>
          <p:nvPr userDrawn="1"/>
        </p:nvCxnSpPr>
        <p:spPr>
          <a:xfrm>
            <a:off x="11254952" y="6858000"/>
            <a:ext cx="187250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00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378" y="3104147"/>
            <a:ext cx="23020980" cy="924977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D544-ACEE-1142-A4DF-052F81DCAF13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1B145F9-61C6-1870-CE50-37506B7E4EF4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7968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DA76-1C10-5547-91CE-253BD16E32D7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3182735"/>
            <a:ext cx="11364543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F5EC9B8-55A0-1456-F399-6D313F6D2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71815" y="3182735"/>
            <a:ext cx="11364543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D7CF2C5-496E-3F41-87A5-8BF20107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D55661E-ACB1-18CB-79CA-CE03DAB48599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148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E895-CCE5-A241-A85F-670DB4C916C8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4092833"/>
            <a:ext cx="11364543" cy="8377768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F5EC9B8-55A0-1456-F399-6D313F6D2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71815" y="4092833"/>
            <a:ext cx="11364543" cy="8377768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85F9C02-29EC-4168-A599-AFD3B71ED2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114" y="3213462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6165EC21-36B4-4CED-0569-C34ACFFC9B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29459" y="3213462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D06260A-761F-95EE-B2CA-F7236CCF8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685353A-F7C6-F829-267C-FA087B7BBA8F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619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4C7F2-45E9-0742-99C2-D62F245DFEC9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81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C0F6B-7CC3-BA66-8706-C8D1A03DEF8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66772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8965DEA-F2AC-C400-E7ED-BAFF867547B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6387489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D0E9647-9028-AEF2-D4FC-0AC5B2CFA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3A54D1E-D7CD-DFE1-2E29-70A06AFEC982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1782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9897-8C2A-CB44-93BE-9BFBC7559B74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81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テキスト プレースホルダー 10">
            <a:extLst>
              <a:ext uri="{FF2B5EF4-FFF2-40B4-BE49-F238E27FC236}">
                <a16:creationId xmlns:a16="http://schemas.microsoft.com/office/drawing/2014/main" id="{2D417ACA-1B7B-F655-60FA-EDD80F82E6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114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8EEB2B-456E-ACC0-29AE-C347BAE7F46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49492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テキスト プレースホルダー 10">
            <a:extLst>
              <a:ext uri="{FF2B5EF4-FFF2-40B4-BE49-F238E27FC236}">
                <a16:creationId xmlns:a16="http://schemas.microsoft.com/office/drawing/2014/main" id="{6F409C7A-D2E8-2D36-6086-331B6DCB40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04925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6D87F6-15FE-35D7-1017-BB745C23F61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16350303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3B277172-6A10-80CC-49F6-E3A8C94583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305736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194081A-47C8-EFEA-0CF4-1F31377C0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4DF2C9F-ACE0-585B-AAD3-3DD14251BADD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5884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9540-48D4-DC4E-A020-784E13A6C686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3283060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DAFEE08-A81F-707C-4BA0-7BC8776B90F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2474291" y="3283060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329A85-E9A3-6153-8937-4627CC5A7E6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46055" y="8184309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569A398-229E-518C-A2F8-E87AC7FEABC2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12474291" y="8184309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385C3C-D291-ECD3-9330-C9FEFA38F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AA52CC1-C979-7DAC-F8FF-07CEF0898376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493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9540-48D4-DC4E-A020-784E13A6C686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4063353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C9B2C448-12D1-42AE-F7D0-C8AED70F60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114" y="3176140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DAFEE08-A81F-707C-4BA0-7BC8776B90F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2474291" y="4063353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C1871C9F-CBB5-6510-4C84-37F671317E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432350" y="3176140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329A85-E9A3-6153-8937-4627CC5A7E6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46055" y="8964602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6" name="テキスト プレースホルダー 10">
            <a:extLst>
              <a:ext uri="{FF2B5EF4-FFF2-40B4-BE49-F238E27FC236}">
                <a16:creationId xmlns:a16="http://schemas.microsoft.com/office/drawing/2014/main" id="{E5E7CD5A-D74B-3BF3-1D34-C6BC3F8555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4114" y="8077389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569A398-229E-518C-A2F8-E87AC7FEABC2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12474291" y="8964602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2F9C9DEC-0751-3E49-640C-C623BA9835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432350" y="8077389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428B87E-4E5C-BD4A-B7B9-5CD017C23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7564866-3642-1515-F78F-EBC63CFFFD78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8096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5357813"/>
            <a:ext cx="21029831" cy="3000374"/>
          </a:xfrm>
        </p:spPr>
        <p:txBody>
          <a:bodyPr anchor="ctr"/>
          <a:lstStyle>
            <a:lvl1pPr marL="0" indent="0" algn="ctr">
              <a:buNone/>
              <a:defRPr sz="5600" spc="300">
                <a:solidFill>
                  <a:schemeClr val="bg1"/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6E1F-697B-864D-A8BC-B9F203AEA5AC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192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052" y="1391479"/>
            <a:ext cx="23290306" cy="1096244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6FE-1092-FD42-9AC0-B69E5809E0EF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08457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1A28FF6-6ABD-05E0-14A5-3CA8FD76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30E5-DC19-8048-9011-93E4E558FEAD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FB69A14-0AF9-A649-3ABB-D4052E786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6DBC31-6D39-6C3E-5F31-00E86E0A2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pPr/>
              <a:t>‹#›</a:t>
            </a:fld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28704873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5492" y="12744452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6230E5-DC19-8048-9011-93E4E558FEAD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5408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BFEE9-6A35-CF42-A39A-CD481C3507E3}" type="slidenum">
              <a:rPr kumimoji="1" lang="ja-JP" altLang="en-US" smtClean="0"/>
              <a:pPr/>
              <a:t>‹#›</a:t>
            </a:fld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61645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4" r:id="rId3"/>
    <p:sldLayoutId id="2147483679" r:id="rId4"/>
    <p:sldLayoutId id="2147483683" r:id="rId5"/>
    <p:sldLayoutId id="2147483684" r:id="rId6"/>
    <p:sldLayoutId id="2147483680" r:id="rId7"/>
    <p:sldLayoutId id="2147483681" r:id="rId8"/>
    <p:sldLayoutId id="2147483686" r:id="rId9"/>
    <p:sldLayoutId id="2147483685" r:id="rId10"/>
    <p:sldLayoutId id="2147483682" r:id="rId11"/>
    <p:sldLayoutId id="2147483687" r:id="rId12"/>
  </p:sldLayoutIdLst>
  <p:hf hdr="0" ftr="0" dt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6400" b="1" kern="1200" spc="3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4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2"/>
          </a:solidFill>
          <a:latin typeface="Yu Gothic Medium" panose="020B0400000000000000" pitchFamily="34" charset="-128"/>
          <a:ea typeface="Yu Gothic Medium" panose="020B0400000000000000" pitchFamily="34" charset="-128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2"/>
          </a:solidFill>
          <a:latin typeface="Yu Gothic Medium" panose="020B0400000000000000" pitchFamily="34" charset="-128"/>
          <a:ea typeface="Yu Gothic Medium" panose="020B0400000000000000" pitchFamily="34" charset="-128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2"/>
          </a:solidFill>
          <a:latin typeface="Yu Gothic Medium" panose="020B0400000000000000" pitchFamily="34" charset="-128"/>
          <a:ea typeface="Yu Gothic Medium" panose="020B0400000000000000" pitchFamily="34" charset="-128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2"/>
          </a:solidFill>
          <a:latin typeface="Yu Gothic Medium" panose="020B0400000000000000" pitchFamily="34" charset="-128"/>
          <a:ea typeface="Yu Gothic Medium" panose="020B0400000000000000" pitchFamily="34" charset="-128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EF8D53-DFAD-2781-7D58-CDDA68ED30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100" b="1">
                <a:solidFill>
                  <a:srgbClr val="082B52"/>
                </a:solidFill>
                <a:latin typeface="Yu Gothic"/>
              </a:rPr>
              <a:t>Feedforward and Adaptive Correction of</a:t>
            </a:r>
          </a:p>
          <a:p>
            <a:r>
              <a:rPr sz="3100" b="1">
                <a:solidFill>
                  <a:srgbClr val="082B52"/>
                </a:solidFill>
                <a:latin typeface="Yu Gothic"/>
              </a:rPr>
              <a:t>Time-Varying Thermal Bias for Coarse Acquisition</a:t>
            </a:r>
          </a:p>
          <a:p>
            <a:r>
              <a:rPr sz="3100" b="1">
                <a:solidFill>
                  <a:srgbClr val="082B52"/>
                </a:solidFill>
                <a:latin typeface="Yu Gothic"/>
              </a:rPr>
              <a:t>in Optical Communication Systems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1102AA9-45EB-C4FA-A1D0-A77A903D26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300" b="0">
                <a:solidFill>
                  <a:srgbClr val="232B34"/>
                </a:solidFill>
                <a:latin typeface="Yu Gothic"/>
              </a:rPr>
              <a:t>Hideki Takamoto (The University of Tokyo)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D366E8-10A6-FE33-D7F0-BCE65C677E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83539" y="7705724"/>
            <a:ext cx="5625347" cy="698499"/>
          </a:xfrm>
        </p:spPr>
        <p:txBody>
          <a:bodyPr/>
          <a:lstStyle/>
          <a:p>
            <a:r>
              <a:rPr sz="2200" b="0">
                <a:solidFill>
                  <a:srgbClr val="666F79"/>
                </a:solidFill>
                <a:latin typeface="Yu Gothic"/>
              </a:rPr>
              <a:t>2026/07/21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23D87D9-D745-888C-4D05-FF267342E0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77201" y="7705724"/>
            <a:ext cx="5625347" cy="698499"/>
          </a:xfrm>
        </p:spPr>
        <p:txBody>
          <a:bodyPr/>
          <a:lstStyle/>
          <a:p/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FB66ACC2-84FB-08AA-2D48-20C1AB8643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483538" y="7042558"/>
            <a:ext cx="5625347" cy="698499"/>
          </a:xfrm>
        </p:spPr>
        <p:txBody>
          <a:bodyPr/>
          <a:lstStyle/>
          <a:p>
            <a:r>
              <a:rPr sz="2200" b="0">
                <a:solidFill>
                  <a:srgbClr val="666F79"/>
                </a:solidFill>
                <a:latin typeface="Yu Gothic"/>
              </a:rPr>
              <a:t>Optical Communication Research Group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D1A49C-D906-D56C-8B01-F4742C0F4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8" name="TextBox 7"/>
          <p:cNvSpPr txBox="1"/>
          <p:nvPr/>
        </p:nvSpPr>
        <p:spPr>
          <a:xfrm>
            <a:off x="9674352" y="10972800"/>
            <a:ext cx="10515600" cy="12344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B74AA"/>
                </a:solidFill>
                <a:latin typeface="Yu Gothic"/>
              </a:rPr>
              <a:t>熱ひずみ予測と適応補正による
光通信粗捕捉性能向上の検討</a:t>
            </a:r>
          </a:p>
        </p:txBody>
      </p:sp>
    </p:spTree>
    <p:extLst>
      <p:ext uri="{BB962C8B-B14F-4D97-AF65-F5344CB8AC3E}">
        <p14:creationId xmlns:p14="http://schemas.microsoft.com/office/powerpoint/2010/main" val="4103417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635D3E-6BA3-A5CE-2210-317DCBD6F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FFFFFF"/>
                </a:solidFill>
                <a:latin typeface="Yu Gothic"/>
              </a:rPr>
              <a:t>01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4F4820-6A4B-21DF-1929-82AC7C54B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Yu Gothic"/>
              </a:rPr>
              <a:t>Overview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15B39E-8BAD-5C9C-E46E-51EE9D9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895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F44572-0BF9-86FC-9CEA-DB05D75E6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82B52"/>
                </a:solidFill>
                <a:latin typeface="Yu Gothic"/>
              </a:rPr>
              <a:t>今日はモデルを見せ、仮定をレビューしてもらう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03A934-1390-EADF-E03B-F076611056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2000" b="0">
                <a:solidFill>
                  <a:srgbClr val="666F79"/>
                </a:solidFill>
                <a:latin typeface="Yu Gothic"/>
              </a:rPr>
              <a:t>Overview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65DDDE-896C-98BD-4236-523603EB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800" b="0">
                <a:solidFill>
                  <a:srgbClr val="666F79"/>
                </a:solidFill>
                <a:latin typeface="Yu Gothi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63240"/>
            <a:ext cx="109728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100" b="1">
                <a:solidFill>
                  <a:srgbClr val="1B74AA"/>
                </a:solidFill>
                <a:latin typeface="Yu Gothic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703320"/>
            <a:ext cx="6720840" cy="3977639"/>
          </a:xfrm>
          <a:prstGeom prst="rect">
            <a:avLst/>
          </a:prstGeom>
          <a:solidFill>
            <a:srgbClr val="FFFFFF"/>
          </a:solidFill>
          <a:ln w="2540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703320"/>
            <a:ext cx="6720840" cy="621792"/>
          </a:xfrm>
          <a:prstGeom prst="rect">
            <a:avLst/>
          </a:prstGeom>
          <a:solidFill>
            <a:srgbClr val="1B74AA"/>
          </a:solidFill>
          <a:ln w="1651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617720"/>
            <a:ext cx="6263640" cy="6858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082B52"/>
                </a:solidFill>
                <a:latin typeface="Yu Gothic"/>
              </a:rPr>
              <a:t>Hierarchical ΔT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623560"/>
            <a:ext cx="6080760" cy="12344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0">
                <a:solidFill>
                  <a:srgbClr val="232B34"/>
                </a:solidFill>
                <a:latin typeface="Yu Gothic"/>
              </a:rPr>
              <a:t>共有感度 a と
ケースDC b_case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063240"/>
            <a:ext cx="109728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100" b="1">
                <a:solidFill>
                  <a:srgbClr val="239571"/>
                </a:solidFill>
                <a:latin typeface="Yu Gothic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3703320"/>
            <a:ext cx="6720840" cy="3977639"/>
          </a:xfrm>
          <a:prstGeom prst="rect">
            <a:avLst/>
          </a:prstGeom>
          <a:solidFill>
            <a:srgbClr val="FFFFFF"/>
          </a:solidFill>
          <a:ln w="2540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0" y="3703320"/>
            <a:ext cx="6720840" cy="621792"/>
          </a:xfrm>
          <a:prstGeom prst="rect">
            <a:avLst/>
          </a:prstGeom>
          <a:solidFill>
            <a:srgbClr val="239571"/>
          </a:solidFill>
          <a:ln w="1651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4617720"/>
            <a:ext cx="6263640" cy="6858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082B52"/>
                </a:solidFill>
                <a:latin typeface="Yu Gothic"/>
              </a:rPr>
              <a:t>PAT + orbit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5623560"/>
            <a:ext cx="6080760" cy="12344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0">
                <a:solidFill>
                  <a:srgbClr val="232B34"/>
                </a:solidFill>
                <a:latin typeface="Yu Gothic"/>
              </a:rPr>
              <a:t>非熱誤差込みの
捕捉性能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30600" y="3063240"/>
            <a:ext cx="109728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100" b="1">
                <a:solidFill>
                  <a:srgbClr val="EC9427"/>
                </a:solidFill>
                <a:latin typeface="Yu Gothic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30600" y="3703320"/>
            <a:ext cx="6720840" cy="3977639"/>
          </a:xfrm>
          <a:prstGeom prst="rect">
            <a:avLst/>
          </a:prstGeom>
          <a:solidFill>
            <a:srgbClr val="FFFFFF"/>
          </a:solidFill>
          <a:ln w="2540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230600" y="3703320"/>
            <a:ext cx="6720840" cy="621792"/>
          </a:xfrm>
          <a:prstGeom prst="rect">
            <a:avLst/>
          </a:prstGeom>
          <a:solidFill>
            <a:srgbClr val="EC9427"/>
          </a:solidFill>
          <a:ln w="1651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0" y="4617720"/>
            <a:ext cx="6263640" cy="6858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082B52"/>
                </a:solidFill>
                <a:latin typeface="Yu Gothic"/>
              </a:rPr>
              <a:t>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0" y="5623560"/>
            <a:ext cx="6080760" cy="12344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0">
                <a:solidFill>
                  <a:srgbClr val="232B34"/>
                </a:solidFill>
                <a:latin typeface="Yu Gothic"/>
              </a:rPr>
              <a:t>Adaptiveで何を
更新するか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8549640"/>
            <a:ext cx="54864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082B52"/>
                </a:solidFill>
                <a:latin typeface="Yu Gothic"/>
              </a:rPr>
              <a:t>今日特に議論したいこと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9189720"/>
            <a:ext cx="21762720" cy="2423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aを事前同定し、b_caseを軌道上更新する分担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熱と軌道誤差が同帯域にある場合の可観測性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現在のscan model・誤差条件の妥当性</a:t>
            </a:r>
          </a:p>
        </p:txBody>
      </p:sp>
    </p:spTree>
    <p:extLst>
      <p:ext uri="{BB962C8B-B14F-4D97-AF65-F5344CB8AC3E}">
        <p14:creationId xmlns:p14="http://schemas.microsoft.com/office/powerpoint/2010/main" val="282701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12755A-CE30-29D5-66D8-858C1044B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82B52"/>
                </a:solidFill>
                <a:latin typeface="Yu Gothic"/>
              </a:rPr>
              <a:t>熱ひずみは粗捕捉開始時の scan-center error として残る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35B153-B47B-237D-12A8-7E5DB776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800" b="0">
                <a:solidFill>
                  <a:srgbClr val="666F79"/>
                </a:solidFill>
                <a:latin typeface="Yu Gothic"/>
              </a:rPr>
              <a:t>4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906C556-D817-34D8-3FEC-80F456E48C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2000" b="0">
                <a:solidFill>
                  <a:srgbClr val="666F79"/>
                </a:solidFill>
                <a:latin typeface="Yu Gothic"/>
              </a:rPr>
              <a:t>Background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383280"/>
            <a:ext cx="6492240" cy="498348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86200"/>
            <a:ext cx="594360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1B74AA"/>
                </a:solidFill>
                <a:latin typeface="Yu Gothic"/>
              </a:rPr>
              <a:t>光フィードバック前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5074920"/>
            <a:ext cx="5760720" cy="1508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600" b="0">
                <a:solidFill>
                  <a:srgbClr val="232B34"/>
                </a:solidFill>
                <a:latin typeface="Yu Gothic"/>
              </a:rPr>
              <a:t>姿勢・軌道・熱LOSを含む
不確定領域を探索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18119" y="5852160"/>
            <a:ext cx="640081" cy="0"/>
          </a:xfrm>
          <a:prstGeom prst="line">
            <a:avLst/>
          </a:prstGeom>
          <a:ln w="381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32519" y="3383280"/>
            <a:ext cx="6492240" cy="498348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3886200"/>
            <a:ext cx="594360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EC9427"/>
                </a:solidFill>
                <a:latin typeface="Yu Gothic"/>
              </a:rPr>
              <a:t>日照・蝕／機器発熱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5074920"/>
            <a:ext cx="5760720" cy="1508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600" b="0">
                <a:solidFill>
                  <a:srgbClr val="232B34"/>
                </a:solidFill>
                <a:latin typeface="Yu Gothic"/>
              </a:rPr>
              <a:t>温度場 → 差動膨張 →
STT–LCT相対回転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19" y="7086600"/>
            <a:ext cx="466344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D03B46"/>
                </a:solidFill>
                <a:latin typeface="Yu Gothic"/>
              </a:rPr>
              <a:t>10²–10³ µrad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453359" y="5852160"/>
            <a:ext cx="640081" cy="0"/>
          </a:xfrm>
          <a:prstGeom prst="line">
            <a:avLst/>
          </a:prstGeom>
          <a:ln w="381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6367759" y="3383280"/>
            <a:ext cx="6492240" cy="498348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642080" y="3886200"/>
            <a:ext cx="594360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239571"/>
                </a:solidFill>
                <a:latin typeface="Yu Gothic"/>
              </a:rPr>
              <a:t>予測FF補正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19" y="5074920"/>
            <a:ext cx="5760720" cy="1508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600" b="0">
                <a:solidFill>
                  <a:srgbClr val="232B34"/>
                </a:solidFill>
                <a:latin typeface="Yu Gothic"/>
              </a:rPr>
              <a:t>熱LOSをscan centerから引き
探索域・捕捉時間を低減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9555480"/>
            <a:ext cx="18105120" cy="7772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3100" b="1">
                <a:solidFill>
                  <a:srgbClr val="082B52"/>
                </a:solidFill>
                <a:latin typeface="Yu Gothic"/>
              </a:rPr>
              <a:t>構造を変更せず、予測可能な熱成分だけを運用側で除去する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0744200"/>
            <a:ext cx="1335024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D03B46"/>
                </a:solidFill>
                <a:latin typeface="Yu Gothic"/>
              </a:rPr>
              <a:t>すべての指向誤差を消す手法ではない</a:t>
            </a:r>
          </a:p>
        </p:txBody>
      </p:sp>
    </p:spTree>
    <p:extLst>
      <p:ext uri="{BB962C8B-B14F-4D97-AF65-F5344CB8AC3E}">
        <p14:creationId xmlns:p14="http://schemas.microsoft.com/office/powerpoint/2010/main" val="3867172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68C4D-195B-8495-7268-573CDB8EC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655CE6-31D2-9766-C410-BC789D604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82B52"/>
                </a:solidFill>
                <a:latin typeface="Yu Gothic"/>
              </a:rPr>
              <a:t>2週間で理想補正からケース横断モデル＋実データ外乱へ進んだ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819AD32-0E73-61BA-5B7C-EFE1060541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2000" b="0">
                <a:solidFill>
                  <a:srgbClr val="666F79"/>
                </a:solidFill>
                <a:latin typeface="Yu Gothic"/>
              </a:rPr>
              <a:t>Progress since 7/6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629B45-DF56-B122-2C34-9A5A5A87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800" b="0">
                <a:solidFill>
                  <a:srgbClr val="666F79"/>
                </a:solidFill>
                <a:latin typeface="Yu Gothi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063240"/>
            <a:ext cx="1024128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666F79"/>
                </a:solidFill>
                <a:latin typeface="Yu Gothic"/>
              </a:rPr>
              <a:t>7/6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93040" y="3063240"/>
            <a:ext cx="1024128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1B74AA"/>
                </a:solidFill>
                <a:latin typeface="Yu Gothic"/>
              </a:rPr>
              <a:t>7/21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840480"/>
            <a:ext cx="10241280" cy="6217920"/>
          </a:xfrm>
          <a:prstGeom prst="rect">
            <a:avLst/>
          </a:prstGeom>
          <a:solidFill>
            <a:srgbClr val="F4F6F8"/>
          </a:solidFill>
          <a:ln w="1651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93040" y="3840480"/>
            <a:ext cx="10241280" cy="6217920"/>
          </a:xfrm>
          <a:prstGeom prst="rect">
            <a:avLst/>
          </a:prstGeom>
          <a:solidFill>
            <a:srgbClr val="EBF6FB"/>
          </a:solidFill>
          <a:ln w="16510">
            <a:solidFill>
              <a:srgbClr val="5B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434840"/>
            <a:ext cx="9052560" cy="4800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666F79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熱真値補正が中心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666F79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数ケースの予備評価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666F79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Gaussian軌道誤差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666F79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任意LOS横断2軸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666F79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Adaptiveは概念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0" y="4434840"/>
            <a:ext cx="9052560" cy="4800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階層ΔT：共有 a + b_case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21ケース・LOO評価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Sentinel-1 TLE vs POEORB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STT/body座標へ射影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B74AA"/>
                </a:solidFill>
                <a:latin typeface="Yu Gothic"/>
              </a:rPr>
              <a:t>• </a:t>
            </a:r>
            <a:r>
              <a:rPr sz="2600">
                <a:solidFill>
                  <a:srgbClr val="232B34"/>
                </a:solidFill>
                <a:latin typeface="Yu Gothic"/>
              </a:rPr>
              <a:t>b_case/DC更新へ再定義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658600" y="6858000"/>
            <a:ext cx="822960" cy="0"/>
          </a:xfrm>
          <a:prstGeom prst="line">
            <a:avLst/>
          </a:prstGeom>
          <a:ln w="508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920240" y="10744200"/>
            <a:ext cx="20574000" cy="7772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900" b="1">
                <a:solidFill>
                  <a:srgbClr val="082B52"/>
                </a:solidFill>
                <a:latin typeface="Yu Gothic"/>
              </a:rPr>
              <a:t>現在の問い：同帯域の非熱誤差と共存しても、軽量熱モデルで捕捉性能を改善できるか</a:t>
            </a:r>
          </a:p>
        </p:txBody>
      </p:sp>
    </p:spTree>
    <p:extLst>
      <p:ext uri="{BB962C8B-B14F-4D97-AF65-F5344CB8AC3E}">
        <p14:creationId xmlns:p14="http://schemas.microsoft.com/office/powerpoint/2010/main" val="330906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66188-687C-CACF-8E62-FDA47B400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92FC90-BAA5-CCA9-560B-096B029B7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数字やキーワードは</a:t>
            </a:r>
            <a:r>
              <a:rPr kumimoji="1" lang="ja-JP" altLang="en-US">
                <a:solidFill>
                  <a:schemeClr val="accent2"/>
                </a:solidFill>
              </a:rPr>
              <a:t>強調</a:t>
            </a:r>
            <a:r>
              <a:rPr kumimoji="1" lang="ja-JP" altLang="en-US"/>
              <a:t>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7B3A31-BD8A-FAA5-40A6-BE064E278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例</a:t>
            </a:r>
            <a:endParaRPr kumimoji="1" lang="en-US" altLang="ja-JP" dirty="0"/>
          </a:p>
          <a:p>
            <a:r>
              <a:rPr kumimoji="1" lang="ja-JP" altLang="en-US"/>
              <a:t>初期結果より</a:t>
            </a:r>
            <a:r>
              <a:rPr kumimoji="1" lang="en-US" altLang="ja-JP" dirty="0">
                <a:solidFill>
                  <a:schemeClr val="accent2"/>
                </a:solidFill>
              </a:rPr>
              <a:t>61%</a:t>
            </a:r>
            <a:r>
              <a:rPr kumimoji="1" lang="ja-JP" altLang="en-US"/>
              <a:t>改善した</a:t>
            </a:r>
            <a:endParaRPr kumimoji="1" lang="en-US" altLang="ja-JP" dirty="0"/>
          </a:p>
          <a:p>
            <a:r>
              <a:rPr lang="en-US" altLang="ja-JP" dirty="0">
                <a:solidFill>
                  <a:schemeClr val="accent2"/>
                </a:solidFill>
              </a:rPr>
              <a:t>50m</a:t>
            </a:r>
            <a:r>
              <a:rPr lang="ja-JP" altLang="en-US"/>
              <a:t>の閾値を満たした</a:t>
            </a:r>
            <a:endParaRPr lang="en-US" altLang="ja-JP" dirty="0"/>
          </a:p>
          <a:p>
            <a:r>
              <a:rPr kumimoji="1" lang="en-US" altLang="ja-JP" dirty="0">
                <a:solidFill>
                  <a:schemeClr val="accent1"/>
                </a:solidFill>
              </a:rPr>
              <a:t>GNSS</a:t>
            </a:r>
            <a:r>
              <a:rPr kumimoji="1" lang="ja-JP" altLang="en-US">
                <a:solidFill>
                  <a:schemeClr val="accent1"/>
                </a:solidFill>
              </a:rPr>
              <a:t>衛星のサイドローブ信号</a:t>
            </a:r>
            <a:r>
              <a:rPr kumimoji="1" lang="ja-JP" altLang="en-US"/>
              <a:t>の利用が検討されている</a:t>
            </a:r>
            <a:endParaRPr kumimoji="1"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054E67B-C0AC-80F3-763E-7CF0009923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/>
              <a:t>スライドの基本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D45722E-1F28-C5CE-3B9A-F2627D143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2855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78D0B-6B7B-20A9-4804-B6D3C7DE8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D27AFB-EA00-A81B-3FF4-0BEEE73E4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改行位置を気にする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D6080A-46CF-5389-811D-5D8D9316B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78" y="3104147"/>
            <a:ext cx="22767636" cy="9249779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>
                <a:solidFill>
                  <a:schemeClr val="accent2"/>
                </a:solidFill>
              </a:rPr>
              <a:t>×</a:t>
            </a:r>
            <a:r>
              <a:rPr kumimoji="1" lang="ja-JP" altLang="en-US">
                <a:solidFill>
                  <a:schemeClr val="accent2"/>
                </a:solidFill>
              </a:rPr>
              <a:t>例</a:t>
            </a:r>
          </a:p>
          <a:p>
            <a:pPr marL="0" indent="0">
              <a:buNone/>
            </a:pPr>
            <a:r>
              <a:rPr kumimoji="1" lang="ja-JP" altLang="en-US">
                <a:solidFill>
                  <a:schemeClr val="accent2"/>
                </a:solidFill>
              </a:rPr>
              <a:t>幾何学的配置がシステム全体の軌道決定精度に影響を与える</a:t>
            </a:r>
            <a:r>
              <a:rPr kumimoji="1" lang="ja-JP" altLang="en-US"/>
              <a:t>ことが確認された。現在固定されているスロットを動かすことで</a:t>
            </a:r>
            <a:r>
              <a:rPr lang="ja-JP" altLang="en-US"/>
              <a:t>、</a:t>
            </a:r>
            <a:r>
              <a:rPr kumimoji="1" lang="ja-JP" altLang="en-US"/>
              <a:t>さらに精度が向上する可能性が示唆された。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>
                <a:solidFill>
                  <a:schemeClr val="accent4"/>
                </a:solidFill>
              </a:rPr>
              <a:t>○例</a:t>
            </a:r>
          </a:p>
          <a:p>
            <a:pPr marL="0" indent="0">
              <a:buNone/>
            </a:pPr>
            <a:r>
              <a:rPr lang="ja-JP" altLang="en-US">
                <a:solidFill>
                  <a:schemeClr val="accent2"/>
                </a:solidFill>
              </a:rPr>
              <a:t>幾何学的配置がシステム全体の軌道決定精度に影響を与える</a:t>
            </a:r>
            <a:r>
              <a:rPr lang="ja-JP" altLang="en-US"/>
              <a:t>ことが確認された。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現在固定されているスロットを動かすことで、さらに精度が向上する可能性が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示唆された。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F143C8-37E9-4B3C-9704-CC4BC0D2E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/>
              <a:t>スライドの基本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E2F66D6-BFC0-6986-D45F-45712421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95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2FDC0-C27B-B493-3C2D-059C292E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98B41D-FF1E-4763-6671-DFB2F2AAE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02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F67EB63-24C6-48D7-191A-DC6168F96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一覧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5575D9-B9A5-42E2-7F16-B765F5D6F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510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E588D5-C10B-3B2D-1E74-A456E67AA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/>
              <a:t>コンテンツ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CD21C8-B1F8-4A45-62C1-7950440FA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D9FC89-1159-C9D6-9DFF-4E2A0A6F5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CA5624-8821-B64E-5014-1A19EE8875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690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08F089-4CA7-EEAD-5839-28D4A9FCB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/>
              <a:t>コンテンツ</a:t>
            </a:r>
            <a:r>
              <a:rPr kumimoji="1" lang="en-US" altLang="ja-JP" dirty="0"/>
              <a:t> </a:t>
            </a:r>
            <a:r>
              <a:rPr kumimoji="1" lang="ja-JP" altLang="en-US"/>
              <a:t>タイトルなし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D837F4E-60DD-E512-A30D-B1B6393D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ED9B31-F9CA-3295-FB9A-C10DA011A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4CD64355-4FC4-480F-7680-4642FBA5FE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42444B0-D6C0-88B3-08BB-792CD94ED1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1856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2BA347-AEFF-2ECB-73E2-69056D2EF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/>
              <a:t>コンテンツ</a:t>
            </a:r>
            <a:r>
              <a:rPr kumimoji="1" lang="en-US" altLang="ja-JP" dirty="0"/>
              <a:t> </a:t>
            </a:r>
            <a:r>
              <a:rPr kumimoji="1" lang="ja-JP" altLang="en-US"/>
              <a:t>タイトルあり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1A8BBE6-6F83-A22B-FC13-A8D8986F8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3CD07F-80E2-9111-9F0C-3F48462CB8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BA684D92-30D3-7299-2FF1-CDC06B5BCF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018257C-7CE2-ABFF-AFC2-7B4A493320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08AFF127-9DA5-5BBD-2996-727C31E7F3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41E754B6-7A16-357E-6693-31815EC78B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0187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791F03-B27F-FDA5-1CB9-407BC4A77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kumimoji="1" lang="en-US" altLang="ja-JP" dirty="0"/>
              <a:t>3</a:t>
            </a:r>
            <a:r>
              <a:rPr kumimoji="1" lang="ja-JP" altLang="en-US"/>
              <a:t>コンテンツ</a:t>
            </a:r>
            <a:r>
              <a:rPr kumimoji="1" lang="en-US" altLang="ja-JP" dirty="0"/>
              <a:t> </a:t>
            </a:r>
            <a:r>
              <a:rPr kumimoji="1" lang="ja-JP" altLang="en-US"/>
              <a:t>タイトルなし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6490C38-C477-BCED-5435-03B6B1561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EEA913-90A5-2F4A-7A00-A45C749B3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72E258D-606A-C7AE-AB6E-8796AEBA59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64F460-3095-00A0-E616-9EDF04645028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36286DF-ABDD-A92B-3132-4C7ADB679801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775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C7F21A-40F7-B27E-AE76-6CA4109ED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lang="en-US" altLang="ja-JP" dirty="0"/>
              <a:t>3</a:t>
            </a:r>
            <a:r>
              <a:rPr lang="ja-JP" altLang="en-US"/>
              <a:t>コンテンツ</a:t>
            </a:r>
            <a:r>
              <a:rPr lang="en-US" altLang="ja-JP" dirty="0"/>
              <a:t> </a:t>
            </a:r>
            <a:r>
              <a:rPr lang="ja-JP" altLang="en-US"/>
              <a:t>タイトルあり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8E2A82D-83B4-4029-EF54-E16D8B587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33CF1B5-9EEE-A532-9FF4-0A574A8E2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AF69243D-0A7F-93F4-25FD-29FED462DD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EA09245C-DE08-91D7-D4DA-3229265375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B68852AB-BEC9-E411-E4B3-F2E70A987310}"/>
              </a:ext>
            </a:extLst>
          </p:cNvPr>
          <p:cNvSpPr>
            <a:spLocks noGrp="1"/>
          </p:cNvSpPr>
          <p:nvPr>
            <p:ph sz="half" idx="17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17945E74-16D0-45B1-16CE-6769E2D120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6E2D960D-D738-E43D-C4E3-58F41C873520}"/>
              </a:ext>
            </a:extLst>
          </p:cNvPr>
          <p:cNvSpPr>
            <a:spLocks noGrp="1"/>
          </p:cNvSpPr>
          <p:nvPr>
            <p:ph sz="half" idx="19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CB94504-7C52-1FA6-2AFB-432099D491A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0144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6B26CC-99B7-AD2F-B97B-5E7FA659D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kumimoji="1" lang="en-US" altLang="ja-JP" dirty="0"/>
              <a:t>4</a:t>
            </a:r>
            <a:r>
              <a:rPr kumimoji="1" lang="ja-JP" altLang="en-US"/>
              <a:t>コンテンツ</a:t>
            </a:r>
            <a:r>
              <a:rPr kumimoji="1" lang="en-US" altLang="ja-JP" dirty="0"/>
              <a:t> </a:t>
            </a:r>
            <a:r>
              <a:rPr kumimoji="1" lang="ja-JP" altLang="en-US"/>
              <a:t>タイトルなし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2036849-E43B-358F-11E6-951AD23D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1DCF12-97B0-70B4-E69A-8F95C1E24E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392C2E0F-7A6A-0D6A-5AFF-8F2A8ADBC3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87ED82C-798C-2B7E-2176-14F0ACFB222C}"/>
              </a:ext>
            </a:extLst>
          </p:cNvPr>
          <p:cNvSpPr>
            <a:spLocks noGrp="1"/>
          </p:cNvSpPr>
          <p:nvPr>
            <p:ph sz="half" idx="17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E3518DF5-D088-DFAD-F281-2362F017C983}"/>
              </a:ext>
            </a:extLst>
          </p:cNvPr>
          <p:cNvSpPr>
            <a:spLocks noGrp="1"/>
          </p:cNvSpPr>
          <p:nvPr>
            <p:ph sz="half" idx="19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44889861-083F-9180-39C8-21FFA0764991}"/>
              </a:ext>
            </a:extLst>
          </p:cNvPr>
          <p:cNvSpPr>
            <a:spLocks noGrp="1"/>
          </p:cNvSpPr>
          <p:nvPr>
            <p:ph sz="half" idx="2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323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0EC666-CE0F-3317-3B45-C0F6DD1A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lang="en-US" altLang="ja-JP" dirty="0"/>
              <a:t>4</a:t>
            </a:r>
            <a:r>
              <a:rPr lang="ja-JP" altLang="en-US"/>
              <a:t>コンテンツ</a:t>
            </a:r>
            <a:r>
              <a:rPr lang="en-US" altLang="ja-JP" dirty="0"/>
              <a:t> </a:t>
            </a:r>
            <a:r>
              <a:rPr lang="ja-JP" altLang="en-US"/>
              <a:t>タイトルあり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7EBBA6F-D227-1A4F-CC3A-907A44267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15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3143853-49FD-FA0E-DD0A-85CDA931BB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CED12552-7051-CCFF-7C1D-837FC375F6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C89DE814-F96E-5589-C329-4EF4DC654F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F2D0189D-9609-B836-5B50-8C7A4085B579}"/>
              </a:ext>
            </a:extLst>
          </p:cNvPr>
          <p:cNvSpPr>
            <a:spLocks noGrp="1"/>
          </p:cNvSpPr>
          <p:nvPr>
            <p:ph sz="half" idx="17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201D3112-7160-F3C4-4626-6F5FEE2C72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3A738FAE-4DA6-8D93-7882-19F572D7020E}"/>
              </a:ext>
            </a:extLst>
          </p:cNvPr>
          <p:cNvSpPr>
            <a:spLocks noGrp="1"/>
          </p:cNvSpPr>
          <p:nvPr>
            <p:ph sz="half" idx="19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DBCA7500-5905-347E-D4F5-A6ED8AF425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6839A8F6-F9C4-A601-A2EB-B5174B97035F}"/>
              </a:ext>
            </a:extLst>
          </p:cNvPr>
          <p:cNvSpPr>
            <a:spLocks noGrp="1"/>
          </p:cNvSpPr>
          <p:nvPr>
            <p:ph sz="half" idx="2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B93484C2-7603-1659-FA3E-34104D7FC39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955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A5D9828C-3A5D-296F-AA46-7CC5764F6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命題なし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BDA16EA-2929-EDDC-B42F-71B8B3C9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81ACB5-850A-CC78-EA76-3C1668263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6010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288E4C2-BCD7-882C-A382-9AAF94D44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pPr/>
              <a:t>17</a:t>
            </a:fld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385725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85A3B76-3C53-4383-82B8-82C566954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ご清聴ありがとうございました</a:t>
            </a:r>
            <a:endParaRPr lang="en-US" altLang="ja-JP" dirty="0"/>
          </a:p>
          <a:p>
            <a:r>
              <a:rPr lang="ja-JP" altLang="en-US" sz="3200" b="0">
                <a:latin typeface="+mn-ea"/>
              </a:rPr>
              <a:t>何かあれば</a:t>
            </a:r>
            <a:r>
              <a:rPr lang="en-US" altLang="ja-JP" sz="3200" b="0" dirty="0">
                <a:latin typeface="+mn-ea"/>
              </a:rPr>
              <a:t> ©</a:t>
            </a:r>
            <a:r>
              <a:rPr lang="en-US" altLang="ja-JP" sz="3200" b="0" dirty="0" err="1">
                <a:latin typeface="+mn-ea"/>
              </a:rPr>
              <a:t>Sae</a:t>
            </a:r>
            <a:r>
              <a:rPr lang="en-US" altLang="ja-JP" sz="3200" b="0" dirty="0">
                <a:latin typeface="+mn-ea"/>
              </a:rPr>
              <a:t> </a:t>
            </a:r>
            <a:r>
              <a:rPr lang="en-US" altLang="ja-JP" sz="3200" b="0" dirty="0" err="1">
                <a:latin typeface="+mn-ea"/>
              </a:rPr>
              <a:t>Ogoshi</a:t>
            </a:r>
            <a:endParaRPr kumimoji="1" lang="ja-JP" altLang="en-US" sz="3200" b="0">
              <a:latin typeface="+mn-ea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505C780-7EC6-5739-7AAE-373C7E6D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86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ISSL true">
      <a:dk1>
        <a:srgbClr val="062654"/>
      </a:dk1>
      <a:lt1>
        <a:srgbClr val="FFFFFF"/>
      </a:lt1>
      <a:dk2>
        <a:srgbClr val="4B4B4B"/>
      </a:dk2>
      <a:lt2>
        <a:srgbClr val="8D8D8D"/>
      </a:lt2>
      <a:accent1>
        <a:srgbClr val="067BCA"/>
      </a:accent1>
      <a:accent2>
        <a:srgbClr val="C95656"/>
      </a:accent2>
      <a:accent3>
        <a:srgbClr val="EBA123"/>
      </a:accent3>
      <a:accent4>
        <a:srgbClr val="87AC70"/>
      </a:accent4>
      <a:accent5>
        <a:srgbClr val="B3618D"/>
      </a:accent5>
      <a:accent6>
        <a:srgbClr val="D16449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ssl-template-ja-16-9" id="{4C5265F7-3B2E-5145-B81F-B8693CA354B3}" vid="{5C8F6914-05D8-EA47-8853-1E6EC346794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issl-template-ja-16-9</Template>
  <TotalTime>0</TotalTime>
  <Words>395</Words>
  <Application>Microsoft Office PowerPoint</Application>
  <PresentationFormat>ユーザー設定</PresentationFormat>
  <Paragraphs>80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4" baseType="lpstr">
      <vt:lpstr>游ゴシック</vt:lpstr>
      <vt:lpstr>游ゴシック</vt:lpstr>
      <vt:lpstr>Yu Gothic Medium</vt:lpstr>
      <vt:lpstr>Aptos</vt:lpstr>
      <vt:lpstr>Arial</vt:lpstr>
      <vt:lpstr>Office テーマ</vt:lpstr>
      <vt:lpstr>ISSLスライドテンプレート</vt:lpstr>
      <vt:lpstr>01</vt:lpstr>
      <vt:lpstr>タイトルで結論を言い切る</vt:lpstr>
      <vt:lpstr>図にこだわる</vt:lpstr>
      <vt:lpstr>箇条書きは並列に</vt:lpstr>
      <vt:lpstr>数字やキーワードは強調する</vt:lpstr>
      <vt:lpstr>改行位置を気にする</vt:lpstr>
      <vt:lpstr>02</vt:lpstr>
      <vt:lpstr>1コンテンツ</vt:lpstr>
      <vt:lpstr>2コンテンツ タイトルなし</vt:lpstr>
      <vt:lpstr>2コンテンツ タイトルあり</vt:lpstr>
      <vt:lpstr>3コンテンツ タイトルなし</vt:lpstr>
      <vt:lpstr>3コンテンツ タイトルあり</vt:lpstr>
      <vt:lpstr>4コンテンツ タイトルなし</vt:lpstr>
      <vt:lpstr>4コンテンツ タイトルあり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高本　英熙</dc:creator>
  <cp:lastModifiedBy>高本　英熙</cp:lastModifiedBy>
  <cp:revision>1</cp:revision>
  <dcterms:created xsi:type="dcterms:W3CDTF">2026-05-11T08:23:04Z</dcterms:created>
  <dcterms:modified xsi:type="dcterms:W3CDTF">2026-05-11T08:23:14Z</dcterms:modified>
</cp:coreProperties>
</file>