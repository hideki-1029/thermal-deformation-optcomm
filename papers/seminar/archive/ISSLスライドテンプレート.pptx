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0"/>
  </p:notesMasterIdLst>
  <p:sldIdLst>
    <p:sldId id="263" r:id="rId2"/>
    <p:sldId id="257" r:id="rId3"/>
    <p:sldId id="258" r:id="rId4"/>
    <p:sldId id="282" r:id="rId5"/>
    <p:sldId id="264" r:id="rId6"/>
    <p:sldId id="266" r:id="rId7"/>
    <p:sldId id="276" r:id="rId8"/>
    <p:sldId id="277" r:id="rId9"/>
    <p:sldId id="283" r:id="rId10"/>
    <p:sldId id="275" r:id="rId11"/>
    <p:sldId id="268" r:id="rId12"/>
    <p:sldId id="269" r:id="rId13"/>
    <p:sldId id="270" r:id="rId14"/>
    <p:sldId id="271" r:id="rId15"/>
    <p:sldId id="272" r:id="rId16"/>
    <p:sldId id="274" r:id="rId17"/>
    <p:sldId id="284" r:id="rId18"/>
    <p:sldId id="273" r:id="rId19"/>
  </p:sldIdLst>
  <p:sldSz cx="24382413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A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71"/>
  </p:normalViewPr>
  <p:slideViewPr>
    <p:cSldViewPr snapToGrid="0">
      <p:cViewPr varScale="1">
        <p:scale>
          <a:sx n="35" d="100"/>
          <a:sy n="35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80C97-2400-5344-89F3-3CED47A68B44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C54EC6-2177-1447-9798-A1A3B80469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62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77201" y="7340600"/>
            <a:ext cx="12431685" cy="2125436"/>
          </a:xfrm>
        </p:spPr>
        <p:txBody>
          <a:bodyPr anchor="b"/>
          <a:lstStyle>
            <a:lvl1pPr algn="l">
              <a:defRPr sz="4800" spc="3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7201" y="9794966"/>
            <a:ext cx="12431684" cy="2351314"/>
          </a:xfrm>
        </p:spPr>
        <p:txBody>
          <a:bodyPr/>
          <a:lstStyle>
            <a:lvl1pPr marL="0" indent="0" algn="l">
              <a:lnSpc>
                <a:spcPct val="50000"/>
              </a:lnSpc>
              <a:buNone/>
              <a:defRPr sz="3600" b="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69BD-F0A9-D945-85B5-A92D8C4A624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ADAD6F10-9E3C-081C-FAC9-2F96D835D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6261101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テキスト プレースホルダー 8">
            <a:extLst>
              <a:ext uri="{FF2B5EF4-FFF2-40B4-BE49-F238E27FC236}">
                <a16:creationId xmlns:a16="http://schemas.microsoft.com/office/drawing/2014/main" id="{3A47DA29-0B22-B527-E246-85A23FDB4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6261101"/>
            <a:ext cx="5625347" cy="698499"/>
          </a:xfrm>
        </p:spPr>
        <p:txBody>
          <a:bodyPr/>
          <a:lstStyle>
            <a:lvl1pPr algn="l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テキスト プレースホルダー 8">
            <a:extLst>
              <a:ext uri="{FF2B5EF4-FFF2-40B4-BE49-F238E27FC236}">
                <a16:creationId xmlns:a16="http://schemas.microsoft.com/office/drawing/2014/main" id="{3ABD93C0-C51C-2948-0F33-2EF4B6841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5413377"/>
            <a:ext cx="5625347" cy="698499"/>
          </a:xfrm>
        </p:spPr>
        <p:txBody>
          <a:bodyPr/>
          <a:lstStyle>
            <a:lvl1pPr algn="r">
              <a:buNone/>
              <a:defRPr sz="4000" b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912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300" y="4192765"/>
            <a:ext cx="4965808" cy="1795335"/>
          </a:xfrm>
        </p:spPr>
        <p:txBody>
          <a:bodyPr anchor="b"/>
          <a:lstStyle>
            <a:lvl1pPr algn="ctr">
              <a:defRPr sz="56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89" y="7727900"/>
            <a:ext cx="21029831" cy="3000374"/>
          </a:xfrm>
        </p:spPr>
        <p:txBody>
          <a:bodyPr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E95FB-2235-2F42-91D0-8B9F16BE7B80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72E8AAC-513B-BB73-EF3E-6F21C4AF6A77}"/>
              </a:ext>
            </a:extLst>
          </p:cNvPr>
          <p:cNvCxnSpPr>
            <a:cxnSpLocks/>
          </p:cNvCxnSpPr>
          <p:nvPr userDrawn="1"/>
        </p:nvCxnSpPr>
        <p:spPr>
          <a:xfrm>
            <a:off x="11254952" y="6858000"/>
            <a:ext cx="187250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003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378" y="3104147"/>
            <a:ext cx="23020980" cy="924977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D544-ACEE-1142-A4DF-052F81DCAF13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B145F9-61C6-1870-CE50-37506B7E4EF4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968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DA76-1C10-5547-91CE-253BD16E32D7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3182735"/>
            <a:ext cx="11364543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7CF2C5-496E-3F41-87A5-8BF20107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D55661E-ACB1-18CB-79CA-CE03DAB48599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4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3E895-CCE5-A241-A85F-670DB4C916C8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F5EC9B8-55A0-1456-F399-6D313F6D2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71815" y="4092833"/>
            <a:ext cx="11364543" cy="8377768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85F9C02-29EC-4168-A599-AFD3B71ED2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114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6165EC21-36B4-4CED-0569-C34ACFFC9B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429459" y="3213462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D06260A-761F-95EE-B2CA-F7236CCF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685353A-F7C6-F829-267C-FA087B7BBA8F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19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4C7F2-45E9-0742-99C2-D62F245DFEC9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C0F6B-7CC3-BA66-8706-C8D1A03DEF8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66772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8965DEA-F2AC-C400-E7ED-BAFF867547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6387489" y="3198393"/>
            <a:ext cx="7448868" cy="92878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D0E9647-9028-AEF2-D4FC-0AC5B2CF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3A54D1E-D7CD-DFE1-2E29-70A06AFEC982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782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79897-8C2A-CB44-93BE-9BFBC7559B74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81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テキスト プレースホルダー 10">
            <a:extLst>
              <a:ext uri="{FF2B5EF4-FFF2-40B4-BE49-F238E27FC236}">
                <a16:creationId xmlns:a16="http://schemas.microsoft.com/office/drawing/2014/main" id="{2D417ACA-1B7B-F655-60FA-EDD80F82E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98EEB2B-456E-ACC0-29AE-C347BAE7F46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49492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6F409C7A-D2E8-2D36-6086-331B6DCB40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4925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6D87F6-15FE-35D7-1017-BB745C23F61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16350303" y="4119925"/>
            <a:ext cx="7448868" cy="8366333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3B277172-6A10-80CC-49F6-E3A8C94583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305736" y="3234978"/>
            <a:ext cx="7572561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4081A-47C8-EFEA-0CF4-1F31377C0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4DF2C9F-ACE0-585B-AAD3-3DD14251BADD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884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3283060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184309"/>
            <a:ext cx="11364543" cy="4306755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385C3C-D291-ECD3-9330-C9FEFA38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AA52CC1-C979-7DAC-F8FF-07CEF0898376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936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09540-48D4-DC4E-A020-784E13A6C686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140CB54-3189-CA43-FFF0-6B6D5F85C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055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C9B2C448-12D1-42AE-F7D0-C8AED70F60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114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DAFEE08-A81F-707C-4BA0-7BC8776B90FF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2474291" y="4063353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C1871C9F-CBB5-6510-4C84-37F671317E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2350" y="3176140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329A85-E9A3-6153-8937-4627CC5A7E62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46055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E5E7CD5A-D74B-3BF3-1D34-C6BC3F8555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04114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569A398-229E-518C-A2F8-E87AC7FEABC2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12474291" y="8964602"/>
            <a:ext cx="11364543" cy="3526461"/>
          </a:xfrm>
          <a:ln w="63500">
            <a:solidFill>
              <a:srgbClr val="66A8D4"/>
            </a:solidFill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2F9C9DEC-0751-3E49-640C-C623BA9835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432350" y="8077389"/>
            <a:ext cx="11445949" cy="906463"/>
          </a:xfrm>
          <a:solidFill>
            <a:schemeClr val="tx1"/>
          </a:solidFill>
        </p:spPr>
        <p:txBody>
          <a:bodyPr anchor="ctr"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28B87E-4E5C-BD4A-B7B9-5CD017C2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1358425"/>
            <a:ext cx="22304738" cy="1550459"/>
          </a:xfrm>
        </p:spPr>
        <p:txBody>
          <a:bodyPr/>
          <a:lstStyle>
            <a:lvl1pPr>
              <a:defRPr b="1" i="0"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564866-3642-1515-F78F-EBC63CFFFD78}"/>
              </a:ext>
            </a:extLst>
          </p:cNvPr>
          <p:cNvSpPr/>
          <p:nvPr userDrawn="1"/>
        </p:nvSpPr>
        <p:spPr>
          <a:xfrm>
            <a:off x="815378" y="1358424"/>
            <a:ext cx="409074" cy="1550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809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5357813"/>
            <a:ext cx="21029831" cy="3000374"/>
          </a:xfrm>
        </p:spPr>
        <p:txBody>
          <a:bodyPr anchor="ctr"/>
          <a:lstStyle>
            <a:lvl1pPr marL="0" indent="0" algn="ctr">
              <a:buNone/>
              <a:defRPr sz="5600" spc="300">
                <a:solidFill>
                  <a:schemeClr val="bg1"/>
                </a:solidFill>
              </a:defRPr>
            </a:lvl1pPr>
            <a:lvl2pPr marL="914354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709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063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417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1771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126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48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4834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6E1F-697B-864D-A8BC-B9F203AEA5AC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92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052" y="1391479"/>
            <a:ext cx="23290306" cy="1096244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846FE-1092-FD42-9AC0-B69E5809E0EF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6157C110-7517-0494-8AD1-7267A24661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6052" y="239182"/>
            <a:ext cx="15916804" cy="745067"/>
          </a:xfrm>
        </p:spPr>
        <p:txBody>
          <a:bodyPr anchor="ctr"/>
          <a:lstStyle>
            <a:lvl1pPr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084573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1A28FF6-6ABD-05E0-14A5-3CA8FD76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230E5-DC19-8048-9011-93E4E558FEAD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B69A14-0AF9-A649-3ABB-D4052E78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6DBC31-6D39-6C3E-5F31-00E86E0A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287048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5492" y="12744452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230E5-DC19-8048-9011-93E4E558FEAD}" type="datetime1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5408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FEE9-6A35-CF42-A39A-CD481C3507E3}" type="slidenum">
              <a:rPr kumimoji="1" lang="ja-JP" altLang="en-US" smtClean="0"/>
              <a:pPr/>
              <a:t>‹#›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61645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9" r:id="rId4"/>
    <p:sldLayoutId id="2147483683" r:id="rId5"/>
    <p:sldLayoutId id="2147483684" r:id="rId6"/>
    <p:sldLayoutId id="2147483680" r:id="rId7"/>
    <p:sldLayoutId id="2147483681" r:id="rId8"/>
    <p:sldLayoutId id="2147483686" r:id="rId9"/>
    <p:sldLayoutId id="2147483685" r:id="rId10"/>
    <p:sldLayoutId id="2147483682" r:id="rId11"/>
    <p:sldLayoutId id="2147483687" r:id="rId12"/>
  </p:sldLayoutIdLst>
  <p:hf hdr="0" ftr="0" dt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kumimoji="1" sz="6400" b="1" kern="1200" spc="3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4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b="0" i="0" kern="1200">
          <a:solidFill>
            <a:schemeClr val="tx2"/>
          </a:solidFill>
          <a:latin typeface="Yu Gothic Medium" panose="020B0400000000000000" pitchFamily="34" charset="-128"/>
          <a:ea typeface="Yu Gothic Medium" panose="020B0400000000000000" pitchFamily="34" charset="-128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EF8D53-DFAD-2781-7D58-CDDA68ED3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ISSL</a:t>
            </a:r>
            <a:r>
              <a:rPr kumimoji="1" lang="ja-JP" altLang="en-US"/>
              <a:t>スライドテンプレート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102AA9-45EB-C4FA-A1D0-A77A903D2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50000"/>
              </a:lnSpc>
            </a:pPr>
            <a:r>
              <a:rPr kumimoji="1" lang="ja-JP" altLang="en-US" b="1"/>
              <a:t>発表者名</a:t>
            </a:r>
            <a:r>
              <a:rPr kumimoji="1" lang="en-US" altLang="ja-JP" dirty="0"/>
              <a:t>, </a:t>
            </a:r>
            <a:r>
              <a:rPr kumimoji="1" lang="ja-JP" altLang="en-US"/>
              <a:t>指導教員名</a:t>
            </a:r>
            <a:r>
              <a:rPr kumimoji="1" lang="en-US" altLang="ja-JP" dirty="0"/>
              <a:t> (</a:t>
            </a:r>
            <a:r>
              <a:rPr kumimoji="1" lang="ja-JP" altLang="en-US"/>
              <a:t>東京大学</a:t>
            </a:r>
            <a:r>
              <a:rPr kumimoji="1" lang="en-US" altLang="ja-JP" dirty="0"/>
              <a:t>), </a:t>
            </a:r>
          </a:p>
          <a:p>
            <a:pPr>
              <a:lnSpc>
                <a:spcPct val="50000"/>
              </a:lnSpc>
            </a:pPr>
            <a:r>
              <a:rPr lang="ja-JP" altLang="en-US"/>
              <a:t>他の人</a:t>
            </a:r>
            <a:r>
              <a:rPr lang="en-US" altLang="ja-JP" dirty="0"/>
              <a:t> (</a:t>
            </a:r>
            <a:r>
              <a:rPr lang="ja-JP" altLang="en-US"/>
              <a:t>他の大学</a:t>
            </a:r>
            <a:r>
              <a:rPr lang="en-US" altLang="ja-JP" dirty="0"/>
              <a:t>),</a:t>
            </a:r>
          </a:p>
          <a:p>
            <a:pPr>
              <a:lnSpc>
                <a:spcPct val="50000"/>
              </a:lnSpc>
            </a:pPr>
            <a:r>
              <a:rPr kumimoji="1" lang="ja-JP" altLang="en-US"/>
              <a:t>教授名</a:t>
            </a:r>
            <a:r>
              <a:rPr kumimoji="1" lang="en-US" altLang="ja-JP" dirty="0"/>
              <a:t> (</a:t>
            </a:r>
            <a:r>
              <a:rPr kumimoji="1" lang="ja-JP" altLang="en-US"/>
              <a:t>東京大学</a:t>
            </a:r>
            <a:r>
              <a:rPr kumimoji="1" lang="en-US" altLang="ja-JP" dirty="0"/>
              <a:t>)</a:t>
            </a:r>
          </a:p>
          <a:p>
            <a:pPr>
              <a:lnSpc>
                <a:spcPct val="50000"/>
              </a:lnSpc>
            </a:pP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D366E8-10A6-FE33-D7F0-BCE65C677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83539" y="7705724"/>
            <a:ext cx="5625347" cy="698499"/>
          </a:xfrm>
        </p:spPr>
        <p:txBody>
          <a:bodyPr/>
          <a:lstStyle/>
          <a:p>
            <a:r>
              <a:rPr kumimoji="1" lang="en-US" altLang="ja-JP" dirty="0"/>
              <a:t>2026/04/26</a:t>
            </a: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23D87D9-D745-888C-4D05-FF267342E0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677201" y="7705724"/>
            <a:ext cx="5625347" cy="698499"/>
          </a:xfrm>
        </p:spPr>
        <p:txBody>
          <a:bodyPr/>
          <a:lstStyle/>
          <a:p>
            <a:r>
              <a:rPr kumimoji="1" lang="en-US" altLang="ja-JP" dirty="0"/>
              <a:t>A123</a:t>
            </a:r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FB66ACC2-84FB-08AA-2D48-20C1AB8643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83538" y="7042558"/>
            <a:ext cx="5625347" cy="698499"/>
          </a:xfrm>
        </p:spPr>
        <p:txBody>
          <a:bodyPr/>
          <a:lstStyle/>
          <a:p>
            <a:r>
              <a:rPr kumimoji="1" lang="en-US" altLang="ja-JP" dirty="0"/>
              <a:t>Conference Name 2026</a:t>
            </a:r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D1A49C-D906-D56C-8B01-F4742C0F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417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635D3E-6BA3-A5CE-2210-317DCBD6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4F4820-6A4B-21DF-1929-82AC7C54B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15B39E-8BAD-5C9C-E46E-51EE9D9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895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F44572-0BF9-86FC-9CEA-DB05D75E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タイトルで結論を言い切る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42B8AE-879F-6E97-B419-23D2B1025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スライド＝</a:t>
            </a:r>
            <a:r>
              <a:rPr kumimoji="1" lang="en-US" altLang="ja-JP" dirty="0"/>
              <a:t>1</a:t>
            </a:r>
            <a:r>
              <a:rPr kumimoji="1" lang="ja-JP" altLang="en-US"/>
              <a:t>メッセージ</a:t>
            </a:r>
            <a:endParaRPr kumimoji="1" lang="en-US" altLang="ja-JP" dirty="0"/>
          </a:p>
          <a:p>
            <a:pPr lvl="1"/>
            <a:r>
              <a:rPr kumimoji="1" lang="ja-JP" altLang="en-US">
                <a:latin typeface="Yu Gothic Medium" panose="020B0400000000000000" pitchFamily="34" charset="-128"/>
                <a:ea typeface="Yu Gothic Medium" panose="020B0400000000000000" pitchFamily="34" charset="-128"/>
              </a:rPr>
              <a:t>伝えたいことを一つに絞る</a:t>
            </a:r>
            <a:endParaRPr kumimoji="1" lang="en-US" altLang="ja-JP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lvl="1"/>
            <a:r>
              <a:rPr lang="ja-JP" altLang="en-US">
                <a:latin typeface="Yu Gothic Medium" panose="020B0400000000000000" pitchFamily="34" charset="-128"/>
                <a:ea typeface="Yu Gothic Medium" panose="020B0400000000000000" pitchFamily="34" charset="-128"/>
              </a:rPr>
              <a:t>詰め込みすぎない</a:t>
            </a:r>
            <a:endParaRPr lang="en-US" altLang="ja-JP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pPr lvl="1"/>
            <a:r>
              <a:rPr lang="ja-JP" altLang="en-US"/>
              <a:t>スライドの全ての内容は、そのメッセージを補完するもの</a:t>
            </a:r>
            <a:endParaRPr lang="en-US" altLang="ja-JP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r>
              <a:rPr lang="ja-JP" altLang="en-US"/>
              <a:t>タイトル＝主張</a:t>
            </a:r>
            <a:endParaRPr lang="en-US" altLang="ja-JP" dirty="0"/>
          </a:p>
          <a:p>
            <a:pPr lvl="1"/>
            <a:r>
              <a:rPr lang="ja-JP" altLang="en-US"/>
              <a:t>「</a:t>
            </a:r>
            <a:r>
              <a:rPr lang="en-US" altLang="ja-JP" dirty="0"/>
              <a:t>〜</a:t>
            </a:r>
            <a:r>
              <a:rPr lang="ja-JP" altLang="en-US"/>
              <a:t>について」ではなく「</a:t>
            </a:r>
            <a:r>
              <a:rPr lang="en-US" altLang="ja-JP" dirty="0"/>
              <a:t>〜</a:t>
            </a:r>
            <a:r>
              <a:rPr lang="ja-JP" altLang="en-US"/>
              <a:t>である」</a:t>
            </a:r>
            <a:endParaRPr lang="en-US" altLang="ja-JP" dirty="0"/>
          </a:p>
          <a:p>
            <a:pPr lvl="1"/>
            <a:r>
              <a:rPr lang="ja-JP" altLang="en-US"/>
              <a:t>タイトルだけ読めば内容がわかるように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A03A934-1390-EADF-E03B-F07661105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65DDDE-896C-98BD-4236-523603EB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701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2755A-CE30-29D5-66D8-858C1044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図にこだわる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E70F21-F8F0-782F-EB2F-E790A8836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全ての図は、そのスライドのメッセージを補完するもの</a:t>
            </a:r>
            <a:endParaRPr lang="en-US" altLang="ja-JP" dirty="0"/>
          </a:p>
          <a:p>
            <a:pPr lvl="1"/>
            <a:r>
              <a:rPr lang="ja-JP" altLang="en-US"/>
              <a:t>余白が寂しいからなどの理由で</a:t>
            </a:r>
            <a:r>
              <a:rPr lang="ja-JP" altLang="en-US" b="1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適当な図を入れない</a:t>
            </a:r>
            <a:endParaRPr lang="en-US" altLang="ja-JP" b="1" dirty="0">
              <a:solidFill>
                <a:schemeClr val="accent2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lvl="1"/>
            <a:r>
              <a:rPr lang="ja-JP" altLang="en-US"/>
              <a:t>図中の</a:t>
            </a:r>
            <a:r>
              <a:rPr lang="ja-JP" altLang="en-US" b="1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文字の大きさ</a:t>
            </a:r>
            <a:r>
              <a:rPr lang="ja-JP" altLang="en-US"/>
              <a:t>が小さすぎないか確認する</a:t>
            </a:r>
            <a:endParaRPr lang="en-US" altLang="ja-JP" dirty="0"/>
          </a:p>
          <a:p>
            <a:pPr lvl="2"/>
            <a:r>
              <a:rPr lang="ja-JP" altLang="en-US"/>
              <a:t>読ませなくていい文字ならそもそも消す</a:t>
            </a:r>
            <a:endParaRPr lang="en-US" altLang="ja-JP" dirty="0"/>
          </a:p>
          <a:p>
            <a:pPr lvl="1"/>
            <a:r>
              <a:rPr lang="ja-JP" altLang="en-US"/>
              <a:t>論文から取ってきたグラフなどは</a:t>
            </a:r>
            <a:r>
              <a:rPr lang="ja-JP" altLang="en-US" b="1">
                <a:solidFill>
                  <a:schemeClr val="accent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基本作り変える</a:t>
            </a:r>
            <a:endParaRPr lang="en-US" altLang="ja-JP" b="1" dirty="0">
              <a:solidFill>
                <a:schemeClr val="accent2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  <a:p>
            <a:pPr lvl="2"/>
            <a:r>
              <a:rPr lang="ja-JP" altLang="en-US"/>
              <a:t>文字の大きさ</a:t>
            </a:r>
            <a:endParaRPr lang="en-US" altLang="ja-JP" dirty="0"/>
          </a:p>
          <a:p>
            <a:pPr lvl="2"/>
            <a:r>
              <a:rPr lang="ja-JP" altLang="en-US"/>
              <a:t>そのグラフで伝えたいことを強調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335B153-B47B-237D-12A8-7E5DB7762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906C556-D817-34D8-3FEC-80F456E48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D0B90D5-A246-42C1-550B-403A12976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046" y="7954442"/>
            <a:ext cx="4941778" cy="370781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C7B59FB-C9E8-D436-00B1-C42EEEBB0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2856" y="6824926"/>
            <a:ext cx="4746616" cy="356138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B7D681E-3288-8BB7-FD28-351F8607E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0249" y="10482148"/>
            <a:ext cx="6229733" cy="266124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243E693-A076-DD21-6EEA-CDF520554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358" y="9881566"/>
            <a:ext cx="7450254" cy="3561385"/>
          </a:xfrm>
          <a:prstGeom prst="rect">
            <a:avLst/>
          </a:prstGeom>
        </p:spPr>
      </p:pic>
      <p:sp>
        <p:nvSpPr>
          <p:cNvPr id="10" name="下矢印 9">
            <a:extLst>
              <a:ext uri="{FF2B5EF4-FFF2-40B4-BE49-F238E27FC236}">
                <a16:creationId xmlns:a16="http://schemas.microsoft.com/office/drawing/2014/main" id="{0657C753-AA73-358F-5E2A-77CE59ABFC24}"/>
              </a:ext>
            </a:extLst>
          </p:cNvPr>
          <p:cNvSpPr/>
          <p:nvPr/>
        </p:nvSpPr>
        <p:spPr>
          <a:xfrm rot="19847078">
            <a:off x="10748112" y="8893733"/>
            <a:ext cx="858416" cy="992483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CFFA54B3-F9FE-270D-93BE-C0F9F8F0BA36}"/>
              </a:ext>
            </a:extLst>
          </p:cNvPr>
          <p:cNvSpPr/>
          <p:nvPr/>
        </p:nvSpPr>
        <p:spPr>
          <a:xfrm rot="19847078">
            <a:off x="17846335" y="9257377"/>
            <a:ext cx="858416" cy="992483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2000A0-50CF-1008-4EE1-08C6C7D28113}"/>
              </a:ext>
            </a:extLst>
          </p:cNvPr>
          <p:cNvSpPr txBox="1"/>
          <p:nvPr/>
        </p:nvSpPr>
        <p:spPr>
          <a:xfrm>
            <a:off x="19372481" y="7566027"/>
            <a:ext cx="4451309" cy="954107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そもそもグラフじゃなくて</a:t>
            </a:r>
            <a:endParaRPr kumimoji="1" lang="en-US" altLang="ja-JP" sz="2800" dirty="0">
              <a:solidFill>
                <a:schemeClr val="bg1"/>
              </a:solidFill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r>
              <a:rPr kumimoji="1" lang="ja-JP" altLang="en-US" sz="2800">
                <a:solidFill>
                  <a:schemeClr val="bg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</a:rPr>
              <a:t>表の方が良かった例</a:t>
            </a:r>
          </a:p>
        </p:txBody>
      </p:sp>
    </p:spTree>
    <p:extLst>
      <p:ext uri="{BB962C8B-B14F-4D97-AF65-F5344CB8AC3E}">
        <p14:creationId xmlns:p14="http://schemas.microsoft.com/office/powerpoint/2010/main" val="3867172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68C4D-195B-8495-7268-573CDB8EC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55CE6-31D2-9766-C410-BC789D60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箇条書きは並列に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D04450-A86B-2F8C-3F5D-9FAF22541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箇条書きの項目は</a:t>
            </a:r>
            <a:r>
              <a:rPr kumimoji="1" lang="ja-JP" altLang="en-US">
                <a:solidFill>
                  <a:schemeClr val="accent2"/>
                </a:solidFill>
              </a:rPr>
              <a:t>並列</a:t>
            </a:r>
            <a:r>
              <a:rPr kumimoji="1" lang="ja-JP" altLang="en-US"/>
              <a:t>にする</a:t>
            </a:r>
            <a:endParaRPr kumimoji="1" lang="en-US" altLang="ja-JP" dirty="0"/>
          </a:p>
          <a:p>
            <a:pPr lvl="1"/>
            <a:r>
              <a:rPr lang="ja-JP" altLang="en-US">
                <a:latin typeface="Yu Gothic Medium" panose="020B0400000000000000" pitchFamily="34" charset="-128"/>
                <a:ea typeface="Yu Gothic Medium" panose="020B0400000000000000" pitchFamily="34" charset="-128"/>
              </a:rPr>
              <a:t>文法を揃える</a:t>
            </a:r>
            <a:r>
              <a:rPr lang="en-US" altLang="ja-JP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 (</a:t>
            </a:r>
            <a:r>
              <a:rPr lang="ja-JP" altLang="en-US">
                <a:latin typeface="Yu Gothic Medium" panose="020B0400000000000000" pitchFamily="34" charset="-128"/>
                <a:ea typeface="Yu Gothic Medium" panose="020B0400000000000000" pitchFamily="34" charset="-128"/>
              </a:rPr>
              <a:t>全部体言止め</a:t>
            </a:r>
            <a:r>
              <a:rPr lang="en-US" altLang="ja-JP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or</a:t>
            </a:r>
            <a:r>
              <a:rPr lang="ja-JP" altLang="en-US">
                <a:latin typeface="Yu Gothic Medium" panose="020B0400000000000000" pitchFamily="34" charset="-128"/>
                <a:ea typeface="Yu Gothic Medium" panose="020B0400000000000000" pitchFamily="34" charset="-128"/>
              </a:rPr>
              <a:t>動詞、句読点の有無など</a:t>
            </a:r>
            <a:r>
              <a:rPr lang="en-US" altLang="ja-JP" dirty="0">
                <a:latin typeface="Yu Gothic Medium" panose="020B0400000000000000" pitchFamily="34" charset="-128"/>
                <a:ea typeface="Yu Gothic Medium" panose="020B0400000000000000" pitchFamily="34" charset="-128"/>
              </a:rPr>
              <a:t>)</a:t>
            </a:r>
          </a:p>
          <a:p>
            <a:pPr lvl="1"/>
            <a:r>
              <a:rPr lang="ja-JP" altLang="en-US">
                <a:latin typeface="Yu Gothic Medium" panose="020B0400000000000000" pitchFamily="34" charset="-128"/>
                <a:ea typeface="Yu Gothic Medium" panose="020B0400000000000000" pitchFamily="34" charset="-128"/>
              </a:rPr>
              <a:t>情報として並列になっているか確認する</a:t>
            </a:r>
            <a:endParaRPr lang="en-US" altLang="ja-JP" dirty="0">
              <a:latin typeface="Yu Gothic Medium" panose="020B0400000000000000" pitchFamily="34" charset="-128"/>
              <a:ea typeface="Yu Gothic Medium" panose="020B0400000000000000" pitchFamily="34" charset="-128"/>
            </a:endParaRPr>
          </a:p>
          <a:p>
            <a:r>
              <a:rPr lang="ja-JP" altLang="en-US"/>
              <a:t>対立や比較の構造なら段組を使うことも考える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819AD32-0E73-61BA-5B7C-EFE1060541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1629B45-DF56-B122-2C34-9A5A5A87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90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6188-687C-CACF-8E62-FDA47B40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2FC90-BAA5-CCA9-560B-096B029B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数字やキーワードは</a:t>
            </a:r>
            <a:r>
              <a:rPr kumimoji="1" lang="ja-JP" altLang="en-US">
                <a:solidFill>
                  <a:schemeClr val="accent2"/>
                </a:solidFill>
              </a:rPr>
              <a:t>強調</a:t>
            </a:r>
            <a:r>
              <a:rPr kumimoji="1" lang="ja-JP" altLang="en-US"/>
              <a:t>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7B3A31-BD8A-FAA5-40A6-BE064E278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例</a:t>
            </a:r>
            <a:endParaRPr kumimoji="1" lang="en-US" altLang="ja-JP" dirty="0"/>
          </a:p>
          <a:p>
            <a:r>
              <a:rPr kumimoji="1" lang="ja-JP" altLang="en-US"/>
              <a:t>初期結果より</a:t>
            </a:r>
            <a:r>
              <a:rPr kumimoji="1" lang="en-US" altLang="ja-JP" dirty="0">
                <a:solidFill>
                  <a:schemeClr val="accent2"/>
                </a:solidFill>
              </a:rPr>
              <a:t>61%</a:t>
            </a:r>
            <a:r>
              <a:rPr kumimoji="1" lang="ja-JP" altLang="en-US"/>
              <a:t>改善した</a:t>
            </a:r>
            <a:endParaRPr kumimoji="1" lang="en-US" altLang="ja-JP" dirty="0"/>
          </a:p>
          <a:p>
            <a:r>
              <a:rPr lang="en-US" altLang="ja-JP" dirty="0">
                <a:solidFill>
                  <a:schemeClr val="accent2"/>
                </a:solidFill>
              </a:rPr>
              <a:t>50m</a:t>
            </a:r>
            <a:r>
              <a:rPr lang="ja-JP" altLang="en-US"/>
              <a:t>の閾値を満たした</a:t>
            </a:r>
            <a:endParaRPr lang="en-US" altLang="ja-JP" dirty="0"/>
          </a:p>
          <a:p>
            <a:r>
              <a:rPr kumimoji="1" lang="en-US" altLang="ja-JP" dirty="0">
                <a:solidFill>
                  <a:schemeClr val="accent1"/>
                </a:solidFill>
              </a:rPr>
              <a:t>GNSS</a:t>
            </a:r>
            <a:r>
              <a:rPr kumimoji="1" lang="ja-JP" altLang="en-US">
                <a:solidFill>
                  <a:schemeClr val="accent1"/>
                </a:solidFill>
              </a:rPr>
              <a:t>衛星のサイドローブ信号</a:t>
            </a:r>
            <a:r>
              <a:rPr kumimoji="1" lang="ja-JP" altLang="en-US"/>
              <a:t>の利用が検討されている</a:t>
            </a: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054E67B-C0AC-80F3-763E-7CF0009923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45722E-1F28-C5CE-3B9A-F2627D143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85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8D0B-6B7B-20A9-4804-B6D3C7DE8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D27AFB-EA00-A81B-3FF4-0BEEE73E4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改行位置を気にする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D6080A-46CF-5389-811D-5D8D9316B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78" y="3104147"/>
            <a:ext cx="22767636" cy="9249779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>
                <a:solidFill>
                  <a:schemeClr val="accent2"/>
                </a:solidFill>
              </a:rPr>
              <a:t>×</a:t>
            </a:r>
            <a:r>
              <a:rPr kumimoji="1" lang="ja-JP" altLang="en-US">
                <a:solidFill>
                  <a:schemeClr val="accent2"/>
                </a:solidFill>
              </a:rPr>
              <a:t>例</a:t>
            </a:r>
          </a:p>
          <a:p>
            <a:pPr marL="0" indent="0">
              <a:buNone/>
            </a:pPr>
            <a:r>
              <a:rPr kumimoji="1" lang="ja-JP" altLang="en-US">
                <a:solidFill>
                  <a:schemeClr val="accent2"/>
                </a:solidFill>
              </a:rPr>
              <a:t>幾何学的配置がシステム全体の軌道決定精度に影響を与える</a:t>
            </a:r>
            <a:r>
              <a:rPr kumimoji="1" lang="ja-JP" altLang="en-US"/>
              <a:t>ことが確認された。現在固定されているスロットを動かすことで</a:t>
            </a:r>
            <a:r>
              <a:rPr lang="ja-JP" altLang="en-US"/>
              <a:t>、</a:t>
            </a:r>
            <a:r>
              <a:rPr kumimoji="1" lang="ja-JP" altLang="en-US"/>
              <a:t>さらに精度が向上する可能性が示唆された。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ja-JP" altLang="en-US">
                <a:solidFill>
                  <a:schemeClr val="accent4"/>
                </a:solidFill>
              </a:rPr>
              <a:t>○例</a:t>
            </a:r>
          </a:p>
          <a:p>
            <a:pPr marL="0" indent="0">
              <a:buNone/>
            </a:pPr>
            <a:r>
              <a:rPr lang="ja-JP" altLang="en-US">
                <a:solidFill>
                  <a:schemeClr val="accent2"/>
                </a:solidFill>
              </a:rPr>
              <a:t>幾何学的配置がシステム全体の軌道決定精度に影響を与える</a:t>
            </a:r>
            <a:r>
              <a:rPr lang="ja-JP" altLang="en-US"/>
              <a:t>ことが確認された。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現在固定されているスロットを動かすことで、さらに精度が向上する可能性が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/>
              <a:t>示唆された。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F143C8-37E9-4B3C-9704-CC4BC0D2E7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/>
              <a:t>スライドの基本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2F66D6-BFC0-6986-D45F-45712421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95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2FDC0-C27B-B493-3C2D-059C292E5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98B41D-FF1E-4763-6671-DFB2F2AAE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02</a:t>
            </a:r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67EB63-24C6-48D7-191A-DC6168F96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一覧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5575D9-B9A5-42E2-7F16-B765F5D6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510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E588D5-C10B-3B2D-1E74-A456E67AA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/>
              <a:t>コンテンツ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CD21C8-B1F8-4A45-62C1-7950440FA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D9FC89-1159-C9D6-9DFF-4E2A0A6F5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CA5624-8821-B64E-5014-1A19EE8875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690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8F089-4CA7-EEAD-5839-28D4A9F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837F4E-60DD-E512-A30D-B1B6393D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ED9B31-F9CA-3295-FB9A-C10DA011A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CD64355-4FC4-480F-7680-4642FBA5FE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42444B0-D6C0-88B3-08BB-792CD94ED1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85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BA347-AEFF-2ECB-73E2-69056D2EF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タイトルあり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1A8BBE6-6F83-A22B-FC13-A8D8986F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3CD07F-80E2-9111-9F0C-3F48462CB8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BA684D92-30D3-7299-2FF1-CDC06B5BCF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018257C-7CE2-ABFF-AFC2-7B4A493320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AFF127-9DA5-5BBD-2996-727C31E7F3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41E754B6-7A16-357E-6693-31815EC78B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187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791F03-B27F-FDA5-1CB9-407BC4A7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3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6490C38-C477-BCED-5435-03B6B156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EEA913-90A5-2F4A-7A00-A45C749B3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72E258D-606A-C7AE-AB6E-8796AEBA59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64F460-3095-00A0-E616-9EDF04645028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036286DF-ABDD-A92B-3132-4C7ADB679801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775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7F21A-40F7-B27E-AE76-6CA4109E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3</a:t>
            </a:r>
            <a:r>
              <a:rPr lang="ja-JP" altLang="en-US"/>
              <a:t>コンテンツ</a:t>
            </a:r>
            <a:r>
              <a:rPr lang="en-US" altLang="ja-JP" dirty="0"/>
              <a:t> </a:t>
            </a:r>
            <a:r>
              <a:rPr lang="ja-JP" altLang="en-US"/>
              <a:t>タイトルあり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8E2A82D-83B4-4029-EF54-E16D8B58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33CF1B5-9EEE-A532-9FF4-0A574A8E20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F69243D-0A7F-93F4-25FD-29FED462DD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A09245C-DE08-91D7-D4DA-3229265375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B68852AB-BEC9-E411-E4B3-F2E70A987310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17945E74-16D0-45B1-16CE-6769E2D120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6E2D960D-D738-E43D-C4E3-58F41C873520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CB94504-7C52-1FA6-2AFB-432099D491A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014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6B26CC-99B7-AD2F-B97B-5E7FA659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kumimoji="1" lang="en-US" altLang="ja-JP" dirty="0"/>
              <a:t>4</a:t>
            </a:r>
            <a:r>
              <a:rPr kumimoji="1" lang="ja-JP" altLang="en-US"/>
              <a:t>コンテンツ</a:t>
            </a:r>
            <a:r>
              <a:rPr kumimoji="1" lang="en-US" altLang="ja-JP" dirty="0"/>
              <a:t> </a:t>
            </a:r>
            <a:r>
              <a:rPr kumimoji="1" lang="ja-JP" altLang="en-US"/>
              <a:t>タイトルなし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036849-E43B-358F-11E6-951AD23D5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1DCF12-97B0-70B4-E69A-8F95C1E24E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392C2E0F-7A6A-0D6A-5AFF-8F2A8ADBC3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87ED82C-798C-2B7E-2176-14F0ACFB222C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E3518DF5-D088-DFAD-F281-2362F017C983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44889861-083F-9180-39C8-21FFA0764991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323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0EC666-CE0F-3317-3B45-C0F6DD1A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530" y="1358425"/>
            <a:ext cx="22525828" cy="1550459"/>
          </a:xfrm>
        </p:spPr>
        <p:txBody>
          <a:bodyPr/>
          <a:lstStyle/>
          <a:p>
            <a:r>
              <a:rPr lang="en-US" altLang="ja-JP" dirty="0"/>
              <a:t>4</a:t>
            </a:r>
            <a:r>
              <a:rPr lang="ja-JP" altLang="en-US"/>
              <a:t>コンテンツ</a:t>
            </a:r>
            <a:r>
              <a:rPr lang="en-US" altLang="ja-JP" dirty="0"/>
              <a:t> </a:t>
            </a:r>
            <a:r>
              <a:rPr lang="ja-JP" altLang="en-US"/>
              <a:t>タイトルあり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7EBBA6F-D227-1A4F-CC3A-907A4426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143853-49FD-FA0E-DD0A-85CDA931BB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CED12552-7051-CCFF-7C1D-837FC375F6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89DE814-F96E-5589-C329-4EF4DC654F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F2D0189D-9609-B836-5B50-8C7A4085B579}"/>
              </a:ext>
            </a:extLst>
          </p:cNvPr>
          <p:cNvSpPr>
            <a:spLocks noGrp="1"/>
          </p:cNvSpPr>
          <p:nvPr>
            <p:ph sz="half" idx="17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201D3112-7160-F3C4-4626-6F5FEE2C72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A738FAE-4DA6-8D93-7882-19F572D7020E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BCA7500-5905-347E-D4F5-A6ED8AF425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6839A8F6-F9C4-A601-A2EB-B5174B97035F}"/>
              </a:ext>
            </a:extLst>
          </p:cNvPr>
          <p:cNvSpPr>
            <a:spLocks noGrp="1"/>
          </p:cNvSpPr>
          <p:nvPr>
            <p:ph sz="half" idx="2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B93484C2-7603-1659-FA3E-34104D7FC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955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5D9828C-3A5D-296F-AA46-7CC5764F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命題なし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BDA16EA-2929-EDDC-B42F-71B8B3C9C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81ACB5-850A-CC78-EA76-3C1668263B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6010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288E4C2-BCD7-882C-A382-9AAF94D4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pPr/>
              <a:t>17</a:t>
            </a:fld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8572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5A3B76-3C53-4383-82B8-82C566954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/>
              <a:t>ご清聴ありがとうございました</a:t>
            </a:r>
            <a:endParaRPr lang="en-US" altLang="ja-JP" dirty="0"/>
          </a:p>
          <a:p>
            <a:r>
              <a:rPr lang="ja-JP" altLang="en-US" sz="3200" b="0">
                <a:latin typeface="+mn-ea"/>
              </a:rPr>
              <a:t>何かあれば</a:t>
            </a:r>
            <a:r>
              <a:rPr lang="en-US" altLang="ja-JP" sz="3200" b="0" dirty="0">
                <a:latin typeface="+mn-ea"/>
              </a:rPr>
              <a:t> ©</a:t>
            </a:r>
            <a:r>
              <a:rPr lang="en-US" altLang="ja-JP" sz="3200" b="0" dirty="0" err="1">
                <a:latin typeface="+mn-ea"/>
              </a:rPr>
              <a:t>Sae</a:t>
            </a:r>
            <a:r>
              <a:rPr lang="en-US" altLang="ja-JP" sz="3200" b="0" dirty="0">
                <a:latin typeface="+mn-ea"/>
              </a:rPr>
              <a:t> </a:t>
            </a:r>
            <a:r>
              <a:rPr lang="en-US" altLang="ja-JP" sz="3200" b="0" dirty="0" err="1">
                <a:latin typeface="+mn-ea"/>
              </a:rPr>
              <a:t>Ogoshi</a:t>
            </a:r>
            <a:endParaRPr kumimoji="1" lang="ja-JP" altLang="en-US" sz="3200" b="0">
              <a:latin typeface="+mn-ea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505C780-7EC6-5739-7AAE-373C7E6D6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FEE9-6A35-CF42-A39A-CD481C3507E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86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ISSL true">
      <a:dk1>
        <a:srgbClr val="062654"/>
      </a:dk1>
      <a:lt1>
        <a:srgbClr val="FFFFFF"/>
      </a:lt1>
      <a:dk2>
        <a:srgbClr val="4B4B4B"/>
      </a:dk2>
      <a:lt2>
        <a:srgbClr val="8D8D8D"/>
      </a:lt2>
      <a:accent1>
        <a:srgbClr val="067BCA"/>
      </a:accent1>
      <a:accent2>
        <a:srgbClr val="C95656"/>
      </a:accent2>
      <a:accent3>
        <a:srgbClr val="EBA123"/>
      </a:accent3>
      <a:accent4>
        <a:srgbClr val="87AC70"/>
      </a:accent4>
      <a:accent5>
        <a:srgbClr val="B3618D"/>
      </a:accent5>
      <a:accent6>
        <a:srgbClr val="D16449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ssl-template-ja-16-9" id="{4C5265F7-3B2E-5145-B81F-B8693CA354B3}" vid="{5C8F6914-05D8-EA47-8853-1E6EC34679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issl-template-ja-16-9</Template>
  <TotalTime>0</TotalTime>
  <Words>395</Words>
  <Application>Microsoft Office PowerPoint</Application>
  <PresentationFormat>ユーザー設定</PresentationFormat>
  <Paragraphs>80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游ゴシック</vt:lpstr>
      <vt:lpstr>游ゴシック</vt:lpstr>
      <vt:lpstr>Yu Gothic Medium</vt:lpstr>
      <vt:lpstr>Aptos</vt:lpstr>
      <vt:lpstr>Arial</vt:lpstr>
      <vt:lpstr>Office テーマ</vt:lpstr>
      <vt:lpstr>ISSLスライドテンプレート</vt:lpstr>
      <vt:lpstr>01</vt:lpstr>
      <vt:lpstr>タイトルで結論を言い切る</vt:lpstr>
      <vt:lpstr>図にこだわる</vt:lpstr>
      <vt:lpstr>箇条書きは並列に</vt:lpstr>
      <vt:lpstr>数字やキーワードは強調する</vt:lpstr>
      <vt:lpstr>改行位置を気にする</vt:lpstr>
      <vt:lpstr>02</vt:lpstr>
      <vt:lpstr>1コンテンツ</vt:lpstr>
      <vt:lpstr>2コンテンツ タイトルなし</vt:lpstr>
      <vt:lpstr>2コンテンツ タイトルあり</vt:lpstr>
      <vt:lpstr>3コンテンツ タイトルなし</vt:lpstr>
      <vt:lpstr>3コンテンツ タイトルあり</vt:lpstr>
      <vt:lpstr>4コンテンツ タイトルなし</vt:lpstr>
      <vt:lpstr>4コンテンツ タイトルあり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高本　英熙</dc:creator>
  <cp:lastModifiedBy>高本　英熙</cp:lastModifiedBy>
  <cp:revision>1</cp:revision>
  <dcterms:created xsi:type="dcterms:W3CDTF">2026-05-11T08:23:04Z</dcterms:created>
  <dcterms:modified xsi:type="dcterms:W3CDTF">2026-05-11T08:23:14Z</dcterms:modified>
</cp:coreProperties>
</file>