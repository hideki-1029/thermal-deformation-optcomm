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8"/>
  </p:notesMasterIdLst>
  <p:sldIdLst>
    <p:sldId id="263" r:id="rId2"/>
    <p:sldId id="277" r:id="rId3"/>
    <p:sldId id="285" r:id="rId4"/>
    <p:sldId id="291" r:id="rId5"/>
    <p:sldId id="288" r:id="rId6"/>
    <p:sldId id="289" r:id="rId7"/>
    <p:sldId id="294" r:id="rId8"/>
    <p:sldId id="287" r:id="rId9"/>
    <p:sldId id="292" r:id="rId10"/>
    <p:sldId id="297" r:id="rId11"/>
    <p:sldId id="293" r:id="rId12"/>
    <p:sldId id="296" r:id="rId13"/>
    <p:sldId id="298" r:id="rId14"/>
    <p:sldId id="275" r:id="rId15"/>
    <p:sldId id="295" r:id="rId16"/>
    <p:sldId id="299" r:id="rId17"/>
    <p:sldId id="301" r:id="rId18"/>
    <p:sldId id="286" r:id="rId19"/>
    <p:sldId id="300" r:id="rId20"/>
    <p:sldId id="273" r:id="rId21"/>
    <p:sldId id="290" r:id="rId22"/>
    <p:sldId id="303" r:id="rId23"/>
    <p:sldId id="302" r:id="rId24"/>
    <p:sldId id="304" r:id="rId25"/>
    <p:sldId id="305" r:id="rId26"/>
    <p:sldId id="306" r:id="rId27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A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801C2-C406-4B34-A46E-601D442A3C9F}" v="17" dt="2026-07-06T00:03:12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00"/>
  </p:normalViewPr>
  <p:slideViewPr>
    <p:cSldViewPr snapToGrid="0">
      <p:cViewPr varScale="1">
        <p:scale>
          <a:sx n="35" d="100"/>
          <a:sy n="35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高本　英熙" userId="8c170229-89c6-4cfb-bfe7-e9318e5c94e7" providerId="ADAL" clId="{113E8587-2806-4E56-B9A9-38E1BCA19B6F}"/>
    <pc:docChg chg="undo custSel addSld delSld modSld sldOrd">
      <pc:chgData name="高本　英熙" userId="8c170229-89c6-4cfb-bfe7-e9318e5c94e7" providerId="ADAL" clId="{113E8587-2806-4E56-B9A9-38E1BCA19B6F}" dt="2026-07-06T00:51:22.730" v="7133" actId="207"/>
      <pc:docMkLst>
        <pc:docMk/>
      </pc:docMkLst>
      <pc:sldChg chg="addSp delSp modSp mod">
        <pc:chgData name="高本　英熙" userId="8c170229-89c6-4cfb-bfe7-e9318e5c94e7" providerId="ADAL" clId="{113E8587-2806-4E56-B9A9-38E1BCA19B6F}" dt="2026-07-05T23:50:26.656" v="6584" actId="20577"/>
        <pc:sldMkLst>
          <pc:docMk/>
          <pc:sldMk cId="4103417916" sldId="263"/>
        </pc:sldMkLst>
        <pc:spChg chg="mod">
          <ac:chgData name="高本　英熙" userId="8c170229-89c6-4cfb-bfe7-e9318e5c94e7" providerId="ADAL" clId="{113E8587-2806-4E56-B9A9-38E1BCA19B6F}" dt="2026-07-05T23:50:26.656" v="6584" actId="20577"/>
          <ac:spMkLst>
            <pc:docMk/>
            <pc:sldMk cId="4103417916" sldId="263"/>
            <ac:spMk id="4" creationId="{79D366E8-10A6-FE33-D7F0-BCE65C677E19}"/>
          </ac:spMkLst>
        </pc:spChg>
        <pc:spChg chg="mod">
          <ac:chgData name="高本　英熙" userId="8c170229-89c6-4cfb-bfe7-e9318e5c94e7" providerId="ADAL" clId="{113E8587-2806-4E56-B9A9-38E1BCA19B6F}" dt="2026-07-05T23:50:20.860" v="6578" actId="20577"/>
          <ac:spMkLst>
            <pc:docMk/>
            <pc:sldMk cId="4103417916" sldId="263"/>
            <ac:spMk id="6" creationId="{FB66ACC2-84FB-08AA-2D48-20C1AB864367}"/>
          </ac:spMkLst>
        </pc:spChg>
      </pc:sldChg>
      <pc:sldChg chg="addSp delSp modSp mod">
        <pc:chgData name="高本　英熙" userId="8c170229-89c6-4cfb-bfe7-e9318e5c94e7" providerId="ADAL" clId="{113E8587-2806-4E56-B9A9-38E1BCA19B6F}" dt="2026-07-06T00:51:22.730" v="7133" actId="207"/>
        <pc:sldMkLst>
          <pc:docMk/>
          <pc:sldMk cId="3691856106" sldId="275"/>
        </pc:sldMkLst>
        <pc:spChg chg="mod">
          <ac:chgData name="高本　英熙" userId="8c170229-89c6-4cfb-bfe7-e9318e5c94e7" providerId="ADAL" clId="{113E8587-2806-4E56-B9A9-38E1BCA19B6F}" dt="2026-07-06T00:45:08.731" v="6976" actId="20577"/>
          <ac:spMkLst>
            <pc:docMk/>
            <pc:sldMk cId="3691856106" sldId="275"/>
            <ac:spMk id="6" creationId="{6139B245-8349-49A2-9077-B9EF6EADDFC6}"/>
          </ac:spMkLst>
        </pc:spChg>
        <pc:spChg chg="mod">
          <ac:chgData name="高本　英熙" userId="8c170229-89c6-4cfb-bfe7-e9318e5c94e7" providerId="ADAL" clId="{113E8587-2806-4E56-B9A9-38E1BCA19B6F}" dt="2026-07-06T00:51:22.730" v="7133" actId="207"/>
          <ac:spMkLst>
            <pc:docMk/>
            <pc:sldMk cId="3691856106" sldId="275"/>
            <ac:spMk id="9" creationId="{62B0D17A-E253-466B-317B-4D5BA1A60269}"/>
          </ac:spMkLst>
        </pc:spChg>
        <pc:picChg chg="add del mod">
          <ac:chgData name="高本　英熙" userId="8c170229-89c6-4cfb-bfe7-e9318e5c94e7" providerId="ADAL" clId="{113E8587-2806-4E56-B9A9-38E1BCA19B6F}" dt="2026-07-06T00:44:29.061" v="6943" actId="478"/>
          <ac:picMkLst>
            <pc:docMk/>
            <pc:sldMk cId="3691856106" sldId="275"/>
            <ac:picMk id="7" creationId="{E607D40D-456C-69DC-9E14-64655E88B201}"/>
          </ac:picMkLst>
        </pc:picChg>
        <pc:picChg chg="add mod">
          <ac:chgData name="高本　英熙" userId="8c170229-89c6-4cfb-bfe7-e9318e5c94e7" providerId="ADAL" clId="{113E8587-2806-4E56-B9A9-38E1BCA19B6F}" dt="2026-07-06T00:47:24.149" v="6985" actId="1038"/>
          <ac:picMkLst>
            <pc:docMk/>
            <pc:sldMk cId="3691856106" sldId="275"/>
            <ac:picMk id="10" creationId="{595C3708-D813-AEA8-524C-D5E7E64A93C9}"/>
          </ac:picMkLst>
        </pc:picChg>
        <pc:picChg chg="del">
          <ac:chgData name="高本　英熙" userId="8c170229-89c6-4cfb-bfe7-e9318e5c94e7" providerId="ADAL" clId="{113E8587-2806-4E56-B9A9-38E1BCA19B6F}" dt="2026-07-06T00:43:50.202" v="6937" actId="478"/>
          <ac:picMkLst>
            <pc:docMk/>
            <pc:sldMk cId="3691856106" sldId="275"/>
            <ac:picMk id="13" creationId="{69964AD4-D48E-D8CC-6C0D-0786C93FDCBA}"/>
          </ac:picMkLst>
        </pc:picChg>
        <pc:picChg chg="del">
          <ac:chgData name="高本　英熙" userId="8c170229-89c6-4cfb-bfe7-e9318e5c94e7" providerId="ADAL" clId="{113E8587-2806-4E56-B9A9-38E1BCA19B6F}" dt="2026-07-06T00:43:51.838" v="6938" actId="478"/>
          <ac:picMkLst>
            <pc:docMk/>
            <pc:sldMk cId="3691856106" sldId="275"/>
            <ac:picMk id="15" creationId="{0D202F71-8D5B-A19F-B272-7F152168167F}"/>
          </ac:picMkLst>
        </pc:picChg>
      </pc:sldChg>
      <pc:sldChg chg="addSp delSp modSp mod">
        <pc:chgData name="高本　英熙" userId="8c170229-89c6-4cfb-bfe7-e9318e5c94e7" providerId="ADAL" clId="{113E8587-2806-4E56-B9A9-38E1BCA19B6F}" dt="2026-07-06T00:01:47.075" v="6881" actId="1076"/>
        <pc:sldMkLst>
          <pc:docMk/>
          <pc:sldMk cId="466963560" sldId="293"/>
        </pc:sldMkLst>
        <pc:spChg chg="add del mod">
          <ac:chgData name="高本　英熙" userId="8c170229-89c6-4cfb-bfe7-e9318e5c94e7" providerId="ADAL" clId="{113E8587-2806-4E56-B9A9-38E1BCA19B6F}" dt="2026-07-05T23:53:32.618" v="6588" actId="478"/>
          <ac:spMkLst>
            <pc:docMk/>
            <pc:sldMk cId="466963560" sldId="293"/>
            <ac:spMk id="6" creationId="{612084AB-8B4E-F1B0-954D-A6170ADFAE8D}"/>
          </ac:spMkLst>
        </pc:spChg>
        <pc:spChg chg="mod">
          <ac:chgData name="高本　英熙" userId="8c170229-89c6-4cfb-bfe7-e9318e5c94e7" providerId="ADAL" clId="{113E8587-2806-4E56-B9A9-38E1BCA19B6F}" dt="2026-07-06T00:00:01.604" v="6799"/>
          <ac:spMkLst>
            <pc:docMk/>
            <pc:sldMk cId="466963560" sldId="293"/>
            <ac:spMk id="7" creationId="{CDCBAEA6-9D73-003B-7230-CF2C41F7E83F}"/>
          </ac:spMkLst>
        </pc:spChg>
        <pc:spChg chg="del mod">
          <ac:chgData name="高本　英熙" userId="8c170229-89c6-4cfb-bfe7-e9318e5c94e7" providerId="ADAL" clId="{113E8587-2806-4E56-B9A9-38E1BCA19B6F}" dt="2026-07-05T23:58:22.738" v="6773" actId="478"/>
          <ac:spMkLst>
            <pc:docMk/>
            <pc:sldMk cId="466963560" sldId="293"/>
            <ac:spMk id="9" creationId="{A2CC0F64-AF51-4C1A-80DC-68939237E824}"/>
          </ac:spMkLst>
        </pc:spChg>
        <pc:spChg chg="mod">
          <ac:chgData name="高本　英熙" userId="8c170229-89c6-4cfb-bfe7-e9318e5c94e7" providerId="ADAL" clId="{113E8587-2806-4E56-B9A9-38E1BCA19B6F}" dt="2026-07-05T23:59:31.254" v="6798" actId="14100"/>
          <ac:spMkLst>
            <pc:docMk/>
            <pc:sldMk cId="466963560" sldId="293"/>
            <ac:spMk id="11" creationId="{81D551B9-6FE2-9B1C-C781-DAF4936290A2}"/>
          </ac:spMkLst>
        </pc:spChg>
        <pc:spChg chg="add del">
          <ac:chgData name="高本　英熙" userId="8c170229-89c6-4cfb-bfe7-e9318e5c94e7" providerId="ADAL" clId="{113E8587-2806-4E56-B9A9-38E1BCA19B6F}" dt="2026-07-05T23:53:58.097" v="6593" actId="478"/>
          <ac:spMkLst>
            <pc:docMk/>
            <pc:sldMk cId="466963560" sldId="293"/>
            <ac:spMk id="12" creationId="{912D191C-412C-04DE-0DB5-ABCDCE55C9C8}"/>
          </ac:spMkLst>
        </pc:spChg>
        <pc:spChg chg="add mod">
          <ac:chgData name="高本　英熙" userId="8c170229-89c6-4cfb-bfe7-e9318e5c94e7" providerId="ADAL" clId="{113E8587-2806-4E56-B9A9-38E1BCA19B6F}" dt="2026-07-05T23:56:52.104" v="6649" actId="1076"/>
          <ac:spMkLst>
            <pc:docMk/>
            <pc:sldMk cId="466963560" sldId="293"/>
            <ac:spMk id="17" creationId="{03E5590C-BB32-7503-7EA7-ADC501920DB7}"/>
          </ac:spMkLst>
        </pc:spChg>
        <pc:spChg chg="add mod">
          <ac:chgData name="高本　英熙" userId="8c170229-89c6-4cfb-bfe7-e9318e5c94e7" providerId="ADAL" clId="{113E8587-2806-4E56-B9A9-38E1BCA19B6F}" dt="2026-07-06T00:01:42.299" v="6880" actId="1038"/>
          <ac:spMkLst>
            <pc:docMk/>
            <pc:sldMk cId="466963560" sldId="293"/>
            <ac:spMk id="19" creationId="{D6599CF9-A432-6EED-5327-F8838F704C58}"/>
          </ac:spMkLst>
        </pc:spChg>
        <pc:spChg chg="add mod">
          <ac:chgData name="高本　英熙" userId="8c170229-89c6-4cfb-bfe7-e9318e5c94e7" providerId="ADAL" clId="{113E8587-2806-4E56-B9A9-38E1BCA19B6F}" dt="2026-07-05T23:58:20.674" v="6772" actId="1076"/>
          <ac:spMkLst>
            <pc:docMk/>
            <pc:sldMk cId="466963560" sldId="293"/>
            <ac:spMk id="21" creationId="{8EA4190A-EB78-D09A-793E-16A4E95A0AB4}"/>
          </ac:spMkLst>
        </pc:spChg>
        <pc:spChg chg="add">
          <ac:chgData name="高本　英熙" userId="8c170229-89c6-4cfb-bfe7-e9318e5c94e7" providerId="ADAL" clId="{113E8587-2806-4E56-B9A9-38E1BCA19B6F}" dt="2026-07-05T23:57:56.472" v="6742" actId="22"/>
          <ac:spMkLst>
            <pc:docMk/>
            <pc:sldMk cId="466963560" sldId="293"/>
            <ac:spMk id="23" creationId="{2E49219E-C08A-2299-EDFA-FF3DA60FED8D}"/>
          </ac:spMkLst>
        </pc:spChg>
        <pc:spChg chg="add mod">
          <ac:chgData name="高本　英熙" userId="8c170229-89c6-4cfb-bfe7-e9318e5c94e7" providerId="ADAL" clId="{113E8587-2806-4E56-B9A9-38E1BCA19B6F}" dt="2026-07-06T00:00:42.823" v="6815" actId="1076"/>
          <ac:spMkLst>
            <pc:docMk/>
            <pc:sldMk cId="466963560" sldId="293"/>
            <ac:spMk id="33" creationId="{F3D95C33-05A3-7060-E756-2E62A44C4C9E}"/>
          </ac:spMkLst>
        </pc:spChg>
        <pc:spChg chg="add mod">
          <ac:chgData name="高本　英熙" userId="8c170229-89c6-4cfb-bfe7-e9318e5c94e7" providerId="ADAL" clId="{113E8587-2806-4E56-B9A9-38E1BCA19B6F}" dt="2026-07-06T00:00:46.873" v="6816" actId="1076"/>
          <ac:spMkLst>
            <pc:docMk/>
            <pc:sldMk cId="466963560" sldId="293"/>
            <ac:spMk id="35" creationId="{BB295CF6-0275-FD02-1B26-BB346914FFF8}"/>
          </ac:spMkLst>
        </pc:spChg>
        <pc:spChg chg="add mod">
          <ac:chgData name="高本　英熙" userId="8c170229-89c6-4cfb-bfe7-e9318e5c94e7" providerId="ADAL" clId="{113E8587-2806-4E56-B9A9-38E1BCA19B6F}" dt="2026-07-06T00:01:47.075" v="6881" actId="1076"/>
          <ac:spMkLst>
            <pc:docMk/>
            <pc:sldMk cId="466963560" sldId="293"/>
            <ac:spMk id="37" creationId="{DD9476FF-2C55-60F5-07F7-E72723BD8D3C}"/>
          </ac:spMkLst>
        </pc:spChg>
        <pc:picChg chg="add mod">
          <ac:chgData name="高本　英熙" userId="8c170229-89c6-4cfb-bfe7-e9318e5c94e7" providerId="ADAL" clId="{113E8587-2806-4E56-B9A9-38E1BCA19B6F}" dt="2026-07-05T23:54:39.235" v="6608" actId="1076"/>
          <ac:picMkLst>
            <pc:docMk/>
            <pc:sldMk cId="466963560" sldId="293"/>
            <ac:picMk id="8" creationId="{1DAF559C-9A0F-AAA9-A1FA-EAF91EE4D006}"/>
          </ac:picMkLst>
        </pc:picChg>
        <pc:picChg chg="add mod">
          <ac:chgData name="高本　英熙" userId="8c170229-89c6-4cfb-bfe7-e9318e5c94e7" providerId="ADAL" clId="{113E8587-2806-4E56-B9A9-38E1BCA19B6F}" dt="2026-07-05T23:55:54.265" v="6622" actId="1076"/>
          <ac:picMkLst>
            <pc:docMk/>
            <pc:sldMk cId="466963560" sldId="293"/>
            <ac:picMk id="13" creationId="{1B5BDDDA-AAAC-5B75-7473-457DD94DC136}"/>
          </ac:picMkLst>
        </pc:picChg>
        <pc:picChg chg="add mod">
          <ac:chgData name="高本　英熙" userId="8c170229-89c6-4cfb-bfe7-e9318e5c94e7" providerId="ADAL" clId="{113E8587-2806-4E56-B9A9-38E1BCA19B6F}" dt="2026-07-06T00:01:37.595" v="6866" actId="1037"/>
          <ac:picMkLst>
            <pc:docMk/>
            <pc:sldMk cId="466963560" sldId="293"/>
            <ac:picMk id="14" creationId="{32893FA0-0B1C-EA23-97FA-75A44D562DA2}"/>
          </ac:picMkLst>
        </pc:picChg>
        <pc:picChg chg="add mod">
          <ac:chgData name="高本　英熙" userId="8c170229-89c6-4cfb-bfe7-e9318e5c94e7" providerId="ADAL" clId="{113E8587-2806-4E56-B9A9-38E1BCA19B6F}" dt="2026-07-05T23:57:50.675" v="6740" actId="1076"/>
          <ac:picMkLst>
            <pc:docMk/>
            <pc:sldMk cId="466963560" sldId="293"/>
            <ac:picMk id="16" creationId="{6DBC1607-157D-C3DE-0797-59ED57380AE6}"/>
          </ac:picMkLst>
        </pc:picChg>
        <pc:cxnChg chg="add mod">
          <ac:chgData name="高本　英熙" userId="8c170229-89c6-4cfb-bfe7-e9318e5c94e7" providerId="ADAL" clId="{113E8587-2806-4E56-B9A9-38E1BCA19B6F}" dt="2026-07-05T23:58:46.326" v="6777" actId="14100"/>
          <ac:cxnSpMkLst>
            <pc:docMk/>
            <pc:sldMk cId="466963560" sldId="293"/>
            <ac:cxnSpMk id="25" creationId="{C693C684-022D-4CFE-AC5D-EF24F4461493}"/>
          </ac:cxnSpMkLst>
        </pc:cxnChg>
        <pc:cxnChg chg="add mod">
          <ac:chgData name="高本　英熙" userId="8c170229-89c6-4cfb-bfe7-e9318e5c94e7" providerId="ADAL" clId="{113E8587-2806-4E56-B9A9-38E1BCA19B6F}" dt="2026-07-05T23:58:55.195" v="6780" actId="14100"/>
          <ac:cxnSpMkLst>
            <pc:docMk/>
            <pc:sldMk cId="466963560" sldId="293"/>
            <ac:cxnSpMk id="27" creationId="{C9F7EE80-87A3-FB70-8B27-B6D5554E635E}"/>
          </ac:cxnSpMkLst>
        </pc:cxnChg>
        <pc:cxnChg chg="add mod">
          <ac:chgData name="高本　英熙" userId="8c170229-89c6-4cfb-bfe7-e9318e5c94e7" providerId="ADAL" clId="{113E8587-2806-4E56-B9A9-38E1BCA19B6F}" dt="2026-07-06T00:01:37.595" v="6866" actId="1037"/>
          <ac:cxnSpMkLst>
            <pc:docMk/>
            <pc:sldMk cId="466963560" sldId="293"/>
            <ac:cxnSpMk id="29" creationId="{FE24E47F-D803-4E43-0232-A63215CA387C}"/>
          </ac:cxnSpMkLst>
        </pc:cxnChg>
      </pc:sldChg>
      <pc:sldChg chg="addSp delSp modSp add mod ord">
        <pc:chgData name="高本　英熙" userId="8c170229-89c6-4cfb-bfe7-e9318e5c94e7" providerId="ADAL" clId="{113E8587-2806-4E56-B9A9-38E1BCA19B6F}" dt="2026-06-18T03:04:36.446" v="6569" actId="478"/>
        <pc:sldMkLst>
          <pc:docMk/>
          <pc:sldMk cId="819664589" sldId="295"/>
        </pc:sldMkLst>
        <pc:spChg chg="add del">
          <ac:chgData name="高本　英熙" userId="8c170229-89c6-4cfb-bfe7-e9318e5c94e7" providerId="ADAL" clId="{113E8587-2806-4E56-B9A9-38E1BCA19B6F}" dt="2026-06-18T03:04:36.446" v="6569" actId="478"/>
          <ac:spMkLst>
            <pc:docMk/>
            <pc:sldMk cId="819664589" sldId="295"/>
            <ac:spMk id="3" creationId="{478228B9-C666-4E59-5E86-0E4AF2670151}"/>
          </ac:spMkLst>
        </pc:spChg>
      </pc:sldChg>
      <pc:sldChg chg="addSp modSp mod">
        <pc:chgData name="高本　英熙" userId="8c170229-89c6-4cfb-bfe7-e9318e5c94e7" providerId="ADAL" clId="{113E8587-2806-4E56-B9A9-38E1BCA19B6F}" dt="2026-07-06T00:40:32.496" v="6936" actId="1076"/>
        <pc:sldMkLst>
          <pc:docMk/>
          <pc:sldMk cId="824838786" sldId="298"/>
        </pc:sldMkLst>
        <pc:spChg chg="mod">
          <ac:chgData name="高本　英熙" userId="8c170229-89c6-4cfb-bfe7-e9318e5c94e7" providerId="ADAL" clId="{113E8587-2806-4E56-B9A9-38E1BCA19B6F}" dt="2026-07-06T00:03:12.639" v="6895"/>
          <ac:spMkLst>
            <pc:docMk/>
            <pc:sldMk cId="824838786" sldId="298"/>
            <ac:spMk id="6" creationId="{A130073B-E4CF-CC25-8D5A-B4F50C379285}"/>
          </ac:spMkLst>
        </pc:spChg>
        <pc:spChg chg="mod">
          <ac:chgData name="高本　英熙" userId="8c170229-89c6-4cfb-bfe7-e9318e5c94e7" providerId="ADAL" clId="{113E8587-2806-4E56-B9A9-38E1BCA19B6F}" dt="2026-07-06T00:02:51.317" v="6888" actId="207"/>
          <ac:spMkLst>
            <pc:docMk/>
            <pc:sldMk cId="824838786" sldId="298"/>
            <ac:spMk id="8" creationId="{6617CC22-80E5-6C08-6A54-D96B24371D34}"/>
          </ac:spMkLst>
        </pc:spChg>
        <pc:picChg chg="add mod">
          <ac:chgData name="高本　英熙" userId="8c170229-89c6-4cfb-bfe7-e9318e5c94e7" providerId="ADAL" clId="{113E8587-2806-4E56-B9A9-38E1BCA19B6F}" dt="2026-07-06T00:40:32.496" v="6936" actId="1076"/>
          <ac:picMkLst>
            <pc:docMk/>
            <pc:sldMk cId="824838786" sldId="298"/>
            <ac:picMk id="7" creationId="{A848BF7D-B04B-C9A9-D9E9-E8BB0BA654C9}"/>
          </ac:picMkLst>
        </pc:picChg>
      </pc:sldChg>
      <pc:sldChg chg="modSp mod">
        <pc:chgData name="高本　英熙" userId="8c170229-89c6-4cfb-bfe7-e9318e5c94e7" providerId="ADAL" clId="{113E8587-2806-4E56-B9A9-38E1BCA19B6F}" dt="2026-07-06T00:10:51.321" v="6933" actId="207"/>
        <pc:sldMkLst>
          <pc:docMk/>
          <pc:sldMk cId="2243542280" sldId="300"/>
        </pc:sldMkLst>
        <pc:spChg chg="mod">
          <ac:chgData name="高本　英熙" userId="8c170229-89c6-4cfb-bfe7-e9318e5c94e7" providerId="ADAL" clId="{113E8587-2806-4E56-B9A9-38E1BCA19B6F}" dt="2026-07-06T00:10:51.321" v="6933" actId="207"/>
          <ac:spMkLst>
            <pc:docMk/>
            <pc:sldMk cId="2243542280" sldId="300"/>
            <ac:spMk id="5" creationId="{F9D4F429-DB6C-9605-7A1E-12F3007271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80C97-2400-5344-89F3-3CED47A68B44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54EC6-2177-1447-9798-A1A3B80469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62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7201" y="7340600"/>
            <a:ext cx="12431685" cy="2125436"/>
          </a:xfrm>
        </p:spPr>
        <p:txBody>
          <a:bodyPr anchor="b"/>
          <a:lstStyle>
            <a:lvl1pPr algn="l">
              <a:defRPr sz="4800" spc="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7201" y="9794966"/>
            <a:ext cx="12431684" cy="2351314"/>
          </a:xfrm>
        </p:spPr>
        <p:txBody>
          <a:bodyPr/>
          <a:lstStyle>
            <a:lvl1pPr marL="0" indent="0" algn="l">
              <a:lnSpc>
                <a:spcPct val="50000"/>
              </a:lnSpc>
              <a:buNone/>
              <a:defRPr sz="3600" b="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69BD-F0A9-D945-85B5-A92D8C4A6243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DAD6F10-9E3C-081C-FAC9-2F96D835D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6261101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プレースホルダー 8">
            <a:extLst>
              <a:ext uri="{FF2B5EF4-FFF2-40B4-BE49-F238E27FC236}">
                <a16:creationId xmlns:a16="http://schemas.microsoft.com/office/drawing/2014/main" id="{3A47DA29-0B22-B527-E246-85A23FDB4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6261101"/>
            <a:ext cx="5625347" cy="698499"/>
          </a:xfrm>
        </p:spPr>
        <p:txBody>
          <a:bodyPr/>
          <a:lstStyle>
            <a:lvl1pPr algn="l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8">
            <a:extLst>
              <a:ext uri="{FF2B5EF4-FFF2-40B4-BE49-F238E27FC236}">
                <a16:creationId xmlns:a16="http://schemas.microsoft.com/office/drawing/2014/main" id="{3ABD93C0-C51C-2948-0F33-2EF4B6841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5413377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9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300" y="4192765"/>
            <a:ext cx="4965808" cy="1795335"/>
          </a:xfrm>
        </p:spPr>
        <p:txBody>
          <a:bodyPr anchor="b"/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89" y="7727900"/>
            <a:ext cx="21029831" cy="3000374"/>
          </a:xfrm>
        </p:spPr>
        <p:txBody>
          <a:bodyPr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E95FB-2235-2F42-91D0-8B9F16BE7B80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72E8AAC-513B-BB73-EF3E-6F21C4AF6A77}"/>
              </a:ext>
            </a:extLst>
          </p:cNvPr>
          <p:cNvCxnSpPr>
            <a:cxnSpLocks/>
          </p:cNvCxnSpPr>
          <p:nvPr userDrawn="1"/>
        </p:nvCxnSpPr>
        <p:spPr>
          <a:xfrm>
            <a:off x="11254952" y="6858000"/>
            <a:ext cx="187250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0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D544-ACEE-1142-A4DF-052F81DCAF13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B145F9-61C6-1870-CE50-37506B7E4EF4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F50C3F1-B75F-641D-E1E6-1F294927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E492A956-CAE0-D5AA-479B-E4092A515B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78" y="3104429"/>
            <a:ext cx="23020979" cy="923157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5796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DA76-1C10-5547-91CE-253BD16E32D7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1F1367-EF0A-04AE-AFD2-52203BA9B461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BD7C03-F771-50FA-D028-B0B57FCA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4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E895-CCE5-A241-A85F-670DB4C916C8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85F9C02-29EC-4168-A599-AFD3B71ED2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114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6165EC21-36B4-4CED-0569-C34ACFFC9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29459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4CDC5CE-C770-E9C3-1E4D-6212C3663B46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35E37F-0840-6232-8803-D48BDEAF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19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C7F2-45E9-0742-99C2-D62F245DFEC9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0F6B-7CC3-BA66-8706-C8D1A03DEF8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66772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965DEA-F2AC-C400-E7ED-BAFF867547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387489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B933D9F-832B-F250-4F5E-DAE6908F11E3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1769203-2FFD-5719-E5E3-03D44766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78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9897-8C2A-CB44-93BE-9BFBC7559B74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2D417ACA-1B7B-F655-60FA-EDD80F82E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8EEB2B-456E-ACC0-29AE-C347BAE7F46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49492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6F409C7A-D2E8-2D36-6086-331B6DCB40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4925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6D87F6-15FE-35D7-1017-BB745C23F61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6350303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3B277172-6A10-80CC-49F6-E3A8C94583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305736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72F0D1-EDE6-B44F-F2E0-07808CD789E1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B67D214-EA92-EBAC-E348-F2B64AEE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8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D5255CE-EDA5-FC08-AA33-393911495587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550938-5557-FDF2-81E7-A0E4ECFE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93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C9B2C448-12D1-42AE-F7D0-C8AED70F60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C1871C9F-CBB5-6510-4C84-37F671317E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432350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E5E7CD5A-D74B-3BF3-1D34-C6BC3F8555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4114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2F9C9DEC-0751-3E49-640C-C623BA9835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432350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1720B6C-B210-43B1-1AB7-027982538568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293062D-F65D-7DDF-C8F8-4EF21427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140" y="1358425"/>
            <a:ext cx="22348217" cy="155045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09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5357813"/>
            <a:ext cx="21029831" cy="3000374"/>
          </a:xfrm>
        </p:spPr>
        <p:txBody>
          <a:bodyPr anchor="ctr"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6E1F-697B-864D-A8BC-B9F203AEA5AC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9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052" y="1391479"/>
            <a:ext cx="23290306" cy="109624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6FE-1092-FD42-9AC0-B69E5809E0EF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08457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D81ED4-89BB-3EE2-6C17-D43E4202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30E5-DC19-8048-9011-93E4E558FEAD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10C15D-5253-4B6F-2011-0EA319D8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68FD91C-C376-AFB5-7A3C-48D62AFD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407510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5492" y="12744452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230E5-DC19-8048-9011-93E4E558FEAD}" type="datetime1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5408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61645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9" r:id="rId4"/>
    <p:sldLayoutId id="2147483683" r:id="rId5"/>
    <p:sldLayoutId id="2147483684" r:id="rId6"/>
    <p:sldLayoutId id="2147483680" r:id="rId7"/>
    <p:sldLayoutId id="2147483681" r:id="rId8"/>
    <p:sldLayoutId id="2147483686" r:id="rId9"/>
    <p:sldLayoutId id="2147483685" r:id="rId10"/>
    <p:sldLayoutId id="2147483682" r:id="rId11"/>
    <p:sldLayoutId id="2147483687" r:id="rId12"/>
  </p:sldLayoutIdLst>
  <p:hf hdr="0" ft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5600" b="1" i="0" kern="1200" spc="3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4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b="0" i="0" kern="1200">
          <a:solidFill>
            <a:schemeClr val="tx2"/>
          </a:solidFill>
          <a:latin typeface="+mn-ea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b="0" i="0" kern="1200">
          <a:solidFill>
            <a:schemeClr val="tx2"/>
          </a:solidFill>
          <a:latin typeface="+mn-ea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b="0" i="0" kern="1200">
          <a:solidFill>
            <a:schemeClr val="tx2"/>
          </a:solidFill>
          <a:latin typeface="+mn-ea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b="0" i="0" kern="1200">
          <a:solidFill>
            <a:schemeClr val="tx2"/>
          </a:solidFill>
          <a:latin typeface="+mn-ea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7/1.OE.63.4.041206" TargetMode="External"/><Relationship Id="rId2" Type="http://schemas.openxmlformats.org/officeDocument/2006/relationships/hyperlink" Target="https://doi.org/10.3390/app13095502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oi.org/10.1109/LGRS.2022.3161350" TargetMode="External"/><Relationship Id="rId5" Type="http://schemas.openxmlformats.org/officeDocument/2006/relationships/hyperlink" Target="https://doi.org/10.3390/rs17050762" TargetMode="External"/><Relationship Id="rId4" Type="http://schemas.openxmlformats.org/officeDocument/2006/relationships/hyperlink" Target="https://doi.org/10.1016/j.optcom.2021.127035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EF8D53-DFAD-2781-7D58-CDDA68ED3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7201" y="7450327"/>
            <a:ext cx="13621711" cy="4398707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Feedforward and Adaptive Correction of</a:t>
            </a:r>
            <a:br>
              <a:rPr lang="en-US" altLang="ja-JP" sz="3600" dirty="0"/>
            </a:br>
            <a:r>
              <a:rPr lang="en-US" altLang="ja-JP" sz="3600" dirty="0"/>
              <a:t>Time-Varying Thermal Bias for Coarse Acquisition in Optical Communication Systems</a:t>
            </a:r>
            <a:br>
              <a:rPr lang="en-US" altLang="ja-JP" sz="3600" dirty="0"/>
            </a:br>
            <a:br>
              <a:rPr lang="en-US" altLang="ja-JP" sz="3600" dirty="0"/>
            </a:br>
            <a:r>
              <a:rPr lang="ja-JP" altLang="en-US" sz="3600" dirty="0"/>
              <a:t>熱ひずみ予測と適応補正による</a:t>
            </a:r>
            <a:br>
              <a:rPr lang="en-US" altLang="ja-JP" sz="3600" dirty="0"/>
            </a:br>
            <a:r>
              <a:rPr lang="ja-JP" altLang="en-US" sz="3600" dirty="0"/>
              <a:t>光通信粗捕捉性能向上の検討</a:t>
            </a:r>
            <a:br>
              <a:rPr lang="en-US" altLang="ja-JP" sz="3600" dirty="0"/>
            </a:br>
            <a:endParaRPr kumimoji="1" lang="ja-JP" altLang="en-US" sz="36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102AA9-45EB-C4FA-A1D0-A77A903D2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201" y="12066714"/>
            <a:ext cx="12431684" cy="1158558"/>
          </a:xfrm>
        </p:spPr>
        <p:txBody>
          <a:bodyPr/>
          <a:lstStyle/>
          <a:p>
            <a:pPr>
              <a:lnSpc>
                <a:spcPct val="50000"/>
              </a:lnSpc>
            </a:pPr>
            <a:r>
              <a:rPr lang="en-US" altLang="ja-JP" b="1" dirty="0"/>
              <a:t>Hideki Takamoto </a:t>
            </a:r>
            <a:r>
              <a:rPr kumimoji="1" lang="en-US" altLang="ja-JP" dirty="0"/>
              <a:t>(The University of Tokyo)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D366E8-10A6-FE33-D7F0-BCE65C677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6114668"/>
            <a:ext cx="5625347" cy="698499"/>
          </a:xfrm>
        </p:spPr>
        <p:txBody>
          <a:bodyPr/>
          <a:lstStyle/>
          <a:p>
            <a:r>
              <a:rPr kumimoji="1" lang="en-US" altLang="ja-JP" dirty="0"/>
              <a:t>2026/07/06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B66ACC2-84FB-08AA-2D48-20C1AB8643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01600" y="5431536"/>
            <a:ext cx="9307285" cy="883057"/>
          </a:xfrm>
        </p:spPr>
        <p:txBody>
          <a:bodyPr>
            <a:normAutofit/>
          </a:bodyPr>
          <a:lstStyle/>
          <a:p>
            <a:r>
              <a:rPr lang="en-US" altLang="ja-JP" dirty="0"/>
              <a:t>Master Seminar research presentation</a:t>
            </a:r>
            <a:endParaRPr kumimoji="1"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D1A49C-D906-D56C-8B01-F4742C0F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41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FDC0-C27B-B493-3C2D-059C292E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8B41D-FF1E-4763-6671-DFB2F2AA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67EB63-24C6-48D7-191A-DC6168F96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5575D9-B9A5-42E2-7F16-B765F5D6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510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EBB4-3CC5-F8FB-2C41-BAB1B0CC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D62855-6990-5087-E803-43325AFB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1811175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光通信粗捕捉では初期指向誤差が捕捉時間を支配する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8E64BC6-99C7-C66C-16D1-A7B48D2B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716AC3-1663-80A7-F6F3-9EB8958B92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4677762-1FA7-C10D-586A-7A0787B23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663" y="3804527"/>
            <a:ext cx="11364543" cy="7442593"/>
          </a:xfrm>
        </p:spPr>
        <p:txBody>
          <a:bodyPr/>
          <a:lstStyle/>
          <a:p>
            <a:r>
              <a:rPr lang="ja-JP" altLang="en-US" dirty="0"/>
              <a:t>光通信ではビーム幅が小さいため，</a:t>
            </a:r>
            <a:r>
              <a:rPr lang="ja-JP" altLang="en-US" dirty="0">
                <a:solidFill>
                  <a:srgbClr val="FF0000"/>
                </a:solidFill>
              </a:rPr>
              <a:t>初期指向誤差</a:t>
            </a:r>
            <a:r>
              <a:rPr lang="ja-JP" altLang="en-US" dirty="0"/>
              <a:t>が大きいと相手機をすぐに視野内へ入れられない</a:t>
            </a:r>
          </a:p>
          <a:p>
            <a:endParaRPr lang="ja-JP" altLang="en-US" dirty="0"/>
          </a:p>
          <a:p>
            <a:r>
              <a:rPr lang="ja-JP" altLang="en-US" dirty="0"/>
              <a:t>粗捕捉では受信光フィードバックがまだ使えないため，初期指向誤差を含む不確定領域をスキャンすることが多い</a:t>
            </a:r>
            <a:r>
              <a:rPr lang="ja-JP" altLang="en-US" sz="3600" b="0" dirty="0"/>
              <a:t> </a:t>
            </a:r>
            <a:r>
              <a:rPr lang="en-US" altLang="ja-JP" sz="3600" b="0" dirty="0"/>
              <a:t>[1]</a:t>
            </a:r>
            <a:endParaRPr lang="ja-JP" altLang="en-US" sz="3600" b="0" dirty="0"/>
          </a:p>
          <a:p>
            <a:endParaRPr lang="ja-JP" altLang="en-US" dirty="0"/>
          </a:p>
          <a:p>
            <a:r>
              <a:rPr lang="ja-JP" altLang="en-US" dirty="0"/>
              <a:t>不確定領域の拡大は，捕捉時間・再捕捉時間の増加につながる </a:t>
            </a:r>
            <a:endParaRPr kumimoji="1" lang="ja-JP" altLang="en-US" dirty="0"/>
          </a:p>
        </p:txBody>
      </p:sp>
      <p:pic>
        <p:nvPicPr>
          <p:cNvPr id="1026" name="Picture 2" descr="シンプルな人工衛星イラストのフリー素材｜イラストイメージ">
            <a:extLst>
              <a:ext uri="{FF2B5EF4-FFF2-40B4-BE49-F238E27FC236}">
                <a16:creationId xmlns:a16="http://schemas.microsoft.com/office/drawing/2014/main" id="{98EF8B65-88CC-CE04-4AAF-8EE6CD762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9039" y="9859571"/>
            <a:ext cx="2498004" cy="249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シンプルな人工衛星イラストのフリー素材｜イラストイメージ">
            <a:extLst>
              <a:ext uri="{FF2B5EF4-FFF2-40B4-BE49-F238E27FC236}">
                <a16:creationId xmlns:a16="http://schemas.microsoft.com/office/drawing/2014/main" id="{E41D9508-38B6-A020-ED12-5C3690049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2288" y="4391332"/>
            <a:ext cx="2279640" cy="227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A8C9B635-4568-A65D-E422-124DF8082BE8}"/>
              </a:ext>
            </a:extLst>
          </p:cNvPr>
          <p:cNvSpPr/>
          <p:nvPr/>
        </p:nvSpPr>
        <p:spPr>
          <a:xfrm>
            <a:off x="18210414" y="2932853"/>
            <a:ext cx="4769658" cy="4901184"/>
          </a:xfrm>
          <a:prstGeom prst="ellipse">
            <a:avLst/>
          </a:prstGeom>
          <a:solidFill>
            <a:srgbClr val="00B05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E93D915-6698-FA74-FB3A-4FE863F8E03F}"/>
              </a:ext>
            </a:extLst>
          </p:cNvPr>
          <p:cNvSpPr txBox="1"/>
          <p:nvPr/>
        </p:nvSpPr>
        <p:spPr>
          <a:xfrm>
            <a:off x="20395244" y="7926265"/>
            <a:ext cx="442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solidFill>
                  <a:srgbClr val="00B050"/>
                </a:solidFill>
              </a:rPr>
              <a:t>Uncertainty Region</a:t>
            </a:r>
            <a:endParaRPr kumimoji="1" lang="ja-JP" altLang="en-US" sz="3200" dirty="0">
              <a:solidFill>
                <a:srgbClr val="00B050"/>
              </a:solidFill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7616AA9E-7282-6F29-325A-FE5AD7C9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900708" y="2229835"/>
            <a:ext cx="5486043" cy="5486043"/>
          </a:xfrm>
          <a:prstGeom prst="rect">
            <a:avLst/>
          </a:prstGeom>
        </p:spPr>
      </p:pic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53C4FE3C-A1E4-CB8E-CD9E-7B8482D274C2}"/>
              </a:ext>
            </a:extLst>
          </p:cNvPr>
          <p:cNvCxnSpPr/>
          <p:nvPr/>
        </p:nvCxnSpPr>
        <p:spPr>
          <a:xfrm flipH="1">
            <a:off x="15957043" y="4953000"/>
            <a:ext cx="3612293" cy="500184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楕円 36">
            <a:extLst>
              <a:ext uri="{FF2B5EF4-FFF2-40B4-BE49-F238E27FC236}">
                <a16:creationId xmlns:a16="http://schemas.microsoft.com/office/drawing/2014/main" id="{AF5931B1-6401-D273-C3AE-AFC361A293C0}"/>
              </a:ext>
            </a:extLst>
          </p:cNvPr>
          <p:cNvSpPr/>
          <p:nvPr/>
        </p:nvSpPr>
        <p:spPr>
          <a:xfrm>
            <a:off x="17399182" y="5002176"/>
            <a:ext cx="914400" cy="914400"/>
          </a:xfrm>
          <a:prstGeom prst="ellipse">
            <a:avLst/>
          </a:prstGeom>
          <a:solidFill>
            <a:srgbClr val="FFC000">
              <a:alpha val="4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2F96004E-5D96-A63B-DB68-1923179B6A8F}"/>
              </a:ext>
            </a:extLst>
          </p:cNvPr>
          <p:cNvCxnSpPr>
            <a:cxnSpLocks/>
          </p:cNvCxnSpPr>
          <p:nvPr/>
        </p:nvCxnSpPr>
        <p:spPr>
          <a:xfrm flipV="1">
            <a:off x="15792450" y="5531152"/>
            <a:ext cx="2063932" cy="4423692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852115F-34A5-4BC6-19CD-E7C5E60F662C}"/>
              </a:ext>
            </a:extLst>
          </p:cNvPr>
          <p:cNvCxnSpPr>
            <a:cxnSpLocks/>
          </p:cNvCxnSpPr>
          <p:nvPr/>
        </p:nvCxnSpPr>
        <p:spPr>
          <a:xfrm flipH="1">
            <a:off x="15957043" y="5685860"/>
            <a:ext cx="4600659" cy="431324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ED4796B-8E30-C083-0EBC-20F1B9855992}"/>
              </a:ext>
            </a:extLst>
          </p:cNvPr>
          <p:cNvSpPr txBox="1"/>
          <p:nvPr/>
        </p:nvSpPr>
        <p:spPr>
          <a:xfrm>
            <a:off x="16000372" y="3446894"/>
            <a:ext cx="2639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chemeClr val="accent3"/>
                </a:solidFill>
              </a:rPr>
              <a:t>Scan Area</a:t>
            </a:r>
            <a:endParaRPr kumimoji="1" lang="ja-JP" altLang="en-US" sz="3200" dirty="0">
              <a:solidFill>
                <a:schemeClr val="accent3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44191EA-596D-2117-D6BD-11187F84183D}"/>
              </a:ext>
            </a:extLst>
          </p:cNvPr>
          <p:cNvSpPr txBox="1"/>
          <p:nvPr/>
        </p:nvSpPr>
        <p:spPr>
          <a:xfrm>
            <a:off x="15155621" y="4948285"/>
            <a:ext cx="2639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chemeClr val="accent3"/>
                </a:solidFill>
              </a:rPr>
              <a:t>Beam Divergence</a:t>
            </a:r>
            <a:endParaRPr kumimoji="1" lang="ja-JP" altLang="en-US" sz="3200" dirty="0">
              <a:solidFill>
                <a:schemeClr val="accent3"/>
              </a:solidFill>
            </a:endParaRPr>
          </a:p>
        </p:txBody>
      </p:sp>
      <p:sp>
        <p:nvSpPr>
          <p:cNvPr id="46" name="円弧 45">
            <a:extLst>
              <a:ext uri="{FF2B5EF4-FFF2-40B4-BE49-F238E27FC236}">
                <a16:creationId xmlns:a16="http://schemas.microsoft.com/office/drawing/2014/main" id="{4BB9D104-281E-A148-A1F6-56428F205CBC}"/>
              </a:ext>
            </a:extLst>
          </p:cNvPr>
          <p:cNvSpPr/>
          <p:nvPr/>
        </p:nvSpPr>
        <p:spPr>
          <a:xfrm>
            <a:off x="17262379" y="7814230"/>
            <a:ext cx="651647" cy="634508"/>
          </a:xfrm>
          <a:prstGeom prst="arc">
            <a:avLst>
              <a:gd name="adj1" fmla="val 16200000"/>
              <a:gd name="adj2" fmla="val 21382646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9C3115CF-7E25-F323-6A65-E77F3C5EEC1E}"/>
                  </a:ext>
                </a:extLst>
              </p:cNvPr>
              <p:cNvSpPr txBox="1"/>
              <p:nvPr/>
            </p:nvSpPr>
            <p:spPr>
              <a:xfrm>
                <a:off x="17381324" y="9654165"/>
                <a:ext cx="4424829" cy="1778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600" b="1" dirty="0">
                    <a:solidFill>
                      <a:srgbClr val="FF0000"/>
                    </a:solidFill>
                  </a:rPr>
                  <a:t>Initial Pointing Error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3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kumimoji="1" lang="en-US" altLang="ja-JP" sz="3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ja-JP" sz="3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kumimoji="1" lang="en-US" altLang="ja-JP" sz="3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𝒊𝒏𝒊𝒕</m:t>
                        </m:r>
                      </m:sub>
                    </m:sSub>
                  </m:oMath>
                </a14:m>
                <a:endParaRPr kumimoji="1" lang="en-US" altLang="ja-JP" sz="3600" b="1" dirty="0">
                  <a:solidFill>
                    <a:srgbClr val="FF0000"/>
                  </a:solidFill>
                </a:endParaRPr>
              </a:p>
              <a:p>
                <a:endParaRPr kumimoji="1" lang="en-US" altLang="ja-JP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9C3115CF-7E25-F323-6A65-E77F3C5EE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1324" y="9654165"/>
                <a:ext cx="4424829" cy="1778244"/>
              </a:xfrm>
              <a:prstGeom prst="rect">
                <a:avLst/>
              </a:prstGeom>
              <a:blipFill>
                <a:blip r:embed="rId4"/>
                <a:stretch>
                  <a:fillRect l="-4132" t="-54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1DA3434E-DC49-E102-ACDF-DF6E874D4B19}"/>
              </a:ext>
            </a:extLst>
          </p:cNvPr>
          <p:cNvCxnSpPr>
            <a:cxnSpLocks/>
          </p:cNvCxnSpPr>
          <p:nvPr/>
        </p:nvCxnSpPr>
        <p:spPr>
          <a:xfrm>
            <a:off x="17763189" y="7963790"/>
            <a:ext cx="627598" cy="1785134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0131E6BB-222D-A3C4-3CBA-39FFE20EC884}"/>
                  </a:ext>
                </a:extLst>
              </p:cNvPr>
              <p:cNvSpPr txBox="1"/>
              <p:nvPr/>
            </p:nvSpPr>
            <p:spPr>
              <a:xfrm>
                <a:off x="2576260" y="10254329"/>
                <a:ext cx="10724228" cy="68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3600" dirty="0"/>
                  <a:t>捕捉時間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  <m:t>𝑎𝑐𝑞</m:t>
                        </m:r>
                      </m:sub>
                    </m:sSub>
                  </m:oMath>
                </a14:m>
                <a:r>
                  <a:rPr kumimoji="1" lang="ja-JP" altLang="en-US" sz="3600" dirty="0"/>
                  <a:t> ∝</a:t>
                </a:r>
                <a:r>
                  <a:rPr kumimoji="1" lang="en-US" altLang="ja-JP" sz="3600" dirty="0"/>
                  <a:t> </a:t>
                </a:r>
                <a:r>
                  <a:rPr kumimoji="1" lang="ja-JP" altLang="en-US" sz="3600" dirty="0"/>
                  <a:t>不確定領域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kumimoji="1" lang="en-US" altLang="ja-JP" sz="3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3600" i="1" dirty="0">
                    <a:latin typeface="Cambria Math" panose="02040503050406030204" pitchFamily="18" charset="0"/>
                  </a:rPr>
                  <a:t>　</a:t>
                </a:r>
                <a:r>
                  <a:rPr kumimoji="1" lang="en-US" altLang="ja-JP" sz="2800" dirty="0"/>
                  <a:t>[2]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0131E6BB-222D-A3C4-3CBA-39FFE20EC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260" y="10254329"/>
                <a:ext cx="10724228" cy="689099"/>
              </a:xfrm>
              <a:prstGeom prst="rect">
                <a:avLst/>
              </a:prstGeom>
              <a:blipFill>
                <a:blip r:embed="rId5"/>
                <a:stretch>
                  <a:fillRect l="-1762" t="-16814" b="-26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14436B3D-7479-EAD9-0E5C-BDB70F53AA4F}"/>
              </a:ext>
            </a:extLst>
          </p:cNvPr>
          <p:cNvCxnSpPr>
            <a:cxnSpLocks/>
          </p:cNvCxnSpPr>
          <p:nvPr/>
        </p:nvCxnSpPr>
        <p:spPr>
          <a:xfrm flipH="1" flipV="1">
            <a:off x="17337924" y="4391332"/>
            <a:ext cx="72716" cy="62321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40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37A68-8649-7910-F671-CDEDAD5D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D8C3EB-F828-5956-CEC2-CF490DF82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初期指向誤差には複数の誤差源が含まれる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1AE01E-4F90-1DF9-73E5-4D77447D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CBED23-77D4-0F5D-B3D9-50247BD57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sp>
        <p:nvSpPr>
          <p:cNvPr id="6" name="コンテンツ プレースホルダー 4">
            <a:extLst>
              <a:ext uri="{FF2B5EF4-FFF2-40B4-BE49-F238E27FC236}">
                <a16:creationId xmlns:a16="http://schemas.microsoft.com/office/drawing/2014/main" id="{35262730-9549-1715-C1F8-D52E407037D4}"/>
              </a:ext>
            </a:extLst>
          </p:cNvPr>
          <p:cNvSpPr txBox="1">
            <a:spLocks/>
          </p:cNvSpPr>
          <p:nvPr/>
        </p:nvSpPr>
        <p:spPr>
          <a:xfrm>
            <a:off x="13402519" y="4078847"/>
            <a:ext cx="11364543" cy="9287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kumimoji="1" sz="4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200" b="0" i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200" b="0" i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200" b="0" i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200" b="0" i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21B98F08-935D-B203-58ED-855F9C65A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28336"/>
              </p:ext>
            </p:extLst>
          </p:nvPr>
        </p:nvGraphicFramePr>
        <p:xfrm>
          <a:off x="1759446" y="4078847"/>
          <a:ext cx="17168634" cy="5838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2878">
                  <a:extLst>
                    <a:ext uri="{9D8B030D-6E8A-4147-A177-3AD203B41FA5}">
                      <a16:colId xmlns:a16="http://schemas.microsoft.com/office/drawing/2014/main" val="1835504005"/>
                    </a:ext>
                  </a:extLst>
                </a:gridCol>
                <a:gridCol w="5722878">
                  <a:extLst>
                    <a:ext uri="{9D8B030D-6E8A-4147-A177-3AD203B41FA5}">
                      <a16:colId xmlns:a16="http://schemas.microsoft.com/office/drawing/2014/main" val="3747976670"/>
                    </a:ext>
                  </a:extLst>
                </a:gridCol>
                <a:gridCol w="5722878">
                  <a:extLst>
                    <a:ext uri="{9D8B030D-6E8A-4147-A177-3AD203B41FA5}">
                      <a16:colId xmlns:a16="http://schemas.microsoft.com/office/drawing/2014/main" val="3315797193"/>
                    </a:ext>
                  </a:extLst>
                </a:gridCol>
              </a:tblGrid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誤差源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特徴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本研究での扱い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407594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軌道予測誤差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低周波・運用依存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外乱</a:t>
                      </a:r>
                      <a:r>
                        <a:rPr lang="en-US" altLang="ja-JP" b="0">
                          <a:latin typeface="ＭＳ Ｐゴシック 本文"/>
                          <a:ea typeface="+mn-ea"/>
                        </a:rPr>
                        <a:t>/</a:t>
                      </a: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既知誤差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509664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 marL="0" marR="0" lvl="0" indent="0" algn="l" defTabSz="18287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姿勢決定誤差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センサ精度依存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外乱</a:t>
                      </a:r>
                      <a:r>
                        <a:rPr lang="en-US" altLang="ja-JP" b="0">
                          <a:latin typeface="ＭＳ Ｐゴシック 本文"/>
                          <a:ea typeface="+mn-ea"/>
                        </a:rPr>
                        <a:t>/</a:t>
                      </a: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既知誤差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97299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アライメント誤差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ほぼ定常バイアス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latin typeface="ＭＳ Ｐゴシック 本文"/>
                          <a:ea typeface="+mn-ea"/>
                        </a:rPr>
                        <a:t>静的補正対象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913780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機械振動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高周波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ＭＳ Ｐゴシック 本文"/>
                          <a:ea typeface="+mn-ea"/>
                        </a:rPr>
                        <a:t>fine tracking</a:t>
                      </a:r>
                      <a:r>
                        <a:rPr lang="ja-JP" altLang="en-US" b="0" dirty="0">
                          <a:latin typeface="ＭＳ Ｐゴシック 本文"/>
                          <a:ea typeface="+mn-ea"/>
                        </a:rPr>
                        <a:t>側で抑制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407476"/>
                  </a:ext>
                </a:extLst>
              </a:tr>
              <a:tr h="973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rgbClr val="FF0000"/>
                          </a:solidFill>
                          <a:latin typeface="ＭＳ Ｐゴシック 本文"/>
                          <a:ea typeface="+mn-ea"/>
                        </a:rPr>
                        <a:t>熱ひずみ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>
                          <a:solidFill>
                            <a:srgbClr val="FF0000"/>
                          </a:solidFill>
                          <a:latin typeface="ＭＳ Ｐゴシック 本文"/>
                          <a:ea typeface="+mn-ea"/>
                        </a:rPr>
                        <a:t>時間変動バイアス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b="0" dirty="0">
                          <a:solidFill>
                            <a:srgbClr val="FF0000"/>
                          </a:solidFill>
                          <a:latin typeface="ＭＳ Ｐゴシック 本文"/>
                          <a:ea typeface="+mn-ea"/>
                        </a:rPr>
                        <a:t>本研究の対象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397678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AB895EF-EF54-D0CE-3D29-775B9241B65F}"/>
              </a:ext>
            </a:extLst>
          </p:cNvPr>
          <p:cNvSpPr txBox="1"/>
          <p:nvPr/>
        </p:nvSpPr>
        <p:spPr>
          <a:xfrm>
            <a:off x="1759446" y="10850322"/>
            <a:ext cx="171686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→ 本研究では，熱ひずみによる</a:t>
            </a:r>
            <a:r>
              <a:rPr lang="ja-JP" altLang="en-US" sz="4400" b="1" dirty="0"/>
              <a:t>時間変動</a:t>
            </a:r>
            <a:r>
              <a:rPr lang="en-US" altLang="ja-JP" sz="4400" b="1" dirty="0"/>
              <a:t>LOS</a:t>
            </a:r>
            <a:r>
              <a:rPr lang="ja-JP" altLang="en-US" sz="4400" b="1" dirty="0"/>
              <a:t>（</a:t>
            </a:r>
            <a:r>
              <a:rPr lang="en-US" altLang="ja-JP" sz="4400" b="1" dirty="0"/>
              <a:t>Line of Sight</a:t>
            </a:r>
            <a:r>
              <a:rPr lang="ja-JP" altLang="en-US" sz="4400" b="1" dirty="0"/>
              <a:t>）バイアス  </a:t>
            </a:r>
            <a:r>
              <a:rPr lang="en-US" altLang="ja-JP" sz="4400" b="1" dirty="0"/>
              <a:t>	  </a:t>
            </a:r>
            <a:r>
              <a:rPr lang="ja-JP" altLang="en-US" sz="4400" dirty="0"/>
              <a:t>に注目する</a:t>
            </a:r>
            <a:endParaRPr kumimoji="1" lang="ja-JP" altLang="en-US" sz="4400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2256D8-51F9-E20A-CF2E-AE7E0EAB9CA9}"/>
              </a:ext>
            </a:extLst>
          </p:cNvPr>
          <p:cNvSpPr txBox="1"/>
          <p:nvPr/>
        </p:nvSpPr>
        <p:spPr>
          <a:xfrm>
            <a:off x="17256147" y="9798518"/>
            <a:ext cx="2569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b="0" dirty="0"/>
              <a:t>[1],[2],[3]</a:t>
            </a:r>
            <a:endParaRPr lang="ja-JP" altLang="en-US" sz="3200" b="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59FF969-CD36-4C38-7BEC-1C66712AA50A}"/>
              </a:ext>
            </a:extLst>
          </p:cNvPr>
          <p:cNvCxnSpPr/>
          <p:nvPr/>
        </p:nvCxnSpPr>
        <p:spPr>
          <a:xfrm>
            <a:off x="20354544" y="5505650"/>
            <a:ext cx="0" cy="3950208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6AD310E-A763-7DC1-299E-EA9BBC4C78D0}"/>
              </a:ext>
            </a:extLst>
          </p:cNvPr>
          <p:cNvCxnSpPr>
            <a:cxnSpLocks/>
          </p:cNvCxnSpPr>
          <p:nvPr/>
        </p:nvCxnSpPr>
        <p:spPr>
          <a:xfrm>
            <a:off x="18928080" y="5534525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057851A-7948-D7C0-8FE4-728CDCF52943}"/>
              </a:ext>
            </a:extLst>
          </p:cNvPr>
          <p:cNvCxnSpPr>
            <a:cxnSpLocks/>
          </p:cNvCxnSpPr>
          <p:nvPr/>
        </p:nvCxnSpPr>
        <p:spPr>
          <a:xfrm>
            <a:off x="18928080" y="6543573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7BBE16A-17A5-4085-3E9D-E405D30BD667}"/>
              </a:ext>
            </a:extLst>
          </p:cNvPr>
          <p:cNvCxnSpPr>
            <a:cxnSpLocks/>
          </p:cNvCxnSpPr>
          <p:nvPr/>
        </p:nvCxnSpPr>
        <p:spPr>
          <a:xfrm>
            <a:off x="18928080" y="7477544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C455A6C-9847-AA59-0E3D-33A44770EF27}"/>
              </a:ext>
            </a:extLst>
          </p:cNvPr>
          <p:cNvCxnSpPr>
            <a:cxnSpLocks/>
          </p:cNvCxnSpPr>
          <p:nvPr/>
        </p:nvCxnSpPr>
        <p:spPr>
          <a:xfrm>
            <a:off x="18928080" y="8467342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7C1D38E-048E-708F-311F-FA70695399A3}"/>
              </a:ext>
            </a:extLst>
          </p:cNvPr>
          <p:cNvCxnSpPr>
            <a:cxnSpLocks/>
          </p:cNvCxnSpPr>
          <p:nvPr/>
        </p:nvCxnSpPr>
        <p:spPr>
          <a:xfrm>
            <a:off x="18928080" y="9436608"/>
            <a:ext cx="1426464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893D4199-7842-705D-BC35-A593D62E16F6}"/>
              </a:ext>
            </a:extLst>
          </p:cNvPr>
          <p:cNvCxnSpPr>
            <a:cxnSpLocks/>
          </p:cNvCxnSpPr>
          <p:nvPr/>
        </p:nvCxnSpPr>
        <p:spPr>
          <a:xfrm>
            <a:off x="20354544" y="7477544"/>
            <a:ext cx="929356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44FF669-0CFB-C11D-A1FC-A4C2060D8383}"/>
                  </a:ext>
                </a:extLst>
              </p:cNvPr>
              <p:cNvSpPr txBox="1"/>
              <p:nvPr/>
            </p:nvSpPr>
            <p:spPr>
              <a:xfrm>
                <a:off x="20477925" y="6961015"/>
                <a:ext cx="390448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5400" b="1" i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kumimoji="1" lang="en-US" altLang="ja-JP" sz="5400" b="1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sz="5400" b="1" i="1" dirty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kumimoji="1" lang="en-US" altLang="ja-JP" sz="5400" b="1" i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𝒊𝒏𝒊𝒕</m:t>
                          </m:r>
                        </m:sub>
                      </m:sSub>
                    </m:oMath>
                  </m:oMathPara>
                </a14:m>
                <a:endParaRPr lang="ja-JP" altLang="en-US" sz="54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44FF669-0CFB-C11D-A1FC-A4C2060D8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7925" y="6961015"/>
                <a:ext cx="3904488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726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BBF9-3951-3FAC-ACB2-C9261157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64226-E7C8-B488-0CF8-326B4B8E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熱ひずみによる</a:t>
            </a:r>
            <a:r>
              <a:rPr lang="en-US" altLang="ja-JP" dirty="0"/>
              <a:t>LOS</a:t>
            </a:r>
            <a:r>
              <a:rPr lang="ja-JP" altLang="en-US" dirty="0"/>
              <a:t>バイアスは粗捕捉開始時に未補償で残る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F294905-E9E0-8B72-AACC-67970307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373A4A-1641-3338-DD2D-444B46100A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D01D30CD-DBDB-4B8E-E5B7-5DEB20693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10530" y="4005695"/>
            <a:ext cx="12182393" cy="6363601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• </a:t>
            </a:r>
            <a:r>
              <a:rPr lang="ja-JP" altLang="en-US" dirty="0"/>
              <a:t>日照・食の繰返しや機器発熱により，衛星の温度場は時間変化する</a:t>
            </a:r>
            <a:br>
              <a:rPr lang="ja-JP" altLang="en-US" dirty="0"/>
            </a:br>
            <a:endParaRPr lang="en-US" altLang="ja-JP" dirty="0"/>
          </a:p>
          <a:p>
            <a:pPr marL="0" indent="0">
              <a:buNone/>
            </a:pPr>
            <a:br>
              <a:rPr lang="ja-JP" altLang="en-US" dirty="0"/>
            </a:br>
            <a:r>
              <a:rPr lang="en-US" altLang="ja-JP" dirty="0"/>
              <a:t>• </a:t>
            </a:r>
            <a:r>
              <a:rPr lang="ja-JP" altLang="en-US" dirty="0"/>
              <a:t>温度場の変化は構造変形・光学系変形を生じ，</a:t>
            </a:r>
            <a:br>
              <a:rPr lang="ja-JP" altLang="en-US" dirty="0"/>
            </a:br>
            <a:r>
              <a:rPr lang="ja-JP" altLang="en-US" dirty="0"/>
              <a:t>通信光軸の</a:t>
            </a:r>
            <a:r>
              <a:rPr lang="en-US" altLang="ja-JP" dirty="0"/>
              <a:t>LOS</a:t>
            </a:r>
            <a:r>
              <a:rPr lang="ja-JP" altLang="en-US" dirty="0"/>
              <a:t>バイアスとして現れる </a:t>
            </a:r>
            <a:r>
              <a:rPr lang="en-US" altLang="ja-JP" dirty="0"/>
              <a:t>[3], [4]</a:t>
            </a:r>
            <a:br>
              <a:rPr lang="en-US" altLang="ja-JP" dirty="0"/>
            </a:br>
            <a:endParaRPr lang="en-US" altLang="ja-JP" dirty="0"/>
          </a:p>
          <a:p>
            <a:pPr marL="0" indent="0">
              <a:buNone/>
            </a:pPr>
            <a:br>
              <a:rPr lang="en-US" altLang="ja-JP" dirty="0"/>
            </a:br>
            <a:r>
              <a:rPr lang="en-US" altLang="ja-JP" dirty="0"/>
              <a:t>• </a:t>
            </a:r>
            <a:r>
              <a:rPr lang="ja-JP" altLang="en-US" dirty="0"/>
              <a:t>精追尾では受信光フィードバックにより補償され得るが，</a:t>
            </a:r>
            <a:br>
              <a:rPr lang="ja-JP" altLang="en-US" dirty="0"/>
            </a:br>
            <a:r>
              <a:rPr lang="ja-JP" altLang="en-US" dirty="0"/>
              <a:t>粗捕捉開始時には初期指向誤差として残る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5B8A1CB-F17A-CE36-456F-16745D15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099" y="2762675"/>
            <a:ext cx="5994808" cy="4137473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1C0DC5D-3F53-E4F2-4C22-B1572D8B5C2F}"/>
              </a:ext>
            </a:extLst>
          </p:cNvPr>
          <p:cNvSpPr txBox="1"/>
          <p:nvPr/>
        </p:nvSpPr>
        <p:spPr>
          <a:xfrm>
            <a:off x="15869873" y="6896850"/>
            <a:ext cx="7283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dirty="0"/>
              <a:t>シミュレータによる衛星の熱ひずみ解析結果 </a:t>
            </a:r>
            <a:r>
              <a:rPr lang="en-US" altLang="ja-JP" sz="2800" dirty="0"/>
              <a:t>[2]</a:t>
            </a:r>
            <a:endParaRPr lang="ja-JP" altLang="en-US" sz="2800" dirty="0"/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9F45C89-05A8-6BB9-1550-25AE1A07B163}"/>
              </a:ext>
            </a:extLst>
          </p:cNvPr>
          <p:cNvGrpSpPr/>
          <p:nvPr/>
        </p:nvGrpSpPr>
        <p:grpSpPr>
          <a:xfrm>
            <a:off x="16072637" y="10885503"/>
            <a:ext cx="4001416" cy="1293583"/>
            <a:chOff x="16462856" y="9295630"/>
            <a:chExt cx="5142607" cy="1784823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9BE60987-B196-B035-BC9E-BEB1CE8E8EC1}"/>
                </a:ext>
              </a:extLst>
            </p:cNvPr>
            <p:cNvSpPr/>
            <p:nvPr/>
          </p:nvSpPr>
          <p:spPr>
            <a:xfrm>
              <a:off x="16462856" y="9494484"/>
              <a:ext cx="4041648" cy="12935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DAB7D16-8993-4281-64C2-2832395D9121}"/>
                </a:ext>
              </a:extLst>
            </p:cNvPr>
            <p:cNvSpPr/>
            <p:nvPr/>
          </p:nvSpPr>
          <p:spPr>
            <a:xfrm rot="20616866">
              <a:off x="19346287" y="9295630"/>
              <a:ext cx="2259176" cy="14965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1C3C9E0-D6EE-3429-4839-D2BCB3A027A2}"/>
                </a:ext>
              </a:extLst>
            </p:cNvPr>
            <p:cNvSpPr/>
            <p:nvPr/>
          </p:nvSpPr>
          <p:spPr>
            <a:xfrm>
              <a:off x="16462856" y="9833739"/>
              <a:ext cx="3178456" cy="12467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5A2F0BC-C77D-4D4E-42E9-115F28204492}"/>
              </a:ext>
            </a:extLst>
          </p:cNvPr>
          <p:cNvSpPr/>
          <p:nvPr/>
        </p:nvSpPr>
        <p:spPr>
          <a:xfrm>
            <a:off x="16072637" y="8295763"/>
            <a:ext cx="3690520" cy="12935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6CDD7E0-C964-CE02-DA70-68B5DAB059A0}"/>
              </a:ext>
            </a:extLst>
          </p:cNvPr>
          <p:cNvCxnSpPr>
            <a:stCxn id="25" idx="3"/>
          </p:cNvCxnSpPr>
          <p:nvPr/>
        </p:nvCxnSpPr>
        <p:spPr>
          <a:xfrm flipV="1">
            <a:off x="19763157" y="8942554"/>
            <a:ext cx="2573873" cy="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5E6134D-B7C5-AA99-1F43-8ADC84CFE25B}"/>
              </a:ext>
            </a:extLst>
          </p:cNvPr>
          <p:cNvCxnSpPr>
            <a:cxnSpLocks/>
          </p:cNvCxnSpPr>
          <p:nvPr/>
        </p:nvCxnSpPr>
        <p:spPr>
          <a:xfrm flipV="1">
            <a:off x="19967023" y="10511140"/>
            <a:ext cx="2166139" cy="71488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7A6947D-45CE-55C1-E375-359B68EFD41A}"/>
              </a:ext>
            </a:extLst>
          </p:cNvPr>
          <p:cNvSpPr txBox="1"/>
          <p:nvPr/>
        </p:nvSpPr>
        <p:spPr>
          <a:xfrm>
            <a:off x="21050092" y="8094333"/>
            <a:ext cx="170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LOS</a:t>
            </a:r>
            <a:endParaRPr kumimoji="1" lang="ja-JP" alt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69A6438-C7A5-1FEA-8074-7A83922DC19B}"/>
              </a:ext>
            </a:extLst>
          </p:cNvPr>
          <p:cNvSpPr txBox="1"/>
          <p:nvPr/>
        </p:nvSpPr>
        <p:spPr>
          <a:xfrm>
            <a:off x="21240670" y="9813418"/>
            <a:ext cx="170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solidFill>
                  <a:srgbClr val="FF0000"/>
                </a:solidFill>
              </a:rPr>
              <a:t>LOS</a:t>
            </a:r>
            <a:endParaRPr kumimoji="1" lang="ja-JP" altLang="en-US" sz="3600" dirty="0">
              <a:solidFill>
                <a:srgbClr val="FF0000"/>
              </a:solidFill>
            </a:endParaRP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32A3A462-8957-6E5B-1E03-309C6D055C72}"/>
              </a:ext>
            </a:extLst>
          </p:cNvPr>
          <p:cNvCxnSpPr/>
          <p:nvPr/>
        </p:nvCxnSpPr>
        <p:spPr>
          <a:xfrm flipV="1">
            <a:off x="20064496" y="11268327"/>
            <a:ext cx="2573873" cy="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矢印: 下 33">
            <a:extLst>
              <a:ext uri="{FF2B5EF4-FFF2-40B4-BE49-F238E27FC236}">
                <a16:creationId xmlns:a16="http://schemas.microsoft.com/office/drawing/2014/main" id="{55F9DDB1-EA53-D950-9134-F735F6E8FD34}"/>
              </a:ext>
            </a:extLst>
          </p:cNvPr>
          <p:cNvSpPr/>
          <p:nvPr/>
        </p:nvSpPr>
        <p:spPr>
          <a:xfrm>
            <a:off x="17520001" y="9935711"/>
            <a:ext cx="900743" cy="71488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59D4DFC-A812-85CB-6AD8-99A8F7C28F7E}"/>
              </a:ext>
            </a:extLst>
          </p:cNvPr>
          <p:cNvSpPr txBox="1"/>
          <p:nvPr/>
        </p:nvSpPr>
        <p:spPr>
          <a:xfrm>
            <a:off x="14762072" y="11268327"/>
            <a:ext cx="170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solidFill>
                  <a:schemeClr val="tx2">
                    <a:lumMod val="50000"/>
                  </a:schemeClr>
                </a:solidFill>
              </a:rPr>
              <a:t>real:</a:t>
            </a:r>
            <a:endParaRPr kumimoji="1" lang="ja-JP" alt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8DDACC3-C98A-9E24-F7F0-814296225DC2}"/>
              </a:ext>
            </a:extLst>
          </p:cNvPr>
          <p:cNvSpPr txBox="1"/>
          <p:nvPr/>
        </p:nvSpPr>
        <p:spPr>
          <a:xfrm>
            <a:off x="14581253" y="8730916"/>
            <a:ext cx="1700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solidFill>
                  <a:schemeClr val="tx2">
                    <a:lumMod val="50000"/>
                  </a:schemeClr>
                </a:solidFill>
              </a:rPr>
              <a:t>ideal:</a:t>
            </a:r>
            <a:endParaRPr kumimoji="1" lang="ja-JP" altLang="en-US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7" name="円弧 36">
            <a:extLst>
              <a:ext uri="{FF2B5EF4-FFF2-40B4-BE49-F238E27FC236}">
                <a16:creationId xmlns:a16="http://schemas.microsoft.com/office/drawing/2014/main" id="{4568C916-F1D8-EB86-AFFE-94E4273079AF}"/>
              </a:ext>
            </a:extLst>
          </p:cNvPr>
          <p:cNvSpPr/>
          <p:nvPr/>
        </p:nvSpPr>
        <p:spPr>
          <a:xfrm rot="1912678">
            <a:off x="20773757" y="10773773"/>
            <a:ext cx="651647" cy="634508"/>
          </a:xfrm>
          <a:prstGeom prst="arc">
            <a:avLst>
              <a:gd name="adj1" fmla="val 16200000"/>
              <a:gd name="adj2" fmla="val 21382646"/>
            </a:avLst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357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2B48D-6331-C45C-ACA0-D1CBE148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A55E82-6950-92A7-E2C7-B42EDBA4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熱ひずみ由来の</a:t>
            </a:r>
            <a:r>
              <a:rPr lang="en-US" altLang="ja-JP" dirty="0"/>
              <a:t>LOS</a:t>
            </a:r>
            <a:r>
              <a:rPr lang="ja-JP" altLang="en-US" dirty="0"/>
              <a:t>バイアスは無視できないオーダーになり得る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39020E-E14E-BD60-A9D6-C716A840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8C2B98-6E2B-C230-76C3-CC52C368FE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E21ED903-E881-070B-1B46-94487B9A6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56395"/>
              </p:ext>
            </p:extLst>
          </p:nvPr>
        </p:nvGraphicFramePr>
        <p:xfrm>
          <a:off x="13649942" y="3367032"/>
          <a:ext cx="9875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6841">
                  <a:extLst>
                    <a:ext uri="{9D8B030D-6E8A-4147-A177-3AD203B41FA5}">
                      <a16:colId xmlns:a16="http://schemas.microsoft.com/office/drawing/2014/main" val="3159894327"/>
                    </a:ext>
                  </a:extLst>
                </a:gridCol>
                <a:gridCol w="3938679">
                  <a:extLst>
                    <a:ext uri="{9D8B030D-6E8A-4147-A177-3AD203B41FA5}">
                      <a16:colId xmlns:a16="http://schemas.microsoft.com/office/drawing/2014/main" val="2485059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/>
                        <a:t>典型オーダー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64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熱ひずみによる</a:t>
                      </a:r>
                      <a:r>
                        <a:rPr lang="en-US" altLang="ja-JP" dirty="0"/>
                        <a:t>LOS</a:t>
                      </a:r>
                      <a:r>
                        <a:rPr lang="ja-JP" altLang="en-US" dirty="0"/>
                        <a:t>バイアス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/>
                        <a:t>数十</a:t>
                      </a:r>
                      <a:r>
                        <a:rPr lang="en-US" altLang="ja-JP"/>
                        <a:t>〜</a:t>
                      </a:r>
                      <a:r>
                        <a:rPr lang="ja-JP" altLang="en-US"/>
                        <a:t>数百 </a:t>
                      </a:r>
                      <a:r>
                        <a:rPr lang="en-US" altLang="ja-JP"/>
                        <a:t>µ</a:t>
                      </a:r>
                      <a:r>
                        <a:rPr lang="en-US"/>
                        <a:t>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24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ビーム拡がり角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10〜100 µrad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857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捕捉範囲 </a:t>
                      </a:r>
                      <a:r>
                        <a:rPr lang="en-US" altLang="ja-JP" dirty="0"/>
                        <a:t>/ </a:t>
                      </a:r>
                      <a:r>
                        <a:rPr lang="en-US" dirty="0"/>
                        <a:t>sensor FOV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/>
                        <a:t>数十</a:t>
                      </a:r>
                      <a:r>
                        <a:rPr lang="en-US" altLang="ja-JP"/>
                        <a:t>〜</a:t>
                      </a:r>
                      <a:r>
                        <a:rPr lang="ja-JP" altLang="en-US"/>
                        <a:t>数百 </a:t>
                      </a:r>
                      <a:r>
                        <a:rPr lang="en-US" altLang="ja-JP"/>
                        <a:t>µ</a:t>
                      </a:r>
                      <a:r>
                        <a:rPr lang="en-US"/>
                        <a:t>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443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姿勢決定由来</a:t>
                      </a:r>
                      <a:r>
                        <a:rPr lang="en-US" altLang="ja-JP" dirty="0"/>
                        <a:t>LOS</a:t>
                      </a:r>
                      <a:r>
                        <a:rPr lang="ja-JP" altLang="en-US" dirty="0"/>
                        <a:t>誤差</a:t>
                      </a:r>
                      <a:endParaRPr lang="en-US" altLang="ja-JP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dirty="0"/>
                        <a:t>数十</a:t>
                      </a:r>
                      <a:r>
                        <a:rPr lang="en-US" altLang="ja-JP" dirty="0"/>
                        <a:t>〜</a:t>
                      </a:r>
                      <a:r>
                        <a:rPr lang="ja-JP" altLang="en-US" dirty="0"/>
                        <a:t>数百 </a:t>
                      </a:r>
                      <a:r>
                        <a:rPr lang="en-US" altLang="ja-JP" dirty="0"/>
                        <a:t>µ</a:t>
                      </a:r>
                      <a:r>
                        <a:rPr lang="en-US" dirty="0"/>
                        <a:t>rad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961977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8F069DD3-D0FE-3F9E-17FA-765A2DE79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305" y="6891867"/>
            <a:ext cx="7417116" cy="6584951"/>
          </a:xfrm>
          <a:prstGeom prst="rect">
            <a:avLst/>
          </a:prstGeom>
        </p:spPr>
      </p:pic>
      <p:sp>
        <p:nvSpPr>
          <p:cNvPr id="14" name="コンテンツ プレースホルダー 6">
            <a:extLst>
              <a:ext uri="{FF2B5EF4-FFF2-40B4-BE49-F238E27FC236}">
                <a16:creationId xmlns:a16="http://schemas.microsoft.com/office/drawing/2014/main" id="{6178AB46-630A-6434-D691-9F411B994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0413" y="4462895"/>
            <a:ext cx="10810793" cy="7131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• </a:t>
            </a:r>
            <a:r>
              <a:rPr lang="ja-JP" altLang="en-US" dirty="0"/>
              <a:t>熱変形が光学基準間の相対変位として現れると，</a:t>
            </a:r>
            <a:br>
              <a:rPr lang="ja-JP" altLang="en-US" dirty="0"/>
            </a:br>
            <a:r>
              <a:rPr lang="ja-JP" altLang="en-US" dirty="0"/>
              <a:t>数十</a:t>
            </a:r>
            <a:r>
              <a:rPr lang="en-US" altLang="ja-JP" dirty="0"/>
              <a:t>〜</a:t>
            </a:r>
            <a:r>
              <a:rPr lang="ja-JP" altLang="en-US" dirty="0"/>
              <a:t>数百 </a:t>
            </a:r>
            <a:r>
              <a:rPr lang="en-US" altLang="ja-JP" dirty="0"/>
              <a:t>µrad</a:t>
            </a:r>
            <a:r>
              <a:rPr lang="ja-JP" altLang="en-US" dirty="0"/>
              <a:t>級の</a:t>
            </a:r>
            <a:r>
              <a:rPr lang="en-US" altLang="ja-JP" dirty="0"/>
              <a:t>LOS</a:t>
            </a:r>
            <a:r>
              <a:rPr lang="ja-JP" altLang="en-US" dirty="0"/>
              <a:t>バイアスになり得る</a:t>
            </a:r>
            <a:br>
              <a:rPr lang="ja-JP" altLang="en-US" dirty="0"/>
            </a:br>
            <a:br>
              <a:rPr lang="ja-JP" altLang="en-US" dirty="0"/>
            </a:br>
            <a:r>
              <a:rPr lang="en-US" altLang="ja-JP" dirty="0"/>
              <a:t>• </a:t>
            </a:r>
            <a:r>
              <a:rPr lang="ja-JP" altLang="en-US" dirty="0"/>
              <a:t>このオーダーは，ビーム拡がり角や捕捉範囲と同程度</a:t>
            </a:r>
            <a:endParaRPr lang="en-US" altLang="ja-JP" dirty="0"/>
          </a:p>
          <a:p>
            <a:pPr marL="0" indent="0">
              <a:buNone/>
            </a:pPr>
            <a:br>
              <a:rPr lang="ja-JP" altLang="en-US" dirty="0"/>
            </a:br>
            <a:r>
              <a:rPr lang="en-US" altLang="ja-JP" dirty="0"/>
              <a:t>• </a:t>
            </a:r>
            <a:r>
              <a:rPr lang="ja-JP" altLang="en-US" dirty="0"/>
              <a:t>したがって，熱ひずみは粗捕捉の</a:t>
            </a:r>
            <a:r>
              <a:rPr lang="en-US" altLang="ja-JP" dirty="0"/>
              <a:t>uncertainty region</a:t>
            </a:r>
            <a:r>
              <a:rPr lang="ja-JP" altLang="en-US" dirty="0"/>
              <a:t>に無視できない寄与を持つ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• </a:t>
            </a:r>
            <a:r>
              <a:rPr lang="ja-JP" altLang="en-US" dirty="0"/>
              <a:t>特に熱環境の変化が激しい</a:t>
            </a:r>
            <a:r>
              <a:rPr lang="en-US" altLang="ja-JP" dirty="0"/>
              <a:t>LEO</a:t>
            </a:r>
            <a:r>
              <a:rPr lang="ja-JP" altLang="en-US" dirty="0"/>
              <a:t>や小型衛星においてはより厳しくなる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77795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9CDFC-6215-042C-C467-29926824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241593-303C-F724-AED8-5191D071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ja-JP" altLang="en-US" dirty="0"/>
              <a:t>先行研究は</a:t>
            </a:r>
            <a:r>
              <a:rPr lang="en-US" altLang="ja-JP" dirty="0"/>
              <a:t>LOS</a:t>
            </a:r>
            <a:r>
              <a:rPr lang="ja-JP" altLang="en-US" dirty="0"/>
              <a:t>補正と光通信捕捉性能評価に分かれている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E8F1FE5-0EFD-09B5-C07D-8FD5EB9C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AA84A9-07D4-F7ED-3A4B-985A60564E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753B0F9-EFF4-C3D1-442B-D9BA4376E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4119925"/>
            <a:ext cx="7448868" cy="6523691"/>
          </a:xfrm>
        </p:spPr>
        <p:txBody>
          <a:bodyPr/>
          <a:lstStyle/>
          <a:p>
            <a:endParaRPr lang="en-US" altLang="ja-JP" dirty="0"/>
          </a:p>
          <a:p>
            <a:r>
              <a:rPr lang="en-US" altLang="ja-JP" dirty="0" err="1"/>
              <a:t>Badás</a:t>
            </a:r>
            <a:r>
              <a:rPr lang="en-US" altLang="ja-JP" b="0" dirty="0"/>
              <a:t> </a:t>
            </a:r>
            <a:r>
              <a:rPr lang="ja-JP" altLang="en-US" b="0" dirty="0"/>
              <a:t>らは</a:t>
            </a:r>
            <a:r>
              <a:rPr lang="en-US" altLang="ja-JP" b="0" dirty="0"/>
              <a:t>,</a:t>
            </a:r>
            <a:r>
              <a:rPr lang="ja-JP" altLang="en-US" b="0" dirty="0"/>
              <a:t>衛星</a:t>
            </a:r>
            <a:r>
              <a:rPr lang="en-US" altLang="ja-JP" b="0" dirty="0"/>
              <a:t>FSOC</a:t>
            </a:r>
            <a:r>
              <a:rPr lang="ja-JP" altLang="en-US" b="0" dirty="0"/>
              <a:t>端末では</a:t>
            </a:r>
            <a:r>
              <a:rPr lang="en-US" altLang="ja-JP" b="0" dirty="0"/>
              <a:t>,</a:t>
            </a:r>
            <a:r>
              <a:rPr lang="ja-JP" altLang="en-US" b="0" dirty="0"/>
              <a:t>熱・構造・光学の連成現象が </a:t>
            </a:r>
            <a:r>
              <a:rPr lang="en-US" altLang="ja-JP" b="0" dirty="0"/>
              <a:t>pointing jitter</a:t>
            </a:r>
            <a:r>
              <a:rPr lang="ja-JP" altLang="en-US" b="0" dirty="0"/>
              <a:t>，</a:t>
            </a:r>
            <a:r>
              <a:rPr lang="en-US" altLang="ja-JP" b="0" dirty="0"/>
              <a:t>WFE</a:t>
            </a:r>
            <a:r>
              <a:rPr lang="ja-JP" altLang="en-US" b="0" dirty="0"/>
              <a:t>，</a:t>
            </a:r>
            <a:r>
              <a:rPr lang="en-US" altLang="ja-JP" b="0" dirty="0"/>
              <a:t>polarization</a:t>
            </a:r>
            <a:r>
              <a:rPr lang="ja-JP" altLang="en-US" b="0" dirty="0"/>
              <a:t>等を通じて通信性能に影響することを示した </a:t>
            </a:r>
            <a:r>
              <a:rPr lang="en-US" altLang="ja-JP" b="0" dirty="0"/>
              <a:t>[3]</a:t>
            </a:r>
          </a:p>
          <a:p>
            <a:r>
              <a:rPr lang="ja-JP" altLang="en-US" b="0" dirty="0"/>
              <a:t>一方で，熱ひずみによる光軸ずれに対する具体的な対策・手法の提案はない</a:t>
            </a:r>
            <a:endParaRPr kumimoji="1" lang="ja-JP" altLang="en-US" b="0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259810C-978B-22E5-8670-D8C64130D7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ja-JP" altLang="en-US" dirty="0"/>
              <a:t>熱ひずみ・</a:t>
            </a:r>
            <a:r>
              <a:rPr lang="en-US" altLang="ja-JP" dirty="0"/>
              <a:t>optothermal</a:t>
            </a:r>
            <a:r>
              <a:rPr lang="ja-JP" altLang="en-US" dirty="0"/>
              <a:t>現象の整理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BBA59032-0D4B-CEF7-6A95-7B8A83D74B4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49492" y="4119925"/>
            <a:ext cx="7448868" cy="6523691"/>
          </a:xfrm>
        </p:spPr>
        <p:txBody>
          <a:bodyPr>
            <a:normAutofit fontScale="92500" lnSpcReduction="10000"/>
          </a:bodyPr>
          <a:lstStyle/>
          <a:p>
            <a:endParaRPr lang="en-US" altLang="ja-JP" dirty="0"/>
          </a:p>
          <a:p>
            <a:r>
              <a:rPr lang="en-US" altLang="ja-JP" dirty="0"/>
              <a:t>Li </a:t>
            </a:r>
            <a:r>
              <a:rPr lang="ja-JP" altLang="en-US" b="0" dirty="0"/>
              <a:t>らは，</a:t>
            </a:r>
            <a:r>
              <a:rPr lang="en-US" altLang="ja-JP" b="0" dirty="0"/>
              <a:t>LEO</a:t>
            </a:r>
            <a:r>
              <a:rPr lang="ja-JP" altLang="en-US" b="0" dirty="0"/>
              <a:t>光学ペイロードの</a:t>
            </a:r>
            <a:r>
              <a:rPr lang="en-US" altLang="ja-JP" b="0" dirty="0"/>
              <a:t>LOS</a:t>
            </a:r>
            <a:r>
              <a:rPr lang="ja-JP" altLang="en-US" b="0" dirty="0"/>
              <a:t>誤差を太陽・衛星・</a:t>
            </a:r>
            <a:r>
              <a:rPr lang="en-US" altLang="ja-JP" b="0" dirty="0"/>
              <a:t>LOS</a:t>
            </a:r>
            <a:r>
              <a:rPr lang="ja-JP" altLang="en-US" b="0" dirty="0"/>
              <a:t>幾何を入力とする機械学習モデルで補正</a:t>
            </a:r>
            <a:r>
              <a:rPr lang="en-US" altLang="ja-JP" b="0" dirty="0"/>
              <a:t>[5]</a:t>
            </a:r>
          </a:p>
          <a:p>
            <a:r>
              <a:rPr lang="en-US" altLang="ja-JP" dirty="0"/>
              <a:t>Hu </a:t>
            </a:r>
            <a:r>
              <a:rPr lang="ja-JP" altLang="en-US" b="0" dirty="0"/>
              <a:t>らは</a:t>
            </a:r>
            <a:r>
              <a:rPr lang="en-US" altLang="ja-JP" b="0" dirty="0"/>
              <a:t>,GEO</a:t>
            </a:r>
            <a:r>
              <a:rPr lang="ja-JP" altLang="en-US" b="0" dirty="0"/>
              <a:t>リモートセンサの熱変形</a:t>
            </a:r>
            <a:r>
              <a:rPr lang="en-US" altLang="ja-JP" b="0" dirty="0"/>
              <a:t>LOS</a:t>
            </a:r>
            <a:r>
              <a:rPr lang="ja-JP" altLang="en-US" b="0" dirty="0"/>
              <a:t>誤差を，</a:t>
            </a:r>
            <a:br>
              <a:rPr lang="ja-JP" altLang="en-US" b="0" dirty="0"/>
            </a:br>
            <a:r>
              <a:rPr lang="ja-JP" altLang="en-US" b="0" dirty="0"/>
              <a:t>星観測 </a:t>
            </a:r>
            <a:r>
              <a:rPr lang="en-US" altLang="ja-JP" b="0" dirty="0"/>
              <a:t>+ Fourier</a:t>
            </a:r>
            <a:r>
              <a:rPr lang="ja-JP" altLang="en-US" b="0" dirty="0"/>
              <a:t>級数で日周期モデル化 </a:t>
            </a:r>
            <a:r>
              <a:rPr lang="en-US" altLang="ja-JP" b="0" dirty="0"/>
              <a:t>[6]</a:t>
            </a:r>
          </a:p>
          <a:p>
            <a:r>
              <a:rPr kumimoji="1" lang="ja-JP" altLang="en-US" b="0" dirty="0"/>
              <a:t>一方，上記はリモセン・観測の枠組みにおける研究で，</a:t>
            </a:r>
            <a:r>
              <a:rPr lang="ja-JP" altLang="en-US" b="0" dirty="0"/>
              <a:t>光通信粗捕捉性能への接続は未整理</a:t>
            </a:r>
            <a:endParaRPr kumimoji="1" lang="ja-JP" altLang="en-US" b="0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A3953613-A81C-21E0-40BA-15AA8260E7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ja-JP" dirty="0"/>
              <a:t>LOS</a:t>
            </a:r>
            <a:r>
              <a:rPr lang="ja-JP" altLang="en-US" dirty="0"/>
              <a:t>補正・熱変形補正</a:t>
            </a:r>
            <a:endParaRPr kumimoji="1" lang="ja-JP" altLang="en-US" dirty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F251AFC2-1A8C-C150-1669-C3062738E6BB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6350303" y="4119925"/>
            <a:ext cx="7448868" cy="6523691"/>
          </a:xfrm>
        </p:spPr>
        <p:txBody>
          <a:bodyPr>
            <a:normAutofit fontScale="92500" lnSpcReduction="20000"/>
          </a:bodyPr>
          <a:lstStyle/>
          <a:p>
            <a:endParaRPr lang="en-US" altLang="ja-JP" dirty="0"/>
          </a:p>
          <a:p>
            <a:r>
              <a:rPr lang="en-US" altLang="ja-JP" dirty="0"/>
              <a:t>Shi</a:t>
            </a:r>
            <a:r>
              <a:rPr lang="ja-JP" altLang="en-US" dirty="0"/>
              <a:t>ら</a:t>
            </a:r>
            <a:r>
              <a:rPr lang="ja-JP" altLang="en-US" b="0" dirty="0"/>
              <a:t>は，レーザ通信機とスターセンサ間の</a:t>
            </a:r>
            <a:br>
              <a:rPr lang="ja-JP" altLang="en-US" b="0" dirty="0"/>
            </a:br>
            <a:r>
              <a:rPr lang="ja-JP" altLang="en-US" b="0" dirty="0"/>
              <a:t>熱変形が</a:t>
            </a:r>
            <a:r>
              <a:rPr lang="en-US" altLang="ja-JP" b="0" dirty="0"/>
              <a:t>uncertainty region</a:t>
            </a:r>
            <a:r>
              <a:rPr lang="ja-JP" altLang="en-US" b="0" dirty="0"/>
              <a:t>と</a:t>
            </a:r>
            <a:br>
              <a:rPr lang="ja-JP" altLang="en-US" b="0" dirty="0"/>
            </a:br>
            <a:r>
              <a:rPr lang="en-US" altLang="ja-JP" b="0" dirty="0"/>
              <a:t>acquisition time</a:t>
            </a:r>
            <a:r>
              <a:rPr lang="ja-JP" altLang="en-US" b="0" dirty="0"/>
              <a:t>を増加させることを示した </a:t>
            </a:r>
            <a:r>
              <a:rPr lang="en-US" altLang="ja-JP" b="0" dirty="0"/>
              <a:t>[2]</a:t>
            </a:r>
          </a:p>
          <a:p>
            <a:r>
              <a:rPr lang="ja-JP" altLang="en-US" b="0" dirty="0"/>
              <a:t>共通基準構造・柔軟支持・熱設計最適化により，</a:t>
            </a:r>
            <a:br>
              <a:rPr lang="ja-JP" altLang="en-US" b="0" dirty="0"/>
            </a:br>
            <a:r>
              <a:rPr lang="ja-JP" altLang="en-US" b="0" dirty="0"/>
              <a:t>熱変形由来の光軸角変動を低</a:t>
            </a:r>
            <a:endParaRPr lang="en-US" altLang="ja-JP" b="0" dirty="0"/>
          </a:p>
          <a:p>
            <a:r>
              <a:rPr lang="ja-JP" altLang="en-US" b="0" dirty="0"/>
              <a:t>一方で，構造設計による事前低減が中心であり，</a:t>
            </a:r>
            <a:br>
              <a:rPr lang="ja-JP" altLang="en-US" b="0" dirty="0"/>
            </a:br>
            <a:r>
              <a:rPr lang="ja-JP" altLang="en-US" b="0" dirty="0"/>
              <a:t>軌道上での予測補正・適応補正は扱っていない</a:t>
            </a:r>
            <a:endParaRPr kumimoji="1" lang="ja-JP" altLang="en-US" b="0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432EA29C-7651-E559-FCA3-2B0131DA97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ja-JP" altLang="en-US" dirty="0"/>
              <a:t>光通信捕捉性能への影響評価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E588621-0D2A-5B66-E64A-E59E3703EFDA}"/>
              </a:ext>
            </a:extLst>
          </p:cNvPr>
          <p:cNvSpPr txBox="1"/>
          <p:nvPr/>
        </p:nvSpPr>
        <p:spPr>
          <a:xfrm>
            <a:off x="2760602" y="11168623"/>
            <a:ext cx="196256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000" dirty="0"/>
              <a:t>既存研究では，熱変形の補正・低減と，光通信捕捉性能評価が個別に扱われている</a:t>
            </a:r>
            <a:br>
              <a:rPr lang="ja-JP" altLang="en-US" sz="4000" dirty="0"/>
            </a:br>
            <a:r>
              <a:rPr lang="ja-JP" altLang="en-US" sz="4000" dirty="0"/>
              <a:t>→ 本研究では，</a:t>
            </a:r>
            <a:r>
              <a:rPr lang="ja-JP" altLang="en-US" sz="4000" dirty="0">
                <a:solidFill>
                  <a:srgbClr val="FF0000"/>
                </a:solidFill>
              </a:rPr>
              <a:t>熱ひずみ予測を</a:t>
            </a:r>
            <a:r>
              <a:rPr lang="en-US" altLang="ja-JP" sz="4000" dirty="0">
                <a:solidFill>
                  <a:srgbClr val="FF0000"/>
                </a:solidFill>
              </a:rPr>
              <a:t>scan center</a:t>
            </a:r>
            <a:r>
              <a:rPr lang="ja-JP" altLang="en-US" sz="4000" dirty="0">
                <a:solidFill>
                  <a:srgbClr val="FF0000"/>
                </a:solidFill>
              </a:rPr>
              <a:t>補正に用い，</a:t>
            </a:r>
            <a:br>
              <a:rPr lang="ja-JP" altLang="en-US" sz="4000" dirty="0">
                <a:solidFill>
                  <a:srgbClr val="FF0000"/>
                </a:solidFill>
              </a:rPr>
            </a:br>
            <a:r>
              <a:rPr lang="ja-JP" altLang="en-US" sz="4000" dirty="0">
                <a:solidFill>
                  <a:srgbClr val="FF0000"/>
                </a:solidFill>
              </a:rPr>
              <a:t>粗捕捉性能への効果を評価する　　</a:t>
            </a:r>
          </a:p>
        </p:txBody>
      </p:sp>
    </p:spTree>
    <p:extLst>
      <p:ext uri="{BB962C8B-B14F-4D97-AF65-F5344CB8AC3E}">
        <p14:creationId xmlns:p14="http://schemas.microsoft.com/office/powerpoint/2010/main" val="3516694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25CE-6475-380F-0D29-1EDC2E9D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656246-1458-69A6-5963-4AAE5714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A9E7F6-840F-C523-D06F-226845C2E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3A2CD0-3DAB-92BF-8E72-CAE2BCD7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78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9AD0-089B-B26E-6A6D-B2A97C86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1FAC3B-C12B-F8EA-0646-81F49C1E0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ja-JP" altLang="en-US" dirty="0"/>
              <a:t>本研究では熱ひずみ予測を粗捕捉補正に接続する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A054E0-6EB9-58D2-B205-B6D13AFB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EE06B3-F1C9-8B28-6163-F8455282E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1D23E8-5479-5847-2D27-669276C19A00}"/>
              </a:ext>
            </a:extLst>
          </p:cNvPr>
          <p:cNvSpPr txBox="1"/>
          <p:nvPr/>
        </p:nvSpPr>
        <p:spPr>
          <a:xfrm>
            <a:off x="8504454" y="4977676"/>
            <a:ext cx="1218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/>
          </a:p>
        </p:txBody>
      </p:sp>
      <p:sp>
        <p:nvSpPr>
          <p:cNvPr id="7" name="コンテンツ プレースホルダー 4">
            <a:extLst>
              <a:ext uri="{FF2B5EF4-FFF2-40B4-BE49-F238E27FC236}">
                <a16:creationId xmlns:a16="http://schemas.microsoft.com/office/drawing/2014/main" id="{EA35F557-1837-0E2F-8EF2-B1B6E63A1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8743" y="3424835"/>
            <a:ext cx="14632985" cy="9287866"/>
          </a:xfrm>
        </p:spPr>
        <p:txBody>
          <a:bodyPr/>
          <a:lstStyle/>
          <a:p>
            <a:r>
              <a:rPr lang="ja-JP" altLang="en-US" dirty="0"/>
              <a:t>本研究の目的：</a:t>
            </a:r>
            <a:br>
              <a:rPr lang="ja-JP" altLang="en-US" dirty="0"/>
            </a:br>
            <a:r>
              <a:rPr lang="ja-JP" altLang="en-US" dirty="0"/>
              <a:t>熱ひずみによる時間変動</a:t>
            </a:r>
            <a:r>
              <a:rPr lang="en-US" altLang="ja-JP" dirty="0"/>
              <a:t>LOS</a:t>
            </a:r>
            <a:r>
              <a:rPr lang="ja-JP" altLang="en-US" dirty="0"/>
              <a:t>バイアスを予測し，</a:t>
            </a:r>
            <a:br>
              <a:rPr lang="ja-JP" altLang="en-US" dirty="0"/>
            </a:br>
            <a:r>
              <a:rPr lang="ja-JP" altLang="en-US" dirty="0"/>
              <a:t>粗捕捉時の</a:t>
            </a:r>
            <a:r>
              <a:rPr lang="en-US" altLang="ja-JP" dirty="0"/>
              <a:t>scan center</a:t>
            </a:r>
            <a:r>
              <a:rPr lang="ja-JP" altLang="en-US" dirty="0"/>
              <a:t>を補正することで，</a:t>
            </a:r>
            <a:br>
              <a:rPr lang="ja-JP" altLang="en-US" dirty="0"/>
            </a:br>
            <a:r>
              <a:rPr lang="ja-JP" altLang="en-US" dirty="0"/>
              <a:t>不確定領域と捕捉時間を低減する</a:t>
            </a:r>
          </a:p>
          <a:p>
            <a:endParaRPr kumimoji="1" lang="en-US" altLang="ja-JP" dirty="0"/>
          </a:p>
          <a:p>
            <a:r>
              <a:rPr lang="ja-JP" altLang="en-US" dirty="0"/>
              <a:t>本研究の手法の概要：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1.</a:t>
            </a:r>
            <a:r>
              <a:rPr lang="ja-JP" altLang="en-US" dirty="0"/>
              <a:t> 熱構造解析により</a:t>
            </a:r>
            <a:r>
              <a:rPr lang="en-US" altLang="ja-JP" dirty="0"/>
              <a:t>LOS</a:t>
            </a:r>
            <a:r>
              <a:rPr lang="ja-JP" altLang="en-US" dirty="0"/>
              <a:t>バイアスを予測</a:t>
            </a:r>
            <a:br>
              <a:rPr lang="ja-JP" altLang="en-US" dirty="0"/>
            </a:br>
            <a:r>
              <a:rPr lang="en-US" altLang="ja-JP" dirty="0"/>
              <a:t>2. </a:t>
            </a:r>
            <a:r>
              <a:rPr lang="ja-JP" altLang="en-US" dirty="0"/>
              <a:t>予測値を</a:t>
            </a:r>
            <a:r>
              <a:rPr lang="en-US" altLang="ja-JP" dirty="0"/>
              <a:t>scan center</a:t>
            </a:r>
            <a:r>
              <a:rPr lang="ja-JP" altLang="en-US" dirty="0"/>
              <a:t>補正として</a:t>
            </a:r>
            <a:r>
              <a:rPr lang="en-US" altLang="ja-JP" dirty="0"/>
              <a:t>PAT</a:t>
            </a:r>
            <a:r>
              <a:rPr lang="ja-JP" altLang="en-US" dirty="0"/>
              <a:t>へ入力</a:t>
            </a:r>
            <a:br>
              <a:rPr lang="ja-JP" altLang="en-US" dirty="0"/>
            </a:br>
            <a:r>
              <a:rPr lang="en-US" altLang="ja-JP" dirty="0"/>
              <a:t>3. </a:t>
            </a:r>
            <a:r>
              <a:rPr lang="ja-JP" altLang="en-US" dirty="0"/>
              <a:t>残差情報により補正モデルを逐次更新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熱ひずみ由来</a:t>
            </a:r>
            <a:r>
              <a:rPr lang="en-US" altLang="ja-JP" dirty="0"/>
              <a:t>LOS</a:t>
            </a:r>
            <a:r>
              <a:rPr lang="ja-JP" altLang="en-US" dirty="0"/>
              <a:t>バイアスを</a:t>
            </a:r>
            <a:r>
              <a:rPr lang="ja-JP" altLang="en-US" dirty="0">
                <a:solidFill>
                  <a:srgbClr val="FF0000"/>
                </a:solidFill>
              </a:rPr>
              <a:t>事前に引く</a:t>
            </a:r>
            <a:r>
              <a:rPr lang="ja-JP" altLang="en-US" dirty="0"/>
              <a:t>ことで，</a:t>
            </a:r>
          </a:p>
          <a:p>
            <a:pPr marL="0" indent="0">
              <a:buNone/>
            </a:pPr>
            <a:r>
              <a:rPr lang="ja-JP" altLang="en-US" dirty="0"/>
              <a:t>粗捕捉時の </a:t>
            </a:r>
            <a:r>
              <a:rPr lang="en-US" altLang="ja-JP" dirty="0"/>
              <a:t>scan area </a:t>
            </a:r>
            <a:r>
              <a:rPr lang="ja-JP" altLang="en-US" dirty="0"/>
              <a:t>を縮小する</a:t>
            </a:r>
            <a:endParaRPr lang="en-US" altLang="ja-JP" dirty="0"/>
          </a:p>
        </p:txBody>
      </p:sp>
      <p:pic>
        <p:nvPicPr>
          <p:cNvPr id="8" name="Picture 2" descr="シンプルな人工衛星イラストのフリー素材｜イラストイメージ">
            <a:extLst>
              <a:ext uri="{FF2B5EF4-FFF2-40B4-BE49-F238E27FC236}">
                <a16:creationId xmlns:a16="http://schemas.microsoft.com/office/drawing/2014/main" id="{E63CB1B4-6459-8A88-2385-1211F7CBB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9039" y="9859571"/>
            <a:ext cx="2498004" cy="249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シンプルな人工衛星イラストのフリー素材｜イラストイメージ">
            <a:extLst>
              <a:ext uri="{FF2B5EF4-FFF2-40B4-BE49-F238E27FC236}">
                <a16:creationId xmlns:a16="http://schemas.microsoft.com/office/drawing/2014/main" id="{3538DC5A-952D-7783-64C7-532C8C4C4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2288" y="4391332"/>
            <a:ext cx="2279640" cy="227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A6114912-529A-61FC-4FA4-986D73CE1C45}"/>
              </a:ext>
            </a:extLst>
          </p:cNvPr>
          <p:cNvSpPr/>
          <p:nvPr/>
        </p:nvSpPr>
        <p:spPr>
          <a:xfrm>
            <a:off x="18210414" y="2932853"/>
            <a:ext cx="4769658" cy="4901184"/>
          </a:xfrm>
          <a:prstGeom prst="ellipse">
            <a:avLst/>
          </a:prstGeom>
          <a:solidFill>
            <a:srgbClr val="00B05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A91A57D-3DA6-A20F-C12C-524C1135AA21}"/>
              </a:ext>
            </a:extLst>
          </p:cNvPr>
          <p:cNvCxnSpPr/>
          <p:nvPr/>
        </p:nvCxnSpPr>
        <p:spPr>
          <a:xfrm flipH="1">
            <a:off x="15957043" y="4953000"/>
            <a:ext cx="3612293" cy="500184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C749CF6-E0D1-66DA-687F-6A66A05A73EC}"/>
              </a:ext>
            </a:extLst>
          </p:cNvPr>
          <p:cNvCxnSpPr>
            <a:cxnSpLocks/>
          </p:cNvCxnSpPr>
          <p:nvPr/>
        </p:nvCxnSpPr>
        <p:spPr>
          <a:xfrm flipH="1">
            <a:off x="15957043" y="5685860"/>
            <a:ext cx="4600659" cy="431324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FC8C33C-9778-3C2B-5868-61D1E032C4F0}"/>
              </a:ext>
            </a:extLst>
          </p:cNvPr>
          <p:cNvSpPr txBox="1"/>
          <p:nvPr/>
        </p:nvSpPr>
        <p:spPr>
          <a:xfrm>
            <a:off x="16000372" y="3446894"/>
            <a:ext cx="2639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chemeClr val="accent3"/>
                </a:solidFill>
              </a:rPr>
              <a:t>Scan Area</a:t>
            </a:r>
            <a:endParaRPr kumimoji="1" lang="ja-JP" altLang="en-US" sz="3200" dirty="0">
              <a:solidFill>
                <a:schemeClr val="accent3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DECC5DE6-A144-0B07-D87B-0A631CA825E3}"/>
              </a:ext>
            </a:extLst>
          </p:cNvPr>
          <p:cNvSpPr/>
          <p:nvPr/>
        </p:nvSpPr>
        <p:spPr>
          <a:xfrm>
            <a:off x="17720187" y="2972261"/>
            <a:ext cx="3612292" cy="3698711"/>
          </a:xfrm>
          <a:prstGeom prst="ellipse">
            <a:avLst/>
          </a:prstGeom>
          <a:solidFill>
            <a:srgbClr val="FFC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FF0BD13B-2B3D-F32B-9EF7-3DF5F2F514B0}"/>
              </a:ext>
            </a:extLst>
          </p:cNvPr>
          <p:cNvSpPr/>
          <p:nvPr/>
        </p:nvSpPr>
        <p:spPr>
          <a:xfrm>
            <a:off x="19265861" y="3941328"/>
            <a:ext cx="2855090" cy="2884234"/>
          </a:xfrm>
          <a:prstGeom prst="ellipse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70108D-53B8-C498-DAC2-3E5A69F23656}"/>
              </a:ext>
            </a:extLst>
          </p:cNvPr>
          <p:cNvSpPr txBox="1"/>
          <p:nvPr/>
        </p:nvSpPr>
        <p:spPr>
          <a:xfrm>
            <a:off x="21877793" y="4091512"/>
            <a:ext cx="2639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rgbClr val="FF0000"/>
                </a:solidFill>
              </a:rPr>
              <a:t>New Scan Area</a:t>
            </a:r>
            <a:endParaRPr kumimoji="1" lang="ja-JP" altLang="en-US" sz="3200" dirty="0">
              <a:solidFill>
                <a:srgbClr val="FF0000"/>
              </a:solidFill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5C97844D-4007-10AC-7E05-0A32511982A8}"/>
              </a:ext>
            </a:extLst>
          </p:cNvPr>
          <p:cNvCxnSpPr>
            <a:cxnSpLocks/>
          </p:cNvCxnSpPr>
          <p:nvPr/>
        </p:nvCxnSpPr>
        <p:spPr>
          <a:xfrm>
            <a:off x="20685884" y="3246620"/>
            <a:ext cx="1167115" cy="10721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FEDE00E3-93A6-C5F7-D644-57E4D358A342}"/>
              </a:ext>
            </a:extLst>
          </p:cNvPr>
          <p:cNvCxnSpPr>
            <a:cxnSpLocks/>
          </p:cNvCxnSpPr>
          <p:nvPr/>
        </p:nvCxnSpPr>
        <p:spPr>
          <a:xfrm>
            <a:off x="17902991" y="7279622"/>
            <a:ext cx="499832" cy="4452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8641E36-9CEA-587C-C958-FEDA8B765CFB}"/>
              </a:ext>
            </a:extLst>
          </p:cNvPr>
          <p:cNvSpPr txBox="1"/>
          <p:nvPr/>
        </p:nvSpPr>
        <p:spPr>
          <a:xfrm>
            <a:off x="19218265" y="4598612"/>
            <a:ext cx="913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solidFill>
                  <a:srgbClr val="FF0000"/>
                </a:solidFill>
              </a:rPr>
              <a:t>×</a:t>
            </a:r>
            <a:endParaRPr kumimoji="1" lang="ja-JP" altLang="en-US" sz="3600" b="1" dirty="0">
              <a:solidFill>
                <a:srgbClr val="FF000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B931273-C48E-794D-8D1E-F91C52D73C0E}"/>
              </a:ext>
            </a:extLst>
          </p:cNvPr>
          <p:cNvSpPr txBox="1"/>
          <p:nvPr/>
        </p:nvSpPr>
        <p:spPr>
          <a:xfrm>
            <a:off x="20342335" y="5244943"/>
            <a:ext cx="913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>
                <a:solidFill>
                  <a:srgbClr val="FF0000"/>
                </a:solidFill>
              </a:rPr>
              <a:t>×</a:t>
            </a:r>
            <a:endParaRPr kumimoji="1" lang="ja-JP" altLang="en-US" sz="3600" b="1" dirty="0">
              <a:solidFill>
                <a:srgbClr val="FF0000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793C9ED-5EE1-A494-F930-22B220E04A48}"/>
              </a:ext>
            </a:extLst>
          </p:cNvPr>
          <p:cNvSpPr txBox="1"/>
          <p:nvPr/>
        </p:nvSpPr>
        <p:spPr>
          <a:xfrm>
            <a:off x="20443973" y="7835606"/>
            <a:ext cx="442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solidFill>
                  <a:srgbClr val="00B050"/>
                </a:solidFill>
              </a:rPr>
              <a:t>Uncertainty Region</a:t>
            </a:r>
            <a:endParaRPr kumimoji="1" lang="ja-JP" altLang="en-US" sz="3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21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9DDC-3415-D1F2-705D-20A50BB6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808245-5BE5-368C-92FD-8F3A4DE27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ja-JP" altLang="en-US" dirty="0"/>
              <a:t>事前予測と観測残差の二層補正により</a:t>
            </a:r>
            <a:r>
              <a:rPr lang="en-US" altLang="ja-JP" dirty="0"/>
              <a:t>LOS</a:t>
            </a:r>
            <a:r>
              <a:rPr lang="ja-JP" altLang="en-US" dirty="0"/>
              <a:t>バイアスを補正する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A5B037B-9C02-477A-2241-9C0D193A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F5B62F-8E46-6400-ED07-4A10EDA849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93D7A15-3AFA-C9F2-8BB6-B3121ABBB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92833"/>
            <a:ext cx="10335305" cy="4685407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dirty="0"/>
              <a:t>Orbit / thermal condition, </a:t>
            </a:r>
            <a:br>
              <a:rPr lang="en-US" altLang="ja-JP" dirty="0"/>
            </a:br>
            <a:r>
              <a:rPr lang="en-US" altLang="ja-JP" dirty="0"/>
              <a:t>operation mode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thermal / structural model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predicted LOS bias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scan center correction</a:t>
            </a:r>
            <a:endParaRPr kumimoji="1"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5077044-AEC9-F340-9989-F0DA40FCE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59112" y="4092833"/>
            <a:ext cx="10377246" cy="4685407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dirty="0"/>
              <a:t>PAT sensor output,</a:t>
            </a:r>
            <a:br>
              <a:rPr lang="en-US" altLang="ja-JP" dirty="0"/>
            </a:br>
            <a:r>
              <a:rPr lang="en-US" altLang="ja-JP" dirty="0"/>
              <a:t>QD / FPM / received power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residual estimation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model update</a:t>
            </a:r>
            <a:br>
              <a:rPr lang="en-US" altLang="ja-JP" dirty="0"/>
            </a:br>
            <a:r>
              <a:rPr lang="en-US" altLang="ja-JP" dirty="0"/>
              <a:t>↓</a:t>
            </a:r>
            <a:br>
              <a:rPr lang="en-US" altLang="ja-JP" dirty="0"/>
            </a:br>
            <a:r>
              <a:rPr lang="en-US" altLang="ja-JP" dirty="0"/>
              <a:t>correction refinement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AA6F85D-FDE3-EF39-923F-52525C04CE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115" y="3213462"/>
            <a:ext cx="10377246" cy="9064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/>
              <a:t>Feedforward correction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5A855F98-185C-41B6-676F-999C316998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459112" y="3213462"/>
            <a:ext cx="10416296" cy="906463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/>
              <a:t>Adaptive correction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4BB33D-44CD-2338-7E34-76182D61982E}"/>
              </a:ext>
            </a:extLst>
          </p:cNvPr>
          <p:cNvSpPr txBox="1"/>
          <p:nvPr/>
        </p:nvSpPr>
        <p:spPr>
          <a:xfrm>
            <a:off x="9154065" y="10974127"/>
            <a:ext cx="60742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dirty="0"/>
              <a:t>Output:</a:t>
            </a:r>
          </a:p>
          <a:p>
            <a:pPr algn="ctr"/>
            <a:r>
              <a:rPr kumimoji="1" lang="ja-JP" altLang="en-US" sz="4400" dirty="0"/>
              <a:t>補正後のスキャン中心</a:t>
            </a:r>
            <a:endParaRPr kumimoji="1" lang="en-US" altLang="ja-JP" sz="4400" dirty="0"/>
          </a:p>
        </p:txBody>
      </p:sp>
      <p:sp>
        <p:nvSpPr>
          <p:cNvPr id="10" name="加算記号 9">
            <a:extLst>
              <a:ext uri="{FF2B5EF4-FFF2-40B4-BE49-F238E27FC236}">
                <a16:creationId xmlns:a16="http://schemas.microsoft.com/office/drawing/2014/main" id="{E8F0E678-8DFD-3CC0-951D-2B220AAC514F}"/>
              </a:ext>
            </a:extLst>
          </p:cNvPr>
          <p:cNvSpPr/>
          <p:nvPr/>
        </p:nvSpPr>
        <p:spPr>
          <a:xfrm>
            <a:off x="11590403" y="5905184"/>
            <a:ext cx="1115568" cy="106070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5992FE56-698F-2871-DA1E-52C2C7E3F848}"/>
              </a:ext>
            </a:extLst>
          </p:cNvPr>
          <p:cNvSpPr/>
          <p:nvPr/>
        </p:nvSpPr>
        <p:spPr>
          <a:xfrm>
            <a:off x="11736707" y="9209070"/>
            <a:ext cx="822960" cy="1334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1604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CFCE-430C-45AD-7F00-F755388C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112C6-9D82-6D5D-900C-6D9C8FB0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en-US" altLang="ja-JP" dirty="0"/>
              <a:t>TD/</a:t>
            </a:r>
            <a:r>
              <a:rPr lang="en-US" altLang="ja-JP" dirty="0" err="1"/>
              <a:t>Femap</a:t>
            </a:r>
            <a:r>
              <a:rPr lang="ja-JP" altLang="en-US" dirty="0"/>
              <a:t>を高精度参照モデルとして</a:t>
            </a:r>
            <a:r>
              <a:rPr lang="en-US" altLang="ja-JP" dirty="0"/>
              <a:t>LOS</a:t>
            </a:r>
            <a:r>
              <a:rPr lang="ja-JP" altLang="en-US" dirty="0"/>
              <a:t>バイアス時系列を作る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FDB8730-2369-D039-9984-A19F92C9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6EECDB-FF1B-5953-CF8E-1F77DC2BCB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7" name="コンテンツ プレースホルダー 4">
            <a:extLst>
              <a:ext uri="{FF2B5EF4-FFF2-40B4-BE49-F238E27FC236}">
                <a16:creationId xmlns:a16="http://schemas.microsoft.com/office/drawing/2014/main" id="{CDCBAEA6-9D73-003B-7230-CF2C41F7E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10530" y="4311402"/>
            <a:ext cx="11364543" cy="7128326"/>
          </a:xfrm>
        </p:spPr>
        <p:txBody>
          <a:bodyPr/>
          <a:lstStyle/>
          <a:p>
            <a:r>
              <a:rPr lang="ja-JP" altLang="en-US" dirty="0"/>
              <a:t>宇宙用熱解析ソフト</a:t>
            </a:r>
            <a:r>
              <a:rPr lang="en-US" altLang="ja-JP" dirty="0"/>
              <a:t>Thermal Desktop (TD)</a:t>
            </a:r>
            <a:r>
              <a:rPr lang="ja-JP" altLang="en-US" dirty="0"/>
              <a:t>で軌道熱環境・運用モードに応じた温度場を計算</a:t>
            </a:r>
          </a:p>
          <a:p>
            <a:endParaRPr lang="ja-JP" altLang="en-US" dirty="0"/>
          </a:p>
          <a:p>
            <a:r>
              <a:rPr lang="ja-JP" altLang="en-US" dirty="0"/>
              <a:t>構造解析ソフト</a:t>
            </a:r>
            <a:r>
              <a:rPr lang="en-US" altLang="ja-JP" dirty="0" err="1"/>
              <a:t>Femap</a:t>
            </a:r>
            <a:r>
              <a:rPr lang="en-US" altLang="ja-JP" dirty="0"/>
              <a:t> / Nastran</a:t>
            </a:r>
            <a:r>
              <a:rPr lang="ja-JP" altLang="en-US" dirty="0"/>
              <a:t>で各時刻での温度場を構造モデルへ入力し，光学基準間の相対変位・相対角を計算</a:t>
            </a:r>
          </a:p>
          <a:p>
            <a:endParaRPr lang="ja-JP" altLang="en-US" dirty="0"/>
          </a:p>
          <a:p>
            <a:r>
              <a:rPr lang="ja-JP" altLang="en-US" dirty="0"/>
              <a:t>得られた熱変形を</a:t>
            </a:r>
            <a:r>
              <a:rPr lang="en-US" altLang="ja-JP" dirty="0"/>
              <a:t>LOS</a:t>
            </a:r>
            <a:r>
              <a:rPr lang="ja-JP" altLang="en-US" dirty="0"/>
              <a:t>バイアスに変換し，補正モデル評価用の高精度参照時系列として用いる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1D551B9-6FE2-9B1C-C781-DAF4936290A2}"/>
              </a:ext>
            </a:extLst>
          </p:cNvPr>
          <p:cNvSpPr txBox="1"/>
          <p:nvPr/>
        </p:nvSpPr>
        <p:spPr>
          <a:xfrm>
            <a:off x="1310530" y="11311774"/>
            <a:ext cx="116200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※ TD/Femapはオンボード実装ではなく，</a:t>
            </a:r>
          </a:p>
          <a:p>
            <a:r>
              <a:rPr lang="ja-JP" altLang="en-US" sz="3200" dirty="0"/>
              <a:t>   補正モデル評価用のhigh-fidelity referenceとして用いる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AF559C-9A0F-AAA9-A1FA-EAF91EE4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376" y="2700745"/>
            <a:ext cx="4333565" cy="495661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B5BDDDA-AAAC-5B75-7473-457DD94DC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8742380" y="3424893"/>
            <a:ext cx="4697617" cy="304651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2893FA0-0B1C-EA23-97FA-75A44D562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6448" y="9002304"/>
            <a:ext cx="4369640" cy="3184653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DBC1607-157D-C3DE-0797-59ED57380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1925" y="8403535"/>
            <a:ext cx="4540483" cy="4388076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3E5590C-BB32-7503-7EA7-ADC501920DB7}"/>
              </a:ext>
            </a:extLst>
          </p:cNvPr>
          <p:cNvSpPr txBox="1"/>
          <p:nvPr/>
        </p:nvSpPr>
        <p:spPr>
          <a:xfrm>
            <a:off x="14221931" y="7613955"/>
            <a:ext cx="3854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Thermal Desktop</a:t>
            </a:r>
            <a:endParaRPr kumimoji="1" lang="ja-JP" altLang="en-US" sz="2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6599CF9-A432-6EED-5327-F8838F704C58}"/>
              </a:ext>
            </a:extLst>
          </p:cNvPr>
          <p:cNvSpPr txBox="1"/>
          <p:nvPr/>
        </p:nvSpPr>
        <p:spPr>
          <a:xfrm>
            <a:off x="19663813" y="12307886"/>
            <a:ext cx="4369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LOS</a:t>
            </a:r>
            <a:r>
              <a:rPr kumimoji="1" lang="ja-JP" altLang="en-US" sz="2800" dirty="0"/>
              <a:t>バイアス時系列データ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EA4190A-EB78-D09A-793E-16A4E95A0AB4}"/>
              </a:ext>
            </a:extLst>
          </p:cNvPr>
          <p:cNvSpPr txBox="1"/>
          <p:nvPr/>
        </p:nvSpPr>
        <p:spPr>
          <a:xfrm>
            <a:off x="20462157" y="7696468"/>
            <a:ext cx="1968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Femap</a:t>
            </a:r>
            <a:endParaRPr kumimoji="1" lang="ja-JP" altLang="en-US" sz="28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E49219E-C08A-2299-EDFA-FF3DA60FED8D}"/>
              </a:ext>
            </a:extLst>
          </p:cNvPr>
          <p:cNvSpPr txBox="1"/>
          <p:nvPr/>
        </p:nvSpPr>
        <p:spPr>
          <a:xfrm>
            <a:off x="12930604" y="13031811"/>
            <a:ext cx="5873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姿勢基準の</a:t>
            </a:r>
            <a:r>
              <a:rPr kumimoji="1" lang="en-US" altLang="ja-JP" sz="2800" dirty="0"/>
              <a:t>STT</a:t>
            </a:r>
            <a:r>
              <a:rPr kumimoji="1" lang="ja-JP" altLang="en-US" sz="2800" dirty="0"/>
              <a:t>と光学系基準の</a:t>
            </a:r>
            <a:r>
              <a:rPr kumimoji="1" lang="en-US" altLang="ja-JP" sz="2800" dirty="0"/>
              <a:t>LCT</a:t>
            </a:r>
            <a:endParaRPr kumimoji="1" lang="ja-JP" altLang="en-US" sz="2800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693C684-022D-4CFE-AC5D-EF24F4461493}"/>
              </a:ext>
            </a:extLst>
          </p:cNvPr>
          <p:cNvCxnSpPr>
            <a:cxnSpLocks/>
          </p:cNvCxnSpPr>
          <p:nvPr/>
        </p:nvCxnSpPr>
        <p:spPr>
          <a:xfrm>
            <a:off x="17425941" y="4773168"/>
            <a:ext cx="1835536" cy="0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9F7EE80-87A3-FB70-8B27-B6D5554E635E}"/>
              </a:ext>
            </a:extLst>
          </p:cNvPr>
          <p:cNvCxnSpPr>
            <a:cxnSpLocks/>
          </p:cNvCxnSpPr>
          <p:nvPr/>
        </p:nvCxnSpPr>
        <p:spPr>
          <a:xfrm flipH="1">
            <a:off x="17712408" y="7479792"/>
            <a:ext cx="1549069" cy="1467648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FE24E47F-D803-4E43-0232-A63215CA387C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17712408" y="10594631"/>
            <a:ext cx="1834040" cy="2942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3D95C33-05A3-7060-E756-2E62A44C4C9E}"/>
              </a:ext>
            </a:extLst>
          </p:cNvPr>
          <p:cNvSpPr txBox="1"/>
          <p:nvPr/>
        </p:nvSpPr>
        <p:spPr>
          <a:xfrm>
            <a:off x="17503306" y="4150251"/>
            <a:ext cx="2281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温度場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B295CF6-0275-FD02-1B26-BB346914FFF8}"/>
              </a:ext>
            </a:extLst>
          </p:cNvPr>
          <p:cNvSpPr txBox="1"/>
          <p:nvPr/>
        </p:nvSpPr>
        <p:spPr>
          <a:xfrm>
            <a:off x="17535438" y="7398224"/>
            <a:ext cx="2281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ひずみ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D9476FF-2C55-60F5-07F7-E72723BD8D3C}"/>
              </a:ext>
            </a:extLst>
          </p:cNvPr>
          <p:cNvSpPr txBox="1"/>
          <p:nvPr/>
        </p:nvSpPr>
        <p:spPr>
          <a:xfrm>
            <a:off x="17503306" y="10726999"/>
            <a:ext cx="2281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/>
              <a:t>ベクトル差</a:t>
            </a:r>
          </a:p>
        </p:txBody>
      </p:sp>
    </p:spTree>
    <p:extLst>
      <p:ext uri="{BB962C8B-B14F-4D97-AF65-F5344CB8AC3E}">
        <p14:creationId xmlns:p14="http://schemas.microsoft.com/office/powerpoint/2010/main" val="466963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62174-67B5-BBAF-FE92-4D02A312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C2A1A5-E727-1543-ED3F-14B924B0A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Feedforward Correction: </a:t>
            </a:r>
            <a:r>
              <a:rPr lang="ja-JP" altLang="en-US" dirty="0"/>
              <a:t>軽量な補正モデルで</a:t>
            </a:r>
            <a:r>
              <a:rPr lang="en-US" altLang="ja-JP" dirty="0"/>
              <a:t>LOS</a:t>
            </a:r>
            <a:r>
              <a:rPr lang="ja-JP" altLang="en-US" dirty="0"/>
              <a:t>バイアスを近似・予測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40C4110-A094-B0AB-DF59-005F3AB8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E54630-5E4B-9BF8-8366-2481FA17C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31F5264-C734-F8C1-F93A-C8B96181B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538" y="3293837"/>
            <a:ext cx="11364543" cy="4429925"/>
          </a:xfrm>
        </p:spPr>
        <p:txBody>
          <a:bodyPr/>
          <a:lstStyle/>
          <a:p>
            <a:r>
              <a:rPr lang="en-US" altLang="ja-JP" dirty="0"/>
              <a:t>TD/</a:t>
            </a:r>
            <a:r>
              <a:rPr lang="en-US" altLang="ja-JP" dirty="0" err="1"/>
              <a:t>Femap</a:t>
            </a:r>
            <a:r>
              <a:rPr lang="ja-JP" altLang="en-US" dirty="0"/>
              <a:t>で得た</a:t>
            </a:r>
            <a:r>
              <a:rPr lang="en-US" altLang="ja-JP" dirty="0"/>
              <a:t>LOS</a:t>
            </a:r>
            <a:r>
              <a:rPr lang="ja-JP" altLang="en-US" dirty="0"/>
              <a:t>バイアス時系列を教師データとして，軌道上で扱いやすい軽量モデルへ近似する．下表の候補を組み合わせる</a:t>
            </a:r>
          </a:p>
          <a:p>
            <a:r>
              <a:rPr lang="ja-JP" altLang="en-US" dirty="0"/>
              <a:t>予測された</a:t>
            </a:r>
            <a:r>
              <a:rPr lang="en-US" altLang="ja-JP" dirty="0"/>
              <a:t>LOS</a:t>
            </a:r>
            <a:r>
              <a:rPr lang="ja-JP" altLang="en-US" dirty="0"/>
              <a:t>バイアスを粗捕捉時の</a:t>
            </a:r>
            <a:r>
              <a:rPr lang="en-US" altLang="ja-JP" dirty="0"/>
              <a:t>scan center</a:t>
            </a:r>
            <a:r>
              <a:rPr lang="ja-JP" altLang="en-US" dirty="0"/>
              <a:t>補正量として用いる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B410833-0FA1-A087-A04D-4D85A9A1B58E}"/>
                  </a:ext>
                </a:extLst>
              </p:cNvPr>
              <p:cNvSpPr txBox="1"/>
              <p:nvPr/>
            </p:nvSpPr>
            <p:spPr>
              <a:xfrm>
                <a:off x="15302099" y="3332643"/>
                <a:ext cx="8534259" cy="7848302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sz="3600" dirty="0"/>
                  <a:t>&lt;</a:t>
                </a:r>
                <a:r>
                  <a:rPr lang="ja-JP" altLang="en-US" sz="3600" dirty="0"/>
                  <a:t>軽量モデル化の流れ</a:t>
                </a:r>
                <a:r>
                  <a:rPr lang="en-US" altLang="ja-JP" sz="3600" dirty="0"/>
                  <a:t>&gt;</a:t>
                </a:r>
              </a:p>
              <a:p>
                <a:endParaRPr lang="en-US" altLang="ja-JP" sz="3600" dirty="0"/>
              </a:p>
              <a:p>
                <a:r>
                  <a:rPr lang="ja-JP" altLang="en-US" sz="3600" dirty="0"/>
                  <a:t>High-fidelity reference</a:t>
                </a:r>
              </a:p>
              <a:p>
                <a:r>
                  <a:rPr lang="ja-JP" altLang="en-US" sz="3600" dirty="0"/>
                  <a:t>TD/Femap LOS bias</a:t>
                </a:r>
                <a14:m>
                  <m:oMath xmlns:m="http://schemas.openxmlformats.org/officeDocument/2006/math">
                    <m:r>
                      <a:rPr lang="en-US" altLang="ja-JP" sz="36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ja-JP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ja-JP" altLang="en-US" sz="3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ja-JP" altLang="en-US" sz="3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ja-JP" sz="3600" i="1" dirty="0">
                            <a:latin typeface="Cambria Math" panose="02040503050406030204" pitchFamily="18" charset="0"/>
                          </a:rPr>
                          <m:t>𝐿𝑂𝑆</m:t>
                        </m:r>
                      </m:sub>
                    </m:sSub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ja-JP" altLang="en-US" sz="3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3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ja-JP" sz="3600" dirty="0"/>
              </a:p>
              <a:p>
                <a:endParaRPr lang="en-US" altLang="ja-JP" sz="3600" dirty="0"/>
              </a:p>
              <a:p>
                <a:r>
                  <a:rPr lang="ja-JP" altLang="en-US" sz="3600" dirty="0"/>
                  <a:t>        ↓ training / fitting </a:t>
                </a:r>
                <a:endParaRPr lang="en-US" altLang="ja-JP" sz="3600" dirty="0"/>
              </a:p>
              <a:p>
                <a:endParaRPr lang="ja-JP" altLang="en-US" sz="3600" dirty="0"/>
              </a:p>
              <a:p>
                <a:r>
                  <a:rPr lang="ja-JP" altLang="en-US" sz="3600" dirty="0"/>
                  <a:t>Lightweight correction model </a:t>
                </a:r>
                <a14:m>
                  <m:oMath xmlns:m="http://schemas.openxmlformats.org/officeDocument/2006/math">
                    <m:r>
                      <a:rPr lang="ja-JP" alt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3600" dirty="0"/>
              </a:p>
              <a:p>
                <a:endParaRPr lang="ja-JP" altLang="en-US" sz="3600" dirty="0"/>
              </a:p>
              <a:p>
                <a:r>
                  <a:rPr lang="ja-JP" altLang="en-US" sz="3600" dirty="0"/>
                  <a:t>        ↓ prediction</a:t>
                </a:r>
              </a:p>
              <a:p>
                <a:endParaRPr lang="en-US" altLang="ja-JP" sz="3600" dirty="0"/>
              </a:p>
              <a:p>
                <a:r>
                  <a:rPr lang="ja-JP" altLang="en-US" sz="3600" dirty="0"/>
                  <a:t>Predicted LOS bias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ja-JP" altLang="en-US" sz="36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ja-JP" altLang="en-US" sz="3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ja-JP" sz="3600" i="1" dirty="0">
                            <a:latin typeface="Cambria Math" panose="02040503050406030204" pitchFamily="18" charset="0"/>
                          </a:rPr>
                          <m:t>𝐿𝑂𝑆</m:t>
                        </m:r>
                      </m:sub>
                    </m:sSub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ja-JP" altLang="en-US" sz="3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3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3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3600" dirty="0"/>
              </a:p>
              <a:p>
                <a:r>
                  <a:rPr lang="ja-JP" altLang="en-US" sz="3600" dirty="0"/>
                  <a:t>        ↓</a:t>
                </a:r>
                <a:endParaRPr lang="en-US" altLang="ja-JP" sz="3600" dirty="0"/>
              </a:p>
              <a:p>
                <a:r>
                  <a:rPr lang="ja-JP" altLang="en-US" sz="3600" dirty="0"/>
                  <a:t>Scan center correction</a:t>
                </a: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B410833-0FA1-A087-A04D-4D85A9A1B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2099" y="3332643"/>
                <a:ext cx="8534259" cy="7848302"/>
              </a:xfrm>
              <a:prstGeom prst="rect">
                <a:avLst/>
              </a:prstGeom>
              <a:blipFill>
                <a:blip r:embed="rId2"/>
                <a:stretch>
                  <a:fillRect l="-2068" t="-1396" b="-1939"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 7">
                <a:extLst>
                  <a:ext uri="{FF2B5EF4-FFF2-40B4-BE49-F238E27FC236}">
                    <a16:creationId xmlns:a16="http://schemas.microsoft.com/office/drawing/2014/main" id="{4B7139FD-F5A4-E0DD-8D7B-B68A5C531E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9709"/>
                  </p:ext>
                </p:extLst>
              </p:nvPr>
            </p:nvGraphicFramePr>
            <p:xfrm>
              <a:off x="1524538" y="7234646"/>
              <a:ext cx="12991694" cy="5843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2768">
                      <a:extLst>
                        <a:ext uri="{9D8B030D-6E8A-4147-A177-3AD203B41FA5}">
                          <a16:colId xmlns:a16="http://schemas.microsoft.com/office/drawing/2014/main" val="1917793347"/>
                        </a:ext>
                      </a:extLst>
                    </a:gridCol>
                    <a:gridCol w="3160568">
                      <a:extLst>
                        <a:ext uri="{9D8B030D-6E8A-4147-A177-3AD203B41FA5}">
                          <a16:colId xmlns:a16="http://schemas.microsoft.com/office/drawing/2014/main" val="1791637496"/>
                        </a:ext>
                      </a:extLst>
                    </a:gridCol>
                    <a:gridCol w="5077839">
                      <a:extLst>
                        <a:ext uri="{9D8B030D-6E8A-4147-A177-3AD203B41FA5}">
                          <a16:colId xmlns:a16="http://schemas.microsoft.com/office/drawing/2014/main" val="1962753863"/>
                        </a:ext>
                      </a:extLst>
                    </a:gridCol>
                    <a:gridCol w="3910519">
                      <a:extLst>
                        <a:ext uri="{9D8B030D-6E8A-4147-A177-3AD203B41FA5}">
                          <a16:colId xmlns:a16="http://schemas.microsoft.com/office/drawing/2014/main" val="3552778671"/>
                        </a:ext>
                      </a:extLst>
                    </a:gridCol>
                  </a:tblGrid>
                  <a:tr h="551641">
                    <a:tc>
                      <a:txBody>
                        <a:bodyPr/>
                        <a:lstStyle/>
                        <a:p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ja-JP" altLang="en-US" sz="3200" dirty="0"/>
                            <a:t>モデル</a:t>
                          </a:r>
                          <a14:m>
                            <m:oMath xmlns:m="http://schemas.openxmlformats.org/officeDocument/2006/math">
                              <m:r>
                                <a:rPr lang="ja-JP" altLang="en-US" sz="320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ja-JP" altLang="en-US" sz="3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ja-JP" altLang="en-US" sz="32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ja-JP" altLang="en-US" sz="32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ja-JP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入力</a:t>
                          </a:r>
                          <a14:m>
                            <m:oMath xmlns:m="http://schemas.openxmlformats.org/officeDocument/2006/math">
                              <m:r>
                                <a:rPr lang="ja-JP" altLang="en-US" sz="32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ja-JP" alt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/>
                            <a:t>特徴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4533176"/>
                      </a:ext>
                    </a:extLst>
                  </a:tr>
                  <a:tr h="1016181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3200" dirty="0"/>
                            <a:t>0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Static bias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平均</a:t>
                          </a:r>
                          <a:r>
                            <a:rPr lang="en-US" altLang="ja-JP" sz="3200" dirty="0"/>
                            <a:t>LOS</a:t>
                          </a:r>
                          <a:r>
                            <a:rPr lang="ja-JP" altLang="en-US" sz="3200" dirty="0"/>
                            <a:t>バイアス </a:t>
                          </a:r>
                          <a:r>
                            <a:rPr lang="en-US" altLang="ja-JP" sz="3200" dirty="0"/>
                            <a:t>(</a:t>
                          </a:r>
                          <a:r>
                            <a:rPr lang="ja-JP" altLang="en-US" sz="3200" dirty="0"/>
                            <a:t>定数</a:t>
                          </a:r>
                          <a:r>
                            <a:rPr lang="en-US" altLang="ja-JP" sz="3200" dirty="0"/>
                            <a:t>)</a:t>
                          </a:r>
                          <a:endParaRPr lang="ja-JP" alt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最小構成の比較対象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24025"/>
                      </a:ext>
                    </a:extLst>
                  </a:tr>
                  <a:tr h="742199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1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Fourier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軌道位相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/>
                            <a:t>周期性を仮定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5126163"/>
                      </a:ext>
                    </a:extLst>
                  </a:tr>
                  <a:tr h="1016181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2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Orbital geometry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Sun-Sat, Sun-LOS</a:t>
                          </a:r>
                          <a:r>
                            <a:rPr lang="ja-JP" altLang="en-US" sz="3200" dirty="0"/>
                            <a:t>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熱環境を幾何で近似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7494957"/>
                      </a:ext>
                    </a:extLst>
                  </a:tr>
                  <a:tr h="1372080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3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/>
                            <a:t>Thermal sensor 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温度センサ値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実測温度を利用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2365704"/>
                      </a:ext>
                    </a:extLst>
                  </a:tr>
                  <a:tr h="1016181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4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/>
                            <a:t>Online update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PAT</a:t>
                          </a:r>
                          <a:r>
                            <a:rPr lang="ja-JP" altLang="en-US" sz="3200" dirty="0"/>
                            <a:t>残差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モデル誤差を逐次補正 </a:t>
                          </a:r>
                          <a:r>
                            <a:rPr lang="en-US" altLang="ja-JP" sz="3200" dirty="0"/>
                            <a:t>(Adaptive</a:t>
                          </a:r>
                          <a:r>
                            <a:rPr lang="ja-JP" altLang="en-US" sz="3200" dirty="0"/>
                            <a:t>拡張</a:t>
                          </a:r>
                          <a:r>
                            <a:rPr lang="en-US" altLang="ja-JP" sz="3200" dirty="0"/>
                            <a:t>)</a:t>
                          </a:r>
                          <a:endParaRPr lang="ja-JP" altLang="en-US" sz="3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23573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 7">
                <a:extLst>
                  <a:ext uri="{FF2B5EF4-FFF2-40B4-BE49-F238E27FC236}">
                    <a16:creationId xmlns:a16="http://schemas.microsoft.com/office/drawing/2014/main" id="{4B7139FD-F5A4-E0DD-8D7B-B68A5C531E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9709"/>
                  </p:ext>
                </p:extLst>
              </p:nvPr>
            </p:nvGraphicFramePr>
            <p:xfrm>
              <a:off x="1524538" y="7234646"/>
              <a:ext cx="12991694" cy="5843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2768">
                      <a:extLst>
                        <a:ext uri="{9D8B030D-6E8A-4147-A177-3AD203B41FA5}">
                          <a16:colId xmlns:a16="http://schemas.microsoft.com/office/drawing/2014/main" val="1917793347"/>
                        </a:ext>
                      </a:extLst>
                    </a:gridCol>
                    <a:gridCol w="3160568">
                      <a:extLst>
                        <a:ext uri="{9D8B030D-6E8A-4147-A177-3AD203B41FA5}">
                          <a16:colId xmlns:a16="http://schemas.microsoft.com/office/drawing/2014/main" val="1791637496"/>
                        </a:ext>
                      </a:extLst>
                    </a:gridCol>
                    <a:gridCol w="5077839">
                      <a:extLst>
                        <a:ext uri="{9D8B030D-6E8A-4147-A177-3AD203B41FA5}">
                          <a16:colId xmlns:a16="http://schemas.microsoft.com/office/drawing/2014/main" val="1962753863"/>
                        </a:ext>
                      </a:extLst>
                    </a:gridCol>
                    <a:gridCol w="3910519">
                      <a:extLst>
                        <a:ext uri="{9D8B030D-6E8A-4147-A177-3AD203B41FA5}">
                          <a16:colId xmlns:a16="http://schemas.microsoft.com/office/drawing/2014/main" val="355277867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782" t="-15789" r="-284971" b="-94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8992" t="-15789" r="-77551" b="-94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/>
                            <a:t>特徴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4533176"/>
                      </a:ext>
                    </a:extLst>
                  </a:tr>
                  <a:tr h="1016181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3200" dirty="0"/>
                            <a:t>0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Static bias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平均</a:t>
                          </a:r>
                          <a:r>
                            <a:rPr lang="en-US" altLang="ja-JP" sz="3200" dirty="0"/>
                            <a:t>LOS</a:t>
                          </a:r>
                          <a:r>
                            <a:rPr lang="ja-JP" altLang="en-US" sz="3200" dirty="0"/>
                            <a:t>バイアス </a:t>
                          </a:r>
                          <a:r>
                            <a:rPr lang="en-US" altLang="ja-JP" sz="3200" dirty="0"/>
                            <a:t>(</a:t>
                          </a:r>
                          <a:r>
                            <a:rPr lang="ja-JP" altLang="en-US" sz="3200" dirty="0"/>
                            <a:t>定数</a:t>
                          </a:r>
                          <a:r>
                            <a:rPr lang="en-US" altLang="ja-JP" sz="3200" dirty="0"/>
                            <a:t>)</a:t>
                          </a:r>
                          <a:endParaRPr lang="ja-JP" alt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最小構成の比較対象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324025"/>
                      </a:ext>
                    </a:extLst>
                  </a:tr>
                  <a:tr h="742199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1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Fourier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軌道位相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/>
                            <a:t>周期性を仮定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5126163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2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Orbital geometry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Sun-Sat, Sun-LOS</a:t>
                          </a:r>
                          <a:r>
                            <a:rPr lang="ja-JP" altLang="en-US" sz="3200" dirty="0"/>
                            <a:t>等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熱環境を幾何で近似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27494957"/>
                      </a:ext>
                    </a:extLst>
                  </a:tr>
                  <a:tr h="1372080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3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/>
                            <a:t>Thermal sensor 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温度センサ値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実測温度を利用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2365704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marL="0" marR="0" lvl="0" indent="0" algn="l" defTabSz="18287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dirty="0"/>
                            <a:t>4</a:t>
                          </a:r>
                          <a:endParaRPr kumimoji="1" lang="ja-JP" alt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/>
                            <a:t>Online update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3200" dirty="0"/>
                            <a:t>PAT</a:t>
                          </a:r>
                          <a:r>
                            <a:rPr lang="ja-JP" altLang="en-US" sz="3200" dirty="0"/>
                            <a:t>残差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altLang="en-US" sz="3200" dirty="0"/>
                            <a:t>モデル誤差を逐次補正 </a:t>
                          </a:r>
                          <a:r>
                            <a:rPr lang="en-US" altLang="ja-JP" sz="3200" dirty="0"/>
                            <a:t>(Adaptive</a:t>
                          </a:r>
                          <a:r>
                            <a:rPr lang="ja-JP" altLang="en-US" sz="3200" dirty="0"/>
                            <a:t>拡張</a:t>
                          </a:r>
                          <a:r>
                            <a:rPr lang="en-US" altLang="ja-JP" sz="3200" dirty="0"/>
                            <a:t>)</a:t>
                          </a:r>
                          <a:endParaRPr lang="ja-JP" altLang="en-US" sz="3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23573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6D406D-FD7A-9280-87FE-0FAE28E3E561}"/>
              </a:ext>
            </a:extLst>
          </p:cNvPr>
          <p:cNvSpPr txBox="1"/>
          <p:nvPr/>
        </p:nvSpPr>
        <p:spPr>
          <a:xfrm>
            <a:off x="4868623" y="6588315"/>
            <a:ext cx="6303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軽量モデルの候補</a:t>
            </a:r>
          </a:p>
        </p:txBody>
      </p:sp>
    </p:spTree>
    <p:extLst>
      <p:ext uri="{BB962C8B-B14F-4D97-AF65-F5344CB8AC3E}">
        <p14:creationId xmlns:p14="http://schemas.microsoft.com/office/powerpoint/2010/main" val="251288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90EC-D825-EB7A-0E2B-A837EF5E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7C9CA6-0D3F-F2E8-632B-D3C814659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Feedforward Correction:</a:t>
            </a:r>
            <a:r>
              <a:rPr lang="ja-JP" altLang="en-US" dirty="0"/>
              <a:t>予測</a:t>
            </a:r>
            <a:r>
              <a:rPr lang="en-US" altLang="ja-JP" dirty="0"/>
              <a:t>LOS</a:t>
            </a:r>
            <a:r>
              <a:rPr lang="ja-JP" altLang="en-US" dirty="0"/>
              <a:t>バイアスを</a:t>
            </a:r>
            <a:r>
              <a:rPr lang="en-US" altLang="ja-JP" dirty="0"/>
              <a:t>scan center</a:t>
            </a:r>
            <a:r>
              <a:rPr lang="ja-JP" altLang="en-US" dirty="0"/>
              <a:t>補正量として入力する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4FA9E2-3581-1A53-1D91-D80AD77C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7F8796-64CB-E924-E196-63CDFD167C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130073B-E4CF-CC25-8D5A-B4F50C379285}"/>
                  </a:ext>
                </a:extLst>
              </p:cNvPr>
              <p:cNvSpPr txBox="1"/>
              <p:nvPr/>
            </p:nvSpPr>
            <p:spPr>
              <a:xfrm>
                <a:off x="1310530" y="3492279"/>
                <a:ext cx="10072991" cy="6944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ja-JP" altLang="en-US" sz="4000" dirty="0"/>
              </a:p>
              <a:p>
                <a:r>
                  <a:rPr lang="ja-JP" altLang="en-US" sz="4000" dirty="0"/>
                  <a:t>Scan center command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𝐹𝐹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) =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𝑠𝑐𝑎𝑛</m:t>
                          </m:r>
                        </m:sub>
                      </m:sSub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)− </m:t>
                      </m:r>
                      <m:r>
                        <m:rPr>
                          <m:sty m:val="p"/>
                        </m:rPr>
                        <a:rPr lang="ja-JP" altLang="en-US" sz="4000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ja-JP" sz="4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sz="40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sz="4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altLang="ja-JP" sz="4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𝐿𝑂𝑆</m:t>
                          </m:r>
                        </m:sub>
                      </m:sSub>
                      <m:r>
                        <a:rPr lang="ja-JP" altLang="en-US" sz="4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sSub>
                        <m:sSubPr>
                          <m:ctrlPr>
                            <a:rPr lang="en-US" altLang="ja-JP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𝑛𝑜𝑚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en-US" altLang="ja-JP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𝐹𝐹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4000" dirty="0"/>
              </a:p>
              <a:p>
                <a:endParaRPr lang="ja-JP" altLang="en-US" sz="4000" dirty="0"/>
              </a:p>
              <a:p>
                <a:endParaRPr lang="en-US" altLang="ja-JP" sz="4000" dirty="0"/>
              </a:p>
              <a:p>
                <a:r>
                  <a:rPr lang="ja-JP" altLang="en-US" sz="4000" dirty="0"/>
                  <a:t>Residual error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𝑠𝑐𝑎𝑛</m:t>
                          </m:r>
                        </m:sub>
                      </m:sSub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sub>
                      </m:sSub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𝑠𝑐𝑎𝑛</m:t>
                          </m:r>
                        </m:sub>
                      </m:sSub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ja-JP" altLang="en-US" sz="4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4000" dirty="0"/>
              </a:p>
              <a:p>
                <a:endParaRPr lang="en-US" altLang="ja-JP" sz="4000" dirty="0"/>
              </a:p>
              <a:p>
                <a:r>
                  <a:rPr lang="ja-JP" altLang="en-US" sz="4000" dirty="0"/>
                  <a:t>Performance link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𝑠𝑐𝑎𝑛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| ↓  →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↓  →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𝑎𝑐𝑞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ja-JP" sz="4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4000" b="0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ja-JP" altLang="en-US" sz="4000" i="1" dirty="0" smtClean="0">
                          <a:latin typeface="Cambria Math" panose="02040503050406030204" pitchFamily="18" charset="0"/>
                        </a:rPr>
                        <m:t>² ↓</m:t>
                      </m:r>
                    </m:oMath>
                  </m:oMathPara>
                </a14:m>
                <a:endParaRPr lang="ja-JP" altLang="en-US" sz="4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130073B-E4CF-CC25-8D5A-B4F50C379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530" y="3492279"/>
                <a:ext cx="10072991" cy="6944658"/>
              </a:xfrm>
              <a:prstGeom prst="rect">
                <a:avLst/>
              </a:prstGeom>
              <a:blipFill>
                <a:blip r:embed="rId2"/>
                <a:stretch>
                  <a:fillRect l="-21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17CC22-80E5-6C08-6A54-D96B24371D34}"/>
              </a:ext>
            </a:extLst>
          </p:cNvPr>
          <p:cNvSpPr txBox="1"/>
          <p:nvPr/>
        </p:nvSpPr>
        <p:spPr>
          <a:xfrm>
            <a:off x="10040113" y="4733781"/>
            <a:ext cx="10611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/>
              <a:t>← </a:t>
            </a:r>
            <a:r>
              <a:rPr lang="ja-JP" altLang="en-US" sz="3600" dirty="0">
                <a:solidFill>
                  <a:srgbClr val="FF0000"/>
                </a:solidFill>
              </a:rPr>
              <a:t>熱ひずみ予測</a:t>
            </a:r>
            <a:r>
              <a:rPr lang="ja-JP" altLang="en-US" sz="3600" dirty="0"/>
              <a:t>をPATのscan center指令に変換する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848BF7D-B04B-C9A9-D9E9-E8BB0BA65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575" y="5456770"/>
            <a:ext cx="8391303" cy="725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38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8F089-4CA7-EEAD-5839-28D4A9FC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Preliminary result</a:t>
            </a:r>
            <a:r>
              <a:rPr lang="ja-JP" altLang="en-US" dirty="0"/>
              <a:t>：</a:t>
            </a:r>
            <a:r>
              <a:rPr lang="en-US" altLang="ja-JP" dirty="0"/>
              <a:t>FF</a:t>
            </a:r>
            <a:r>
              <a:rPr lang="ja-JP" altLang="en-US" dirty="0"/>
              <a:t>補正により初期誤差・捕捉時間が低下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837F4E-60DD-E512-A30D-B1B6393D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ED9B31-F9CA-3295-FB9A-C10DA011A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39B245-8349-49A2-9077-B9EF6EADDFC6}"/>
              </a:ext>
            </a:extLst>
          </p:cNvPr>
          <p:cNvSpPr txBox="1"/>
          <p:nvPr/>
        </p:nvSpPr>
        <p:spPr>
          <a:xfrm>
            <a:off x="1595628" y="3283060"/>
            <a:ext cx="89565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/>
              <a:t>Simulation setting:</a:t>
            </a:r>
          </a:p>
          <a:p>
            <a:r>
              <a:rPr lang="ja-JP" altLang="en-US" sz="4000" dirty="0"/>
              <a:t>• ある低軌道のthermal LOS biasを使用</a:t>
            </a:r>
          </a:p>
          <a:p>
            <a:r>
              <a:rPr lang="ja-JP" altLang="en-US" sz="4000" dirty="0"/>
              <a:t>• FF補正量はLOS bias推定値から計算</a:t>
            </a:r>
          </a:p>
          <a:p>
            <a:r>
              <a:rPr lang="ja-JP" altLang="en-US" sz="4000" dirty="0"/>
              <a:t>• no correction と FF correction を比較</a:t>
            </a:r>
            <a:endParaRPr lang="en-US" altLang="ja-JP" sz="4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B0D17A-E253-466B-317B-4D5BA1A60269}"/>
              </a:ext>
            </a:extLst>
          </p:cNvPr>
          <p:cNvSpPr txBox="1"/>
          <p:nvPr/>
        </p:nvSpPr>
        <p:spPr>
          <a:xfrm>
            <a:off x="1595628" y="6689676"/>
            <a:ext cx="1511960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 dirty="0"/>
              <a:t>Result: </a:t>
            </a:r>
            <a:endParaRPr lang="en-US" altLang="ja-JP" sz="4000" dirty="0"/>
          </a:p>
          <a:p>
            <a:r>
              <a:rPr lang="ja-JP" altLang="en-US" sz="4000" dirty="0"/>
              <a:t>補正無しの場合:</a:t>
            </a:r>
          </a:p>
          <a:p>
            <a:r>
              <a:rPr lang="ja-JP" altLang="en-US" sz="4000" dirty="0"/>
              <a:t>• success rate: </a:t>
            </a:r>
            <a:r>
              <a:rPr lang="en-US" altLang="ja-JP" sz="4000" dirty="0"/>
              <a:t>93.8</a:t>
            </a:r>
            <a:r>
              <a:rPr lang="ja-JP" altLang="en-US" sz="4000" dirty="0"/>
              <a:t> %</a:t>
            </a:r>
          </a:p>
          <a:p>
            <a:r>
              <a:rPr lang="ja-JP" altLang="en-US" sz="4000" dirty="0"/>
              <a:t>• mean acquisition time: </a:t>
            </a:r>
            <a:r>
              <a:rPr lang="en-US" altLang="ja-JP" sz="4000" dirty="0"/>
              <a:t>102.43</a:t>
            </a:r>
            <a:r>
              <a:rPr lang="ja-JP" altLang="en-US" sz="4000" dirty="0"/>
              <a:t> s</a:t>
            </a:r>
          </a:p>
          <a:p>
            <a:r>
              <a:rPr lang="ja-JP" altLang="en-US" sz="4000" dirty="0"/>
              <a:t>• mean initial error: </a:t>
            </a:r>
            <a:r>
              <a:rPr lang="en-US" altLang="ja-JP" sz="4000" dirty="0"/>
              <a:t>691</a:t>
            </a:r>
            <a:r>
              <a:rPr lang="ja-JP" altLang="en-US" sz="4000" dirty="0"/>
              <a:t> µrad</a:t>
            </a:r>
          </a:p>
          <a:p>
            <a:endParaRPr lang="ja-JP" altLang="en-US" sz="4000" dirty="0"/>
          </a:p>
          <a:p>
            <a:r>
              <a:rPr lang="ja-JP" altLang="en-US" sz="4000" dirty="0"/>
              <a:t>F</a:t>
            </a:r>
            <a:r>
              <a:rPr lang="en-US" altLang="ja-JP" sz="4000" dirty="0"/>
              <a:t>F</a:t>
            </a:r>
            <a:r>
              <a:rPr lang="ja-JP" altLang="en-US" sz="4000" dirty="0"/>
              <a:t>補正量ありの場合:</a:t>
            </a:r>
          </a:p>
          <a:p>
            <a:r>
              <a:rPr lang="ja-JP" altLang="en-US" sz="4000" dirty="0"/>
              <a:t>• success rate: </a:t>
            </a:r>
            <a:r>
              <a:rPr lang="en-US" altLang="ja-JP" sz="4000" dirty="0"/>
              <a:t>100</a:t>
            </a:r>
            <a:r>
              <a:rPr lang="ja-JP" altLang="en-US" sz="4000" dirty="0"/>
              <a:t> %</a:t>
            </a:r>
          </a:p>
          <a:p>
            <a:r>
              <a:rPr lang="ja-JP" altLang="en-US" sz="4000" dirty="0"/>
              <a:t>• mean acquisition time: </a:t>
            </a:r>
            <a:r>
              <a:rPr lang="en-US" altLang="ja-JP" sz="4000" dirty="0"/>
              <a:t>25.8</a:t>
            </a:r>
            <a:r>
              <a:rPr lang="ja-JP" altLang="en-US" sz="4000" dirty="0"/>
              <a:t> s →</a:t>
            </a:r>
            <a:r>
              <a:rPr lang="en-US" altLang="ja-JP" sz="4000" dirty="0"/>
              <a:t> </a:t>
            </a:r>
            <a:r>
              <a:rPr lang="ja-JP" altLang="en-US" sz="4000" b="1" dirty="0">
                <a:solidFill>
                  <a:srgbClr val="FF0000"/>
                </a:solidFill>
              </a:rPr>
              <a:t>捕捉時間は</a:t>
            </a:r>
            <a:r>
              <a:rPr lang="en-US" altLang="ja-JP" sz="4000" b="1" dirty="0">
                <a:solidFill>
                  <a:srgbClr val="FF0000"/>
                </a:solidFill>
              </a:rPr>
              <a:t>70%</a:t>
            </a:r>
            <a:r>
              <a:rPr lang="ja-JP" altLang="en-US" sz="4000" b="1" dirty="0">
                <a:solidFill>
                  <a:srgbClr val="FF0000"/>
                </a:solidFill>
              </a:rPr>
              <a:t>減少</a:t>
            </a:r>
            <a:r>
              <a:rPr lang="en-US" altLang="ja-JP" sz="4000" b="1" dirty="0">
                <a:solidFill>
                  <a:srgbClr val="FF0000"/>
                </a:solidFill>
              </a:rPr>
              <a:t> </a:t>
            </a:r>
            <a:endParaRPr lang="ja-JP" altLang="en-US" sz="4000" dirty="0"/>
          </a:p>
          <a:p>
            <a:r>
              <a:rPr lang="ja-JP" altLang="en-US" sz="4000" dirty="0"/>
              <a:t>• mean initial error: </a:t>
            </a:r>
            <a:r>
              <a:rPr lang="en-US" altLang="ja-JP" sz="4000" dirty="0"/>
              <a:t>297.1</a:t>
            </a:r>
            <a:r>
              <a:rPr lang="ja-JP" altLang="en-US" sz="4000" dirty="0"/>
              <a:t> µrad →</a:t>
            </a:r>
            <a:r>
              <a:rPr lang="en-US" altLang="ja-JP" sz="4000" dirty="0"/>
              <a:t> </a:t>
            </a:r>
            <a:r>
              <a:rPr lang="en-US" altLang="ja-JP" sz="4000" b="1" dirty="0">
                <a:solidFill>
                  <a:srgbClr val="FF0000"/>
                </a:solidFill>
              </a:rPr>
              <a:t> </a:t>
            </a:r>
            <a:r>
              <a:rPr lang="ja-JP" altLang="en-US" sz="4000" b="1" dirty="0">
                <a:solidFill>
                  <a:srgbClr val="FF0000"/>
                </a:solidFill>
              </a:rPr>
              <a:t>捕捉誤差は</a:t>
            </a:r>
            <a:r>
              <a:rPr lang="en-US" altLang="ja-JP" sz="4000" b="1" dirty="0">
                <a:solidFill>
                  <a:srgbClr val="FF0000"/>
                </a:solidFill>
              </a:rPr>
              <a:t>57%</a:t>
            </a:r>
            <a:r>
              <a:rPr lang="ja-JP" altLang="en-US" sz="4000" b="1" dirty="0">
                <a:solidFill>
                  <a:srgbClr val="FF0000"/>
                </a:solidFill>
              </a:rPr>
              <a:t>減少</a:t>
            </a:r>
            <a:endParaRPr lang="ja-JP" altLang="en-US" sz="40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95C3708-D813-AEA8-524C-D5E7E64A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574" y="2792108"/>
            <a:ext cx="13183770" cy="702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56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9365F-196A-7607-6BE9-4DA7C6FB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5011C3-FB14-1F07-E254-05C79A13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>
            <a:normAutofit/>
          </a:bodyPr>
          <a:lstStyle/>
          <a:p>
            <a:r>
              <a:rPr lang="en-US" altLang="ja-JP" dirty="0"/>
              <a:t>Adaptive Correction</a:t>
            </a:r>
            <a:r>
              <a:rPr lang="ja-JP" altLang="en-US" dirty="0"/>
              <a:t>：観測残差でモデル誤差を逐次更新する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8228B9-C666-4E59-5E86-0E4AF267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15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D539F2-31D6-42D3-0C78-7C505D6E8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57D9CEE-9F01-F7AC-812A-0B1661402A02}"/>
              </a:ext>
            </a:extLst>
          </p:cNvPr>
          <p:cNvSpPr txBox="1"/>
          <p:nvPr/>
        </p:nvSpPr>
        <p:spPr>
          <a:xfrm>
            <a:off x="1310530" y="3708226"/>
            <a:ext cx="11783678" cy="994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/>
              <a:t>• F</a:t>
            </a:r>
            <a:r>
              <a:rPr lang="en-US" altLang="ja-JP" sz="4000" b="1" dirty="0" err="1"/>
              <a:t>eedforward</a:t>
            </a:r>
            <a:r>
              <a:rPr lang="ja-JP" altLang="en-US" sz="4000" b="1" dirty="0"/>
              <a:t>補正は初期誤差を低減できるが，</a:t>
            </a:r>
          </a:p>
          <a:p>
            <a:r>
              <a:rPr lang="ja-JP" altLang="en-US" sz="4000" b="1" dirty="0"/>
              <a:t>  熱構造解析・軽量モデル・軌道上環境の不確かさにより残差が残る</a:t>
            </a:r>
          </a:p>
          <a:p>
            <a:endParaRPr lang="ja-JP" altLang="en-US" sz="4000" b="1" dirty="0"/>
          </a:p>
          <a:p>
            <a:r>
              <a:rPr lang="ja-JP" altLang="en-US" sz="4000" b="1" dirty="0"/>
              <a:t>• 捕捉後に得られるPATセンサ・姿勢センサ等の出力を用いて，予測LOSバイアスと観測された指向誤差の差分を推定する</a:t>
            </a:r>
          </a:p>
          <a:p>
            <a:endParaRPr lang="ja-JP" altLang="en-US" sz="4000" b="1" dirty="0"/>
          </a:p>
          <a:p>
            <a:r>
              <a:rPr lang="ja-JP" altLang="en-US" sz="4000" b="1" dirty="0"/>
              <a:t>• 推定した残差を用いて補正モデルを更新し，</a:t>
            </a:r>
          </a:p>
          <a:p>
            <a:r>
              <a:rPr lang="ja-JP" altLang="en-US" sz="4000" b="1" dirty="0"/>
              <a:t>  経時変化・モデル誤差に対するロバスト性を高める</a:t>
            </a:r>
            <a:endParaRPr lang="en-US" altLang="ja-JP" sz="4000" b="1" dirty="0"/>
          </a:p>
          <a:p>
            <a:endParaRPr lang="en-US" altLang="ja-JP" sz="4000" b="1" dirty="0"/>
          </a:p>
          <a:p>
            <a:r>
              <a:rPr lang="en-US" altLang="ja-JP" sz="4000" dirty="0"/>
              <a:t>※</a:t>
            </a:r>
            <a:r>
              <a:rPr lang="ja-JP" altLang="en-US" sz="4000" dirty="0"/>
              <a:t> </a:t>
            </a:r>
            <a:r>
              <a:rPr lang="en-US" altLang="ja-JP" sz="4000" dirty="0"/>
              <a:t>LOS</a:t>
            </a:r>
            <a:r>
              <a:rPr lang="ja-JP" altLang="en-US" sz="4000" dirty="0"/>
              <a:t>誤差には熱ひずみ原因以外の系統誤差も含まれるので，観測残差のうち、熱状態・軌道位相と相関する低周波成分を補正モデルに取り込む．この分離方法は今後検討</a:t>
            </a:r>
            <a:endParaRPr lang="en-US" altLang="ja-JP" sz="4000" dirty="0"/>
          </a:p>
          <a:p>
            <a:endParaRPr lang="ja-JP" altLang="en-US" sz="4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1E0559-7AA2-93CF-D39E-96D0FB850A5D}"/>
              </a:ext>
            </a:extLst>
          </p:cNvPr>
          <p:cNvSpPr txBox="1"/>
          <p:nvPr/>
        </p:nvSpPr>
        <p:spPr>
          <a:xfrm>
            <a:off x="15435984" y="3283060"/>
            <a:ext cx="6162144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FF0000"/>
                </a:solidFill>
              </a:rPr>
              <a:t>FF Correction model</a:t>
            </a:r>
            <a:endParaRPr lang="ja-JP" altLang="en-US" sz="3600" dirty="0">
              <a:solidFill>
                <a:srgbClr val="FF0000"/>
              </a:solidFill>
            </a:endParaRPr>
          </a:p>
          <a:p>
            <a:r>
              <a:rPr lang="ja-JP" altLang="en-US" sz="3600" dirty="0">
                <a:solidFill>
                  <a:srgbClr val="FF0000"/>
                </a:solidFill>
              </a:rPr>
              <a:t>        ↓</a:t>
            </a:r>
          </a:p>
          <a:p>
            <a:r>
              <a:rPr lang="ja-JP" altLang="en-US" sz="3600" dirty="0">
                <a:solidFill>
                  <a:srgbClr val="FF0000"/>
                </a:solidFill>
              </a:rPr>
              <a:t>Predicted LOS bias</a:t>
            </a:r>
          </a:p>
          <a:p>
            <a:r>
              <a:rPr lang="ja-JP" altLang="en-US" sz="3600" dirty="0">
                <a:solidFill>
                  <a:srgbClr val="FF0000"/>
                </a:solidFill>
              </a:rPr>
              <a:t>        ↓</a:t>
            </a:r>
          </a:p>
          <a:p>
            <a:r>
              <a:rPr lang="ja-JP" altLang="en-US" sz="3600" dirty="0">
                <a:solidFill>
                  <a:srgbClr val="FF0000"/>
                </a:solidFill>
              </a:rPr>
              <a:t>Scan center correction</a:t>
            </a:r>
          </a:p>
          <a:p>
            <a:r>
              <a:rPr lang="ja-JP" altLang="en-US" sz="3600" dirty="0"/>
              <a:t>        ↓</a:t>
            </a:r>
          </a:p>
          <a:p>
            <a:r>
              <a:rPr lang="ja-JP" altLang="en-US" sz="3600" dirty="0"/>
              <a:t>Coarse acquisition / tracking</a:t>
            </a:r>
          </a:p>
          <a:p>
            <a:r>
              <a:rPr lang="ja-JP" altLang="en-US" sz="3600" dirty="0"/>
              <a:t>        ↓</a:t>
            </a:r>
          </a:p>
          <a:p>
            <a:r>
              <a:rPr lang="ja-JP" altLang="en-US" sz="3600" dirty="0"/>
              <a:t>PAT sensor output</a:t>
            </a:r>
          </a:p>
          <a:p>
            <a:r>
              <a:rPr lang="ja-JP" altLang="en-US" sz="3600" dirty="0"/>
              <a:t>QD / FPM / received power</a:t>
            </a:r>
          </a:p>
          <a:p>
            <a:r>
              <a:rPr lang="ja-JP" altLang="en-US" sz="3600" dirty="0"/>
              <a:t>        ↓</a:t>
            </a:r>
          </a:p>
          <a:p>
            <a:r>
              <a:rPr lang="en-US" altLang="ja-JP" sz="3600" dirty="0">
                <a:solidFill>
                  <a:srgbClr val="00B050"/>
                </a:solidFill>
              </a:rPr>
              <a:t>Residual decomposition</a:t>
            </a:r>
            <a:br>
              <a:rPr lang="en-US" altLang="ja-JP" sz="3600" dirty="0">
                <a:solidFill>
                  <a:srgbClr val="00B050"/>
                </a:solidFill>
              </a:rPr>
            </a:br>
            <a:r>
              <a:rPr lang="ja-JP" altLang="en-US" sz="3600" dirty="0">
                <a:solidFill>
                  <a:srgbClr val="00B050"/>
                </a:solidFill>
              </a:rPr>
              <a:t>        ↓</a:t>
            </a:r>
            <a:br>
              <a:rPr lang="en-US" altLang="ja-JP" sz="3600" dirty="0">
                <a:solidFill>
                  <a:srgbClr val="00B050"/>
                </a:solidFill>
              </a:rPr>
            </a:br>
            <a:r>
              <a:rPr lang="en-US" altLang="ja-JP" sz="3600" dirty="0">
                <a:solidFill>
                  <a:srgbClr val="00B050"/>
                </a:solidFill>
              </a:rPr>
              <a:t>Thermal-correlated residual</a:t>
            </a:r>
          </a:p>
          <a:p>
            <a:r>
              <a:rPr lang="ja-JP" altLang="en-US" sz="3600" dirty="0">
                <a:solidFill>
                  <a:srgbClr val="00B050"/>
                </a:solidFill>
              </a:rPr>
              <a:t>        ↓</a:t>
            </a:r>
          </a:p>
          <a:p>
            <a:r>
              <a:rPr lang="ja-JP" altLang="en-US" sz="3600" dirty="0">
                <a:solidFill>
                  <a:srgbClr val="00B050"/>
                </a:solidFill>
              </a:rPr>
              <a:t>Residual estimation</a:t>
            </a:r>
          </a:p>
          <a:p>
            <a:r>
              <a:rPr lang="ja-JP" altLang="en-US" sz="3600" dirty="0">
                <a:solidFill>
                  <a:srgbClr val="00B050"/>
                </a:solidFill>
              </a:rPr>
              <a:t>        ↓</a:t>
            </a:r>
          </a:p>
          <a:p>
            <a:r>
              <a:rPr lang="ja-JP" altLang="en-US" sz="3600" dirty="0">
                <a:solidFill>
                  <a:srgbClr val="00B050"/>
                </a:solidFill>
              </a:rPr>
              <a:t>Model update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666D3BB-C78F-0313-E813-FFF3C406ACC9}"/>
              </a:ext>
            </a:extLst>
          </p:cNvPr>
          <p:cNvCxnSpPr>
            <a:cxnSpLocks/>
          </p:cNvCxnSpPr>
          <p:nvPr/>
        </p:nvCxnSpPr>
        <p:spPr>
          <a:xfrm flipH="1">
            <a:off x="20025360" y="3602736"/>
            <a:ext cx="1920240" cy="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40AC0E2-F1E2-D5F2-C503-D87BB546B82F}"/>
              </a:ext>
            </a:extLst>
          </p:cNvPr>
          <p:cNvCxnSpPr>
            <a:cxnSpLocks/>
          </p:cNvCxnSpPr>
          <p:nvPr/>
        </p:nvCxnSpPr>
        <p:spPr>
          <a:xfrm>
            <a:off x="21945600" y="3602736"/>
            <a:ext cx="0" cy="9394475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A50762C-8639-6957-199D-1948E0B671AB}"/>
              </a:ext>
            </a:extLst>
          </p:cNvPr>
          <p:cNvCxnSpPr>
            <a:cxnSpLocks/>
          </p:cNvCxnSpPr>
          <p:nvPr/>
        </p:nvCxnSpPr>
        <p:spPr>
          <a:xfrm>
            <a:off x="18540879" y="12978923"/>
            <a:ext cx="340472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BE8DF0D-EBE6-B39A-E11A-02584682EDF6}"/>
              </a:ext>
            </a:extLst>
          </p:cNvPr>
          <p:cNvSpPr/>
          <p:nvPr/>
        </p:nvSpPr>
        <p:spPr>
          <a:xfrm>
            <a:off x="15289680" y="9363456"/>
            <a:ext cx="6034128" cy="38040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181694-1408-9576-E8D2-DE82DD55EE78}"/>
              </a:ext>
            </a:extLst>
          </p:cNvPr>
          <p:cNvSpPr txBox="1"/>
          <p:nvPr/>
        </p:nvSpPr>
        <p:spPr>
          <a:xfrm>
            <a:off x="20098512" y="8774523"/>
            <a:ext cx="4744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00B050"/>
                </a:solidFill>
              </a:rPr>
              <a:t>adaptive</a:t>
            </a:r>
            <a:r>
              <a:rPr lang="ja-JP" altLang="en-US" sz="3600" dirty="0">
                <a:solidFill>
                  <a:srgbClr val="00B050"/>
                </a:solidFill>
              </a:rPr>
              <a:t> </a:t>
            </a:r>
            <a:r>
              <a:rPr lang="en-US" altLang="ja-JP" sz="3600" dirty="0">
                <a:solidFill>
                  <a:srgbClr val="00B050"/>
                </a:solidFill>
              </a:rPr>
              <a:t>correction</a:t>
            </a:r>
            <a:endParaRPr lang="ja-JP" altLang="en-US" sz="3600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FA5640C-CB0D-117B-547F-347377D51C2D}"/>
              </a:ext>
            </a:extLst>
          </p:cNvPr>
          <p:cNvSpPr/>
          <p:nvPr/>
        </p:nvSpPr>
        <p:spPr>
          <a:xfrm>
            <a:off x="15415872" y="3233680"/>
            <a:ext cx="5011824" cy="28379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2E831EE-FF3F-9B10-8D18-D296CD813F97}"/>
              </a:ext>
            </a:extLst>
          </p:cNvPr>
          <p:cNvSpPr txBox="1"/>
          <p:nvPr/>
        </p:nvSpPr>
        <p:spPr>
          <a:xfrm>
            <a:off x="18747722" y="2646394"/>
            <a:ext cx="5262372" cy="660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>
                <a:solidFill>
                  <a:srgbClr val="FF0000"/>
                </a:solidFill>
              </a:rPr>
              <a:t>feedforward </a:t>
            </a:r>
            <a:r>
              <a:rPr lang="en-US" altLang="ja-JP" sz="3600" dirty="0">
                <a:solidFill>
                  <a:srgbClr val="FF0000"/>
                </a:solidFill>
              </a:rPr>
              <a:t>correction</a:t>
            </a:r>
            <a:r>
              <a:rPr lang="ja-JP" altLang="en-US" sz="3600" dirty="0">
                <a:solidFill>
                  <a:srgbClr val="FF0000"/>
                </a:solidFill>
              </a:rPr>
              <a:t> </a:t>
            </a:r>
            <a:endParaRPr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19664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02C22-A196-BBD6-8909-30A7C8B2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0DAD43-69F1-A8D1-975B-7C171232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ja-JP" altLang="en-US" dirty="0"/>
              <a:t>補正なし </a:t>
            </a:r>
            <a:r>
              <a:rPr lang="en-US" altLang="ja-JP" dirty="0"/>
              <a:t>/ Static / FF / </a:t>
            </a:r>
            <a:r>
              <a:rPr lang="en-US" altLang="ja-JP" dirty="0" err="1"/>
              <a:t>FF+Adaptive</a:t>
            </a:r>
            <a:r>
              <a:rPr lang="en-US" altLang="ja-JP" dirty="0"/>
              <a:t> </a:t>
            </a:r>
            <a:r>
              <a:rPr lang="ja-JP" altLang="en-US" dirty="0"/>
              <a:t>で粗捕捉性能を比較する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49D5CE-CAED-4301-9782-8C63B8E7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49262E-B47B-864F-506F-DE0A484198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Research Objective</a:t>
            </a:r>
            <a:r>
              <a:rPr lang="ja-JP" altLang="en-US" dirty="0"/>
              <a:t> ＆ </a:t>
            </a:r>
            <a:r>
              <a:rPr lang="en-US" altLang="ja-JP" dirty="0"/>
              <a:t>Approach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D8F3818-AACC-27AB-6427-0BE940D85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8901" y="3283060"/>
            <a:ext cx="11364543" cy="9287866"/>
          </a:xfrm>
        </p:spPr>
        <p:txBody>
          <a:bodyPr>
            <a:normAutofit/>
          </a:bodyPr>
          <a:lstStyle/>
          <a:p>
            <a:r>
              <a:rPr lang="ja-JP" altLang="en-US" dirty="0"/>
              <a:t>熱ひずみ補正の効果を，粗捕捉シミュレーションにより評価する</a:t>
            </a:r>
          </a:p>
          <a:p>
            <a:endParaRPr lang="ja-JP" altLang="en-US" dirty="0"/>
          </a:p>
          <a:p>
            <a:r>
              <a:rPr lang="ja-JP" altLang="en-US" dirty="0"/>
              <a:t>比較対象：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評価指標：捕捉成功率，捕捉時間，初期指向誤差，必要</a:t>
            </a:r>
            <a:r>
              <a:rPr lang="en-US" altLang="ja-JP" dirty="0"/>
              <a:t>scan area</a:t>
            </a:r>
            <a:endParaRPr kumimoji="1" lang="ja-JP" altLang="en-US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7ED19CD8-6595-0D26-9D5E-8956B056A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93892"/>
              </p:ext>
            </p:extLst>
          </p:nvPr>
        </p:nvGraphicFramePr>
        <p:xfrm>
          <a:off x="1895746" y="6135260"/>
          <a:ext cx="1822105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706">
                  <a:extLst>
                    <a:ext uri="{9D8B030D-6E8A-4147-A177-3AD203B41FA5}">
                      <a16:colId xmlns:a16="http://schemas.microsoft.com/office/drawing/2014/main" val="3472019863"/>
                    </a:ext>
                  </a:extLst>
                </a:gridCol>
                <a:gridCol w="5282184">
                  <a:extLst>
                    <a:ext uri="{9D8B030D-6E8A-4147-A177-3AD203B41FA5}">
                      <a16:colId xmlns:a16="http://schemas.microsoft.com/office/drawing/2014/main" val="3517257406"/>
                    </a:ext>
                  </a:extLst>
                </a:gridCol>
                <a:gridCol w="5890164">
                  <a:extLst>
                    <a:ext uri="{9D8B030D-6E8A-4147-A177-3AD203B41FA5}">
                      <a16:colId xmlns:a16="http://schemas.microsoft.com/office/drawing/2014/main" val="1111939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補正内容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目的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364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補正なし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74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dirty="0"/>
                        <a:t>Static bias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固定</a:t>
                      </a:r>
                      <a:r>
                        <a:rPr lang="en-US" altLang="ja-JP"/>
                        <a:t>LOS</a:t>
                      </a:r>
                      <a:r>
                        <a:rPr lang="ja-JP" altLang="en-US"/>
                        <a:t>オフセット補正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静的補正との比較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81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dirty="0"/>
                        <a:t>Feedforward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予測</a:t>
                      </a:r>
                      <a:r>
                        <a:rPr lang="en-US"/>
                        <a:t>LOS</a:t>
                      </a:r>
                      <a:r>
                        <a:rPr lang="ja-JP" altLang="en-US"/>
                        <a:t>バイアスで</a:t>
                      </a:r>
                      <a:r>
                        <a:rPr lang="en-US"/>
                        <a:t>scan center</a:t>
                      </a:r>
                      <a:r>
                        <a:rPr lang="ja-JP" altLang="en-US"/>
                        <a:t>補正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事前予測の効果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01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ja-JP" dirty="0"/>
                        <a:t>Feedforward + Adaptive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/>
                        <a:t>観測残差でモデル更新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dirty="0"/>
                        <a:t>モデル誤差へのロバスト性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898775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03D221-F591-049A-AB2F-34A9D4314C28}"/>
              </a:ext>
            </a:extLst>
          </p:cNvPr>
          <p:cNvSpPr txBox="1"/>
          <p:nvPr/>
        </p:nvSpPr>
        <p:spPr>
          <a:xfrm>
            <a:off x="13894568" y="11512372"/>
            <a:ext cx="96949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>
                <a:solidFill>
                  <a:srgbClr val="FF0000"/>
                </a:solidFill>
              </a:rPr>
              <a:t>熱ひずみ補正が「LOS誤差」ではなく，</a:t>
            </a:r>
          </a:p>
          <a:p>
            <a:r>
              <a:rPr lang="ja-JP" altLang="en-US" sz="3600" dirty="0">
                <a:solidFill>
                  <a:srgbClr val="FF0000"/>
                </a:solidFill>
              </a:rPr>
              <a:t>粗捕捉性能をどれだけ改善するかで評価する</a:t>
            </a:r>
          </a:p>
        </p:txBody>
      </p:sp>
    </p:spTree>
    <p:extLst>
      <p:ext uri="{BB962C8B-B14F-4D97-AF65-F5344CB8AC3E}">
        <p14:creationId xmlns:p14="http://schemas.microsoft.com/office/powerpoint/2010/main" val="2253812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4AD55-6EA2-B4EA-0EA0-21FEA09B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350355-AA13-9D2F-189E-251C07A41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234BA6-505C-2FE6-A454-C96BC177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Summary &amp; Discussion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F9A207-3188-CF87-CD26-C78E1493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4563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AA166-2609-9689-8615-93E89CFE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A4EB22-DE39-D082-F8CC-DE46B4DD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Contribution: </a:t>
            </a:r>
            <a:r>
              <a:rPr lang="ja-JP" altLang="en-US" dirty="0"/>
              <a:t>熱ひずみ補正を粗捕捉性能向上に接続する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8EC00C-56CA-1BD0-7D80-FFA578BD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BDB634-EC6C-D837-EB08-D06707B32E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Summary &amp; Discussion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AC28EE7-688C-65F6-99F8-6D9FB42D1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2224" y="3424835"/>
            <a:ext cx="18141696" cy="92878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dirty="0"/>
              <a:t>本研究の貢献：</a:t>
            </a:r>
          </a:p>
          <a:p>
            <a:pPr marL="0" indent="0">
              <a:buNone/>
            </a:pPr>
            <a:endParaRPr lang="en-US" altLang="ja-JP" dirty="0"/>
          </a:p>
          <a:p>
            <a:pPr marL="742950" indent="-742950">
              <a:buAutoNum type="arabicPeriod"/>
            </a:pPr>
            <a:r>
              <a:rPr lang="ja-JP" altLang="en-US" dirty="0"/>
              <a:t>熱ひずみを時間変動</a:t>
            </a:r>
            <a:r>
              <a:rPr lang="en-US" altLang="ja-JP" dirty="0"/>
              <a:t>LOS</a:t>
            </a:r>
            <a:r>
              <a:rPr lang="ja-JP" altLang="en-US" dirty="0"/>
              <a:t>バイアスとして扱い，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粗捕捉時の初期指向誤差に与える影響を整理する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2. </a:t>
            </a:r>
            <a:r>
              <a:rPr lang="ja-JP" altLang="en-US" dirty="0"/>
              <a:t>熱構造解析に基づく</a:t>
            </a:r>
            <a:r>
              <a:rPr lang="en-US" altLang="ja-JP" dirty="0"/>
              <a:t>LOS</a:t>
            </a:r>
            <a:r>
              <a:rPr lang="ja-JP" altLang="en-US" dirty="0"/>
              <a:t>バイアス予測を，</a:t>
            </a:r>
          </a:p>
          <a:p>
            <a:pPr marL="0" indent="0">
              <a:buNone/>
            </a:pPr>
            <a:r>
              <a:rPr lang="ja-JP" altLang="en-US" dirty="0"/>
              <a:t>   </a:t>
            </a:r>
            <a:r>
              <a:rPr lang="en-US" altLang="ja-JP" dirty="0"/>
              <a:t>scan center</a:t>
            </a:r>
            <a:r>
              <a:rPr lang="ja-JP" altLang="en-US" dirty="0"/>
              <a:t>補正として</a:t>
            </a:r>
            <a:r>
              <a:rPr lang="en-US" altLang="ja-JP" dirty="0"/>
              <a:t>PAT</a:t>
            </a:r>
            <a:r>
              <a:rPr lang="ja-JP" altLang="en-US" dirty="0"/>
              <a:t>入力に接続する</a:t>
            </a:r>
          </a:p>
          <a:p>
            <a:endParaRPr lang="ja-JP" altLang="en-US" dirty="0"/>
          </a:p>
          <a:p>
            <a:pPr marL="0" indent="0">
              <a:buNone/>
            </a:pPr>
            <a:r>
              <a:rPr lang="en-US" altLang="ja-JP" dirty="0"/>
              <a:t>3. </a:t>
            </a:r>
            <a:r>
              <a:rPr lang="ja-JP" altLang="en-US" dirty="0"/>
              <a:t>補正効果を</a:t>
            </a:r>
            <a:r>
              <a:rPr lang="en-US" altLang="ja-JP" dirty="0"/>
              <a:t>LOS</a:t>
            </a:r>
            <a:r>
              <a:rPr lang="ja-JP" altLang="en-US" dirty="0"/>
              <a:t>推定精度だけでなく，</a:t>
            </a:r>
          </a:p>
          <a:p>
            <a:pPr marL="0" indent="0">
              <a:buNone/>
            </a:pPr>
            <a:r>
              <a:rPr lang="ja-JP" altLang="en-US" dirty="0"/>
              <a:t>   捕捉成功率・捕捉時間・</a:t>
            </a:r>
            <a:r>
              <a:rPr lang="en-US" altLang="ja-JP" dirty="0"/>
              <a:t>scan area</a:t>
            </a:r>
            <a:r>
              <a:rPr lang="ja-JP" altLang="en-US" dirty="0"/>
              <a:t>により評価する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熱設計・構造解析の結果を，光通信</a:t>
            </a:r>
            <a:r>
              <a:rPr lang="en-US" altLang="ja-JP" dirty="0">
                <a:solidFill>
                  <a:srgbClr val="FF0000"/>
                </a:solidFill>
              </a:rPr>
              <a:t>PAT</a:t>
            </a:r>
            <a:r>
              <a:rPr lang="ja-JP" altLang="en-US" dirty="0">
                <a:solidFill>
                  <a:srgbClr val="FF0000"/>
                </a:solidFill>
              </a:rPr>
              <a:t>の運用性能改善へつなげる枠組みを提案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7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97C9-E996-2C82-1589-DF24DB49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81E402-457B-12BB-8D39-20BAEF934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Discussion</a:t>
            </a:r>
            <a:r>
              <a:rPr lang="ja-JP" altLang="en-US" dirty="0"/>
              <a:t>：熱ひずみ補正を実装する上での論点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1B1875-3FF1-414D-E38E-BF336F02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1AF1CC-5992-5D14-7E1A-7B660A37CB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Summary &amp; Discussion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9D4F429-DB6C-9605-7A1E-12F300727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6487" y="3069709"/>
            <a:ext cx="21454409" cy="69155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dirty="0"/>
              <a:t>今後の課題：</a:t>
            </a:r>
          </a:p>
          <a:p>
            <a:r>
              <a:rPr lang="en-US" altLang="ja-JP" dirty="0"/>
              <a:t>TD/</a:t>
            </a:r>
            <a:r>
              <a:rPr lang="en-US" altLang="ja-JP" dirty="0" err="1"/>
              <a:t>Femap</a:t>
            </a:r>
            <a:r>
              <a:rPr lang="ja-JP" altLang="en-US" dirty="0"/>
              <a:t>解析により，熱ひずみ由来</a:t>
            </a:r>
            <a:r>
              <a:rPr lang="en-US" altLang="ja-JP" dirty="0"/>
              <a:t>LOS</a:t>
            </a:r>
            <a:r>
              <a:rPr lang="ja-JP" altLang="en-US" dirty="0"/>
              <a:t>バイアスの高精度参照時系列を作成する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rgbClr val="FF0000"/>
                </a:solidFill>
              </a:rPr>
              <a:t>完了</a:t>
            </a:r>
          </a:p>
          <a:p>
            <a:endParaRPr lang="ja-JP" altLang="en-US" dirty="0"/>
          </a:p>
          <a:p>
            <a:r>
              <a:rPr lang="ja-JP" altLang="en-US" dirty="0"/>
              <a:t>軌道位相・日照</a:t>
            </a:r>
            <a:r>
              <a:rPr lang="en-US" altLang="ja-JP" dirty="0"/>
              <a:t>/</a:t>
            </a:r>
            <a:r>
              <a:rPr lang="ja-JP" altLang="en-US" dirty="0"/>
              <a:t>食・運用モード・温度センサ値を用いた軽量補正モデルを比較する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rgbClr val="FF0000"/>
                </a:solidFill>
              </a:rPr>
              <a:t>進行中</a:t>
            </a:r>
          </a:p>
          <a:p>
            <a:endParaRPr lang="ja-JP" altLang="en-US" dirty="0"/>
          </a:p>
          <a:p>
            <a:r>
              <a:rPr lang="en-US" altLang="ja-JP" dirty="0"/>
              <a:t>PAT</a:t>
            </a:r>
            <a:r>
              <a:rPr lang="ja-JP" altLang="en-US" dirty="0"/>
              <a:t>・姿勢・熱センサ情報から，熱状態と相関する低周波残差を抽出する</a:t>
            </a:r>
          </a:p>
          <a:p>
            <a:endParaRPr lang="ja-JP" altLang="en-US" dirty="0"/>
          </a:p>
          <a:p>
            <a:r>
              <a:rPr lang="ja-JP" altLang="en-US" dirty="0"/>
              <a:t>補正なし </a:t>
            </a:r>
            <a:r>
              <a:rPr lang="en-US" altLang="ja-JP" dirty="0"/>
              <a:t>/ static / FF / FF + adaptive </a:t>
            </a:r>
            <a:r>
              <a:rPr lang="ja-JP" altLang="en-US" dirty="0"/>
              <a:t>を比較し，捕捉成功率・捕捉時間・</a:t>
            </a:r>
            <a:r>
              <a:rPr lang="en-US" altLang="ja-JP" dirty="0"/>
              <a:t>scan area</a:t>
            </a:r>
            <a:r>
              <a:rPr lang="ja-JP" altLang="en-US" dirty="0"/>
              <a:t>で評価する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80BF99-214B-EE43-F5CA-A19D663A482F}"/>
              </a:ext>
            </a:extLst>
          </p:cNvPr>
          <p:cNvSpPr txBox="1"/>
          <p:nvPr/>
        </p:nvSpPr>
        <p:spPr>
          <a:xfrm>
            <a:off x="1716486" y="10313621"/>
            <a:ext cx="164434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000" b="1" dirty="0"/>
              <a:t>Discussion point</a:t>
            </a:r>
            <a:r>
              <a:rPr lang="ja-JP" altLang="en-US" sz="4000" b="1" dirty="0"/>
              <a:t>：</a:t>
            </a:r>
            <a:endParaRPr lang="en-US" altLang="ja-JP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ja-JP" altLang="en-US" sz="4000" b="1" dirty="0"/>
              <a:t>熱ひずみを「どこまで予測できる誤差」として扱えるか？</a:t>
            </a:r>
          </a:p>
        </p:txBody>
      </p:sp>
    </p:spTree>
    <p:extLst>
      <p:ext uri="{BB962C8B-B14F-4D97-AF65-F5344CB8AC3E}">
        <p14:creationId xmlns:p14="http://schemas.microsoft.com/office/powerpoint/2010/main" val="2243542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5A3B76-3C53-4383-82B8-82C566954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Thank you for your attention</a:t>
            </a:r>
          </a:p>
          <a:p>
            <a:r>
              <a:rPr lang="en-US" altLang="ja-JP" sz="3200" b="0" dirty="0">
                <a:latin typeface="+mn-ea"/>
              </a:rPr>
              <a:t>Questions→ ©Hideki Takamoto</a:t>
            </a:r>
            <a:endParaRPr kumimoji="1" lang="ja-JP" altLang="en-US" sz="3200" b="0" dirty="0">
              <a:latin typeface="+mn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505C780-7EC6-5739-7AAE-373C7E6D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67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A382-9CC7-E812-4B21-4DA98CB3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40E29EC-3B42-1F50-661B-0F1FD0884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52" y="1391478"/>
            <a:ext cx="23290306" cy="117941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ja-JP" altLang="en-US" b="0" dirty="0"/>
              <a:t>参考文献</a:t>
            </a:r>
            <a:endParaRPr kumimoji="1" lang="en-US" altLang="ja-JP" b="0" dirty="0"/>
          </a:p>
          <a:p>
            <a:pPr marL="0" indent="0">
              <a:buNone/>
            </a:pPr>
            <a:r>
              <a:rPr lang="en-US" altLang="ja-JP" b="0" dirty="0"/>
              <a:t>[1] K. M. </a:t>
            </a:r>
            <a:r>
              <a:rPr lang="en-US" altLang="ja-JP" b="0" dirty="0" err="1"/>
              <a:t>Riesing</a:t>
            </a:r>
            <a:r>
              <a:rPr lang="en-US" altLang="ja-JP" b="0" dirty="0"/>
              <a:t>, C. M. Schieler, J. S. Chang, N. J. Gilbert, A. J. Horvath, R. S. Reeve, B. S. Robinson, J. P. Wang, P. S. Agrawal, and R. A. Goodloe,</a:t>
            </a:r>
            <a:br>
              <a:rPr lang="en-US" altLang="ja-JP" b="0" dirty="0"/>
            </a:br>
            <a:r>
              <a:rPr lang="en-US" altLang="ja-JP" b="0" dirty="0"/>
              <a:t>“On-orbit results of pointing, acquisition, and tracking for the TBIRD CubeSat mission,”</a:t>
            </a:r>
            <a:br>
              <a:rPr lang="en-US" altLang="ja-JP" b="0" dirty="0"/>
            </a:br>
            <a:r>
              <a:rPr lang="en-US" altLang="ja-JP" b="0" i="1" dirty="0"/>
              <a:t>Proc. SPIE</a:t>
            </a:r>
            <a:r>
              <a:rPr lang="en-US" altLang="ja-JP" b="0" dirty="0"/>
              <a:t>, 2023.</a:t>
            </a:r>
          </a:p>
          <a:p>
            <a:pPr marL="0" indent="0">
              <a:buNone/>
            </a:pPr>
            <a:r>
              <a:rPr lang="en-US" altLang="ja-JP" b="0" dirty="0"/>
              <a:t>[2] Y. Shi, S. Chen, M. Yu, Y. Wu, J. Yu, and L. Zhang,</a:t>
            </a:r>
            <a:br>
              <a:rPr lang="en-US" altLang="ja-JP" b="0" dirty="0"/>
            </a:br>
            <a:r>
              <a:rPr lang="en-US" altLang="ja-JP" b="0" dirty="0"/>
              <a:t>“Thermal Deformation Stability Optimization Design and Experiment of the Satellite Bus to Control the Laser Communication Load’s Acquisition Time,”</a:t>
            </a:r>
            <a:br>
              <a:rPr lang="en-US" altLang="ja-JP" b="0" dirty="0"/>
            </a:br>
            <a:r>
              <a:rPr lang="en-US" altLang="ja-JP" b="0" i="1" dirty="0"/>
              <a:t>Applied Sciences</a:t>
            </a:r>
            <a:r>
              <a:rPr lang="en-US" altLang="ja-JP" b="0" dirty="0"/>
              <a:t>, vol. 13, no. 5502, 2023.</a:t>
            </a:r>
            <a:br>
              <a:rPr lang="en-US" altLang="ja-JP" b="0" dirty="0"/>
            </a:br>
            <a:r>
              <a:rPr lang="en-US" altLang="ja-JP" b="0" dirty="0">
                <a:hlinkClick r:id="rId2"/>
              </a:rPr>
              <a:t>https://doi.org/10.3390/app13095502</a:t>
            </a:r>
            <a:endParaRPr lang="en-US" altLang="ja-JP" b="0" dirty="0"/>
          </a:p>
          <a:p>
            <a:pPr marL="0" indent="0">
              <a:buNone/>
            </a:pPr>
            <a:r>
              <a:rPr kumimoji="1" lang="en-US" altLang="ja-JP" b="0" dirty="0"/>
              <a:t>[3] </a:t>
            </a:r>
            <a:r>
              <a:rPr lang="en-US" altLang="ja-JP" b="0" dirty="0"/>
              <a:t>M. </a:t>
            </a:r>
            <a:r>
              <a:rPr lang="en-US" altLang="ja-JP" b="0" dirty="0" err="1"/>
              <a:t>Badás</a:t>
            </a:r>
            <a:r>
              <a:rPr lang="en-US" altLang="ja-JP" b="0" dirty="0"/>
              <a:t>, P. Piron, J. Bouwmeester, J. </a:t>
            </a:r>
            <a:r>
              <a:rPr lang="en-US" altLang="ja-JP" b="0" dirty="0" err="1"/>
              <a:t>Loicq</a:t>
            </a:r>
            <a:r>
              <a:rPr lang="en-US" altLang="ja-JP" b="0" dirty="0"/>
              <a:t>, H. Kuiper, and E. Gill,</a:t>
            </a:r>
            <a:br>
              <a:rPr lang="en-US" altLang="ja-JP" b="0" dirty="0"/>
            </a:br>
            <a:r>
              <a:rPr lang="en-US" altLang="ja-JP" b="0" dirty="0"/>
              <a:t>“Opto-thermo-mechanical phenomena in satellite free-space optical communications: survey and challenges,”</a:t>
            </a:r>
            <a:br>
              <a:rPr lang="en-US" altLang="ja-JP" b="0" dirty="0"/>
            </a:br>
            <a:r>
              <a:rPr lang="en-US" altLang="ja-JP" b="0" i="1" dirty="0"/>
              <a:t>Optical Engineering</a:t>
            </a:r>
            <a:r>
              <a:rPr lang="en-US" altLang="ja-JP" b="0" dirty="0"/>
              <a:t>, vol. 63, no. 4, 041206, 2024.</a:t>
            </a:r>
            <a:br>
              <a:rPr lang="en-US" altLang="ja-JP" b="0" dirty="0"/>
            </a:br>
            <a:r>
              <a:rPr lang="en-US" altLang="ja-JP" b="0" dirty="0">
                <a:hlinkClick r:id="rId3"/>
              </a:rPr>
              <a:t>https://doi.org/10.1117/1.OE.63.4.041206</a:t>
            </a:r>
            <a:endParaRPr lang="en-US" altLang="ja-JP" b="0" dirty="0"/>
          </a:p>
          <a:p>
            <a:pPr marL="0" indent="0">
              <a:buNone/>
            </a:pPr>
            <a:r>
              <a:rPr kumimoji="1" lang="en-US" altLang="ja-JP" b="0" dirty="0"/>
              <a:t>[4]</a:t>
            </a:r>
            <a:r>
              <a:rPr lang="ja-JP" altLang="en-US" b="0" dirty="0"/>
              <a:t> </a:t>
            </a:r>
            <a:r>
              <a:rPr lang="en-US" altLang="ja-JP" b="0" dirty="0"/>
              <a:t>Q. Wang, L. Tan, and J. Ma,</a:t>
            </a:r>
            <a:br>
              <a:rPr lang="en-US" altLang="ja-JP" b="0" dirty="0"/>
            </a:br>
            <a:r>
              <a:rPr lang="en-US" altLang="ja-JP" b="0" dirty="0"/>
              <a:t>“Beacon correction method for inter-satellite laser communication,”</a:t>
            </a:r>
            <a:br>
              <a:rPr lang="en-US" altLang="ja-JP" b="0" dirty="0"/>
            </a:br>
            <a:r>
              <a:rPr lang="en-US" altLang="ja-JP" b="0" i="1" dirty="0"/>
              <a:t>Optics Communications</a:t>
            </a:r>
            <a:r>
              <a:rPr lang="en-US" altLang="ja-JP" b="0" dirty="0"/>
              <a:t>, vol. 493, 127035, 2021.</a:t>
            </a:r>
            <a:br>
              <a:rPr lang="en-US" altLang="ja-JP" b="0" dirty="0"/>
            </a:br>
            <a:r>
              <a:rPr lang="en-US" altLang="ja-JP" b="0" dirty="0">
                <a:hlinkClick r:id="rId4"/>
              </a:rPr>
              <a:t>https://doi.org/10.1016/j.optcom.2021.127035</a:t>
            </a:r>
            <a:endParaRPr lang="en-US" altLang="ja-JP" b="0" dirty="0"/>
          </a:p>
          <a:p>
            <a:pPr marL="0" indent="0">
              <a:buNone/>
            </a:pPr>
            <a:r>
              <a:rPr lang="en-US" altLang="ja-JP" b="0" dirty="0"/>
              <a:t>[5]</a:t>
            </a:r>
            <a:r>
              <a:rPr lang="ja-JP" altLang="en-US" b="0" dirty="0"/>
              <a:t> </a:t>
            </a:r>
            <a:r>
              <a:rPr lang="en-US" altLang="ja-JP" b="0" dirty="0"/>
              <a:t>Y. Li, X. Chen, G. Liu, and P. Rao,</a:t>
            </a:r>
            <a:br>
              <a:rPr lang="en-US" altLang="ja-JP" b="0" dirty="0"/>
            </a:br>
            <a:r>
              <a:rPr lang="en-US" altLang="ja-JP" b="0" dirty="0"/>
              <a:t>“Correction Method for Thermal Deformation Line-of-Sight Errors of Low-Orbit Optical Payloads Under Unstable Illumination Conditions,”</a:t>
            </a:r>
            <a:br>
              <a:rPr lang="en-US" altLang="ja-JP" b="0" dirty="0"/>
            </a:br>
            <a:r>
              <a:rPr lang="en-US" altLang="ja-JP" b="0" i="1" dirty="0"/>
              <a:t>Remote Sensing</a:t>
            </a:r>
            <a:r>
              <a:rPr lang="en-US" altLang="ja-JP" b="0" dirty="0"/>
              <a:t>, vol. 17, no. 762, 2025.</a:t>
            </a:r>
            <a:br>
              <a:rPr lang="en-US" altLang="ja-JP" b="0" dirty="0"/>
            </a:br>
            <a:r>
              <a:rPr lang="en-US" altLang="ja-JP" b="0" dirty="0">
                <a:hlinkClick r:id="rId5"/>
              </a:rPr>
              <a:t>https://doi.org/10.3390/rs17050762</a:t>
            </a:r>
            <a:endParaRPr lang="en-US" altLang="ja-JP" b="0" dirty="0"/>
          </a:p>
          <a:p>
            <a:pPr marL="0" indent="0">
              <a:buNone/>
            </a:pPr>
            <a:r>
              <a:rPr lang="en-US" altLang="ja-JP" b="0" dirty="0"/>
              <a:t>[6]</a:t>
            </a:r>
            <a:r>
              <a:rPr lang="ja-JP" altLang="en-US" b="0" dirty="0"/>
              <a:t> </a:t>
            </a:r>
            <a:r>
              <a:rPr lang="en-US" altLang="ja-JP" b="0" dirty="0"/>
              <a:t>H. Hu, X. Tong, C. Qiu, H. Li, J. Fu, Y. Shang, and J. Shi,</a:t>
            </a:r>
            <a:br>
              <a:rPr lang="en-US" altLang="ja-JP" b="0" dirty="0"/>
            </a:br>
            <a:r>
              <a:rPr lang="en-US" altLang="ja-JP" b="0" dirty="0"/>
              <a:t>“On-Board Thermal Motion Compensation Method for Pointing Errors of the Remote Sensor Aboard a Three-Axis Stabilized Geostationary Satellite,”</a:t>
            </a:r>
            <a:br>
              <a:rPr lang="en-US" altLang="ja-JP" b="0" dirty="0"/>
            </a:br>
            <a:r>
              <a:rPr lang="en-US" altLang="ja-JP" b="0" i="1" dirty="0"/>
              <a:t>IEEE Geoscience and Remote Sensing Letters</a:t>
            </a:r>
            <a:r>
              <a:rPr lang="en-US" altLang="ja-JP" b="0" dirty="0"/>
              <a:t>, vol. 19, 6508405, 2022.</a:t>
            </a:r>
            <a:br>
              <a:rPr lang="en-US" altLang="ja-JP" b="0" dirty="0"/>
            </a:br>
            <a:r>
              <a:rPr lang="en-US" altLang="ja-JP" b="0" dirty="0">
                <a:hlinkClick r:id="rId6"/>
              </a:rPr>
              <a:t>https://doi.org/10.1109/LGRS.2022.3161350</a:t>
            </a:r>
            <a:endParaRPr lang="en-US" altLang="ja-JP" b="0" dirty="0"/>
          </a:p>
          <a:p>
            <a:pPr marL="0" indent="0">
              <a:buNone/>
            </a:pPr>
            <a:endParaRPr kumimoji="1" lang="ja-JP" altLang="en-US" b="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993BF09-3CF6-C7E5-BA77-85141886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620440-B1C7-487E-FAA0-9230D2E852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1019639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9296-D074-241B-C65E-F1DAE9B47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595AD60-1DCA-2022-FD19-5857B4CF7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Appendix</a:t>
            </a:r>
            <a:endParaRPr kumimoji="1" lang="ja-JP" altLang="en-US" sz="3200" b="0" dirty="0">
              <a:latin typeface="+mn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8719FF-DC6A-2E4A-0C73-EDFADA66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760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F45F9-BB7F-E8C2-13D1-04D13BD7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23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C7794F-5A2C-F2D9-6BE4-C75CB2F288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3272CD9-612C-405F-78BA-C0B9B797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先行研究メモ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F97DF8FD-2DBA-8CA5-E597-1FA373A64BC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fontAlgn="base"/>
            <a:r>
              <a:rPr lang="en-US" altLang="ja-JP" b="0" dirty="0"/>
              <a:t>Hu et al. 2022</a:t>
            </a:r>
            <a:r>
              <a:rPr lang="ja-JP" altLang="en-US" b="0" dirty="0"/>
              <a:t>の論文：</a:t>
            </a:r>
          </a:p>
          <a:p>
            <a:pPr lvl="1" fontAlgn="base"/>
            <a:r>
              <a:rPr lang="en-US" altLang="ja-JP" dirty="0"/>
              <a:t>On-Board Thermal Motion Compensation Method for Pointing Errors of the Remote Sensor Aboard a Three-Axis Stabilized Geostationary Satellite</a:t>
            </a:r>
          </a:p>
          <a:p>
            <a:pPr lvl="1" fontAlgn="base"/>
            <a:r>
              <a:rPr lang="ja-JP" altLang="en-US" dirty="0"/>
              <a:t>ここでは</a:t>
            </a:r>
            <a:r>
              <a:rPr lang="en-US" altLang="ja-JP" dirty="0"/>
              <a:t>LOS</a:t>
            </a:r>
            <a:r>
              <a:rPr lang="ja-JP" altLang="en-US" dirty="0"/>
              <a:t>誤差をモデルで予測するのでは無く、星観測データに基づき、モデル式をフィッティング</a:t>
            </a:r>
          </a:p>
          <a:p>
            <a:pPr lvl="2" fontAlgn="base"/>
            <a:r>
              <a:rPr lang="ja-JP" altLang="en-US" dirty="0"/>
              <a:t>結果を学習させる。</a:t>
            </a:r>
          </a:p>
          <a:p>
            <a:pPr lvl="2" fontAlgn="base"/>
            <a:r>
              <a:rPr lang="ja-JP" altLang="en-US" dirty="0"/>
              <a:t>フーリエ級数フィッティング</a:t>
            </a:r>
          </a:p>
          <a:p>
            <a:pPr lvl="2" fontAlgn="base"/>
            <a:r>
              <a:rPr lang="ja-JP" altLang="en-US" dirty="0"/>
              <a:t>最小二乗推定（</a:t>
            </a:r>
            <a:r>
              <a:rPr lang="en-US" altLang="ja-JP" dirty="0"/>
              <a:t>LS fitting</a:t>
            </a:r>
            <a:r>
              <a:rPr lang="ja-JP" altLang="en-US" dirty="0"/>
              <a:t>）</a:t>
            </a:r>
          </a:p>
          <a:p>
            <a:pPr lvl="3" fontAlgn="base"/>
            <a:r>
              <a:rPr lang="ja-JP" altLang="en-US" dirty="0"/>
              <a:t>広義のバッチフィルタともいえる</a:t>
            </a:r>
          </a:p>
          <a:p>
            <a:pPr lvl="1" fontAlgn="base"/>
            <a:r>
              <a:rPr lang="en-US" altLang="ja-JP" dirty="0"/>
              <a:t>GEO</a:t>
            </a:r>
            <a:r>
              <a:rPr lang="ja-JP" altLang="en-US" dirty="0"/>
              <a:t>衛星を仮定しているため、</a:t>
            </a:r>
            <a:r>
              <a:rPr lang="en-US" altLang="ja-JP" dirty="0"/>
              <a:t>LOS</a:t>
            </a:r>
            <a:r>
              <a:rPr lang="ja-JP" altLang="en-US" dirty="0"/>
              <a:t>誤差の回転角はフーリエ級数</a:t>
            </a:r>
            <a:r>
              <a:rPr lang="en-US" altLang="ja-JP" dirty="0"/>
              <a:t>(6</a:t>
            </a:r>
            <a:r>
              <a:rPr lang="ja-JP" altLang="en-US" dirty="0"/>
              <a:t>次まで</a:t>
            </a:r>
            <a:r>
              <a:rPr lang="en-US" altLang="ja-JP" dirty="0"/>
              <a:t>)</a:t>
            </a:r>
            <a:r>
              <a:rPr lang="ja-JP" altLang="en-US" dirty="0"/>
              <a:t>で十分に再現できるという仮定がある</a:t>
            </a:r>
          </a:p>
          <a:p>
            <a:pPr lvl="2" fontAlgn="base"/>
            <a:r>
              <a:rPr lang="ja-JP" altLang="en-US" dirty="0"/>
              <a:t>おそらく</a:t>
            </a:r>
            <a:r>
              <a:rPr lang="en-US" altLang="ja-JP" dirty="0"/>
              <a:t>LEO</a:t>
            </a:r>
            <a:r>
              <a:rPr lang="ja-JP" altLang="en-US" dirty="0"/>
              <a:t>の場合はそうもいかなさそう。</a:t>
            </a:r>
          </a:p>
          <a:p>
            <a:pPr lvl="2" fontAlgn="base"/>
            <a:r>
              <a:rPr lang="ja-JP" altLang="en-US" dirty="0"/>
              <a:t>なので、次の</a:t>
            </a:r>
            <a:r>
              <a:rPr lang="en-US" altLang="ja-JP" dirty="0"/>
              <a:t>Li et al.</a:t>
            </a:r>
            <a:r>
              <a:rPr lang="ja-JP" altLang="en-US" dirty="0"/>
              <a:t>の論文では、機械学習を用いて学習させている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39591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E289-4C46-C4A8-3781-0EE47CFB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79C99EF-CD90-998F-B438-5ECAE25B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0F936F-7FB9-9D62-F361-5F3E6DFEB3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1513D50-A5C0-DD24-D73B-0AF6BD09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先行研究メモ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DB9C234-3FD3-2045-F778-877EEC181B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78" y="3052826"/>
            <a:ext cx="23020979" cy="10809478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altLang="ja-JP" sz="4700" b="0" dirty="0"/>
              <a:t>Li et al. 2025</a:t>
            </a:r>
            <a:r>
              <a:rPr lang="ja-JP" altLang="en-US" sz="4700" b="0" dirty="0"/>
              <a:t>の論文</a:t>
            </a:r>
          </a:p>
          <a:p>
            <a:pPr lvl="1" fontAlgn="base"/>
            <a:r>
              <a:rPr lang="en-US" altLang="ja-JP" sz="4100" dirty="0"/>
              <a:t>Correction Method for Thermal Deformation Line-of-Sight Errors of Low-Orbit Optical Payloads Under Unstable Illumination Conditions</a:t>
            </a:r>
          </a:p>
          <a:p>
            <a:pPr lvl="1" fontAlgn="base"/>
            <a:r>
              <a:rPr lang="ja-JP" altLang="en-US" sz="4100" dirty="0"/>
              <a:t>で、ここまで</a:t>
            </a:r>
            <a:r>
              <a:rPr lang="en-US" altLang="ja-JP" sz="4100" dirty="0"/>
              <a:t>2</a:t>
            </a:r>
            <a:r>
              <a:rPr lang="ja-JP" altLang="en-US" sz="4100" dirty="0"/>
              <a:t>つの論文は、あくまで観測（リモートセンシング・観測衛星の </a:t>
            </a:r>
            <a:r>
              <a:rPr lang="en-US" altLang="ja-JP" sz="4100" dirty="0"/>
              <a:t>LOS </a:t>
            </a:r>
            <a:r>
              <a:rPr lang="ja-JP" altLang="en-US" sz="4100" dirty="0"/>
              <a:t>安定化 ）の枠組みの中にあり、光通信は関係ない</a:t>
            </a:r>
          </a:p>
          <a:p>
            <a:pPr lvl="1" fontAlgn="base"/>
            <a:r>
              <a:rPr lang="ja-JP" altLang="en-US" sz="4100" dirty="0"/>
              <a:t>こちらは、</a:t>
            </a:r>
            <a:r>
              <a:rPr lang="en-US" altLang="ja-JP" sz="4100" dirty="0"/>
              <a:t>LEO</a:t>
            </a:r>
            <a:r>
              <a:rPr lang="ja-JP" altLang="en-US" sz="4100" dirty="0"/>
              <a:t>において，軌道位相→熱ひずみによる</a:t>
            </a:r>
            <a:r>
              <a:rPr lang="en-US" altLang="ja-JP" sz="4100" dirty="0"/>
              <a:t>LOS</a:t>
            </a:r>
            <a:r>
              <a:rPr lang="ja-JP" altLang="en-US" sz="4100" dirty="0"/>
              <a:t>誤差を機械学習</a:t>
            </a:r>
            <a:r>
              <a:rPr lang="en-US" altLang="ja-JP" sz="4100" dirty="0"/>
              <a:t>(BP</a:t>
            </a:r>
            <a:r>
              <a:rPr lang="ja-JP" altLang="en-US" sz="4100" dirty="0"/>
              <a:t>ニューラルネットワーク</a:t>
            </a:r>
            <a:r>
              <a:rPr lang="en-US" altLang="ja-JP" sz="4100" dirty="0"/>
              <a:t>)</a:t>
            </a:r>
            <a:r>
              <a:rPr lang="ja-JP" altLang="en-US" sz="4100" dirty="0"/>
              <a:t>でモデル化</a:t>
            </a:r>
          </a:p>
          <a:p>
            <a:pPr lvl="2" fontAlgn="base"/>
            <a:r>
              <a:rPr lang="ja-JP" altLang="en-US" sz="4100" dirty="0"/>
              <a:t>教師データは星観測</a:t>
            </a:r>
          </a:p>
          <a:p>
            <a:pPr lvl="3" fontAlgn="base"/>
            <a:r>
              <a:rPr lang="ja-JP" altLang="en-US" sz="4100" dirty="0"/>
              <a:t>理論上の恒星位置と実際に観測された恒星位置との差から、</a:t>
            </a:r>
            <a:r>
              <a:rPr lang="en-US" altLang="ja-JP" sz="4100" dirty="0"/>
              <a:t>ΔLOS</a:t>
            </a:r>
            <a:r>
              <a:rPr lang="ja-JP" altLang="en-US" sz="4100" dirty="0"/>
              <a:t>を算出</a:t>
            </a:r>
          </a:p>
          <a:p>
            <a:pPr lvl="3" fontAlgn="base"/>
            <a:r>
              <a:rPr lang="en-US" altLang="ja-JP" sz="4100" b="1" dirty="0"/>
              <a:t>Li</a:t>
            </a:r>
            <a:r>
              <a:rPr lang="ja-JP" altLang="en-US" sz="4100" b="1" dirty="0"/>
              <a:t>ら自身の低軌道光学ペイロード（もしくは所属機関の実ミッション）の軌道上データっぽい</a:t>
            </a:r>
          </a:p>
          <a:p>
            <a:pPr lvl="2" fontAlgn="base"/>
            <a:r>
              <a:rPr lang="ja-JP" altLang="en-US" sz="4100" dirty="0"/>
              <a:t>「</a:t>
            </a:r>
            <a:r>
              <a:rPr lang="en-US" altLang="ja-JP" sz="4100" dirty="0"/>
              <a:t>LEO</a:t>
            </a:r>
            <a:r>
              <a:rPr lang="ja-JP" altLang="en-US" sz="4100" dirty="0"/>
              <a:t>では熱環境が不規則すぎて、</a:t>
            </a:r>
            <a:r>
              <a:rPr lang="en-US" altLang="ja-JP" sz="4100" dirty="0"/>
              <a:t>GEO</a:t>
            </a:r>
            <a:r>
              <a:rPr lang="ja-JP" altLang="en-US" sz="4100" dirty="0"/>
              <a:t>みたいな周期モデル</a:t>
            </a:r>
            <a:r>
              <a:rPr lang="en-US" altLang="ja-JP" sz="4100" dirty="0"/>
              <a:t>(Fourier</a:t>
            </a:r>
            <a:r>
              <a:rPr lang="ja-JP" altLang="en-US" sz="4100" dirty="0"/>
              <a:t>等</a:t>
            </a:r>
            <a:r>
              <a:rPr lang="en-US" altLang="ja-JP" sz="4100" dirty="0"/>
              <a:t>)</a:t>
            </a:r>
            <a:r>
              <a:rPr lang="ja-JP" altLang="en-US" sz="4100" dirty="0"/>
              <a:t>が効きにくい」と明記されている。</a:t>
            </a:r>
          </a:p>
          <a:p>
            <a:pPr lvl="1" fontAlgn="base"/>
            <a:r>
              <a:rPr lang="ja-JP" altLang="en-US" sz="4100" dirty="0"/>
              <a:t>結果</a:t>
            </a:r>
          </a:p>
          <a:p>
            <a:pPr lvl="2" fontAlgn="base"/>
            <a:r>
              <a:rPr lang="ja-JP" altLang="en-US" sz="4100" dirty="0"/>
              <a:t>誤差：</a:t>
            </a:r>
            <a:r>
              <a:rPr lang="en-US" altLang="ja-JP" sz="4100" dirty="0"/>
              <a:t>10^−4rad = 100urad </a:t>
            </a:r>
            <a:r>
              <a:rPr lang="ja-JP" altLang="en-US" sz="4100" dirty="0"/>
              <a:t>以下まで下がった</a:t>
            </a:r>
          </a:p>
          <a:p>
            <a:pPr lvl="2" fontAlgn="base"/>
            <a:r>
              <a:rPr lang="ja-JP" altLang="en-US" sz="4100" dirty="0"/>
              <a:t>粗捕捉のフェーズなら、十分ありえる値？</a:t>
            </a:r>
          </a:p>
          <a:p>
            <a:pPr lvl="1" fontAlgn="base"/>
            <a:r>
              <a:rPr lang="ja-JP" altLang="en-US" sz="4100" dirty="0"/>
              <a:t> 熱ひずみを、軌道熱環境から学習される時間変動</a:t>
            </a:r>
            <a:r>
              <a:rPr lang="en-US" altLang="ja-JP" sz="4100" dirty="0"/>
              <a:t>LOS</a:t>
            </a:r>
            <a:r>
              <a:rPr lang="ja-JP" altLang="en-US" sz="4100" dirty="0"/>
              <a:t>バイアスとして扱った </a:t>
            </a:r>
          </a:p>
          <a:p>
            <a:pPr lvl="2" fontAlgn="base"/>
            <a:r>
              <a:rPr lang="ja-JP" altLang="en-US" sz="4100" dirty="0"/>
              <a:t>教師データは、本当の軌道上の星観測データ</a:t>
            </a:r>
          </a:p>
          <a:p>
            <a:pPr lvl="1" fontAlgn="base"/>
            <a:r>
              <a:rPr lang="ja-JP" altLang="en-US" sz="4100" dirty="0"/>
              <a:t>そして，</a:t>
            </a:r>
            <a:r>
              <a:rPr lang="en-US" altLang="ja-JP" sz="4100" dirty="0" err="1"/>
              <a:t>fθ</a:t>
            </a:r>
            <a:r>
              <a:rPr lang="en-US" altLang="ja-JP" sz="4100" dirty="0"/>
              <a:t>(</a:t>
            </a:r>
            <a:r>
              <a:rPr lang="en-US" altLang="ja-JP" sz="4100" dirty="0" err="1"/>
              <a:t>xk</a:t>
            </a:r>
            <a:r>
              <a:rPr lang="en-US" altLang="ja-JP" sz="4100" dirty="0"/>
              <a:t>)=</a:t>
            </a:r>
            <a:r>
              <a:rPr lang="en-US" altLang="ja-JP" sz="4100" dirty="0" err="1"/>
              <a:t>ΔLOSk</a:t>
            </a:r>
            <a:endParaRPr lang="en-US" altLang="ja-JP" sz="4100" dirty="0"/>
          </a:p>
          <a:p>
            <a:pPr lvl="2" fontAlgn="base"/>
            <a:r>
              <a:rPr lang="ja-JP" altLang="en-US" sz="4100" dirty="0"/>
              <a:t>を</a:t>
            </a:r>
            <a:r>
              <a:rPr lang="en-US" altLang="ja-JP" sz="4100" dirty="0"/>
              <a:t>BP neural network</a:t>
            </a:r>
            <a:r>
              <a:rPr lang="ja-JP" altLang="en-US" sz="4100" dirty="0"/>
              <a:t>で学習</a:t>
            </a:r>
          </a:p>
          <a:p>
            <a:pPr lvl="1" fontAlgn="base"/>
            <a:r>
              <a:rPr lang="ja-JP" altLang="en-US" sz="4100" dirty="0"/>
              <a:t>推定しているのは、</a:t>
            </a:r>
            <a:r>
              <a:rPr lang="en-US" altLang="ja-JP" sz="4100" dirty="0"/>
              <a:t>thermal </a:t>
            </a:r>
            <a:r>
              <a:rPr lang="en-US" altLang="ja-JP" sz="4100" dirty="0" err="1"/>
              <a:t>environment→LOSerror</a:t>
            </a:r>
            <a:r>
              <a:rPr lang="ja-JP" altLang="en-US" sz="4100" dirty="0"/>
              <a:t> のみ</a:t>
            </a:r>
          </a:p>
          <a:p>
            <a:pPr lvl="1" fontAlgn="base"/>
            <a:r>
              <a:rPr lang="ja-JP" altLang="en-US" sz="4100" dirty="0"/>
              <a:t>ポイントは熱ひずみに効きそうな要素を</a:t>
            </a:r>
            <a:r>
              <a:rPr lang="en-US" altLang="ja-JP" sz="4100" dirty="0"/>
              <a:t>NN</a:t>
            </a:r>
            <a:r>
              <a:rPr lang="ja-JP" altLang="en-US" sz="4100" dirty="0"/>
              <a:t>の入力として入れている</a:t>
            </a:r>
          </a:p>
          <a:p>
            <a:pPr lvl="2" fontAlgn="base"/>
            <a:r>
              <a:rPr lang="en-US" altLang="ja-JP" sz="4100" dirty="0"/>
              <a:t>feature selection</a:t>
            </a:r>
          </a:p>
          <a:p>
            <a:pPr lvl="2" fontAlgn="base"/>
            <a:r>
              <a:rPr lang="en-US" altLang="ja-JP" sz="4100" dirty="0"/>
              <a:t>state reduction</a:t>
            </a:r>
          </a:p>
          <a:p>
            <a:pPr lvl="1" fontAlgn="base"/>
            <a:r>
              <a:rPr lang="en-US" altLang="ja-JP" sz="4100" dirty="0"/>
              <a:t>BP</a:t>
            </a:r>
            <a:r>
              <a:rPr lang="ja-JP" altLang="en-US" sz="4100" dirty="0"/>
              <a:t>ニューラルネットワーク：</a:t>
            </a:r>
            <a:r>
              <a:rPr lang="en-US" altLang="ja-JP" sz="4100" dirty="0"/>
              <a:t>Back Propagation NN  </a:t>
            </a:r>
          </a:p>
          <a:p>
            <a:pPr lvl="2" fontAlgn="base"/>
            <a:r>
              <a:rPr lang="ja-JP" altLang="en-US" sz="4100" dirty="0"/>
              <a:t>後ろ向きに多層構造のニューラルネットワークを伝搬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0142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E3F6-B32B-53F4-2FD6-5E7DA7E7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14F410D-C75B-7B3F-84DB-F28B9C09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24A8CE-CC59-B5E0-AE53-67266B534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B821CA5-E30B-BEE3-0485-7FC1DB71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先行研究メモ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6B0AF86-D1D9-26D7-3B46-1875211352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78" y="3052826"/>
            <a:ext cx="23020979" cy="10809478"/>
          </a:xfrm>
        </p:spPr>
        <p:txBody>
          <a:bodyPr>
            <a:normAutofit/>
          </a:bodyPr>
          <a:lstStyle/>
          <a:p>
            <a:pPr fontAlgn="base"/>
            <a:r>
              <a:rPr lang="en-US" altLang="ja-JP" b="0" dirty="0"/>
              <a:t>Shi et al. </a:t>
            </a:r>
            <a:r>
              <a:rPr lang="ja-JP" altLang="en-US" b="0" dirty="0"/>
              <a:t>の論文</a:t>
            </a:r>
          </a:p>
          <a:p>
            <a:pPr lvl="1" fontAlgn="base"/>
            <a:r>
              <a:rPr lang="en-US" altLang="ja-JP" dirty="0"/>
              <a:t>Thermal Deformation Stability Optimization Design and Experiment of the Satellite Bus to Control the Laser Communication Load’s Acquisition Time</a:t>
            </a:r>
          </a:p>
          <a:p>
            <a:pPr lvl="1" fontAlgn="base"/>
            <a:r>
              <a:rPr lang="en-US" altLang="ja-JP" dirty="0"/>
              <a:t>Thermal desktop</a:t>
            </a:r>
            <a:r>
              <a:rPr lang="ja-JP" altLang="en-US" dirty="0"/>
              <a:t>系の熱解析ソフトおよび構造解析ソフトを用いて、光通信系をもつ衛星に対して、熱ひずみによる</a:t>
            </a:r>
            <a:r>
              <a:rPr lang="en-US" altLang="ja-JP" dirty="0"/>
              <a:t>LOS</a:t>
            </a:r>
            <a:r>
              <a:rPr lang="ja-JP" altLang="en-US" dirty="0"/>
              <a:t>誤差がなるべく減るような</a:t>
            </a:r>
            <a:r>
              <a:rPr lang="ja-JP" altLang="en-US" b="1" dirty="0"/>
              <a:t>構造設計を構築</a:t>
            </a:r>
            <a:endParaRPr lang="ja-JP" altLang="en-US" dirty="0"/>
          </a:p>
          <a:p>
            <a:pPr lvl="1" fontAlgn="base"/>
            <a:r>
              <a:rPr lang="ja-JP" altLang="en-US" dirty="0"/>
              <a:t>主に取り組んでいることは、以下の</a:t>
            </a:r>
            <a:r>
              <a:rPr lang="en-US" altLang="ja-JP" dirty="0"/>
              <a:t>3</a:t>
            </a:r>
            <a:r>
              <a:rPr lang="ja-JP" altLang="en-US" dirty="0"/>
              <a:t>つ</a:t>
            </a:r>
          </a:p>
          <a:p>
            <a:pPr lvl="2" fontAlgn="base"/>
            <a:r>
              <a:rPr lang="en-US" altLang="ja-JP" dirty="0"/>
              <a:t>common reference</a:t>
            </a:r>
          </a:p>
          <a:p>
            <a:pPr lvl="2" fontAlgn="base"/>
            <a:r>
              <a:rPr lang="en-US" altLang="ja-JP" dirty="0"/>
              <a:t>isolation</a:t>
            </a:r>
          </a:p>
          <a:p>
            <a:pPr lvl="2" fontAlgn="base"/>
            <a:r>
              <a:rPr lang="en-US" altLang="ja-JP" dirty="0"/>
              <a:t>topology optimization</a:t>
            </a:r>
          </a:p>
          <a:p>
            <a:pPr lvl="1" fontAlgn="base"/>
            <a:r>
              <a:rPr lang="ja-JP" altLang="en-US" dirty="0"/>
              <a:t>物理モデル化まではやっていないが、構造解析まではかなり参考になりそう。</a:t>
            </a:r>
          </a:p>
          <a:p>
            <a:pPr fontAlgn="base"/>
            <a:r>
              <a:rPr lang="en-US" altLang="ja-JP" b="0" dirty="0"/>
              <a:t>Badas</a:t>
            </a:r>
            <a:r>
              <a:rPr lang="ja-JP" altLang="en-US" b="0" dirty="0"/>
              <a:t>らの論文</a:t>
            </a:r>
          </a:p>
          <a:p>
            <a:pPr lvl="1" fontAlgn="base"/>
            <a:r>
              <a:rPr lang="en-US" altLang="ja-JP" dirty="0"/>
              <a:t>Opto-thermo-mechanical phenomena in satellite free-space optical communications: survey and challenges</a:t>
            </a:r>
          </a:p>
          <a:p>
            <a:pPr lvl="1" fontAlgn="base"/>
            <a:r>
              <a:rPr lang="en-US" altLang="ja-JP" b="1" dirty="0"/>
              <a:t>satellite FSOC terminal </a:t>
            </a:r>
            <a:r>
              <a:rPr lang="ja-JP" altLang="en-US" b="1" dirty="0"/>
              <a:t>における </a:t>
            </a:r>
            <a:r>
              <a:rPr lang="en-US" altLang="ja-JP" b="1" dirty="0"/>
              <a:t>opto-thermo-mechanical phenomena</a:t>
            </a:r>
            <a:r>
              <a:rPr lang="en-US" altLang="ja-JP" dirty="0"/>
              <a:t> </a:t>
            </a:r>
            <a:r>
              <a:rPr lang="ja-JP" altLang="en-US" dirty="0"/>
              <a:t>を整理していて、熱・機械負荷が光学性能や通信性能にどう影響するか、</a:t>
            </a:r>
            <a:r>
              <a:rPr lang="en-US" altLang="ja-JP" dirty="0"/>
              <a:t>STOP</a:t>
            </a:r>
            <a:r>
              <a:rPr lang="ja-JP" altLang="en-US" dirty="0"/>
              <a:t>解析の考え方、</a:t>
            </a:r>
            <a:r>
              <a:rPr lang="en-US" altLang="ja-JP" dirty="0"/>
              <a:t>mitigation technique </a:t>
            </a:r>
            <a:r>
              <a:rPr lang="ja-JP" altLang="en-US" dirty="0"/>
              <a:t>までまとめている。 </a:t>
            </a:r>
          </a:p>
          <a:p>
            <a:pPr lvl="1"/>
            <a:r>
              <a:rPr lang="ja-JP" altLang="en-US" b="0" dirty="0"/>
              <a:t>ただし、これは</a:t>
            </a:r>
            <a:r>
              <a:rPr lang="ja-JP" altLang="en-US" dirty="0"/>
              <a:t>レビュー論文</a:t>
            </a:r>
            <a:r>
              <a:rPr lang="ja-JP" altLang="en-US" b="0" dirty="0"/>
              <a:t>で具体的な指標を示しているわけではない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2283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AD1F-7E12-8D29-9F73-D3E94A5C5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1FB67D8-8F50-DDBD-9543-A9DA5E52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26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24B0B4-EF67-71BF-E013-2F671E428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FE47B47-5E20-5E77-A132-6DD64A11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先行研究メモ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9B3C33F-9C05-E25D-2DF2-7BF56EA1E8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78" y="3052826"/>
            <a:ext cx="23020979" cy="10809478"/>
          </a:xfrm>
        </p:spPr>
        <p:txBody>
          <a:bodyPr>
            <a:normAutofit/>
          </a:bodyPr>
          <a:lstStyle/>
          <a:p>
            <a:pPr fontAlgn="base"/>
            <a:r>
              <a:rPr lang="en-US" altLang="ja-JP" b="0" dirty="0"/>
              <a:t>ZHANG et al.</a:t>
            </a:r>
            <a:r>
              <a:rPr lang="ja-JP" altLang="en-US" b="0" dirty="0"/>
              <a:t>の論文（第四の刺客）</a:t>
            </a:r>
          </a:p>
          <a:p>
            <a:pPr lvl="1" fontAlgn="base"/>
            <a:r>
              <a:rPr lang="en-US" altLang="ja-JP" dirty="0"/>
              <a:t>Analysis and Study on the Impact of Rapid Link Establishment of Interstellar Laser in External Heat Flux Environment</a:t>
            </a:r>
          </a:p>
          <a:p>
            <a:pPr lvl="1" fontAlgn="base"/>
            <a:r>
              <a:rPr lang="ja-JP" altLang="en-US" dirty="0"/>
              <a:t>まさかの中国語の論文。</a:t>
            </a:r>
            <a:r>
              <a:rPr lang="en-US" altLang="ja-JP" dirty="0"/>
              <a:t>Google Scholar</a:t>
            </a:r>
            <a:r>
              <a:rPr lang="ja-JP" altLang="en-US" dirty="0"/>
              <a:t>にはなく中国の国内の</a:t>
            </a:r>
            <a:r>
              <a:rPr lang="en-US" altLang="ja-JP" dirty="0"/>
              <a:t>PAT</a:t>
            </a:r>
            <a:r>
              <a:rPr lang="ja-JP" altLang="en-US" dirty="0"/>
              <a:t>ジャーナル？</a:t>
            </a:r>
          </a:p>
          <a:p>
            <a:pPr lvl="1" fontAlgn="base"/>
            <a:r>
              <a:rPr lang="ja-JP" altLang="en-US" dirty="0"/>
              <a:t>これも、熱解析ソフト・構造解析ソフトを用いて、</a:t>
            </a:r>
            <a:r>
              <a:rPr lang="en-US" altLang="ja-JP" dirty="0"/>
              <a:t>LOS</a:t>
            </a:r>
            <a:r>
              <a:rPr lang="ja-JP" altLang="en-US" dirty="0"/>
              <a:t>誤差算出</a:t>
            </a:r>
          </a:p>
          <a:p>
            <a:pPr lvl="1" fontAlgn="base"/>
            <a:r>
              <a:rPr lang="ja-JP" altLang="en-US" dirty="0"/>
              <a:t>熱変形由来の指向誤差が</a:t>
            </a:r>
            <a:r>
              <a:rPr lang="en-US" altLang="ja-JP" b="1" dirty="0" err="1"/>
              <a:t>mrad</a:t>
            </a:r>
            <a:r>
              <a:rPr lang="ja-JP" altLang="en-US" b="1" dirty="0"/>
              <a:t>級</a:t>
            </a:r>
            <a:r>
              <a:rPr lang="ja-JP" altLang="en-US" dirty="0"/>
              <a:t>になり得る</a:t>
            </a:r>
          </a:p>
          <a:p>
            <a:pPr lvl="2" fontAlgn="base"/>
            <a:r>
              <a:rPr lang="ja-JP" altLang="en-US" dirty="0"/>
              <a:t>低軌道衛星モデルでは、光学頭とスターセンサ間の熱変形由来指向誤差は、低温極限条件で最大 </a:t>
            </a:r>
            <a:r>
              <a:rPr lang="en-US" altLang="ja-JP" b="1" dirty="0"/>
              <a:t>0.51 </a:t>
            </a:r>
            <a:r>
              <a:rPr lang="en-US" altLang="ja-JP" b="1" dirty="0" err="1"/>
              <a:t>mrad</a:t>
            </a:r>
            <a:r>
              <a:rPr lang="ja-JP" altLang="en-US" dirty="0"/>
              <a:t>。</a:t>
            </a:r>
            <a:r>
              <a:rPr lang="en-US" altLang="ja-JP" dirty="0"/>
              <a:t>1</a:t>
            </a:r>
            <a:r>
              <a:rPr lang="ja-JP" altLang="en-US" dirty="0"/>
              <a:t>軌道周期中の解析では、最大 </a:t>
            </a:r>
            <a:r>
              <a:rPr lang="en-US" altLang="ja-JP" b="1" dirty="0"/>
              <a:t>0.2951 </a:t>
            </a:r>
            <a:r>
              <a:rPr lang="en-US" altLang="ja-JP" b="1" dirty="0" err="1"/>
              <a:t>mrad</a:t>
            </a:r>
            <a:r>
              <a:rPr lang="ja-JP" altLang="en-US" dirty="0"/>
              <a:t>、</a:t>
            </a:r>
            <a:r>
              <a:rPr lang="en-US" altLang="ja-JP" dirty="0"/>
              <a:t>10</a:t>
            </a:r>
            <a:r>
              <a:rPr lang="ja-JP" altLang="en-US" dirty="0"/>
              <a:t>分間の変化勾配も最大 </a:t>
            </a:r>
            <a:r>
              <a:rPr lang="en-US" altLang="ja-JP" b="1" dirty="0"/>
              <a:t>0.1613 </a:t>
            </a:r>
            <a:r>
              <a:rPr lang="en-US" altLang="ja-JP" b="1" dirty="0" err="1"/>
              <a:t>mrad</a:t>
            </a:r>
            <a:r>
              <a:rPr lang="ja-JP" altLang="en-US" dirty="0"/>
              <a:t> とされています。</a:t>
            </a:r>
          </a:p>
          <a:p>
            <a:pPr lvl="2" fontAlgn="base"/>
            <a:r>
              <a:rPr lang="ja-JP" altLang="en-US" dirty="0"/>
              <a:t>高軌道衛星モデルではさらに大きく、極限条件で最大 </a:t>
            </a:r>
            <a:r>
              <a:rPr lang="en-US" altLang="ja-JP" b="1" dirty="0"/>
              <a:t>1.33 </a:t>
            </a:r>
            <a:r>
              <a:rPr lang="en-US" altLang="ja-JP" b="1" dirty="0" err="1"/>
              <a:t>mrad</a:t>
            </a:r>
            <a:r>
              <a:rPr lang="ja-JP" altLang="en-US" dirty="0"/>
              <a:t>、冬至</a:t>
            </a:r>
            <a:r>
              <a:rPr lang="en-US" altLang="ja-JP" dirty="0"/>
              <a:t>24</a:t>
            </a:r>
            <a:r>
              <a:rPr lang="ja-JP" altLang="en-US" dirty="0"/>
              <a:t>時間解析でも </a:t>
            </a:r>
            <a:r>
              <a:rPr lang="en-US" altLang="ja-JP" b="1" dirty="0"/>
              <a:t>0.8201〜1.1427 </a:t>
            </a:r>
            <a:r>
              <a:rPr lang="en-US" altLang="ja-JP" b="1" dirty="0" err="1"/>
              <a:t>mrad</a:t>
            </a:r>
            <a:r>
              <a:rPr lang="ja-JP" altLang="en-US" dirty="0"/>
              <a:t> 程度の指向誤差が出ています</a:t>
            </a:r>
          </a:p>
          <a:p>
            <a:pPr lvl="2" fontAlgn="base"/>
            <a:r>
              <a:rPr lang="ja-JP" altLang="en-US" dirty="0"/>
              <a:t>→数百</a:t>
            </a:r>
            <a:r>
              <a:rPr lang="en-US" altLang="ja-JP" dirty="0" err="1"/>
              <a:t>urad~mrad</a:t>
            </a:r>
            <a:r>
              <a:rPr lang="ja-JP" altLang="en-US" dirty="0"/>
              <a:t>並のオーダーになるということ。</a:t>
            </a:r>
          </a:p>
          <a:p>
            <a:pPr lvl="1" fontAlgn="base"/>
            <a:r>
              <a:rPr lang="ja-JP" altLang="en-US" dirty="0"/>
              <a:t>この論文は</a:t>
            </a:r>
            <a:r>
              <a:rPr lang="en-US" altLang="ja-JP" dirty="0"/>
              <a:t>PAT</a:t>
            </a:r>
            <a:r>
              <a:rPr lang="ja-JP" altLang="en-US" dirty="0"/>
              <a:t>シミュレータまでは行っておらず、指向誤差量の評価で止まっている。</a:t>
            </a:r>
          </a:p>
          <a:p>
            <a:pPr lvl="1" fontAlgn="base"/>
            <a:r>
              <a:rPr lang="en-US" altLang="ja-JP" dirty="0"/>
              <a:t>Shi.</a:t>
            </a:r>
            <a:r>
              <a:rPr lang="ja-JP" altLang="en-US" dirty="0"/>
              <a:t>の論文と共に、熱ひずみによる指向誤差が大きくなることの事実の補強にできる！（先に解析やってくれているから！）</a:t>
            </a:r>
          </a:p>
          <a:p>
            <a:pPr fontAlgn="base"/>
            <a:endParaRPr kumimoji="1" lang="en-US" altLang="ja-JP" dirty="0"/>
          </a:p>
          <a:p>
            <a:pPr fontAlgn="base"/>
            <a:endParaRPr lang="en-US" altLang="ja-JP" dirty="0"/>
          </a:p>
          <a:p>
            <a:pPr fontAlgn="base"/>
            <a:r>
              <a:rPr kumimoji="1" lang="ja-JP" altLang="en-US" dirty="0"/>
              <a:t>かなり中国の論文が多い．リモセン・観測衛星・高速光通信網の開発が進む中国では本テーマの研究のニーズが高まっていることが予想される．</a:t>
            </a:r>
          </a:p>
        </p:txBody>
      </p:sp>
    </p:spTree>
    <p:extLst>
      <p:ext uri="{BB962C8B-B14F-4D97-AF65-F5344CB8AC3E}">
        <p14:creationId xmlns:p14="http://schemas.microsoft.com/office/powerpoint/2010/main" val="84966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ISSL true">
      <a:dk1>
        <a:srgbClr val="062654"/>
      </a:dk1>
      <a:lt1>
        <a:srgbClr val="FFFFFF"/>
      </a:lt1>
      <a:dk2>
        <a:srgbClr val="4B4B4B"/>
      </a:dk2>
      <a:lt2>
        <a:srgbClr val="8D8D8D"/>
      </a:lt2>
      <a:accent1>
        <a:srgbClr val="067BCA"/>
      </a:accent1>
      <a:accent2>
        <a:srgbClr val="C95656"/>
      </a:accent2>
      <a:accent3>
        <a:srgbClr val="EBA123"/>
      </a:accent3>
      <a:accent4>
        <a:srgbClr val="87AC70"/>
      </a:accent4>
      <a:accent5>
        <a:srgbClr val="B3618D"/>
      </a:accent5>
      <a:accent6>
        <a:srgbClr val="D16449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sl-template-en-16-9" id="{8F17A6FE-D1E3-CE4C-AB09-B41E279C4B99}" vid="{0DF52D24-821D-434C-888C-DDA53B04955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issl-template-en-16-9</Template>
  <TotalTime>1810</TotalTime>
  <Words>3323</Words>
  <Application>Microsoft Office PowerPoint</Application>
  <PresentationFormat>ユーザー設定</PresentationFormat>
  <Paragraphs>380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2" baseType="lpstr">
      <vt:lpstr>ＭＳ Ｐゴシック</vt:lpstr>
      <vt:lpstr>ＭＳ Ｐゴシック 本文</vt:lpstr>
      <vt:lpstr>游ゴシック</vt:lpstr>
      <vt:lpstr>Arial</vt:lpstr>
      <vt:lpstr>Cambria Math</vt:lpstr>
      <vt:lpstr>Office テーマ</vt:lpstr>
      <vt:lpstr>Feedforward and Adaptive Correction of Time-Varying Thermal Bias for Coarse Acquisition in Optical Communication Systems  熱ひずみ予測と適応補正による 光通信粗捕捉性能向上の検討 </vt:lpstr>
      <vt:lpstr>01</vt:lpstr>
      <vt:lpstr>光通信粗捕捉では初期指向誤差が捕捉時間を支配する</vt:lpstr>
      <vt:lpstr>初期指向誤差には複数の誤差源が含まれる</vt:lpstr>
      <vt:lpstr>熱ひずみによるLOSバイアスは粗捕捉開始時に未補償で残る</vt:lpstr>
      <vt:lpstr>熱ひずみ由来のLOSバイアスは無視できないオーダーになり得る</vt:lpstr>
      <vt:lpstr>先行研究はLOS補正と光通信捕捉性能評価に分かれている</vt:lpstr>
      <vt:lpstr>02</vt:lpstr>
      <vt:lpstr>本研究では熱ひずみ予測を粗捕捉補正に接続する</vt:lpstr>
      <vt:lpstr>事前予測と観測残差の二層補正によりLOSバイアスを補正する</vt:lpstr>
      <vt:lpstr>TD/Femapを高精度参照モデルとしてLOSバイアス時系列を作る</vt:lpstr>
      <vt:lpstr>Feedforward Correction: 軽量な補正モデルでLOSバイアスを近似・予測</vt:lpstr>
      <vt:lpstr>Feedforward Correction:予測LOSバイアスをscan center補正量として入力する </vt:lpstr>
      <vt:lpstr>Preliminary result：FF補正により初期誤差・捕捉時間が低下</vt:lpstr>
      <vt:lpstr>Adaptive Correction：観測残差でモデル誤差を逐次更新する</vt:lpstr>
      <vt:lpstr>補正なし / Static / FF / FF+Adaptive で粗捕捉性能を比較する</vt:lpstr>
      <vt:lpstr>03</vt:lpstr>
      <vt:lpstr>Contribution: 熱ひずみ補正を粗捕捉性能向上に接続する</vt:lpstr>
      <vt:lpstr>Discussion：熱ひずみ補正を実装する上での論点</vt:lpstr>
      <vt:lpstr>PowerPoint プレゼンテーション</vt:lpstr>
      <vt:lpstr>PowerPoint プレゼンテーション</vt:lpstr>
      <vt:lpstr>PowerPoint プレゼンテーション</vt:lpstr>
      <vt:lpstr>先行研究メモ</vt:lpstr>
      <vt:lpstr>先行研究メモ</vt:lpstr>
      <vt:lpstr>先行研究メモ</vt:lpstr>
      <vt:lpstr>先行研究メモ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高本　英熙</dc:creator>
  <cp:lastModifiedBy>高本　英熙</cp:lastModifiedBy>
  <cp:revision>2</cp:revision>
  <cp:lastPrinted>2026-05-12T01:28:53Z</cp:lastPrinted>
  <dcterms:created xsi:type="dcterms:W3CDTF">2026-05-11T00:55:18Z</dcterms:created>
  <dcterms:modified xsi:type="dcterms:W3CDTF">2026-07-20T08:36:09Z</dcterms:modified>
</cp:coreProperties>
</file>