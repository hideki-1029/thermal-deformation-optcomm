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0"/>
  </p:notesMasterIdLst>
  <p:sldIdLst>
    <p:sldId id="263" r:id="rId2"/>
    <p:sldId id="257" r:id="rId3"/>
    <p:sldId id="258" r:id="rId4"/>
    <p:sldId id="282" r:id="rId5"/>
    <p:sldId id="264" r:id="rId6"/>
    <p:sldId id="266" r:id="rId7"/>
    <p:sldId id="276" r:id="rId8"/>
    <p:sldId id="277" r:id="rId9"/>
    <p:sldId id="283" r:id="rId10"/>
    <p:sldId id="275" r:id="rId11"/>
    <p:sldId id="268" r:id="rId12"/>
    <p:sldId id="269" r:id="rId13"/>
    <p:sldId id="270" r:id="rId14"/>
    <p:sldId id="271" r:id="rId15"/>
    <p:sldId id="272" r:id="rId16"/>
    <p:sldId id="274" r:id="rId17"/>
    <p:sldId id="284" r:id="rId18"/>
    <p:sldId id="273" r:id="rId19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A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71"/>
  </p:normalViewPr>
  <p:slideViewPr>
    <p:cSldViewPr snapToGrid="0">
      <p:cViewPr varScale="1">
        <p:scale>
          <a:sx n="35" d="100"/>
          <a:sy n="35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80C97-2400-5344-89F3-3CED47A68B44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C54EC6-2177-1447-9798-A1A3B80469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3627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7月6日の発表以降の進捗として、階層ΔTモデル、PAT評価、軌道予測誤差の導入を報告する。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冒頭で前回までの位置づけと今回のゴールを共有する。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本日は完成報告ではなく設計レビュー。モデル、PAT、Adaptiveの3点についてフィードバックをもらいたい。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光RG向けの復習。熱変形自体ではなくSTT基準とLCT光軸の差が粗捕捉開始時のscan-center errorになる。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7月6日との違いを一枚で示す。当時の25.8秒は条件が異なる予備結果なので今回とは直接比較しない。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全体フロー。TD/Femapは高忠実度参照で、軌道上では軽量モデルのみを使う。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研究の主張を3段階で示す。最終評価はLOS RMSEだけでなく捕捉時間。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02: Thermo-structural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簡略shell衛星。LCTはMZ、STTはPZ、PROP/PCDUは±Y側。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PAT主入力はfar-field relative rotation。並進成分を含む角度は診断用。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基本3軌道。先頭1軌道をモデル同定、残り2軌道をtestに用いる。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実機詳細モデルではない。構造・拘束条件依存性が残る点を明示する。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発熱モードはLevel 2の説明変数。半電力case22はON/OFFフラグの限界を確認する。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21ケースはいずれも同じ基本構造の感度ケースで、別機体への汎化ではない。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光学特性未反映やmapper混線を経験し、ケースID管理を強化した。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case04。太陽面と反対面の温度差が支配軸LOSを説明できそうだと分かった。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対向面で符号反転。被覆は残差床、発熱はΔTとDC、軌道条件は時変量を変える。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03: Lightweight LOS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Fourierよりも物理入力で軌道条件の変化を扱いたい。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見かけのRMSE改善より、共線で係数解釈が壊れることを問題視した。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1は支配軸のみ。非支配軸は現状モデル外。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現在は発熱フラグをMY/PYで有効化し、MX/PXでは差が小さいため無効。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bはLOOだがa_sharedは対象ケースを含む中央値で完全LOOではない。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aの安定性がモデルの核心。Adaptiveで毎回aを学ぶ必要性は低そう。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最大LOO残差は半電力case22で13.2 µrad。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半電力ではaは合うが、ON/OFF Level 2では中間bを表せない。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モデル精度の主数字。統計量の違いを明示する。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ΔT一次関係はJANUSにある。差分はバス相対LOS、階層DC、粗捕捉性能への接続。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モデル結果からAdaptiveの対象を再整理する。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04: PAT evaluation and orbit error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非熱誤差は補正対象外で残る。熱モデル能力とシステム性能を分けて読む。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平均捕捉時間は成功試行のみの条件付き平均。成功率を併記する。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軌道のみ実データ根拠が強く、他は代表値の簡易モデル。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予測時刻より未来のTLEを使わない。現状は代表外乱としてcyclicに載せる。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以前の任意ECEF-Z基底からSTT/bodyへ接続。MX proxyに注意。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熱も軌道も軌道位相依存。低周波残差を熱として取り込む説明は修正する。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Staticが良いのはDC支配ケースが多いから。平均時間は成功試行条件付き。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21ケース単純平均。MY/PYで大幅改善、PX/MXは軌道誤差支配。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全平均だけでなくケース依存性を見せる。MXをどう扱うか議論したい。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05: Discussion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ここから議論。周波数分離ではなく事前情報を使う状態推定が必要。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本編まとめ。ここで議論へ移る。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A: Appendix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関連研究の位置づけ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全解析ケースの設計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熱光学特性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LOS定義の比較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Level-2係数と解釈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モデルの難しいケース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軌道予測誤差の仮定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STT-frame射影結果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PATスキャンの注意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Adaptive候補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主要参考文献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77201" y="7340600"/>
            <a:ext cx="12431685" cy="2125436"/>
          </a:xfrm>
        </p:spPr>
        <p:txBody>
          <a:bodyPr anchor="b"/>
          <a:lstStyle>
            <a:lvl1pPr algn="l">
              <a:defRPr sz="4800" spc="3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77201" y="9794966"/>
            <a:ext cx="12431684" cy="2351314"/>
          </a:xfrm>
        </p:spPr>
        <p:txBody>
          <a:bodyPr/>
          <a:lstStyle>
            <a:lvl1pPr marL="0" indent="0" algn="l">
              <a:lnSpc>
                <a:spcPct val="50000"/>
              </a:lnSpc>
              <a:buNone/>
              <a:defRPr sz="3600" b="0">
                <a:solidFill>
                  <a:schemeClr val="tx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E69BD-F0A9-D945-85B5-A92D8C4A6243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ADAD6F10-9E3C-081C-FAC9-2F96D835D9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483539" y="6261101"/>
            <a:ext cx="5625347" cy="698499"/>
          </a:xfrm>
        </p:spPr>
        <p:txBody>
          <a:bodyPr/>
          <a:lstStyle>
            <a:lvl1pPr algn="r">
              <a:buNone/>
              <a:defRPr sz="4000" b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0" name="テキスト プレースホルダー 8">
            <a:extLst>
              <a:ext uri="{FF2B5EF4-FFF2-40B4-BE49-F238E27FC236}">
                <a16:creationId xmlns:a16="http://schemas.microsoft.com/office/drawing/2014/main" id="{3A47DA29-0B22-B527-E246-85A23FDB43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677201" y="6261101"/>
            <a:ext cx="5625347" cy="698499"/>
          </a:xfrm>
        </p:spPr>
        <p:txBody>
          <a:bodyPr/>
          <a:lstStyle>
            <a:lvl1pPr algn="l">
              <a:buNone/>
              <a:defRPr sz="4000" b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テキスト プレースホルダー 8">
            <a:extLst>
              <a:ext uri="{FF2B5EF4-FFF2-40B4-BE49-F238E27FC236}">
                <a16:creationId xmlns:a16="http://schemas.microsoft.com/office/drawing/2014/main" id="{3ABD93C0-C51C-2948-0F33-2EF4B6841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483538" y="5413377"/>
            <a:ext cx="5625347" cy="698499"/>
          </a:xfrm>
        </p:spPr>
        <p:txBody>
          <a:bodyPr/>
          <a:lstStyle>
            <a:lvl1pPr algn="r">
              <a:buNone/>
              <a:defRPr sz="4000" b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9124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8300" y="4192765"/>
            <a:ext cx="4965808" cy="1795335"/>
          </a:xfrm>
        </p:spPr>
        <p:txBody>
          <a:bodyPr anchor="b"/>
          <a:lstStyle>
            <a:lvl1pPr algn="ctr">
              <a:defRPr sz="56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89" y="7727900"/>
            <a:ext cx="21029831" cy="3000374"/>
          </a:xfrm>
        </p:spPr>
        <p:txBody>
          <a:bodyPr/>
          <a:lstStyle>
            <a:lvl1pPr marL="0" indent="0" algn="ctr">
              <a:buNone/>
              <a:defRPr sz="5600" spc="300">
                <a:solidFill>
                  <a:schemeClr val="bg1"/>
                </a:solidFill>
              </a:defRPr>
            </a:lvl1pPr>
            <a:lvl2pPr marL="914354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709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063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417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1771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126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48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4834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E95FB-2235-2F42-91D0-8B9F16BE7B80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72E8AAC-513B-BB73-EF3E-6F21C4AF6A77}"/>
              </a:ext>
            </a:extLst>
          </p:cNvPr>
          <p:cNvCxnSpPr>
            <a:cxnSpLocks/>
          </p:cNvCxnSpPr>
          <p:nvPr userDrawn="1"/>
        </p:nvCxnSpPr>
        <p:spPr>
          <a:xfrm>
            <a:off x="11254952" y="6858000"/>
            <a:ext cx="187250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003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1620" y="1358425"/>
            <a:ext cx="22304738" cy="155045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5378" y="3104147"/>
            <a:ext cx="23020980" cy="924977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D544-ACEE-1142-A4DF-052F81DCAF13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1B145F9-61C6-1870-CE50-37506B7E4EF4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7968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DA76-1C10-5547-91CE-253BD16E32D7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055" y="3182735"/>
            <a:ext cx="11364543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F5EC9B8-55A0-1456-F399-6D313F6D2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71815" y="3182735"/>
            <a:ext cx="11364543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D7CF2C5-496E-3F41-87A5-8BF20107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620" y="1358425"/>
            <a:ext cx="22304738" cy="155045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D55661E-ACB1-18CB-79CA-CE03DAB48599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7148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E895-CCE5-A241-A85F-670DB4C916C8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055" y="4092833"/>
            <a:ext cx="11364543" cy="8377768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F5EC9B8-55A0-1456-F399-6D313F6D2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71815" y="4092833"/>
            <a:ext cx="11364543" cy="8377768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685F9C02-29EC-4168-A599-AFD3B71ED2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114" y="3213462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6165EC21-36B4-4CED-0569-C34ACFFC9B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429459" y="3213462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D06260A-761F-95EE-B2CA-F7236CCF8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620" y="1358425"/>
            <a:ext cx="22304738" cy="155045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685353A-F7C6-F829-267C-FA087B7BBA8F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6196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4C7F2-45E9-0742-99C2-D62F245DFEC9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81" y="3198393"/>
            <a:ext cx="7448868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C0F6B-7CC3-BA66-8706-C8D1A03DEF88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466772" y="3198393"/>
            <a:ext cx="7448868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8965DEA-F2AC-C400-E7ED-BAFF867547B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6387489" y="3198393"/>
            <a:ext cx="7448868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D0E9647-9028-AEF2-D4FC-0AC5B2CFA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620" y="1358425"/>
            <a:ext cx="22304738" cy="155045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3A54D1E-D7CD-DFE1-2E29-70A06AFEC982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1782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79897-8C2A-CB44-93BE-9BFBC7559B74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81" y="4119925"/>
            <a:ext cx="7448868" cy="8366333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3" name="テキスト プレースホルダー 10">
            <a:extLst>
              <a:ext uri="{FF2B5EF4-FFF2-40B4-BE49-F238E27FC236}">
                <a16:creationId xmlns:a16="http://schemas.microsoft.com/office/drawing/2014/main" id="{2D417ACA-1B7B-F655-60FA-EDD80F82E6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114" y="3234978"/>
            <a:ext cx="7572561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98EEB2B-456E-ACC0-29AE-C347BAE7F46F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49492" y="4119925"/>
            <a:ext cx="7448868" cy="8366333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5" name="テキスト プレースホルダー 10">
            <a:extLst>
              <a:ext uri="{FF2B5EF4-FFF2-40B4-BE49-F238E27FC236}">
                <a16:creationId xmlns:a16="http://schemas.microsoft.com/office/drawing/2014/main" id="{6F409C7A-D2E8-2D36-6086-331B6DCB40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04925" y="3234978"/>
            <a:ext cx="7572561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6D87F6-15FE-35D7-1017-BB745C23F61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16350303" y="4119925"/>
            <a:ext cx="7448868" cy="8366333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7" name="テキスト プレースホルダー 10">
            <a:extLst>
              <a:ext uri="{FF2B5EF4-FFF2-40B4-BE49-F238E27FC236}">
                <a16:creationId xmlns:a16="http://schemas.microsoft.com/office/drawing/2014/main" id="{3B277172-6A10-80CC-49F6-E3A8C945839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305736" y="3234978"/>
            <a:ext cx="7572561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194081A-47C8-EFEA-0CF4-1F31377C0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620" y="1358425"/>
            <a:ext cx="22304738" cy="155045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4DF2C9F-ACE0-585B-AAD3-3DD14251BADD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5884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09540-48D4-DC4E-A020-784E13A6C686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055" y="3283060"/>
            <a:ext cx="11364543" cy="4306755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DAFEE08-A81F-707C-4BA0-7BC8776B90FF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2474291" y="3283060"/>
            <a:ext cx="11364543" cy="4306755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A329A85-E9A3-6153-8937-4627CC5A7E6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46055" y="8184309"/>
            <a:ext cx="11364543" cy="4306755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569A398-229E-518C-A2F8-E87AC7FEABC2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12474291" y="8184309"/>
            <a:ext cx="11364543" cy="4306755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F385C3C-D291-ECD3-9330-C9FEFA38F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620" y="1358425"/>
            <a:ext cx="22304738" cy="155045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AA52CC1-C979-7DAC-F8FF-07CEF0898376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4936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09540-48D4-DC4E-A020-784E13A6C686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055" y="4063353"/>
            <a:ext cx="11364543" cy="3526461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C9B2C448-12D1-42AE-F7D0-C8AED70F60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114" y="3176140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DAFEE08-A81F-707C-4BA0-7BC8776B90FF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2474291" y="4063353"/>
            <a:ext cx="11364543" cy="3526461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C1871C9F-CBB5-6510-4C84-37F671317E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432350" y="3176140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A329A85-E9A3-6153-8937-4627CC5A7E6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46055" y="8964602"/>
            <a:ext cx="11364543" cy="3526461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6" name="テキスト プレースホルダー 10">
            <a:extLst>
              <a:ext uri="{FF2B5EF4-FFF2-40B4-BE49-F238E27FC236}">
                <a16:creationId xmlns:a16="http://schemas.microsoft.com/office/drawing/2014/main" id="{E5E7CD5A-D74B-3BF3-1D34-C6BC3F8555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04114" y="8077389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569A398-229E-518C-A2F8-E87AC7FEABC2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12474291" y="8964602"/>
            <a:ext cx="11364543" cy="3526461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8" name="テキスト プレースホルダー 10">
            <a:extLst>
              <a:ext uri="{FF2B5EF4-FFF2-40B4-BE49-F238E27FC236}">
                <a16:creationId xmlns:a16="http://schemas.microsoft.com/office/drawing/2014/main" id="{2F9C9DEC-0751-3E49-640C-C623BA98351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432350" y="8077389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428B87E-4E5C-BD4A-B7B9-5CD017C23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620" y="1358425"/>
            <a:ext cx="22304738" cy="155045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7564866-3642-1515-F78F-EBC63CFFFD78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8096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5357813"/>
            <a:ext cx="21029831" cy="3000374"/>
          </a:xfrm>
        </p:spPr>
        <p:txBody>
          <a:bodyPr anchor="ctr"/>
          <a:lstStyle>
            <a:lvl1pPr marL="0" indent="0" algn="ctr">
              <a:buNone/>
              <a:defRPr sz="5600" spc="300">
                <a:solidFill>
                  <a:schemeClr val="bg1"/>
                </a:solidFill>
              </a:defRPr>
            </a:lvl1pPr>
            <a:lvl2pPr marL="914354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709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063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417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1771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126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48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4834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6E1F-697B-864D-A8BC-B9F203AEA5AC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1924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052" y="1391479"/>
            <a:ext cx="23290306" cy="1096244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6FE-1092-FD42-9AC0-B69E5809E0EF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084573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1A28FF6-6ABD-05E0-14A5-3CA8FD766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30E5-DC19-8048-9011-93E4E558FEAD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FB69A14-0AF9-A649-3ABB-D4052E786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6DBC31-6D39-6C3E-5F31-00E86E0A2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pPr/>
              <a:t>‹#›</a:t>
            </a:fld>
            <a:endParaRPr kumimoji="1" lang="ja-JP" altLang="en-US" sz="3600"/>
          </a:p>
        </p:txBody>
      </p:sp>
    </p:spTree>
    <p:extLst>
      <p:ext uri="{BB962C8B-B14F-4D97-AF65-F5344CB8AC3E}">
        <p14:creationId xmlns:p14="http://schemas.microsoft.com/office/powerpoint/2010/main" val="28704873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5492" y="12744452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6230E5-DC19-8048-9011-93E4E558FEAD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5408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7BFEE9-6A35-CF42-A39A-CD481C3507E3}" type="slidenum">
              <a:rPr kumimoji="1" lang="ja-JP" altLang="en-US" smtClean="0"/>
              <a:pPr/>
              <a:t>‹#›</a:t>
            </a:fld>
            <a:endParaRPr kumimoji="1" lang="ja-JP" altLang="en-US" sz="3600"/>
          </a:p>
        </p:txBody>
      </p:sp>
    </p:spTree>
    <p:extLst>
      <p:ext uri="{BB962C8B-B14F-4D97-AF65-F5344CB8AC3E}">
        <p14:creationId xmlns:p14="http://schemas.microsoft.com/office/powerpoint/2010/main" val="616459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4" r:id="rId3"/>
    <p:sldLayoutId id="2147483679" r:id="rId4"/>
    <p:sldLayoutId id="2147483683" r:id="rId5"/>
    <p:sldLayoutId id="2147483684" r:id="rId6"/>
    <p:sldLayoutId id="2147483680" r:id="rId7"/>
    <p:sldLayoutId id="2147483681" r:id="rId8"/>
    <p:sldLayoutId id="2147483686" r:id="rId9"/>
    <p:sldLayoutId id="2147483685" r:id="rId10"/>
    <p:sldLayoutId id="2147483682" r:id="rId11"/>
    <p:sldLayoutId id="2147483687" r:id="rId12"/>
  </p:sldLayoutIdLst>
  <p:hf hdr="0" ftr="0" dt="0"/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6400" b="1" kern="1200" spc="3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4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b="0" i="0" kern="1200">
          <a:solidFill>
            <a:schemeClr val="tx2"/>
          </a:solidFill>
          <a:latin typeface="Yu Gothic Medium" panose="020B0400000000000000" pitchFamily="34" charset="-128"/>
          <a:ea typeface="Yu Gothic Medium" panose="020B0400000000000000" pitchFamily="34" charset="-128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b="0" i="0" kern="1200">
          <a:solidFill>
            <a:schemeClr val="tx2"/>
          </a:solidFill>
          <a:latin typeface="Yu Gothic Medium" panose="020B0400000000000000" pitchFamily="34" charset="-128"/>
          <a:ea typeface="Yu Gothic Medium" panose="020B0400000000000000" pitchFamily="34" charset="-128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b="0" i="0" kern="1200">
          <a:solidFill>
            <a:schemeClr val="tx2"/>
          </a:solidFill>
          <a:latin typeface="Yu Gothic Medium" panose="020B0400000000000000" pitchFamily="34" charset="-128"/>
          <a:ea typeface="Yu Gothic Medium" panose="020B0400000000000000" pitchFamily="34" charset="-128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b="0" i="0" kern="1200">
          <a:solidFill>
            <a:schemeClr val="tx2"/>
          </a:solidFill>
          <a:latin typeface="Yu Gothic Medium" panose="020B0400000000000000" pitchFamily="34" charset="-128"/>
          <a:ea typeface="Yu Gothic Medium" panose="020B0400000000000000" pitchFamily="34" charset="-128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EF8D53-DFAD-2781-7D58-CDDA68ED30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100" b="1">
                <a:solidFill>
                  <a:srgbClr val="082B52"/>
                </a:solidFill>
                <a:latin typeface="Yu Gothic"/>
              </a:rPr>
              <a:t>Feedforward and Adaptive Correction of</a:t>
            </a:r>
          </a:p>
          <a:p>
            <a:r>
              <a:rPr sz="3100" b="1">
                <a:solidFill>
                  <a:srgbClr val="082B52"/>
                </a:solidFill>
                <a:latin typeface="Yu Gothic"/>
              </a:rPr>
              <a:t>Time-Varying Thermal Bias for Coarse Acquisition</a:t>
            </a:r>
          </a:p>
          <a:p>
            <a:r>
              <a:rPr sz="3100" b="1">
                <a:solidFill>
                  <a:srgbClr val="082B52"/>
                </a:solidFill>
                <a:latin typeface="Yu Gothic"/>
              </a:rPr>
              <a:t>in Optical Communication Systems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1102AA9-45EB-C4FA-A1D0-A77A903D26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300" b="0">
                <a:solidFill>
                  <a:srgbClr val="232B34"/>
                </a:solidFill>
                <a:latin typeface="Yu Gothic"/>
              </a:rPr>
              <a:t>Hideki Takamoto (The University of Tokyo)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9D366E8-10A6-FE33-D7F0-BCE65C677E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483539" y="7705724"/>
            <a:ext cx="5625347" cy="698499"/>
          </a:xfrm>
        </p:spPr>
        <p:txBody>
          <a:bodyPr/>
          <a:lstStyle/>
          <a:p>
            <a:r>
              <a:rPr sz="2200" b="0">
                <a:solidFill>
                  <a:srgbClr val="666F79"/>
                </a:solidFill>
                <a:latin typeface="Yu Gothic"/>
              </a:rPr>
              <a:t>2026/07/21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23D87D9-D745-888C-4D05-FF267342E0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677201" y="7705724"/>
            <a:ext cx="5625347" cy="698499"/>
          </a:xfrm>
        </p:spPr>
        <p:txBody>
          <a:bodyPr/>
          <a:lstStyle/>
          <a:p/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FB66ACC2-84FB-08AA-2D48-20C1AB8643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483538" y="7042558"/>
            <a:ext cx="5625347" cy="698499"/>
          </a:xfrm>
        </p:spPr>
        <p:txBody>
          <a:bodyPr/>
          <a:lstStyle/>
          <a:p>
            <a:r>
              <a:rPr sz="2200" b="0">
                <a:solidFill>
                  <a:srgbClr val="666F79"/>
                </a:solidFill>
                <a:latin typeface="Yu Gothic"/>
              </a:rPr>
              <a:t>Optical Communication Research Group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FD1A49C-D906-D56C-8B01-F4742C0F4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8" name="TextBox 7"/>
          <p:cNvSpPr txBox="1"/>
          <p:nvPr/>
        </p:nvSpPr>
        <p:spPr>
          <a:xfrm>
            <a:off x="9674352" y="10972800"/>
            <a:ext cx="10515600" cy="12344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B74AA"/>
                </a:solidFill>
                <a:latin typeface="Yu Gothic"/>
              </a:rPr>
              <a:t>熱ひずみ予測と適応補正による
光通信粗捕捉性能向上の検討</a:t>
            </a:r>
          </a:p>
        </p:txBody>
      </p:sp>
    </p:spTree>
    <p:extLst>
      <p:ext uri="{BB962C8B-B14F-4D97-AF65-F5344CB8AC3E}">
        <p14:creationId xmlns:p14="http://schemas.microsoft.com/office/powerpoint/2010/main" val="4103417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635D3E-6BA3-A5CE-2210-317DCBD6F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FFFFFF"/>
                </a:solidFill>
                <a:latin typeface="Yu Gothic"/>
              </a:rPr>
              <a:t>01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4F4820-6A4B-21DF-1929-82AC7C54B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3200" b="1">
                <a:solidFill>
                  <a:srgbClr val="FFFFFF"/>
                </a:solidFill>
                <a:latin typeface="Yu Gothic"/>
              </a:rPr>
              <a:t>Overview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915B39E-8BAD-5C9C-E46E-51EE9D91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5895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F44572-0BF9-86FC-9CEA-DB05D75E6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82B52"/>
                </a:solidFill>
                <a:latin typeface="Yu Gothic"/>
              </a:rPr>
              <a:t>今日はモデルを見せ、仮定をレビューしてもらう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A03A934-1390-EADF-E03B-F076611056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2000" b="0">
                <a:solidFill>
                  <a:srgbClr val="666F79"/>
                </a:solidFill>
                <a:latin typeface="Yu Gothic"/>
              </a:rPr>
              <a:t>Overview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C65DDDE-896C-98BD-4236-523603EB3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800" b="0">
                <a:solidFill>
                  <a:srgbClr val="666F79"/>
                </a:solidFill>
                <a:latin typeface="Yu Gothic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63240"/>
            <a:ext cx="109728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100" b="1">
                <a:solidFill>
                  <a:srgbClr val="1B74AA"/>
                </a:solidFill>
                <a:latin typeface="Yu Gothic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3703320"/>
            <a:ext cx="6720840" cy="3977639"/>
          </a:xfrm>
          <a:prstGeom prst="rect">
            <a:avLst/>
          </a:prstGeom>
          <a:solidFill>
            <a:srgbClr val="FFFFFF"/>
          </a:solidFill>
          <a:ln w="2540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3703320"/>
            <a:ext cx="6720840" cy="621792"/>
          </a:xfrm>
          <a:prstGeom prst="rect">
            <a:avLst/>
          </a:prstGeom>
          <a:solidFill>
            <a:srgbClr val="1B74AA"/>
          </a:solidFill>
          <a:ln w="1651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617720"/>
            <a:ext cx="6263640" cy="6858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900" b="1">
                <a:solidFill>
                  <a:srgbClr val="082B52"/>
                </a:solidFill>
                <a:latin typeface="Yu Gothic"/>
              </a:rPr>
              <a:t>Hierarchical ΔT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623560"/>
            <a:ext cx="6080760" cy="12344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700" b="0">
                <a:solidFill>
                  <a:srgbClr val="232B34"/>
                </a:solidFill>
                <a:latin typeface="Yu Gothic"/>
              </a:rPr>
              <a:t>共有感度 a と
ケースDC b_case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063240"/>
            <a:ext cx="109728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100" b="1">
                <a:solidFill>
                  <a:srgbClr val="239571"/>
                </a:solidFill>
                <a:latin typeface="Yu Gothic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3703320"/>
            <a:ext cx="6720840" cy="3977639"/>
          </a:xfrm>
          <a:prstGeom prst="rect">
            <a:avLst/>
          </a:prstGeom>
          <a:solidFill>
            <a:srgbClr val="FFFFFF"/>
          </a:solidFill>
          <a:ln w="2540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0" y="3703320"/>
            <a:ext cx="6720840" cy="621792"/>
          </a:xfrm>
          <a:prstGeom prst="rect">
            <a:avLst/>
          </a:prstGeom>
          <a:solidFill>
            <a:srgbClr val="239571"/>
          </a:solidFill>
          <a:ln w="1651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4617720"/>
            <a:ext cx="6263640" cy="6858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900" b="1">
                <a:solidFill>
                  <a:srgbClr val="082B52"/>
                </a:solidFill>
                <a:latin typeface="Yu Gothic"/>
              </a:rPr>
              <a:t>PAT + orbit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5623560"/>
            <a:ext cx="6080760" cy="12344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700" b="0">
                <a:solidFill>
                  <a:srgbClr val="232B34"/>
                </a:solidFill>
                <a:latin typeface="Yu Gothic"/>
              </a:rPr>
              <a:t>非熱誤差込みの
捕捉性能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30600" y="3063240"/>
            <a:ext cx="109728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100" b="1">
                <a:solidFill>
                  <a:srgbClr val="EC9427"/>
                </a:solidFill>
                <a:latin typeface="Yu Gothic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230600" y="3703320"/>
            <a:ext cx="6720840" cy="3977639"/>
          </a:xfrm>
          <a:prstGeom prst="rect">
            <a:avLst/>
          </a:prstGeom>
          <a:solidFill>
            <a:srgbClr val="FFFFFF"/>
          </a:solidFill>
          <a:ln w="2540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230600" y="3703320"/>
            <a:ext cx="6720840" cy="621792"/>
          </a:xfrm>
          <a:prstGeom prst="rect">
            <a:avLst/>
          </a:prstGeom>
          <a:solidFill>
            <a:srgbClr val="EC9427"/>
          </a:solidFill>
          <a:ln w="1651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0" y="4617720"/>
            <a:ext cx="6263640" cy="6858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900" b="1">
                <a:solidFill>
                  <a:srgbClr val="082B52"/>
                </a:solidFill>
                <a:latin typeface="Yu Gothic"/>
              </a:rPr>
              <a:t>Discussion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50640" y="5623560"/>
            <a:ext cx="6080760" cy="12344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700" b="0">
                <a:solidFill>
                  <a:srgbClr val="232B34"/>
                </a:solidFill>
                <a:latin typeface="Yu Gothic"/>
              </a:rPr>
              <a:t>Adaptiveで何を
更新するか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8549640"/>
            <a:ext cx="548640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082B52"/>
                </a:solidFill>
                <a:latin typeface="Yu Gothic"/>
              </a:rPr>
              <a:t>今日特に議論したいこと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9189720"/>
            <a:ext cx="21762720" cy="2423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aを事前同定し、b_caseを軌道上更新する分担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熱と軌道誤差が同帯域にある場合の可観測性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現在のscan model・誤差条件の妥当性</a:t>
            </a:r>
          </a:p>
        </p:txBody>
      </p:sp>
    </p:spTree>
    <p:extLst>
      <p:ext uri="{BB962C8B-B14F-4D97-AF65-F5344CB8AC3E}">
        <p14:creationId xmlns:p14="http://schemas.microsoft.com/office/powerpoint/2010/main" val="2827016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12755A-CE30-29D5-66D8-858C1044B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82B52"/>
                </a:solidFill>
                <a:latin typeface="Yu Gothic"/>
              </a:rPr>
              <a:t>熱ひずみは粗捕捉開始時の scan-center error として残る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335B153-B47B-237D-12A8-7E5DB776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800" b="0">
                <a:solidFill>
                  <a:srgbClr val="666F79"/>
                </a:solidFill>
                <a:latin typeface="Yu Gothic"/>
              </a:rPr>
              <a:t>4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906C556-D817-34D8-3FEC-80F456E48C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2000" b="0">
                <a:solidFill>
                  <a:srgbClr val="666F79"/>
                </a:solidFill>
                <a:latin typeface="Yu Gothic"/>
              </a:rPr>
              <a:t>Background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383280"/>
            <a:ext cx="6492240" cy="4983480"/>
          </a:xfrm>
          <a:prstGeom prst="roundRect">
            <a:avLst/>
          </a:prstGeom>
          <a:solidFill>
            <a:srgbClr val="F4F6F8"/>
          </a:solidFill>
          <a:ln w="2540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886200"/>
            <a:ext cx="594360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700" b="1">
                <a:solidFill>
                  <a:srgbClr val="1B74AA"/>
                </a:solidFill>
                <a:latin typeface="Yu Gothic"/>
              </a:rPr>
              <a:t>光フィードバック前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5074920"/>
            <a:ext cx="5760720" cy="15087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600" b="0">
                <a:solidFill>
                  <a:srgbClr val="232B34"/>
                </a:solidFill>
                <a:latin typeface="Yu Gothic"/>
              </a:rPr>
              <a:t>姿勢・軌道・熱LOSを含む
不確定領域を探索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18119" y="5852160"/>
            <a:ext cx="640081" cy="0"/>
          </a:xfrm>
          <a:prstGeom prst="line">
            <a:avLst/>
          </a:prstGeom>
          <a:ln w="381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732519" y="3383280"/>
            <a:ext cx="6492240" cy="4983480"/>
          </a:xfrm>
          <a:prstGeom prst="roundRect">
            <a:avLst/>
          </a:prstGeom>
          <a:solidFill>
            <a:srgbClr val="F4F6F8"/>
          </a:solidFill>
          <a:ln w="2540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3886200"/>
            <a:ext cx="594360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700" b="1">
                <a:solidFill>
                  <a:srgbClr val="EC9427"/>
                </a:solidFill>
                <a:latin typeface="Yu Gothic"/>
              </a:rPr>
              <a:t>日照・蝕／機器発熱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5074920"/>
            <a:ext cx="5760720" cy="15087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600" b="0">
                <a:solidFill>
                  <a:srgbClr val="232B34"/>
                </a:solidFill>
                <a:latin typeface="Yu Gothic"/>
              </a:rPr>
              <a:t>温度場 → 差動膨張 →
STT–LCT相対回転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19" y="7086600"/>
            <a:ext cx="466344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900" b="1">
                <a:solidFill>
                  <a:srgbClr val="D03B46"/>
                </a:solidFill>
                <a:latin typeface="Yu Gothic"/>
              </a:rPr>
              <a:t>10²–10³ µrad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5453359" y="5852160"/>
            <a:ext cx="640081" cy="0"/>
          </a:xfrm>
          <a:prstGeom prst="line">
            <a:avLst/>
          </a:prstGeom>
          <a:ln w="381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6367759" y="3383280"/>
            <a:ext cx="6492240" cy="4983480"/>
          </a:xfrm>
          <a:prstGeom prst="roundRect">
            <a:avLst/>
          </a:prstGeom>
          <a:solidFill>
            <a:srgbClr val="F4F6F8"/>
          </a:solidFill>
          <a:ln w="2540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642080" y="3886200"/>
            <a:ext cx="594360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700" b="1">
                <a:solidFill>
                  <a:srgbClr val="239571"/>
                </a:solidFill>
                <a:latin typeface="Yu Gothic"/>
              </a:rPr>
              <a:t>予測FF補正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33519" y="5074920"/>
            <a:ext cx="5760720" cy="15087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600" b="0">
                <a:solidFill>
                  <a:srgbClr val="232B34"/>
                </a:solidFill>
                <a:latin typeface="Yu Gothic"/>
              </a:rPr>
              <a:t>熱LOSをscan centerから引き
探索域・捕捉時間を低減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9555480"/>
            <a:ext cx="18105120" cy="7772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3100" b="1">
                <a:solidFill>
                  <a:srgbClr val="082B52"/>
                </a:solidFill>
                <a:latin typeface="Yu Gothic"/>
              </a:rPr>
              <a:t>構造を変更せず、予測可能な熱成分だけを運用側で除去する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10744200"/>
            <a:ext cx="13350240" cy="5486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400" b="1">
                <a:solidFill>
                  <a:srgbClr val="D03B46"/>
                </a:solidFill>
                <a:latin typeface="Yu Gothic"/>
              </a:rPr>
              <a:t>すべての指向誤差を消す手法ではない</a:t>
            </a:r>
          </a:p>
        </p:txBody>
      </p:sp>
    </p:spTree>
    <p:extLst>
      <p:ext uri="{BB962C8B-B14F-4D97-AF65-F5344CB8AC3E}">
        <p14:creationId xmlns:p14="http://schemas.microsoft.com/office/powerpoint/2010/main" val="3867172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68C4D-195B-8495-7268-573CDB8EC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655CE6-31D2-9766-C410-BC789D604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82B52"/>
                </a:solidFill>
                <a:latin typeface="Yu Gothic"/>
              </a:rPr>
              <a:t>2週間で理想補正からケース横断モデル＋実データ外乱へ進んだ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819AD32-0E73-61BA-5B7C-EFE1060541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2000" b="0">
                <a:solidFill>
                  <a:srgbClr val="666F79"/>
                </a:solidFill>
                <a:latin typeface="Yu Gothic"/>
              </a:rPr>
              <a:t>Progress since 7/6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1629B45-DF56-B122-2C34-9A5A5A87D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800" b="0">
                <a:solidFill>
                  <a:srgbClr val="666F79"/>
                </a:solidFill>
                <a:latin typeface="Yu Gothi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063240"/>
            <a:ext cx="1024128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800" b="1">
                <a:solidFill>
                  <a:srgbClr val="666F79"/>
                </a:solidFill>
                <a:latin typeface="Yu Gothic"/>
              </a:rPr>
              <a:t>7/6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93040" y="3063240"/>
            <a:ext cx="1024128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800" b="1">
                <a:solidFill>
                  <a:srgbClr val="1B74AA"/>
                </a:solidFill>
                <a:latin typeface="Yu Gothic"/>
              </a:rPr>
              <a:t>7/21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840480"/>
            <a:ext cx="10241280" cy="6217920"/>
          </a:xfrm>
          <a:prstGeom prst="rect">
            <a:avLst/>
          </a:prstGeom>
          <a:solidFill>
            <a:srgbClr val="F4F6F8"/>
          </a:solidFill>
          <a:ln w="16510">
            <a:solidFill>
              <a:srgbClr val="B8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93040" y="3840480"/>
            <a:ext cx="10241280" cy="6217920"/>
          </a:xfrm>
          <a:prstGeom prst="rect">
            <a:avLst/>
          </a:prstGeom>
          <a:solidFill>
            <a:srgbClr val="EBF6FB"/>
          </a:solidFill>
          <a:ln w="16510">
            <a:solidFill>
              <a:srgbClr val="5BB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434840"/>
            <a:ext cx="9052560" cy="4800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666F79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熱真値補正が中心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666F79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数ケースの予備評価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666F79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Gaussian軌道誤差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666F79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任意LOS横断2軸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666F79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Adaptiveは概念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0" y="4434840"/>
            <a:ext cx="9052560" cy="4800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階層ΔT：共有 a + b_case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21ケース・LOO評価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Sentinel-1 TLE vs POEORB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STT/body座標へ射影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b_case/DC更新へ再定義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658600" y="6858000"/>
            <a:ext cx="822960" cy="0"/>
          </a:xfrm>
          <a:prstGeom prst="line">
            <a:avLst/>
          </a:prstGeom>
          <a:ln w="508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920240" y="10744200"/>
            <a:ext cx="20574000" cy="7772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900" b="1">
                <a:solidFill>
                  <a:srgbClr val="082B52"/>
                </a:solidFill>
                <a:latin typeface="Yu Gothic"/>
              </a:rPr>
              <a:t>現在の問い：同帯域の非熱誤差と共存しても、軽量熱モデルで捕捉性能を改善できるか</a:t>
            </a:r>
          </a:p>
        </p:txBody>
      </p:sp>
    </p:spTree>
    <p:extLst>
      <p:ext uri="{BB962C8B-B14F-4D97-AF65-F5344CB8AC3E}">
        <p14:creationId xmlns:p14="http://schemas.microsoft.com/office/powerpoint/2010/main" val="330906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66188-687C-CACF-8E62-FDA47B400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熱構造解析から粗捕捉補正までを一気通貫で評価する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063240"/>
            <a:ext cx="3444239" cy="1234440"/>
          </a:xfrm>
          <a:prstGeom prst="rect">
            <a:avLst/>
          </a:prstGeom>
          <a:solidFill>
            <a:srgbClr val="082B52"/>
          </a:solidFill>
          <a:ln w="16510">
            <a:solidFill>
              <a:srgbClr val="082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3172968"/>
            <a:ext cx="3297935" cy="1014984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Yu Gothic"/>
              </a:rPr>
              <a:t>Orbit / attitude
heat &amp; coating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413503" y="3680460"/>
            <a:ext cx="274320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742688" y="3063240"/>
            <a:ext cx="3444239" cy="1234440"/>
          </a:xfrm>
          <a:prstGeom prst="rect">
            <a:avLst/>
          </a:prstGeom>
          <a:solidFill>
            <a:srgbClr val="1B74AA"/>
          </a:solidFill>
          <a:ln w="1651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15840" y="3172968"/>
            <a:ext cx="3297935" cy="1014984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Yu Gothic"/>
              </a:rPr>
              <a:t>Thermal Desktop
temperature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41792" y="3680460"/>
            <a:ext cx="274320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570976" y="3063240"/>
            <a:ext cx="3444239" cy="1234440"/>
          </a:xfrm>
          <a:prstGeom prst="rect">
            <a:avLst/>
          </a:prstGeom>
          <a:solidFill>
            <a:srgbClr val="239571"/>
          </a:solidFill>
          <a:ln w="1651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4128" y="3172968"/>
            <a:ext cx="3297935" cy="1014984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Yu Gothic"/>
              </a:rPr>
              <a:t>Femap / Nastran
rotation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070080" y="3680460"/>
            <a:ext cx="274319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2399263" y="3063240"/>
            <a:ext cx="3444239" cy="1234440"/>
          </a:xfrm>
          <a:prstGeom prst="rect">
            <a:avLst/>
          </a:prstGeom>
          <a:solidFill>
            <a:srgbClr val="EC9427"/>
          </a:solidFill>
          <a:ln w="1651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472415" y="3172968"/>
            <a:ext cx="3297935" cy="1014984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Yu Gothic"/>
              </a:rPr>
              <a:t>STT–LCT
thermal LOS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898367" y="3680460"/>
            <a:ext cx="274321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6227552" y="3063240"/>
            <a:ext cx="3444239" cy="1234440"/>
          </a:xfrm>
          <a:prstGeom prst="rect">
            <a:avLst/>
          </a:prstGeom>
          <a:solidFill>
            <a:srgbClr val="5D4084"/>
          </a:solidFill>
          <a:ln w="16510">
            <a:solidFill>
              <a:srgbClr val="5D4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300703" y="3172968"/>
            <a:ext cx="3297935" cy="1014984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Yu Gothic"/>
              </a:rPr>
              <a:t>Lightweight
model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726655" y="3680460"/>
            <a:ext cx="274321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0055840" y="3063240"/>
            <a:ext cx="3444239" cy="1234440"/>
          </a:xfrm>
          <a:prstGeom prst="rect">
            <a:avLst/>
          </a:prstGeom>
          <a:solidFill>
            <a:srgbClr val="082B52"/>
          </a:solidFill>
          <a:ln w="16510">
            <a:solidFill>
              <a:srgbClr val="082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28992" y="3172968"/>
            <a:ext cx="3297935" cy="1014984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Yu Gothic"/>
              </a:rPr>
              <a:t>PAT
scan center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34440" y="5029200"/>
            <a:ext cx="10424160" cy="4800600"/>
          </a:xfrm>
          <a:prstGeom prst="rect">
            <a:avLst/>
          </a:prstGeom>
          <a:solidFill>
            <a:srgbClr val="F4F6F8"/>
          </a:solidFill>
          <a:ln w="16510">
            <a:solidFill>
              <a:srgbClr val="B8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5440680"/>
            <a:ext cx="9601200" cy="5486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700" b="1">
                <a:solidFill>
                  <a:srgbClr val="082B52"/>
                </a:solidFill>
                <a:latin typeface="Yu Gothic"/>
              </a:rPr>
              <a:t>High-fidelity reference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6400800"/>
            <a:ext cx="9052560" cy="2651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軌道熱環境・日照／蝕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温度場・熱変形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STT–LCT相対回転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0" y="5029200"/>
            <a:ext cx="10424160" cy="4800600"/>
          </a:xfrm>
          <a:prstGeom prst="rect">
            <a:avLst/>
          </a:prstGeom>
          <a:solidFill>
            <a:srgbClr val="EBF6FB"/>
          </a:solidFill>
          <a:ln w="16510">
            <a:solidFill>
              <a:srgbClr val="5BB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030200" y="5440680"/>
            <a:ext cx="9601200" cy="5486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700" b="1">
                <a:solidFill>
                  <a:srgbClr val="1B74AA"/>
                </a:solidFill>
                <a:latin typeface="Yu Gothic"/>
              </a:rPr>
              <a:t>Operational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13080" y="6400800"/>
            <a:ext cx="9052560" cy="2651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温度センサ＋運用フラグ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予測LOSをscan centerへ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捕捉後残差でモデル更新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10698480"/>
            <a:ext cx="17099280" cy="6400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800" b="1">
                <a:solidFill>
                  <a:srgbClr val="082B52"/>
                </a:solidFill>
                <a:latin typeface="Yu Gothic"/>
              </a:rPr>
              <a:t>TD/Femapはオンボード実装ではなく、軽量モデルの教師・評価用真値</a:t>
            </a:r>
          </a:p>
        </p:txBody>
      </p:sp>
    </p:spTree>
    <p:extLst>
      <p:ext uri="{BB962C8B-B14F-4D97-AF65-F5344CB8AC3E}">
        <p14:creationId xmlns:p14="http://schemas.microsoft.com/office/powerpoint/2010/main" val="3432855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78D0B-6B7B-20A9-4804-B6D3C7DE8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熱の予測精度ではなく、粗捕捉性能の改善までを主張する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3063240"/>
            <a:ext cx="6675120" cy="6217920"/>
          </a:xfrm>
          <a:prstGeom prst="rect">
            <a:avLst/>
          </a:prstGeom>
          <a:solidFill>
            <a:srgbClr val="F4F6F8"/>
          </a:solidFill>
          <a:ln w="16510">
            <a:solidFill>
              <a:srgbClr val="B8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00200" y="3429000"/>
            <a:ext cx="914400" cy="5486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B74AA"/>
                </a:solidFill>
                <a:latin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4160520"/>
            <a:ext cx="5212080" cy="6400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900" b="1">
                <a:solidFill>
                  <a:srgbClr val="082B52"/>
                </a:solidFill>
                <a:latin typeface="Yu Gothic"/>
              </a:rPr>
              <a:t>Quantify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577840"/>
            <a:ext cx="5394960" cy="12801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700" b="0">
                <a:solidFill>
                  <a:srgbClr val="232B34"/>
                </a:solidFill>
                <a:latin typeface="Yu Gothic"/>
              </a:rPr>
              <a:t>熱構造解析による
STT–LCT相対LOS</a:t>
            </a:r>
          </a:p>
        </p:txBody>
      </p:sp>
      <p:sp>
        <p:nvSpPr>
          <p:cNvPr id="9" name="Rectangle 8"/>
          <p:cNvSpPr/>
          <p:nvPr/>
        </p:nvSpPr>
        <p:spPr>
          <a:xfrm>
            <a:off x="8823960" y="3063240"/>
            <a:ext cx="6675120" cy="6217920"/>
          </a:xfrm>
          <a:prstGeom prst="rect">
            <a:avLst/>
          </a:prstGeom>
          <a:solidFill>
            <a:srgbClr val="EBF6FB"/>
          </a:solidFill>
          <a:ln w="16510">
            <a:solidFill>
              <a:srgbClr val="5BB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3429000"/>
            <a:ext cx="914400" cy="5486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B74AA"/>
                </a:solidFill>
                <a:latin typeface="Yu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4160520"/>
            <a:ext cx="5212080" cy="6400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900" b="1">
                <a:solidFill>
                  <a:srgbClr val="082B52"/>
                </a:solidFill>
                <a:latin typeface="Yu Gothic"/>
              </a:rPr>
              <a:t>Predict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5577840"/>
            <a:ext cx="5394960" cy="12801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700" b="0">
                <a:solidFill>
                  <a:srgbClr val="232B34"/>
                </a:solidFill>
                <a:latin typeface="Yu Gothic"/>
              </a:rPr>
              <a:t>共有感度＋ケースDCの
階層ΔTモデル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0" y="3063240"/>
            <a:ext cx="6675120" cy="6217920"/>
          </a:xfrm>
          <a:prstGeom prst="rect">
            <a:avLst/>
          </a:prstGeom>
          <a:solidFill>
            <a:srgbClr val="EAF8F1"/>
          </a:solidFill>
          <a:ln w="1651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870680" y="3429000"/>
            <a:ext cx="914400" cy="5486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239571"/>
                </a:solidFill>
                <a:latin typeface="Yu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90720" y="4160520"/>
            <a:ext cx="5212080" cy="6400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900" b="1">
                <a:solidFill>
                  <a:srgbClr val="082B52"/>
                </a:solidFill>
                <a:latin typeface="Yu Gothic"/>
              </a:rPr>
              <a:t>Improve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99280" y="5577840"/>
            <a:ext cx="5394960" cy="12801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700" b="0">
                <a:solidFill>
                  <a:srgbClr val="232B34"/>
                </a:solidFill>
                <a:latin typeface="Yu Gothic"/>
              </a:rPr>
              <a:t>scan center補正による
成功率・捕捉時間改善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0424160"/>
            <a:ext cx="16459200" cy="7315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900" b="1">
                <a:solidFill>
                  <a:srgbClr val="D03B46"/>
                </a:solidFill>
                <a:latin typeface="Yu Gothic"/>
              </a:rPr>
              <a:t>すべての指向誤差ではなく、予測可能な熱成分を除去する</a:t>
            </a:r>
          </a:p>
        </p:txBody>
      </p:sp>
    </p:spTree>
    <p:extLst>
      <p:ext uri="{BB962C8B-B14F-4D97-AF65-F5344CB8AC3E}">
        <p14:creationId xmlns:p14="http://schemas.microsoft.com/office/powerpoint/2010/main" val="809958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2FDC0-C27B-B493-3C2D-059C292E5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92640" y="4114800"/>
            <a:ext cx="493776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700" b="0">
                <a:solidFill>
                  <a:srgbClr val="FFFFFF"/>
                </a:solidFill>
                <a:latin typeface="Yu Gothic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69880" y="5230368"/>
            <a:ext cx="3383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5806440"/>
            <a:ext cx="20756880" cy="10515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3300" b="1">
                <a:solidFill>
                  <a:srgbClr val="FFFFFF"/>
                </a:solidFill>
                <a:latin typeface="Yu Gothic"/>
              </a:rPr>
              <a:t>Thermo-structural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Yu Gothi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09510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Thermo-structural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箱型衛星モデルで STT–LCT間の熱変形を評価する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2971800"/>
            <a:ext cx="10058400" cy="6949440"/>
          </a:xfrm>
          <a:prstGeom prst="rect">
            <a:avLst/>
          </a:prstGeom>
          <a:solidFill>
            <a:srgbClr val="F4F6F8"/>
          </a:solidFill>
          <a:ln w="16510">
            <a:solidFill>
              <a:srgbClr val="B8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4572000"/>
            <a:ext cx="5212080" cy="3383280"/>
          </a:xfrm>
          <a:prstGeom prst="rect">
            <a:avLst/>
          </a:prstGeom>
          <a:solidFill>
            <a:srgbClr val="EBF6FB"/>
          </a:solidFill>
          <a:ln w="1651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3794760"/>
            <a:ext cx="292608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400" b="1">
                <a:solidFill>
                  <a:srgbClr val="1B74AA"/>
                </a:solidFill>
                <a:latin typeface="Yu Gothic"/>
              </a:rPr>
              <a:t>PZ: STT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5486400"/>
            <a:ext cx="3749039" cy="10058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600" b="1">
                <a:solidFill>
                  <a:srgbClr val="082B52"/>
                </a:solidFill>
                <a:latin typeface="Yu Gothic"/>
              </a:rPr>
              <a:t>MZ: LCT
boresight ≈ −Z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5486400"/>
            <a:ext cx="2011680" cy="4572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200" b="1">
                <a:solidFill>
                  <a:srgbClr val="EC9427"/>
                </a:solidFill>
                <a:latin typeface="Yu Gothic"/>
              </a:rPr>
              <a:t>MY: PCDU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5486400"/>
            <a:ext cx="2011680" cy="4572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200" b="1">
                <a:solidFill>
                  <a:srgbClr val="EC9427"/>
                </a:solidFill>
                <a:latin typeface="Yu Gothic"/>
              </a:rPr>
              <a:t>PY: PROP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63640" y="7315200"/>
            <a:ext cx="0" cy="1463040"/>
          </a:xfrm>
          <a:prstGeom prst="line">
            <a:avLst/>
          </a:prstGeom>
          <a:ln w="50800">
            <a:solidFill>
              <a:srgbClr val="239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1978640" y="2971800"/>
          <a:ext cx="1106424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7132320"/>
              </a:tblGrid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Item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Setting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Bus size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590 × 600 × 990 mm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Panels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10 mm shell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Material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A5052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LCT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MZ center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STT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PZ center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108960" y="10652760"/>
            <a:ext cx="1810512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800" b="1">
                <a:solidFill>
                  <a:srgbClr val="082B52"/>
                </a:solidFill>
                <a:latin typeface="Yu Gothic"/>
              </a:rPr>
              <a:t>太陽面 MX / MY / PX / PY によって支配軸と符号が変わる</a:t>
            </a:r>
          </a:p>
        </p:txBody>
      </p:sp>
    </p:spTree>
    <p:extLst>
      <p:ext uri="{BB962C8B-B14F-4D97-AF65-F5344CB8AC3E}">
        <p14:creationId xmlns:p14="http://schemas.microsoft.com/office/powerpoint/2010/main" val="236690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Thermo-structural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PAT入力には STT基準で見たLCT光軸の相対回転を用いる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788920"/>
            <a:ext cx="13898880" cy="8229600"/>
          </a:xfrm>
          <a:prstGeom prst="rect">
            <a:avLst/>
          </a:prstGeom>
          <a:noFill/>
          <a:ln w="12700">
            <a:solidFill>
              <a:srgbClr val="B8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s_defini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788920"/>
            <a:ext cx="9052559" cy="8229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5544800" y="2788920"/>
            <a:ext cx="7498079" cy="8229600"/>
          </a:xfrm>
          <a:prstGeom prst="roundRect">
            <a:avLst/>
          </a:prstGeom>
          <a:solidFill>
            <a:srgbClr val="EBF6FB"/>
          </a:solidFill>
          <a:ln w="16510">
            <a:solidFill>
              <a:srgbClr val="5BB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910559" y="3246120"/>
            <a:ext cx="676656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800" b="1">
                <a:solidFill>
                  <a:srgbClr val="1B74AA"/>
                </a:solidFill>
                <a:latin typeface="Yu Gothic"/>
              </a:rPr>
              <a:t>採用：far_field_los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0" y="4389120"/>
            <a:ext cx="6400800" cy="42976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400">
                <a:solidFill>
                  <a:srgbClr val="232B34"/>
                </a:solidFill>
                <a:latin typeface="Yu Gothic"/>
              </a:rPr>
              <a:t>LCT光軸回転 − STT姿勢基準回転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400">
                <a:solidFill>
                  <a:srgbClr val="232B34"/>
                </a:solidFill>
                <a:latin typeface="Yu Gothic"/>
              </a:rPr>
              <a:t>遠方通信のscan centerへ直接寄与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400">
                <a:solidFill>
                  <a:srgbClr val="232B34"/>
                </a:solidFill>
                <a:latin typeface="Yu Gothic"/>
              </a:rPr>
              <a:t>代表点間並進のcenterline tiltは加えない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400">
                <a:solidFill>
                  <a:srgbClr val="232B34"/>
                </a:solidFill>
                <a:latin typeface="Yu Gothic"/>
              </a:rPr>
              <a:t>stt_relative_losは診断用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40" y="9464040"/>
            <a:ext cx="6309360" cy="5486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500" b="1">
                <a:solidFill>
                  <a:srgbClr val="082B52"/>
                </a:solidFill>
                <a:latin typeface="Yu Gothic"/>
              </a:rPr>
              <a:t>θthermal,true(t) = [θx, θy]</a:t>
            </a:r>
          </a:p>
        </p:txBody>
      </p:sp>
    </p:spTree>
    <p:extLst>
      <p:ext uri="{BB962C8B-B14F-4D97-AF65-F5344CB8AC3E}">
        <p14:creationId xmlns:p14="http://schemas.microsoft.com/office/powerpoint/2010/main" val="3691856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Thermo-structural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基本ケースは LTAN06・800 kmを3軌道、約60秒刻みで解析する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3000" y="2788920"/>
          <a:ext cx="10789920" cy="722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6949440"/>
              </a:tblGrid>
              <a:tr h="1031965">
                <a:tc>
                  <a:txBody>
                    <a:bodyPr/>
                    <a:lstStyle/>
                    <a:p>
                      <a:pPr algn="l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Parameter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Setting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</a:tr>
              <a:tr h="1031965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Orbit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LTAN06 / 800 km / COLD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31965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Period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≈6050 s (101 min)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31965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Duration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≈18157 s (3 orbits)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31965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Sampling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≈60.5 s / 301 samples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31965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Eclipse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TD LOGIC_SUN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3197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Sun face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MX / MY / PX / PY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2618720" y="2788920"/>
            <a:ext cx="10424160" cy="7223760"/>
          </a:xfrm>
          <a:prstGeom prst="roundRect">
            <a:avLst/>
          </a:prstGeom>
          <a:solidFill>
            <a:srgbClr val="EBF6FB"/>
          </a:solidFill>
          <a:ln w="16510">
            <a:solidFill>
              <a:srgbClr val="5BB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030200" y="3246120"/>
            <a:ext cx="9601200" cy="5486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700" b="1">
                <a:solidFill>
                  <a:srgbClr val="1B74AA"/>
                </a:solidFill>
                <a:latin typeface="Yu Gothic"/>
              </a:rPr>
              <a:t>Additional environments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0" y="4343400"/>
            <a:ext cx="9052560" cy="3931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HOT thermal environment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Black / Alodine / α=ε=0.5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LTAN18 / 693 km Sentinel-1 proxy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case25: nearly all-sun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0652760"/>
            <a:ext cx="15727680" cy="6400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800" b="1">
                <a:solidFill>
                  <a:srgbClr val="082B52"/>
                </a:solidFill>
                <a:latin typeface="Yu Gothic"/>
              </a:rPr>
              <a:t>蝕入り・蝕明けはTD出力LOGIC_SUNを正本とする</a:t>
            </a:r>
          </a:p>
        </p:txBody>
      </p:sp>
    </p:spTree>
    <p:extLst>
      <p:ext uri="{BB962C8B-B14F-4D97-AF65-F5344CB8AC3E}">
        <p14:creationId xmlns:p14="http://schemas.microsoft.com/office/powerpoint/2010/main" val="3490187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Thermo-structural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簡略shellモデルを軽量モデル評価用の高忠実度参照とする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3000" y="2788920"/>
          <a:ext cx="10881360" cy="777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/>
                <a:gridCol w="6217920"/>
              </a:tblGrid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>Structural parameter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>Value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Material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Aluminum 5052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Young's modulus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70.327 GPa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Poisson ratio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0.33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CTE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2.376×10⁻⁵ /°C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Density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2685 kg/m³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Reference temperature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23.9°C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Constraint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small region near STT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2618720" y="2788920"/>
            <a:ext cx="10424160" cy="7772400"/>
          </a:xfrm>
          <a:prstGeom prst="rect">
            <a:avLst/>
          </a:prstGeom>
          <a:noFill/>
          <a:ln w="12700">
            <a:solidFill>
              <a:srgbClr val="B8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tt_lct_motio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5980" y="2788920"/>
            <a:ext cx="8549640" cy="777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0" y="10972800"/>
            <a:ext cx="1883664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700" b="1">
                <a:solidFill>
                  <a:srgbClr val="082B52"/>
                </a:solidFill>
                <a:latin typeface="Yu Gothic"/>
              </a:rPr>
              <a:t>TD mapper温度 → 各時刻の熱荷重 → STT/LCT基準面の変位・回転</a:t>
            </a:r>
          </a:p>
        </p:txBody>
      </p:sp>
    </p:spTree>
    <p:extLst>
      <p:ext uri="{BB962C8B-B14F-4D97-AF65-F5344CB8AC3E}">
        <p14:creationId xmlns:p14="http://schemas.microsoft.com/office/powerpoint/2010/main" val="4083775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Thermo-structural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内部発熱は面間温度差とケースDCの両方を変える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3000" y="2834640"/>
          <a:ext cx="950976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560320"/>
                <a:gridCol w="3840480"/>
              </a:tblGrid>
              <a:tr h="1042416">
                <a:tc>
                  <a:txBody>
                    <a:bodyPr/>
                    <a:lstStyle/>
                    <a:p>
                      <a:pPr algn="l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Component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Heat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Location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LCT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10 W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MZ center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STT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1.5 W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PZ center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PROP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25 W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PY side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PCDU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10 W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MY side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338560" y="2834640"/>
          <a:ext cx="1170432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651760"/>
                <a:gridCol w="2560320"/>
                <a:gridCol w="2560320"/>
              </a:tblGrid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Mode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LCT/STT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PROP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PCDU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STTLCT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OFF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OFF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+PROP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ON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25 W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OFF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+PCDU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OFF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10 W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ALL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ON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25 W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10 W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Half power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12.5 W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10 W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920240" y="9555480"/>
            <a:ext cx="20391120" cy="1645920"/>
          </a:xfrm>
          <a:prstGeom prst="roundRect">
            <a:avLst/>
          </a:prstGeom>
          <a:solidFill>
            <a:srgbClr val="FEF5E6"/>
          </a:solidFill>
          <a:ln w="1651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10012680"/>
            <a:ext cx="1947672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900" b="1">
                <a:solidFill>
                  <a:srgbClr val="082B52"/>
                </a:solidFill>
                <a:latin typeface="Yu Gothic"/>
              </a:rPr>
              <a:t>発熱の主効果はΔTへ、ΔTに入りきらない残差DCは b_caseへ</a:t>
            </a:r>
          </a:p>
        </p:txBody>
      </p:sp>
    </p:spTree>
    <p:extLst>
      <p:ext uri="{BB962C8B-B14F-4D97-AF65-F5344CB8AC3E}">
        <p14:creationId xmlns:p14="http://schemas.microsoft.com/office/powerpoint/2010/main" val="4130144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Thermo-structural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21ケースで太陽面・発熱・被覆・軌道を横断評価する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2788920"/>
          <a:ext cx="21945600" cy="704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9235440"/>
                <a:gridCol w="8595360"/>
              </a:tblGrid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Varied factor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Cases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Purpose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Sun face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MX / MY / PX / PY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axis &amp; sign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Power mode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STTLCT / +PROP / +PCDU / ALL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ΔT &amp; DC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Coating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0.5 / Black / Alodine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amplitude &amp; floor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Environment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COLD / HOT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case DC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Power level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PROP 25 / 12.5 W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ON/OFF limit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Orbit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LTAN06 / LTAN18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thermal history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828800" y="10287000"/>
            <a:ext cx="20574000" cy="1234440"/>
          </a:xfrm>
          <a:prstGeom prst="roundRect">
            <a:avLst/>
          </a:prstGeom>
          <a:solidFill>
            <a:srgbClr val="FDEFF0"/>
          </a:solidFill>
          <a:ln w="16510">
            <a:solidFill>
              <a:srgbClr val="D0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0625328"/>
            <a:ext cx="1965960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600" b="1">
                <a:solidFill>
                  <a:srgbClr val="D03B46"/>
                </a:solidFill>
                <a:latin typeface="Yu Gothic"/>
              </a:rPr>
              <a:t>除外：01–03, 07（MZ太陽指向）— 現在の1軸sunfaceモデル対象外</a:t>
            </a:r>
          </a:p>
        </p:txBody>
      </p:sp>
    </p:spTree>
    <p:extLst>
      <p:ext uri="{BB962C8B-B14F-4D97-AF65-F5344CB8AC3E}">
        <p14:creationId xmlns:p14="http://schemas.microsoft.com/office/powerpoint/2010/main" val="2385323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Thermo-structural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case_idを軸に解析条件と成果物を一貫管理する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926080"/>
            <a:ext cx="3444239" cy="1234440"/>
          </a:xfrm>
          <a:prstGeom prst="rect">
            <a:avLst/>
          </a:prstGeom>
          <a:solidFill>
            <a:srgbClr val="082B52"/>
          </a:solidFill>
          <a:ln w="16510">
            <a:solidFill>
              <a:srgbClr val="082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3035808"/>
            <a:ext cx="3297935" cy="1014984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Yu Gothic"/>
              </a:rPr>
              <a:t>case_matrix.xlsx
orbit_catalog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413503" y="3543300"/>
            <a:ext cx="274320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742688" y="2926080"/>
            <a:ext cx="3444239" cy="1234440"/>
          </a:xfrm>
          <a:prstGeom prst="rect">
            <a:avLst/>
          </a:prstGeom>
          <a:solidFill>
            <a:srgbClr val="1B74AA"/>
          </a:solidFill>
          <a:ln w="1651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15840" y="3035808"/>
            <a:ext cx="3297935" cy="1014984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Yu Gothic"/>
              </a:rPr>
              <a:t>TD temperature
LOGIC_SUN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41792" y="3543300"/>
            <a:ext cx="274320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570976" y="2926080"/>
            <a:ext cx="3444239" cy="1234440"/>
          </a:xfrm>
          <a:prstGeom prst="rect">
            <a:avLst/>
          </a:prstGeom>
          <a:solidFill>
            <a:srgbClr val="239571"/>
          </a:solidFill>
          <a:ln w="1651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4128" y="3035808"/>
            <a:ext cx="3297935" cy="1014984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Yu Gothic"/>
              </a:rPr>
              <a:t>mapper
output.dat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070080" y="3543300"/>
            <a:ext cx="274319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2399263" y="2926080"/>
            <a:ext cx="3444239" cy="1234440"/>
          </a:xfrm>
          <a:prstGeom prst="rect">
            <a:avLst/>
          </a:prstGeom>
          <a:solidFill>
            <a:srgbClr val="EC9427"/>
          </a:solidFill>
          <a:ln w="1651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472415" y="3035808"/>
            <a:ext cx="3297935" cy="1014984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Yu Gothic"/>
              </a:rPr>
              <a:t>Femap
rotation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898367" y="3543300"/>
            <a:ext cx="274321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6227552" y="2926080"/>
            <a:ext cx="3444239" cy="1234440"/>
          </a:xfrm>
          <a:prstGeom prst="rect">
            <a:avLst/>
          </a:prstGeom>
          <a:solidFill>
            <a:srgbClr val="5D4084"/>
          </a:solidFill>
          <a:ln w="16510">
            <a:solidFill>
              <a:srgbClr val="5D4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300703" y="3035808"/>
            <a:ext cx="3297935" cy="1014984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Yu Gothic"/>
              </a:rPr>
              <a:t>los_angles.csv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726655" y="3543300"/>
            <a:ext cx="274321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0055840" y="2926080"/>
            <a:ext cx="3444239" cy="1234440"/>
          </a:xfrm>
          <a:prstGeom prst="rect">
            <a:avLst/>
          </a:prstGeom>
          <a:solidFill>
            <a:srgbClr val="082B52"/>
          </a:solidFill>
          <a:ln w="16510">
            <a:solidFill>
              <a:srgbClr val="082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28992" y="3035808"/>
            <a:ext cx="3297935" cy="1014984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Yu Gothic"/>
              </a:rPr>
              <a:t>lightweight
dataset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5074920"/>
            <a:ext cx="21945600" cy="4800600"/>
          </a:xfrm>
          <a:prstGeom prst="roundRect">
            <a:avLst/>
          </a:prstGeom>
          <a:solidFill>
            <a:srgbClr val="F4F6F8"/>
          </a:solidFill>
          <a:ln w="16510">
            <a:solidFill>
              <a:srgbClr val="B8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5486400"/>
            <a:ext cx="4572000" cy="5486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82B52"/>
                </a:solidFill>
                <a:latin typeface="Yu Gothic"/>
              </a:rPr>
              <a:t>自動化・再現性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6400800"/>
            <a:ext cx="20574000" cy="2743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case_idから下流パスを規則解決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温度場チェック後にFemap・LOSへ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同じIDで温度・LOS・PATを追跡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cases 4–25を同一手順で再評価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10652760"/>
            <a:ext cx="16276320" cy="6400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800" b="1">
                <a:solidFill>
                  <a:srgbClr val="1B74AA"/>
                </a:solidFill>
                <a:latin typeface="Yu Gothic"/>
              </a:rPr>
              <a:t>ケース数より、同じ条件を再現して比較できることを優先</a:t>
            </a:r>
          </a:p>
        </p:txBody>
      </p:sp>
    </p:spTree>
    <p:extLst>
      <p:ext uri="{BB962C8B-B14F-4D97-AF65-F5344CB8AC3E}">
        <p14:creationId xmlns:p14="http://schemas.microsoft.com/office/powerpoint/2010/main" val="2659955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Thermo-structural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代表ケースでは面間温度差と熱LOSが同じ軌道周期で変動する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743200"/>
            <a:ext cx="10789920" cy="7863840"/>
          </a:xfrm>
          <a:prstGeom prst="rect">
            <a:avLst/>
          </a:prstGeom>
          <a:noFill/>
          <a:ln w="12700">
            <a:solidFill>
              <a:srgbClr val="B8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fault_surface_9points_tempera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351" y="2743200"/>
            <a:ext cx="5462896" cy="7863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435840" y="2743200"/>
            <a:ext cx="10789920" cy="7863840"/>
          </a:xfrm>
          <a:prstGeom prst="rect">
            <a:avLst/>
          </a:prstGeom>
          <a:noFill/>
          <a:ln w="12700">
            <a:solidFill>
              <a:srgbClr val="B8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LTAN06_800km_1213COLD_MY_ALL_HEAT_MY_0p5_far_field_los_angle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0" y="2751512"/>
            <a:ext cx="10789920" cy="78472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749039" y="10835640"/>
            <a:ext cx="530352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300" b="1">
                <a:solidFill>
                  <a:srgbClr val="1B74AA"/>
                </a:solidFill>
                <a:latin typeface="Yu Gothic"/>
              </a:rPr>
              <a:t>Temperature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0" y="10835640"/>
            <a:ext cx="530352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300" b="1">
                <a:solidFill>
                  <a:srgbClr val="239571"/>
                </a:solidFill>
                <a:latin typeface="Yu Gothic"/>
              </a:rPr>
              <a:t>Far-field LOS</a:t>
            </a:r>
          </a:p>
        </p:txBody>
      </p:sp>
    </p:spTree>
    <p:extLst>
      <p:ext uri="{BB962C8B-B14F-4D97-AF65-F5344CB8AC3E}">
        <p14:creationId xmlns:p14="http://schemas.microsoft.com/office/powerpoint/2010/main" val="3306010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Thermo-structural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太陽面で支配軸と符号が決まり、被覆・発熱は振幅とDCを変える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880360"/>
            <a:ext cx="498348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246120"/>
            <a:ext cx="461772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3200" b="1">
                <a:solidFill>
                  <a:srgbClr val="082B52"/>
                </a:solidFill>
                <a:latin typeface="Yu Gothic"/>
              </a:rPr>
              <a:t>MX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4434840" cy="4572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200" b="0">
                <a:solidFill>
                  <a:srgbClr val="666F79"/>
                </a:solidFill>
                <a:latin typeface="Yu Gothic"/>
              </a:rPr>
              <a:t>dominant X-axis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4892040"/>
            <a:ext cx="2240280" cy="7315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4300" b="1">
                <a:solidFill>
                  <a:srgbClr val="239571"/>
                </a:solidFill>
                <a:latin typeface="Yu Gothic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6080760"/>
            <a:ext cx="452628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300" b="1">
                <a:solidFill>
                  <a:srgbClr val="232B34"/>
                </a:solidFill>
                <a:latin typeface="Yu Gothic"/>
              </a:rPr>
              <a:t>|a|≈30.6 µrad/°C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2880360"/>
            <a:ext cx="498348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3246120"/>
            <a:ext cx="461772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3200" b="1">
                <a:solidFill>
                  <a:srgbClr val="082B52"/>
                </a:solidFill>
                <a:latin typeface="Yu Gothic"/>
              </a:rPr>
              <a:t>PX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4206240"/>
            <a:ext cx="4434840" cy="4572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200" b="0">
                <a:solidFill>
                  <a:srgbClr val="666F79"/>
                </a:solidFill>
                <a:latin typeface="Yu Gothic"/>
              </a:rPr>
              <a:t>dominant X-axis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4892040"/>
            <a:ext cx="2240280" cy="7315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4300" b="1">
                <a:solidFill>
                  <a:srgbClr val="1B74AA"/>
                </a:solidFill>
                <a:latin typeface="Yu Gothic"/>
              </a:rPr>
              <a:t>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6080760"/>
            <a:ext cx="452628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300" b="1">
                <a:solidFill>
                  <a:srgbClr val="232B34"/>
                </a:solidFill>
                <a:latin typeface="Yu Gothic"/>
              </a:rPr>
              <a:t>|a|≈28.1 µrad/°C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0" y="2880360"/>
            <a:ext cx="498348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0" y="3246120"/>
            <a:ext cx="461772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3200" b="1">
                <a:solidFill>
                  <a:srgbClr val="082B52"/>
                </a:solidFill>
                <a:latin typeface="Yu Gothic"/>
              </a:rPr>
              <a:t>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0" y="4206240"/>
            <a:ext cx="4434840" cy="4572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200" b="0">
                <a:solidFill>
                  <a:srgbClr val="666F79"/>
                </a:solidFill>
                <a:latin typeface="Yu Gothic"/>
              </a:rPr>
              <a:t>dominant Y-axis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0" y="4892040"/>
            <a:ext cx="2240280" cy="7315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4300" b="1">
                <a:solidFill>
                  <a:srgbClr val="EC9427"/>
                </a:solidFill>
                <a:latin typeface="Yu Gothic"/>
              </a:rP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73000" y="6080760"/>
            <a:ext cx="452628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300" b="1">
                <a:solidFill>
                  <a:srgbClr val="232B34"/>
                </a:solidFill>
                <a:latin typeface="Yu Gothic"/>
              </a:rPr>
              <a:t>|a|≈28.6 µrad/°C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967960" y="2880360"/>
            <a:ext cx="498348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0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150840" y="3246120"/>
            <a:ext cx="461772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3200" b="1">
                <a:solidFill>
                  <a:srgbClr val="082B52"/>
                </a:solidFill>
                <a:latin typeface="Yu Gothic"/>
              </a:rPr>
              <a:t>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42280" y="4206240"/>
            <a:ext cx="4434840" cy="4572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200" b="0">
                <a:solidFill>
                  <a:srgbClr val="666F79"/>
                </a:solidFill>
                <a:latin typeface="Yu Gothic"/>
              </a:rPr>
              <a:t>dominant Y-axis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339560" y="4892040"/>
            <a:ext cx="2240280" cy="7315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4300" b="1">
                <a:solidFill>
                  <a:srgbClr val="D03B46"/>
                </a:solidFill>
                <a:latin typeface="Yu Gothic"/>
              </a:rPr>
              <a:t>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96560" y="6080760"/>
            <a:ext cx="452628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300" b="1">
                <a:solidFill>
                  <a:srgbClr val="232B34"/>
                </a:solidFill>
                <a:latin typeface="Yu Gothic"/>
              </a:rPr>
              <a:t>|a|≈28.7 µrad/°C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926080" y="8001000"/>
          <a:ext cx="184708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12070080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Factor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Observed effect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Black coating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time-varying floor ↑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PROP / PCDU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ΔT + case DC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HOT / all-sun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nearly static LOS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Half power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intermediate b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25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92640" y="4114800"/>
            <a:ext cx="493776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700" b="0">
                <a:solidFill>
                  <a:srgbClr val="FFFFFF"/>
                </a:solidFill>
                <a:latin typeface="Yu Gothic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69880" y="5230368"/>
            <a:ext cx="3383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5806440"/>
            <a:ext cx="20756880" cy="10515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3300" b="1">
                <a:solidFill>
                  <a:srgbClr val="FFFFFF"/>
                </a:solidFill>
                <a:latin typeface="Yu Gothic"/>
              </a:rPr>
              <a:t>Lightweight LOS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Yu Gothi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48671224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Lightweight LOS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軌道上モデルには少数入力・解釈可能性・PAT直結性が必要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834640"/>
            <a:ext cx="7315200" cy="7132320"/>
          </a:xfrm>
          <a:prstGeom prst="roundRect">
            <a:avLst/>
          </a:prstGeom>
          <a:solidFill>
            <a:srgbClr val="F4F6F8"/>
          </a:solidFill>
          <a:ln w="16510">
            <a:solidFill>
              <a:srgbClr val="B8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3246120"/>
            <a:ext cx="6583680" cy="5486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700" b="1">
                <a:solidFill>
                  <a:srgbClr val="082B52"/>
                </a:solidFill>
                <a:latin typeface="Yu Gothic"/>
              </a:rPr>
              <a:t>Operational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251960"/>
            <a:ext cx="6217920" cy="4754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</a:pPr>
            <a:r>
              <a:rPr sz="25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500">
                <a:solidFill>
                  <a:srgbClr val="232B34"/>
                </a:solidFill>
                <a:latin typeface="Yu Gothic"/>
              </a:rPr>
              <a:t>TD/Femapをオンボードで回さない</a:t>
            </a:r>
          </a:p>
          <a:p>
            <a:pPr>
              <a:spcAft>
                <a:spcPts val="800"/>
              </a:spcAft>
            </a:pPr>
            <a:r>
              <a:rPr sz="25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500">
                <a:solidFill>
                  <a:srgbClr val="232B34"/>
                </a:solidFill>
                <a:latin typeface="Yu Gothic"/>
              </a:rPr>
              <a:t>少数温度センサ</a:t>
            </a:r>
          </a:p>
          <a:p>
            <a:pPr>
              <a:spcAft>
                <a:spcPts val="800"/>
              </a:spcAft>
            </a:pPr>
            <a:r>
              <a:rPr sz="25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500">
                <a:solidFill>
                  <a:srgbClr val="232B34"/>
                </a:solidFill>
                <a:latin typeface="Yu Gothic"/>
              </a:rPr>
              <a:t>運用モード変更に対応</a:t>
            </a:r>
          </a:p>
          <a:p>
            <a:pPr>
              <a:spcAft>
                <a:spcPts val="800"/>
              </a:spcAft>
            </a:pPr>
            <a:r>
              <a:rPr sz="25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500">
                <a:solidFill>
                  <a:srgbClr val="232B34"/>
                </a:solidFill>
                <a:latin typeface="Yu Gothic"/>
              </a:rPr>
              <a:t>固定少数係数</a:t>
            </a:r>
          </a:p>
          <a:p>
            <a:pPr>
              <a:spcAft>
                <a:spcPts val="800"/>
              </a:spcAft>
            </a:pPr>
            <a:r>
              <a:rPr sz="25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500">
                <a:solidFill>
                  <a:srgbClr val="232B34"/>
                </a:solidFill>
                <a:latin typeface="Yu Gothic"/>
              </a:rPr>
              <a:t>scan-center補正を直接出力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0" y="2834640"/>
          <a:ext cx="13898880" cy="713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8686800"/>
              </a:tblGrid>
              <a:tr h="1188720">
                <a:tc>
                  <a:txBody>
                    <a:bodyPr/>
                    <a:lstStyle/>
                    <a:p>
                      <a:pPr algn="l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Candidate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Pros / cons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Static bias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lightweight / no dynamics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Fourier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periodic / orbit dependent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Generic temperature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flexible / collinear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Sunface ΔT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physical / few inputs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Hierarchical ΔT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dynamics + case DC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40480" y="10607040"/>
            <a:ext cx="16642080" cy="6400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900" b="1">
                <a:solidFill>
                  <a:srgbClr val="1B74AA"/>
                </a:solidFill>
                <a:latin typeface="Yu Gothic"/>
              </a:rPr>
              <a:t>本命：太陽面−反対面温度差 ΔT と運用フラグ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Lightweight LOS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コンポ温度の時系列追加は共線と低SNRで係数が壊れる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834640"/>
            <a:ext cx="10332720" cy="7132320"/>
          </a:xfrm>
          <a:prstGeom prst="roundRect">
            <a:avLst/>
          </a:prstGeom>
          <a:solidFill>
            <a:srgbClr val="FDEFF0"/>
          </a:solidFill>
          <a:ln w="16510">
            <a:solidFill>
              <a:srgbClr val="D0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3291840"/>
            <a:ext cx="9418320" cy="5486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800" b="1">
                <a:solidFill>
                  <a:srgbClr val="D03B46"/>
                </a:solidFill>
                <a:latin typeface="Yu Gothic"/>
              </a:rPr>
              <a:t>Attempt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434840"/>
            <a:ext cx="9052560" cy="11887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3100" b="1">
                <a:solidFill>
                  <a:srgbClr val="082B52"/>
                </a:solidFill>
                <a:latin typeface="Yu Gothic"/>
              </a:rPr>
              <a:t>LOS = b + a·ΔT
+ c·(Tattach−Tref)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17920"/>
            <a:ext cx="9052560" cy="2743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</a:pPr>
            <a:r>
              <a:rPr sz="2500" b="1">
                <a:solidFill>
                  <a:srgbClr val="D03B46"/>
                </a:solidFill>
                <a:latin typeface="Yu Gothic"/>
              </a:rPr>
              <a:t>• </a:t>
            </a:r>
            <a:r>
              <a:rPr sz="2500">
                <a:solidFill>
                  <a:srgbClr val="232B34"/>
                </a:solidFill>
                <a:latin typeface="Yu Gothic"/>
              </a:rPr>
              <a:t>corr(ΔT,TPCDU)≈0.995</a:t>
            </a:r>
          </a:p>
          <a:p>
            <a:pPr>
              <a:spcAft>
                <a:spcPts val="800"/>
              </a:spcAft>
            </a:pPr>
            <a:r>
              <a:rPr sz="2500" b="1">
                <a:solidFill>
                  <a:srgbClr val="D03B46"/>
                </a:solidFill>
                <a:latin typeface="Yu Gothic"/>
              </a:rPr>
              <a:t>• </a:t>
            </a:r>
            <a:r>
              <a:rPr sz="2500">
                <a:solidFill>
                  <a:srgbClr val="232B34"/>
                </a:solidFill>
                <a:latin typeface="Yu Gothic"/>
              </a:rPr>
              <a:t>local std≈0.1°C</a:t>
            </a:r>
          </a:p>
          <a:p>
            <a:pPr>
              <a:spcAft>
                <a:spcPts val="800"/>
              </a:spcAft>
            </a:pPr>
            <a:r>
              <a:rPr sz="2500" b="1">
                <a:solidFill>
                  <a:srgbClr val="D03B46"/>
                </a:solidFill>
                <a:latin typeface="Yu Gothic"/>
              </a:rPr>
              <a:t>• </a:t>
            </a:r>
            <a:r>
              <a:rPr sz="2500">
                <a:solidFill>
                  <a:srgbClr val="232B34"/>
                </a:solidFill>
                <a:latin typeface="Yu Gothic"/>
              </a:rPr>
              <a:t>係数が巨大化</a:t>
            </a:r>
          </a:p>
          <a:p>
            <a:pPr>
              <a:spcAft>
                <a:spcPts val="800"/>
              </a:spcAft>
            </a:pPr>
            <a:r>
              <a:rPr sz="2500" b="1">
                <a:solidFill>
                  <a:srgbClr val="D03B46"/>
                </a:solidFill>
                <a:latin typeface="Yu Gothic"/>
              </a:rPr>
              <a:t>• </a:t>
            </a:r>
            <a:r>
              <a:rPr sz="2500">
                <a:solidFill>
                  <a:srgbClr val="232B34"/>
                </a:solidFill>
                <a:latin typeface="Yu Gothic"/>
              </a:rPr>
              <a:t>ケース間で不安定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887200" y="6217920"/>
            <a:ext cx="1280160" cy="0"/>
          </a:xfrm>
          <a:prstGeom prst="line">
            <a:avLst/>
          </a:prstGeom>
          <a:ln w="508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3533120" y="2834640"/>
            <a:ext cx="9509760" cy="7132320"/>
          </a:xfrm>
          <a:prstGeom prst="roundRect">
            <a:avLst/>
          </a:prstGeom>
          <a:solidFill>
            <a:srgbClr val="EAF8F1"/>
          </a:solidFill>
          <a:ln w="1651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0" y="3291840"/>
            <a:ext cx="8595360" cy="5486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800" b="1">
                <a:solidFill>
                  <a:srgbClr val="239571"/>
                </a:solidFill>
                <a:latin typeface="Yu Gothic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0" y="4572000"/>
            <a:ext cx="7863840" cy="20116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3100" b="1">
                <a:solidFill>
                  <a:srgbClr val="082B52"/>
                </a:solidFill>
                <a:latin typeface="Yu Gothic"/>
              </a:rPr>
              <a:t>効いていたのは
軌道内変動ではなく
ケース平均DC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21840" y="7543800"/>
            <a:ext cx="713232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900" b="1">
                <a:solidFill>
                  <a:srgbClr val="239571"/>
                </a:solidFill>
                <a:latin typeface="Yu Gothic"/>
              </a:rPr>
              <a:t>→ b_case側へ分離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0652760"/>
            <a:ext cx="16642080" cy="6400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800" b="1">
                <a:solidFill>
                  <a:srgbClr val="082B52"/>
                </a:solidFill>
                <a:latin typeface="Yu Gothic"/>
              </a:rPr>
              <a:t>RMSEだけでなく、係数の安定性と運用解釈でモデルを選ぶ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Hierarchical ΔT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Level 1では軌道内時変を面間温度差一本で表す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2880360"/>
            <a:ext cx="21762720" cy="2468880"/>
          </a:xfrm>
          <a:prstGeom prst="roundRect">
            <a:avLst/>
          </a:prstGeom>
          <a:solidFill>
            <a:srgbClr val="EBF6FB"/>
          </a:solidFill>
          <a:ln w="16510">
            <a:solidFill>
              <a:srgbClr val="5BB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611880"/>
            <a:ext cx="20665440" cy="8229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3900" b="1">
                <a:solidFill>
                  <a:srgbClr val="082B52"/>
                </a:solidFill>
                <a:latin typeface="Yu Gothic"/>
              </a:rPr>
              <a:t>θdom(t) ≈ bcase + asunface · ΔT(t)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5897880"/>
            <a:ext cx="1490472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900" b="1">
                <a:solidFill>
                  <a:srgbClr val="1B74AA"/>
                </a:solidFill>
                <a:latin typeface="Yu Gothic"/>
              </a:rPr>
              <a:t>ΔT(t) = Tsunface(t) − Topposite(t)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7315200"/>
            <a:ext cx="6583680" cy="3200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7726679"/>
            <a:ext cx="6035040" cy="5486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800" b="1">
                <a:solidFill>
                  <a:srgbClr val="1B74AA"/>
                </a:solidFill>
                <a:latin typeface="Yu Gothic"/>
              </a:rPr>
              <a:t>a(sun)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8641080"/>
            <a:ext cx="5852160" cy="11887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500" b="0">
                <a:solidFill>
                  <a:srgbClr val="232B34"/>
                </a:solidFill>
                <a:latin typeface="Yu Gothic"/>
              </a:rPr>
              <a:t>差動膨張・曲げ感度
面ごとに共有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7315200"/>
            <a:ext cx="6583680" cy="3200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7726679"/>
            <a:ext cx="6035040" cy="5486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800" b="1">
                <a:solidFill>
                  <a:srgbClr val="EC9427"/>
                </a:solidFill>
                <a:latin typeface="Yu Gothic"/>
              </a:rPr>
              <a:t>b_case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8641080"/>
            <a:ext cx="5852160" cy="11887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500" b="0">
                <a:solidFill>
                  <a:srgbClr val="232B34"/>
                </a:solidFill>
                <a:latin typeface="Yu Gothic"/>
              </a:rPr>
              <a:t>ΔTに入りきらない
ケース内定数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276320" y="7315200"/>
            <a:ext cx="6583680" cy="3200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550640" y="7726679"/>
            <a:ext cx="6035040" cy="5486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800" b="1">
                <a:solidFill>
                  <a:srgbClr val="239571"/>
                </a:solidFill>
                <a:latin typeface="Yu Gothic"/>
              </a:rPr>
              <a:t>dominant axis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0" y="8641080"/>
            <a:ext cx="5852160" cy="11887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500" b="0">
                <a:solidFill>
                  <a:srgbClr val="232B34"/>
                </a:solidFill>
                <a:latin typeface="Yu Gothic"/>
              </a:rPr>
              <a:t>MX/PX→X
MY/PY→Y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Hierarchical ΔT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Level 2ではケースDCを太陽面と発熱モードで説明する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2880360"/>
            <a:ext cx="21762720" cy="2468880"/>
          </a:xfrm>
          <a:prstGeom prst="roundRect">
            <a:avLst/>
          </a:prstGeom>
          <a:solidFill>
            <a:srgbClr val="FEF5E6"/>
          </a:solidFill>
          <a:ln w="1651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3611880"/>
            <a:ext cx="20848320" cy="8229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3600" b="1">
                <a:solidFill>
                  <a:srgbClr val="082B52"/>
                </a:solidFill>
                <a:latin typeface="Yu Gothic"/>
              </a:rPr>
              <a:t>bcase ≈ b0(sunface) + cPROP IPROP + cPCDU IPCDU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0" y="6217920"/>
          <a:ext cx="206654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32720"/>
                <a:gridCol w="10332720"/>
              </a:tblGrid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Case-dependent input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Cross-case fixed parameter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ΔT(t) timeseries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a(MX/MY/PX/PY) ×4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sun_face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b0(MX/MY/PX/PY) ×4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PROP/PCDU ON/OFF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cPROP, cPCDU ×2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754880" y="10652760"/>
            <a:ext cx="14904720" cy="6400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3000" b="1">
                <a:solidFill>
                  <a:srgbClr val="1B74AA"/>
                </a:solidFill>
                <a:latin typeface="Yu Gothic"/>
              </a:rPr>
              <a:t>合計10個のスカラー係数で21ケースを表現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Hierarchical ΔT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先頭1軌道で時変、ケース横断LOOでDCを評価する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926080"/>
            <a:ext cx="4173321" cy="1234440"/>
          </a:xfrm>
          <a:prstGeom prst="rect">
            <a:avLst/>
          </a:prstGeom>
          <a:solidFill>
            <a:srgbClr val="082B52"/>
          </a:solidFill>
          <a:ln w="16510">
            <a:solidFill>
              <a:srgbClr val="082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3035808"/>
            <a:ext cx="4027017" cy="1014984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Yu Gothic"/>
              </a:rPr>
              <a:t>Per case
first orbit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34025" y="3543300"/>
            <a:ext cx="274320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563209" y="2926080"/>
            <a:ext cx="4173321" cy="1234440"/>
          </a:xfrm>
          <a:prstGeom prst="rect">
            <a:avLst/>
          </a:prstGeom>
          <a:solidFill>
            <a:srgbClr val="1B74AA"/>
          </a:solidFill>
          <a:ln w="1651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6361" y="3035808"/>
            <a:ext cx="4027017" cy="1014984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Yu Gothic"/>
              </a:rPr>
              <a:t>Fit aemp,bemp
Ridge≈OLS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791395" y="3543300"/>
            <a:ext cx="274320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0120579" y="2926080"/>
            <a:ext cx="4173321" cy="1234440"/>
          </a:xfrm>
          <a:prstGeom prst="rect">
            <a:avLst/>
          </a:prstGeom>
          <a:solidFill>
            <a:srgbClr val="239571"/>
          </a:solidFill>
          <a:ln w="1651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93731" y="3035808"/>
            <a:ext cx="4027017" cy="1014984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Yu Gothic"/>
              </a:rPr>
              <a:t>Median aemp
per face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348764" y="3543300"/>
            <a:ext cx="274320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4677948" y="2926080"/>
            <a:ext cx="4173321" cy="1234440"/>
          </a:xfrm>
          <a:prstGeom prst="rect">
            <a:avLst/>
          </a:prstGeom>
          <a:solidFill>
            <a:srgbClr val="EC9427"/>
          </a:solidFill>
          <a:ln w="1651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751100" y="3035808"/>
            <a:ext cx="4027017" cy="1014984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Yu Gothic"/>
              </a:rPr>
              <a:t>Level-2 fit
across cases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906134" y="3543300"/>
            <a:ext cx="274320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9235318" y="2926080"/>
            <a:ext cx="4173321" cy="1234440"/>
          </a:xfrm>
          <a:prstGeom prst="rect">
            <a:avLst/>
          </a:prstGeom>
          <a:solidFill>
            <a:srgbClr val="5D4084"/>
          </a:solidFill>
          <a:ln w="16510">
            <a:solidFill>
              <a:srgbClr val="5D4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308470" y="3035808"/>
            <a:ext cx="4027017" cy="1014984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Yu Gothic"/>
              </a:rPr>
              <a:t>LOO bpred
next 2 orbits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645920" y="5577840"/>
          <a:ext cx="210312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8046720"/>
                <a:gridCol w="8961120"/>
              </a:tblGrid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Layer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Train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Test / validation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Level 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first orbit / case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next 2 orbits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Level 2 b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other 20 cases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leave-one-case-out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Shared 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median of all aemp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not full LOO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2011680" y="10149840"/>
            <a:ext cx="20299680" cy="1234440"/>
          </a:xfrm>
          <a:prstGeom prst="roundRect">
            <a:avLst/>
          </a:prstGeom>
          <a:solidFill>
            <a:srgbClr val="FDEFF0"/>
          </a:solidFill>
          <a:ln w="16510">
            <a:solidFill>
              <a:srgbClr val="D0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10497312"/>
            <a:ext cx="1938528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600" b="1">
                <a:solidFill>
                  <a:srgbClr val="D03B46"/>
                </a:solidFill>
                <a:latin typeface="Yu Gothic"/>
              </a:rPr>
              <a:t>同一基本構造の感度ケース：別機体への汎化を示す評価ではない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Hierarchical ΔT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共有感度 a は21ケース追加後も ±28–31 µrad/°Cで安定する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743200"/>
            <a:ext cx="14813280" cy="8046720"/>
          </a:xfrm>
          <a:prstGeom prst="rect">
            <a:avLst/>
          </a:prstGeom>
          <a:noFill/>
          <a:ln w="12700">
            <a:solidFill>
              <a:srgbClr val="B8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case_a_emp_by_sun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291" y="2743200"/>
            <a:ext cx="13794377" cy="804672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459200" y="2926080"/>
          <a:ext cx="658367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749039"/>
              </a:tblGrid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Sun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a_shared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MX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+30.6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MY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+28.6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PX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−28.1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PY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−28.7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6459200" y="8229600"/>
            <a:ext cx="6583680" cy="2194560"/>
          </a:xfrm>
          <a:prstGeom prst="roundRect">
            <a:avLst/>
          </a:prstGeom>
          <a:solidFill>
            <a:srgbClr val="EAF8F1"/>
          </a:solidFill>
          <a:ln w="1651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824960" y="8641080"/>
            <a:ext cx="5852160" cy="11887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600" b="1">
                <a:solidFill>
                  <a:srgbClr val="239571"/>
                </a:solidFill>
                <a:latin typeface="Yu Gothic"/>
              </a:rPr>
              <a:t>事前解析・熱真空試験で
固定できる可能性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Hierarchical ΔT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ケースDC b は太陽面＋発熱フラグで LOO RMSE 3.8 µradとなる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14630400" cy="7955279"/>
          </a:xfrm>
          <a:prstGeom prst="rect">
            <a:avLst/>
          </a:prstGeom>
          <a:noFill/>
          <a:ln w="12700">
            <a:solidFill>
              <a:srgbClr val="B8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case_b_emp_vs_b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877" y="2743200"/>
            <a:ext cx="13855445" cy="7955279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093440" y="2880360"/>
          <a:ext cx="6949439" cy="612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200400"/>
              </a:tblGrid>
              <a:tr h="875211">
                <a:tc>
                  <a:txBody>
                    <a:bodyPr/>
                    <a:lstStyle/>
                    <a:p>
                      <a:pPr algn="l"/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>Feature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>µrad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</a:tr>
              <a:tr h="875211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b0_MX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+15.7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875211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b0_MY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+2.8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875211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b0_PX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−12.0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875211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b0_PY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−24.0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875211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c_PROP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−22.9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875214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c_PCDU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−10.2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6184880" y="9372600"/>
            <a:ext cx="6766560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0" y="9500616"/>
            <a:ext cx="6583680" cy="56692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3400" b="1">
                <a:solidFill>
                  <a:srgbClr val="239571"/>
                </a:solidFill>
                <a:latin typeface="Yu Gothic"/>
              </a:rPr>
              <a:t>3.80 µrad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0" y="10177272"/>
            <a:ext cx="6583680" cy="3657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900" b="0">
                <a:solidFill>
                  <a:srgbClr val="666F79"/>
                </a:solidFill>
                <a:latin typeface="Yu Gothic"/>
              </a:rPr>
              <a:t>LOO b RMSE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Hierarchical ΔT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標準ケースは数µradまで予測し、半電力ケースでDCずれが残る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11064240" cy="7772400"/>
          </a:xfrm>
          <a:prstGeom prst="rect">
            <a:avLst/>
          </a:prstGeom>
          <a:noFill/>
          <a:ln w="12700">
            <a:solidFill>
              <a:srgbClr val="B8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se08_bcase_true_vs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882" y="2743200"/>
            <a:ext cx="10201275" cy="7772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390120" y="2743200"/>
            <a:ext cx="11064240" cy="7772400"/>
          </a:xfrm>
          <a:prstGeom prst="rect">
            <a:avLst/>
          </a:prstGeom>
          <a:noFill/>
          <a:ln w="12700">
            <a:solidFill>
              <a:srgbClr val="B8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se22_bcase_true_vs_p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1602" y="2743200"/>
            <a:ext cx="10201275" cy="777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0" y="10744200"/>
            <a:ext cx="7863840" cy="4572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239571"/>
                </a:solidFill>
                <a:latin typeface="Yu Gothic"/>
              </a:rPr>
              <a:t>Case 08: standard / large swing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0" y="10744200"/>
            <a:ext cx="6858000" cy="4572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EC9427"/>
                </a:solidFill>
                <a:latin typeface="Yu Gothic"/>
              </a:rPr>
              <a:t>Case 22: PROP 12.5 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Hierarchical ΔT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生LOS数百µradに対し、LOO test残差は平均約5.5 µradとなる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16733520" cy="8046720"/>
          </a:xfrm>
          <a:prstGeom prst="rect">
            <a:avLst/>
          </a:prstGeom>
          <a:noFill/>
          <a:ln w="12700">
            <a:solidFill>
              <a:srgbClr val="B8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case_raw_vs_model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743200"/>
            <a:ext cx="15544800" cy="8046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8105120" y="3108960"/>
            <a:ext cx="4846320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96560" y="3236976"/>
            <a:ext cx="4663440" cy="56692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3400" b="1">
                <a:solidFill>
                  <a:srgbClr val="1B74AA"/>
                </a:solidFill>
                <a:latin typeface="Yu Gothic"/>
              </a:rPr>
              <a:t>615 µrad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96560" y="3913632"/>
            <a:ext cx="4663440" cy="3657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900" b="0">
                <a:solidFill>
                  <a:srgbClr val="666F79"/>
                </a:solidFill>
                <a:latin typeface="Yu Gothic"/>
              </a:rPr>
              <a:t>median raw RMS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105120" y="5303520"/>
            <a:ext cx="4846320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196560" y="5431536"/>
            <a:ext cx="4663440" cy="56692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3400" b="1">
                <a:solidFill>
                  <a:srgbClr val="239571"/>
                </a:solidFill>
                <a:latin typeface="Yu Gothic"/>
              </a:rPr>
              <a:t>5.5 µrad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96560" y="6108192"/>
            <a:ext cx="4663440" cy="3657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900" b="0">
                <a:solidFill>
                  <a:srgbClr val="666F79"/>
                </a:solidFill>
                <a:latin typeface="Yu Gothic"/>
              </a:rPr>
              <a:t>mean LOO test RMSE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105120" y="7498079"/>
            <a:ext cx="4846320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196560" y="7626096"/>
            <a:ext cx="4663440" cy="56692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3400" b="1">
                <a:solidFill>
                  <a:srgbClr val="EC9427"/>
                </a:solidFill>
                <a:latin typeface="Yu Gothic"/>
              </a:rPr>
              <a:t>1–2 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96560" y="8302752"/>
            <a:ext cx="4663440" cy="3657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900" b="0">
                <a:solidFill>
                  <a:srgbClr val="666F79"/>
                </a:solidFill>
                <a:latin typeface="Yu Gothic"/>
              </a:rPr>
              <a:t>thermal reduction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1109960"/>
            <a:ext cx="17099280" cy="4572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300" b="0">
                <a:solidFill>
                  <a:srgbClr val="666F79"/>
                </a:solidFill>
                <a:latin typeface="Yu Gothic"/>
              </a:rPr>
              <a:t>raw RMSとprediction RMSEは異なる統計量：オーダー比較として表示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Positioning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新規性は式形ではなく、衛星バス相対LOSと粗捕捉への接続にある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834640"/>
            <a:ext cx="10698480" cy="7498079"/>
          </a:xfrm>
          <a:prstGeom prst="roundRect">
            <a:avLst/>
          </a:prstGeom>
          <a:solidFill>
            <a:srgbClr val="F4F6F8"/>
          </a:solidFill>
          <a:ln w="16510">
            <a:solidFill>
              <a:srgbClr val="B8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3246120"/>
            <a:ext cx="9784080" cy="5486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800" b="1">
                <a:solidFill>
                  <a:srgbClr val="082B52"/>
                </a:solidFill>
                <a:latin typeface="Yu Gothic"/>
              </a:rPr>
              <a:t>JANUS / prior 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389120"/>
            <a:ext cx="9326880" cy="2926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Optical head内で LOS≈KΔT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温度センサによる一次補正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比例関係自体は既知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7955279"/>
            <a:ext cx="8961120" cy="10972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600" b="1">
                <a:solidFill>
                  <a:srgbClr val="D03B46"/>
                </a:solidFill>
                <a:latin typeface="Yu Gothic"/>
              </a:rPr>
              <a:t>式に切片を足すこと自体を
新規性とは主張しない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481560" y="2834640"/>
            <a:ext cx="10698480" cy="7498079"/>
          </a:xfrm>
          <a:prstGeom prst="roundRect">
            <a:avLst/>
          </a:prstGeom>
          <a:solidFill>
            <a:srgbClr val="EBF6FB"/>
          </a:solidFill>
          <a:ln w="16510">
            <a:solidFill>
              <a:srgbClr val="5BB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38760" y="3246120"/>
            <a:ext cx="9784080" cy="5486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800" b="1">
                <a:solidFill>
                  <a:srgbClr val="1B74AA"/>
                </a:solidFill>
                <a:latin typeface="Yu Gothic"/>
              </a:rPr>
              <a:t>This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21640" y="4389120"/>
            <a:ext cx="9326880" cy="3840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STT–LCTの衛星バス相対LOS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太陽面−反対面ΔTの共有感度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発熱DCの階層モデル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scan-center FFと捕捉時間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0927080"/>
            <a:ext cx="16916400" cy="5486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700" b="1">
                <a:solidFill>
                  <a:srgbClr val="D03B46"/>
                </a:solidFill>
                <a:latin typeface="Yu Gothic"/>
              </a:rPr>
              <a:t>限界：MZ・非支配軸・別構造・飛行実証は未評価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Operational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aは事前同定、b_caseは運用条件・軌道上残差で更新する価値が高い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29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2926080"/>
          <a:ext cx="219456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7589520"/>
                <a:gridCol w="9784080"/>
              </a:tblGrid>
              <a:tr h="1316736">
                <a:tc>
                  <a:txBody>
                    <a:bodyPr/>
                    <a:lstStyle/>
                    <a:p>
                      <a:pPr algn="l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Parameter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Observed behavior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Operational treatment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</a:tr>
              <a:tr h="1316736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a(sun)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stable across cases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ground analysis / thermal-vac test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316736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b_case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changes with heat mode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mode table + online update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316736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time-varying residual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few to 10+ µrad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slow correction if observable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316736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nonthermal error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same orbit-frequency family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separate state / prior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103120" y="10104120"/>
            <a:ext cx="20116800" cy="1280160"/>
          </a:xfrm>
          <a:prstGeom prst="roundRect">
            <a:avLst/>
          </a:prstGeom>
          <a:solidFill>
            <a:srgbClr val="EAF8F1"/>
          </a:solidFill>
          <a:ln w="1651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0469880"/>
            <a:ext cx="1883664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800" b="1">
                <a:solidFill>
                  <a:srgbClr val="239571"/>
                </a:solidFill>
                <a:latin typeface="Yu Gothic"/>
              </a:rPr>
              <a:t>Adaptiveの第一候補は a ではなく b_case / model DC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92640" y="4114800"/>
            <a:ext cx="493776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700" b="0">
                <a:solidFill>
                  <a:srgbClr val="FFFFFF"/>
                </a:solidFill>
                <a:latin typeface="Yu Gothic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69880" y="5230368"/>
            <a:ext cx="3383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5806440"/>
            <a:ext cx="20756880" cy="10515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3300" b="1">
                <a:solidFill>
                  <a:srgbClr val="FFFFFF"/>
                </a:solidFill>
                <a:latin typeface="Yu Gothic"/>
              </a:rPr>
              <a:t>PAT evaluation and orbit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Yu Gothic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PAT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予測LOSをscan centerから引き、残差をスキャン対象とする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2834640"/>
            <a:ext cx="21762720" cy="2148840"/>
          </a:xfrm>
          <a:prstGeom prst="roundRect">
            <a:avLst/>
          </a:prstGeom>
          <a:solidFill>
            <a:srgbClr val="EBF6FB"/>
          </a:solidFill>
          <a:ln w="16510">
            <a:solidFill>
              <a:srgbClr val="5BB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3456432"/>
            <a:ext cx="20848320" cy="6858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3600" b="1">
                <a:solidFill>
                  <a:srgbClr val="082B52"/>
                </a:solidFill>
                <a:latin typeface="Yu Gothic"/>
              </a:rPr>
              <a:t>escan(t) = enonthermal(t) + θthermal,true(t) − θ̂thermal(t)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5486400"/>
            <a:ext cx="4045305" cy="1234440"/>
          </a:xfrm>
          <a:prstGeom prst="rect">
            <a:avLst/>
          </a:prstGeom>
          <a:solidFill>
            <a:srgbClr val="082B52"/>
          </a:solidFill>
          <a:ln w="16510">
            <a:solidFill>
              <a:srgbClr val="082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3312" y="5596128"/>
            <a:ext cx="3899001" cy="1014984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Yu Gothic"/>
              </a:rPr>
              <a:t>Thermal LOS
truth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80329" y="6103620"/>
            <a:ext cx="274320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709513" y="5486400"/>
            <a:ext cx="4045305" cy="1234440"/>
          </a:xfrm>
          <a:prstGeom prst="rect">
            <a:avLst/>
          </a:prstGeom>
          <a:solidFill>
            <a:srgbClr val="1B74AA"/>
          </a:solidFill>
          <a:ln w="1651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82665" y="5596128"/>
            <a:ext cx="3899001" cy="1014984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Yu Gothic"/>
              </a:rPr>
              <a:t>Model
prediction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809683" y="6103620"/>
            <a:ext cx="274320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0138867" y="5486400"/>
            <a:ext cx="4045305" cy="1234440"/>
          </a:xfrm>
          <a:prstGeom prst="rect">
            <a:avLst/>
          </a:prstGeom>
          <a:solidFill>
            <a:srgbClr val="239571"/>
          </a:solidFill>
          <a:ln w="1651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12019" y="5596128"/>
            <a:ext cx="3899001" cy="1014984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Yu Gothic"/>
              </a:rPr>
              <a:t>Scan-center
residual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239036" y="6103620"/>
            <a:ext cx="274320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4568220" y="5486400"/>
            <a:ext cx="4045305" cy="1234440"/>
          </a:xfrm>
          <a:prstGeom prst="rect">
            <a:avLst/>
          </a:prstGeom>
          <a:solidFill>
            <a:srgbClr val="EC9427"/>
          </a:solidFill>
          <a:ln w="1651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41372" y="5596128"/>
            <a:ext cx="3899001" cy="1014984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Yu Gothic"/>
              </a:rPr>
              <a:t>Rectangular
spiral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668390" y="6103620"/>
            <a:ext cx="274320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8997574" y="5486400"/>
            <a:ext cx="4045305" cy="1234440"/>
          </a:xfrm>
          <a:prstGeom prst="rect">
            <a:avLst/>
          </a:prstGeom>
          <a:solidFill>
            <a:srgbClr val="5D4084"/>
          </a:solidFill>
          <a:ln w="16510">
            <a:solidFill>
              <a:srgbClr val="5D4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070726" y="5596128"/>
            <a:ext cx="3899001" cy="1014984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Yu Gothic"/>
              </a:rPr>
              <a:t>Acquisition
time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91840" y="7680960"/>
          <a:ext cx="17739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69680"/>
                <a:gridCol w="8869680"/>
              </a:tblGrid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Yu Gothic"/>
                        </a:rPr>
                        <a:t>Comparison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Yu Gothic"/>
                        </a:rPr>
                        <a:t>Purpose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no correction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thermal baseline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static bias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DC baseline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bcase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proposed model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thermal truth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ideal upper bound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thermal+nonthermal, no corr.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realism baseline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bcase+nonthermal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main result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PAT simulation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粗捕捉は矩形スパイラルを離散点で抽象化する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834640"/>
            <a:ext cx="9326880" cy="7772400"/>
          </a:xfrm>
          <a:prstGeom prst="roundRect">
            <a:avLst/>
          </a:prstGeom>
          <a:solidFill>
            <a:srgbClr val="F4F6F8"/>
          </a:solidFill>
          <a:ln w="16510">
            <a:solidFill>
              <a:srgbClr val="B8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669280" y="6492240"/>
            <a:ext cx="658368" cy="0"/>
          </a:xfrm>
          <a:prstGeom prst="line">
            <a:avLst/>
          </a:prstGeom>
          <a:ln w="25400">
            <a:solidFill>
              <a:srgbClr val="1B7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327648" y="5833872"/>
            <a:ext cx="0" cy="658368"/>
          </a:xfrm>
          <a:prstGeom prst="line">
            <a:avLst/>
          </a:prstGeom>
          <a:ln w="25400">
            <a:solidFill>
              <a:srgbClr val="1B7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5010912" y="5833872"/>
            <a:ext cx="1316736" cy="0"/>
          </a:xfrm>
          <a:prstGeom prst="line">
            <a:avLst/>
          </a:prstGeom>
          <a:ln w="25400">
            <a:solidFill>
              <a:srgbClr val="1B7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10912" y="5833872"/>
            <a:ext cx="0" cy="1316735"/>
          </a:xfrm>
          <a:prstGeom prst="line">
            <a:avLst/>
          </a:prstGeom>
          <a:ln w="25400">
            <a:solidFill>
              <a:srgbClr val="1B7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010912" y="7150607"/>
            <a:ext cx="1975104" cy="0"/>
          </a:xfrm>
          <a:prstGeom prst="line">
            <a:avLst/>
          </a:prstGeom>
          <a:ln w="25400">
            <a:solidFill>
              <a:srgbClr val="1B7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986016" y="5175504"/>
            <a:ext cx="0" cy="1975103"/>
          </a:xfrm>
          <a:prstGeom prst="line">
            <a:avLst/>
          </a:prstGeom>
          <a:ln w="25400">
            <a:solidFill>
              <a:srgbClr val="1B7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352544" y="5175504"/>
            <a:ext cx="2633472" cy="0"/>
          </a:xfrm>
          <a:prstGeom prst="line">
            <a:avLst/>
          </a:prstGeom>
          <a:ln w="25400">
            <a:solidFill>
              <a:srgbClr val="1B7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352544" y="5175504"/>
            <a:ext cx="0" cy="2633471"/>
          </a:xfrm>
          <a:prstGeom prst="line">
            <a:avLst/>
          </a:prstGeom>
          <a:ln w="25400">
            <a:solidFill>
              <a:srgbClr val="1B7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352544" y="7808975"/>
            <a:ext cx="3291839" cy="0"/>
          </a:xfrm>
          <a:prstGeom prst="line">
            <a:avLst/>
          </a:prstGeom>
          <a:ln w="25400">
            <a:solidFill>
              <a:srgbClr val="1B7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644383" y="4517136"/>
            <a:ext cx="0" cy="3291839"/>
          </a:xfrm>
          <a:prstGeom prst="line">
            <a:avLst/>
          </a:prstGeom>
          <a:ln w="25400">
            <a:solidFill>
              <a:srgbClr val="1B7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596128" y="6419088"/>
            <a:ext cx="146304" cy="146304"/>
          </a:xfrm>
          <a:prstGeom prst="ellipse">
            <a:avLst/>
          </a:prstGeom>
          <a:solidFill>
            <a:srgbClr val="1B7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54496" y="6419088"/>
            <a:ext cx="146304" cy="146304"/>
          </a:xfrm>
          <a:prstGeom prst="ellipse">
            <a:avLst/>
          </a:prstGeom>
          <a:solidFill>
            <a:srgbClr val="1B7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54496" y="5760720"/>
            <a:ext cx="146304" cy="146304"/>
          </a:xfrm>
          <a:prstGeom prst="ellipse">
            <a:avLst/>
          </a:prstGeom>
          <a:solidFill>
            <a:srgbClr val="1B7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37760" y="5760720"/>
            <a:ext cx="146304" cy="146304"/>
          </a:xfrm>
          <a:prstGeom prst="ellipse">
            <a:avLst/>
          </a:prstGeom>
          <a:solidFill>
            <a:srgbClr val="1B7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37760" y="7077455"/>
            <a:ext cx="146304" cy="146304"/>
          </a:xfrm>
          <a:prstGeom prst="ellipse">
            <a:avLst/>
          </a:prstGeom>
          <a:solidFill>
            <a:srgbClr val="1B7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12864" y="7077455"/>
            <a:ext cx="146304" cy="146304"/>
          </a:xfrm>
          <a:prstGeom prst="ellipse">
            <a:avLst/>
          </a:prstGeom>
          <a:solidFill>
            <a:srgbClr val="1B7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12864" y="5102352"/>
            <a:ext cx="146304" cy="146304"/>
          </a:xfrm>
          <a:prstGeom prst="ellipse">
            <a:avLst/>
          </a:prstGeom>
          <a:solidFill>
            <a:srgbClr val="1B7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79392" y="5102352"/>
            <a:ext cx="146304" cy="146304"/>
          </a:xfrm>
          <a:prstGeom prst="ellipse">
            <a:avLst/>
          </a:prstGeom>
          <a:solidFill>
            <a:srgbClr val="1B7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79392" y="7735823"/>
            <a:ext cx="146304" cy="146304"/>
          </a:xfrm>
          <a:prstGeom prst="ellipse">
            <a:avLst/>
          </a:prstGeom>
          <a:solidFill>
            <a:srgbClr val="1B7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71231" y="7735823"/>
            <a:ext cx="146304" cy="146304"/>
          </a:xfrm>
          <a:prstGeom prst="ellipse">
            <a:avLst/>
          </a:prstGeom>
          <a:solidFill>
            <a:srgbClr val="1B7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71231" y="4443983"/>
            <a:ext cx="146304" cy="146304"/>
          </a:xfrm>
          <a:prstGeom prst="ellipse">
            <a:avLst/>
          </a:prstGeom>
          <a:solidFill>
            <a:srgbClr val="1B7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86600" y="4892040"/>
            <a:ext cx="457200" cy="457200"/>
          </a:xfrm>
          <a:prstGeom prst="ellipse">
            <a:avLst/>
          </a:prstGeom>
          <a:solidFill>
            <a:srgbClr val="FEF5E6"/>
          </a:solidFill>
          <a:ln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11155680" y="2834640"/>
          <a:ext cx="11887200" cy="630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7920"/>
                <a:gridCol w="5669280"/>
              </a:tblGrid>
              <a:tr h="901337">
                <a:tc>
                  <a:txBody>
                    <a:bodyPr/>
                    <a:lstStyle/>
                    <a:p>
                      <a:pPr algn="l"/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>Parameter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>Value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</a:tr>
              <a:tr h="901337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Range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±1600 µrad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01337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Step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40 µrad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01337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Detection radius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25 µrad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01337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Dwell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0.1 s / point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01337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Points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6561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01338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Max nominal time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656.1 s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11155680" y="9464040"/>
            <a:ext cx="11887200" cy="1828800"/>
          </a:xfrm>
          <a:prstGeom prst="roundRect">
            <a:avLst/>
          </a:prstGeom>
          <a:solidFill>
            <a:srgbClr val="FDEFF0"/>
          </a:solidFill>
          <a:ln w="16510">
            <a:solidFill>
              <a:srgbClr val="D0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12880" y="9829800"/>
            <a:ext cx="10972800" cy="10058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400" b="1">
                <a:solidFill>
                  <a:srgbClr val="D03B46"/>
                </a:solidFill>
                <a:latin typeface="Yu Gothic"/>
              </a:rPr>
              <a:t>点間移動・settling・光強度確率なし
各時刻を独立な捕捉機会として評価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PAT simulation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非熱誤差は軌道・アライメント・姿勢・ドリフトを合成する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2834640"/>
            <a:ext cx="21762720" cy="1920240"/>
          </a:xfrm>
          <a:prstGeom prst="roundRect">
            <a:avLst/>
          </a:prstGeom>
          <a:solidFill>
            <a:srgbClr val="EBF6FB"/>
          </a:solidFill>
          <a:ln w="16510">
            <a:solidFill>
              <a:srgbClr val="5BB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383280"/>
            <a:ext cx="20665440" cy="6858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3500" b="1">
                <a:solidFill>
                  <a:srgbClr val="082B52"/>
                </a:solidFill>
                <a:latin typeface="Yu Gothic"/>
              </a:rPr>
              <a:t>enonthermal = eorbit + ealignment + eattitude + edrift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97280" y="5486400"/>
          <a:ext cx="2212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6858000"/>
                <a:gridCol w="4937760"/>
                <a:gridCol w="5943600"/>
              </a:tblGrid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Component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Model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Timescale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Size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Orbit prediction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Sentinel-1 TLE vs POEORB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orbit-period family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mean 280–700 µrad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Alignment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Gaussian constant / case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DC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50 µrad/axis, 1σ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Attitude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Gaussian / sample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simplified broadband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50 µrad/axis, 1σ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Drift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sinusoid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900 s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30 µrad amplitude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834640" y="10744200"/>
            <a:ext cx="1874520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700" b="1">
                <a:solidFill>
                  <a:srgbClr val="D03B46"/>
                </a:solidFill>
                <a:latin typeface="Yu Gothic"/>
              </a:rPr>
              <a:t>特定衛星の誤差バジェット再現ではなく、GNSS非搭載LEO小型衛星の共存シナリオ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Orbit prediction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利用可能な最新TLEをforward propagationし、PODと比較する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34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834640"/>
            <a:ext cx="4118457" cy="1234440"/>
          </a:xfrm>
          <a:prstGeom prst="rect">
            <a:avLst/>
          </a:prstGeom>
          <a:solidFill>
            <a:srgbClr val="082B52"/>
          </a:solidFill>
          <a:ln w="16510">
            <a:solidFill>
              <a:srgbClr val="082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2944368"/>
            <a:ext cx="3972153" cy="1014984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Yu Gothic"/>
              </a:rPr>
              <a:t>Sentinel-1
NORAD 39634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70601" y="3451860"/>
            <a:ext cx="274320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599785" y="2834640"/>
            <a:ext cx="4118457" cy="1234440"/>
          </a:xfrm>
          <a:prstGeom prst="rect">
            <a:avLst/>
          </a:prstGeom>
          <a:solidFill>
            <a:srgbClr val="1B74AA"/>
          </a:solidFill>
          <a:ln w="1651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72937" y="2944368"/>
            <a:ext cx="3972153" cy="1014984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Yu Gothic"/>
              </a:rPr>
              <a:t>Latest TLE
epoch≤t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773107" y="3451860"/>
            <a:ext cx="274320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0102291" y="2834640"/>
            <a:ext cx="4118457" cy="1234440"/>
          </a:xfrm>
          <a:prstGeom prst="rect">
            <a:avLst/>
          </a:prstGeom>
          <a:solidFill>
            <a:srgbClr val="239571"/>
          </a:solidFill>
          <a:ln w="1651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75443" y="2944368"/>
            <a:ext cx="3972153" cy="1014984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Yu Gothic"/>
              </a:rPr>
              <a:t>SGP4 forward
rpred(t)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275612" y="3451860"/>
            <a:ext cx="274320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4604796" y="2834640"/>
            <a:ext cx="4118457" cy="1234440"/>
          </a:xfrm>
          <a:prstGeom prst="rect">
            <a:avLst/>
          </a:prstGeom>
          <a:solidFill>
            <a:srgbClr val="EC9427"/>
          </a:solidFill>
          <a:ln w="1651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77948" y="2944368"/>
            <a:ext cx="3972153" cy="1014984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Yu Gothic"/>
              </a:rPr>
              <a:t>AUX_POEORB
rtruth(t)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778118" y="3451860"/>
            <a:ext cx="274320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9107302" y="2834640"/>
            <a:ext cx="4118457" cy="1234440"/>
          </a:xfrm>
          <a:prstGeom prst="rect">
            <a:avLst/>
          </a:prstGeom>
          <a:solidFill>
            <a:srgbClr val="5D4084"/>
          </a:solidFill>
          <a:ln w="16510">
            <a:solidFill>
              <a:srgbClr val="5D4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80454" y="2944368"/>
            <a:ext cx="3972153" cy="1014984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Yu Gothic"/>
              </a:rPr>
              <a:t>δr(t)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4800600"/>
            <a:ext cx="14081760" cy="6217920"/>
          </a:xfrm>
          <a:prstGeom prst="rect">
            <a:avLst/>
          </a:prstGeom>
          <a:noFill/>
          <a:ln w="12700">
            <a:solidFill>
              <a:srgbClr val="B8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orbit_prediction_error_3orb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800600"/>
            <a:ext cx="6217920" cy="621792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5727680" y="4800600"/>
            <a:ext cx="7315200" cy="6217920"/>
          </a:xfrm>
          <a:prstGeom prst="roundRect">
            <a:avLst/>
          </a:prstGeom>
          <a:solidFill>
            <a:srgbClr val="F4F6F8"/>
          </a:solidFill>
          <a:ln w="16510">
            <a:solidFill>
              <a:srgbClr val="B8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139159" y="5303520"/>
            <a:ext cx="6492240" cy="43891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</a:pPr>
            <a:r>
              <a:rPr sz="23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300">
                <a:solidFill>
                  <a:srgbClr val="232B34"/>
                </a:solidFill>
                <a:latin typeface="Yu Gothic"/>
              </a:rPr>
              <a:t>POEORBをtruth</a:t>
            </a:r>
          </a:p>
          <a:p>
            <a:pPr>
              <a:spcAft>
                <a:spcPts val="800"/>
              </a:spcAft>
            </a:pPr>
            <a:r>
              <a:rPr sz="23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300">
                <a:solidFill>
                  <a:srgbClr val="232B34"/>
                </a:solidFill>
                <a:latin typeface="Yu Gothic"/>
              </a:rPr>
              <a:t>未来TLEのbackward伝搬なし</a:t>
            </a:r>
          </a:p>
          <a:p>
            <a:pPr>
              <a:spcAft>
                <a:spcPts val="800"/>
              </a:spcAft>
            </a:pPr>
            <a:r>
              <a:rPr sz="23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300">
                <a:solidFill>
                  <a:srgbClr val="232B34"/>
                </a:solidFill>
                <a:latin typeface="Yu Gothic"/>
              </a:rPr>
              <a:t>60 s sampling</a:t>
            </a:r>
          </a:p>
          <a:p>
            <a:pPr>
              <a:spcAft>
                <a:spcPts val="800"/>
              </a:spcAft>
            </a:pPr>
            <a:r>
              <a:rPr sz="23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300">
                <a:solidFill>
                  <a:srgbClr val="232B34"/>
                </a:solidFill>
                <a:latin typeface="Yu Gothic"/>
              </a:rPr>
              <a:t>相手機は片側truth</a:t>
            </a:r>
          </a:p>
          <a:p>
            <a:pPr>
              <a:spcAft>
                <a:spcPts val="800"/>
              </a:spcAft>
            </a:pPr>
            <a:r>
              <a:rPr sz="23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300">
                <a:solidFill>
                  <a:srgbClr val="232B34"/>
                </a:solidFill>
                <a:latin typeface="Yu Gothic"/>
              </a:rPr>
              <a:t>TD時刻へcyclic resample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84880" y="9966960"/>
            <a:ext cx="640080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100" b="1">
                <a:solidFill>
                  <a:srgbClr val="D03B46"/>
                </a:solidFill>
                <a:latin typeface="Yu Gothic"/>
              </a:rPr>
              <a:t>2026 S1データとTD軌道時刻は位相不一致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Orbit prediction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位置誤差をリンクLOS横断面へ投影し、STT/body x–yへ変換する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834640"/>
            <a:ext cx="9692640" cy="7589520"/>
          </a:xfrm>
          <a:prstGeom prst="roundRect">
            <a:avLst/>
          </a:prstGeom>
          <a:solidFill>
            <a:srgbClr val="F4F6F8"/>
          </a:solidFill>
          <a:ln w="16510">
            <a:solidFill>
              <a:srgbClr val="B8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3931920"/>
            <a:ext cx="8595360" cy="6858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3000" b="1">
                <a:solidFill>
                  <a:srgbClr val="082B52"/>
                </a:solidFill>
                <a:latin typeface="Yu Gothic"/>
              </a:rPr>
              <a:t>δr⊥ = δr − (δr·ℓ̂)ℓ̂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303520"/>
            <a:ext cx="7863840" cy="6858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3200" b="1">
                <a:solidFill>
                  <a:srgbClr val="1B74AA"/>
                </a:solidFill>
                <a:latin typeface="Yu Gothic"/>
              </a:rPr>
              <a:t>θ ≈ δr⊥ / Rlink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6766560"/>
            <a:ext cx="8412480" cy="2468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400">
                <a:solidFill>
                  <a:srgbClr val="232B34"/>
                </a:solidFill>
                <a:latin typeface="Yu Gothic"/>
              </a:rPr>
              <a:t>orbit catalogから姿勢を構成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400">
                <a:solidFill>
                  <a:srgbClr val="232B34"/>
                </a:solidFill>
                <a:latin typeface="Yu Gothic"/>
              </a:rPr>
              <a:t>STT/body x–yへ射影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400">
                <a:solidFill>
                  <a:srgbClr val="232B34"/>
                </a:solidFill>
                <a:latin typeface="Yu Gothic"/>
              </a:rPr>
              <a:t>熱LOSと同じ2成分で加算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1430000" y="2834640"/>
          <a:ext cx="11704320" cy="630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309360"/>
                <a:gridCol w="2834640"/>
              </a:tblGrid>
              <a:tr h="1261872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Sun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Partner / link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Status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</a:tr>
              <a:tr h="1261872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MY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along-track ISL 800 km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ready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261872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PY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anti-along ISL 800 km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ready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261872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PX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nadir ground ~695 km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ready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261872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MX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zenith proxy 800 km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unrealistic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11430000" y="9509760"/>
            <a:ext cx="11704320" cy="1645920"/>
          </a:xfrm>
          <a:prstGeom prst="roundRect">
            <a:avLst/>
          </a:prstGeom>
          <a:solidFill>
            <a:srgbClr val="FDEFF0"/>
          </a:solidFill>
          <a:ln w="16510">
            <a:solidFill>
              <a:srgbClr val="D0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0" y="9966960"/>
            <a:ext cx="1078992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400" b="1">
                <a:solidFill>
                  <a:srgbClr val="D03B46"/>
                </a:solidFill>
                <a:latin typeface="Yu Gothic"/>
              </a:rPr>
              <a:t>MXは角度計算可能だが現実的リンクではない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Orbit prediction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熱と軌道予測誤差はともに10⁻⁴ Hz台の軌道周期族となる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36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14813280" cy="8046720"/>
          </a:xfrm>
          <a:prstGeom prst="rect">
            <a:avLst/>
          </a:prstGeom>
          <a:noFill/>
          <a:ln w="12700">
            <a:solidFill>
              <a:srgbClr val="B8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rbit_error_stt_LTAN06_800km_1213COLD_MY_SUN_3orb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79" y="2743200"/>
            <a:ext cx="8046720" cy="804672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367759" y="2926080"/>
          <a:ext cx="65836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108960"/>
              </a:tblGrid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Case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mean norm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MY ISL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≈285 µrad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PY ISL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≈285 µrad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PX ground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≈694 µrad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MX proxy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≈612 µrad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6367759" y="8229600"/>
            <a:ext cx="6583680" cy="2194560"/>
          </a:xfrm>
          <a:prstGeom prst="roundRect">
            <a:avLst/>
          </a:prstGeom>
          <a:solidFill>
            <a:srgbClr val="FEF5E6"/>
          </a:solidFill>
          <a:ln w="1651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733520" y="8641080"/>
            <a:ext cx="5852160" cy="10972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400" b="1">
                <a:solidFill>
                  <a:srgbClr val="EC9427"/>
                </a:solidFill>
                <a:latin typeface="Yu Gothic"/>
              </a:rPr>
              <a:t>Thermal: ~101 min
Orbit norm: ~101 / 50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1064240"/>
            <a:ext cx="15270480" cy="5486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900" b="1">
                <a:solidFill>
                  <a:srgbClr val="D03B46"/>
                </a:solidFill>
                <a:latin typeface="Yu Gothic"/>
              </a:rPr>
              <a:t>単純な『低周波＝熱』分離は難しい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PAT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熱のみでは階層モデルがthermal-truth上界にほぼ到達する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36976"/>
            <a:ext cx="4387291" cy="1412748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2100" b="0">
                <a:solidFill>
                  <a:srgbClr val="232B34"/>
                </a:solidFill>
                <a:latin typeface="Yu Gothic"/>
              </a:rPr>
              <a:t>No correction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7451" y="3337560"/>
            <a:ext cx="8917228" cy="1211580"/>
          </a:xfrm>
          <a:prstGeom prst="rect">
            <a:avLst/>
          </a:prstGeom>
          <a:solidFill>
            <a:srgbClr val="F4F6F8"/>
          </a:solidFill>
          <a:ln w="16510"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7451" y="3337560"/>
            <a:ext cx="8888693" cy="1211580"/>
          </a:xfrm>
          <a:prstGeom prst="rect">
            <a:avLst/>
          </a:prstGeom>
          <a:solidFill>
            <a:srgbClr val="D03B46"/>
          </a:solidFill>
          <a:ln w="16510">
            <a:solidFill>
              <a:srgbClr val="D0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94408" y="3200400"/>
            <a:ext cx="914400" cy="1485900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D03B46"/>
                </a:solidFill>
                <a:latin typeface="Yu Gothic"/>
              </a:rPr>
              <a:t>124.6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722876"/>
            <a:ext cx="4387291" cy="1412748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2100" b="0">
                <a:solidFill>
                  <a:srgbClr val="232B34"/>
                </a:solidFill>
                <a:latin typeface="Yu Gothic"/>
              </a:rPr>
              <a:t>Static bias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7451" y="4823460"/>
            <a:ext cx="8917228" cy="1211580"/>
          </a:xfrm>
          <a:prstGeom prst="rect">
            <a:avLst/>
          </a:prstGeom>
          <a:solidFill>
            <a:srgbClr val="F4F6F8"/>
          </a:solidFill>
          <a:ln w="16510"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7451" y="4823460"/>
            <a:ext cx="340994" cy="1211580"/>
          </a:xfrm>
          <a:prstGeom prst="rect">
            <a:avLst/>
          </a:prstGeom>
          <a:solidFill>
            <a:srgbClr val="EC9427"/>
          </a:solidFill>
          <a:ln w="1651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94408" y="4686300"/>
            <a:ext cx="914400" cy="1485900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EC9427"/>
                </a:solidFill>
                <a:latin typeface="Yu Gothic"/>
              </a:rPr>
              <a:t>4.78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6208776"/>
            <a:ext cx="4387291" cy="1412748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2100" b="0">
                <a:solidFill>
                  <a:srgbClr val="232B34"/>
                </a:solidFill>
                <a:latin typeface="Yu Gothic"/>
              </a:rPr>
              <a:t>Hierarchical bcase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7451" y="6309360"/>
            <a:ext cx="8917228" cy="1211580"/>
          </a:xfrm>
          <a:prstGeom prst="rect">
            <a:avLst/>
          </a:prstGeom>
          <a:solidFill>
            <a:srgbClr val="F4F6F8"/>
          </a:solidFill>
          <a:ln w="16510"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7451" y="6309360"/>
            <a:ext cx="73152" cy="1211580"/>
          </a:xfrm>
          <a:prstGeom prst="rect">
            <a:avLst/>
          </a:prstGeom>
          <a:solidFill>
            <a:srgbClr val="239571"/>
          </a:solidFill>
          <a:ln w="1651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94408" y="6172200"/>
            <a:ext cx="914400" cy="1485900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239571"/>
                </a:solidFill>
                <a:latin typeface="Yu Gothic"/>
              </a:rPr>
              <a:t>0.116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7694675"/>
            <a:ext cx="4387291" cy="1412748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2100" b="0">
                <a:solidFill>
                  <a:srgbClr val="232B34"/>
                </a:solidFill>
                <a:latin typeface="Yu Gothic"/>
              </a:rPr>
              <a:t>Thermal truth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7451" y="7795260"/>
            <a:ext cx="8917228" cy="1211580"/>
          </a:xfrm>
          <a:prstGeom prst="rect">
            <a:avLst/>
          </a:prstGeom>
          <a:solidFill>
            <a:srgbClr val="F4F6F8"/>
          </a:solidFill>
          <a:ln w="16510"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7451" y="7795260"/>
            <a:ext cx="73152" cy="1211580"/>
          </a:xfrm>
          <a:prstGeom prst="rect">
            <a:avLst/>
          </a:prstGeom>
          <a:solidFill>
            <a:srgbClr val="1B74AA"/>
          </a:solidFill>
          <a:ln w="1651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94408" y="7658100"/>
            <a:ext cx="914400" cy="1485900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1B74AA"/>
                </a:solidFill>
                <a:latin typeface="Yu Gothic"/>
              </a:rPr>
              <a:t>0.1 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6276320" y="3017520"/>
          <a:ext cx="67665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828800"/>
                <a:gridCol w="1828800"/>
              </a:tblGrid>
              <a:tr h="987552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Yu Gothic"/>
                        </a:rPr>
                        <a:t>Model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Yu Gothic"/>
                        </a:rPr>
                        <a:t>Success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Yu Gothic"/>
                        </a:rPr>
                        <a:t>Mean tacq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No correction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95.9%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124.6 s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Static bias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99.3%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4.78 s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bcase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100%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0.116 s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truth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100%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0.100 s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16367759" y="8412480"/>
            <a:ext cx="6583680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0" y="8540496"/>
            <a:ext cx="6400800" cy="56692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3400" b="1">
                <a:solidFill>
                  <a:srgbClr val="239571"/>
                </a:solidFill>
                <a:latin typeface="Yu Gothic"/>
              </a:rPr>
              <a:t>8.8 µrad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0" y="9217152"/>
            <a:ext cx="6400800" cy="3657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900" b="0">
                <a:solidFill>
                  <a:srgbClr val="666F79"/>
                </a:solidFill>
                <a:latin typeface="Yu Gothic"/>
              </a:rPr>
              <a:t>mean thermal residual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10881360"/>
            <a:ext cx="16642080" cy="5486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500" b="0">
                <a:solidFill>
                  <a:srgbClr val="666F79"/>
                </a:solidFill>
                <a:latin typeface="Yu Gothic"/>
              </a:rPr>
              <a:t>熱モデル自体の能力を見る理想条件。主結果は非熱込み。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PAT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非熱込みでも平均捕捉時間156.9→59.6 s、成功率94.0→97.1%となる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36976"/>
            <a:ext cx="4217212" cy="1755648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2100" b="0">
                <a:solidFill>
                  <a:srgbClr val="232B34"/>
                </a:solidFill>
                <a:latin typeface="Yu Gothic"/>
              </a:rPr>
              <a:t>No thermal correction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0252" y="3337560"/>
            <a:ext cx="8538667" cy="1554480"/>
          </a:xfrm>
          <a:prstGeom prst="rect">
            <a:avLst/>
          </a:prstGeom>
          <a:solidFill>
            <a:srgbClr val="F4F6F8"/>
          </a:solidFill>
          <a:ln w="16510"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80252" y="3337560"/>
            <a:ext cx="8373230" cy="1554480"/>
          </a:xfrm>
          <a:prstGeom prst="rect">
            <a:avLst/>
          </a:prstGeom>
          <a:solidFill>
            <a:srgbClr val="D03B46"/>
          </a:solidFill>
          <a:ln w="16510">
            <a:solidFill>
              <a:srgbClr val="D0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328647" y="3200400"/>
            <a:ext cx="914400" cy="1828800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D03B46"/>
                </a:solidFill>
                <a:latin typeface="Yu Gothic"/>
              </a:rPr>
              <a:t>156.9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065776"/>
            <a:ext cx="4217212" cy="1755648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2100" b="0">
                <a:solidFill>
                  <a:srgbClr val="232B34"/>
                </a:solidFill>
                <a:latin typeface="Yu Gothic"/>
              </a:rPr>
              <a:t>Hierarchical bcase 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80252" y="5166360"/>
            <a:ext cx="8538667" cy="1554480"/>
          </a:xfrm>
          <a:prstGeom prst="rect">
            <a:avLst/>
          </a:prstGeom>
          <a:solidFill>
            <a:srgbClr val="F4F6F8"/>
          </a:solidFill>
          <a:ln w="16510"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80252" y="5166360"/>
            <a:ext cx="3180653" cy="1554480"/>
          </a:xfrm>
          <a:prstGeom prst="rect">
            <a:avLst/>
          </a:prstGeom>
          <a:solidFill>
            <a:srgbClr val="239571"/>
          </a:solidFill>
          <a:ln w="1651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328647" y="5029200"/>
            <a:ext cx="914400" cy="1828800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239571"/>
                </a:solidFill>
                <a:latin typeface="Yu Gothic"/>
              </a:rPr>
              <a:t>59.6 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93440" y="3108960"/>
            <a:ext cx="6675120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184880" y="3236976"/>
            <a:ext cx="6492240" cy="56692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3400" b="1">
                <a:solidFill>
                  <a:srgbClr val="239571"/>
                </a:solidFill>
                <a:latin typeface="Yu Gothic"/>
              </a:rPr>
              <a:t>−62%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84880" y="3913632"/>
            <a:ext cx="6492240" cy="3657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900" b="0">
                <a:solidFill>
                  <a:srgbClr val="666F79"/>
                </a:solidFill>
                <a:latin typeface="Yu Gothic"/>
              </a:rPr>
              <a:t>mean acquisition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093440" y="5257800"/>
            <a:ext cx="6675120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184880" y="5385816"/>
            <a:ext cx="6492240" cy="56692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3400" b="1">
                <a:solidFill>
                  <a:srgbClr val="1B74AA"/>
                </a:solidFill>
                <a:latin typeface="Yu Gothic"/>
              </a:rPr>
              <a:t>+3.1 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0" y="6062472"/>
            <a:ext cx="6492240" cy="3657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900" b="0">
                <a:solidFill>
                  <a:srgbClr val="666F79"/>
                </a:solidFill>
                <a:latin typeface="Yu Gothic"/>
              </a:rPr>
              <a:t>success rate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743200" y="7635240"/>
          <a:ext cx="189280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6640"/>
                <a:gridCol w="5760720"/>
                <a:gridCol w="5760720"/>
              </a:tblGrid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Metric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No correction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bcase FF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Success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94.0%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97.1%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Mean tacq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156.9 s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59.6 s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Median tacq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150.3 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36.2 s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Thermal residual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667 µrad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8.8 µrad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0" y="11201400"/>
            <a:ext cx="15270480" cy="5486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800" b="1">
                <a:solidFill>
                  <a:srgbClr val="082B52"/>
                </a:solidFill>
                <a:latin typeface="Yu Gothic"/>
              </a:rPr>
              <a:t>補正後は非熱、特に軌道予測誤差が性能を支配する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PAT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改善幅はリンク幾何と熱LOSの大きさに依存する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39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2834640"/>
          <a:ext cx="22037040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5577840"/>
                <a:gridCol w="5029200"/>
                <a:gridCol w="7589520"/>
              </a:tblGrid>
              <a:tr h="1066800">
                <a:tc>
                  <a:txBody>
                    <a:bodyPr/>
                    <a:lstStyle/>
                    <a:p>
                      <a:pPr algn="l"/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>Case family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>Thermal LOS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>Orbit error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>PAT interpretation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PY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large (~1.2 mrad)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~285 µrad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large improvement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MY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150–250 µrad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~285 µrad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moderate improvement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PX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~0.9 mrad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~694 µrad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orbit remains large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MX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~0.9 mrad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~612 µrad proxy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interpret cautiously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LTAN18 MY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nearly DC ~150 µrad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~290 µrad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small thermal benefit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828800" y="9829800"/>
            <a:ext cx="20574000" cy="1554480"/>
          </a:xfrm>
          <a:prstGeom prst="roundRect">
            <a:avLst/>
          </a:prstGeom>
          <a:solidFill>
            <a:srgbClr val="FDEFF0"/>
          </a:solidFill>
          <a:ln w="16510">
            <a:solidFill>
              <a:srgbClr val="D0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10131552"/>
            <a:ext cx="19476720" cy="9144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400" b="1">
                <a:solidFill>
                  <a:srgbClr val="D03B46"/>
                </a:solidFill>
                <a:latin typeface="Yu Gothic"/>
              </a:rPr>
              <a:t>全21ケース平均にはMXの非現実的zenith proxyが含まれる
論文ではrealistic-link subsetも併記する候補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92640" y="4114800"/>
            <a:ext cx="493776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700" b="0">
                <a:solidFill>
                  <a:srgbClr val="FFFFFF"/>
                </a:solidFill>
                <a:latin typeface="Yu Gothic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69880" y="5230368"/>
            <a:ext cx="3383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5806440"/>
            <a:ext cx="20756880" cy="10515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3300" b="1">
                <a:solidFill>
                  <a:srgbClr val="FFFFFF"/>
                </a:solidFill>
                <a:latin typeface="Yu Gothic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Yu Gothic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Adaptiveは低周波熱抽出ではなく、主にモデルDC更新として考える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834640"/>
            <a:ext cx="10789920" cy="7498079"/>
          </a:xfrm>
          <a:prstGeom prst="roundRect">
            <a:avLst/>
          </a:prstGeom>
          <a:solidFill>
            <a:srgbClr val="EAF8F1"/>
          </a:solidFill>
          <a:ln w="1651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3246120"/>
            <a:ext cx="9875520" cy="5486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800" b="1">
                <a:solidFill>
                  <a:srgbClr val="239571"/>
                </a:solidFill>
                <a:latin typeface="Yu Gothic"/>
              </a:rPr>
              <a:t>Proposed 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4343400"/>
            <a:ext cx="9144000" cy="7315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3400" b="1">
                <a:solidFill>
                  <a:srgbClr val="082B52"/>
                </a:solidFill>
                <a:latin typeface="Yu Gothic"/>
              </a:rPr>
              <a:t>b̂k+1 = b̂k + Kb 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669280"/>
            <a:ext cx="9418320" cy="3657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</a:pPr>
            <a:r>
              <a:rPr sz="2500" b="1">
                <a:solidFill>
                  <a:srgbClr val="239571"/>
                </a:solidFill>
                <a:latin typeface="Yu Gothic"/>
              </a:rPr>
              <a:t>• </a:t>
            </a:r>
            <a:r>
              <a:rPr sz="2500">
                <a:solidFill>
                  <a:srgbClr val="232B34"/>
                </a:solidFill>
                <a:latin typeface="Yu Gothic"/>
              </a:rPr>
              <a:t>a：事前解析／熱真空試験で固定</a:t>
            </a:r>
          </a:p>
          <a:p>
            <a:pPr>
              <a:spcAft>
                <a:spcPts val="800"/>
              </a:spcAft>
            </a:pPr>
            <a:r>
              <a:rPr sz="2500" b="1">
                <a:solidFill>
                  <a:srgbClr val="239571"/>
                </a:solidFill>
                <a:latin typeface="Yu Gothic"/>
              </a:rPr>
              <a:t>• </a:t>
            </a:r>
            <a:r>
              <a:rPr sz="2500">
                <a:solidFill>
                  <a:srgbClr val="232B34"/>
                </a:solidFill>
                <a:latin typeface="Yu Gothic"/>
              </a:rPr>
              <a:t>b_case：捕捉後残差で更新</a:t>
            </a:r>
          </a:p>
          <a:p>
            <a:pPr>
              <a:spcAft>
                <a:spcPts val="800"/>
              </a:spcAft>
            </a:pPr>
            <a:r>
              <a:rPr sz="2500" b="1">
                <a:solidFill>
                  <a:srgbClr val="239571"/>
                </a:solidFill>
                <a:latin typeface="Yu Gothic"/>
              </a:rPr>
              <a:t>• </a:t>
            </a:r>
            <a:r>
              <a:rPr sz="2500">
                <a:solidFill>
                  <a:srgbClr val="232B34"/>
                </a:solidFill>
                <a:latin typeface="Yu Gothic"/>
              </a:rPr>
              <a:t>同一モード・複数パスで平均</a:t>
            </a:r>
          </a:p>
          <a:p>
            <a:pPr>
              <a:spcAft>
                <a:spcPts val="800"/>
              </a:spcAft>
            </a:pPr>
            <a:r>
              <a:rPr sz="2500" b="1">
                <a:solidFill>
                  <a:srgbClr val="239571"/>
                </a:solidFill>
                <a:latin typeface="Yu Gothic"/>
              </a:rPr>
              <a:t>• </a:t>
            </a:r>
            <a:r>
              <a:rPr sz="2500">
                <a:solidFill>
                  <a:srgbClr val="232B34"/>
                </a:solidFill>
                <a:latin typeface="Yu Gothic"/>
              </a:rPr>
              <a:t>orbit/alignmentの吸収を制約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527280" y="2834640"/>
            <a:ext cx="10607040" cy="7498079"/>
          </a:xfrm>
          <a:prstGeom prst="roundRect">
            <a:avLst/>
          </a:prstGeom>
          <a:solidFill>
            <a:srgbClr val="FEF5E6"/>
          </a:solidFill>
          <a:ln w="1651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0" y="3246120"/>
            <a:ext cx="9692640" cy="5486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800" b="1">
                <a:solidFill>
                  <a:srgbClr val="EC9427"/>
                </a:solidFill>
                <a:latin typeface="Yu Gothic"/>
              </a:rPr>
              <a:t>Discussion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0" y="4343400"/>
            <a:ext cx="9326880" cy="4754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EC9427"/>
                </a:solidFill>
                <a:latin typeface="Yu Gothic"/>
              </a:rPr>
              <a:t>• </a:t>
            </a:r>
            <a:r>
              <a:rPr sz="2400">
                <a:solidFill>
                  <a:srgbClr val="232B34"/>
                </a:solidFill>
                <a:latin typeface="Yu Gothic"/>
              </a:rPr>
              <a:t>a固定・b更新の分担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EC9427"/>
                </a:solidFill>
                <a:latin typeface="Yu Gothic"/>
              </a:rPr>
              <a:t>• </a:t>
            </a:r>
            <a:r>
              <a:rPr sz="2400">
                <a:solidFill>
                  <a:srgbClr val="232B34"/>
                </a:solidFill>
                <a:latin typeface="Yu Gothic"/>
              </a:rPr>
              <a:t>同帯域の熱／軌道誤差の識別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EC9427"/>
                </a:solidFill>
                <a:latin typeface="Yu Gothic"/>
              </a:rPr>
              <a:t>• </a:t>
            </a:r>
            <a:r>
              <a:rPr sz="2400">
                <a:solidFill>
                  <a:srgbClr val="232B34"/>
                </a:solidFill>
                <a:latin typeface="Yu Gothic"/>
              </a:rPr>
              <a:t>軌道誤差を別状態で同時推定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EC9427"/>
                </a:solidFill>
                <a:latin typeface="Yu Gothic"/>
              </a:rPr>
              <a:t>• </a:t>
            </a:r>
            <a:r>
              <a:rPr sz="2400">
                <a:solidFill>
                  <a:srgbClr val="232B34"/>
                </a:solidFill>
                <a:latin typeface="Yu Gothic"/>
              </a:rPr>
              <a:t>現在のscan modelの妥当性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EC9427"/>
                </a:solidFill>
                <a:latin typeface="Yu Gothic"/>
              </a:rPr>
              <a:t>• </a:t>
            </a:r>
            <a:r>
              <a:rPr sz="2400">
                <a:solidFill>
                  <a:srgbClr val="232B34"/>
                </a:solidFill>
                <a:latin typeface="Yu Gothic"/>
              </a:rPr>
              <a:t>ICSOまでのAdaptive実装範囲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予測可能な熱成分は除去できたため、次はDC校正と非熱共存が課題となる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42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88720" y="2926080"/>
          <a:ext cx="21945600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  <a:gridCol w="10972800"/>
              </a:tblGrid>
              <a:tr h="1112520">
                <a:tc>
                  <a:txBody>
                    <a:bodyPr/>
                    <a:lstStyle/>
                    <a:p>
                      <a:pPr algn="l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What is established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What remains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TD/Femap → STT–LCT LOS → PAT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real spacecraft validation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shared |a|≈28–31 µrad/°C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MZ / non-dominant axis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LOO thermal residual ≈5.5 µrad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power-continuous Level 2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nonthermal tacq 156.9→59.6 s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realistic-link subset / dynamics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orbit and thermal share low-frequency band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adaptive observability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828800" y="10058400"/>
            <a:ext cx="20574000" cy="1371600"/>
          </a:xfrm>
          <a:prstGeom prst="roundRect">
            <a:avLst/>
          </a:prstGeom>
          <a:solidFill>
            <a:srgbClr val="EBF6FB"/>
          </a:solidFill>
          <a:ln w="16510">
            <a:solidFill>
              <a:srgbClr val="5BB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10442448"/>
            <a:ext cx="19476720" cy="5486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700" b="1">
                <a:solidFill>
                  <a:srgbClr val="082B52"/>
                </a:solidFill>
                <a:latin typeface="Yu Gothic"/>
              </a:rPr>
              <a:t>ICSOへ：モデル主張を固定し、PAT条件とAdaptiveの必要最小限を詰める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92640" y="4114800"/>
            <a:ext cx="493776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700" b="0">
                <a:solidFill>
                  <a:srgbClr val="FFFFFF"/>
                </a:solidFill>
                <a:latin typeface="Yu Gothic"/>
              </a:rPr>
              <a:t>A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69880" y="5230368"/>
            <a:ext cx="3383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5806440"/>
            <a:ext cx="20756880" cy="10515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3300" b="1">
                <a:solidFill>
                  <a:srgbClr val="FFFFFF"/>
                </a:solidFill>
                <a:latin typeface="Yu Gothic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Yu Gothic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関連研究の位置づけ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A1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2926080"/>
          <a:ext cx="20665440" cy="7360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14264640"/>
              </a:tblGrid>
              <a:tr h="1051559">
                <a:tc>
                  <a:txBody>
                    <a:bodyPr/>
                    <a:lstStyle/>
                    <a:p>
                      <a:pPr algn="l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Item</a:t>
                      </a:r>
                    </a:p>
                  </a:txBody>
                  <a:tcPr marL="64008" marR="64008" marT="27432" marB="27432" anchor="ctr">
                    <a:solidFill>
                      <a:srgbClr val="5D40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Detail</a:t>
                      </a:r>
                    </a:p>
                  </a:txBody>
                  <a:tcPr marL="64008" marR="64008" marT="27432" marB="27432" anchor="ctr">
                    <a:solidFill>
                      <a:srgbClr val="5D4084"/>
                    </a:solidFill>
                  </a:tcPr>
                </a:tc>
              </a:tr>
              <a:tr h="1051559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Badás et al. 2024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FSOC opto-thermo-mechanical review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51559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Shi et al. 2023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bus optimization → acquisition time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51559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Hu et al. 2022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GEO Fourier compensation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51559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Li et al. 2025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LEO geometry → NN LOS correction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51559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JANUS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optical-head LOS≈KΔT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51565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Rüddenklau et al.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body-pointing FF, not thermal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全解析ケースの設計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A2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80160" y="2834640"/>
          <a:ext cx="21762720" cy="731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743200"/>
                <a:gridCol w="14904720"/>
              </a:tblGrid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Cases</a:t>
                      </a:r>
                    </a:p>
                  </a:txBody>
                  <a:tcPr marL="64008" marR="64008" marT="27432" marB="27432" anchor="ctr">
                    <a:solidFill>
                      <a:srgbClr val="5D40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Sun</a:t>
                      </a:r>
                    </a:p>
                  </a:txBody>
                  <a:tcPr marL="64008" marR="64008" marT="27432" marB="27432" anchor="ctr">
                    <a:solidFill>
                      <a:srgbClr val="5D40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Power / condition</a:t>
                      </a:r>
                    </a:p>
                  </a:txBody>
                  <a:tcPr marL="64008" marR="64008" marT="27432" marB="27432" anchor="ctr">
                    <a:solidFill>
                      <a:srgbClr val="5D408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04,13–15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MY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ALL / +PROP / +PCDU / STTLCT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08,16,18,19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PY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ALL / STTLCT / +PROP / +PCDU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05,06,20,21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PX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ALL / STTLCT / +PROP / +PCDU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09,17,23,24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MX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ALL / STTLCT / +PROP / +PCDU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10–12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MY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HOT / Black / Alodine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22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MY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PROP 12.5 W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MY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LTAN18 / 693 km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熱光学特性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A3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2926080"/>
          <a:ext cx="206654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14264640"/>
              </a:tblGrid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Item</a:t>
                      </a:r>
                    </a:p>
                  </a:txBody>
                  <a:tcPr marL="64008" marR="64008" marT="27432" marB="27432" anchor="ctr">
                    <a:solidFill>
                      <a:srgbClr val="5D40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Detail</a:t>
                      </a:r>
                    </a:p>
                  </a:txBody>
                  <a:tcPr marL="64008" marR="64008" marT="27432" marB="27432" anchor="ctr">
                    <a:solidFill>
                      <a:srgbClr val="5D4084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Alodine 1000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α=0.150, ε=0.038, α/ε=3.947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Black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α=0.974, ε=0.920, α/ε=1.059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0.5 synthetic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α=0.500, ε=0.500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LOS定義の比較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A4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743200"/>
            <a:ext cx="21945600" cy="8412480"/>
          </a:xfrm>
          <a:prstGeom prst="rect">
            <a:avLst/>
          </a:prstGeom>
          <a:noFill/>
          <a:ln w="12700">
            <a:solidFill>
              <a:srgbClr val="B8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s_defini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216" y="2743200"/>
            <a:ext cx="9253728" cy="841248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Level-2係数と解釈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A5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2926080"/>
          <a:ext cx="20665440" cy="7360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14264640"/>
              </a:tblGrid>
              <a:tr h="1051559">
                <a:tc>
                  <a:txBody>
                    <a:bodyPr/>
                    <a:lstStyle/>
                    <a:p>
                      <a:pPr algn="l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Item</a:t>
                      </a:r>
                    </a:p>
                  </a:txBody>
                  <a:tcPr marL="64008" marR="64008" marT="27432" marB="27432" anchor="ctr">
                    <a:solidFill>
                      <a:srgbClr val="5D40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Detail</a:t>
                      </a:r>
                    </a:p>
                  </a:txBody>
                  <a:tcPr marL="64008" marR="64008" marT="27432" marB="27432" anchor="ctr">
                    <a:solidFill>
                      <a:srgbClr val="5D4084"/>
                    </a:solidFill>
                  </a:tcPr>
                </a:tc>
              </a:tr>
              <a:tr h="1051559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b0_MX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+15.7 µrad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51559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b0_MY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+2.8 µrad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51559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b0_PX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−12.0 µrad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51559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b0_PY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−24.0 µrad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51559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c_PROP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−22.9 µrad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51565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c_PCDU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−10.2 µrad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モデルの難しいケース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A6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834640"/>
            <a:ext cx="7223760" cy="6675120"/>
          </a:xfrm>
          <a:prstGeom prst="rect">
            <a:avLst/>
          </a:prstGeom>
          <a:noFill/>
          <a:ln w="12700">
            <a:solidFill>
              <a:srgbClr val="B8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se11_bcase_true_vs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420291"/>
            <a:ext cx="7223760" cy="550381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58200" y="2834640"/>
            <a:ext cx="7223760" cy="6675120"/>
          </a:xfrm>
          <a:prstGeom prst="rect">
            <a:avLst/>
          </a:prstGeom>
          <a:noFill/>
          <a:ln w="12700">
            <a:solidFill>
              <a:srgbClr val="B8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se22_bcase_true_vs_p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420291"/>
            <a:ext cx="7223760" cy="550381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6184880" y="2834640"/>
            <a:ext cx="7223760" cy="6675120"/>
          </a:xfrm>
          <a:prstGeom prst="rect">
            <a:avLst/>
          </a:prstGeom>
          <a:noFill/>
          <a:ln w="12700">
            <a:solidFill>
              <a:srgbClr val="B8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se25_bcase_true_vs_p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4880" y="3420291"/>
            <a:ext cx="7223760" cy="5503817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0" y="9829800"/>
          <a:ext cx="18928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34416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Case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Issue</a:t>
                      </a:r>
                    </a:p>
                  </a:txBody>
                  <a:tcPr marL="64008" marR="64008" marT="27432" marB="27432" anchor="ctr">
                    <a:solidFill>
                      <a:srgbClr val="082B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11 Black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oracle floor ≈13 µrad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22 half power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ON/OFF b mismatch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25 all-sun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thermal LOS nearly DC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軌道予測誤差の仮定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A7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2926080"/>
          <a:ext cx="20665440" cy="6309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14264640"/>
              </a:tblGrid>
              <a:tr h="1051559">
                <a:tc>
                  <a:txBody>
                    <a:bodyPr/>
                    <a:lstStyle/>
                    <a:p>
                      <a:pPr algn="l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Item</a:t>
                      </a:r>
                    </a:p>
                  </a:txBody>
                  <a:tcPr marL="64008" marR="64008" marT="27432" marB="27432" anchor="ctr">
                    <a:solidFill>
                      <a:srgbClr val="5D40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Detail</a:t>
                      </a:r>
                    </a:p>
                  </a:txBody>
                  <a:tcPr marL="64008" marR="64008" marT="27432" marB="27432" anchor="ctr">
                    <a:solidFill>
                      <a:srgbClr val="5D4084"/>
                    </a:solidFill>
                  </a:tcPr>
                </a:tc>
              </a:tr>
              <a:tr h="1051559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Truth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Sentinel-1 AUX_POEORB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51559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Prediction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latest TLE + SGP4 forward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51559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Partner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truth-known, one-sided error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51559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Range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800 km ISL or nadir altitude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51564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Resampling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cyclic to TD/Femap time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STT-frame射影結果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A8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2926080"/>
          <a:ext cx="2066544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14264640"/>
              </a:tblGrid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Item</a:t>
                      </a:r>
                    </a:p>
                  </a:txBody>
                  <a:tcPr marL="64008" marR="64008" marT="27432" marB="27432" anchor="ctr">
                    <a:solidFill>
                      <a:srgbClr val="5D40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Detail</a:t>
                      </a:r>
                    </a:p>
                  </a:txBody>
                  <a:tcPr marL="64008" marR="64008" marT="27432" marB="27432" anchor="ctr">
                    <a:solidFill>
                      <a:srgbClr val="5D4084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MY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ISL along-track / 285 µrad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PY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ISL anti-along / 285 µrad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PX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ground nadir / 694 µrad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MX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zenith proxy / 612 µrad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PATスキャンの注意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A9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2926080"/>
          <a:ext cx="20665440" cy="6309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14264640"/>
              </a:tblGrid>
              <a:tr h="1051559">
                <a:tc>
                  <a:txBody>
                    <a:bodyPr/>
                    <a:lstStyle/>
                    <a:p>
                      <a:pPr algn="l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Item</a:t>
                      </a:r>
                    </a:p>
                  </a:txBody>
                  <a:tcPr marL="64008" marR="64008" marT="27432" marB="27432" anchor="ctr">
                    <a:solidFill>
                      <a:srgbClr val="5D40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Detail</a:t>
                      </a:r>
                    </a:p>
                  </a:txBody>
                  <a:tcPr marL="64008" marR="64008" marT="27432" marB="27432" anchor="ctr">
                    <a:solidFill>
                      <a:srgbClr val="5D4084"/>
                    </a:solidFill>
                  </a:tcPr>
                </a:tc>
              </a:tr>
              <a:tr h="1051559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Coverage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40 µrad grid, 25 µrad radius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51559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Dynamics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no slew / settling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51559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Target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constant during one scan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51559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Statistics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mean tacq conditional on success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51564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Opportunities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each sample independent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Adaptive候補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A10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2926080"/>
          <a:ext cx="2066544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14264640"/>
              </a:tblGrid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Item</a:t>
                      </a:r>
                    </a:p>
                  </a:txBody>
                  <a:tcPr marL="64008" marR="64008" marT="27432" marB="27432" anchor="ctr">
                    <a:solidFill>
                      <a:srgbClr val="5D40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Detail</a:t>
                      </a:r>
                    </a:p>
                  </a:txBody>
                  <a:tcPr marL="64008" marR="64008" marT="27432" marB="27432" anchor="ctr">
                    <a:solidFill>
                      <a:srgbClr val="5D4084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Scalar EWMA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b only; simplest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Kalman filter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b + orbit/alignment states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Mode-conditioned table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sun face × power mode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Batch pass update</a:t>
                      </a:r>
                    </a:p>
                  </a:txBody>
                  <a:tcPr marL="64008" marR="64008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avoid single-acquisition contamination</a:t>
                      </a:r>
                    </a:p>
                  </a:txBody>
                  <a:tcPr marL="64008" marR="64008" marT="27432" marB="27432" anchor="ctr">
                    <a:solidFill>
                      <a:srgbClr val="EB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5910559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66F79"/>
                </a:solidFill>
                <a:latin typeface="Yu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98448"/>
            <a:ext cx="220370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200" b="1">
                <a:solidFill>
                  <a:srgbClr val="082B52"/>
                </a:solidFill>
                <a:latin typeface="Yu Gothic"/>
              </a:rPr>
              <a:t>主要参考文献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0" y="12819888"/>
            <a:ext cx="20116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800" b="0">
                <a:solidFill>
                  <a:srgbClr val="666F79"/>
                </a:solidFill>
                <a:latin typeface="Yu Gothic"/>
              </a:rPr>
              <a:t>A11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834640"/>
            <a:ext cx="21671280" cy="795527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</a:pPr>
            <a:r>
              <a:rPr sz="2500" b="1">
                <a:solidFill>
                  <a:srgbClr val="5D4084"/>
                </a:solidFill>
                <a:latin typeface="Yu Gothic"/>
              </a:rPr>
              <a:t>• </a:t>
            </a:r>
            <a:r>
              <a:rPr sz="2500">
                <a:solidFill>
                  <a:srgbClr val="232B34"/>
                </a:solidFill>
                <a:latin typeface="Yu Gothic"/>
              </a:rPr>
              <a:t>Riesing et al., TBIRD PAT on-orbit results, SPIE 2023</a:t>
            </a:r>
          </a:p>
          <a:p>
            <a:pPr>
              <a:spcAft>
                <a:spcPts val="800"/>
              </a:spcAft>
            </a:pPr>
            <a:r>
              <a:rPr sz="2500" b="1">
                <a:solidFill>
                  <a:srgbClr val="5D4084"/>
                </a:solidFill>
                <a:latin typeface="Yu Gothic"/>
              </a:rPr>
              <a:t>• </a:t>
            </a:r>
            <a:r>
              <a:rPr sz="2500">
                <a:solidFill>
                  <a:srgbClr val="232B34"/>
                </a:solidFill>
                <a:latin typeface="Yu Gothic"/>
              </a:rPr>
              <a:t>Shi et al., Thermal Deformation Stability Optimization, 2023</a:t>
            </a:r>
          </a:p>
          <a:p>
            <a:pPr>
              <a:spcAft>
                <a:spcPts val="800"/>
              </a:spcAft>
            </a:pPr>
            <a:r>
              <a:rPr sz="2500" b="1">
                <a:solidFill>
                  <a:srgbClr val="5D4084"/>
                </a:solidFill>
                <a:latin typeface="Yu Gothic"/>
              </a:rPr>
              <a:t>• </a:t>
            </a:r>
            <a:r>
              <a:rPr sz="2500">
                <a:solidFill>
                  <a:srgbClr val="232B34"/>
                </a:solidFill>
                <a:latin typeface="Yu Gothic"/>
              </a:rPr>
              <a:t>Badás et al., Opto-thermo-mechanical phenomena in satellite FSOC, 2024</a:t>
            </a:r>
          </a:p>
          <a:p>
            <a:pPr>
              <a:spcAft>
                <a:spcPts val="800"/>
              </a:spcAft>
            </a:pPr>
            <a:r>
              <a:rPr sz="2500" b="1">
                <a:solidFill>
                  <a:srgbClr val="5D4084"/>
                </a:solidFill>
                <a:latin typeface="Yu Gothic"/>
              </a:rPr>
              <a:t>• </a:t>
            </a:r>
            <a:r>
              <a:rPr sz="2500">
                <a:solidFill>
                  <a:srgbClr val="232B34"/>
                </a:solidFill>
                <a:latin typeface="Yu Gothic"/>
              </a:rPr>
              <a:t>Hu et al., On-Board Thermal Motion Compensation, 2022</a:t>
            </a:r>
          </a:p>
          <a:p>
            <a:pPr>
              <a:spcAft>
                <a:spcPts val="800"/>
              </a:spcAft>
            </a:pPr>
            <a:r>
              <a:rPr sz="2500" b="1">
                <a:solidFill>
                  <a:srgbClr val="5D4084"/>
                </a:solidFill>
                <a:latin typeface="Yu Gothic"/>
              </a:rPr>
              <a:t>• </a:t>
            </a:r>
            <a:r>
              <a:rPr sz="2500">
                <a:solidFill>
                  <a:srgbClr val="232B34"/>
                </a:solidFill>
                <a:latin typeface="Yu Gothic"/>
              </a:rPr>
              <a:t>Li et al., Thermal Deformation LOS Correction in LEO, 2025</a:t>
            </a:r>
          </a:p>
          <a:p>
            <a:pPr>
              <a:spcAft>
                <a:spcPts val="800"/>
              </a:spcAft>
            </a:pPr>
            <a:r>
              <a:rPr sz="2500" b="1">
                <a:solidFill>
                  <a:srgbClr val="5D4084"/>
                </a:solidFill>
                <a:latin typeface="Yu Gothic"/>
              </a:rPr>
              <a:t>• </a:t>
            </a:r>
            <a:r>
              <a:rPr sz="2500">
                <a:solidFill>
                  <a:srgbClr val="232B34"/>
                </a:solidFill>
                <a:latin typeface="Yu Gothic"/>
              </a:rPr>
              <a:t>Rüddenklau et al., Feed-Forward Body-Pointing Compensation, 2024</a:t>
            </a:r>
          </a:p>
          <a:p>
            <a:pPr>
              <a:spcAft>
                <a:spcPts val="800"/>
              </a:spcAft>
            </a:pPr>
            <a:r>
              <a:rPr sz="2500" b="1">
                <a:solidFill>
                  <a:srgbClr val="5D4084"/>
                </a:solidFill>
                <a:latin typeface="Yu Gothic"/>
              </a:rPr>
              <a:t>• </a:t>
            </a:r>
            <a:r>
              <a:rPr sz="2500">
                <a:solidFill>
                  <a:srgbClr val="232B34"/>
                </a:solidFill>
                <a:latin typeface="Yu Gothic"/>
              </a:rPr>
              <a:t>JANUS optical-head thermo-elastic LOS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ISSL true">
      <a:dk1>
        <a:srgbClr val="062654"/>
      </a:dk1>
      <a:lt1>
        <a:srgbClr val="FFFFFF"/>
      </a:lt1>
      <a:dk2>
        <a:srgbClr val="4B4B4B"/>
      </a:dk2>
      <a:lt2>
        <a:srgbClr val="8D8D8D"/>
      </a:lt2>
      <a:accent1>
        <a:srgbClr val="067BCA"/>
      </a:accent1>
      <a:accent2>
        <a:srgbClr val="C95656"/>
      </a:accent2>
      <a:accent3>
        <a:srgbClr val="EBA123"/>
      </a:accent3>
      <a:accent4>
        <a:srgbClr val="87AC70"/>
      </a:accent4>
      <a:accent5>
        <a:srgbClr val="B3618D"/>
      </a:accent5>
      <a:accent6>
        <a:srgbClr val="D16449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ssl-template-ja-16-9" id="{4C5265F7-3B2E-5145-B81F-B8693CA354B3}" vid="{5C8F6914-05D8-EA47-8853-1E6EC346794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issl-template-ja-16-9</Template>
  <TotalTime>0</TotalTime>
  <Words>395</Words>
  <Application>Microsoft Office PowerPoint</Application>
  <PresentationFormat>ユーザー設定</PresentationFormat>
  <Paragraphs>80</Paragraphs>
  <Slides>18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4" baseType="lpstr">
      <vt:lpstr>游ゴシック</vt:lpstr>
      <vt:lpstr>游ゴシック</vt:lpstr>
      <vt:lpstr>Yu Gothic Medium</vt:lpstr>
      <vt:lpstr>Aptos</vt:lpstr>
      <vt:lpstr>Arial</vt:lpstr>
      <vt:lpstr>Office テーマ</vt:lpstr>
      <vt:lpstr>ISSLスライドテンプレート</vt:lpstr>
      <vt:lpstr>01</vt:lpstr>
      <vt:lpstr>タイトルで結論を言い切る</vt:lpstr>
      <vt:lpstr>図にこだわる</vt:lpstr>
      <vt:lpstr>箇条書きは並列に</vt:lpstr>
      <vt:lpstr>数字やキーワードは強調する</vt:lpstr>
      <vt:lpstr>改行位置を気にする</vt:lpstr>
      <vt:lpstr>02</vt:lpstr>
      <vt:lpstr>1コンテンツ</vt:lpstr>
      <vt:lpstr>2コンテンツ タイトルなし</vt:lpstr>
      <vt:lpstr>2コンテンツ タイトルあり</vt:lpstr>
      <vt:lpstr>3コンテンツ タイトルなし</vt:lpstr>
      <vt:lpstr>3コンテンツ タイトルあり</vt:lpstr>
      <vt:lpstr>4コンテンツ タイトルなし</vt:lpstr>
      <vt:lpstr>4コンテンツ タイトルあり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高本　英熙</dc:creator>
  <cp:lastModifiedBy>高本　英熙</cp:lastModifiedBy>
  <cp:revision>1</cp:revision>
  <dcterms:created xsi:type="dcterms:W3CDTF">2026-05-11T08:23:04Z</dcterms:created>
  <dcterms:modified xsi:type="dcterms:W3CDTF">2026-05-11T08:23:14Z</dcterms:modified>
</cp:coreProperties>
</file>