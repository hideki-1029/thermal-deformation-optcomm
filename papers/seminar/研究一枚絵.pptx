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6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0D962-2CE8-4AA1-9939-33470D750451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C8F2A-FB1C-49A4-B728-7E678E81DF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2684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DCBA30-4919-FB99-C5A9-4F4D08472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6AB000A-862D-9BD7-6097-84D699A16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DC1092-7717-F818-FF86-A7EDD0ADD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5F7C-A55D-4A17-8BF3-2AE28AC7BC3C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5FD59A-F6E5-3DF0-2BBE-C06815DEB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7925B7-0FFB-04CB-0E3C-39C80D534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8A1C7-A7D9-40C0-96C3-733BEDFD3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3493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04EEBB-68D6-C4AF-E4CE-C6F64EA04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1F63B3-9B8D-DEE3-1A7E-96E805AAC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6B415D-2D26-7D73-0D67-8E4B27D17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5F7C-A55D-4A17-8BF3-2AE28AC7BC3C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57EFB5-9F62-A2F2-BE38-6017E6900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F1C240-9989-1E16-0A6F-0E3FD1EAB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8A1C7-A7D9-40C0-96C3-733BEDFD3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5957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DC387F-43E7-0223-64F0-10B817C12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1ED342-3191-D977-EE7F-4461F0253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B46B2B-BC07-FAD9-D698-630CC218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5F7C-A55D-4A17-8BF3-2AE28AC7BC3C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C5A90C-66C3-B0B9-88D8-FC63A9A3C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D79960-A75B-6448-C5D6-61B7EEAB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8A1C7-A7D9-40C0-96C3-733BEDFD3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704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C3AA5A-497B-BAF7-5B2E-31836C87E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D0C137-65B8-4D9F-9F57-02CA6924B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E84F33-BEDA-4A59-27D4-18993A5CB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AE83C0-E6EC-1894-A21D-41E5F31F2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5F7C-A55D-4A17-8BF3-2AE28AC7BC3C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8A0F3F-7B06-01E8-543A-4ECBECED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41923B-5638-15DF-4647-20471E0DD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8A1C7-A7D9-40C0-96C3-733BEDFD3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28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F2B7D1-9F61-4F7B-A05D-2E4749576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60A2A8-1ECB-A4E4-165A-B19049C7C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DFF5F7E-C871-67B5-C55A-881BD1B46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436629-BB25-5770-1DEA-537DEF206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A826776-2160-7CB8-192D-B44F47C43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3BCE790-1007-43C9-3230-1BF0B6941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5F7C-A55D-4A17-8BF3-2AE28AC7BC3C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C8699F9-232A-0CB8-B137-DC666B65F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A03421E-0F01-0EAA-567B-B4603F8DC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8A1C7-A7D9-40C0-96C3-733BEDFD3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885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75281F-1FC8-FA28-43C6-AAFE9AED5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DD96418-5912-7F1A-C17A-3D80A3C90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5F7C-A55D-4A17-8BF3-2AE28AC7BC3C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3A465C9-3BBB-1774-887B-293EE1C50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2143DD1-1DC2-9C01-39DC-9174004C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8A1C7-A7D9-40C0-96C3-733BEDFD3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2690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9A8E84C-0330-1322-C483-624D1272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5F7C-A55D-4A17-8BF3-2AE28AC7BC3C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AF71ADA-52F6-E0AC-0348-0616D639A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C37591-4AC6-F311-D34F-07EFD5745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8A1C7-A7D9-40C0-96C3-733BEDFD3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3454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19BE19-167B-DFED-139A-DC31562B0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CAADEB-CDBA-4CE7-ABF7-0C802E647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819C794-B0A4-E265-BE90-3C0B37139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F40F63-4B34-D5F6-A665-A865857FB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5F7C-A55D-4A17-8BF3-2AE28AC7BC3C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7B27720-A5EB-40DA-7183-B0DE33A8A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A8D9A0-C6B7-2A0A-FB47-2F3F09A40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8A1C7-A7D9-40C0-96C3-733BEDFD3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5121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004DB7-8B5F-7B91-D90B-36D22E7A5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321AA5B-40B4-0C08-5580-09D0EAD8DE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B6FEFA-890F-4FF7-DCAD-07FA35CF0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038CEEA-1786-EAC4-9A0A-D179AE8B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5F7C-A55D-4A17-8BF3-2AE28AC7BC3C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388061-0DA3-6671-BC4D-7349168BC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A7F7E4-6541-0FD5-B26B-7465B7D4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8A1C7-A7D9-40C0-96C3-733BEDFD3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8238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6B12DE-B7EF-36BB-E641-51862CB5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32B9723-B63C-CD41-560F-840AA54F3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E4AF69-5E6D-8AF5-B880-DC32373AA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5F7C-A55D-4A17-8BF3-2AE28AC7BC3C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273237-0ED2-658B-AF67-C537D5BC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433B7D-13E9-58FA-C98E-3A5D27B3F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8A1C7-A7D9-40C0-96C3-733BEDFD3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9373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B60194E-B052-56B5-EC3F-43778A8970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2EAC1B-B4C1-7DE0-B000-0E1956198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704DA7-D170-2904-2A4B-AE0EEF012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D5F7C-A55D-4A17-8BF3-2AE28AC7BC3C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77B785-7D61-80D9-0276-E69454B03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FF7E79-57CE-2854-D549-FFAF2195C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8A1C7-A7D9-40C0-96C3-733BEDFD3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842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4925E51-35A5-5BBB-37A6-F8DC4AA00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58D04D-5059-F379-F22B-6C6ADED0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9AF3F5-FAA0-2FC2-9C3B-655FCF2581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D5F7C-A55D-4A17-8BF3-2AE28AC7BC3C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DA136E-1834-CBC2-D950-0FBE70F56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4FBD75-0AEC-9177-387A-23ECA4D82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8A1C7-A7D9-40C0-96C3-733BEDFD3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128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D47CF9F7-6639-FFB9-EE9F-3AE282AE1137}"/>
              </a:ext>
            </a:extLst>
          </p:cNvPr>
          <p:cNvSpPr/>
          <p:nvPr/>
        </p:nvSpPr>
        <p:spPr>
          <a:xfrm>
            <a:off x="457597" y="1531620"/>
            <a:ext cx="1722120" cy="617220"/>
          </a:xfrm>
          <a:prstGeom prst="rect">
            <a:avLst/>
          </a:prstGeom>
          <a:solidFill>
            <a:srgbClr val="082B52"/>
          </a:solidFill>
          <a:ln w="1651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9B27C2E-54EA-6681-592D-8841C011BC12}"/>
              </a:ext>
            </a:extLst>
          </p:cNvPr>
          <p:cNvSpPr txBox="1"/>
          <p:nvPr/>
        </p:nvSpPr>
        <p:spPr>
          <a:xfrm>
            <a:off x="806466" y="1664798"/>
            <a:ext cx="1024383" cy="350865"/>
          </a:xfrm>
          <a:prstGeom prst="rect">
            <a:avLst/>
          </a:prstGeom>
          <a:noFill/>
        </p:spPr>
        <p:txBody>
          <a:bodyPr wrap="none" lIns="18288" tIns="13716" rIns="18288" bIns="13716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Yu Gothic"/>
              </a:rPr>
              <a:t>Orbit / attitude
heat &amp; coating</a:t>
            </a:r>
          </a:p>
        </p:txBody>
      </p:sp>
      <p:cxnSp>
        <p:nvCxnSpPr>
          <p:cNvPr id="6" name="Connector 6">
            <a:extLst>
              <a:ext uri="{FF2B5EF4-FFF2-40B4-BE49-F238E27FC236}">
                <a16:creationId xmlns:a16="http://schemas.microsoft.com/office/drawing/2014/main" id="{2F1119D8-19A3-8621-5945-FBA6035C991F}"/>
              </a:ext>
            </a:extLst>
          </p:cNvPr>
          <p:cNvCxnSpPr/>
          <p:nvPr/>
        </p:nvCxnSpPr>
        <p:spPr>
          <a:xfrm>
            <a:off x="2207149" y="1840230"/>
            <a:ext cx="13716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7">
            <a:extLst>
              <a:ext uri="{FF2B5EF4-FFF2-40B4-BE49-F238E27FC236}">
                <a16:creationId xmlns:a16="http://schemas.microsoft.com/office/drawing/2014/main" id="{FCC1A61D-2865-5079-BD14-F2212C245685}"/>
              </a:ext>
            </a:extLst>
          </p:cNvPr>
          <p:cNvSpPr/>
          <p:nvPr/>
        </p:nvSpPr>
        <p:spPr>
          <a:xfrm>
            <a:off x="2371741" y="1531620"/>
            <a:ext cx="1722120" cy="617220"/>
          </a:xfrm>
          <a:prstGeom prst="rect">
            <a:avLst/>
          </a:prstGeom>
          <a:solidFill>
            <a:srgbClr val="1B74AA"/>
          </a:solidFill>
          <a:ln w="1651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4335212-8A2F-7817-6871-689E7F270286}"/>
              </a:ext>
            </a:extLst>
          </p:cNvPr>
          <p:cNvSpPr txBox="1"/>
          <p:nvPr/>
        </p:nvSpPr>
        <p:spPr>
          <a:xfrm>
            <a:off x="2650878" y="1664798"/>
            <a:ext cx="1163845" cy="350865"/>
          </a:xfrm>
          <a:prstGeom prst="rect">
            <a:avLst/>
          </a:prstGeom>
          <a:noFill/>
        </p:spPr>
        <p:txBody>
          <a:bodyPr wrap="none" lIns="18288" tIns="13716" rIns="18288" bIns="13716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Yu Gothic"/>
              </a:rPr>
              <a:t>Thermal Desktop
temperature</a:t>
            </a:r>
          </a:p>
        </p:txBody>
      </p:sp>
      <p:cxnSp>
        <p:nvCxnSpPr>
          <p:cNvPr id="9" name="Connector 9">
            <a:extLst>
              <a:ext uri="{FF2B5EF4-FFF2-40B4-BE49-F238E27FC236}">
                <a16:creationId xmlns:a16="http://schemas.microsoft.com/office/drawing/2014/main" id="{095139D1-5EFB-2EA7-A25C-DA13B2F04C38}"/>
              </a:ext>
            </a:extLst>
          </p:cNvPr>
          <p:cNvCxnSpPr/>
          <p:nvPr/>
        </p:nvCxnSpPr>
        <p:spPr>
          <a:xfrm>
            <a:off x="4121293" y="1840230"/>
            <a:ext cx="13716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0">
            <a:extLst>
              <a:ext uri="{FF2B5EF4-FFF2-40B4-BE49-F238E27FC236}">
                <a16:creationId xmlns:a16="http://schemas.microsoft.com/office/drawing/2014/main" id="{2F4C67D2-0F50-A68A-7D38-35F83A108A1C}"/>
              </a:ext>
            </a:extLst>
          </p:cNvPr>
          <p:cNvSpPr/>
          <p:nvPr/>
        </p:nvSpPr>
        <p:spPr>
          <a:xfrm>
            <a:off x="4285885" y="1531620"/>
            <a:ext cx="1722120" cy="617220"/>
          </a:xfrm>
          <a:prstGeom prst="rect">
            <a:avLst/>
          </a:prstGeom>
          <a:solidFill>
            <a:srgbClr val="23957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CCB3975-6434-74AD-477B-1AF51246E3D9}"/>
              </a:ext>
            </a:extLst>
          </p:cNvPr>
          <p:cNvSpPr txBox="1"/>
          <p:nvPr/>
        </p:nvSpPr>
        <p:spPr>
          <a:xfrm>
            <a:off x="4571435" y="1664798"/>
            <a:ext cx="1151021" cy="350865"/>
          </a:xfrm>
          <a:prstGeom prst="rect">
            <a:avLst/>
          </a:prstGeom>
          <a:noFill/>
        </p:spPr>
        <p:txBody>
          <a:bodyPr wrap="none" lIns="18288" tIns="13716" rIns="18288" bIns="13716" anchor="ctr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Yu Gothic"/>
              </a:rPr>
              <a:t>Femap / Nastran
rotation</a:t>
            </a:r>
          </a:p>
        </p:txBody>
      </p:sp>
      <p:cxnSp>
        <p:nvCxnSpPr>
          <p:cNvPr id="12" name="Connector 12">
            <a:extLst>
              <a:ext uri="{FF2B5EF4-FFF2-40B4-BE49-F238E27FC236}">
                <a16:creationId xmlns:a16="http://schemas.microsoft.com/office/drawing/2014/main" id="{F6CE7AB6-1E01-870F-6CBD-92E130E1412B}"/>
              </a:ext>
            </a:extLst>
          </p:cNvPr>
          <p:cNvCxnSpPr/>
          <p:nvPr/>
        </p:nvCxnSpPr>
        <p:spPr>
          <a:xfrm>
            <a:off x="6035437" y="1840230"/>
            <a:ext cx="13716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3">
            <a:extLst>
              <a:ext uri="{FF2B5EF4-FFF2-40B4-BE49-F238E27FC236}">
                <a16:creationId xmlns:a16="http://schemas.microsoft.com/office/drawing/2014/main" id="{86093A2D-3CDF-6919-7A2D-200468F9F60B}"/>
              </a:ext>
            </a:extLst>
          </p:cNvPr>
          <p:cNvSpPr/>
          <p:nvPr/>
        </p:nvSpPr>
        <p:spPr>
          <a:xfrm>
            <a:off x="6200029" y="1531620"/>
            <a:ext cx="1722120" cy="617220"/>
          </a:xfrm>
          <a:prstGeom prst="rect">
            <a:avLst/>
          </a:prstGeom>
          <a:solidFill>
            <a:srgbClr val="EC9427"/>
          </a:solidFill>
          <a:ln w="1651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315D479-A06A-77B6-A051-32980DCEE9DA}"/>
              </a:ext>
            </a:extLst>
          </p:cNvPr>
          <p:cNvSpPr txBox="1"/>
          <p:nvPr/>
        </p:nvSpPr>
        <p:spPr>
          <a:xfrm>
            <a:off x="6633055" y="1664798"/>
            <a:ext cx="856068" cy="350865"/>
          </a:xfrm>
          <a:prstGeom prst="rect">
            <a:avLst/>
          </a:prstGeom>
          <a:noFill/>
        </p:spPr>
        <p:txBody>
          <a:bodyPr wrap="none" lIns="18288" tIns="13716" rIns="18288" bIns="13716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Yu Gothic"/>
              </a:rPr>
              <a:t>STT–LCT
thermal LOS</a:t>
            </a:r>
          </a:p>
        </p:txBody>
      </p:sp>
      <p:cxnSp>
        <p:nvCxnSpPr>
          <p:cNvPr id="15" name="Connector 15">
            <a:extLst>
              <a:ext uri="{FF2B5EF4-FFF2-40B4-BE49-F238E27FC236}">
                <a16:creationId xmlns:a16="http://schemas.microsoft.com/office/drawing/2014/main" id="{D8AF0BDB-7979-F821-FF6B-B06195DC96F1}"/>
              </a:ext>
            </a:extLst>
          </p:cNvPr>
          <p:cNvCxnSpPr/>
          <p:nvPr/>
        </p:nvCxnSpPr>
        <p:spPr>
          <a:xfrm>
            <a:off x="7949581" y="1840230"/>
            <a:ext cx="137161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6">
            <a:extLst>
              <a:ext uri="{FF2B5EF4-FFF2-40B4-BE49-F238E27FC236}">
                <a16:creationId xmlns:a16="http://schemas.microsoft.com/office/drawing/2014/main" id="{1C2C563E-5EE0-16E7-7224-B801A1EF1AEE}"/>
              </a:ext>
            </a:extLst>
          </p:cNvPr>
          <p:cNvSpPr/>
          <p:nvPr/>
        </p:nvSpPr>
        <p:spPr>
          <a:xfrm>
            <a:off x="8114173" y="1531620"/>
            <a:ext cx="1722120" cy="617220"/>
          </a:xfrm>
          <a:prstGeom prst="rect">
            <a:avLst/>
          </a:prstGeom>
          <a:solidFill>
            <a:srgbClr val="5D4084"/>
          </a:solidFill>
          <a:ln w="16510">
            <a:solidFill>
              <a:srgbClr val="5D4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CA71ED9-9CD5-4ED9-1BB2-6FA0C8304283}"/>
              </a:ext>
            </a:extLst>
          </p:cNvPr>
          <p:cNvSpPr txBox="1"/>
          <p:nvPr/>
        </p:nvSpPr>
        <p:spPr>
          <a:xfrm>
            <a:off x="8568038" y="1664798"/>
            <a:ext cx="814390" cy="350865"/>
          </a:xfrm>
          <a:prstGeom prst="rect">
            <a:avLst/>
          </a:prstGeom>
          <a:noFill/>
        </p:spPr>
        <p:txBody>
          <a:bodyPr wrap="none" lIns="18288" tIns="13716" rIns="18288" bIns="13716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Yu Gothic"/>
              </a:rPr>
              <a:t>Lightweight
model</a:t>
            </a:r>
          </a:p>
        </p:txBody>
      </p:sp>
      <p:cxnSp>
        <p:nvCxnSpPr>
          <p:cNvPr id="18" name="Connector 18">
            <a:extLst>
              <a:ext uri="{FF2B5EF4-FFF2-40B4-BE49-F238E27FC236}">
                <a16:creationId xmlns:a16="http://schemas.microsoft.com/office/drawing/2014/main" id="{22B6E3DC-9934-1092-7B05-852E727B9930}"/>
              </a:ext>
            </a:extLst>
          </p:cNvPr>
          <p:cNvCxnSpPr/>
          <p:nvPr/>
        </p:nvCxnSpPr>
        <p:spPr>
          <a:xfrm>
            <a:off x="9863725" y="1840230"/>
            <a:ext cx="137161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9">
            <a:extLst>
              <a:ext uri="{FF2B5EF4-FFF2-40B4-BE49-F238E27FC236}">
                <a16:creationId xmlns:a16="http://schemas.microsoft.com/office/drawing/2014/main" id="{A781673F-15D0-B027-1C06-555200AD256E}"/>
              </a:ext>
            </a:extLst>
          </p:cNvPr>
          <p:cNvSpPr/>
          <p:nvPr/>
        </p:nvSpPr>
        <p:spPr>
          <a:xfrm>
            <a:off x="10028317" y="1531620"/>
            <a:ext cx="1722120" cy="617220"/>
          </a:xfrm>
          <a:prstGeom prst="rect">
            <a:avLst/>
          </a:prstGeom>
          <a:solidFill>
            <a:srgbClr val="082B52"/>
          </a:solidFill>
          <a:ln w="1651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12CE6AE-449A-FD1D-4395-332729CD8CFD}"/>
              </a:ext>
            </a:extLst>
          </p:cNvPr>
          <p:cNvSpPr txBox="1"/>
          <p:nvPr/>
        </p:nvSpPr>
        <p:spPr>
          <a:xfrm>
            <a:off x="10488594" y="1664798"/>
            <a:ext cx="801566" cy="350865"/>
          </a:xfrm>
          <a:prstGeom prst="rect">
            <a:avLst/>
          </a:prstGeom>
          <a:noFill/>
        </p:spPr>
        <p:txBody>
          <a:bodyPr wrap="none" lIns="18288" tIns="13716" rIns="18288" bIns="13716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Yu Gothic"/>
              </a:rPr>
              <a:t>PAT
scan center</a:t>
            </a:r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5E477526-5339-E5C7-B9EC-1DC8F5D6D589}"/>
              </a:ext>
            </a:extLst>
          </p:cNvPr>
          <p:cNvSpPr/>
          <p:nvPr/>
        </p:nvSpPr>
        <p:spPr>
          <a:xfrm>
            <a:off x="457597" y="3594372"/>
            <a:ext cx="7850222" cy="1979578"/>
          </a:xfrm>
          <a:prstGeom prst="rect">
            <a:avLst/>
          </a:prstGeom>
          <a:solidFill>
            <a:srgbClr val="F4F6F8"/>
          </a:solidFill>
          <a:ln w="1651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9328B60-6887-0B36-3998-7A5E31A2914A}"/>
              </a:ext>
            </a:extLst>
          </p:cNvPr>
          <p:cNvSpPr txBox="1"/>
          <p:nvPr/>
        </p:nvSpPr>
        <p:spPr>
          <a:xfrm>
            <a:off x="706626" y="3800112"/>
            <a:ext cx="1652760" cy="243143"/>
          </a:xfrm>
          <a:prstGeom prst="rect">
            <a:avLst/>
          </a:prstGeom>
          <a:noFill/>
        </p:spPr>
        <p:txBody>
          <a:bodyPr wrap="none" lIns="18288" tIns="13716" rIns="18288" bIns="13716" anchor="t">
            <a:spAutoFit/>
          </a:bodyPr>
          <a:lstStyle/>
          <a:p>
            <a:r>
              <a:rPr lang="ja-JP" altLang="en-US" sz="1400" b="1" dirty="0"/>
              <a:t>地上でのモデル構築</a:t>
            </a:r>
            <a:endParaRPr sz="1350" b="1" dirty="0">
              <a:solidFill>
                <a:srgbClr val="082B52"/>
              </a:solidFill>
              <a:latin typeface="Yu Gothic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7958A83-8FAB-55F7-6354-ED3985A702CF}"/>
              </a:ext>
            </a:extLst>
          </p:cNvPr>
          <p:cNvSpPr txBox="1"/>
          <p:nvPr/>
        </p:nvSpPr>
        <p:spPr>
          <a:xfrm>
            <a:off x="798066" y="4280172"/>
            <a:ext cx="4526280" cy="1107996"/>
          </a:xfrm>
          <a:prstGeom prst="rect">
            <a:avLst/>
          </a:prstGeom>
          <a:noFill/>
        </p:spPr>
        <p:txBody>
          <a:bodyPr wrap="square" lIns="13716" rIns="13716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1B74AA"/>
                </a:solidFill>
                <a:latin typeface="Yu Gothic"/>
              </a:rPr>
              <a:t>•</a:t>
            </a:r>
            <a:r>
              <a:rPr lang="ja-JP" altLang="en-US" sz="1300" b="1" dirty="0">
                <a:solidFill>
                  <a:srgbClr val="1B74AA"/>
                </a:solidFill>
                <a:latin typeface="Yu Gothic"/>
              </a:rPr>
              <a:t> </a:t>
            </a:r>
            <a:r>
              <a:rPr lang="ja-JP" altLang="ja-JP" sz="1400" dirty="0"/>
              <a:t>軌道・姿勢・熱環境を入力 </a:t>
            </a:r>
            <a:endParaRPr lang="en-US" altLang="ja-JP" sz="1400" dirty="0"/>
          </a:p>
          <a:p>
            <a:pPr>
              <a:spcAft>
                <a:spcPts val="400"/>
              </a:spcAft>
            </a:pPr>
            <a:r>
              <a:rPr lang="en-US" altLang="ja-JP" sz="1400" b="1" dirty="0">
                <a:solidFill>
                  <a:srgbClr val="1B74AA"/>
                </a:solidFill>
                <a:latin typeface="Yu Gothic"/>
              </a:rPr>
              <a:t>•</a:t>
            </a:r>
            <a:r>
              <a:rPr lang="ja-JP" altLang="en-US" sz="1400" b="1" dirty="0">
                <a:solidFill>
                  <a:srgbClr val="1B74AA"/>
                </a:solidFill>
                <a:latin typeface="Yu Gothic"/>
              </a:rPr>
              <a:t> </a:t>
            </a:r>
            <a:r>
              <a:rPr lang="ja-JP" altLang="ja-JP" sz="1400" dirty="0"/>
              <a:t>TD/Femapで温度場・熱変形を計算</a:t>
            </a:r>
            <a:endParaRPr lang="en-US" altLang="ja-JP" sz="1400" dirty="0"/>
          </a:p>
          <a:p>
            <a:pPr>
              <a:spcAft>
                <a:spcPts val="400"/>
              </a:spcAft>
            </a:pPr>
            <a:r>
              <a:rPr lang="en-US" altLang="ja-JP" sz="1400" b="1" dirty="0">
                <a:solidFill>
                  <a:srgbClr val="1B74AA"/>
                </a:solidFill>
                <a:latin typeface="Yu Gothic"/>
              </a:rPr>
              <a:t>•</a:t>
            </a:r>
            <a:r>
              <a:rPr lang="ja-JP" altLang="en-US" sz="1400" b="1" dirty="0">
                <a:solidFill>
                  <a:srgbClr val="1B74AA"/>
                </a:solidFill>
                <a:latin typeface="Yu Gothic"/>
              </a:rPr>
              <a:t> </a:t>
            </a:r>
            <a:r>
              <a:rPr lang="ja-JP" altLang="ja-JP" sz="1400" dirty="0"/>
              <a:t>STT–LCT相対LOSの参照時系列を生成</a:t>
            </a:r>
            <a:endParaRPr lang="en-US" altLang="ja-JP" sz="1400" dirty="0"/>
          </a:p>
          <a:p>
            <a:pPr>
              <a:spcAft>
                <a:spcPts val="400"/>
              </a:spcAft>
            </a:pPr>
            <a:r>
              <a:rPr lang="en-US" altLang="ja-JP" sz="1400" b="1" dirty="0">
                <a:solidFill>
                  <a:srgbClr val="1B74AA"/>
                </a:solidFill>
                <a:latin typeface="Yu Gothic"/>
              </a:rPr>
              <a:t>• </a:t>
            </a:r>
            <a:r>
              <a:rPr lang="ja-JP" altLang="ja-JP" sz="1400" dirty="0"/>
              <a:t>軽量モデルの学習・評価に使用</a:t>
            </a:r>
            <a:endParaRPr sz="1300" dirty="0">
              <a:solidFill>
                <a:srgbClr val="232B34"/>
              </a:solidFill>
              <a:latin typeface="Yu Gothic"/>
            </a:endParaRP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4605E184-5087-9E29-043D-8F9363A3BFED}"/>
              </a:ext>
            </a:extLst>
          </p:cNvPr>
          <p:cNvSpPr/>
          <p:nvPr/>
        </p:nvSpPr>
        <p:spPr>
          <a:xfrm>
            <a:off x="8424550" y="3594372"/>
            <a:ext cx="3325887" cy="1979577"/>
          </a:xfrm>
          <a:prstGeom prst="rect">
            <a:avLst/>
          </a:prstGeom>
          <a:solidFill>
            <a:srgbClr val="EBF6FB"/>
          </a:solidFill>
          <a:ln w="16510">
            <a:solidFill>
              <a:srgbClr val="5B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FBCAE96-D0AA-8363-9574-5EC8B6B05F0D}"/>
              </a:ext>
            </a:extLst>
          </p:cNvPr>
          <p:cNvSpPr txBox="1"/>
          <p:nvPr/>
        </p:nvSpPr>
        <p:spPr>
          <a:xfrm>
            <a:off x="8575897" y="3800112"/>
            <a:ext cx="3042893" cy="235449"/>
          </a:xfrm>
          <a:prstGeom prst="rect">
            <a:avLst/>
          </a:prstGeom>
          <a:noFill/>
        </p:spPr>
        <p:txBody>
          <a:bodyPr wrap="square" lIns="18288" tIns="13716" rIns="18288" bIns="13716" anchor="t">
            <a:spAutoFit/>
          </a:bodyPr>
          <a:lstStyle/>
          <a:p>
            <a:r>
              <a:rPr lang="ja-JP" altLang="en-US" sz="1350" b="1" dirty="0">
                <a:solidFill>
                  <a:srgbClr val="1B74AA"/>
                </a:solidFill>
                <a:latin typeface="Yu Gothic"/>
              </a:rPr>
              <a:t>軌道上でのモデル運用および補正</a:t>
            </a:r>
            <a:endParaRPr sz="1350" b="1" dirty="0">
              <a:solidFill>
                <a:srgbClr val="1B74AA"/>
              </a:solidFill>
              <a:latin typeface="Yu Gothic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E1372F0-E278-B124-817B-2E5A401B8AEC}"/>
              </a:ext>
            </a:extLst>
          </p:cNvPr>
          <p:cNvSpPr txBox="1"/>
          <p:nvPr/>
        </p:nvSpPr>
        <p:spPr>
          <a:xfrm>
            <a:off x="8613283" y="4280172"/>
            <a:ext cx="2903221" cy="1046440"/>
          </a:xfrm>
          <a:prstGeom prst="rect">
            <a:avLst/>
          </a:prstGeom>
          <a:noFill/>
        </p:spPr>
        <p:txBody>
          <a:bodyPr wrap="square" lIns="13716" rIns="13716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1B74AA"/>
                </a:solidFill>
                <a:latin typeface="Yu Gothic"/>
              </a:rPr>
              <a:t>• </a:t>
            </a:r>
            <a:r>
              <a:rPr sz="1300" dirty="0">
                <a:solidFill>
                  <a:srgbClr val="232B34"/>
                </a:solidFill>
                <a:latin typeface="Yu Gothic"/>
              </a:rPr>
              <a:t>温度センサ</a:t>
            </a:r>
            <a:r>
              <a:rPr lang="ja-JP" altLang="en-US" sz="1300" dirty="0">
                <a:solidFill>
                  <a:srgbClr val="232B34"/>
                </a:solidFill>
                <a:latin typeface="Yu Gothic"/>
              </a:rPr>
              <a:t>・</a:t>
            </a:r>
            <a:r>
              <a:rPr sz="1300" dirty="0">
                <a:solidFill>
                  <a:srgbClr val="232B34"/>
                </a:solidFill>
                <a:latin typeface="Yu Gothic"/>
              </a:rPr>
              <a:t>運用</a:t>
            </a:r>
            <a:r>
              <a:rPr lang="ja-JP" altLang="en-US" sz="1300" dirty="0">
                <a:solidFill>
                  <a:srgbClr val="232B34"/>
                </a:solidFill>
                <a:latin typeface="Yu Gothic"/>
              </a:rPr>
              <a:t>情報を入力</a:t>
            </a:r>
            <a:endParaRPr sz="1300" dirty="0">
              <a:solidFill>
                <a:srgbClr val="232B34"/>
              </a:solidFill>
              <a:latin typeface="Yu Gothic"/>
            </a:endParaRP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B74AA"/>
                </a:solidFill>
                <a:latin typeface="Yu Gothic"/>
              </a:rPr>
              <a:t>• </a:t>
            </a:r>
            <a:r>
              <a:rPr lang="ja-JP" altLang="en-US" sz="1300" dirty="0">
                <a:solidFill>
                  <a:srgbClr val="232B34"/>
                </a:solidFill>
                <a:latin typeface="Yu Gothic"/>
              </a:rPr>
              <a:t>軽量モデルで熱</a:t>
            </a:r>
            <a:r>
              <a:rPr sz="1300" dirty="0">
                <a:solidFill>
                  <a:srgbClr val="232B34"/>
                </a:solidFill>
                <a:latin typeface="Yu Gothic"/>
              </a:rPr>
              <a:t>LOSを</a:t>
            </a:r>
            <a:r>
              <a:rPr lang="ja-JP" altLang="en-US" sz="1300" dirty="0">
                <a:solidFill>
                  <a:srgbClr val="232B34"/>
                </a:solidFill>
                <a:latin typeface="Yu Gothic"/>
              </a:rPr>
              <a:t>予測</a:t>
            </a:r>
            <a:endParaRPr lang="en-US" altLang="ja-JP" sz="1300" dirty="0">
              <a:solidFill>
                <a:srgbClr val="232B34"/>
              </a:solidFill>
              <a:latin typeface="Yu Gothic"/>
            </a:endParaRPr>
          </a:p>
          <a:p>
            <a:pPr>
              <a:spcAft>
                <a:spcPts val="400"/>
              </a:spcAft>
            </a:pPr>
            <a:r>
              <a:rPr lang="en-US" altLang="ja-JP" sz="1300" b="1" dirty="0">
                <a:solidFill>
                  <a:srgbClr val="1B74AA"/>
                </a:solidFill>
                <a:latin typeface="Yu Gothic"/>
              </a:rPr>
              <a:t>• </a:t>
            </a:r>
            <a:r>
              <a:rPr lang="en-US" sz="1300" dirty="0">
                <a:solidFill>
                  <a:srgbClr val="232B34"/>
                </a:solidFill>
                <a:latin typeface="Yu Gothic"/>
              </a:rPr>
              <a:t>Scan center</a:t>
            </a:r>
            <a:r>
              <a:rPr lang="ja-JP" altLang="en-US" sz="1300" dirty="0">
                <a:solidFill>
                  <a:srgbClr val="232B34"/>
                </a:solidFill>
                <a:latin typeface="Yu Gothic"/>
              </a:rPr>
              <a:t>を補正</a:t>
            </a:r>
            <a:endParaRPr sz="1300" dirty="0">
              <a:solidFill>
                <a:srgbClr val="232B34"/>
              </a:solidFill>
              <a:latin typeface="Yu Gothic"/>
            </a:endParaRP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1B74AA"/>
                </a:solidFill>
                <a:latin typeface="Yu Gothic"/>
              </a:rPr>
              <a:t>• </a:t>
            </a:r>
            <a:r>
              <a:rPr sz="1300" dirty="0">
                <a:solidFill>
                  <a:srgbClr val="232B34"/>
                </a:solidFill>
                <a:latin typeface="Yu Gothic"/>
              </a:rPr>
              <a:t>捕捉後残差でモデル</a:t>
            </a:r>
            <a:r>
              <a:rPr lang="ja-JP" altLang="en-US" sz="1300" dirty="0">
                <a:solidFill>
                  <a:srgbClr val="232B34"/>
                </a:solidFill>
                <a:latin typeface="Yu Gothic"/>
              </a:rPr>
              <a:t>を</a:t>
            </a:r>
            <a:r>
              <a:rPr sz="1300" dirty="0">
                <a:solidFill>
                  <a:srgbClr val="232B34"/>
                </a:solidFill>
                <a:latin typeface="Yu Gothic"/>
              </a:rPr>
              <a:t>更新</a:t>
            </a: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319EEBF8-EFD1-9DCA-7F4C-AD94683D3A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87" b="12995"/>
          <a:stretch>
            <a:fillRect/>
          </a:stretch>
        </p:blipFill>
        <p:spPr>
          <a:xfrm>
            <a:off x="2334581" y="2214361"/>
            <a:ext cx="1647736" cy="1357289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27EF3F80-F4C8-A720-53D8-40F1E6F9AA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33"/>
          <a:stretch>
            <a:fillRect/>
          </a:stretch>
        </p:blipFill>
        <p:spPr>
          <a:xfrm rot="5400000">
            <a:off x="4488279" y="2422280"/>
            <a:ext cx="1297134" cy="884875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9B55F03D-BEFE-96E1-4F15-377434643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372" y="2221059"/>
            <a:ext cx="1337433" cy="12925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2010C311-DF9D-CCD3-1E49-46B66EBC4C62}"/>
                  </a:ext>
                </a:extLst>
              </p:cNvPr>
              <p:cNvSpPr txBox="1"/>
              <p:nvPr/>
            </p:nvSpPr>
            <p:spPr>
              <a:xfrm>
                <a:off x="8114172" y="2642710"/>
                <a:ext cx="1886713" cy="595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1600" i="1" smtClean="0">
                          <a:latin typeface="Cambria Math" panose="02040503050406030204" pitchFamily="18" charset="0"/>
                        </a:rPr>
                        <m:t>𝛥</m:t>
                      </m:r>
                      <m:acc>
                        <m:accPr>
                          <m:chr m:val="̂"/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𝑐𝑎𝑠𝑒</m:t>
                          </m:r>
                        </m:sub>
                      </m:sSub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1600" i="1" dirty="0"/>
              </a:p>
              <a:p>
                <a:endParaRPr lang="ja-JP" altLang="en-US" sz="1600" i="1" dirty="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2010C311-DF9D-CCD3-1E49-46B66EBC4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172" y="2642710"/>
                <a:ext cx="1886713" cy="595163"/>
              </a:xfrm>
              <a:prstGeom prst="rect">
                <a:avLst/>
              </a:prstGeom>
              <a:blipFill>
                <a:blip r:embed="rId5"/>
                <a:stretch>
                  <a:fillRect t="-10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EBB296F-369A-F374-D41C-548C46E52BD1}"/>
              </a:ext>
            </a:extLst>
          </p:cNvPr>
          <p:cNvSpPr txBox="1"/>
          <p:nvPr/>
        </p:nvSpPr>
        <p:spPr>
          <a:xfrm>
            <a:off x="457597" y="2305616"/>
            <a:ext cx="1722120" cy="116955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・軌道</a:t>
            </a:r>
            <a:endParaRPr lang="en-US" altLang="ja-JP" sz="1400" dirty="0"/>
          </a:p>
          <a:p>
            <a:r>
              <a:rPr lang="ja-JP" altLang="en-US" sz="1400" dirty="0"/>
              <a:t>・姿勢</a:t>
            </a:r>
            <a:endParaRPr lang="en-US" altLang="ja-JP" sz="1400" dirty="0"/>
          </a:p>
          <a:p>
            <a:r>
              <a:rPr lang="ja-JP" altLang="en-US" sz="1400" dirty="0"/>
              <a:t>・コンポ構造配置</a:t>
            </a:r>
            <a:endParaRPr lang="en-US" altLang="ja-JP" sz="1400" dirty="0"/>
          </a:p>
          <a:p>
            <a:r>
              <a:rPr lang="ja-JP" altLang="en-US" sz="1400" dirty="0"/>
              <a:t>・衛星表面特性</a:t>
            </a:r>
            <a:endParaRPr lang="en-US" altLang="ja-JP" sz="1400" dirty="0"/>
          </a:p>
          <a:p>
            <a:r>
              <a:rPr lang="ja-JP" altLang="en-US" sz="1400" dirty="0"/>
              <a:t>・内部発熱位置</a:t>
            </a:r>
            <a:r>
              <a:rPr lang="en-US" altLang="ja-JP" sz="1400" dirty="0"/>
              <a:t>/</a:t>
            </a:r>
            <a:r>
              <a:rPr lang="ja-JP" altLang="en-US" sz="1400" dirty="0"/>
              <a:t>量</a:t>
            </a:r>
            <a:endParaRPr lang="en-US" altLang="ja-JP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0470158-9D72-3F3E-0BD1-69B2EECBFED9}"/>
                  </a:ext>
                </a:extLst>
              </p:cNvPr>
              <p:cNvSpPr txBox="1"/>
              <p:nvPr/>
            </p:nvSpPr>
            <p:spPr>
              <a:xfrm>
                <a:off x="10049003" y="2631484"/>
                <a:ext cx="1749552" cy="595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𝛥</m:t>
                      </m:r>
                      <m:acc>
                        <m:accPr>
                          <m:chr m:val="̂"/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 altLang="ja-JP" sz="1600" i="1" dirty="0"/>
              </a:p>
              <a:p>
                <a:endParaRPr lang="ja-JP" altLang="en-US" sz="1600" i="1" dirty="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70470158-9D72-3F3E-0BD1-69B2EECBF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9003" y="2631484"/>
                <a:ext cx="1749552" cy="595163"/>
              </a:xfrm>
              <a:prstGeom prst="rect">
                <a:avLst/>
              </a:prstGeom>
              <a:blipFill>
                <a:blip r:embed="rId6"/>
                <a:stretch>
                  <a:fillRect t="-1031" r="-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343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AE25E-5848-2BE2-6999-E36915207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BFB1299B-9606-E3FF-03F2-0FA4E8EA4F0C}"/>
              </a:ext>
            </a:extLst>
          </p:cNvPr>
          <p:cNvSpPr/>
          <p:nvPr/>
        </p:nvSpPr>
        <p:spPr>
          <a:xfrm>
            <a:off x="457597" y="1531620"/>
            <a:ext cx="1722120" cy="617220"/>
          </a:xfrm>
          <a:prstGeom prst="rect">
            <a:avLst/>
          </a:prstGeom>
          <a:solidFill>
            <a:srgbClr val="082B52"/>
          </a:solidFill>
          <a:ln w="1651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3BA1DD5-612C-C86E-818C-9FAB08918271}"/>
              </a:ext>
            </a:extLst>
          </p:cNvPr>
          <p:cNvSpPr txBox="1"/>
          <p:nvPr/>
        </p:nvSpPr>
        <p:spPr>
          <a:xfrm>
            <a:off x="806466" y="1664798"/>
            <a:ext cx="1024383" cy="350865"/>
          </a:xfrm>
          <a:prstGeom prst="rect">
            <a:avLst/>
          </a:prstGeom>
          <a:noFill/>
        </p:spPr>
        <p:txBody>
          <a:bodyPr wrap="none" lIns="18288" tIns="13716" rIns="18288" bIns="13716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Yu Gothic"/>
              </a:rPr>
              <a:t>Orbit / attitude
heat &amp; coating</a:t>
            </a:r>
          </a:p>
        </p:txBody>
      </p:sp>
      <p:cxnSp>
        <p:nvCxnSpPr>
          <p:cNvPr id="6" name="Connector 6">
            <a:extLst>
              <a:ext uri="{FF2B5EF4-FFF2-40B4-BE49-F238E27FC236}">
                <a16:creationId xmlns:a16="http://schemas.microsoft.com/office/drawing/2014/main" id="{FCD56ECE-3534-7305-0D1E-24C192A78999}"/>
              </a:ext>
            </a:extLst>
          </p:cNvPr>
          <p:cNvCxnSpPr/>
          <p:nvPr/>
        </p:nvCxnSpPr>
        <p:spPr>
          <a:xfrm>
            <a:off x="2207149" y="1840230"/>
            <a:ext cx="13716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7">
            <a:extLst>
              <a:ext uri="{FF2B5EF4-FFF2-40B4-BE49-F238E27FC236}">
                <a16:creationId xmlns:a16="http://schemas.microsoft.com/office/drawing/2014/main" id="{502502BE-6AFC-C579-548C-8355D4A1A5D4}"/>
              </a:ext>
            </a:extLst>
          </p:cNvPr>
          <p:cNvSpPr/>
          <p:nvPr/>
        </p:nvSpPr>
        <p:spPr>
          <a:xfrm>
            <a:off x="2371741" y="1531620"/>
            <a:ext cx="1722120" cy="617220"/>
          </a:xfrm>
          <a:prstGeom prst="rect">
            <a:avLst/>
          </a:prstGeom>
          <a:solidFill>
            <a:srgbClr val="1B74AA"/>
          </a:solidFill>
          <a:ln w="16510">
            <a:solidFill>
              <a:srgbClr val="1B7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2AC9D80-F715-24B5-9425-6D722A3DC363}"/>
              </a:ext>
            </a:extLst>
          </p:cNvPr>
          <p:cNvSpPr txBox="1"/>
          <p:nvPr/>
        </p:nvSpPr>
        <p:spPr>
          <a:xfrm>
            <a:off x="2650878" y="1664798"/>
            <a:ext cx="1163845" cy="350865"/>
          </a:xfrm>
          <a:prstGeom prst="rect">
            <a:avLst/>
          </a:prstGeom>
          <a:noFill/>
        </p:spPr>
        <p:txBody>
          <a:bodyPr wrap="none" lIns="18288" tIns="13716" rIns="18288" bIns="13716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Yu Gothic"/>
              </a:rPr>
              <a:t>Thermal Desktop
temperature</a:t>
            </a:r>
          </a:p>
        </p:txBody>
      </p:sp>
      <p:cxnSp>
        <p:nvCxnSpPr>
          <p:cNvPr id="9" name="Connector 9">
            <a:extLst>
              <a:ext uri="{FF2B5EF4-FFF2-40B4-BE49-F238E27FC236}">
                <a16:creationId xmlns:a16="http://schemas.microsoft.com/office/drawing/2014/main" id="{DCBFAFED-56F5-9E05-8FC2-BC74616E4496}"/>
              </a:ext>
            </a:extLst>
          </p:cNvPr>
          <p:cNvCxnSpPr/>
          <p:nvPr/>
        </p:nvCxnSpPr>
        <p:spPr>
          <a:xfrm>
            <a:off x="4121293" y="1840230"/>
            <a:ext cx="13716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0">
            <a:extLst>
              <a:ext uri="{FF2B5EF4-FFF2-40B4-BE49-F238E27FC236}">
                <a16:creationId xmlns:a16="http://schemas.microsoft.com/office/drawing/2014/main" id="{7F982E0A-4B26-9022-53F4-995DD4BA06A8}"/>
              </a:ext>
            </a:extLst>
          </p:cNvPr>
          <p:cNvSpPr/>
          <p:nvPr/>
        </p:nvSpPr>
        <p:spPr>
          <a:xfrm>
            <a:off x="4285885" y="1531620"/>
            <a:ext cx="1722120" cy="617220"/>
          </a:xfrm>
          <a:prstGeom prst="rect">
            <a:avLst/>
          </a:prstGeom>
          <a:solidFill>
            <a:srgbClr val="239571"/>
          </a:solidFill>
          <a:ln w="16510">
            <a:solidFill>
              <a:srgbClr val="2395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CD73617-8DC6-70C3-EBD8-FED074D7F3EC}"/>
              </a:ext>
            </a:extLst>
          </p:cNvPr>
          <p:cNvSpPr txBox="1"/>
          <p:nvPr/>
        </p:nvSpPr>
        <p:spPr>
          <a:xfrm>
            <a:off x="4571435" y="1664798"/>
            <a:ext cx="1151021" cy="350865"/>
          </a:xfrm>
          <a:prstGeom prst="rect">
            <a:avLst/>
          </a:prstGeom>
          <a:noFill/>
        </p:spPr>
        <p:txBody>
          <a:bodyPr wrap="none" lIns="18288" tIns="13716" rIns="18288" bIns="13716" anchor="ctr">
            <a:spAutoFit/>
          </a:bodyPr>
          <a:lstStyle/>
          <a:p>
            <a:pPr algn="ctr"/>
            <a:r>
              <a:rPr sz="1050" b="1" dirty="0">
                <a:solidFill>
                  <a:srgbClr val="FFFFFF"/>
                </a:solidFill>
                <a:latin typeface="Yu Gothic"/>
              </a:rPr>
              <a:t>Femap / Nastran
rotation</a:t>
            </a:r>
          </a:p>
        </p:txBody>
      </p:sp>
      <p:cxnSp>
        <p:nvCxnSpPr>
          <p:cNvPr id="12" name="Connector 12">
            <a:extLst>
              <a:ext uri="{FF2B5EF4-FFF2-40B4-BE49-F238E27FC236}">
                <a16:creationId xmlns:a16="http://schemas.microsoft.com/office/drawing/2014/main" id="{73398F4E-6334-B558-1EC3-4673D7ED94CA}"/>
              </a:ext>
            </a:extLst>
          </p:cNvPr>
          <p:cNvCxnSpPr/>
          <p:nvPr/>
        </p:nvCxnSpPr>
        <p:spPr>
          <a:xfrm>
            <a:off x="6035437" y="1840230"/>
            <a:ext cx="137160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3">
            <a:extLst>
              <a:ext uri="{FF2B5EF4-FFF2-40B4-BE49-F238E27FC236}">
                <a16:creationId xmlns:a16="http://schemas.microsoft.com/office/drawing/2014/main" id="{DF512F6C-188D-E90A-C443-BEB9213E0923}"/>
              </a:ext>
            </a:extLst>
          </p:cNvPr>
          <p:cNvSpPr/>
          <p:nvPr/>
        </p:nvSpPr>
        <p:spPr>
          <a:xfrm>
            <a:off x="6200029" y="1531620"/>
            <a:ext cx="1722120" cy="617220"/>
          </a:xfrm>
          <a:prstGeom prst="rect">
            <a:avLst/>
          </a:prstGeom>
          <a:solidFill>
            <a:srgbClr val="EC9427"/>
          </a:solidFill>
          <a:ln w="16510">
            <a:solidFill>
              <a:srgbClr val="EC9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C26FC11-C5AF-3A81-9152-AF3B3DA657A9}"/>
              </a:ext>
            </a:extLst>
          </p:cNvPr>
          <p:cNvSpPr txBox="1"/>
          <p:nvPr/>
        </p:nvSpPr>
        <p:spPr>
          <a:xfrm>
            <a:off x="6633055" y="1664798"/>
            <a:ext cx="856068" cy="350865"/>
          </a:xfrm>
          <a:prstGeom prst="rect">
            <a:avLst/>
          </a:prstGeom>
          <a:noFill/>
        </p:spPr>
        <p:txBody>
          <a:bodyPr wrap="none" lIns="18288" tIns="13716" rIns="18288" bIns="13716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Yu Gothic"/>
              </a:rPr>
              <a:t>STT–LCT
thermal LOS</a:t>
            </a:r>
          </a:p>
        </p:txBody>
      </p:sp>
      <p:cxnSp>
        <p:nvCxnSpPr>
          <p:cNvPr id="15" name="Connector 15">
            <a:extLst>
              <a:ext uri="{FF2B5EF4-FFF2-40B4-BE49-F238E27FC236}">
                <a16:creationId xmlns:a16="http://schemas.microsoft.com/office/drawing/2014/main" id="{91167139-B4D6-ECFE-6068-DE6912C66503}"/>
              </a:ext>
            </a:extLst>
          </p:cNvPr>
          <p:cNvCxnSpPr/>
          <p:nvPr/>
        </p:nvCxnSpPr>
        <p:spPr>
          <a:xfrm>
            <a:off x="7949581" y="1840230"/>
            <a:ext cx="137161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6">
            <a:extLst>
              <a:ext uri="{FF2B5EF4-FFF2-40B4-BE49-F238E27FC236}">
                <a16:creationId xmlns:a16="http://schemas.microsoft.com/office/drawing/2014/main" id="{C4B91492-4A09-751F-43CC-B0E3C359F437}"/>
              </a:ext>
            </a:extLst>
          </p:cNvPr>
          <p:cNvSpPr/>
          <p:nvPr/>
        </p:nvSpPr>
        <p:spPr>
          <a:xfrm>
            <a:off x="8114173" y="1531620"/>
            <a:ext cx="1722120" cy="617220"/>
          </a:xfrm>
          <a:prstGeom prst="rect">
            <a:avLst/>
          </a:prstGeom>
          <a:solidFill>
            <a:srgbClr val="5D4084"/>
          </a:solidFill>
          <a:ln w="16510">
            <a:solidFill>
              <a:srgbClr val="5D4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F254D94-DC21-BDD5-983E-BC77C423EEA4}"/>
              </a:ext>
            </a:extLst>
          </p:cNvPr>
          <p:cNvSpPr txBox="1"/>
          <p:nvPr/>
        </p:nvSpPr>
        <p:spPr>
          <a:xfrm>
            <a:off x="8568038" y="1664798"/>
            <a:ext cx="814390" cy="350865"/>
          </a:xfrm>
          <a:prstGeom prst="rect">
            <a:avLst/>
          </a:prstGeom>
          <a:noFill/>
        </p:spPr>
        <p:txBody>
          <a:bodyPr wrap="none" lIns="18288" tIns="13716" rIns="18288" bIns="13716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Yu Gothic"/>
              </a:rPr>
              <a:t>Lightweight
model</a:t>
            </a:r>
          </a:p>
        </p:txBody>
      </p:sp>
      <p:cxnSp>
        <p:nvCxnSpPr>
          <p:cNvPr id="18" name="Connector 18">
            <a:extLst>
              <a:ext uri="{FF2B5EF4-FFF2-40B4-BE49-F238E27FC236}">
                <a16:creationId xmlns:a16="http://schemas.microsoft.com/office/drawing/2014/main" id="{DEA04BEB-7894-8F60-1F89-C20349B43829}"/>
              </a:ext>
            </a:extLst>
          </p:cNvPr>
          <p:cNvCxnSpPr/>
          <p:nvPr/>
        </p:nvCxnSpPr>
        <p:spPr>
          <a:xfrm>
            <a:off x="9863725" y="1840230"/>
            <a:ext cx="137161" cy="0"/>
          </a:xfrm>
          <a:prstGeom prst="line">
            <a:avLst/>
          </a:prstGeom>
          <a:ln w="25400">
            <a:solidFill>
              <a:srgbClr val="5BB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9">
            <a:extLst>
              <a:ext uri="{FF2B5EF4-FFF2-40B4-BE49-F238E27FC236}">
                <a16:creationId xmlns:a16="http://schemas.microsoft.com/office/drawing/2014/main" id="{55D47E7F-AFD2-CD2C-940B-3F5B517AE954}"/>
              </a:ext>
            </a:extLst>
          </p:cNvPr>
          <p:cNvSpPr/>
          <p:nvPr/>
        </p:nvSpPr>
        <p:spPr>
          <a:xfrm>
            <a:off x="10028317" y="1531620"/>
            <a:ext cx="1722120" cy="617220"/>
          </a:xfrm>
          <a:prstGeom prst="rect">
            <a:avLst/>
          </a:prstGeom>
          <a:solidFill>
            <a:srgbClr val="082B52"/>
          </a:solidFill>
          <a:ln w="16510">
            <a:solidFill>
              <a:srgbClr val="082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AAC57B0-F2E2-9E8E-ADA6-AB8068445288}"/>
              </a:ext>
            </a:extLst>
          </p:cNvPr>
          <p:cNvSpPr txBox="1"/>
          <p:nvPr/>
        </p:nvSpPr>
        <p:spPr>
          <a:xfrm>
            <a:off x="10488594" y="1664798"/>
            <a:ext cx="801566" cy="350865"/>
          </a:xfrm>
          <a:prstGeom prst="rect">
            <a:avLst/>
          </a:prstGeom>
          <a:noFill/>
        </p:spPr>
        <p:txBody>
          <a:bodyPr wrap="none" lIns="18288" tIns="13716" rIns="18288" bIns="13716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Yu Gothic"/>
              </a:rPr>
              <a:t>PAT
scan center</a:t>
            </a:r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FBE3FA38-3F1D-7E0A-2158-4C282C9DEB2D}"/>
              </a:ext>
            </a:extLst>
          </p:cNvPr>
          <p:cNvSpPr/>
          <p:nvPr/>
        </p:nvSpPr>
        <p:spPr>
          <a:xfrm>
            <a:off x="457597" y="4609356"/>
            <a:ext cx="7850222" cy="1979578"/>
          </a:xfrm>
          <a:prstGeom prst="rect">
            <a:avLst/>
          </a:prstGeom>
          <a:solidFill>
            <a:srgbClr val="F4F6F8"/>
          </a:solidFill>
          <a:ln w="16510">
            <a:solidFill>
              <a:srgbClr val="B8D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0E9EC4C-D27F-3D81-4DE4-8C7A1580837E}"/>
              </a:ext>
            </a:extLst>
          </p:cNvPr>
          <p:cNvSpPr txBox="1"/>
          <p:nvPr/>
        </p:nvSpPr>
        <p:spPr>
          <a:xfrm>
            <a:off x="706626" y="4815096"/>
            <a:ext cx="2712346" cy="243143"/>
          </a:xfrm>
          <a:prstGeom prst="rect">
            <a:avLst/>
          </a:prstGeom>
          <a:noFill/>
        </p:spPr>
        <p:txBody>
          <a:bodyPr wrap="none" lIns="18288" tIns="13716" rIns="18288" bIns="13716" anchor="t">
            <a:spAutoFit/>
          </a:bodyPr>
          <a:lstStyle/>
          <a:p>
            <a:r>
              <a:rPr lang="ja-JP" altLang="ja-JP" sz="1400" b="1" dirty="0"/>
              <a:t>On-ground model construction</a:t>
            </a:r>
            <a:endParaRPr sz="1350" b="1" dirty="0">
              <a:solidFill>
                <a:srgbClr val="082B52"/>
              </a:solidFill>
              <a:latin typeface="Yu Gothic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FAF6951-814E-7D5A-0307-1AB03D962A0D}"/>
              </a:ext>
            </a:extLst>
          </p:cNvPr>
          <p:cNvSpPr txBox="1"/>
          <p:nvPr/>
        </p:nvSpPr>
        <p:spPr>
          <a:xfrm>
            <a:off x="798066" y="5295156"/>
            <a:ext cx="7581284" cy="954107"/>
          </a:xfrm>
          <a:prstGeom prst="rect">
            <a:avLst/>
          </a:prstGeom>
          <a:noFill/>
        </p:spPr>
        <p:txBody>
          <a:bodyPr wrap="square" lIns="13716" rIns="13716">
            <a:spAutoFit/>
          </a:bodyPr>
          <a:lstStyle/>
          <a:p>
            <a:pPr lvl="0"/>
            <a:r>
              <a:rPr lang="ja-JP" altLang="en-US" sz="1300" b="1" dirty="0">
                <a:solidFill>
                  <a:srgbClr val="1B74AA"/>
                </a:solidFill>
                <a:latin typeface="Yu Gothic"/>
              </a:rPr>
              <a:t>・</a:t>
            </a:r>
            <a:r>
              <a:rPr lang="ja-JP" altLang="ja-JP" sz="1400" dirty="0"/>
              <a:t>Input the orbit, attitude, and thermal environment</a:t>
            </a:r>
            <a:endParaRPr lang="en-US" altLang="ja-JP" sz="1400" dirty="0"/>
          </a:p>
          <a:p>
            <a:pPr lvl="0"/>
            <a:r>
              <a:rPr lang="ja-JP" altLang="en-US" sz="1400" dirty="0"/>
              <a:t>・</a:t>
            </a:r>
            <a:r>
              <a:rPr lang="ja-JP" altLang="ja-JP" sz="1400" dirty="0"/>
              <a:t>Compute the temperature field and thermal deformation with Thermal Desktop / Femap</a:t>
            </a:r>
          </a:p>
          <a:p>
            <a:pPr lvl="0"/>
            <a:r>
              <a:rPr lang="ja-JP" altLang="en-US" sz="1400" dirty="0"/>
              <a:t>・</a:t>
            </a:r>
            <a:r>
              <a:rPr lang="ja-JP" altLang="ja-JP" sz="1400" dirty="0"/>
              <a:t>Generate a reference time series of the STT–LCT relative line of sight</a:t>
            </a:r>
          </a:p>
          <a:p>
            <a:pPr lvl="0"/>
            <a:r>
              <a:rPr lang="ja-JP" altLang="en-US" sz="1400" dirty="0"/>
              <a:t>・</a:t>
            </a:r>
            <a:r>
              <a:rPr lang="ja-JP" altLang="ja-JP" sz="1400" dirty="0"/>
              <a:t>Use it to train and evaluate the lightweight model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7C16B978-9C1E-13A7-AA9E-A648F846DD85}"/>
              </a:ext>
            </a:extLst>
          </p:cNvPr>
          <p:cNvSpPr/>
          <p:nvPr/>
        </p:nvSpPr>
        <p:spPr>
          <a:xfrm>
            <a:off x="8424550" y="4407410"/>
            <a:ext cx="3325887" cy="2181523"/>
          </a:xfrm>
          <a:prstGeom prst="rect">
            <a:avLst/>
          </a:prstGeom>
          <a:solidFill>
            <a:srgbClr val="EBF6FB"/>
          </a:solidFill>
          <a:ln w="16510">
            <a:solidFill>
              <a:srgbClr val="5B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8081256C-F7F3-ACBF-F316-2BF56C21ED99}"/>
              </a:ext>
            </a:extLst>
          </p:cNvPr>
          <p:cNvSpPr txBox="1"/>
          <p:nvPr/>
        </p:nvSpPr>
        <p:spPr>
          <a:xfrm>
            <a:off x="8610632" y="4483195"/>
            <a:ext cx="3042893" cy="458587"/>
          </a:xfrm>
          <a:prstGeom prst="rect">
            <a:avLst/>
          </a:prstGeom>
          <a:noFill/>
        </p:spPr>
        <p:txBody>
          <a:bodyPr wrap="square" lIns="18288" tIns="13716" rIns="18288" bIns="13716" anchor="t">
            <a:spAutoFit/>
          </a:bodyPr>
          <a:lstStyle/>
          <a:p>
            <a:r>
              <a:rPr lang="ja-JP" altLang="ja-JP" sz="1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On-orbit model operation and correction</a:t>
            </a:r>
            <a:endParaRPr sz="1350" b="1" dirty="0">
              <a:solidFill>
                <a:schemeClr val="tx2">
                  <a:lumMod val="50000"/>
                  <a:lumOff val="50000"/>
                </a:schemeClr>
              </a:solidFill>
              <a:latin typeface="Yu Gothic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3B7F91F-A2A5-C640-B9B7-E0C293FD2E18}"/>
              </a:ext>
            </a:extLst>
          </p:cNvPr>
          <p:cNvSpPr txBox="1"/>
          <p:nvPr/>
        </p:nvSpPr>
        <p:spPr>
          <a:xfrm>
            <a:off x="8503675" y="4986547"/>
            <a:ext cx="3325887" cy="1800493"/>
          </a:xfrm>
          <a:prstGeom prst="rect">
            <a:avLst/>
          </a:prstGeom>
          <a:noFill/>
        </p:spPr>
        <p:txBody>
          <a:bodyPr wrap="square" lIns="13716" rIns="13716">
            <a:spAutoFit/>
          </a:bodyPr>
          <a:lstStyle/>
          <a:p>
            <a:pPr lvl="0"/>
            <a:r>
              <a:rPr lang="ja-JP" altLang="en-US" sz="1300" b="1" dirty="0">
                <a:solidFill>
                  <a:srgbClr val="1B74AA"/>
                </a:solidFill>
                <a:latin typeface="Yu Gothic"/>
              </a:rPr>
              <a:t>・</a:t>
            </a:r>
            <a:r>
              <a:rPr lang="ja-JP" altLang="ja-JP" sz="1400" dirty="0"/>
              <a:t>Input temperature-sensor readings and operational data</a:t>
            </a:r>
          </a:p>
          <a:p>
            <a:pPr lvl="0"/>
            <a:r>
              <a:rPr lang="ja-JP" altLang="en-US" sz="1400" dirty="0"/>
              <a:t>・</a:t>
            </a:r>
            <a:r>
              <a:rPr lang="ja-JP" altLang="ja-JP" sz="1400" dirty="0"/>
              <a:t>Predict the thermal line of sight with the lightweight model</a:t>
            </a:r>
          </a:p>
          <a:p>
            <a:pPr lvl="0"/>
            <a:r>
              <a:rPr lang="ja-JP" altLang="en-US" sz="1400" dirty="0"/>
              <a:t>・</a:t>
            </a:r>
            <a:r>
              <a:rPr lang="ja-JP" altLang="ja-JP" sz="1400" dirty="0"/>
              <a:t>Correct the scan center</a:t>
            </a:r>
          </a:p>
          <a:p>
            <a:pPr lvl="0"/>
            <a:r>
              <a:rPr lang="ja-JP" altLang="en-US" sz="1400" dirty="0"/>
              <a:t>・</a:t>
            </a:r>
            <a:r>
              <a:rPr lang="ja-JP" altLang="ja-JP" sz="1400" dirty="0"/>
              <a:t>Update the model with the post-acquisition residual</a:t>
            </a:r>
          </a:p>
          <a:p>
            <a:pPr>
              <a:spcAft>
                <a:spcPts val="400"/>
              </a:spcAft>
            </a:pPr>
            <a:endParaRPr sz="1300" dirty="0">
              <a:solidFill>
                <a:srgbClr val="232B34"/>
              </a:solidFill>
              <a:latin typeface="Yu Gothic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36DA893B-6A5D-8491-F53A-E2210D64C3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87" b="12995"/>
          <a:stretch>
            <a:fillRect/>
          </a:stretch>
        </p:blipFill>
        <p:spPr>
          <a:xfrm>
            <a:off x="2334581" y="2214361"/>
            <a:ext cx="1647736" cy="1357289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1819047A-98C0-DBCE-6350-8A983AAEC8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33"/>
          <a:stretch>
            <a:fillRect/>
          </a:stretch>
        </p:blipFill>
        <p:spPr>
          <a:xfrm rot="5400000">
            <a:off x="4488279" y="2422280"/>
            <a:ext cx="1297134" cy="884875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BA07DDF1-F9AB-E784-5926-5FE0780A8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372" y="2221059"/>
            <a:ext cx="1337433" cy="12925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B5F6DDE9-52A9-8B83-27A6-0D702811575E}"/>
                  </a:ext>
                </a:extLst>
              </p:cNvPr>
              <p:cNvSpPr txBox="1"/>
              <p:nvPr/>
            </p:nvSpPr>
            <p:spPr>
              <a:xfrm>
                <a:off x="8114172" y="2642710"/>
                <a:ext cx="1886713" cy="595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1600" i="1" smtClean="0">
                          <a:latin typeface="Cambria Math" panose="02040503050406030204" pitchFamily="18" charset="0"/>
                        </a:rPr>
                        <m:t>𝛥</m:t>
                      </m:r>
                      <m:acc>
                        <m:accPr>
                          <m:chr m:val="̂"/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𝑐𝑎𝑠𝑒</m:t>
                          </m:r>
                        </m:sub>
                      </m:sSub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1600" i="1" dirty="0"/>
              </a:p>
              <a:p>
                <a:endParaRPr lang="ja-JP" altLang="en-US" sz="1600" i="1" dirty="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B5F6DDE9-52A9-8B83-27A6-0D7028115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172" y="2642710"/>
                <a:ext cx="1886713" cy="595163"/>
              </a:xfrm>
              <a:prstGeom prst="rect">
                <a:avLst/>
              </a:prstGeom>
              <a:blipFill>
                <a:blip r:embed="rId5"/>
                <a:stretch>
                  <a:fillRect t="-10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7332CE1-B2A6-BC22-937B-43097514B97B}"/>
              </a:ext>
            </a:extLst>
          </p:cNvPr>
          <p:cNvSpPr txBox="1"/>
          <p:nvPr/>
        </p:nvSpPr>
        <p:spPr>
          <a:xfrm>
            <a:off x="393445" y="2305616"/>
            <a:ext cx="1978296" cy="20313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ja-JP" altLang="en-US" sz="1400" dirty="0"/>
              <a:t>・</a:t>
            </a:r>
            <a:r>
              <a:rPr lang="ja-JP" altLang="ja-JP" sz="1400" dirty="0"/>
              <a:t>Orbit</a:t>
            </a:r>
          </a:p>
          <a:p>
            <a:pPr lvl="0"/>
            <a:r>
              <a:rPr lang="ja-JP" altLang="en-US" sz="1400" dirty="0"/>
              <a:t>・</a:t>
            </a:r>
            <a:r>
              <a:rPr lang="ja-JP" altLang="ja-JP" sz="1400" dirty="0"/>
              <a:t>Attitude</a:t>
            </a:r>
          </a:p>
          <a:p>
            <a:pPr lvl="0"/>
            <a:r>
              <a:rPr lang="ja-JP" altLang="en-US" sz="1400" dirty="0"/>
              <a:t>・</a:t>
            </a:r>
            <a:r>
              <a:rPr lang="ja-JP" altLang="ja-JP" sz="1400" dirty="0"/>
              <a:t>Component and structural layout</a:t>
            </a:r>
          </a:p>
          <a:p>
            <a:pPr lvl="0"/>
            <a:r>
              <a:rPr lang="ja-JP" altLang="en-US" sz="1400" dirty="0"/>
              <a:t>・</a:t>
            </a:r>
            <a:r>
              <a:rPr lang="ja-JP" altLang="ja-JP" sz="1400" dirty="0"/>
              <a:t>Satellite surface properties</a:t>
            </a:r>
          </a:p>
          <a:p>
            <a:pPr lvl="0"/>
            <a:r>
              <a:rPr lang="ja-JP" altLang="en-US" sz="1400" dirty="0"/>
              <a:t>・</a:t>
            </a:r>
            <a:r>
              <a:rPr lang="ja-JP" altLang="ja-JP" sz="1400" dirty="0"/>
              <a:t>Location and magnitude of internal heat dissipation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DD39B0CC-1FB9-79FD-9090-4AB4044A8E75}"/>
                  </a:ext>
                </a:extLst>
              </p:cNvPr>
              <p:cNvSpPr txBox="1"/>
              <p:nvPr/>
            </p:nvSpPr>
            <p:spPr>
              <a:xfrm>
                <a:off x="10049003" y="2631484"/>
                <a:ext cx="1749552" cy="595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ja-JP" sz="1600" i="1">
                          <a:latin typeface="Cambria Math" panose="02040503050406030204" pitchFamily="18" charset="0"/>
                        </a:rPr>
                        <m:t>𝛥</m:t>
                      </m:r>
                      <m:acc>
                        <m:accPr>
                          <m:chr m:val="̂"/>
                          <m:ctrlPr>
                            <a:rPr lang="en-US" altLang="ja-JP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 altLang="ja-JP" sz="1600" i="1" dirty="0"/>
              </a:p>
              <a:p>
                <a:endParaRPr lang="ja-JP" altLang="en-US" sz="1600" i="1" dirty="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DD39B0CC-1FB9-79FD-9090-4AB4044A8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9003" y="2631484"/>
                <a:ext cx="1749552" cy="595163"/>
              </a:xfrm>
              <a:prstGeom prst="rect">
                <a:avLst/>
              </a:prstGeom>
              <a:blipFill>
                <a:blip r:embed="rId6"/>
                <a:stretch>
                  <a:fillRect t="-1031" r="-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6739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294</Words>
  <Application>Microsoft Office PowerPoint</Application>
  <PresentationFormat>ワイド画面</PresentationFormat>
  <Paragraphs>46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Yu Gothic</vt:lpstr>
      <vt:lpstr>Yu Gothic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高本　英熙</dc:creator>
  <cp:lastModifiedBy>高本　英熙</cp:lastModifiedBy>
  <cp:revision>2</cp:revision>
  <dcterms:created xsi:type="dcterms:W3CDTF">2026-09-27T09:28:14Z</dcterms:created>
  <dcterms:modified xsi:type="dcterms:W3CDTF">2026-09-27T10:11:38Z</dcterms:modified>
</cp:coreProperties>
</file>