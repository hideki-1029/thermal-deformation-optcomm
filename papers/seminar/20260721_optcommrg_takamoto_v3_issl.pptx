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56"/>
  </p:notesMasterIdLst>
  <p:sldIdLst>
    <p:sldId id="263" r:id="rId2"/>
    <p:sldId id="257" r:id="rId3"/>
    <p:sldId id="258" r:id="rId4"/>
    <p:sldId id="282" r:id="rId5"/>
    <p:sldId id="264" r:id="rId6"/>
    <p:sldId id="266" r:id="rId7"/>
    <p:sldId id="277" r:id="rId8"/>
    <p:sldId id="283" r:id="rId9"/>
    <p:sldId id="268" r:id="rId10"/>
    <p:sldId id="270" r:id="rId11"/>
    <p:sldId id="269" r:id="rId12"/>
    <p:sldId id="275" r:id="rId13"/>
    <p:sldId id="271" r:id="rId14"/>
    <p:sldId id="272" r:id="rId15"/>
    <p:sldId id="321" r:id="rId16"/>
    <p:sldId id="273" r:id="rId17"/>
    <p:sldId id="285" r:id="rId18"/>
    <p:sldId id="287" r:id="rId19"/>
    <p:sldId id="322"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23" r:id="rId38"/>
    <p:sldId id="305" r:id="rId39"/>
    <p:sldId id="306" r:id="rId40"/>
    <p:sldId id="307" r:id="rId41"/>
    <p:sldId id="308" r:id="rId42"/>
    <p:sldId id="309" r:id="rId43"/>
    <p:sldId id="286" r:id="rId44"/>
    <p:sldId id="310" r:id="rId45"/>
    <p:sldId id="311" r:id="rId46"/>
    <p:sldId id="312" r:id="rId47"/>
    <p:sldId id="313" r:id="rId48"/>
    <p:sldId id="314" r:id="rId49"/>
    <p:sldId id="315" r:id="rId50"/>
    <p:sldId id="316" r:id="rId51"/>
    <p:sldId id="317" r:id="rId52"/>
    <p:sldId id="318" r:id="rId53"/>
    <p:sldId id="319" r:id="rId54"/>
    <p:sldId id="320" r:id="rId55"/>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25D7"/>
    <a:srgbClr val="66A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7" autoAdjust="0"/>
    <p:restoredTop sz="91484" autoAdjust="0"/>
  </p:normalViewPr>
  <p:slideViewPr>
    <p:cSldViewPr snapToGrid="0">
      <p:cViewPr varScale="1">
        <p:scale>
          <a:sx n="34" d="100"/>
          <a:sy n="34" d="100"/>
        </p:scale>
        <p:origin x="42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80C97-2400-5344-89F3-3CED47A68B44}" type="datetimeFigureOut">
              <a:rPr kumimoji="1" lang="ja-JP" altLang="en-US" smtClean="0"/>
              <a:t>2026/9/28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C54EC6-2177-1447-9798-A1A3B8046948}" type="slidenum">
              <a:rPr kumimoji="1" lang="ja-JP" altLang="en-US" smtClean="0"/>
              <a:t>‹#›</a:t>
            </a:fld>
            <a:endParaRPr kumimoji="1" lang="ja-JP" altLang="en-US"/>
          </a:p>
        </p:txBody>
      </p:sp>
    </p:spTree>
    <p:extLst>
      <p:ext uri="{BB962C8B-B14F-4D97-AF65-F5344CB8AC3E}">
        <p14:creationId xmlns:p14="http://schemas.microsoft.com/office/powerpoint/2010/main" val="38536270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7月6日の発表以降の進捗として、階層ΔTモデル、PAT評価、軌道予測誤差の導入を報告する。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冒頭で前回までの位置づけと今回のゴールを共有する。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本日は完成報告ではなく設計レビュー。モデル、PAT、Adaptiveの3点についてフィードバックをもらいたい。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光RG向けの復習。熱変形自体ではなくSTT基準とLCT光軸の差が粗捕捉開始時のscan-center errorになる。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7月6日との違いを一枚で示す。当時の25.8秒は条件が異なる予備結果なので今回とは直接比較しない。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dirty="0" err="1"/>
              <a:t>全体フロ</a:t>
            </a:r>
            <a:r>
              <a:rPr dirty="0"/>
              <a:t>ー。TD/</a:t>
            </a:r>
            <a:r>
              <a:rPr dirty="0" err="1"/>
              <a:t>Femapは高忠実度参照で、軌道上では軽量モデルのみを使う</a:t>
            </a:r>
            <a:r>
              <a:rPr dirty="0"/>
              <a:t>。</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02: Thermo-structural analysis</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dirty="0" err="1"/>
              <a:t>簡略shell衛星。LCTはMZ、STTはPZ、PROP</a:t>
            </a:r>
            <a:r>
              <a:rPr dirty="0"/>
              <a:t>/</a:t>
            </a:r>
            <a:r>
              <a:rPr dirty="0" err="1"/>
              <a:t>PCDUは±Y側</a:t>
            </a:r>
            <a:r>
              <a:rPr dirty="0"/>
              <a:t>。</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基本3軌道。先頭1軌道をモデル同定、残り2軌道をtestに用いる。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発熱モードはLevel 2の説明変数。半電力case22はON/OFFフラグの限界を確認する。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実機詳細モデルではない。構造・拘束条件依存性が残る点を明示する。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PAT主入力はfar-field relative rotation。並進成分を含む角度は診断用。</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21ケースはいずれも同じ基本構造の感度ケースで、別機体への汎化ではない。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光学特性未反映やmapper混線を経験し、ケースID管理を強化した。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02541-F1A3-D1BA-31E3-AEDFAF8D0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83E82-966C-7F11-55A4-B9E813E6A98F}"/>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13536858-E9C3-BFD0-3D28-CF5344F9C22E}"/>
              </a:ext>
            </a:extLst>
          </p:cNvPr>
          <p:cNvSpPr>
            <a:spLocks noGrp="1"/>
          </p:cNvSpPr>
          <p:nvPr>
            <p:ph type="body" sz="quarter" idx="3"/>
          </p:nvPr>
        </p:nvSpPr>
        <p:spPr/>
        <p:txBody>
          <a:bodyPr/>
          <a:lstStyle/>
          <a:p>
            <a:r>
              <a:t>Fourierよりも物理入力で軌道条件の変化を扱いたい。</a:t>
            </a:r>
          </a:p>
        </p:txBody>
      </p:sp>
      <p:sp>
        <p:nvSpPr>
          <p:cNvPr id="4" name="Slide Number Placeholder 3">
            <a:extLst>
              <a:ext uri="{FF2B5EF4-FFF2-40B4-BE49-F238E27FC236}">
                <a16:creationId xmlns:a16="http://schemas.microsoft.com/office/drawing/2014/main" id="{4988FFD8-2563-0C26-AF09-06CC675A6156}"/>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578787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03: Lightweight LOS model</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Fourierよりも物理入力で軌道条件の変化を扱いたい。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Level 1は支配軸のみ。非支配軸は現状モデル外。</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B42EA-D360-34D6-60C7-03B284699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F6A70-B226-B8D0-76C5-5C29EF418310}"/>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8F2AF636-D9A0-B111-F11B-3033CC3C424E}"/>
              </a:ext>
            </a:extLst>
          </p:cNvPr>
          <p:cNvSpPr>
            <a:spLocks noGrp="1"/>
          </p:cNvSpPr>
          <p:nvPr>
            <p:ph type="body" sz="quarter" idx="3"/>
          </p:nvPr>
        </p:nvSpPr>
        <p:spPr/>
        <p:txBody>
          <a:bodyPr/>
          <a:lstStyle/>
          <a:p>
            <a:r>
              <a:t>Level 1は支配軸のみ。非支配軸は現状モデル外。</a:t>
            </a:r>
          </a:p>
        </p:txBody>
      </p:sp>
      <p:sp>
        <p:nvSpPr>
          <p:cNvPr id="4" name="Slide Number Placeholder 3">
            <a:extLst>
              <a:ext uri="{FF2B5EF4-FFF2-40B4-BE49-F238E27FC236}">
                <a16:creationId xmlns:a16="http://schemas.microsoft.com/office/drawing/2014/main" id="{4E4A3804-A38E-981D-0A3F-5E89C2E6D807}"/>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7906083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現在は発熱フラグをMY/PYで有効化し、MX/PXでは差が小さいため無効。</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bはLOOだがa_sharedは対象ケースを含む中央値で完全LOOではない。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aの安定性がモデルの核心。Adaptiveで毎回aを学ぶ必要性は低そう。</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最大LOO残差は半電力case22で13.2 µrad。</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半電力ではaは合うが、ON/OFF Level 2では中間bを表せない。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モデル精度の主数字。統計量の違いを明示する。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ΔT一次関係はJANUSにある。差分はバス相対LOS、階層DC、粗捕捉性能への接続。</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モデル結果からAdaptiveの対象を再整理する。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04: PAT evaluation and orbit error</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非熱誤差は補正対象外で残る。熱モデル能力とシステム性能を分けて読む。</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軌道のみ実データ根拠が強く、他は代表値の簡易モデル。</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予測時刻より未来のTLEを使わない。現状は代表外乱としてcyclicに載せる。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熱も軌道も軌道位相依存。低周波残差を熱として取り込む説明は修正する。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Staticが良いのはDC支配ケースが多いから。平均時間は成功試行条件付き。</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21ケース単純平均。MY/PYで大幅改善、PX/MXは軌道誤差支配。</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0A81C-A4B4-7C6D-6F53-FC81D68D7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0F5F1-846F-128B-2D60-714A55990711}"/>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6AF412CB-073C-003A-A205-A6FDAACACC8A}"/>
              </a:ext>
            </a:extLst>
          </p:cNvPr>
          <p:cNvSpPr>
            <a:spLocks noGrp="1"/>
          </p:cNvSpPr>
          <p:nvPr>
            <p:ph type="body" sz="quarter" idx="3"/>
          </p:nvPr>
        </p:nvSpPr>
        <p:spPr/>
        <p:txBody>
          <a:bodyPr/>
          <a:lstStyle/>
          <a:p>
            <a:r>
              <a:t>全平均だけでなくケース依存性を見せる。MXをどう扱うか議論したい。</a:t>
            </a:r>
          </a:p>
        </p:txBody>
      </p:sp>
      <p:sp>
        <p:nvSpPr>
          <p:cNvPr id="4" name="Slide Number Placeholder 3">
            <a:extLst>
              <a:ext uri="{FF2B5EF4-FFF2-40B4-BE49-F238E27FC236}">
                <a16:creationId xmlns:a16="http://schemas.microsoft.com/office/drawing/2014/main" id="{7529027B-7217-C99A-4151-41A6CB671D57}"/>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9502905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全平均だけでなくケース依存性を見せる。MXをどう扱うか議論したい。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05: Discussion</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ここから議論。周波数分離ではなく事前情報を使う状態推定が必要。</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本編まとめ。ここで議論へ移る。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A: Appendix</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見かけのRMSE改善より、共線で係数解釈が壊れることを問題視した。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関連研究の位置づけ</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全解析ケースの設計</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熱光学特性</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LOS定義の比較</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Level-2係数と解釈</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モデルの難しいケース</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軌道予測誤差の仮定</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STT-frame射影結果</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PATスキャンの注意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Adaptive候補</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主要参考文献</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77201" y="7340600"/>
            <a:ext cx="12431685" cy="2125436"/>
          </a:xfrm>
        </p:spPr>
        <p:txBody>
          <a:bodyPr anchor="b"/>
          <a:lstStyle>
            <a:lvl1pPr algn="l">
              <a:defRPr sz="4800" spc="300"/>
            </a:lvl1pPr>
          </a:lstStyle>
          <a:p>
            <a:r>
              <a:rPr lang="ja-JP" altLang="en-US"/>
              <a:t>マスター タイトルの書式設定</a:t>
            </a:r>
            <a:endParaRPr lang="en-US" dirty="0"/>
          </a:p>
        </p:txBody>
      </p:sp>
      <p:sp>
        <p:nvSpPr>
          <p:cNvPr id="3" name="Subtitle 2"/>
          <p:cNvSpPr>
            <a:spLocks noGrp="1"/>
          </p:cNvSpPr>
          <p:nvPr>
            <p:ph type="subTitle" idx="1"/>
          </p:nvPr>
        </p:nvSpPr>
        <p:spPr>
          <a:xfrm>
            <a:off x="9677201" y="9794966"/>
            <a:ext cx="12431684" cy="2351314"/>
          </a:xfrm>
        </p:spPr>
        <p:txBody>
          <a:bodyPr/>
          <a:lstStyle>
            <a:lvl1pPr marL="0" indent="0" algn="l">
              <a:lnSpc>
                <a:spcPct val="50000"/>
              </a:lnSpc>
              <a:buNone/>
              <a:defRPr sz="3600" b="0">
                <a:solidFill>
                  <a:schemeClr val="tx2"/>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23E69BD-F0A9-D945-85B5-A92D8C4A6243}"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9" name="テキスト プレースホルダー 8">
            <a:extLst>
              <a:ext uri="{FF2B5EF4-FFF2-40B4-BE49-F238E27FC236}">
                <a16:creationId xmlns:a16="http://schemas.microsoft.com/office/drawing/2014/main" id="{ADAD6F10-9E3C-081C-FAC9-2F96D835D91D}"/>
              </a:ext>
            </a:extLst>
          </p:cNvPr>
          <p:cNvSpPr>
            <a:spLocks noGrp="1"/>
          </p:cNvSpPr>
          <p:nvPr>
            <p:ph type="body" sz="quarter" idx="13"/>
          </p:nvPr>
        </p:nvSpPr>
        <p:spPr>
          <a:xfrm>
            <a:off x="16483539" y="6261101"/>
            <a:ext cx="5625347" cy="698499"/>
          </a:xfrm>
        </p:spPr>
        <p:txBody>
          <a:bodyPr/>
          <a:lstStyle>
            <a:lvl1pPr algn="r">
              <a:buNone/>
              <a:defRPr sz="4000" b="0">
                <a:solidFill>
                  <a:schemeClr val="tx2"/>
                </a:solidFill>
              </a:defRPr>
            </a:lvl1pPr>
          </a:lstStyle>
          <a:p>
            <a:pPr lvl="0"/>
            <a:r>
              <a:rPr kumimoji="1" lang="ja-JP" altLang="en-US"/>
              <a:t>マスター テキストの書式設定</a:t>
            </a:r>
          </a:p>
        </p:txBody>
      </p:sp>
      <p:sp>
        <p:nvSpPr>
          <p:cNvPr id="10" name="テキスト プレースホルダー 8">
            <a:extLst>
              <a:ext uri="{FF2B5EF4-FFF2-40B4-BE49-F238E27FC236}">
                <a16:creationId xmlns:a16="http://schemas.microsoft.com/office/drawing/2014/main" id="{3A47DA29-0B22-B527-E246-85A23FDB4324}"/>
              </a:ext>
            </a:extLst>
          </p:cNvPr>
          <p:cNvSpPr>
            <a:spLocks noGrp="1"/>
          </p:cNvSpPr>
          <p:nvPr>
            <p:ph type="body" sz="quarter" idx="14"/>
          </p:nvPr>
        </p:nvSpPr>
        <p:spPr>
          <a:xfrm>
            <a:off x="9677201" y="6261101"/>
            <a:ext cx="5625347" cy="698499"/>
          </a:xfrm>
        </p:spPr>
        <p:txBody>
          <a:bodyPr/>
          <a:lstStyle>
            <a:lvl1pPr algn="l">
              <a:buNone/>
              <a:defRPr sz="4000" b="0">
                <a:solidFill>
                  <a:schemeClr val="tx2"/>
                </a:solidFill>
              </a:defRPr>
            </a:lvl1pPr>
          </a:lstStyle>
          <a:p>
            <a:pPr lvl="0"/>
            <a:r>
              <a:rPr kumimoji="1" lang="ja-JP" altLang="en-US"/>
              <a:t>マスター テキストの書式設定</a:t>
            </a:r>
          </a:p>
        </p:txBody>
      </p:sp>
      <p:sp>
        <p:nvSpPr>
          <p:cNvPr id="11" name="テキスト プレースホルダー 8">
            <a:extLst>
              <a:ext uri="{FF2B5EF4-FFF2-40B4-BE49-F238E27FC236}">
                <a16:creationId xmlns:a16="http://schemas.microsoft.com/office/drawing/2014/main" id="{3ABD93C0-C51C-2948-0F33-2EF4B6841AEC}"/>
              </a:ext>
            </a:extLst>
          </p:cNvPr>
          <p:cNvSpPr>
            <a:spLocks noGrp="1"/>
          </p:cNvSpPr>
          <p:nvPr>
            <p:ph type="body" sz="quarter" idx="15"/>
          </p:nvPr>
        </p:nvSpPr>
        <p:spPr>
          <a:xfrm>
            <a:off x="16483538" y="5413377"/>
            <a:ext cx="5625347" cy="698499"/>
          </a:xfrm>
        </p:spPr>
        <p:txBody>
          <a:bodyPr/>
          <a:lstStyle>
            <a:lvl1pPr algn="r">
              <a:buNone/>
              <a:defRPr sz="4000" b="0">
                <a:solidFill>
                  <a:schemeClr val="tx2"/>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29912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08300" y="4192765"/>
            <a:ext cx="4965808" cy="1795335"/>
          </a:xfrm>
        </p:spPr>
        <p:txBody>
          <a:bodyPr anchor="b"/>
          <a:lstStyle>
            <a:lvl1pPr algn="ctr">
              <a:defRPr sz="5600">
                <a:solidFill>
                  <a:schemeClr val="bg1"/>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676289" y="7727900"/>
            <a:ext cx="21029831" cy="3000374"/>
          </a:xfrm>
        </p:spPr>
        <p:txBody>
          <a:bodyPr/>
          <a:lstStyle>
            <a:lvl1pPr marL="0" indent="0" algn="ctr">
              <a:buNone/>
              <a:defRPr sz="5600" spc="300">
                <a:solidFill>
                  <a:schemeClr val="bg1"/>
                </a:solidFill>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B9E95FB-2235-2F42-91D0-8B9F16BE7B80}"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872E8AAC-513B-BB73-EF3E-6F21C4AF6A77}"/>
              </a:ext>
            </a:extLst>
          </p:cNvPr>
          <p:cNvCxnSpPr>
            <a:cxnSpLocks/>
          </p:cNvCxnSpPr>
          <p:nvPr userDrawn="1"/>
        </p:nvCxnSpPr>
        <p:spPr>
          <a:xfrm>
            <a:off x="11254952" y="6858000"/>
            <a:ext cx="1872509"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0003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815378" y="3104147"/>
            <a:ext cx="23020980" cy="9249779"/>
          </a:xfrm>
        </p:spPr>
        <p:txBody>
          <a:bodyPr/>
          <a:lstStyle>
            <a:lvl1pPr>
              <a:defRPr b="1" i="0">
                <a:latin typeface="Yu Gothic" panose="020B0400000000000000" pitchFamily="34" charset="-128"/>
                <a:ea typeface="Yu Gothic" panose="020B0400000000000000" pitchFamily="34" charset="-128"/>
              </a:defRPr>
            </a:lvl1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B8ED544-ACEE-1142-A4DF-052F81DCAF13}"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9" name="正方形/長方形 8">
            <a:extLst>
              <a:ext uri="{FF2B5EF4-FFF2-40B4-BE49-F238E27FC236}">
                <a16:creationId xmlns:a16="http://schemas.microsoft.com/office/drawing/2014/main" id="{71B145F9-61C6-1870-CE50-37506B7E4EF4}"/>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57968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A8DA76-1C10-5547-91CE-253BD16E32D7}"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182735"/>
            <a:ext cx="11364543"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3182735"/>
            <a:ext cx="11364543"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9D7CF2C5-496E-3F41-87A5-8BF20107D1CA}"/>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8D55661E-ACB1-18CB-79CA-CE03DAB48599}"/>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3714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DC3E895-CCE5-A241-A85F-670DB4C916C8}"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92833"/>
            <a:ext cx="11364543" cy="8377768"/>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4092833"/>
            <a:ext cx="11364543" cy="8377768"/>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1" name="テキスト プレースホルダー 10">
            <a:extLst>
              <a:ext uri="{FF2B5EF4-FFF2-40B4-BE49-F238E27FC236}">
                <a16:creationId xmlns:a16="http://schemas.microsoft.com/office/drawing/2014/main" id="{685F9C02-29EC-4168-A599-AFD3B71ED232}"/>
              </a:ext>
            </a:extLst>
          </p:cNvPr>
          <p:cNvSpPr>
            <a:spLocks noGrp="1"/>
          </p:cNvSpPr>
          <p:nvPr>
            <p:ph type="body" sz="quarter" idx="14"/>
          </p:nvPr>
        </p:nvSpPr>
        <p:spPr>
          <a:xfrm>
            <a:off x="504114" y="3213462"/>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2" name="テキスト プレースホルダー 10">
            <a:extLst>
              <a:ext uri="{FF2B5EF4-FFF2-40B4-BE49-F238E27FC236}">
                <a16:creationId xmlns:a16="http://schemas.microsoft.com/office/drawing/2014/main" id="{6165EC21-36B4-4CED-0569-C34ACFFC9B2E}"/>
              </a:ext>
            </a:extLst>
          </p:cNvPr>
          <p:cNvSpPr>
            <a:spLocks noGrp="1"/>
          </p:cNvSpPr>
          <p:nvPr>
            <p:ph type="body" sz="quarter" idx="15"/>
          </p:nvPr>
        </p:nvSpPr>
        <p:spPr>
          <a:xfrm>
            <a:off x="12429459" y="3213462"/>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BD06260A-761F-95EE-B2CA-F7236CCF8AA8}"/>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3" name="正方形/長方形 12">
            <a:extLst>
              <a:ext uri="{FF2B5EF4-FFF2-40B4-BE49-F238E27FC236}">
                <a16:creationId xmlns:a16="http://schemas.microsoft.com/office/drawing/2014/main" id="{3685353A-F7C6-F829-267C-FA087B7BBA8F}"/>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06196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F4C7F2-45E9-0742-99C2-D62F245DFEC9}"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Content Placeholder 2">
            <a:extLst>
              <a:ext uri="{FF2B5EF4-FFF2-40B4-BE49-F238E27FC236}">
                <a16:creationId xmlns:a16="http://schemas.microsoft.com/office/drawing/2014/main" id="{9D8C0F6B-7CC3-BA66-8706-C8D1A03DEF88}"/>
              </a:ext>
            </a:extLst>
          </p:cNvPr>
          <p:cNvSpPr>
            <a:spLocks noGrp="1"/>
          </p:cNvSpPr>
          <p:nvPr>
            <p:ph sz="half" idx="14"/>
          </p:nvPr>
        </p:nvSpPr>
        <p:spPr>
          <a:xfrm>
            <a:off x="8466772"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Content Placeholder 2">
            <a:extLst>
              <a:ext uri="{FF2B5EF4-FFF2-40B4-BE49-F238E27FC236}">
                <a16:creationId xmlns:a16="http://schemas.microsoft.com/office/drawing/2014/main" id="{E8965DEA-F2AC-C400-E7ED-BAFF867547B1}"/>
              </a:ext>
            </a:extLst>
          </p:cNvPr>
          <p:cNvSpPr>
            <a:spLocks noGrp="1"/>
          </p:cNvSpPr>
          <p:nvPr>
            <p:ph sz="half" idx="15"/>
          </p:nvPr>
        </p:nvSpPr>
        <p:spPr>
          <a:xfrm>
            <a:off x="16387489"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Title 1">
            <a:extLst>
              <a:ext uri="{FF2B5EF4-FFF2-40B4-BE49-F238E27FC236}">
                <a16:creationId xmlns:a16="http://schemas.microsoft.com/office/drawing/2014/main" id="{BD0E9647-9028-AEF2-D4FC-0AC5B2CFAF7E}"/>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93A54D1E-D7CD-DFE1-2E29-70A06AFEC982}"/>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8178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C579897-8C2A-CB44-93BE-9BFBC7559B74}"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テキスト プレースホルダー 10">
            <a:extLst>
              <a:ext uri="{FF2B5EF4-FFF2-40B4-BE49-F238E27FC236}">
                <a16:creationId xmlns:a16="http://schemas.microsoft.com/office/drawing/2014/main" id="{2D417ACA-1B7B-F655-60FA-EDD80F82E67F}"/>
              </a:ext>
            </a:extLst>
          </p:cNvPr>
          <p:cNvSpPr>
            <a:spLocks noGrp="1"/>
          </p:cNvSpPr>
          <p:nvPr>
            <p:ph type="body" sz="quarter" idx="16"/>
          </p:nvPr>
        </p:nvSpPr>
        <p:spPr>
          <a:xfrm>
            <a:off x="504114"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4" name="Content Placeholder 2">
            <a:extLst>
              <a:ext uri="{FF2B5EF4-FFF2-40B4-BE49-F238E27FC236}">
                <a16:creationId xmlns:a16="http://schemas.microsoft.com/office/drawing/2014/main" id="{D98EEB2B-456E-ACC0-29AE-C347BAE7F46F}"/>
              </a:ext>
            </a:extLst>
          </p:cNvPr>
          <p:cNvSpPr>
            <a:spLocks noGrp="1"/>
          </p:cNvSpPr>
          <p:nvPr>
            <p:ph sz="half" idx="17"/>
          </p:nvPr>
        </p:nvSpPr>
        <p:spPr>
          <a:xfrm>
            <a:off x="8449492"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テキスト プレースホルダー 10">
            <a:extLst>
              <a:ext uri="{FF2B5EF4-FFF2-40B4-BE49-F238E27FC236}">
                <a16:creationId xmlns:a16="http://schemas.microsoft.com/office/drawing/2014/main" id="{6F409C7A-D2E8-2D36-6086-331B6DCB40DF}"/>
              </a:ext>
            </a:extLst>
          </p:cNvPr>
          <p:cNvSpPr>
            <a:spLocks noGrp="1"/>
          </p:cNvSpPr>
          <p:nvPr>
            <p:ph type="body" sz="quarter" idx="18"/>
          </p:nvPr>
        </p:nvSpPr>
        <p:spPr>
          <a:xfrm>
            <a:off x="8404925"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6" name="Content Placeholder 2">
            <a:extLst>
              <a:ext uri="{FF2B5EF4-FFF2-40B4-BE49-F238E27FC236}">
                <a16:creationId xmlns:a16="http://schemas.microsoft.com/office/drawing/2014/main" id="{206D87F6-15FE-35D7-1017-BB745C23F612}"/>
              </a:ext>
            </a:extLst>
          </p:cNvPr>
          <p:cNvSpPr>
            <a:spLocks noGrp="1"/>
          </p:cNvSpPr>
          <p:nvPr>
            <p:ph sz="half" idx="19"/>
          </p:nvPr>
        </p:nvSpPr>
        <p:spPr>
          <a:xfrm>
            <a:off x="16350303"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テキスト プレースホルダー 10">
            <a:extLst>
              <a:ext uri="{FF2B5EF4-FFF2-40B4-BE49-F238E27FC236}">
                <a16:creationId xmlns:a16="http://schemas.microsoft.com/office/drawing/2014/main" id="{3B277172-6A10-80CC-49F6-E3A8C9458398}"/>
              </a:ext>
            </a:extLst>
          </p:cNvPr>
          <p:cNvSpPr>
            <a:spLocks noGrp="1"/>
          </p:cNvSpPr>
          <p:nvPr>
            <p:ph type="body" sz="quarter" idx="20"/>
          </p:nvPr>
        </p:nvSpPr>
        <p:spPr>
          <a:xfrm>
            <a:off x="16305736"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2194081A-47C8-EFEA-0CF4-1F31377C0986}"/>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34DF2C9F-ACE0-585B-AAD3-3DD14251BADD}"/>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5588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509540-48D4-DC4E-A020-784E13A6C686}"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283060"/>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3283060"/>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184309"/>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184309"/>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3F385C3C-D291-ECD3-9330-C9FEFA38FAEF}"/>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2AA52CC1-C979-7DAC-F8FF-07CEF0898376}"/>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7493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509540-48D4-DC4E-A020-784E13A6C686}"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63353"/>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テキスト プレースホルダー 10">
            <a:extLst>
              <a:ext uri="{FF2B5EF4-FFF2-40B4-BE49-F238E27FC236}">
                <a16:creationId xmlns:a16="http://schemas.microsoft.com/office/drawing/2014/main" id="{C9B2C448-12D1-42AE-F7D0-C8AED70F60CB}"/>
              </a:ext>
            </a:extLst>
          </p:cNvPr>
          <p:cNvSpPr>
            <a:spLocks noGrp="1"/>
          </p:cNvSpPr>
          <p:nvPr>
            <p:ph type="body" sz="quarter" idx="16"/>
          </p:nvPr>
        </p:nvSpPr>
        <p:spPr>
          <a:xfrm>
            <a:off x="504114" y="3176140"/>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4063353"/>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テキスト プレースホルダー 10">
            <a:extLst>
              <a:ext uri="{FF2B5EF4-FFF2-40B4-BE49-F238E27FC236}">
                <a16:creationId xmlns:a16="http://schemas.microsoft.com/office/drawing/2014/main" id="{C1871C9F-CBB5-6510-4C84-37F671317ED2}"/>
              </a:ext>
            </a:extLst>
          </p:cNvPr>
          <p:cNvSpPr>
            <a:spLocks noGrp="1"/>
          </p:cNvSpPr>
          <p:nvPr>
            <p:ph type="body" sz="quarter" idx="18"/>
          </p:nvPr>
        </p:nvSpPr>
        <p:spPr>
          <a:xfrm>
            <a:off x="12432350" y="3176140"/>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964602"/>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テキスト プレースホルダー 10">
            <a:extLst>
              <a:ext uri="{FF2B5EF4-FFF2-40B4-BE49-F238E27FC236}">
                <a16:creationId xmlns:a16="http://schemas.microsoft.com/office/drawing/2014/main" id="{E5E7CD5A-D74B-3BF3-1D34-C6BC3F85556B}"/>
              </a:ext>
            </a:extLst>
          </p:cNvPr>
          <p:cNvSpPr>
            <a:spLocks noGrp="1"/>
          </p:cNvSpPr>
          <p:nvPr>
            <p:ph type="body" sz="quarter" idx="20"/>
          </p:nvPr>
        </p:nvSpPr>
        <p:spPr>
          <a:xfrm>
            <a:off x="504114" y="8077389"/>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964602"/>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8" name="テキスト プレースホルダー 10">
            <a:extLst>
              <a:ext uri="{FF2B5EF4-FFF2-40B4-BE49-F238E27FC236}">
                <a16:creationId xmlns:a16="http://schemas.microsoft.com/office/drawing/2014/main" id="{2F9C9DEC-0751-3E49-640C-C623BA98351A}"/>
              </a:ext>
            </a:extLst>
          </p:cNvPr>
          <p:cNvSpPr>
            <a:spLocks noGrp="1"/>
          </p:cNvSpPr>
          <p:nvPr>
            <p:ph type="body" sz="quarter" idx="22"/>
          </p:nvPr>
        </p:nvSpPr>
        <p:spPr>
          <a:xfrm>
            <a:off x="12432350" y="8077389"/>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4428B87E-4E5C-BD4A-B7B9-5CD017C2316F}"/>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67564866-3642-1515-F78F-EBC63CFFFD78}"/>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78096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76291" y="5357813"/>
            <a:ext cx="21029831" cy="3000374"/>
          </a:xfrm>
        </p:spPr>
        <p:txBody>
          <a:bodyPr anchor="ctr"/>
          <a:lstStyle>
            <a:lvl1pPr marL="0" indent="0" algn="ctr">
              <a:buNone/>
              <a:defRPr sz="5600" spc="300">
                <a:solidFill>
                  <a:schemeClr val="bg1"/>
                </a:solidFill>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D96E1F-697B-864D-A8BC-B9F203AEA5AC}"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Tree>
    <p:extLst>
      <p:ext uri="{BB962C8B-B14F-4D97-AF65-F5344CB8AC3E}">
        <p14:creationId xmlns:p14="http://schemas.microsoft.com/office/powerpoint/2010/main" val="2341924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052" y="1391479"/>
            <a:ext cx="23290306" cy="1096244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33846FE-1092-FD42-9AC0-B69E5809E0EF}"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908457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A1A28FF6-6ABD-05E0-14A5-3CA8FD766292}"/>
              </a:ext>
            </a:extLst>
          </p:cNvPr>
          <p:cNvSpPr>
            <a:spLocks noGrp="1"/>
          </p:cNvSpPr>
          <p:nvPr>
            <p:ph type="dt" sz="half" idx="10"/>
          </p:nvPr>
        </p:nvSpPr>
        <p:spPr/>
        <p:txBody>
          <a:bodyPr/>
          <a:lstStyle/>
          <a:p>
            <a:fld id="{7A6230E5-DC19-8048-9011-93E4E558FEAD}" type="datetime1">
              <a:rPr kumimoji="1" lang="ja-JP" altLang="en-US" smtClean="0"/>
              <a:t>2026/9/28</a:t>
            </a:fld>
            <a:endParaRPr kumimoji="1" lang="ja-JP" altLang="en-US"/>
          </a:p>
        </p:txBody>
      </p:sp>
      <p:sp>
        <p:nvSpPr>
          <p:cNvPr id="4" name="フッター プレースホルダー 3">
            <a:extLst>
              <a:ext uri="{FF2B5EF4-FFF2-40B4-BE49-F238E27FC236}">
                <a16:creationId xmlns:a16="http://schemas.microsoft.com/office/drawing/2014/main" id="{5FB69A14-0AF9-A649-3ABB-D4052E786CE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06DBC31-6D39-6C3E-5F31-00E86E0A20B1}"/>
              </a:ext>
            </a:extLst>
          </p:cNvPr>
          <p:cNvSpPr>
            <a:spLocks noGrp="1"/>
          </p:cNvSpPr>
          <p:nvPr>
            <p:ph type="sldNum" sz="quarter" idx="12"/>
          </p:nvPr>
        </p:nvSpPr>
        <p:spPr/>
        <p:txBody>
          <a:bodyPr/>
          <a:lstStyle/>
          <a:p>
            <a:fld id="{E67BFEE9-6A35-CF42-A39A-CD481C3507E3}" type="slidenum">
              <a:rPr kumimoji="1" lang="ja-JP" altLang="en-US" smtClean="0"/>
              <a:pPr/>
              <a:t>‹#›</a:t>
            </a:fld>
            <a:endParaRPr kumimoji="1" lang="ja-JP" altLang="en-US" sz="3600"/>
          </a:p>
        </p:txBody>
      </p:sp>
    </p:spTree>
    <p:extLst>
      <p:ext uri="{BB962C8B-B14F-4D97-AF65-F5344CB8AC3E}">
        <p14:creationId xmlns:p14="http://schemas.microsoft.com/office/powerpoint/2010/main" val="2870487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355492" y="12744452"/>
            <a:ext cx="5486043"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7A6230E5-DC19-8048-9011-93E4E558FEAD}" type="datetime1">
              <a:rPr kumimoji="1" lang="ja-JP" altLang="en-US" smtClean="0"/>
              <a:t>2026/9/28</a:t>
            </a:fld>
            <a:endParaRPr kumimoji="1" lang="ja-JP" alt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18540879" y="12712701"/>
            <a:ext cx="5486043" cy="730250"/>
          </a:xfrm>
          <a:prstGeom prst="rect">
            <a:avLst/>
          </a:prstGeom>
        </p:spPr>
        <p:txBody>
          <a:bodyPr vert="horz" lIns="91440" tIns="45720" rIns="91440" bIns="45720" rtlCol="0" anchor="ctr"/>
          <a:lstStyle>
            <a:lvl1pPr algn="r">
              <a:defRPr sz="3600">
                <a:solidFill>
                  <a:schemeClr val="tx1">
                    <a:tint val="82000"/>
                  </a:schemeClr>
                </a:solidFill>
              </a:defRPr>
            </a:lvl1pPr>
          </a:lstStyle>
          <a:p>
            <a:fld id="{E67BFEE9-6A35-CF42-A39A-CD481C3507E3}" type="slidenum">
              <a:rPr kumimoji="1" lang="ja-JP" altLang="en-US" smtClean="0"/>
              <a:pPr/>
              <a:t>‹#›</a:t>
            </a:fld>
            <a:endParaRPr kumimoji="1" lang="ja-JP" altLang="en-US" sz="3600"/>
          </a:p>
        </p:txBody>
      </p:sp>
    </p:spTree>
    <p:extLst>
      <p:ext uri="{BB962C8B-B14F-4D97-AF65-F5344CB8AC3E}">
        <p14:creationId xmlns:p14="http://schemas.microsoft.com/office/powerpoint/2010/main" val="616459202"/>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674" r:id="rId3"/>
    <p:sldLayoutId id="2147483679" r:id="rId4"/>
    <p:sldLayoutId id="2147483683" r:id="rId5"/>
    <p:sldLayoutId id="2147483684" r:id="rId6"/>
    <p:sldLayoutId id="2147483680" r:id="rId7"/>
    <p:sldLayoutId id="2147483681" r:id="rId8"/>
    <p:sldLayoutId id="2147483686" r:id="rId9"/>
    <p:sldLayoutId id="2147483685" r:id="rId10"/>
    <p:sldLayoutId id="2147483682" r:id="rId11"/>
    <p:sldLayoutId id="2147483687" r:id="rId12"/>
  </p:sldLayoutIdLst>
  <p:hf hdr="0" ftr="0" dt="0"/>
  <p:txStyles>
    <p:titleStyle>
      <a:lvl1pPr algn="l" defTabSz="1828709" rtl="0" eaLnBrk="1" latinLnBrk="0" hangingPunct="1">
        <a:lnSpc>
          <a:spcPct val="90000"/>
        </a:lnSpc>
        <a:spcBef>
          <a:spcPct val="0"/>
        </a:spcBef>
        <a:buNone/>
        <a:defRPr kumimoji="1" sz="6400" b="1" kern="1200" spc="300">
          <a:solidFill>
            <a:schemeClr val="tx1"/>
          </a:solidFill>
          <a:latin typeface="+mn-ea"/>
          <a:ea typeface="+mn-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kumimoji="1" sz="4800" b="1"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en-US"/>
      </a:defPPr>
      <a:lvl1pPr marL="0" algn="l" defTabSz="1828709" rtl="0" eaLnBrk="1" latinLnBrk="0" hangingPunct="1">
        <a:defRPr kumimoji="1" sz="3600" kern="1200">
          <a:solidFill>
            <a:schemeClr val="tx1"/>
          </a:solidFill>
          <a:latin typeface="+mn-lt"/>
          <a:ea typeface="+mn-ea"/>
          <a:cs typeface="+mn-cs"/>
        </a:defRPr>
      </a:lvl1pPr>
      <a:lvl2pPr marL="914354" algn="l" defTabSz="1828709" rtl="0" eaLnBrk="1" latinLnBrk="0" hangingPunct="1">
        <a:defRPr kumimoji="1" sz="3600" kern="1200">
          <a:solidFill>
            <a:schemeClr val="tx1"/>
          </a:solidFill>
          <a:latin typeface="+mn-lt"/>
          <a:ea typeface="+mn-ea"/>
          <a:cs typeface="+mn-cs"/>
        </a:defRPr>
      </a:lvl2pPr>
      <a:lvl3pPr marL="1828709" algn="l" defTabSz="1828709" rtl="0" eaLnBrk="1" latinLnBrk="0" hangingPunct="1">
        <a:defRPr kumimoji="1" sz="3600" kern="1200">
          <a:solidFill>
            <a:schemeClr val="tx1"/>
          </a:solidFill>
          <a:latin typeface="+mn-lt"/>
          <a:ea typeface="+mn-ea"/>
          <a:cs typeface="+mn-cs"/>
        </a:defRPr>
      </a:lvl3pPr>
      <a:lvl4pPr marL="2743063" algn="l" defTabSz="1828709" rtl="0" eaLnBrk="1" latinLnBrk="0" hangingPunct="1">
        <a:defRPr kumimoji="1" sz="3600" kern="1200">
          <a:solidFill>
            <a:schemeClr val="tx1"/>
          </a:solidFill>
          <a:latin typeface="+mn-lt"/>
          <a:ea typeface="+mn-ea"/>
          <a:cs typeface="+mn-cs"/>
        </a:defRPr>
      </a:lvl4pPr>
      <a:lvl5pPr marL="3657417" algn="l" defTabSz="1828709" rtl="0" eaLnBrk="1" latinLnBrk="0" hangingPunct="1">
        <a:defRPr kumimoji="1" sz="3600" kern="1200">
          <a:solidFill>
            <a:schemeClr val="tx1"/>
          </a:solidFill>
          <a:latin typeface="+mn-lt"/>
          <a:ea typeface="+mn-ea"/>
          <a:cs typeface="+mn-cs"/>
        </a:defRPr>
      </a:lvl5pPr>
      <a:lvl6pPr marL="4571771" algn="l" defTabSz="1828709" rtl="0" eaLnBrk="1" latinLnBrk="0" hangingPunct="1">
        <a:defRPr kumimoji="1" sz="3600" kern="1200">
          <a:solidFill>
            <a:schemeClr val="tx1"/>
          </a:solidFill>
          <a:latin typeface="+mn-lt"/>
          <a:ea typeface="+mn-ea"/>
          <a:cs typeface="+mn-cs"/>
        </a:defRPr>
      </a:lvl6pPr>
      <a:lvl7pPr marL="5486126" algn="l" defTabSz="1828709" rtl="0" eaLnBrk="1" latinLnBrk="0" hangingPunct="1">
        <a:defRPr kumimoji="1" sz="3600" kern="1200">
          <a:solidFill>
            <a:schemeClr val="tx1"/>
          </a:solidFill>
          <a:latin typeface="+mn-lt"/>
          <a:ea typeface="+mn-ea"/>
          <a:cs typeface="+mn-cs"/>
        </a:defRPr>
      </a:lvl7pPr>
      <a:lvl8pPr marL="6400480" algn="l" defTabSz="1828709" rtl="0" eaLnBrk="1" latinLnBrk="0" hangingPunct="1">
        <a:defRPr kumimoji="1" sz="3600" kern="1200">
          <a:solidFill>
            <a:schemeClr val="tx1"/>
          </a:solidFill>
          <a:latin typeface="+mn-lt"/>
          <a:ea typeface="+mn-ea"/>
          <a:cs typeface="+mn-cs"/>
        </a:defRPr>
      </a:lvl8pPr>
      <a:lvl9pPr marL="7314834" algn="l" defTabSz="1828709" rtl="0" eaLnBrk="1" latinLnBrk="0" hangingPunct="1">
        <a:defRPr kumimoji="1"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hyperlink" Target="https://docs.google.com/spreadsheets/d/17MUIcmTMYvgeDuZgORUcQgGrjvjOfsh2/edit?usp=drive_link&amp;ouid=115417733327543099495&amp;rtpof=true&amp;sd=true"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hyperlink" Target="https://docs.google.com/spreadsheets/d/1eM48fxeWoro__SuzaiSlHzznYcQGwKCI/edit?usp=drive_link&amp;ouid=115417733327543099495&amp;rtpof=true&amp;sd=true"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75.png"/><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EF8D53-DFAD-2781-7D58-CDDA68ED3053}"/>
              </a:ext>
            </a:extLst>
          </p:cNvPr>
          <p:cNvSpPr>
            <a:spLocks noGrp="1"/>
          </p:cNvSpPr>
          <p:nvPr>
            <p:ph type="ctrTitle"/>
          </p:nvPr>
        </p:nvSpPr>
        <p:spPr/>
        <p:txBody>
          <a:bodyPr>
            <a:normAutofit/>
          </a:bodyPr>
          <a:lstStyle/>
          <a:p>
            <a:r>
              <a:rPr sz="3200" b="1" dirty="0">
                <a:solidFill>
                  <a:srgbClr val="082B52"/>
                </a:solidFill>
                <a:latin typeface="Yu Gothic"/>
              </a:rPr>
              <a:t>Feedforward and Adaptive Correction of</a:t>
            </a:r>
          </a:p>
          <a:p>
            <a:r>
              <a:rPr sz="3200" b="1" dirty="0">
                <a:solidFill>
                  <a:srgbClr val="082B52"/>
                </a:solidFill>
                <a:latin typeface="Yu Gothic"/>
              </a:rPr>
              <a:t>Time-Varying Thermal Bias for Coarse Acquisition</a:t>
            </a:r>
          </a:p>
          <a:p>
            <a:r>
              <a:rPr sz="3200" b="1" dirty="0">
                <a:solidFill>
                  <a:srgbClr val="082B52"/>
                </a:solidFill>
                <a:latin typeface="Yu Gothic"/>
              </a:rPr>
              <a:t>in Optical Communication Systems</a:t>
            </a:r>
          </a:p>
        </p:txBody>
      </p:sp>
      <p:sp>
        <p:nvSpPr>
          <p:cNvPr id="3" name="字幕 2">
            <a:extLst>
              <a:ext uri="{FF2B5EF4-FFF2-40B4-BE49-F238E27FC236}">
                <a16:creationId xmlns:a16="http://schemas.microsoft.com/office/drawing/2014/main" id="{31102AA9-45EB-C4FA-A1D0-A77A903D266F}"/>
              </a:ext>
            </a:extLst>
          </p:cNvPr>
          <p:cNvSpPr>
            <a:spLocks noGrp="1"/>
          </p:cNvSpPr>
          <p:nvPr>
            <p:ph type="subTitle" idx="1"/>
          </p:nvPr>
        </p:nvSpPr>
        <p:spPr>
          <a:xfrm>
            <a:off x="9674352" y="11955999"/>
            <a:ext cx="8562463" cy="730249"/>
          </a:xfrm>
        </p:spPr>
        <p:txBody>
          <a:bodyPr>
            <a:normAutofit/>
          </a:bodyPr>
          <a:lstStyle/>
          <a:p>
            <a:r>
              <a:rPr sz="2800" b="1" dirty="0">
                <a:solidFill>
                  <a:srgbClr val="232B34"/>
                </a:solidFill>
                <a:latin typeface="Yu Gothic"/>
              </a:rPr>
              <a:t>Hideki Takamoto (The University of Tokyo)</a:t>
            </a:r>
          </a:p>
        </p:txBody>
      </p:sp>
      <p:sp>
        <p:nvSpPr>
          <p:cNvPr id="4" name="テキスト プレースホルダー 3">
            <a:extLst>
              <a:ext uri="{FF2B5EF4-FFF2-40B4-BE49-F238E27FC236}">
                <a16:creationId xmlns:a16="http://schemas.microsoft.com/office/drawing/2014/main" id="{79D366E8-10A6-FE33-D7F0-BCE65C677E19}"/>
              </a:ext>
            </a:extLst>
          </p:cNvPr>
          <p:cNvSpPr>
            <a:spLocks noGrp="1"/>
          </p:cNvSpPr>
          <p:nvPr>
            <p:ph type="body" sz="quarter" idx="13"/>
          </p:nvPr>
        </p:nvSpPr>
        <p:spPr>
          <a:xfrm>
            <a:off x="16483539" y="7705724"/>
            <a:ext cx="5625347" cy="698499"/>
          </a:xfrm>
        </p:spPr>
        <p:txBody>
          <a:bodyPr/>
          <a:lstStyle/>
          <a:p>
            <a:r>
              <a:rPr sz="2200" b="0">
                <a:solidFill>
                  <a:srgbClr val="666F79"/>
                </a:solidFill>
                <a:latin typeface="Yu Gothic"/>
              </a:rPr>
              <a:t>2026/07/21</a:t>
            </a:r>
          </a:p>
        </p:txBody>
      </p:sp>
      <p:sp>
        <p:nvSpPr>
          <p:cNvPr id="5" name="テキスト プレースホルダー 4">
            <a:extLst>
              <a:ext uri="{FF2B5EF4-FFF2-40B4-BE49-F238E27FC236}">
                <a16:creationId xmlns:a16="http://schemas.microsoft.com/office/drawing/2014/main" id="{223D87D9-D745-888C-4D05-FF267342E0C3}"/>
              </a:ext>
            </a:extLst>
          </p:cNvPr>
          <p:cNvSpPr>
            <a:spLocks noGrp="1"/>
          </p:cNvSpPr>
          <p:nvPr>
            <p:ph type="body" sz="quarter" idx="14"/>
          </p:nvPr>
        </p:nvSpPr>
        <p:spPr>
          <a:xfrm>
            <a:off x="9674352" y="6888226"/>
            <a:ext cx="5625347" cy="698499"/>
          </a:xfrm>
        </p:spPr>
        <p:txBody>
          <a:bodyPr/>
          <a:lstStyle/>
          <a:p>
            <a:endParaRPr/>
          </a:p>
        </p:txBody>
      </p:sp>
      <p:sp>
        <p:nvSpPr>
          <p:cNvPr id="6" name="テキスト プレースホルダー 5">
            <a:extLst>
              <a:ext uri="{FF2B5EF4-FFF2-40B4-BE49-F238E27FC236}">
                <a16:creationId xmlns:a16="http://schemas.microsoft.com/office/drawing/2014/main" id="{FB66ACC2-84FB-08AA-2D48-20C1AB864367}"/>
              </a:ext>
            </a:extLst>
          </p:cNvPr>
          <p:cNvSpPr>
            <a:spLocks noGrp="1"/>
          </p:cNvSpPr>
          <p:nvPr>
            <p:ph type="body" sz="quarter" idx="15"/>
          </p:nvPr>
        </p:nvSpPr>
        <p:spPr>
          <a:xfrm>
            <a:off x="16483538" y="7042558"/>
            <a:ext cx="5625347" cy="698499"/>
          </a:xfrm>
        </p:spPr>
        <p:txBody>
          <a:bodyPr/>
          <a:lstStyle/>
          <a:p>
            <a:r>
              <a:rPr sz="2200" b="0">
                <a:solidFill>
                  <a:srgbClr val="666F79"/>
                </a:solidFill>
                <a:latin typeface="Yu Gothic"/>
              </a:rPr>
              <a:t>Optical Communication Research Group</a:t>
            </a:r>
          </a:p>
        </p:txBody>
      </p:sp>
      <p:sp>
        <p:nvSpPr>
          <p:cNvPr id="7" name="スライド番号プレースホルダー 6">
            <a:extLst>
              <a:ext uri="{FF2B5EF4-FFF2-40B4-BE49-F238E27FC236}">
                <a16:creationId xmlns:a16="http://schemas.microsoft.com/office/drawing/2014/main" id="{3FD1A49C-D906-D56C-8B01-F4742C0F4928}"/>
              </a:ext>
            </a:extLst>
          </p:cNvPr>
          <p:cNvSpPr>
            <a:spLocks noGrp="1"/>
          </p:cNvSpPr>
          <p:nvPr>
            <p:ph type="sldNum" sz="quarter" idx="12"/>
          </p:nvPr>
        </p:nvSpPr>
        <p:spPr/>
        <p:txBody>
          <a:bodyPr/>
          <a:lstStyle/>
          <a:p>
            <a:fld id="{E67BFEE9-6A35-CF42-A39A-CD481C3507E3}" type="slidenum">
              <a:rPr kumimoji="1" lang="ja-JP" altLang="en-US" smtClean="0"/>
              <a:t>1</a:t>
            </a:fld>
            <a:endParaRPr kumimoji="1" lang="ja-JP" altLang="en-US"/>
          </a:p>
        </p:txBody>
      </p:sp>
      <p:sp>
        <p:nvSpPr>
          <p:cNvPr id="8" name="TextBox 7"/>
          <p:cNvSpPr txBox="1"/>
          <p:nvPr/>
        </p:nvSpPr>
        <p:spPr>
          <a:xfrm>
            <a:off x="9674352" y="10076688"/>
            <a:ext cx="11153823" cy="547842"/>
          </a:xfrm>
          <a:prstGeom prst="rect">
            <a:avLst/>
          </a:prstGeom>
          <a:noFill/>
        </p:spPr>
        <p:txBody>
          <a:bodyPr wrap="none" lIns="36576" tIns="27432" rIns="36576" bIns="27432" anchor="t">
            <a:spAutoFit/>
          </a:bodyPr>
          <a:lstStyle/>
          <a:p>
            <a:pPr algn="l"/>
            <a:r>
              <a:rPr sz="3200" b="1" dirty="0" err="1">
                <a:solidFill>
                  <a:srgbClr val="1B74AA"/>
                </a:solidFill>
                <a:latin typeface="Yu Gothic"/>
              </a:rPr>
              <a:t>熱ひずみ予測と適応補正による光通信粗捕捉性能向上の検討</a:t>
            </a:r>
            <a:endParaRPr sz="3200" b="1" dirty="0">
              <a:solidFill>
                <a:srgbClr val="1B74AA"/>
              </a:solidFill>
              <a:latin typeface="Yu Gothic"/>
            </a:endParaRPr>
          </a:p>
        </p:txBody>
      </p:sp>
    </p:spTree>
    <p:extLst>
      <p:ext uri="{BB962C8B-B14F-4D97-AF65-F5344CB8AC3E}">
        <p14:creationId xmlns:p14="http://schemas.microsoft.com/office/powerpoint/2010/main" val="410341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635D3E-6BA3-A5CE-2210-317DCBD6F138}"/>
              </a:ext>
            </a:extLst>
          </p:cNvPr>
          <p:cNvSpPr>
            <a:spLocks noGrp="1"/>
          </p:cNvSpPr>
          <p:nvPr>
            <p:ph type="title"/>
          </p:nvPr>
        </p:nvSpPr>
        <p:spPr/>
        <p:txBody>
          <a:bodyPr/>
          <a:lstStyle/>
          <a:p>
            <a:r>
              <a:rPr sz="2800" b="0">
                <a:solidFill>
                  <a:srgbClr val="FFFFFF"/>
                </a:solidFill>
                <a:latin typeface="Yu Gothic"/>
              </a:rPr>
              <a:t>01</a:t>
            </a:r>
          </a:p>
        </p:txBody>
      </p:sp>
      <p:sp>
        <p:nvSpPr>
          <p:cNvPr id="3" name="テキスト プレースホルダー 2">
            <a:extLst>
              <a:ext uri="{FF2B5EF4-FFF2-40B4-BE49-F238E27FC236}">
                <a16:creationId xmlns:a16="http://schemas.microsoft.com/office/drawing/2014/main" id="{BC4F4820-6A4B-21DF-1929-82AC7C54B27D}"/>
              </a:ext>
            </a:extLst>
          </p:cNvPr>
          <p:cNvSpPr>
            <a:spLocks noGrp="1"/>
          </p:cNvSpPr>
          <p:nvPr>
            <p:ph type="body" idx="1"/>
          </p:nvPr>
        </p:nvSpPr>
        <p:spPr/>
        <p:txBody>
          <a:bodyPr/>
          <a:lstStyle/>
          <a:p>
            <a:r>
              <a:rPr sz="3200" b="1">
                <a:solidFill>
                  <a:srgbClr val="FFFFFF"/>
                </a:solidFill>
                <a:latin typeface="Yu Gothic"/>
              </a:rPr>
              <a:t>Overview</a:t>
            </a:r>
          </a:p>
        </p:txBody>
      </p:sp>
      <p:sp>
        <p:nvSpPr>
          <p:cNvPr id="4" name="スライド番号プレースホルダー 3">
            <a:extLst>
              <a:ext uri="{FF2B5EF4-FFF2-40B4-BE49-F238E27FC236}">
                <a16:creationId xmlns:a16="http://schemas.microsoft.com/office/drawing/2014/main" id="{3915B39E-8BAD-5C9C-E46E-51EE9D9101C0}"/>
              </a:ext>
            </a:extLst>
          </p:cNvPr>
          <p:cNvSpPr>
            <a:spLocks noGrp="1"/>
          </p:cNvSpPr>
          <p:nvPr>
            <p:ph type="sldNum" sz="quarter" idx="12"/>
          </p:nvPr>
        </p:nvSpPr>
        <p:spPr/>
        <p:txBody>
          <a:bodyPr/>
          <a:lstStyle/>
          <a:p>
            <a:fld id="{E67BFEE9-6A35-CF42-A39A-CD481C3507E3}" type="slidenum">
              <a:rPr kumimoji="1" lang="ja-JP" altLang="en-US" smtClean="0"/>
              <a:t>2</a:t>
            </a:fld>
            <a:endParaRPr kumimoji="1" lang="ja-JP" altLang="en-US"/>
          </a:p>
        </p:txBody>
      </p:sp>
    </p:spTree>
    <p:extLst>
      <p:ext uri="{BB962C8B-B14F-4D97-AF65-F5344CB8AC3E}">
        <p14:creationId xmlns:p14="http://schemas.microsoft.com/office/powerpoint/2010/main" val="3345895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F44572-0BF9-86FC-9CEA-DB05D75E65BA}"/>
              </a:ext>
            </a:extLst>
          </p:cNvPr>
          <p:cNvSpPr>
            <a:spLocks noGrp="1"/>
          </p:cNvSpPr>
          <p:nvPr>
            <p:ph type="title"/>
          </p:nvPr>
        </p:nvSpPr>
        <p:spPr/>
        <p:txBody>
          <a:bodyPr/>
          <a:lstStyle/>
          <a:p>
            <a:r>
              <a:rPr lang="ja-JP" altLang="en-US" sz="3200" b="1" dirty="0">
                <a:solidFill>
                  <a:srgbClr val="082B52"/>
                </a:solidFill>
                <a:latin typeface="Yu Gothic"/>
              </a:rPr>
              <a:t>本日の目標：熱ひずみ予測</a:t>
            </a:r>
            <a:r>
              <a:rPr sz="3200" b="1" dirty="0" err="1">
                <a:solidFill>
                  <a:srgbClr val="082B52"/>
                </a:solidFill>
                <a:latin typeface="Yu Gothic"/>
              </a:rPr>
              <a:t>モデルをレビューしてもらう</a:t>
            </a:r>
            <a:endParaRPr sz="3200" b="1" dirty="0">
              <a:solidFill>
                <a:srgbClr val="082B52"/>
              </a:solidFill>
              <a:latin typeface="Yu Gothic"/>
            </a:endParaRPr>
          </a:p>
        </p:txBody>
      </p:sp>
      <p:sp>
        <p:nvSpPr>
          <p:cNvPr id="4" name="テキスト プレースホルダー 3">
            <a:extLst>
              <a:ext uri="{FF2B5EF4-FFF2-40B4-BE49-F238E27FC236}">
                <a16:creationId xmlns:a16="http://schemas.microsoft.com/office/drawing/2014/main" id="{BA03A934-1390-EADF-E03B-F076611056D0}"/>
              </a:ext>
            </a:extLst>
          </p:cNvPr>
          <p:cNvSpPr>
            <a:spLocks noGrp="1"/>
          </p:cNvSpPr>
          <p:nvPr>
            <p:ph type="body" sz="quarter" idx="13"/>
          </p:nvPr>
        </p:nvSpPr>
        <p:spPr/>
        <p:txBody>
          <a:bodyPr/>
          <a:lstStyle/>
          <a:p>
            <a:r>
              <a:rPr sz="2000" b="0">
                <a:solidFill>
                  <a:srgbClr val="666F79"/>
                </a:solidFill>
                <a:latin typeface="Yu Gothic"/>
              </a:rPr>
              <a:t>Overview</a:t>
            </a:r>
          </a:p>
        </p:txBody>
      </p:sp>
      <p:sp>
        <p:nvSpPr>
          <p:cNvPr id="5" name="スライド番号プレースホルダー 4">
            <a:extLst>
              <a:ext uri="{FF2B5EF4-FFF2-40B4-BE49-F238E27FC236}">
                <a16:creationId xmlns:a16="http://schemas.microsoft.com/office/drawing/2014/main" id="{1C65DDDE-896C-98BD-4236-523603EB34E8}"/>
              </a:ext>
            </a:extLst>
          </p:cNvPr>
          <p:cNvSpPr>
            <a:spLocks noGrp="1"/>
          </p:cNvSpPr>
          <p:nvPr>
            <p:ph type="sldNum" sz="quarter" idx="12"/>
          </p:nvPr>
        </p:nvSpPr>
        <p:spPr/>
        <p:txBody>
          <a:bodyPr/>
          <a:lstStyle/>
          <a:p>
            <a:r>
              <a:rPr sz="1800" b="0">
                <a:solidFill>
                  <a:srgbClr val="666F79"/>
                </a:solidFill>
                <a:latin typeface="Yu Gothic"/>
              </a:rPr>
              <a:t>3</a:t>
            </a:r>
          </a:p>
        </p:txBody>
      </p:sp>
      <p:sp>
        <p:nvSpPr>
          <p:cNvPr id="6" name="TextBox 5"/>
          <p:cNvSpPr txBox="1"/>
          <p:nvPr/>
        </p:nvSpPr>
        <p:spPr>
          <a:xfrm>
            <a:off x="1143000" y="3920490"/>
            <a:ext cx="1097280" cy="502920"/>
          </a:xfrm>
          <a:prstGeom prst="rect">
            <a:avLst/>
          </a:prstGeom>
          <a:noFill/>
        </p:spPr>
        <p:txBody>
          <a:bodyPr wrap="none" lIns="36576" tIns="27432" rIns="36576" bIns="27432" anchor="t">
            <a:spAutoFit/>
          </a:bodyPr>
          <a:lstStyle/>
          <a:p>
            <a:pPr algn="l"/>
            <a:r>
              <a:rPr sz="2100" b="1" dirty="0">
                <a:solidFill>
                  <a:srgbClr val="1B74AA"/>
                </a:solidFill>
                <a:latin typeface="Yu Gothic"/>
              </a:rPr>
              <a:t>01</a:t>
            </a:r>
          </a:p>
        </p:txBody>
      </p:sp>
      <p:sp>
        <p:nvSpPr>
          <p:cNvPr id="7" name="Rectangle 6"/>
          <p:cNvSpPr/>
          <p:nvPr/>
        </p:nvSpPr>
        <p:spPr>
          <a:xfrm>
            <a:off x="1143000" y="4351020"/>
            <a:ext cx="6720840" cy="3977639"/>
          </a:xfrm>
          <a:prstGeom prst="rect">
            <a:avLst/>
          </a:prstGeom>
          <a:solidFill>
            <a:srgbClr val="FFFFFF"/>
          </a:solidFill>
          <a:ln w="2540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43000" y="4351020"/>
            <a:ext cx="6720840" cy="621792"/>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29308" y="5265420"/>
            <a:ext cx="4748223" cy="501676"/>
          </a:xfrm>
          <a:prstGeom prst="rect">
            <a:avLst/>
          </a:prstGeom>
          <a:noFill/>
        </p:spPr>
        <p:txBody>
          <a:bodyPr wrap="none" lIns="36576" tIns="27432" rIns="36576" bIns="27432" anchor="t">
            <a:spAutoFit/>
          </a:bodyPr>
          <a:lstStyle/>
          <a:p>
            <a:pPr algn="ctr"/>
            <a:r>
              <a:rPr lang="ja-JP" altLang="en-US" sz="2900" b="1" dirty="0">
                <a:solidFill>
                  <a:srgbClr val="082B52"/>
                </a:solidFill>
                <a:latin typeface="Yu Gothic"/>
              </a:rPr>
              <a:t>階層型 熱ひずみ予測モデル</a:t>
            </a:r>
            <a:endParaRPr sz="2900" b="1" dirty="0">
              <a:solidFill>
                <a:srgbClr val="082B52"/>
              </a:solidFill>
              <a:latin typeface="Yu Gothic"/>
            </a:endParaRPr>
          </a:p>
        </p:txBody>
      </p:sp>
      <p:sp>
        <p:nvSpPr>
          <p:cNvPr id="10" name="TextBox 9"/>
          <p:cNvSpPr txBox="1"/>
          <p:nvPr/>
        </p:nvSpPr>
        <p:spPr>
          <a:xfrm>
            <a:off x="2126906" y="6271260"/>
            <a:ext cx="4753031" cy="1301895"/>
          </a:xfrm>
          <a:prstGeom prst="rect">
            <a:avLst/>
          </a:prstGeom>
          <a:noFill/>
        </p:spPr>
        <p:txBody>
          <a:bodyPr wrap="none" lIns="36576" tIns="27432" rIns="36576" bIns="27432" anchor="t">
            <a:spAutoFit/>
          </a:bodyPr>
          <a:lstStyle/>
          <a:p>
            <a:pPr algn="ctr"/>
            <a:r>
              <a:rPr lang="ja-JP" altLang="en-US" sz="2700" dirty="0">
                <a:solidFill>
                  <a:srgbClr val="232B34"/>
                </a:solidFill>
                <a:latin typeface="Yu Gothic"/>
              </a:rPr>
              <a:t>衛星の構造や配置で変わる層</a:t>
            </a:r>
            <a:endParaRPr lang="en-US" altLang="ja-JP" sz="2700" dirty="0">
              <a:solidFill>
                <a:srgbClr val="232B34"/>
              </a:solidFill>
              <a:latin typeface="Yu Gothic"/>
            </a:endParaRPr>
          </a:p>
          <a:p>
            <a:pPr algn="ctr"/>
            <a:r>
              <a:rPr lang="ja-JP" altLang="en-US" sz="2700" dirty="0">
                <a:solidFill>
                  <a:srgbClr val="232B34"/>
                </a:solidFill>
                <a:latin typeface="Yu Gothic"/>
              </a:rPr>
              <a:t>軌道・熱環境で変わる層</a:t>
            </a:r>
            <a:endParaRPr lang="en-US" altLang="ja-JP" sz="2700" dirty="0">
              <a:solidFill>
                <a:srgbClr val="232B34"/>
              </a:solidFill>
              <a:latin typeface="Yu Gothic"/>
            </a:endParaRPr>
          </a:p>
          <a:p>
            <a:pPr algn="ctr"/>
            <a:r>
              <a:rPr lang="ja-JP" altLang="en-US" sz="2700" dirty="0">
                <a:solidFill>
                  <a:srgbClr val="232B34"/>
                </a:solidFill>
                <a:latin typeface="Yu Gothic"/>
              </a:rPr>
              <a:t>の</a:t>
            </a:r>
            <a:r>
              <a:rPr lang="en-US" altLang="ja-JP" sz="2700" dirty="0">
                <a:solidFill>
                  <a:srgbClr val="232B34"/>
                </a:solidFill>
                <a:latin typeface="Yu Gothic"/>
              </a:rPr>
              <a:t>2</a:t>
            </a:r>
            <a:r>
              <a:rPr lang="ja-JP" altLang="en-US" sz="2700" dirty="0">
                <a:solidFill>
                  <a:srgbClr val="232B34"/>
                </a:solidFill>
                <a:latin typeface="Yu Gothic"/>
              </a:rPr>
              <a:t>層に分けて</a:t>
            </a:r>
            <a:r>
              <a:rPr lang="en-US" altLang="ja-JP" sz="2700" dirty="0">
                <a:solidFill>
                  <a:srgbClr val="232B34"/>
                </a:solidFill>
                <a:latin typeface="Yu Gothic"/>
              </a:rPr>
              <a:t>LOS</a:t>
            </a:r>
            <a:r>
              <a:rPr lang="ja-JP" altLang="en-US" sz="2700" dirty="0">
                <a:solidFill>
                  <a:srgbClr val="232B34"/>
                </a:solidFill>
                <a:latin typeface="Yu Gothic"/>
              </a:rPr>
              <a:t>誤差を予測</a:t>
            </a:r>
            <a:endParaRPr lang="en-US" altLang="ja-JP" sz="2700" dirty="0">
              <a:solidFill>
                <a:srgbClr val="232B34"/>
              </a:solidFill>
              <a:latin typeface="Yu Gothic"/>
            </a:endParaRPr>
          </a:p>
        </p:txBody>
      </p:sp>
      <p:sp>
        <p:nvSpPr>
          <p:cNvPr id="11" name="TextBox 10"/>
          <p:cNvSpPr txBox="1"/>
          <p:nvPr/>
        </p:nvSpPr>
        <p:spPr>
          <a:xfrm>
            <a:off x="8686800" y="3920490"/>
            <a:ext cx="1097280" cy="502920"/>
          </a:xfrm>
          <a:prstGeom prst="rect">
            <a:avLst/>
          </a:prstGeom>
          <a:noFill/>
        </p:spPr>
        <p:txBody>
          <a:bodyPr wrap="none" lIns="36576" tIns="27432" rIns="36576" bIns="27432" anchor="t">
            <a:spAutoFit/>
          </a:bodyPr>
          <a:lstStyle/>
          <a:p>
            <a:pPr algn="l"/>
            <a:r>
              <a:rPr sz="2100" b="1">
                <a:solidFill>
                  <a:srgbClr val="239571"/>
                </a:solidFill>
                <a:latin typeface="Yu Gothic"/>
              </a:rPr>
              <a:t>02</a:t>
            </a:r>
          </a:p>
        </p:txBody>
      </p:sp>
      <p:sp>
        <p:nvSpPr>
          <p:cNvPr id="12" name="Rectangle 11"/>
          <p:cNvSpPr/>
          <p:nvPr/>
        </p:nvSpPr>
        <p:spPr>
          <a:xfrm>
            <a:off x="8686800" y="4351020"/>
            <a:ext cx="6720840" cy="3977639"/>
          </a:xfrm>
          <a:prstGeom prst="rect">
            <a:avLst/>
          </a:prstGeom>
          <a:solidFill>
            <a:srgbClr val="FFFFFF"/>
          </a:solidFill>
          <a:ln w="2540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686800" y="4351020"/>
            <a:ext cx="6720840" cy="621792"/>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07009" y="5265420"/>
            <a:ext cx="5280420" cy="501676"/>
          </a:xfrm>
          <a:prstGeom prst="rect">
            <a:avLst/>
          </a:prstGeom>
          <a:noFill/>
        </p:spPr>
        <p:txBody>
          <a:bodyPr wrap="none" lIns="36576" tIns="27432" rIns="36576" bIns="27432" anchor="t">
            <a:spAutoFit/>
          </a:bodyPr>
          <a:lstStyle/>
          <a:p>
            <a:pPr algn="ctr"/>
            <a:r>
              <a:rPr lang="ja-JP" altLang="en-US" sz="2900" b="1" dirty="0">
                <a:solidFill>
                  <a:srgbClr val="082B52"/>
                </a:solidFill>
                <a:latin typeface="Yu Gothic"/>
              </a:rPr>
              <a:t>非熱誤差も含めた捕捉性能評価</a:t>
            </a:r>
            <a:endParaRPr sz="2900" b="1" dirty="0">
              <a:solidFill>
                <a:srgbClr val="082B52"/>
              </a:solidFill>
              <a:latin typeface="Yu Gothic"/>
            </a:endParaRPr>
          </a:p>
        </p:txBody>
      </p:sp>
      <p:sp>
        <p:nvSpPr>
          <p:cNvPr id="15" name="TextBox 14"/>
          <p:cNvSpPr txBox="1"/>
          <p:nvPr/>
        </p:nvSpPr>
        <p:spPr>
          <a:xfrm>
            <a:off x="10625292" y="6271260"/>
            <a:ext cx="2843855" cy="1301895"/>
          </a:xfrm>
          <a:prstGeom prst="rect">
            <a:avLst/>
          </a:prstGeom>
          <a:noFill/>
        </p:spPr>
        <p:txBody>
          <a:bodyPr wrap="none" lIns="36576" tIns="27432" rIns="36576" bIns="27432" anchor="t">
            <a:spAutoFit/>
          </a:bodyPr>
          <a:lstStyle/>
          <a:p>
            <a:pPr algn="ctr"/>
            <a:r>
              <a:rPr lang="ja-JP" altLang="en-US" sz="2700" b="0" dirty="0">
                <a:solidFill>
                  <a:srgbClr val="232B34"/>
                </a:solidFill>
                <a:latin typeface="Yu Gothic"/>
              </a:rPr>
              <a:t>軌道予測誤差等、</a:t>
            </a:r>
            <a:endParaRPr lang="en-US" altLang="ja-JP" sz="2700" b="0" dirty="0">
              <a:solidFill>
                <a:srgbClr val="232B34"/>
              </a:solidFill>
              <a:latin typeface="Yu Gothic"/>
            </a:endParaRPr>
          </a:p>
          <a:p>
            <a:pPr algn="ctr"/>
            <a:r>
              <a:rPr sz="2700" b="0" dirty="0" err="1">
                <a:solidFill>
                  <a:srgbClr val="232B34"/>
                </a:solidFill>
                <a:latin typeface="Yu Gothic"/>
              </a:rPr>
              <a:t>非熱誤差込みの</a:t>
            </a:r>
            <a:r>
              <a:rPr sz="2700" b="0" dirty="0">
                <a:solidFill>
                  <a:srgbClr val="232B34"/>
                </a:solidFill>
                <a:latin typeface="Yu Gothic"/>
              </a:rPr>
              <a:t>
</a:t>
            </a:r>
            <a:r>
              <a:rPr sz="2700" b="0" dirty="0" err="1">
                <a:solidFill>
                  <a:srgbClr val="232B34"/>
                </a:solidFill>
                <a:latin typeface="Yu Gothic"/>
              </a:rPr>
              <a:t>捕捉性能</a:t>
            </a:r>
            <a:r>
              <a:rPr lang="ja-JP" altLang="en-US" sz="2700" b="0" dirty="0">
                <a:solidFill>
                  <a:srgbClr val="232B34"/>
                </a:solidFill>
                <a:latin typeface="Yu Gothic"/>
              </a:rPr>
              <a:t>の評価</a:t>
            </a:r>
            <a:endParaRPr sz="2700" b="0" dirty="0">
              <a:solidFill>
                <a:srgbClr val="232B34"/>
              </a:solidFill>
              <a:latin typeface="Yu Gothic"/>
            </a:endParaRPr>
          </a:p>
        </p:txBody>
      </p:sp>
      <p:sp>
        <p:nvSpPr>
          <p:cNvPr id="16" name="TextBox 15"/>
          <p:cNvSpPr txBox="1"/>
          <p:nvPr/>
        </p:nvSpPr>
        <p:spPr>
          <a:xfrm>
            <a:off x="16230600" y="3920490"/>
            <a:ext cx="1097280" cy="502920"/>
          </a:xfrm>
          <a:prstGeom prst="rect">
            <a:avLst/>
          </a:prstGeom>
          <a:noFill/>
        </p:spPr>
        <p:txBody>
          <a:bodyPr wrap="none" lIns="36576" tIns="27432" rIns="36576" bIns="27432" anchor="t">
            <a:spAutoFit/>
          </a:bodyPr>
          <a:lstStyle/>
          <a:p>
            <a:pPr algn="l"/>
            <a:r>
              <a:rPr sz="2100" b="1">
                <a:solidFill>
                  <a:srgbClr val="EC9427"/>
                </a:solidFill>
                <a:latin typeface="Yu Gothic"/>
              </a:rPr>
              <a:t>03</a:t>
            </a:r>
          </a:p>
        </p:txBody>
      </p:sp>
      <p:sp>
        <p:nvSpPr>
          <p:cNvPr id="17" name="Rectangle 16"/>
          <p:cNvSpPr/>
          <p:nvPr/>
        </p:nvSpPr>
        <p:spPr>
          <a:xfrm>
            <a:off x="16230600" y="4351020"/>
            <a:ext cx="6720840" cy="3977639"/>
          </a:xfrm>
          <a:prstGeom prst="rect">
            <a:avLst/>
          </a:prstGeom>
          <a:solidFill>
            <a:srgbClr val="FFFFFF"/>
          </a:solidFill>
          <a:ln w="2540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6230600" y="4351020"/>
            <a:ext cx="6720840" cy="621792"/>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7508658" y="5265420"/>
            <a:ext cx="4164730" cy="501676"/>
          </a:xfrm>
          <a:prstGeom prst="rect">
            <a:avLst/>
          </a:prstGeom>
          <a:noFill/>
        </p:spPr>
        <p:txBody>
          <a:bodyPr wrap="none" lIns="36576" tIns="27432" rIns="36576" bIns="27432" anchor="t">
            <a:spAutoFit/>
          </a:bodyPr>
          <a:lstStyle/>
          <a:p>
            <a:pPr algn="ctr"/>
            <a:r>
              <a:rPr lang="ja-JP" altLang="en-US" sz="2900" b="1" dirty="0">
                <a:solidFill>
                  <a:srgbClr val="082B52"/>
                </a:solidFill>
                <a:latin typeface="Yu Gothic"/>
              </a:rPr>
              <a:t>モデルの事後的適応補正</a:t>
            </a:r>
            <a:endParaRPr sz="2900" b="1" dirty="0">
              <a:solidFill>
                <a:srgbClr val="082B52"/>
              </a:solidFill>
              <a:latin typeface="Yu Gothic"/>
            </a:endParaRPr>
          </a:p>
        </p:txBody>
      </p:sp>
      <p:sp>
        <p:nvSpPr>
          <p:cNvPr id="20" name="TextBox 19"/>
          <p:cNvSpPr txBox="1"/>
          <p:nvPr/>
        </p:nvSpPr>
        <p:spPr>
          <a:xfrm>
            <a:off x="17005408" y="6271260"/>
            <a:ext cx="5171224" cy="886397"/>
          </a:xfrm>
          <a:prstGeom prst="rect">
            <a:avLst/>
          </a:prstGeom>
          <a:noFill/>
        </p:spPr>
        <p:txBody>
          <a:bodyPr wrap="none" lIns="36576" tIns="27432" rIns="36576" bIns="27432" anchor="t">
            <a:spAutoFit/>
          </a:bodyPr>
          <a:lstStyle/>
          <a:p>
            <a:pPr algn="ctr"/>
            <a:r>
              <a:rPr lang="ja-JP" altLang="ja-JP" sz="2700" dirty="0"/>
              <a:t>軌道上で</a:t>
            </a:r>
            <a:r>
              <a:rPr lang="ja-JP" altLang="en-US" sz="2700" dirty="0"/>
              <a:t>熱ひずみ予測モデルの</a:t>
            </a:r>
            <a:endParaRPr lang="en-US" altLang="ja-JP" sz="2700" dirty="0"/>
          </a:p>
          <a:p>
            <a:pPr algn="ctr"/>
            <a:r>
              <a:rPr lang="ja-JP" altLang="en-US" sz="2700" dirty="0"/>
              <a:t>パラメータを</a:t>
            </a:r>
            <a:r>
              <a:rPr lang="en-US" altLang="ja-JP" sz="2700" dirty="0"/>
              <a:t>adaptive</a:t>
            </a:r>
            <a:r>
              <a:rPr lang="ja-JP" altLang="en-US" sz="2700" dirty="0"/>
              <a:t>に更新する</a:t>
            </a:r>
            <a:endParaRPr lang="en-US" altLang="ja-JP" sz="2700" dirty="0"/>
          </a:p>
        </p:txBody>
      </p:sp>
      <p:sp>
        <p:nvSpPr>
          <p:cNvPr id="21" name="TextBox 20"/>
          <p:cNvSpPr txBox="1"/>
          <p:nvPr/>
        </p:nvSpPr>
        <p:spPr>
          <a:xfrm>
            <a:off x="1143000" y="9921240"/>
            <a:ext cx="5486400" cy="502920"/>
          </a:xfrm>
          <a:prstGeom prst="rect">
            <a:avLst/>
          </a:prstGeom>
          <a:noFill/>
        </p:spPr>
        <p:txBody>
          <a:bodyPr wrap="none" lIns="36576" tIns="27432" rIns="36576" bIns="27432" anchor="t">
            <a:spAutoFit/>
          </a:bodyPr>
          <a:lstStyle/>
          <a:p>
            <a:pPr algn="l"/>
            <a:r>
              <a:rPr sz="2500" b="1" dirty="0" err="1">
                <a:solidFill>
                  <a:srgbClr val="082B52"/>
                </a:solidFill>
                <a:latin typeface="Yu Gothic"/>
              </a:rPr>
              <a:t>今日特に議論したいこと</a:t>
            </a:r>
            <a:endParaRPr sz="2500" b="1" dirty="0">
              <a:solidFill>
                <a:srgbClr val="082B52"/>
              </a:solidFill>
              <a:latin typeface="Yu Gothic"/>
            </a:endParaRPr>
          </a:p>
        </p:txBody>
      </p:sp>
      <p:sp>
        <p:nvSpPr>
          <p:cNvPr id="22" name="TextBox 21"/>
          <p:cNvSpPr txBox="1"/>
          <p:nvPr/>
        </p:nvSpPr>
        <p:spPr>
          <a:xfrm>
            <a:off x="1143000" y="10561320"/>
            <a:ext cx="21762720" cy="1959511"/>
          </a:xfrm>
          <a:prstGeom prst="rect">
            <a:avLst/>
          </a:prstGeom>
          <a:noFill/>
        </p:spPr>
        <p:txBody>
          <a:bodyPr wrap="square" lIns="27432" rIns="27432">
            <a:spAutoFit/>
          </a:bodyPr>
          <a:lstStyle/>
          <a:p>
            <a:pPr>
              <a:spcAft>
                <a:spcPts val="800"/>
              </a:spcAft>
            </a:pPr>
            <a:r>
              <a:rPr lang="en-US" altLang="ja-JP" sz="3600" b="1" dirty="0">
                <a:solidFill>
                  <a:srgbClr val="1B74AA"/>
                </a:solidFill>
                <a:latin typeface="Yu Gothic"/>
              </a:rPr>
              <a:t>• </a:t>
            </a:r>
            <a:r>
              <a:rPr lang="ja-JP" altLang="en-US" sz="3600" dirty="0">
                <a:solidFill>
                  <a:srgbClr val="232B34"/>
                </a:solidFill>
                <a:latin typeface="Yu Gothic"/>
              </a:rPr>
              <a:t>現在の解析で用いている、捕捉スキャンモデル・誤差条件の妥当性</a:t>
            </a:r>
            <a:endParaRPr sz="3600" dirty="0">
              <a:solidFill>
                <a:srgbClr val="232B34"/>
              </a:solidFill>
              <a:latin typeface="Yu Gothic"/>
            </a:endParaRPr>
          </a:p>
          <a:p>
            <a:pPr>
              <a:spcAft>
                <a:spcPts val="800"/>
              </a:spcAft>
            </a:pPr>
            <a:r>
              <a:rPr sz="3600" b="1" dirty="0">
                <a:solidFill>
                  <a:srgbClr val="1B74AA"/>
                </a:solidFill>
                <a:latin typeface="Yu Gothic"/>
              </a:rPr>
              <a:t>• </a:t>
            </a:r>
            <a:r>
              <a:rPr sz="3600" dirty="0" err="1">
                <a:solidFill>
                  <a:srgbClr val="232B34"/>
                </a:solidFill>
                <a:latin typeface="Yu Gothic"/>
              </a:rPr>
              <a:t>熱と軌道誤差が同帯域にある場合の</a:t>
            </a:r>
            <a:r>
              <a:rPr lang="ja-JP" altLang="en-US" sz="3600" dirty="0">
                <a:solidFill>
                  <a:srgbClr val="232B34"/>
                </a:solidFill>
                <a:latin typeface="Yu Gothic"/>
              </a:rPr>
              <a:t>分離可能性</a:t>
            </a:r>
            <a:endParaRPr lang="en-US" altLang="ja-JP" sz="3600" dirty="0">
              <a:solidFill>
                <a:srgbClr val="232B34"/>
              </a:solidFill>
              <a:latin typeface="Yu Gothic"/>
            </a:endParaRPr>
          </a:p>
          <a:p>
            <a:pPr>
              <a:spcAft>
                <a:spcPts val="800"/>
              </a:spcAft>
            </a:pPr>
            <a:r>
              <a:rPr lang="en-US" altLang="ja-JP" sz="3600" dirty="0">
                <a:solidFill>
                  <a:srgbClr val="1B74AA"/>
                </a:solidFill>
                <a:latin typeface="Yu Gothic"/>
              </a:rPr>
              <a:t>• </a:t>
            </a:r>
            <a:r>
              <a:rPr lang="ja-JP" altLang="en-US" sz="3600" dirty="0">
                <a:solidFill>
                  <a:srgbClr val="232B34"/>
                </a:solidFill>
                <a:latin typeface="Yu Gothic"/>
              </a:rPr>
              <a:t>どのパラメータを軌道上で更新するか</a:t>
            </a:r>
          </a:p>
        </p:txBody>
      </p:sp>
      <p:sp>
        <p:nvSpPr>
          <p:cNvPr id="23" name="TextBox 20">
            <a:extLst>
              <a:ext uri="{FF2B5EF4-FFF2-40B4-BE49-F238E27FC236}">
                <a16:creationId xmlns:a16="http://schemas.microsoft.com/office/drawing/2014/main" id="{76313DB0-74A4-FFBF-75DA-353AE459DCB1}"/>
              </a:ext>
            </a:extLst>
          </p:cNvPr>
          <p:cNvSpPr txBox="1"/>
          <p:nvPr/>
        </p:nvSpPr>
        <p:spPr>
          <a:xfrm>
            <a:off x="1143000" y="3313988"/>
            <a:ext cx="1676869" cy="440120"/>
          </a:xfrm>
          <a:prstGeom prst="rect">
            <a:avLst/>
          </a:prstGeom>
          <a:noFill/>
        </p:spPr>
        <p:txBody>
          <a:bodyPr wrap="none" lIns="36576" tIns="27432" rIns="36576" bIns="27432" anchor="t">
            <a:spAutoFit/>
          </a:bodyPr>
          <a:lstStyle/>
          <a:p>
            <a:pPr algn="l"/>
            <a:r>
              <a:rPr lang="ja-JP" altLang="en-US" sz="2500" b="1" dirty="0">
                <a:solidFill>
                  <a:srgbClr val="082B52"/>
                </a:solidFill>
                <a:latin typeface="Yu Gothic"/>
              </a:rPr>
              <a:t>研究の内容</a:t>
            </a:r>
            <a:endParaRPr sz="2500" b="1" dirty="0">
              <a:solidFill>
                <a:srgbClr val="082B52"/>
              </a:solidFill>
              <a:latin typeface="Yu Gothic"/>
            </a:endParaRPr>
          </a:p>
        </p:txBody>
      </p:sp>
    </p:spTree>
    <p:extLst>
      <p:ext uri="{BB962C8B-B14F-4D97-AF65-F5344CB8AC3E}">
        <p14:creationId xmlns:p14="http://schemas.microsoft.com/office/powerpoint/2010/main" val="2827016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2755A-CE30-29D5-66D8-858C1044B084}"/>
              </a:ext>
            </a:extLst>
          </p:cNvPr>
          <p:cNvSpPr>
            <a:spLocks noGrp="1"/>
          </p:cNvSpPr>
          <p:nvPr>
            <p:ph type="title"/>
          </p:nvPr>
        </p:nvSpPr>
        <p:spPr/>
        <p:txBody>
          <a:bodyPr/>
          <a:lstStyle/>
          <a:p>
            <a:r>
              <a:rPr lang="ja-JP" altLang="en-US" sz="3200" b="1" dirty="0">
                <a:solidFill>
                  <a:srgbClr val="082B52"/>
                </a:solidFill>
                <a:latin typeface="Yu Gothic"/>
              </a:rPr>
              <a:t>やりたいこと：</a:t>
            </a:r>
            <a:r>
              <a:rPr sz="3200" b="1" dirty="0" err="1">
                <a:solidFill>
                  <a:srgbClr val="082B52"/>
                </a:solidFill>
                <a:latin typeface="Yu Gothic"/>
              </a:rPr>
              <a:t>熱ひずみ</a:t>
            </a:r>
            <a:r>
              <a:rPr lang="ja-JP" altLang="en-US" sz="3200" b="1" dirty="0">
                <a:solidFill>
                  <a:srgbClr val="082B52"/>
                </a:solidFill>
                <a:latin typeface="Yu Gothic"/>
              </a:rPr>
              <a:t>による</a:t>
            </a:r>
            <a:r>
              <a:rPr sz="3200" b="1" dirty="0" err="1">
                <a:solidFill>
                  <a:srgbClr val="082B52"/>
                </a:solidFill>
                <a:latin typeface="Yu Gothic"/>
              </a:rPr>
              <a:t>粗捕捉開始時の</a:t>
            </a:r>
            <a:r>
              <a:rPr sz="3200" b="1" dirty="0">
                <a:solidFill>
                  <a:srgbClr val="082B52"/>
                </a:solidFill>
                <a:latin typeface="Yu Gothic"/>
              </a:rPr>
              <a:t> scan-center error </a:t>
            </a:r>
            <a:r>
              <a:rPr lang="ja-JP" altLang="en-US" sz="3200" dirty="0">
                <a:solidFill>
                  <a:srgbClr val="082B52"/>
                </a:solidFill>
                <a:latin typeface="Yu Gothic"/>
              </a:rPr>
              <a:t>を運用側で改善</a:t>
            </a:r>
            <a:endParaRPr sz="3200" b="1" dirty="0">
              <a:solidFill>
                <a:srgbClr val="082B52"/>
              </a:solidFill>
              <a:latin typeface="Yu Gothic"/>
            </a:endParaRPr>
          </a:p>
        </p:txBody>
      </p:sp>
      <p:sp>
        <p:nvSpPr>
          <p:cNvPr id="4" name="スライド番号プレースホルダー 3">
            <a:extLst>
              <a:ext uri="{FF2B5EF4-FFF2-40B4-BE49-F238E27FC236}">
                <a16:creationId xmlns:a16="http://schemas.microsoft.com/office/drawing/2014/main" id="{7335B153-B47B-237D-12A8-7E5DB77621F1}"/>
              </a:ext>
            </a:extLst>
          </p:cNvPr>
          <p:cNvSpPr>
            <a:spLocks noGrp="1"/>
          </p:cNvSpPr>
          <p:nvPr>
            <p:ph type="sldNum" sz="quarter" idx="12"/>
          </p:nvPr>
        </p:nvSpPr>
        <p:spPr/>
        <p:txBody>
          <a:bodyPr/>
          <a:lstStyle/>
          <a:p>
            <a:r>
              <a:rPr sz="1800" b="0">
                <a:solidFill>
                  <a:srgbClr val="666F79"/>
                </a:solidFill>
                <a:latin typeface="Yu Gothic"/>
              </a:rPr>
              <a:t>4</a:t>
            </a:r>
          </a:p>
        </p:txBody>
      </p:sp>
      <p:sp>
        <p:nvSpPr>
          <p:cNvPr id="5" name="テキスト プレースホルダー 4">
            <a:extLst>
              <a:ext uri="{FF2B5EF4-FFF2-40B4-BE49-F238E27FC236}">
                <a16:creationId xmlns:a16="http://schemas.microsoft.com/office/drawing/2014/main" id="{A906C556-D817-34D8-3FEC-80F456E48CE2}"/>
              </a:ext>
            </a:extLst>
          </p:cNvPr>
          <p:cNvSpPr>
            <a:spLocks noGrp="1"/>
          </p:cNvSpPr>
          <p:nvPr>
            <p:ph type="body" sz="quarter" idx="13"/>
          </p:nvPr>
        </p:nvSpPr>
        <p:spPr/>
        <p:txBody>
          <a:bodyPr/>
          <a:lstStyle/>
          <a:p>
            <a:r>
              <a:rPr sz="2000" b="0">
                <a:solidFill>
                  <a:srgbClr val="666F79"/>
                </a:solidFill>
                <a:latin typeface="Yu Gothic"/>
              </a:rPr>
              <a:t>Background</a:t>
            </a:r>
          </a:p>
        </p:txBody>
      </p:sp>
      <p:sp>
        <p:nvSpPr>
          <p:cNvPr id="6" name="Rounded Rectangle 5"/>
          <p:cNvSpPr/>
          <p:nvPr/>
        </p:nvSpPr>
        <p:spPr>
          <a:xfrm>
            <a:off x="1097280" y="3383280"/>
            <a:ext cx="6492240" cy="3200398"/>
          </a:xfrm>
          <a:prstGeom prst="roundRect">
            <a:avLst/>
          </a:prstGeom>
          <a:solidFill>
            <a:srgbClr val="F4F6F8"/>
          </a:solidFill>
          <a:ln w="2540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3886200"/>
            <a:ext cx="5943600" cy="594360"/>
          </a:xfrm>
          <a:prstGeom prst="rect">
            <a:avLst/>
          </a:prstGeom>
          <a:noFill/>
        </p:spPr>
        <p:txBody>
          <a:bodyPr wrap="none" lIns="36576" tIns="27432" rIns="36576" bIns="27432" anchor="t">
            <a:spAutoFit/>
          </a:bodyPr>
          <a:lstStyle/>
          <a:p>
            <a:pPr algn="ctr"/>
            <a:r>
              <a:rPr sz="2700" b="1">
                <a:solidFill>
                  <a:srgbClr val="1B74AA"/>
                </a:solidFill>
                <a:latin typeface="Yu Gothic"/>
              </a:rPr>
              <a:t>光フィードバック前</a:t>
            </a:r>
          </a:p>
        </p:txBody>
      </p:sp>
      <p:sp>
        <p:nvSpPr>
          <p:cNvPr id="8" name="TextBox 7"/>
          <p:cNvSpPr txBox="1"/>
          <p:nvPr/>
        </p:nvSpPr>
        <p:spPr>
          <a:xfrm>
            <a:off x="1463040" y="5074920"/>
            <a:ext cx="5760720" cy="1508760"/>
          </a:xfrm>
          <a:prstGeom prst="rect">
            <a:avLst/>
          </a:prstGeom>
          <a:noFill/>
        </p:spPr>
        <p:txBody>
          <a:bodyPr wrap="none" lIns="36576" tIns="27432" rIns="36576" bIns="27432" anchor="t">
            <a:spAutoFit/>
          </a:bodyPr>
          <a:lstStyle/>
          <a:p>
            <a:pPr algn="ctr"/>
            <a:r>
              <a:rPr sz="2600" b="0">
                <a:solidFill>
                  <a:srgbClr val="232B34"/>
                </a:solidFill>
                <a:latin typeface="Yu Gothic"/>
              </a:rPr>
              <a:t>姿勢・軌道・熱LOSを含む
不確定領域を探索</a:t>
            </a:r>
          </a:p>
        </p:txBody>
      </p:sp>
      <p:cxnSp>
        <p:nvCxnSpPr>
          <p:cNvPr id="9" name="Connector 8"/>
          <p:cNvCxnSpPr/>
          <p:nvPr/>
        </p:nvCxnSpPr>
        <p:spPr>
          <a:xfrm>
            <a:off x="7818119" y="5852160"/>
            <a:ext cx="640081" cy="0"/>
          </a:xfrm>
          <a:prstGeom prst="line">
            <a:avLst/>
          </a:prstGeom>
          <a:ln w="381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732519" y="3383280"/>
            <a:ext cx="6492240" cy="3200398"/>
          </a:xfrm>
          <a:prstGeom prst="roundRect">
            <a:avLst/>
          </a:prstGeom>
          <a:solidFill>
            <a:srgbClr val="F4F6F8"/>
          </a:solidFill>
          <a:ln w="2540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06840" y="3886200"/>
            <a:ext cx="5943600" cy="594360"/>
          </a:xfrm>
          <a:prstGeom prst="rect">
            <a:avLst/>
          </a:prstGeom>
          <a:noFill/>
        </p:spPr>
        <p:txBody>
          <a:bodyPr wrap="none" lIns="36576" tIns="27432" rIns="36576" bIns="27432" anchor="t">
            <a:spAutoFit/>
          </a:bodyPr>
          <a:lstStyle/>
          <a:p>
            <a:pPr algn="ctr"/>
            <a:r>
              <a:rPr sz="2700" b="1">
                <a:solidFill>
                  <a:srgbClr val="EC9427"/>
                </a:solidFill>
                <a:latin typeface="Yu Gothic"/>
              </a:rPr>
              <a:t>日照・蝕／機器発熱</a:t>
            </a:r>
          </a:p>
        </p:txBody>
      </p:sp>
      <p:sp>
        <p:nvSpPr>
          <p:cNvPr id="12" name="TextBox 11"/>
          <p:cNvSpPr txBox="1"/>
          <p:nvPr/>
        </p:nvSpPr>
        <p:spPr>
          <a:xfrm>
            <a:off x="10297444" y="4638382"/>
            <a:ext cx="3408112" cy="855619"/>
          </a:xfrm>
          <a:prstGeom prst="rect">
            <a:avLst/>
          </a:prstGeom>
          <a:noFill/>
        </p:spPr>
        <p:txBody>
          <a:bodyPr wrap="none" lIns="36576" tIns="27432" rIns="36576" bIns="27432" anchor="t">
            <a:spAutoFit/>
          </a:bodyPr>
          <a:lstStyle/>
          <a:p>
            <a:pPr algn="ctr"/>
            <a:r>
              <a:rPr sz="2600" b="0" dirty="0" err="1">
                <a:solidFill>
                  <a:srgbClr val="232B34"/>
                </a:solidFill>
                <a:latin typeface="Yu Gothic"/>
              </a:rPr>
              <a:t>温度場</a:t>
            </a:r>
            <a:r>
              <a:rPr sz="2600" b="0" dirty="0">
                <a:solidFill>
                  <a:srgbClr val="232B34"/>
                </a:solidFill>
                <a:latin typeface="Yu Gothic"/>
              </a:rPr>
              <a:t> → </a:t>
            </a:r>
            <a:r>
              <a:rPr sz="2600" b="0" dirty="0" err="1">
                <a:solidFill>
                  <a:srgbClr val="232B34"/>
                </a:solidFill>
                <a:latin typeface="Yu Gothic"/>
              </a:rPr>
              <a:t>差動膨張</a:t>
            </a:r>
            <a:r>
              <a:rPr sz="2600" b="0" dirty="0">
                <a:solidFill>
                  <a:srgbClr val="232B34"/>
                </a:solidFill>
                <a:latin typeface="Yu Gothic"/>
              </a:rPr>
              <a:t> →
</a:t>
            </a:r>
            <a:r>
              <a:rPr lang="ja-JP" altLang="en-US" sz="2600" dirty="0">
                <a:solidFill>
                  <a:srgbClr val="232B34"/>
                </a:solidFill>
                <a:latin typeface="Yu Gothic"/>
              </a:rPr>
              <a:t>衛星筐体のねじれ</a:t>
            </a:r>
            <a:endParaRPr sz="2600" b="0" dirty="0">
              <a:solidFill>
                <a:srgbClr val="232B34"/>
              </a:solidFill>
              <a:latin typeface="Yu Gothic"/>
            </a:endParaRPr>
          </a:p>
        </p:txBody>
      </p:sp>
      <p:sp>
        <p:nvSpPr>
          <p:cNvPr id="13" name="TextBox 12"/>
          <p:cNvSpPr txBox="1"/>
          <p:nvPr/>
        </p:nvSpPr>
        <p:spPr>
          <a:xfrm>
            <a:off x="9899794" y="5766266"/>
            <a:ext cx="4196790" cy="501676"/>
          </a:xfrm>
          <a:prstGeom prst="rect">
            <a:avLst/>
          </a:prstGeom>
          <a:noFill/>
        </p:spPr>
        <p:txBody>
          <a:bodyPr wrap="none" lIns="36576" tIns="27432" rIns="36576" bIns="27432" anchor="t">
            <a:spAutoFit/>
          </a:bodyPr>
          <a:lstStyle/>
          <a:p>
            <a:pPr algn="ctr"/>
            <a:r>
              <a:rPr sz="2900" b="1" dirty="0">
                <a:solidFill>
                  <a:srgbClr val="D03B46"/>
                </a:solidFill>
                <a:latin typeface="Yu Gothic"/>
              </a:rPr>
              <a:t>10²–10³ µrad</a:t>
            </a:r>
            <a:r>
              <a:rPr lang="ja-JP" altLang="en-US" sz="2900" b="1" dirty="0">
                <a:solidFill>
                  <a:srgbClr val="D03B46"/>
                </a:solidFill>
                <a:latin typeface="Yu Gothic"/>
              </a:rPr>
              <a:t>の</a:t>
            </a:r>
            <a:r>
              <a:rPr lang="en-US" altLang="ja-JP" sz="2900" b="1" dirty="0">
                <a:solidFill>
                  <a:srgbClr val="D03B46"/>
                </a:solidFill>
                <a:latin typeface="Yu Gothic"/>
              </a:rPr>
              <a:t>LOS</a:t>
            </a:r>
            <a:r>
              <a:rPr lang="ja-JP" altLang="en-US" sz="2900" b="1" dirty="0">
                <a:solidFill>
                  <a:srgbClr val="D03B46"/>
                </a:solidFill>
                <a:latin typeface="Yu Gothic"/>
              </a:rPr>
              <a:t>誤差</a:t>
            </a:r>
            <a:endParaRPr sz="2900" b="1" dirty="0">
              <a:solidFill>
                <a:srgbClr val="D03B46"/>
              </a:solidFill>
              <a:latin typeface="Yu Gothic"/>
            </a:endParaRPr>
          </a:p>
        </p:txBody>
      </p:sp>
      <p:cxnSp>
        <p:nvCxnSpPr>
          <p:cNvPr id="14" name="Connector 13"/>
          <p:cNvCxnSpPr/>
          <p:nvPr/>
        </p:nvCxnSpPr>
        <p:spPr>
          <a:xfrm>
            <a:off x="15453359" y="5852160"/>
            <a:ext cx="640081" cy="0"/>
          </a:xfrm>
          <a:prstGeom prst="line">
            <a:avLst/>
          </a:prstGeom>
          <a:ln w="38100">
            <a:solidFill>
              <a:srgbClr val="5BB5D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6367759" y="3383280"/>
            <a:ext cx="6492240" cy="3200395"/>
          </a:xfrm>
          <a:prstGeom prst="roundRect">
            <a:avLst/>
          </a:prstGeom>
          <a:solidFill>
            <a:srgbClr val="F4F6F8"/>
          </a:solidFill>
          <a:ln w="2540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7763150" y="3886200"/>
            <a:ext cx="3701463" cy="470898"/>
          </a:xfrm>
          <a:prstGeom prst="rect">
            <a:avLst/>
          </a:prstGeom>
          <a:noFill/>
        </p:spPr>
        <p:txBody>
          <a:bodyPr wrap="none" lIns="36576" tIns="27432" rIns="36576" bIns="27432" anchor="t">
            <a:spAutoFit/>
          </a:bodyPr>
          <a:lstStyle/>
          <a:p>
            <a:pPr algn="ctr"/>
            <a:r>
              <a:rPr sz="2700" b="1" dirty="0" err="1">
                <a:solidFill>
                  <a:srgbClr val="239571"/>
                </a:solidFill>
                <a:latin typeface="Yu Gothic"/>
              </a:rPr>
              <a:t>予測</a:t>
            </a:r>
            <a:r>
              <a:rPr lang="en-US" sz="2700" b="1" dirty="0" err="1">
                <a:solidFill>
                  <a:srgbClr val="239571"/>
                </a:solidFill>
                <a:latin typeface="Yu Gothic"/>
              </a:rPr>
              <a:t>FeedForward</a:t>
            </a:r>
            <a:r>
              <a:rPr sz="2700" b="1" dirty="0" err="1">
                <a:solidFill>
                  <a:srgbClr val="239571"/>
                </a:solidFill>
                <a:latin typeface="Yu Gothic"/>
              </a:rPr>
              <a:t>補正</a:t>
            </a:r>
            <a:endParaRPr sz="2700" b="1" dirty="0">
              <a:solidFill>
                <a:srgbClr val="239571"/>
              </a:solidFill>
              <a:latin typeface="Yu Gothic"/>
            </a:endParaRPr>
          </a:p>
        </p:txBody>
      </p:sp>
      <p:sp>
        <p:nvSpPr>
          <p:cNvPr id="17" name="TextBox 16"/>
          <p:cNvSpPr txBox="1"/>
          <p:nvPr/>
        </p:nvSpPr>
        <p:spPr>
          <a:xfrm>
            <a:off x="16733519" y="5074920"/>
            <a:ext cx="5760720" cy="1508760"/>
          </a:xfrm>
          <a:prstGeom prst="rect">
            <a:avLst/>
          </a:prstGeom>
          <a:noFill/>
        </p:spPr>
        <p:txBody>
          <a:bodyPr wrap="none" lIns="36576" tIns="27432" rIns="36576" bIns="27432" anchor="t">
            <a:spAutoFit/>
          </a:bodyPr>
          <a:lstStyle/>
          <a:p>
            <a:pPr algn="ctr"/>
            <a:r>
              <a:rPr sz="2600" b="0">
                <a:solidFill>
                  <a:srgbClr val="232B34"/>
                </a:solidFill>
                <a:latin typeface="Yu Gothic"/>
              </a:rPr>
              <a:t>熱LOSをscan centerから引き
探索域・捕捉時間を低減</a:t>
            </a:r>
          </a:p>
        </p:txBody>
      </p:sp>
      <p:sp>
        <p:nvSpPr>
          <p:cNvPr id="18" name="TextBox 17"/>
          <p:cNvSpPr txBox="1"/>
          <p:nvPr/>
        </p:nvSpPr>
        <p:spPr>
          <a:xfrm>
            <a:off x="2901741" y="12321036"/>
            <a:ext cx="18578933" cy="532453"/>
          </a:xfrm>
          <a:prstGeom prst="rect">
            <a:avLst/>
          </a:prstGeom>
          <a:noFill/>
        </p:spPr>
        <p:txBody>
          <a:bodyPr wrap="none" lIns="36576" tIns="27432" rIns="36576" bIns="27432" anchor="t">
            <a:spAutoFit/>
          </a:bodyPr>
          <a:lstStyle/>
          <a:p>
            <a:pPr algn="ctr"/>
            <a:r>
              <a:rPr lang="ja-JP" altLang="en-US" sz="3100" b="1" dirty="0">
                <a:solidFill>
                  <a:srgbClr val="082B52"/>
                </a:solidFill>
                <a:latin typeface="Yu Gothic"/>
              </a:rPr>
              <a:t>衛星</a:t>
            </a:r>
            <a:r>
              <a:rPr lang="en-US" altLang="ja-JP" sz="3100" b="1" dirty="0">
                <a:solidFill>
                  <a:srgbClr val="082B52"/>
                </a:solidFill>
                <a:latin typeface="Yu Gothic"/>
              </a:rPr>
              <a:t>/LCT</a:t>
            </a:r>
            <a:r>
              <a:rPr lang="ja-JP" altLang="en-US" sz="3100" b="1" dirty="0">
                <a:solidFill>
                  <a:srgbClr val="082B52"/>
                </a:solidFill>
                <a:latin typeface="Yu Gothic"/>
              </a:rPr>
              <a:t>の</a:t>
            </a:r>
            <a:r>
              <a:rPr sz="3100" b="1" dirty="0" err="1">
                <a:solidFill>
                  <a:srgbClr val="082B52"/>
                </a:solidFill>
                <a:latin typeface="Yu Gothic"/>
              </a:rPr>
              <a:t>構造を変更せず</a:t>
            </a:r>
            <a:r>
              <a:rPr sz="3100" b="1" dirty="0">
                <a:solidFill>
                  <a:srgbClr val="082B52"/>
                </a:solidFill>
                <a:latin typeface="Yu Gothic"/>
              </a:rPr>
              <a:t>、</a:t>
            </a:r>
            <a:r>
              <a:rPr lang="ja-JP" altLang="en-US" sz="3100" b="1" dirty="0">
                <a:solidFill>
                  <a:srgbClr val="082B52"/>
                </a:solidFill>
                <a:latin typeface="Yu Gothic"/>
              </a:rPr>
              <a:t>粗捕捉開始時の</a:t>
            </a:r>
            <a:r>
              <a:rPr lang="en-US" sz="3100" b="1" dirty="0">
                <a:solidFill>
                  <a:srgbClr val="082B52"/>
                </a:solidFill>
                <a:latin typeface="Yu Gothic"/>
              </a:rPr>
              <a:t>LOS</a:t>
            </a:r>
            <a:r>
              <a:rPr lang="ja-JP" altLang="en-US" sz="3100" b="1" dirty="0">
                <a:solidFill>
                  <a:srgbClr val="082B52"/>
                </a:solidFill>
                <a:latin typeface="Yu Gothic"/>
              </a:rPr>
              <a:t>誤差の中で</a:t>
            </a:r>
            <a:r>
              <a:rPr sz="3100" b="1" dirty="0" err="1">
                <a:solidFill>
                  <a:srgbClr val="082B52"/>
                </a:solidFill>
                <a:latin typeface="Yu Gothic"/>
              </a:rPr>
              <a:t>予測可能な熱成分だけを運用側で除去する</a:t>
            </a:r>
            <a:endParaRPr sz="3100" b="1" dirty="0">
              <a:solidFill>
                <a:srgbClr val="082B52"/>
              </a:solidFill>
              <a:latin typeface="Yu Gothic"/>
            </a:endParaRPr>
          </a:p>
        </p:txBody>
      </p:sp>
      <p:pic>
        <p:nvPicPr>
          <p:cNvPr id="20" name="図 19">
            <a:extLst>
              <a:ext uri="{FF2B5EF4-FFF2-40B4-BE49-F238E27FC236}">
                <a16:creationId xmlns:a16="http://schemas.microsoft.com/office/drawing/2014/main" id="{191BBC5C-178E-661F-128A-D617E934A20F}"/>
              </a:ext>
            </a:extLst>
          </p:cNvPr>
          <p:cNvPicPr>
            <a:picLocks noChangeAspect="1"/>
          </p:cNvPicPr>
          <p:nvPr/>
        </p:nvPicPr>
        <p:blipFill>
          <a:blip r:embed="rId3"/>
          <a:stretch>
            <a:fillRect/>
          </a:stretch>
        </p:blipFill>
        <p:spPr>
          <a:xfrm>
            <a:off x="16916232" y="7065665"/>
            <a:ext cx="5487986" cy="4615305"/>
          </a:xfrm>
          <a:prstGeom prst="rect">
            <a:avLst/>
          </a:prstGeom>
        </p:spPr>
      </p:pic>
      <p:pic>
        <p:nvPicPr>
          <p:cNvPr id="22" name="図 21">
            <a:extLst>
              <a:ext uri="{FF2B5EF4-FFF2-40B4-BE49-F238E27FC236}">
                <a16:creationId xmlns:a16="http://schemas.microsoft.com/office/drawing/2014/main" id="{498CF50A-5A18-B28F-3BD0-637684E7A9B3}"/>
              </a:ext>
            </a:extLst>
          </p:cNvPr>
          <p:cNvPicPr>
            <a:picLocks noChangeAspect="1"/>
          </p:cNvPicPr>
          <p:nvPr/>
        </p:nvPicPr>
        <p:blipFill>
          <a:blip r:embed="rId4"/>
          <a:stretch>
            <a:fillRect/>
          </a:stretch>
        </p:blipFill>
        <p:spPr>
          <a:xfrm>
            <a:off x="1238250" y="6893807"/>
            <a:ext cx="5985510" cy="5210337"/>
          </a:xfrm>
          <a:prstGeom prst="rect">
            <a:avLst/>
          </a:prstGeom>
        </p:spPr>
      </p:pic>
      <p:pic>
        <p:nvPicPr>
          <p:cNvPr id="24" name="図 23">
            <a:extLst>
              <a:ext uri="{FF2B5EF4-FFF2-40B4-BE49-F238E27FC236}">
                <a16:creationId xmlns:a16="http://schemas.microsoft.com/office/drawing/2014/main" id="{0A9CA252-8827-F5D6-2FFC-9FEB887111DE}"/>
              </a:ext>
            </a:extLst>
          </p:cNvPr>
          <p:cNvPicPr>
            <a:picLocks noChangeAspect="1"/>
          </p:cNvPicPr>
          <p:nvPr/>
        </p:nvPicPr>
        <p:blipFill>
          <a:blip r:embed="rId5"/>
          <a:stretch>
            <a:fillRect/>
          </a:stretch>
        </p:blipFill>
        <p:spPr>
          <a:xfrm>
            <a:off x="8912107" y="7164886"/>
            <a:ext cx="6056967" cy="3389179"/>
          </a:xfrm>
          <a:prstGeom prst="rect">
            <a:avLst/>
          </a:prstGeom>
        </p:spPr>
      </p:pic>
    </p:spTree>
    <p:extLst>
      <p:ext uri="{BB962C8B-B14F-4D97-AF65-F5344CB8AC3E}">
        <p14:creationId xmlns:p14="http://schemas.microsoft.com/office/powerpoint/2010/main" val="3867172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68C4D-195B-8495-7268-573CDB8EC8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655CE6-31D2-9766-C410-BC789D604115}"/>
              </a:ext>
            </a:extLst>
          </p:cNvPr>
          <p:cNvSpPr>
            <a:spLocks noGrp="1"/>
          </p:cNvSpPr>
          <p:nvPr>
            <p:ph type="title"/>
          </p:nvPr>
        </p:nvSpPr>
        <p:spPr/>
        <p:txBody>
          <a:bodyPr/>
          <a:lstStyle/>
          <a:p>
            <a:r>
              <a:rPr lang="ja-JP" altLang="en-US" sz="3200" b="1" dirty="0">
                <a:solidFill>
                  <a:srgbClr val="082B52"/>
                </a:solidFill>
                <a:latin typeface="Yu Gothic"/>
              </a:rPr>
              <a:t>進捗：</a:t>
            </a:r>
            <a:r>
              <a:rPr lang="en-US" altLang="ja-JP" sz="3200" dirty="0">
                <a:solidFill>
                  <a:srgbClr val="082B52"/>
                </a:solidFill>
                <a:latin typeface="Yu Gothic"/>
              </a:rPr>
              <a:t>2</a:t>
            </a:r>
            <a:r>
              <a:rPr lang="ja-JP" altLang="en-US" sz="3200" dirty="0">
                <a:solidFill>
                  <a:srgbClr val="082B52"/>
                </a:solidFill>
                <a:latin typeface="Yu Gothic"/>
              </a:rPr>
              <a:t>か月</a:t>
            </a:r>
            <a:r>
              <a:rPr sz="3200" b="1" dirty="0">
                <a:solidFill>
                  <a:srgbClr val="082B52"/>
                </a:solidFill>
                <a:latin typeface="Yu Gothic"/>
              </a:rPr>
              <a:t>で</a:t>
            </a:r>
            <a:r>
              <a:rPr lang="ja-JP" altLang="ja-JP" sz="3200" dirty="0"/>
              <a:t>熱LOS真値生成・軽量モデル構築・PAT統合評価</a:t>
            </a:r>
            <a:r>
              <a:rPr lang="ja-JP" altLang="en-US" sz="3200" b="1" dirty="0">
                <a:solidFill>
                  <a:srgbClr val="082B52"/>
                </a:solidFill>
                <a:latin typeface="Yu Gothic"/>
              </a:rPr>
              <a:t>まで</a:t>
            </a:r>
            <a:r>
              <a:rPr sz="3200" b="1" dirty="0" err="1">
                <a:solidFill>
                  <a:srgbClr val="082B52"/>
                </a:solidFill>
                <a:latin typeface="Yu Gothic"/>
              </a:rPr>
              <a:t>進んだ</a:t>
            </a:r>
            <a:endParaRPr sz="3200" b="1" dirty="0">
              <a:solidFill>
                <a:srgbClr val="082B52"/>
              </a:solidFill>
              <a:latin typeface="Yu Gothic"/>
            </a:endParaRPr>
          </a:p>
        </p:txBody>
      </p:sp>
      <p:sp>
        <p:nvSpPr>
          <p:cNvPr id="4" name="テキスト プレースホルダー 3">
            <a:extLst>
              <a:ext uri="{FF2B5EF4-FFF2-40B4-BE49-F238E27FC236}">
                <a16:creationId xmlns:a16="http://schemas.microsoft.com/office/drawing/2014/main" id="{E819AD32-0E73-61BA-5B7C-EFE1060541CF}"/>
              </a:ext>
            </a:extLst>
          </p:cNvPr>
          <p:cNvSpPr>
            <a:spLocks noGrp="1"/>
          </p:cNvSpPr>
          <p:nvPr>
            <p:ph type="body" sz="quarter" idx="13"/>
          </p:nvPr>
        </p:nvSpPr>
        <p:spPr/>
        <p:txBody>
          <a:bodyPr/>
          <a:lstStyle/>
          <a:p>
            <a:r>
              <a:rPr sz="2000" b="0">
                <a:solidFill>
                  <a:srgbClr val="666F79"/>
                </a:solidFill>
                <a:latin typeface="Yu Gothic"/>
              </a:rPr>
              <a:t>Progress since 7/6</a:t>
            </a:r>
          </a:p>
        </p:txBody>
      </p:sp>
      <p:sp>
        <p:nvSpPr>
          <p:cNvPr id="5" name="スライド番号プレースホルダー 4">
            <a:extLst>
              <a:ext uri="{FF2B5EF4-FFF2-40B4-BE49-F238E27FC236}">
                <a16:creationId xmlns:a16="http://schemas.microsoft.com/office/drawing/2014/main" id="{F1629B45-DF56-B122-2C34-9A5A5A87D19A}"/>
              </a:ext>
            </a:extLst>
          </p:cNvPr>
          <p:cNvSpPr>
            <a:spLocks noGrp="1"/>
          </p:cNvSpPr>
          <p:nvPr>
            <p:ph type="sldNum" sz="quarter" idx="12"/>
          </p:nvPr>
        </p:nvSpPr>
        <p:spPr/>
        <p:txBody>
          <a:bodyPr/>
          <a:lstStyle/>
          <a:p>
            <a:r>
              <a:rPr sz="1800" b="0">
                <a:solidFill>
                  <a:srgbClr val="666F79"/>
                </a:solidFill>
                <a:latin typeface="Yu Gothic"/>
              </a:rPr>
              <a:t>5</a:t>
            </a:r>
          </a:p>
        </p:txBody>
      </p:sp>
      <p:sp>
        <p:nvSpPr>
          <p:cNvPr id="6" name="TextBox 5"/>
          <p:cNvSpPr txBox="1"/>
          <p:nvPr/>
        </p:nvSpPr>
        <p:spPr>
          <a:xfrm>
            <a:off x="5105443" y="3063240"/>
            <a:ext cx="2407839" cy="486287"/>
          </a:xfrm>
          <a:prstGeom prst="rect">
            <a:avLst/>
          </a:prstGeom>
          <a:noFill/>
        </p:spPr>
        <p:txBody>
          <a:bodyPr wrap="none" lIns="36576" tIns="27432" rIns="36576" bIns="27432" anchor="t">
            <a:spAutoFit/>
          </a:bodyPr>
          <a:lstStyle/>
          <a:p>
            <a:pPr algn="ctr"/>
            <a:r>
              <a:rPr lang="en-US" sz="2800" b="1" dirty="0">
                <a:solidFill>
                  <a:srgbClr val="666F79"/>
                </a:solidFill>
                <a:latin typeface="Yu Gothic"/>
              </a:rPr>
              <a:t>5</a:t>
            </a:r>
            <a:r>
              <a:rPr sz="2800" b="1" dirty="0">
                <a:solidFill>
                  <a:srgbClr val="666F79"/>
                </a:solidFill>
                <a:latin typeface="Yu Gothic"/>
              </a:rPr>
              <a:t>/</a:t>
            </a:r>
            <a:r>
              <a:rPr lang="en-US" sz="2800" b="1" dirty="0">
                <a:solidFill>
                  <a:srgbClr val="666F79"/>
                </a:solidFill>
                <a:latin typeface="Yu Gothic"/>
              </a:rPr>
              <a:t>26</a:t>
            </a:r>
            <a:r>
              <a:rPr lang="ja-JP" altLang="en-US" sz="2800" b="1" dirty="0">
                <a:solidFill>
                  <a:srgbClr val="666F79"/>
                </a:solidFill>
                <a:latin typeface="Yu Gothic"/>
              </a:rPr>
              <a:t> 輪講発表</a:t>
            </a:r>
            <a:endParaRPr sz="2800" b="1" dirty="0">
              <a:solidFill>
                <a:srgbClr val="666F79"/>
              </a:solidFill>
              <a:latin typeface="Yu Gothic"/>
            </a:endParaRPr>
          </a:p>
        </p:txBody>
      </p:sp>
      <p:sp>
        <p:nvSpPr>
          <p:cNvPr id="7" name="TextBox 6"/>
          <p:cNvSpPr txBox="1"/>
          <p:nvPr/>
        </p:nvSpPr>
        <p:spPr>
          <a:xfrm>
            <a:off x="17168835" y="3063240"/>
            <a:ext cx="1689693" cy="486287"/>
          </a:xfrm>
          <a:prstGeom prst="rect">
            <a:avLst/>
          </a:prstGeom>
          <a:noFill/>
        </p:spPr>
        <p:txBody>
          <a:bodyPr wrap="none" lIns="36576" tIns="27432" rIns="36576" bIns="27432" anchor="t">
            <a:spAutoFit/>
          </a:bodyPr>
          <a:lstStyle/>
          <a:p>
            <a:pPr algn="ctr"/>
            <a:r>
              <a:rPr sz="2800" b="1" dirty="0">
                <a:solidFill>
                  <a:srgbClr val="1B74AA"/>
                </a:solidFill>
                <a:latin typeface="Yu Gothic"/>
              </a:rPr>
              <a:t>7/21</a:t>
            </a:r>
            <a:r>
              <a:rPr lang="ja-JP" altLang="en-US" sz="2800" b="1" dirty="0">
                <a:solidFill>
                  <a:srgbClr val="1B74AA"/>
                </a:solidFill>
                <a:latin typeface="Yu Gothic"/>
              </a:rPr>
              <a:t> 本日</a:t>
            </a:r>
            <a:endParaRPr sz="2800" b="1" dirty="0">
              <a:solidFill>
                <a:srgbClr val="1B74AA"/>
              </a:solidFill>
              <a:latin typeface="Yu Gothic"/>
            </a:endParaRPr>
          </a:p>
        </p:txBody>
      </p:sp>
      <p:sp>
        <p:nvSpPr>
          <p:cNvPr id="8" name="Rectangle 7"/>
          <p:cNvSpPr/>
          <p:nvPr/>
        </p:nvSpPr>
        <p:spPr>
          <a:xfrm>
            <a:off x="1188720" y="3840480"/>
            <a:ext cx="10241280" cy="6217920"/>
          </a:xfrm>
          <a:prstGeom prst="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893040" y="3840480"/>
            <a:ext cx="10241280" cy="6217920"/>
          </a:xfrm>
          <a:prstGeom prst="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0" y="4434840"/>
            <a:ext cx="9052560" cy="3159839"/>
          </a:xfrm>
          <a:prstGeom prst="rect">
            <a:avLst/>
          </a:prstGeom>
          <a:noFill/>
        </p:spPr>
        <p:txBody>
          <a:bodyPr wrap="square" lIns="27432" rIns="27432">
            <a:spAutoFit/>
          </a:bodyPr>
          <a:lstStyle/>
          <a:p>
            <a:pPr>
              <a:spcAft>
                <a:spcPts val="800"/>
              </a:spcAft>
            </a:pPr>
            <a:r>
              <a:rPr lang="ja-JP" altLang="en-US" sz="2600" b="1" dirty="0">
                <a:solidFill>
                  <a:srgbClr val="666F79"/>
                </a:solidFill>
                <a:latin typeface="Yu Gothic"/>
              </a:rPr>
              <a:t>研究構想</a:t>
            </a:r>
            <a:r>
              <a:rPr sz="2600" b="1" dirty="0">
                <a:solidFill>
                  <a:srgbClr val="666F79"/>
                </a:solidFill>
                <a:latin typeface="Yu Gothic"/>
              </a:rPr>
              <a:t>•</a:t>
            </a:r>
            <a:r>
              <a:rPr lang="ja-JP" altLang="en-US" sz="2600" b="1" dirty="0">
                <a:solidFill>
                  <a:srgbClr val="666F79"/>
                </a:solidFill>
                <a:latin typeface="Yu Gothic"/>
              </a:rPr>
              <a:t>評価枠組みの提案</a:t>
            </a:r>
            <a:endParaRPr sz="2600" dirty="0">
              <a:solidFill>
                <a:srgbClr val="232B34"/>
              </a:solidFill>
              <a:latin typeface="Yu Gothic"/>
            </a:endParaRPr>
          </a:p>
          <a:p>
            <a:pPr>
              <a:spcAft>
                <a:spcPts val="800"/>
              </a:spcAft>
            </a:pPr>
            <a:r>
              <a:rPr sz="2600" b="1" dirty="0">
                <a:solidFill>
                  <a:srgbClr val="666F79"/>
                </a:solidFill>
                <a:latin typeface="Yu Gothic"/>
              </a:rPr>
              <a:t>•</a:t>
            </a:r>
            <a:r>
              <a:rPr lang="ja-JP" altLang="ja-JP" sz="2800" dirty="0"/>
              <a:t>熱ひずみを時間変動LOSバイアスとして定式</a:t>
            </a:r>
            <a:endParaRPr lang="en-US" altLang="ja-JP" sz="2800" dirty="0"/>
          </a:p>
          <a:p>
            <a:pPr>
              <a:spcAft>
                <a:spcPts val="800"/>
              </a:spcAft>
            </a:pPr>
            <a:r>
              <a:rPr lang="en-US" altLang="ja-JP" sz="2800" b="1" dirty="0">
                <a:solidFill>
                  <a:srgbClr val="666F79"/>
                </a:solidFill>
                <a:latin typeface="Yu Gothic"/>
              </a:rPr>
              <a:t>• </a:t>
            </a:r>
            <a:r>
              <a:rPr lang="ja-JP" altLang="ja-JP" sz="2800" dirty="0"/>
              <a:t>TD/Femapを高精度参照とする解析フローを提案 </a:t>
            </a:r>
            <a:endParaRPr lang="en-US" altLang="ja-JP" sz="2800" dirty="0"/>
          </a:p>
          <a:p>
            <a:pPr>
              <a:spcAft>
                <a:spcPts val="800"/>
              </a:spcAft>
            </a:pPr>
            <a:r>
              <a:rPr lang="en-US" altLang="ja-JP" sz="2800" b="1" dirty="0">
                <a:solidFill>
                  <a:srgbClr val="666F79"/>
                </a:solidFill>
                <a:latin typeface="Yu Gothic"/>
              </a:rPr>
              <a:t>• </a:t>
            </a:r>
            <a:r>
              <a:rPr lang="ja-JP" altLang="ja-JP" sz="2800" dirty="0"/>
              <a:t>軽量補正モデルの候補を整理</a:t>
            </a:r>
            <a:endParaRPr lang="en-US" altLang="ja-JP" sz="2800" dirty="0"/>
          </a:p>
          <a:p>
            <a:pPr>
              <a:spcAft>
                <a:spcPts val="800"/>
              </a:spcAft>
            </a:pPr>
            <a:r>
              <a:rPr lang="en-US" altLang="ja-JP" sz="2800" b="1" dirty="0">
                <a:solidFill>
                  <a:srgbClr val="666F79"/>
                </a:solidFill>
                <a:latin typeface="Yu Gothic"/>
              </a:rPr>
              <a:t>• </a:t>
            </a:r>
            <a:r>
              <a:rPr lang="ja-JP" altLang="ja-JP" sz="2800" dirty="0"/>
              <a:t>FF補正＋Adaptive補正の二層構造を構想 </a:t>
            </a:r>
            <a:endParaRPr lang="en-US" altLang="ja-JP" sz="2800" dirty="0"/>
          </a:p>
          <a:p>
            <a:pPr>
              <a:spcAft>
                <a:spcPts val="800"/>
              </a:spcAft>
            </a:pPr>
            <a:r>
              <a:rPr lang="en-US" altLang="ja-JP" sz="2800" b="1" dirty="0">
                <a:solidFill>
                  <a:srgbClr val="666F79"/>
                </a:solidFill>
                <a:latin typeface="Yu Gothic"/>
              </a:rPr>
              <a:t>• </a:t>
            </a:r>
            <a:r>
              <a:rPr lang="ja-JP" altLang="ja-JP" sz="2800" dirty="0"/>
              <a:t>mock熱LOS</a:t>
            </a:r>
            <a:r>
              <a:rPr lang="ja-JP" altLang="en-US" sz="2800" dirty="0"/>
              <a:t>モデル</a:t>
            </a:r>
            <a:r>
              <a:rPr lang="ja-JP" altLang="ja-JP" sz="2800" dirty="0"/>
              <a:t>による予備PAT評価</a:t>
            </a:r>
            <a:endParaRPr sz="2600" dirty="0">
              <a:solidFill>
                <a:srgbClr val="232B34"/>
              </a:solidFill>
              <a:latin typeface="Yu Gothic"/>
            </a:endParaRPr>
          </a:p>
        </p:txBody>
      </p:sp>
      <p:sp>
        <p:nvSpPr>
          <p:cNvPr id="11" name="TextBox 10"/>
          <p:cNvSpPr txBox="1"/>
          <p:nvPr/>
        </p:nvSpPr>
        <p:spPr>
          <a:xfrm>
            <a:off x="13533120" y="4434840"/>
            <a:ext cx="9052560" cy="3693319"/>
          </a:xfrm>
          <a:prstGeom prst="rect">
            <a:avLst/>
          </a:prstGeom>
          <a:noFill/>
        </p:spPr>
        <p:txBody>
          <a:bodyPr wrap="square" lIns="27432" rIns="27432">
            <a:spAutoFit/>
          </a:bodyPr>
          <a:lstStyle/>
          <a:p>
            <a:pPr>
              <a:spcAft>
                <a:spcPts val="800"/>
              </a:spcAft>
            </a:pPr>
            <a:r>
              <a:rPr lang="ja-JP" altLang="en-US" sz="2600" b="1" dirty="0">
                <a:solidFill>
                  <a:srgbClr val="1B74AA"/>
                </a:solidFill>
                <a:latin typeface="Yu Gothic"/>
              </a:rPr>
              <a:t>実データ生成</a:t>
            </a:r>
            <a:r>
              <a:rPr sz="2600" b="1" dirty="0">
                <a:solidFill>
                  <a:srgbClr val="1B74AA"/>
                </a:solidFill>
                <a:latin typeface="Yu Gothic"/>
              </a:rPr>
              <a:t>•</a:t>
            </a:r>
            <a:r>
              <a:rPr lang="ja-JP" altLang="en-US" sz="2600" b="1" dirty="0">
                <a:solidFill>
                  <a:srgbClr val="1B74AA"/>
                </a:solidFill>
                <a:latin typeface="Yu Gothic"/>
              </a:rPr>
              <a:t>モデル構築・統合評価</a:t>
            </a:r>
            <a:endParaRPr lang="en-US" sz="2600" b="1" dirty="0">
              <a:solidFill>
                <a:srgbClr val="1B74AA"/>
              </a:solidFill>
              <a:latin typeface="Yu Gothic"/>
            </a:endParaRPr>
          </a:p>
          <a:p>
            <a:pPr>
              <a:spcAft>
                <a:spcPts val="800"/>
              </a:spcAft>
            </a:pPr>
            <a:r>
              <a:rPr lang="en-US" altLang="ja-JP" sz="2800" b="1" dirty="0">
                <a:solidFill>
                  <a:srgbClr val="666F79"/>
                </a:solidFill>
                <a:latin typeface="Yu Gothic"/>
              </a:rPr>
              <a:t>• </a:t>
            </a:r>
            <a:r>
              <a:rPr lang="ja-JP" altLang="ja-JP" sz="2800" dirty="0"/>
              <a:t>TD/Femapにより21ケースの熱LOS真値を生成 </a:t>
            </a:r>
            <a:endParaRPr lang="en-US" altLang="ja-JP" sz="2800" dirty="0"/>
          </a:p>
          <a:p>
            <a:pPr>
              <a:spcAft>
                <a:spcPts val="800"/>
              </a:spcAft>
            </a:pPr>
            <a:r>
              <a:rPr lang="en-US" altLang="ja-JP" sz="2800" b="1" dirty="0">
                <a:solidFill>
                  <a:srgbClr val="666F79"/>
                </a:solidFill>
                <a:latin typeface="Yu Gothic"/>
              </a:rPr>
              <a:t>• </a:t>
            </a:r>
            <a:r>
              <a:rPr lang="ja-JP" altLang="ja-JP" sz="2800" dirty="0"/>
              <a:t>温度差に基づく階層型熱ひずみ予測モデルを構築 </a:t>
            </a:r>
            <a:endParaRPr lang="en-US" altLang="ja-JP" sz="2800" dirty="0"/>
          </a:p>
          <a:p>
            <a:pPr>
              <a:spcAft>
                <a:spcPts val="800"/>
              </a:spcAft>
            </a:pPr>
            <a:r>
              <a:rPr lang="en-US" altLang="ja-JP" sz="2800" b="1" dirty="0">
                <a:solidFill>
                  <a:srgbClr val="666F79"/>
                </a:solidFill>
                <a:latin typeface="Yu Gothic"/>
              </a:rPr>
              <a:t>•</a:t>
            </a:r>
            <a:r>
              <a:rPr lang="ja-JP" altLang="ja-JP" sz="2800" dirty="0"/>
              <a:t>太陽面・発熱・被覆・軌道を横断して評価 </a:t>
            </a:r>
            <a:endParaRPr lang="en-US" altLang="ja-JP" sz="2800" dirty="0"/>
          </a:p>
          <a:p>
            <a:pPr>
              <a:spcAft>
                <a:spcPts val="800"/>
              </a:spcAft>
            </a:pPr>
            <a:r>
              <a:rPr lang="en-US" altLang="ja-JP" sz="2800" b="1" dirty="0">
                <a:solidFill>
                  <a:srgbClr val="666F79"/>
                </a:solidFill>
                <a:latin typeface="Yu Gothic"/>
              </a:rPr>
              <a:t>• </a:t>
            </a:r>
            <a:r>
              <a:rPr lang="ja-JP" altLang="ja-JP" sz="2800" dirty="0"/>
              <a:t>Sentinel-1実軌道誤差を導入 </a:t>
            </a:r>
            <a:endParaRPr lang="en-US" altLang="ja-JP" sz="2800" dirty="0"/>
          </a:p>
          <a:p>
            <a:pPr>
              <a:spcAft>
                <a:spcPts val="800"/>
              </a:spcAft>
            </a:pPr>
            <a:r>
              <a:rPr lang="en-US" altLang="ja-JP" sz="2800" b="1" dirty="0">
                <a:solidFill>
                  <a:srgbClr val="666F79"/>
                </a:solidFill>
                <a:latin typeface="Yu Gothic"/>
              </a:rPr>
              <a:t>• </a:t>
            </a:r>
            <a:r>
              <a:rPr lang="ja-JP" altLang="ja-JP" sz="2800" dirty="0"/>
              <a:t>熱誤差と非熱誤差を統合したPAT性能評価 </a:t>
            </a:r>
            <a:endParaRPr lang="en-US" altLang="ja-JP" sz="2800" dirty="0"/>
          </a:p>
          <a:p>
            <a:pPr>
              <a:spcAft>
                <a:spcPts val="800"/>
              </a:spcAft>
            </a:pPr>
            <a:r>
              <a:rPr lang="en-US" altLang="ja-JP" sz="2800" b="1" dirty="0">
                <a:solidFill>
                  <a:srgbClr val="666F79"/>
                </a:solidFill>
                <a:latin typeface="Yu Gothic"/>
              </a:rPr>
              <a:t>•</a:t>
            </a:r>
            <a:r>
              <a:rPr lang="ja-JP" altLang="en-US" sz="2800" b="1" dirty="0">
                <a:solidFill>
                  <a:srgbClr val="666F79"/>
                </a:solidFill>
                <a:latin typeface="Yu Gothic"/>
              </a:rPr>
              <a:t> </a:t>
            </a:r>
            <a:r>
              <a:rPr lang="ja-JP" altLang="ja-JP" sz="2800" dirty="0"/>
              <a:t>軌道上更新対象をケースDC成分として再定義</a:t>
            </a:r>
            <a:endParaRPr sz="2600" dirty="0">
              <a:solidFill>
                <a:srgbClr val="232B34"/>
              </a:solidFill>
              <a:latin typeface="Yu Gothic"/>
            </a:endParaRPr>
          </a:p>
        </p:txBody>
      </p:sp>
      <p:cxnSp>
        <p:nvCxnSpPr>
          <p:cNvPr id="12" name="Connector 11"/>
          <p:cNvCxnSpPr/>
          <p:nvPr/>
        </p:nvCxnSpPr>
        <p:spPr>
          <a:xfrm>
            <a:off x="11658600" y="6858000"/>
            <a:ext cx="822960" cy="0"/>
          </a:xfrm>
          <a:prstGeom prst="line">
            <a:avLst/>
          </a:prstGeom>
          <a:ln w="50800">
            <a:solidFill>
              <a:srgbClr val="5BB5D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168116" y="10744200"/>
            <a:ext cx="16078248" cy="547842"/>
          </a:xfrm>
          <a:prstGeom prst="rect">
            <a:avLst/>
          </a:prstGeom>
          <a:noFill/>
        </p:spPr>
        <p:txBody>
          <a:bodyPr wrap="none" lIns="36576" tIns="27432" rIns="36576" bIns="27432" anchor="t">
            <a:spAutoFit/>
          </a:bodyPr>
          <a:lstStyle/>
          <a:p>
            <a:pPr algn="ctr"/>
            <a:r>
              <a:rPr sz="3200" b="1" dirty="0" err="1">
                <a:solidFill>
                  <a:srgbClr val="082B52"/>
                </a:solidFill>
                <a:latin typeface="Yu Gothic"/>
              </a:rPr>
              <a:t>現在の問い：同帯域の非熱誤差と共存しても、軽量熱モデルで捕捉性能を改善できるか</a:t>
            </a:r>
            <a:endParaRPr sz="3200" b="1" dirty="0">
              <a:solidFill>
                <a:srgbClr val="082B52"/>
              </a:solidFill>
              <a:latin typeface="Yu Gothic"/>
            </a:endParaRPr>
          </a:p>
        </p:txBody>
      </p:sp>
    </p:spTree>
    <p:extLst>
      <p:ext uri="{BB962C8B-B14F-4D97-AF65-F5344CB8AC3E}">
        <p14:creationId xmlns:p14="http://schemas.microsoft.com/office/powerpoint/2010/main" val="330906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6188-687C-CACF-8E62-FDA47B400589}"/>
            </a:ext>
          </a:extLst>
        </p:cNvPr>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Overview</a:t>
            </a:r>
          </a:p>
        </p:txBody>
      </p:sp>
      <p:sp>
        <p:nvSpPr>
          <p:cNvPr id="3" name="TextBox 2"/>
          <p:cNvSpPr txBox="1"/>
          <p:nvPr/>
        </p:nvSpPr>
        <p:spPr>
          <a:xfrm>
            <a:off x="1536192" y="1810512"/>
            <a:ext cx="11153823" cy="547842"/>
          </a:xfrm>
          <a:prstGeom prst="rect">
            <a:avLst/>
          </a:prstGeom>
          <a:noFill/>
        </p:spPr>
        <p:txBody>
          <a:bodyPr wrap="none" lIns="36576" tIns="27432" rIns="36576" bIns="27432" anchor="t">
            <a:spAutoFit/>
          </a:bodyPr>
          <a:lstStyle/>
          <a:p>
            <a:r>
              <a:rPr lang="ja-JP" altLang="en-US" sz="3200" b="1" dirty="0"/>
              <a:t>中身：</a:t>
            </a:r>
            <a:r>
              <a:rPr lang="ja-JP" altLang="ja-JP" sz="3200" b="1" dirty="0"/>
              <a:t>熱ひずみ予測モデルの構築から軌道上補正までの流れ</a:t>
            </a:r>
            <a:endParaRPr lang="ja-JP" altLang="ja-JP" sz="3200" dirty="0"/>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6</a:t>
            </a:r>
          </a:p>
        </p:txBody>
      </p:sp>
      <p:sp>
        <p:nvSpPr>
          <p:cNvPr id="5" name="Rectangle 4"/>
          <p:cNvSpPr/>
          <p:nvPr/>
        </p:nvSpPr>
        <p:spPr>
          <a:xfrm>
            <a:off x="91440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Orbit / attitude
heat &amp; coating</a:t>
            </a:r>
          </a:p>
        </p:txBody>
      </p:sp>
      <p:cxnSp>
        <p:nvCxnSpPr>
          <p:cNvPr id="7" name="Connector 6"/>
          <p:cNvCxnSpPr/>
          <p:nvPr/>
        </p:nvCxnSpPr>
        <p:spPr>
          <a:xfrm>
            <a:off x="4413503" y="368046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742688" y="3063240"/>
            <a:ext cx="3444239" cy="123444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5840"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Thermal Desktop
temperature</a:t>
            </a:r>
          </a:p>
        </p:txBody>
      </p:sp>
      <p:cxnSp>
        <p:nvCxnSpPr>
          <p:cNvPr id="10" name="Connector 9"/>
          <p:cNvCxnSpPr/>
          <p:nvPr/>
        </p:nvCxnSpPr>
        <p:spPr>
          <a:xfrm>
            <a:off x="8241792" y="368046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570976" y="3063240"/>
            <a:ext cx="3444239"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4128" y="3172968"/>
            <a:ext cx="3297935" cy="1014984"/>
          </a:xfrm>
          <a:prstGeom prst="rect">
            <a:avLst/>
          </a:prstGeom>
          <a:noFill/>
        </p:spPr>
        <p:txBody>
          <a:bodyPr wrap="none" lIns="36576" tIns="27432" rIns="36576" bIns="27432" anchor="ctr">
            <a:spAutoFit/>
          </a:bodyPr>
          <a:lstStyle/>
          <a:p>
            <a:pPr algn="ctr"/>
            <a:r>
              <a:rPr sz="2100" b="1" dirty="0">
                <a:solidFill>
                  <a:srgbClr val="FFFFFF"/>
                </a:solidFill>
                <a:latin typeface="Yu Gothic"/>
              </a:rPr>
              <a:t>Femap / Nastran
rotation</a:t>
            </a:r>
          </a:p>
        </p:txBody>
      </p:sp>
      <p:cxnSp>
        <p:nvCxnSpPr>
          <p:cNvPr id="13" name="Connector 12"/>
          <p:cNvCxnSpPr/>
          <p:nvPr/>
        </p:nvCxnSpPr>
        <p:spPr>
          <a:xfrm>
            <a:off x="12070080" y="3680460"/>
            <a:ext cx="274319"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2399263" y="3063240"/>
            <a:ext cx="3444239"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72415"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STT–LCT
thermal LOS</a:t>
            </a:r>
          </a:p>
        </p:txBody>
      </p:sp>
      <p:cxnSp>
        <p:nvCxnSpPr>
          <p:cNvPr id="16" name="Connector 15"/>
          <p:cNvCxnSpPr/>
          <p:nvPr/>
        </p:nvCxnSpPr>
        <p:spPr>
          <a:xfrm>
            <a:off x="15898367"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227552" y="3063240"/>
            <a:ext cx="3444239"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300703"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Lightweight
model</a:t>
            </a:r>
          </a:p>
        </p:txBody>
      </p:sp>
      <p:cxnSp>
        <p:nvCxnSpPr>
          <p:cNvPr id="19" name="Connector 18"/>
          <p:cNvCxnSpPr/>
          <p:nvPr/>
        </p:nvCxnSpPr>
        <p:spPr>
          <a:xfrm>
            <a:off x="19726655"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005584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128992"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PAT
scan center</a:t>
            </a:r>
          </a:p>
        </p:txBody>
      </p:sp>
      <p:sp>
        <p:nvSpPr>
          <p:cNvPr id="22" name="Rectangle 21"/>
          <p:cNvSpPr/>
          <p:nvPr/>
        </p:nvSpPr>
        <p:spPr>
          <a:xfrm>
            <a:off x="914400" y="7188743"/>
            <a:ext cx="15700443" cy="3959156"/>
          </a:xfrm>
          <a:prstGeom prst="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2457" y="7600223"/>
            <a:ext cx="3305520" cy="486287"/>
          </a:xfrm>
          <a:prstGeom prst="rect">
            <a:avLst/>
          </a:prstGeom>
          <a:noFill/>
        </p:spPr>
        <p:txBody>
          <a:bodyPr wrap="none" lIns="36576" tIns="27432" rIns="36576" bIns="27432" anchor="t">
            <a:spAutoFit/>
          </a:bodyPr>
          <a:lstStyle/>
          <a:p>
            <a:r>
              <a:rPr lang="ja-JP" altLang="en-US" sz="2800" b="1" dirty="0"/>
              <a:t>地上でのモデル構築</a:t>
            </a:r>
            <a:endParaRPr sz="2700" b="1" dirty="0">
              <a:solidFill>
                <a:srgbClr val="082B52"/>
              </a:solidFill>
              <a:latin typeface="Yu Gothic"/>
            </a:endParaRPr>
          </a:p>
        </p:txBody>
      </p:sp>
      <p:sp>
        <p:nvSpPr>
          <p:cNvPr id="24" name="TextBox 23"/>
          <p:cNvSpPr txBox="1"/>
          <p:nvPr/>
        </p:nvSpPr>
        <p:spPr>
          <a:xfrm>
            <a:off x="1595337" y="8560343"/>
            <a:ext cx="9052560" cy="2123658"/>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ja-JP" altLang="en-US" sz="2600" b="1" dirty="0">
                <a:solidFill>
                  <a:srgbClr val="1B74AA"/>
                </a:solidFill>
                <a:latin typeface="Yu Gothic"/>
              </a:rPr>
              <a:t> </a:t>
            </a:r>
            <a:r>
              <a:rPr lang="ja-JP" altLang="ja-JP" sz="2800" dirty="0"/>
              <a:t>軌道・姿勢・熱環境を入力 </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ja-JP" sz="2800" dirty="0"/>
              <a:t>TD/Femapで温度場・熱変形を計算</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ja-JP" sz="2800" dirty="0"/>
              <a:t>STT–LCT相対LOSの参照時系列を生成</a:t>
            </a:r>
            <a:endParaRPr lang="en-US" altLang="ja-JP" sz="2800" dirty="0"/>
          </a:p>
          <a:p>
            <a:pPr>
              <a:spcAft>
                <a:spcPts val="800"/>
              </a:spcAft>
            </a:pPr>
            <a:r>
              <a:rPr lang="en-US" altLang="ja-JP" sz="2800" b="1" dirty="0">
                <a:solidFill>
                  <a:srgbClr val="1B74AA"/>
                </a:solidFill>
                <a:latin typeface="Yu Gothic"/>
              </a:rPr>
              <a:t>• </a:t>
            </a:r>
            <a:r>
              <a:rPr lang="ja-JP" altLang="ja-JP" sz="2800" dirty="0"/>
              <a:t>軽量モデルの学習・評価に使用</a:t>
            </a:r>
            <a:endParaRPr sz="2600" dirty="0">
              <a:solidFill>
                <a:srgbClr val="232B34"/>
              </a:solidFill>
              <a:latin typeface="Yu Gothic"/>
            </a:endParaRPr>
          </a:p>
        </p:txBody>
      </p:sp>
      <p:sp>
        <p:nvSpPr>
          <p:cNvPr id="25" name="Rectangle 24"/>
          <p:cNvSpPr/>
          <p:nvPr/>
        </p:nvSpPr>
        <p:spPr>
          <a:xfrm>
            <a:off x="16848306" y="7188743"/>
            <a:ext cx="6651773" cy="3959154"/>
          </a:xfrm>
          <a:prstGeom prst="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151000" y="7600223"/>
            <a:ext cx="6085786" cy="470956"/>
          </a:xfrm>
          <a:prstGeom prst="rect">
            <a:avLst/>
          </a:prstGeom>
          <a:noFill/>
        </p:spPr>
        <p:txBody>
          <a:bodyPr wrap="square" lIns="36576" tIns="27432" rIns="36576" bIns="27432" anchor="t">
            <a:spAutoFit/>
          </a:bodyPr>
          <a:lstStyle/>
          <a:p>
            <a:r>
              <a:rPr lang="ja-JP" altLang="en-US" sz="2700" b="1" dirty="0">
                <a:solidFill>
                  <a:srgbClr val="1B74AA"/>
                </a:solidFill>
                <a:latin typeface="Yu Gothic"/>
              </a:rPr>
              <a:t>軌道上でのモデル運用および補正</a:t>
            </a:r>
            <a:endParaRPr sz="2700" b="1" dirty="0">
              <a:solidFill>
                <a:srgbClr val="1B74AA"/>
              </a:solidFill>
              <a:latin typeface="Yu Gothic"/>
            </a:endParaRPr>
          </a:p>
        </p:txBody>
      </p:sp>
      <p:sp>
        <p:nvSpPr>
          <p:cNvPr id="27" name="TextBox 26"/>
          <p:cNvSpPr txBox="1"/>
          <p:nvPr/>
        </p:nvSpPr>
        <p:spPr>
          <a:xfrm>
            <a:off x="17225771" y="8560343"/>
            <a:ext cx="5806441" cy="2000548"/>
          </a:xfrm>
          <a:prstGeom prst="rect">
            <a:avLst/>
          </a:prstGeom>
          <a:noFill/>
        </p:spPr>
        <p:txBody>
          <a:bodyPr wrap="square" lIns="27432" rIns="27432">
            <a:spAutoFit/>
          </a:bodyPr>
          <a:lstStyle/>
          <a:p>
            <a:pPr>
              <a:spcAft>
                <a:spcPts val="800"/>
              </a:spcAft>
            </a:pPr>
            <a:r>
              <a:rPr sz="2600" b="1" dirty="0">
                <a:solidFill>
                  <a:srgbClr val="1B74AA"/>
                </a:solidFill>
                <a:latin typeface="Yu Gothic"/>
              </a:rPr>
              <a:t>• </a:t>
            </a:r>
            <a:r>
              <a:rPr sz="2600" dirty="0" err="1">
                <a:solidFill>
                  <a:srgbClr val="232B34"/>
                </a:solidFill>
                <a:latin typeface="Yu Gothic"/>
              </a:rPr>
              <a:t>温度センサ</a:t>
            </a:r>
            <a:r>
              <a:rPr lang="ja-JP" altLang="en-US" sz="2600" dirty="0">
                <a:solidFill>
                  <a:srgbClr val="232B34"/>
                </a:solidFill>
                <a:latin typeface="Yu Gothic"/>
              </a:rPr>
              <a:t>・</a:t>
            </a:r>
            <a:r>
              <a:rPr sz="2600" dirty="0" err="1">
                <a:solidFill>
                  <a:srgbClr val="232B34"/>
                </a:solidFill>
                <a:latin typeface="Yu Gothic"/>
              </a:rPr>
              <a:t>運用</a:t>
            </a:r>
            <a:r>
              <a:rPr lang="ja-JP" altLang="en-US" sz="2600" dirty="0">
                <a:solidFill>
                  <a:srgbClr val="232B34"/>
                </a:solidFill>
                <a:latin typeface="Yu Gothic"/>
              </a:rPr>
              <a:t>情報を入力</a:t>
            </a:r>
            <a:endParaRPr sz="2600" dirty="0">
              <a:solidFill>
                <a:srgbClr val="232B34"/>
              </a:solidFill>
              <a:latin typeface="Yu Gothic"/>
            </a:endParaRPr>
          </a:p>
          <a:p>
            <a:pPr>
              <a:spcAft>
                <a:spcPts val="800"/>
              </a:spcAft>
            </a:pPr>
            <a:r>
              <a:rPr sz="2600" b="1" dirty="0">
                <a:solidFill>
                  <a:srgbClr val="1B74AA"/>
                </a:solidFill>
                <a:latin typeface="Yu Gothic"/>
              </a:rPr>
              <a:t>• </a:t>
            </a:r>
            <a:r>
              <a:rPr lang="ja-JP" altLang="en-US" sz="2600" dirty="0">
                <a:solidFill>
                  <a:srgbClr val="232B34"/>
                </a:solidFill>
                <a:latin typeface="Yu Gothic"/>
              </a:rPr>
              <a:t>軽量モデルで熱</a:t>
            </a:r>
            <a:r>
              <a:rPr sz="2600" dirty="0" err="1">
                <a:solidFill>
                  <a:srgbClr val="232B34"/>
                </a:solidFill>
                <a:latin typeface="Yu Gothic"/>
              </a:rPr>
              <a:t>LOSを</a:t>
            </a:r>
            <a:r>
              <a:rPr lang="ja-JP" altLang="en-US" sz="2600" dirty="0">
                <a:solidFill>
                  <a:srgbClr val="232B34"/>
                </a:solidFill>
                <a:latin typeface="Yu Gothic"/>
              </a:rPr>
              <a:t>予測</a:t>
            </a:r>
            <a:endParaRPr lang="en-US" altLang="ja-JP" sz="2600" dirty="0">
              <a:solidFill>
                <a:srgbClr val="232B34"/>
              </a:solidFill>
              <a:latin typeface="Yu Gothic"/>
            </a:endParaRPr>
          </a:p>
          <a:p>
            <a:pPr>
              <a:spcAft>
                <a:spcPts val="800"/>
              </a:spcAft>
            </a:pPr>
            <a:r>
              <a:rPr lang="en-US" altLang="ja-JP" sz="2600" b="1" dirty="0">
                <a:solidFill>
                  <a:srgbClr val="1B74AA"/>
                </a:solidFill>
                <a:latin typeface="Yu Gothic"/>
              </a:rPr>
              <a:t>• </a:t>
            </a:r>
            <a:r>
              <a:rPr lang="en-US" sz="2600" dirty="0">
                <a:solidFill>
                  <a:srgbClr val="232B34"/>
                </a:solidFill>
                <a:latin typeface="Yu Gothic"/>
              </a:rPr>
              <a:t>Scan center</a:t>
            </a:r>
            <a:r>
              <a:rPr lang="ja-JP" altLang="en-US" sz="2600" dirty="0">
                <a:solidFill>
                  <a:srgbClr val="232B34"/>
                </a:solidFill>
                <a:latin typeface="Yu Gothic"/>
              </a:rPr>
              <a:t>を補正</a:t>
            </a:r>
            <a:endParaRPr sz="2600" dirty="0">
              <a:solidFill>
                <a:srgbClr val="232B34"/>
              </a:solidFill>
              <a:latin typeface="Yu Gothic"/>
            </a:endParaRPr>
          </a:p>
          <a:p>
            <a:pPr>
              <a:spcAft>
                <a:spcPts val="800"/>
              </a:spcAft>
            </a:pPr>
            <a:r>
              <a:rPr sz="2600" b="1" dirty="0">
                <a:solidFill>
                  <a:srgbClr val="1B74AA"/>
                </a:solidFill>
                <a:latin typeface="Yu Gothic"/>
              </a:rPr>
              <a:t>• </a:t>
            </a:r>
            <a:r>
              <a:rPr sz="2600" dirty="0" err="1">
                <a:solidFill>
                  <a:srgbClr val="232B34"/>
                </a:solidFill>
                <a:latin typeface="Yu Gothic"/>
              </a:rPr>
              <a:t>捕捉後残差でモデル</a:t>
            </a:r>
            <a:r>
              <a:rPr lang="ja-JP" altLang="en-US" sz="2600" dirty="0">
                <a:solidFill>
                  <a:srgbClr val="232B34"/>
                </a:solidFill>
                <a:latin typeface="Yu Gothic"/>
              </a:rPr>
              <a:t>を</a:t>
            </a:r>
            <a:r>
              <a:rPr sz="2600" dirty="0" err="1">
                <a:solidFill>
                  <a:srgbClr val="232B34"/>
                </a:solidFill>
                <a:latin typeface="Yu Gothic"/>
              </a:rPr>
              <a:t>更新</a:t>
            </a:r>
            <a:endParaRPr sz="2600" dirty="0">
              <a:solidFill>
                <a:srgbClr val="232B34"/>
              </a:solidFill>
              <a:latin typeface="Yu Gothic"/>
            </a:endParaRPr>
          </a:p>
        </p:txBody>
      </p:sp>
      <p:sp>
        <p:nvSpPr>
          <p:cNvPr id="28" name="TextBox 27"/>
          <p:cNvSpPr txBox="1"/>
          <p:nvPr/>
        </p:nvSpPr>
        <p:spPr>
          <a:xfrm>
            <a:off x="3052664" y="11835849"/>
            <a:ext cx="19931675" cy="1040285"/>
          </a:xfrm>
          <a:prstGeom prst="rect">
            <a:avLst/>
          </a:prstGeom>
          <a:noFill/>
        </p:spPr>
        <p:txBody>
          <a:bodyPr wrap="none" lIns="36576" tIns="27432" rIns="36576" bIns="27432" anchor="t">
            <a:spAutoFit/>
          </a:bodyPr>
          <a:lstStyle/>
          <a:p>
            <a:r>
              <a:rPr lang="en-US" altLang="ja-JP" sz="3200" b="1" dirty="0">
                <a:solidFill>
                  <a:srgbClr val="1B74AA"/>
                </a:solidFill>
                <a:latin typeface="Yu Gothic"/>
              </a:rPr>
              <a:t>•</a:t>
            </a:r>
            <a:r>
              <a:rPr lang="ja-JP" altLang="en-US" sz="3200" b="1" dirty="0">
                <a:solidFill>
                  <a:srgbClr val="1B74AA"/>
                </a:solidFill>
                <a:latin typeface="Yu Gothic"/>
              </a:rPr>
              <a:t> </a:t>
            </a:r>
            <a:r>
              <a:rPr lang="ja-JP" altLang="ja-JP" sz="3200" b="1" dirty="0"/>
              <a:t>TD/Femapは地上での教師データ生成・妥当性評価にのみ使用</a:t>
            </a:r>
            <a:r>
              <a:rPr lang="ja-JP" altLang="en-US" sz="3200" b="1" dirty="0"/>
              <a:t>し、軌道上では軽量モデルのみを使用する</a:t>
            </a:r>
            <a:endParaRPr lang="en-US" altLang="ja-JP" sz="3200" b="1" dirty="0"/>
          </a:p>
          <a:p>
            <a:r>
              <a:rPr lang="en-US" altLang="ja-JP" sz="3200" b="1" dirty="0">
                <a:solidFill>
                  <a:srgbClr val="1B74AA"/>
                </a:solidFill>
                <a:latin typeface="Yu Gothic"/>
              </a:rPr>
              <a:t>•</a:t>
            </a:r>
            <a:r>
              <a:rPr lang="ja-JP" altLang="en-US" sz="3200" b="1" dirty="0">
                <a:solidFill>
                  <a:srgbClr val="1B74AA"/>
                </a:solidFill>
                <a:latin typeface="Yu Gothic"/>
              </a:rPr>
              <a:t> </a:t>
            </a:r>
            <a:r>
              <a:rPr lang="ja-JP" altLang="en-US" sz="3200" b="1" dirty="0"/>
              <a:t>モデル性能は、</a:t>
            </a:r>
            <a:r>
              <a:rPr lang="en-US" altLang="ja-JP" sz="3200" b="1" dirty="0"/>
              <a:t>LOS</a:t>
            </a:r>
            <a:r>
              <a:rPr lang="ja-JP" altLang="en-US" sz="3200" b="1" dirty="0"/>
              <a:t>予測誤差だけでなく、捕捉成功率・捕捉時間でも評価する</a:t>
            </a:r>
            <a:endParaRPr lang="ja-JP" altLang="ja-JP" sz="3200" b="1" dirty="0"/>
          </a:p>
        </p:txBody>
      </p:sp>
      <p:pic>
        <p:nvPicPr>
          <p:cNvPr id="32" name="図 31">
            <a:extLst>
              <a:ext uri="{FF2B5EF4-FFF2-40B4-BE49-F238E27FC236}">
                <a16:creationId xmlns:a16="http://schemas.microsoft.com/office/drawing/2014/main" id="{3715A86D-4060-9A30-BCAB-A905AF739052}"/>
              </a:ext>
            </a:extLst>
          </p:cNvPr>
          <p:cNvPicPr>
            <a:picLocks noChangeAspect="1"/>
          </p:cNvPicPr>
          <p:nvPr/>
        </p:nvPicPr>
        <p:blipFill>
          <a:blip r:embed="rId3"/>
          <a:srcRect t="14987" b="12995"/>
          <a:stretch>
            <a:fillRect/>
          </a:stretch>
        </p:blipFill>
        <p:spPr>
          <a:xfrm>
            <a:off x="4668368" y="4428721"/>
            <a:ext cx="3295472" cy="2714577"/>
          </a:xfrm>
          <a:prstGeom prst="rect">
            <a:avLst/>
          </a:prstGeom>
        </p:spPr>
      </p:pic>
      <p:pic>
        <p:nvPicPr>
          <p:cNvPr id="34" name="図 33">
            <a:extLst>
              <a:ext uri="{FF2B5EF4-FFF2-40B4-BE49-F238E27FC236}">
                <a16:creationId xmlns:a16="http://schemas.microsoft.com/office/drawing/2014/main" id="{F956818A-24FB-86DE-EFEF-CDBD09D72D2F}"/>
              </a:ext>
            </a:extLst>
          </p:cNvPr>
          <p:cNvPicPr>
            <a:picLocks noChangeAspect="1"/>
          </p:cNvPicPr>
          <p:nvPr/>
        </p:nvPicPr>
        <p:blipFill>
          <a:blip r:embed="rId4"/>
          <a:srcRect l="4933"/>
          <a:stretch>
            <a:fillRect/>
          </a:stretch>
        </p:blipFill>
        <p:spPr>
          <a:xfrm rot="5400000">
            <a:off x="8975763" y="4844559"/>
            <a:ext cx="2594268" cy="1769750"/>
          </a:xfrm>
          <a:prstGeom prst="rect">
            <a:avLst/>
          </a:prstGeom>
        </p:spPr>
      </p:pic>
      <p:pic>
        <p:nvPicPr>
          <p:cNvPr id="36" name="図 35">
            <a:extLst>
              <a:ext uri="{FF2B5EF4-FFF2-40B4-BE49-F238E27FC236}">
                <a16:creationId xmlns:a16="http://schemas.microsoft.com/office/drawing/2014/main" id="{B1265DB7-31F5-CC78-C1BC-05964DD7F427}"/>
              </a:ext>
            </a:extLst>
          </p:cNvPr>
          <p:cNvPicPr>
            <a:picLocks noChangeAspect="1"/>
          </p:cNvPicPr>
          <p:nvPr/>
        </p:nvPicPr>
        <p:blipFill>
          <a:blip r:embed="rId5"/>
          <a:stretch>
            <a:fillRect/>
          </a:stretch>
        </p:blipFill>
        <p:spPr>
          <a:xfrm>
            <a:off x="12783949" y="4442117"/>
            <a:ext cx="2674866" cy="2585081"/>
          </a:xfrm>
          <a:prstGeom prst="rect">
            <a:avLst/>
          </a:prstGeom>
        </p:spPr>
      </p:pic>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C89755C7-CE55-00F5-650C-D30D48A9F5CB}"/>
                  </a:ext>
                </a:extLst>
              </p:cNvPr>
              <p:cNvSpPr txBox="1"/>
              <p:nvPr/>
            </p:nvSpPr>
            <p:spPr>
              <a:xfrm>
                <a:off x="16227552" y="5285419"/>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r>
                        <a:rPr kumimoji="1" lang="en-US" altLang="ja-JP" sz="3200" b="0" i="1" smtClean="0">
                          <a:latin typeface="Cambria Math" panose="02040503050406030204" pitchFamily="18" charset="0"/>
                        </a:rPr>
                        <m:t>=</m:t>
                      </m:r>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𝑏</m:t>
                          </m:r>
                        </m:e>
                        <m:sub>
                          <m:r>
                            <a:rPr kumimoji="1" lang="en-US" altLang="ja-JP" sz="3200" b="0" i="1" smtClean="0">
                              <a:latin typeface="Cambria Math" panose="02040503050406030204" pitchFamily="18" charset="0"/>
                            </a:rPr>
                            <m:t>𝑐𝑎𝑠𝑒</m:t>
                          </m:r>
                        </m:sub>
                      </m:sSub>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𝑎</m:t>
                      </m:r>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r>
                        <a:rPr kumimoji="1" lang="en-US" altLang="ja-JP" sz="3200" b="0" i="1" smtClean="0">
                          <a:latin typeface="Cambria Math" panose="02040503050406030204" pitchFamily="18" charset="0"/>
                        </a:rPr>
                        <m:t>𝑇</m:t>
                      </m:r>
                      <m:r>
                        <a:rPr kumimoji="1" lang="en-US" altLang="ja-JP" sz="3200" b="0" i="1" smtClean="0">
                          <a:latin typeface="Cambria Math" panose="02040503050406030204" pitchFamily="18" charset="0"/>
                        </a:rPr>
                        <m:t> </m:t>
                      </m:r>
                    </m:oMath>
                  </m:oMathPara>
                </a14:m>
                <a:endParaRPr kumimoji="1" lang="en-US" altLang="ja-JP" sz="3200" b="0" i="1" dirty="0"/>
              </a:p>
              <a:p>
                <a:endParaRPr kumimoji="1" lang="ja-JP" altLang="en-US" sz="3200" i="1" dirty="0"/>
              </a:p>
            </p:txBody>
          </p:sp>
        </mc:Choice>
        <mc:Fallback xmlns="">
          <p:sp>
            <p:nvSpPr>
              <p:cNvPr id="39" name="テキスト ボックス 38">
                <a:extLst>
                  <a:ext uri="{FF2B5EF4-FFF2-40B4-BE49-F238E27FC236}">
                    <a16:creationId xmlns:a16="http://schemas.microsoft.com/office/drawing/2014/main" id="{C89755C7-CE55-00F5-650C-D30D48A9F5CB}"/>
                  </a:ext>
                </a:extLst>
              </p:cNvPr>
              <p:cNvSpPr txBox="1">
                <a:spLocks noRot="1" noChangeAspect="1" noMove="1" noResize="1" noEditPoints="1" noAdjustHandles="1" noChangeArrowheads="1" noChangeShapeType="1" noTextEdit="1"/>
              </p:cNvSpPr>
              <p:nvPr/>
            </p:nvSpPr>
            <p:spPr>
              <a:xfrm>
                <a:off x="16227552" y="5285419"/>
                <a:ext cx="3499103" cy="1097993"/>
              </a:xfrm>
              <a:prstGeom prst="rect">
                <a:avLst/>
              </a:prstGeom>
              <a:blipFill>
                <a:blip r:embed="rId6"/>
                <a:stretch>
                  <a:fillRect/>
                </a:stretch>
              </a:blipFill>
            </p:spPr>
            <p:txBody>
              <a:bodyPr/>
              <a:lstStyle/>
              <a:p>
                <a:r>
                  <a:rPr lang="ja-JP" altLang="en-US">
                    <a:noFill/>
                  </a:rPr>
                  <a:t> </a:t>
                </a:r>
              </a:p>
            </p:txBody>
          </p:sp>
        </mc:Fallback>
      </mc:AlternateContent>
      <p:sp>
        <p:nvSpPr>
          <p:cNvPr id="40" name="テキスト ボックス 39">
            <a:extLst>
              <a:ext uri="{FF2B5EF4-FFF2-40B4-BE49-F238E27FC236}">
                <a16:creationId xmlns:a16="http://schemas.microsoft.com/office/drawing/2014/main" id="{8A071E9D-0A17-5410-CA66-EB4C2E4AC8F6}"/>
              </a:ext>
            </a:extLst>
          </p:cNvPr>
          <p:cNvSpPr txBox="1"/>
          <p:nvPr/>
        </p:nvSpPr>
        <p:spPr>
          <a:xfrm>
            <a:off x="914400" y="4611231"/>
            <a:ext cx="3444239" cy="2246769"/>
          </a:xfrm>
          <a:prstGeom prst="rect">
            <a:avLst/>
          </a:prstGeom>
          <a:noFill/>
          <a:ln>
            <a:solidFill>
              <a:schemeClr val="tx2"/>
            </a:solidFill>
          </a:ln>
        </p:spPr>
        <p:txBody>
          <a:bodyPr wrap="square" rtlCol="0">
            <a:spAutoFit/>
          </a:bodyPr>
          <a:lstStyle/>
          <a:p>
            <a:r>
              <a:rPr kumimoji="1" lang="ja-JP" altLang="en-US" sz="2800" dirty="0"/>
              <a:t>・軌道</a:t>
            </a:r>
            <a:endParaRPr kumimoji="1" lang="en-US" altLang="ja-JP" sz="2800" dirty="0"/>
          </a:p>
          <a:p>
            <a:r>
              <a:rPr kumimoji="1" lang="ja-JP" altLang="en-US" sz="2800" dirty="0"/>
              <a:t>・姿勢</a:t>
            </a:r>
            <a:endParaRPr kumimoji="1" lang="en-US" altLang="ja-JP" sz="2800" dirty="0"/>
          </a:p>
          <a:p>
            <a:r>
              <a:rPr kumimoji="1" lang="ja-JP" altLang="en-US" sz="2800" dirty="0"/>
              <a:t>・コンポ構造配置</a:t>
            </a:r>
            <a:endParaRPr kumimoji="1" lang="en-US" altLang="ja-JP" sz="2800" dirty="0"/>
          </a:p>
          <a:p>
            <a:r>
              <a:rPr kumimoji="1" lang="ja-JP" altLang="en-US" sz="2800" dirty="0"/>
              <a:t>・衛星表面特性</a:t>
            </a:r>
            <a:endParaRPr kumimoji="1" lang="en-US" altLang="ja-JP" sz="2800" dirty="0"/>
          </a:p>
          <a:p>
            <a:r>
              <a:rPr kumimoji="1" lang="ja-JP" altLang="en-US" sz="2800" dirty="0"/>
              <a:t>・内部発熱位置</a:t>
            </a:r>
            <a:r>
              <a:rPr kumimoji="1" lang="en-US" altLang="ja-JP" sz="2800" dirty="0"/>
              <a:t>/</a:t>
            </a:r>
            <a:r>
              <a:rPr kumimoji="1" lang="ja-JP" altLang="en-US" sz="2800" dirty="0"/>
              <a:t>量</a:t>
            </a:r>
            <a:endParaRPr kumimoji="1" lang="en-US" altLang="ja-JP" sz="2800" dirty="0"/>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6F7F0EF8-C4CA-F7FC-D1B9-80BBC6B4DBEE}"/>
                  </a:ext>
                </a:extLst>
              </p:cNvPr>
              <p:cNvSpPr txBox="1"/>
              <p:nvPr/>
            </p:nvSpPr>
            <p:spPr>
              <a:xfrm>
                <a:off x="20097212" y="5262967"/>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𝜃</m:t>
                      </m:r>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𝜃</m:t>
                          </m:r>
                        </m:e>
                        <m:sub>
                          <m:r>
                            <a:rPr kumimoji="1" lang="en-US" altLang="ja-JP" sz="3200" b="0" i="1" smtClean="0">
                              <a:latin typeface="Cambria Math" panose="02040503050406030204" pitchFamily="18" charset="0"/>
                            </a:rPr>
                            <m:t>𝑐</m:t>
                          </m:r>
                        </m:sub>
                      </m:sSub>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oMath>
                  </m:oMathPara>
                </a14:m>
                <a:endParaRPr kumimoji="1" lang="en-US" altLang="ja-JP" sz="3200" b="0" i="1" dirty="0"/>
              </a:p>
              <a:p>
                <a:endParaRPr kumimoji="1" lang="ja-JP" altLang="en-US" sz="3200" i="1" dirty="0"/>
              </a:p>
            </p:txBody>
          </p:sp>
        </mc:Choice>
        <mc:Fallback xmlns="">
          <p:sp>
            <p:nvSpPr>
              <p:cNvPr id="46" name="テキスト ボックス 45">
                <a:extLst>
                  <a:ext uri="{FF2B5EF4-FFF2-40B4-BE49-F238E27FC236}">
                    <a16:creationId xmlns:a16="http://schemas.microsoft.com/office/drawing/2014/main" id="{6F7F0EF8-C4CA-F7FC-D1B9-80BBC6B4DBEE}"/>
                  </a:ext>
                </a:extLst>
              </p:cNvPr>
              <p:cNvSpPr txBox="1">
                <a:spLocks noRot="1" noChangeAspect="1" noMove="1" noResize="1" noEditPoints="1" noAdjustHandles="1" noChangeArrowheads="1" noChangeShapeType="1" noTextEdit="1"/>
              </p:cNvSpPr>
              <p:nvPr/>
            </p:nvSpPr>
            <p:spPr>
              <a:xfrm>
                <a:off x="20097212" y="5262967"/>
                <a:ext cx="3499103" cy="1097993"/>
              </a:xfrm>
              <a:prstGeom prst="rect">
                <a:avLst/>
              </a:prstGeom>
              <a:blipFill>
                <a:blip r:embed="rId7"/>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3285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2FDC0-C27B-B493-3C2D-059C292E58E3}"/>
            </a:ext>
          </a:extLst>
        </p:cNvPr>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02</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721775"/>
            <a:ext cx="20756880" cy="1051560"/>
          </a:xfrm>
          <a:prstGeom prst="rect">
            <a:avLst/>
          </a:prstGeom>
          <a:noFill/>
        </p:spPr>
        <p:txBody>
          <a:bodyPr wrap="none" lIns="36576" tIns="27432" rIns="36576" bIns="27432" anchor="t">
            <a:spAutoFit/>
          </a:bodyPr>
          <a:lstStyle/>
          <a:p>
            <a:pPr algn="ctr"/>
            <a:r>
              <a:rPr sz="3300" b="1">
                <a:solidFill>
                  <a:srgbClr val="FFFFFF"/>
                </a:solidFill>
                <a:latin typeface="Yu Gothic"/>
              </a:rPr>
              <a:t>Thermo-structural analysis</a:t>
            </a:r>
          </a:p>
        </p:txBody>
      </p:sp>
      <p:sp>
        <p:nvSpPr>
          <p:cNvPr id="5" name="TextBox 4"/>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FFFFFF"/>
                </a:solidFill>
                <a:latin typeface="Yu Gothic"/>
              </a:rPr>
              <a:t>8</a:t>
            </a:r>
          </a:p>
        </p:txBody>
      </p:sp>
    </p:spTree>
    <p:extLst>
      <p:ext uri="{BB962C8B-B14F-4D97-AF65-F5344CB8AC3E}">
        <p14:creationId xmlns:p14="http://schemas.microsoft.com/office/powerpoint/2010/main" val="1209510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Thermo-structural analysis</a:t>
            </a:r>
          </a:p>
        </p:txBody>
      </p:sp>
      <p:sp>
        <p:nvSpPr>
          <p:cNvPr id="3" name="TextBox 2"/>
          <p:cNvSpPr txBox="1"/>
          <p:nvPr/>
        </p:nvSpPr>
        <p:spPr>
          <a:xfrm>
            <a:off x="1536192" y="1298448"/>
            <a:ext cx="7460504"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lang="ja-JP" altLang="en-US" sz="3200" b="1" dirty="0">
                <a:solidFill>
                  <a:srgbClr val="082B52"/>
                </a:solidFill>
                <a:latin typeface="Yu Gothic"/>
              </a:rPr>
              <a:t>小型衛星を模した</a:t>
            </a:r>
            <a:r>
              <a:rPr sz="3200" b="1" dirty="0" err="1">
                <a:solidFill>
                  <a:srgbClr val="082B52"/>
                </a:solidFill>
                <a:latin typeface="Yu Gothic"/>
              </a:rPr>
              <a:t>箱型衛星モデル</a:t>
            </a:r>
            <a:r>
              <a:rPr lang="ja-JP" altLang="en-US" sz="3200" b="1" dirty="0">
                <a:solidFill>
                  <a:srgbClr val="082B52"/>
                </a:solidFill>
                <a:latin typeface="Yu Gothic"/>
              </a:rPr>
              <a:t>を作成</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9</a:t>
            </a:r>
          </a:p>
        </p:txBody>
      </p:sp>
      <p:graphicFrame>
        <p:nvGraphicFramePr>
          <p:cNvPr id="12" name="Table 11"/>
          <p:cNvGraphicFramePr>
            <a:graphicFrameLocks noGrp="1"/>
          </p:cNvGraphicFramePr>
          <p:nvPr>
            <p:extLst>
              <p:ext uri="{D42A27DB-BD31-4B8C-83A1-F6EECF244321}">
                <p14:modId xmlns:p14="http://schemas.microsoft.com/office/powerpoint/2010/main" val="3032678763"/>
              </p:ext>
            </p:extLst>
          </p:nvPr>
        </p:nvGraphicFramePr>
        <p:xfrm>
          <a:off x="17411701" y="3764280"/>
          <a:ext cx="6362700" cy="7193514"/>
        </p:xfrm>
        <a:graphic>
          <a:graphicData uri="http://schemas.openxmlformats.org/drawingml/2006/table">
            <a:tbl>
              <a:tblPr firstRow="1" bandRow="1">
                <a:tableStyleId>{5C22544A-7EE6-4342-B048-85BDC9FD1C3A}</a:tableStyleId>
              </a:tblPr>
              <a:tblGrid>
                <a:gridCol w="2261123">
                  <a:extLst>
                    <a:ext uri="{9D8B030D-6E8A-4147-A177-3AD203B41FA5}">
                      <a16:colId xmlns:a16="http://schemas.microsoft.com/office/drawing/2014/main" val="20000"/>
                    </a:ext>
                  </a:extLst>
                </a:gridCol>
                <a:gridCol w="4101577">
                  <a:extLst>
                    <a:ext uri="{9D8B030D-6E8A-4147-A177-3AD203B41FA5}">
                      <a16:colId xmlns:a16="http://schemas.microsoft.com/office/drawing/2014/main" val="20001"/>
                    </a:ext>
                  </a:extLst>
                </a:gridCol>
              </a:tblGrid>
              <a:tr h="1198919">
                <a:tc>
                  <a:txBody>
                    <a:bodyPr/>
                    <a:lstStyle/>
                    <a:p>
                      <a:pPr algn="l"/>
                      <a:r>
                        <a:rPr sz="2300" b="1">
                          <a:solidFill>
                            <a:srgbClr val="FFFFFF"/>
                          </a:solidFill>
                          <a:latin typeface="Yu Gothic"/>
                        </a:rPr>
                        <a:t>Item</a:t>
                      </a:r>
                    </a:p>
                  </a:txBody>
                  <a:tcPr marL="64008" marR="64008" marT="27432" marB="27432" anchor="ctr">
                    <a:solidFill>
                      <a:srgbClr val="082B52"/>
                    </a:solidFill>
                  </a:tcPr>
                </a:tc>
                <a:tc>
                  <a:txBody>
                    <a:bodyPr/>
                    <a:lstStyle/>
                    <a:p>
                      <a:pPr algn="ctr"/>
                      <a:r>
                        <a:rPr sz="2300" b="1" dirty="0">
                          <a:solidFill>
                            <a:srgbClr val="FFFFFF"/>
                          </a:solidFill>
                          <a:latin typeface="Yu Gothic"/>
                        </a:rPr>
                        <a:t>Setting</a:t>
                      </a:r>
                    </a:p>
                  </a:txBody>
                  <a:tcPr marL="64008" marR="64008" marT="27432" marB="27432" anchor="ctr">
                    <a:solidFill>
                      <a:srgbClr val="082B52"/>
                    </a:solidFill>
                  </a:tcPr>
                </a:tc>
                <a:extLst>
                  <a:ext uri="{0D108BD9-81ED-4DB2-BD59-A6C34878D82A}">
                    <a16:rowId xmlns:a16="http://schemas.microsoft.com/office/drawing/2014/main" val="10000"/>
                  </a:ext>
                </a:extLst>
              </a:tr>
              <a:tr h="1198919">
                <a:tc>
                  <a:txBody>
                    <a:bodyPr/>
                    <a:lstStyle/>
                    <a:p>
                      <a:pPr algn="l"/>
                      <a:r>
                        <a:rPr sz="2300" b="0">
                          <a:solidFill>
                            <a:srgbClr val="232B34"/>
                          </a:solidFill>
                          <a:latin typeface="Yu Gothic"/>
                        </a:rPr>
                        <a:t>Bus size</a:t>
                      </a:r>
                    </a:p>
                  </a:txBody>
                  <a:tcPr marL="64008" marR="64008" marT="27432" marB="27432" anchor="ctr">
                    <a:solidFill>
                      <a:srgbClr val="FFFFFF"/>
                    </a:solidFill>
                  </a:tcPr>
                </a:tc>
                <a:tc>
                  <a:txBody>
                    <a:bodyPr/>
                    <a:lstStyle/>
                    <a:p>
                      <a:pPr algn="ctr"/>
                      <a:r>
                        <a:rPr sz="2300" b="0" dirty="0">
                          <a:solidFill>
                            <a:srgbClr val="232B34"/>
                          </a:solidFill>
                          <a:latin typeface="Yu Gothic"/>
                        </a:rPr>
                        <a:t>590 × 600 × 990 mm</a:t>
                      </a:r>
                    </a:p>
                  </a:txBody>
                  <a:tcPr marL="64008" marR="64008" marT="27432" marB="27432" anchor="ctr">
                    <a:solidFill>
                      <a:srgbClr val="EBF6FB"/>
                    </a:solidFill>
                  </a:tcPr>
                </a:tc>
                <a:extLst>
                  <a:ext uri="{0D108BD9-81ED-4DB2-BD59-A6C34878D82A}">
                    <a16:rowId xmlns:a16="http://schemas.microsoft.com/office/drawing/2014/main" val="10001"/>
                  </a:ext>
                </a:extLst>
              </a:tr>
              <a:tr h="1198919">
                <a:tc>
                  <a:txBody>
                    <a:bodyPr/>
                    <a:lstStyle/>
                    <a:p>
                      <a:pPr algn="l"/>
                      <a:r>
                        <a:rPr sz="2300" b="0">
                          <a:solidFill>
                            <a:srgbClr val="232B34"/>
                          </a:solidFill>
                          <a:latin typeface="Yu Gothic"/>
                        </a:rPr>
                        <a:t>Panels</a:t>
                      </a:r>
                    </a:p>
                  </a:txBody>
                  <a:tcPr marL="64008" marR="64008" marT="27432" marB="27432" anchor="ctr">
                    <a:solidFill>
                      <a:srgbClr val="F4F6F8"/>
                    </a:solidFill>
                  </a:tcPr>
                </a:tc>
                <a:tc>
                  <a:txBody>
                    <a:bodyPr/>
                    <a:lstStyle/>
                    <a:p>
                      <a:pPr algn="ctr"/>
                      <a:r>
                        <a:rPr sz="2300" b="0" dirty="0">
                          <a:solidFill>
                            <a:srgbClr val="232B34"/>
                          </a:solidFill>
                          <a:latin typeface="Yu Gothic"/>
                        </a:rPr>
                        <a:t>10 mm shell</a:t>
                      </a:r>
                    </a:p>
                  </a:txBody>
                  <a:tcPr marL="64008" marR="64008" marT="27432" marB="27432" anchor="ctr">
                    <a:solidFill>
                      <a:srgbClr val="EBF6FB"/>
                    </a:solidFill>
                  </a:tcPr>
                </a:tc>
                <a:extLst>
                  <a:ext uri="{0D108BD9-81ED-4DB2-BD59-A6C34878D82A}">
                    <a16:rowId xmlns:a16="http://schemas.microsoft.com/office/drawing/2014/main" val="10002"/>
                  </a:ext>
                </a:extLst>
              </a:tr>
              <a:tr h="1198919">
                <a:tc>
                  <a:txBody>
                    <a:bodyPr/>
                    <a:lstStyle/>
                    <a:p>
                      <a:pPr algn="l"/>
                      <a:r>
                        <a:rPr sz="2300" b="0">
                          <a:solidFill>
                            <a:srgbClr val="232B34"/>
                          </a:solidFill>
                          <a:latin typeface="Yu Gothic"/>
                        </a:rPr>
                        <a:t>Material</a:t>
                      </a:r>
                    </a:p>
                  </a:txBody>
                  <a:tcPr marL="64008" marR="64008" marT="27432" marB="27432" anchor="ctr">
                    <a:solidFill>
                      <a:srgbClr val="FFFFFF"/>
                    </a:solidFill>
                  </a:tcPr>
                </a:tc>
                <a:tc>
                  <a:txBody>
                    <a:bodyPr/>
                    <a:lstStyle/>
                    <a:p>
                      <a:pPr algn="ctr"/>
                      <a:r>
                        <a:rPr sz="2300" b="0" dirty="0">
                          <a:solidFill>
                            <a:srgbClr val="232B34"/>
                          </a:solidFill>
                          <a:latin typeface="Yu Gothic"/>
                        </a:rPr>
                        <a:t>A5052</a:t>
                      </a:r>
                    </a:p>
                  </a:txBody>
                  <a:tcPr marL="64008" marR="64008" marT="27432" marB="27432" anchor="ctr">
                    <a:solidFill>
                      <a:srgbClr val="EBF6FB"/>
                    </a:solidFill>
                  </a:tcPr>
                </a:tc>
                <a:extLst>
                  <a:ext uri="{0D108BD9-81ED-4DB2-BD59-A6C34878D82A}">
                    <a16:rowId xmlns:a16="http://schemas.microsoft.com/office/drawing/2014/main" val="10003"/>
                  </a:ext>
                </a:extLst>
              </a:tr>
              <a:tr h="1198919">
                <a:tc>
                  <a:txBody>
                    <a:bodyPr/>
                    <a:lstStyle/>
                    <a:p>
                      <a:pPr algn="l"/>
                      <a:r>
                        <a:rPr sz="2300" b="0" dirty="0">
                          <a:solidFill>
                            <a:srgbClr val="232B34"/>
                          </a:solidFill>
                          <a:latin typeface="Yu Gothic"/>
                        </a:rPr>
                        <a:t>LCT</a:t>
                      </a:r>
                    </a:p>
                  </a:txBody>
                  <a:tcPr marL="64008" marR="64008" marT="27432" marB="27432" anchor="ctr">
                    <a:solidFill>
                      <a:srgbClr val="F4F6F8"/>
                    </a:solidFill>
                  </a:tcPr>
                </a:tc>
                <a:tc>
                  <a:txBody>
                    <a:bodyPr/>
                    <a:lstStyle/>
                    <a:p>
                      <a:pPr algn="ctr"/>
                      <a:r>
                        <a:rPr sz="2300" b="0">
                          <a:solidFill>
                            <a:srgbClr val="232B34"/>
                          </a:solidFill>
                          <a:latin typeface="Yu Gothic"/>
                        </a:rPr>
                        <a:t>MZ center</a:t>
                      </a:r>
                    </a:p>
                  </a:txBody>
                  <a:tcPr marL="64008" marR="64008" marT="27432" marB="27432" anchor="ctr">
                    <a:solidFill>
                      <a:srgbClr val="EBF6FB"/>
                    </a:solidFill>
                  </a:tcPr>
                </a:tc>
                <a:extLst>
                  <a:ext uri="{0D108BD9-81ED-4DB2-BD59-A6C34878D82A}">
                    <a16:rowId xmlns:a16="http://schemas.microsoft.com/office/drawing/2014/main" val="10004"/>
                  </a:ext>
                </a:extLst>
              </a:tr>
              <a:tr h="1198919">
                <a:tc>
                  <a:txBody>
                    <a:bodyPr/>
                    <a:lstStyle/>
                    <a:p>
                      <a:pPr algn="l"/>
                      <a:r>
                        <a:rPr sz="2300" b="0" dirty="0">
                          <a:solidFill>
                            <a:srgbClr val="232B34"/>
                          </a:solidFill>
                          <a:latin typeface="Yu Gothic"/>
                        </a:rPr>
                        <a:t>STT</a:t>
                      </a:r>
                    </a:p>
                  </a:txBody>
                  <a:tcPr marL="64008" marR="64008" marT="27432" marB="27432" anchor="ctr">
                    <a:solidFill>
                      <a:srgbClr val="FFFFFF"/>
                    </a:solidFill>
                  </a:tcPr>
                </a:tc>
                <a:tc>
                  <a:txBody>
                    <a:bodyPr/>
                    <a:lstStyle/>
                    <a:p>
                      <a:pPr algn="ctr"/>
                      <a:r>
                        <a:rPr sz="2300" b="0" dirty="0">
                          <a:solidFill>
                            <a:srgbClr val="232B34"/>
                          </a:solidFill>
                          <a:latin typeface="Yu Gothic"/>
                        </a:rPr>
                        <a:t>PZ center</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17411701" y="11460714"/>
            <a:ext cx="5753893" cy="1040285"/>
          </a:xfrm>
          <a:prstGeom prst="rect">
            <a:avLst/>
          </a:prstGeom>
          <a:noFill/>
        </p:spPr>
        <p:txBody>
          <a:bodyPr wrap="square" lIns="36576" tIns="27432" rIns="36576" bIns="27432" anchor="t">
            <a:spAutoFit/>
          </a:bodyPr>
          <a:lstStyle/>
          <a:p>
            <a:r>
              <a:rPr lang="en-US" sz="3200" b="1" dirty="0">
                <a:solidFill>
                  <a:srgbClr val="082B52"/>
                </a:solidFill>
                <a:latin typeface="Yu Gothic"/>
              </a:rPr>
              <a:t>Thermal Desktop</a:t>
            </a:r>
            <a:r>
              <a:rPr lang="ja-JP" altLang="en-US" sz="3200" b="1" dirty="0">
                <a:solidFill>
                  <a:srgbClr val="082B52"/>
                </a:solidFill>
                <a:latin typeface="Yu Gothic"/>
              </a:rPr>
              <a:t>と</a:t>
            </a:r>
            <a:r>
              <a:rPr lang="en-US" altLang="ja-JP" sz="3200" b="1" dirty="0">
                <a:solidFill>
                  <a:srgbClr val="082B52"/>
                </a:solidFill>
                <a:latin typeface="Yu Gothic"/>
              </a:rPr>
              <a:t>Femap</a:t>
            </a:r>
            <a:r>
              <a:rPr lang="ja-JP" altLang="en-US" sz="3200" b="1" dirty="0">
                <a:solidFill>
                  <a:srgbClr val="082B52"/>
                </a:solidFill>
                <a:latin typeface="Yu Gothic"/>
              </a:rPr>
              <a:t>で</a:t>
            </a:r>
            <a:endParaRPr lang="en-US" altLang="ja-JP" sz="3200" b="1" dirty="0">
              <a:solidFill>
                <a:srgbClr val="082B52"/>
              </a:solidFill>
              <a:latin typeface="Yu Gothic"/>
            </a:endParaRPr>
          </a:p>
          <a:p>
            <a:r>
              <a:rPr lang="ja-JP" altLang="en-US" sz="3200" b="1" dirty="0">
                <a:solidFill>
                  <a:srgbClr val="082B52"/>
                </a:solidFill>
                <a:latin typeface="Yu Gothic"/>
              </a:rPr>
              <a:t>同じ衛星モデルを作成する</a:t>
            </a:r>
            <a:endParaRPr sz="3200" b="1" dirty="0">
              <a:solidFill>
                <a:srgbClr val="082B52"/>
              </a:solidFill>
              <a:latin typeface="Yu Gothic"/>
            </a:endParaRPr>
          </a:p>
        </p:txBody>
      </p:sp>
      <p:pic>
        <p:nvPicPr>
          <p:cNvPr id="17" name="図 16">
            <a:extLst>
              <a:ext uri="{FF2B5EF4-FFF2-40B4-BE49-F238E27FC236}">
                <a16:creationId xmlns:a16="http://schemas.microsoft.com/office/drawing/2014/main" id="{CCEF93ED-B9FC-B970-0B05-59AC1CDB4FC7}"/>
              </a:ext>
            </a:extLst>
          </p:cNvPr>
          <p:cNvPicPr>
            <a:picLocks noChangeAspect="1"/>
          </p:cNvPicPr>
          <p:nvPr/>
        </p:nvPicPr>
        <p:blipFill>
          <a:blip r:embed="rId3"/>
          <a:stretch>
            <a:fillRect/>
          </a:stretch>
        </p:blipFill>
        <p:spPr>
          <a:xfrm>
            <a:off x="1141093" y="3764280"/>
            <a:ext cx="4377691" cy="6995395"/>
          </a:xfrm>
          <a:prstGeom prst="rect">
            <a:avLst/>
          </a:prstGeom>
        </p:spPr>
      </p:pic>
      <p:sp>
        <p:nvSpPr>
          <p:cNvPr id="18" name="TextBox 6"/>
          <p:cNvSpPr txBox="1"/>
          <p:nvPr/>
        </p:nvSpPr>
        <p:spPr>
          <a:xfrm>
            <a:off x="2646962" y="3261360"/>
            <a:ext cx="1274516" cy="424732"/>
          </a:xfrm>
          <a:prstGeom prst="rect">
            <a:avLst/>
          </a:prstGeom>
          <a:noFill/>
        </p:spPr>
        <p:txBody>
          <a:bodyPr wrap="none" lIns="36576" tIns="27432" rIns="36576" bIns="27432" anchor="t">
            <a:spAutoFit/>
          </a:bodyPr>
          <a:lstStyle/>
          <a:p>
            <a:pPr algn="ctr"/>
            <a:r>
              <a:rPr sz="2400" b="1">
                <a:solidFill>
                  <a:srgbClr val="FF0000"/>
                </a:solidFill>
                <a:latin typeface="Yu Gothic"/>
              </a:rPr>
              <a:t>PZ: STT</a:t>
            </a:r>
          </a:p>
        </p:txBody>
      </p:sp>
      <p:sp>
        <p:nvSpPr>
          <p:cNvPr id="19" name="TextBox 7"/>
          <p:cNvSpPr txBox="1"/>
          <p:nvPr/>
        </p:nvSpPr>
        <p:spPr>
          <a:xfrm>
            <a:off x="2729050" y="10894945"/>
            <a:ext cx="1468479" cy="455509"/>
          </a:xfrm>
          <a:prstGeom prst="rect">
            <a:avLst/>
          </a:prstGeom>
          <a:noFill/>
        </p:spPr>
        <p:txBody>
          <a:bodyPr wrap="none" lIns="36576" tIns="27432" rIns="36576" bIns="27432" anchor="t">
            <a:spAutoFit/>
          </a:bodyPr>
          <a:lstStyle/>
          <a:p>
            <a:pPr algn="ctr"/>
            <a:r>
              <a:rPr sz="2600" b="1" dirty="0">
                <a:solidFill>
                  <a:srgbClr val="082B52"/>
                </a:solidFill>
                <a:latin typeface="Yu Gothic"/>
              </a:rPr>
              <a:t>MZ: LCT</a:t>
            </a:r>
          </a:p>
        </p:txBody>
      </p:sp>
      <p:sp>
        <p:nvSpPr>
          <p:cNvPr id="20" name="TextBox 8"/>
          <p:cNvSpPr txBox="1"/>
          <p:nvPr/>
        </p:nvSpPr>
        <p:spPr>
          <a:xfrm>
            <a:off x="3507104" y="5259118"/>
            <a:ext cx="2011680" cy="457200"/>
          </a:xfrm>
          <a:prstGeom prst="rect">
            <a:avLst/>
          </a:prstGeom>
          <a:noFill/>
        </p:spPr>
        <p:txBody>
          <a:bodyPr wrap="none" lIns="36576" tIns="27432" rIns="36576" bIns="27432" anchor="t">
            <a:spAutoFit/>
          </a:bodyPr>
          <a:lstStyle/>
          <a:p>
            <a:pPr algn="l"/>
            <a:r>
              <a:rPr sz="2200" b="1" dirty="0">
                <a:solidFill>
                  <a:srgbClr val="EC9427"/>
                </a:solidFill>
                <a:latin typeface="Yu Gothic"/>
              </a:rPr>
              <a:t>MY: PCDU</a:t>
            </a:r>
          </a:p>
        </p:txBody>
      </p:sp>
      <p:sp>
        <p:nvSpPr>
          <p:cNvPr id="21" name="TextBox 9"/>
          <p:cNvSpPr txBox="1"/>
          <p:nvPr/>
        </p:nvSpPr>
        <p:spPr>
          <a:xfrm>
            <a:off x="1929554" y="8298180"/>
            <a:ext cx="1434816" cy="393954"/>
          </a:xfrm>
          <a:prstGeom prst="rect">
            <a:avLst/>
          </a:prstGeom>
          <a:noFill/>
        </p:spPr>
        <p:txBody>
          <a:bodyPr wrap="none" lIns="36576" tIns="27432" rIns="36576" bIns="27432" anchor="t">
            <a:spAutoFit/>
          </a:bodyPr>
          <a:lstStyle/>
          <a:p>
            <a:pPr algn="l"/>
            <a:r>
              <a:rPr sz="2200" b="1" dirty="0">
                <a:solidFill>
                  <a:srgbClr val="EF25D7"/>
                </a:solidFill>
                <a:latin typeface="Yu Gothic"/>
              </a:rPr>
              <a:t>PY: PROP</a:t>
            </a:r>
          </a:p>
        </p:txBody>
      </p:sp>
      <p:sp>
        <p:nvSpPr>
          <p:cNvPr id="24" name="テキスト ボックス 23">
            <a:extLst>
              <a:ext uri="{FF2B5EF4-FFF2-40B4-BE49-F238E27FC236}">
                <a16:creationId xmlns:a16="http://schemas.microsoft.com/office/drawing/2014/main" id="{59F82260-522D-6761-0595-3DE00DE7B20B}"/>
              </a:ext>
            </a:extLst>
          </p:cNvPr>
          <p:cNvSpPr txBox="1"/>
          <p:nvPr/>
        </p:nvSpPr>
        <p:spPr>
          <a:xfrm>
            <a:off x="3921478" y="11736067"/>
            <a:ext cx="3027363" cy="892552"/>
          </a:xfrm>
          <a:prstGeom prst="rect">
            <a:avLst/>
          </a:prstGeom>
          <a:noFill/>
        </p:spPr>
        <p:txBody>
          <a:bodyPr wrap="square">
            <a:spAutoFit/>
          </a:bodyPr>
          <a:lstStyle/>
          <a:p>
            <a:r>
              <a:rPr lang="en-US" altLang="ja-JP" sz="2600" b="1" dirty="0">
                <a:solidFill>
                  <a:srgbClr val="082B52"/>
                </a:solidFill>
                <a:latin typeface="Yu Gothic"/>
              </a:rPr>
              <a:t>LOS</a:t>
            </a:r>
          </a:p>
          <a:p>
            <a:r>
              <a:rPr lang="en-US" altLang="ja-JP" sz="2600" b="1" dirty="0">
                <a:solidFill>
                  <a:srgbClr val="082B52"/>
                </a:solidFill>
                <a:latin typeface="Yu Gothic"/>
              </a:rPr>
              <a:t>boresight ≈ −Z</a:t>
            </a:r>
            <a:endParaRPr lang="ja-JP" altLang="en-US" dirty="0"/>
          </a:p>
        </p:txBody>
      </p:sp>
      <p:sp>
        <p:nvSpPr>
          <p:cNvPr id="27" name="矢印: 下 26">
            <a:extLst>
              <a:ext uri="{FF2B5EF4-FFF2-40B4-BE49-F238E27FC236}">
                <a16:creationId xmlns:a16="http://schemas.microsoft.com/office/drawing/2014/main" id="{3ABEA4DE-C3B5-7BEA-4021-0D8E1D0BB0E3}"/>
              </a:ext>
            </a:extLst>
          </p:cNvPr>
          <p:cNvSpPr/>
          <p:nvPr/>
        </p:nvSpPr>
        <p:spPr>
          <a:xfrm>
            <a:off x="2893199" y="11612814"/>
            <a:ext cx="873478" cy="1123188"/>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9" name="図 28">
            <a:extLst>
              <a:ext uri="{FF2B5EF4-FFF2-40B4-BE49-F238E27FC236}">
                <a16:creationId xmlns:a16="http://schemas.microsoft.com/office/drawing/2014/main" id="{757886C6-D7F5-0F38-ACF6-8EA5310D4B71}"/>
              </a:ext>
            </a:extLst>
          </p:cNvPr>
          <p:cNvPicPr>
            <a:picLocks noChangeAspect="1"/>
          </p:cNvPicPr>
          <p:nvPr/>
        </p:nvPicPr>
        <p:blipFill>
          <a:blip r:embed="rId4"/>
          <a:stretch>
            <a:fillRect/>
          </a:stretch>
        </p:blipFill>
        <p:spPr>
          <a:xfrm>
            <a:off x="5745235" y="3766102"/>
            <a:ext cx="4658580" cy="6944390"/>
          </a:xfrm>
          <a:prstGeom prst="rect">
            <a:avLst/>
          </a:prstGeom>
        </p:spPr>
      </p:pic>
      <p:pic>
        <p:nvPicPr>
          <p:cNvPr id="31" name="図 30">
            <a:extLst>
              <a:ext uri="{FF2B5EF4-FFF2-40B4-BE49-F238E27FC236}">
                <a16:creationId xmlns:a16="http://schemas.microsoft.com/office/drawing/2014/main" id="{02DA67B2-8B68-27F3-69F6-53903FB72656}"/>
              </a:ext>
            </a:extLst>
          </p:cNvPr>
          <p:cNvPicPr>
            <a:picLocks noChangeAspect="1"/>
          </p:cNvPicPr>
          <p:nvPr/>
        </p:nvPicPr>
        <p:blipFill>
          <a:blip r:embed="rId5"/>
          <a:stretch>
            <a:fillRect/>
          </a:stretch>
        </p:blipFill>
        <p:spPr>
          <a:xfrm>
            <a:off x="10768621" y="3764280"/>
            <a:ext cx="5428009" cy="6395069"/>
          </a:xfrm>
          <a:prstGeom prst="rect">
            <a:avLst/>
          </a:prstGeom>
        </p:spPr>
      </p:pic>
      <p:sp>
        <p:nvSpPr>
          <p:cNvPr id="32" name="テキスト ボックス 31">
            <a:extLst>
              <a:ext uri="{FF2B5EF4-FFF2-40B4-BE49-F238E27FC236}">
                <a16:creationId xmlns:a16="http://schemas.microsoft.com/office/drawing/2014/main" id="{8598F395-2105-83B7-C6FD-2BE0EC3D3A1F}"/>
              </a:ext>
            </a:extLst>
          </p:cNvPr>
          <p:cNvSpPr txBox="1"/>
          <p:nvPr/>
        </p:nvSpPr>
        <p:spPr>
          <a:xfrm>
            <a:off x="7569857" y="3275705"/>
            <a:ext cx="3202915" cy="523220"/>
          </a:xfrm>
          <a:prstGeom prst="rect">
            <a:avLst/>
          </a:prstGeom>
          <a:noFill/>
        </p:spPr>
        <p:txBody>
          <a:bodyPr wrap="square" rtlCol="0">
            <a:spAutoFit/>
          </a:bodyPr>
          <a:lstStyle/>
          <a:p>
            <a:r>
              <a:rPr kumimoji="1" lang="en-US" altLang="ja-JP" sz="2800" dirty="0"/>
              <a:t>Thermal Desktop</a:t>
            </a:r>
            <a:endParaRPr kumimoji="1" lang="ja-JP" altLang="en-US" sz="2800" dirty="0"/>
          </a:p>
        </p:txBody>
      </p:sp>
      <p:sp>
        <p:nvSpPr>
          <p:cNvPr id="34" name="テキスト ボックス 33">
            <a:extLst>
              <a:ext uri="{FF2B5EF4-FFF2-40B4-BE49-F238E27FC236}">
                <a16:creationId xmlns:a16="http://schemas.microsoft.com/office/drawing/2014/main" id="{A6373989-AC26-4AC6-D467-74D9A3AB9AD8}"/>
              </a:ext>
            </a:extLst>
          </p:cNvPr>
          <p:cNvSpPr txBox="1"/>
          <p:nvPr/>
        </p:nvSpPr>
        <p:spPr>
          <a:xfrm>
            <a:off x="14922114" y="3275705"/>
            <a:ext cx="1274516" cy="523220"/>
          </a:xfrm>
          <a:prstGeom prst="rect">
            <a:avLst/>
          </a:prstGeom>
          <a:noFill/>
        </p:spPr>
        <p:txBody>
          <a:bodyPr wrap="square" rtlCol="0">
            <a:spAutoFit/>
          </a:bodyPr>
          <a:lstStyle/>
          <a:p>
            <a:r>
              <a:rPr kumimoji="1" lang="en-US" altLang="ja-JP" sz="2800" dirty="0"/>
              <a:t>Femap</a:t>
            </a:r>
            <a:endParaRPr kumimoji="1" lang="ja-JP" altLang="en-US" sz="2800" dirty="0"/>
          </a:p>
        </p:txBody>
      </p:sp>
      <p:sp>
        <p:nvSpPr>
          <p:cNvPr id="36" name="テキスト ボックス 35">
            <a:extLst>
              <a:ext uri="{FF2B5EF4-FFF2-40B4-BE49-F238E27FC236}">
                <a16:creationId xmlns:a16="http://schemas.microsoft.com/office/drawing/2014/main" id="{674E08F0-D963-68BA-D4B8-F9D37A3BD261}"/>
              </a:ext>
            </a:extLst>
          </p:cNvPr>
          <p:cNvSpPr txBox="1"/>
          <p:nvPr/>
        </p:nvSpPr>
        <p:spPr>
          <a:xfrm>
            <a:off x="19544059" y="3261360"/>
            <a:ext cx="2514600" cy="523220"/>
          </a:xfrm>
          <a:prstGeom prst="rect">
            <a:avLst/>
          </a:prstGeom>
          <a:noFill/>
        </p:spPr>
        <p:txBody>
          <a:bodyPr wrap="square" rtlCol="0">
            <a:spAutoFit/>
          </a:bodyPr>
          <a:lstStyle/>
          <a:p>
            <a:r>
              <a:rPr kumimoji="1" lang="en-US" altLang="ja-JP" sz="2800" dirty="0"/>
              <a:t>Configuration</a:t>
            </a:r>
            <a:endParaRPr kumimoji="1" lang="ja-JP" altLang="en-US" sz="2800" dirty="0"/>
          </a:p>
        </p:txBody>
      </p:sp>
    </p:spTree>
    <p:extLst>
      <p:ext uri="{BB962C8B-B14F-4D97-AF65-F5344CB8AC3E}">
        <p14:creationId xmlns:p14="http://schemas.microsoft.com/office/powerpoint/2010/main" val="236690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Thermo-structural analysis</a:t>
            </a:r>
          </a:p>
        </p:txBody>
      </p:sp>
      <p:sp>
        <p:nvSpPr>
          <p:cNvPr id="3" name="TextBox 2"/>
          <p:cNvSpPr txBox="1"/>
          <p:nvPr/>
        </p:nvSpPr>
        <p:spPr>
          <a:xfrm>
            <a:off x="1536192" y="1298448"/>
            <a:ext cx="18718394"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lang="en-US" sz="3200" b="1" dirty="0">
                <a:solidFill>
                  <a:srgbClr val="082B52"/>
                </a:solidFill>
                <a:latin typeface="Yu Gothic"/>
              </a:rPr>
              <a:t>TD</a:t>
            </a:r>
            <a:r>
              <a:rPr lang="ja-JP" altLang="en-US" sz="3200" b="1" dirty="0">
                <a:solidFill>
                  <a:srgbClr val="082B52"/>
                </a:solidFill>
                <a:latin typeface="Yu Gothic"/>
              </a:rPr>
              <a:t>での解析：軌道・姿勢・コンポ電源・表面特性を入力として、各ケースにおける温度場を出力する</a:t>
            </a:r>
            <a:endParaRPr sz="3200" b="1" dirty="0">
              <a:solidFill>
                <a:srgbClr val="082B52"/>
              </a:solidFill>
              <a:latin typeface="Yu Gothic"/>
            </a:endParaRPr>
          </a:p>
        </p:txBody>
      </p:sp>
      <p:sp>
        <p:nvSpPr>
          <p:cNvPr id="4" name="TextBox 3"/>
          <p:cNvSpPr txBox="1"/>
          <p:nvPr/>
        </p:nvSpPr>
        <p:spPr>
          <a:xfrm>
            <a:off x="23444052" y="12819888"/>
            <a:ext cx="330348" cy="332399"/>
          </a:xfrm>
          <a:prstGeom prst="rect">
            <a:avLst/>
          </a:prstGeom>
          <a:noFill/>
        </p:spPr>
        <p:txBody>
          <a:bodyPr wrap="none" lIns="36576" tIns="27432" rIns="36576" bIns="27432" anchor="t">
            <a:spAutoFit/>
          </a:bodyPr>
          <a:lstStyle/>
          <a:p>
            <a:pPr algn="r"/>
            <a:r>
              <a:rPr sz="1800" b="0" dirty="0">
                <a:solidFill>
                  <a:srgbClr val="666F79"/>
                </a:solidFill>
                <a:latin typeface="Yu Gothic"/>
              </a:rPr>
              <a:t>1</a:t>
            </a:r>
            <a:r>
              <a:rPr lang="en-US" sz="1800" b="0" dirty="0">
                <a:solidFill>
                  <a:srgbClr val="666F79"/>
                </a:solidFill>
                <a:latin typeface="Yu Gothic"/>
              </a:rPr>
              <a:t>0</a:t>
            </a:r>
            <a:endParaRPr sz="1800" b="0" dirty="0">
              <a:solidFill>
                <a:srgbClr val="666F79"/>
              </a:solidFill>
              <a:latin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3215911599"/>
              </p:ext>
            </p:extLst>
          </p:nvPr>
        </p:nvGraphicFramePr>
        <p:xfrm>
          <a:off x="1339533" y="3597098"/>
          <a:ext cx="10789920" cy="825573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1031965">
                <a:tc>
                  <a:txBody>
                    <a:bodyPr/>
                    <a:lstStyle/>
                    <a:p>
                      <a:pPr algn="l"/>
                      <a:r>
                        <a:rPr sz="2300" b="1">
                          <a:solidFill>
                            <a:srgbClr val="FFFFFF"/>
                          </a:solidFill>
                          <a:latin typeface="Yu Gothic"/>
                        </a:rPr>
                        <a:t>Parameter</a:t>
                      </a:r>
                    </a:p>
                  </a:txBody>
                  <a:tcPr marL="64008" marR="64008" marT="27432" marB="27432" anchor="ctr">
                    <a:solidFill>
                      <a:srgbClr val="082B52"/>
                    </a:solidFill>
                  </a:tcPr>
                </a:tc>
                <a:tc>
                  <a:txBody>
                    <a:bodyPr/>
                    <a:lstStyle/>
                    <a:p>
                      <a:pPr algn="ctr"/>
                      <a:r>
                        <a:rPr sz="2300" b="1">
                          <a:solidFill>
                            <a:srgbClr val="FFFFFF"/>
                          </a:solidFill>
                          <a:latin typeface="Yu Gothic"/>
                        </a:rPr>
                        <a:t>Setting</a:t>
                      </a:r>
                    </a:p>
                  </a:txBody>
                  <a:tcPr marL="64008" marR="64008" marT="27432" marB="27432" anchor="ctr">
                    <a:solidFill>
                      <a:srgbClr val="082B52"/>
                    </a:solidFill>
                  </a:tcPr>
                </a:tc>
                <a:extLst>
                  <a:ext uri="{0D108BD9-81ED-4DB2-BD59-A6C34878D82A}">
                    <a16:rowId xmlns:a16="http://schemas.microsoft.com/office/drawing/2014/main" val="10000"/>
                  </a:ext>
                </a:extLst>
              </a:tr>
              <a:tr h="1031965">
                <a:tc>
                  <a:txBody>
                    <a:bodyPr/>
                    <a:lstStyle/>
                    <a:p>
                      <a:pPr algn="l"/>
                      <a:r>
                        <a:rPr sz="2300" b="0">
                          <a:solidFill>
                            <a:srgbClr val="232B34"/>
                          </a:solidFill>
                          <a:latin typeface="Yu Gothic"/>
                        </a:rPr>
                        <a:t>Orbit</a:t>
                      </a:r>
                    </a:p>
                  </a:txBody>
                  <a:tcPr marL="64008" marR="64008" marT="27432" marB="27432" anchor="ctr">
                    <a:solidFill>
                      <a:srgbClr val="FFFFFF"/>
                    </a:solidFill>
                  </a:tcPr>
                </a:tc>
                <a:tc>
                  <a:txBody>
                    <a:bodyPr/>
                    <a:lstStyle/>
                    <a:p>
                      <a:pPr algn="ctr"/>
                      <a:r>
                        <a:rPr lang="en-US" sz="2300" b="0" dirty="0">
                          <a:solidFill>
                            <a:srgbClr val="232B34"/>
                          </a:solidFill>
                          <a:latin typeface="Yu Gothic"/>
                        </a:rPr>
                        <a:t>SSO </a:t>
                      </a:r>
                      <a:r>
                        <a:rPr sz="2300" b="0" dirty="0">
                          <a:solidFill>
                            <a:srgbClr val="232B34"/>
                          </a:solidFill>
                          <a:latin typeface="Yu Gothic"/>
                        </a:rPr>
                        <a:t>LTAN06 / 800 km / COLD</a:t>
                      </a:r>
                    </a:p>
                  </a:txBody>
                  <a:tcPr marL="64008" marR="64008" marT="27432" marB="27432" anchor="ctr">
                    <a:solidFill>
                      <a:srgbClr val="EBF6FB"/>
                    </a:solidFill>
                  </a:tcPr>
                </a:tc>
                <a:extLst>
                  <a:ext uri="{0D108BD9-81ED-4DB2-BD59-A6C34878D82A}">
                    <a16:rowId xmlns:a16="http://schemas.microsoft.com/office/drawing/2014/main" val="10001"/>
                  </a:ext>
                </a:extLst>
              </a:tr>
              <a:tr h="1031965">
                <a:tc>
                  <a:txBody>
                    <a:bodyPr/>
                    <a:lstStyle/>
                    <a:p>
                      <a:pPr algn="l"/>
                      <a:r>
                        <a:rPr sz="2300" b="0">
                          <a:solidFill>
                            <a:srgbClr val="232B34"/>
                          </a:solidFill>
                          <a:latin typeface="Yu Gothic"/>
                        </a:rPr>
                        <a:t>Period</a:t>
                      </a:r>
                    </a:p>
                  </a:txBody>
                  <a:tcPr marL="64008" marR="64008" marT="27432" marB="27432" anchor="ctr">
                    <a:solidFill>
                      <a:srgbClr val="F4F6F8"/>
                    </a:solidFill>
                  </a:tcPr>
                </a:tc>
                <a:tc>
                  <a:txBody>
                    <a:bodyPr/>
                    <a:lstStyle/>
                    <a:p>
                      <a:pPr algn="ctr"/>
                      <a:r>
                        <a:rPr sz="2300" b="0" dirty="0">
                          <a:solidFill>
                            <a:srgbClr val="232B34"/>
                          </a:solidFill>
                          <a:latin typeface="Yu Gothic"/>
                        </a:rPr>
                        <a:t>≈6050 s (101 min)</a:t>
                      </a:r>
                    </a:p>
                  </a:txBody>
                  <a:tcPr marL="64008" marR="64008" marT="27432" marB="27432" anchor="ctr">
                    <a:solidFill>
                      <a:srgbClr val="EBF6FB"/>
                    </a:solidFill>
                  </a:tcPr>
                </a:tc>
                <a:extLst>
                  <a:ext uri="{0D108BD9-81ED-4DB2-BD59-A6C34878D82A}">
                    <a16:rowId xmlns:a16="http://schemas.microsoft.com/office/drawing/2014/main" val="10002"/>
                  </a:ext>
                </a:extLst>
              </a:tr>
              <a:tr h="1031965">
                <a:tc>
                  <a:txBody>
                    <a:bodyPr/>
                    <a:lstStyle/>
                    <a:p>
                      <a:pPr algn="l"/>
                      <a:r>
                        <a:rPr sz="2300" b="0">
                          <a:solidFill>
                            <a:srgbClr val="232B34"/>
                          </a:solidFill>
                          <a:latin typeface="Yu Gothic"/>
                        </a:rPr>
                        <a:t>Duration</a:t>
                      </a:r>
                    </a:p>
                  </a:txBody>
                  <a:tcPr marL="64008" marR="64008" marT="27432" marB="27432" anchor="ctr">
                    <a:solidFill>
                      <a:srgbClr val="FFFFFF"/>
                    </a:solidFill>
                  </a:tcPr>
                </a:tc>
                <a:tc>
                  <a:txBody>
                    <a:bodyPr/>
                    <a:lstStyle/>
                    <a:p>
                      <a:pPr algn="ctr"/>
                      <a:r>
                        <a:rPr sz="2300" b="0">
                          <a:solidFill>
                            <a:srgbClr val="232B34"/>
                          </a:solidFill>
                          <a:latin typeface="Yu Gothic"/>
                        </a:rPr>
                        <a:t>≈18157 s (3 orbits)</a:t>
                      </a:r>
                    </a:p>
                  </a:txBody>
                  <a:tcPr marL="64008" marR="64008" marT="27432" marB="27432" anchor="ctr">
                    <a:solidFill>
                      <a:srgbClr val="EBF6FB"/>
                    </a:solidFill>
                  </a:tcPr>
                </a:tc>
                <a:extLst>
                  <a:ext uri="{0D108BD9-81ED-4DB2-BD59-A6C34878D82A}">
                    <a16:rowId xmlns:a16="http://schemas.microsoft.com/office/drawing/2014/main" val="10003"/>
                  </a:ext>
                </a:extLst>
              </a:tr>
              <a:tr h="1031965">
                <a:tc>
                  <a:txBody>
                    <a:bodyPr/>
                    <a:lstStyle/>
                    <a:p>
                      <a:pPr algn="l"/>
                      <a:r>
                        <a:rPr sz="2300" b="0">
                          <a:solidFill>
                            <a:srgbClr val="232B34"/>
                          </a:solidFill>
                          <a:latin typeface="Yu Gothic"/>
                        </a:rPr>
                        <a:t>Sampling</a:t>
                      </a:r>
                    </a:p>
                  </a:txBody>
                  <a:tcPr marL="64008" marR="64008" marT="27432" marB="27432" anchor="ctr">
                    <a:solidFill>
                      <a:srgbClr val="F4F6F8"/>
                    </a:solidFill>
                  </a:tcPr>
                </a:tc>
                <a:tc>
                  <a:txBody>
                    <a:bodyPr/>
                    <a:lstStyle/>
                    <a:p>
                      <a:pPr algn="ctr"/>
                      <a:r>
                        <a:rPr sz="2300" b="0">
                          <a:solidFill>
                            <a:srgbClr val="232B34"/>
                          </a:solidFill>
                          <a:latin typeface="Yu Gothic"/>
                        </a:rPr>
                        <a:t>≈60.5 s / 301 samples</a:t>
                      </a:r>
                    </a:p>
                  </a:txBody>
                  <a:tcPr marL="64008" marR="64008" marT="27432" marB="27432" anchor="ctr">
                    <a:solidFill>
                      <a:srgbClr val="EBF6FB"/>
                    </a:solidFill>
                  </a:tcPr>
                </a:tc>
                <a:extLst>
                  <a:ext uri="{0D108BD9-81ED-4DB2-BD59-A6C34878D82A}">
                    <a16:rowId xmlns:a16="http://schemas.microsoft.com/office/drawing/2014/main" val="10004"/>
                  </a:ext>
                </a:extLst>
              </a:tr>
              <a:tr h="1031965">
                <a:tc>
                  <a:txBody>
                    <a:bodyPr/>
                    <a:lstStyle/>
                    <a:p>
                      <a:pPr algn="l"/>
                      <a:r>
                        <a:rPr sz="2300" b="0">
                          <a:solidFill>
                            <a:srgbClr val="232B34"/>
                          </a:solidFill>
                          <a:latin typeface="Yu Gothic"/>
                        </a:rPr>
                        <a:t>Eclipse</a:t>
                      </a:r>
                    </a:p>
                  </a:txBody>
                  <a:tcPr marL="64008" marR="64008" marT="27432" marB="27432" anchor="ctr">
                    <a:solidFill>
                      <a:srgbClr val="FFFFFF"/>
                    </a:solidFill>
                  </a:tcPr>
                </a:tc>
                <a:tc>
                  <a:txBody>
                    <a:bodyPr/>
                    <a:lstStyle/>
                    <a:p>
                      <a:pPr algn="ctr"/>
                      <a:r>
                        <a:rPr lang="ja-JP" altLang="en-US" sz="2300" b="0" dirty="0">
                          <a:solidFill>
                            <a:srgbClr val="232B34"/>
                          </a:solidFill>
                          <a:latin typeface="Yu Gothic"/>
                        </a:rPr>
                        <a:t>蝕あり</a:t>
                      </a:r>
                      <a:r>
                        <a:rPr lang="en-US" altLang="ja-JP" sz="2300" b="0" dirty="0">
                          <a:solidFill>
                            <a:srgbClr val="232B34"/>
                          </a:solidFill>
                          <a:latin typeface="Yu Gothic"/>
                        </a:rPr>
                        <a:t>/</a:t>
                      </a:r>
                      <a:r>
                        <a:rPr lang="ja-JP" altLang="en-US" sz="2300" b="0" dirty="0">
                          <a:solidFill>
                            <a:srgbClr val="232B34"/>
                          </a:solidFill>
                          <a:latin typeface="Yu Gothic"/>
                        </a:rPr>
                        <a:t>全日照</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5"/>
                  </a:ext>
                </a:extLst>
              </a:tr>
              <a:tr h="1031970">
                <a:tc>
                  <a:txBody>
                    <a:bodyPr/>
                    <a:lstStyle/>
                    <a:p>
                      <a:pPr algn="l"/>
                      <a:r>
                        <a:rPr sz="2300" b="0" dirty="0">
                          <a:solidFill>
                            <a:srgbClr val="232B34"/>
                          </a:solidFill>
                          <a:latin typeface="Yu Gothic"/>
                        </a:rPr>
                        <a:t>Sun face</a:t>
                      </a:r>
                    </a:p>
                  </a:txBody>
                  <a:tcPr marL="64008" marR="64008" marT="27432" marB="27432" anchor="ctr">
                    <a:solidFill>
                      <a:srgbClr val="F4F6F8"/>
                    </a:solidFill>
                  </a:tcPr>
                </a:tc>
                <a:tc>
                  <a:txBody>
                    <a:bodyPr/>
                    <a:lstStyle/>
                    <a:p>
                      <a:pPr algn="ctr"/>
                      <a:r>
                        <a:rPr sz="2300" b="0" dirty="0">
                          <a:solidFill>
                            <a:srgbClr val="232B34"/>
                          </a:solidFill>
                          <a:latin typeface="Yu Gothic"/>
                        </a:rPr>
                        <a:t>MX / MY / PX / PY</a:t>
                      </a:r>
                    </a:p>
                  </a:txBody>
                  <a:tcPr marL="64008" marR="64008" marT="27432" marB="27432" anchor="ctr">
                    <a:solidFill>
                      <a:srgbClr val="EBF6FB"/>
                    </a:solidFill>
                  </a:tcPr>
                </a:tc>
                <a:extLst>
                  <a:ext uri="{0D108BD9-81ED-4DB2-BD59-A6C34878D82A}">
                    <a16:rowId xmlns:a16="http://schemas.microsoft.com/office/drawing/2014/main" val="10006"/>
                  </a:ext>
                </a:extLst>
              </a:tr>
              <a:tr h="1031970">
                <a:tc>
                  <a:txBody>
                    <a:bodyPr/>
                    <a:lstStyle/>
                    <a:p>
                      <a:pPr algn="l"/>
                      <a:r>
                        <a:rPr lang="en-US" altLang="ja-JP" sz="2300" b="0" dirty="0">
                          <a:solidFill>
                            <a:srgbClr val="232B34"/>
                          </a:solidFill>
                          <a:latin typeface="Yu Gothic"/>
                        </a:rPr>
                        <a:t>Node</a:t>
                      </a:r>
                      <a:endParaRPr sz="2300" b="0" dirty="0">
                        <a:solidFill>
                          <a:srgbClr val="232B34"/>
                        </a:solidFill>
                        <a:latin typeface="Yu Gothic"/>
                      </a:endParaRPr>
                    </a:p>
                  </a:txBody>
                  <a:tcPr marL="64008" marR="64008" marT="27432" marB="27432" anchor="ctr">
                    <a:solidFill>
                      <a:schemeClr val="bg1"/>
                    </a:solidFill>
                  </a:tcPr>
                </a:tc>
                <a:tc>
                  <a:txBody>
                    <a:bodyPr/>
                    <a:lstStyle/>
                    <a:p>
                      <a:pPr algn="ctr"/>
                      <a:r>
                        <a:rPr lang="en-US" sz="2300" b="0" dirty="0">
                          <a:solidFill>
                            <a:srgbClr val="232B34"/>
                          </a:solidFill>
                          <a:latin typeface="Yu Gothic"/>
                        </a:rPr>
                        <a:t>125 Nodes</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4106942852"/>
                  </a:ext>
                </a:extLst>
              </a:tr>
            </a:tbl>
          </a:graphicData>
        </a:graphic>
      </p:graphicFrame>
      <p:sp>
        <p:nvSpPr>
          <p:cNvPr id="6" name="Rounded Rectangle 5"/>
          <p:cNvSpPr/>
          <p:nvPr/>
        </p:nvSpPr>
        <p:spPr>
          <a:xfrm>
            <a:off x="12618720" y="3608070"/>
            <a:ext cx="10424160" cy="324993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030200" y="4065270"/>
            <a:ext cx="9601200" cy="548640"/>
          </a:xfrm>
          <a:prstGeom prst="rect">
            <a:avLst/>
          </a:prstGeom>
          <a:noFill/>
        </p:spPr>
        <p:txBody>
          <a:bodyPr wrap="none" lIns="36576" tIns="27432" rIns="36576" bIns="27432" anchor="t">
            <a:spAutoFit/>
          </a:bodyPr>
          <a:lstStyle/>
          <a:p>
            <a:pPr algn="ctr"/>
            <a:r>
              <a:rPr sz="2700" b="1" dirty="0">
                <a:solidFill>
                  <a:srgbClr val="1B74AA"/>
                </a:solidFill>
                <a:latin typeface="Yu Gothic"/>
              </a:rPr>
              <a:t>Additional environments</a:t>
            </a:r>
          </a:p>
        </p:txBody>
      </p:sp>
      <p:sp>
        <p:nvSpPr>
          <p:cNvPr id="8" name="TextBox 7"/>
          <p:cNvSpPr txBox="1"/>
          <p:nvPr/>
        </p:nvSpPr>
        <p:spPr>
          <a:xfrm>
            <a:off x="13258800" y="5162550"/>
            <a:ext cx="9052560" cy="1497846"/>
          </a:xfrm>
          <a:prstGeom prst="rect">
            <a:avLst/>
          </a:prstGeom>
          <a:noFill/>
        </p:spPr>
        <p:txBody>
          <a:bodyPr wrap="square" lIns="27432" rIns="27432">
            <a:spAutoFit/>
          </a:bodyPr>
          <a:lstStyle/>
          <a:p>
            <a:pPr>
              <a:spcAft>
                <a:spcPts val="800"/>
              </a:spcAft>
            </a:pPr>
            <a:r>
              <a:rPr sz="2600" b="1" dirty="0">
                <a:solidFill>
                  <a:srgbClr val="1B74AA"/>
                </a:solidFill>
                <a:latin typeface="Yu Gothic"/>
              </a:rPr>
              <a:t>• </a:t>
            </a:r>
            <a:r>
              <a:rPr lang="ja-JP" altLang="en-US" sz="2600" dirty="0">
                <a:solidFill>
                  <a:srgbClr val="232B34"/>
                </a:solidFill>
                <a:latin typeface="Yu Gothic"/>
              </a:rPr>
              <a:t>内部のコンポの電源切り替え</a:t>
            </a:r>
            <a:endParaRPr sz="2600" dirty="0">
              <a:solidFill>
                <a:srgbClr val="232B34"/>
              </a:solidFill>
              <a:latin typeface="Yu Gothic"/>
            </a:endParaRPr>
          </a:p>
          <a:p>
            <a:pPr>
              <a:spcAft>
                <a:spcPts val="800"/>
              </a:spcAft>
            </a:pPr>
            <a:r>
              <a:rPr sz="2600" b="1" dirty="0">
                <a:solidFill>
                  <a:srgbClr val="1B74AA"/>
                </a:solidFill>
                <a:latin typeface="Yu Gothic"/>
              </a:rPr>
              <a:t>• </a:t>
            </a:r>
            <a:r>
              <a:rPr lang="ja-JP" altLang="en-US" sz="2600" dirty="0">
                <a:solidFill>
                  <a:srgbClr val="232B34"/>
                </a:solidFill>
                <a:latin typeface="Yu Gothic"/>
              </a:rPr>
              <a:t>衛星パネルの表面特性：</a:t>
            </a:r>
            <a:r>
              <a:rPr lang="en-US" altLang="ja-JP" sz="2600" dirty="0">
                <a:solidFill>
                  <a:srgbClr val="232B34"/>
                </a:solidFill>
                <a:latin typeface="Yu Gothic"/>
              </a:rPr>
              <a:t>B</a:t>
            </a:r>
            <a:r>
              <a:rPr sz="2600" dirty="0">
                <a:solidFill>
                  <a:srgbClr val="232B34"/>
                </a:solidFill>
                <a:latin typeface="Yu Gothic"/>
              </a:rPr>
              <a:t>lack / Alodine / α=ε=0.5</a:t>
            </a:r>
          </a:p>
          <a:p>
            <a:pPr>
              <a:spcAft>
                <a:spcPts val="800"/>
              </a:spcAft>
            </a:pPr>
            <a:r>
              <a:rPr sz="2600" b="1" dirty="0">
                <a:solidFill>
                  <a:srgbClr val="1B74AA"/>
                </a:solidFill>
                <a:latin typeface="Yu Gothic"/>
              </a:rPr>
              <a:t>• </a:t>
            </a:r>
            <a:r>
              <a:rPr lang="ja-JP" altLang="en-US" sz="2600" dirty="0">
                <a:solidFill>
                  <a:srgbClr val="232B34"/>
                </a:solidFill>
                <a:latin typeface="Yu Gothic"/>
              </a:rPr>
              <a:t>軌道の種類：</a:t>
            </a:r>
            <a:r>
              <a:rPr lang="en-US" altLang="ja-JP" sz="2600" dirty="0">
                <a:solidFill>
                  <a:srgbClr val="232B34"/>
                </a:solidFill>
                <a:latin typeface="Yu Gothic"/>
              </a:rPr>
              <a:t>L</a:t>
            </a:r>
            <a:r>
              <a:rPr sz="2600" dirty="0">
                <a:solidFill>
                  <a:srgbClr val="232B34"/>
                </a:solidFill>
                <a:latin typeface="Yu Gothic"/>
              </a:rPr>
              <a:t>TAN18 / 693 km Sentinel-1 proxy</a:t>
            </a:r>
          </a:p>
        </p:txBody>
      </p:sp>
      <p:pic>
        <p:nvPicPr>
          <p:cNvPr id="11" name="図 10">
            <a:extLst>
              <a:ext uri="{FF2B5EF4-FFF2-40B4-BE49-F238E27FC236}">
                <a16:creationId xmlns:a16="http://schemas.microsoft.com/office/drawing/2014/main" id="{5385EA07-7CC6-CA16-E9A6-96A7DDD83B7D}"/>
              </a:ext>
            </a:extLst>
          </p:cNvPr>
          <p:cNvPicPr>
            <a:picLocks noChangeAspect="1"/>
          </p:cNvPicPr>
          <p:nvPr/>
        </p:nvPicPr>
        <p:blipFill>
          <a:blip r:embed="rId3"/>
          <a:stretch>
            <a:fillRect/>
          </a:stretch>
        </p:blipFill>
        <p:spPr>
          <a:xfrm>
            <a:off x="12762613" y="7209036"/>
            <a:ext cx="5106287" cy="5760251"/>
          </a:xfrm>
          <a:prstGeom prst="rect">
            <a:avLst/>
          </a:prstGeom>
        </p:spPr>
      </p:pic>
      <p:pic>
        <p:nvPicPr>
          <p:cNvPr id="13" name="図 12">
            <a:extLst>
              <a:ext uri="{FF2B5EF4-FFF2-40B4-BE49-F238E27FC236}">
                <a16:creationId xmlns:a16="http://schemas.microsoft.com/office/drawing/2014/main" id="{11BA4D21-78E8-44D2-D440-0C5D426F9686}"/>
              </a:ext>
            </a:extLst>
          </p:cNvPr>
          <p:cNvPicPr>
            <a:picLocks noChangeAspect="1"/>
          </p:cNvPicPr>
          <p:nvPr/>
        </p:nvPicPr>
        <p:blipFill>
          <a:blip r:embed="rId4"/>
          <a:stretch>
            <a:fillRect/>
          </a:stretch>
        </p:blipFill>
        <p:spPr>
          <a:xfrm>
            <a:off x="17898011" y="7209035"/>
            <a:ext cx="4845671" cy="5760251"/>
          </a:xfrm>
          <a:prstGeom prst="rect">
            <a:avLst/>
          </a:prstGeom>
        </p:spPr>
      </p:pic>
      <p:sp>
        <p:nvSpPr>
          <p:cNvPr id="15" name="テキスト ボックス 14">
            <a:extLst>
              <a:ext uri="{FF2B5EF4-FFF2-40B4-BE49-F238E27FC236}">
                <a16:creationId xmlns:a16="http://schemas.microsoft.com/office/drawing/2014/main" id="{0A0CDADD-D375-9200-9F52-3AD6FA1CF093}"/>
              </a:ext>
            </a:extLst>
          </p:cNvPr>
          <p:cNvSpPr txBox="1"/>
          <p:nvPr/>
        </p:nvSpPr>
        <p:spPr>
          <a:xfrm>
            <a:off x="4891132" y="3073878"/>
            <a:ext cx="3686722" cy="523220"/>
          </a:xfrm>
          <a:prstGeom prst="rect">
            <a:avLst/>
          </a:prstGeom>
          <a:noFill/>
        </p:spPr>
        <p:txBody>
          <a:bodyPr wrap="square" rtlCol="0">
            <a:spAutoFit/>
          </a:bodyPr>
          <a:lstStyle/>
          <a:p>
            <a:r>
              <a:rPr kumimoji="1" lang="en-US" altLang="ja-JP" sz="2800" dirty="0"/>
              <a:t>TD Configuration</a:t>
            </a:r>
            <a:endParaRPr kumimoji="1" lang="ja-JP" altLang="en-US" sz="2800" dirty="0"/>
          </a:p>
        </p:txBody>
      </p:sp>
    </p:spTree>
    <p:extLst>
      <p:ext uri="{BB962C8B-B14F-4D97-AF65-F5344CB8AC3E}">
        <p14:creationId xmlns:p14="http://schemas.microsoft.com/office/powerpoint/2010/main" val="3490187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Thermo-structural analysis</a:t>
            </a:r>
          </a:p>
        </p:txBody>
      </p:sp>
      <p:sp>
        <p:nvSpPr>
          <p:cNvPr id="3" name="TextBox 2"/>
          <p:cNvSpPr txBox="1"/>
          <p:nvPr/>
        </p:nvSpPr>
        <p:spPr>
          <a:xfrm>
            <a:off x="1536192" y="1298448"/>
            <a:ext cx="2536079"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lang="ja-JP" altLang="en-US" sz="3200" b="1" dirty="0">
                <a:solidFill>
                  <a:srgbClr val="082B52"/>
                </a:solidFill>
                <a:latin typeface="Yu Gothic"/>
              </a:rPr>
              <a:t>内部発熱設定</a:t>
            </a:r>
            <a:endParaRPr sz="3200" b="1" dirty="0">
              <a:solidFill>
                <a:srgbClr val="082B52"/>
              </a:solidFill>
              <a:latin typeface="Yu Gothic"/>
            </a:endParaRPr>
          </a:p>
        </p:txBody>
      </p:sp>
      <p:sp>
        <p:nvSpPr>
          <p:cNvPr id="4" name="TextBox 3"/>
          <p:cNvSpPr txBox="1"/>
          <p:nvPr/>
        </p:nvSpPr>
        <p:spPr>
          <a:xfrm>
            <a:off x="23444052" y="12819888"/>
            <a:ext cx="330348" cy="332399"/>
          </a:xfrm>
          <a:prstGeom prst="rect">
            <a:avLst/>
          </a:prstGeom>
          <a:noFill/>
        </p:spPr>
        <p:txBody>
          <a:bodyPr wrap="none" lIns="36576" tIns="27432" rIns="36576" bIns="27432" anchor="t">
            <a:spAutoFit/>
          </a:bodyPr>
          <a:lstStyle/>
          <a:p>
            <a:pPr algn="r"/>
            <a:r>
              <a:rPr sz="1800" b="0" dirty="0">
                <a:solidFill>
                  <a:srgbClr val="666F79"/>
                </a:solidFill>
                <a:latin typeface="Yu Gothic"/>
              </a:rPr>
              <a:t>1</a:t>
            </a:r>
            <a:r>
              <a:rPr lang="en-US" sz="1800" b="0" dirty="0">
                <a:solidFill>
                  <a:srgbClr val="666F79"/>
                </a:solidFill>
                <a:latin typeface="Yu Gothic"/>
              </a:rPr>
              <a:t>1</a:t>
            </a:r>
            <a:endParaRPr sz="1800" b="0" dirty="0">
              <a:solidFill>
                <a:srgbClr val="666F79"/>
              </a:solidFill>
              <a:latin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812315414"/>
              </p:ext>
            </p:extLst>
          </p:nvPr>
        </p:nvGraphicFramePr>
        <p:xfrm>
          <a:off x="1200150" y="3863340"/>
          <a:ext cx="9509760" cy="521208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1042416">
                <a:tc>
                  <a:txBody>
                    <a:bodyPr/>
                    <a:lstStyle/>
                    <a:p>
                      <a:pPr algn="l"/>
                      <a:r>
                        <a:rPr sz="2300" b="1">
                          <a:solidFill>
                            <a:srgbClr val="FFFFFF"/>
                          </a:solidFill>
                          <a:latin typeface="Yu Gothic"/>
                        </a:rPr>
                        <a:t>Component</a:t>
                      </a:r>
                    </a:p>
                  </a:txBody>
                  <a:tcPr marL="64008" marR="64008" marT="27432" marB="27432" anchor="ctr">
                    <a:solidFill>
                      <a:srgbClr val="082B52"/>
                    </a:solidFill>
                  </a:tcPr>
                </a:tc>
                <a:tc>
                  <a:txBody>
                    <a:bodyPr/>
                    <a:lstStyle/>
                    <a:p>
                      <a:pPr algn="ctr"/>
                      <a:r>
                        <a:rPr sz="2300" b="1">
                          <a:solidFill>
                            <a:srgbClr val="FFFFFF"/>
                          </a:solidFill>
                          <a:latin typeface="Yu Gothic"/>
                        </a:rPr>
                        <a:t>Heat</a:t>
                      </a:r>
                    </a:p>
                  </a:txBody>
                  <a:tcPr marL="64008" marR="64008" marT="27432" marB="27432" anchor="ctr">
                    <a:solidFill>
                      <a:srgbClr val="082B52"/>
                    </a:solidFill>
                  </a:tcPr>
                </a:tc>
                <a:tc>
                  <a:txBody>
                    <a:bodyPr/>
                    <a:lstStyle/>
                    <a:p>
                      <a:pPr algn="ctr"/>
                      <a:r>
                        <a:rPr sz="2300" b="1" dirty="0">
                          <a:solidFill>
                            <a:srgbClr val="FFFFFF"/>
                          </a:solidFill>
                          <a:latin typeface="Yu Gothic"/>
                        </a:rPr>
                        <a:t>Location</a:t>
                      </a:r>
                    </a:p>
                  </a:txBody>
                  <a:tcPr marL="64008" marR="64008" marT="27432" marB="27432" anchor="ctr">
                    <a:solidFill>
                      <a:srgbClr val="082B52"/>
                    </a:solidFill>
                  </a:tcPr>
                </a:tc>
                <a:extLst>
                  <a:ext uri="{0D108BD9-81ED-4DB2-BD59-A6C34878D82A}">
                    <a16:rowId xmlns:a16="http://schemas.microsoft.com/office/drawing/2014/main" val="10000"/>
                  </a:ext>
                </a:extLst>
              </a:tr>
              <a:tr h="1042416">
                <a:tc>
                  <a:txBody>
                    <a:bodyPr/>
                    <a:lstStyle/>
                    <a:p>
                      <a:pPr algn="l"/>
                      <a:r>
                        <a:rPr sz="2300" b="0">
                          <a:solidFill>
                            <a:srgbClr val="232B34"/>
                          </a:solidFill>
                          <a:latin typeface="Yu Gothic"/>
                        </a:rPr>
                        <a:t>LCT</a:t>
                      </a:r>
                    </a:p>
                  </a:txBody>
                  <a:tcPr marL="64008" marR="64008" marT="27432" marB="27432" anchor="ctr">
                    <a:solidFill>
                      <a:srgbClr val="FFFFFF"/>
                    </a:solidFill>
                  </a:tcPr>
                </a:tc>
                <a:tc>
                  <a:txBody>
                    <a:bodyPr/>
                    <a:lstStyle/>
                    <a:p>
                      <a:pPr algn="ctr"/>
                      <a:r>
                        <a:rPr sz="2300" b="0">
                          <a:solidFill>
                            <a:srgbClr val="232B34"/>
                          </a:solidFill>
                          <a:latin typeface="Yu Gothic"/>
                        </a:rPr>
                        <a:t>10 W</a:t>
                      </a:r>
                    </a:p>
                  </a:txBody>
                  <a:tcPr marL="64008" marR="64008" marT="27432" marB="27432" anchor="ctr">
                    <a:solidFill>
                      <a:srgbClr val="EBF6FB"/>
                    </a:solidFill>
                  </a:tcPr>
                </a:tc>
                <a:tc>
                  <a:txBody>
                    <a:bodyPr/>
                    <a:lstStyle/>
                    <a:p>
                      <a:pPr algn="ctr"/>
                      <a:r>
                        <a:rPr sz="2300" b="0">
                          <a:solidFill>
                            <a:srgbClr val="232B34"/>
                          </a:solidFill>
                          <a:latin typeface="Yu Gothic"/>
                        </a:rPr>
                        <a:t>MZ center</a:t>
                      </a:r>
                    </a:p>
                  </a:txBody>
                  <a:tcPr marL="64008" marR="64008" marT="27432" marB="27432" anchor="ctr">
                    <a:solidFill>
                      <a:srgbClr val="FFFFFF"/>
                    </a:solidFill>
                  </a:tcPr>
                </a:tc>
                <a:extLst>
                  <a:ext uri="{0D108BD9-81ED-4DB2-BD59-A6C34878D82A}">
                    <a16:rowId xmlns:a16="http://schemas.microsoft.com/office/drawing/2014/main" val="10001"/>
                  </a:ext>
                </a:extLst>
              </a:tr>
              <a:tr h="1042416">
                <a:tc>
                  <a:txBody>
                    <a:bodyPr/>
                    <a:lstStyle/>
                    <a:p>
                      <a:pPr algn="l"/>
                      <a:r>
                        <a:rPr sz="2300" b="0">
                          <a:solidFill>
                            <a:srgbClr val="232B34"/>
                          </a:solidFill>
                          <a:latin typeface="Yu Gothic"/>
                        </a:rPr>
                        <a:t>STT</a:t>
                      </a:r>
                    </a:p>
                  </a:txBody>
                  <a:tcPr marL="64008" marR="64008" marT="27432" marB="27432" anchor="ctr">
                    <a:solidFill>
                      <a:srgbClr val="F4F6F8"/>
                    </a:solidFill>
                  </a:tcPr>
                </a:tc>
                <a:tc>
                  <a:txBody>
                    <a:bodyPr/>
                    <a:lstStyle/>
                    <a:p>
                      <a:pPr algn="ctr"/>
                      <a:r>
                        <a:rPr sz="2300" b="0" dirty="0">
                          <a:solidFill>
                            <a:srgbClr val="232B34"/>
                          </a:solidFill>
                          <a:latin typeface="Yu Gothic"/>
                        </a:rPr>
                        <a:t>1.5 W</a:t>
                      </a:r>
                    </a:p>
                  </a:txBody>
                  <a:tcPr marL="64008" marR="64008" marT="27432" marB="27432" anchor="ctr">
                    <a:solidFill>
                      <a:srgbClr val="EBF6FB"/>
                    </a:solidFill>
                  </a:tcPr>
                </a:tc>
                <a:tc>
                  <a:txBody>
                    <a:bodyPr/>
                    <a:lstStyle/>
                    <a:p>
                      <a:pPr algn="ctr"/>
                      <a:r>
                        <a:rPr sz="2300" b="0">
                          <a:solidFill>
                            <a:srgbClr val="232B34"/>
                          </a:solidFill>
                          <a:latin typeface="Yu Gothic"/>
                        </a:rPr>
                        <a:t>PZ center</a:t>
                      </a:r>
                    </a:p>
                  </a:txBody>
                  <a:tcPr marL="64008" marR="64008" marT="27432" marB="27432" anchor="ctr">
                    <a:solidFill>
                      <a:srgbClr val="F4F6F8"/>
                    </a:solidFill>
                  </a:tcPr>
                </a:tc>
                <a:extLst>
                  <a:ext uri="{0D108BD9-81ED-4DB2-BD59-A6C34878D82A}">
                    <a16:rowId xmlns:a16="http://schemas.microsoft.com/office/drawing/2014/main" val="10002"/>
                  </a:ext>
                </a:extLst>
              </a:tr>
              <a:tr h="1042416">
                <a:tc>
                  <a:txBody>
                    <a:bodyPr/>
                    <a:lstStyle/>
                    <a:p>
                      <a:pPr algn="l"/>
                      <a:r>
                        <a:rPr sz="2300" b="0">
                          <a:solidFill>
                            <a:srgbClr val="232B34"/>
                          </a:solidFill>
                          <a:latin typeface="Yu Gothic"/>
                        </a:rPr>
                        <a:t>PROP</a:t>
                      </a:r>
                    </a:p>
                  </a:txBody>
                  <a:tcPr marL="64008" marR="64008" marT="27432" marB="27432" anchor="ctr">
                    <a:solidFill>
                      <a:srgbClr val="FFFFFF"/>
                    </a:solidFill>
                  </a:tcPr>
                </a:tc>
                <a:tc>
                  <a:txBody>
                    <a:bodyPr/>
                    <a:lstStyle/>
                    <a:p>
                      <a:pPr algn="ctr"/>
                      <a:r>
                        <a:rPr sz="2300" b="0">
                          <a:solidFill>
                            <a:srgbClr val="232B34"/>
                          </a:solidFill>
                          <a:latin typeface="Yu Gothic"/>
                        </a:rPr>
                        <a:t>25 W</a:t>
                      </a:r>
                    </a:p>
                  </a:txBody>
                  <a:tcPr marL="64008" marR="64008" marT="27432" marB="27432" anchor="ctr">
                    <a:solidFill>
                      <a:srgbClr val="EBF6FB"/>
                    </a:solidFill>
                  </a:tcPr>
                </a:tc>
                <a:tc>
                  <a:txBody>
                    <a:bodyPr/>
                    <a:lstStyle/>
                    <a:p>
                      <a:pPr algn="ctr"/>
                      <a:r>
                        <a:rPr sz="2300" b="0">
                          <a:solidFill>
                            <a:srgbClr val="232B34"/>
                          </a:solidFill>
                          <a:latin typeface="Yu Gothic"/>
                        </a:rPr>
                        <a:t>PY side</a:t>
                      </a:r>
                    </a:p>
                  </a:txBody>
                  <a:tcPr marL="64008" marR="64008" marT="27432" marB="27432" anchor="ctr">
                    <a:solidFill>
                      <a:srgbClr val="FFFFFF"/>
                    </a:solidFill>
                  </a:tcPr>
                </a:tc>
                <a:extLst>
                  <a:ext uri="{0D108BD9-81ED-4DB2-BD59-A6C34878D82A}">
                    <a16:rowId xmlns:a16="http://schemas.microsoft.com/office/drawing/2014/main" val="10003"/>
                  </a:ext>
                </a:extLst>
              </a:tr>
              <a:tr h="1042416">
                <a:tc>
                  <a:txBody>
                    <a:bodyPr/>
                    <a:lstStyle/>
                    <a:p>
                      <a:pPr algn="l"/>
                      <a:r>
                        <a:rPr sz="2300" b="0">
                          <a:solidFill>
                            <a:srgbClr val="232B34"/>
                          </a:solidFill>
                          <a:latin typeface="Yu Gothic"/>
                        </a:rPr>
                        <a:t>PCDU</a:t>
                      </a:r>
                    </a:p>
                  </a:txBody>
                  <a:tcPr marL="64008" marR="64008" marT="27432" marB="27432" anchor="ctr">
                    <a:solidFill>
                      <a:srgbClr val="F4F6F8"/>
                    </a:solidFill>
                  </a:tcPr>
                </a:tc>
                <a:tc>
                  <a:txBody>
                    <a:bodyPr/>
                    <a:lstStyle/>
                    <a:p>
                      <a:pPr algn="ctr"/>
                      <a:r>
                        <a:rPr sz="2300" b="0" dirty="0">
                          <a:solidFill>
                            <a:srgbClr val="232B34"/>
                          </a:solidFill>
                          <a:latin typeface="Yu Gothic"/>
                        </a:rPr>
                        <a:t>10 W</a:t>
                      </a:r>
                    </a:p>
                  </a:txBody>
                  <a:tcPr marL="64008" marR="64008" marT="27432" marB="27432" anchor="ctr">
                    <a:solidFill>
                      <a:srgbClr val="EBF6FB"/>
                    </a:solidFill>
                  </a:tcPr>
                </a:tc>
                <a:tc>
                  <a:txBody>
                    <a:bodyPr/>
                    <a:lstStyle/>
                    <a:p>
                      <a:pPr algn="ctr"/>
                      <a:r>
                        <a:rPr sz="2300" b="0" dirty="0">
                          <a:solidFill>
                            <a:srgbClr val="232B34"/>
                          </a:solidFill>
                          <a:latin typeface="Yu Gothic"/>
                        </a:rPr>
                        <a:t>MY side</a:t>
                      </a:r>
                    </a:p>
                  </a:txBody>
                  <a:tcPr marL="64008" marR="64008" marT="27432" marB="27432" anchor="ctr">
                    <a:solidFill>
                      <a:srgbClr val="F4F6F8"/>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0510613"/>
              </p:ext>
            </p:extLst>
          </p:nvPr>
        </p:nvGraphicFramePr>
        <p:xfrm>
          <a:off x="11624310" y="3863340"/>
          <a:ext cx="11704320" cy="6035040"/>
        </p:xfrm>
        <a:graphic>
          <a:graphicData uri="http://schemas.openxmlformats.org/drawingml/2006/table">
            <a:tbl>
              <a:tblPr firstRow="1" bandRow="1">
                <a:tableStyleId>{5C22544A-7EE6-4342-B048-85BDC9FD1C3A}</a:tableStyleId>
              </a:tblPr>
              <a:tblGrid>
                <a:gridCol w="39319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1005840">
                <a:tc>
                  <a:txBody>
                    <a:bodyPr/>
                    <a:lstStyle/>
                    <a:p>
                      <a:pPr algn="l"/>
                      <a:r>
                        <a:rPr sz="2100" b="1">
                          <a:solidFill>
                            <a:srgbClr val="FFFFFF"/>
                          </a:solidFill>
                          <a:latin typeface="Yu Gothic"/>
                        </a:rPr>
                        <a:t>Mode</a:t>
                      </a:r>
                    </a:p>
                  </a:txBody>
                  <a:tcPr marL="64008" marR="64008" marT="27432" marB="27432" anchor="ctr">
                    <a:solidFill>
                      <a:srgbClr val="082B52"/>
                    </a:solidFill>
                  </a:tcPr>
                </a:tc>
                <a:tc>
                  <a:txBody>
                    <a:bodyPr/>
                    <a:lstStyle/>
                    <a:p>
                      <a:pPr algn="ctr"/>
                      <a:r>
                        <a:rPr sz="2100" b="1">
                          <a:solidFill>
                            <a:srgbClr val="FFFFFF"/>
                          </a:solidFill>
                          <a:latin typeface="Yu Gothic"/>
                        </a:rPr>
                        <a:t>LCT/STT</a:t>
                      </a:r>
                    </a:p>
                  </a:txBody>
                  <a:tcPr marL="64008" marR="64008" marT="27432" marB="27432" anchor="ctr">
                    <a:solidFill>
                      <a:srgbClr val="082B52"/>
                    </a:solidFill>
                  </a:tcPr>
                </a:tc>
                <a:tc>
                  <a:txBody>
                    <a:bodyPr/>
                    <a:lstStyle/>
                    <a:p>
                      <a:pPr algn="ctr"/>
                      <a:r>
                        <a:rPr sz="2100" b="1">
                          <a:solidFill>
                            <a:srgbClr val="FFFFFF"/>
                          </a:solidFill>
                          <a:latin typeface="Yu Gothic"/>
                        </a:rPr>
                        <a:t>PROP</a:t>
                      </a:r>
                    </a:p>
                  </a:txBody>
                  <a:tcPr marL="64008" marR="64008" marT="27432" marB="27432" anchor="ctr">
                    <a:solidFill>
                      <a:srgbClr val="082B52"/>
                    </a:solidFill>
                  </a:tcPr>
                </a:tc>
                <a:tc>
                  <a:txBody>
                    <a:bodyPr/>
                    <a:lstStyle/>
                    <a:p>
                      <a:pPr algn="ctr"/>
                      <a:r>
                        <a:rPr sz="2100" b="1">
                          <a:solidFill>
                            <a:srgbClr val="FFFFFF"/>
                          </a:solidFill>
                          <a:latin typeface="Yu Gothic"/>
                        </a:rPr>
                        <a:t>PCDU</a:t>
                      </a:r>
                    </a:p>
                  </a:txBody>
                  <a:tcPr marL="64008" marR="64008" marT="27432" marB="27432" anchor="ctr">
                    <a:solidFill>
                      <a:srgbClr val="082B52"/>
                    </a:solidFill>
                  </a:tcPr>
                </a:tc>
                <a:extLst>
                  <a:ext uri="{0D108BD9-81ED-4DB2-BD59-A6C34878D82A}">
                    <a16:rowId xmlns:a16="http://schemas.microsoft.com/office/drawing/2014/main" val="10000"/>
                  </a:ext>
                </a:extLst>
              </a:tr>
              <a:tr h="1005840">
                <a:tc>
                  <a:txBody>
                    <a:bodyPr/>
                    <a:lstStyle/>
                    <a:p>
                      <a:pPr algn="l"/>
                      <a:r>
                        <a:rPr sz="2100" b="0">
                          <a:solidFill>
                            <a:srgbClr val="232B34"/>
                          </a:solidFill>
                          <a:latin typeface="Yu Gothic"/>
                        </a:rPr>
                        <a:t>STTLCT</a:t>
                      </a:r>
                    </a:p>
                  </a:txBody>
                  <a:tcPr marL="64008" marR="64008" marT="27432" marB="27432" anchor="ctr">
                    <a:solidFill>
                      <a:srgbClr val="EBF6FB"/>
                    </a:solidFill>
                  </a:tcPr>
                </a:tc>
                <a:tc>
                  <a:txBody>
                    <a:bodyPr/>
                    <a:lstStyle/>
                    <a:p>
                      <a:pPr algn="ctr"/>
                      <a:r>
                        <a:rPr sz="2100" b="1" dirty="0">
                          <a:solidFill>
                            <a:srgbClr val="232B34"/>
                          </a:solidFill>
                          <a:latin typeface="Yu Gothic"/>
                        </a:rPr>
                        <a:t>ON</a:t>
                      </a:r>
                    </a:p>
                  </a:txBody>
                  <a:tcPr marL="64008" marR="64008" marT="27432" marB="27432" anchor="ctr">
                    <a:solidFill>
                      <a:srgbClr val="FFFFFF"/>
                    </a:solidFill>
                  </a:tcPr>
                </a:tc>
                <a:tc>
                  <a:txBody>
                    <a:bodyPr/>
                    <a:lstStyle/>
                    <a:p>
                      <a:pPr algn="ctr"/>
                      <a:r>
                        <a:rPr sz="2100" b="0">
                          <a:solidFill>
                            <a:srgbClr val="232B34"/>
                          </a:solidFill>
                          <a:latin typeface="Yu Gothic"/>
                        </a:rPr>
                        <a:t>OFF</a:t>
                      </a:r>
                    </a:p>
                  </a:txBody>
                  <a:tcPr marL="64008" marR="64008" marT="27432" marB="27432" anchor="ctr">
                    <a:solidFill>
                      <a:srgbClr val="FFFFFF"/>
                    </a:solidFill>
                  </a:tcPr>
                </a:tc>
                <a:tc>
                  <a:txBody>
                    <a:bodyPr/>
                    <a:lstStyle/>
                    <a:p>
                      <a:pPr algn="ctr"/>
                      <a:r>
                        <a:rPr sz="2100" b="0">
                          <a:solidFill>
                            <a:srgbClr val="232B34"/>
                          </a:solidFill>
                          <a:latin typeface="Yu Gothic"/>
                        </a:rPr>
                        <a:t>OFF</a:t>
                      </a:r>
                    </a:p>
                  </a:txBody>
                  <a:tcPr marL="64008" marR="64008" marT="27432" marB="27432" anchor="ctr">
                    <a:solidFill>
                      <a:srgbClr val="FFFFFF"/>
                    </a:solidFill>
                  </a:tcPr>
                </a:tc>
                <a:extLst>
                  <a:ext uri="{0D108BD9-81ED-4DB2-BD59-A6C34878D82A}">
                    <a16:rowId xmlns:a16="http://schemas.microsoft.com/office/drawing/2014/main" val="10001"/>
                  </a:ext>
                </a:extLst>
              </a:tr>
              <a:tr h="1005840">
                <a:tc>
                  <a:txBody>
                    <a:bodyPr/>
                    <a:lstStyle/>
                    <a:p>
                      <a:pPr algn="l"/>
                      <a:r>
                        <a:rPr sz="2100" b="0">
                          <a:solidFill>
                            <a:srgbClr val="232B34"/>
                          </a:solidFill>
                          <a:latin typeface="Yu Gothic"/>
                        </a:rPr>
                        <a:t>+PROP</a:t>
                      </a:r>
                    </a:p>
                  </a:txBody>
                  <a:tcPr marL="64008" marR="64008" marT="27432" marB="27432" anchor="ctr">
                    <a:solidFill>
                      <a:srgbClr val="EBF6FB"/>
                    </a:solidFill>
                  </a:tcPr>
                </a:tc>
                <a:tc>
                  <a:txBody>
                    <a:bodyPr/>
                    <a:lstStyle/>
                    <a:p>
                      <a:pPr algn="ctr"/>
                      <a:r>
                        <a:rPr sz="2100" b="1" dirty="0">
                          <a:solidFill>
                            <a:srgbClr val="232B34"/>
                          </a:solidFill>
                          <a:latin typeface="Yu Gothic"/>
                        </a:rPr>
                        <a:t>ON</a:t>
                      </a:r>
                    </a:p>
                  </a:txBody>
                  <a:tcPr marL="64008" marR="64008" marT="27432" marB="27432" anchor="ctr">
                    <a:solidFill>
                      <a:srgbClr val="F4F6F8"/>
                    </a:solidFill>
                  </a:tcPr>
                </a:tc>
                <a:tc>
                  <a:txBody>
                    <a:bodyPr/>
                    <a:lstStyle/>
                    <a:p>
                      <a:pPr algn="ctr"/>
                      <a:r>
                        <a:rPr sz="2100" b="0">
                          <a:solidFill>
                            <a:srgbClr val="232B34"/>
                          </a:solidFill>
                          <a:latin typeface="Yu Gothic"/>
                        </a:rPr>
                        <a:t>25 W</a:t>
                      </a:r>
                    </a:p>
                  </a:txBody>
                  <a:tcPr marL="64008" marR="64008" marT="27432" marB="27432" anchor="ctr">
                    <a:solidFill>
                      <a:srgbClr val="F4F6F8"/>
                    </a:solidFill>
                  </a:tcPr>
                </a:tc>
                <a:tc>
                  <a:txBody>
                    <a:bodyPr/>
                    <a:lstStyle/>
                    <a:p>
                      <a:pPr algn="ctr"/>
                      <a:r>
                        <a:rPr sz="2100" b="0">
                          <a:solidFill>
                            <a:srgbClr val="232B34"/>
                          </a:solidFill>
                          <a:latin typeface="Yu Gothic"/>
                        </a:rPr>
                        <a:t>OFF</a:t>
                      </a:r>
                    </a:p>
                  </a:txBody>
                  <a:tcPr marL="64008" marR="64008" marT="27432" marB="27432" anchor="ctr">
                    <a:solidFill>
                      <a:srgbClr val="F4F6F8"/>
                    </a:solidFill>
                  </a:tcPr>
                </a:tc>
                <a:extLst>
                  <a:ext uri="{0D108BD9-81ED-4DB2-BD59-A6C34878D82A}">
                    <a16:rowId xmlns:a16="http://schemas.microsoft.com/office/drawing/2014/main" val="10002"/>
                  </a:ext>
                </a:extLst>
              </a:tr>
              <a:tr h="1005840">
                <a:tc>
                  <a:txBody>
                    <a:bodyPr/>
                    <a:lstStyle/>
                    <a:p>
                      <a:pPr algn="l"/>
                      <a:r>
                        <a:rPr sz="2100" b="0">
                          <a:solidFill>
                            <a:srgbClr val="232B34"/>
                          </a:solidFill>
                          <a:latin typeface="Yu Gothic"/>
                        </a:rPr>
                        <a:t>+PCDU</a:t>
                      </a:r>
                    </a:p>
                  </a:txBody>
                  <a:tcPr marL="64008" marR="64008" marT="27432" marB="27432" anchor="ctr">
                    <a:solidFill>
                      <a:srgbClr val="EBF6FB"/>
                    </a:solidFill>
                  </a:tcPr>
                </a:tc>
                <a:tc>
                  <a:txBody>
                    <a:bodyPr/>
                    <a:lstStyle/>
                    <a:p>
                      <a:pPr algn="ctr"/>
                      <a:r>
                        <a:rPr sz="2100" b="1" dirty="0">
                          <a:solidFill>
                            <a:srgbClr val="232B34"/>
                          </a:solidFill>
                          <a:latin typeface="Yu Gothic"/>
                        </a:rPr>
                        <a:t>ON</a:t>
                      </a:r>
                    </a:p>
                  </a:txBody>
                  <a:tcPr marL="64008" marR="64008" marT="27432" marB="27432" anchor="ctr">
                    <a:solidFill>
                      <a:srgbClr val="FFFFFF"/>
                    </a:solidFill>
                  </a:tcPr>
                </a:tc>
                <a:tc>
                  <a:txBody>
                    <a:bodyPr/>
                    <a:lstStyle/>
                    <a:p>
                      <a:pPr algn="ctr"/>
                      <a:r>
                        <a:rPr sz="2100" b="0">
                          <a:solidFill>
                            <a:srgbClr val="232B34"/>
                          </a:solidFill>
                          <a:latin typeface="Yu Gothic"/>
                        </a:rPr>
                        <a:t>OFF</a:t>
                      </a:r>
                    </a:p>
                  </a:txBody>
                  <a:tcPr marL="64008" marR="64008" marT="27432" marB="27432" anchor="ctr">
                    <a:solidFill>
                      <a:srgbClr val="FFFFFF"/>
                    </a:solidFill>
                  </a:tcPr>
                </a:tc>
                <a:tc>
                  <a:txBody>
                    <a:bodyPr/>
                    <a:lstStyle/>
                    <a:p>
                      <a:pPr algn="ctr"/>
                      <a:r>
                        <a:rPr sz="2100" b="0">
                          <a:solidFill>
                            <a:srgbClr val="232B34"/>
                          </a:solidFill>
                          <a:latin typeface="Yu Gothic"/>
                        </a:rPr>
                        <a:t>10 W</a:t>
                      </a:r>
                    </a:p>
                  </a:txBody>
                  <a:tcPr marL="64008" marR="64008" marT="27432" marB="27432" anchor="ctr">
                    <a:solidFill>
                      <a:srgbClr val="FFFFFF"/>
                    </a:solidFill>
                  </a:tcPr>
                </a:tc>
                <a:extLst>
                  <a:ext uri="{0D108BD9-81ED-4DB2-BD59-A6C34878D82A}">
                    <a16:rowId xmlns:a16="http://schemas.microsoft.com/office/drawing/2014/main" val="10003"/>
                  </a:ext>
                </a:extLst>
              </a:tr>
              <a:tr h="1005840">
                <a:tc>
                  <a:txBody>
                    <a:bodyPr/>
                    <a:lstStyle/>
                    <a:p>
                      <a:pPr algn="l"/>
                      <a:r>
                        <a:rPr sz="2100" b="0">
                          <a:solidFill>
                            <a:srgbClr val="232B34"/>
                          </a:solidFill>
                          <a:latin typeface="Yu Gothic"/>
                        </a:rPr>
                        <a:t>ALL</a:t>
                      </a:r>
                    </a:p>
                  </a:txBody>
                  <a:tcPr marL="64008" marR="64008" marT="27432" marB="27432" anchor="ctr">
                    <a:solidFill>
                      <a:srgbClr val="EBF6FB"/>
                    </a:solidFill>
                  </a:tcPr>
                </a:tc>
                <a:tc>
                  <a:txBody>
                    <a:bodyPr/>
                    <a:lstStyle/>
                    <a:p>
                      <a:pPr algn="ctr"/>
                      <a:r>
                        <a:rPr sz="2100" b="1" dirty="0">
                          <a:solidFill>
                            <a:srgbClr val="232B34"/>
                          </a:solidFill>
                          <a:latin typeface="Yu Gothic"/>
                        </a:rPr>
                        <a:t>ON</a:t>
                      </a:r>
                    </a:p>
                  </a:txBody>
                  <a:tcPr marL="64008" marR="64008" marT="27432" marB="27432" anchor="ctr">
                    <a:solidFill>
                      <a:srgbClr val="F4F6F8"/>
                    </a:solidFill>
                  </a:tcPr>
                </a:tc>
                <a:tc>
                  <a:txBody>
                    <a:bodyPr/>
                    <a:lstStyle/>
                    <a:p>
                      <a:pPr algn="ctr"/>
                      <a:r>
                        <a:rPr sz="2100" b="0">
                          <a:solidFill>
                            <a:srgbClr val="232B34"/>
                          </a:solidFill>
                          <a:latin typeface="Yu Gothic"/>
                        </a:rPr>
                        <a:t>25 W</a:t>
                      </a:r>
                    </a:p>
                  </a:txBody>
                  <a:tcPr marL="64008" marR="64008" marT="27432" marB="27432" anchor="ctr">
                    <a:solidFill>
                      <a:srgbClr val="F4F6F8"/>
                    </a:solidFill>
                  </a:tcPr>
                </a:tc>
                <a:tc>
                  <a:txBody>
                    <a:bodyPr/>
                    <a:lstStyle/>
                    <a:p>
                      <a:pPr algn="ctr"/>
                      <a:r>
                        <a:rPr sz="2100" b="0">
                          <a:solidFill>
                            <a:srgbClr val="232B34"/>
                          </a:solidFill>
                          <a:latin typeface="Yu Gothic"/>
                        </a:rPr>
                        <a:t>10 W</a:t>
                      </a:r>
                    </a:p>
                  </a:txBody>
                  <a:tcPr marL="64008" marR="64008" marT="27432" marB="27432" anchor="ctr">
                    <a:solidFill>
                      <a:srgbClr val="F4F6F8"/>
                    </a:solidFill>
                  </a:tcPr>
                </a:tc>
                <a:extLst>
                  <a:ext uri="{0D108BD9-81ED-4DB2-BD59-A6C34878D82A}">
                    <a16:rowId xmlns:a16="http://schemas.microsoft.com/office/drawing/2014/main" val="10004"/>
                  </a:ext>
                </a:extLst>
              </a:tr>
              <a:tr h="1005840">
                <a:tc>
                  <a:txBody>
                    <a:bodyPr/>
                    <a:lstStyle/>
                    <a:p>
                      <a:pPr algn="l"/>
                      <a:r>
                        <a:rPr sz="2100" b="0">
                          <a:solidFill>
                            <a:srgbClr val="232B34"/>
                          </a:solidFill>
                          <a:latin typeface="Yu Gothic"/>
                        </a:rPr>
                        <a:t>Half power</a:t>
                      </a:r>
                    </a:p>
                  </a:txBody>
                  <a:tcPr marL="64008" marR="64008" marT="27432" marB="27432" anchor="ctr">
                    <a:solidFill>
                      <a:srgbClr val="EBF6FB"/>
                    </a:solidFill>
                  </a:tcPr>
                </a:tc>
                <a:tc>
                  <a:txBody>
                    <a:bodyPr/>
                    <a:lstStyle/>
                    <a:p>
                      <a:pPr algn="ctr"/>
                      <a:r>
                        <a:rPr sz="2100" b="1" dirty="0">
                          <a:solidFill>
                            <a:srgbClr val="232B34"/>
                          </a:solidFill>
                          <a:latin typeface="Yu Gothic"/>
                        </a:rPr>
                        <a:t>ON</a:t>
                      </a:r>
                    </a:p>
                  </a:txBody>
                  <a:tcPr marL="64008" marR="64008" marT="27432" marB="27432" anchor="ctr">
                    <a:solidFill>
                      <a:srgbClr val="FFFFFF"/>
                    </a:solidFill>
                  </a:tcPr>
                </a:tc>
                <a:tc>
                  <a:txBody>
                    <a:bodyPr/>
                    <a:lstStyle/>
                    <a:p>
                      <a:pPr algn="ctr"/>
                      <a:r>
                        <a:rPr sz="2100" b="0">
                          <a:solidFill>
                            <a:srgbClr val="232B34"/>
                          </a:solidFill>
                          <a:latin typeface="Yu Gothic"/>
                        </a:rPr>
                        <a:t>12.5 W</a:t>
                      </a:r>
                    </a:p>
                  </a:txBody>
                  <a:tcPr marL="64008" marR="64008" marT="27432" marB="27432" anchor="ctr">
                    <a:solidFill>
                      <a:srgbClr val="FFFFFF"/>
                    </a:solidFill>
                  </a:tcPr>
                </a:tc>
                <a:tc>
                  <a:txBody>
                    <a:bodyPr/>
                    <a:lstStyle/>
                    <a:p>
                      <a:pPr algn="ctr"/>
                      <a:r>
                        <a:rPr sz="2100" b="0" dirty="0">
                          <a:solidFill>
                            <a:srgbClr val="232B34"/>
                          </a:solidFill>
                          <a:latin typeface="Yu Gothic"/>
                        </a:rPr>
                        <a:t>10 W</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8243747" y="11268432"/>
            <a:ext cx="7894918" cy="947952"/>
          </a:xfrm>
          <a:prstGeom prst="rect">
            <a:avLst/>
          </a:prstGeom>
          <a:noFill/>
        </p:spPr>
        <p:txBody>
          <a:bodyPr wrap="none" lIns="36576" tIns="27432" rIns="36576" bIns="27432" anchor="t">
            <a:spAutoFit/>
          </a:bodyPr>
          <a:lstStyle/>
          <a:p>
            <a:pPr algn="ctr"/>
            <a:r>
              <a:rPr lang="ja-JP" altLang="en-US" sz="2900" b="1" dirty="0">
                <a:solidFill>
                  <a:srgbClr val="082B52"/>
                </a:solidFill>
                <a:latin typeface="Yu Gothic"/>
              </a:rPr>
              <a:t>通信時を想定して、</a:t>
            </a:r>
            <a:r>
              <a:rPr lang="en-US" altLang="ja-JP" sz="2900" b="1" dirty="0">
                <a:solidFill>
                  <a:srgbClr val="082B52"/>
                </a:solidFill>
                <a:latin typeface="Yu Gothic"/>
              </a:rPr>
              <a:t>STT/LCT</a:t>
            </a:r>
            <a:r>
              <a:rPr lang="ja-JP" altLang="en-US" sz="2900" b="1" dirty="0">
                <a:solidFill>
                  <a:srgbClr val="082B52"/>
                </a:solidFill>
                <a:latin typeface="Yu Gothic"/>
              </a:rPr>
              <a:t>は基本的に</a:t>
            </a:r>
            <a:r>
              <a:rPr lang="en-US" altLang="ja-JP" sz="2900" b="1" dirty="0">
                <a:solidFill>
                  <a:srgbClr val="082B52"/>
                </a:solidFill>
                <a:latin typeface="Yu Gothic"/>
              </a:rPr>
              <a:t>ON</a:t>
            </a:r>
            <a:r>
              <a:rPr lang="ja-JP" altLang="en-US" sz="2900" b="1" dirty="0">
                <a:solidFill>
                  <a:srgbClr val="082B52"/>
                </a:solidFill>
                <a:latin typeface="Yu Gothic"/>
              </a:rPr>
              <a:t>。</a:t>
            </a:r>
            <a:endParaRPr lang="en-US" altLang="ja-JP" sz="2900" b="1" dirty="0">
              <a:solidFill>
                <a:srgbClr val="082B52"/>
              </a:solidFill>
              <a:latin typeface="Yu Gothic"/>
            </a:endParaRPr>
          </a:p>
          <a:p>
            <a:pPr algn="ctr"/>
            <a:r>
              <a:rPr lang="ja-JP" altLang="en-US" sz="2900" b="1" dirty="0">
                <a:solidFill>
                  <a:srgbClr val="082B52"/>
                </a:solidFill>
                <a:latin typeface="Yu Gothic"/>
              </a:rPr>
              <a:t>他はケースごとに</a:t>
            </a:r>
            <a:r>
              <a:rPr lang="en-US" altLang="ja-JP" sz="2900" b="1" dirty="0">
                <a:solidFill>
                  <a:srgbClr val="082B52"/>
                </a:solidFill>
                <a:latin typeface="Yu Gothic"/>
              </a:rPr>
              <a:t>ON/OFF</a:t>
            </a:r>
            <a:r>
              <a:rPr lang="ja-JP" altLang="en-US" sz="2900" b="1" dirty="0">
                <a:solidFill>
                  <a:srgbClr val="082B52"/>
                </a:solidFill>
                <a:latin typeface="Yu Gothic"/>
              </a:rPr>
              <a:t>。</a:t>
            </a:r>
            <a:endParaRPr sz="2900" b="1" dirty="0">
              <a:solidFill>
                <a:srgbClr val="082B52"/>
              </a:solidFill>
              <a:latin typeface="Yu Gothic"/>
            </a:endParaRPr>
          </a:p>
        </p:txBody>
      </p:sp>
      <p:sp>
        <p:nvSpPr>
          <p:cNvPr id="10" name="テキスト ボックス 9">
            <a:extLst>
              <a:ext uri="{FF2B5EF4-FFF2-40B4-BE49-F238E27FC236}">
                <a16:creationId xmlns:a16="http://schemas.microsoft.com/office/drawing/2014/main" id="{2C7BA0A9-972C-3DA4-EB3A-96E0ED75455E}"/>
              </a:ext>
            </a:extLst>
          </p:cNvPr>
          <p:cNvSpPr txBox="1"/>
          <p:nvPr/>
        </p:nvSpPr>
        <p:spPr>
          <a:xfrm>
            <a:off x="4111668" y="3340120"/>
            <a:ext cx="4175081" cy="523220"/>
          </a:xfrm>
          <a:prstGeom prst="rect">
            <a:avLst/>
          </a:prstGeom>
          <a:noFill/>
        </p:spPr>
        <p:txBody>
          <a:bodyPr wrap="square" rtlCol="0">
            <a:spAutoFit/>
          </a:bodyPr>
          <a:lstStyle/>
          <a:p>
            <a:r>
              <a:rPr kumimoji="1" lang="ja-JP" altLang="en-US" sz="2800" dirty="0"/>
              <a:t>各コンポの発熱量と位置</a:t>
            </a:r>
          </a:p>
        </p:txBody>
      </p:sp>
      <p:sp>
        <p:nvSpPr>
          <p:cNvPr id="12" name="テキスト ボックス 11">
            <a:extLst>
              <a:ext uri="{FF2B5EF4-FFF2-40B4-BE49-F238E27FC236}">
                <a16:creationId xmlns:a16="http://schemas.microsoft.com/office/drawing/2014/main" id="{A7767B65-50FF-AF7B-5E10-2A0AA9953E5B}"/>
              </a:ext>
            </a:extLst>
          </p:cNvPr>
          <p:cNvSpPr txBox="1"/>
          <p:nvPr/>
        </p:nvSpPr>
        <p:spPr>
          <a:xfrm>
            <a:off x="15388929" y="3340120"/>
            <a:ext cx="4175081" cy="523220"/>
          </a:xfrm>
          <a:prstGeom prst="rect">
            <a:avLst/>
          </a:prstGeom>
          <a:noFill/>
        </p:spPr>
        <p:txBody>
          <a:bodyPr wrap="square" rtlCol="0">
            <a:spAutoFit/>
          </a:bodyPr>
          <a:lstStyle/>
          <a:p>
            <a:r>
              <a:rPr kumimoji="1" lang="ja-JP" altLang="en-US" sz="2800" dirty="0"/>
              <a:t>内部発熱パターン</a:t>
            </a:r>
          </a:p>
        </p:txBody>
      </p:sp>
    </p:spTree>
    <p:extLst>
      <p:ext uri="{BB962C8B-B14F-4D97-AF65-F5344CB8AC3E}">
        <p14:creationId xmlns:p14="http://schemas.microsoft.com/office/powerpoint/2010/main" val="4130144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Thermo-structural analysis</a:t>
            </a:r>
          </a:p>
        </p:txBody>
      </p:sp>
      <p:sp>
        <p:nvSpPr>
          <p:cNvPr id="3" name="TextBox 2"/>
          <p:cNvSpPr txBox="1"/>
          <p:nvPr/>
        </p:nvSpPr>
        <p:spPr>
          <a:xfrm>
            <a:off x="1536192" y="1298448"/>
            <a:ext cx="18208639"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lang="en-US" sz="3200" b="1" dirty="0">
                <a:solidFill>
                  <a:srgbClr val="082B52"/>
                </a:solidFill>
                <a:latin typeface="Yu Gothic"/>
              </a:rPr>
              <a:t>Femap</a:t>
            </a:r>
            <a:r>
              <a:rPr lang="ja-JP" altLang="en-US" sz="3200" b="1" dirty="0">
                <a:solidFill>
                  <a:srgbClr val="082B52"/>
                </a:solidFill>
                <a:latin typeface="Yu Gothic"/>
              </a:rPr>
              <a:t>での解析：温度場・拘束条件を入力として、各点のひずみ（並進・回転 </a:t>
            </a:r>
            <a:r>
              <a:rPr lang="en-US" altLang="ja-JP" sz="3200" b="1" dirty="0">
                <a:solidFill>
                  <a:srgbClr val="082B52"/>
                </a:solidFill>
                <a:latin typeface="Yu Gothic"/>
              </a:rPr>
              <a:t>6</a:t>
            </a:r>
            <a:r>
              <a:rPr lang="ja-JP" altLang="en-US" sz="3200" b="1" dirty="0">
                <a:solidFill>
                  <a:srgbClr val="082B52"/>
                </a:solidFill>
                <a:latin typeface="Yu Gothic"/>
              </a:rPr>
              <a:t>成分）を算出する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12</a:t>
            </a:r>
          </a:p>
        </p:txBody>
      </p:sp>
      <p:graphicFrame>
        <p:nvGraphicFramePr>
          <p:cNvPr id="5" name="Table 4"/>
          <p:cNvGraphicFramePr>
            <a:graphicFrameLocks noGrp="1"/>
          </p:cNvGraphicFramePr>
          <p:nvPr>
            <p:extLst>
              <p:ext uri="{D42A27DB-BD31-4B8C-83A1-F6EECF244321}">
                <p14:modId xmlns:p14="http://schemas.microsoft.com/office/powerpoint/2010/main" val="3104497403"/>
              </p:ext>
            </p:extLst>
          </p:nvPr>
        </p:nvGraphicFramePr>
        <p:xfrm>
          <a:off x="1197699" y="3836670"/>
          <a:ext cx="10881360" cy="7772400"/>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971550">
                <a:tc>
                  <a:txBody>
                    <a:bodyPr/>
                    <a:lstStyle/>
                    <a:p>
                      <a:pPr algn="l"/>
                      <a:r>
                        <a:rPr sz="2200" b="1">
                          <a:solidFill>
                            <a:srgbClr val="FFFFFF"/>
                          </a:solidFill>
                          <a:latin typeface="Yu Gothic"/>
                        </a:rPr>
                        <a:t>Structural parameter</a:t>
                      </a:r>
                    </a:p>
                  </a:txBody>
                  <a:tcPr marL="64008" marR="64008" marT="27432" marB="27432" anchor="ctr">
                    <a:solidFill>
                      <a:srgbClr val="082B52"/>
                    </a:solidFill>
                  </a:tcPr>
                </a:tc>
                <a:tc>
                  <a:txBody>
                    <a:bodyPr/>
                    <a:lstStyle/>
                    <a:p>
                      <a:pPr algn="ctr"/>
                      <a:r>
                        <a:rPr sz="2200" b="1" dirty="0">
                          <a:solidFill>
                            <a:srgbClr val="FFFFFF"/>
                          </a:solidFill>
                          <a:latin typeface="Yu Gothic"/>
                        </a:rPr>
                        <a:t>Value</a:t>
                      </a:r>
                    </a:p>
                  </a:txBody>
                  <a:tcPr marL="64008" marR="64008" marT="27432" marB="27432" anchor="ctr">
                    <a:solidFill>
                      <a:srgbClr val="082B52"/>
                    </a:solidFill>
                  </a:tcPr>
                </a:tc>
                <a:extLst>
                  <a:ext uri="{0D108BD9-81ED-4DB2-BD59-A6C34878D82A}">
                    <a16:rowId xmlns:a16="http://schemas.microsoft.com/office/drawing/2014/main" val="10000"/>
                  </a:ext>
                </a:extLst>
              </a:tr>
              <a:tr h="971550">
                <a:tc>
                  <a:txBody>
                    <a:bodyPr/>
                    <a:lstStyle/>
                    <a:p>
                      <a:pPr algn="l"/>
                      <a:r>
                        <a:rPr sz="2200" b="0">
                          <a:solidFill>
                            <a:srgbClr val="232B34"/>
                          </a:solidFill>
                          <a:latin typeface="Yu Gothic"/>
                        </a:rPr>
                        <a:t>Material</a:t>
                      </a:r>
                    </a:p>
                  </a:txBody>
                  <a:tcPr marL="64008" marR="64008" marT="27432" marB="27432" anchor="ctr">
                    <a:solidFill>
                      <a:srgbClr val="FFFFFF"/>
                    </a:solidFill>
                  </a:tcPr>
                </a:tc>
                <a:tc>
                  <a:txBody>
                    <a:bodyPr/>
                    <a:lstStyle/>
                    <a:p>
                      <a:pPr algn="ctr"/>
                      <a:r>
                        <a:rPr sz="2200" b="0">
                          <a:solidFill>
                            <a:srgbClr val="232B34"/>
                          </a:solidFill>
                          <a:latin typeface="Yu Gothic"/>
                        </a:rPr>
                        <a:t>Aluminum 5052</a:t>
                      </a:r>
                    </a:p>
                  </a:txBody>
                  <a:tcPr marL="64008" marR="64008" marT="27432" marB="27432" anchor="ctr">
                    <a:solidFill>
                      <a:srgbClr val="EBF6FB"/>
                    </a:solidFill>
                  </a:tcPr>
                </a:tc>
                <a:extLst>
                  <a:ext uri="{0D108BD9-81ED-4DB2-BD59-A6C34878D82A}">
                    <a16:rowId xmlns:a16="http://schemas.microsoft.com/office/drawing/2014/main" val="10001"/>
                  </a:ext>
                </a:extLst>
              </a:tr>
              <a:tr h="971550">
                <a:tc>
                  <a:txBody>
                    <a:bodyPr/>
                    <a:lstStyle/>
                    <a:p>
                      <a:pPr algn="l"/>
                      <a:r>
                        <a:rPr sz="2200" b="0">
                          <a:solidFill>
                            <a:srgbClr val="232B34"/>
                          </a:solidFill>
                          <a:latin typeface="Yu Gothic"/>
                        </a:rPr>
                        <a:t>Young's modulus</a:t>
                      </a:r>
                    </a:p>
                  </a:txBody>
                  <a:tcPr marL="64008" marR="64008" marT="27432" marB="27432" anchor="ctr">
                    <a:solidFill>
                      <a:srgbClr val="F4F6F8"/>
                    </a:solidFill>
                  </a:tcPr>
                </a:tc>
                <a:tc>
                  <a:txBody>
                    <a:bodyPr/>
                    <a:lstStyle/>
                    <a:p>
                      <a:pPr algn="ctr"/>
                      <a:r>
                        <a:rPr sz="2200" b="0">
                          <a:solidFill>
                            <a:srgbClr val="232B34"/>
                          </a:solidFill>
                          <a:latin typeface="Yu Gothic"/>
                        </a:rPr>
                        <a:t>70.327 GPa</a:t>
                      </a:r>
                    </a:p>
                  </a:txBody>
                  <a:tcPr marL="64008" marR="64008" marT="27432" marB="27432" anchor="ctr">
                    <a:solidFill>
                      <a:srgbClr val="EBF6FB"/>
                    </a:solidFill>
                  </a:tcPr>
                </a:tc>
                <a:extLst>
                  <a:ext uri="{0D108BD9-81ED-4DB2-BD59-A6C34878D82A}">
                    <a16:rowId xmlns:a16="http://schemas.microsoft.com/office/drawing/2014/main" val="10002"/>
                  </a:ext>
                </a:extLst>
              </a:tr>
              <a:tr h="971550">
                <a:tc>
                  <a:txBody>
                    <a:bodyPr/>
                    <a:lstStyle/>
                    <a:p>
                      <a:pPr algn="l"/>
                      <a:r>
                        <a:rPr sz="2200" b="0">
                          <a:solidFill>
                            <a:srgbClr val="232B34"/>
                          </a:solidFill>
                          <a:latin typeface="Yu Gothic"/>
                        </a:rPr>
                        <a:t>Poisson ratio</a:t>
                      </a:r>
                    </a:p>
                  </a:txBody>
                  <a:tcPr marL="64008" marR="64008" marT="27432" marB="27432" anchor="ctr">
                    <a:solidFill>
                      <a:srgbClr val="FFFFFF"/>
                    </a:solidFill>
                  </a:tcPr>
                </a:tc>
                <a:tc>
                  <a:txBody>
                    <a:bodyPr/>
                    <a:lstStyle/>
                    <a:p>
                      <a:pPr algn="ctr"/>
                      <a:r>
                        <a:rPr sz="2200" b="0">
                          <a:solidFill>
                            <a:srgbClr val="232B34"/>
                          </a:solidFill>
                          <a:latin typeface="Yu Gothic"/>
                        </a:rPr>
                        <a:t>0.33</a:t>
                      </a:r>
                    </a:p>
                  </a:txBody>
                  <a:tcPr marL="64008" marR="64008" marT="27432" marB="27432" anchor="ctr">
                    <a:solidFill>
                      <a:srgbClr val="EBF6FB"/>
                    </a:solidFill>
                  </a:tcPr>
                </a:tc>
                <a:extLst>
                  <a:ext uri="{0D108BD9-81ED-4DB2-BD59-A6C34878D82A}">
                    <a16:rowId xmlns:a16="http://schemas.microsoft.com/office/drawing/2014/main" val="10003"/>
                  </a:ext>
                </a:extLst>
              </a:tr>
              <a:tr h="971550">
                <a:tc>
                  <a:txBody>
                    <a:bodyPr/>
                    <a:lstStyle/>
                    <a:p>
                      <a:pPr algn="l"/>
                      <a:r>
                        <a:rPr sz="2200" b="0">
                          <a:solidFill>
                            <a:srgbClr val="232B34"/>
                          </a:solidFill>
                          <a:latin typeface="Yu Gothic"/>
                        </a:rPr>
                        <a:t>CTE</a:t>
                      </a:r>
                    </a:p>
                  </a:txBody>
                  <a:tcPr marL="64008" marR="64008" marT="27432" marB="27432" anchor="ctr">
                    <a:solidFill>
                      <a:srgbClr val="F4F6F8"/>
                    </a:solidFill>
                  </a:tcPr>
                </a:tc>
                <a:tc>
                  <a:txBody>
                    <a:bodyPr/>
                    <a:lstStyle/>
                    <a:p>
                      <a:pPr algn="ctr"/>
                      <a:r>
                        <a:rPr sz="2200" b="0">
                          <a:solidFill>
                            <a:srgbClr val="232B34"/>
                          </a:solidFill>
                          <a:latin typeface="Yu Gothic"/>
                        </a:rPr>
                        <a:t>2.376×10⁻⁵ /°C</a:t>
                      </a:r>
                    </a:p>
                  </a:txBody>
                  <a:tcPr marL="64008" marR="64008" marT="27432" marB="27432" anchor="ctr">
                    <a:solidFill>
                      <a:srgbClr val="EBF6FB"/>
                    </a:solidFill>
                  </a:tcPr>
                </a:tc>
                <a:extLst>
                  <a:ext uri="{0D108BD9-81ED-4DB2-BD59-A6C34878D82A}">
                    <a16:rowId xmlns:a16="http://schemas.microsoft.com/office/drawing/2014/main" val="10004"/>
                  </a:ext>
                </a:extLst>
              </a:tr>
              <a:tr h="971550">
                <a:tc>
                  <a:txBody>
                    <a:bodyPr/>
                    <a:lstStyle/>
                    <a:p>
                      <a:pPr algn="l"/>
                      <a:r>
                        <a:rPr sz="2200" b="0">
                          <a:solidFill>
                            <a:srgbClr val="232B34"/>
                          </a:solidFill>
                          <a:latin typeface="Yu Gothic"/>
                        </a:rPr>
                        <a:t>Density</a:t>
                      </a:r>
                    </a:p>
                  </a:txBody>
                  <a:tcPr marL="64008" marR="64008" marT="27432" marB="27432" anchor="ctr">
                    <a:solidFill>
                      <a:srgbClr val="FFFFFF"/>
                    </a:solidFill>
                  </a:tcPr>
                </a:tc>
                <a:tc>
                  <a:txBody>
                    <a:bodyPr/>
                    <a:lstStyle/>
                    <a:p>
                      <a:pPr algn="ctr"/>
                      <a:r>
                        <a:rPr sz="2200" b="0">
                          <a:solidFill>
                            <a:srgbClr val="232B34"/>
                          </a:solidFill>
                          <a:latin typeface="Yu Gothic"/>
                        </a:rPr>
                        <a:t>2685 kg/m³</a:t>
                      </a:r>
                    </a:p>
                  </a:txBody>
                  <a:tcPr marL="64008" marR="64008" marT="27432" marB="27432" anchor="ctr">
                    <a:solidFill>
                      <a:srgbClr val="EBF6FB"/>
                    </a:solidFill>
                  </a:tcPr>
                </a:tc>
                <a:extLst>
                  <a:ext uri="{0D108BD9-81ED-4DB2-BD59-A6C34878D82A}">
                    <a16:rowId xmlns:a16="http://schemas.microsoft.com/office/drawing/2014/main" val="10005"/>
                  </a:ext>
                </a:extLst>
              </a:tr>
              <a:tr h="971550">
                <a:tc>
                  <a:txBody>
                    <a:bodyPr/>
                    <a:lstStyle/>
                    <a:p>
                      <a:pPr algn="l"/>
                      <a:r>
                        <a:rPr sz="2200" b="0">
                          <a:solidFill>
                            <a:srgbClr val="232B34"/>
                          </a:solidFill>
                          <a:latin typeface="Yu Gothic"/>
                        </a:rPr>
                        <a:t>Reference temperature</a:t>
                      </a:r>
                    </a:p>
                  </a:txBody>
                  <a:tcPr marL="64008" marR="64008" marT="27432" marB="27432" anchor="ctr">
                    <a:solidFill>
                      <a:srgbClr val="F4F6F8"/>
                    </a:solidFill>
                  </a:tcPr>
                </a:tc>
                <a:tc>
                  <a:txBody>
                    <a:bodyPr/>
                    <a:lstStyle/>
                    <a:p>
                      <a:pPr algn="ctr"/>
                      <a:r>
                        <a:rPr sz="2200" b="0">
                          <a:solidFill>
                            <a:srgbClr val="232B34"/>
                          </a:solidFill>
                          <a:latin typeface="Yu Gothic"/>
                        </a:rPr>
                        <a:t>23.9°C</a:t>
                      </a:r>
                    </a:p>
                  </a:txBody>
                  <a:tcPr marL="64008" marR="64008" marT="27432" marB="27432" anchor="ctr">
                    <a:solidFill>
                      <a:srgbClr val="EBF6FB"/>
                    </a:solidFill>
                  </a:tcPr>
                </a:tc>
                <a:extLst>
                  <a:ext uri="{0D108BD9-81ED-4DB2-BD59-A6C34878D82A}">
                    <a16:rowId xmlns:a16="http://schemas.microsoft.com/office/drawing/2014/main" val="10006"/>
                  </a:ext>
                </a:extLst>
              </a:tr>
              <a:tr h="971550">
                <a:tc>
                  <a:txBody>
                    <a:bodyPr/>
                    <a:lstStyle/>
                    <a:p>
                      <a:pPr algn="l"/>
                      <a:r>
                        <a:rPr sz="2200" b="0">
                          <a:solidFill>
                            <a:srgbClr val="232B34"/>
                          </a:solidFill>
                          <a:latin typeface="Yu Gothic"/>
                        </a:rPr>
                        <a:t>Constraint</a:t>
                      </a:r>
                    </a:p>
                  </a:txBody>
                  <a:tcPr marL="64008" marR="64008" marT="27432" marB="27432" anchor="ctr">
                    <a:solidFill>
                      <a:srgbClr val="FFFFFF"/>
                    </a:solidFill>
                  </a:tcPr>
                </a:tc>
                <a:tc>
                  <a:txBody>
                    <a:bodyPr/>
                    <a:lstStyle/>
                    <a:p>
                      <a:pPr algn="ctr"/>
                      <a:r>
                        <a:rPr sz="2200" b="0" dirty="0">
                          <a:solidFill>
                            <a:srgbClr val="232B34"/>
                          </a:solidFill>
                          <a:latin typeface="Yu Gothic"/>
                        </a:rPr>
                        <a:t>small region near STT</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pic>
        <p:nvPicPr>
          <p:cNvPr id="11" name="図 10">
            <a:extLst>
              <a:ext uri="{FF2B5EF4-FFF2-40B4-BE49-F238E27FC236}">
                <a16:creationId xmlns:a16="http://schemas.microsoft.com/office/drawing/2014/main" id="{33EA1EC9-3A8D-5610-E95D-DAD2EA5D39A2}"/>
              </a:ext>
            </a:extLst>
          </p:cNvPr>
          <p:cNvPicPr>
            <a:picLocks noChangeAspect="1"/>
          </p:cNvPicPr>
          <p:nvPr/>
        </p:nvPicPr>
        <p:blipFill>
          <a:blip r:embed="rId3"/>
          <a:stretch>
            <a:fillRect/>
          </a:stretch>
        </p:blipFill>
        <p:spPr>
          <a:xfrm>
            <a:off x="18341942" y="3905404"/>
            <a:ext cx="5432458" cy="5394601"/>
          </a:xfrm>
          <a:prstGeom prst="rect">
            <a:avLst/>
          </a:prstGeom>
        </p:spPr>
      </p:pic>
      <p:pic>
        <p:nvPicPr>
          <p:cNvPr id="13" name="図 12">
            <a:extLst>
              <a:ext uri="{FF2B5EF4-FFF2-40B4-BE49-F238E27FC236}">
                <a16:creationId xmlns:a16="http://schemas.microsoft.com/office/drawing/2014/main" id="{9819C62F-71DC-7E63-A5D1-87F199B5835C}"/>
              </a:ext>
            </a:extLst>
          </p:cNvPr>
          <p:cNvPicPr>
            <a:picLocks noChangeAspect="1"/>
          </p:cNvPicPr>
          <p:nvPr/>
        </p:nvPicPr>
        <p:blipFill>
          <a:blip r:embed="rId4"/>
          <a:stretch>
            <a:fillRect/>
          </a:stretch>
        </p:blipFill>
        <p:spPr>
          <a:xfrm>
            <a:off x="12605704" y="3905404"/>
            <a:ext cx="4858544" cy="5394601"/>
          </a:xfrm>
          <a:prstGeom prst="rect">
            <a:avLst/>
          </a:prstGeom>
        </p:spPr>
      </p:pic>
      <p:sp>
        <p:nvSpPr>
          <p:cNvPr id="14" name="矢印: 右 13">
            <a:extLst>
              <a:ext uri="{FF2B5EF4-FFF2-40B4-BE49-F238E27FC236}">
                <a16:creationId xmlns:a16="http://schemas.microsoft.com/office/drawing/2014/main" id="{274F2E0C-AA92-CDB0-DFC5-34073207F1FB}"/>
              </a:ext>
            </a:extLst>
          </p:cNvPr>
          <p:cNvSpPr/>
          <p:nvPr/>
        </p:nvSpPr>
        <p:spPr>
          <a:xfrm>
            <a:off x="17681719" y="6406172"/>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926A544-E0FB-FDB4-1194-CFA22C5E6846}"/>
              </a:ext>
            </a:extLst>
          </p:cNvPr>
          <p:cNvSpPr txBox="1"/>
          <p:nvPr/>
        </p:nvSpPr>
        <p:spPr>
          <a:xfrm>
            <a:off x="4795018" y="3382184"/>
            <a:ext cx="3686722" cy="523220"/>
          </a:xfrm>
          <a:prstGeom prst="rect">
            <a:avLst/>
          </a:prstGeom>
          <a:noFill/>
        </p:spPr>
        <p:txBody>
          <a:bodyPr wrap="square" rtlCol="0">
            <a:spAutoFit/>
          </a:bodyPr>
          <a:lstStyle/>
          <a:p>
            <a:r>
              <a:rPr kumimoji="1" lang="en-US" altLang="ja-JP" sz="2800" dirty="0"/>
              <a:t>Femap Configuration</a:t>
            </a:r>
            <a:endParaRPr kumimoji="1" lang="ja-JP" altLang="en-US" sz="2800" dirty="0"/>
          </a:p>
        </p:txBody>
      </p:sp>
      <p:pic>
        <p:nvPicPr>
          <p:cNvPr id="18" name="図 17">
            <a:extLst>
              <a:ext uri="{FF2B5EF4-FFF2-40B4-BE49-F238E27FC236}">
                <a16:creationId xmlns:a16="http://schemas.microsoft.com/office/drawing/2014/main" id="{041DF615-0588-9513-FBA8-0B01D88C40DE}"/>
              </a:ext>
            </a:extLst>
          </p:cNvPr>
          <p:cNvPicPr>
            <a:picLocks noChangeAspect="1"/>
          </p:cNvPicPr>
          <p:nvPr/>
        </p:nvPicPr>
        <p:blipFill>
          <a:blip r:embed="rId5"/>
          <a:stretch>
            <a:fillRect/>
          </a:stretch>
        </p:blipFill>
        <p:spPr>
          <a:xfrm>
            <a:off x="16694545" y="10012017"/>
            <a:ext cx="2523589" cy="2999895"/>
          </a:xfrm>
          <a:prstGeom prst="rect">
            <a:avLst/>
          </a:prstGeom>
        </p:spPr>
      </p:pic>
      <p:cxnSp>
        <p:nvCxnSpPr>
          <p:cNvPr id="20" name="直線矢印コネクタ 19">
            <a:extLst>
              <a:ext uri="{FF2B5EF4-FFF2-40B4-BE49-F238E27FC236}">
                <a16:creationId xmlns:a16="http://schemas.microsoft.com/office/drawing/2014/main" id="{DB910861-8EB1-0B83-13D2-A55697BCFD48}"/>
              </a:ext>
            </a:extLst>
          </p:cNvPr>
          <p:cNvCxnSpPr/>
          <p:nvPr/>
        </p:nvCxnSpPr>
        <p:spPr>
          <a:xfrm flipV="1">
            <a:off x="17956339" y="7524750"/>
            <a:ext cx="0" cy="22669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A8BC2C95-4E51-07EA-299C-28233B3B7BA8}"/>
              </a:ext>
            </a:extLst>
          </p:cNvPr>
          <p:cNvSpPr txBox="1"/>
          <p:nvPr/>
        </p:nvSpPr>
        <p:spPr>
          <a:xfrm>
            <a:off x="19491981" y="12280232"/>
            <a:ext cx="2523589" cy="584775"/>
          </a:xfrm>
          <a:prstGeom prst="rect">
            <a:avLst/>
          </a:prstGeom>
          <a:noFill/>
        </p:spPr>
        <p:txBody>
          <a:bodyPr wrap="square" rtlCol="0">
            <a:spAutoFit/>
          </a:bodyPr>
          <a:lstStyle/>
          <a:p>
            <a:r>
              <a:rPr kumimoji="1" lang="en-US" altLang="ja-JP" sz="3200" dirty="0"/>
              <a:t>TD</a:t>
            </a:r>
            <a:r>
              <a:rPr kumimoji="1" lang="ja-JP" altLang="en-US" sz="3200" dirty="0"/>
              <a:t>：温度場</a:t>
            </a:r>
          </a:p>
        </p:txBody>
      </p:sp>
    </p:spTree>
    <p:extLst>
      <p:ext uri="{BB962C8B-B14F-4D97-AF65-F5344CB8AC3E}">
        <p14:creationId xmlns:p14="http://schemas.microsoft.com/office/powerpoint/2010/main" val="4083775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Thermo-structural analysis</a:t>
            </a:r>
          </a:p>
        </p:txBody>
      </p:sp>
      <p:sp>
        <p:nvSpPr>
          <p:cNvPr id="3" name="TextBox 2"/>
          <p:cNvSpPr txBox="1"/>
          <p:nvPr/>
        </p:nvSpPr>
        <p:spPr>
          <a:xfrm>
            <a:off x="1536192" y="1298448"/>
            <a:ext cx="11193513" cy="1532727"/>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ja-JP" sz="3200" b="1" dirty="0"/>
              <a:t>LOS真値はSTT基準で見たLCT光軸の相対回転として定義する</a:t>
            </a:r>
            <a:endParaRPr lang="ja-JP" altLang="ja-JP" sz="3200" dirty="0"/>
          </a:p>
          <a:p>
            <a:pPr algn="l"/>
            <a:endParaRPr sz="3200" b="1" dirty="0">
              <a:solidFill>
                <a:srgbClr val="082B52"/>
              </a:solidFill>
              <a:latin typeface="Yu Gothic"/>
            </a:endParaRPr>
          </a:p>
        </p:txBody>
      </p:sp>
      <p:sp>
        <p:nvSpPr>
          <p:cNvPr id="4" name="TextBox 3"/>
          <p:cNvSpPr txBox="1"/>
          <p:nvPr/>
        </p:nvSpPr>
        <p:spPr>
          <a:xfrm>
            <a:off x="23444052" y="12819888"/>
            <a:ext cx="330348" cy="332399"/>
          </a:xfrm>
          <a:prstGeom prst="rect">
            <a:avLst/>
          </a:prstGeom>
          <a:noFill/>
        </p:spPr>
        <p:txBody>
          <a:bodyPr wrap="none" lIns="36576" tIns="27432" rIns="36576" bIns="27432" anchor="t">
            <a:spAutoFit/>
          </a:bodyPr>
          <a:lstStyle/>
          <a:p>
            <a:pPr algn="r"/>
            <a:r>
              <a:rPr sz="1800" b="0" dirty="0">
                <a:solidFill>
                  <a:srgbClr val="666F79"/>
                </a:solidFill>
                <a:latin typeface="Yu Gothic"/>
              </a:rPr>
              <a:t>1</a:t>
            </a:r>
            <a:r>
              <a:rPr lang="en-US" sz="1800" b="0" dirty="0">
                <a:solidFill>
                  <a:srgbClr val="666F79"/>
                </a:solidFill>
                <a:latin typeface="Yu Gothic"/>
              </a:rPr>
              <a:t>3</a:t>
            </a:r>
            <a:endParaRPr sz="1800" b="0" dirty="0">
              <a:solidFill>
                <a:srgbClr val="666F79"/>
              </a:solidFill>
              <a:latin typeface="Yu Gothic"/>
            </a:endParaRPr>
          </a:p>
        </p:txBody>
      </p:sp>
      <p:sp>
        <p:nvSpPr>
          <p:cNvPr id="7" name="Rounded Rectangle 6"/>
          <p:cNvSpPr/>
          <p:nvPr/>
        </p:nvSpPr>
        <p:spPr>
          <a:xfrm>
            <a:off x="15544800" y="2788920"/>
            <a:ext cx="7753350" cy="822960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518978" y="3246120"/>
            <a:ext cx="5549725" cy="486287"/>
          </a:xfrm>
          <a:prstGeom prst="rect">
            <a:avLst/>
          </a:prstGeom>
          <a:noFill/>
        </p:spPr>
        <p:txBody>
          <a:bodyPr wrap="none" lIns="36576" tIns="27432" rIns="36576" bIns="27432" anchor="t">
            <a:spAutoFit/>
          </a:bodyPr>
          <a:lstStyle/>
          <a:p>
            <a:pPr algn="ctr"/>
            <a:r>
              <a:rPr lang="en-US" sz="2800" b="1" dirty="0">
                <a:solidFill>
                  <a:srgbClr val="1B74AA"/>
                </a:solidFill>
                <a:latin typeface="Yu Gothic"/>
              </a:rPr>
              <a:t>LOS</a:t>
            </a:r>
            <a:r>
              <a:rPr lang="ja-JP" altLang="en-US" sz="2800" b="1" dirty="0">
                <a:solidFill>
                  <a:srgbClr val="1B74AA"/>
                </a:solidFill>
                <a:latin typeface="Yu Gothic"/>
              </a:rPr>
              <a:t>誤差 </a:t>
            </a:r>
            <a:r>
              <a:rPr sz="2800" b="1" dirty="0" err="1">
                <a:solidFill>
                  <a:srgbClr val="1B74AA"/>
                </a:solidFill>
                <a:latin typeface="Yu Gothic"/>
              </a:rPr>
              <a:t>採用</a:t>
            </a:r>
            <a:r>
              <a:rPr lang="ja-JP" altLang="en-US" sz="2800" b="1" dirty="0">
                <a:solidFill>
                  <a:srgbClr val="1B74AA"/>
                </a:solidFill>
                <a:latin typeface="Yu Gothic"/>
              </a:rPr>
              <a:t>指標</a:t>
            </a:r>
            <a:r>
              <a:rPr sz="2800" b="1" dirty="0">
                <a:solidFill>
                  <a:srgbClr val="1B74AA"/>
                </a:solidFill>
                <a:latin typeface="Yu Gothic"/>
              </a:rPr>
              <a:t>：</a:t>
            </a:r>
            <a:r>
              <a:rPr sz="2800" b="1" dirty="0" err="1">
                <a:solidFill>
                  <a:srgbClr val="1B74AA"/>
                </a:solidFill>
                <a:latin typeface="Yu Gothic"/>
              </a:rPr>
              <a:t>far_field_los</a:t>
            </a:r>
            <a:endParaRPr sz="2800" b="1" dirty="0">
              <a:solidFill>
                <a:srgbClr val="1B74AA"/>
              </a:solidFill>
              <a:latin typeface="Yu Gothic"/>
            </a:endParaRPr>
          </a:p>
        </p:txBody>
      </p:sp>
      <p:sp>
        <p:nvSpPr>
          <p:cNvPr id="9" name="TextBox 8"/>
          <p:cNvSpPr txBox="1"/>
          <p:nvPr/>
        </p:nvSpPr>
        <p:spPr>
          <a:xfrm>
            <a:off x="16001999" y="4389120"/>
            <a:ext cx="7040879" cy="1877437"/>
          </a:xfrm>
          <a:prstGeom prst="rect">
            <a:avLst/>
          </a:prstGeom>
          <a:noFill/>
        </p:spPr>
        <p:txBody>
          <a:bodyPr wrap="square" lIns="27432" rIns="27432">
            <a:spAutoFit/>
          </a:bodyPr>
          <a:lstStyle/>
          <a:p>
            <a:pPr>
              <a:spcAft>
                <a:spcPts val="800"/>
              </a:spcAft>
            </a:pPr>
            <a:r>
              <a:rPr sz="2400" b="1" dirty="0">
                <a:solidFill>
                  <a:srgbClr val="1B74AA"/>
                </a:solidFill>
                <a:latin typeface="Yu Gothic"/>
              </a:rPr>
              <a:t>• </a:t>
            </a:r>
            <a:r>
              <a:rPr sz="2400" dirty="0" err="1">
                <a:solidFill>
                  <a:srgbClr val="232B34"/>
                </a:solidFill>
                <a:latin typeface="Yu Gothic"/>
              </a:rPr>
              <a:t>LCT光軸回転</a:t>
            </a:r>
            <a:r>
              <a:rPr sz="2400" dirty="0">
                <a:solidFill>
                  <a:srgbClr val="232B34"/>
                </a:solidFill>
                <a:latin typeface="Yu Gothic"/>
              </a:rPr>
              <a:t> − </a:t>
            </a:r>
            <a:r>
              <a:rPr sz="2400" dirty="0" err="1">
                <a:solidFill>
                  <a:srgbClr val="232B34"/>
                </a:solidFill>
                <a:latin typeface="Yu Gothic"/>
              </a:rPr>
              <a:t>STT姿勢基準回転</a:t>
            </a:r>
            <a:endParaRPr lang="en-US" sz="2400" dirty="0">
              <a:solidFill>
                <a:srgbClr val="232B34"/>
              </a:solidFill>
              <a:latin typeface="Yu Gothic"/>
            </a:endParaRPr>
          </a:p>
          <a:p>
            <a:pPr>
              <a:spcAft>
                <a:spcPts val="800"/>
              </a:spcAft>
            </a:pPr>
            <a:r>
              <a:rPr lang="en-US" altLang="ja-JP" sz="2400" b="1" dirty="0">
                <a:solidFill>
                  <a:srgbClr val="1B74AA"/>
                </a:solidFill>
                <a:latin typeface="Yu Gothic"/>
              </a:rPr>
              <a:t>• </a:t>
            </a:r>
            <a:r>
              <a:rPr lang="en-US" sz="2400" dirty="0">
                <a:solidFill>
                  <a:srgbClr val="232B34"/>
                </a:solidFill>
                <a:latin typeface="Yu Gothic"/>
              </a:rPr>
              <a:t>STT</a:t>
            </a:r>
            <a:r>
              <a:rPr lang="ja-JP" altLang="en-US" sz="2400" dirty="0">
                <a:solidFill>
                  <a:srgbClr val="232B34"/>
                </a:solidFill>
                <a:latin typeface="Yu Gothic"/>
              </a:rPr>
              <a:t>は姿勢系の標準であるとしてそこからの誤差</a:t>
            </a:r>
            <a:endParaRPr sz="2400" dirty="0">
              <a:solidFill>
                <a:srgbClr val="232B34"/>
              </a:solidFill>
              <a:latin typeface="Yu Gothic"/>
            </a:endParaRPr>
          </a:p>
          <a:p>
            <a:pPr>
              <a:spcAft>
                <a:spcPts val="800"/>
              </a:spcAft>
            </a:pPr>
            <a:r>
              <a:rPr sz="2400" b="1" dirty="0">
                <a:solidFill>
                  <a:srgbClr val="1B74AA"/>
                </a:solidFill>
                <a:latin typeface="Yu Gothic"/>
              </a:rPr>
              <a:t>• </a:t>
            </a:r>
            <a:r>
              <a:rPr sz="2400" dirty="0" err="1">
                <a:solidFill>
                  <a:srgbClr val="232B34"/>
                </a:solidFill>
                <a:latin typeface="Yu Gothic"/>
              </a:rPr>
              <a:t>遠方通信のscan</a:t>
            </a:r>
            <a:r>
              <a:rPr sz="2400" dirty="0">
                <a:solidFill>
                  <a:srgbClr val="232B34"/>
                </a:solidFill>
                <a:latin typeface="Yu Gothic"/>
              </a:rPr>
              <a:t> center</a:t>
            </a:r>
            <a:r>
              <a:rPr lang="ja-JP" altLang="en-US" sz="2400" dirty="0">
                <a:solidFill>
                  <a:srgbClr val="232B34"/>
                </a:solidFill>
                <a:latin typeface="Yu Gothic"/>
              </a:rPr>
              <a:t>誤差に直接対応</a:t>
            </a:r>
            <a:endParaRPr sz="2400" dirty="0">
              <a:solidFill>
                <a:srgbClr val="232B34"/>
              </a:solidFill>
              <a:latin typeface="Yu Gothic"/>
            </a:endParaRPr>
          </a:p>
          <a:p>
            <a:pPr>
              <a:spcAft>
                <a:spcPts val="800"/>
              </a:spcAft>
            </a:pPr>
            <a:r>
              <a:rPr sz="2400" b="1" dirty="0">
                <a:solidFill>
                  <a:srgbClr val="1B74AA"/>
                </a:solidFill>
                <a:latin typeface="Yu Gothic"/>
              </a:rPr>
              <a:t>• </a:t>
            </a:r>
            <a:r>
              <a:rPr sz="2400" dirty="0" err="1">
                <a:solidFill>
                  <a:srgbClr val="232B34"/>
                </a:solidFill>
                <a:latin typeface="Yu Gothic"/>
              </a:rPr>
              <a:t>代表点間並進</a:t>
            </a:r>
            <a:r>
              <a:rPr lang="ja-JP" altLang="en-US" sz="2400" dirty="0">
                <a:solidFill>
                  <a:srgbClr val="232B34"/>
                </a:solidFill>
                <a:latin typeface="Yu Gothic"/>
              </a:rPr>
              <a:t>による</a:t>
            </a:r>
            <a:r>
              <a:rPr sz="2400" dirty="0">
                <a:solidFill>
                  <a:srgbClr val="232B34"/>
                </a:solidFill>
                <a:latin typeface="Yu Gothic"/>
              </a:rPr>
              <a:t>centerline tilt</a:t>
            </a:r>
            <a:r>
              <a:rPr lang="ja-JP" altLang="en-US" sz="2400" dirty="0">
                <a:solidFill>
                  <a:srgbClr val="232B34"/>
                </a:solidFill>
                <a:latin typeface="Yu Gothic"/>
              </a:rPr>
              <a:t>は含めない</a:t>
            </a:r>
            <a:endParaRPr sz="2400" dirty="0">
              <a:solidFill>
                <a:srgbClr val="232B34"/>
              </a:solidFill>
              <a:latin typeface="Yu Gothic"/>
            </a:endParaRPr>
          </a:p>
        </p:txBody>
      </p:sp>
      <p:pic>
        <p:nvPicPr>
          <p:cNvPr id="12" name="図 11">
            <a:extLst>
              <a:ext uri="{FF2B5EF4-FFF2-40B4-BE49-F238E27FC236}">
                <a16:creationId xmlns:a16="http://schemas.microsoft.com/office/drawing/2014/main" id="{3B09D20F-F818-E6BB-4A04-9D0C10968E16}"/>
              </a:ext>
            </a:extLst>
          </p:cNvPr>
          <p:cNvPicPr>
            <a:picLocks noChangeAspect="1"/>
          </p:cNvPicPr>
          <p:nvPr/>
        </p:nvPicPr>
        <p:blipFill>
          <a:blip r:embed="rId3"/>
          <a:stretch>
            <a:fillRect/>
          </a:stretch>
        </p:blipFill>
        <p:spPr>
          <a:xfrm>
            <a:off x="1339534" y="3840480"/>
            <a:ext cx="4959858" cy="4925293"/>
          </a:xfrm>
          <a:prstGeom prst="rect">
            <a:avLst/>
          </a:prstGeom>
        </p:spPr>
      </p:pic>
      <p:pic>
        <p:nvPicPr>
          <p:cNvPr id="16" name="図 15">
            <a:extLst>
              <a:ext uri="{FF2B5EF4-FFF2-40B4-BE49-F238E27FC236}">
                <a16:creationId xmlns:a16="http://schemas.microsoft.com/office/drawing/2014/main" id="{A31CA026-7B2F-08ED-6CF7-FE54FD7082EB}"/>
              </a:ext>
            </a:extLst>
          </p:cNvPr>
          <p:cNvPicPr>
            <a:picLocks noChangeAspect="1"/>
          </p:cNvPicPr>
          <p:nvPr/>
        </p:nvPicPr>
        <p:blipFill>
          <a:blip r:embed="rId4"/>
          <a:srcRect l="15815" r="9648"/>
          <a:stretch>
            <a:fillRect/>
          </a:stretch>
        </p:blipFill>
        <p:spPr>
          <a:xfrm>
            <a:off x="8140796" y="3611867"/>
            <a:ext cx="6134100" cy="6400813"/>
          </a:xfrm>
          <a:prstGeom prst="rect">
            <a:avLst/>
          </a:prstGeom>
        </p:spPr>
      </p:pic>
      <p:sp>
        <p:nvSpPr>
          <p:cNvPr id="18" name="矢印: 右 17">
            <a:extLst>
              <a:ext uri="{FF2B5EF4-FFF2-40B4-BE49-F238E27FC236}">
                <a16:creationId xmlns:a16="http://schemas.microsoft.com/office/drawing/2014/main" id="{E8A036E3-901B-13D6-50ED-4213CF64C986}"/>
              </a:ext>
            </a:extLst>
          </p:cNvPr>
          <p:cNvSpPr/>
          <p:nvPr/>
        </p:nvSpPr>
        <p:spPr>
          <a:xfrm>
            <a:off x="6956602" y="6031204"/>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DFCAD75C-E1E5-BAB9-ED79-8FB22B4FA1E6}"/>
              </a:ext>
            </a:extLst>
          </p:cNvPr>
          <p:cNvCxnSpPr/>
          <p:nvPr/>
        </p:nvCxnSpPr>
        <p:spPr>
          <a:xfrm>
            <a:off x="5162550" y="8096250"/>
            <a:ext cx="209550" cy="164211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79843408-97F9-6B75-249B-559F34913E3D}"/>
              </a:ext>
            </a:extLst>
          </p:cNvPr>
          <p:cNvCxnSpPr>
            <a:cxnSpLocks/>
          </p:cNvCxnSpPr>
          <p:nvPr/>
        </p:nvCxnSpPr>
        <p:spPr>
          <a:xfrm flipH="1">
            <a:off x="3009900" y="3246120"/>
            <a:ext cx="1123950" cy="1310795"/>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B184EC83-A793-1DED-82CE-9E07315E52C8}"/>
              </a:ext>
            </a:extLst>
          </p:cNvPr>
          <p:cNvSpPr txBox="1"/>
          <p:nvPr/>
        </p:nvSpPr>
        <p:spPr>
          <a:xfrm>
            <a:off x="4133850" y="2856893"/>
            <a:ext cx="2381250" cy="584775"/>
          </a:xfrm>
          <a:prstGeom prst="rect">
            <a:avLst/>
          </a:prstGeom>
          <a:noFill/>
        </p:spPr>
        <p:txBody>
          <a:bodyPr wrap="square" rtlCol="0">
            <a:spAutoFit/>
          </a:bodyPr>
          <a:lstStyle/>
          <a:p>
            <a:r>
              <a:rPr kumimoji="1" lang="en-US" altLang="ja-JP" sz="3200" dirty="0"/>
              <a:t>STT</a:t>
            </a:r>
            <a:endParaRPr kumimoji="1" lang="ja-JP" altLang="en-US" sz="3200" dirty="0"/>
          </a:p>
        </p:txBody>
      </p:sp>
      <p:sp>
        <p:nvSpPr>
          <p:cNvPr id="25" name="テキスト ボックス 24">
            <a:extLst>
              <a:ext uri="{FF2B5EF4-FFF2-40B4-BE49-F238E27FC236}">
                <a16:creationId xmlns:a16="http://schemas.microsoft.com/office/drawing/2014/main" id="{84993092-E9AF-32CC-CA46-5B89D3B7856E}"/>
              </a:ext>
            </a:extLst>
          </p:cNvPr>
          <p:cNvSpPr txBox="1"/>
          <p:nvPr/>
        </p:nvSpPr>
        <p:spPr>
          <a:xfrm>
            <a:off x="5267325" y="9738360"/>
            <a:ext cx="2381250" cy="584775"/>
          </a:xfrm>
          <a:prstGeom prst="rect">
            <a:avLst/>
          </a:prstGeom>
          <a:noFill/>
        </p:spPr>
        <p:txBody>
          <a:bodyPr wrap="square" rtlCol="0">
            <a:spAutoFit/>
          </a:bodyPr>
          <a:lstStyle/>
          <a:p>
            <a:r>
              <a:rPr kumimoji="1" lang="en-US" altLang="ja-JP" sz="3200" dirty="0"/>
              <a:t>LCT</a:t>
            </a:r>
            <a:endParaRPr kumimoji="1" lang="ja-JP" altLang="en-US" sz="3200" dirty="0"/>
          </a:p>
        </p:txBody>
      </p:sp>
      <p:sp>
        <p:nvSpPr>
          <p:cNvPr id="27" name="テキスト ボックス 26">
            <a:extLst>
              <a:ext uri="{FF2B5EF4-FFF2-40B4-BE49-F238E27FC236}">
                <a16:creationId xmlns:a16="http://schemas.microsoft.com/office/drawing/2014/main" id="{EBF1EEF1-B803-E3EF-7B07-EF16B7C0DEB8}"/>
              </a:ext>
            </a:extLst>
          </p:cNvPr>
          <p:cNvSpPr txBox="1"/>
          <p:nvPr/>
        </p:nvSpPr>
        <p:spPr>
          <a:xfrm>
            <a:off x="1339534" y="10607040"/>
            <a:ext cx="12192000" cy="1569660"/>
          </a:xfrm>
          <a:prstGeom prst="rect">
            <a:avLst/>
          </a:prstGeom>
          <a:noFill/>
        </p:spPr>
        <p:txBody>
          <a:bodyPr wrap="square">
            <a:spAutoFit/>
          </a:bodyPr>
          <a:lstStyle/>
          <a:p>
            <a:endParaRPr lang="en-US" altLang="ja-JP" sz="3200" b="1" dirty="0">
              <a:solidFill>
                <a:srgbClr val="082B52"/>
              </a:solidFill>
              <a:latin typeface="Yu Gothic"/>
            </a:endParaRPr>
          </a:p>
          <a:p>
            <a:r>
              <a:rPr lang="ja-JP" altLang="ja-JP" sz="3200" b="1" dirty="0"/>
              <a:t>並進ではなく、遠方通信に効く</a:t>
            </a:r>
            <a:r>
              <a:rPr lang="en-US" altLang="ja-JP" sz="3200" b="1" dirty="0"/>
              <a:t>STT/LCT</a:t>
            </a:r>
            <a:r>
              <a:rPr lang="ja-JP" altLang="en-US" sz="3200" b="1" dirty="0"/>
              <a:t>の</a:t>
            </a:r>
            <a:r>
              <a:rPr lang="ja-JP" altLang="ja-JP" sz="3200" b="1" dirty="0"/>
              <a:t>相対光軸回転を</a:t>
            </a:r>
            <a:r>
              <a:rPr lang="en-US" altLang="ja-JP" sz="3200" b="1" dirty="0"/>
              <a:t>LOS</a:t>
            </a:r>
            <a:r>
              <a:rPr lang="ja-JP" altLang="en-US" sz="3200" b="1" dirty="0"/>
              <a:t>誤差とする</a:t>
            </a:r>
            <a:endParaRPr lang="ja-JP" altLang="ja-JP" sz="3200" dirty="0"/>
          </a:p>
        </p:txBody>
      </p:sp>
      <mc:AlternateContent xmlns:mc="http://schemas.openxmlformats.org/markup-compatibility/2006" xmlns:a14="http://schemas.microsoft.com/office/drawing/2010/main">
        <mc:Choice Requires="a14">
          <p:sp>
            <p:nvSpPr>
              <p:cNvPr id="31" name="TextBox 9">
                <a:extLst>
                  <a:ext uri="{FF2B5EF4-FFF2-40B4-BE49-F238E27FC236}">
                    <a16:creationId xmlns:a16="http://schemas.microsoft.com/office/drawing/2014/main" id="{1D5E19C6-D5A3-C347-891E-06621B675036}"/>
                  </a:ext>
                </a:extLst>
              </p:cNvPr>
              <p:cNvSpPr txBox="1"/>
              <p:nvPr/>
            </p:nvSpPr>
            <p:spPr>
              <a:xfrm>
                <a:off x="16004709" y="7034356"/>
                <a:ext cx="6833537" cy="1187761"/>
              </a:xfrm>
              <a:prstGeom prst="rect">
                <a:avLst/>
              </a:prstGeom>
              <a:noFill/>
            </p:spPr>
            <p:txBody>
              <a:bodyPr wrap="none" lIns="36576" tIns="27432" rIns="36576" bIns="27432" anchor="t">
                <a:spAutoFit/>
              </a:bodyPr>
              <a:lstStyle/>
              <a:p>
                <a:pPr algn="ctr"/>
                <a:r>
                  <a:rPr lang="en-US" sz="3600" b="1" i="1" dirty="0">
                    <a:solidFill>
                      <a:srgbClr val="082B52"/>
                    </a:solidFill>
                    <a:latin typeface="Yu Gothic"/>
                  </a:rPr>
                  <a:t> </a:t>
                </a:r>
                <a14:m>
                  <m:oMath xmlns:m="http://schemas.openxmlformats.org/officeDocument/2006/math">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𝒕𝒉𝒆𝒓𝒎𝒂𝒍</m:t>
                        </m:r>
                        <m:r>
                          <a:rPr lang="en-US" altLang="ja-JP" sz="3600" b="1" i="1" smtClean="0">
                            <a:solidFill>
                              <a:srgbClr val="082B52"/>
                            </a:solidFill>
                            <a:latin typeface="Cambria Math" panose="02040503050406030204" pitchFamily="18" charset="0"/>
                          </a:rPr>
                          <m:t>,</m:t>
                        </m:r>
                        <m:r>
                          <a:rPr lang="en-US" altLang="ja-JP" sz="3600" b="1" i="1" smtClean="0">
                            <a:solidFill>
                              <a:srgbClr val="082B52"/>
                            </a:solidFill>
                            <a:latin typeface="Cambria Math" panose="02040503050406030204" pitchFamily="18" charset="0"/>
                          </a:rPr>
                          <m:t>𝒕𝒓𝒖𝒆</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𝑳𝑪𝑻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𝑺𝑻𝑻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oMath>
                </a14:m>
                <a:endParaRPr lang="en-US" altLang="ja-JP" sz="3600" b="1" i="1" dirty="0">
                  <a:solidFill>
                    <a:srgbClr val="082B52"/>
                  </a:solidFill>
                  <a:latin typeface="Yu Gothic"/>
                </a:endParaRPr>
              </a:p>
              <a:p>
                <a:pPr algn="ctr"/>
                <a:r>
                  <a:rPr lang="en-US" sz="3600" b="1" i="1" dirty="0">
                    <a:solidFill>
                      <a:srgbClr val="082B52"/>
                    </a:solidFill>
                    <a:latin typeface="Yu Gothic"/>
                  </a:rPr>
                  <a:t> </a:t>
                </a:r>
                <a:endParaRPr sz="3600" b="1" i="1" dirty="0">
                  <a:solidFill>
                    <a:srgbClr val="082B52"/>
                  </a:solidFill>
                  <a:latin typeface="Yu Gothic"/>
                </a:endParaRPr>
              </a:p>
            </p:txBody>
          </p:sp>
        </mc:Choice>
        <mc:Fallback xmlns="">
          <p:sp>
            <p:nvSpPr>
              <p:cNvPr id="31" name="TextBox 9">
                <a:extLst>
                  <a:ext uri="{FF2B5EF4-FFF2-40B4-BE49-F238E27FC236}">
                    <a16:creationId xmlns:a16="http://schemas.microsoft.com/office/drawing/2014/main" id="{1D5E19C6-D5A3-C347-891E-06621B675036}"/>
                  </a:ext>
                </a:extLst>
              </p:cNvPr>
              <p:cNvSpPr txBox="1">
                <a:spLocks noRot="1" noChangeAspect="1" noMove="1" noResize="1" noEditPoints="1" noAdjustHandles="1" noChangeArrowheads="1" noChangeShapeType="1" noTextEdit="1"/>
              </p:cNvSpPr>
              <p:nvPr/>
            </p:nvSpPr>
            <p:spPr>
              <a:xfrm>
                <a:off x="16004709" y="7034356"/>
                <a:ext cx="6833537" cy="1187761"/>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TextBox 9">
                <a:extLst>
                  <a:ext uri="{FF2B5EF4-FFF2-40B4-BE49-F238E27FC236}">
                    <a16:creationId xmlns:a16="http://schemas.microsoft.com/office/drawing/2014/main" id="{C6979E3C-0BB9-6EF7-CE62-35CD169FE964}"/>
                  </a:ext>
                </a:extLst>
              </p:cNvPr>
              <p:cNvSpPr txBox="1"/>
              <p:nvPr/>
            </p:nvSpPr>
            <p:spPr>
              <a:xfrm>
                <a:off x="17297234" y="7976871"/>
                <a:ext cx="4259051" cy="1577804"/>
              </a:xfrm>
              <a:prstGeom prst="rect">
                <a:avLst/>
              </a:prstGeom>
              <a:noFill/>
            </p:spPr>
            <p:txBody>
              <a:bodyPr wrap="none" lIns="36576" tIns="27432" rIns="36576" bIns="27432" anchor="t">
                <a:spAutoFit/>
              </a:bodyPr>
              <a:lstStyle/>
              <a:p>
                <a:pPr algn="ctr"/>
                <a:r>
                  <a:rPr lang="en-US" sz="3200" b="1" i="1" dirty="0">
                    <a:solidFill>
                      <a:srgbClr val="082B52"/>
                    </a:solidFill>
                    <a:latin typeface="Yu Gothic"/>
                  </a:rPr>
                  <a:t> </a:t>
                </a:r>
                <a14:m>
                  <m:oMath xmlns:m="http://schemas.openxmlformats.org/officeDocument/2006/math">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𝒕𝒉𝒆𝒓𝒎𝒂𝒍</m:t>
                        </m:r>
                        <m:r>
                          <a:rPr lang="en-US" altLang="ja-JP" sz="3200" b="1" i="1" smtClean="0">
                            <a:solidFill>
                              <a:srgbClr val="082B52"/>
                            </a:solidFill>
                            <a:latin typeface="Cambria Math" panose="02040503050406030204" pitchFamily="18" charset="0"/>
                          </a:rPr>
                          <m:t>,</m:t>
                        </m:r>
                        <m:r>
                          <a:rPr lang="en-US" altLang="ja-JP" sz="3200" b="1" i="1" smtClean="0">
                            <a:solidFill>
                              <a:srgbClr val="082B52"/>
                            </a:solidFill>
                            <a:latin typeface="Cambria Math" panose="02040503050406030204" pitchFamily="18" charset="0"/>
                          </a:rPr>
                          <m:t>𝒕𝒓𝒖𝒆</m:t>
                        </m:r>
                      </m:sub>
                    </m:sSub>
                    <m:r>
                      <a:rPr lang="en-US" altLang="ja-JP" sz="3200" b="1" i="1" smtClean="0">
                        <a:solidFill>
                          <a:srgbClr val="082B52"/>
                        </a:solidFill>
                        <a:latin typeface="Cambria Math" panose="02040503050406030204" pitchFamily="18" charset="0"/>
                      </a:rPr>
                      <m:t>=</m:t>
                    </m:r>
                    <m:sSub>
                      <m:sSubPr>
                        <m:ctrlPr>
                          <a:rPr lang="en-US" altLang="ja-JP" sz="3200" b="1" i="1" smtClean="0">
                            <a:solidFill>
                              <a:srgbClr val="082B52"/>
                            </a:solidFill>
                            <a:latin typeface="Cambria Math" panose="02040503050406030204" pitchFamily="18" charset="0"/>
                          </a:rPr>
                        </m:ctrlPr>
                      </m:sSubPr>
                      <m:e>
                        <m:r>
                          <a:rPr lang="en-US" altLang="ja-JP" sz="3200" b="1" i="1" smtClean="0">
                            <a:solidFill>
                              <a:srgbClr val="082B52"/>
                            </a:solidFill>
                            <a:latin typeface="Cambria Math" panose="02040503050406030204" pitchFamily="18" charset="0"/>
                          </a:rPr>
                          <m:t>[</m:t>
                        </m:r>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𝒙</m:t>
                        </m:r>
                      </m:sub>
                    </m:sSub>
                    <m:r>
                      <a:rPr lang="en-US" altLang="ja-JP" sz="3200" b="1" i="1" smtClean="0">
                        <a:solidFill>
                          <a:srgbClr val="082B52"/>
                        </a:solidFill>
                        <a:latin typeface="Cambria Math" panose="02040503050406030204" pitchFamily="18" charset="0"/>
                      </a:rPr>
                      <m:t>, </m:t>
                    </m:r>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𝒚</m:t>
                        </m:r>
                      </m:sub>
                    </m:sSub>
                    <m:r>
                      <a:rPr lang="en-US" altLang="ja-JP" sz="3200" b="1" i="1" smtClean="0">
                        <a:solidFill>
                          <a:srgbClr val="082B52"/>
                        </a:solidFill>
                        <a:latin typeface="Cambria Math" panose="02040503050406030204" pitchFamily="18" charset="0"/>
                      </a:rPr>
                      <m:t>]</m:t>
                    </m:r>
                  </m:oMath>
                </a14:m>
                <a:endParaRPr lang="en-US" altLang="ja-JP" sz="3200" b="1" i="1" dirty="0">
                  <a:solidFill>
                    <a:srgbClr val="082B52"/>
                  </a:solidFill>
                  <a:latin typeface="Yu Gothic"/>
                </a:endParaRPr>
              </a:p>
              <a:p>
                <a:pPr algn="ctr"/>
                <a:endParaRPr lang="en-US" altLang="ja-JP" sz="3200" b="1" i="1" dirty="0">
                  <a:solidFill>
                    <a:srgbClr val="082B52"/>
                  </a:solidFill>
                  <a:latin typeface="Yu Gothic"/>
                </a:endParaRPr>
              </a:p>
              <a:p>
                <a:pPr algn="ctr"/>
                <a:r>
                  <a:rPr lang="en-US" sz="3200" b="1" i="1" dirty="0">
                    <a:solidFill>
                      <a:srgbClr val="082B52"/>
                    </a:solidFill>
                    <a:latin typeface="Yu Gothic"/>
                  </a:rPr>
                  <a:t> </a:t>
                </a:r>
                <a:endParaRPr sz="3200" b="1" i="1" dirty="0">
                  <a:solidFill>
                    <a:srgbClr val="082B52"/>
                  </a:solidFill>
                  <a:latin typeface="Yu Gothic"/>
                </a:endParaRPr>
              </a:p>
            </p:txBody>
          </p:sp>
        </mc:Choice>
        <mc:Fallback xmlns="">
          <p:sp>
            <p:nvSpPr>
              <p:cNvPr id="33" name="TextBox 9">
                <a:extLst>
                  <a:ext uri="{FF2B5EF4-FFF2-40B4-BE49-F238E27FC236}">
                    <a16:creationId xmlns:a16="http://schemas.microsoft.com/office/drawing/2014/main" id="{C6979E3C-0BB9-6EF7-CE62-35CD169FE964}"/>
                  </a:ext>
                </a:extLst>
              </p:cNvPr>
              <p:cNvSpPr txBox="1">
                <a:spLocks noRot="1" noChangeAspect="1" noMove="1" noResize="1" noEditPoints="1" noAdjustHandles="1" noChangeArrowheads="1" noChangeShapeType="1" noTextEdit="1"/>
              </p:cNvSpPr>
              <p:nvPr/>
            </p:nvSpPr>
            <p:spPr>
              <a:xfrm>
                <a:off x="17297234" y="7976871"/>
                <a:ext cx="4259051" cy="1577804"/>
              </a:xfrm>
              <a:prstGeom prst="rect">
                <a:avLst/>
              </a:prstGeom>
              <a:blipFill>
                <a:blip r:embed="rId6"/>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9185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Thermo-structural analysis</a:t>
            </a:r>
          </a:p>
        </p:txBody>
      </p:sp>
      <p:sp>
        <p:nvSpPr>
          <p:cNvPr id="3" name="TextBox 2"/>
          <p:cNvSpPr txBox="1"/>
          <p:nvPr/>
        </p:nvSpPr>
        <p:spPr>
          <a:xfrm>
            <a:off x="1536192" y="1298448"/>
            <a:ext cx="12856212"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sz="3200" b="1" dirty="0">
                <a:solidFill>
                  <a:srgbClr val="082B52"/>
                </a:solidFill>
                <a:latin typeface="Yu Gothic"/>
              </a:rPr>
              <a:t>21ケースで太陽</a:t>
            </a:r>
            <a:r>
              <a:rPr lang="ja-JP" altLang="en-US" sz="3200" b="1" dirty="0">
                <a:solidFill>
                  <a:srgbClr val="082B52"/>
                </a:solidFill>
                <a:latin typeface="Yu Gothic"/>
              </a:rPr>
              <a:t>指向</a:t>
            </a:r>
            <a:r>
              <a:rPr sz="3200" b="1" dirty="0">
                <a:solidFill>
                  <a:srgbClr val="082B52"/>
                </a:solidFill>
                <a:latin typeface="Yu Gothic"/>
              </a:rPr>
              <a:t>面・</a:t>
            </a:r>
            <a:r>
              <a:rPr lang="ja-JP" altLang="en-US" sz="3200" b="1" dirty="0">
                <a:solidFill>
                  <a:srgbClr val="082B52"/>
                </a:solidFill>
                <a:latin typeface="Yu Gothic"/>
              </a:rPr>
              <a:t>内部</a:t>
            </a:r>
            <a:r>
              <a:rPr sz="3200" b="1" dirty="0" err="1">
                <a:solidFill>
                  <a:srgbClr val="082B52"/>
                </a:solidFill>
                <a:latin typeface="Yu Gothic"/>
              </a:rPr>
              <a:t>発熱</a:t>
            </a:r>
            <a:r>
              <a:rPr sz="3200" b="1" dirty="0">
                <a:solidFill>
                  <a:srgbClr val="082B52"/>
                </a:solidFill>
                <a:latin typeface="Yu Gothic"/>
              </a:rPr>
              <a:t>・</a:t>
            </a:r>
            <a:r>
              <a:rPr lang="ja-JP" altLang="en-US" sz="3200" b="1" dirty="0">
                <a:solidFill>
                  <a:srgbClr val="082B52"/>
                </a:solidFill>
                <a:latin typeface="Yu Gothic"/>
              </a:rPr>
              <a:t>表面特性</a:t>
            </a:r>
            <a:r>
              <a:rPr sz="3200" b="1" dirty="0">
                <a:solidFill>
                  <a:srgbClr val="082B52"/>
                </a:solidFill>
                <a:latin typeface="Yu Gothic"/>
              </a:rPr>
              <a:t>・</a:t>
            </a:r>
            <a:r>
              <a:rPr lang="ja-JP" altLang="en-US" sz="3200" b="1" dirty="0">
                <a:solidFill>
                  <a:srgbClr val="082B52"/>
                </a:solidFill>
                <a:latin typeface="Yu Gothic"/>
              </a:rPr>
              <a:t>軌道</a:t>
            </a:r>
            <a:r>
              <a:rPr sz="3200" b="1" dirty="0" err="1">
                <a:solidFill>
                  <a:srgbClr val="082B52"/>
                </a:solidFill>
                <a:latin typeface="Yu Gothic"/>
              </a:rPr>
              <a:t>を横断評価する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14</a:t>
            </a:r>
          </a:p>
        </p:txBody>
      </p:sp>
      <p:graphicFrame>
        <p:nvGraphicFramePr>
          <p:cNvPr id="5" name="Table 4"/>
          <p:cNvGraphicFramePr>
            <a:graphicFrameLocks noGrp="1"/>
          </p:cNvGraphicFramePr>
          <p:nvPr>
            <p:extLst>
              <p:ext uri="{D42A27DB-BD31-4B8C-83A1-F6EECF244321}">
                <p14:modId xmlns:p14="http://schemas.microsoft.com/office/powerpoint/2010/main" val="3051921897"/>
              </p:ext>
            </p:extLst>
          </p:nvPr>
        </p:nvGraphicFramePr>
        <p:xfrm>
          <a:off x="1097280" y="3665220"/>
          <a:ext cx="21945600" cy="704088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9235440">
                  <a:extLst>
                    <a:ext uri="{9D8B030D-6E8A-4147-A177-3AD203B41FA5}">
                      <a16:colId xmlns:a16="http://schemas.microsoft.com/office/drawing/2014/main" val="20001"/>
                    </a:ext>
                  </a:extLst>
                </a:gridCol>
                <a:gridCol w="8595360">
                  <a:extLst>
                    <a:ext uri="{9D8B030D-6E8A-4147-A177-3AD203B41FA5}">
                      <a16:colId xmlns:a16="http://schemas.microsoft.com/office/drawing/2014/main" val="20002"/>
                    </a:ext>
                  </a:extLst>
                </a:gridCol>
              </a:tblGrid>
              <a:tr h="1005840">
                <a:tc>
                  <a:txBody>
                    <a:bodyPr/>
                    <a:lstStyle/>
                    <a:p>
                      <a:pPr algn="l"/>
                      <a:r>
                        <a:rPr sz="2300" b="1">
                          <a:solidFill>
                            <a:srgbClr val="FFFFFF"/>
                          </a:solidFill>
                          <a:latin typeface="Yu Gothic"/>
                        </a:rPr>
                        <a:t>Varied factor</a:t>
                      </a:r>
                    </a:p>
                  </a:txBody>
                  <a:tcPr marL="64008" marR="64008" marT="27432" marB="27432" anchor="ctr">
                    <a:solidFill>
                      <a:srgbClr val="082B52"/>
                    </a:solidFill>
                  </a:tcPr>
                </a:tc>
                <a:tc>
                  <a:txBody>
                    <a:bodyPr/>
                    <a:lstStyle/>
                    <a:p>
                      <a:pPr algn="ctr"/>
                      <a:r>
                        <a:rPr sz="2300" b="1">
                          <a:solidFill>
                            <a:srgbClr val="FFFFFF"/>
                          </a:solidFill>
                          <a:latin typeface="Yu Gothic"/>
                        </a:rPr>
                        <a:t>Cases</a:t>
                      </a:r>
                    </a:p>
                  </a:txBody>
                  <a:tcPr marL="64008" marR="64008" marT="27432" marB="27432" anchor="ctr">
                    <a:solidFill>
                      <a:srgbClr val="082B52"/>
                    </a:solidFill>
                  </a:tcPr>
                </a:tc>
                <a:tc>
                  <a:txBody>
                    <a:bodyPr/>
                    <a:lstStyle/>
                    <a:p>
                      <a:pPr algn="ctr"/>
                      <a:r>
                        <a:rPr sz="2300" b="1">
                          <a:solidFill>
                            <a:srgbClr val="FFFFFF"/>
                          </a:solidFill>
                          <a:latin typeface="Yu Gothic"/>
                        </a:rPr>
                        <a:t>Purpose</a:t>
                      </a:r>
                    </a:p>
                  </a:txBody>
                  <a:tcPr marL="64008" marR="64008" marT="27432" marB="27432" anchor="ctr">
                    <a:solidFill>
                      <a:srgbClr val="082B52"/>
                    </a:solidFill>
                  </a:tcPr>
                </a:tc>
                <a:extLst>
                  <a:ext uri="{0D108BD9-81ED-4DB2-BD59-A6C34878D82A}">
                    <a16:rowId xmlns:a16="http://schemas.microsoft.com/office/drawing/2014/main" val="10000"/>
                  </a:ext>
                </a:extLst>
              </a:tr>
              <a:tr h="1005840">
                <a:tc>
                  <a:txBody>
                    <a:bodyPr/>
                    <a:lstStyle/>
                    <a:p>
                      <a:pPr algn="l"/>
                      <a:r>
                        <a:rPr sz="2300" b="0" dirty="0">
                          <a:solidFill>
                            <a:srgbClr val="232B34"/>
                          </a:solidFill>
                          <a:latin typeface="Yu Gothic"/>
                        </a:rPr>
                        <a:t>Sun face</a:t>
                      </a:r>
                      <a:r>
                        <a:rPr lang="ja-JP" altLang="en-US" sz="2300" b="0" dirty="0">
                          <a:solidFill>
                            <a:srgbClr val="232B34"/>
                          </a:solidFill>
                          <a:latin typeface="Yu Gothic"/>
                        </a:rPr>
                        <a:t> </a:t>
                      </a:r>
                      <a:endParaRPr sz="2300" b="0" dirty="0">
                        <a:solidFill>
                          <a:srgbClr val="232B34"/>
                        </a:solidFill>
                        <a:latin typeface="Yu Gothic"/>
                      </a:endParaRPr>
                    </a:p>
                  </a:txBody>
                  <a:tcPr marL="64008" marR="64008" marT="27432" marB="27432" anchor="ctr">
                    <a:solidFill>
                      <a:srgbClr val="FFFFFF"/>
                    </a:solidFill>
                  </a:tcPr>
                </a:tc>
                <a:tc>
                  <a:txBody>
                    <a:bodyPr/>
                    <a:lstStyle/>
                    <a:p>
                      <a:pPr algn="ctr"/>
                      <a:r>
                        <a:rPr sz="2300" b="0">
                          <a:solidFill>
                            <a:srgbClr val="232B34"/>
                          </a:solidFill>
                          <a:latin typeface="Yu Gothic"/>
                        </a:rPr>
                        <a:t>MX / MY / PX / PY</a:t>
                      </a:r>
                    </a:p>
                  </a:txBody>
                  <a:tcPr marL="64008" marR="64008" marT="27432" marB="27432" anchor="ctr">
                    <a:solidFill>
                      <a:srgbClr val="FFFFFF"/>
                    </a:solidFill>
                  </a:tcPr>
                </a:tc>
                <a:tc>
                  <a:txBody>
                    <a:bodyPr/>
                    <a:lstStyle/>
                    <a:p>
                      <a:pPr algn="ctr"/>
                      <a:r>
                        <a:rPr lang="ja-JP" altLang="ja-JP" sz="2400" dirty="0"/>
                        <a:t>太陽入射方向に対する支配軸・符号の変化を確認</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1005840">
                <a:tc>
                  <a:txBody>
                    <a:bodyPr/>
                    <a:lstStyle/>
                    <a:p>
                      <a:pPr algn="l"/>
                      <a:r>
                        <a:rPr sz="2300" b="0">
                          <a:solidFill>
                            <a:srgbClr val="232B34"/>
                          </a:solidFill>
                          <a:latin typeface="Yu Gothic"/>
                        </a:rPr>
                        <a:t>Power mode</a:t>
                      </a:r>
                    </a:p>
                  </a:txBody>
                  <a:tcPr marL="64008" marR="64008" marT="27432" marB="27432" anchor="ctr">
                    <a:solidFill>
                      <a:srgbClr val="F4F6F8"/>
                    </a:solidFill>
                  </a:tcPr>
                </a:tc>
                <a:tc>
                  <a:txBody>
                    <a:bodyPr/>
                    <a:lstStyle/>
                    <a:p>
                      <a:pPr algn="ctr"/>
                      <a:r>
                        <a:rPr sz="2300" b="0" dirty="0">
                          <a:solidFill>
                            <a:srgbClr val="232B34"/>
                          </a:solidFill>
                          <a:latin typeface="Yu Gothic"/>
                        </a:rPr>
                        <a:t>STTLCT / +PROP / +PCDU / ALL</a:t>
                      </a:r>
                    </a:p>
                  </a:txBody>
                  <a:tcPr marL="64008" marR="64008" marT="27432" marB="27432" anchor="ctr">
                    <a:solidFill>
                      <a:srgbClr val="F4F6F8"/>
                    </a:solidFill>
                  </a:tcPr>
                </a:tc>
                <a:tc>
                  <a:txBody>
                    <a:bodyPr/>
                    <a:lstStyle/>
                    <a:p>
                      <a:pPr algn="ctr"/>
                      <a:r>
                        <a:rPr lang="ja-JP" altLang="ja-JP" sz="2400" dirty="0"/>
                        <a:t>内部発熱配置が熱LOS</a:t>
                      </a:r>
                      <a:r>
                        <a:rPr lang="ja-JP" altLang="en-US" sz="2400" dirty="0"/>
                        <a:t>のバイアス</a:t>
                      </a:r>
                      <a:r>
                        <a:rPr lang="ja-JP" altLang="ja-JP" sz="2400" dirty="0"/>
                        <a:t>成分に与える影響を確認</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1005840">
                <a:tc>
                  <a:txBody>
                    <a:bodyPr/>
                    <a:lstStyle/>
                    <a:p>
                      <a:pPr algn="l"/>
                      <a:r>
                        <a:rPr sz="2300" b="0">
                          <a:solidFill>
                            <a:srgbClr val="232B34"/>
                          </a:solidFill>
                          <a:latin typeface="Yu Gothic"/>
                        </a:rPr>
                        <a:t>Coating</a:t>
                      </a:r>
                    </a:p>
                  </a:txBody>
                  <a:tcPr marL="64008" marR="64008" marT="27432" marB="27432" anchor="ctr">
                    <a:solidFill>
                      <a:srgbClr val="FFFFFF"/>
                    </a:solidFill>
                  </a:tcPr>
                </a:tc>
                <a:tc>
                  <a:txBody>
                    <a:bodyPr/>
                    <a:lstStyle/>
                    <a:p>
                      <a:pPr algn="ctr"/>
                      <a:r>
                        <a:rPr sz="2300" b="0" dirty="0">
                          <a:solidFill>
                            <a:srgbClr val="232B34"/>
                          </a:solidFill>
                          <a:latin typeface="Yu Gothic"/>
                        </a:rPr>
                        <a:t>0.5 / Black / Alodine</a:t>
                      </a:r>
                    </a:p>
                  </a:txBody>
                  <a:tcPr marL="64008" marR="64008" marT="27432" marB="27432" anchor="ctr">
                    <a:solidFill>
                      <a:srgbClr val="FFFFFF"/>
                    </a:solidFill>
                  </a:tcPr>
                </a:tc>
                <a:tc>
                  <a:txBody>
                    <a:bodyPr/>
                    <a:lstStyle/>
                    <a:p>
                      <a:pPr algn="ctr"/>
                      <a:r>
                        <a:rPr lang="ja-JP" altLang="ja-JP" sz="2400" dirty="0"/>
                        <a:t>表面特性による熱応答振幅・定常レベルの変化を確認</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1005840">
                <a:tc>
                  <a:txBody>
                    <a:bodyPr/>
                    <a:lstStyle/>
                    <a:p>
                      <a:pPr algn="l"/>
                      <a:r>
                        <a:rPr sz="2300" b="0" dirty="0">
                          <a:solidFill>
                            <a:srgbClr val="232B34"/>
                          </a:solidFill>
                          <a:latin typeface="Yu Gothic"/>
                        </a:rPr>
                        <a:t>Environment</a:t>
                      </a:r>
                    </a:p>
                  </a:txBody>
                  <a:tcPr marL="64008" marR="64008" marT="27432" marB="27432" anchor="ctr">
                    <a:solidFill>
                      <a:srgbClr val="F4F6F8"/>
                    </a:solidFill>
                  </a:tcPr>
                </a:tc>
                <a:tc>
                  <a:txBody>
                    <a:bodyPr/>
                    <a:lstStyle/>
                    <a:p>
                      <a:pPr algn="ctr"/>
                      <a:r>
                        <a:rPr lang="ja-JP" altLang="en-US" sz="2300" b="0" dirty="0">
                          <a:solidFill>
                            <a:srgbClr val="232B34"/>
                          </a:solidFill>
                          <a:latin typeface="Yu Gothic"/>
                        </a:rPr>
                        <a:t>蝕あり</a:t>
                      </a:r>
                      <a:r>
                        <a:rPr sz="2300" b="0" dirty="0">
                          <a:solidFill>
                            <a:srgbClr val="232B34"/>
                          </a:solidFill>
                          <a:latin typeface="Yu Gothic"/>
                        </a:rPr>
                        <a:t> / </a:t>
                      </a:r>
                      <a:r>
                        <a:rPr lang="ja-JP" altLang="en-US" sz="2300" b="0" dirty="0">
                          <a:solidFill>
                            <a:srgbClr val="232B34"/>
                          </a:solidFill>
                          <a:latin typeface="Yu Gothic"/>
                        </a:rPr>
                        <a:t>全日照</a:t>
                      </a:r>
                      <a:endParaRPr sz="2300" b="0" dirty="0">
                        <a:solidFill>
                          <a:srgbClr val="232B34"/>
                        </a:solidFill>
                        <a:latin typeface="Yu Gothic"/>
                      </a:endParaRPr>
                    </a:p>
                  </a:txBody>
                  <a:tcPr marL="64008" marR="64008" marT="27432" marB="27432" anchor="ctr">
                    <a:solidFill>
                      <a:srgbClr val="F4F6F8"/>
                    </a:solidFill>
                  </a:tcPr>
                </a:tc>
                <a:tc>
                  <a:txBody>
                    <a:bodyPr/>
                    <a:lstStyle/>
                    <a:p>
                      <a:pPr algn="ctr"/>
                      <a:r>
                        <a:rPr lang="ja-JP" altLang="ja-JP" sz="2400" dirty="0"/>
                        <a:t>熱環境レベルによるケース間</a:t>
                      </a:r>
                      <a:r>
                        <a:rPr lang="ja-JP" altLang="en-US" sz="2400" dirty="0"/>
                        <a:t>バイアス</a:t>
                      </a:r>
                      <a:r>
                        <a:rPr lang="ja-JP" altLang="ja-JP" sz="2400" dirty="0"/>
                        <a:t>変動を確認</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r h="1005840">
                <a:tc>
                  <a:txBody>
                    <a:bodyPr/>
                    <a:lstStyle/>
                    <a:p>
                      <a:pPr algn="l"/>
                      <a:r>
                        <a:rPr sz="2300" b="0" dirty="0">
                          <a:solidFill>
                            <a:srgbClr val="232B34"/>
                          </a:solidFill>
                          <a:latin typeface="Yu Gothic"/>
                        </a:rPr>
                        <a:t>Power level</a:t>
                      </a:r>
                    </a:p>
                  </a:txBody>
                  <a:tcPr marL="64008" marR="64008" marT="27432" marB="27432" anchor="ctr">
                    <a:solidFill>
                      <a:srgbClr val="FFFFFF"/>
                    </a:solidFill>
                  </a:tcPr>
                </a:tc>
                <a:tc>
                  <a:txBody>
                    <a:bodyPr/>
                    <a:lstStyle/>
                    <a:p>
                      <a:pPr algn="ctr"/>
                      <a:r>
                        <a:rPr sz="2300" b="0" dirty="0">
                          <a:solidFill>
                            <a:srgbClr val="232B34"/>
                          </a:solidFill>
                          <a:latin typeface="Yu Gothic"/>
                        </a:rPr>
                        <a:t>PROP 25 / 12.5 W</a:t>
                      </a:r>
                    </a:p>
                  </a:txBody>
                  <a:tcPr marL="64008" marR="64008" marT="27432" marB="27432" anchor="ctr">
                    <a:solidFill>
                      <a:srgbClr val="FFFFFF"/>
                    </a:solidFill>
                  </a:tcPr>
                </a:tc>
                <a:tc>
                  <a:txBody>
                    <a:bodyPr/>
                    <a:lstStyle/>
                    <a:p>
                      <a:pPr algn="ctr"/>
                      <a:r>
                        <a:rPr lang="ja-JP" altLang="ja-JP" sz="2400" dirty="0"/>
                        <a:t>ON/OFF近似が部分負荷時にも成立するか確認</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5"/>
                  </a:ext>
                </a:extLst>
              </a:tr>
              <a:tr h="1005840">
                <a:tc>
                  <a:txBody>
                    <a:bodyPr/>
                    <a:lstStyle/>
                    <a:p>
                      <a:pPr algn="l"/>
                      <a:r>
                        <a:rPr sz="2300" b="0">
                          <a:solidFill>
                            <a:srgbClr val="232B34"/>
                          </a:solidFill>
                          <a:latin typeface="Yu Gothic"/>
                        </a:rPr>
                        <a:t>Orbit</a:t>
                      </a:r>
                    </a:p>
                  </a:txBody>
                  <a:tcPr marL="64008" marR="64008" marT="27432" marB="27432" anchor="ctr">
                    <a:solidFill>
                      <a:srgbClr val="F4F6F8"/>
                    </a:solidFill>
                  </a:tcPr>
                </a:tc>
                <a:tc>
                  <a:txBody>
                    <a:bodyPr/>
                    <a:lstStyle/>
                    <a:p>
                      <a:pPr algn="ctr"/>
                      <a:r>
                        <a:rPr sz="2300" b="0">
                          <a:solidFill>
                            <a:srgbClr val="232B34"/>
                          </a:solidFill>
                          <a:latin typeface="Yu Gothic"/>
                        </a:rPr>
                        <a:t>LTAN06 / LTAN18</a:t>
                      </a:r>
                    </a:p>
                  </a:txBody>
                  <a:tcPr marL="64008" marR="64008" marT="27432" marB="27432" anchor="ctr">
                    <a:solidFill>
                      <a:srgbClr val="F4F6F8"/>
                    </a:solidFill>
                  </a:tcPr>
                </a:tc>
                <a:tc>
                  <a:txBody>
                    <a:bodyPr/>
                    <a:lstStyle/>
                    <a:p>
                      <a:pPr algn="ctr"/>
                      <a:r>
                        <a:rPr lang="ja-JP" altLang="ja-JP" sz="2400" dirty="0"/>
                        <a:t>軌道条件・熱履歴に対するモデルの適用性を確認</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4785972" y="12032587"/>
            <a:ext cx="14568220" cy="455509"/>
          </a:xfrm>
          <a:prstGeom prst="rect">
            <a:avLst/>
          </a:prstGeom>
          <a:noFill/>
        </p:spPr>
        <p:txBody>
          <a:bodyPr wrap="none" lIns="36576" tIns="27432" rIns="36576" bIns="27432" anchor="t">
            <a:spAutoFit/>
          </a:bodyPr>
          <a:lstStyle/>
          <a:p>
            <a:pPr algn="ctr"/>
            <a:r>
              <a:rPr lang="en-US" altLang="ja-JP" sz="2600" b="1" dirty="0">
                <a:solidFill>
                  <a:srgbClr val="D03B46"/>
                </a:solidFill>
                <a:latin typeface="Yu Gothic"/>
              </a:rPr>
              <a:t>※ Sun face</a:t>
            </a:r>
            <a:r>
              <a:rPr lang="ja-JP" altLang="en-US" sz="2600" b="1" dirty="0">
                <a:solidFill>
                  <a:srgbClr val="D03B46"/>
                </a:solidFill>
                <a:latin typeface="Yu Gothic"/>
              </a:rPr>
              <a:t>に関して、</a:t>
            </a:r>
            <a:r>
              <a:rPr lang="en-US" altLang="ja-JP" sz="2600" b="1" dirty="0">
                <a:solidFill>
                  <a:srgbClr val="D03B46"/>
                </a:solidFill>
                <a:latin typeface="Yu Gothic"/>
              </a:rPr>
              <a:t>PZ/MZ</a:t>
            </a:r>
            <a:r>
              <a:rPr lang="ja-JP" altLang="en-US" sz="2600" b="1" dirty="0">
                <a:solidFill>
                  <a:srgbClr val="D03B46"/>
                </a:solidFill>
                <a:latin typeface="Yu Gothic"/>
              </a:rPr>
              <a:t>太陽指向は</a:t>
            </a:r>
            <a:r>
              <a:rPr lang="en-US" altLang="ja-JP" sz="2600" b="1" dirty="0">
                <a:solidFill>
                  <a:srgbClr val="D03B46"/>
                </a:solidFill>
                <a:latin typeface="Yu Gothic"/>
              </a:rPr>
              <a:t>LCT/STT</a:t>
            </a:r>
            <a:r>
              <a:rPr lang="ja-JP" altLang="en-US" sz="2600" b="1" dirty="0">
                <a:solidFill>
                  <a:srgbClr val="D03B46"/>
                </a:solidFill>
                <a:latin typeface="Yu Gothic"/>
              </a:rPr>
              <a:t>がいる面に太陽が当たることはないので除外</a:t>
            </a:r>
            <a:endParaRPr sz="2600" b="1" dirty="0">
              <a:solidFill>
                <a:srgbClr val="D03B46"/>
              </a:solidFill>
              <a:latin typeface="Yu Gothic"/>
            </a:endParaRPr>
          </a:p>
        </p:txBody>
      </p:sp>
      <p:sp>
        <p:nvSpPr>
          <p:cNvPr id="9" name="テキスト ボックス 8">
            <a:extLst>
              <a:ext uri="{FF2B5EF4-FFF2-40B4-BE49-F238E27FC236}">
                <a16:creationId xmlns:a16="http://schemas.microsoft.com/office/drawing/2014/main" id="{E6ED6B3C-14BA-01A2-9F51-A8D5EC699EB3}"/>
              </a:ext>
            </a:extLst>
          </p:cNvPr>
          <p:cNvSpPr txBox="1"/>
          <p:nvPr/>
        </p:nvSpPr>
        <p:spPr>
          <a:xfrm>
            <a:off x="10195444" y="3134017"/>
            <a:ext cx="4720705" cy="523220"/>
          </a:xfrm>
          <a:prstGeom prst="rect">
            <a:avLst/>
          </a:prstGeom>
          <a:noFill/>
        </p:spPr>
        <p:txBody>
          <a:bodyPr wrap="square" rtlCol="0">
            <a:spAutoFit/>
          </a:bodyPr>
          <a:lstStyle/>
          <a:p>
            <a:r>
              <a:rPr kumimoji="1" lang="ja-JP" altLang="en-US" sz="2800" dirty="0"/>
              <a:t>ケースで振るパラメータ</a:t>
            </a:r>
          </a:p>
        </p:txBody>
      </p:sp>
      <p:sp>
        <p:nvSpPr>
          <p:cNvPr id="8" name="テキスト ボックス 7">
            <a:extLst>
              <a:ext uri="{FF2B5EF4-FFF2-40B4-BE49-F238E27FC236}">
                <a16:creationId xmlns:a16="http://schemas.microsoft.com/office/drawing/2014/main" id="{0AC4617C-2815-B184-BC66-3329ECE07557}"/>
              </a:ext>
            </a:extLst>
          </p:cNvPr>
          <p:cNvSpPr txBox="1"/>
          <p:nvPr/>
        </p:nvSpPr>
        <p:spPr>
          <a:xfrm>
            <a:off x="1097280" y="10957167"/>
            <a:ext cx="5571996" cy="2246769"/>
          </a:xfrm>
          <a:prstGeom prst="rect">
            <a:avLst/>
          </a:prstGeom>
          <a:noFill/>
        </p:spPr>
        <p:txBody>
          <a:bodyPr wrap="square">
            <a:spAutoFit/>
          </a:bodyPr>
          <a:lstStyle/>
          <a:p>
            <a:r>
              <a:rPr lang="en-US" altLang="ja-JP" sz="2800" dirty="0">
                <a:solidFill>
                  <a:schemeClr val="tx2">
                    <a:lumMod val="50000"/>
                  </a:schemeClr>
                </a:solidFill>
                <a:hlinkClick r:id="rId3">
                  <a:extLst>
                    <a:ext uri="{A12FA001-AC4F-418D-AE19-62706E023703}">
                      <ahyp:hlinkClr xmlns:ahyp="http://schemas.microsoft.com/office/drawing/2018/hyperlinkcolor" val="tx"/>
                    </a:ext>
                  </a:extLst>
                </a:hlinkClick>
              </a:rPr>
              <a:t>&lt;case, orbit</a:t>
            </a:r>
            <a:r>
              <a:rPr lang="ja-JP" altLang="en-US" sz="2800" dirty="0">
                <a:solidFill>
                  <a:schemeClr val="tx2">
                    <a:lumMod val="50000"/>
                  </a:schemeClr>
                </a:solidFill>
                <a:hlinkClick r:id="rId3">
                  <a:extLst>
                    <a:ext uri="{A12FA001-AC4F-418D-AE19-62706E023703}">
                      <ahyp:hlinkClr xmlns:ahyp="http://schemas.microsoft.com/office/drawing/2018/hyperlinkcolor" val="tx"/>
                    </a:ext>
                  </a:extLst>
                </a:hlinkClick>
              </a:rPr>
              <a:t>の記述先</a:t>
            </a:r>
            <a:r>
              <a:rPr lang="en-US" altLang="ja-JP" sz="2800" dirty="0">
                <a:solidFill>
                  <a:schemeClr val="tx2">
                    <a:lumMod val="50000"/>
                  </a:schemeClr>
                </a:solidFill>
                <a:hlinkClick r:id="rId3">
                  <a:extLst>
                    <a:ext uri="{A12FA001-AC4F-418D-AE19-62706E023703}">
                      <ahyp:hlinkClr xmlns:ahyp="http://schemas.microsoft.com/office/drawing/2018/hyperlinkcolor" val="tx"/>
                    </a:ext>
                  </a:extLst>
                </a:hlinkClick>
              </a:rPr>
              <a:t>&gt;</a:t>
            </a:r>
          </a:p>
          <a:p>
            <a:r>
              <a:rPr lang="en-US" altLang="ja-JP" sz="2800" dirty="0">
                <a:solidFill>
                  <a:srgbClr val="467886"/>
                </a:solidFill>
                <a:hlinkClick r:id="rId3">
                  <a:extLst>
                    <a:ext uri="{A12FA001-AC4F-418D-AE19-62706E023703}">
                      <ahyp:hlinkClr xmlns:ahyp="http://schemas.microsoft.com/office/drawing/2018/hyperlinkcolor" val="tx"/>
                    </a:ext>
                  </a:extLst>
                </a:hlinkClick>
              </a:rPr>
              <a:t>Case matrix</a:t>
            </a:r>
            <a:endParaRPr lang="en-US" altLang="ja-JP" sz="2800" dirty="0"/>
          </a:p>
          <a:p>
            <a:r>
              <a:rPr lang="en-US" altLang="ja-JP" sz="2800" dirty="0">
                <a:hlinkClick r:id="rId4"/>
              </a:rPr>
              <a:t>Orbit matrix</a:t>
            </a:r>
            <a:endParaRPr lang="en-US" altLang="ja-JP" sz="2800" dirty="0"/>
          </a:p>
          <a:p>
            <a:endParaRPr lang="en-US" altLang="ja-JP" sz="2800" dirty="0"/>
          </a:p>
          <a:p>
            <a:endParaRPr lang="ja-JP" altLang="en-US" sz="2800" dirty="0"/>
          </a:p>
        </p:txBody>
      </p:sp>
    </p:spTree>
    <p:extLst>
      <p:ext uri="{BB962C8B-B14F-4D97-AF65-F5344CB8AC3E}">
        <p14:creationId xmlns:p14="http://schemas.microsoft.com/office/powerpoint/2010/main" val="2385323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Thermo-structural analysis</a:t>
            </a:r>
          </a:p>
        </p:txBody>
      </p:sp>
      <p:sp>
        <p:nvSpPr>
          <p:cNvPr id="3" name="TextBox 2"/>
          <p:cNvSpPr txBox="1"/>
          <p:nvPr/>
        </p:nvSpPr>
        <p:spPr>
          <a:xfrm>
            <a:off x="1536192" y="1298448"/>
            <a:ext cx="16412057"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解析管理の工夫：</a:t>
            </a:r>
            <a:r>
              <a:rPr lang="ja-JP" altLang="ja-JP" sz="3200" b="1" dirty="0"/>
              <a:t>全解析条件をmatrixで一元定義し、共通case IDでAPI処理を自動化する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15</a:t>
            </a:r>
          </a:p>
        </p:txBody>
      </p:sp>
      <p:sp>
        <p:nvSpPr>
          <p:cNvPr id="5" name="Rectangle 4"/>
          <p:cNvSpPr/>
          <p:nvPr/>
        </p:nvSpPr>
        <p:spPr>
          <a:xfrm>
            <a:off x="914400" y="3684836"/>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54240" y="3951190"/>
            <a:ext cx="2364558" cy="701731"/>
          </a:xfrm>
          <a:prstGeom prst="rect">
            <a:avLst/>
          </a:prstGeom>
          <a:noFill/>
        </p:spPr>
        <p:txBody>
          <a:bodyPr wrap="none" lIns="36576" tIns="27432" rIns="36576" bIns="27432" anchor="ctr">
            <a:spAutoFit/>
          </a:bodyPr>
          <a:lstStyle/>
          <a:p>
            <a:pPr algn="ctr"/>
            <a:r>
              <a:rPr sz="2100" b="1" dirty="0">
                <a:solidFill>
                  <a:srgbClr val="FFFFFF"/>
                </a:solidFill>
                <a:latin typeface="Yu Gothic"/>
              </a:rPr>
              <a:t>case_matrix.xlsx
orbit_catalog</a:t>
            </a:r>
            <a:r>
              <a:rPr lang="en-US" sz="2100" b="1" dirty="0">
                <a:solidFill>
                  <a:srgbClr val="FFFFFF"/>
                </a:solidFill>
                <a:latin typeface="Yu Gothic"/>
              </a:rPr>
              <a:t>.xlsx</a:t>
            </a:r>
            <a:endParaRPr sz="2100" b="1" dirty="0">
              <a:solidFill>
                <a:srgbClr val="FFFFFF"/>
              </a:solidFill>
              <a:latin typeface="Yu Gothic"/>
            </a:endParaRPr>
          </a:p>
        </p:txBody>
      </p:sp>
      <p:cxnSp>
        <p:nvCxnSpPr>
          <p:cNvPr id="7" name="Connector 6"/>
          <p:cNvCxnSpPr/>
          <p:nvPr/>
        </p:nvCxnSpPr>
        <p:spPr>
          <a:xfrm>
            <a:off x="4413503" y="4302056"/>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742688" y="3684836"/>
            <a:ext cx="3444239" cy="123444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25434" y="3951190"/>
            <a:ext cx="2678747" cy="701731"/>
          </a:xfrm>
          <a:prstGeom prst="rect">
            <a:avLst/>
          </a:prstGeom>
          <a:noFill/>
        </p:spPr>
        <p:txBody>
          <a:bodyPr wrap="none" lIns="36576" tIns="27432" rIns="36576" bIns="27432" anchor="ctr">
            <a:spAutoFit/>
          </a:bodyPr>
          <a:lstStyle/>
          <a:p>
            <a:pPr algn="ctr"/>
            <a:r>
              <a:rPr sz="2100" b="1" dirty="0">
                <a:solidFill>
                  <a:srgbClr val="FFFFFF"/>
                </a:solidFill>
                <a:latin typeface="Yu Gothic"/>
              </a:rPr>
              <a:t>TD temperature
LOGIC_SUN</a:t>
            </a:r>
            <a:r>
              <a:rPr lang="en-US" sz="2100" b="1" dirty="0">
                <a:solidFill>
                  <a:srgbClr val="FFFFFF"/>
                </a:solidFill>
                <a:latin typeface="Yu Gothic"/>
              </a:rPr>
              <a:t> symbol</a:t>
            </a:r>
            <a:endParaRPr sz="2100" b="1" dirty="0">
              <a:solidFill>
                <a:srgbClr val="FFFFFF"/>
              </a:solidFill>
              <a:latin typeface="Yu Gothic"/>
            </a:endParaRPr>
          </a:p>
        </p:txBody>
      </p:sp>
      <p:cxnSp>
        <p:nvCxnSpPr>
          <p:cNvPr id="10" name="Connector 9"/>
          <p:cNvCxnSpPr/>
          <p:nvPr/>
        </p:nvCxnSpPr>
        <p:spPr>
          <a:xfrm>
            <a:off x="8241792" y="4302056"/>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570976" y="3684836"/>
            <a:ext cx="3444239"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4128" y="3794564"/>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mapper
output.dat</a:t>
            </a:r>
          </a:p>
        </p:txBody>
      </p:sp>
      <p:cxnSp>
        <p:nvCxnSpPr>
          <p:cNvPr id="13" name="Connector 12"/>
          <p:cNvCxnSpPr/>
          <p:nvPr/>
        </p:nvCxnSpPr>
        <p:spPr>
          <a:xfrm>
            <a:off x="12070080" y="4302056"/>
            <a:ext cx="274319"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2399263" y="3684836"/>
            <a:ext cx="3444239"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275734" y="3951190"/>
            <a:ext cx="1691297" cy="701731"/>
          </a:xfrm>
          <a:prstGeom prst="rect">
            <a:avLst/>
          </a:prstGeom>
          <a:noFill/>
        </p:spPr>
        <p:txBody>
          <a:bodyPr wrap="none" lIns="36576" tIns="27432" rIns="36576" bIns="27432" anchor="ctr">
            <a:spAutoFit/>
          </a:bodyPr>
          <a:lstStyle/>
          <a:p>
            <a:pPr algn="ctr"/>
            <a:r>
              <a:rPr sz="2100" b="1" dirty="0">
                <a:solidFill>
                  <a:srgbClr val="FFFFFF"/>
                </a:solidFill>
                <a:latin typeface="Yu Gothic"/>
              </a:rPr>
              <a:t>Femap
rotation</a:t>
            </a:r>
            <a:r>
              <a:rPr lang="en-US" sz="2100" b="1" dirty="0">
                <a:solidFill>
                  <a:srgbClr val="FFFFFF"/>
                </a:solidFill>
                <a:latin typeface="Yu Gothic"/>
              </a:rPr>
              <a:t>.xlsx</a:t>
            </a:r>
            <a:endParaRPr sz="2100" b="1" dirty="0">
              <a:solidFill>
                <a:srgbClr val="FFFFFF"/>
              </a:solidFill>
              <a:latin typeface="Yu Gothic"/>
            </a:endParaRPr>
          </a:p>
        </p:txBody>
      </p:sp>
      <p:cxnSp>
        <p:nvCxnSpPr>
          <p:cNvPr id="16" name="Connector 15"/>
          <p:cNvCxnSpPr/>
          <p:nvPr/>
        </p:nvCxnSpPr>
        <p:spPr>
          <a:xfrm>
            <a:off x="15898367" y="4302056"/>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227552" y="3684836"/>
            <a:ext cx="3444239"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967767" y="3951190"/>
            <a:ext cx="1963807" cy="701731"/>
          </a:xfrm>
          <a:prstGeom prst="rect">
            <a:avLst/>
          </a:prstGeom>
          <a:noFill/>
        </p:spPr>
        <p:txBody>
          <a:bodyPr wrap="none" lIns="36576" tIns="27432" rIns="36576" bIns="27432" anchor="ctr">
            <a:spAutoFit/>
          </a:bodyPr>
          <a:lstStyle/>
          <a:p>
            <a:pPr algn="ctr"/>
            <a:r>
              <a:rPr lang="en-US" sz="2100" b="1" dirty="0">
                <a:solidFill>
                  <a:srgbClr val="FFFFFF"/>
                </a:solidFill>
                <a:latin typeface="Yu Gothic"/>
              </a:rPr>
              <a:t>LOS Angle</a:t>
            </a:r>
          </a:p>
          <a:p>
            <a:pPr algn="ctr"/>
            <a:r>
              <a:rPr sz="2100" b="1" dirty="0">
                <a:solidFill>
                  <a:srgbClr val="FFFFFF"/>
                </a:solidFill>
                <a:latin typeface="Yu Gothic"/>
              </a:rPr>
              <a:t>los_angles.csv</a:t>
            </a:r>
          </a:p>
        </p:txBody>
      </p:sp>
      <p:cxnSp>
        <p:nvCxnSpPr>
          <p:cNvPr id="19" name="Connector 18"/>
          <p:cNvCxnSpPr/>
          <p:nvPr/>
        </p:nvCxnSpPr>
        <p:spPr>
          <a:xfrm>
            <a:off x="19726655" y="4302056"/>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0055840" y="3684836"/>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990821" y="3951190"/>
            <a:ext cx="1574277" cy="701731"/>
          </a:xfrm>
          <a:prstGeom prst="rect">
            <a:avLst/>
          </a:prstGeom>
          <a:noFill/>
        </p:spPr>
        <p:txBody>
          <a:bodyPr wrap="none" lIns="36576" tIns="27432" rIns="36576" bIns="27432" anchor="ctr">
            <a:spAutoFit/>
          </a:bodyPr>
          <a:lstStyle/>
          <a:p>
            <a:pPr algn="ctr"/>
            <a:r>
              <a:rPr sz="2100" b="1" dirty="0">
                <a:solidFill>
                  <a:srgbClr val="FFFFFF"/>
                </a:solidFill>
                <a:latin typeface="Yu Gothic"/>
              </a:rPr>
              <a:t>lightweight
dataset</a:t>
            </a:r>
            <a:r>
              <a:rPr lang="en-US" sz="2100" b="1" dirty="0">
                <a:solidFill>
                  <a:srgbClr val="FFFFFF"/>
                </a:solidFill>
                <a:latin typeface="Yu Gothic"/>
              </a:rPr>
              <a:t>.csv</a:t>
            </a:r>
            <a:endParaRPr sz="2100" b="1" dirty="0">
              <a:solidFill>
                <a:srgbClr val="FFFFFF"/>
              </a:solidFill>
              <a:latin typeface="Yu Gothic"/>
            </a:endParaRPr>
          </a:p>
        </p:txBody>
      </p:sp>
      <p:sp>
        <p:nvSpPr>
          <p:cNvPr id="22" name="Rounded Rectangle 21"/>
          <p:cNvSpPr/>
          <p:nvPr/>
        </p:nvSpPr>
        <p:spPr>
          <a:xfrm>
            <a:off x="1188720" y="6044280"/>
            <a:ext cx="12896931" cy="4954531"/>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726590" y="6265379"/>
            <a:ext cx="4382738" cy="486287"/>
          </a:xfrm>
          <a:prstGeom prst="rect">
            <a:avLst/>
          </a:prstGeom>
          <a:noFill/>
        </p:spPr>
        <p:txBody>
          <a:bodyPr wrap="none" lIns="36576" tIns="27432" rIns="36576" bIns="27432" anchor="t">
            <a:spAutoFit/>
          </a:bodyPr>
          <a:lstStyle/>
          <a:p>
            <a:r>
              <a:rPr lang="ja-JP" altLang="ja-JP" sz="2800" b="1" dirty="0"/>
              <a:t>条件管理・自動化・再現性</a:t>
            </a:r>
            <a:endParaRPr sz="2700" b="1" dirty="0">
              <a:solidFill>
                <a:srgbClr val="082B52"/>
              </a:solidFill>
              <a:latin typeface="Yu Gothic"/>
            </a:endParaRPr>
          </a:p>
        </p:txBody>
      </p:sp>
      <p:sp>
        <p:nvSpPr>
          <p:cNvPr id="24" name="TextBox 23"/>
          <p:cNvSpPr txBox="1"/>
          <p:nvPr/>
        </p:nvSpPr>
        <p:spPr>
          <a:xfrm>
            <a:off x="1728214" y="7017628"/>
            <a:ext cx="12221250" cy="4257576"/>
          </a:xfrm>
          <a:prstGeom prst="rect">
            <a:avLst/>
          </a:prstGeom>
          <a:noFill/>
        </p:spPr>
        <p:txBody>
          <a:bodyPr wrap="square" lIns="27432" rIns="27432">
            <a:spAutoFit/>
          </a:bodyPr>
          <a:lstStyle/>
          <a:p>
            <a:pPr>
              <a:spcAft>
                <a:spcPts val="800"/>
              </a:spcAft>
            </a:pPr>
            <a:r>
              <a:rPr sz="2800" b="1" dirty="0">
                <a:solidFill>
                  <a:srgbClr val="1B74AA"/>
                </a:solidFill>
                <a:latin typeface="Yu Gothic"/>
              </a:rPr>
              <a:t>• </a:t>
            </a:r>
            <a:r>
              <a:rPr lang="ja-JP" altLang="en-US" sz="2800" dirty="0"/>
              <a:t>最上流の</a:t>
            </a:r>
            <a:r>
              <a:rPr lang="en-US" altLang="ja-JP" sz="2800" dirty="0"/>
              <a:t>c</a:t>
            </a:r>
            <a:r>
              <a:rPr lang="ja-JP" altLang="ja-JP" sz="2800" dirty="0"/>
              <a:t>ase matrixに姿勢・発熱・表面特性などを集約</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en-US" sz="2800" dirty="0"/>
              <a:t>同じく最上流の</a:t>
            </a:r>
            <a:r>
              <a:rPr lang="en-US" altLang="ja-JP" sz="2800" dirty="0"/>
              <a:t>orbit catalog</a:t>
            </a:r>
            <a:r>
              <a:rPr lang="ja-JP" altLang="en-US" sz="2800" dirty="0"/>
              <a:t>に軌道条件を集約</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en-US" sz="2800" dirty="0"/>
              <a:t>両</a:t>
            </a:r>
            <a:r>
              <a:rPr lang="en-US" altLang="ja-JP" sz="2800" dirty="0"/>
              <a:t>matrix</a:t>
            </a:r>
            <a:r>
              <a:rPr lang="ja-JP" altLang="en-US" sz="2800" dirty="0"/>
              <a:t>から各解析ケースとケース名（</a:t>
            </a:r>
            <a:r>
              <a:rPr lang="en-US" altLang="ja-JP" sz="2800" dirty="0"/>
              <a:t>case ID</a:t>
            </a:r>
            <a:r>
              <a:rPr lang="ja-JP" altLang="en-US" sz="2800" dirty="0"/>
              <a:t>）を定義</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en-US" sz="2800" dirty="0"/>
              <a:t>各ソフトの生成ファイル群は、</a:t>
            </a:r>
            <a:r>
              <a:rPr lang="en-US" altLang="ja-JP" sz="2800" dirty="0"/>
              <a:t>case ID</a:t>
            </a:r>
            <a:r>
              <a:rPr lang="ja-JP" altLang="en-US" sz="2800" dirty="0"/>
              <a:t>でフォルダ分けして一括管理</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en-US" sz="2800" dirty="0"/>
              <a:t>共通の</a:t>
            </a:r>
            <a:r>
              <a:rPr lang="en-US" altLang="ja-JP" sz="2800" dirty="0"/>
              <a:t>case ID</a:t>
            </a:r>
            <a:r>
              <a:rPr lang="ja-JP" altLang="en-US" sz="2800" dirty="0"/>
              <a:t>で</a:t>
            </a:r>
            <a:r>
              <a:rPr lang="en-US" altLang="ja-JP" sz="2800" dirty="0"/>
              <a:t>TD</a:t>
            </a:r>
            <a:r>
              <a:rPr lang="ja-JP" altLang="en-US" sz="2800" dirty="0"/>
              <a:t>・</a:t>
            </a:r>
            <a:r>
              <a:rPr lang="en-US" altLang="ja-JP" sz="2800" dirty="0"/>
              <a:t>Femap</a:t>
            </a:r>
            <a:r>
              <a:rPr lang="ja-JP" altLang="en-US" sz="2800" dirty="0"/>
              <a:t>・</a:t>
            </a:r>
            <a:r>
              <a:rPr lang="en-US" altLang="ja-JP" sz="2800" dirty="0"/>
              <a:t>LOS</a:t>
            </a:r>
            <a:r>
              <a:rPr lang="ja-JP" altLang="en-US" sz="2800" dirty="0"/>
              <a:t>・</a:t>
            </a:r>
            <a:r>
              <a:rPr lang="en-US" altLang="ja-JP" sz="2800" dirty="0"/>
              <a:t>PAT</a:t>
            </a:r>
            <a:r>
              <a:rPr lang="ja-JP" altLang="en-US" sz="2800" dirty="0"/>
              <a:t>を接続</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en-US" altLang="ja-JP" sz="2800" dirty="0" err="1"/>
              <a:t>OpenTD</a:t>
            </a:r>
            <a:r>
              <a:rPr lang="en-US" altLang="ja-JP" sz="2800" dirty="0"/>
              <a:t> / Femap API</a:t>
            </a:r>
            <a:r>
              <a:rPr lang="ja-JP" altLang="en-US" sz="2800" dirty="0"/>
              <a:t>で解析・出力を自動化</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en-US" sz="2800" dirty="0"/>
              <a:t>入力条件から中間生成物・最終成果物まで追跡・再実行可能</a:t>
            </a:r>
            <a:endParaRPr lang="en-US" sz="2800" dirty="0">
              <a:solidFill>
                <a:srgbClr val="232B34"/>
              </a:solidFill>
              <a:latin typeface="Yu Gothic"/>
            </a:endParaRPr>
          </a:p>
          <a:p>
            <a:pPr>
              <a:spcAft>
                <a:spcPts val="800"/>
              </a:spcAft>
            </a:pPr>
            <a:endParaRPr sz="2800" dirty="0">
              <a:solidFill>
                <a:srgbClr val="232B34"/>
              </a:solidFill>
              <a:latin typeface="Yu Gothic"/>
            </a:endParaRPr>
          </a:p>
        </p:txBody>
      </p:sp>
      <p:sp>
        <p:nvSpPr>
          <p:cNvPr id="25" name="TextBox 24"/>
          <p:cNvSpPr txBox="1"/>
          <p:nvPr/>
        </p:nvSpPr>
        <p:spPr>
          <a:xfrm>
            <a:off x="918484" y="12123815"/>
            <a:ext cx="13437401" cy="486287"/>
          </a:xfrm>
          <a:prstGeom prst="rect">
            <a:avLst/>
          </a:prstGeom>
          <a:noFill/>
        </p:spPr>
        <p:txBody>
          <a:bodyPr wrap="square" lIns="36576" tIns="27432" rIns="36576" bIns="27432" anchor="t">
            <a:spAutoFit/>
          </a:bodyPr>
          <a:lstStyle/>
          <a:p>
            <a:pPr algn="ctr"/>
            <a:r>
              <a:rPr lang="ja-JP" altLang="ja-JP" sz="2800" b="1" dirty="0"/>
              <a:t>全条件をmatrixで先に固定し、同じcase ID・同じAPI手順で再現可能な比較を行う</a:t>
            </a:r>
            <a:endParaRPr lang="ja-JP" altLang="ja-JP" sz="2800" dirty="0"/>
          </a:p>
        </p:txBody>
      </p:sp>
      <p:pic>
        <p:nvPicPr>
          <p:cNvPr id="27" name="図 26">
            <a:extLst>
              <a:ext uri="{FF2B5EF4-FFF2-40B4-BE49-F238E27FC236}">
                <a16:creationId xmlns:a16="http://schemas.microsoft.com/office/drawing/2014/main" id="{FAC80EE7-DF42-99DB-1769-1AFA8BC46725}"/>
              </a:ext>
            </a:extLst>
          </p:cNvPr>
          <p:cNvPicPr>
            <a:picLocks noChangeAspect="1"/>
          </p:cNvPicPr>
          <p:nvPr/>
        </p:nvPicPr>
        <p:blipFill>
          <a:blip r:embed="rId3"/>
          <a:srcRect t="36065" r="39991"/>
          <a:stretch>
            <a:fillRect/>
          </a:stretch>
        </p:blipFill>
        <p:spPr>
          <a:xfrm>
            <a:off x="14896037" y="9779123"/>
            <a:ext cx="7012926" cy="3156082"/>
          </a:xfrm>
          <a:prstGeom prst="rect">
            <a:avLst/>
          </a:prstGeom>
        </p:spPr>
      </p:pic>
      <p:sp>
        <p:nvSpPr>
          <p:cNvPr id="29" name="テキスト ボックス 28">
            <a:extLst>
              <a:ext uri="{FF2B5EF4-FFF2-40B4-BE49-F238E27FC236}">
                <a16:creationId xmlns:a16="http://schemas.microsoft.com/office/drawing/2014/main" id="{EC35414D-D052-3810-4229-417F16553F1C}"/>
              </a:ext>
            </a:extLst>
          </p:cNvPr>
          <p:cNvSpPr txBox="1"/>
          <p:nvPr/>
        </p:nvSpPr>
        <p:spPr>
          <a:xfrm>
            <a:off x="9165465" y="5103437"/>
            <a:ext cx="6051481" cy="523220"/>
          </a:xfrm>
          <a:prstGeom prst="rect">
            <a:avLst/>
          </a:prstGeom>
          <a:noFill/>
        </p:spPr>
        <p:txBody>
          <a:bodyPr wrap="square" rtlCol="0">
            <a:spAutoFit/>
          </a:bodyPr>
          <a:lstStyle/>
          <a:p>
            <a:r>
              <a:rPr kumimoji="1" lang="ja-JP" altLang="en-US" sz="2800" dirty="0"/>
              <a:t>各ソフトにおける解析出力ファイル</a:t>
            </a:r>
          </a:p>
        </p:txBody>
      </p:sp>
      <p:sp>
        <p:nvSpPr>
          <p:cNvPr id="31" name="テキスト ボックス 30">
            <a:extLst>
              <a:ext uri="{FF2B5EF4-FFF2-40B4-BE49-F238E27FC236}">
                <a16:creationId xmlns:a16="http://schemas.microsoft.com/office/drawing/2014/main" id="{10AB8114-0307-8798-6551-D64DE69A75EC}"/>
              </a:ext>
            </a:extLst>
          </p:cNvPr>
          <p:cNvSpPr txBox="1"/>
          <p:nvPr/>
        </p:nvSpPr>
        <p:spPr>
          <a:xfrm>
            <a:off x="16459199" y="12973324"/>
            <a:ext cx="4720705" cy="523220"/>
          </a:xfrm>
          <a:prstGeom prst="rect">
            <a:avLst/>
          </a:prstGeom>
          <a:noFill/>
        </p:spPr>
        <p:txBody>
          <a:bodyPr wrap="square" rtlCol="0">
            <a:spAutoFit/>
          </a:bodyPr>
          <a:lstStyle/>
          <a:p>
            <a:r>
              <a:rPr kumimoji="1" lang="en-US" altLang="ja-JP" sz="2800" dirty="0"/>
              <a:t>Femap</a:t>
            </a:r>
            <a:r>
              <a:rPr kumimoji="1" lang="ja-JP" altLang="en-US" sz="2800" dirty="0"/>
              <a:t>解析フォルダ内</a:t>
            </a:r>
          </a:p>
        </p:txBody>
      </p:sp>
      <p:pic>
        <p:nvPicPr>
          <p:cNvPr id="37" name="図 36">
            <a:extLst>
              <a:ext uri="{FF2B5EF4-FFF2-40B4-BE49-F238E27FC236}">
                <a16:creationId xmlns:a16="http://schemas.microsoft.com/office/drawing/2014/main" id="{B7C0CCBA-B5A2-4EE7-271D-A8DB1459F020}"/>
              </a:ext>
            </a:extLst>
          </p:cNvPr>
          <p:cNvPicPr>
            <a:picLocks noChangeAspect="1"/>
          </p:cNvPicPr>
          <p:nvPr/>
        </p:nvPicPr>
        <p:blipFill>
          <a:blip r:embed="rId4"/>
          <a:stretch>
            <a:fillRect/>
          </a:stretch>
        </p:blipFill>
        <p:spPr>
          <a:xfrm>
            <a:off x="14532429" y="6058654"/>
            <a:ext cx="7740142" cy="3177912"/>
          </a:xfrm>
          <a:prstGeom prst="rect">
            <a:avLst/>
          </a:prstGeom>
        </p:spPr>
      </p:pic>
      <p:sp>
        <p:nvSpPr>
          <p:cNvPr id="39" name="テキスト ボックス 38">
            <a:extLst>
              <a:ext uri="{FF2B5EF4-FFF2-40B4-BE49-F238E27FC236}">
                <a16:creationId xmlns:a16="http://schemas.microsoft.com/office/drawing/2014/main" id="{E5119F46-14D4-E340-209A-AF0E41AECCF6}"/>
              </a:ext>
            </a:extLst>
          </p:cNvPr>
          <p:cNvSpPr txBox="1"/>
          <p:nvPr/>
        </p:nvSpPr>
        <p:spPr>
          <a:xfrm>
            <a:off x="16227552" y="9214736"/>
            <a:ext cx="4720705" cy="523220"/>
          </a:xfrm>
          <a:prstGeom prst="rect">
            <a:avLst/>
          </a:prstGeom>
          <a:noFill/>
        </p:spPr>
        <p:txBody>
          <a:bodyPr wrap="square" rtlCol="0">
            <a:spAutoFit/>
          </a:bodyPr>
          <a:lstStyle/>
          <a:p>
            <a:r>
              <a:rPr kumimoji="1" lang="en-US" altLang="ja-JP" sz="2800" dirty="0"/>
              <a:t>Case matrix.xlsx</a:t>
            </a:r>
            <a:r>
              <a:rPr kumimoji="1" lang="ja-JP" altLang="en-US" sz="2800" dirty="0"/>
              <a:t>の中身</a:t>
            </a:r>
          </a:p>
        </p:txBody>
      </p:sp>
    </p:spTree>
    <p:extLst>
      <p:ext uri="{BB962C8B-B14F-4D97-AF65-F5344CB8AC3E}">
        <p14:creationId xmlns:p14="http://schemas.microsoft.com/office/powerpoint/2010/main" val="2659955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463AB-B8F3-8DC8-987F-A486F27B8B2E}"/>
            </a:ext>
          </a:extLst>
        </p:cNvPr>
        <p:cNvGrpSpPr/>
        <p:nvPr/>
      </p:nvGrpSpPr>
      <p:grpSpPr>
        <a:xfrm>
          <a:off x="0" y="0"/>
          <a:ext cx="0" cy="0"/>
          <a:chOff x="0" y="0"/>
          <a:chExt cx="0" cy="0"/>
        </a:xfrm>
      </p:grpSpPr>
      <p:sp>
        <p:nvSpPr>
          <p:cNvPr id="11" name="TextBox 1">
            <a:extLst>
              <a:ext uri="{FF2B5EF4-FFF2-40B4-BE49-F238E27FC236}">
                <a16:creationId xmlns:a16="http://schemas.microsoft.com/office/drawing/2014/main" id="{0A998D34-F3DB-DCDE-1A40-4253D0693565}"/>
              </a:ext>
            </a:extLst>
          </p:cNvPr>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Thermo-structural results</a:t>
            </a:r>
          </a:p>
        </p:txBody>
      </p:sp>
      <p:sp>
        <p:nvSpPr>
          <p:cNvPr id="13" name="TextBox 2">
            <a:extLst>
              <a:ext uri="{FF2B5EF4-FFF2-40B4-BE49-F238E27FC236}">
                <a16:creationId xmlns:a16="http://schemas.microsoft.com/office/drawing/2014/main" id="{DF026E16-6558-6EEA-9100-74BFD8FDF688}"/>
              </a:ext>
            </a:extLst>
          </p:cNvPr>
          <p:cNvSpPr txBox="1"/>
          <p:nvPr/>
        </p:nvSpPr>
        <p:spPr>
          <a:xfrm>
            <a:off x="1536192" y="1298448"/>
            <a:ext cx="9850774"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解析結果：</a:t>
            </a:r>
            <a:r>
              <a:rPr lang="ja-JP" altLang="ja-JP" sz="3200" b="1" dirty="0"/>
              <a:t>温度場と熱LOSは同じ軌道周期で変動する</a:t>
            </a:r>
            <a:endParaRPr lang="ja-JP" altLang="ja-JP" sz="3200" dirty="0"/>
          </a:p>
        </p:txBody>
      </p:sp>
      <p:sp>
        <p:nvSpPr>
          <p:cNvPr id="15" name="TextBox 3">
            <a:extLst>
              <a:ext uri="{FF2B5EF4-FFF2-40B4-BE49-F238E27FC236}">
                <a16:creationId xmlns:a16="http://schemas.microsoft.com/office/drawing/2014/main" id="{3FDE0B2A-84AF-B318-D633-0F7FDE84BD98}"/>
              </a:ext>
            </a:extLst>
          </p:cNvPr>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16</a:t>
            </a:r>
          </a:p>
        </p:txBody>
      </p:sp>
      <p:pic>
        <p:nvPicPr>
          <p:cNvPr id="17" name="Picture 7" descr="04_LTAN06_800km_1213COLD_MY_ALL_HEAT_MY_0p5_far_field_los_angle_budget.png">
            <a:extLst>
              <a:ext uri="{FF2B5EF4-FFF2-40B4-BE49-F238E27FC236}">
                <a16:creationId xmlns:a16="http://schemas.microsoft.com/office/drawing/2014/main" id="{EF6173D2-A246-1BCD-BC6A-F5B628313A3F}"/>
              </a:ext>
            </a:extLst>
          </p:cNvPr>
          <p:cNvPicPr>
            <a:picLocks noChangeAspect="1"/>
          </p:cNvPicPr>
          <p:nvPr/>
        </p:nvPicPr>
        <p:blipFill>
          <a:blip r:embed="rId3"/>
          <a:stretch>
            <a:fillRect/>
          </a:stretch>
        </p:blipFill>
        <p:spPr>
          <a:xfrm>
            <a:off x="1066619" y="2988426"/>
            <a:ext cx="11781048" cy="8568034"/>
          </a:xfrm>
          <a:prstGeom prst="rect">
            <a:avLst/>
          </a:prstGeom>
        </p:spPr>
      </p:pic>
      <p:sp>
        <p:nvSpPr>
          <p:cNvPr id="19" name="TextBox 8">
            <a:extLst>
              <a:ext uri="{FF2B5EF4-FFF2-40B4-BE49-F238E27FC236}">
                <a16:creationId xmlns:a16="http://schemas.microsoft.com/office/drawing/2014/main" id="{E5AE464D-DFE6-09C6-65DA-8D2CC851F626}"/>
              </a:ext>
            </a:extLst>
          </p:cNvPr>
          <p:cNvSpPr txBox="1"/>
          <p:nvPr/>
        </p:nvSpPr>
        <p:spPr>
          <a:xfrm>
            <a:off x="16222193" y="11639319"/>
            <a:ext cx="4294574" cy="409343"/>
          </a:xfrm>
          <a:prstGeom prst="rect">
            <a:avLst/>
          </a:prstGeom>
          <a:noFill/>
        </p:spPr>
        <p:txBody>
          <a:bodyPr wrap="none" lIns="36576" tIns="27432" rIns="36576" bIns="27432" anchor="t">
            <a:spAutoFit/>
          </a:bodyPr>
          <a:lstStyle/>
          <a:p>
            <a:pPr algn="ctr"/>
            <a:r>
              <a:rPr lang="ja-JP" altLang="en-US" sz="2300" b="1" dirty="0">
                <a:solidFill>
                  <a:srgbClr val="1B74AA"/>
                </a:solidFill>
                <a:latin typeface="Yu Gothic"/>
              </a:rPr>
              <a:t>各衛星パネル上の</a:t>
            </a:r>
            <a:r>
              <a:rPr sz="2300" b="1" dirty="0">
                <a:solidFill>
                  <a:srgbClr val="1B74AA"/>
                </a:solidFill>
                <a:latin typeface="Yu Gothic"/>
              </a:rPr>
              <a:t>Temperature</a:t>
            </a:r>
          </a:p>
        </p:txBody>
      </p:sp>
      <p:sp>
        <p:nvSpPr>
          <p:cNvPr id="21" name="TextBox 9">
            <a:extLst>
              <a:ext uri="{FF2B5EF4-FFF2-40B4-BE49-F238E27FC236}">
                <a16:creationId xmlns:a16="http://schemas.microsoft.com/office/drawing/2014/main" id="{E830988C-07D9-F5B9-9874-7C1D60418F77}"/>
              </a:ext>
            </a:extLst>
          </p:cNvPr>
          <p:cNvSpPr txBox="1"/>
          <p:nvPr/>
        </p:nvSpPr>
        <p:spPr>
          <a:xfrm>
            <a:off x="4424133" y="11777355"/>
            <a:ext cx="5786970" cy="409343"/>
          </a:xfrm>
          <a:prstGeom prst="rect">
            <a:avLst/>
          </a:prstGeom>
          <a:noFill/>
        </p:spPr>
        <p:txBody>
          <a:bodyPr wrap="none" lIns="36576" tIns="27432" rIns="36576" bIns="27432" anchor="t">
            <a:spAutoFit/>
          </a:bodyPr>
          <a:lstStyle/>
          <a:p>
            <a:pPr algn="ctr"/>
            <a:r>
              <a:rPr lang="en-US" sz="2300" b="1" dirty="0">
                <a:solidFill>
                  <a:srgbClr val="239571"/>
                </a:solidFill>
                <a:latin typeface="Yu Gothic"/>
              </a:rPr>
              <a:t>Case 04 (MY</a:t>
            </a:r>
            <a:r>
              <a:rPr lang="ja-JP" altLang="en-US" sz="2300" b="1" dirty="0">
                <a:solidFill>
                  <a:srgbClr val="239571"/>
                </a:solidFill>
                <a:latin typeface="Yu Gothic"/>
              </a:rPr>
              <a:t>太陽</a:t>
            </a:r>
            <a:r>
              <a:rPr lang="en-US" sz="2300" b="1" dirty="0">
                <a:solidFill>
                  <a:srgbClr val="239571"/>
                </a:solidFill>
                <a:latin typeface="Yu Gothic"/>
              </a:rPr>
              <a:t>)</a:t>
            </a:r>
            <a:r>
              <a:rPr lang="ja-JP" altLang="en-US" sz="2300" b="1" dirty="0">
                <a:solidFill>
                  <a:srgbClr val="239571"/>
                </a:solidFill>
                <a:latin typeface="Yu Gothic"/>
              </a:rPr>
              <a:t>における </a:t>
            </a:r>
            <a:r>
              <a:rPr sz="2300" b="1" dirty="0">
                <a:solidFill>
                  <a:srgbClr val="239571"/>
                </a:solidFill>
                <a:latin typeface="Yu Gothic"/>
              </a:rPr>
              <a:t>Far-field LOS</a:t>
            </a:r>
          </a:p>
        </p:txBody>
      </p:sp>
      <p:pic>
        <p:nvPicPr>
          <p:cNvPr id="25" name="図 24">
            <a:extLst>
              <a:ext uri="{FF2B5EF4-FFF2-40B4-BE49-F238E27FC236}">
                <a16:creationId xmlns:a16="http://schemas.microsoft.com/office/drawing/2014/main" id="{5B2B2B61-04B6-BD30-69A8-D3793BED63C6}"/>
              </a:ext>
            </a:extLst>
          </p:cNvPr>
          <p:cNvPicPr>
            <a:picLocks noChangeAspect="1"/>
          </p:cNvPicPr>
          <p:nvPr/>
        </p:nvPicPr>
        <p:blipFill>
          <a:blip r:embed="rId4"/>
          <a:stretch>
            <a:fillRect/>
          </a:stretch>
        </p:blipFill>
        <p:spPr>
          <a:xfrm>
            <a:off x="12847667" y="3089848"/>
            <a:ext cx="11043623" cy="7696091"/>
          </a:xfrm>
          <a:prstGeom prst="rect">
            <a:avLst/>
          </a:prstGeom>
        </p:spPr>
      </p:pic>
      <p:sp>
        <p:nvSpPr>
          <p:cNvPr id="26" name="テキスト ボックス 25">
            <a:extLst>
              <a:ext uri="{FF2B5EF4-FFF2-40B4-BE49-F238E27FC236}">
                <a16:creationId xmlns:a16="http://schemas.microsoft.com/office/drawing/2014/main" id="{E19AF93F-1049-8626-F574-E8F86249A9BE}"/>
              </a:ext>
            </a:extLst>
          </p:cNvPr>
          <p:cNvSpPr txBox="1"/>
          <p:nvPr/>
        </p:nvSpPr>
        <p:spPr>
          <a:xfrm>
            <a:off x="1747735" y="12281279"/>
            <a:ext cx="14711464" cy="1077218"/>
          </a:xfrm>
          <a:prstGeom prst="rect">
            <a:avLst/>
          </a:prstGeom>
          <a:noFill/>
        </p:spPr>
        <p:txBody>
          <a:bodyPr wrap="square" rtlCol="0">
            <a:spAutoFit/>
          </a:bodyPr>
          <a:lstStyle/>
          <a:p>
            <a:r>
              <a:rPr lang="en-US" altLang="ja-JP" sz="3200" b="1" dirty="0">
                <a:solidFill>
                  <a:srgbClr val="1B74AA"/>
                </a:solidFill>
                <a:latin typeface="Yu Gothic"/>
              </a:rPr>
              <a:t>•</a:t>
            </a:r>
            <a:r>
              <a:rPr lang="ja-JP" altLang="en-US" sz="3200" b="1" dirty="0">
                <a:solidFill>
                  <a:srgbClr val="1B74AA"/>
                </a:solidFill>
                <a:latin typeface="Yu Gothic"/>
              </a:rPr>
              <a:t> </a:t>
            </a:r>
            <a:r>
              <a:rPr kumimoji="1" lang="ja-JP" altLang="en-US" sz="3200" b="1" dirty="0">
                <a:solidFill>
                  <a:srgbClr val="FF0000"/>
                </a:solidFill>
              </a:rPr>
              <a:t>大きく熱</a:t>
            </a:r>
            <a:r>
              <a:rPr kumimoji="1" lang="en-US" altLang="ja-JP" sz="3200" b="1" dirty="0">
                <a:solidFill>
                  <a:srgbClr val="FF0000"/>
                </a:solidFill>
              </a:rPr>
              <a:t>LOS</a:t>
            </a:r>
            <a:r>
              <a:rPr kumimoji="1" lang="ja-JP" altLang="en-US" sz="3200" b="1" dirty="0">
                <a:solidFill>
                  <a:srgbClr val="FF0000"/>
                </a:solidFill>
              </a:rPr>
              <a:t>が出るのは太陽方向（</a:t>
            </a:r>
            <a:r>
              <a:rPr kumimoji="1" lang="en-US" altLang="ja-JP" sz="3200" b="1" dirty="0">
                <a:solidFill>
                  <a:srgbClr val="FF0000"/>
                </a:solidFill>
              </a:rPr>
              <a:t>Y</a:t>
            </a:r>
            <a:r>
              <a:rPr kumimoji="1" lang="ja-JP" altLang="en-US" sz="3200" b="1" dirty="0">
                <a:solidFill>
                  <a:srgbClr val="FF0000"/>
                </a:solidFill>
              </a:rPr>
              <a:t>軸）</a:t>
            </a:r>
            <a:endParaRPr kumimoji="1" lang="en-US" altLang="ja-JP" sz="3200" b="1" dirty="0">
              <a:solidFill>
                <a:srgbClr val="FF0000"/>
              </a:solidFill>
            </a:endParaRPr>
          </a:p>
          <a:p>
            <a:r>
              <a:rPr lang="en-US" altLang="ja-JP" sz="3200" b="1" dirty="0">
                <a:solidFill>
                  <a:srgbClr val="1B74AA"/>
                </a:solidFill>
                <a:latin typeface="Yu Gothic"/>
              </a:rPr>
              <a:t>• </a:t>
            </a:r>
            <a:r>
              <a:rPr kumimoji="1" lang="ja-JP" altLang="en-US" sz="3200" b="1" dirty="0">
                <a:solidFill>
                  <a:srgbClr val="FF0000"/>
                </a:solidFill>
              </a:rPr>
              <a:t>さらに、</a:t>
            </a:r>
            <a:r>
              <a:rPr kumimoji="1" lang="en-US" altLang="ja-JP" sz="3200" b="1" dirty="0">
                <a:solidFill>
                  <a:srgbClr val="FF0000"/>
                </a:solidFill>
              </a:rPr>
              <a:t>LOS</a:t>
            </a:r>
            <a:r>
              <a:rPr kumimoji="1" lang="ja-JP" altLang="en-US" sz="3200" b="1" dirty="0">
                <a:solidFill>
                  <a:srgbClr val="FF0000"/>
                </a:solidFill>
              </a:rPr>
              <a:t>誤差の</a:t>
            </a:r>
            <a:r>
              <a:rPr kumimoji="1" lang="en-US" altLang="ja-JP" sz="3200" b="1" dirty="0">
                <a:solidFill>
                  <a:srgbClr val="FF0000"/>
                </a:solidFill>
              </a:rPr>
              <a:t>Y</a:t>
            </a:r>
            <a:r>
              <a:rPr kumimoji="1" lang="ja-JP" altLang="en-US" sz="3200" b="1" dirty="0">
                <a:solidFill>
                  <a:srgbClr val="FF0000"/>
                </a:solidFill>
              </a:rPr>
              <a:t>方向の変化と</a:t>
            </a:r>
            <a:r>
              <a:rPr kumimoji="1" lang="en-US" altLang="ja-JP" sz="3200" b="1" dirty="0">
                <a:solidFill>
                  <a:srgbClr val="FF0000"/>
                </a:solidFill>
              </a:rPr>
              <a:t>MY</a:t>
            </a:r>
            <a:r>
              <a:rPr kumimoji="1" lang="ja-JP" altLang="en-US" sz="3200" b="1" dirty="0">
                <a:solidFill>
                  <a:srgbClr val="FF0000"/>
                </a:solidFill>
              </a:rPr>
              <a:t>面の温度変化が似ていることがわかる</a:t>
            </a:r>
          </a:p>
        </p:txBody>
      </p:sp>
    </p:spTree>
    <p:extLst>
      <p:ext uri="{BB962C8B-B14F-4D97-AF65-F5344CB8AC3E}">
        <p14:creationId xmlns:p14="http://schemas.microsoft.com/office/powerpoint/2010/main" val="1379133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03</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806440"/>
            <a:ext cx="20756880" cy="1051560"/>
          </a:xfrm>
          <a:prstGeom prst="rect">
            <a:avLst/>
          </a:prstGeom>
          <a:noFill/>
        </p:spPr>
        <p:txBody>
          <a:bodyPr wrap="none" lIns="36576" tIns="27432" rIns="36576" bIns="27432" anchor="t">
            <a:spAutoFit/>
          </a:bodyPr>
          <a:lstStyle/>
          <a:p>
            <a:pPr algn="ctr"/>
            <a:r>
              <a:rPr sz="3300" b="1">
                <a:solidFill>
                  <a:srgbClr val="FFFFFF"/>
                </a:solidFill>
                <a:latin typeface="Yu Gothic"/>
              </a:rPr>
              <a:t>Lightweight LOS model</a:t>
            </a:r>
          </a:p>
        </p:txBody>
      </p:sp>
      <p:sp>
        <p:nvSpPr>
          <p:cNvPr id="5" name="TextBox 4"/>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FFFFFF"/>
                </a:solidFill>
                <a:latin typeface="Yu Gothic"/>
              </a:rPr>
              <a:t>18</a:t>
            </a:r>
          </a:p>
        </p:txBody>
      </p:sp>
      <p:sp>
        <p:nvSpPr>
          <p:cNvPr id="7" name="Rectangle 2">
            <a:extLst>
              <a:ext uri="{FF2B5EF4-FFF2-40B4-BE49-F238E27FC236}">
                <a16:creationId xmlns:a16="http://schemas.microsoft.com/office/drawing/2014/main" id="{43F79B8D-4952-6D22-DF2C-D92288E556C1}"/>
              </a:ext>
            </a:extLst>
          </p:cNvPr>
          <p:cNvSpPr/>
          <p:nvPr/>
        </p:nvSpPr>
        <p:spPr>
          <a:xfrm>
            <a:off x="11099800" y="6857999"/>
            <a:ext cx="2209800" cy="457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48671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Lightweight LOS model</a:t>
            </a:r>
          </a:p>
        </p:txBody>
      </p:sp>
      <p:sp>
        <p:nvSpPr>
          <p:cNvPr id="3" name="TextBox 2"/>
          <p:cNvSpPr txBox="1"/>
          <p:nvPr/>
        </p:nvSpPr>
        <p:spPr>
          <a:xfrm>
            <a:off x="1536192" y="1298448"/>
            <a:ext cx="12312986"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ja-JP" sz="3200" b="1" dirty="0"/>
              <a:t>軌道上実装には、少数入力で熱LOSを直接予測できるモデルが必要</a:t>
            </a:r>
            <a:endParaRPr lang="ja-JP" altLang="ja-JP" sz="3200" dirty="0"/>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19</a:t>
            </a:r>
          </a:p>
        </p:txBody>
      </p:sp>
      <p:sp>
        <p:nvSpPr>
          <p:cNvPr id="5" name="Rounded Rectangle 4"/>
          <p:cNvSpPr/>
          <p:nvPr/>
        </p:nvSpPr>
        <p:spPr>
          <a:xfrm>
            <a:off x="1097280" y="2834640"/>
            <a:ext cx="7315200" cy="71323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954913" y="3246120"/>
            <a:ext cx="1599925" cy="470898"/>
          </a:xfrm>
          <a:prstGeom prst="rect">
            <a:avLst/>
          </a:prstGeom>
          <a:noFill/>
        </p:spPr>
        <p:txBody>
          <a:bodyPr wrap="none" lIns="36576" tIns="27432" rIns="36576" bIns="27432" anchor="t">
            <a:spAutoFit/>
          </a:bodyPr>
          <a:lstStyle/>
          <a:p>
            <a:pPr algn="ctr"/>
            <a:r>
              <a:rPr lang="en-US" sz="2700" b="1" dirty="0">
                <a:solidFill>
                  <a:srgbClr val="082B52"/>
                </a:solidFill>
                <a:latin typeface="Yu Gothic"/>
              </a:rPr>
              <a:t>Required</a:t>
            </a:r>
            <a:endParaRPr sz="2700" b="1" dirty="0">
              <a:solidFill>
                <a:srgbClr val="082B52"/>
              </a:solidFill>
              <a:latin typeface="Yu Gothic"/>
            </a:endParaRPr>
          </a:p>
        </p:txBody>
      </p:sp>
      <p:sp>
        <p:nvSpPr>
          <p:cNvPr id="7" name="TextBox 6"/>
          <p:cNvSpPr txBox="1"/>
          <p:nvPr/>
        </p:nvSpPr>
        <p:spPr>
          <a:xfrm>
            <a:off x="1645920" y="4251960"/>
            <a:ext cx="6217920" cy="2913618"/>
          </a:xfrm>
          <a:prstGeom prst="rect">
            <a:avLst/>
          </a:prstGeom>
          <a:noFill/>
        </p:spPr>
        <p:txBody>
          <a:bodyPr wrap="square" lIns="27432" rIns="27432">
            <a:spAutoFit/>
          </a:bodyPr>
          <a:lstStyle/>
          <a:p>
            <a:pPr>
              <a:spcAft>
                <a:spcPts val="800"/>
              </a:spcAft>
            </a:pPr>
            <a:r>
              <a:rPr sz="2500" b="1" dirty="0">
                <a:solidFill>
                  <a:srgbClr val="1B74AA"/>
                </a:solidFill>
                <a:latin typeface="Yu Gothic"/>
              </a:rPr>
              <a:t>• </a:t>
            </a:r>
            <a:r>
              <a:rPr sz="2500" dirty="0">
                <a:solidFill>
                  <a:srgbClr val="232B34"/>
                </a:solidFill>
                <a:latin typeface="Yu Gothic"/>
              </a:rPr>
              <a:t>TD/</a:t>
            </a:r>
            <a:r>
              <a:rPr sz="2500" dirty="0" err="1">
                <a:solidFill>
                  <a:srgbClr val="232B34"/>
                </a:solidFill>
                <a:latin typeface="Yu Gothic"/>
              </a:rPr>
              <a:t>Femapをオンボードで回さない</a:t>
            </a:r>
            <a:r>
              <a:rPr lang="ja-JP" altLang="en-US" sz="2500" dirty="0">
                <a:solidFill>
                  <a:srgbClr val="232B34"/>
                </a:solidFill>
                <a:latin typeface="Yu Gothic"/>
              </a:rPr>
              <a:t>軽さ</a:t>
            </a:r>
            <a:endParaRPr sz="2500" dirty="0">
              <a:solidFill>
                <a:srgbClr val="232B34"/>
              </a:solidFill>
              <a:latin typeface="Yu Gothic"/>
            </a:endParaRPr>
          </a:p>
          <a:p>
            <a:pPr>
              <a:spcAft>
                <a:spcPts val="800"/>
              </a:spcAft>
            </a:pPr>
            <a:r>
              <a:rPr sz="2500" b="1" dirty="0">
                <a:solidFill>
                  <a:srgbClr val="1B74AA"/>
                </a:solidFill>
                <a:latin typeface="Yu Gothic"/>
              </a:rPr>
              <a:t>• </a:t>
            </a:r>
            <a:r>
              <a:rPr sz="2500" dirty="0" err="1">
                <a:solidFill>
                  <a:srgbClr val="232B34"/>
                </a:solidFill>
                <a:latin typeface="Yu Gothic"/>
              </a:rPr>
              <a:t>少数温度センサ</a:t>
            </a:r>
            <a:r>
              <a:rPr lang="ja-JP" altLang="en-US" sz="2500" dirty="0">
                <a:solidFill>
                  <a:srgbClr val="232B34"/>
                </a:solidFill>
                <a:latin typeface="Yu Gothic"/>
              </a:rPr>
              <a:t>と運用情報だけで計算</a:t>
            </a:r>
            <a:endParaRPr sz="2500" dirty="0">
              <a:solidFill>
                <a:srgbClr val="232B34"/>
              </a:solidFill>
              <a:latin typeface="Yu Gothic"/>
            </a:endParaRPr>
          </a:p>
          <a:p>
            <a:pPr>
              <a:spcAft>
                <a:spcPts val="800"/>
              </a:spcAft>
            </a:pPr>
            <a:r>
              <a:rPr sz="2500" b="1" dirty="0">
                <a:solidFill>
                  <a:srgbClr val="1B74AA"/>
                </a:solidFill>
                <a:latin typeface="Yu Gothic"/>
              </a:rPr>
              <a:t>• </a:t>
            </a:r>
            <a:r>
              <a:rPr lang="ja-JP" altLang="en-US" sz="2500" dirty="0">
                <a:solidFill>
                  <a:srgbClr val="232B34"/>
                </a:solidFill>
                <a:latin typeface="Yu Gothic"/>
              </a:rPr>
              <a:t>ケース</a:t>
            </a:r>
            <a:r>
              <a:rPr sz="2500" dirty="0" err="1">
                <a:solidFill>
                  <a:srgbClr val="232B34"/>
                </a:solidFill>
                <a:latin typeface="Yu Gothic"/>
              </a:rPr>
              <a:t>変更に対応</a:t>
            </a:r>
            <a:endParaRPr sz="2500" dirty="0">
              <a:solidFill>
                <a:srgbClr val="232B34"/>
              </a:solidFill>
              <a:latin typeface="Yu Gothic"/>
            </a:endParaRPr>
          </a:p>
          <a:p>
            <a:pPr>
              <a:spcAft>
                <a:spcPts val="800"/>
              </a:spcAft>
            </a:pPr>
            <a:r>
              <a:rPr sz="2500" b="1" dirty="0">
                <a:solidFill>
                  <a:srgbClr val="1B74AA"/>
                </a:solidFill>
                <a:latin typeface="Yu Gothic"/>
              </a:rPr>
              <a:t>• </a:t>
            </a:r>
            <a:r>
              <a:rPr sz="2500" dirty="0" err="1">
                <a:solidFill>
                  <a:srgbClr val="232B34"/>
                </a:solidFill>
                <a:latin typeface="Yu Gothic"/>
              </a:rPr>
              <a:t>固定少数係数</a:t>
            </a:r>
            <a:endParaRPr sz="2500" dirty="0">
              <a:solidFill>
                <a:srgbClr val="232B34"/>
              </a:solidFill>
              <a:latin typeface="Yu Gothic"/>
            </a:endParaRPr>
          </a:p>
          <a:p>
            <a:pPr>
              <a:spcAft>
                <a:spcPts val="800"/>
              </a:spcAft>
            </a:pPr>
            <a:r>
              <a:rPr sz="2500" b="1" dirty="0">
                <a:solidFill>
                  <a:srgbClr val="1B74AA"/>
                </a:solidFill>
                <a:latin typeface="Yu Gothic"/>
              </a:rPr>
              <a:t>• </a:t>
            </a:r>
            <a:r>
              <a:rPr sz="2500" dirty="0">
                <a:solidFill>
                  <a:srgbClr val="232B34"/>
                </a:solidFill>
                <a:latin typeface="Yu Gothic"/>
              </a:rPr>
              <a:t>scan-</a:t>
            </a:r>
            <a:r>
              <a:rPr sz="2500" dirty="0" err="1">
                <a:solidFill>
                  <a:srgbClr val="232B34"/>
                </a:solidFill>
                <a:latin typeface="Yu Gothic"/>
              </a:rPr>
              <a:t>center補正を直接出力</a:t>
            </a:r>
            <a:endParaRPr lang="en-US" sz="2500" dirty="0">
              <a:solidFill>
                <a:srgbClr val="232B34"/>
              </a:solidFill>
              <a:latin typeface="Yu Gothic"/>
            </a:endParaRPr>
          </a:p>
          <a:p>
            <a:pPr>
              <a:spcAft>
                <a:spcPts val="800"/>
              </a:spcAft>
            </a:pPr>
            <a:r>
              <a:rPr lang="en-US" altLang="ja-JP" sz="2500" b="1" dirty="0">
                <a:solidFill>
                  <a:srgbClr val="1B74AA"/>
                </a:solidFill>
                <a:latin typeface="Yu Gothic"/>
              </a:rPr>
              <a:t>• </a:t>
            </a:r>
            <a:r>
              <a:rPr lang="ja-JP" altLang="en-US" sz="2500" dirty="0">
                <a:solidFill>
                  <a:srgbClr val="232B34"/>
                </a:solidFill>
                <a:latin typeface="Yu Gothic"/>
              </a:rPr>
              <a:t>係数の物理的解釈が可能</a:t>
            </a:r>
            <a:endParaRPr sz="2500" dirty="0">
              <a:solidFill>
                <a:srgbClr val="232B34"/>
              </a:solidFill>
              <a:latin typeface="Yu Gothic"/>
            </a:endParaRPr>
          </a:p>
        </p:txBody>
      </p:sp>
      <p:graphicFrame>
        <p:nvGraphicFramePr>
          <p:cNvPr id="8" name="Table 7"/>
          <p:cNvGraphicFramePr>
            <a:graphicFrameLocks noGrp="1"/>
          </p:cNvGraphicFramePr>
          <p:nvPr>
            <p:extLst>
              <p:ext uri="{D42A27DB-BD31-4B8C-83A1-F6EECF244321}">
                <p14:modId xmlns:p14="http://schemas.microsoft.com/office/powerpoint/2010/main" val="3591606022"/>
              </p:ext>
            </p:extLst>
          </p:nvPr>
        </p:nvGraphicFramePr>
        <p:xfrm>
          <a:off x="9144000" y="2834640"/>
          <a:ext cx="13898880" cy="8321040"/>
        </p:xfrm>
        <a:graphic>
          <a:graphicData uri="http://schemas.openxmlformats.org/drawingml/2006/table">
            <a:tbl>
              <a:tblPr firstRow="1" bandRow="1">
                <a:tableStyleId>{5C22544A-7EE6-4342-B048-85BDC9FD1C3A}</a:tableStyleId>
              </a:tblPr>
              <a:tblGrid>
                <a:gridCol w="521208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1188720">
                <a:tc>
                  <a:txBody>
                    <a:bodyPr/>
                    <a:lstStyle/>
                    <a:p>
                      <a:pPr algn="l"/>
                      <a:r>
                        <a:rPr sz="2300" b="1">
                          <a:solidFill>
                            <a:srgbClr val="FFFFFF"/>
                          </a:solidFill>
                          <a:latin typeface="Yu Gothic"/>
                        </a:rPr>
                        <a:t>Candidate</a:t>
                      </a:r>
                    </a:p>
                  </a:txBody>
                  <a:tcPr marL="64008" marR="64008" marT="27432" marB="27432" anchor="ctr">
                    <a:solidFill>
                      <a:srgbClr val="082B52"/>
                    </a:solidFill>
                  </a:tcPr>
                </a:tc>
                <a:tc>
                  <a:txBody>
                    <a:bodyPr/>
                    <a:lstStyle/>
                    <a:p>
                      <a:pPr algn="ctr"/>
                      <a:r>
                        <a:rPr sz="2300" b="1">
                          <a:solidFill>
                            <a:srgbClr val="FFFFFF"/>
                          </a:solidFill>
                          <a:latin typeface="Yu Gothic"/>
                        </a:rPr>
                        <a:t>Pros / cons</a:t>
                      </a:r>
                    </a:p>
                  </a:txBody>
                  <a:tcPr marL="64008" marR="64008" marT="27432" marB="27432" anchor="ctr">
                    <a:solidFill>
                      <a:srgbClr val="082B52"/>
                    </a:solidFill>
                  </a:tcPr>
                </a:tc>
                <a:extLst>
                  <a:ext uri="{0D108BD9-81ED-4DB2-BD59-A6C34878D82A}">
                    <a16:rowId xmlns:a16="http://schemas.microsoft.com/office/drawing/2014/main" val="10000"/>
                  </a:ext>
                </a:extLst>
              </a:tr>
              <a:tr h="1188720">
                <a:tc>
                  <a:txBody>
                    <a:bodyPr/>
                    <a:lstStyle/>
                    <a:p>
                      <a:pPr algn="l"/>
                      <a:r>
                        <a:rPr sz="2300" b="0">
                          <a:solidFill>
                            <a:srgbClr val="232B34"/>
                          </a:solidFill>
                          <a:latin typeface="Yu Gothic"/>
                        </a:rPr>
                        <a:t>Static bias</a:t>
                      </a:r>
                    </a:p>
                  </a:txBody>
                  <a:tcPr marL="64008" marR="64008" marT="27432" marB="27432" anchor="ctr">
                    <a:solidFill>
                      <a:srgbClr val="EBF6FB"/>
                    </a:solidFill>
                  </a:tcPr>
                </a:tc>
                <a:tc>
                  <a:txBody>
                    <a:bodyPr/>
                    <a:lstStyle/>
                    <a:p>
                      <a:pPr algn="ctr"/>
                      <a:r>
                        <a:rPr sz="2300" b="0">
                          <a:solidFill>
                            <a:srgbClr val="232B34"/>
                          </a:solidFill>
                          <a:latin typeface="Yu Gothic"/>
                        </a:rPr>
                        <a:t>lightweight / no dynamics</a:t>
                      </a:r>
                    </a:p>
                  </a:txBody>
                  <a:tcPr marL="64008" marR="64008" marT="27432" marB="27432" anchor="ctr">
                    <a:solidFill>
                      <a:srgbClr val="FFFFFF"/>
                    </a:solidFill>
                  </a:tcPr>
                </a:tc>
                <a:extLst>
                  <a:ext uri="{0D108BD9-81ED-4DB2-BD59-A6C34878D82A}">
                    <a16:rowId xmlns:a16="http://schemas.microsoft.com/office/drawing/2014/main" val="10001"/>
                  </a:ext>
                </a:extLst>
              </a:tr>
              <a:tr h="1188720">
                <a:tc>
                  <a:txBody>
                    <a:bodyPr/>
                    <a:lstStyle/>
                    <a:p>
                      <a:pPr algn="l"/>
                      <a:r>
                        <a:rPr sz="2300" b="0">
                          <a:solidFill>
                            <a:srgbClr val="232B34"/>
                          </a:solidFill>
                          <a:latin typeface="Yu Gothic"/>
                        </a:rPr>
                        <a:t>Fourier</a:t>
                      </a:r>
                    </a:p>
                  </a:txBody>
                  <a:tcPr marL="64008" marR="64008" marT="27432" marB="27432" anchor="ctr">
                    <a:solidFill>
                      <a:srgbClr val="EBF6FB"/>
                    </a:solidFill>
                  </a:tcPr>
                </a:tc>
                <a:tc>
                  <a:txBody>
                    <a:bodyPr/>
                    <a:lstStyle/>
                    <a:p>
                      <a:pPr algn="ctr"/>
                      <a:r>
                        <a:rPr sz="2300" b="0">
                          <a:solidFill>
                            <a:srgbClr val="232B34"/>
                          </a:solidFill>
                          <a:latin typeface="Yu Gothic"/>
                        </a:rPr>
                        <a:t>periodic / orbit dependent</a:t>
                      </a:r>
                    </a:p>
                  </a:txBody>
                  <a:tcPr marL="64008" marR="64008" marT="27432" marB="27432" anchor="ctr">
                    <a:solidFill>
                      <a:srgbClr val="F4F6F8"/>
                    </a:solidFill>
                  </a:tcPr>
                </a:tc>
                <a:extLst>
                  <a:ext uri="{0D108BD9-81ED-4DB2-BD59-A6C34878D82A}">
                    <a16:rowId xmlns:a16="http://schemas.microsoft.com/office/drawing/2014/main" val="10002"/>
                  </a:ext>
                </a:extLst>
              </a:tr>
              <a:tr h="1188720">
                <a:tc>
                  <a:txBody>
                    <a:bodyPr/>
                    <a:lstStyle/>
                    <a:p>
                      <a:pPr algn="l"/>
                      <a:r>
                        <a:rPr lang="en-US" altLang="ja-JP" sz="2300" b="0" dirty="0">
                          <a:solidFill>
                            <a:srgbClr val="232B34"/>
                          </a:solidFill>
                          <a:latin typeface="Yu Gothic"/>
                        </a:rPr>
                        <a:t>Multi-point </a:t>
                      </a:r>
                      <a:r>
                        <a:rPr sz="2300" b="0" dirty="0">
                          <a:solidFill>
                            <a:srgbClr val="232B34"/>
                          </a:solidFill>
                          <a:latin typeface="Yu Gothic"/>
                        </a:rPr>
                        <a:t>temperature</a:t>
                      </a:r>
                    </a:p>
                  </a:txBody>
                  <a:tcPr marL="64008" marR="64008" marT="27432" marB="27432" anchor="ctr">
                    <a:solidFill>
                      <a:srgbClr val="EBF6FB"/>
                    </a:solidFill>
                  </a:tcPr>
                </a:tc>
                <a:tc>
                  <a:txBody>
                    <a:bodyPr/>
                    <a:lstStyle/>
                    <a:p>
                      <a:pPr algn="ctr"/>
                      <a:r>
                        <a:rPr sz="2300" b="0">
                          <a:solidFill>
                            <a:srgbClr val="232B34"/>
                          </a:solidFill>
                          <a:latin typeface="Yu Gothic"/>
                        </a:rPr>
                        <a:t>flexible / collinear</a:t>
                      </a:r>
                    </a:p>
                  </a:txBody>
                  <a:tcPr marL="64008" marR="64008" marT="27432" marB="27432" anchor="ctr">
                    <a:solidFill>
                      <a:srgbClr val="FFFFFF"/>
                    </a:solidFill>
                  </a:tcPr>
                </a:tc>
                <a:extLst>
                  <a:ext uri="{0D108BD9-81ED-4DB2-BD59-A6C34878D82A}">
                    <a16:rowId xmlns:a16="http://schemas.microsoft.com/office/drawing/2014/main" val="10003"/>
                  </a:ext>
                </a:extLst>
              </a:tr>
              <a:tr h="1188720">
                <a:tc>
                  <a:txBody>
                    <a:bodyPr/>
                    <a:lstStyle/>
                    <a:p>
                      <a:pPr algn="l"/>
                      <a:r>
                        <a:rPr sz="2300" b="0" dirty="0" err="1">
                          <a:solidFill>
                            <a:srgbClr val="232B34"/>
                          </a:solidFill>
                          <a:latin typeface="Yu Gothic"/>
                        </a:rPr>
                        <a:t>Sunface</a:t>
                      </a:r>
                      <a:r>
                        <a:rPr sz="2300" b="0" dirty="0">
                          <a:solidFill>
                            <a:srgbClr val="232B34"/>
                          </a:solidFill>
                          <a:latin typeface="Yu Gothic"/>
                        </a:rPr>
                        <a:t> T</a:t>
                      </a:r>
                    </a:p>
                  </a:txBody>
                  <a:tcPr marL="64008" marR="64008" marT="27432" marB="27432" anchor="ctr">
                    <a:solidFill>
                      <a:srgbClr val="EBF6FB"/>
                    </a:solidFill>
                  </a:tcPr>
                </a:tc>
                <a:tc>
                  <a:txBody>
                    <a:bodyPr/>
                    <a:lstStyle/>
                    <a:p>
                      <a:pPr algn="ctr"/>
                      <a:r>
                        <a:rPr sz="2300" b="0" dirty="0">
                          <a:solidFill>
                            <a:srgbClr val="232B34"/>
                          </a:solidFill>
                          <a:latin typeface="Yu Gothic"/>
                        </a:rPr>
                        <a:t>physical / </a:t>
                      </a:r>
                      <a:r>
                        <a:rPr lang="en-US" sz="2300" b="0" dirty="0">
                          <a:solidFill>
                            <a:srgbClr val="232B34"/>
                          </a:solidFill>
                          <a:latin typeface="Yu Gothic"/>
                        </a:rPr>
                        <a:t>not follow perfectly</a:t>
                      </a:r>
                      <a:endParaRPr sz="2300" b="0" dirty="0">
                        <a:solidFill>
                          <a:srgbClr val="232B34"/>
                        </a:solidFill>
                        <a:latin typeface="Yu Gothic"/>
                      </a:endParaRPr>
                    </a:p>
                  </a:txBody>
                  <a:tcPr marL="64008" marR="64008" marT="27432" marB="27432" anchor="ctr">
                    <a:solidFill>
                      <a:srgbClr val="F4F6F8"/>
                    </a:solidFill>
                  </a:tcPr>
                </a:tc>
                <a:extLst>
                  <a:ext uri="{0D108BD9-81ED-4DB2-BD59-A6C34878D82A}">
                    <a16:rowId xmlns:a16="http://schemas.microsoft.com/office/drawing/2014/main" val="10004"/>
                  </a:ext>
                </a:extLst>
              </a:tr>
              <a:tr h="1188720">
                <a:tc>
                  <a:txBody>
                    <a:bodyPr/>
                    <a:lstStyle/>
                    <a:p>
                      <a:pPr algn="l"/>
                      <a:r>
                        <a:rPr lang="en-US" sz="2300" b="0" dirty="0" err="1">
                          <a:solidFill>
                            <a:srgbClr val="232B34"/>
                          </a:solidFill>
                          <a:latin typeface="Yu Gothic"/>
                        </a:rPr>
                        <a:t>Sunface</a:t>
                      </a:r>
                      <a:r>
                        <a:rPr lang="en-US" sz="2300" b="0" dirty="0">
                          <a:solidFill>
                            <a:srgbClr val="232B34"/>
                          </a:solidFill>
                          <a:latin typeface="Yu Gothic"/>
                        </a:rPr>
                        <a:t> </a:t>
                      </a:r>
                      <a:r>
                        <a:rPr lang="en-US" altLang="ja-JP" sz="2300" b="0" dirty="0">
                          <a:solidFill>
                            <a:srgbClr val="232B34"/>
                          </a:solidFill>
                          <a:latin typeface="Yu Gothic"/>
                        </a:rPr>
                        <a:t>ΔT </a:t>
                      </a:r>
                      <a:endParaRPr sz="2300" b="0" dirty="0">
                        <a:solidFill>
                          <a:srgbClr val="232B34"/>
                        </a:solidFill>
                        <a:latin typeface="Yu Gothic"/>
                      </a:endParaRPr>
                    </a:p>
                  </a:txBody>
                  <a:tcPr marL="64008" marR="64008" marT="27432" marB="27432" anchor="ctr">
                    <a:solidFill>
                      <a:srgbClr val="EBF6FB"/>
                    </a:solidFill>
                  </a:tcPr>
                </a:tc>
                <a:tc>
                  <a:txBody>
                    <a:bodyPr/>
                    <a:lstStyle/>
                    <a:p>
                      <a:pPr algn="ctr"/>
                      <a:r>
                        <a:rPr lang="en-US" sz="2300" b="0" dirty="0">
                          <a:solidFill>
                            <a:srgbClr val="232B34"/>
                          </a:solidFill>
                          <a:latin typeface="Yu Gothic"/>
                        </a:rPr>
                        <a:t>physical / not explain DC offset</a:t>
                      </a:r>
                      <a:endParaRPr sz="2300" b="0" dirty="0">
                        <a:solidFill>
                          <a:srgbClr val="232B34"/>
                        </a:solidFill>
                        <a:latin typeface="Yu Gothic"/>
                      </a:endParaRPr>
                    </a:p>
                  </a:txBody>
                  <a:tcPr marL="64008" marR="64008" marT="27432" marB="27432" anchor="ctr">
                    <a:solidFill>
                      <a:srgbClr val="F4F6F8"/>
                    </a:solidFill>
                  </a:tcPr>
                </a:tc>
                <a:extLst>
                  <a:ext uri="{0D108BD9-81ED-4DB2-BD59-A6C34878D82A}">
                    <a16:rowId xmlns:a16="http://schemas.microsoft.com/office/drawing/2014/main" val="4282857465"/>
                  </a:ext>
                </a:extLst>
              </a:tr>
              <a:tr h="1188720">
                <a:tc>
                  <a:txBody>
                    <a:bodyPr/>
                    <a:lstStyle/>
                    <a:p>
                      <a:pPr algn="l"/>
                      <a:r>
                        <a:rPr sz="2300" b="1">
                          <a:solidFill>
                            <a:srgbClr val="232B34"/>
                          </a:solidFill>
                          <a:latin typeface="Yu Gothic"/>
                        </a:rPr>
                        <a:t>Hierarchical ΔT</a:t>
                      </a:r>
                    </a:p>
                  </a:txBody>
                  <a:tcPr marL="64008" marR="64008" marT="27432" marB="27432" anchor="ctr">
                    <a:solidFill>
                      <a:srgbClr val="EBF6FB"/>
                    </a:solidFill>
                  </a:tcPr>
                </a:tc>
                <a:tc>
                  <a:txBody>
                    <a:bodyPr/>
                    <a:lstStyle/>
                    <a:p>
                      <a:pPr algn="ctr"/>
                      <a:r>
                        <a:rPr lang="en-US" sz="2300" b="1" dirty="0">
                          <a:solidFill>
                            <a:srgbClr val="232B34"/>
                          </a:solidFill>
                          <a:latin typeface="Yu Gothic"/>
                        </a:rPr>
                        <a:t>Physical </a:t>
                      </a:r>
                      <a:r>
                        <a:rPr sz="2300" b="1" dirty="0">
                          <a:solidFill>
                            <a:srgbClr val="232B34"/>
                          </a:solidFill>
                          <a:latin typeface="Yu Gothic"/>
                        </a:rPr>
                        <a:t>dynamics + case DC</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3954913" y="11862122"/>
            <a:ext cx="18458707" cy="547842"/>
          </a:xfrm>
          <a:prstGeom prst="rect">
            <a:avLst/>
          </a:prstGeom>
          <a:noFill/>
        </p:spPr>
        <p:txBody>
          <a:bodyPr wrap="none" lIns="36576" tIns="27432" rIns="36576" bIns="27432" anchor="t">
            <a:spAutoFit/>
          </a:bodyPr>
          <a:lstStyle/>
          <a:p>
            <a:r>
              <a:rPr lang="ja-JP" altLang="en-US" sz="3200" b="1" dirty="0"/>
              <a:t>→ 試行錯誤の結果、</a:t>
            </a:r>
            <a:r>
              <a:rPr lang="ja-JP" altLang="ja-JP" sz="3200" b="1" dirty="0"/>
              <a:t>太陽面–反対面温度差 ΔT とケース</a:t>
            </a:r>
            <a:r>
              <a:rPr lang="ja-JP" altLang="en-US" sz="3200" b="1" dirty="0"/>
              <a:t>間差分の寄与</a:t>
            </a:r>
            <a:r>
              <a:rPr lang="ja-JP" altLang="ja-JP" sz="3200" b="1" dirty="0"/>
              <a:t>を分離する階層型モデル</a:t>
            </a:r>
            <a:r>
              <a:rPr lang="ja-JP" altLang="en-US" sz="3200" b="1" dirty="0"/>
              <a:t>を採用</a:t>
            </a:r>
            <a:endParaRPr lang="ja-JP" altLang="ja-JP"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Hierarchical ΔT model</a:t>
            </a:r>
          </a:p>
        </p:txBody>
      </p:sp>
      <p:sp>
        <p:nvSpPr>
          <p:cNvPr id="3" name="TextBox 2"/>
          <p:cNvSpPr txBox="1"/>
          <p:nvPr/>
        </p:nvSpPr>
        <p:spPr>
          <a:xfrm>
            <a:off x="1536192" y="1298448"/>
            <a:ext cx="15355486"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t>採用の過程：</a:t>
            </a:r>
            <a:r>
              <a:rPr lang="ja-JP" altLang="ja-JP" sz="3200" b="1" dirty="0"/>
              <a:t>観察結果から、熱LOSを「軌道内時変」と「ケース間DC」に分ける</a:t>
            </a:r>
            <a:endParaRPr lang="ja-JP" altLang="ja-JP" sz="3200" dirty="0"/>
          </a:p>
        </p:txBody>
      </p:sp>
      <p:sp>
        <p:nvSpPr>
          <p:cNvPr id="4" name="TextBox 3"/>
          <p:cNvSpPr txBox="1"/>
          <p:nvPr/>
        </p:nvSpPr>
        <p:spPr>
          <a:xfrm>
            <a:off x="23444052" y="12819888"/>
            <a:ext cx="330348" cy="332399"/>
          </a:xfrm>
          <a:prstGeom prst="rect">
            <a:avLst/>
          </a:prstGeom>
          <a:noFill/>
        </p:spPr>
        <p:txBody>
          <a:bodyPr wrap="none" lIns="36576" tIns="27432" rIns="36576" bIns="27432" anchor="t">
            <a:spAutoFit/>
          </a:bodyPr>
          <a:lstStyle/>
          <a:p>
            <a:pPr algn="r"/>
            <a:r>
              <a:rPr lang="en-US" dirty="0">
                <a:solidFill>
                  <a:srgbClr val="666F79"/>
                </a:solidFill>
                <a:latin typeface="Yu Gothic"/>
              </a:rPr>
              <a:t>20</a:t>
            </a:r>
            <a:endParaRPr sz="1800" b="0" dirty="0">
              <a:solidFill>
                <a:srgbClr val="666F79"/>
              </a:solidFill>
              <a:latin typeface="Yu Gothic"/>
            </a:endParaRPr>
          </a:p>
        </p:txBody>
      </p:sp>
      <p:sp>
        <p:nvSpPr>
          <p:cNvPr id="8" name="Rounded Rectangle 7"/>
          <p:cNvSpPr/>
          <p:nvPr/>
        </p:nvSpPr>
        <p:spPr>
          <a:xfrm>
            <a:off x="1598011" y="3657599"/>
            <a:ext cx="9729605" cy="5389123"/>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1872331" y="4069079"/>
            <a:ext cx="8342765" cy="547842"/>
          </a:xfrm>
          <a:prstGeom prst="rect">
            <a:avLst/>
          </a:prstGeom>
          <a:noFill/>
        </p:spPr>
        <p:txBody>
          <a:bodyPr wrap="square" lIns="36576" tIns="27432" rIns="36576" bIns="27432" anchor="t">
            <a:spAutoFit/>
          </a:bodyPr>
          <a:lstStyle/>
          <a:p>
            <a:pPr algn="ctr"/>
            <a:r>
              <a:rPr lang="ja-JP" altLang="en-US" sz="3200" b="1" dirty="0"/>
              <a:t>各ケースの</a:t>
            </a:r>
            <a:r>
              <a:rPr lang="ja-JP" altLang="ja-JP" sz="3200" b="1" dirty="0"/>
              <a:t>軌道内で変わる成分</a:t>
            </a:r>
            <a:endParaRPr sz="3200" b="1" dirty="0">
              <a:solidFill>
                <a:srgbClr val="1B74AA"/>
              </a:solidFill>
              <a:latin typeface="Yu Gothic"/>
            </a:endParaRPr>
          </a:p>
        </p:txBody>
      </p:sp>
      <p:sp>
        <p:nvSpPr>
          <p:cNvPr id="11" name="Rounded Rectangle 10"/>
          <p:cNvSpPr/>
          <p:nvPr/>
        </p:nvSpPr>
        <p:spPr>
          <a:xfrm>
            <a:off x="12603884" y="3657600"/>
            <a:ext cx="9729605" cy="5389122"/>
          </a:xfrm>
          <a:prstGeom prst="roundRect">
            <a:avLst/>
          </a:prstGeom>
          <a:solidFill>
            <a:srgbClr val="FFFFFF"/>
          </a:solidFill>
          <a:ln w="2286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281260" y="3978497"/>
            <a:ext cx="7917377" cy="1040285"/>
          </a:xfrm>
          <a:prstGeom prst="rect">
            <a:avLst/>
          </a:prstGeom>
          <a:noFill/>
        </p:spPr>
        <p:txBody>
          <a:bodyPr wrap="square" lIns="36576" tIns="27432" rIns="36576" bIns="27432" anchor="t">
            <a:spAutoFit/>
          </a:bodyPr>
          <a:lstStyle/>
          <a:p>
            <a:pPr algn="ctr"/>
            <a:r>
              <a:rPr lang="ja-JP" altLang="ja-JP" sz="3200" b="1" dirty="0">
                <a:solidFill>
                  <a:srgbClr val="FFC000"/>
                </a:solidFill>
              </a:rPr>
              <a:t>ケースごとに変わる成分</a:t>
            </a:r>
            <a:endParaRPr lang="ja-JP" altLang="ja-JP" sz="3200" dirty="0">
              <a:solidFill>
                <a:srgbClr val="FFC000"/>
              </a:solidFill>
            </a:endParaRPr>
          </a:p>
          <a:p>
            <a:pPr algn="ctr"/>
            <a:endParaRPr sz="3200" b="1" dirty="0">
              <a:solidFill>
                <a:srgbClr val="EC9427"/>
              </a:solidFill>
              <a:latin typeface="Yu Gothic"/>
            </a:endParaRPr>
          </a:p>
        </p:txBody>
      </p:sp>
      <mc:AlternateContent xmlns:mc="http://schemas.openxmlformats.org/markup-compatibility/2006" xmlns:a14="http://schemas.microsoft.com/office/drawing/2010/main">
        <mc:Choice Requires="a14">
          <p:sp>
            <p:nvSpPr>
              <p:cNvPr id="18" name="TextBox 12">
                <a:extLst>
                  <a:ext uri="{FF2B5EF4-FFF2-40B4-BE49-F238E27FC236}">
                    <a16:creationId xmlns:a16="http://schemas.microsoft.com/office/drawing/2014/main" id="{01774876-A617-FBC3-32CA-D647D3A87AE9}"/>
                  </a:ext>
                </a:extLst>
              </p:cNvPr>
              <p:cNvSpPr txBox="1"/>
              <p:nvPr/>
            </p:nvSpPr>
            <p:spPr>
              <a:xfrm>
                <a:off x="1965619" y="4966846"/>
                <a:ext cx="9197681" cy="1532727"/>
              </a:xfrm>
              <a:prstGeom prst="rect">
                <a:avLst/>
              </a:prstGeom>
              <a:noFill/>
            </p:spPr>
            <p:txBody>
              <a:bodyPr wrap="square" lIns="36576" tIns="27432" rIns="36576" bIns="27432" anchor="t">
                <a:spAutoFit/>
              </a:bodyPr>
              <a:lstStyle/>
              <a:p>
                <a:r>
                  <a:rPr lang="en-US" altLang="ja-JP" sz="3200" b="1" dirty="0">
                    <a:solidFill>
                      <a:srgbClr val="1B74AA"/>
                    </a:solidFill>
                    <a:latin typeface="Yu Gothic"/>
                  </a:rPr>
                  <a:t>• </a:t>
                </a:r>
                <a:r>
                  <a:rPr lang="en-US" altLang="ja-JP" sz="3200" dirty="0">
                    <a:solidFill>
                      <a:srgbClr val="232B34"/>
                    </a:solidFill>
                    <a:latin typeface="Yu Gothic"/>
                  </a:rPr>
                  <a:t>TD</a:t>
                </a:r>
                <a:r>
                  <a:rPr lang="ja-JP" altLang="en-US" sz="3200" dirty="0">
                    <a:solidFill>
                      <a:srgbClr val="232B34"/>
                    </a:solidFill>
                    <a:latin typeface="Yu Gothic"/>
                  </a:rPr>
                  <a:t>太陽面 </a:t>
                </a:r>
                <a:r>
                  <a:rPr lang="en-US" altLang="ja-JP" sz="3200" dirty="0">
                    <a:solidFill>
                      <a:srgbClr val="232B34"/>
                    </a:solidFill>
                    <a:latin typeface="Yu Gothic"/>
                  </a:rPr>
                  <a:t>– </a:t>
                </a:r>
                <a:r>
                  <a:rPr lang="ja-JP" altLang="en-US" sz="3200" dirty="0">
                    <a:solidFill>
                      <a:srgbClr val="232B34"/>
                    </a:solidFill>
                    <a:latin typeface="Yu Gothic"/>
                  </a:rPr>
                  <a:t>反対面温度差 </a:t>
                </a:r>
                <a14:m>
                  <m:oMath xmlns:m="http://schemas.openxmlformats.org/officeDocument/2006/math">
                    <m:r>
                      <m:rPr>
                        <m:sty m:val="p"/>
                      </m:rPr>
                      <a:rPr lang="en-US" altLang="ja-JP" sz="3200" i="0" dirty="0" smtClean="0">
                        <a:solidFill>
                          <a:srgbClr val="232B34"/>
                        </a:solidFill>
                        <a:latin typeface="Cambria Math" panose="02040503050406030204" pitchFamily="18" charset="0"/>
                      </a:rPr>
                      <m:t>Δ</m:t>
                    </m:r>
                    <m:r>
                      <a:rPr lang="en-US" altLang="ja-JP" sz="3200" i="1" dirty="0" smtClean="0">
                        <a:solidFill>
                          <a:srgbClr val="232B34"/>
                        </a:solidFill>
                        <a:latin typeface="Cambria Math" panose="02040503050406030204" pitchFamily="18" charset="0"/>
                      </a:rPr>
                      <m:t>𝑇</m:t>
                    </m:r>
                    <m:r>
                      <a:rPr lang="en-US" altLang="ja-JP" sz="3200" i="1" dirty="0" smtClean="0">
                        <a:solidFill>
                          <a:srgbClr val="232B34"/>
                        </a:solidFill>
                        <a:latin typeface="Cambria Math" panose="02040503050406030204" pitchFamily="18" charset="0"/>
                      </a:rPr>
                      <m:t>(</m:t>
                    </m:r>
                    <m:r>
                      <a:rPr lang="en-US" altLang="ja-JP" sz="3200" i="1" dirty="0" smtClean="0">
                        <a:solidFill>
                          <a:srgbClr val="232B34"/>
                        </a:solidFill>
                        <a:latin typeface="Cambria Math" panose="02040503050406030204" pitchFamily="18" charset="0"/>
                      </a:rPr>
                      <m:t>𝑡</m:t>
                    </m:r>
                    <m:r>
                      <a:rPr lang="en-US" altLang="ja-JP" sz="3200" i="1" dirty="0" smtClean="0">
                        <a:solidFill>
                          <a:srgbClr val="232B34"/>
                        </a:solidFill>
                        <a:latin typeface="Cambria Math" panose="02040503050406030204" pitchFamily="18" charset="0"/>
                      </a:rPr>
                      <m:t>)</m:t>
                    </m:r>
                  </m:oMath>
                </a14:m>
                <a:endParaRPr lang="en-US" altLang="ja-JP" sz="3200" dirty="0">
                  <a:solidFill>
                    <a:srgbClr val="232B34"/>
                  </a:solidFill>
                  <a:latin typeface="Yu Gothic"/>
                </a:endParaRPr>
              </a:p>
              <a:p>
                <a:r>
                  <a:rPr lang="en-US" altLang="ja-JP" sz="3200" b="1" dirty="0">
                    <a:solidFill>
                      <a:srgbClr val="1B74AA"/>
                    </a:solidFill>
                    <a:latin typeface="Yu Gothic"/>
                  </a:rPr>
                  <a:t>• </a:t>
                </a:r>
                <a:r>
                  <a:rPr lang="en-US" altLang="ja-JP" sz="3200" dirty="0">
                    <a:solidFill>
                      <a:srgbClr val="232B34"/>
                    </a:solidFill>
                    <a:latin typeface="Yu Gothic"/>
                  </a:rPr>
                  <a:t>T</a:t>
                </a:r>
                <a:r>
                  <a:rPr lang="ja-JP" altLang="en-US" sz="3200" dirty="0">
                    <a:solidFill>
                      <a:srgbClr val="232B34"/>
                    </a:solidFill>
                    <a:latin typeface="Yu Gothic"/>
                  </a:rPr>
                  <a:t>太陽指向面で支配軸・符号が決まる</a:t>
                </a:r>
                <a:endParaRPr lang="en-US" altLang="ja-JP" sz="3200" dirty="0">
                  <a:solidFill>
                    <a:srgbClr val="232B34"/>
                  </a:solidFill>
                  <a:latin typeface="Yu Gothic"/>
                </a:endParaRPr>
              </a:p>
              <a:p>
                <a:r>
                  <a:rPr lang="en-US" altLang="ja-JP" sz="3200" b="1" dirty="0">
                    <a:solidFill>
                      <a:srgbClr val="1B74AA"/>
                    </a:solidFill>
                    <a:latin typeface="Yu Gothic"/>
                  </a:rPr>
                  <a:t>• </a:t>
                </a:r>
                <a:r>
                  <a:rPr lang="ja-JP" altLang="en-US" sz="3200" b="1" dirty="0">
                    <a:solidFill>
                      <a:srgbClr val="232B34"/>
                    </a:solidFill>
                    <a:latin typeface="Yu Gothic"/>
                  </a:rPr>
                  <a:t>温度差</a:t>
                </a:r>
                <a14:m>
                  <m:oMath xmlns:m="http://schemas.openxmlformats.org/officeDocument/2006/math">
                    <m:r>
                      <m:rPr>
                        <m:sty m:val="p"/>
                      </m:rPr>
                      <a:rPr lang="en-US" altLang="ja-JP" sz="3200" dirty="0">
                        <a:solidFill>
                          <a:srgbClr val="232B34"/>
                        </a:solidFill>
                        <a:latin typeface="Cambria Math" panose="02040503050406030204" pitchFamily="18" charset="0"/>
                      </a:rPr>
                      <m:t>Δ</m:t>
                    </m:r>
                    <m:r>
                      <a:rPr lang="en-US" altLang="ja-JP" sz="3200" i="1" dirty="0">
                        <a:solidFill>
                          <a:srgbClr val="232B34"/>
                        </a:solidFill>
                        <a:latin typeface="Cambria Math" panose="02040503050406030204" pitchFamily="18" charset="0"/>
                      </a:rPr>
                      <m:t>𝑇</m:t>
                    </m:r>
                    <m:r>
                      <a:rPr lang="en-US" altLang="ja-JP" sz="3200" i="1" dirty="0">
                        <a:solidFill>
                          <a:srgbClr val="232B34"/>
                        </a:solidFill>
                        <a:latin typeface="Cambria Math" panose="02040503050406030204" pitchFamily="18" charset="0"/>
                      </a:rPr>
                      <m:t>(</m:t>
                    </m:r>
                    <m:r>
                      <a:rPr lang="en-US" altLang="ja-JP" sz="3200" i="1" dirty="0">
                        <a:solidFill>
                          <a:srgbClr val="232B34"/>
                        </a:solidFill>
                        <a:latin typeface="Cambria Math" panose="02040503050406030204" pitchFamily="18" charset="0"/>
                      </a:rPr>
                      <m:t>𝑡</m:t>
                    </m:r>
                    <m:r>
                      <a:rPr lang="en-US" altLang="ja-JP" sz="3200" i="1" dirty="0">
                        <a:solidFill>
                          <a:srgbClr val="232B34"/>
                        </a:solidFill>
                        <a:latin typeface="Cambria Math" panose="02040503050406030204" pitchFamily="18" charset="0"/>
                      </a:rPr>
                      <m:t>)</m:t>
                    </m:r>
                  </m:oMath>
                </a14:m>
                <a:r>
                  <a:rPr lang="ja-JP" altLang="en-US" sz="3200" b="1" dirty="0">
                    <a:solidFill>
                      <a:srgbClr val="232B34"/>
                    </a:solidFill>
                    <a:latin typeface="Yu Gothic"/>
                  </a:rPr>
                  <a:t>に対する感度はケース間で概ね共通</a:t>
                </a:r>
                <a:endParaRPr sz="3200" b="0" dirty="0">
                  <a:solidFill>
                    <a:srgbClr val="232B34"/>
                  </a:solidFill>
                  <a:latin typeface="Yu Gothic"/>
                </a:endParaRPr>
              </a:p>
            </p:txBody>
          </p:sp>
        </mc:Choice>
        <mc:Fallback xmlns="">
          <p:sp>
            <p:nvSpPr>
              <p:cNvPr id="18" name="TextBox 12">
                <a:extLst>
                  <a:ext uri="{FF2B5EF4-FFF2-40B4-BE49-F238E27FC236}">
                    <a16:creationId xmlns:a16="http://schemas.microsoft.com/office/drawing/2014/main" id="{01774876-A617-FBC3-32CA-D647D3A87AE9}"/>
                  </a:ext>
                </a:extLst>
              </p:cNvPr>
              <p:cNvSpPr txBox="1">
                <a:spLocks noRot="1" noChangeAspect="1" noMove="1" noResize="1" noEditPoints="1" noAdjustHandles="1" noChangeArrowheads="1" noChangeShapeType="1" noTextEdit="1"/>
              </p:cNvSpPr>
              <p:nvPr/>
            </p:nvSpPr>
            <p:spPr>
              <a:xfrm>
                <a:off x="1965619" y="4966846"/>
                <a:ext cx="9197681" cy="1532727"/>
              </a:xfrm>
              <a:prstGeom prst="rect">
                <a:avLst/>
              </a:prstGeom>
              <a:blipFill>
                <a:blip r:embed="rId3"/>
                <a:stretch>
                  <a:fillRect l="-2253" t="-5976" r="-1193" b="-13944"/>
                </a:stretch>
              </a:blipFill>
            </p:spPr>
            <p:txBody>
              <a:bodyPr/>
              <a:lstStyle/>
              <a:p>
                <a:r>
                  <a:rPr lang="ja-JP" altLang="en-US">
                    <a:noFill/>
                  </a:rPr>
                  <a:t> </a:t>
                </a:r>
              </a:p>
            </p:txBody>
          </p:sp>
        </mc:Fallback>
      </mc:AlternateContent>
      <p:sp>
        <p:nvSpPr>
          <p:cNvPr id="20" name="TextBox 12">
            <a:extLst>
              <a:ext uri="{FF2B5EF4-FFF2-40B4-BE49-F238E27FC236}">
                <a16:creationId xmlns:a16="http://schemas.microsoft.com/office/drawing/2014/main" id="{00194618-F9DA-A636-5ABB-3A3483F2CB95}"/>
              </a:ext>
            </a:extLst>
          </p:cNvPr>
          <p:cNvSpPr txBox="1"/>
          <p:nvPr/>
        </p:nvSpPr>
        <p:spPr>
          <a:xfrm>
            <a:off x="13161846" y="4819433"/>
            <a:ext cx="2821413" cy="1532727"/>
          </a:xfrm>
          <a:prstGeom prst="rect">
            <a:avLst/>
          </a:prstGeom>
          <a:noFill/>
        </p:spPr>
        <p:txBody>
          <a:bodyPr wrap="none" lIns="36576" tIns="27432" rIns="36576" bIns="27432" anchor="t">
            <a:spAutoFit/>
          </a:bodyPr>
          <a:lstStyle/>
          <a:p>
            <a:r>
              <a:rPr lang="en-US" altLang="ja-JP" sz="3200" b="1" dirty="0">
                <a:solidFill>
                  <a:srgbClr val="1B74AA"/>
                </a:solidFill>
                <a:latin typeface="Yu Gothic"/>
              </a:rPr>
              <a:t>• </a:t>
            </a:r>
            <a:r>
              <a:rPr lang="ja-JP" altLang="en-US" sz="3200" dirty="0">
                <a:solidFill>
                  <a:srgbClr val="232B34"/>
                </a:solidFill>
                <a:latin typeface="Yu Gothic"/>
              </a:rPr>
              <a:t>内部発熱</a:t>
            </a:r>
            <a:endParaRPr lang="en-US" altLang="ja-JP" sz="3200" dirty="0">
              <a:solidFill>
                <a:srgbClr val="232B34"/>
              </a:solidFill>
              <a:latin typeface="Yu Gothic"/>
            </a:endParaRPr>
          </a:p>
          <a:p>
            <a:r>
              <a:rPr lang="en-US" altLang="ja-JP" sz="3200" b="1" dirty="0">
                <a:solidFill>
                  <a:srgbClr val="1B74AA"/>
                </a:solidFill>
                <a:latin typeface="Yu Gothic"/>
              </a:rPr>
              <a:t>• </a:t>
            </a:r>
            <a:r>
              <a:rPr lang="ja-JP" altLang="en-US" sz="3200" dirty="0">
                <a:solidFill>
                  <a:srgbClr val="232B34"/>
                </a:solidFill>
                <a:latin typeface="Yu Gothic"/>
              </a:rPr>
              <a:t>表面特性</a:t>
            </a:r>
            <a:endParaRPr lang="en-US" altLang="ja-JP" sz="3200" dirty="0">
              <a:solidFill>
                <a:srgbClr val="232B34"/>
              </a:solidFill>
              <a:latin typeface="Yu Gothic"/>
            </a:endParaRPr>
          </a:p>
          <a:p>
            <a:r>
              <a:rPr lang="en-US" altLang="ja-JP" sz="3200" b="1" dirty="0">
                <a:solidFill>
                  <a:srgbClr val="1B74AA"/>
                </a:solidFill>
                <a:latin typeface="Yu Gothic"/>
              </a:rPr>
              <a:t>• </a:t>
            </a:r>
            <a:r>
              <a:rPr lang="ja-JP" altLang="en-US" sz="3200" b="1" dirty="0">
                <a:solidFill>
                  <a:srgbClr val="232B34"/>
                </a:solidFill>
                <a:latin typeface="Yu Gothic"/>
              </a:rPr>
              <a:t>軌道・熱履歴</a:t>
            </a:r>
            <a:endParaRPr sz="3200" b="0" dirty="0">
              <a:solidFill>
                <a:srgbClr val="232B34"/>
              </a:solidFill>
              <a:latin typeface="Yu Gothic"/>
            </a:endParaRPr>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7B8D8841-0F45-0DD0-7E72-5F3A55624ED9}"/>
                  </a:ext>
                </a:extLst>
              </p:cNvPr>
              <p:cNvSpPr txBox="1"/>
              <p:nvPr/>
            </p:nvSpPr>
            <p:spPr>
              <a:xfrm>
                <a:off x="5735015" y="10741480"/>
                <a:ext cx="12912381" cy="1040285"/>
              </a:xfrm>
              <a:prstGeom prst="rect">
                <a:avLst/>
              </a:prstGeom>
              <a:noFill/>
            </p:spPr>
            <p:txBody>
              <a:bodyPr wrap="none" lIns="36576" tIns="27432" rIns="36576" bIns="27432" anchor="t">
                <a:spAutoFit/>
              </a:bodyPr>
              <a:lstStyle/>
              <a:p>
                <a:r>
                  <a:rPr lang="ja-JP" altLang="en-US" sz="3200" b="1" dirty="0"/>
                  <a:t>→ したがって、時変項は</a:t>
                </a:r>
                <a14:m>
                  <m:oMath xmlns:m="http://schemas.openxmlformats.org/officeDocument/2006/math">
                    <m:r>
                      <a:rPr lang="en-US" altLang="ja-JP" sz="3200" b="1" i="1" dirty="0">
                        <a:solidFill>
                          <a:srgbClr val="232B34"/>
                        </a:solidFill>
                        <a:latin typeface="Cambria Math" panose="02040503050406030204" pitchFamily="18" charset="0"/>
                      </a:rPr>
                      <m:t>𝜟</m:t>
                    </m:r>
                    <m:r>
                      <a:rPr lang="en-US" altLang="ja-JP" sz="3200" b="1" i="1" dirty="0">
                        <a:solidFill>
                          <a:srgbClr val="232B34"/>
                        </a:solidFill>
                        <a:latin typeface="Cambria Math" panose="02040503050406030204" pitchFamily="18" charset="0"/>
                      </a:rPr>
                      <m:t>𝑻</m:t>
                    </m:r>
                    <m:r>
                      <a:rPr lang="en-US" altLang="ja-JP" sz="3200" b="1" i="1" dirty="0">
                        <a:solidFill>
                          <a:srgbClr val="232B34"/>
                        </a:solidFill>
                        <a:latin typeface="Cambria Math" panose="02040503050406030204" pitchFamily="18" charset="0"/>
                      </a:rPr>
                      <m:t>(</m:t>
                    </m:r>
                    <m:r>
                      <a:rPr lang="en-US" altLang="ja-JP" sz="3200" b="1" i="1" dirty="0">
                        <a:solidFill>
                          <a:srgbClr val="232B34"/>
                        </a:solidFill>
                        <a:latin typeface="Cambria Math" panose="02040503050406030204" pitchFamily="18" charset="0"/>
                      </a:rPr>
                      <m:t>𝒕</m:t>
                    </m:r>
                    <m:r>
                      <a:rPr lang="en-US" altLang="ja-JP" sz="3200" b="1" i="1" dirty="0">
                        <a:solidFill>
                          <a:srgbClr val="232B34"/>
                        </a:solidFill>
                        <a:latin typeface="Cambria Math" panose="02040503050406030204" pitchFamily="18" charset="0"/>
                      </a:rPr>
                      <m:t>)</m:t>
                    </m:r>
                  </m:oMath>
                </a14:m>
                <a:r>
                  <a:rPr lang="ja-JP" altLang="en-US" sz="3200" b="1" dirty="0">
                    <a:solidFill>
                      <a:srgbClr val="232B34"/>
                    </a:solidFill>
                    <a:latin typeface="Yu Gothic"/>
                  </a:rPr>
                  <a:t>、ケース間の差は</a:t>
                </a:r>
                <a14:m>
                  <m:oMath xmlns:m="http://schemas.openxmlformats.org/officeDocument/2006/math">
                    <m:sSub>
                      <m:sSubPr>
                        <m:ctrlPr>
                          <a:rPr lang="en-US" altLang="ja-JP" sz="3200" b="1" i="1" smtClean="0">
                            <a:solidFill>
                              <a:srgbClr val="232B34"/>
                            </a:solidFill>
                            <a:latin typeface="Cambria Math" panose="02040503050406030204" pitchFamily="18" charset="0"/>
                          </a:rPr>
                        </m:ctrlPr>
                      </m:sSubPr>
                      <m:e>
                        <m:r>
                          <a:rPr lang="en-US" altLang="ja-JP" sz="3200" b="1" i="1" smtClean="0">
                            <a:solidFill>
                              <a:srgbClr val="232B34"/>
                            </a:solidFill>
                            <a:latin typeface="Cambria Math" panose="02040503050406030204" pitchFamily="18" charset="0"/>
                          </a:rPr>
                          <m:t>𝒃</m:t>
                        </m:r>
                      </m:e>
                      <m:sub>
                        <m:r>
                          <a:rPr lang="en-US" altLang="ja-JP" sz="3200" b="1" i="1" smtClean="0">
                            <a:solidFill>
                              <a:srgbClr val="232B34"/>
                            </a:solidFill>
                            <a:latin typeface="Cambria Math" panose="02040503050406030204" pitchFamily="18" charset="0"/>
                          </a:rPr>
                          <m:t>𝒄𝒂𝒔𝒆</m:t>
                        </m:r>
                      </m:sub>
                    </m:sSub>
                    <m:r>
                      <a:rPr lang="ja-JP" altLang="en-US" sz="3200" b="1" i="1">
                        <a:solidFill>
                          <a:srgbClr val="232B34"/>
                        </a:solidFill>
                        <a:latin typeface="Cambria Math" panose="02040503050406030204" pitchFamily="18" charset="0"/>
                      </a:rPr>
                      <m:t>として</m:t>
                    </m:r>
                  </m:oMath>
                </a14:m>
                <a:r>
                  <a:rPr lang="ja-JP" altLang="en-US" sz="3200" b="1" dirty="0">
                    <a:solidFill>
                      <a:srgbClr val="232B34"/>
                    </a:solidFill>
                    <a:latin typeface="Yu Gothic"/>
                  </a:rPr>
                  <a:t>分離する</a:t>
                </a:r>
                <a:endParaRPr lang="en-US" altLang="ja-JP" sz="3200" b="1" dirty="0">
                  <a:solidFill>
                    <a:srgbClr val="232B34"/>
                  </a:solidFill>
                  <a:latin typeface="Yu Gothic"/>
                </a:endParaRPr>
              </a:p>
              <a:p>
                <a:endParaRPr lang="en-US" altLang="ja-JP" sz="3200" b="1" dirty="0">
                  <a:solidFill>
                    <a:srgbClr val="232B34"/>
                  </a:solidFill>
                  <a:latin typeface="Yu Gothic"/>
                </a:endParaRPr>
              </a:p>
            </p:txBody>
          </p:sp>
        </mc:Choice>
        <mc:Fallback xmlns="">
          <p:sp>
            <p:nvSpPr>
              <p:cNvPr id="22" name="TextBox 8">
                <a:extLst>
                  <a:ext uri="{FF2B5EF4-FFF2-40B4-BE49-F238E27FC236}">
                    <a16:creationId xmlns:a16="http://schemas.microsoft.com/office/drawing/2014/main" id="{7B8D8841-0F45-0DD0-7E72-5F3A55624ED9}"/>
                  </a:ext>
                </a:extLst>
              </p:cNvPr>
              <p:cNvSpPr txBox="1">
                <a:spLocks noRot="1" noChangeAspect="1" noMove="1" noResize="1" noEditPoints="1" noAdjustHandles="1" noChangeArrowheads="1" noChangeShapeType="1" noTextEdit="1"/>
              </p:cNvSpPr>
              <p:nvPr/>
            </p:nvSpPr>
            <p:spPr>
              <a:xfrm>
                <a:off x="5735015" y="10741480"/>
                <a:ext cx="12912381" cy="1040285"/>
              </a:xfrm>
              <a:prstGeom prst="rect">
                <a:avLst/>
              </a:prstGeom>
              <a:blipFill>
                <a:blip r:embed="rId4"/>
                <a:stretch>
                  <a:fillRect l="-1653" t="-8772"/>
                </a:stretch>
              </a:blipFill>
            </p:spPr>
            <p:txBody>
              <a:bodyPr/>
              <a:lstStyle/>
              <a:p>
                <a:r>
                  <a:rPr lang="ja-JP"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498A-D134-1DB7-BEEC-89F4ACDABE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132FC5-CEFF-682E-12E1-776DF31BA0AA}"/>
              </a:ext>
            </a:extLst>
          </p:cNvPr>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Hierarchical ΔT model</a:t>
            </a:r>
          </a:p>
        </p:txBody>
      </p:sp>
      <p:sp>
        <p:nvSpPr>
          <p:cNvPr id="3" name="TextBox 2">
            <a:extLst>
              <a:ext uri="{FF2B5EF4-FFF2-40B4-BE49-F238E27FC236}">
                <a16:creationId xmlns:a16="http://schemas.microsoft.com/office/drawing/2014/main" id="{3E06BBAA-7C1E-6C59-0838-394848810869}"/>
              </a:ext>
            </a:extLst>
          </p:cNvPr>
          <p:cNvSpPr txBox="1"/>
          <p:nvPr/>
        </p:nvSpPr>
        <p:spPr>
          <a:xfrm>
            <a:off x="1536192" y="1298448"/>
            <a:ext cx="6992427"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階層型 熱ひずみ予測モデル（階層</a:t>
            </a:r>
            <a:r>
              <a:rPr lang="en-US" altLang="ja-JP" sz="3200" b="1" dirty="0">
                <a:solidFill>
                  <a:srgbClr val="082B52"/>
                </a:solidFill>
                <a:latin typeface="Yu Gothic"/>
              </a:rPr>
              <a:t>1</a:t>
            </a:r>
            <a:r>
              <a:rPr lang="ja-JP" altLang="en-US" sz="3200" b="1" dirty="0">
                <a:solidFill>
                  <a:srgbClr val="082B52"/>
                </a:solidFill>
                <a:latin typeface="Yu Gothic"/>
              </a:rPr>
              <a:t>）</a:t>
            </a:r>
          </a:p>
        </p:txBody>
      </p:sp>
      <p:sp>
        <p:nvSpPr>
          <p:cNvPr id="4" name="TextBox 3">
            <a:extLst>
              <a:ext uri="{FF2B5EF4-FFF2-40B4-BE49-F238E27FC236}">
                <a16:creationId xmlns:a16="http://schemas.microsoft.com/office/drawing/2014/main" id="{53C37490-C33E-76CF-2AD2-84281E463F88}"/>
              </a:ext>
            </a:extLst>
          </p:cNvPr>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21</a:t>
            </a:r>
          </a:p>
        </p:txBody>
      </p:sp>
      <p:sp>
        <p:nvSpPr>
          <p:cNvPr id="5" name="Rounded Rectangle 4">
            <a:extLst>
              <a:ext uri="{FF2B5EF4-FFF2-40B4-BE49-F238E27FC236}">
                <a16:creationId xmlns:a16="http://schemas.microsoft.com/office/drawing/2014/main" id="{2AE6B36D-D351-9081-078E-979D1A977FE8}"/>
              </a:ext>
            </a:extLst>
          </p:cNvPr>
          <p:cNvSpPr/>
          <p:nvPr/>
        </p:nvSpPr>
        <p:spPr>
          <a:xfrm>
            <a:off x="1280160" y="2880360"/>
            <a:ext cx="21762720" cy="246888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4E91D8-1988-F135-C79D-012F2C7E199F}"/>
                  </a:ext>
                </a:extLst>
              </p:cNvPr>
              <p:cNvSpPr txBox="1"/>
              <p:nvPr/>
            </p:nvSpPr>
            <p:spPr>
              <a:xfrm>
                <a:off x="5700017" y="5593080"/>
                <a:ext cx="13014460" cy="1039002"/>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0" dirty="0" smtClean="0">
                          <a:solidFill>
                            <a:srgbClr val="1B74AA"/>
                          </a:solidFill>
                          <a:latin typeface="Cambria Math" panose="02040503050406030204" pitchFamily="18" charset="0"/>
                        </a:rPr>
                        <m:t>𝚫</m:t>
                      </m:r>
                      <m:r>
                        <a:rPr lang="ja-JP" altLang="en-US" sz="3200" b="1" i="1" dirty="0" smtClean="0">
                          <a:solidFill>
                            <a:srgbClr val="1B74AA"/>
                          </a:solidFill>
                          <a:latin typeface="Cambria Math" panose="02040503050406030204" pitchFamily="18" charset="0"/>
                        </a:rPr>
                        <m:t>𝑻</m:t>
                      </m:r>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en-US" altLang="ja-JP" sz="3200" b="1" i="1" dirty="0">
                          <a:solidFill>
                            <a:srgbClr val="1B74AA"/>
                          </a:solidFill>
                          <a:latin typeface="Cambria Math" panose="02040503050406030204" pitchFamily="18" charset="0"/>
                        </a:rPr>
                        <m:t>= </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𝑻</m:t>
                          </m:r>
                        </m:e>
                        <m:sub>
                          <m:r>
                            <a:rPr lang="ja-JP" altLang="en-US" sz="3200" b="1" i="1" dirty="0" err="1">
                              <a:solidFill>
                                <a:srgbClr val="1B74AA"/>
                              </a:solidFill>
                              <a:latin typeface="Cambria Math" panose="02040503050406030204" pitchFamily="18" charset="0"/>
                            </a:rPr>
                            <m:t>𝒔𝒖𝒏𝒇𝒂𝒄𝒆</m:t>
                          </m:r>
                        </m:sub>
                      </m:sSub>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en-US" altLang="ja-JP" sz="3200" b="1" i="1" dirty="0">
                          <a:solidFill>
                            <a:srgbClr val="1B74AA"/>
                          </a:solidFill>
                          <a:latin typeface="Cambria Math" panose="02040503050406030204" pitchFamily="18" charset="0"/>
                        </a:rPr>
                        <m:t>− </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𝑻</m:t>
                          </m:r>
                        </m:e>
                        <m:sub>
                          <m:r>
                            <a:rPr lang="ja-JP" altLang="en-US" sz="3200" b="1" i="1" dirty="0" err="1">
                              <a:solidFill>
                                <a:srgbClr val="1B74AA"/>
                              </a:solidFill>
                              <a:latin typeface="Cambria Math" panose="02040503050406030204" pitchFamily="18" charset="0"/>
                            </a:rPr>
                            <m:t>𝒐𝒑𝒑𝒐𝒔𝒊𝒕𝒆</m:t>
                          </m:r>
                        </m:sub>
                      </m:sSub>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ja-JP" altLang="en-US" sz="3200" b="1" i="1" dirty="0">
                          <a:solidFill>
                            <a:srgbClr val="1B74AA"/>
                          </a:solidFill>
                          <a:latin typeface="Cambria Math" panose="02040503050406030204" pitchFamily="18" charset="0"/>
                        </a:rPr>
                        <m:t>：太陽指向面とその反対面の温度差</m:t>
                      </m:r>
                    </m:oMath>
                  </m:oMathPara>
                </a14:m>
                <a:endParaRPr lang="en-US" altLang="ja-JP" sz="3200" b="1" i="1" dirty="0">
                  <a:solidFill>
                    <a:srgbClr val="1B74AA"/>
                  </a:solidFill>
                  <a:latin typeface="Cambria Math" panose="02040503050406030204" pitchFamily="18" charset="0"/>
                </a:endParaRPr>
              </a:p>
              <a:p>
                <a:pPr algn="r"/>
                <a:r>
                  <a:rPr lang="en-US" altLang="ja-JP" sz="2800" b="1" dirty="0">
                    <a:solidFill>
                      <a:srgbClr val="1B74AA"/>
                    </a:solidFill>
                  </a:rPr>
                  <a:t>※</a:t>
                </a:r>
                <a14:m>
                  <m:oMath xmlns:m="http://schemas.openxmlformats.org/officeDocument/2006/math">
                    <m:r>
                      <a:rPr lang="ja-JP" altLang="en-US" sz="2800" b="1" i="1" dirty="0">
                        <a:solidFill>
                          <a:srgbClr val="1B74AA"/>
                        </a:solidFill>
                        <a:latin typeface="Cambria Math" panose="02040503050406030204" pitchFamily="18" charset="0"/>
                      </a:rPr>
                      <m:t>各面</m:t>
                    </m:r>
                    <m:r>
                      <a:rPr lang="ja-JP" altLang="en-US" sz="2800" b="1" i="1" dirty="0" smtClean="0">
                        <a:solidFill>
                          <a:srgbClr val="1B74AA"/>
                        </a:solidFill>
                        <a:latin typeface="Cambria Math" panose="02040503050406030204" pitchFamily="18" charset="0"/>
                      </a:rPr>
                      <m:t>の</m:t>
                    </m:r>
                    <m:r>
                      <a:rPr lang="ja-JP" altLang="en-US" sz="2800" b="1" i="1" dirty="0">
                        <a:solidFill>
                          <a:srgbClr val="1B74AA"/>
                        </a:solidFill>
                        <a:latin typeface="Cambria Math" panose="02040503050406030204" pitchFamily="18" charset="0"/>
                      </a:rPr>
                      <m:t>中央</m:t>
                    </m:r>
                    <m:r>
                      <a:rPr lang="ja-JP" altLang="en-US" sz="2800" b="1" i="1" dirty="0" smtClean="0">
                        <a:solidFill>
                          <a:srgbClr val="1B74AA"/>
                        </a:solidFill>
                        <a:latin typeface="Cambria Math" panose="02040503050406030204" pitchFamily="18" charset="0"/>
                      </a:rPr>
                      <m:t>の</m:t>
                    </m:r>
                    <m:r>
                      <a:rPr lang="ja-JP" altLang="en-US" sz="2800" b="1" i="1" dirty="0">
                        <a:solidFill>
                          <a:srgbClr val="1B74AA"/>
                        </a:solidFill>
                        <a:latin typeface="Cambria Math" panose="02040503050406030204" pitchFamily="18" charset="0"/>
                      </a:rPr>
                      <m:t>温度は</m:t>
                    </m:r>
                    <m:r>
                      <a:rPr lang="ja-JP" altLang="en-US" sz="2800" b="1" i="1">
                        <a:solidFill>
                          <a:srgbClr val="1B74AA"/>
                        </a:solidFill>
                        <a:latin typeface="Cambria Math" panose="02040503050406030204" pitchFamily="18" charset="0"/>
                      </a:rPr>
                      <m:t>軌道</m:t>
                    </m:r>
                    <m:r>
                      <a:rPr lang="ja-JP" altLang="en-US" sz="2800" b="1" i="1" smtClean="0">
                        <a:solidFill>
                          <a:srgbClr val="1B74AA"/>
                        </a:solidFill>
                        <a:latin typeface="Cambria Math" panose="02040503050406030204" pitchFamily="18" charset="0"/>
                      </a:rPr>
                      <m:t>上</m:t>
                    </m:r>
                    <m:r>
                      <a:rPr lang="ja-JP" altLang="en-US" sz="2800" b="1" i="1">
                        <a:solidFill>
                          <a:srgbClr val="1B74AA"/>
                        </a:solidFill>
                        <a:latin typeface="Cambria Math" panose="02040503050406030204" pitchFamily="18" charset="0"/>
                      </a:rPr>
                      <m:t>の</m:t>
                    </m:r>
                    <m:r>
                      <a:rPr lang="ja-JP" altLang="en-US" sz="2800" b="1" i="1" smtClean="0">
                        <a:solidFill>
                          <a:srgbClr val="1B74AA"/>
                        </a:solidFill>
                        <a:latin typeface="Cambria Math" panose="02040503050406030204" pitchFamily="18" charset="0"/>
                      </a:rPr>
                      <m:t>熱電対</m:t>
                    </m:r>
                    <m:r>
                      <a:rPr lang="ja-JP" altLang="en-US" sz="2800" b="1" i="1">
                        <a:solidFill>
                          <a:srgbClr val="1B74AA"/>
                        </a:solidFill>
                        <a:latin typeface="Cambria Math" panose="02040503050406030204" pitchFamily="18" charset="0"/>
                      </a:rPr>
                      <m:t>で</m:t>
                    </m:r>
                    <m:r>
                      <a:rPr lang="ja-JP" altLang="en-US" sz="2800" b="1" i="1" smtClean="0">
                        <a:solidFill>
                          <a:srgbClr val="1B74AA"/>
                        </a:solidFill>
                        <a:latin typeface="Cambria Math" panose="02040503050406030204" pitchFamily="18" charset="0"/>
                      </a:rPr>
                      <m:t>逐次</m:t>
                    </m:r>
                    <m:r>
                      <a:rPr lang="ja-JP" altLang="en-US" sz="2800" b="1" i="1">
                        <a:solidFill>
                          <a:srgbClr val="1B74AA"/>
                        </a:solidFill>
                        <a:latin typeface="Cambria Math" panose="02040503050406030204" pitchFamily="18" charset="0"/>
                      </a:rPr>
                      <m:t>計測</m:t>
                    </m:r>
                    <m:r>
                      <a:rPr lang="ja-JP" altLang="en-US" sz="2800" b="1" i="1" smtClean="0">
                        <a:solidFill>
                          <a:srgbClr val="1B74AA"/>
                        </a:solidFill>
                        <a:latin typeface="Cambria Math" panose="02040503050406030204" pitchFamily="18" charset="0"/>
                      </a:rPr>
                      <m:t>する想定</m:t>
                    </m:r>
                  </m:oMath>
                </a14:m>
                <a:endParaRPr lang="en-US" altLang="ja-JP" sz="2800" b="1" dirty="0">
                  <a:solidFill>
                    <a:srgbClr val="1B74AA"/>
                  </a:solidFill>
                </a:endParaRPr>
              </a:p>
            </p:txBody>
          </p:sp>
        </mc:Choice>
        <mc:Fallback xmlns="">
          <p:sp>
            <p:nvSpPr>
              <p:cNvPr id="7" name="TextBox 6">
                <a:extLst>
                  <a:ext uri="{FF2B5EF4-FFF2-40B4-BE49-F238E27FC236}">
                    <a16:creationId xmlns:a16="http://schemas.microsoft.com/office/drawing/2014/main" id="{084E91D8-1988-F135-C79D-012F2C7E199F}"/>
                  </a:ext>
                </a:extLst>
              </p:cNvPr>
              <p:cNvSpPr txBox="1">
                <a:spLocks noRot="1" noChangeAspect="1" noMove="1" noResize="1" noEditPoints="1" noAdjustHandles="1" noChangeArrowheads="1" noChangeShapeType="1" noTextEdit="1"/>
              </p:cNvSpPr>
              <p:nvPr/>
            </p:nvSpPr>
            <p:spPr>
              <a:xfrm>
                <a:off x="5700017" y="5593080"/>
                <a:ext cx="13014460" cy="1039002"/>
              </a:xfrm>
              <a:prstGeom prst="rect">
                <a:avLst/>
              </a:prstGeom>
              <a:blipFill>
                <a:blip r:embed="rId3"/>
                <a:stretch>
                  <a:fillRect b="-15294"/>
                </a:stretch>
              </a:blipFill>
            </p:spPr>
            <p:txBody>
              <a:bodyPr/>
              <a:lstStyle/>
              <a:p>
                <a:r>
                  <a:rPr lang="ja-JP" altLang="en-US">
                    <a:noFill/>
                  </a:rPr>
                  <a:t> </a:t>
                </a:r>
              </a:p>
            </p:txBody>
          </p:sp>
        </mc:Fallback>
      </mc:AlternateContent>
      <p:sp>
        <p:nvSpPr>
          <p:cNvPr id="8" name="Rounded Rectangle 7">
            <a:extLst>
              <a:ext uri="{FF2B5EF4-FFF2-40B4-BE49-F238E27FC236}">
                <a16:creationId xmlns:a16="http://schemas.microsoft.com/office/drawing/2014/main" id="{4BDC2FA1-7516-AF2E-394D-574ACF7DA736}"/>
              </a:ext>
            </a:extLst>
          </p:cNvPr>
          <p:cNvSpPr/>
          <p:nvPr/>
        </p:nvSpPr>
        <p:spPr>
          <a:xfrm>
            <a:off x="8530590" y="7315200"/>
            <a:ext cx="6583680" cy="320040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7563C52-2DD6-EEAB-89C3-C3793595F8A1}"/>
                  </a:ext>
                </a:extLst>
              </p:cNvPr>
              <p:cNvSpPr txBox="1"/>
              <p:nvPr/>
            </p:nvSpPr>
            <p:spPr>
              <a:xfrm>
                <a:off x="10903077" y="7726679"/>
                <a:ext cx="1838708" cy="661912"/>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600" b="1" i="1" dirty="0" smtClean="0">
                              <a:solidFill>
                                <a:srgbClr val="1B74AA"/>
                              </a:solidFill>
                              <a:latin typeface="Cambria Math" panose="02040503050406030204" pitchFamily="18" charset="0"/>
                            </a:rPr>
                          </m:ctrlPr>
                        </m:sSubPr>
                        <m:e>
                          <m:r>
                            <a:rPr lang="en-US" sz="3600" b="1" i="1" dirty="0" smtClean="0">
                              <a:solidFill>
                                <a:srgbClr val="1B74AA"/>
                              </a:solidFill>
                              <a:latin typeface="Cambria Math" panose="02040503050406030204" pitchFamily="18" charset="0"/>
                            </a:rPr>
                            <m:t>𝒂</m:t>
                          </m:r>
                        </m:e>
                        <m:sub>
                          <m:r>
                            <a:rPr lang="en-US" sz="3600" b="1" i="1" dirty="0" err="1" smtClean="0">
                              <a:solidFill>
                                <a:srgbClr val="1B74AA"/>
                              </a:solidFill>
                              <a:latin typeface="Cambria Math" panose="02040503050406030204" pitchFamily="18" charset="0"/>
                            </a:rPr>
                            <m:t>𝒔𝒖𝒏𝒇𝒂𝒄</m:t>
                          </m:r>
                          <m:r>
                            <a:rPr lang="en-US" sz="3600" b="1" i="1" dirty="0" err="1">
                              <a:solidFill>
                                <a:srgbClr val="1B74AA"/>
                              </a:solidFill>
                              <a:latin typeface="Cambria Math" panose="02040503050406030204" pitchFamily="18" charset="0"/>
                            </a:rPr>
                            <m:t>𝒆</m:t>
                          </m:r>
                        </m:sub>
                      </m:sSub>
                    </m:oMath>
                  </m:oMathPara>
                </a14:m>
                <a:endParaRPr lang="en-US" sz="3600" b="1" i="1" dirty="0" err="1">
                  <a:solidFill>
                    <a:srgbClr val="1B74AA"/>
                  </a:solidFill>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A7563C52-2DD6-EEAB-89C3-C3793595F8A1}"/>
                  </a:ext>
                </a:extLst>
              </p:cNvPr>
              <p:cNvSpPr txBox="1">
                <a:spLocks noRot="1" noChangeAspect="1" noMove="1" noResize="1" noEditPoints="1" noAdjustHandles="1" noChangeArrowheads="1" noChangeShapeType="1" noTextEdit="1"/>
              </p:cNvSpPr>
              <p:nvPr/>
            </p:nvSpPr>
            <p:spPr>
              <a:xfrm>
                <a:off x="10903077" y="7726679"/>
                <a:ext cx="1838708" cy="661912"/>
              </a:xfrm>
              <a:prstGeom prst="rect">
                <a:avLst/>
              </a:prstGeom>
              <a:blipFill>
                <a:blip r:embed="rId4"/>
                <a:stretch>
                  <a:fillRect/>
                </a:stretch>
              </a:blipFill>
            </p:spPr>
            <p:txBody>
              <a:bodyPr/>
              <a:lstStyle/>
              <a:p>
                <a:r>
                  <a:rPr lang="ja-JP" altLang="en-US">
                    <a:noFill/>
                  </a:rPr>
                  <a:t> </a:t>
                </a:r>
              </a:p>
            </p:txBody>
          </p:sp>
        </mc:Fallback>
      </mc:AlternateContent>
      <p:sp>
        <p:nvSpPr>
          <p:cNvPr id="10" name="TextBox 9">
            <a:extLst>
              <a:ext uri="{FF2B5EF4-FFF2-40B4-BE49-F238E27FC236}">
                <a16:creationId xmlns:a16="http://schemas.microsoft.com/office/drawing/2014/main" id="{6D94D195-5AC4-9EAF-E1D4-8CFD8D03EBBB}"/>
              </a:ext>
            </a:extLst>
          </p:cNvPr>
          <p:cNvSpPr txBox="1"/>
          <p:nvPr/>
        </p:nvSpPr>
        <p:spPr>
          <a:xfrm>
            <a:off x="9092451" y="8641080"/>
            <a:ext cx="5459957" cy="917174"/>
          </a:xfrm>
          <a:prstGeom prst="rect">
            <a:avLst/>
          </a:prstGeom>
          <a:noFill/>
        </p:spPr>
        <p:txBody>
          <a:bodyPr wrap="none" lIns="36576" tIns="27432" rIns="36576" bIns="27432" anchor="t">
            <a:spAutoFit/>
          </a:bodyPr>
          <a:lstStyle/>
          <a:p>
            <a:pPr algn="ctr"/>
            <a:r>
              <a:rPr lang="ja-JP" altLang="ja-JP" sz="2800" b="1" dirty="0"/>
              <a:t>太陽指向面ごとの熱感度</a:t>
            </a:r>
            <a:br>
              <a:rPr lang="ja-JP" altLang="ja-JP" sz="2800" dirty="0"/>
            </a:br>
            <a:r>
              <a:rPr lang="ja-JP" altLang="ja-JP" sz="2800" dirty="0"/>
              <a:t>同じ太陽指向面のケース間で共有</a:t>
            </a:r>
            <a:endParaRPr sz="2500" b="0" dirty="0">
              <a:solidFill>
                <a:srgbClr val="232B34"/>
              </a:solidFill>
              <a:latin typeface="Yu Gothic"/>
            </a:endParaRPr>
          </a:p>
        </p:txBody>
      </p:sp>
      <p:sp>
        <p:nvSpPr>
          <p:cNvPr id="11" name="Rounded Rectangle 10">
            <a:extLst>
              <a:ext uri="{FF2B5EF4-FFF2-40B4-BE49-F238E27FC236}">
                <a16:creationId xmlns:a16="http://schemas.microsoft.com/office/drawing/2014/main" id="{99FF712A-A518-82E8-7D7C-FB6543EC27BC}"/>
              </a:ext>
            </a:extLst>
          </p:cNvPr>
          <p:cNvSpPr/>
          <p:nvPr/>
        </p:nvSpPr>
        <p:spPr>
          <a:xfrm>
            <a:off x="15475749" y="7315200"/>
            <a:ext cx="7357727" cy="3200400"/>
          </a:xfrm>
          <a:prstGeom prst="roundRect">
            <a:avLst/>
          </a:prstGeom>
          <a:solidFill>
            <a:srgbClr val="FFFFFF"/>
          </a:solidFill>
          <a:ln w="2286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0338C20-CC3D-53A2-DDD6-C3FA8C6CD90C}"/>
                  </a:ext>
                </a:extLst>
              </p:cNvPr>
              <p:cNvSpPr txBox="1"/>
              <p:nvPr/>
            </p:nvSpPr>
            <p:spPr>
              <a:xfrm>
                <a:off x="18625506" y="7726679"/>
                <a:ext cx="1207125" cy="60939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3600" b="1" i="1" dirty="0" smtClean="0">
                              <a:solidFill>
                                <a:srgbClr val="EC9427"/>
                              </a:solidFill>
                              <a:latin typeface="Cambria Math" panose="02040503050406030204" pitchFamily="18" charset="0"/>
                            </a:rPr>
                          </m:ctrlPr>
                        </m:sSubPr>
                        <m:e>
                          <m:r>
                            <a:rPr lang="ja-JP" altLang="en-US" sz="3600" b="1" i="1" dirty="0" smtClean="0">
                              <a:solidFill>
                                <a:srgbClr val="EC9427"/>
                              </a:solidFill>
                              <a:latin typeface="Cambria Math" panose="02040503050406030204" pitchFamily="18" charset="0"/>
                            </a:rPr>
                            <m:t>𝒃</m:t>
                          </m:r>
                        </m:e>
                        <m:sub>
                          <m:r>
                            <a:rPr lang="ja-JP" altLang="en-US" sz="3600" b="1" i="1" dirty="0" err="1">
                              <a:solidFill>
                                <a:srgbClr val="EC9427"/>
                              </a:solidFill>
                              <a:latin typeface="Cambria Math" panose="02040503050406030204" pitchFamily="18" charset="0"/>
                            </a:rPr>
                            <m:t>𝒄𝒂𝒔𝒆</m:t>
                          </m:r>
                        </m:sub>
                      </m:sSub>
                    </m:oMath>
                  </m:oMathPara>
                </a14:m>
                <a:endParaRPr lang="en-US" altLang="ja-JP" sz="3600" b="1" i="1" dirty="0" err="1">
                  <a:solidFill>
                    <a:srgbClr val="EC9427"/>
                  </a:solidFill>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10338C20-CC3D-53A2-DDD6-C3FA8C6CD90C}"/>
                  </a:ext>
                </a:extLst>
              </p:cNvPr>
              <p:cNvSpPr txBox="1">
                <a:spLocks noRot="1" noChangeAspect="1" noMove="1" noResize="1" noEditPoints="1" noAdjustHandles="1" noChangeArrowheads="1" noChangeShapeType="1" noTextEdit="1"/>
              </p:cNvSpPr>
              <p:nvPr/>
            </p:nvSpPr>
            <p:spPr>
              <a:xfrm>
                <a:off x="18625506" y="7726679"/>
                <a:ext cx="1207125" cy="609398"/>
              </a:xfrm>
              <a:prstGeom prst="rect">
                <a:avLst/>
              </a:prstGeom>
              <a:blipFill>
                <a:blip r:embed="rId5"/>
                <a:stretch>
                  <a:fillRect/>
                </a:stretch>
              </a:blipFill>
            </p:spPr>
            <p:txBody>
              <a:bodyPr/>
              <a:lstStyle/>
              <a:p>
                <a:r>
                  <a:rPr lang="ja-JP" altLang="en-US">
                    <a:noFill/>
                  </a:rPr>
                  <a:t> </a:t>
                </a:r>
              </a:p>
            </p:txBody>
          </p:sp>
        </mc:Fallback>
      </mc:AlternateContent>
      <p:sp>
        <p:nvSpPr>
          <p:cNvPr id="13" name="TextBox 12">
            <a:extLst>
              <a:ext uri="{FF2B5EF4-FFF2-40B4-BE49-F238E27FC236}">
                <a16:creationId xmlns:a16="http://schemas.microsoft.com/office/drawing/2014/main" id="{156C1A6A-C13A-DA49-FEA6-1393DCCF2BBD}"/>
              </a:ext>
            </a:extLst>
          </p:cNvPr>
          <p:cNvSpPr txBox="1"/>
          <p:nvPr/>
        </p:nvSpPr>
        <p:spPr>
          <a:xfrm>
            <a:off x="15780947" y="8641080"/>
            <a:ext cx="6896247" cy="1348061"/>
          </a:xfrm>
          <a:prstGeom prst="rect">
            <a:avLst/>
          </a:prstGeom>
          <a:noFill/>
        </p:spPr>
        <p:txBody>
          <a:bodyPr wrap="none" lIns="36576" tIns="27432" rIns="36576" bIns="27432" anchor="t">
            <a:spAutoFit/>
          </a:bodyPr>
          <a:lstStyle/>
          <a:p>
            <a:pPr algn="ctr"/>
            <a:r>
              <a:rPr lang="ja-JP" altLang="ja-JP" sz="2800" b="1" dirty="0"/>
              <a:t>ケース依存のDCオフセット</a:t>
            </a:r>
            <a:br>
              <a:rPr lang="ja-JP" altLang="ja-JP" sz="2800" dirty="0"/>
            </a:br>
            <a:r>
              <a:rPr lang="ja-JP" altLang="ja-JP" sz="2800" dirty="0"/>
              <a:t>発熱・被覆・軌道条件による平均差を吸収</a:t>
            </a:r>
            <a:endParaRPr lang="en-US" altLang="ja-JP" sz="2800" dirty="0"/>
          </a:p>
          <a:p>
            <a:pPr algn="ctr"/>
            <a:r>
              <a:rPr lang="ja-JP" altLang="en-US" sz="2800" b="0" dirty="0">
                <a:solidFill>
                  <a:srgbClr val="232B34"/>
                </a:solidFill>
                <a:latin typeface="Yu Gothic"/>
              </a:rPr>
              <a:t>階層</a:t>
            </a:r>
            <a:r>
              <a:rPr lang="en-US" altLang="ja-JP" sz="2800" dirty="0">
                <a:solidFill>
                  <a:srgbClr val="232B34"/>
                </a:solidFill>
                <a:latin typeface="Yu Gothic"/>
              </a:rPr>
              <a:t>2</a:t>
            </a:r>
            <a:r>
              <a:rPr lang="ja-JP" altLang="en-US" sz="2800" dirty="0">
                <a:solidFill>
                  <a:srgbClr val="232B34"/>
                </a:solidFill>
                <a:latin typeface="Yu Gothic"/>
              </a:rPr>
              <a:t>でさらに分解</a:t>
            </a:r>
            <a:endParaRPr sz="2500" b="0" dirty="0">
              <a:solidFill>
                <a:srgbClr val="232B34"/>
              </a:solidFill>
              <a:latin typeface="Yu Gothic"/>
            </a:endParaRPr>
          </a:p>
        </p:txBody>
      </p:sp>
      <p:sp>
        <p:nvSpPr>
          <p:cNvPr id="14" name="Rounded Rectangle 13">
            <a:extLst>
              <a:ext uri="{FF2B5EF4-FFF2-40B4-BE49-F238E27FC236}">
                <a16:creationId xmlns:a16="http://schemas.microsoft.com/office/drawing/2014/main" id="{095A4E42-AE1F-F8B8-A7C8-8D643A29AC71}"/>
              </a:ext>
            </a:extLst>
          </p:cNvPr>
          <p:cNvSpPr/>
          <p:nvPr/>
        </p:nvSpPr>
        <p:spPr>
          <a:xfrm>
            <a:off x="1585431" y="7274142"/>
            <a:ext cx="6583680" cy="320040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F5CEC31-2070-52D1-E5A1-354CA8687420}"/>
              </a:ext>
            </a:extLst>
          </p:cNvPr>
          <p:cNvSpPr txBox="1"/>
          <p:nvPr/>
        </p:nvSpPr>
        <p:spPr>
          <a:xfrm>
            <a:off x="3265387" y="7685621"/>
            <a:ext cx="3223767" cy="609398"/>
          </a:xfrm>
          <a:prstGeom prst="rect">
            <a:avLst/>
          </a:prstGeom>
          <a:noFill/>
        </p:spPr>
        <p:txBody>
          <a:bodyPr wrap="none" lIns="36576" tIns="27432" rIns="36576" bIns="27432" anchor="t">
            <a:spAutoFit/>
          </a:bodyPr>
          <a:lstStyle/>
          <a:p>
            <a:pPr algn="ctr"/>
            <a:r>
              <a:rPr sz="3600" b="1">
                <a:solidFill>
                  <a:srgbClr val="239571"/>
                </a:solidFill>
                <a:latin typeface="Yu Gothic"/>
              </a:rPr>
              <a:t>dominant axis</a:t>
            </a:r>
          </a:p>
        </p:txBody>
      </p:sp>
      <p:sp>
        <p:nvSpPr>
          <p:cNvPr id="16" name="TextBox 15">
            <a:extLst>
              <a:ext uri="{FF2B5EF4-FFF2-40B4-BE49-F238E27FC236}">
                <a16:creationId xmlns:a16="http://schemas.microsoft.com/office/drawing/2014/main" id="{624DD618-4F56-C1E8-95A4-7C8FFA3DB2AB}"/>
              </a:ext>
            </a:extLst>
          </p:cNvPr>
          <p:cNvSpPr txBox="1"/>
          <p:nvPr/>
        </p:nvSpPr>
        <p:spPr>
          <a:xfrm>
            <a:off x="2506367" y="8600022"/>
            <a:ext cx="4741812" cy="1348061"/>
          </a:xfrm>
          <a:prstGeom prst="rect">
            <a:avLst/>
          </a:prstGeom>
          <a:noFill/>
        </p:spPr>
        <p:txBody>
          <a:bodyPr wrap="none" lIns="36576" tIns="27432" rIns="36576" bIns="27432" anchor="t">
            <a:spAutoFit/>
          </a:bodyPr>
          <a:lstStyle/>
          <a:p>
            <a:pPr algn="ctr"/>
            <a:r>
              <a:rPr lang="ja-JP" altLang="ja-JP" sz="2800" b="1" dirty="0"/>
              <a:t>太陽指向面から予測軸を選択</a:t>
            </a:r>
            <a:br>
              <a:rPr lang="ja-JP" altLang="ja-JP" sz="2800" dirty="0"/>
            </a:br>
            <a:r>
              <a:rPr lang="ja-JP" altLang="ja-JP" sz="2800" dirty="0"/>
              <a:t>MX/PX → X軸，MY/PY → Y軸</a:t>
            </a:r>
            <a:br>
              <a:rPr lang="ja-JP" altLang="ja-JP" sz="2800" dirty="0"/>
            </a:br>
            <a:r>
              <a:rPr lang="ja-JP" altLang="ja-JP" sz="2800" dirty="0"/>
              <a:t>非支配軸はstatic biasで扱う</a:t>
            </a:r>
            <a:endParaRPr sz="2500" b="0" dirty="0">
              <a:solidFill>
                <a:srgbClr val="232B34"/>
              </a:solidFill>
              <a:latin typeface="Yu Gothic"/>
            </a:endParaRPr>
          </a:p>
        </p:txBody>
      </p:sp>
      <mc:AlternateContent xmlns:mc="http://schemas.openxmlformats.org/markup-compatibility/2006" xmlns:a14="http://schemas.microsoft.com/office/drawing/2010/main">
        <mc:Choice Requires="a14">
          <p:sp>
            <p:nvSpPr>
              <p:cNvPr id="20" name="TextBox 5">
                <a:extLst>
                  <a:ext uri="{FF2B5EF4-FFF2-40B4-BE49-F238E27FC236}">
                    <a16:creationId xmlns:a16="http://schemas.microsoft.com/office/drawing/2014/main" id="{03E6F5D4-430D-507D-6683-A2B6E9E55979}"/>
                  </a:ext>
                </a:extLst>
              </p:cNvPr>
              <p:cNvSpPr txBox="1"/>
              <p:nvPr/>
            </p:nvSpPr>
            <p:spPr>
              <a:xfrm>
                <a:off x="7654202" y="3741421"/>
                <a:ext cx="9197518" cy="79662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4400" b="1" i="1" dirty="0" smtClean="0">
                              <a:solidFill>
                                <a:srgbClr val="082B52"/>
                              </a:solidFill>
                              <a:latin typeface="Cambria Math" panose="02040503050406030204" pitchFamily="18" charset="0"/>
                            </a:rPr>
                          </m:ctrlPr>
                        </m:sSubPr>
                        <m:e>
                          <m:r>
                            <a:rPr lang="ja-JP" altLang="en-US" sz="4400" b="1" i="1" dirty="0" smtClean="0">
                              <a:solidFill>
                                <a:srgbClr val="082B52"/>
                              </a:solidFill>
                              <a:latin typeface="Cambria Math" panose="02040503050406030204" pitchFamily="18" charset="0"/>
                            </a:rPr>
                            <m:t>𝜽</m:t>
                          </m:r>
                        </m:e>
                        <m:sub>
                          <m:r>
                            <a:rPr lang="ja-JP" altLang="en-US" sz="4400" b="1" i="1" dirty="0" smtClean="0">
                              <a:solidFill>
                                <a:srgbClr val="082B52"/>
                              </a:solidFill>
                              <a:latin typeface="Cambria Math" panose="02040503050406030204" pitchFamily="18" charset="0"/>
                            </a:rPr>
                            <m:t>𝒅𝒐𝒎</m:t>
                          </m:r>
                        </m:sub>
                      </m:sSub>
                      <m:d>
                        <m:dPr>
                          <m:ctrlPr>
                            <a:rPr lang="ja-JP" altLang="en-US" sz="4400" b="1" i="1" dirty="0">
                              <a:solidFill>
                                <a:srgbClr val="082B52"/>
                              </a:solidFill>
                              <a:latin typeface="Cambria Math" panose="02040503050406030204" pitchFamily="18" charset="0"/>
                            </a:rPr>
                          </m:ctrlPr>
                        </m:dPr>
                        <m:e>
                          <m:r>
                            <a:rPr lang="ja-JP" altLang="en-US" sz="4400" b="1" i="1" dirty="0">
                              <a:solidFill>
                                <a:srgbClr val="082B52"/>
                              </a:solidFill>
                              <a:latin typeface="Cambria Math" panose="02040503050406030204" pitchFamily="18" charset="0"/>
                            </a:rPr>
                            <m:t>𝒕</m:t>
                          </m:r>
                        </m:e>
                      </m:d>
                      <m:r>
                        <a:rPr lang="en-US" altLang="ja-JP" sz="4400" b="1" i="1" dirty="0">
                          <a:solidFill>
                            <a:srgbClr val="082B52"/>
                          </a:solidFill>
                          <a:latin typeface="Cambria Math" panose="02040503050406030204" pitchFamily="18" charset="0"/>
                        </a:rPr>
                        <m:t>≈ </m:t>
                      </m:r>
                      <m:sSub>
                        <m:sSubPr>
                          <m:ctrlPr>
                            <a:rPr lang="ja-JP" altLang="en-US" sz="4400" b="1" i="1" dirty="0" err="1">
                              <a:solidFill>
                                <a:srgbClr val="082B52"/>
                              </a:solidFill>
                              <a:latin typeface="Cambria Math" panose="02040503050406030204" pitchFamily="18" charset="0"/>
                            </a:rPr>
                          </m:ctrlPr>
                        </m:sSubPr>
                        <m:e>
                          <m:r>
                            <a:rPr lang="ja-JP" altLang="en-US" sz="4400" b="1" i="1" dirty="0" err="1">
                              <a:solidFill>
                                <a:srgbClr val="082B52"/>
                              </a:solidFill>
                              <a:latin typeface="Cambria Math" panose="02040503050406030204" pitchFamily="18" charset="0"/>
                            </a:rPr>
                            <m:t>𝒂</m:t>
                          </m:r>
                        </m:e>
                        <m:sub>
                          <m:r>
                            <a:rPr lang="ja-JP" altLang="en-US" sz="4400" b="1" i="1" dirty="0" err="1">
                              <a:solidFill>
                                <a:srgbClr val="082B52"/>
                              </a:solidFill>
                              <a:latin typeface="Cambria Math" panose="02040503050406030204" pitchFamily="18" charset="0"/>
                            </a:rPr>
                            <m:t>𝒔𝒖𝒏𝒇𝒂𝒄𝒆</m:t>
                          </m:r>
                        </m:sub>
                      </m:sSub>
                      <m:r>
                        <a:rPr lang="ja-JP" altLang="en-US" sz="4400" b="1" i="1" dirty="0">
                          <a:solidFill>
                            <a:srgbClr val="082B52"/>
                          </a:solidFill>
                          <a:latin typeface="Cambria Math" panose="02040503050406030204" pitchFamily="18" charset="0"/>
                        </a:rPr>
                        <m:t> </m:t>
                      </m:r>
                      <m:r>
                        <a:rPr lang="en-US" altLang="ja-JP" sz="4400" b="1" i="1" dirty="0">
                          <a:solidFill>
                            <a:srgbClr val="082B52"/>
                          </a:solidFill>
                          <a:latin typeface="Cambria Math" panose="02040503050406030204" pitchFamily="18" charset="0"/>
                        </a:rPr>
                        <m:t>· </m:t>
                      </m:r>
                      <m:r>
                        <a:rPr lang="ja-JP" altLang="en-US" sz="4400" b="1" i="0" dirty="0">
                          <a:solidFill>
                            <a:srgbClr val="082B52"/>
                          </a:solidFill>
                          <a:latin typeface="Cambria Math" panose="02040503050406030204" pitchFamily="18" charset="0"/>
                        </a:rPr>
                        <m:t>𝚫</m:t>
                      </m:r>
                      <m:r>
                        <a:rPr lang="ja-JP" altLang="en-US" sz="4400" b="1" i="1" dirty="0">
                          <a:solidFill>
                            <a:srgbClr val="082B52"/>
                          </a:solidFill>
                          <a:latin typeface="Cambria Math" panose="02040503050406030204" pitchFamily="18" charset="0"/>
                        </a:rPr>
                        <m:t>𝑻</m:t>
                      </m:r>
                      <m:d>
                        <m:dPr>
                          <m:ctrlPr>
                            <a:rPr lang="ja-JP" altLang="en-US" sz="4400" b="1" i="1" dirty="0">
                              <a:solidFill>
                                <a:srgbClr val="082B52"/>
                              </a:solidFill>
                              <a:latin typeface="Cambria Math" panose="02040503050406030204" pitchFamily="18" charset="0"/>
                            </a:rPr>
                          </m:ctrlPr>
                        </m:dPr>
                        <m:e>
                          <m:r>
                            <a:rPr lang="ja-JP" altLang="en-US" sz="4400" b="1" i="1" dirty="0">
                              <a:solidFill>
                                <a:srgbClr val="082B52"/>
                              </a:solidFill>
                              <a:latin typeface="Cambria Math" panose="02040503050406030204" pitchFamily="18" charset="0"/>
                            </a:rPr>
                            <m:t>𝒕</m:t>
                          </m:r>
                        </m:e>
                      </m:d>
                      <m:r>
                        <a:rPr lang="en-US" altLang="ja-JP" sz="4400" b="1" i="1" dirty="0" smtClean="0">
                          <a:solidFill>
                            <a:srgbClr val="082B52"/>
                          </a:solidFill>
                          <a:latin typeface="Cambria Math" panose="02040503050406030204" pitchFamily="18" charset="0"/>
                        </a:rPr>
                        <m:t>+</m:t>
                      </m:r>
                      <m:sSub>
                        <m:sSubPr>
                          <m:ctrlPr>
                            <a:rPr lang="ja-JP" altLang="en-US" sz="4400" b="1" i="1" dirty="0" err="1">
                              <a:solidFill>
                                <a:srgbClr val="082B52"/>
                              </a:solidFill>
                              <a:latin typeface="Cambria Math" panose="02040503050406030204" pitchFamily="18" charset="0"/>
                            </a:rPr>
                          </m:ctrlPr>
                        </m:sSubPr>
                        <m:e>
                          <m:r>
                            <a:rPr lang="ja-JP" altLang="en-US" sz="4400" b="1" i="1" dirty="0" err="1">
                              <a:solidFill>
                                <a:srgbClr val="082B52"/>
                              </a:solidFill>
                              <a:latin typeface="Cambria Math" panose="02040503050406030204" pitchFamily="18" charset="0"/>
                            </a:rPr>
                            <m:t>𝒃</m:t>
                          </m:r>
                        </m:e>
                        <m:sub>
                          <m:r>
                            <a:rPr lang="ja-JP" altLang="en-US" sz="4400" b="1" i="1" dirty="0" err="1">
                              <a:solidFill>
                                <a:srgbClr val="082B52"/>
                              </a:solidFill>
                              <a:latin typeface="Cambria Math" panose="02040503050406030204" pitchFamily="18" charset="0"/>
                            </a:rPr>
                            <m:t>𝒄𝒂𝒔𝒆</m:t>
                          </m:r>
                        </m:sub>
                      </m:sSub>
                      <m:r>
                        <a:rPr lang="ja-JP" altLang="en-US" sz="4400" b="1" i="1" dirty="0">
                          <a:solidFill>
                            <a:srgbClr val="082B52"/>
                          </a:solidFill>
                          <a:latin typeface="Cambria Math" panose="02040503050406030204" pitchFamily="18" charset="0"/>
                        </a:rPr>
                        <m:t> </m:t>
                      </m:r>
                    </m:oMath>
                  </m:oMathPara>
                </a14:m>
                <a:endParaRPr dirty="0"/>
              </a:p>
            </p:txBody>
          </p:sp>
        </mc:Choice>
        <mc:Fallback xmlns="">
          <p:sp>
            <p:nvSpPr>
              <p:cNvPr id="20" name="TextBox 5">
                <a:extLst>
                  <a:ext uri="{FF2B5EF4-FFF2-40B4-BE49-F238E27FC236}">
                    <a16:creationId xmlns:a16="http://schemas.microsoft.com/office/drawing/2014/main" id="{03E6F5D4-430D-507D-6683-A2B6E9E55979}"/>
                  </a:ext>
                </a:extLst>
              </p:cNvPr>
              <p:cNvSpPr txBox="1">
                <a:spLocks noRot="1" noChangeAspect="1" noMove="1" noResize="1" noEditPoints="1" noAdjustHandles="1" noChangeArrowheads="1" noChangeShapeType="1" noTextEdit="1"/>
              </p:cNvSpPr>
              <p:nvPr/>
            </p:nvSpPr>
            <p:spPr>
              <a:xfrm>
                <a:off x="7654202" y="3741421"/>
                <a:ext cx="9197518" cy="796628"/>
              </a:xfrm>
              <a:prstGeom prst="rect">
                <a:avLst/>
              </a:prstGeom>
              <a:blipFill>
                <a:blip r:embed="rId6"/>
                <a:stretch>
                  <a:fillRect/>
                </a:stretch>
              </a:blipFill>
            </p:spPr>
            <p:txBody>
              <a:bodyPr/>
              <a:lstStyle/>
              <a:p>
                <a:r>
                  <a:rPr lang="ja-JP" altLang="en-US">
                    <a:noFill/>
                  </a:rPr>
                  <a:t> </a:t>
                </a:r>
              </a:p>
            </p:txBody>
          </p:sp>
        </mc:Fallback>
      </mc:AlternateContent>
      <p:sp>
        <p:nvSpPr>
          <p:cNvPr id="22" name="テキスト ボックス 21">
            <a:extLst>
              <a:ext uri="{FF2B5EF4-FFF2-40B4-BE49-F238E27FC236}">
                <a16:creationId xmlns:a16="http://schemas.microsoft.com/office/drawing/2014/main" id="{82252EB3-5D48-3FDD-0ECE-F0B0AEE1F399}"/>
              </a:ext>
            </a:extLst>
          </p:cNvPr>
          <p:cNvSpPr txBox="1"/>
          <p:nvPr/>
        </p:nvSpPr>
        <p:spPr>
          <a:xfrm>
            <a:off x="6156961" y="11549092"/>
            <a:ext cx="12192000" cy="584775"/>
          </a:xfrm>
          <a:prstGeom prst="rect">
            <a:avLst/>
          </a:prstGeom>
          <a:noFill/>
        </p:spPr>
        <p:txBody>
          <a:bodyPr wrap="square">
            <a:spAutoFit/>
          </a:bodyPr>
          <a:lstStyle/>
          <a:p>
            <a:pPr algn="ctr">
              <a:buNone/>
            </a:pPr>
            <a:r>
              <a:rPr lang="ja-JP" altLang="ja-JP" sz="3200" b="1" dirty="0"/>
              <a:t>時間変動は面間温度差で、ケースごとの差はDCオフセットで表す</a:t>
            </a:r>
            <a:endParaRPr lang="ja-JP" altLang="ja-JP" sz="3200" dirty="0"/>
          </a:p>
        </p:txBody>
      </p:sp>
    </p:spTree>
    <p:extLst>
      <p:ext uri="{BB962C8B-B14F-4D97-AF65-F5344CB8AC3E}">
        <p14:creationId xmlns:p14="http://schemas.microsoft.com/office/powerpoint/2010/main" val="3462377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Hierarchical ΔT model</a:t>
            </a:r>
          </a:p>
        </p:txBody>
      </p:sp>
      <p:sp>
        <p:nvSpPr>
          <p:cNvPr id="3" name="TextBox 2"/>
          <p:cNvSpPr txBox="1"/>
          <p:nvPr/>
        </p:nvSpPr>
        <p:spPr>
          <a:xfrm>
            <a:off x="3094901" y="11393823"/>
            <a:ext cx="18192609" cy="547842"/>
          </a:xfrm>
          <a:prstGeom prst="rect">
            <a:avLst/>
          </a:prstGeom>
          <a:noFill/>
        </p:spPr>
        <p:txBody>
          <a:bodyPr wrap="none" lIns="36576" tIns="27432" rIns="36576" bIns="27432" anchor="t">
            <a:spAutoFit/>
          </a:bodyPr>
          <a:lstStyle/>
          <a:p>
            <a:r>
              <a:rPr lang="ja-JP" altLang="en-US" sz="3200" b="1" dirty="0"/>
              <a:t>階層</a:t>
            </a:r>
            <a:r>
              <a:rPr lang="ja-JP" altLang="ja-JP" sz="3200" b="1" dirty="0"/>
              <a:t> 2では、ケースごとのDCを個別に持たず、太陽指向面と発熱モードから</a:t>
            </a:r>
            <a:r>
              <a:rPr lang="ja-JP" altLang="en-US" sz="3200" b="1" dirty="0"/>
              <a:t>パラメータを</a:t>
            </a:r>
            <a:r>
              <a:rPr lang="ja-JP" altLang="ja-JP" sz="3200" b="1" dirty="0"/>
              <a:t>推定する</a:t>
            </a:r>
            <a:endParaRPr lang="ja-JP" altLang="ja-JP" sz="3200" dirty="0"/>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22</a:t>
            </a:r>
          </a:p>
        </p:txBody>
      </p:sp>
      <p:sp>
        <p:nvSpPr>
          <p:cNvPr id="5" name="Rounded Rectangle 4"/>
          <p:cNvSpPr/>
          <p:nvPr/>
        </p:nvSpPr>
        <p:spPr>
          <a:xfrm>
            <a:off x="1280160" y="2880360"/>
            <a:ext cx="21762720" cy="2468880"/>
          </a:xfrm>
          <a:prstGeom prst="roundRect">
            <a:avLst/>
          </a:prstGeom>
          <a:solidFill>
            <a:srgbClr val="FEF5E6"/>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5955368" y="3821430"/>
                <a:ext cx="12412309" cy="79662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𝒃</m:t>
                          </m:r>
                        </m:e>
                        <m:sub>
                          <m:r>
                            <a:rPr lang="en-US" sz="4400" b="1" i="1" dirty="0" err="1" smtClean="0">
                              <a:solidFill>
                                <a:srgbClr val="082B52"/>
                              </a:solidFill>
                              <a:latin typeface="Cambria Math" panose="02040503050406030204" pitchFamily="18" charset="0"/>
                            </a:rPr>
                            <m:t>𝒄𝒂𝒔𝒆</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𝒃</m:t>
                          </m:r>
                        </m:e>
                        <m:sub>
                          <m:r>
                            <a:rPr lang="en-US" sz="4400" b="1" i="1" dirty="0" smtClean="0">
                              <a:solidFill>
                                <a:srgbClr val="082B52"/>
                              </a:solidFill>
                              <a:latin typeface="Cambria Math" panose="02040503050406030204" pitchFamily="18" charset="0"/>
                            </a:rPr>
                            <m:t>𝟎</m:t>
                          </m:r>
                          <m:r>
                            <a:rPr lang="en-US" sz="4400" b="1" i="1" dirty="0" smtClean="0">
                              <a:solidFill>
                                <a:srgbClr val="082B52"/>
                              </a:solidFill>
                              <a:latin typeface="Cambria Math" panose="02040503050406030204" pitchFamily="18" charset="0"/>
                            </a:rPr>
                            <m:t>,</m:t>
                          </m:r>
                          <m:r>
                            <a:rPr lang="en-US" sz="4400" b="1" i="1" dirty="0" smtClean="0">
                              <a:solidFill>
                                <a:srgbClr val="082B52"/>
                              </a:solidFill>
                              <a:latin typeface="Cambria Math" panose="02040503050406030204" pitchFamily="18" charset="0"/>
                            </a:rPr>
                            <m:t>𝒔𝒖𝒏𝒇𝒂𝒄𝒆</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err="1" smtClean="0">
                              <a:solidFill>
                                <a:srgbClr val="082B52"/>
                              </a:solidFill>
                              <a:latin typeface="Cambria Math" panose="02040503050406030204" pitchFamily="18" charset="0"/>
                            </a:rPr>
                          </m:ctrlPr>
                        </m:sSubPr>
                        <m:e>
                          <m:r>
                            <a:rPr lang="en-US" sz="4400" b="1" i="1" dirty="0" err="1" smtClean="0">
                              <a:solidFill>
                                <a:srgbClr val="082B52"/>
                              </a:solidFill>
                              <a:latin typeface="Cambria Math" panose="02040503050406030204" pitchFamily="18" charset="0"/>
                            </a:rPr>
                            <m:t>𝒄</m:t>
                          </m:r>
                        </m:e>
                        <m:sub>
                          <m:r>
                            <a:rPr lang="en-US" sz="4400" b="1" i="1" dirty="0" err="1" smtClean="0">
                              <a:solidFill>
                                <a:srgbClr val="082B52"/>
                              </a:solidFill>
                              <a:latin typeface="Cambria Math" panose="02040503050406030204" pitchFamily="18" charset="0"/>
                            </a:rPr>
                            <m:t>𝑷𝑹𝑶𝑷</m:t>
                          </m:r>
                        </m:sub>
                      </m:sSub>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𝑰</m:t>
                          </m:r>
                        </m:e>
                        <m:sub>
                          <m:r>
                            <a:rPr lang="en-US" sz="4400" b="1" i="1" dirty="0" smtClean="0">
                              <a:solidFill>
                                <a:srgbClr val="082B52"/>
                              </a:solidFill>
                              <a:latin typeface="Cambria Math" panose="02040503050406030204" pitchFamily="18" charset="0"/>
                            </a:rPr>
                            <m:t>𝑷𝑹𝑶𝑷</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err="1" smtClean="0">
                              <a:solidFill>
                                <a:srgbClr val="082B52"/>
                              </a:solidFill>
                              <a:latin typeface="Cambria Math" panose="02040503050406030204" pitchFamily="18" charset="0"/>
                            </a:rPr>
                          </m:ctrlPr>
                        </m:sSubPr>
                        <m:e>
                          <m:r>
                            <a:rPr lang="en-US" sz="4400" b="1" i="1" dirty="0" err="1" smtClean="0">
                              <a:solidFill>
                                <a:srgbClr val="082B52"/>
                              </a:solidFill>
                              <a:latin typeface="Cambria Math" panose="02040503050406030204" pitchFamily="18" charset="0"/>
                            </a:rPr>
                            <m:t>𝒄</m:t>
                          </m:r>
                        </m:e>
                        <m:sub>
                          <m:r>
                            <a:rPr lang="en-US" sz="4400" b="1" i="1" dirty="0" err="1" smtClean="0">
                              <a:solidFill>
                                <a:srgbClr val="082B52"/>
                              </a:solidFill>
                              <a:latin typeface="Cambria Math" panose="02040503050406030204" pitchFamily="18" charset="0"/>
                            </a:rPr>
                            <m:t>𝑷𝑪𝑫𝑼</m:t>
                          </m:r>
                        </m:sub>
                      </m:sSub>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𝑰</m:t>
                          </m:r>
                        </m:e>
                        <m:sub>
                          <m:r>
                            <a:rPr lang="en-US" sz="4400" b="1" i="1" dirty="0" smtClean="0">
                              <a:solidFill>
                                <a:srgbClr val="082B52"/>
                              </a:solidFill>
                              <a:latin typeface="Cambria Math" panose="02040503050406030204" pitchFamily="18" charset="0"/>
                            </a:rPr>
                            <m:t>𝑷𝑪𝑫𝑼</m:t>
                          </m:r>
                        </m:sub>
                      </m:sSub>
                    </m:oMath>
                  </m:oMathPara>
                </a14:m>
                <a:endParaRPr lang="en-US" sz="4400" b="1" i="1" dirty="0">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955368" y="3821430"/>
                <a:ext cx="12412309" cy="796628"/>
              </a:xfrm>
              <a:prstGeom prst="rect">
                <a:avLst/>
              </a:prstGeom>
              <a:blipFill>
                <a:blip r:embed="rId3"/>
                <a:stretch>
                  <a:fillRect/>
                </a:stretch>
              </a:blipFill>
            </p:spPr>
            <p:txBody>
              <a:bodyPr/>
              <a:lstStyle/>
              <a:p>
                <a:r>
                  <a:rPr lang="ja-JP" altLang="en-US">
                    <a:noFill/>
                  </a:rPr>
                  <a:t> </a:t>
                </a:r>
              </a:p>
            </p:txBody>
          </p:sp>
        </mc:Fallback>
      </mc:AlternateContent>
      <p:sp>
        <p:nvSpPr>
          <p:cNvPr id="10" name="TextBox 2">
            <a:extLst>
              <a:ext uri="{FF2B5EF4-FFF2-40B4-BE49-F238E27FC236}">
                <a16:creationId xmlns:a16="http://schemas.microsoft.com/office/drawing/2014/main" id="{B7CD32FD-27E6-6495-9E63-C7DD0FB625E9}"/>
              </a:ext>
            </a:extLst>
          </p:cNvPr>
          <p:cNvSpPr txBox="1"/>
          <p:nvPr/>
        </p:nvSpPr>
        <p:spPr>
          <a:xfrm>
            <a:off x="1536192" y="1298448"/>
            <a:ext cx="6992427"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階層型 熱ひずみ予測モデル（階層</a:t>
            </a:r>
            <a:r>
              <a:rPr lang="en-US" altLang="ja-JP" sz="3200" b="1" dirty="0">
                <a:solidFill>
                  <a:srgbClr val="082B52"/>
                </a:solidFill>
                <a:latin typeface="Yu Gothic"/>
              </a:rPr>
              <a:t>2</a:t>
            </a:r>
            <a:r>
              <a:rPr lang="ja-JP" altLang="en-US" sz="3200" b="1" dirty="0">
                <a:solidFill>
                  <a:srgbClr val="082B52"/>
                </a:solidFill>
                <a:latin typeface="Yu Gothic"/>
              </a:rPr>
              <a:t>）</a:t>
            </a:r>
          </a:p>
        </p:txBody>
      </p:sp>
      <mc:AlternateContent xmlns:mc="http://schemas.openxmlformats.org/markup-compatibility/2006" xmlns:a14="http://schemas.microsoft.com/office/drawing/2010/main">
        <mc:Choice Requires="a14">
          <p:sp>
            <p:nvSpPr>
              <p:cNvPr id="12" name="TextBox 5">
                <a:extLst>
                  <a:ext uri="{FF2B5EF4-FFF2-40B4-BE49-F238E27FC236}">
                    <a16:creationId xmlns:a16="http://schemas.microsoft.com/office/drawing/2014/main" id="{A28FCEFF-F875-B726-D1A6-C77C2341848B}"/>
                  </a:ext>
                </a:extLst>
              </p:cNvPr>
              <p:cNvSpPr txBox="1"/>
              <p:nvPr/>
            </p:nvSpPr>
            <p:spPr>
              <a:xfrm>
                <a:off x="1420725" y="2971124"/>
                <a:ext cx="5988884" cy="520784"/>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ar-AE" sz="2800" b="0" i="1" dirty="0" smtClean="0">
                              <a:solidFill>
                                <a:schemeClr val="bg2">
                                  <a:lumMod val="75000"/>
                                </a:schemeClr>
                              </a:solidFill>
                              <a:latin typeface="Cambria Math" panose="02040503050406030204" pitchFamily="18" charset="0"/>
                            </a:rPr>
                          </m:ctrlPr>
                        </m:sSubPr>
                        <m:e>
                          <m:r>
                            <a:rPr lang="ja-JP" altLang="ar-AE" sz="2800" b="0" i="1" dirty="0" smtClean="0">
                              <a:solidFill>
                                <a:schemeClr val="bg2">
                                  <a:lumMod val="75000"/>
                                </a:schemeClr>
                              </a:solidFill>
                              <a:latin typeface="Cambria Math" panose="02040503050406030204" pitchFamily="18" charset="0"/>
                            </a:rPr>
                            <m:t>𝜃</m:t>
                          </m:r>
                        </m:e>
                        <m:sub>
                          <m:r>
                            <a:rPr lang="ja-JP" altLang="ar-AE" sz="2800" b="0" i="1" dirty="0" smtClean="0">
                              <a:solidFill>
                                <a:schemeClr val="bg2">
                                  <a:lumMod val="75000"/>
                                </a:schemeClr>
                              </a:solidFill>
                              <a:latin typeface="Cambria Math" panose="02040503050406030204" pitchFamily="18" charset="0"/>
                            </a:rPr>
                            <m:t>𝑑𝑜𝑚</m:t>
                          </m:r>
                        </m:sub>
                      </m:sSub>
                      <m:d>
                        <m:dPr>
                          <m:ctrlPr>
                            <a:rPr lang="ja-JP" altLang="ar-AE" sz="2800" b="0" i="1" dirty="0">
                              <a:solidFill>
                                <a:schemeClr val="bg2">
                                  <a:lumMod val="75000"/>
                                </a:schemeClr>
                              </a:solidFill>
                              <a:latin typeface="Cambria Math" panose="02040503050406030204" pitchFamily="18" charset="0"/>
                            </a:rPr>
                          </m:ctrlPr>
                        </m:dPr>
                        <m:e>
                          <m:r>
                            <a:rPr lang="ja-JP" altLang="ar-AE" sz="2800" b="0" i="1" dirty="0">
                              <a:solidFill>
                                <a:schemeClr val="bg2">
                                  <a:lumMod val="75000"/>
                                </a:schemeClr>
                              </a:solidFill>
                              <a:latin typeface="Cambria Math" panose="02040503050406030204" pitchFamily="18" charset="0"/>
                            </a:rPr>
                            <m:t>𝑡</m:t>
                          </m:r>
                        </m:e>
                      </m:d>
                      <m:r>
                        <a:rPr lang="ar-AE" altLang="ja-JP" sz="2800" b="0" i="1" dirty="0">
                          <a:solidFill>
                            <a:schemeClr val="bg2">
                              <a:lumMod val="75000"/>
                            </a:schemeClr>
                          </a:solidFill>
                          <a:latin typeface="Cambria Math" panose="02040503050406030204" pitchFamily="18" charset="0"/>
                        </a:rPr>
                        <m:t>≈ </m:t>
                      </m:r>
                      <m:sSub>
                        <m:sSubPr>
                          <m:ctrlPr>
                            <a:rPr lang="ja-JP" altLang="ar-AE" sz="2800" b="0" i="1" dirty="0" err="1">
                              <a:solidFill>
                                <a:schemeClr val="bg2">
                                  <a:lumMod val="75000"/>
                                </a:schemeClr>
                              </a:solidFill>
                              <a:latin typeface="Cambria Math" panose="02040503050406030204" pitchFamily="18" charset="0"/>
                            </a:rPr>
                          </m:ctrlPr>
                        </m:sSubPr>
                        <m:e>
                          <m:r>
                            <a:rPr lang="ja-JP" altLang="ar-AE" sz="2800" b="0" i="1" dirty="0" err="1">
                              <a:solidFill>
                                <a:schemeClr val="bg2">
                                  <a:lumMod val="75000"/>
                                </a:schemeClr>
                              </a:solidFill>
                              <a:latin typeface="Cambria Math" panose="02040503050406030204" pitchFamily="18" charset="0"/>
                            </a:rPr>
                            <m:t>𝑎</m:t>
                          </m:r>
                        </m:e>
                        <m:sub>
                          <m:r>
                            <a:rPr lang="ja-JP" altLang="ar-AE" sz="2800" b="0" i="1" dirty="0" err="1">
                              <a:solidFill>
                                <a:schemeClr val="bg2">
                                  <a:lumMod val="75000"/>
                                </a:schemeClr>
                              </a:solidFill>
                              <a:latin typeface="Cambria Math" panose="02040503050406030204" pitchFamily="18" charset="0"/>
                            </a:rPr>
                            <m:t>𝑠𝑢𝑛𝑓𝑎𝑐𝑒</m:t>
                          </m:r>
                        </m:sub>
                      </m:sSub>
                      <m:r>
                        <a:rPr lang="ar-AE" altLang="ja-JP" sz="2800" b="0" i="1" dirty="0">
                          <a:solidFill>
                            <a:schemeClr val="bg2">
                              <a:lumMod val="75000"/>
                            </a:schemeClr>
                          </a:solidFill>
                          <a:latin typeface="Cambria Math" panose="02040503050406030204" pitchFamily="18" charset="0"/>
                        </a:rPr>
                        <m:t> · </m:t>
                      </m:r>
                      <m:r>
                        <m:rPr>
                          <m:sty m:val="p"/>
                        </m:rPr>
                        <a:rPr lang="ja-JP" altLang="ar-AE" sz="2800" b="0" i="0" dirty="0">
                          <a:solidFill>
                            <a:schemeClr val="bg2">
                              <a:lumMod val="75000"/>
                            </a:schemeClr>
                          </a:solidFill>
                          <a:latin typeface="Cambria Math" panose="02040503050406030204" pitchFamily="18" charset="0"/>
                        </a:rPr>
                        <m:t>Δ</m:t>
                      </m:r>
                      <m:r>
                        <a:rPr lang="ja-JP" altLang="ar-AE" sz="2800" b="0" i="1" dirty="0">
                          <a:solidFill>
                            <a:schemeClr val="bg2">
                              <a:lumMod val="75000"/>
                            </a:schemeClr>
                          </a:solidFill>
                          <a:latin typeface="Cambria Math" panose="02040503050406030204" pitchFamily="18" charset="0"/>
                        </a:rPr>
                        <m:t>𝑇</m:t>
                      </m:r>
                      <m:d>
                        <m:dPr>
                          <m:ctrlPr>
                            <a:rPr lang="ja-JP" altLang="ar-AE" sz="2800" b="0" i="1" dirty="0">
                              <a:solidFill>
                                <a:schemeClr val="bg2">
                                  <a:lumMod val="75000"/>
                                </a:schemeClr>
                              </a:solidFill>
                              <a:latin typeface="Cambria Math" panose="02040503050406030204" pitchFamily="18" charset="0"/>
                            </a:rPr>
                          </m:ctrlPr>
                        </m:dPr>
                        <m:e>
                          <m:r>
                            <a:rPr lang="ja-JP" altLang="ar-AE" sz="2800" b="0" i="1" dirty="0">
                              <a:solidFill>
                                <a:schemeClr val="bg2">
                                  <a:lumMod val="75000"/>
                                </a:schemeClr>
                              </a:solidFill>
                              <a:latin typeface="Cambria Math" panose="02040503050406030204" pitchFamily="18" charset="0"/>
                            </a:rPr>
                            <m:t>𝑡</m:t>
                          </m:r>
                        </m:e>
                      </m:d>
                      <m:r>
                        <a:rPr lang="ar-AE" altLang="ja-JP" sz="2800" b="0" i="1" dirty="0" smtClean="0">
                          <a:solidFill>
                            <a:schemeClr val="bg2">
                              <a:lumMod val="75000"/>
                            </a:schemeClr>
                          </a:solidFill>
                          <a:latin typeface="Cambria Math" panose="02040503050406030204" pitchFamily="18" charset="0"/>
                        </a:rPr>
                        <m:t>+</m:t>
                      </m:r>
                      <m:sSub>
                        <m:sSubPr>
                          <m:ctrlPr>
                            <a:rPr lang="ja-JP" altLang="ar-AE" sz="2800" b="1" i="1" dirty="0" err="1">
                              <a:solidFill>
                                <a:schemeClr val="tx2">
                                  <a:lumMod val="50000"/>
                                </a:schemeClr>
                              </a:solidFill>
                              <a:latin typeface="Cambria Math" panose="02040503050406030204" pitchFamily="18" charset="0"/>
                            </a:rPr>
                          </m:ctrlPr>
                        </m:sSubPr>
                        <m:e>
                          <m:r>
                            <a:rPr lang="ja-JP" altLang="ar-AE" sz="2800" b="1" i="1" dirty="0" err="1">
                              <a:solidFill>
                                <a:schemeClr val="tx2">
                                  <a:lumMod val="50000"/>
                                </a:schemeClr>
                              </a:solidFill>
                              <a:latin typeface="Cambria Math" panose="02040503050406030204" pitchFamily="18" charset="0"/>
                            </a:rPr>
                            <m:t>𝒃</m:t>
                          </m:r>
                        </m:e>
                        <m:sub>
                          <m:r>
                            <a:rPr lang="ja-JP" altLang="ar-AE" sz="2800" b="1" i="1" dirty="0" err="1">
                              <a:solidFill>
                                <a:schemeClr val="tx2">
                                  <a:lumMod val="50000"/>
                                </a:schemeClr>
                              </a:solidFill>
                              <a:latin typeface="Cambria Math" panose="02040503050406030204" pitchFamily="18" charset="0"/>
                            </a:rPr>
                            <m:t>𝒄𝒂𝒔𝒆</m:t>
                          </m:r>
                        </m:sub>
                      </m:sSub>
                      <m:r>
                        <a:rPr lang="en-US" altLang="ja-JP" sz="2800" b="0" i="1" dirty="0" smtClean="0">
                          <a:solidFill>
                            <a:schemeClr val="tx2">
                              <a:lumMod val="50000"/>
                            </a:schemeClr>
                          </a:solidFill>
                          <a:latin typeface="Cambria Math" panose="02040503050406030204" pitchFamily="18" charset="0"/>
                        </a:rPr>
                        <m:t>, </m:t>
                      </m:r>
                      <m:r>
                        <a:rPr lang="ar-AE" altLang="ja-JP" sz="2800" b="0" i="1" dirty="0">
                          <a:solidFill>
                            <a:schemeClr val="tx2">
                              <a:lumMod val="50000"/>
                            </a:schemeClr>
                          </a:solidFill>
                          <a:latin typeface="Cambria Math" panose="02040503050406030204" pitchFamily="18" charset="0"/>
                        </a:rPr>
                        <m:t> </m:t>
                      </m:r>
                    </m:oMath>
                  </m:oMathPara>
                </a14:m>
                <a:endParaRPr lang="ar-AE" sz="2800" dirty="0">
                  <a:solidFill>
                    <a:schemeClr val="bg2">
                      <a:lumMod val="75000"/>
                    </a:schemeClr>
                  </a:solidFill>
                </a:endParaRPr>
              </a:p>
            </p:txBody>
          </p:sp>
        </mc:Choice>
        <mc:Fallback xmlns="">
          <p:sp>
            <p:nvSpPr>
              <p:cNvPr id="12" name="TextBox 5">
                <a:extLst>
                  <a:ext uri="{FF2B5EF4-FFF2-40B4-BE49-F238E27FC236}">
                    <a16:creationId xmlns:a16="http://schemas.microsoft.com/office/drawing/2014/main" id="{A28FCEFF-F875-B726-D1A6-C77C2341848B}"/>
                  </a:ext>
                </a:extLst>
              </p:cNvPr>
              <p:cNvSpPr txBox="1">
                <a:spLocks noRot="1" noChangeAspect="1" noMove="1" noResize="1" noEditPoints="1" noAdjustHandles="1" noChangeArrowheads="1" noChangeShapeType="1" noTextEdit="1"/>
              </p:cNvSpPr>
              <p:nvPr/>
            </p:nvSpPr>
            <p:spPr>
              <a:xfrm>
                <a:off x="1420725" y="2971124"/>
                <a:ext cx="5988884" cy="520784"/>
              </a:xfrm>
              <a:prstGeom prst="rect">
                <a:avLst/>
              </a:prstGeom>
              <a:blipFill>
                <a:blip r:embed="rId4"/>
                <a:stretch>
                  <a:fillRect/>
                </a:stretch>
              </a:blipFill>
            </p:spPr>
            <p:txBody>
              <a:bodyPr/>
              <a:lstStyle/>
              <a:p>
                <a:r>
                  <a:rPr lang="ja-JP" altLang="en-US">
                    <a:noFill/>
                  </a:rPr>
                  <a:t> </a:t>
                </a:r>
              </a:p>
            </p:txBody>
          </p:sp>
        </mc:Fallback>
      </mc:AlternateContent>
      <p:sp>
        <p:nvSpPr>
          <p:cNvPr id="14" name="Rounded Rectangle 7">
            <a:extLst>
              <a:ext uri="{FF2B5EF4-FFF2-40B4-BE49-F238E27FC236}">
                <a16:creationId xmlns:a16="http://schemas.microsoft.com/office/drawing/2014/main" id="{A90963F6-3FA2-506C-2E09-B7E02E8BF98B}"/>
              </a:ext>
            </a:extLst>
          </p:cNvPr>
          <p:cNvSpPr/>
          <p:nvPr/>
        </p:nvSpPr>
        <p:spPr>
          <a:xfrm>
            <a:off x="8530590" y="7315200"/>
            <a:ext cx="6583680" cy="320040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6" name="TextBox 8">
                <a:extLst>
                  <a:ext uri="{FF2B5EF4-FFF2-40B4-BE49-F238E27FC236}">
                    <a16:creationId xmlns:a16="http://schemas.microsoft.com/office/drawing/2014/main" id="{1409AF15-31B8-FE4F-F15B-276B2B34E0F9}"/>
                  </a:ext>
                </a:extLst>
              </p:cNvPr>
              <p:cNvSpPr txBox="1"/>
              <p:nvPr/>
            </p:nvSpPr>
            <p:spPr>
              <a:xfrm>
                <a:off x="10557662" y="7726679"/>
                <a:ext cx="2529539" cy="60939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altLang="ja-JP" sz="3600" b="1" i="1" dirty="0" err="1">
                              <a:solidFill>
                                <a:srgbClr val="0070C0"/>
                              </a:solidFill>
                              <a:latin typeface="Cambria Math" panose="02040503050406030204" pitchFamily="18" charset="0"/>
                            </a:rPr>
                          </m:ctrlPr>
                        </m:sSubPr>
                        <m:e>
                          <m:r>
                            <a:rPr lang="en-US" altLang="ja-JP" sz="3600" b="1" i="1" dirty="0" err="1">
                              <a:solidFill>
                                <a:srgbClr val="0070C0"/>
                              </a:solidFill>
                              <a:latin typeface="Cambria Math" panose="02040503050406030204" pitchFamily="18" charset="0"/>
                            </a:rPr>
                            <m:t>𝒄</m:t>
                          </m:r>
                        </m:e>
                        <m:sub>
                          <m:r>
                            <a:rPr lang="en-US" altLang="ja-JP" sz="3600" b="1" i="1" dirty="0" err="1">
                              <a:solidFill>
                                <a:srgbClr val="0070C0"/>
                              </a:solidFill>
                              <a:latin typeface="Cambria Math" panose="02040503050406030204" pitchFamily="18" charset="0"/>
                            </a:rPr>
                            <m:t>𝑷𝑹𝑶𝑷</m:t>
                          </m:r>
                        </m:sub>
                      </m:sSub>
                      <m:sSub>
                        <m:sSubPr>
                          <m:ctrlPr>
                            <a:rPr lang="en-US" altLang="ja-JP" sz="3600" b="1" i="1" dirty="0">
                              <a:solidFill>
                                <a:srgbClr val="0070C0"/>
                              </a:solidFill>
                              <a:latin typeface="Cambria Math" panose="02040503050406030204" pitchFamily="18" charset="0"/>
                            </a:rPr>
                          </m:ctrlPr>
                        </m:sSubPr>
                        <m:e>
                          <m:r>
                            <a:rPr lang="en-US" altLang="ja-JP" sz="3600" b="1" i="1" dirty="0">
                              <a:solidFill>
                                <a:srgbClr val="0070C0"/>
                              </a:solidFill>
                              <a:latin typeface="Cambria Math" panose="02040503050406030204" pitchFamily="18" charset="0"/>
                            </a:rPr>
                            <m:t>𝑰</m:t>
                          </m:r>
                        </m:e>
                        <m:sub>
                          <m:r>
                            <a:rPr lang="en-US" altLang="ja-JP" sz="3600" b="1" i="1" dirty="0">
                              <a:solidFill>
                                <a:srgbClr val="0070C0"/>
                              </a:solidFill>
                              <a:latin typeface="Cambria Math" panose="02040503050406030204" pitchFamily="18" charset="0"/>
                            </a:rPr>
                            <m:t>𝑷𝑹𝑶𝑷</m:t>
                          </m:r>
                        </m:sub>
                      </m:sSub>
                    </m:oMath>
                  </m:oMathPara>
                </a14:m>
                <a:endParaRPr lang="en-US" sz="3600" b="1" i="1" dirty="0" err="1">
                  <a:solidFill>
                    <a:srgbClr val="0070C0"/>
                  </a:solidFill>
                  <a:latin typeface="Cambria Math" panose="02040503050406030204" pitchFamily="18" charset="0"/>
                </a:endParaRPr>
              </a:p>
            </p:txBody>
          </p:sp>
        </mc:Choice>
        <mc:Fallback xmlns="">
          <p:sp>
            <p:nvSpPr>
              <p:cNvPr id="16" name="TextBox 8">
                <a:extLst>
                  <a:ext uri="{FF2B5EF4-FFF2-40B4-BE49-F238E27FC236}">
                    <a16:creationId xmlns:a16="http://schemas.microsoft.com/office/drawing/2014/main" id="{1409AF15-31B8-FE4F-F15B-276B2B34E0F9}"/>
                  </a:ext>
                </a:extLst>
              </p:cNvPr>
              <p:cNvSpPr txBox="1">
                <a:spLocks noRot="1" noChangeAspect="1" noMove="1" noResize="1" noEditPoints="1" noAdjustHandles="1" noChangeArrowheads="1" noChangeShapeType="1" noTextEdit="1"/>
              </p:cNvSpPr>
              <p:nvPr/>
            </p:nvSpPr>
            <p:spPr>
              <a:xfrm>
                <a:off x="10557662" y="7726679"/>
                <a:ext cx="2529539" cy="609398"/>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TextBox 9">
                <a:extLst>
                  <a:ext uri="{FF2B5EF4-FFF2-40B4-BE49-F238E27FC236}">
                    <a16:creationId xmlns:a16="http://schemas.microsoft.com/office/drawing/2014/main" id="{2F7F5DE6-BF34-767A-0199-A4E7711568CC}"/>
                  </a:ext>
                </a:extLst>
              </p:cNvPr>
              <p:cNvSpPr txBox="1"/>
              <p:nvPr/>
            </p:nvSpPr>
            <p:spPr>
              <a:xfrm>
                <a:off x="9092451" y="8641080"/>
                <a:ext cx="5754268" cy="1348061"/>
              </a:xfrm>
              <a:prstGeom prst="rect">
                <a:avLst/>
              </a:prstGeom>
              <a:noFill/>
            </p:spPr>
            <p:txBody>
              <a:bodyPr wrap="none" lIns="36576" tIns="27432" rIns="36576" bIns="27432" anchor="t">
                <a:spAutoFit/>
              </a:bodyPr>
              <a:lstStyle/>
              <a:p>
                <a:pPr algn="ctr"/>
                <a:r>
                  <a:rPr lang="ja-JP" altLang="ja-JP" sz="2800" b="1" dirty="0"/>
                  <a:t>PROP発熱によるDC補正</a:t>
                </a:r>
                <a:endParaRPr lang="ja-JP" altLang="ja-JP" sz="2800" dirty="0"/>
              </a:p>
              <a:p>
                <a:pPr algn="ct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𝐼</m:t>
                        </m:r>
                      </m:e>
                      <m:sub>
                        <m:r>
                          <m:rPr>
                            <m:sty m:val="p"/>
                          </m:rPr>
                          <a:rPr lang="en-US" altLang="ja-JP">
                            <a:latin typeface="Cambria Math" panose="02040503050406030204" pitchFamily="18" charset="0"/>
                          </a:rPr>
                          <m:t>PROP</m:t>
                        </m:r>
                      </m:sub>
                    </m:sSub>
                  </m:oMath>
                </a14:m>
                <a:r>
                  <a:rPr lang="ja-JP" altLang="ja-JP" sz="2800" dirty="0"/>
                  <a:t>：PROPのON/OFFフラグ </a:t>
                </a:r>
              </a:p>
              <a:p>
                <a:pPr algn="ct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𝑐</m:t>
                        </m:r>
                      </m:e>
                      <m:sub>
                        <m:r>
                          <m:rPr>
                            <m:sty m:val="p"/>
                          </m:rPr>
                          <a:rPr lang="en-US" altLang="ja-JP">
                            <a:latin typeface="Cambria Math" panose="02040503050406030204" pitchFamily="18" charset="0"/>
                          </a:rPr>
                          <m:t>PROP</m:t>
                        </m:r>
                      </m:sub>
                    </m:sSub>
                  </m:oMath>
                </a14:m>
                <a:r>
                  <a:rPr lang="ja-JP" altLang="ja-JP" sz="2800" dirty="0"/>
                  <a:t>：PROP発熱による平均LOS変化</a:t>
                </a:r>
              </a:p>
            </p:txBody>
          </p:sp>
        </mc:Choice>
        <mc:Fallback xmlns="">
          <p:sp>
            <p:nvSpPr>
              <p:cNvPr id="18" name="TextBox 9">
                <a:extLst>
                  <a:ext uri="{FF2B5EF4-FFF2-40B4-BE49-F238E27FC236}">
                    <a16:creationId xmlns:a16="http://schemas.microsoft.com/office/drawing/2014/main" id="{2F7F5DE6-BF34-767A-0199-A4E7711568CC}"/>
                  </a:ext>
                </a:extLst>
              </p:cNvPr>
              <p:cNvSpPr txBox="1">
                <a:spLocks noRot="1" noChangeAspect="1" noMove="1" noResize="1" noEditPoints="1" noAdjustHandles="1" noChangeArrowheads="1" noChangeShapeType="1" noTextEdit="1"/>
              </p:cNvSpPr>
              <p:nvPr/>
            </p:nvSpPr>
            <p:spPr>
              <a:xfrm>
                <a:off x="9092451" y="8641080"/>
                <a:ext cx="5754268" cy="1348061"/>
              </a:xfrm>
              <a:prstGeom prst="rect">
                <a:avLst/>
              </a:prstGeom>
              <a:blipFill>
                <a:blip r:embed="rId6"/>
                <a:stretch>
                  <a:fillRect t="-6335" r="-2439" b="-13122"/>
                </a:stretch>
              </a:blipFill>
            </p:spPr>
            <p:txBody>
              <a:bodyPr/>
              <a:lstStyle/>
              <a:p>
                <a:r>
                  <a:rPr lang="ja-JP" altLang="en-US">
                    <a:noFill/>
                  </a:rPr>
                  <a:t> </a:t>
                </a:r>
              </a:p>
            </p:txBody>
          </p:sp>
        </mc:Fallback>
      </mc:AlternateContent>
      <p:sp>
        <p:nvSpPr>
          <p:cNvPr id="20" name="Rounded Rectangle 10">
            <a:extLst>
              <a:ext uri="{FF2B5EF4-FFF2-40B4-BE49-F238E27FC236}">
                <a16:creationId xmlns:a16="http://schemas.microsoft.com/office/drawing/2014/main" id="{F0AEC11E-62AC-2CBC-6172-65B5E89CFE46}"/>
              </a:ext>
            </a:extLst>
          </p:cNvPr>
          <p:cNvSpPr/>
          <p:nvPr/>
        </p:nvSpPr>
        <p:spPr>
          <a:xfrm>
            <a:off x="15475749" y="7315200"/>
            <a:ext cx="7357727" cy="3200400"/>
          </a:xfrm>
          <a:prstGeom prst="roundRect">
            <a:avLst/>
          </a:prstGeom>
          <a:solidFill>
            <a:srgbClr val="FFFFFF"/>
          </a:solidFill>
          <a:ln w="2286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2" name="TextBox 11">
                <a:extLst>
                  <a:ext uri="{FF2B5EF4-FFF2-40B4-BE49-F238E27FC236}">
                    <a16:creationId xmlns:a16="http://schemas.microsoft.com/office/drawing/2014/main" id="{AB1F0E2F-F40E-5B38-2C98-C248628BDC53}"/>
                  </a:ext>
                </a:extLst>
              </p:cNvPr>
              <p:cNvSpPr txBox="1"/>
              <p:nvPr/>
            </p:nvSpPr>
            <p:spPr>
              <a:xfrm>
                <a:off x="17965902" y="7726679"/>
                <a:ext cx="2526333" cy="60939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altLang="ja-JP" sz="3600" b="1" i="1" dirty="0" err="1">
                              <a:solidFill>
                                <a:schemeClr val="accent3"/>
                              </a:solidFill>
                              <a:latin typeface="Cambria Math" panose="02040503050406030204" pitchFamily="18" charset="0"/>
                            </a:rPr>
                          </m:ctrlPr>
                        </m:sSubPr>
                        <m:e>
                          <m:r>
                            <a:rPr lang="en-US" altLang="ja-JP" sz="3600" b="1" i="1" dirty="0" err="1">
                              <a:solidFill>
                                <a:schemeClr val="accent3"/>
                              </a:solidFill>
                              <a:latin typeface="Cambria Math" panose="02040503050406030204" pitchFamily="18" charset="0"/>
                            </a:rPr>
                            <m:t>𝒄</m:t>
                          </m:r>
                        </m:e>
                        <m:sub>
                          <m:r>
                            <a:rPr lang="en-US" altLang="ja-JP" sz="3600" b="1" i="1" dirty="0" err="1">
                              <a:solidFill>
                                <a:schemeClr val="accent3"/>
                              </a:solidFill>
                              <a:latin typeface="Cambria Math" panose="02040503050406030204" pitchFamily="18" charset="0"/>
                            </a:rPr>
                            <m:t>𝑷𝑪𝑫𝑼</m:t>
                          </m:r>
                        </m:sub>
                      </m:sSub>
                      <m:sSub>
                        <m:sSubPr>
                          <m:ctrlPr>
                            <a:rPr lang="en-US" altLang="ja-JP" sz="3600" b="1" i="1" dirty="0">
                              <a:solidFill>
                                <a:schemeClr val="accent3"/>
                              </a:solidFill>
                              <a:latin typeface="Cambria Math" panose="02040503050406030204" pitchFamily="18" charset="0"/>
                            </a:rPr>
                          </m:ctrlPr>
                        </m:sSubPr>
                        <m:e>
                          <m:r>
                            <a:rPr lang="en-US" altLang="ja-JP" sz="3600" b="1" i="1" dirty="0">
                              <a:solidFill>
                                <a:schemeClr val="accent3"/>
                              </a:solidFill>
                              <a:latin typeface="Cambria Math" panose="02040503050406030204" pitchFamily="18" charset="0"/>
                            </a:rPr>
                            <m:t>𝑰</m:t>
                          </m:r>
                        </m:e>
                        <m:sub>
                          <m:r>
                            <a:rPr lang="en-US" altLang="ja-JP" sz="3600" b="1" i="1" dirty="0">
                              <a:solidFill>
                                <a:schemeClr val="accent3"/>
                              </a:solidFill>
                              <a:latin typeface="Cambria Math" panose="02040503050406030204" pitchFamily="18" charset="0"/>
                            </a:rPr>
                            <m:t>𝑷𝑪𝑫𝑼</m:t>
                          </m:r>
                        </m:sub>
                      </m:sSub>
                    </m:oMath>
                  </m:oMathPara>
                </a14:m>
                <a:endParaRPr lang="en-US" altLang="ja-JP" sz="3600" b="1" i="1" dirty="0" err="1">
                  <a:solidFill>
                    <a:schemeClr val="accent3"/>
                  </a:solidFill>
                  <a:latin typeface="Cambria Math" panose="02040503050406030204" pitchFamily="18" charset="0"/>
                </a:endParaRPr>
              </a:p>
            </p:txBody>
          </p:sp>
        </mc:Choice>
        <mc:Fallback xmlns="">
          <p:sp>
            <p:nvSpPr>
              <p:cNvPr id="22" name="TextBox 11">
                <a:extLst>
                  <a:ext uri="{FF2B5EF4-FFF2-40B4-BE49-F238E27FC236}">
                    <a16:creationId xmlns:a16="http://schemas.microsoft.com/office/drawing/2014/main" id="{AB1F0E2F-F40E-5B38-2C98-C248628BDC53}"/>
                  </a:ext>
                </a:extLst>
              </p:cNvPr>
              <p:cNvSpPr txBox="1">
                <a:spLocks noRot="1" noChangeAspect="1" noMove="1" noResize="1" noEditPoints="1" noAdjustHandles="1" noChangeArrowheads="1" noChangeShapeType="1" noTextEdit="1"/>
              </p:cNvSpPr>
              <p:nvPr/>
            </p:nvSpPr>
            <p:spPr>
              <a:xfrm>
                <a:off x="17965902" y="7726679"/>
                <a:ext cx="2526333" cy="609398"/>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TextBox 12">
                <a:extLst>
                  <a:ext uri="{FF2B5EF4-FFF2-40B4-BE49-F238E27FC236}">
                    <a16:creationId xmlns:a16="http://schemas.microsoft.com/office/drawing/2014/main" id="{A65BCCBD-7FE8-390D-DD78-B2A588716069}"/>
                  </a:ext>
                </a:extLst>
              </p:cNvPr>
              <p:cNvSpPr txBox="1"/>
              <p:nvPr/>
            </p:nvSpPr>
            <p:spPr>
              <a:xfrm>
                <a:off x="15780947" y="8641080"/>
                <a:ext cx="5816336" cy="1348061"/>
              </a:xfrm>
              <a:prstGeom prst="rect">
                <a:avLst/>
              </a:prstGeom>
              <a:noFill/>
            </p:spPr>
            <p:txBody>
              <a:bodyPr wrap="none" lIns="36576" tIns="27432" rIns="36576" bIns="27432" anchor="t">
                <a:spAutoFit/>
              </a:bodyPr>
              <a:lstStyle/>
              <a:p>
                <a:pPr algn="ctr"/>
                <a:r>
                  <a:rPr lang="ja-JP" altLang="ja-JP" sz="2800" b="1" dirty="0"/>
                  <a:t>PCDU発熱によるDC補正</a:t>
                </a:r>
                <a:endParaRPr lang="ja-JP" altLang="ja-JP" sz="2800" dirty="0"/>
              </a:p>
              <a:p>
                <a:pPr algn="ctr"/>
                <a14:m>
                  <m:oMath xmlns:m="http://schemas.openxmlformats.org/officeDocument/2006/math">
                    <m:sSub>
                      <m:sSubPr>
                        <m:ctrlPr>
                          <a:rPr lang="ja-JP" altLang="en-US" i="1" smtClean="0">
                            <a:latin typeface="Cambria Math" panose="02040503050406030204" pitchFamily="18" charset="0"/>
                          </a:rPr>
                        </m:ctrlPr>
                      </m:sSubPr>
                      <m:e>
                        <m:r>
                          <a:rPr lang="ja-JP" altLang="en-US" i="1" smtClean="0">
                            <a:latin typeface="Cambria Math" panose="02040503050406030204" pitchFamily="18" charset="0"/>
                          </a:rPr>
                          <m:t>𝐼</m:t>
                        </m:r>
                      </m:e>
                      <m:sub>
                        <m:r>
                          <m:rPr>
                            <m:sty m:val="p"/>
                          </m:rPr>
                          <a:rPr lang="en-US" altLang="ja-JP" smtClean="0">
                            <a:latin typeface="Cambria Math" panose="02040503050406030204" pitchFamily="18" charset="0"/>
                          </a:rPr>
                          <m:t>PCDU</m:t>
                        </m:r>
                      </m:sub>
                    </m:sSub>
                  </m:oMath>
                </a14:m>
                <a:r>
                  <a:rPr lang="ja-JP" altLang="ja-JP" sz="2800" dirty="0"/>
                  <a:t>：PCDUのON/OFFフラグ </a:t>
                </a:r>
              </a:p>
              <a:p>
                <a:pPr algn="ctr"/>
                <a14:m>
                  <m:oMath xmlns:m="http://schemas.openxmlformats.org/officeDocument/2006/math">
                    <m:sSub>
                      <m:sSubPr>
                        <m:ctrlPr>
                          <a:rPr lang="ja-JP" altLang="en-US" i="1" smtClean="0">
                            <a:latin typeface="Cambria Math" panose="02040503050406030204" pitchFamily="18" charset="0"/>
                          </a:rPr>
                        </m:ctrlPr>
                      </m:sSubPr>
                      <m:e>
                        <m:r>
                          <a:rPr lang="ja-JP" altLang="en-US" i="1" smtClean="0">
                            <a:latin typeface="Cambria Math" panose="02040503050406030204" pitchFamily="18" charset="0"/>
                          </a:rPr>
                          <m:t>𝑐</m:t>
                        </m:r>
                      </m:e>
                      <m:sub>
                        <m:r>
                          <m:rPr>
                            <m:sty m:val="p"/>
                          </m:rPr>
                          <a:rPr lang="en-US" altLang="ja-JP" smtClean="0">
                            <a:latin typeface="Cambria Math" panose="02040503050406030204" pitchFamily="18" charset="0"/>
                          </a:rPr>
                          <m:t>PCDU</m:t>
                        </m:r>
                      </m:sub>
                    </m:sSub>
                  </m:oMath>
                </a14:m>
                <a:r>
                  <a:rPr lang="ja-JP" altLang="ja-JP" sz="2800" dirty="0"/>
                  <a:t>：PCDU発熱による平均LOS変化</a:t>
                </a:r>
              </a:p>
            </p:txBody>
          </p:sp>
        </mc:Choice>
        <mc:Fallback xmlns="">
          <p:sp>
            <p:nvSpPr>
              <p:cNvPr id="24" name="TextBox 12">
                <a:extLst>
                  <a:ext uri="{FF2B5EF4-FFF2-40B4-BE49-F238E27FC236}">
                    <a16:creationId xmlns:a16="http://schemas.microsoft.com/office/drawing/2014/main" id="{A65BCCBD-7FE8-390D-DD78-B2A588716069}"/>
                  </a:ext>
                </a:extLst>
              </p:cNvPr>
              <p:cNvSpPr txBox="1">
                <a:spLocks noRot="1" noChangeAspect="1" noMove="1" noResize="1" noEditPoints="1" noAdjustHandles="1" noChangeArrowheads="1" noChangeShapeType="1" noTextEdit="1"/>
              </p:cNvSpPr>
              <p:nvPr/>
            </p:nvSpPr>
            <p:spPr>
              <a:xfrm>
                <a:off x="15780947" y="8641080"/>
                <a:ext cx="5816336" cy="1348061"/>
              </a:xfrm>
              <a:prstGeom prst="rect">
                <a:avLst/>
              </a:prstGeom>
              <a:blipFill>
                <a:blip r:embed="rId8"/>
                <a:stretch>
                  <a:fillRect t="-6335" r="-2306" b="-13122"/>
                </a:stretch>
              </a:blipFill>
            </p:spPr>
            <p:txBody>
              <a:bodyPr/>
              <a:lstStyle/>
              <a:p>
                <a:r>
                  <a:rPr lang="ja-JP" altLang="en-US">
                    <a:noFill/>
                  </a:rPr>
                  <a:t> </a:t>
                </a:r>
              </a:p>
            </p:txBody>
          </p:sp>
        </mc:Fallback>
      </mc:AlternateContent>
      <p:sp>
        <p:nvSpPr>
          <p:cNvPr id="26" name="Rounded Rectangle 13">
            <a:extLst>
              <a:ext uri="{FF2B5EF4-FFF2-40B4-BE49-F238E27FC236}">
                <a16:creationId xmlns:a16="http://schemas.microsoft.com/office/drawing/2014/main" id="{E1AAF8C5-33D7-88B4-6AA7-AC236F23090A}"/>
              </a:ext>
            </a:extLst>
          </p:cNvPr>
          <p:cNvSpPr/>
          <p:nvPr/>
        </p:nvSpPr>
        <p:spPr>
          <a:xfrm>
            <a:off x="1585431" y="7274142"/>
            <a:ext cx="6583680" cy="320040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8" name="TextBox 14">
                <a:extLst>
                  <a:ext uri="{FF2B5EF4-FFF2-40B4-BE49-F238E27FC236}">
                    <a16:creationId xmlns:a16="http://schemas.microsoft.com/office/drawing/2014/main" id="{3A1A37D2-028D-9A8C-A190-71C613AFCB1B}"/>
                  </a:ext>
                </a:extLst>
              </p:cNvPr>
              <p:cNvSpPr txBox="1"/>
              <p:nvPr/>
            </p:nvSpPr>
            <p:spPr>
              <a:xfrm>
                <a:off x="3809638" y="7685621"/>
                <a:ext cx="2135265" cy="661912"/>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ar-AE" sz="3600" b="1" i="1" dirty="0">
                              <a:solidFill>
                                <a:srgbClr val="00B050"/>
                              </a:solidFill>
                              <a:latin typeface="Cambria Math" panose="02040503050406030204" pitchFamily="18" charset="0"/>
                            </a:rPr>
                          </m:ctrlPr>
                        </m:sSubPr>
                        <m:e>
                          <m:r>
                            <a:rPr lang="ja-JP" altLang="ar-AE" sz="3600" b="1" i="1" dirty="0">
                              <a:solidFill>
                                <a:srgbClr val="00B050"/>
                              </a:solidFill>
                              <a:latin typeface="Cambria Math" panose="02040503050406030204" pitchFamily="18" charset="0"/>
                            </a:rPr>
                            <m:t>𝒃</m:t>
                          </m:r>
                        </m:e>
                        <m:sub>
                          <m:r>
                            <a:rPr lang="ja-JP" altLang="ar-AE" sz="3600" b="1" i="1" dirty="0">
                              <a:solidFill>
                                <a:srgbClr val="00B050"/>
                              </a:solidFill>
                              <a:latin typeface="Cambria Math" panose="02040503050406030204" pitchFamily="18" charset="0"/>
                            </a:rPr>
                            <m:t>𝟎</m:t>
                          </m:r>
                          <m:r>
                            <a:rPr lang="ar-AE" altLang="ja-JP" sz="3600" b="1" i="1" dirty="0">
                              <a:solidFill>
                                <a:srgbClr val="00B050"/>
                              </a:solidFill>
                              <a:latin typeface="Cambria Math" panose="02040503050406030204" pitchFamily="18" charset="0"/>
                            </a:rPr>
                            <m:t>,</m:t>
                          </m:r>
                          <m:r>
                            <a:rPr lang="ja-JP" altLang="ar-AE" sz="3600" b="1" i="1" dirty="0">
                              <a:solidFill>
                                <a:srgbClr val="00B050"/>
                              </a:solidFill>
                              <a:latin typeface="Cambria Math" panose="02040503050406030204" pitchFamily="18" charset="0"/>
                            </a:rPr>
                            <m:t>𝒔𝒖𝒏𝒇𝒂𝒄𝒆</m:t>
                          </m:r>
                        </m:sub>
                      </m:sSub>
                    </m:oMath>
                  </m:oMathPara>
                </a14:m>
                <a:endParaRPr lang="ar-AE" sz="3600" b="1" dirty="0">
                  <a:solidFill>
                    <a:srgbClr val="00B050"/>
                  </a:solidFill>
                  <a:latin typeface="Yu Gothic"/>
                </a:endParaRPr>
              </a:p>
            </p:txBody>
          </p:sp>
        </mc:Choice>
        <mc:Fallback xmlns="">
          <p:sp>
            <p:nvSpPr>
              <p:cNvPr id="28" name="TextBox 14">
                <a:extLst>
                  <a:ext uri="{FF2B5EF4-FFF2-40B4-BE49-F238E27FC236}">
                    <a16:creationId xmlns:a16="http://schemas.microsoft.com/office/drawing/2014/main" id="{3A1A37D2-028D-9A8C-A190-71C613AFCB1B}"/>
                  </a:ext>
                </a:extLst>
              </p:cNvPr>
              <p:cNvSpPr txBox="1">
                <a:spLocks noRot="1" noChangeAspect="1" noMove="1" noResize="1" noEditPoints="1" noAdjustHandles="1" noChangeArrowheads="1" noChangeShapeType="1" noTextEdit="1"/>
              </p:cNvSpPr>
              <p:nvPr/>
            </p:nvSpPr>
            <p:spPr>
              <a:xfrm>
                <a:off x="3809638" y="7685621"/>
                <a:ext cx="2135265" cy="661912"/>
              </a:xfrm>
              <a:prstGeom prst="rect">
                <a:avLst/>
              </a:prstGeom>
              <a:blipFill>
                <a:blip r:embed="rId9"/>
                <a:stretch>
                  <a:fillRect/>
                </a:stretch>
              </a:blipFill>
            </p:spPr>
            <p:txBody>
              <a:bodyPr/>
              <a:lstStyle/>
              <a:p>
                <a:r>
                  <a:rPr lang="ja-JP" altLang="en-US">
                    <a:noFill/>
                  </a:rPr>
                  <a:t> </a:t>
                </a:r>
              </a:p>
            </p:txBody>
          </p:sp>
        </mc:Fallback>
      </mc:AlternateContent>
      <p:sp>
        <p:nvSpPr>
          <p:cNvPr id="30" name="TextBox 15">
            <a:extLst>
              <a:ext uri="{FF2B5EF4-FFF2-40B4-BE49-F238E27FC236}">
                <a16:creationId xmlns:a16="http://schemas.microsoft.com/office/drawing/2014/main" id="{74A937E2-0334-D7F5-D002-BA0204F29158}"/>
              </a:ext>
            </a:extLst>
          </p:cNvPr>
          <p:cNvSpPr txBox="1"/>
          <p:nvPr/>
        </p:nvSpPr>
        <p:spPr>
          <a:xfrm>
            <a:off x="2110427" y="8600022"/>
            <a:ext cx="5533694" cy="1348061"/>
          </a:xfrm>
          <a:prstGeom prst="rect">
            <a:avLst/>
          </a:prstGeom>
          <a:noFill/>
        </p:spPr>
        <p:txBody>
          <a:bodyPr wrap="none" lIns="36576" tIns="27432" rIns="36576" bIns="27432" anchor="t">
            <a:spAutoFit/>
          </a:bodyPr>
          <a:lstStyle/>
          <a:p>
            <a:pPr algn="ctr"/>
            <a:r>
              <a:rPr lang="ja-JP" altLang="ja-JP" sz="2800" b="1" dirty="0"/>
              <a:t>太陽指向面ごとの基準DC</a:t>
            </a:r>
            <a:br>
              <a:rPr lang="ja-JP" altLang="ja-JP" sz="2800" dirty="0"/>
            </a:br>
            <a:r>
              <a:rPr lang="ja-JP" altLang="ja-JP" sz="2800" dirty="0"/>
              <a:t>MX / MY / PX / PYごとに設定</a:t>
            </a:r>
            <a:endParaRPr lang="en-US" altLang="ja-JP" sz="2800" dirty="0"/>
          </a:p>
          <a:p>
            <a:pPr algn="ctr"/>
            <a:r>
              <a:rPr lang="ja-JP" altLang="ja-JP" sz="2800" dirty="0"/>
              <a:t> 同じ太陽指向面のケース間で共有</a:t>
            </a:r>
            <a:endParaRPr sz="2500" b="0" dirty="0">
              <a:solidFill>
                <a:srgbClr val="232B34"/>
              </a:solidFill>
              <a:latin typeface="Yu Gothic"/>
            </a:endParaRPr>
          </a:p>
        </p:txBody>
      </p:sp>
      <p:sp>
        <p:nvSpPr>
          <p:cNvPr id="32" name="TextBox 6">
            <a:extLst>
              <a:ext uri="{FF2B5EF4-FFF2-40B4-BE49-F238E27FC236}">
                <a16:creationId xmlns:a16="http://schemas.microsoft.com/office/drawing/2014/main" id="{DC45C657-F199-658B-9ABD-8A96C29F83D6}"/>
              </a:ext>
            </a:extLst>
          </p:cNvPr>
          <p:cNvSpPr txBox="1"/>
          <p:nvPr/>
        </p:nvSpPr>
        <p:spPr>
          <a:xfrm>
            <a:off x="8485875" y="5471687"/>
            <a:ext cx="6360844" cy="486287"/>
          </a:xfrm>
          <a:prstGeom prst="rect">
            <a:avLst/>
          </a:prstGeom>
          <a:noFill/>
        </p:spPr>
        <p:txBody>
          <a:bodyPr wrap="none" lIns="36576" tIns="27432" rIns="36576" bIns="27432" anchor="t">
            <a:spAutoFit/>
          </a:bodyPr>
          <a:lstStyle/>
          <a:p>
            <a:pPr algn="r"/>
            <a:r>
              <a:rPr lang="en-US" altLang="ja-JP" sz="2800" dirty="0">
                <a:solidFill>
                  <a:srgbClr val="1B74AA"/>
                </a:solidFill>
              </a:rPr>
              <a:t>※ </a:t>
            </a:r>
            <a:r>
              <a:rPr lang="ja-JP" altLang="en-US" sz="2800" dirty="0">
                <a:solidFill>
                  <a:srgbClr val="1B74AA"/>
                </a:solidFill>
              </a:rPr>
              <a:t>コンポが増えたら</a:t>
            </a:r>
            <a:r>
              <a:rPr lang="en-US" altLang="ja-JP" sz="2800" dirty="0">
                <a:solidFill>
                  <a:srgbClr val="1B74AA"/>
                </a:solidFill>
              </a:rPr>
              <a:t>c*I</a:t>
            </a:r>
            <a:r>
              <a:rPr lang="ja-JP" altLang="en-US" sz="2800" dirty="0">
                <a:solidFill>
                  <a:srgbClr val="1B74AA"/>
                </a:solidFill>
              </a:rPr>
              <a:t>の項は増加する</a:t>
            </a:r>
            <a:endParaRPr lang="en-US" altLang="ja-JP" sz="2800" dirty="0">
              <a:solidFill>
                <a:srgbClr val="1B74A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Hierarchical ΔT model</a:t>
            </a:r>
          </a:p>
        </p:txBody>
      </p:sp>
      <p:sp>
        <p:nvSpPr>
          <p:cNvPr id="3" name="TextBox 2"/>
          <p:cNvSpPr txBox="1"/>
          <p:nvPr/>
        </p:nvSpPr>
        <p:spPr>
          <a:xfrm>
            <a:off x="1536192" y="1298448"/>
            <a:ext cx="16270608" cy="1040285"/>
          </a:xfrm>
          <a:prstGeom prst="rect">
            <a:avLst/>
          </a:prstGeom>
          <a:noFill/>
        </p:spPr>
        <p:txBody>
          <a:bodyPr wrap="none" lIns="36576" tIns="27432" rIns="36576" bIns="27432" anchor="t">
            <a:spAutoFit/>
          </a:bodyPr>
          <a:lstStyle/>
          <a:p>
            <a:pPr algn="l"/>
            <a:endParaRPr lang="en-US" sz="3200" b="1" dirty="0">
              <a:solidFill>
                <a:srgbClr val="082B52"/>
              </a:solidFill>
              <a:latin typeface="+mn-ea"/>
            </a:endParaRPr>
          </a:p>
          <a:p>
            <a:r>
              <a:rPr lang="ja-JP" altLang="en-US" sz="3200" b="1" dirty="0">
                <a:latin typeface="+mn-ea"/>
              </a:rPr>
              <a:t>パラメータの決め方：</a:t>
            </a:r>
            <a:r>
              <a:rPr lang="ja-JP" altLang="ja-JP" sz="3200" b="1" dirty="0">
                <a:latin typeface="+mn-ea"/>
              </a:rPr>
              <a:t>Level 1で軌道内感度を推定し、Level 2でケース間DCを学習する</a:t>
            </a:r>
            <a:endParaRPr sz="3200" b="1" dirty="0">
              <a:solidFill>
                <a:srgbClr val="082B52"/>
              </a:solidFill>
              <a:latin typeface="+mn-ea"/>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23</a:t>
            </a:r>
          </a:p>
        </p:txBody>
      </p:sp>
      <p:sp>
        <p:nvSpPr>
          <p:cNvPr id="6" name="TextBox 5"/>
          <p:cNvSpPr txBox="1"/>
          <p:nvPr/>
        </p:nvSpPr>
        <p:spPr>
          <a:xfrm>
            <a:off x="2037662" y="3629789"/>
            <a:ext cx="2109681" cy="378565"/>
          </a:xfrm>
          <a:prstGeom prst="rect">
            <a:avLst/>
          </a:prstGeom>
          <a:noFill/>
        </p:spPr>
        <p:txBody>
          <a:bodyPr wrap="none" lIns="36576" tIns="27432" rIns="36576" bIns="27432" anchor="ctr">
            <a:spAutoFit/>
          </a:bodyPr>
          <a:lstStyle/>
          <a:p>
            <a:pPr algn="ctr"/>
            <a:r>
              <a:rPr lang="en-US" sz="2100" b="1" dirty="0">
                <a:solidFill>
                  <a:srgbClr val="FFFFFF"/>
                </a:solidFill>
                <a:latin typeface="Yu Gothic"/>
              </a:rPr>
              <a:t>Pre-case fitting</a:t>
            </a:r>
            <a:endParaRPr sz="2100" b="1" dirty="0">
              <a:solidFill>
                <a:srgbClr val="FFFFFF"/>
              </a:solidFill>
              <a:latin typeface="Yu Gothic"/>
            </a:endParaRPr>
          </a:p>
        </p:txBody>
      </p:sp>
      <p:sp>
        <p:nvSpPr>
          <p:cNvPr id="12" name="TextBox 11"/>
          <p:cNvSpPr txBox="1"/>
          <p:nvPr/>
        </p:nvSpPr>
        <p:spPr>
          <a:xfrm>
            <a:off x="10193731" y="3035808"/>
            <a:ext cx="4027017" cy="1014984"/>
          </a:xfrm>
          <a:prstGeom prst="rect">
            <a:avLst/>
          </a:prstGeom>
          <a:noFill/>
        </p:spPr>
        <p:txBody>
          <a:bodyPr wrap="none" lIns="36576" tIns="27432" rIns="36576" bIns="27432" anchor="ctr">
            <a:spAutoFit/>
          </a:bodyPr>
          <a:lstStyle/>
          <a:p>
            <a:pPr algn="ctr"/>
            <a:r>
              <a:rPr sz="2100" b="1">
                <a:solidFill>
                  <a:srgbClr val="FFFFFF"/>
                </a:solidFill>
                <a:latin typeface="Yu Gothic"/>
              </a:rPr>
              <a:t>Median aemp
per face</a:t>
            </a:r>
          </a:p>
        </p:txBody>
      </p:sp>
      <p:sp>
        <p:nvSpPr>
          <p:cNvPr id="15" name="TextBox 14"/>
          <p:cNvSpPr txBox="1"/>
          <p:nvPr/>
        </p:nvSpPr>
        <p:spPr>
          <a:xfrm>
            <a:off x="10389291" y="3629789"/>
            <a:ext cx="2454326" cy="378565"/>
          </a:xfrm>
          <a:prstGeom prst="rect">
            <a:avLst/>
          </a:prstGeom>
          <a:noFill/>
        </p:spPr>
        <p:txBody>
          <a:bodyPr wrap="none" lIns="36576" tIns="27432" rIns="36576" bIns="27432" anchor="ctr">
            <a:spAutoFit/>
          </a:bodyPr>
          <a:lstStyle/>
          <a:p>
            <a:pPr algn="ctr"/>
            <a:r>
              <a:rPr lang="en-US" sz="2100" b="1" dirty="0">
                <a:solidFill>
                  <a:srgbClr val="FFFFFF"/>
                </a:solidFill>
                <a:latin typeface="Yu Gothic"/>
              </a:rPr>
              <a:t>Shared Sensitivity</a:t>
            </a:r>
            <a:endParaRPr sz="2100" b="1" dirty="0">
              <a:solidFill>
                <a:srgbClr val="FFFFFF"/>
              </a:solidFill>
              <a:latin typeface="Yu Gothic"/>
            </a:endParaRPr>
          </a:p>
        </p:txBody>
      </p:sp>
      <p:sp>
        <p:nvSpPr>
          <p:cNvPr id="18" name="TextBox 17"/>
          <p:cNvSpPr txBox="1"/>
          <p:nvPr/>
        </p:nvSpPr>
        <p:spPr>
          <a:xfrm>
            <a:off x="20257523" y="3629789"/>
            <a:ext cx="2128916" cy="378565"/>
          </a:xfrm>
          <a:prstGeom prst="rect">
            <a:avLst/>
          </a:prstGeom>
          <a:noFill/>
        </p:spPr>
        <p:txBody>
          <a:bodyPr wrap="none" lIns="36576" tIns="27432" rIns="36576" bIns="27432" anchor="ctr">
            <a:spAutoFit/>
          </a:bodyPr>
          <a:lstStyle/>
          <a:p>
            <a:pPr algn="ctr"/>
            <a:r>
              <a:rPr lang="en-US" sz="2100" b="1" dirty="0">
                <a:solidFill>
                  <a:srgbClr val="FFFFFF"/>
                </a:solidFill>
                <a:latin typeface="Yu Gothic"/>
              </a:rPr>
              <a:t>Case-DC model</a:t>
            </a:r>
            <a:endParaRPr sz="2100" b="1" dirty="0">
              <a:solidFill>
                <a:srgbClr val="FFFFFF"/>
              </a:solidFill>
              <a:latin typeface="Yu Gothic"/>
            </a:endParaRPr>
          </a:p>
        </p:txBody>
      </p:sp>
      <p:sp>
        <p:nvSpPr>
          <p:cNvPr id="20" name="Rounded Rectangle 19"/>
          <p:cNvSpPr/>
          <p:nvPr/>
        </p:nvSpPr>
        <p:spPr>
          <a:xfrm>
            <a:off x="2041366" y="11797718"/>
            <a:ext cx="20299680" cy="123444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71185" y="12171794"/>
            <a:ext cx="13000482" cy="486287"/>
          </a:xfrm>
          <a:prstGeom prst="rect">
            <a:avLst/>
          </a:prstGeom>
          <a:noFill/>
        </p:spPr>
        <p:txBody>
          <a:bodyPr wrap="none" lIns="36576" tIns="27432" rIns="36576" bIns="27432" anchor="t">
            <a:spAutoFit/>
          </a:bodyPr>
          <a:lstStyle/>
          <a:p>
            <a:r>
              <a:rPr lang="ja-JP" altLang="ja-JP" sz="2800" b="1" dirty="0">
                <a:solidFill>
                  <a:schemeClr val="accent2"/>
                </a:solidFill>
              </a:rPr>
              <a:t>本評価は同一衛星構造内の条件横断性を対象とし、別衛星構造への汎化は未評価</a:t>
            </a:r>
            <a:endParaRPr lang="ja-JP" altLang="ja-JP" sz="2800" dirty="0">
              <a:solidFill>
                <a:schemeClr val="accent2"/>
              </a:solidFill>
            </a:endParaRPr>
          </a:p>
        </p:txBody>
      </p:sp>
      <p:sp>
        <p:nvSpPr>
          <p:cNvPr id="25" name="Rounded Rectangle 7">
            <a:extLst>
              <a:ext uri="{FF2B5EF4-FFF2-40B4-BE49-F238E27FC236}">
                <a16:creationId xmlns:a16="http://schemas.microsoft.com/office/drawing/2014/main" id="{851A4726-9F17-B7AD-EBE1-8FF6DD8A4D66}"/>
              </a:ext>
            </a:extLst>
          </p:cNvPr>
          <p:cNvSpPr/>
          <p:nvPr/>
        </p:nvSpPr>
        <p:spPr>
          <a:xfrm>
            <a:off x="8462476" y="3476300"/>
            <a:ext cx="6661244" cy="7836451"/>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8">
            <a:extLst>
              <a:ext uri="{FF2B5EF4-FFF2-40B4-BE49-F238E27FC236}">
                <a16:creationId xmlns:a16="http://schemas.microsoft.com/office/drawing/2014/main" id="{B04164E6-5B33-CF53-FB4B-CFC1E50AEDDE}"/>
              </a:ext>
            </a:extLst>
          </p:cNvPr>
          <p:cNvSpPr txBox="1"/>
          <p:nvPr/>
        </p:nvSpPr>
        <p:spPr>
          <a:xfrm>
            <a:off x="10001785" y="3543300"/>
            <a:ext cx="3626121" cy="547842"/>
          </a:xfrm>
          <a:prstGeom prst="rect">
            <a:avLst/>
          </a:prstGeom>
          <a:noFill/>
        </p:spPr>
        <p:txBody>
          <a:bodyPr wrap="none" lIns="36576" tIns="27432" rIns="36576" bIns="27432" anchor="t">
            <a:spAutoFit/>
          </a:bodyPr>
          <a:lstStyle/>
          <a:p>
            <a:pPr algn="ctr"/>
            <a:r>
              <a:rPr lang="en-US" sz="3200" b="1" dirty="0">
                <a:solidFill>
                  <a:srgbClr val="0070C0"/>
                </a:solidFill>
                <a:latin typeface="+mn-ea"/>
              </a:rPr>
              <a:t>Shared Sensitivity</a:t>
            </a:r>
          </a:p>
        </p:txBody>
      </p:sp>
      <mc:AlternateContent xmlns:mc="http://schemas.openxmlformats.org/markup-compatibility/2006" xmlns:a14="http://schemas.microsoft.com/office/drawing/2010/main">
        <mc:Choice Requires="a14">
          <p:sp>
            <p:nvSpPr>
              <p:cNvPr id="29" name="TextBox 9">
                <a:extLst>
                  <a:ext uri="{FF2B5EF4-FFF2-40B4-BE49-F238E27FC236}">
                    <a16:creationId xmlns:a16="http://schemas.microsoft.com/office/drawing/2014/main" id="{450214AB-921B-DA82-BB3D-01C285AF7587}"/>
                  </a:ext>
                </a:extLst>
              </p:cNvPr>
              <p:cNvSpPr txBox="1"/>
              <p:nvPr/>
            </p:nvSpPr>
            <p:spPr>
              <a:xfrm>
                <a:off x="8994292" y="4567140"/>
                <a:ext cx="5946351" cy="6795707"/>
              </a:xfrm>
              <a:prstGeom prst="rect">
                <a:avLst/>
              </a:prstGeom>
              <a:noFill/>
            </p:spPr>
            <p:txBody>
              <a:bodyPr wrap="square" lIns="36576" tIns="27432" rIns="36576" bIns="27432" anchor="t">
                <a:spAutoFit/>
              </a:bodyPr>
              <a:lstStyle/>
              <a:p>
                <a:r>
                  <a:rPr lang="ja-JP" altLang="ja-JP" sz="2800" b="1" u="sng" dirty="0"/>
                  <a:t>共通感度を決定</a:t>
                </a:r>
                <a:endParaRPr lang="en-US" altLang="ja-JP" sz="2800" b="1" u="sng" dirty="0"/>
              </a:p>
              <a:p>
                <a:endParaRPr lang="en-US" altLang="ja-JP" sz="2800" i="1" dirty="0">
                  <a:latin typeface="Cambria Math" panose="02040503050406030204" pitchFamily="18" charset="0"/>
                </a:endParaRPr>
              </a:p>
              <a:p>
                <a:r>
                  <a:rPr lang="ja-JP" altLang="ja-JP" sz="2800" b="1" dirty="0"/>
                  <a:t>目的</a:t>
                </a:r>
                <a:br>
                  <a:rPr lang="ja-JP" altLang="ja-JP" sz="2800" dirty="0"/>
                </a:br>
                <a:r>
                  <a:rPr lang="ja-JP" altLang="ja-JP" sz="2800" dirty="0"/>
                  <a:t>ケースごとのばらつきを抑え、太陽指向面ごとの共通感度を得る</a:t>
                </a:r>
                <a:endParaRPr lang="en-US" altLang="ja-JP" sz="2800" dirty="0"/>
              </a:p>
              <a:p>
                <a:endParaRPr lang="ja-JP" altLang="ja-JP" sz="2800" dirty="0"/>
              </a:p>
              <a:p>
                <a:r>
                  <a:rPr lang="ja-JP" altLang="ja-JP" sz="2800" b="1" dirty="0"/>
                  <a:t>推定するパラメータ</a:t>
                </a:r>
                <a:endParaRPr lang="ja-JP" altLang="ja-JP" sz="2800" dirty="0"/>
              </a:p>
              <a:p>
                <a:pPr/>
                <a14:m>
                  <m:oMathPara xmlns:m="http://schemas.openxmlformats.org/officeDocument/2006/math">
                    <m:oMath>
                      <m:sSub>
                        <m:sSubPr>
                          <m:ctrlPr>
                            <a:rPr lang="ja-JP" altLang="en-US" i="1">
                              <a:latin typeface="Cambria Math" panose="02040503050406030204" pitchFamily="18" charset="0"/>
                            </a:rPr>
                          </m:ctrlPr>
                        </m:sSubPr>
                        <m:e>
                          <m:r>
                            <a:rPr lang="ja-JP" altLang="en-US" i="1">
                              <a:latin typeface="Cambria Math" panose="02040503050406030204" pitchFamily="18" charset="0"/>
                            </a:rPr>
                            <m:t>𝑎</m:t>
                          </m:r>
                        </m:e>
                        <m:sub>
                          <m:r>
                            <m:rPr>
                              <m:sty m:val="p"/>
                            </m:rPr>
                            <a:rPr lang="en-US" altLang="ja-JP">
                              <a:latin typeface="Cambria Math" panose="02040503050406030204" pitchFamily="18" charset="0"/>
                            </a:rPr>
                            <m:t>sunface</m:t>
                          </m:r>
                        </m:sub>
                      </m:sSub>
                    </m:oMath>
                  </m:oMathPara>
                </a14:m>
                <a:endParaRPr lang="ja-JP" altLang="en-US" sz="2800" dirty="0"/>
              </a:p>
              <a:p>
                <a:r>
                  <a:rPr lang="ja-JP" altLang="ja-JP" sz="2800" b="1" dirty="0"/>
                  <a:t>決め方</a:t>
                </a:r>
                <a:endParaRPr lang="ja-JP" altLang="ja-JP" sz="2800" dirty="0"/>
              </a:p>
              <a:p>
                <a:r>
                  <a:rPr lang="ja-JP" altLang="ja-JP" sz="2800" dirty="0"/>
                  <a:t>同じ太陽指向面の </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𝑎</m:t>
                        </m:r>
                      </m:e>
                      <m:sub>
                        <m:r>
                          <m:rPr>
                            <m:sty m:val="p"/>
                          </m:rPr>
                          <a:rPr lang="en-US" altLang="ja-JP">
                            <a:latin typeface="Cambria Math" panose="02040503050406030204" pitchFamily="18" charset="0"/>
                          </a:rPr>
                          <m:t>case</m:t>
                        </m:r>
                      </m:sub>
                    </m:sSub>
                  </m:oMath>
                </a14:m>
                <a:r>
                  <a:rPr lang="ja-JP" altLang="ja-JP" sz="2800" dirty="0"/>
                  <a:t>を集約 </a:t>
                </a:r>
              </a:p>
              <a:p>
                <a:r>
                  <a:rPr lang="ja-JP" altLang="ja-JP" sz="2800" dirty="0"/>
                  <a:t>中央値を </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𝑎</m:t>
                        </m:r>
                      </m:e>
                      <m:sub>
                        <m:r>
                          <m:rPr>
                            <m:sty m:val="p"/>
                          </m:rPr>
                          <a:rPr lang="en-US" altLang="ja-JP">
                            <a:latin typeface="Cambria Math" panose="02040503050406030204" pitchFamily="18" charset="0"/>
                          </a:rPr>
                          <m:t>sunface</m:t>
                        </m:r>
                      </m:sub>
                    </m:sSub>
                  </m:oMath>
                </a14:m>
                <a:r>
                  <a:rPr lang="ja-JP" altLang="ja-JP" sz="2800" dirty="0"/>
                  <a:t>として採用 </a:t>
                </a:r>
                <a:endParaRPr lang="en-US" altLang="ja-JP" sz="2800" dirty="0"/>
              </a:p>
              <a:p>
                <a:endParaRPr lang="ja-JP" altLang="ja-JP" sz="2800" dirty="0"/>
              </a:p>
              <a:p>
                <a:r>
                  <a:rPr lang="ja-JP" altLang="ja-JP" sz="2800" b="1" dirty="0"/>
                  <a:t>検証</a:t>
                </a:r>
                <a:endParaRPr lang="ja-JP" altLang="ja-JP" sz="2800" dirty="0"/>
              </a:p>
              <a:p>
                <a:r>
                  <a:rPr lang="ja-JP" altLang="ja-JP" sz="2800" dirty="0"/>
                  <a:t>各ケースで、共通 </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𝑎</m:t>
                        </m:r>
                      </m:e>
                      <m:sub>
                        <m:r>
                          <m:rPr>
                            <m:sty m:val="p"/>
                          </m:rPr>
                          <a:rPr lang="en-US" altLang="ja-JP">
                            <a:latin typeface="Cambria Math" panose="02040503050406030204" pitchFamily="18" charset="0"/>
                          </a:rPr>
                          <m:t>sunface</m:t>
                        </m:r>
                      </m:sub>
                    </m:sSub>
                  </m:oMath>
                </a14:m>
                <a:r>
                  <a:rPr lang="ja-JP" altLang="ja-JP" sz="2800" dirty="0"/>
                  <a:t>に置き換えて再評価</a:t>
                </a:r>
              </a:p>
              <a:p>
                <a:endParaRPr lang="en-US" altLang="ja-JP" sz="2800" i="1" dirty="0">
                  <a:latin typeface="Cambria Math" panose="02040503050406030204" pitchFamily="18" charset="0"/>
                </a:endParaRPr>
              </a:p>
            </p:txBody>
          </p:sp>
        </mc:Choice>
        <mc:Fallback xmlns="">
          <p:sp>
            <p:nvSpPr>
              <p:cNvPr id="29" name="TextBox 9">
                <a:extLst>
                  <a:ext uri="{FF2B5EF4-FFF2-40B4-BE49-F238E27FC236}">
                    <a16:creationId xmlns:a16="http://schemas.microsoft.com/office/drawing/2014/main" id="{450214AB-921B-DA82-BB3D-01C285AF7587}"/>
                  </a:ext>
                </a:extLst>
              </p:cNvPr>
              <p:cNvSpPr txBox="1">
                <a:spLocks noRot="1" noChangeAspect="1" noMove="1" noResize="1" noEditPoints="1" noAdjustHandles="1" noChangeArrowheads="1" noChangeShapeType="1" noTextEdit="1"/>
              </p:cNvSpPr>
              <p:nvPr/>
            </p:nvSpPr>
            <p:spPr>
              <a:xfrm>
                <a:off x="8994292" y="4567140"/>
                <a:ext cx="5946351" cy="6795707"/>
              </a:xfrm>
              <a:prstGeom prst="rect">
                <a:avLst/>
              </a:prstGeom>
              <a:blipFill>
                <a:blip r:embed="rId3"/>
                <a:stretch>
                  <a:fillRect l="-2971" t="-1166" r="-1230"/>
                </a:stretch>
              </a:blipFill>
            </p:spPr>
            <p:txBody>
              <a:bodyPr/>
              <a:lstStyle/>
              <a:p>
                <a:r>
                  <a:rPr lang="ja-JP" altLang="en-US">
                    <a:noFill/>
                  </a:rPr>
                  <a:t> </a:t>
                </a:r>
              </a:p>
            </p:txBody>
          </p:sp>
        </mc:Fallback>
      </mc:AlternateContent>
      <p:sp>
        <p:nvSpPr>
          <p:cNvPr id="31" name="Rounded Rectangle 10">
            <a:extLst>
              <a:ext uri="{FF2B5EF4-FFF2-40B4-BE49-F238E27FC236}">
                <a16:creationId xmlns:a16="http://schemas.microsoft.com/office/drawing/2014/main" id="{271DB8FB-2DE1-ABB6-07BA-B03922BC84E1}"/>
              </a:ext>
            </a:extLst>
          </p:cNvPr>
          <p:cNvSpPr/>
          <p:nvPr/>
        </p:nvSpPr>
        <p:spPr>
          <a:xfrm>
            <a:off x="15780947" y="3476300"/>
            <a:ext cx="7016035" cy="7836451"/>
          </a:xfrm>
          <a:prstGeom prst="roundRect">
            <a:avLst/>
          </a:prstGeom>
          <a:solidFill>
            <a:srgbClr val="FFFFFF"/>
          </a:solidFill>
          <a:ln w="2286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3" name="TextBox 11">
                <a:extLst>
                  <a:ext uri="{FF2B5EF4-FFF2-40B4-BE49-F238E27FC236}">
                    <a16:creationId xmlns:a16="http://schemas.microsoft.com/office/drawing/2014/main" id="{F585B038-5C6D-E9B1-A16F-3F7B5357FEDB}"/>
                  </a:ext>
                </a:extLst>
              </p:cNvPr>
              <p:cNvSpPr txBox="1"/>
              <p:nvPr/>
            </p:nvSpPr>
            <p:spPr>
              <a:xfrm>
                <a:off x="16705502" y="3614001"/>
                <a:ext cx="5057218" cy="547842"/>
              </a:xfrm>
              <a:prstGeom prst="rect">
                <a:avLst/>
              </a:prstGeom>
              <a:noFill/>
            </p:spPr>
            <p:txBody>
              <a:bodyPr wrap="none" lIns="36576" tIns="27432" rIns="36576" bIns="27432" anchor="t">
                <a:spAutoFit/>
              </a:bodyPr>
              <a:lstStyle/>
              <a:p>
                <a:pPr algn="ctr"/>
                <a14:m>
                  <m:oMathPara xmlns:m="http://schemas.openxmlformats.org/officeDocument/2006/math">
                    <m:oMath>
                      <m:r>
                        <a:rPr lang="en-US" altLang="ja-JP" sz="3200" b="1" i="0" dirty="0" smtClean="0">
                          <a:solidFill>
                            <a:schemeClr val="accent3"/>
                          </a:solidFill>
                          <a:latin typeface="Cambria Math" panose="02040503050406030204" pitchFamily="18" charset="0"/>
                        </a:rPr>
                        <m:t>𝐋𝐞𝐯𝐞𝐥𝟐</m:t>
                      </m:r>
                      <m:r>
                        <a:rPr lang="ja-JP" altLang="en-US" sz="3200" b="1" i="0" dirty="0">
                          <a:solidFill>
                            <a:schemeClr val="accent3"/>
                          </a:solidFill>
                          <a:latin typeface="Cambria Math" panose="02040503050406030204" pitchFamily="18" charset="0"/>
                        </a:rPr>
                        <m:t>：</m:t>
                      </m:r>
                      <m:r>
                        <a:rPr lang="en-US" altLang="ja-JP" sz="3200" b="1" i="0" dirty="0" smtClean="0">
                          <a:solidFill>
                            <a:schemeClr val="accent3"/>
                          </a:solidFill>
                          <a:latin typeface="Cambria Math" panose="02040503050406030204" pitchFamily="18" charset="0"/>
                        </a:rPr>
                        <m:t>𝐂𝐚𝐬𝐞</m:t>
                      </m:r>
                      <m:r>
                        <a:rPr lang="en-US" altLang="ja-JP" sz="3200" b="1" i="0" dirty="0" smtClean="0">
                          <a:solidFill>
                            <a:schemeClr val="accent3"/>
                          </a:solidFill>
                          <a:latin typeface="Cambria Math" panose="02040503050406030204" pitchFamily="18" charset="0"/>
                        </a:rPr>
                        <m:t>−</m:t>
                      </m:r>
                      <m:r>
                        <a:rPr lang="en-US" altLang="ja-JP" sz="3200" b="1" i="0" dirty="0" smtClean="0">
                          <a:solidFill>
                            <a:schemeClr val="accent3"/>
                          </a:solidFill>
                          <a:latin typeface="Cambria Math" panose="02040503050406030204" pitchFamily="18" charset="0"/>
                        </a:rPr>
                        <m:t>𝐃𝐂</m:t>
                      </m:r>
                      <m:r>
                        <a:rPr lang="en-US" altLang="ja-JP" sz="3200" b="1" i="0" dirty="0" smtClean="0">
                          <a:solidFill>
                            <a:schemeClr val="accent3"/>
                          </a:solidFill>
                          <a:latin typeface="Cambria Math" panose="02040503050406030204" pitchFamily="18" charset="0"/>
                        </a:rPr>
                        <m:t> </m:t>
                      </m:r>
                      <m:r>
                        <a:rPr lang="en-US" altLang="ja-JP" sz="3200" b="1" i="0" dirty="0" smtClean="0">
                          <a:solidFill>
                            <a:schemeClr val="accent3"/>
                          </a:solidFill>
                          <a:latin typeface="Cambria Math" panose="02040503050406030204" pitchFamily="18" charset="0"/>
                        </a:rPr>
                        <m:t>𝐌𝐨𝐝𝐞𝐥</m:t>
                      </m:r>
                    </m:oMath>
                  </m:oMathPara>
                </a14:m>
                <a:endParaRPr lang="en-US" altLang="ja-JP" sz="3200" b="1" dirty="0" err="1">
                  <a:solidFill>
                    <a:schemeClr val="accent3"/>
                  </a:solidFill>
                  <a:latin typeface="+mn-ea"/>
                </a:endParaRPr>
              </a:p>
            </p:txBody>
          </p:sp>
        </mc:Choice>
        <mc:Fallback xmlns="">
          <p:sp>
            <p:nvSpPr>
              <p:cNvPr id="33" name="TextBox 11">
                <a:extLst>
                  <a:ext uri="{FF2B5EF4-FFF2-40B4-BE49-F238E27FC236}">
                    <a16:creationId xmlns:a16="http://schemas.microsoft.com/office/drawing/2014/main" id="{F585B038-5C6D-E9B1-A16F-3F7B5357FEDB}"/>
                  </a:ext>
                </a:extLst>
              </p:cNvPr>
              <p:cNvSpPr txBox="1">
                <a:spLocks noRot="1" noChangeAspect="1" noMove="1" noResize="1" noEditPoints="1" noAdjustHandles="1" noChangeArrowheads="1" noChangeShapeType="1" noTextEdit="1"/>
              </p:cNvSpPr>
              <p:nvPr/>
            </p:nvSpPr>
            <p:spPr>
              <a:xfrm>
                <a:off x="16705502" y="3614001"/>
                <a:ext cx="5057218" cy="54784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TextBox 12">
                <a:extLst>
                  <a:ext uri="{FF2B5EF4-FFF2-40B4-BE49-F238E27FC236}">
                    <a16:creationId xmlns:a16="http://schemas.microsoft.com/office/drawing/2014/main" id="{7C9659BE-8325-DB4D-87FC-E7A1B8B1BC8D}"/>
                  </a:ext>
                </a:extLst>
              </p:cNvPr>
              <p:cNvSpPr txBox="1"/>
              <p:nvPr/>
            </p:nvSpPr>
            <p:spPr>
              <a:xfrm>
                <a:off x="16380796" y="4514225"/>
                <a:ext cx="6005643" cy="6807889"/>
              </a:xfrm>
              <a:prstGeom prst="rect">
                <a:avLst/>
              </a:prstGeom>
              <a:noFill/>
            </p:spPr>
            <p:txBody>
              <a:bodyPr wrap="square" lIns="36576" tIns="27432" rIns="36576" bIns="27432" anchor="t">
                <a:spAutoFit/>
              </a:bodyPr>
              <a:lstStyle/>
              <a:p>
                <a:r>
                  <a:rPr lang="ja-JP" altLang="ja-JP" sz="2800" b="1" u="sng" dirty="0"/>
                  <a:t>ケースDCを推定</a:t>
                </a:r>
                <a:endParaRPr lang="en-US" altLang="ja-JP" sz="2800" b="1" u="sng" dirty="0"/>
              </a:p>
              <a:p>
                <a:endParaRPr lang="en-US" altLang="ja-JP" sz="2800" dirty="0"/>
              </a:p>
              <a:p>
                <a:r>
                  <a:rPr lang="ja-JP" altLang="ja-JP" sz="2800" b="1" dirty="0"/>
                  <a:t>目的</a:t>
                </a:r>
                <a:br>
                  <a:rPr lang="ja-JP" altLang="ja-JP" sz="2800" dirty="0"/>
                </a:br>
                <a:r>
                  <a:rPr lang="ja-JP" altLang="ja-JP" sz="2800" dirty="0"/>
                  <a:t>ケース間で異なる </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𝑏</m:t>
                        </m:r>
                      </m:e>
                      <m:sub>
                        <m:r>
                          <m:rPr>
                            <m:sty m:val="p"/>
                          </m:rPr>
                          <a:rPr lang="en-US" altLang="ja-JP">
                            <a:latin typeface="Cambria Math" panose="02040503050406030204" pitchFamily="18" charset="0"/>
                          </a:rPr>
                          <m:t>case</m:t>
                        </m:r>
                      </m:sub>
                    </m:sSub>
                  </m:oMath>
                </a14:m>
                <a:r>
                  <a:rPr lang="ja-JP" altLang="ja-JP" sz="2800" dirty="0"/>
                  <a:t>を運用条件から予測する</a:t>
                </a:r>
                <a:endParaRPr lang="en-US" altLang="ja-JP" sz="2800" dirty="0"/>
              </a:p>
              <a:p>
                <a:endParaRPr lang="ja-JP" altLang="ja-JP" sz="2800" dirty="0"/>
              </a:p>
              <a:p>
                <a:r>
                  <a:rPr lang="ja-JP" altLang="ja-JP" sz="2800" b="1" dirty="0"/>
                  <a:t>推定するパラメータ</a:t>
                </a:r>
                <a:endParaRPr lang="ja-JP" altLang="ja-JP" sz="2800" dirty="0"/>
              </a:p>
              <a:p>
                <a:pPr/>
                <a14:m>
                  <m:oMathPara xmlns:m="http://schemas.openxmlformats.org/officeDocument/2006/math">
                    <m:oMath>
                      <m:sSub>
                        <m:sSubPr>
                          <m:ctrlPr>
                            <a:rPr lang="ja-JP" altLang="en-US" i="1">
                              <a:latin typeface="Cambria Math" panose="02040503050406030204" pitchFamily="18" charset="0"/>
                            </a:rPr>
                          </m:ctrlPr>
                        </m:sSubPr>
                        <m:e>
                          <m:r>
                            <a:rPr lang="ja-JP" altLang="en-US" i="1">
                              <a:latin typeface="Cambria Math" panose="02040503050406030204" pitchFamily="18" charset="0"/>
                            </a:rPr>
                            <m:t>𝑏</m:t>
                          </m:r>
                        </m:e>
                        <m:sub>
                          <m:r>
                            <a:rPr lang="en-US" altLang="ja-JP">
                              <a:latin typeface="Cambria Math" panose="02040503050406030204" pitchFamily="18" charset="0"/>
                            </a:rPr>
                            <m:t>0,</m:t>
                          </m:r>
                          <m:r>
                            <m:rPr>
                              <m:sty m:val="p"/>
                            </m:rPr>
                            <a:rPr lang="en-US" altLang="ja-JP">
                              <a:latin typeface="Cambria Math" panose="02040503050406030204" pitchFamily="18" charset="0"/>
                            </a:rPr>
                            <m:t>sunface</m:t>
                          </m:r>
                        </m:sub>
                      </m:sSub>
                      <m:r>
                        <a:rPr lang="en-US" altLang="ja-JP">
                          <a:latin typeface="Cambria Math" panose="02040503050406030204" pitchFamily="18" charset="0"/>
                        </a:rPr>
                        <m:t>,</m:t>
                      </m:r>
                      <m:r>
                        <m:rPr>
                          <m:nor/>
                        </m:rPr>
                        <a:rPr lang="ja-JP" altLang="en-US" i="0"/>
                        <m:t> </m:t>
                      </m:r>
                      <m:sSub>
                        <m:sSubPr>
                          <m:ctrlPr>
                            <a:rPr lang="ja-JP" altLang="en-US" i="1">
                              <a:latin typeface="Cambria Math" panose="02040503050406030204" pitchFamily="18" charset="0"/>
                            </a:rPr>
                          </m:ctrlPr>
                        </m:sSubPr>
                        <m:e>
                          <m:r>
                            <a:rPr lang="ja-JP" altLang="en-US" i="1">
                              <a:latin typeface="Cambria Math" panose="02040503050406030204" pitchFamily="18" charset="0"/>
                            </a:rPr>
                            <m:t>𝑐</m:t>
                          </m:r>
                        </m:e>
                        <m:sub>
                          <m:r>
                            <m:rPr>
                              <m:sty m:val="p"/>
                            </m:rPr>
                            <a:rPr lang="en-US" altLang="ja-JP">
                              <a:latin typeface="Cambria Math" panose="02040503050406030204" pitchFamily="18" charset="0"/>
                            </a:rPr>
                            <m:t>PROP</m:t>
                          </m:r>
                        </m:sub>
                      </m:sSub>
                      <m:r>
                        <a:rPr lang="en-US" altLang="ja-JP">
                          <a:latin typeface="Cambria Math" panose="02040503050406030204" pitchFamily="18" charset="0"/>
                        </a:rPr>
                        <m:t>,</m:t>
                      </m:r>
                      <m:r>
                        <m:rPr>
                          <m:nor/>
                        </m:rPr>
                        <a:rPr lang="ja-JP" altLang="en-US" i="0"/>
                        <m:t> </m:t>
                      </m:r>
                      <m:sSub>
                        <m:sSubPr>
                          <m:ctrlPr>
                            <a:rPr lang="ja-JP" altLang="en-US" i="1">
                              <a:latin typeface="Cambria Math" panose="02040503050406030204" pitchFamily="18" charset="0"/>
                            </a:rPr>
                          </m:ctrlPr>
                        </m:sSubPr>
                        <m:e>
                          <m:r>
                            <a:rPr lang="ja-JP" altLang="en-US" i="1">
                              <a:latin typeface="Cambria Math" panose="02040503050406030204" pitchFamily="18" charset="0"/>
                            </a:rPr>
                            <m:t>𝑐</m:t>
                          </m:r>
                        </m:e>
                        <m:sub>
                          <m:r>
                            <m:rPr>
                              <m:sty m:val="p"/>
                            </m:rPr>
                            <a:rPr lang="en-US" altLang="ja-JP">
                              <a:latin typeface="Cambria Math" panose="02040503050406030204" pitchFamily="18" charset="0"/>
                            </a:rPr>
                            <m:t>PCDU</m:t>
                          </m:r>
                        </m:sub>
                      </m:sSub>
                    </m:oMath>
                  </m:oMathPara>
                </a14:m>
                <a:endParaRPr lang="ja-JP" altLang="en-US" sz="2800" b="0" dirty="0"/>
              </a:p>
              <a:p>
                <a:r>
                  <a:rPr lang="ja-JP" altLang="ja-JP" sz="2800" b="1" dirty="0"/>
                  <a:t>決め方</a:t>
                </a:r>
                <a:endParaRPr lang="ja-JP" altLang="ja-JP" sz="2800" dirty="0"/>
              </a:p>
              <a:p>
                <a:r>
                  <a:rPr lang="ja-JP" altLang="ja-JP" sz="2800" dirty="0"/>
                  <a:t>他ケースの </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𝑏</m:t>
                        </m:r>
                      </m:e>
                      <m:sub>
                        <m:r>
                          <m:rPr>
                            <m:sty m:val="p"/>
                          </m:rPr>
                          <a:rPr lang="en-US" altLang="ja-JP">
                            <a:latin typeface="Cambria Math" panose="02040503050406030204" pitchFamily="18" charset="0"/>
                          </a:rPr>
                          <m:t>case</m:t>
                        </m:r>
                      </m:sub>
                    </m:sSub>
                  </m:oMath>
                </a14:m>
                <a:r>
                  <a:rPr lang="ja-JP" altLang="ja-JP" sz="2800" dirty="0"/>
                  <a:t>と運用フラグを使用 </a:t>
                </a:r>
              </a:p>
              <a:p>
                <a:r>
                  <a:rPr lang="ja-JP" altLang="ja-JP" sz="2800" dirty="0"/>
                  <a:t>OLS</a:t>
                </a:r>
                <a:r>
                  <a:rPr lang="en-US" altLang="ja-JP" sz="2800" dirty="0"/>
                  <a:t>(</a:t>
                </a:r>
                <a:r>
                  <a:rPr lang="ja-JP" altLang="en-US" sz="2000" dirty="0"/>
                  <a:t>最小二乗法</a:t>
                </a:r>
                <a:r>
                  <a:rPr lang="en-US" altLang="ja-JP" sz="2800" dirty="0"/>
                  <a:t>)</a:t>
                </a:r>
                <a:r>
                  <a:rPr lang="ja-JP" altLang="ja-JP" sz="2800" dirty="0"/>
                  <a:t>でLevel 2係数を推定 </a:t>
                </a:r>
                <a:endParaRPr lang="en-US" altLang="ja-JP" sz="2800" dirty="0"/>
              </a:p>
              <a:p>
                <a:endParaRPr lang="ja-JP" altLang="ja-JP" sz="2800" dirty="0"/>
              </a:p>
              <a:p>
                <a:r>
                  <a:rPr lang="ja-JP" altLang="ja-JP" sz="2800" b="1" dirty="0"/>
                  <a:t>検証</a:t>
                </a:r>
                <a:endParaRPr lang="ja-JP" altLang="ja-JP" sz="2800" dirty="0"/>
              </a:p>
              <a:p>
                <a:r>
                  <a:rPr lang="ja-JP" altLang="ja-JP" sz="2800" dirty="0"/>
                  <a:t>Leave-One-Case-Out</a:t>
                </a:r>
                <a:r>
                  <a:rPr lang="en-US" altLang="ja-JP" sz="2800" dirty="0"/>
                  <a:t>(</a:t>
                </a:r>
                <a:r>
                  <a:rPr lang="ja-JP" altLang="ja-JP" sz="2000" dirty="0"/>
                  <a:t>1個抜き交差検証</a:t>
                </a:r>
                <a:r>
                  <a:rPr lang="en-US" altLang="ja-JP" sz="2800" dirty="0"/>
                  <a:t>)</a:t>
                </a:r>
                <a:r>
                  <a:rPr lang="ja-JP" altLang="ja-JP" sz="2800" dirty="0"/>
                  <a:t>で未知ケースの </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𝑏</m:t>
                        </m:r>
                      </m:e>
                      <m:sub>
                        <m:r>
                          <m:rPr>
                            <m:sty m:val="p"/>
                          </m:rPr>
                          <a:rPr lang="en-US" altLang="ja-JP">
                            <a:latin typeface="Cambria Math" panose="02040503050406030204" pitchFamily="18" charset="0"/>
                          </a:rPr>
                          <m:t>case</m:t>
                        </m:r>
                      </m:sub>
                    </m:sSub>
                  </m:oMath>
                </a14:m>
                <a:r>
                  <a:rPr lang="ja-JP" altLang="ja-JP" sz="2800" dirty="0"/>
                  <a:t>を予測</a:t>
                </a:r>
              </a:p>
              <a:p>
                <a:endParaRPr lang="en-US" altLang="ja-JP" sz="2800" i="1" dirty="0">
                  <a:latin typeface="Cambria Math" panose="02040503050406030204" pitchFamily="18" charset="0"/>
                </a:endParaRPr>
              </a:p>
            </p:txBody>
          </p:sp>
        </mc:Choice>
        <mc:Fallback xmlns="">
          <p:sp>
            <p:nvSpPr>
              <p:cNvPr id="35" name="TextBox 12">
                <a:extLst>
                  <a:ext uri="{FF2B5EF4-FFF2-40B4-BE49-F238E27FC236}">
                    <a16:creationId xmlns:a16="http://schemas.microsoft.com/office/drawing/2014/main" id="{7C9659BE-8325-DB4D-87FC-E7A1B8B1BC8D}"/>
                  </a:ext>
                </a:extLst>
              </p:cNvPr>
              <p:cNvSpPr txBox="1">
                <a:spLocks noRot="1" noChangeAspect="1" noMove="1" noResize="1" noEditPoints="1" noAdjustHandles="1" noChangeArrowheads="1" noChangeShapeType="1" noTextEdit="1"/>
              </p:cNvSpPr>
              <p:nvPr/>
            </p:nvSpPr>
            <p:spPr>
              <a:xfrm>
                <a:off x="16380796" y="4514225"/>
                <a:ext cx="6005643" cy="6807889"/>
              </a:xfrm>
              <a:prstGeom prst="rect">
                <a:avLst/>
              </a:prstGeom>
              <a:blipFill>
                <a:blip r:embed="rId5"/>
                <a:stretch>
                  <a:fillRect l="-2944" t="-1254" r="-2030"/>
                </a:stretch>
              </a:blipFill>
            </p:spPr>
            <p:txBody>
              <a:bodyPr/>
              <a:lstStyle/>
              <a:p>
                <a:r>
                  <a:rPr lang="ja-JP" altLang="en-US">
                    <a:noFill/>
                  </a:rPr>
                  <a:t> </a:t>
                </a:r>
              </a:p>
            </p:txBody>
          </p:sp>
        </mc:Fallback>
      </mc:AlternateContent>
      <p:sp>
        <p:nvSpPr>
          <p:cNvPr id="37" name="Rounded Rectangle 13">
            <a:extLst>
              <a:ext uri="{FF2B5EF4-FFF2-40B4-BE49-F238E27FC236}">
                <a16:creationId xmlns:a16="http://schemas.microsoft.com/office/drawing/2014/main" id="{705D7DD6-FEC7-CC63-D230-DA4201B730D2}"/>
              </a:ext>
            </a:extLst>
          </p:cNvPr>
          <p:cNvSpPr/>
          <p:nvPr/>
        </p:nvSpPr>
        <p:spPr>
          <a:xfrm>
            <a:off x="1585431" y="3476300"/>
            <a:ext cx="6190921" cy="7836451"/>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14">
            <a:extLst>
              <a:ext uri="{FF2B5EF4-FFF2-40B4-BE49-F238E27FC236}">
                <a16:creationId xmlns:a16="http://schemas.microsoft.com/office/drawing/2014/main" id="{83C8A982-77DA-568D-1796-350B4D344B96}"/>
              </a:ext>
            </a:extLst>
          </p:cNvPr>
          <p:cNvSpPr txBox="1"/>
          <p:nvPr/>
        </p:nvSpPr>
        <p:spPr>
          <a:xfrm>
            <a:off x="2358097" y="3652482"/>
            <a:ext cx="4727384" cy="547842"/>
          </a:xfrm>
          <a:prstGeom prst="rect">
            <a:avLst/>
          </a:prstGeom>
          <a:noFill/>
        </p:spPr>
        <p:txBody>
          <a:bodyPr wrap="none" lIns="36576" tIns="27432" rIns="36576" bIns="27432" anchor="t">
            <a:spAutoFit/>
          </a:bodyPr>
          <a:lstStyle/>
          <a:p>
            <a:pPr algn="ctr"/>
            <a:r>
              <a:rPr lang="en-US" sz="3200" b="1" dirty="0">
                <a:solidFill>
                  <a:srgbClr val="00B050"/>
                </a:solidFill>
                <a:latin typeface="Yu Gothic"/>
              </a:rPr>
              <a:t>Level1: Pre-case fitting</a:t>
            </a:r>
            <a:endParaRPr lang="ar-AE" sz="3200" b="1" dirty="0">
              <a:solidFill>
                <a:srgbClr val="00B050"/>
              </a:solidFill>
              <a:latin typeface="Yu Gothic"/>
            </a:endParaRPr>
          </a:p>
        </p:txBody>
      </p:sp>
      <mc:AlternateContent xmlns:mc="http://schemas.openxmlformats.org/markup-compatibility/2006" xmlns:a14="http://schemas.microsoft.com/office/drawing/2010/main">
        <mc:Choice Requires="a14">
          <p:sp>
            <p:nvSpPr>
              <p:cNvPr id="41" name="TextBox 15">
                <a:extLst>
                  <a:ext uri="{FF2B5EF4-FFF2-40B4-BE49-F238E27FC236}">
                    <a16:creationId xmlns:a16="http://schemas.microsoft.com/office/drawing/2014/main" id="{89FA0B43-4445-5CD6-0DB0-ACCEA16E9064}"/>
                  </a:ext>
                </a:extLst>
              </p:cNvPr>
              <p:cNvSpPr txBox="1"/>
              <p:nvPr/>
            </p:nvSpPr>
            <p:spPr>
              <a:xfrm>
                <a:off x="1781374" y="4563211"/>
                <a:ext cx="5811809" cy="6749540"/>
              </a:xfrm>
              <a:prstGeom prst="rect">
                <a:avLst/>
              </a:prstGeom>
              <a:noFill/>
            </p:spPr>
            <p:txBody>
              <a:bodyPr wrap="square" lIns="36576" tIns="27432" rIns="36576" bIns="27432" anchor="t">
                <a:spAutoFit/>
              </a:bodyPr>
              <a:lstStyle/>
              <a:p>
                <a:r>
                  <a:rPr lang="ja-JP" altLang="ja-JP" sz="2800" b="1" u="sng" dirty="0"/>
                  <a:t>軌道内時変を推定</a:t>
                </a:r>
                <a:br>
                  <a:rPr lang="ja-JP" altLang="ja-JP" sz="2800" u="sng" dirty="0"/>
                </a:br>
                <a:endParaRPr lang="en-US" altLang="ja-JP" sz="2800" u="sng" dirty="0"/>
              </a:p>
              <a:p>
                <a:r>
                  <a:rPr lang="ja-JP" altLang="ja-JP" sz="2800" b="1" dirty="0"/>
                  <a:t>目的</a:t>
                </a:r>
                <a:br>
                  <a:rPr lang="ja-JP" altLang="ja-JP" sz="2800" dirty="0"/>
                </a:br>
                <a:r>
                  <a:rPr lang="ja-JP" altLang="ja-JP" sz="2800" dirty="0"/>
                  <a:t>面間温度差 </a:t>
                </a:r>
                <a14:m>
                  <m:oMath xmlns:m="http://schemas.openxmlformats.org/officeDocument/2006/math">
                    <m:r>
                      <m:rPr>
                        <m:sty m:val="p"/>
                      </m:rPr>
                      <a:rPr lang="en-US" altLang="ja-JP">
                        <a:latin typeface="Cambria Math" panose="02040503050406030204" pitchFamily="18" charset="0"/>
                      </a:rPr>
                      <m:t>Δ</m:t>
                    </m:r>
                    <m:r>
                      <a:rPr lang="ja-JP" altLang="en-US" i="1">
                        <a:latin typeface="Cambria Math" panose="02040503050406030204" pitchFamily="18" charset="0"/>
                      </a:rPr>
                      <m:t>𝑇</m:t>
                    </m:r>
                    <m:d>
                      <m:dPr>
                        <m:ctrlPr>
                          <a:rPr lang="ja-JP" altLang="en-US" i="1">
                            <a:latin typeface="Cambria Math" panose="02040503050406030204" pitchFamily="18" charset="0"/>
                          </a:rPr>
                        </m:ctrlPr>
                      </m:dPr>
                      <m:e>
                        <m:r>
                          <a:rPr lang="ja-JP" altLang="en-US" i="1">
                            <a:latin typeface="Cambria Math" panose="02040503050406030204" pitchFamily="18" charset="0"/>
                          </a:rPr>
                          <m:t>𝑡</m:t>
                        </m:r>
                      </m:e>
                    </m:d>
                  </m:oMath>
                </a14:m>
                <a:r>
                  <a:rPr lang="ja-JP" altLang="ja-JP" sz="2800" dirty="0"/>
                  <a:t>から、各ケースの軌道内変動を表す</a:t>
                </a:r>
                <a:endParaRPr lang="en-US" altLang="ja-JP" sz="2800" dirty="0"/>
              </a:p>
              <a:p>
                <a:endParaRPr lang="ja-JP" altLang="ja-JP" sz="2800" dirty="0"/>
              </a:p>
              <a:p>
                <a:r>
                  <a:rPr lang="ja-JP" altLang="ja-JP" sz="2800" b="1" dirty="0"/>
                  <a:t>推定するパラメータ</a:t>
                </a:r>
                <a:endParaRPr lang="ja-JP" altLang="ja-JP" sz="2800" dirty="0"/>
              </a:p>
              <a:p>
                <a:pPr/>
                <a14:m>
                  <m:oMathPara xmlns:m="http://schemas.openxmlformats.org/officeDocument/2006/math">
                    <m:oMath>
                      <m:sSub>
                        <m:sSubPr>
                          <m:ctrlPr>
                            <a:rPr lang="ja-JP" altLang="en-US" i="1">
                              <a:latin typeface="Cambria Math" panose="02040503050406030204" pitchFamily="18" charset="0"/>
                            </a:rPr>
                          </m:ctrlPr>
                        </m:sSubPr>
                        <m:e>
                          <m:r>
                            <a:rPr lang="ja-JP" altLang="en-US" i="1">
                              <a:latin typeface="Cambria Math" panose="02040503050406030204" pitchFamily="18" charset="0"/>
                            </a:rPr>
                            <m:t>𝑎</m:t>
                          </m:r>
                        </m:e>
                        <m:sub>
                          <m:r>
                            <m:rPr>
                              <m:sty m:val="p"/>
                            </m:rPr>
                            <a:rPr lang="en-US" altLang="ja-JP">
                              <a:latin typeface="Cambria Math" panose="02040503050406030204" pitchFamily="18" charset="0"/>
                            </a:rPr>
                            <m:t>case</m:t>
                          </m:r>
                        </m:sub>
                      </m:sSub>
                      <m:r>
                        <a:rPr lang="en-US" altLang="ja-JP">
                          <a:latin typeface="Cambria Math" panose="02040503050406030204" pitchFamily="18" charset="0"/>
                        </a:rPr>
                        <m:t>,</m:t>
                      </m:r>
                      <m:r>
                        <m:rPr>
                          <m:nor/>
                        </m:rPr>
                        <a:rPr lang="ja-JP" altLang="en-US" i="0"/>
                        <m:t> </m:t>
                      </m:r>
                      <m:sSub>
                        <m:sSubPr>
                          <m:ctrlPr>
                            <a:rPr lang="ja-JP" altLang="en-US" i="1">
                              <a:latin typeface="Cambria Math" panose="02040503050406030204" pitchFamily="18" charset="0"/>
                            </a:rPr>
                          </m:ctrlPr>
                        </m:sSubPr>
                        <m:e>
                          <m:r>
                            <a:rPr lang="ja-JP" altLang="en-US" i="1">
                              <a:latin typeface="Cambria Math" panose="02040503050406030204" pitchFamily="18" charset="0"/>
                            </a:rPr>
                            <m:t>𝑏</m:t>
                          </m:r>
                        </m:e>
                        <m:sub>
                          <m:r>
                            <m:rPr>
                              <m:sty m:val="p"/>
                            </m:rPr>
                            <a:rPr lang="en-US" altLang="ja-JP">
                              <a:latin typeface="Cambria Math" panose="02040503050406030204" pitchFamily="18" charset="0"/>
                            </a:rPr>
                            <m:t>case</m:t>
                          </m:r>
                        </m:sub>
                      </m:sSub>
                    </m:oMath>
                  </m:oMathPara>
                </a14:m>
                <a:endParaRPr lang="ja-JP" altLang="en-US" sz="2800" b="0" dirty="0"/>
              </a:p>
              <a:p>
                <a:r>
                  <a:rPr lang="ja-JP" altLang="ja-JP" sz="2800" b="1" dirty="0"/>
                  <a:t>決め方</a:t>
                </a:r>
                <a:endParaRPr lang="ja-JP" altLang="ja-JP" sz="2800" dirty="0"/>
              </a:p>
              <a:p>
                <a:r>
                  <a:rPr lang="ja-JP" altLang="ja-JP" sz="2800" dirty="0"/>
                  <a:t>各ケースの先頭1軌道を使用 </a:t>
                </a:r>
              </a:p>
              <a:p>
                <a:r>
                  <a:rPr lang="ja-JP" altLang="ja-JP" sz="2800" dirty="0"/>
                  <a:t>Ridge回帰で </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𝑎</m:t>
                        </m:r>
                      </m:e>
                      <m:sub>
                        <m:r>
                          <m:rPr>
                            <m:sty m:val="p"/>
                          </m:rPr>
                          <a:rPr lang="en-US" altLang="ja-JP">
                            <a:latin typeface="Cambria Math" panose="02040503050406030204" pitchFamily="18" charset="0"/>
                          </a:rPr>
                          <m:t>case</m:t>
                        </m:r>
                      </m:sub>
                    </m:sSub>
                    <m:r>
                      <a:rPr lang="en-US" altLang="ja-JP">
                        <a:latin typeface="Cambria Math" panose="02040503050406030204" pitchFamily="18" charset="0"/>
                      </a:rPr>
                      <m:t>,</m:t>
                    </m:r>
                    <m:sSub>
                      <m:sSubPr>
                        <m:ctrlPr>
                          <a:rPr lang="ja-JP" altLang="en-US" i="1">
                            <a:latin typeface="Cambria Math" panose="02040503050406030204" pitchFamily="18" charset="0"/>
                          </a:rPr>
                        </m:ctrlPr>
                      </m:sSubPr>
                      <m:e>
                        <m:r>
                          <a:rPr lang="ja-JP" altLang="en-US" i="1">
                            <a:latin typeface="Cambria Math" panose="02040503050406030204" pitchFamily="18" charset="0"/>
                          </a:rPr>
                          <m:t>𝑏</m:t>
                        </m:r>
                      </m:e>
                      <m:sub>
                        <m:r>
                          <m:rPr>
                            <m:sty m:val="p"/>
                          </m:rPr>
                          <a:rPr lang="en-US" altLang="ja-JP">
                            <a:latin typeface="Cambria Math" panose="02040503050406030204" pitchFamily="18" charset="0"/>
                          </a:rPr>
                          <m:t>case</m:t>
                        </m:r>
                      </m:sub>
                    </m:sSub>
                  </m:oMath>
                </a14:m>
                <a:r>
                  <a:rPr lang="ja-JP" altLang="ja-JP" sz="2800" dirty="0"/>
                  <a:t>を推定 </a:t>
                </a:r>
                <a:endParaRPr lang="en-US" altLang="ja-JP" sz="2800" dirty="0"/>
              </a:p>
              <a:p>
                <a:endParaRPr lang="ja-JP" altLang="ja-JP" sz="2800" dirty="0"/>
              </a:p>
              <a:p>
                <a:r>
                  <a:rPr lang="ja-JP" altLang="ja-JP" sz="2800" b="1" dirty="0"/>
                  <a:t>検証</a:t>
                </a:r>
                <a:endParaRPr lang="ja-JP" altLang="ja-JP" sz="2800" dirty="0"/>
              </a:p>
              <a:p>
                <a:r>
                  <a:rPr lang="ja-JP" altLang="ja-JP" sz="2800" dirty="0"/>
                  <a:t>同じケースの後続2軌道で予測性能を評価</a:t>
                </a:r>
              </a:p>
              <a:p>
                <a:endParaRPr sz="2500" b="0" dirty="0">
                  <a:solidFill>
                    <a:srgbClr val="232B34"/>
                  </a:solidFill>
                  <a:latin typeface="Yu Gothic"/>
                </a:endParaRPr>
              </a:p>
            </p:txBody>
          </p:sp>
        </mc:Choice>
        <mc:Fallback xmlns="">
          <p:sp>
            <p:nvSpPr>
              <p:cNvPr id="41" name="TextBox 15">
                <a:extLst>
                  <a:ext uri="{FF2B5EF4-FFF2-40B4-BE49-F238E27FC236}">
                    <a16:creationId xmlns:a16="http://schemas.microsoft.com/office/drawing/2014/main" id="{89FA0B43-4445-5CD6-0DB0-ACCEA16E9064}"/>
                  </a:ext>
                </a:extLst>
              </p:cNvPr>
              <p:cNvSpPr txBox="1">
                <a:spLocks noRot="1" noChangeAspect="1" noMove="1" noResize="1" noEditPoints="1" noAdjustHandles="1" noChangeArrowheads="1" noChangeShapeType="1" noTextEdit="1"/>
              </p:cNvSpPr>
              <p:nvPr/>
            </p:nvSpPr>
            <p:spPr>
              <a:xfrm>
                <a:off x="1781374" y="4563211"/>
                <a:ext cx="5811809" cy="6749540"/>
              </a:xfrm>
              <a:prstGeom prst="rect">
                <a:avLst/>
              </a:prstGeom>
              <a:blipFill>
                <a:blip r:embed="rId6"/>
                <a:stretch>
                  <a:fillRect l="-3040" t="-1265" r="-734"/>
                </a:stretch>
              </a:blipFill>
            </p:spPr>
            <p:txBody>
              <a:bodyPr/>
              <a:lstStyle/>
              <a:p>
                <a:r>
                  <a:rPr lang="ja-JP" altLang="en-US">
                    <a:noFill/>
                  </a:rPr>
                  <a:t> </a:t>
                </a:r>
              </a:p>
            </p:txBody>
          </p:sp>
        </mc:Fallback>
      </mc:AlternateContent>
      <p:sp>
        <p:nvSpPr>
          <p:cNvPr id="42" name="矢印: 右 41">
            <a:extLst>
              <a:ext uri="{FF2B5EF4-FFF2-40B4-BE49-F238E27FC236}">
                <a16:creationId xmlns:a16="http://schemas.microsoft.com/office/drawing/2014/main" id="{DFED4CE8-7032-BC57-911F-E445C9E31190}"/>
              </a:ext>
            </a:extLst>
          </p:cNvPr>
          <p:cNvSpPr/>
          <p:nvPr/>
        </p:nvSpPr>
        <p:spPr>
          <a:xfrm>
            <a:off x="7968343" y="7599926"/>
            <a:ext cx="339825" cy="6364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右 43">
            <a:extLst>
              <a:ext uri="{FF2B5EF4-FFF2-40B4-BE49-F238E27FC236}">
                <a16:creationId xmlns:a16="http://schemas.microsoft.com/office/drawing/2014/main" id="{F13D7151-B039-5901-1993-82D2163F29DD}"/>
              </a:ext>
            </a:extLst>
          </p:cNvPr>
          <p:cNvSpPr/>
          <p:nvPr/>
        </p:nvSpPr>
        <p:spPr>
          <a:xfrm>
            <a:off x="15332232" y="7646750"/>
            <a:ext cx="339825" cy="6364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Hierarchical ΔT model</a:t>
            </a:r>
          </a:p>
        </p:txBody>
      </p:sp>
      <mc:AlternateContent xmlns:mc="http://schemas.openxmlformats.org/markup-compatibility/2006" xmlns:a14="http://schemas.microsoft.com/office/drawing/2010/main">
        <mc:Choice Requires="a14">
          <p:sp>
            <p:nvSpPr>
              <p:cNvPr id="3" name="TextBox 2"/>
              <p:cNvSpPr txBox="1"/>
              <p:nvPr/>
            </p:nvSpPr>
            <p:spPr>
              <a:xfrm>
                <a:off x="1536192" y="1298448"/>
                <a:ext cx="13427458"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結果＜階層</a:t>
                </a:r>
                <a:r>
                  <a:rPr lang="en-US" altLang="ja-JP" sz="3200" b="1" dirty="0">
                    <a:solidFill>
                      <a:srgbClr val="082B52"/>
                    </a:solidFill>
                    <a:latin typeface="Yu Gothic"/>
                  </a:rPr>
                  <a:t>1</a:t>
                </a:r>
                <a:r>
                  <a:rPr lang="ja-JP" altLang="en-US" sz="3200" b="1" dirty="0">
                    <a:solidFill>
                      <a:srgbClr val="082B52"/>
                    </a:solidFill>
                    <a:latin typeface="Yu Gothic"/>
                  </a:rPr>
                  <a:t>＞：</a:t>
                </a:r>
                <a:r>
                  <a:rPr lang="ja-JP" altLang="ja-JP" sz="3200" b="1" dirty="0"/>
                  <a:t>共有感度 </a:t>
                </a:r>
                <a14:m>
                  <m:oMath xmlns:m="http://schemas.openxmlformats.org/officeDocument/2006/math">
                    <m:r>
                      <a:rPr lang="en-US" altLang="ja-JP" sz="3200" b="1" i="1" smtClean="0">
                        <a:latin typeface="Cambria Math" panose="02040503050406030204" pitchFamily="18" charset="0"/>
                      </a:rPr>
                      <m:t>𝒂</m:t>
                    </m:r>
                  </m:oMath>
                </a14:m>
                <a:r>
                  <a:rPr lang="ja-JP" altLang="en-US" sz="3200" b="1" dirty="0"/>
                  <a:t>は</a:t>
                </a:r>
                <a:r>
                  <a:rPr lang="ja-JP" altLang="ja-JP" sz="3200" b="1" dirty="0"/>
                  <a:t>ケース追加後も約28–31 µrad/</a:t>
                </a:r>
                <a:r>
                  <a:rPr lang="ja-JP" altLang="en-US" sz="3200" b="1" dirty="0"/>
                  <a:t>℃</a:t>
                </a:r>
                <a:r>
                  <a:rPr lang="ja-JP" altLang="ja-JP" sz="3200" b="1" dirty="0"/>
                  <a:t>で安定する</a:t>
                </a:r>
                <a:endParaRPr sz="3200" b="1" dirty="0">
                  <a:solidFill>
                    <a:srgbClr val="082B52"/>
                  </a:solidFill>
                  <a:latin typeface="Yu Gothic"/>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536192" y="1298448"/>
                <a:ext cx="13427458" cy="1040285"/>
              </a:xfrm>
              <a:prstGeom prst="rect">
                <a:avLst/>
              </a:prstGeom>
              <a:blipFill>
                <a:blip r:embed="rId3"/>
                <a:stretch>
                  <a:fillRect l="-1543" r="-681" b="-20468"/>
                </a:stretch>
              </a:blipFill>
            </p:spPr>
            <p:txBody>
              <a:bodyPr/>
              <a:lstStyle/>
              <a:p>
                <a:r>
                  <a:rPr lang="ja-JP" altLang="en-US">
                    <a:noFill/>
                  </a:rPr>
                  <a:t> </a:t>
                </a:r>
              </a:p>
            </p:txBody>
          </p:sp>
        </mc:Fallback>
      </mc:AlternateContent>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24</a:t>
            </a:r>
          </a:p>
        </p:txBody>
      </p:sp>
      <p:sp>
        <p:nvSpPr>
          <p:cNvPr id="5" name="Rectangle 4"/>
          <p:cNvSpPr/>
          <p:nvPr/>
        </p:nvSpPr>
        <p:spPr>
          <a:xfrm>
            <a:off x="1005840" y="3249380"/>
            <a:ext cx="14813280" cy="80467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bcase_a_emp_by_sunface.png"/>
          <p:cNvPicPr>
            <a:picLocks noChangeAspect="1"/>
          </p:cNvPicPr>
          <p:nvPr/>
        </p:nvPicPr>
        <p:blipFill>
          <a:blip r:embed="rId4"/>
          <a:stretch>
            <a:fillRect/>
          </a:stretch>
        </p:blipFill>
        <p:spPr>
          <a:xfrm>
            <a:off x="1515291" y="3167739"/>
            <a:ext cx="13794377" cy="8046720"/>
          </a:xfrm>
          <a:prstGeom prst="rect">
            <a:avLst/>
          </a:prstGeom>
        </p:spPr>
      </p:pic>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6295818"/>
                  </p:ext>
                </p:extLst>
              </p:nvPr>
            </p:nvGraphicFramePr>
            <p:xfrm>
              <a:off x="16459200" y="3219997"/>
              <a:ext cx="6583679" cy="47548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tblGrid>
                  <a:tr h="950976">
                    <a:tc>
                      <a:txBody>
                        <a:bodyPr/>
                        <a:lstStyle/>
                        <a:p>
                          <a:pPr algn="l"/>
                          <a:r>
                            <a:rPr sz="2400" b="1">
                              <a:solidFill>
                                <a:srgbClr val="FFFFFF"/>
                              </a:solidFill>
                              <a:latin typeface="Yu Gothic"/>
                            </a:rPr>
                            <a:t>Sun</a:t>
                          </a:r>
                        </a:p>
                      </a:txBody>
                      <a:tcPr marL="64008" marR="64008" marT="27432" marB="27432" anchor="ctr">
                        <a:solidFill>
                          <a:srgbClr val="082B52"/>
                        </a:solidFill>
                      </a:tcPr>
                    </a:tc>
                    <a:tc>
                      <a:txBody>
                        <a:bodyPr/>
                        <a:lstStyle/>
                        <a:p>
                          <a:pPr algn="ctr"/>
                          <a14:m>
                            <m:oMath xmlns:m="http://schemas.openxmlformats.org/officeDocument/2006/math">
                              <m:sSub>
                                <m:sSubPr>
                                  <m:ctrlPr>
                                    <a:rPr lang="ja-JP" altLang="en-US" sz="2400" i="1">
                                      <a:latin typeface="Cambria Math" panose="02040503050406030204" pitchFamily="18" charset="0"/>
                                    </a:rPr>
                                  </m:ctrlPr>
                                </m:sSubPr>
                                <m:e>
                                  <m:r>
                                    <a:rPr lang="ja-JP" altLang="en-US" sz="2400" i="1">
                                      <a:latin typeface="Cambria Math" panose="02040503050406030204" pitchFamily="18" charset="0"/>
                                    </a:rPr>
                                    <m:t>𝑎</m:t>
                                  </m:r>
                                </m:e>
                                <m:sub>
                                  <m:r>
                                    <a:rPr lang="en-US" altLang="ja-JP" sz="2400" b="0" i="1" smtClean="0">
                                      <a:latin typeface="Cambria Math" panose="02040503050406030204" pitchFamily="18" charset="0"/>
                                    </a:rPr>
                                    <m:t>𝑠ℎ𝑎𝑟𝑒𝑑</m:t>
                                  </m:r>
                                </m:sub>
                              </m:sSub>
                              <m:r>
                                <a:rPr lang="en-US" altLang="ja-JP" sz="2400" i="1">
                                  <a:latin typeface="Cambria Math" panose="02040503050406030204" pitchFamily="18" charset="0"/>
                                </a:rPr>
                                <m:t> </m:t>
                              </m:r>
                            </m:oMath>
                          </a14:m>
                          <a:r>
                            <a:rPr lang="en-US" sz="2400" b="1" dirty="0">
                              <a:solidFill>
                                <a:srgbClr val="FFFFFF"/>
                              </a:solidFill>
                              <a:latin typeface="Yu Gothic"/>
                            </a:rPr>
                            <a:t>[urad/</a:t>
                          </a:r>
                          <a:r>
                            <a:rPr lang="ja-JP" altLang="en-US" sz="2400" b="1" dirty="0">
                              <a:solidFill>
                                <a:srgbClr val="FFFFFF"/>
                              </a:solidFill>
                              <a:latin typeface="Yu Gothic"/>
                            </a:rPr>
                            <a:t>℃</a:t>
                          </a:r>
                          <a:r>
                            <a:rPr lang="en-US" altLang="ja-JP" sz="2400" b="1" dirty="0">
                              <a:solidFill>
                                <a:srgbClr val="FFFFFF"/>
                              </a:solidFill>
                              <a:latin typeface="Yu Gothic"/>
                            </a:rPr>
                            <a:t>]</a:t>
                          </a:r>
                          <a:endParaRPr sz="2400" b="1" dirty="0">
                            <a:solidFill>
                              <a:srgbClr val="FFFFFF"/>
                            </a:solidFill>
                            <a:latin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950976">
                    <a:tc>
                      <a:txBody>
                        <a:bodyPr/>
                        <a:lstStyle/>
                        <a:p>
                          <a:pPr algn="l"/>
                          <a:r>
                            <a:rPr sz="2400" b="0">
                              <a:solidFill>
                                <a:srgbClr val="232B34"/>
                              </a:solidFill>
                              <a:latin typeface="Yu Gothic"/>
                            </a:rPr>
                            <a:t>MX</a:t>
                          </a:r>
                        </a:p>
                      </a:txBody>
                      <a:tcPr marL="64008" marR="64008" marT="27432" marB="27432" anchor="ctr">
                        <a:solidFill>
                          <a:srgbClr val="FFFFFF"/>
                        </a:solidFill>
                      </a:tcPr>
                    </a:tc>
                    <a:tc>
                      <a:txBody>
                        <a:bodyPr/>
                        <a:lstStyle/>
                        <a:p>
                          <a:pPr algn="ctr"/>
                          <a:r>
                            <a:rPr sz="2400" b="0">
                              <a:solidFill>
                                <a:srgbClr val="232B34"/>
                              </a:solidFill>
                              <a:latin typeface="Yu Gothic"/>
                            </a:rPr>
                            <a:t>+30.6</a:t>
                          </a:r>
                        </a:p>
                      </a:txBody>
                      <a:tcPr marL="64008" marR="64008" marT="27432" marB="27432" anchor="ctr">
                        <a:solidFill>
                          <a:srgbClr val="EBF6FB"/>
                        </a:solidFill>
                      </a:tcPr>
                    </a:tc>
                    <a:extLst>
                      <a:ext uri="{0D108BD9-81ED-4DB2-BD59-A6C34878D82A}">
                        <a16:rowId xmlns:a16="http://schemas.microsoft.com/office/drawing/2014/main" val="10001"/>
                      </a:ext>
                    </a:extLst>
                  </a:tr>
                  <a:tr h="950976">
                    <a:tc>
                      <a:txBody>
                        <a:bodyPr/>
                        <a:lstStyle/>
                        <a:p>
                          <a:pPr algn="l"/>
                          <a:r>
                            <a:rPr sz="2400" b="0">
                              <a:solidFill>
                                <a:srgbClr val="232B34"/>
                              </a:solidFill>
                              <a:latin typeface="Yu Gothic"/>
                            </a:rPr>
                            <a:t>MY</a:t>
                          </a:r>
                        </a:p>
                      </a:txBody>
                      <a:tcPr marL="64008" marR="64008" marT="27432" marB="27432" anchor="ctr">
                        <a:solidFill>
                          <a:srgbClr val="F4F6F8"/>
                        </a:solidFill>
                      </a:tcPr>
                    </a:tc>
                    <a:tc>
                      <a:txBody>
                        <a:bodyPr/>
                        <a:lstStyle/>
                        <a:p>
                          <a:pPr algn="ctr"/>
                          <a:r>
                            <a:rPr sz="2400" b="0" dirty="0">
                              <a:solidFill>
                                <a:srgbClr val="232B34"/>
                              </a:solidFill>
                              <a:latin typeface="Yu Gothic"/>
                            </a:rPr>
                            <a:t>+28.6</a:t>
                          </a:r>
                        </a:p>
                      </a:txBody>
                      <a:tcPr marL="64008" marR="64008" marT="27432" marB="27432" anchor="ctr">
                        <a:solidFill>
                          <a:srgbClr val="EBF6FB"/>
                        </a:solidFill>
                      </a:tcPr>
                    </a:tc>
                    <a:extLst>
                      <a:ext uri="{0D108BD9-81ED-4DB2-BD59-A6C34878D82A}">
                        <a16:rowId xmlns:a16="http://schemas.microsoft.com/office/drawing/2014/main" val="10002"/>
                      </a:ext>
                    </a:extLst>
                  </a:tr>
                  <a:tr h="950976">
                    <a:tc>
                      <a:txBody>
                        <a:bodyPr/>
                        <a:lstStyle/>
                        <a:p>
                          <a:pPr algn="l"/>
                          <a:r>
                            <a:rPr sz="2400" b="0">
                              <a:solidFill>
                                <a:srgbClr val="232B34"/>
                              </a:solidFill>
                              <a:latin typeface="Yu Gothic"/>
                            </a:rPr>
                            <a:t>PX</a:t>
                          </a:r>
                        </a:p>
                      </a:txBody>
                      <a:tcPr marL="64008" marR="64008" marT="27432" marB="27432" anchor="ctr">
                        <a:solidFill>
                          <a:srgbClr val="FFFFFF"/>
                        </a:solidFill>
                      </a:tcPr>
                    </a:tc>
                    <a:tc>
                      <a:txBody>
                        <a:bodyPr/>
                        <a:lstStyle/>
                        <a:p>
                          <a:pPr algn="ctr"/>
                          <a:r>
                            <a:rPr sz="2400" b="0">
                              <a:solidFill>
                                <a:srgbClr val="232B34"/>
                              </a:solidFill>
                              <a:latin typeface="Yu Gothic"/>
                            </a:rPr>
                            <a:t>−28.1</a:t>
                          </a:r>
                        </a:p>
                      </a:txBody>
                      <a:tcPr marL="64008" marR="64008" marT="27432" marB="27432" anchor="ctr">
                        <a:solidFill>
                          <a:srgbClr val="EBF6FB"/>
                        </a:solidFill>
                      </a:tcPr>
                    </a:tc>
                    <a:extLst>
                      <a:ext uri="{0D108BD9-81ED-4DB2-BD59-A6C34878D82A}">
                        <a16:rowId xmlns:a16="http://schemas.microsoft.com/office/drawing/2014/main" val="10003"/>
                      </a:ext>
                    </a:extLst>
                  </a:tr>
                  <a:tr h="950976">
                    <a:tc>
                      <a:txBody>
                        <a:bodyPr/>
                        <a:lstStyle/>
                        <a:p>
                          <a:pPr algn="l"/>
                          <a:r>
                            <a:rPr sz="2400" b="0">
                              <a:solidFill>
                                <a:srgbClr val="232B34"/>
                              </a:solidFill>
                              <a:latin typeface="Yu Gothic"/>
                            </a:rPr>
                            <a:t>PY</a:t>
                          </a:r>
                        </a:p>
                      </a:txBody>
                      <a:tcPr marL="64008" marR="64008" marT="27432" marB="27432" anchor="ctr">
                        <a:solidFill>
                          <a:srgbClr val="F4F6F8"/>
                        </a:solidFill>
                      </a:tcPr>
                    </a:tc>
                    <a:tc>
                      <a:txBody>
                        <a:bodyPr/>
                        <a:lstStyle/>
                        <a:p>
                          <a:pPr algn="ctr"/>
                          <a:r>
                            <a:rPr sz="2400" b="0" dirty="0">
                              <a:solidFill>
                                <a:srgbClr val="232B34"/>
                              </a:solidFill>
                              <a:latin typeface="Yu Gothic"/>
                            </a:rPr>
                            <a:t>−28.7</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6295818"/>
                  </p:ext>
                </p:extLst>
              </p:nvPr>
            </p:nvGraphicFramePr>
            <p:xfrm>
              <a:off x="16459200" y="3219997"/>
              <a:ext cx="6583679" cy="47548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tblGrid>
                  <a:tr h="950976">
                    <a:tc>
                      <a:txBody>
                        <a:bodyPr/>
                        <a:lstStyle/>
                        <a:p>
                          <a:pPr algn="l"/>
                          <a:r>
                            <a:rPr sz="2400" b="1">
                              <a:solidFill>
                                <a:srgbClr val="FFFFFF"/>
                              </a:solidFill>
                              <a:latin typeface="Yu Gothic"/>
                            </a:rPr>
                            <a:t>Sun</a:t>
                          </a:r>
                        </a:p>
                      </a:txBody>
                      <a:tcPr marL="64008" marR="64008" marT="27432" marB="27432" anchor="ctr">
                        <a:solidFill>
                          <a:srgbClr val="082B52"/>
                        </a:solidFill>
                      </a:tcPr>
                    </a:tc>
                    <a:tc>
                      <a:txBody>
                        <a:bodyPr/>
                        <a:lstStyle/>
                        <a:p>
                          <a:endParaRPr lang="ja-JP"/>
                        </a:p>
                      </a:txBody>
                      <a:tcPr marL="64008" marR="64008" marT="27432" marB="27432" anchor="ctr">
                        <a:blipFill>
                          <a:blip r:embed="rId5"/>
                          <a:stretch>
                            <a:fillRect l="-75935" t="-641" r="-813" b="-401923"/>
                          </a:stretch>
                        </a:blipFill>
                      </a:tcPr>
                    </a:tc>
                    <a:extLst>
                      <a:ext uri="{0D108BD9-81ED-4DB2-BD59-A6C34878D82A}">
                        <a16:rowId xmlns:a16="http://schemas.microsoft.com/office/drawing/2014/main" val="10000"/>
                      </a:ext>
                    </a:extLst>
                  </a:tr>
                  <a:tr h="950976">
                    <a:tc>
                      <a:txBody>
                        <a:bodyPr/>
                        <a:lstStyle/>
                        <a:p>
                          <a:pPr algn="l"/>
                          <a:r>
                            <a:rPr sz="2400" b="0">
                              <a:solidFill>
                                <a:srgbClr val="232B34"/>
                              </a:solidFill>
                              <a:latin typeface="Yu Gothic"/>
                            </a:rPr>
                            <a:t>MX</a:t>
                          </a:r>
                        </a:p>
                      </a:txBody>
                      <a:tcPr marL="64008" marR="64008" marT="27432" marB="27432" anchor="ctr">
                        <a:solidFill>
                          <a:srgbClr val="FFFFFF"/>
                        </a:solidFill>
                      </a:tcPr>
                    </a:tc>
                    <a:tc>
                      <a:txBody>
                        <a:bodyPr/>
                        <a:lstStyle/>
                        <a:p>
                          <a:pPr algn="ctr"/>
                          <a:r>
                            <a:rPr sz="2400" b="0">
                              <a:solidFill>
                                <a:srgbClr val="232B34"/>
                              </a:solidFill>
                              <a:latin typeface="Yu Gothic"/>
                            </a:rPr>
                            <a:t>+30.6</a:t>
                          </a:r>
                        </a:p>
                      </a:txBody>
                      <a:tcPr marL="64008" marR="64008" marT="27432" marB="27432" anchor="ctr">
                        <a:solidFill>
                          <a:srgbClr val="EBF6FB"/>
                        </a:solidFill>
                      </a:tcPr>
                    </a:tc>
                    <a:extLst>
                      <a:ext uri="{0D108BD9-81ED-4DB2-BD59-A6C34878D82A}">
                        <a16:rowId xmlns:a16="http://schemas.microsoft.com/office/drawing/2014/main" val="10001"/>
                      </a:ext>
                    </a:extLst>
                  </a:tr>
                  <a:tr h="950976">
                    <a:tc>
                      <a:txBody>
                        <a:bodyPr/>
                        <a:lstStyle/>
                        <a:p>
                          <a:pPr algn="l"/>
                          <a:r>
                            <a:rPr sz="2400" b="0">
                              <a:solidFill>
                                <a:srgbClr val="232B34"/>
                              </a:solidFill>
                              <a:latin typeface="Yu Gothic"/>
                            </a:rPr>
                            <a:t>MY</a:t>
                          </a:r>
                        </a:p>
                      </a:txBody>
                      <a:tcPr marL="64008" marR="64008" marT="27432" marB="27432" anchor="ctr">
                        <a:solidFill>
                          <a:srgbClr val="F4F6F8"/>
                        </a:solidFill>
                      </a:tcPr>
                    </a:tc>
                    <a:tc>
                      <a:txBody>
                        <a:bodyPr/>
                        <a:lstStyle/>
                        <a:p>
                          <a:pPr algn="ctr"/>
                          <a:r>
                            <a:rPr sz="2400" b="0" dirty="0">
                              <a:solidFill>
                                <a:srgbClr val="232B34"/>
                              </a:solidFill>
                              <a:latin typeface="Yu Gothic"/>
                            </a:rPr>
                            <a:t>+28.6</a:t>
                          </a:r>
                        </a:p>
                      </a:txBody>
                      <a:tcPr marL="64008" marR="64008" marT="27432" marB="27432" anchor="ctr">
                        <a:solidFill>
                          <a:srgbClr val="EBF6FB"/>
                        </a:solidFill>
                      </a:tcPr>
                    </a:tc>
                    <a:extLst>
                      <a:ext uri="{0D108BD9-81ED-4DB2-BD59-A6C34878D82A}">
                        <a16:rowId xmlns:a16="http://schemas.microsoft.com/office/drawing/2014/main" val="10002"/>
                      </a:ext>
                    </a:extLst>
                  </a:tr>
                  <a:tr h="950976">
                    <a:tc>
                      <a:txBody>
                        <a:bodyPr/>
                        <a:lstStyle/>
                        <a:p>
                          <a:pPr algn="l"/>
                          <a:r>
                            <a:rPr sz="2400" b="0">
                              <a:solidFill>
                                <a:srgbClr val="232B34"/>
                              </a:solidFill>
                              <a:latin typeface="Yu Gothic"/>
                            </a:rPr>
                            <a:t>PX</a:t>
                          </a:r>
                        </a:p>
                      </a:txBody>
                      <a:tcPr marL="64008" marR="64008" marT="27432" marB="27432" anchor="ctr">
                        <a:solidFill>
                          <a:srgbClr val="FFFFFF"/>
                        </a:solidFill>
                      </a:tcPr>
                    </a:tc>
                    <a:tc>
                      <a:txBody>
                        <a:bodyPr/>
                        <a:lstStyle/>
                        <a:p>
                          <a:pPr algn="ctr"/>
                          <a:r>
                            <a:rPr sz="2400" b="0">
                              <a:solidFill>
                                <a:srgbClr val="232B34"/>
                              </a:solidFill>
                              <a:latin typeface="Yu Gothic"/>
                            </a:rPr>
                            <a:t>−28.1</a:t>
                          </a:r>
                        </a:p>
                      </a:txBody>
                      <a:tcPr marL="64008" marR="64008" marT="27432" marB="27432" anchor="ctr">
                        <a:solidFill>
                          <a:srgbClr val="EBF6FB"/>
                        </a:solidFill>
                      </a:tcPr>
                    </a:tc>
                    <a:extLst>
                      <a:ext uri="{0D108BD9-81ED-4DB2-BD59-A6C34878D82A}">
                        <a16:rowId xmlns:a16="http://schemas.microsoft.com/office/drawing/2014/main" val="10003"/>
                      </a:ext>
                    </a:extLst>
                  </a:tr>
                  <a:tr h="950976">
                    <a:tc>
                      <a:txBody>
                        <a:bodyPr/>
                        <a:lstStyle/>
                        <a:p>
                          <a:pPr algn="l"/>
                          <a:r>
                            <a:rPr sz="2400" b="0">
                              <a:solidFill>
                                <a:srgbClr val="232B34"/>
                              </a:solidFill>
                              <a:latin typeface="Yu Gothic"/>
                            </a:rPr>
                            <a:t>PY</a:t>
                          </a:r>
                        </a:p>
                      </a:txBody>
                      <a:tcPr marL="64008" marR="64008" marT="27432" marB="27432" anchor="ctr">
                        <a:solidFill>
                          <a:srgbClr val="F4F6F8"/>
                        </a:solidFill>
                      </a:tcPr>
                    </a:tc>
                    <a:tc>
                      <a:txBody>
                        <a:bodyPr/>
                        <a:lstStyle/>
                        <a:p>
                          <a:pPr algn="ctr"/>
                          <a:r>
                            <a:rPr sz="2400" b="0" dirty="0">
                              <a:solidFill>
                                <a:srgbClr val="232B34"/>
                              </a:solidFill>
                              <a:latin typeface="Yu Gothic"/>
                            </a:rPr>
                            <a:t>−28.7</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mc:Fallback>
      </mc:AlternateContent>
      <p:sp>
        <p:nvSpPr>
          <p:cNvPr id="8" name="Rounded Rectangle 7"/>
          <p:cNvSpPr/>
          <p:nvPr/>
        </p:nvSpPr>
        <p:spPr>
          <a:xfrm>
            <a:off x="16165282" y="8229600"/>
            <a:ext cx="7119258" cy="4590288"/>
          </a:xfrm>
          <a:prstGeom prst="roundRect">
            <a:avLst/>
          </a:prstGeom>
          <a:solidFill>
            <a:srgbClr val="EAF8F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26541" y="8624755"/>
            <a:ext cx="6656114" cy="3933384"/>
          </a:xfrm>
          <a:prstGeom prst="rect">
            <a:avLst/>
          </a:prstGeom>
          <a:noFill/>
        </p:spPr>
        <p:txBody>
          <a:bodyPr wrap="square" lIns="36576" tIns="27432" rIns="36576" bIns="27432" anchor="t">
            <a:spAutoFit/>
          </a:bodyPr>
          <a:lstStyle/>
          <a:p>
            <a:r>
              <a:rPr lang="ja-JP" altLang="ja-JP" sz="2800" dirty="0"/>
              <a:t>同一太陽指向面ではケース別感度が狭く分布し、感度の大きさは約28–31 µrad/</a:t>
            </a:r>
            <a:r>
              <a:rPr lang="ja-JP" altLang="en-US" sz="2800" dirty="0"/>
              <a:t>℃ </a:t>
            </a:r>
            <a:r>
              <a:rPr lang="ja-JP" altLang="ja-JP" sz="2800" dirty="0"/>
              <a:t>で安定した。</a:t>
            </a:r>
            <a:endParaRPr lang="en-US" altLang="ja-JP" sz="2800" dirty="0"/>
          </a:p>
          <a:p>
            <a:br>
              <a:rPr lang="ja-JP" altLang="ja-JP" sz="2800" dirty="0"/>
            </a:br>
            <a:r>
              <a:rPr lang="ja-JP" altLang="ja-JP" sz="2800" dirty="0"/>
              <a:t>太陽指向面に応じて符号・支配軸は系統的に変化する。</a:t>
            </a:r>
            <a:endParaRPr lang="en-US" altLang="ja-JP" sz="2800" dirty="0"/>
          </a:p>
          <a:p>
            <a:br>
              <a:rPr lang="ja-JP" altLang="ja-JP" sz="2800" dirty="0"/>
            </a:br>
            <a:r>
              <a:rPr lang="ja-JP" altLang="ja-JP" sz="2800" b="1" dirty="0"/>
              <a:t>→ 同一基本構造では、</a:t>
            </a:r>
            <a:r>
              <a:rPr lang="ja-JP" altLang="en-US" sz="2800" b="1" dirty="0"/>
              <a:t>事前解析・事前試験等で</a:t>
            </a:r>
            <a:r>
              <a:rPr lang="ja-JP" altLang="ja-JP" sz="2800" b="1" dirty="0"/>
              <a:t>共有感度を事前固定できる可能性</a:t>
            </a:r>
            <a:endParaRPr sz="2600" b="1" dirty="0">
              <a:latin typeface="Yu Gothic"/>
            </a:endParaRP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8E158254-0930-9383-4572-F663A1BD0D79}"/>
                  </a:ext>
                </a:extLst>
              </p:cNvPr>
              <p:cNvSpPr txBox="1"/>
              <p:nvPr/>
            </p:nvSpPr>
            <p:spPr>
              <a:xfrm>
                <a:off x="2945546" y="11655760"/>
                <a:ext cx="7880297" cy="892424"/>
              </a:xfrm>
              <a:prstGeom prst="rect">
                <a:avLst/>
              </a:prstGeom>
              <a:noFill/>
            </p:spPr>
            <p:txBody>
              <a:bodyPr wrap="square">
                <a:spAutoFit/>
              </a:bodyPr>
              <a:lstStyle/>
              <a:p>
                <a14:m>
                  <m:oMath xmlns:m="http://schemas.openxmlformats.org/officeDocument/2006/math">
                    <m:sSub>
                      <m:sSubPr>
                        <m:ctrlPr>
                          <a:rPr lang="ja-JP" altLang="en-US" sz="2400" i="1">
                            <a:latin typeface="Cambria Math" panose="02040503050406030204" pitchFamily="18" charset="0"/>
                          </a:rPr>
                        </m:ctrlPr>
                      </m:sSubPr>
                      <m:e>
                        <m:r>
                          <a:rPr lang="ja-JP" altLang="en-US" sz="2400" i="1">
                            <a:latin typeface="Cambria Math" panose="02040503050406030204" pitchFamily="18" charset="0"/>
                          </a:rPr>
                          <m:t>𝑎</m:t>
                        </m:r>
                      </m:e>
                      <m:sub>
                        <m:r>
                          <a:rPr lang="en-US" altLang="ja-JP" sz="2400" i="1">
                            <a:latin typeface="Cambria Math" panose="02040503050406030204" pitchFamily="18" charset="0"/>
                          </a:rPr>
                          <m:t>𝑒𝑚𝑝</m:t>
                        </m:r>
                      </m:sub>
                    </m:sSub>
                  </m:oMath>
                </a14:m>
                <a:r>
                  <a:rPr lang="ja-JP" altLang="ja-JP" sz="2400" dirty="0"/>
                  <a:t>：各ケースの先頭1軌道から個別推定した温度感度</a:t>
                </a:r>
                <a:endParaRPr lang="en-US" altLang="ja-JP" sz="2400" dirty="0"/>
              </a:p>
              <a:p>
                <a14:m>
                  <m:oMath xmlns:m="http://schemas.openxmlformats.org/officeDocument/2006/math">
                    <m:sSub>
                      <m:sSubPr>
                        <m:ctrlPr>
                          <a:rPr lang="ja-JP" altLang="en-US" sz="2400" i="1">
                            <a:latin typeface="Cambria Math" panose="02040503050406030204" pitchFamily="18" charset="0"/>
                          </a:rPr>
                        </m:ctrlPr>
                      </m:sSubPr>
                      <m:e>
                        <m:r>
                          <a:rPr lang="ja-JP" altLang="en-US" sz="2400" i="1">
                            <a:latin typeface="Cambria Math" panose="02040503050406030204" pitchFamily="18" charset="0"/>
                          </a:rPr>
                          <m:t>𝑎</m:t>
                        </m:r>
                      </m:e>
                      <m:sub>
                        <m:r>
                          <a:rPr lang="en-US" altLang="ja-JP" sz="2400" b="0" i="1" smtClean="0">
                            <a:latin typeface="Cambria Math" panose="02040503050406030204" pitchFamily="18" charset="0"/>
                          </a:rPr>
                          <m:t>𝑠ℎ𝑎𝑟𝑒𝑑</m:t>
                        </m:r>
                      </m:sub>
                    </m:sSub>
                    <m:r>
                      <a:rPr lang="en-US" altLang="ja-JP" sz="2400" i="1">
                        <a:latin typeface="Cambria Math" panose="02040503050406030204" pitchFamily="18" charset="0"/>
                      </a:rPr>
                      <m:t> </m:t>
                    </m:r>
                  </m:oMath>
                </a14:m>
                <a:r>
                  <a:rPr lang="ja-JP" altLang="ja-JP" sz="2400" dirty="0"/>
                  <a:t>：同じ太陽指向面の </a:t>
                </a:r>
                <a14:m>
                  <m:oMath xmlns:m="http://schemas.openxmlformats.org/officeDocument/2006/math">
                    <m:sSub>
                      <m:sSubPr>
                        <m:ctrlPr>
                          <a:rPr lang="ja-JP" altLang="en-US" sz="2400" i="1">
                            <a:latin typeface="Cambria Math" panose="02040503050406030204" pitchFamily="18" charset="0"/>
                          </a:rPr>
                        </m:ctrlPr>
                      </m:sSubPr>
                      <m:e>
                        <m:r>
                          <a:rPr lang="ja-JP" altLang="en-US" sz="2400" i="1">
                            <a:latin typeface="Cambria Math" panose="02040503050406030204" pitchFamily="18" charset="0"/>
                          </a:rPr>
                          <m:t>𝑎</m:t>
                        </m:r>
                      </m:e>
                      <m:sub>
                        <m:r>
                          <m:rPr>
                            <m:sty m:val="p"/>
                          </m:rPr>
                          <a:rPr lang="en-US" altLang="ja-JP" sz="2400" i="0">
                            <a:latin typeface="Cambria Math" panose="02040503050406030204" pitchFamily="18" charset="0"/>
                          </a:rPr>
                          <m:t>emp</m:t>
                        </m:r>
                      </m:sub>
                    </m:sSub>
                  </m:oMath>
                </a14:m>
                <a:r>
                  <a:rPr lang="ja-JP" altLang="ja-JP" sz="2400" dirty="0"/>
                  <a:t>の中央値</a:t>
                </a:r>
                <a:endParaRPr lang="ja-JP" altLang="en-US" sz="2400" dirty="0"/>
              </a:p>
            </p:txBody>
          </p:sp>
        </mc:Choice>
        <mc:Fallback xmlns="">
          <p:sp>
            <p:nvSpPr>
              <p:cNvPr id="11" name="テキスト ボックス 10">
                <a:extLst>
                  <a:ext uri="{FF2B5EF4-FFF2-40B4-BE49-F238E27FC236}">
                    <a16:creationId xmlns:a16="http://schemas.microsoft.com/office/drawing/2014/main" id="{8E158254-0930-9383-4572-F663A1BD0D79}"/>
                  </a:ext>
                </a:extLst>
              </p:cNvPr>
              <p:cNvSpPr txBox="1">
                <a:spLocks noRot="1" noChangeAspect="1" noMove="1" noResize="1" noEditPoints="1" noAdjustHandles="1" noChangeArrowheads="1" noChangeShapeType="1" noTextEdit="1"/>
              </p:cNvSpPr>
              <p:nvPr/>
            </p:nvSpPr>
            <p:spPr>
              <a:xfrm>
                <a:off x="2945546" y="11655760"/>
                <a:ext cx="7880297" cy="892424"/>
              </a:xfrm>
              <a:prstGeom prst="rect">
                <a:avLst/>
              </a:prstGeom>
              <a:blipFill>
                <a:blip r:embed="rId6"/>
                <a:stretch>
                  <a:fillRect t="-4110" b="-12329"/>
                </a:stretch>
              </a:blipFill>
            </p:spPr>
            <p:txBody>
              <a:bodyPr/>
              <a:lstStyle/>
              <a:p>
                <a:r>
                  <a:rPr lang="ja-JP"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Hierarchical ΔT model</a:t>
            </a:r>
          </a:p>
        </p:txBody>
      </p:sp>
      <mc:AlternateContent xmlns:mc="http://schemas.openxmlformats.org/markup-compatibility/2006" xmlns:a14="http://schemas.microsoft.com/office/drawing/2010/main">
        <mc:Choice Requires="a14">
          <p:sp>
            <p:nvSpPr>
              <p:cNvPr id="3" name="TextBox 2"/>
              <p:cNvSpPr txBox="1"/>
              <p:nvPr/>
            </p:nvSpPr>
            <p:spPr>
              <a:xfrm>
                <a:off x="1536192" y="1298448"/>
                <a:ext cx="19217120"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結果＜階層</a:t>
                </a:r>
                <a:r>
                  <a:rPr lang="en-US" altLang="ja-JP" sz="3200" b="1" dirty="0">
                    <a:solidFill>
                      <a:srgbClr val="082B52"/>
                    </a:solidFill>
                    <a:latin typeface="Yu Gothic"/>
                  </a:rPr>
                  <a:t>2</a:t>
                </a:r>
                <a:r>
                  <a:rPr lang="ja-JP" altLang="en-US" sz="3200" b="1" dirty="0">
                    <a:solidFill>
                      <a:srgbClr val="082B52"/>
                    </a:solidFill>
                    <a:latin typeface="Yu Gothic"/>
                  </a:rPr>
                  <a:t>＞：</a:t>
                </a:r>
                <a:r>
                  <a:rPr lang="ja-JP" altLang="ja-JP" sz="3200" b="1" dirty="0"/>
                  <a:t>ケース依存DC</a:t>
                </a:r>
                <a:r>
                  <a:rPr lang="ja-JP" altLang="en-US" sz="3200" b="1" dirty="0"/>
                  <a:t> </a:t>
                </a:r>
                <a:r>
                  <a:rPr lang="en-US" altLang="ja-JP" sz="3200" b="1" dirty="0"/>
                  <a:t>(</a:t>
                </a:r>
                <a14:m>
                  <m:oMath xmlns:m="http://schemas.openxmlformats.org/officeDocument/2006/math">
                    <m:sSub>
                      <m:sSubPr>
                        <m:ctrlPr>
                          <a:rPr lang="en-US" altLang="ja-JP" sz="3200" b="1" i="1" dirty="0" smtClean="0">
                            <a:latin typeface="Cambria Math" panose="02040503050406030204" pitchFamily="18" charset="0"/>
                          </a:rPr>
                        </m:ctrlPr>
                      </m:sSubPr>
                      <m:e>
                        <m:r>
                          <a:rPr lang="en-US" altLang="ja-JP" sz="3200" b="1" i="1" dirty="0" smtClean="0">
                            <a:latin typeface="Cambria Math" panose="02040503050406030204" pitchFamily="18" charset="0"/>
                          </a:rPr>
                          <m:t>𝒃</m:t>
                        </m:r>
                      </m:e>
                      <m:sub>
                        <m:r>
                          <a:rPr lang="en-US" altLang="ja-JP" sz="3200" b="1" i="1" dirty="0" smtClean="0">
                            <a:latin typeface="Cambria Math" panose="02040503050406030204" pitchFamily="18" charset="0"/>
                          </a:rPr>
                          <m:t>𝒄𝒂𝒔𝒆</m:t>
                        </m:r>
                      </m:sub>
                    </m:sSub>
                  </m:oMath>
                </a14:m>
                <a:r>
                  <a:rPr lang="en-US" altLang="ja-JP" sz="3200" b="1" dirty="0"/>
                  <a:t>)</a:t>
                </a:r>
                <a:r>
                  <a:rPr lang="ja-JP" altLang="ja-JP" sz="3200" b="1" dirty="0"/>
                  <a:t>は、太陽指向面と発熱フラグからLOO RMSE 3.8 µradで予測できる</a:t>
                </a:r>
                <a:endParaRPr lang="ja-JP" altLang="ja-JP" sz="3200" dirty="0"/>
              </a:p>
            </p:txBody>
          </p:sp>
        </mc:Choice>
        <mc:Fallback xmlns="">
          <p:sp>
            <p:nvSpPr>
              <p:cNvPr id="3" name="TextBox 2"/>
              <p:cNvSpPr txBox="1">
                <a:spLocks noRot="1" noChangeAspect="1" noMove="1" noResize="1" noEditPoints="1" noAdjustHandles="1" noChangeArrowheads="1" noChangeShapeType="1" noTextEdit="1"/>
              </p:cNvSpPr>
              <p:nvPr/>
            </p:nvSpPr>
            <p:spPr>
              <a:xfrm>
                <a:off x="1536192" y="1298448"/>
                <a:ext cx="19217120" cy="1040285"/>
              </a:xfrm>
              <a:prstGeom prst="rect">
                <a:avLst/>
              </a:prstGeom>
              <a:blipFill>
                <a:blip r:embed="rId3"/>
                <a:stretch>
                  <a:fillRect l="-1079" r="-190" b="-20468"/>
                </a:stretch>
              </a:blipFill>
            </p:spPr>
            <p:txBody>
              <a:bodyPr/>
              <a:lstStyle/>
              <a:p>
                <a:r>
                  <a:rPr lang="ja-JP" altLang="en-US">
                    <a:noFill/>
                  </a:rPr>
                  <a:t> </a:t>
                </a:r>
              </a:p>
            </p:txBody>
          </p:sp>
        </mc:Fallback>
      </mc:AlternateContent>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25</a:t>
            </a:r>
          </a:p>
        </p:txBody>
      </p:sp>
      <p:sp>
        <p:nvSpPr>
          <p:cNvPr id="5" name="Rectangle 4"/>
          <p:cNvSpPr/>
          <p:nvPr/>
        </p:nvSpPr>
        <p:spPr>
          <a:xfrm>
            <a:off x="914400" y="3200407"/>
            <a:ext cx="14630400" cy="7955279"/>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bcase_b_emp_vs_b_pred.png"/>
          <p:cNvPicPr>
            <a:picLocks noChangeAspect="1"/>
          </p:cNvPicPr>
          <p:nvPr/>
        </p:nvPicPr>
        <p:blipFill>
          <a:blip r:embed="rId4"/>
          <a:stretch>
            <a:fillRect/>
          </a:stretch>
        </p:blipFill>
        <p:spPr>
          <a:xfrm>
            <a:off x="1301877" y="3200407"/>
            <a:ext cx="13855445" cy="7955279"/>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1367924014"/>
              </p:ext>
            </p:extLst>
          </p:nvPr>
        </p:nvGraphicFramePr>
        <p:xfrm>
          <a:off x="16093440" y="2880362"/>
          <a:ext cx="7680959" cy="4917339"/>
        </p:xfrm>
        <a:graphic>
          <a:graphicData uri="http://schemas.openxmlformats.org/drawingml/2006/table">
            <a:tbl>
              <a:tblPr firstRow="1" bandRow="1">
                <a:tableStyleId>{5C22544A-7EE6-4342-B048-85BDC9FD1C3A}</a:tableStyleId>
              </a:tblPr>
              <a:tblGrid>
                <a:gridCol w="4143675">
                  <a:extLst>
                    <a:ext uri="{9D8B030D-6E8A-4147-A177-3AD203B41FA5}">
                      <a16:colId xmlns:a16="http://schemas.microsoft.com/office/drawing/2014/main" val="20000"/>
                    </a:ext>
                  </a:extLst>
                </a:gridCol>
                <a:gridCol w="3537284">
                  <a:extLst>
                    <a:ext uri="{9D8B030D-6E8A-4147-A177-3AD203B41FA5}">
                      <a16:colId xmlns:a16="http://schemas.microsoft.com/office/drawing/2014/main" val="20001"/>
                    </a:ext>
                  </a:extLst>
                </a:gridCol>
              </a:tblGrid>
              <a:tr h="744928">
                <a:tc>
                  <a:txBody>
                    <a:bodyPr/>
                    <a:lstStyle/>
                    <a:p>
                      <a:pPr algn="l"/>
                      <a:r>
                        <a:rPr sz="2200" b="1">
                          <a:solidFill>
                            <a:srgbClr val="FFFFFF"/>
                          </a:solidFill>
                          <a:latin typeface="Yu Gothic"/>
                        </a:rPr>
                        <a:t>Feature</a:t>
                      </a:r>
                    </a:p>
                  </a:txBody>
                  <a:tcPr marL="64008" marR="64008" marT="27432" marB="27432" anchor="ctr">
                    <a:solidFill>
                      <a:srgbClr val="082B52"/>
                    </a:solidFill>
                  </a:tcPr>
                </a:tc>
                <a:tc>
                  <a:txBody>
                    <a:bodyPr/>
                    <a:lstStyle/>
                    <a:p>
                      <a:pPr algn="ctr"/>
                      <a:r>
                        <a:rPr lang="ja-JP" altLang="ja-JP" sz="2400" dirty="0"/>
                        <a:t>Estimated DC contribution</a:t>
                      </a:r>
                      <a:r>
                        <a:rPr lang="en-US" altLang="ja-JP" sz="2400" dirty="0"/>
                        <a:t> [</a:t>
                      </a:r>
                      <a:r>
                        <a:rPr sz="2200" b="1" dirty="0">
                          <a:solidFill>
                            <a:srgbClr val="FFFFFF"/>
                          </a:solidFill>
                          <a:latin typeface="Yu Gothic"/>
                        </a:rPr>
                        <a:t>µrad</a:t>
                      </a:r>
                      <a:r>
                        <a:rPr lang="en-US" sz="2200" b="1" dirty="0">
                          <a:solidFill>
                            <a:srgbClr val="FFFFFF"/>
                          </a:solidFill>
                          <a:latin typeface="Yu Gothic"/>
                        </a:rPr>
                        <a:t>]</a:t>
                      </a:r>
                      <a:endParaRPr sz="2200" b="1" dirty="0">
                        <a:solidFill>
                          <a:srgbClr val="FFFFFF"/>
                        </a:solidFill>
                        <a:latin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688492">
                <a:tc>
                  <a:txBody>
                    <a:bodyPr/>
                    <a:lstStyle/>
                    <a:p>
                      <a:pPr algn="l"/>
                      <a:r>
                        <a:rPr sz="2200" b="0">
                          <a:solidFill>
                            <a:srgbClr val="232B34"/>
                          </a:solidFill>
                          <a:latin typeface="Yu Gothic"/>
                        </a:rPr>
                        <a:t>b0_MX</a:t>
                      </a:r>
                    </a:p>
                  </a:txBody>
                  <a:tcPr marL="64008" marR="64008" marT="27432" marB="27432" anchor="ctr">
                    <a:solidFill>
                      <a:srgbClr val="FFFFFF"/>
                    </a:solidFill>
                  </a:tcPr>
                </a:tc>
                <a:tc>
                  <a:txBody>
                    <a:bodyPr/>
                    <a:lstStyle/>
                    <a:p>
                      <a:pPr algn="ctr"/>
                      <a:r>
                        <a:rPr sz="2200" b="0">
                          <a:solidFill>
                            <a:srgbClr val="232B34"/>
                          </a:solidFill>
                          <a:latin typeface="Yu Gothic"/>
                        </a:rPr>
                        <a:t>+15.7</a:t>
                      </a:r>
                    </a:p>
                  </a:txBody>
                  <a:tcPr marL="64008" marR="64008" marT="27432" marB="27432" anchor="ctr">
                    <a:solidFill>
                      <a:srgbClr val="EBF6FB"/>
                    </a:solidFill>
                  </a:tcPr>
                </a:tc>
                <a:extLst>
                  <a:ext uri="{0D108BD9-81ED-4DB2-BD59-A6C34878D82A}">
                    <a16:rowId xmlns:a16="http://schemas.microsoft.com/office/drawing/2014/main" val="10001"/>
                  </a:ext>
                </a:extLst>
              </a:tr>
              <a:tr h="688492">
                <a:tc>
                  <a:txBody>
                    <a:bodyPr/>
                    <a:lstStyle/>
                    <a:p>
                      <a:pPr algn="l"/>
                      <a:r>
                        <a:rPr sz="2200" b="0">
                          <a:solidFill>
                            <a:srgbClr val="232B34"/>
                          </a:solidFill>
                          <a:latin typeface="Yu Gothic"/>
                        </a:rPr>
                        <a:t>b0_MY</a:t>
                      </a:r>
                    </a:p>
                  </a:txBody>
                  <a:tcPr marL="64008" marR="64008" marT="27432" marB="27432" anchor="ctr">
                    <a:solidFill>
                      <a:srgbClr val="F4F6F8"/>
                    </a:solidFill>
                  </a:tcPr>
                </a:tc>
                <a:tc>
                  <a:txBody>
                    <a:bodyPr/>
                    <a:lstStyle/>
                    <a:p>
                      <a:pPr algn="ctr"/>
                      <a:r>
                        <a:rPr sz="2200" b="0">
                          <a:solidFill>
                            <a:srgbClr val="232B34"/>
                          </a:solidFill>
                          <a:latin typeface="Yu Gothic"/>
                        </a:rPr>
                        <a:t>+2.8</a:t>
                      </a:r>
                    </a:p>
                  </a:txBody>
                  <a:tcPr marL="64008" marR="64008" marT="27432" marB="27432" anchor="ctr">
                    <a:solidFill>
                      <a:srgbClr val="EBF6FB"/>
                    </a:solidFill>
                  </a:tcPr>
                </a:tc>
                <a:extLst>
                  <a:ext uri="{0D108BD9-81ED-4DB2-BD59-A6C34878D82A}">
                    <a16:rowId xmlns:a16="http://schemas.microsoft.com/office/drawing/2014/main" val="10002"/>
                  </a:ext>
                </a:extLst>
              </a:tr>
              <a:tr h="688492">
                <a:tc>
                  <a:txBody>
                    <a:bodyPr/>
                    <a:lstStyle/>
                    <a:p>
                      <a:pPr algn="l"/>
                      <a:r>
                        <a:rPr sz="2200" b="0">
                          <a:solidFill>
                            <a:srgbClr val="232B34"/>
                          </a:solidFill>
                          <a:latin typeface="Yu Gothic"/>
                        </a:rPr>
                        <a:t>b0_PX</a:t>
                      </a:r>
                    </a:p>
                  </a:txBody>
                  <a:tcPr marL="64008" marR="64008" marT="27432" marB="27432" anchor="ctr">
                    <a:solidFill>
                      <a:srgbClr val="FFFFFF"/>
                    </a:solidFill>
                  </a:tcPr>
                </a:tc>
                <a:tc>
                  <a:txBody>
                    <a:bodyPr/>
                    <a:lstStyle/>
                    <a:p>
                      <a:pPr algn="ctr"/>
                      <a:r>
                        <a:rPr sz="2200" b="0" dirty="0">
                          <a:solidFill>
                            <a:srgbClr val="232B34"/>
                          </a:solidFill>
                          <a:latin typeface="Yu Gothic"/>
                        </a:rPr>
                        <a:t>−12.0</a:t>
                      </a:r>
                    </a:p>
                  </a:txBody>
                  <a:tcPr marL="64008" marR="64008" marT="27432" marB="27432" anchor="ctr">
                    <a:solidFill>
                      <a:srgbClr val="EBF6FB"/>
                    </a:solidFill>
                  </a:tcPr>
                </a:tc>
                <a:extLst>
                  <a:ext uri="{0D108BD9-81ED-4DB2-BD59-A6C34878D82A}">
                    <a16:rowId xmlns:a16="http://schemas.microsoft.com/office/drawing/2014/main" val="10003"/>
                  </a:ext>
                </a:extLst>
              </a:tr>
              <a:tr h="688492">
                <a:tc>
                  <a:txBody>
                    <a:bodyPr/>
                    <a:lstStyle/>
                    <a:p>
                      <a:pPr algn="l"/>
                      <a:r>
                        <a:rPr sz="2200" b="0">
                          <a:solidFill>
                            <a:srgbClr val="232B34"/>
                          </a:solidFill>
                          <a:latin typeface="Yu Gothic"/>
                        </a:rPr>
                        <a:t>b0_PY</a:t>
                      </a:r>
                    </a:p>
                  </a:txBody>
                  <a:tcPr marL="64008" marR="64008" marT="27432" marB="27432" anchor="ctr">
                    <a:solidFill>
                      <a:srgbClr val="F4F6F8"/>
                    </a:solidFill>
                  </a:tcPr>
                </a:tc>
                <a:tc>
                  <a:txBody>
                    <a:bodyPr/>
                    <a:lstStyle/>
                    <a:p>
                      <a:pPr algn="ctr"/>
                      <a:r>
                        <a:rPr sz="2200" b="0">
                          <a:solidFill>
                            <a:srgbClr val="232B34"/>
                          </a:solidFill>
                          <a:latin typeface="Yu Gothic"/>
                        </a:rPr>
                        <a:t>−24.0</a:t>
                      </a:r>
                    </a:p>
                  </a:txBody>
                  <a:tcPr marL="64008" marR="64008" marT="27432" marB="27432" anchor="ctr">
                    <a:solidFill>
                      <a:srgbClr val="EBF6FB"/>
                    </a:solidFill>
                  </a:tcPr>
                </a:tc>
                <a:extLst>
                  <a:ext uri="{0D108BD9-81ED-4DB2-BD59-A6C34878D82A}">
                    <a16:rowId xmlns:a16="http://schemas.microsoft.com/office/drawing/2014/main" val="10004"/>
                  </a:ext>
                </a:extLst>
              </a:tr>
              <a:tr h="688492">
                <a:tc>
                  <a:txBody>
                    <a:bodyPr/>
                    <a:lstStyle/>
                    <a:p>
                      <a:pPr algn="l"/>
                      <a:r>
                        <a:rPr sz="2200" b="0">
                          <a:solidFill>
                            <a:srgbClr val="232B34"/>
                          </a:solidFill>
                          <a:latin typeface="Yu Gothic"/>
                        </a:rPr>
                        <a:t>c_PROP</a:t>
                      </a:r>
                    </a:p>
                  </a:txBody>
                  <a:tcPr marL="64008" marR="64008" marT="27432" marB="27432" anchor="ctr">
                    <a:solidFill>
                      <a:srgbClr val="FFFFFF"/>
                    </a:solidFill>
                  </a:tcPr>
                </a:tc>
                <a:tc>
                  <a:txBody>
                    <a:bodyPr/>
                    <a:lstStyle/>
                    <a:p>
                      <a:pPr algn="ctr"/>
                      <a:r>
                        <a:rPr sz="2200" b="0">
                          <a:solidFill>
                            <a:srgbClr val="232B34"/>
                          </a:solidFill>
                          <a:latin typeface="Yu Gothic"/>
                        </a:rPr>
                        <a:t>−22.9</a:t>
                      </a:r>
                    </a:p>
                  </a:txBody>
                  <a:tcPr marL="64008" marR="64008" marT="27432" marB="27432" anchor="ctr">
                    <a:solidFill>
                      <a:srgbClr val="EBF6FB"/>
                    </a:solidFill>
                  </a:tcPr>
                </a:tc>
                <a:extLst>
                  <a:ext uri="{0D108BD9-81ED-4DB2-BD59-A6C34878D82A}">
                    <a16:rowId xmlns:a16="http://schemas.microsoft.com/office/drawing/2014/main" val="10005"/>
                  </a:ext>
                </a:extLst>
              </a:tr>
              <a:tr h="688495">
                <a:tc>
                  <a:txBody>
                    <a:bodyPr/>
                    <a:lstStyle/>
                    <a:p>
                      <a:pPr algn="l"/>
                      <a:r>
                        <a:rPr sz="2200" b="0">
                          <a:solidFill>
                            <a:srgbClr val="232B34"/>
                          </a:solidFill>
                          <a:latin typeface="Yu Gothic"/>
                        </a:rPr>
                        <a:t>c_PCDU</a:t>
                      </a:r>
                    </a:p>
                  </a:txBody>
                  <a:tcPr marL="64008" marR="64008" marT="27432" marB="27432" anchor="ctr">
                    <a:solidFill>
                      <a:srgbClr val="F4F6F8"/>
                    </a:solidFill>
                  </a:tcPr>
                </a:tc>
                <a:tc>
                  <a:txBody>
                    <a:bodyPr/>
                    <a:lstStyle/>
                    <a:p>
                      <a:pPr algn="ctr"/>
                      <a:r>
                        <a:rPr sz="2200" b="0" dirty="0">
                          <a:solidFill>
                            <a:srgbClr val="232B34"/>
                          </a:solidFill>
                          <a:latin typeface="Yu Gothic"/>
                        </a:rPr>
                        <a:t>−10.2</a:t>
                      </a:r>
                    </a:p>
                  </a:txBody>
                  <a:tcPr marL="64008" marR="64008" marT="27432" marB="27432" anchor="ctr">
                    <a:solidFill>
                      <a:srgbClr val="EBF6FB"/>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16093441" y="8131629"/>
            <a:ext cx="7223041" cy="5226046"/>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6325629" y="8339330"/>
                <a:ext cx="6990853" cy="5226046"/>
              </a:xfrm>
              <a:prstGeom prst="rect">
                <a:avLst/>
              </a:prstGeom>
              <a:noFill/>
            </p:spPr>
            <p:txBody>
              <a:bodyPr wrap="square" lIns="36576" tIns="27432" rIns="36576" bIns="27432" anchor="t">
                <a:spAutoFit/>
              </a:bodyPr>
              <a:lstStyle/>
              <a:p>
                <a:r>
                  <a:rPr lang="ja-JP" altLang="ja-JP" sz="2800" dirty="0"/>
                  <a:t>太陽指向面と発熱フラグのみで、</a:t>
                </a:r>
                <a:br>
                  <a:rPr lang="ja-JP" altLang="ja-JP" sz="2800" dirty="0"/>
                </a:br>
                <a:r>
                  <a:rPr lang="ja-JP" altLang="ja-JP" sz="2800" dirty="0"/>
                  <a:t>ケース依存DC</a:t>
                </a:r>
                <a:r>
                  <a:rPr lang="ja-JP" altLang="en-US" sz="2800" dirty="0"/>
                  <a:t>成分</a:t>
                </a:r>
                <a:r>
                  <a:rPr lang="ja-JP" altLang="ja-JP" sz="2800" dirty="0"/>
                  <a:t>をLOO </a:t>
                </a:r>
                <a:r>
                  <a:rPr lang="ja-JP" altLang="ja-JP" sz="2800" b="1" dirty="0"/>
                  <a:t>RMSE 3.8 µrad</a:t>
                </a:r>
                <a:r>
                  <a:rPr lang="ja-JP" altLang="ja-JP" sz="2800" dirty="0"/>
                  <a:t>で予測できた。</a:t>
                </a:r>
              </a:p>
              <a:p>
                <a:r>
                  <a:rPr lang="en-US" altLang="ja-JP" sz="2800" b="1" dirty="0">
                    <a:solidFill>
                      <a:srgbClr val="1B74AA"/>
                    </a:solidFill>
                    <a:latin typeface="Yu Gothic"/>
                  </a:rPr>
                  <a:t>• </a:t>
                </a:r>
                <a14:m>
                  <m:oMath xmlns:m="http://schemas.openxmlformats.org/officeDocument/2006/math">
                    <m:sSub>
                      <m:sSubPr>
                        <m:ctrlPr>
                          <a:rPr lang="ja-JP" altLang="en-US" sz="2800" i="1">
                            <a:latin typeface="Cambria Math" panose="02040503050406030204" pitchFamily="18" charset="0"/>
                          </a:rPr>
                        </m:ctrlPr>
                      </m:sSubPr>
                      <m:e>
                        <m:r>
                          <a:rPr lang="ja-JP" altLang="en-US" sz="2800" i="1">
                            <a:latin typeface="Cambria Math" panose="02040503050406030204" pitchFamily="18" charset="0"/>
                          </a:rPr>
                          <m:t>𝑏</m:t>
                        </m:r>
                      </m:e>
                      <m:sub>
                        <m:r>
                          <a:rPr lang="en-US" altLang="ja-JP" sz="2800">
                            <a:latin typeface="Cambria Math" panose="02040503050406030204" pitchFamily="18" charset="0"/>
                          </a:rPr>
                          <m:t>0</m:t>
                        </m:r>
                      </m:sub>
                    </m:sSub>
                  </m:oMath>
                </a14:m>
                <a:r>
                  <a:rPr lang="ja-JP" altLang="ja-JP" sz="2800" dirty="0"/>
                  <a:t>は太陽指向面ごとの基準DCを表す </a:t>
                </a:r>
              </a:p>
              <a:p>
                <a:r>
                  <a:rPr lang="en-US" altLang="ja-JP" sz="2800" b="1" dirty="0">
                    <a:solidFill>
                      <a:srgbClr val="1B74AA"/>
                    </a:solidFill>
                    <a:latin typeface="Yu Gothic"/>
                  </a:rPr>
                  <a:t>• </a:t>
                </a:r>
                <a:r>
                  <a:rPr lang="ja-JP" altLang="ja-JP" sz="2800" dirty="0"/>
                  <a:t>PROP / PCDU発熱は、主に追加のDCシフトとして現れる </a:t>
                </a:r>
              </a:p>
              <a:p>
                <a:r>
                  <a:rPr lang="en-US" altLang="ja-JP" sz="2800" b="1" dirty="0">
                    <a:solidFill>
                      <a:srgbClr val="1B74AA"/>
                    </a:solidFill>
                    <a:latin typeface="Yu Gothic"/>
                  </a:rPr>
                  <a:t>•</a:t>
                </a:r>
                <a:r>
                  <a:rPr lang="ja-JP" altLang="ja-JP" sz="2800" dirty="0"/>
                  <a:t>未学習ケースでも、運用条件からDC成分を推定可能 </a:t>
                </a:r>
              </a:p>
              <a:p>
                <a:r>
                  <a:rPr lang="ja-JP" altLang="ja-JP" sz="2800" dirty="0"/>
                  <a:t>→ </a:t>
                </a:r>
                <a:r>
                  <a:rPr lang="ja-JP" altLang="ja-JP" sz="2800" b="1" dirty="0"/>
                  <a:t>ケースごとの </a:t>
                </a:r>
                <a14:m>
                  <m:oMath xmlns:m="http://schemas.openxmlformats.org/officeDocument/2006/math">
                    <m:sSub>
                      <m:sSubPr>
                        <m:ctrlPr>
                          <a:rPr lang="ja-JP" altLang="en-US" sz="2800" i="1">
                            <a:latin typeface="Cambria Math" panose="02040503050406030204" pitchFamily="18" charset="0"/>
                          </a:rPr>
                        </m:ctrlPr>
                      </m:sSubPr>
                      <m:e>
                        <m:r>
                          <a:rPr lang="ja-JP" altLang="en-US" sz="2800" i="1">
                            <a:latin typeface="Cambria Math" panose="02040503050406030204" pitchFamily="18" charset="0"/>
                          </a:rPr>
                          <m:t>𝑏</m:t>
                        </m:r>
                      </m:e>
                      <m:sub>
                        <m:r>
                          <m:rPr>
                            <m:sty m:val="p"/>
                          </m:rPr>
                          <a:rPr lang="en-US" altLang="ja-JP" sz="2800">
                            <a:latin typeface="Cambria Math" panose="02040503050406030204" pitchFamily="18" charset="0"/>
                          </a:rPr>
                          <m:t>case</m:t>
                        </m:r>
                      </m:sub>
                    </m:sSub>
                  </m:oMath>
                </a14:m>
                <a:r>
                  <a:rPr lang="ja-JP" altLang="ja-JP" sz="2800" b="1" dirty="0"/>
                  <a:t>を個別保存せず、</a:t>
                </a:r>
                <a:br>
                  <a:rPr lang="ja-JP" altLang="ja-JP" sz="2800" b="1" dirty="0"/>
                </a:br>
                <a:r>
                  <a:rPr lang="ja-JP" altLang="ja-JP" sz="2800" b="1" dirty="0"/>
                  <a:t>少数の共通係数と運用フラグで与えられる可能性</a:t>
                </a:r>
                <a:endParaRPr lang="ja-JP" altLang="ja-JP" sz="2800" dirty="0"/>
              </a:p>
              <a:p>
                <a:pPr algn="ctr"/>
                <a:endParaRPr sz="2800" b="1" dirty="0">
                  <a:solidFill>
                    <a:srgbClr val="239571"/>
                  </a:solidFill>
                  <a:latin typeface="Yu Gothic"/>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6325629" y="8339330"/>
                <a:ext cx="6990853" cy="5226046"/>
              </a:xfrm>
              <a:prstGeom prst="rect">
                <a:avLst/>
              </a:prstGeom>
              <a:blipFill>
                <a:blip r:embed="rId5"/>
                <a:stretch>
                  <a:fillRect l="-2528" t="-1400" r="-8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51D4487F-7FD3-8FFF-D351-0AAFDD035148}"/>
                  </a:ext>
                </a:extLst>
              </p:cNvPr>
              <p:cNvSpPr txBox="1"/>
              <p:nvPr/>
            </p:nvSpPr>
            <p:spPr>
              <a:xfrm>
                <a:off x="2514599" y="11689192"/>
                <a:ext cx="10270671" cy="896784"/>
              </a:xfrm>
              <a:prstGeom prst="rect">
                <a:avLst/>
              </a:prstGeom>
              <a:noFill/>
            </p:spPr>
            <p:txBody>
              <a:bodyPr wrap="square">
                <a:spAutoFit/>
              </a:bodyPr>
              <a:lstStyle/>
              <a:p>
                <a14:m>
                  <m:oMath xmlns:m="http://schemas.openxmlformats.org/officeDocument/2006/math">
                    <m:sSub>
                      <m:sSubPr>
                        <m:ctrlPr>
                          <a:rPr lang="ja-JP" altLang="en-US" sz="2400" i="1">
                            <a:latin typeface="Cambria Math" panose="02040503050406030204" pitchFamily="18" charset="0"/>
                          </a:rPr>
                        </m:ctrlPr>
                      </m:sSubPr>
                      <m:e>
                        <m:r>
                          <a:rPr lang="ja-JP" altLang="en-US" sz="2400" i="1">
                            <a:latin typeface="Cambria Math" panose="02040503050406030204" pitchFamily="18" charset="0"/>
                          </a:rPr>
                          <m:t>𝑏</m:t>
                        </m:r>
                      </m:e>
                      <m:sub>
                        <m:r>
                          <m:rPr>
                            <m:sty m:val="p"/>
                          </m:rPr>
                          <a:rPr lang="en-US" altLang="ja-JP" sz="2400" i="0">
                            <a:latin typeface="Cambria Math" panose="02040503050406030204" pitchFamily="18" charset="0"/>
                          </a:rPr>
                          <m:t>emp</m:t>
                        </m:r>
                      </m:sub>
                    </m:sSub>
                  </m:oMath>
                </a14:m>
                <a:r>
                  <a:rPr lang="ja-JP" altLang="ja-JP" sz="2400" dirty="0"/>
                  <a:t>：各ケースの先頭1軌道で個別推定した </a:t>
                </a:r>
                <a14:m>
                  <m:oMath xmlns:m="http://schemas.openxmlformats.org/officeDocument/2006/math">
                    <m:sSub>
                      <m:sSubPr>
                        <m:ctrlPr>
                          <a:rPr lang="ja-JP" altLang="en-US" sz="2400" i="1">
                            <a:latin typeface="Cambria Math" panose="02040503050406030204" pitchFamily="18" charset="0"/>
                          </a:rPr>
                        </m:ctrlPr>
                      </m:sSubPr>
                      <m:e>
                        <m:r>
                          <a:rPr lang="ja-JP" altLang="en-US" sz="2400" i="1">
                            <a:latin typeface="Cambria Math" panose="02040503050406030204" pitchFamily="18" charset="0"/>
                          </a:rPr>
                          <m:t>𝑏</m:t>
                        </m:r>
                      </m:e>
                      <m:sub>
                        <m:r>
                          <m:rPr>
                            <m:sty m:val="p"/>
                          </m:rPr>
                          <a:rPr lang="en-US" altLang="ja-JP" sz="2400" i="0">
                            <a:latin typeface="Cambria Math" panose="02040503050406030204" pitchFamily="18" charset="0"/>
                          </a:rPr>
                          <m:t>case</m:t>
                        </m:r>
                      </m:sub>
                    </m:sSub>
                  </m:oMath>
                </a14:m>
                <a:endParaRPr lang="en-US" altLang="ja-JP" sz="2400" i="1" dirty="0">
                  <a:latin typeface="Cambria Math" panose="02040503050406030204" pitchFamily="18" charset="0"/>
                </a:endParaRPr>
              </a:p>
              <a:p>
                <a14:m>
                  <m:oMath xmlns:m="http://schemas.openxmlformats.org/officeDocument/2006/math">
                    <m:sSub>
                      <m:sSubPr>
                        <m:ctrlPr>
                          <a:rPr lang="ja-JP" altLang="en-US" sz="2400" i="1">
                            <a:latin typeface="Cambria Math" panose="02040503050406030204" pitchFamily="18" charset="0"/>
                          </a:rPr>
                        </m:ctrlPr>
                      </m:sSubPr>
                      <m:e>
                        <m:r>
                          <a:rPr lang="ja-JP" altLang="en-US" sz="2400" i="1">
                            <a:latin typeface="Cambria Math" panose="02040503050406030204" pitchFamily="18" charset="0"/>
                          </a:rPr>
                          <m:t>𝑏</m:t>
                        </m:r>
                      </m:e>
                      <m:sub>
                        <m:r>
                          <m:rPr>
                            <m:sty m:val="p"/>
                          </m:rPr>
                          <a:rPr lang="en-US" altLang="ja-JP" sz="2400" i="0">
                            <a:latin typeface="Cambria Math" panose="02040503050406030204" pitchFamily="18" charset="0"/>
                          </a:rPr>
                          <m:t>pred</m:t>
                        </m:r>
                      </m:sub>
                    </m:sSub>
                  </m:oMath>
                </a14:m>
                <a:r>
                  <a:rPr lang="ja-JP" altLang="ja-JP" sz="2400" dirty="0"/>
                  <a:t>：LOOで当該ケースを除外して学習したLevel 2モデルによる予測値</a:t>
                </a:r>
                <a:endParaRPr lang="ja-JP" altLang="en-US" sz="2400" dirty="0"/>
              </a:p>
            </p:txBody>
          </p:sp>
        </mc:Choice>
        <mc:Fallback xmlns="">
          <p:sp>
            <p:nvSpPr>
              <p:cNvPr id="12" name="テキスト ボックス 11">
                <a:extLst>
                  <a:ext uri="{FF2B5EF4-FFF2-40B4-BE49-F238E27FC236}">
                    <a16:creationId xmlns:a16="http://schemas.microsoft.com/office/drawing/2014/main" id="{51D4487F-7FD3-8FFF-D351-0AAFDD035148}"/>
                  </a:ext>
                </a:extLst>
              </p:cNvPr>
              <p:cNvSpPr txBox="1">
                <a:spLocks noRot="1" noChangeAspect="1" noMove="1" noResize="1" noEditPoints="1" noAdjustHandles="1" noChangeArrowheads="1" noChangeShapeType="1" noTextEdit="1"/>
              </p:cNvSpPr>
              <p:nvPr/>
            </p:nvSpPr>
            <p:spPr>
              <a:xfrm>
                <a:off x="2514599" y="11689192"/>
                <a:ext cx="10270671" cy="896784"/>
              </a:xfrm>
              <a:prstGeom prst="rect">
                <a:avLst/>
              </a:prstGeom>
              <a:blipFill>
                <a:blip r:embed="rId6"/>
                <a:stretch>
                  <a:fillRect l="-119" t="-4082" b="-12245"/>
                </a:stretch>
              </a:blipFill>
            </p:spPr>
            <p:txBody>
              <a:bodyPr/>
              <a:lstStyle/>
              <a:p>
                <a:r>
                  <a:rPr lang="ja-JP" altLang="en-US">
                    <a:noFill/>
                  </a:rPr>
                  <a:t> </a:t>
                </a:r>
              </a:p>
            </p:txBody>
          </p:sp>
        </mc:Fallback>
      </mc:AlternateContent>
      <p:sp>
        <p:nvSpPr>
          <p:cNvPr id="13" name="テキスト ボックス 12">
            <a:extLst>
              <a:ext uri="{FF2B5EF4-FFF2-40B4-BE49-F238E27FC236}">
                <a16:creationId xmlns:a16="http://schemas.microsoft.com/office/drawing/2014/main" id="{338E1E96-2860-BC71-0ECC-E2C71CFE71C8}"/>
              </a:ext>
            </a:extLst>
          </p:cNvPr>
          <p:cNvSpPr txBox="1"/>
          <p:nvPr/>
        </p:nvSpPr>
        <p:spPr>
          <a:xfrm>
            <a:off x="6253840" y="4751448"/>
            <a:ext cx="2530929" cy="369332"/>
          </a:xfrm>
          <a:prstGeom prst="rect">
            <a:avLst/>
          </a:prstGeom>
          <a:noFill/>
        </p:spPr>
        <p:txBody>
          <a:bodyPr wrap="square" rtlCol="0">
            <a:spAutoFit/>
          </a:bodyPr>
          <a:lstStyle/>
          <a:p>
            <a:r>
              <a:rPr kumimoji="1" lang="en-US" altLang="ja-JP" dirty="0">
                <a:solidFill>
                  <a:schemeClr val="tx2">
                    <a:lumMod val="50000"/>
                  </a:schemeClr>
                </a:solidFill>
              </a:rPr>
              <a:t>(</a:t>
            </a:r>
            <a:r>
              <a:rPr kumimoji="1" lang="ja-JP" altLang="en-US" dirty="0">
                <a:solidFill>
                  <a:schemeClr val="tx2">
                    <a:lumMod val="50000"/>
                  </a:schemeClr>
                </a:solidFill>
              </a:rPr>
              <a:t>自身も学習に含める</a:t>
            </a:r>
            <a:r>
              <a:rPr kumimoji="1" lang="en-US" altLang="ja-JP" dirty="0">
                <a:solidFill>
                  <a:schemeClr val="tx2">
                    <a:lumMod val="50000"/>
                  </a:schemeClr>
                </a:solidFill>
              </a:rPr>
              <a:t>)</a:t>
            </a:r>
            <a:endParaRPr kumimoji="1" lang="ja-JP" altLang="en-US" dirty="0">
              <a:solidFill>
                <a:schemeClr val="tx2">
                  <a:lumMod val="50000"/>
                </a:schemeClr>
              </a:solidFill>
            </a:endParaRPr>
          </a:p>
        </p:txBody>
      </p:sp>
      <p:sp>
        <p:nvSpPr>
          <p:cNvPr id="15" name="テキスト ボックス 14">
            <a:extLst>
              <a:ext uri="{FF2B5EF4-FFF2-40B4-BE49-F238E27FC236}">
                <a16:creationId xmlns:a16="http://schemas.microsoft.com/office/drawing/2014/main" id="{FB39E534-53C4-7ECB-3444-FCCDB11E8763}"/>
              </a:ext>
            </a:extLst>
          </p:cNvPr>
          <p:cNvSpPr txBox="1"/>
          <p:nvPr/>
        </p:nvSpPr>
        <p:spPr>
          <a:xfrm>
            <a:off x="13891857" y="4493598"/>
            <a:ext cx="1652942" cy="646331"/>
          </a:xfrm>
          <a:prstGeom prst="rect">
            <a:avLst/>
          </a:prstGeom>
          <a:noFill/>
        </p:spPr>
        <p:txBody>
          <a:bodyPr wrap="square" rtlCol="0">
            <a:spAutoFit/>
          </a:bodyPr>
          <a:lstStyle/>
          <a:p>
            <a:r>
              <a:rPr kumimoji="1" lang="en-US" altLang="ja-JP" dirty="0">
                <a:solidFill>
                  <a:schemeClr val="tx2">
                    <a:lumMod val="50000"/>
                  </a:schemeClr>
                </a:solidFill>
              </a:rPr>
              <a:t>(</a:t>
            </a:r>
            <a:r>
              <a:rPr kumimoji="1" lang="ja-JP" altLang="en-US" dirty="0">
                <a:solidFill>
                  <a:schemeClr val="tx2">
                    <a:lumMod val="50000"/>
                  </a:schemeClr>
                </a:solidFill>
              </a:rPr>
              <a:t>自身は学習に含めない</a:t>
            </a:r>
            <a:r>
              <a:rPr kumimoji="1" lang="en-US" altLang="ja-JP" dirty="0">
                <a:solidFill>
                  <a:schemeClr val="tx2">
                    <a:lumMod val="50000"/>
                  </a:schemeClr>
                </a:solidFill>
              </a:rPr>
              <a:t>)</a:t>
            </a:r>
            <a:endParaRPr kumimoji="1" lang="ja-JP" altLang="en-US" dirty="0">
              <a:solidFill>
                <a:schemeClr val="tx2">
                  <a:lumMod val="5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Hierarchical ΔT model</a:t>
            </a:r>
          </a:p>
        </p:txBody>
      </p:sp>
      <p:sp>
        <p:nvSpPr>
          <p:cNvPr id="3" name="TextBox 2"/>
          <p:cNvSpPr txBox="1"/>
          <p:nvPr/>
        </p:nvSpPr>
        <p:spPr>
          <a:xfrm>
            <a:off x="1536192" y="1298448"/>
            <a:ext cx="15127218"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結果</a:t>
            </a:r>
            <a:r>
              <a:rPr lang="en-US" altLang="ja-JP" sz="3200" b="1" dirty="0">
                <a:solidFill>
                  <a:srgbClr val="082B52"/>
                </a:solidFill>
                <a:latin typeface="Yu Gothic"/>
              </a:rPr>
              <a:t>&lt;</a:t>
            </a:r>
            <a:r>
              <a:rPr lang="ja-JP" altLang="en-US" sz="3200" b="1" dirty="0">
                <a:solidFill>
                  <a:srgbClr val="082B52"/>
                </a:solidFill>
                <a:latin typeface="Yu Gothic"/>
              </a:rPr>
              <a:t>統合</a:t>
            </a:r>
            <a:r>
              <a:rPr lang="en-US" altLang="ja-JP" sz="3200" b="1" dirty="0">
                <a:solidFill>
                  <a:srgbClr val="082B52"/>
                </a:solidFill>
                <a:latin typeface="Yu Gothic"/>
              </a:rPr>
              <a:t>&gt;</a:t>
            </a:r>
            <a:r>
              <a:rPr lang="ja-JP" altLang="en-US" sz="3200" b="1" dirty="0">
                <a:solidFill>
                  <a:srgbClr val="082B52"/>
                </a:solidFill>
                <a:latin typeface="Yu Gothic"/>
              </a:rPr>
              <a:t>：</a:t>
            </a:r>
            <a:r>
              <a:rPr lang="ja-JP" altLang="ja-JP" sz="3200" b="1" dirty="0"/>
              <a:t>標準ケースでは数µrad、半電力ケースでも約15 µradの残差に抑えた</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26</a:t>
            </a:r>
          </a:p>
        </p:txBody>
      </p:sp>
      <p:sp>
        <p:nvSpPr>
          <p:cNvPr id="5" name="Rectangle 4"/>
          <p:cNvSpPr/>
          <p:nvPr/>
        </p:nvSpPr>
        <p:spPr>
          <a:xfrm>
            <a:off x="914400" y="3314703"/>
            <a:ext cx="11064240" cy="777240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2390120" y="3314703"/>
            <a:ext cx="11064240" cy="777240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ase22_bcase_true_vs_pred.png"/>
          <p:cNvPicPr>
            <a:picLocks noChangeAspect="1"/>
          </p:cNvPicPr>
          <p:nvPr/>
        </p:nvPicPr>
        <p:blipFill>
          <a:blip r:embed="rId3"/>
          <a:stretch>
            <a:fillRect/>
          </a:stretch>
        </p:blipFill>
        <p:spPr>
          <a:xfrm>
            <a:off x="12821602" y="3314703"/>
            <a:ext cx="10201275" cy="7772400"/>
          </a:xfrm>
          <a:prstGeom prst="rect">
            <a:avLst/>
          </a:prstGeom>
        </p:spPr>
      </p:pic>
      <p:sp>
        <p:nvSpPr>
          <p:cNvPr id="9" name="TextBox 8"/>
          <p:cNvSpPr txBox="1"/>
          <p:nvPr/>
        </p:nvSpPr>
        <p:spPr>
          <a:xfrm>
            <a:off x="2610508" y="11315703"/>
            <a:ext cx="7763472" cy="393954"/>
          </a:xfrm>
          <a:prstGeom prst="rect">
            <a:avLst/>
          </a:prstGeom>
          <a:noFill/>
        </p:spPr>
        <p:txBody>
          <a:bodyPr wrap="none" lIns="36576" tIns="27432" rIns="36576" bIns="27432" anchor="t">
            <a:spAutoFit/>
          </a:bodyPr>
          <a:lstStyle/>
          <a:p>
            <a:pPr algn="ctr"/>
            <a:r>
              <a:rPr sz="2200" b="1" dirty="0">
                <a:solidFill>
                  <a:srgbClr val="239571"/>
                </a:solidFill>
                <a:latin typeface="Yu Gothic"/>
              </a:rPr>
              <a:t>Case 0</a:t>
            </a:r>
            <a:r>
              <a:rPr lang="en-US" sz="2200" b="1" dirty="0">
                <a:solidFill>
                  <a:srgbClr val="239571"/>
                </a:solidFill>
                <a:latin typeface="Yu Gothic"/>
              </a:rPr>
              <a:t>5</a:t>
            </a:r>
            <a:r>
              <a:rPr sz="2200" b="1" dirty="0">
                <a:solidFill>
                  <a:srgbClr val="239571"/>
                </a:solidFill>
                <a:latin typeface="Yu Gothic"/>
              </a:rPr>
              <a:t>: standard / large swing</a:t>
            </a:r>
            <a:r>
              <a:rPr lang="ja-JP" altLang="en-US" sz="2200" b="1" dirty="0">
                <a:solidFill>
                  <a:srgbClr val="239571"/>
                </a:solidFill>
                <a:latin typeface="Yu Gothic"/>
              </a:rPr>
              <a:t>（残差</a:t>
            </a:r>
            <a:r>
              <a:rPr lang="en-US" altLang="ja-JP" sz="2200" b="1" dirty="0">
                <a:solidFill>
                  <a:srgbClr val="239571"/>
                </a:solidFill>
                <a:latin typeface="Yu Gothic"/>
              </a:rPr>
              <a:t>RMSE 5.3urad</a:t>
            </a:r>
            <a:r>
              <a:rPr lang="ja-JP" altLang="en-US" sz="2200" b="1" dirty="0">
                <a:solidFill>
                  <a:srgbClr val="239571"/>
                </a:solidFill>
                <a:latin typeface="Yu Gothic"/>
              </a:rPr>
              <a:t>）</a:t>
            </a:r>
            <a:endParaRPr sz="2200" b="1" dirty="0">
              <a:solidFill>
                <a:srgbClr val="239571"/>
              </a:solidFill>
              <a:latin typeface="Yu Gothic"/>
            </a:endParaRPr>
          </a:p>
        </p:txBody>
      </p:sp>
      <p:sp>
        <p:nvSpPr>
          <p:cNvPr id="10" name="TextBox 9"/>
          <p:cNvSpPr txBox="1"/>
          <p:nvPr/>
        </p:nvSpPr>
        <p:spPr>
          <a:xfrm>
            <a:off x="14393135" y="11315703"/>
            <a:ext cx="6966779" cy="393954"/>
          </a:xfrm>
          <a:prstGeom prst="rect">
            <a:avLst/>
          </a:prstGeom>
          <a:noFill/>
        </p:spPr>
        <p:txBody>
          <a:bodyPr wrap="none" lIns="36576" tIns="27432" rIns="36576" bIns="27432" anchor="t">
            <a:spAutoFit/>
          </a:bodyPr>
          <a:lstStyle/>
          <a:p>
            <a:pPr algn="ctr"/>
            <a:r>
              <a:rPr sz="2200" b="1" dirty="0">
                <a:solidFill>
                  <a:srgbClr val="EC9427"/>
                </a:solidFill>
                <a:latin typeface="Yu Gothic"/>
              </a:rPr>
              <a:t>Case 22: PROP </a:t>
            </a:r>
            <a:r>
              <a:rPr lang="en-US" sz="2200" b="1" strike="sngStrike" dirty="0">
                <a:solidFill>
                  <a:srgbClr val="EC9427"/>
                </a:solidFill>
                <a:latin typeface="Yu Gothic"/>
              </a:rPr>
              <a:t>25W</a:t>
            </a:r>
            <a:r>
              <a:rPr lang="ja-JP" altLang="en-US" sz="2200" b="1" dirty="0">
                <a:solidFill>
                  <a:srgbClr val="EC9427"/>
                </a:solidFill>
                <a:latin typeface="Yu Gothic"/>
              </a:rPr>
              <a:t>→</a:t>
            </a:r>
            <a:r>
              <a:rPr sz="2200" b="1" dirty="0">
                <a:solidFill>
                  <a:srgbClr val="EC9427"/>
                </a:solidFill>
                <a:latin typeface="Yu Gothic"/>
              </a:rPr>
              <a:t>12.5 W</a:t>
            </a:r>
            <a:r>
              <a:rPr lang="ja-JP" altLang="en-US" sz="2200" b="1" dirty="0">
                <a:solidFill>
                  <a:srgbClr val="EC9427"/>
                </a:solidFill>
                <a:latin typeface="Yu Gothic"/>
              </a:rPr>
              <a:t>（残差</a:t>
            </a:r>
            <a:r>
              <a:rPr lang="en-US" altLang="ja-JP" sz="2200" b="1" dirty="0">
                <a:solidFill>
                  <a:srgbClr val="EC9427"/>
                </a:solidFill>
                <a:latin typeface="Yu Gothic"/>
              </a:rPr>
              <a:t>RMSE 15urad</a:t>
            </a:r>
            <a:r>
              <a:rPr lang="ja-JP" altLang="en-US" sz="2200" b="1" dirty="0">
                <a:solidFill>
                  <a:srgbClr val="EC9427"/>
                </a:solidFill>
                <a:latin typeface="Yu Gothic"/>
              </a:rPr>
              <a:t>）</a:t>
            </a:r>
            <a:endParaRPr sz="2200" b="1" dirty="0">
              <a:solidFill>
                <a:srgbClr val="EC9427"/>
              </a:solidFill>
              <a:latin typeface="Yu Gothic"/>
            </a:endParaRPr>
          </a:p>
        </p:txBody>
      </p:sp>
      <p:pic>
        <p:nvPicPr>
          <p:cNvPr id="12" name="図 11">
            <a:extLst>
              <a:ext uri="{FF2B5EF4-FFF2-40B4-BE49-F238E27FC236}">
                <a16:creationId xmlns:a16="http://schemas.microsoft.com/office/drawing/2014/main" id="{F43F09E8-4263-BB7A-F4B7-B7D9780DB370}"/>
              </a:ext>
            </a:extLst>
          </p:cNvPr>
          <p:cNvPicPr>
            <a:picLocks noChangeAspect="1"/>
          </p:cNvPicPr>
          <p:nvPr/>
        </p:nvPicPr>
        <p:blipFill>
          <a:blip r:embed="rId4"/>
          <a:stretch>
            <a:fillRect/>
          </a:stretch>
        </p:blipFill>
        <p:spPr>
          <a:xfrm>
            <a:off x="1757362" y="3285797"/>
            <a:ext cx="10201275" cy="777240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Hierarchical ΔT model</a:t>
            </a:r>
          </a:p>
        </p:txBody>
      </p:sp>
      <p:sp>
        <p:nvSpPr>
          <p:cNvPr id="3" name="TextBox 2"/>
          <p:cNvSpPr txBox="1"/>
          <p:nvPr/>
        </p:nvSpPr>
        <p:spPr>
          <a:xfrm>
            <a:off x="1536192" y="1298448"/>
            <a:ext cx="14430361"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結果</a:t>
            </a:r>
            <a:r>
              <a:rPr lang="en-US" altLang="ja-JP" sz="3200" b="1" dirty="0">
                <a:solidFill>
                  <a:srgbClr val="082B52"/>
                </a:solidFill>
                <a:latin typeface="Yu Gothic"/>
              </a:rPr>
              <a:t>&lt;</a:t>
            </a:r>
            <a:r>
              <a:rPr lang="ja-JP" altLang="en-US" sz="3200" b="1" dirty="0">
                <a:solidFill>
                  <a:srgbClr val="082B52"/>
                </a:solidFill>
                <a:latin typeface="Yu Gothic"/>
              </a:rPr>
              <a:t>統合</a:t>
            </a:r>
            <a:r>
              <a:rPr lang="en-US" altLang="ja-JP" sz="3200" b="1" dirty="0">
                <a:solidFill>
                  <a:srgbClr val="082B52"/>
                </a:solidFill>
                <a:latin typeface="Yu Gothic"/>
              </a:rPr>
              <a:t>&gt;</a:t>
            </a:r>
            <a:r>
              <a:rPr lang="ja-JP" altLang="en-US" sz="3200" b="1" dirty="0">
                <a:solidFill>
                  <a:srgbClr val="082B52"/>
                </a:solidFill>
                <a:latin typeface="Yu Gothic"/>
              </a:rPr>
              <a:t>：</a:t>
            </a:r>
            <a:r>
              <a:rPr sz="3200" b="1" dirty="0" err="1">
                <a:solidFill>
                  <a:srgbClr val="082B52"/>
                </a:solidFill>
                <a:latin typeface="Yu Gothic"/>
              </a:rPr>
              <a:t>生LOS数百µradに対し、LOO</a:t>
            </a:r>
            <a:r>
              <a:rPr sz="3200" b="1" dirty="0">
                <a:solidFill>
                  <a:srgbClr val="082B52"/>
                </a:solidFill>
                <a:latin typeface="Yu Gothic"/>
              </a:rPr>
              <a:t> test残差は平均約5.5 µ</a:t>
            </a:r>
            <a:r>
              <a:rPr sz="3200" b="1" dirty="0" err="1">
                <a:solidFill>
                  <a:srgbClr val="082B52"/>
                </a:solidFill>
                <a:latin typeface="Yu Gothic"/>
              </a:rPr>
              <a:t>radとなる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27</a:t>
            </a:r>
          </a:p>
        </p:txBody>
      </p:sp>
      <p:sp>
        <p:nvSpPr>
          <p:cNvPr id="5" name="Rectangle 4"/>
          <p:cNvSpPr/>
          <p:nvPr/>
        </p:nvSpPr>
        <p:spPr>
          <a:xfrm>
            <a:off x="914400" y="3461658"/>
            <a:ext cx="16733520" cy="80467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bcase_raw_vs_model_rmse.png"/>
          <p:cNvPicPr>
            <a:picLocks noChangeAspect="1"/>
          </p:cNvPicPr>
          <p:nvPr/>
        </p:nvPicPr>
        <p:blipFill>
          <a:blip r:embed="rId3"/>
          <a:stretch>
            <a:fillRect/>
          </a:stretch>
        </p:blipFill>
        <p:spPr>
          <a:xfrm>
            <a:off x="1508760" y="3461658"/>
            <a:ext cx="15544800" cy="8046720"/>
          </a:xfrm>
          <a:prstGeom prst="rect">
            <a:avLst/>
          </a:prstGeom>
        </p:spPr>
      </p:pic>
      <p:sp>
        <p:nvSpPr>
          <p:cNvPr id="7" name="Rounded Rectangle 6"/>
          <p:cNvSpPr/>
          <p:nvPr/>
        </p:nvSpPr>
        <p:spPr>
          <a:xfrm>
            <a:off x="18105120" y="3500848"/>
            <a:ext cx="4846320" cy="141732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196560" y="3628864"/>
            <a:ext cx="4663440" cy="566928"/>
          </a:xfrm>
          <a:prstGeom prst="rect">
            <a:avLst/>
          </a:prstGeom>
          <a:noFill/>
        </p:spPr>
        <p:txBody>
          <a:bodyPr wrap="none" lIns="36576" tIns="27432" rIns="36576" bIns="27432" anchor="t">
            <a:spAutoFit/>
          </a:bodyPr>
          <a:lstStyle/>
          <a:p>
            <a:pPr algn="ctr"/>
            <a:r>
              <a:rPr sz="3400" b="1">
                <a:solidFill>
                  <a:srgbClr val="1B74AA"/>
                </a:solidFill>
                <a:latin typeface="Yu Gothic"/>
              </a:rPr>
              <a:t>615 µrad</a:t>
            </a:r>
          </a:p>
        </p:txBody>
      </p:sp>
      <p:sp>
        <p:nvSpPr>
          <p:cNvPr id="9" name="TextBox 8"/>
          <p:cNvSpPr txBox="1"/>
          <p:nvPr/>
        </p:nvSpPr>
        <p:spPr>
          <a:xfrm>
            <a:off x="18196560" y="4305520"/>
            <a:ext cx="4663440" cy="365760"/>
          </a:xfrm>
          <a:prstGeom prst="rect">
            <a:avLst/>
          </a:prstGeom>
          <a:noFill/>
        </p:spPr>
        <p:txBody>
          <a:bodyPr wrap="none" lIns="36576" tIns="27432" rIns="36576" bIns="27432" anchor="t">
            <a:spAutoFit/>
          </a:bodyPr>
          <a:lstStyle/>
          <a:p>
            <a:pPr algn="ctr"/>
            <a:r>
              <a:rPr sz="1900" b="0">
                <a:solidFill>
                  <a:srgbClr val="666F79"/>
                </a:solidFill>
                <a:latin typeface="Yu Gothic"/>
              </a:rPr>
              <a:t>median raw RMS</a:t>
            </a:r>
          </a:p>
        </p:txBody>
      </p:sp>
      <p:sp>
        <p:nvSpPr>
          <p:cNvPr id="10" name="Rounded Rectangle 9"/>
          <p:cNvSpPr/>
          <p:nvPr/>
        </p:nvSpPr>
        <p:spPr>
          <a:xfrm>
            <a:off x="18105120" y="5695408"/>
            <a:ext cx="484632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196560" y="5823424"/>
            <a:ext cx="4663440" cy="566928"/>
          </a:xfrm>
          <a:prstGeom prst="rect">
            <a:avLst/>
          </a:prstGeom>
          <a:noFill/>
        </p:spPr>
        <p:txBody>
          <a:bodyPr wrap="none" lIns="36576" tIns="27432" rIns="36576" bIns="27432" anchor="t">
            <a:spAutoFit/>
          </a:bodyPr>
          <a:lstStyle/>
          <a:p>
            <a:pPr algn="ctr"/>
            <a:r>
              <a:rPr sz="3400" b="1">
                <a:solidFill>
                  <a:srgbClr val="239571"/>
                </a:solidFill>
                <a:latin typeface="Yu Gothic"/>
              </a:rPr>
              <a:t>5.5 µrad</a:t>
            </a:r>
          </a:p>
        </p:txBody>
      </p:sp>
      <p:sp>
        <p:nvSpPr>
          <p:cNvPr id="12" name="TextBox 11"/>
          <p:cNvSpPr txBox="1"/>
          <p:nvPr/>
        </p:nvSpPr>
        <p:spPr>
          <a:xfrm>
            <a:off x="18196560" y="6500080"/>
            <a:ext cx="4663440" cy="365760"/>
          </a:xfrm>
          <a:prstGeom prst="rect">
            <a:avLst/>
          </a:prstGeom>
          <a:noFill/>
        </p:spPr>
        <p:txBody>
          <a:bodyPr wrap="none" lIns="36576" tIns="27432" rIns="36576" bIns="27432" anchor="t">
            <a:spAutoFit/>
          </a:bodyPr>
          <a:lstStyle/>
          <a:p>
            <a:pPr algn="ctr"/>
            <a:r>
              <a:rPr sz="1900" b="0">
                <a:solidFill>
                  <a:srgbClr val="666F79"/>
                </a:solidFill>
                <a:latin typeface="Yu Gothic"/>
              </a:rPr>
              <a:t>mean LOO test RMSE</a:t>
            </a:r>
          </a:p>
        </p:txBody>
      </p:sp>
      <p:sp>
        <p:nvSpPr>
          <p:cNvPr id="13" name="Rounded Rectangle 12"/>
          <p:cNvSpPr/>
          <p:nvPr/>
        </p:nvSpPr>
        <p:spPr>
          <a:xfrm>
            <a:off x="18105120" y="7889967"/>
            <a:ext cx="4846320" cy="1417320"/>
          </a:xfrm>
          <a:prstGeom prst="roundRect">
            <a:avLst/>
          </a:prstGeom>
          <a:solidFill>
            <a:srgbClr val="FFFFFF"/>
          </a:solidFill>
          <a:ln w="2286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8196560" y="8017984"/>
            <a:ext cx="4663440" cy="566928"/>
          </a:xfrm>
          <a:prstGeom prst="rect">
            <a:avLst/>
          </a:prstGeom>
          <a:noFill/>
        </p:spPr>
        <p:txBody>
          <a:bodyPr wrap="none" lIns="36576" tIns="27432" rIns="36576" bIns="27432" anchor="t">
            <a:spAutoFit/>
          </a:bodyPr>
          <a:lstStyle/>
          <a:p>
            <a:pPr algn="ctr"/>
            <a:r>
              <a:rPr sz="3400" b="1">
                <a:solidFill>
                  <a:srgbClr val="EC9427"/>
                </a:solidFill>
                <a:latin typeface="Yu Gothic"/>
              </a:rPr>
              <a:t>1–2 orders</a:t>
            </a:r>
          </a:p>
        </p:txBody>
      </p:sp>
      <p:sp>
        <p:nvSpPr>
          <p:cNvPr id="15" name="TextBox 14"/>
          <p:cNvSpPr txBox="1"/>
          <p:nvPr/>
        </p:nvSpPr>
        <p:spPr>
          <a:xfrm>
            <a:off x="18196560" y="8694640"/>
            <a:ext cx="4663440" cy="365760"/>
          </a:xfrm>
          <a:prstGeom prst="rect">
            <a:avLst/>
          </a:prstGeom>
          <a:noFill/>
        </p:spPr>
        <p:txBody>
          <a:bodyPr wrap="none" lIns="36576" tIns="27432" rIns="36576" bIns="27432" anchor="t">
            <a:spAutoFit/>
          </a:bodyPr>
          <a:lstStyle/>
          <a:p>
            <a:pPr algn="ctr"/>
            <a:r>
              <a:rPr sz="1900" b="0">
                <a:solidFill>
                  <a:srgbClr val="666F79"/>
                </a:solidFill>
                <a:latin typeface="Yu Gothic"/>
              </a:rPr>
              <a:t>thermal reduction</a:t>
            </a:r>
          </a:p>
        </p:txBody>
      </p:sp>
      <p:sp>
        <p:nvSpPr>
          <p:cNvPr id="16" name="TextBox 15"/>
          <p:cNvSpPr txBox="1"/>
          <p:nvPr/>
        </p:nvSpPr>
        <p:spPr>
          <a:xfrm>
            <a:off x="3657600" y="11828418"/>
            <a:ext cx="17099280" cy="457200"/>
          </a:xfrm>
          <a:prstGeom prst="rect">
            <a:avLst/>
          </a:prstGeom>
          <a:noFill/>
        </p:spPr>
        <p:txBody>
          <a:bodyPr wrap="none" lIns="36576" tIns="27432" rIns="36576" bIns="27432" anchor="t">
            <a:spAutoFit/>
          </a:bodyPr>
          <a:lstStyle/>
          <a:p>
            <a:pPr algn="ctr"/>
            <a:r>
              <a:rPr sz="2300" b="0">
                <a:solidFill>
                  <a:srgbClr val="666F79"/>
                </a:solidFill>
                <a:latin typeface="Yu Gothic"/>
              </a:rPr>
              <a:t>raw RMSとprediction RMSEは異なる統計量：オーダー比較として表示</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Positioning &amp; limitations</a:t>
            </a:r>
          </a:p>
        </p:txBody>
      </p:sp>
      <p:sp>
        <p:nvSpPr>
          <p:cNvPr id="3" name="TextBox 2"/>
          <p:cNvSpPr txBox="1"/>
          <p:nvPr/>
        </p:nvSpPr>
        <p:spPr>
          <a:xfrm>
            <a:off x="1536192" y="1298448"/>
            <a:ext cx="13922209"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先行研究の存在：</a:t>
            </a:r>
            <a:r>
              <a:rPr lang="ja-JP" altLang="ja-JP" sz="3200" b="1" dirty="0"/>
              <a:t>温度差とLOSの一次関係は光学機器内でも報告されている</a:t>
            </a:r>
            <a:endParaRPr lang="ja-JP" altLang="ja-JP" sz="3200" dirty="0"/>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28</a:t>
            </a:r>
          </a:p>
        </p:txBody>
      </p:sp>
      <p:sp>
        <p:nvSpPr>
          <p:cNvPr id="5" name="Rounded Rectangle 4"/>
          <p:cNvSpPr/>
          <p:nvPr/>
        </p:nvSpPr>
        <p:spPr>
          <a:xfrm>
            <a:off x="1097280" y="2834640"/>
            <a:ext cx="10698480" cy="7498079"/>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3246120"/>
            <a:ext cx="9784080" cy="548640"/>
          </a:xfrm>
          <a:prstGeom prst="rect">
            <a:avLst/>
          </a:prstGeom>
          <a:noFill/>
        </p:spPr>
        <p:txBody>
          <a:bodyPr wrap="none" lIns="36576" tIns="27432" rIns="36576" bIns="27432" anchor="t">
            <a:spAutoFit/>
          </a:bodyPr>
          <a:lstStyle/>
          <a:p>
            <a:pPr algn="ctr"/>
            <a:r>
              <a:rPr sz="2800" b="1" dirty="0">
                <a:solidFill>
                  <a:srgbClr val="082B52"/>
                </a:solidFill>
                <a:latin typeface="Yu Gothic"/>
              </a:rPr>
              <a:t>JANUS / prior art</a:t>
            </a:r>
          </a:p>
        </p:txBody>
      </p:sp>
      <mc:AlternateContent xmlns:mc="http://schemas.openxmlformats.org/markup-compatibility/2006" xmlns:a14="http://schemas.microsoft.com/office/drawing/2010/main">
        <mc:Choice Requires="a14">
          <p:sp>
            <p:nvSpPr>
              <p:cNvPr id="7" name="TextBox 6"/>
              <p:cNvSpPr txBox="1"/>
              <p:nvPr/>
            </p:nvSpPr>
            <p:spPr>
              <a:xfrm>
                <a:off x="1637754" y="4389120"/>
                <a:ext cx="5503519" cy="2698175"/>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ja-JP" altLang="en-US" sz="2600" b="1" dirty="0">
                    <a:solidFill>
                      <a:srgbClr val="1B74AA"/>
                    </a:solidFill>
                    <a:latin typeface="Yu Gothic"/>
                  </a:rPr>
                  <a:t> </a:t>
                </a:r>
                <a:r>
                  <a:rPr lang="ja-JP" altLang="ja-JP" sz="2600" dirty="0"/>
                  <a:t>光学ヘッド内部の壁面温度差から</a:t>
                </a:r>
                <a:r>
                  <a:rPr lang="ja-JP" altLang="en-US" sz="2600" dirty="0"/>
                  <a:t>熱ひずみ由来</a:t>
                </a:r>
                <a:r>
                  <a:rPr lang="ja-JP" altLang="ja-JP" sz="2600" dirty="0"/>
                  <a:t>LOS</a:t>
                </a:r>
                <a:r>
                  <a:rPr lang="ja-JP" altLang="en-US" sz="2600" dirty="0"/>
                  <a:t>誤差</a:t>
                </a:r>
                <a:r>
                  <a:rPr lang="ja-JP" altLang="ja-JP" sz="2600" dirty="0"/>
                  <a:t>を推定 </a:t>
                </a:r>
                <a:endParaRPr lang="en-US" altLang="ja-JP" sz="2600" dirty="0"/>
              </a:p>
              <a:p>
                <a:pPr>
                  <a:spcAft>
                    <a:spcPts val="800"/>
                  </a:spcAft>
                </a:pPr>
                <a:r>
                  <a:rPr lang="en-US" altLang="ja-JP" sz="2600" b="1" dirty="0">
                    <a:solidFill>
                      <a:srgbClr val="1B74AA"/>
                    </a:solidFill>
                    <a:latin typeface="Yu Gothic"/>
                  </a:rPr>
                  <a:t>• </a:t>
                </a:r>
                <a14:m>
                  <m:oMath xmlns:m="http://schemas.openxmlformats.org/officeDocument/2006/math">
                    <m:r>
                      <a:rPr lang="ja-JP" altLang="en-US" sz="2600" i="1">
                        <a:latin typeface="Cambria Math" panose="02040503050406030204" pitchFamily="18" charset="0"/>
                      </a:rPr>
                      <m:t>𝐿𝑂𝑆</m:t>
                    </m:r>
                    <m:r>
                      <a:rPr lang="ja-JP" altLang="en-US" sz="2600">
                        <a:latin typeface="Cambria Math" panose="02040503050406030204" pitchFamily="18" charset="0"/>
                      </a:rPr>
                      <m:t>∝</m:t>
                    </m:r>
                    <m:r>
                      <m:rPr>
                        <m:sty m:val="p"/>
                      </m:rPr>
                      <a:rPr lang="en-US" altLang="ja-JP" sz="2600">
                        <a:latin typeface="Cambria Math" panose="02040503050406030204" pitchFamily="18" charset="0"/>
                      </a:rPr>
                      <m:t>Δ</m:t>
                    </m:r>
                    <m:r>
                      <a:rPr lang="ja-JP" altLang="en-US" sz="2600" i="1">
                        <a:latin typeface="Cambria Math" panose="02040503050406030204" pitchFamily="18" charset="0"/>
                      </a:rPr>
                      <m:t>𝑇</m:t>
                    </m:r>
                  </m:oMath>
                </a14:m>
                <a:r>
                  <a:rPr lang="ja-JP" altLang="ja-JP" sz="2600" dirty="0"/>
                  <a:t>の一次関係</a:t>
                </a:r>
                <a:r>
                  <a:rPr lang="ja-JP" altLang="en-US" sz="2600" dirty="0"/>
                  <a:t>とその係数</a:t>
                </a:r>
                <a:r>
                  <a:rPr lang="en-US" altLang="ja-JP" sz="2600" dirty="0"/>
                  <a:t>K</a:t>
                </a:r>
                <a:r>
                  <a:rPr lang="ja-JP" altLang="ja-JP" sz="2600" dirty="0"/>
                  <a:t>を地上試験で検証 </a:t>
                </a:r>
                <a:endParaRPr lang="en-US" altLang="ja-JP" sz="2600" dirty="0"/>
              </a:p>
              <a:p>
                <a:pPr>
                  <a:spcAft>
                    <a:spcPts val="800"/>
                  </a:spcAft>
                </a:pPr>
                <a:r>
                  <a:rPr lang="en-US" altLang="ja-JP" sz="2600" b="1" dirty="0">
                    <a:solidFill>
                      <a:srgbClr val="1B74AA"/>
                    </a:solidFill>
                    <a:latin typeface="Yu Gothic"/>
                  </a:rPr>
                  <a:t>• </a:t>
                </a:r>
                <a:r>
                  <a:rPr lang="ja-JP" altLang="ja-JP" sz="2600" dirty="0"/>
                  <a:t>温度センサ値からリアルタイムLOS推定を想定</a:t>
                </a:r>
                <a:r>
                  <a:rPr lang="ja-JP" altLang="en-US" sz="2600" dirty="0"/>
                  <a:t>する点で本研究に近い</a:t>
                </a:r>
                <a:endParaRPr sz="2600" dirty="0">
                  <a:solidFill>
                    <a:srgbClr val="232B34"/>
                  </a:solidFill>
                  <a:latin typeface="Yu Gothic"/>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37754" y="4389120"/>
                <a:ext cx="5503519" cy="2698175"/>
              </a:xfrm>
              <a:prstGeom prst="rect">
                <a:avLst/>
              </a:prstGeom>
              <a:blipFill>
                <a:blip r:embed="rId3"/>
                <a:stretch>
                  <a:fillRect l="-3215" t="-2032" r="-2882" b="-4515"/>
                </a:stretch>
              </a:blipFill>
            </p:spPr>
            <p:txBody>
              <a:bodyPr/>
              <a:lstStyle/>
              <a:p>
                <a:r>
                  <a:rPr lang="ja-JP" altLang="en-US">
                    <a:noFill/>
                  </a:rPr>
                  <a:t> </a:t>
                </a:r>
              </a:p>
            </p:txBody>
          </p:sp>
        </mc:Fallback>
      </mc:AlternateContent>
      <p:sp>
        <p:nvSpPr>
          <p:cNvPr id="8" name="TextBox 7"/>
          <p:cNvSpPr txBox="1"/>
          <p:nvPr/>
        </p:nvSpPr>
        <p:spPr>
          <a:xfrm>
            <a:off x="6590653" y="11276147"/>
            <a:ext cx="11201105" cy="1348061"/>
          </a:xfrm>
          <a:prstGeom prst="rect">
            <a:avLst/>
          </a:prstGeom>
          <a:noFill/>
        </p:spPr>
        <p:txBody>
          <a:bodyPr wrap="square" lIns="36576" tIns="27432" rIns="36576" bIns="27432" anchor="t">
            <a:spAutoFit/>
          </a:bodyPr>
          <a:lstStyle/>
          <a:p>
            <a:pPr algn="ctr"/>
            <a:r>
              <a:rPr lang="ja-JP" altLang="ja-JP" sz="2800" b="1" dirty="0">
                <a:solidFill>
                  <a:schemeClr val="accent2"/>
                </a:solidFill>
              </a:rPr>
              <a:t>本研究の貢献は、</a:t>
            </a:r>
            <a:endParaRPr lang="en-US" altLang="ja-JP" sz="2800" b="1" dirty="0">
              <a:solidFill>
                <a:schemeClr val="accent2"/>
              </a:solidFill>
            </a:endParaRPr>
          </a:p>
          <a:p>
            <a:pPr algn="ctr"/>
            <a:r>
              <a:rPr lang="ja-JP" altLang="ja-JP" sz="2800" b="1" dirty="0">
                <a:solidFill>
                  <a:schemeClr val="accent2"/>
                </a:solidFill>
              </a:rPr>
              <a:t>温度差–LOS</a:t>
            </a:r>
            <a:r>
              <a:rPr lang="ja-JP" altLang="en-US" sz="2800" b="1" dirty="0">
                <a:solidFill>
                  <a:schemeClr val="accent2"/>
                </a:solidFill>
              </a:rPr>
              <a:t>の一次</a:t>
            </a:r>
            <a:r>
              <a:rPr lang="ja-JP" altLang="ja-JP" sz="2800" b="1" dirty="0">
                <a:solidFill>
                  <a:schemeClr val="accent2"/>
                </a:solidFill>
              </a:rPr>
              <a:t>関係を衛星バス上のSTT–LCT相対LOS</a:t>
            </a:r>
            <a:r>
              <a:rPr lang="ja-JP" altLang="en-US" sz="2800" b="1" dirty="0">
                <a:solidFill>
                  <a:schemeClr val="accent2"/>
                </a:solidFill>
              </a:rPr>
              <a:t>予測</a:t>
            </a:r>
            <a:r>
              <a:rPr lang="ja-JP" altLang="ja-JP" sz="2800" b="1" dirty="0">
                <a:solidFill>
                  <a:schemeClr val="accent2"/>
                </a:solidFill>
              </a:rPr>
              <a:t>へ拡張し、粗捕捉性能改善まで接続した点にある</a:t>
            </a:r>
          </a:p>
        </p:txBody>
      </p:sp>
      <p:sp>
        <p:nvSpPr>
          <p:cNvPr id="9" name="Rounded Rectangle 8"/>
          <p:cNvSpPr/>
          <p:nvPr/>
        </p:nvSpPr>
        <p:spPr>
          <a:xfrm>
            <a:off x="12481560" y="2834640"/>
            <a:ext cx="10698480" cy="7498079"/>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938760" y="3246120"/>
            <a:ext cx="9784080" cy="548640"/>
          </a:xfrm>
          <a:prstGeom prst="rect">
            <a:avLst/>
          </a:prstGeom>
          <a:noFill/>
        </p:spPr>
        <p:txBody>
          <a:bodyPr wrap="none" lIns="36576" tIns="27432" rIns="36576" bIns="27432" anchor="t">
            <a:spAutoFit/>
          </a:bodyPr>
          <a:lstStyle/>
          <a:p>
            <a:pPr algn="ctr"/>
            <a:r>
              <a:rPr sz="2800" b="1">
                <a:solidFill>
                  <a:srgbClr val="1B74AA"/>
                </a:solidFill>
                <a:latin typeface="Yu Gothic"/>
              </a:rPr>
              <a:t>This work</a:t>
            </a:r>
          </a:p>
        </p:txBody>
      </p:sp>
      <p:sp>
        <p:nvSpPr>
          <p:cNvPr id="11" name="TextBox 10"/>
          <p:cNvSpPr txBox="1"/>
          <p:nvPr/>
        </p:nvSpPr>
        <p:spPr>
          <a:xfrm>
            <a:off x="13007228" y="4223694"/>
            <a:ext cx="6683903" cy="3703578"/>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en-US" sz="2600" b="1" dirty="0">
                <a:solidFill>
                  <a:srgbClr val="1B74AA"/>
                </a:solidFill>
                <a:latin typeface="Yu Gothic"/>
              </a:rPr>
              <a:t> </a:t>
            </a:r>
            <a:r>
              <a:rPr lang="ja-JP" altLang="ja-JP" sz="2600" dirty="0"/>
              <a:t>衛星バス上のSTT–LCT相対LOSを対象 </a:t>
            </a:r>
            <a:endParaRPr lang="en-US" altLang="ja-JP" sz="2600" dirty="0"/>
          </a:p>
          <a:p>
            <a:pPr>
              <a:spcAft>
                <a:spcPts val="800"/>
              </a:spcAft>
            </a:pPr>
            <a:r>
              <a:rPr lang="en-US" altLang="ja-JP" sz="2600" b="1" dirty="0">
                <a:solidFill>
                  <a:srgbClr val="1B74AA"/>
                </a:solidFill>
                <a:latin typeface="Yu Gothic"/>
              </a:rPr>
              <a:t>• </a:t>
            </a:r>
            <a:r>
              <a:rPr lang="ja-JP" altLang="ja-JP" sz="2600" dirty="0"/>
              <a:t>太陽指向面–反対面温度差から軌道内変動を予測 </a:t>
            </a:r>
            <a:endParaRPr lang="en-US" altLang="ja-JP" sz="2600" dirty="0"/>
          </a:p>
          <a:p>
            <a:pPr>
              <a:spcAft>
                <a:spcPts val="800"/>
              </a:spcAft>
            </a:pPr>
            <a:r>
              <a:rPr lang="en-US" altLang="ja-JP" sz="2600" b="1" dirty="0">
                <a:solidFill>
                  <a:srgbClr val="1B74AA"/>
                </a:solidFill>
                <a:latin typeface="Yu Gothic"/>
              </a:rPr>
              <a:t>• </a:t>
            </a:r>
            <a:r>
              <a:rPr lang="ja-JP" altLang="ja-JP" sz="2600" dirty="0"/>
              <a:t>発熱・被覆・軌道条件によるケースDCを階層化 </a:t>
            </a:r>
            <a:endParaRPr lang="en-US" altLang="ja-JP" sz="2600" dirty="0"/>
          </a:p>
          <a:p>
            <a:pPr>
              <a:spcAft>
                <a:spcPts val="800"/>
              </a:spcAft>
            </a:pPr>
            <a:r>
              <a:rPr lang="en-US" altLang="ja-JP" sz="2600" b="1" dirty="0">
                <a:solidFill>
                  <a:srgbClr val="1B74AA"/>
                </a:solidFill>
                <a:latin typeface="Yu Gothic"/>
              </a:rPr>
              <a:t>• </a:t>
            </a:r>
            <a:r>
              <a:rPr lang="ja-JP" altLang="ja-JP" sz="2600" dirty="0"/>
              <a:t>予測LOSをscan center補正へ入力 捕捉成功率・捕捉時間まで評価</a:t>
            </a:r>
            <a:endParaRPr lang="en-US" altLang="ja-JP" sz="2600" dirty="0"/>
          </a:p>
          <a:p>
            <a:pPr>
              <a:spcAft>
                <a:spcPts val="800"/>
              </a:spcAft>
            </a:pPr>
            <a:r>
              <a:rPr lang="en-US" altLang="ja-JP" sz="2600" b="1" dirty="0">
                <a:solidFill>
                  <a:srgbClr val="1B74AA"/>
                </a:solidFill>
                <a:latin typeface="Yu Gothic"/>
              </a:rPr>
              <a:t>•</a:t>
            </a:r>
            <a:r>
              <a:rPr lang="ja-JP" altLang="en-US" sz="2600" b="1" dirty="0">
                <a:solidFill>
                  <a:srgbClr val="1B74AA"/>
                </a:solidFill>
                <a:latin typeface="Yu Gothic"/>
              </a:rPr>
              <a:t> </a:t>
            </a:r>
            <a:r>
              <a:rPr lang="en-US" altLang="ja-JP" sz="2600" dirty="0">
                <a:latin typeface="Yu Gothic"/>
              </a:rPr>
              <a:t>※</a:t>
            </a:r>
            <a:r>
              <a:rPr lang="ja-JP" altLang="en-US" sz="2600" dirty="0">
                <a:latin typeface="Yu Gothic"/>
              </a:rPr>
              <a:t>非支配軸・別構造・飛行実証は未評価</a:t>
            </a:r>
            <a:endParaRPr sz="2600" dirty="0">
              <a:latin typeface="Yu Gothic"/>
            </a:endParaRPr>
          </a:p>
        </p:txBody>
      </p:sp>
      <p:pic>
        <p:nvPicPr>
          <p:cNvPr id="14" name="図 13">
            <a:extLst>
              <a:ext uri="{FF2B5EF4-FFF2-40B4-BE49-F238E27FC236}">
                <a16:creationId xmlns:a16="http://schemas.microsoft.com/office/drawing/2014/main" id="{C7E3B895-1AEF-DE7D-2500-D5414894CC50}"/>
              </a:ext>
            </a:extLst>
          </p:cNvPr>
          <p:cNvPicPr>
            <a:picLocks noChangeAspect="1"/>
          </p:cNvPicPr>
          <p:nvPr/>
        </p:nvPicPr>
        <p:blipFill>
          <a:blip r:embed="rId4"/>
          <a:stretch>
            <a:fillRect/>
          </a:stretch>
        </p:blipFill>
        <p:spPr>
          <a:xfrm>
            <a:off x="7304557" y="4223694"/>
            <a:ext cx="4296893" cy="2768036"/>
          </a:xfrm>
          <a:prstGeom prst="rect">
            <a:avLst/>
          </a:prstGeom>
        </p:spPr>
      </p:pic>
      <p:pic>
        <p:nvPicPr>
          <p:cNvPr id="16" name="図 15">
            <a:extLst>
              <a:ext uri="{FF2B5EF4-FFF2-40B4-BE49-F238E27FC236}">
                <a16:creationId xmlns:a16="http://schemas.microsoft.com/office/drawing/2014/main" id="{1D012430-EBD5-228E-6C1B-2FA194D4495E}"/>
              </a:ext>
            </a:extLst>
          </p:cNvPr>
          <p:cNvPicPr>
            <a:picLocks noChangeAspect="1"/>
          </p:cNvPicPr>
          <p:nvPr/>
        </p:nvPicPr>
        <p:blipFill>
          <a:blip r:embed="rId5"/>
          <a:stretch>
            <a:fillRect/>
          </a:stretch>
        </p:blipFill>
        <p:spPr>
          <a:xfrm>
            <a:off x="19976937" y="4059227"/>
            <a:ext cx="2917297" cy="4445404"/>
          </a:xfrm>
          <a:prstGeom prst="rect">
            <a:avLst/>
          </a:prstGeom>
        </p:spPr>
      </p:pic>
      <p:cxnSp>
        <p:nvCxnSpPr>
          <p:cNvPr id="18" name="直線矢印コネクタ 17">
            <a:extLst>
              <a:ext uri="{FF2B5EF4-FFF2-40B4-BE49-F238E27FC236}">
                <a16:creationId xmlns:a16="http://schemas.microsoft.com/office/drawing/2014/main" id="{236A98E2-DC1C-D091-55C8-8ECEA961E0B2}"/>
              </a:ext>
            </a:extLst>
          </p:cNvPr>
          <p:cNvCxnSpPr>
            <a:cxnSpLocks/>
          </p:cNvCxnSpPr>
          <p:nvPr/>
        </p:nvCxnSpPr>
        <p:spPr>
          <a:xfrm>
            <a:off x="9895114" y="7087295"/>
            <a:ext cx="986246"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FE3BF317-B001-A8F1-E16A-98CCE95D0F38}"/>
              </a:ext>
            </a:extLst>
          </p:cNvPr>
          <p:cNvSpPr txBox="1"/>
          <p:nvPr/>
        </p:nvSpPr>
        <p:spPr>
          <a:xfrm>
            <a:off x="9836331" y="7235689"/>
            <a:ext cx="1322615" cy="369332"/>
          </a:xfrm>
          <a:prstGeom prst="rect">
            <a:avLst/>
          </a:prstGeom>
          <a:noFill/>
        </p:spPr>
        <p:txBody>
          <a:bodyPr wrap="square" rtlCol="0">
            <a:spAutoFit/>
          </a:bodyPr>
          <a:lstStyle/>
          <a:p>
            <a:r>
              <a:rPr kumimoji="1" lang="en-US" altLang="ja-JP" dirty="0"/>
              <a:t>25 cm</a:t>
            </a:r>
            <a:r>
              <a:rPr kumimoji="1" lang="ja-JP" altLang="en-US" dirty="0"/>
              <a:t>程度</a:t>
            </a:r>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8CB7D79D-2AF2-A798-8254-04332A599446}"/>
                  </a:ext>
                </a:extLst>
              </p:cNvPr>
              <p:cNvSpPr txBox="1"/>
              <p:nvPr/>
            </p:nvSpPr>
            <p:spPr>
              <a:xfrm>
                <a:off x="13872760" y="9039727"/>
                <a:ext cx="7916078" cy="998863"/>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ja-JP" altLang="en-US" sz="2800" b="1" i="1" dirty="0" smtClean="0">
                              <a:solidFill>
                                <a:srgbClr val="082B52"/>
                              </a:solidFill>
                              <a:latin typeface="Cambria Math" panose="02040503050406030204" pitchFamily="18" charset="0"/>
                            </a:rPr>
                            <m:t>𝒅𝒐𝒎</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 </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𝒂</m:t>
                          </m:r>
                        </m:e>
                        <m:sub>
                          <m:r>
                            <a:rPr lang="ja-JP" altLang="en-US" sz="2800" b="1" i="1" dirty="0" err="1">
                              <a:solidFill>
                                <a:srgbClr val="082B52"/>
                              </a:solidFill>
                              <a:latin typeface="Cambria Math" panose="02040503050406030204" pitchFamily="18" charset="0"/>
                            </a:rPr>
                            <m:t>𝒔𝒖𝒏𝒇𝒂𝒄𝒆</m:t>
                          </m:r>
                        </m:sub>
                      </m:sSub>
                      <m:r>
                        <a:rPr lang="ja-JP" altLang="en-US" sz="2800" b="1" i="1" dirty="0">
                          <a:solidFill>
                            <a:srgbClr val="082B52"/>
                          </a:solidFill>
                          <a:latin typeface="Cambria Math" panose="02040503050406030204" pitchFamily="18" charset="0"/>
                        </a:rPr>
                        <m:t> </m:t>
                      </m:r>
                      <m:r>
                        <a:rPr lang="en-US" altLang="ja-JP" sz="2800" b="1" i="1" dirty="0">
                          <a:solidFill>
                            <a:srgbClr val="082B52"/>
                          </a:solidFill>
                          <a:latin typeface="Cambria Math" panose="02040503050406030204" pitchFamily="18" charset="0"/>
                        </a:rPr>
                        <m:t>· </m:t>
                      </m:r>
                      <m:r>
                        <a:rPr lang="ja-JP" altLang="en-US" sz="2800" b="1" i="0" dirty="0">
                          <a:solidFill>
                            <a:srgbClr val="082B52"/>
                          </a:solidFill>
                          <a:latin typeface="Cambria Math" panose="02040503050406030204" pitchFamily="18" charset="0"/>
                        </a:rPr>
                        <m:t>𝚫</m:t>
                      </m:r>
                      <m:r>
                        <a:rPr lang="ja-JP" altLang="en-US" sz="2800" b="1" i="1" dirty="0">
                          <a:solidFill>
                            <a:srgbClr val="082B52"/>
                          </a:solidFill>
                          <a:latin typeface="Cambria Math" panose="02040503050406030204" pitchFamily="18" charset="0"/>
                        </a:rPr>
                        <m:t>𝑻</m:t>
                      </m:r>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smtClean="0">
                          <a:solidFill>
                            <a:srgbClr val="082B52"/>
                          </a:solidFill>
                          <a:latin typeface="Cambria Math" panose="02040503050406030204" pitchFamily="18" charset="0"/>
                        </a:rPr>
                        <m:t>+</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𝒃</m:t>
                          </m:r>
                        </m:e>
                        <m:sub>
                          <m:r>
                            <a:rPr lang="ja-JP" altLang="en-US" sz="2800" b="1" i="1" dirty="0" err="1">
                              <a:solidFill>
                                <a:srgbClr val="082B52"/>
                              </a:solidFill>
                              <a:latin typeface="Cambria Math" panose="02040503050406030204" pitchFamily="18" charset="0"/>
                            </a:rPr>
                            <m:t>𝒄𝒂𝒔𝒆</m:t>
                          </m:r>
                        </m:sub>
                      </m:sSub>
                      <m:r>
                        <a:rPr lang="ja-JP" altLang="en-US" sz="2800" b="1" i="1" dirty="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 </m:t>
                      </m:r>
                    </m:oMath>
                  </m:oMathPara>
                </a14:m>
                <a:endParaRPr lang="en-US" sz="2800" dirty="0"/>
              </a:p>
              <a:p>
                <a:pPr algn="ctr"/>
                <a14:m>
                  <m:oMathPara xmlns:m="http://schemas.openxmlformats.org/officeDocument/2006/math">
                    <m:oMath>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err="1">
                              <a:solidFill>
                                <a:srgbClr val="082B52"/>
                              </a:solidFill>
                              <a:latin typeface="Cambria Math" panose="02040503050406030204" pitchFamily="18" charset="0"/>
                            </a:rPr>
                            <m:t>𝒄𝒂𝒔𝒆</m:t>
                          </m:r>
                        </m:sub>
                      </m:sSub>
                      <m:r>
                        <a:rPr lang="en-US" altLang="ja-JP" sz="2800" b="1" i="1" dirty="0">
                          <a:solidFill>
                            <a:srgbClr val="082B52"/>
                          </a:solidFill>
                          <a:latin typeface="Cambria Math" panose="02040503050406030204" pitchFamily="18" charset="0"/>
                        </a:rPr>
                        <m:t> ≈ </m:t>
                      </m:r>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a:solidFill>
                                <a:srgbClr val="082B52"/>
                              </a:solidFill>
                              <a:latin typeface="Cambria Math" panose="02040503050406030204" pitchFamily="18" charset="0"/>
                            </a:rPr>
                            <m:t>𝟎</m:t>
                          </m:r>
                          <m:r>
                            <a:rPr lang="en-US" altLang="ja-JP" sz="2800" b="1" i="1" dirty="0">
                              <a:solidFill>
                                <a:srgbClr val="082B52"/>
                              </a:solidFill>
                              <a:latin typeface="Cambria Math" panose="02040503050406030204" pitchFamily="18" charset="0"/>
                            </a:rPr>
                            <m:t>,</m:t>
                          </m:r>
                          <m:r>
                            <a:rPr lang="en-US" altLang="ja-JP" sz="2800" b="1" i="1" dirty="0">
                              <a:solidFill>
                                <a:srgbClr val="082B52"/>
                              </a:solidFill>
                              <a:latin typeface="Cambria Math" panose="02040503050406030204" pitchFamily="18" charset="0"/>
                            </a:rPr>
                            <m:t>𝒔𝒖𝒏𝒇𝒂𝒄𝒆</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𝑷𝑹𝑶𝑷</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𝑷𝑹𝑶𝑷</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𝑷𝑪𝑫𝑼</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𝑷𝑪𝑫𝑼</m:t>
                          </m:r>
                        </m:sub>
                      </m:sSub>
                    </m:oMath>
                  </m:oMathPara>
                </a14:m>
                <a:endParaRPr sz="2800" dirty="0"/>
              </a:p>
            </p:txBody>
          </p:sp>
        </mc:Choice>
        <mc:Fallback xmlns="">
          <p:sp>
            <p:nvSpPr>
              <p:cNvPr id="22" name="TextBox 5">
                <a:extLst>
                  <a:ext uri="{FF2B5EF4-FFF2-40B4-BE49-F238E27FC236}">
                    <a16:creationId xmlns:a16="http://schemas.microsoft.com/office/drawing/2014/main" id="{8CB7D79D-2AF2-A798-8254-04332A599446}"/>
                  </a:ext>
                </a:extLst>
              </p:cNvPr>
              <p:cNvSpPr txBox="1">
                <a:spLocks noRot="1" noChangeAspect="1" noMove="1" noResize="1" noEditPoints="1" noAdjustHandles="1" noChangeArrowheads="1" noChangeShapeType="1" noTextEdit="1"/>
              </p:cNvSpPr>
              <p:nvPr/>
            </p:nvSpPr>
            <p:spPr>
              <a:xfrm>
                <a:off x="13872760" y="9039727"/>
                <a:ext cx="7916078" cy="99886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TextBox 5">
                <a:extLst>
                  <a:ext uri="{FF2B5EF4-FFF2-40B4-BE49-F238E27FC236}">
                    <a16:creationId xmlns:a16="http://schemas.microsoft.com/office/drawing/2014/main" id="{871BC7F3-CFD6-2181-FEC2-0F7AB8A132AA}"/>
                  </a:ext>
                </a:extLst>
              </p:cNvPr>
              <p:cNvSpPr txBox="1"/>
              <p:nvPr/>
            </p:nvSpPr>
            <p:spPr>
              <a:xfrm>
                <a:off x="2901195" y="9039727"/>
                <a:ext cx="7090659" cy="95801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en-US" altLang="ja-JP" sz="2800" b="1" i="1" dirty="0" smtClean="0">
                              <a:solidFill>
                                <a:srgbClr val="082B52"/>
                              </a:solidFill>
                              <a:latin typeface="Cambria Math" panose="02040503050406030204" pitchFamily="18" charset="0"/>
                            </a:rPr>
                            <m:t>𝑳𝑶𝑺</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𝒚</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𝑲</m:t>
                      </m:r>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𝒐𝒑𝒕𝒊𝒄𝒂𝒍</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𝒃𝒖𝒇𝒇𝒍𝒆</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oMath>
                  </m:oMathPara>
                </a14:m>
                <a:endParaRPr lang="en-US" altLang="ja-JP" sz="2800" b="1" dirty="0">
                  <a:solidFill>
                    <a:srgbClr val="082B52"/>
                  </a:solidFill>
                </a:endParaRPr>
              </a:p>
              <a:p>
                <a:pPr algn="ctr"/>
                <a:endParaRPr lang="en-US" altLang="ja-JP" sz="2800" b="1" dirty="0">
                  <a:solidFill>
                    <a:srgbClr val="082B52"/>
                  </a:solidFill>
                </a:endParaRPr>
              </a:p>
            </p:txBody>
          </p:sp>
        </mc:Choice>
        <mc:Fallback xmlns="">
          <p:sp>
            <p:nvSpPr>
              <p:cNvPr id="24" name="TextBox 5">
                <a:extLst>
                  <a:ext uri="{FF2B5EF4-FFF2-40B4-BE49-F238E27FC236}">
                    <a16:creationId xmlns:a16="http://schemas.microsoft.com/office/drawing/2014/main" id="{871BC7F3-CFD6-2181-FEC2-0F7AB8A132AA}"/>
                  </a:ext>
                </a:extLst>
              </p:cNvPr>
              <p:cNvSpPr txBox="1">
                <a:spLocks noRot="1" noChangeAspect="1" noMove="1" noResize="1" noEditPoints="1" noAdjustHandles="1" noChangeArrowheads="1" noChangeShapeType="1" noTextEdit="1"/>
              </p:cNvSpPr>
              <p:nvPr/>
            </p:nvSpPr>
            <p:spPr>
              <a:xfrm>
                <a:off x="2901195" y="9039727"/>
                <a:ext cx="7090659" cy="958019"/>
              </a:xfrm>
              <a:prstGeom prst="rect">
                <a:avLst/>
              </a:prstGeom>
              <a:blipFill>
                <a:blip r:embed="rId7"/>
                <a:stretch>
                  <a:fillRect/>
                </a:stretch>
              </a:blipFill>
            </p:spPr>
            <p:txBody>
              <a:bodyPr/>
              <a:lstStyle/>
              <a:p>
                <a:r>
                  <a:rPr lang="ja-JP" altLang="en-US">
                    <a:noFill/>
                  </a:rPr>
                  <a:t> </a:t>
                </a:r>
              </a:p>
            </p:txBody>
          </p:sp>
        </mc:Fallback>
      </mc:AlternateContent>
      <p:cxnSp>
        <p:nvCxnSpPr>
          <p:cNvPr id="26" name="直線矢印コネクタ 25">
            <a:extLst>
              <a:ext uri="{FF2B5EF4-FFF2-40B4-BE49-F238E27FC236}">
                <a16:creationId xmlns:a16="http://schemas.microsoft.com/office/drawing/2014/main" id="{364056D2-83C3-D172-16F3-77222404221A}"/>
              </a:ext>
            </a:extLst>
          </p:cNvPr>
          <p:cNvCxnSpPr>
            <a:cxnSpLocks/>
          </p:cNvCxnSpPr>
          <p:nvPr/>
        </p:nvCxnSpPr>
        <p:spPr>
          <a:xfrm>
            <a:off x="9820002" y="4096848"/>
            <a:ext cx="0" cy="5845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5D486108-12C4-0CB4-491B-DA4939F62364}"/>
              </a:ext>
            </a:extLst>
          </p:cNvPr>
          <p:cNvCxnSpPr>
            <a:cxnSpLocks/>
          </p:cNvCxnSpPr>
          <p:nvPr/>
        </p:nvCxnSpPr>
        <p:spPr>
          <a:xfrm>
            <a:off x="10881360" y="4096848"/>
            <a:ext cx="0" cy="55028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8AAB77A2-36D4-590E-EB94-32592F3A750A}"/>
              </a:ext>
            </a:extLst>
          </p:cNvPr>
          <p:cNvSpPr txBox="1"/>
          <p:nvPr/>
        </p:nvSpPr>
        <p:spPr>
          <a:xfrm>
            <a:off x="10332720" y="3722608"/>
            <a:ext cx="1404257" cy="369332"/>
          </a:xfrm>
          <a:prstGeom prst="rect">
            <a:avLst/>
          </a:prstGeom>
          <a:noFill/>
        </p:spPr>
        <p:txBody>
          <a:bodyPr wrap="square" rtlCol="0">
            <a:spAutoFit/>
          </a:bodyPr>
          <a:lstStyle/>
          <a:p>
            <a:r>
              <a:rPr kumimoji="1" lang="en-US" altLang="ja-JP" dirty="0"/>
              <a:t>Optical Wall</a:t>
            </a:r>
            <a:endParaRPr kumimoji="1" lang="ja-JP" altLang="en-US" dirty="0"/>
          </a:p>
        </p:txBody>
      </p:sp>
      <p:sp>
        <p:nvSpPr>
          <p:cNvPr id="33" name="テキスト ボックス 32">
            <a:extLst>
              <a:ext uri="{FF2B5EF4-FFF2-40B4-BE49-F238E27FC236}">
                <a16:creationId xmlns:a16="http://schemas.microsoft.com/office/drawing/2014/main" id="{E314A410-ACD0-9EDE-1676-7B2BA3D84B5F}"/>
              </a:ext>
            </a:extLst>
          </p:cNvPr>
          <p:cNvSpPr txBox="1"/>
          <p:nvPr/>
        </p:nvSpPr>
        <p:spPr>
          <a:xfrm>
            <a:off x="9068890" y="3732074"/>
            <a:ext cx="1404257" cy="369332"/>
          </a:xfrm>
          <a:prstGeom prst="rect">
            <a:avLst/>
          </a:prstGeom>
          <a:noFill/>
        </p:spPr>
        <p:txBody>
          <a:bodyPr wrap="square" rtlCol="0">
            <a:spAutoFit/>
          </a:bodyPr>
          <a:lstStyle/>
          <a:p>
            <a:r>
              <a:rPr kumimoji="1" lang="en-US" altLang="ja-JP" dirty="0" err="1"/>
              <a:t>Buffle</a:t>
            </a:r>
            <a:r>
              <a:rPr kumimoji="1" lang="en-US" altLang="ja-JP" dirty="0"/>
              <a:t> Wall</a:t>
            </a:r>
            <a:endParaRPr kumimoji="1" lang="ja-JP"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Operational interpretation</a:t>
            </a:r>
          </a:p>
        </p:txBody>
      </p:sp>
      <p:sp>
        <p:nvSpPr>
          <p:cNvPr id="3" name="TextBox 2"/>
          <p:cNvSpPr txBox="1"/>
          <p:nvPr/>
        </p:nvSpPr>
        <p:spPr>
          <a:xfrm>
            <a:off x="1536192" y="1298448"/>
            <a:ext cx="7850034"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ja-JP" sz="3200" b="1" dirty="0"/>
              <a:t>軌道上運用時のパラメータ設定・更新方針</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dirty="0">
                <a:solidFill>
                  <a:srgbClr val="666F79"/>
                </a:solidFill>
                <a:latin typeface="Yu Gothic"/>
              </a:rPr>
              <a:t>2</a:t>
            </a:r>
            <a:r>
              <a:rPr lang="en-US" altLang="ja-JP" sz="1800" b="0" dirty="0">
                <a:solidFill>
                  <a:srgbClr val="666F79"/>
                </a:solidFill>
                <a:latin typeface="Yu Gothic"/>
              </a:rPr>
              <a:t>9</a:t>
            </a:r>
            <a:endParaRPr sz="1800" b="0" dirty="0">
              <a:solidFill>
                <a:srgbClr val="666F79"/>
              </a:solidFill>
              <a:latin typeface="Yu Gothic"/>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514148823"/>
                  </p:ext>
                </p:extLst>
              </p:nvPr>
            </p:nvGraphicFramePr>
            <p:xfrm>
              <a:off x="1097280" y="3840480"/>
              <a:ext cx="21945600" cy="658368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gridCol w="9784080">
                      <a:extLst>
                        <a:ext uri="{9D8B030D-6E8A-4147-A177-3AD203B41FA5}">
                          <a16:colId xmlns:a16="http://schemas.microsoft.com/office/drawing/2014/main" val="20002"/>
                        </a:ext>
                      </a:extLst>
                    </a:gridCol>
                  </a:tblGrid>
                  <a:tr h="1316736">
                    <a:tc>
                      <a:txBody>
                        <a:bodyPr/>
                        <a:lstStyle/>
                        <a:p>
                          <a:pPr algn="ctr">
                            <a:buNone/>
                          </a:pPr>
                          <a:r>
                            <a:rPr lang="ja-JP" altLang="en-US" sz="2300" dirty="0"/>
                            <a:t>モデル成分</a:t>
                          </a:r>
                          <a:endParaRPr lang="ja-JP" sz="2300" dirty="0"/>
                        </a:p>
                      </a:txBody>
                      <a:tcPr anchor="ctr">
                        <a:solidFill>
                          <a:srgbClr val="082B52"/>
                        </a:solidFill>
                      </a:tcPr>
                    </a:tc>
                    <a:tc>
                      <a:txBody>
                        <a:bodyPr/>
                        <a:lstStyle/>
                        <a:p>
                          <a:pPr>
                            <a:buNone/>
                          </a:pPr>
                          <a:r>
                            <a:rPr lang="ja-JP" sz="2300"/>
                            <a:t>解析で確認された傾向</a:t>
                          </a:r>
                        </a:p>
                      </a:txBody>
                      <a:tcPr anchor="ctr">
                        <a:solidFill>
                          <a:srgbClr val="082B52"/>
                        </a:solidFill>
                      </a:tcPr>
                    </a:tc>
                    <a:tc>
                      <a:txBody>
                        <a:bodyPr/>
                        <a:lstStyle/>
                        <a:p>
                          <a:pPr>
                            <a:buNone/>
                          </a:pPr>
                          <a:r>
                            <a:rPr lang="ja-JP" sz="2300" dirty="0"/>
                            <a:t>軌道上での扱い</a:t>
                          </a:r>
                        </a:p>
                      </a:txBody>
                      <a:tcPr anchor="ctr">
                        <a:solidFill>
                          <a:srgbClr val="082B52"/>
                        </a:solidFill>
                      </a:tcPr>
                    </a:tc>
                    <a:extLst>
                      <a:ext uri="{0D108BD9-81ED-4DB2-BD59-A6C34878D82A}">
                        <a16:rowId xmlns:a16="http://schemas.microsoft.com/office/drawing/2014/main" val="10000"/>
                      </a:ext>
                    </a:extLst>
                  </a:tr>
                  <a:tr h="1316736">
                    <a:tc>
                      <a:txBody>
                        <a:bodyPr/>
                        <a:lstStyle/>
                        <a:p>
                          <a:pPr algn="ctr">
                            <a:buNone/>
                          </a:pPr>
                          <a14:m>
                            <m:oMathPara xmlns:m="http://schemas.openxmlformats.org/officeDocument/2006/math">
                              <m:oMath>
                                <m:sSub>
                                  <m:sSubPr>
                                    <m:ctrlPr>
                                      <a:rPr lang="ja-JP" altLang="en-US" sz="2400" b="1" i="1" dirty="0" err="1">
                                        <a:solidFill>
                                          <a:srgbClr val="082B52"/>
                                        </a:solidFill>
                                        <a:latin typeface="Cambria Math" panose="02040503050406030204" pitchFamily="18" charset="0"/>
                                      </a:rPr>
                                    </m:ctrlPr>
                                  </m:sSubPr>
                                  <m:e>
                                    <m:r>
                                      <a:rPr lang="ja-JP" altLang="en-US" sz="2400" b="1" i="1" dirty="0" err="1">
                                        <a:solidFill>
                                          <a:srgbClr val="082B52"/>
                                        </a:solidFill>
                                        <a:latin typeface="Cambria Math" panose="02040503050406030204" pitchFamily="18" charset="0"/>
                                      </a:rPr>
                                      <m:t>𝒂</m:t>
                                    </m:r>
                                  </m:e>
                                  <m:sub>
                                    <m:r>
                                      <a:rPr lang="ja-JP" altLang="en-US" sz="2400" b="1" i="1" dirty="0" err="1">
                                        <a:solidFill>
                                          <a:srgbClr val="082B52"/>
                                        </a:solidFill>
                                        <a:latin typeface="Cambria Math" panose="02040503050406030204" pitchFamily="18" charset="0"/>
                                      </a:rPr>
                                      <m:t>𝒔𝒖𝒏𝒇𝒂𝒄𝒆</m:t>
                                    </m:r>
                                  </m:sub>
                                </m:sSub>
                              </m:oMath>
                            </m:oMathPara>
                          </a14:m>
                          <a:endParaRPr lang="ja-JP" sz="2300" dirty="0"/>
                        </a:p>
                      </a:txBody>
                      <a:tcPr anchor="ctr">
                        <a:solidFill>
                          <a:srgbClr val="FFFFFF"/>
                        </a:solidFill>
                      </a:tcPr>
                    </a:tc>
                    <a:tc>
                      <a:txBody>
                        <a:bodyPr/>
                        <a:lstStyle/>
                        <a:p>
                          <a:pPr>
                            <a:buNone/>
                          </a:pPr>
                          <a:r>
                            <a:rPr lang="ja-JP" sz="2300"/>
                            <a:t>同一太陽指向面のケース間で安定</a:t>
                          </a:r>
                        </a:p>
                      </a:txBody>
                      <a:tcPr anchor="ctr">
                        <a:solidFill>
                          <a:srgbClr val="FFFFFF"/>
                        </a:solidFill>
                      </a:tcPr>
                    </a:tc>
                    <a:tc>
                      <a:txBody>
                        <a:bodyPr/>
                        <a:lstStyle/>
                        <a:p>
                          <a:pPr>
                            <a:buNone/>
                          </a:pPr>
                          <a:r>
                            <a:rPr lang="ja-JP" sz="2300" dirty="0"/>
                            <a:t>地上解析・熱真空試験で事前同定し、原則固定</a:t>
                          </a:r>
                        </a:p>
                      </a:txBody>
                      <a:tcPr anchor="ctr">
                        <a:solidFill>
                          <a:srgbClr val="EBF6FB"/>
                        </a:solidFill>
                      </a:tcPr>
                    </a:tc>
                    <a:extLst>
                      <a:ext uri="{0D108BD9-81ED-4DB2-BD59-A6C34878D82A}">
                        <a16:rowId xmlns:a16="http://schemas.microsoft.com/office/drawing/2014/main" val="10001"/>
                      </a:ext>
                    </a:extLst>
                  </a:tr>
                  <a:tr h="1316736">
                    <a:tc>
                      <a:txBody>
                        <a:bodyPr/>
                        <a:lstStyle/>
                        <a:p>
                          <a:pPr algn="ctr">
                            <a:buNone/>
                          </a:pPr>
                          <a14:m>
                            <m:oMathPara xmlns:m="http://schemas.openxmlformats.org/officeDocument/2006/math">
                              <m:oMath>
                                <m:sSub>
                                  <m:sSubPr>
                                    <m:ctrlPr>
                                      <a:rPr lang="ja-JP" altLang="en-US" sz="2400" b="1" i="1" dirty="0" err="1">
                                        <a:solidFill>
                                          <a:srgbClr val="082B52"/>
                                        </a:solidFill>
                                        <a:latin typeface="Cambria Math" panose="02040503050406030204" pitchFamily="18" charset="0"/>
                                      </a:rPr>
                                    </m:ctrlPr>
                                  </m:sSubPr>
                                  <m:e>
                                    <m:r>
                                      <a:rPr lang="ja-JP" altLang="en-US" sz="2400" b="1" i="1" dirty="0" err="1">
                                        <a:solidFill>
                                          <a:srgbClr val="082B52"/>
                                        </a:solidFill>
                                        <a:latin typeface="Cambria Math" panose="02040503050406030204" pitchFamily="18" charset="0"/>
                                      </a:rPr>
                                      <m:t>𝒃</m:t>
                                    </m:r>
                                  </m:e>
                                  <m:sub>
                                    <m:r>
                                      <a:rPr lang="ja-JP" altLang="en-US" sz="2400" b="1" i="1" dirty="0" err="1">
                                        <a:solidFill>
                                          <a:srgbClr val="082B52"/>
                                        </a:solidFill>
                                        <a:latin typeface="Cambria Math" panose="02040503050406030204" pitchFamily="18" charset="0"/>
                                      </a:rPr>
                                      <m:t>𝒄𝒂𝒔𝒆</m:t>
                                    </m:r>
                                  </m:sub>
                                </m:sSub>
                              </m:oMath>
                            </m:oMathPara>
                          </a14:m>
                          <a:endParaRPr lang="ja-JP" sz="2300" dirty="0"/>
                        </a:p>
                      </a:txBody>
                      <a:tcPr anchor="ctr">
                        <a:solidFill>
                          <a:srgbClr val="F4F6F8"/>
                        </a:solidFill>
                      </a:tcPr>
                    </a:tc>
                    <a:tc>
                      <a:txBody>
                        <a:bodyPr/>
                        <a:lstStyle/>
                        <a:p>
                          <a:pPr>
                            <a:buNone/>
                          </a:pPr>
                          <a:r>
                            <a:rPr lang="ja-JP" sz="2300" dirty="0"/>
                            <a:t>発熱モード・被覆・軌道条件で変化</a:t>
                          </a:r>
                        </a:p>
                      </a:txBody>
                      <a:tcPr anchor="ctr">
                        <a:solidFill>
                          <a:srgbClr val="F4F6F8"/>
                        </a:solidFill>
                      </a:tcPr>
                    </a:tc>
                    <a:tc>
                      <a:txBody>
                        <a:bodyPr/>
                        <a:lstStyle/>
                        <a:p>
                          <a:pPr>
                            <a:buNone/>
                          </a:pPr>
                          <a:r>
                            <a:rPr lang="ja-JP" sz="2300" dirty="0"/>
                            <a:t>運用条件から初期値を与え、軌道上残差で更新</a:t>
                          </a:r>
                        </a:p>
                      </a:txBody>
                      <a:tcPr anchor="ctr">
                        <a:solidFill>
                          <a:srgbClr val="EBF6FB"/>
                        </a:solidFill>
                      </a:tcPr>
                    </a:tc>
                    <a:extLst>
                      <a:ext uri="{0D108BD9-81ED-4DB2-BD59-A6C34878D82A}">
                        <a16:rowId xmlns:a16="http://schemas.microsoft.com/office/drawing/2014/main" val="10002"/>
                      </a:ext>
                    </a:extLst>
                  </a:tr>
                  <a:tr h="1316736">
                    <a:tc>
                      <a:txBody>
                        <a:bodyPr/>
                        <a:lstStyle/>
                        <a:p>
                          <a:pPr algn="ctr">
                            <a:buNone/>
                          </a:pPr>
                          <a:r>
                            <a:rPr lang="ja-JP" sz="2300"/>
                            <a:t>時変残差</a:t>
                          </a:r>
                        </a:p>
                      </a:txBody>
                      <a:tcPr anchor="ctr">
                        <a:solidFill>
                          <a:srgbClr val="FFFFFF"/>
                        </a:solidFill>
                      </a:tcPr>
                    </a:tc>
                    <a:tc>
                      <a:txBody>
                        <a:bodyPr/>
                        <a:lstStyle/>
                        <a:p>
                          <a:pPr>
                            <a:buNone/>
                          </a:pPr>
                          <a:r>
                            <a:rPr lang="ja-JP" sz="2300" dirty="0"/>
                            <a:t>数µrad〜十数µrad程度が残る</a:t>
                          </a:r>
                        </a:p>
                      </a:txBody>
                      <a:tcPr anchor="ctr">
                        <a:solidFill>
                          <a:srgbClr val="FFFFFF"/>
                        </a:solidFill>
                      </a:tcPr>
                    </a:tc>
                    <a:tc>
                      <a:txBody>
                        <a:bodyPr/>
                        <a:lstStyle/>
                        <a:p>
                          <a:pPr>
                            <a:buNone/>
                          </a:pPr>
                          <a:r>
                            <a:rPr lang="ja-JP" sz="2300" dirty="0"/>
                            <a:t>観測可能であれば低速な補正項として更新</a:t>
                          </a:r>
                        </a:p>
                      </a:txBody>
                      <a:tcPr anchor="ctr">
                        <a:solidFill>
                          <a:srgbClr val="EBF6FB"/>
                        </a:solidFill>
                      </a:tcPr>
                    </a:tc>
                    <a:extLst>
                      <a:ext uri="{0D108BD9-81ED-4DB2-BD59-A6C34878D82A}">
                        <a16:rowId xmlns:a16="http://schemas.microsoft.com/office/drawing/2014/main" val="10003"/>
                      </a:ext>
                    </a:extLst>
                  </a:tr>
                  <a:tr h="1316736">
                    <a:tc>
                      <a:txBody>
                        <a:bodyPr/>
                        <a:lstStyle/>
                        <a:p>
                          <a:pPr algn="ctr">
                            <a:buNone/>
                          </a:pPr>
                          <a:r>
                            <a:rPr lang="ja-JP" sz="2300" dirty="0"/>
                            <a:t>非熱誤差</a:t>
                          </a:r>
                        </a:p>
                      </a:txBody>
                      <a:tcPr anchor="ctr">
                        <a:solidFill>
                          <a:srgbClr val="F4F6F8"/>
                        </a:solidFill>
                      </a:tcPr>
                    </a:tc>
                    <a:tc>
                      <a:txBody>
                        <a:bodyPr/>
                        <a:lstStyle/>
                        <a:p>
                          <a:pPr>
                            <a:buNone/>
                          </a:pPr>
                          <a:r>
                            <a:rPr lang="ja-JP" sz="2300" dirty="0"/>
                            <a:t>熱誤差と同じ軌道周期帯に存在し得る</a:t>
                          </a:r>
                        </a:p>
                      </a:txBody>
                      <a:tcPr anchor="ctr">
                        <a:solidFill>
                          <a:srgbClr val="F4F6F8"/>
                        </a:solidFill>
                      </a:tcPr>
                    </a:tc>
                    <a:tc>
                      <a:txBody>
                        <a:bodyPr/>
                        <a:lstStyle/>
                        <a:p>
                          <a:pPr>
                            <a:buNone/>
                          </a:pPr>
                          <a:r>
                            <a:rPr lang="ja-JP" sz="2300" dirty="0"/>
                            <a:t>熱モデルとは分離し、別状態・事前誤差として扱う</a:t>
                          </a:r>
                        </a:p>
                      </a:txBody>
                      <a:tcPr anchor="ctr">
                        <a:solidFill>
                          <a:srgbClr val="EBF6FB"/>
                        </a:solidFill>
                      </a:tcPr>
                    </a:tc>
                    <a:extLst>
                      <a:ext uri="{0D108BD9-81ED-4DB2-BD59-A6C34878D82A}">
                        <a16:rowId xmlns:a16="http://schemas.microsoft.com/office/drawing/2014/main" val="10004"/>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514148823"/>
                  </p:ext>
                </p:extLst>
              </p:nvPr>
            </p:nvGraphicFramePr>
            <p:xfrm>
              <a:off x="1097280" y="3840480"/>
              <a:ext cx="21945600" cy="658368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gridCol w="9784080">
                      <a:extLst>
                        <a:ext uri="{9D8B030D-6E8A-4147-A177-3AD203B41FA5}">
                          <a16:colId xmlns:a16="http://schemas.microsoft.com/office/drawing/2014/main" val="20002"/>
                        </a:ext>
                      </a:extLst>
                    </a:gridCol>
                  </a:tblGrid>
                  <a:tr h="1316736">
                    <a:tc>
                      <a:txBody>
                        <a:bodyPr/>
                        <a:lstStyle/>
                        <a:p>
                          <a:pPr algn="ctr">
                            <a:buNone/>
                          </a:pPr>
                          <a:r>
                            <a:rPr lang="ja-JP" altLang="en-US" sz="2300" dirty="0"/>
                            <a:t>モデル成分</a:t>
                          </a:r>
                          <a:endParaRPr lang="ja-JP" sz="2300" dirty="0"/>
                        </a:p>
                      </a:txBody>
                      <a:tcPr anchor="ctr">
                        <a:solidFill>
                          <a:srgbClr val="082B52"/>
                        </a:solidFill>
                      </a:tcPr>
                    </a:tc>
                    <a:tc>
                      <a:txBody>
                        <a:bodyPr/>
                        <a:lstStyle/>
                        <a:p>
                          <a:pPr>
                            <a:buNone/>
                          </a:pPr>
                          <a:r>
                            <a:rPr lang="ja-JP" sz="2300"/>
                            <a:t>解析で確認された傾向</a:t>
                          </a:r>
                        </a:p>
                      </a:txBody>
                      <a:tcPr anchor="ctr">
                        <a:solidFill>
                          <a:srgbClr val="082B52"/>
                        </a:solidFill>
                      </a:tcPr>
                    </a:tc>
                    <a:tc>
                      <a:txBody>
                        <a:bodyPr/>
                        <a:lstStyle/>
                        <a:p>
                          <a:pPr>
                            <a:buNone/>
                          </a:pPr>
                          <a:r>
                            <a:rPr lang="ja-JP" sz="2300" dirty="0"/>
                            <a:t>軌道上での扱い</a:t>
                          </a:r>
                        </a:p>
                      </a:txBody>
                      <a:tcPr anchor="ctr">
                        <a:solidFill>
                          <a:srgbClr val="082B52"/>
                        </a:solidFill>
                      </a:tcPr>
                    </a:tc>
                    <a:extLst>
                      <a:ext uri="{0D108BD9-81ED-4DB2-BD59-A6C34878D82A}">
                        <a16:rowId xmlns:a16="http://schemas.microsoft.com/office/drawing/2014/main" val="10000"/>
                      </a:ext>
                    </a:extLst>
                  </a:tr>
                  <a:tr h="1316736">
                    <a:tc>
                      <a:txBody>
                        <a:bodyPr/>
                        <a:lstStyle/>
                        <a:p>
                          <a:endParaRPr lang="ja-JP"/>
                        </a:p>
                      </a:txBody>
                      <a:tcPr anchor="ctr">
                        <a:blipFill>
                          <a:blip r:embed="rId3"/>
                          <a:stretch>
                            <a:fillRect l="-267" t="-100926" r="-380667" b="-301389"/>
                          </a:stretch>
                        </a:blipFill>
                      </a:tcPr>
                    </a:tc>
                    <a:tc>
                      <a:txBody>
                        <a:bodyPr/>
                        <a:lstStyle/>
                        <a:p>
                          <a:pPr>
                            <a:buNone/>
                          </a:pPr>
                          <a:r>
                            <a:rPr lang="ja-JP" sz="2300"/>
                            <a:t>同一太陽指向面のケース間で安定</a:t>
                          </a:r>
                        </a:p>
                      </a:txBody>
                      <a:tcPr anchor="ctr">
                        <a:solidFill>
                          <a:srgbClr val="FFFFFF"/>
                        </a:solidFill>
                      </a:tcPr>
                    </a:tc>
                    <a:tc>
                      <a:txBody>
                        <a:bodyPr/>
                        <a:lstStyle/>
                        <a:p>
                          <a:pPr>
                            <a:buNone/>
                          </a:pPr>
                          <a:r>
                            <a:rPr lang="ja-JP" sz="2300" dirty="0"/>
                            <a:t>地上解析・熱真空試験で事前同定し、原則固定</a:t>
                          </a:r>
                        </a:p>
                      </a:txBody>
                      <a:tcPr anchor="ctr">
                        <a:solidFill>
                          <a:srgbClr val="EBF6FB"/>
                        </a:solidFill>
                      </a:tcPr>
                    </a:tc>
                    <a:extLst>
                      <a:ext uri="{0D108BD9-81ED-4DB2-BD59-A6C34878D82A}">
                        <a16:rowId xmlns:a16="http://schemas.microsoft.com/office/drawing/2014/main" val="10001"/>
                      </a:ext>
                    </a:extLst>
                  </a:tr>
                  <a:tr h="1316736">
                    <a:tc>
                      <a:txBody>
                        <a:bodyPr/>
                        <a:lstStyle/>
                        <a:p>
                          <a:endParaRPr lang="ja-JP"/>
                        </a:p>
                      </a:txBody>
                      <a:tcPr anchor="ctr">
                        <a:blipFill>
                          <a:blip r:embed="rId3"/>
                          <a:stretch>
                            <a:fillRect l="-267" t="-200926" r="-380667" b="-201389"/>
                          </a:stretch>
                        </a:blipFill>
                      </a:tcPr>
                    </a:tc>
                    <a:tc>
                      <a:txBody>
                        <a:bodyPr/>
                        <a:lstStyle/>
                        <a:p>
                          <a:pPr>
                            <a:buNone/>
                          </a:pPr>
                          <a:r>
                            <a:rPr lang="ja-JP" sz="2300" dirty="0"/>
                            <a:t>発熱モード・被覆・軌道条件で変化</a:t>
                          </a:r>
                        </a:p>
                      </a:txBody>
                      <a:tcPr anchor="ctr">
                        <a:solidFill>
                          <a:srgbClr val="F4F6F8"/>
                        </a:solidFill>
                      </a:tcPr>
                    </a:tc>
                    <a:tc>
                      <a:txBody>
                        <a:bodyPr/>
                        <a:lstStyle/>
                        <a:p>
                          <a:pPr>
                            <a:buNone/>
                          </a:pPr>
                          <a:r>
                            <a:rPr lang="ja-JP" sz="2300" dirty="0"/>
                            <a:t>運用条件から初期値を与え、軌道上残差で更新</a:t>
                          </a:r>
                        </a:p>
                      </a:txBody>
                      <a:tcPr anchor="ctr">
                        <a:solidFill>
                          <a:srgbClr val="EBF6FB"/>
                        </a:solidFill>
                      </a:tcPr>
                    </a:tc>
                    <a:extLst>
                      <a:ext uri="{0D108BD9-81ED-4DB2-BD59-A6C34878D82A}">
                        <a16:rowId xmlns:a16="http://schemas.microsoft.com/office/drawing/2014/main" val="10002"/>
                      </a:ext>
                    </a:extLst>
                  </a:tr>
                  <a:tr h="1316736">
                    <a:tc>
                      <a:txBody>
                        <a:bodyPr/>
                        <a:lstStyle/>
                        <a:p>
                          <a:pPr algn="ctr">
                            <a:buNone/>
                          </a:pPr>
                          <a:r>
                            <a:rPr lang="ja-JP" sz="2300"/>
                            <a:t>時変残差</a:t>
                          </a:r>
                        </a:p>
                      </a:txBody>
                      <a:tcPr anchor="ctr">
                        <a:solidFill>
                          <a:srgbClr val="FFFFFF"/>
                        </a:solidFill>
                      </a:tcPr>
                    </a:tc>
                    <a:tc>
                      <a:txBody>
                        <a:bodyPr/>
                        <a:lstStyle/>
                        <a:p>
                          <a:pPr>
                            <a:buNone/>
                          </a:pPr>
                          <a:r>
                            <a:rPr lang="ja-JP" sz="2300" dirty="0"/>
                            <a:t>数µrad〜十数µrad程度が残る</a:t>
                          </a:r>
                        </a:p>
                      </a:txBody>
                      <a:tcPr anchor="ctr">
                        <a:solidFill>
                          <a:srgbClr val="FFFFFF"/>
                        </a:solidFill>
                      </a:tcPr>
                    </a:tc>
                    <a:tc>
                      <a:txBody>
                        <a:bodyPr/>
                        <a:lstStyle/>
                        <a:p>
                          <a:pPr>
                            <a:buNone/>
                          </a:pPr>
                          <a:r>
                            <a:rPr lang="ja-JP" sz="2300" dirty="0"/>
                            <a:t>観測可能であれば低速な補正項として更新</a:t>
                          </a:r>
                        </a:p>
                      </a:txBody>
                      <a:tcPr anchor="ctr">
                        <a:solidFill>
                          <a:srgbClr val="EBF6FB"/>
                        </a:solidFill>
                      </a:tcPr>
                    </a:tc>
                    <a:extLst>
                      <a:ext uri="{0D108BD9-81ED-4DB2-BD59-A6C34878D82A}">
                        <a16:rowId xmlns:a16="http://schemas.microsoft.com/office/drawing/2014/main" val="10003"/>
                      </a:ext>
                    </a:extLst>
                  </a:tr>
                  <a:tr h="1316736">
                    <a:tc>
                      <a:txBody>
                        <a:bodyPr/>
                        <a:lstStyle/>
                        <a:p>
                          <a:pPr algn="ctr">
                            <a:buNone/>
                          </a:pPr>
                          <a:r>
                            <a:rPr lang="ja-JP" sz="2300" dirty="0"/>
                            <a:t>非熱誤差</a:t>
                          </a:r>
                        </a:p>
                      </a:txBody>
                      <a:tcPr anchor="ctr">
                        <a:solidFill>
                          <a:srgbClr val="F4F6F8"/>
                        </a:solidFill>
                      </a:tcPr>
                    </a:tc>
                    <a:tc>
                      <a:txBody>
                        <a:bodyPr/>
                        <a:lstStyle/>
                        <a:p>
                          <a:pPr>
                            <a:buNone/>
                          </a:pPr>
                          <a:r>
                            <a:rPr lang="ja-JP" sz="2300" dirty="0"/>
                            <a:t>熱誤差と同じ軌道周期帯に存在し得る</a:t>
                          </a:r>
                        </a:p>
                      </a:txBody>
                      <a:tcPr anchor="ctr">
                        <a:solidFill>
                          <a:srgbClr val="F4F6F8"/>
                        </a:solidFill>
                      </a:tcPr>
                    </a:tc>
                    <a:tc>
                      <a:txBody>
                        <a:bodyPr/>
                        <a:lstStyle/>
                        <a:p>
                          <a:pPr>
                            <a:buNone/>
                          </a:pPr>
                          <a:r>
                            <a:rPr lang="ja-JP" sz="2300" dirty="0"/>
                            <a:t>熱モデルとは分離し、別状態・事前誤差として扱う</a:t>
                          </a:r>
                        </a:p>
                      </a:txBody>
                      <a:tcPr anchor="ctr">
                        <a:solidFill>
                          <a:srgbClr val="EBF6FB"/>
                        </a:solidFill>
                      </a:tcPr>
                    </a:tc>
                    <a:extLst>
                      <a:ext uri="{0D108BD9-81ED-4DB2-BD59-A6C34878D82A}">
                        <a16:rowId xmlns:a16="http://schemas.microsoft.com/office/drawing/2014/main" val="10004"/>
                      </a:ext>
                    </a:extLst>
                  </a:tr>
                </a:tbl>
              </a:graphicData>
            </a:graphic>
          </p:graphicFrame>
        </mc:Fallback>
      </mc:AlternateContent>
      <p:sp>
        <p:nvSpPr>
          <p:cNvPr id="6" name="Rounded Rectangle 5"/>
          <p:cNvSpPr/>
          <p:nvPr/>
        </p:nvSpPr>
        <p:spPr>
          <a:xfrm>
            <a:off x="2103120" y="11051178"/>
            <a:ext cx="20116800" cy="1280160"/>
          </a:xfrm>
          <a:prstGeom prst="roundRect">
            <a:avLst/>
          </a:prstGeom>
          <a:solidFill>
            <a:srgbClr val="EAF8F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5773713" y="11416944"/>
                <a:ext cx="12775613" cy="486287"/>
              </a:xfrm>
              <a:prstGeom prst="rect">
                <a:avLst/>
              </a:prstGeom>
              <a:noFill/>
            </p:spPr>
            <p:txBody>
              <a:bodyPr wrap="none" lIns="36576" tIns="27432" rIns="36576" bIns="27432" anchor="t">
                <a:spAutoFit/>
              </a:bodyPr>
              <a:lstStyle/>
              <a:p>
                <a:pPr algn="ctr"/>
                <a:r>
                  <a:rPr lang="en-US" altLang="ja-JP" sz="2800" b="1" dirty="0">
                    <a:solidFill>
                      <a:srgbClr val="00B050"/>
                    </a:solidFill>
                  </a:rPr>
                  <a:t>Adaptive</a:t>
                </a:r>
                <a:r>
                  <a:rPr lang="ja-JP" altLang="en-US" sz="2800" b="1" dirty="0">
                    <a:solidFill>
                      <a:srgbClr val="00B050"/>
                    </a:solidFill>
                  </a:rPr>
                  <a:t>更新の第一候補は、安定な温度感度 </a:t>
                </a:r>
                <a14:m>
                  <m:oMath xmlns:m="http://schemas.openxmlformats.org/officeDocument/2006/math">
                    <m:sSub>
                      <m:sSubPr>
                        <m:ctrlPr>
                          <a:rPr lang="ja-JP" altLang="en-US" b="1" i="1">
                            <a:solidFill>
                              <a:srgbClr val="00B050"/>
                            </a:solidFill>
                            <a:latin typeface="Cambria Math" panose="02040503050406030204" pitchFamily="18" charset="0"/>
                          </a:rPr>
                        </m:ctrlPr>
                      </m:sSubPr>
                      <m:e>
                        <m:r>
                          <a:rPr lang="ja-JP" altLang="en-US" b="1" i="1">
                            <a:solidFill>
                              <a:srgbClr val="00B050"/>
                            </a:solidFill>
                            <a:latin typeface="Cambria Math" panose="02040503050406030204" pitchFamily="18" charset="0"/>
                          </a:rPr>
                          <m:t>𝒂</m:t>
                        </m:r>
                      </m:e>
                      <m:sub>
                        <m:r>
                          <a:rPr lang="ja-JP" altLang="en-US" b="1" i="1">
                            <a:solidFill>
                              <a:srgbClr val="00B050"/>
                            </a:solidFill>
                            <a:latin typeface="Cambria Math" panose="02040503050406030204" pitchFamily="18" charset="0"/>
                          </a:rPr>
                          <m:t>𝐬𝐮𝐧𝐟𝐚𝐜𝐞</m:t>
                        </m:r>
                      </m:sub>
                    </m:sSub>
                  </m:oMath>
                </a14:m>
                <a:r>
                  <a:rPr lang="ja-JP" altLang="en-US" sz="2800" b="1" dirty="0">
                    <a:solidFill>
                      <a:srgbClr val="00B050"/>
                    </a:solidFill>
                  </a:rPr>
                  <a:t>ではなく、ケース依存</a:t>
                </a:r>
                <a:r>
                  <a:rPr lang="en-US" altLang="ja-JP" sz="2800" b="1" dirty="0">
                    <a:solidFill>
                      <a:srgbClr val="00B050"/>
                    </a:solidFill>
                  </a:rPr>
                  <a:t>DC </a:t>
                </a:r>
                <a14:m>
                  <m:oMath xmlns:m="http://schemas.openxmlformats.org/officeDocument/2006/math">
                    <m:sSub>
                      <m:sSubPr>
                        <m:ctrlPr>
                          <a:rPr lang="ja-JP" altLang="en-US" b="1" i="1">
                            <a:solidFill>
                              <a:srgbClr val="00B050"/>
                            </a:solidFill>
                            <a:latin typeface="Cambria Math" panose="02040503050406030204" pitchFamily="18" charset="0"/>
                          </a:rPr>
                        </m:ctrlPr>
                      </m:sSubPr>
                      <m:e>
                        <m:r>
                          <a:rPr lang="ja-JP" altLang="en-US" b="1" i="1">
                            <a:solidFill>
                              <a:srgbClr val="00B050"/>
                            </a:solidFill>
                            <a:latin typeface="Cambria Math" panose="02040503050406030204" pitchFamily="18" charset="0"/>
                          </a:rPr>
                          <m:t>𝒃</m:t>
                        </m:r>
                      </m:e>
                      <m:sub>
                        <m:r>
                          <a:rPr lang="ja-JP" altLang="en-US" b="1" i="1">
                            <a:solidFill>
                              <a:srgbClr val="00B050"/>
                            </a:solidFill>
                            <a:latin typeface="Cambria Math" panose="02040503050406030204" pitchFamily="18" charset="0"/>
                          </a:rPr>
                          <m:t>𝐜𝐚𝐬𝐞</m:t>
                        </m:r>
                      </m:sub>
                    </m:sSub>
                  </m:oMath>
                </a14:m>
                <a:endParaRPr lang="ja-JP" altLang="en-US" sz="2800" b="1" dirty="0">
                  <a:solidFill>
                    <a:srgbClr val="00B050"/>
                  </a:solidFill>
                  <a:latin typeface="Yu Gothic"/>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773713" y="11416944"/>
                <a:ext cx="12775613" cy="486287"/>
              </a:xfrm>
              <a:prstGeom prst="rect">
                <a:avLst/>
              </a:prstGeom>
              <a:blipFill>
                <a:blip r:embed="rId4"/>
                <a:stretch>
                  <a:fillRect l="-906" t="-17500" b="-37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38DB53A1-002C-47B7-1EEA-A784B6299035}"/>
                  </a:ext>
                </a:extLst>
              </p:cNvPr>
              <p:cNvSpPr txBox="1"/>
              <p:nvPr/>
            </p:nvSpPr>
            <p:spPr>
              <a:xfrm>
                <a:off x="1097280" y="3075123"/>
                <a:ext cx="12189278" cy="564065"/>
              </a:xfrm>
              <a:prstGeom prst="rect">
                <a:avLst/>
              </a:prstGeom>
              <a:noFill/>
            </p:spPr>
            <p:txBody>
              <a:bodyPr wrap="square">
                <a:spAutoFit/>
              </a:bodyPr>
              <a:lstStyle/>
              <a:p>
                <a14:m>
                  <m:oMath xmlns:m="http://schemas.openxmlformats.org/officeDocument/2006/math">
                    <m:sSub>
                      <m:sSubPr>
                        <m:ctrlPr>
                          <a:rPr lang="ja-JP" altLang="en-US" sz="2800" b="0" i="1" dirty="0" err="1">
                            <a:solidFill>
                              <a:srgbClr val="082B52"/>
                            </a:solidFill>
                            <a:latin typeface="Cambria Math" panose="02040503050406030204" pitchFamily="18" charset="0"/>
                          </a:rPr>
                        </m:ctrlPr>
                      </m:sSubPr>
                      <m:e>
                        <m:r>
                          <a:rPr lang="ja-JP" altLang="en-US" sz="2800" b="0" i="1" dirty="0" err="1">
                            <a:solidFill>
                              <a:srgbClr val="082B52"/>
                            </a:solidFill>
                            <a:latin typeface="Cambria Math" panose="02040503050406030204" pitchFamily="18" charset="0"/>
                          </a:rPr>
                          <m:t>𝑎</m:t>
                        </m:r>
                      </m:e>
                      <m:sub>
                        <m:r>
                          <a:rPr lang="ja-JP" altLang="en-US" sz="2800" b="0" i="1" dirty="0" err="1">
                            <a:solidFill>
                              <a:srgbClr val="082B52"/>
                            </a:solidFill>
                            <a:latin typeface="Cambria Math" panose="02040503050406030204" pitchFamily="18" charset="0"/>
                          </a:rPr>
                          <m:t>𝑠𝑢𝑛𝑓𝑎𝑐𝑒</m:t>
                        </m:r>
                      </m:sub>
                    </m:sSub>
                  </m:oMath>
                </a14:m>
                <a:r>
                  <a:rPr lang="ja-JP" altLang="ja-JP" sz="2800" dirty="0"/>
                  <a:t>は事前固定し、</a:t>
                </a:r>
                <a14:m>
                  <m:oMath xmlns:m="http://schemas.openxmlformats.org/officeDocument/2006/math">
                    <m:sSub>
                      <m:sSubPr>
                        <m:ctrlPr>
                          <a:rPr lang="ja-JP" altLang="en-US" sz="2800" b="0" i="1">
                            <a:latin typeface="Cambria Math" panose="02040503050406030204" pitchFamily="18" charset="0"/>
                          </a:rPr>
                        </m:ctrlPr>
                      </m:sSubPr>
                      <m:e>
                        <m:r>
                          <a:rPr lang="ja-JP" altLang="en-US" sz="2800" b="0" i="1">
                            <a:latin typeface="Cambria Math" panose="02040503050406030204" pitchFamily="18" charset="0"/>
                          </a:rPr>
                          <m:t>𝑏</m:t>
                        </m:r>
                      </m:e>
                      <m:sub>
                        <m:r>
                          <m:rPr>
                            <m:sty m:val="p"/>
                          </m:rPr>
                          <a:rPr lang="en-US" altLang="ja-JP" sz="2800" b="0" i="0">
                            <a:latin typeface="Cambria Math" panose="02040503050406030204" pitchFamily="18" charset="0"/>
                          </a:rPr>
                          <m:t>case</m:t>
                        </m:r>
                      </m:sub>
                    </m:sSub>
                  </m:oMath>
                </a14:m>
                <a:r>
                  <a:rPr lang="ja-JP" altLang="ja-JP" sz="2800" dirty="0"/>
                  <a:t> は運用条件と軌道上残差から更新する</a:t>
                </a:r>
                <a:endParaRPr lang="ja-JP" altLang="en-US" sz="2800" dirty="0"/>
              </a:p>
            </p:txBody>
          </p:sp>
        </mc:Choice>
        <mc:Fallback xmlns="">
          <p:sp>
            <p:nvSpPr>
              <p:cNvPr id="9" name="テキスト ボックス 8">
                <a:extLst>
                  <a:ext uri="{FF2B5EF4-FFF2-40B4-BE49-F238E27FC236}">
                    <a16:creationId xmlns:a16="http://schemas.microsoft.com/office/drawing/2014/main" id="{38DB53A1-002C-47B7-1EEA-A784B6299035}"/>
                  </a:ext>
                </a:extLst>
              </p:cNvPr>
              <p:cNvSpPr txBox="1">
                <a:spLocks noRot="1" noChangeAspect="1" noMove="1" noResize="1" noEditPoints="1" noAdjustHandles="1" noChangeArrowheads="1" noChangeShapeType="1" noTextEdit="1"/>
              </p:cNvSpPr>
              <p:nvPr/>
            </p:nvSpPr>
            <p:spPr>
              <a:xfrm>
                <a:off x="1097280" y="3075123"/>
                <a:ext cx="12189278" cy="564065"/>
              </a:xfrm>
              <a:prstGeom prst="rect">
                <a:avLst/>
              </a:prstGeom>
              <a:blipFill>
                <a:blip r:embed="rId5"/>
                <a:stretch>
                  <a:fillRect t="-8602" b="-23656"/>
                </a:stretch>
              </a:blipFill>
            </p:spPr>
            <p:txBody>
              <a:bodyPr/>
              <a:lstStyle/>
              <a:p>
                <a:r>
                  <a:rPr lang="ja-JP"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04</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806440"/>
            <a:ext cx="20756880" cy="1051560"/>
          </a:xfrm>
          <a:prstGeom prst="rect">
            <a:avLst/>
          </a:prstGeom>
          <a:noFill/>
        </p:spPr>
        <p:txBody>
          <a:bodyPr wrap="none" lIns="36576" tIns="27432" rIns="36576" bIns="27432" anchor="t">
            <a:spAutoFit/>
          </a:bodyPr>
          <a:lstStyle/>
          <a:p>
            <a:pPr algn="ctr"/>
            <a:r>
              <a:rPr sz="3300" b="1" dirty="0">
                <a:solidFill>
                  <a:srgbClr val="FFFFFF"/>
                </a:solidFill>
                <a:latin typeface="Yu Gothic"/>
              </a:rPr>
              <a:t>PAT evaluation and orbit error</a:t>
            </a:r>
          </a:p>
        </p:txBody>
      </p:sp>
      <p:sp>
        <p:nvSpPr>
          <p:cNvPr id="5" name="TextBox 4"/>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FFFFFF"/>
                </a:solidFill>
                <a:latin typeface="Yu Gothic"/>
              </a:rPr>
              <a:t>30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PAT evaluation</a:t>
            </a:r>
          </a:p>
        </p:txBody>
      </p:sp>
      <p:sp>
        <p:nvSpPr>
          <p:cNvPr id="3" name="TextBox 2"/>
          <p:cNvSpPr txBox="1"/>
          <p:nvPr/>
        </p:nvSpPr>
        <p:spPr>
          <a:xfrm>
            <a:off x="1536192" y="1298448"/>
            <a:ext cx="19959118"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en-US" altLang="ja-JP" sz="3200" b="1" dirty="0"/>
              <a:t>PAT</a:t>
            </a:r>
            <a:r>
              <a:rPr lang="ja-JP" altLang="en-US" sz="3200" b="1" dirty="0"/>
              <a:t>評価：</a:t>
            </a:r>
            <a:r>
              <a:rPr lang="ja-JP" altLang="ja-JP" sz="3200" b="1" dirty="0"/>
              <a:t>真の指向誤差から予測熱LOSを差し引き、その残差をスキャン中心誤差として捕捉時間を評価する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31</a:t>
            </a:r>
          </a:p>
        </p:txBody>
      </p:sp>
      <p:sp>
        <p:nvSpPr>
          <p:cNvPr id="5" name="Rounded Rectangle 4"/>
          <p:cNvSpPr/>
          <p:nvPr/>
        </p:nvSpPr>
        <p:spPr>
          <a:xfrm>
            <a:off x="1280160" y="3144885"/>
            <a:ext cx="21762720" cy="214884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6348263" y="3766677"/>
                <a:ext cx="11626516" cy="1792350"/>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600" b="1" i="1" dirty="0" smtClean="0">
                              <a:solidFill>
                                <a:srgbClr val="082B52"/>
                              </a:solidFill>
                              <a:latin typeface="Cambria Math" panose="02040503050406030204" pitchFamily="18" charset="0"/>
                            </a:rPr>
                          </m:ctrlPr>
                        </m:sSubPr>
                        <m:e>
                          <m:r>
                            <a:rPr lang="en-US" sz="3600" b="1" i="1" dirty="0" smtClean="0">
                              <a:solidFill>
                                <a:srgbClr val="082B52"/>
                              </a:solidFill>
                              <a:latin typeface="Cambria Math" panose="02040503050406030204" pitchFamily="18" charset="0"/>
                            </a:rPr>
                            <m:t>𝒆</m:t>
                          </m:r>
                        </m:e>
                        <m:sub>
                          <m:r>
                            <a:rPr lang="en-US" sz="3600" b="1" i="1" dirty="0" err="1" smtClean="0">
                              <a:solidFill>
                                <a:srgbClr val="082B52"/>
                              </a:solidFill>
                              <a:latin typeface="Cambria Math" panose="02040503050406030204" pitchFamily="18" charset="0"/>
                            </a:rPr>
                            <m:t>𝒔𝒄𝒂𝒏</m:t>
                          </m:r>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sub>
                      </m:sSub>
                      <m:r>
                        <a:rPr lang="en-US" sz="3600" b="1" i="1" dirty="0">
                          <a:solidFill>
                            <a:srgbClr val="082B52"/>
                          </a:solidFill>
                          <a:latin typeface="Cambria Math" panose="02040503050406030204" pitchFamily="18" charset="0"/>
                        </a:rPr>
                        <m:t>= </m:t>
                      </m:r>
                      <m:sSub>
                        <m:sSubPr>
                          <m:ctrlPr>
                            <a:rPr lang="en-US" sz="3600" b="1" i="1" dirty="0" err="1" smtClean="0">
                              <a:solidFill>
                                <a:srgbClr val="082B52"/>
                              </a:solidFill>
                              <a:latin typeface="Cambria Math" panose="02040503050406030204" pitchFamily="18" charset="0"/>
                            </a:rPr>
                          </m:ctrlPr>
                        </m:sSubPr>
                        <m:e>
                          <m:r>
                            <a:rPr lang="en-US" sz="3600" b="1" i="1" dirty="0" err="1" smtClean="0">
                              <a:solidFill>
                                <a:srgbClr val="082B52"/>
                              </a:solidFill>
                              <a:latin typeface="Cambria Math" panose="02040503050406030204" pitchFamily="18" charset="0"/>
                            </a:rPr>
                            <m:t>𝒆</m:t>
                          </m:r>
                        </m:e>
                        <m:sub>
                          <m:r>
                            <a:rPr lang="en-US" sz="3600" b="1" i="1" dirty="0" err="1" smtClean="0">
                              <a:solidFill>
                                <a:srgbClr val="082B52"/>
                              </a:solidFill>
                              <a:latin typeface="Cambria Math" panose="02040503050406030204" pitchFamily="18" charset="0"/>
                            </a:rPr>
                            <m:t>𝒏𝒐𝒏𝒕𝒉𝒆𝒓𝒎𝒂𝒍</m:t>
                          </m:r>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sub>
                      </m:sSub>
                      <m:r>
                        <a:rPr lang="en-US" sz="3600" b="1" i="1" dirty="0">
                          <a:solidFill>
                            <a:srgbClr val="082B52"/>
                          </a:solidFill>
                          <a:latin typeface="Cambria Math" panose="02040503050406030204" pitchFamily="18" charset="0"/>
                        </a:rPr>
                        <m:t>+ </m:t>
                      </m:r>
                      <m:sSub>
                        <m:sSubPr>
                          <m:ctrlPr>
                            <a:rPr lang="en-US" sz="3600" b="1" i="1" dirty="0" smtClean="0">
                              <a:solidFill>
                                <a:srgbClr val="082B52"/>
                              </a:solidFill>
                              <a:latin typeface="Cambria Math" panose="02040503050406030204" pitchFamily="18" charset="0"/>
                            </a:rPr>
                          </m:ctrlPr>
                        </m:sSubPr>
                        <m:e>
                          <m:r>
                            <a:rPr lang="en-US" sz="3600" b="1" i="1" dirty="0" smtClean="0">
                              <a:solidFill>
                                <a:srgbClr val="082B52"/>
                              </a:solidFill>
                              <a:latin typeface="Cambria Math" panose="02040503050406030204" pitchFamily="18" charset="0"/>
                            </a:rPr>
                            <m:t>𝜽</m:t>
                          </m:r>
                        </m:e>
                        <m:sub>
                          <m:r>
                            <a:rPr lang="en-US" sz="3600" b="1" i="1" dirty="0" err="1" smtClean="0">
                              <a:solidFill>
                                <a:srgbClr val="082B52"/>
                              </a:solidFill>
                              <a:latin typeface="Cambria Math" panose="02040503050406030204" pitchFamily="18" charset="0"/>
                            </a:rPr>
                            <m:t>𝒕𝒉𝒆𝒓𝒎𝒂𝒍</m:t>
                          </m:r>
                          <m:r>
                            <a:rPr lang="en-US" sz="3600" b="1" i="1" dirty="0" smtClean="0">
                              <a:solidFill>
                                <a:srgbClr val="082B52"/>
                              </a:solidFill>
                              <a:latin typeface="Cambria Math" panose="02040503050406030204" pitchFamily="18" charset="0"/>
                            </a:rPr>
                            <m:t>, </m:t>
                          </m:r>
                          <m:r>
                            <a:rPr lang="en-US" sz="3600" b="1" i="1" dirty="0" smtClean="0">
                              <a:solidFill>
                                <a:srgbClr val="082B52"/>
                              </a:solidFill>
                              <a:latin typeface="Cambria Math" panose="02040503050406030204" pitchFamily="18" charset="0"/>
                            </a:rPr>
                            <m:t>𝒕𝒓𝒖𝒆</m:t>
                          </m:r>
                        </m:sub>
                      </m:sSub>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r>
                        <a:rPr lang="en-US" sz="3600" b="1" i="1" dirty="0">
                          <a:solidFill>
                            <a:srgbClr val="082B52"/>
                          </a:solidFill>
                          <a:latin typeface="Cambria Math" panose="02040503050406030204" pitchFamily="18" charset="0"/>
                        </a:rPr>
                        <m:t>− </m:t>
                      </m:r>
                      <m:sSub>
                        <m:sSubPr>
                          <m:ctrlPr>
                            <a:rPr lang="en-US" sz="3600" b="1" i="1" dirty="0" err="1">
                              <a:solidFill>
                                <a:srgbClr val="082B52"/>
                              </a:solidFill>
                              <a:latin typeface="Cambria Math" panose="02040503050406030204" pitchFamily="18" charset="0"/>
                            </a:rPr>
                          </m:ctrlPr>
                        </m:sSubPr>
                        <m:e>
                          <m:acc>
                            <m:accPr>
                              <m:chr m:val="̂"/>
                              <m:ctrlPr>
                                <a:rPr lang="en-US" sz="3600" b="1" i="1" dirty="0" err="1">
                                  <a:solidFill>
                                    <a:srgbClr val="082B52"/>
                                  </a:solidFill>
                                  <a:latin typeface="Cambria Math" panose="02040503050406030204" pitchFamily="18" charset="0"/>
                                </a:rPr>
                              </m:ctrlPr>
                            </m:accPr>
                            <m:e>
                              <m:r>
                                <a:rPr lang="en-US" sz="3600" b="1" i="1" dirty="0" err="1">
                                  <a:solidFill>
                                    <a:srgbClr val="082B52"/>
                                  </a:solidFill>
                                  <a:latin typeface="Cambria Math" panose="02040503050406030204" pitchFamily="18" charset="0"/>
                                </a:rPr>
                                <m:t>𝜽</m:t>
                              </m:r>
                            </m:e>
                          </m:acc>
                        </m:e>
                        <m:sub>
                          <m:r>
                            <a:rPr lang="en-US" sz="3600" b="1" i="1" dirty="0" err="1" smtClean="0">
                              <a:solidFill>
                                <a:srgbClr val="082B52"/>
                              </a:solidFill>
                              <a:latin typeface="Cambria Math" panose="02040503050406030204" pitchFamily="18" charset="0"/>
                            </a:rPr>
                            <m:t>𝒕𝒉𝒆𝒓𝒎𝒂𝒍</m:t>
                          </m:r>
                        </m:sub>
                      </m:sSub>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oMath>
                  </m:oMathPara>
                </a14:m>
                <a:endParaRPr lang="en-US" sz="3600" b="1" i="1" dirty="0">
                  <a:solidFill>
                    <a:srgbClr val="082B52"/>
                  </a:solidFill>
                  <a:latin typeface="Cambria Math" panose="02040503050406030204" pitchFamily="18" charset="0"/>
                </a:endParaRPr>
              </a:p>
              <a:p>
                <a:pPr algn="ctr"/>
                <a:endParaRPr lang="en-US" sz="3600" b="1" i="1" dirty="0">
                  <a:solidFill>
                    <a:srgbClr val="082B52"/>
                  </a:solidFill>
                  <a:latin typeface="Cambria Math" panose="02040503050406030204" pitchFamily="18" charset="0"/>
                </a:endParaRPr>
              </a:p>
              <a:p>
                <a:pPr algn="ctr"/>
                <a:endParaRPr lang="en-US" sz="3600" b="1" i="1" dirty="0">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348263" y="3766677"/>
                <a:ext cx="11626516" cy="1792350"/>
              </a:xfrm>
              <a:prstGeom prst="rect">
                <a:avLst/>
              </a:prstGeom>
              <a:blipFill>
                <a:blip r:embed="rId3"/>
                <a:stretch>
                  <a:fillRect/>
                </a:stretch>
              </a:blipFill>
            </p:spPr>
            <p:txBody>
              <a:bodyPr/>
              <a:lstStyle/>
              <a:p>
                <a:r>
                  <a:rPr lang="ja-JP" altLang="en-US">
                    <a:noFill/>
                  </a:rPr>
                  <a:t> </a:t>
                </a:r>
              </a:p>
            </p:txBody>
          </p:sp>
        </mc:Fallback>
      </mc:AlternateContent>
      <p:sp>
        <p:nvSpPr>
          <p:cNvPr id="7" name="Rectangle 6"/>
          <p:cNvSpPr/>
          <p:nvPr/>
        </p:nvSpPr>
        <p:spPr>
          <a:xfrm>
            <a:off x="1492437" y="5568045"/>
            <a:ext cx="4045305" cy="1124712"/>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5589" y="5677773"/>
            <a:ext cx="3899001" cy="1014984"/>
          </a:xfrm>
          <a:prstGeom prst="rect">
            <a:avLst/>
          </a:prstGeom>
          <a:noFill/>
        </p:spPr>
        <p:txBody>
          <a:bodyPr wrap="none" lIns="36576" tIns="27432" rIns="36576" bIns="27432" anchor="ctr">
            <a:spAutoFit/>
          </a:bodyPr>
          <a:lstStyle/>
          <a:p>
            <a:pPr algn="ctr"/>
            <a:r>
              <a:rPr sz="2100" b="1">
                <a:solidFill>
                  <a:srgbClr val="FFFFFF"/>
                </a:solidFill>
                <a:latin typeface="Yu Gothic"/>
              </a:rPr>
              <a:t>Thermal LOS
truth</a:t>
            </a:r>
          </a:p>
        </p:txBody>
      </p:sp>
      <p:cxnSp>
        <p:nvCxnSpPr>
          <p:cNvPr id="9" name="Connector 8"/>
          <p:cNvCxnSpPr>
            <a:cxnSpLocks/>
          </p:cNvCxnSpPr>
          <p:nvPr/>
        </p:nvCxnSpPr>
        <p:spPr>
          <a:xfrm>
            <a:off x="5554071" y="6175470"/>
            <a:ext cx="794192"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11150" y="6972767"/>
            <a:ext cx="4045305" cy="1088317"/>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06828" y="7193400"/>
            <a:ext cx="2253950" cy="701731"/>
          </a:xfrm>
          <a:prstGeom prst="rect">
            <a:avLst/>
          </a:prstGeom>
          <a:noFill/>
        </p:spPr>
        <p:txBody>
          <a:bodyPr wrap="none" lIns="36576" tIns="27432" rIns="36576" bIns="27432" anchor="ctr">
            <a:spAutoFit/>
          </a:bodyPr>
          <a:lstStyle/>
          <a:p>
            <a:pPr algn="ctr"/>
            <a:r>
              <a:rPr sz="2100" b="1" dirty="0">
                <a:solidFill>
                  <a:srgbClr val="FFFFFF"/>
                </a:solidFill>
                <a:latin typeface="Yu Gothic"/>
              </a:rPr>
              <a:t>Mode</a:t>
            </a:r>
            <a:r>
              <a:rPr lang="en-US" sz="2100" b="1" dirty="0">
                <a:solidFill>
                  <a:srgbClr val="FFFFFF"/>
                </a:solidFill>
                <a:latin typeface="Yu Gothic"/>
              </a:rPr>
              <a:t>l-</a:t>
            </a:r>
            <a:r>
              <a:rPr sz="2100" b="1" dirty="0">
                <a:solidFill>
                  <a:srgbClr val="FFFFFF"/>
                </a:solidFill>
                <a:latin typeface="Yu Gothic"/>
              </a:rPr>
              <a:t>predict</a:t>
            </a:r>
            <a:r>
              <a:rPr lang="en-US" sz="2100" b="1" dirty="0">
                <a:solidFill>
                  <a:srgbClr val="FFFFFF"/>
                </a:solidFill>
                <a:latin typeface="Yu Gothic"/>
              </a:rPr>
              <a:t>ed</a:t>
            </a:r>
          </a:p>
          <a:p>
            <a:pPr algn="ctr"/>
            <a:r>
              <a:rPr lang="en-US" sz="2100" b="1" dirty="0">
                <a:solidFill>
                  <a:srgbClr val="FFFFFF"/>
                </a:solidFill>
                <a:latin typeface="Yu Gothic"/>
              </a:rPr>
              <a:t>Thermal LOS</a:t>
            </a:r>
            <a:endParaRPr sz="2100" b="1" dirty="0">
              <a:solidFill>
                <a:srgbClr val="FFFFFF"/>
              </a:solidFill>
              <a:latin typeface="Yu Gothic"/>
            </a:endParaRPr>
          </a:p>
        </p:txBody>
      </p:sp>
      <p:cxnSp>
        <p:nvCxnSpPr>
          <p:cNvPr id="12" name="Connector 11"/>
          <p:cNvCxnSpPr>
            <a:cxnSpLocks/>
          </p:cNvCxnSpPr>
          <p:nvPr/>
        </p:nvCxnSpPr>
        <p:spPr>
          <a:xfrm>
            <a:off x="5559948" y="7524032"/>
            <a:ext cx="788315"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949030" y="6840196"/>
            <a:ext cx="4045305"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22182" y="6949924"/>
            <a:ext cx="3899001" cy="1014984"/>
          </a:xfrm>
          <a:prstGeom prst="rect">
            <a:avLst/>
          </a:prstGeom>
          <a:noFill/>
        </p:spPr>
        <p:txBody>
          <a:bodyPr wrap="none" lIns="36576" tIns="27432" rIns="36576" bIns="27432" anchor="ctr">
            <a:spAutoFit/>
          </a:bodyPr>
          <a:lstStyle/>
          <a:p>
            <a:pPr algn="ctr"/>
            <a:r>
              <a:rPr sz="2100" b="1">
                <a:solidFill>
                  <a:srgbClr val="FFFFFF"/>
                </a:solidFill>
                <a:latin typeface="Yu Gothic"/>
              </a:rPr>
              <a:t>Scan-center
residual</a:t>
            </a:r>
          </a:p>
        </p:txBody>
      </p:sp>
      <p:cxnSp>
        <p:nvCxnSpPr>
          <p:cNvPr id="15" name="Connector 14"/>
          <p:cNvCxnSpPr>
            <a:cxnSpLocks/>
            <a:stCxn id="13" idx="3"/>
            <a:endCxn id="16" idx="1"/>
          </p:cNvCxnSpPr>
          <p:nvPr/>
        </p:nvCxnSpPr>
        <p:spPr>
          <a:xfrm>
            <a:off x="11994335" y="7457416"/>
            <a:ext cx="1081404" cy="738"/>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3075739" y="6840934"/>
            <a:ext cx="4045305"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268773" y="7107288"/>
            <a:ext cx="1659237" cy="701731"/>
          </a:xfrm>
          <a:prstGeom prst="rect">
            <a:avLst/>
          </a:prstGeom>
          <a:noFill/>
        </p:spPr>
        <p:txBody>
          <a:bodyPr wrap="none" lIns="36576" tIns="27432" rIns="36576" bIns="27432" anchor="ctr">
            <a:spAutoFit/>
          </a:bodyPr>
          <a:lstStyle/>
          <a:p>
            <a:pPr algn="ctr"/>
            <a:r>
              <a:rPr sz="2100" b="1" dirty="0">
                <a:solidFill>
                  <a:srgbClr val="FFFFFF"/>
                </a:solidFill>
                <a:latin typeface="Yu Gothic"/>
              </a:rPr>
              <a:t>Rectangular
spiral</a:t>
            </a:r>
            <a:r>
              <a:rPr lang="en-US" sz="2100" b="1" dirty="0">
                <a:solidFill>
                  <a:srgbClr val="FFFFFF"/>
                </a:solidFill>
                <a:latin typeface="Yu Gothic"/>
              </a:rPr>
              <a:t> scan</a:t>
            </a:r>
            <a:endParaRPr sz="2100" b="1" dirty="0">
              <a:solidFill>
                <a:srgbClr val="FFFFFF"/>
              </a:solidFill>
              <a:latin typeface="Yu Gothic"/>
            </a:endParaRPr>
          </a:p>
        </p:txBody>
      </p:sp>
      <p:cxnSp>
        <p:nvCxnSpPr>
          <p:cNvPr id="18" name="Connector 17"/>
          <p:cNvCxnSpPr>
            <a:cxnSpLocks/>
            <a:stCxn id="16" idx="3"/>
            <a:endCxn id="19" idx="1"/>
          </p:cNvCxnSpPr>
          <p:nvPr/>
        </p:nvCxnSpPr>
        <p:spPr>
          <a:xfrm>
            <a:off x="17121044" y="7458154"/>
            <a:ext cx="1021513"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8142557" y="6840934"/>
            <a:ext cx="4045305"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164070" y="7107288"/>
            <a:ext cx="2002279" cy="701731"/>
          </a:xfrm>
          <a:prstGeom prst="rect">
            <a:avLst/>
          </a:prstGeom>
          <a:noFill/>
        </p:spPr>
        <p:txBody>
          <a:bodyPr wrap="none" lIns="36576" tIns="27432" rIns="36576" bIns="27432" anchor="ctr">
            <a:spAutoFit/>
          </a:bodyPr>
          <a:lstStyle/>
          <a:p>
            <a:pPr algn="ctr"/>
            <a:r>
              <a:rPr sz="2100" b="1" dirty="0">
                <a:solidFill>
                  <a:srgbClr val="FFFFFF"/>
                </a:solidFill>
                <a:latin typeface="Yu Gothic"/>
              </a:rPr>
              <a:t>Acquisition
</a:t>
            </a:r>
            <a:r>
              <a:rPr lang="en-US" sz="2100" b="1" dirty="0">
                <a:solidFill>
                  <a:srgbClr val="FFFFFF"/>
                </a:solidFill>
                <a:latin typeface="Yu Gothic"/>
              </a:rPr>
              <a:t>success / </a:t>
            </a:r>
            <a:r>
              <a:rPr sz="2100" b="1" dirty="0">
                <a:solidFill>
                  <a:srgbClr val="FFFFFF"/>
                </a:solidFill>
                <a:latin typeface="Yu Gothic"/>
              </a:rPr>
              <a:t>time</a:t>
            </a:r>
          </a:p>
        </p:txBody>
      </p:sp>
      <p:graphicFrame>
        <p:nvGraphicFramePr>
          <p:cNvPr id="21" name="Table 20"/>
          <p:cNvGraphicFramePr>
            <a:graphicFrameLocks noGrp="1"/>
          </p:cNvGraphicFramePr>
          <p:nvPr>
            <p:extLst>
              <p:ext uri="{D42A27DB-BD31-4B8C-83A1-F6EECF244321}">
                <p14:modId xmlns:p14="http://schemas.microsoft.com/office/powerpoint/2010/main" val="1145286440"/>
              </p:ext>
            </p:extLst>
          </p:nvPr>
        </p:nvGraphicFramePr>
        <p:xfrm>
          <a:off x="1460062" y="9925815"/>
          <a:ext cx="16876914" cy="3135084"/>
        </p:xfrm>
        <a:graphic>
          <a:graphicData uri="http://schemas.openxmlformats.org/drawingml/2006/table">
            <a:tbl>
              <a:tblPr firstRow="1" bandRow="1">
                <a:tableStyleId>{5C22544A-7EE6-4342-B048-85BDC9FD1C3A}</a:tableStyleId>
              </a:tblPr>
              <a:tblGrid>
                <a:gridCol w="8438457">
                  <a:extLst>
                    <a:ext uri="{9D8B030D-6E8A-4147-A177-3AD203B41FA5}">
                      <a16:colId xmlns:a16="http://schemas.microsoft.com/office/drawing/2014/main" val="20000"/>
                    </a:ext>
                  </a:extLst>
                </a:gridCol>
                <a:gridCol w="8438457">
                  <a:extLst>
                    <a:ext uri="{9D8B030D-6E8A-4147-A177-3AD203B41FA5}">
                      <a16:colId xmlns:a16="http://schemas.microsoft.com/office/drawing/2014/main" val="20001"/>
                    </a:ext>
                  </a:extLst>
                </a:gridCol>
              </a:tblGrid>
              <a:tr h="522514">
                <a:tc>
                  <a:txBody>
                    <a:bodyPr/>
                    <a:lstStyle/>
                    <a:p>
                      <a:pPr>
                        <a:buNone/>
                      </a:pPr>
                      <a:r>
                        <a:rPr lang="ja-JP" sz="2000" dirty="0"/>
                        <a:t>条件</a:t>
                      </a:r>
                    </a:p>
                  </a:txBody>
                  <a:tcPr anchor="ctr">
                    <a:solidFill>
                      <a:srgbClr val="082B52"/>
                    </a:solidFill>
                  </a:tcPr>
                </a:tc>
                <a:tc>
                  <a:txBody>
                    <a:bodyPr/>
                    <a:lstStyle/>
                    <a:p>
                      <a:pPr>
                        <a:buNone/>
                      </a:pPr>
                      <a:r>
                        <a:rPr lang="ja-JP" sz="2000"/>
                        <a:t>意味</a:t>
                      </a:r>
                    </a:p>
                  </a:txBody>
                  <a:tcPr anchor="ctr">
                    <a:solidFill>
                      <a:srgbClr val="082B52"/>
                    </a:solidFill>
                  </a:tcPr>
                </a:tc>
                <a:extLst>
                  <a:ext uri="{0D108BD9-81ED-4DB2-BD59-A6C34878D82A}">
                    <a16:rowId xmlns:a16="http://schemas.microsoft.com/office/drawing/2014/main" val="10000"/>
                  </a:ext>
                </a:extLst>
              </a:tr>
              <a:tr h="522514">
                <a:tc>
                  <a:txBody>
                    <a:bodyPr/>
                    <a:lstStyle/>
                    <a:p>
                      <a:pPr>
                        <a:buNone/>
                      </a:pPr>
                      <a:r>
                        <a:rPr lang="ja-JP" sz="2000" dirty="0"/>
                        <a:t>補正なし</a:t>
                      </a:r>
                    </a:p>
                  </a:txBody>
                  <a:tcPr anchor="ctr">
                    <a:solidFill>
                      <a:srgbClr val="EBF6FB"/>
                    </a:solidFill>
                  </a:tcPr>
                </a:tc>
                <a:tc>
                  <a:txBody>
                    <a:bodyPr/>
                    <a:lstStyle/>
                    <a:p>
                      <a:pPr>
                        <a:buNone/>
                      </a:pPr>
                      <a:r>
                        <a:rPr lang="ja-JP" sz="2000" dirty="0"/>
                        <a:t>熱LOSをそのまま受ける基準</a:t>
                      </a:r>
                    </a:p>
                  </a:txBody>
                  <a:tcPr anchor="ctr">
                    <a:solidFill>
                      <a:srgbClr val="FFFFFF"/>
                    </a:solidFill>
                  </a:tcPr>
                </a:tc>
                <a:extLst>
                  <a:ext uri="{0D108BD9-81ED-4DB2-BD59-A6C34878D82A}">
                    <a16:rowId xmlns:a16="http://schemas.microsoft.com/office/drawing/2014/main" val="10001"/>
                  </a:ext>
                </a:extLst>
              </a:tr>
              <a:tr h="522514">
                <a:tc>
                  <a:txBody>
                    <a:bodyPr/>
                    <a:lstStyle/>
                    <a:p>
                      <a:pPr>
                        <a:buNone/>
                      </a:pPr>
                      <a:r>
                        <a:rPr lang="ja-JP" sz="2000" dirty="0"/>
                        <a:t>static bias補正</a:t>
                      </a:r>
                    </a:p>
                  </a:txBody>
                  <a:tcPr anchor="ctr">
                    <a:solidFill>
                      <a:srgbClr val="EBF6FB"/>
                    </a:solidFill>
                  </a:tcPr>
                </a:tc>
                <a:tc>
                  <a:txBody>
                    <a:bodyPr/>
                    <a:lstStyle/>
                    <a:p>
                      <a:pPr>
                        <a:buNone/>
                      </a:pPr>
                      <a:r>
                        <a:rPr lang="ja-JP" sz="2000"/>
                        <a:t>DC成分のみ補正</a:t>
                      </a:r>
                    </a:p>
                  </a:txBody>
                  <a:tcPr anchor="ctr">
                    <a:solidFill>
                      <a:srgbClr val="F4F6F8"/>
                    </a:solidFill>
                  </a:tcPr>
                </a:tc>
                <a:extLst>
                  <a:ext uri="{0D108BD9-81ED-4DB2-BD59-A6C34878D82A}">
                    <a16:rowId xmlns:a16="http://schemas.microsoft.com/office/drawing/2014/main" val="10002"/>
                  </a:ext>
                </a:extLst>
              </a:tr>
              <a:tr h="522514">
                <a:tc>
                  <a:txBody>
                    <a:bodyPr/>
                    <a:lstStyle/>
                    <a:p>
                      <a:pPr>
                        <a:buNone/>
                      </a:pPr>
                      <a:r>
                        <a:rPr lang="ja-JP" sz="2000" dirty="0"/>
                        <a:t>階層型ΔTモデル</a:t>
                      </a:r>
                      <a:r>
                        <a:rPr lang="en-US" altLang="ja-JP" sz="2000" dirty="0"/>
                        <a:t> + </a:t>
                      </a:r>
                      <a:r>
                        <a:rPr lang="ja-JP" altLang="en-US" sz="2000" dirty="0"/>
                        <a:t>熱誤差のみ</a:t>
                      </a:r>
                      <a:endParaRPr lang="ja-JP" sz="2000" dirty="0"/>
                    </a:p>
                  </a:txBody>
                  <a:tcPr anchor="ctr">
                    <a:solidFill>
                      <a:srgbClr val="EBF6FB"/>
                    </a:solidFill>
                  </a:tcPr>
                </a:tc>
                <a:tc>
                  <a:txBody>
                    <a:bodyPr/>
                    <a:lstStyle/>
                    <a:p>
                      <a:pPr>
                        <a:buNone/>
                      </a:pPr>
                      <a:r>
                        <a:rPr lang="ja-JP" sz="2000" dirty="0"/>
                        <a:t>提案手法</a:t>
                      </a:r>
                    </a:p>
                  </a:txBody>
                  <a:tcPr anchor="ctr">
                    <a:solidFill>
                      <a:srgbClr val="FFFFFF"/>
                    </a:solidFill>
                  </a:tcPr>
                </a:tc>
                <a:extLst>
                  <a:ext uri="{0D108BD9-81ED-4DB2-BD59-A6C34878D82A}">
                    <a16:rowId xmlns:a16="http://schemas.microsoft.com/office/drawing/2014/main" val="10003"/>
                  </a:ext>
                </a:extLst>
              </a:tr>
              <a:tr h="522514">
                <a:tc>
                  <a:txBody>
                    <a:bodyPr/>
                    <a:lstStyle/>
                    <a:p>
                      <a:pPr marL="0" marR="0" lvl="0" indent="0" algn="l" defTabSz="1828709" rtl="0" eaLnBrk="1" fontAlgn="auto" latinLnBrk="0" hangingPunct="1">
                        <a:lnSpc>
                          <a:spcPct val="100000"/>
                        </a:lnSpc>
                        <a:spcBef>
                          <a:spcPts val="0"/>
                        </a:spcBef>
                        <a:spcAft>
                          <a:spcPts val="0"/>
                        </a:spcAft>
                        <a:buClrTx/>
                        <a:buSzTx/>
                        <a:buFontTx/>
                        <a:buNone/>
                        <a:tabLst/>
                        <a:defRPr/>
                      </a:pPr>
                      <a:r>
                        <a:rPr lang="ja-JP" altLang="ja-JP" sz="2000" dirty="0"/>
                        <a:t>階層型ΔTモデル</a:t>
                      </a:r>
                      <a:r>
                        <a:rPr lang="en-US" altLang="ja-JP" sz="2000" dirty="0"/>
                        <a:t> + </a:t>
                      </a:r>
                      <a:r>
                        <a:rPr lang="ja-JP" altLang="en-US" sz="2000" b="0" dirty="0">
                          <a:solidFill>
                            <a:srgbClr val="232B34"/>
                          </a:solidFill>
                          <a:latin typeface="Yu Gothic"/>
                        </a:rPr>
                        <a:t>非熱誤差込み</a:t>
                      </a:r>
                      <a:endParaRPr sz="2000" b="0" dirty="0">
                        <a:solidFill>
                          <a:srgbClr val="232B34"/>
                        </a:solidFill>
                        <a:latin typeface="Yu Gothic"/>
                      </a:endParaRPr>
                    </a:p>
                  </a:txBody>
                  <a:tcPr marL="64008" marR="64008" marT="27432" marB="27432" anchor="ctr">
                    <a:solidFill>
                      <a:srgbClr val="EBF6FB"/>
                    </a:solidFill>
                  </a:tcPr>
                </a:tc>
                <a:tc>
                  <a:txBody>
                    <a:bodyPr/>
                    <a:lstStyle/>
                    <a:p>
                      <a:pPr algn="l"/>
                      <a:r>
                        <a:rPr lang="ja-JP" altLang="en-US" sz="2000" b="0" dirty="0">
                          <a:solidFill>
                            <a:srgbClr val="232B34"/>
                          </a:solidFill>
                          <a:latin typeface="Yu Gothic"/>
                        </a:rPr>
                        <a:t>熱ひずみ以外の誤差を入れた場合にどれほどモデルの効果が出るか</a:t>
                      </a:r>
                      <a:endParaRPr sz="2000" b="0" dirty="0">
                        <a:solidFill>
                          <a:srgbClr val="232B34"/>
                        </a:solidFill>
                        <a:latin typeface="Yu Gothic"/>
                      </a:endParaRPr>
                    </a:p>
                  </a:txBody>
                  <a:tcPr marL="64008" marR="64008" marT="27432" marB="27432" anchor="ctr">
                    <a:solidFill>
                      <a:srgbClr val="F4F6F8"/>
                    </a:solidFill>
                  </a:tcPr>
                </a:tc>
                <a:extLst>
                  <a:ext uri="{0D108BD9-81ED-4DB2-BD59-A6C34878D82A}">
                    <a16:rowId xmlns:a16="http://schemas.microsoft.com/office/drawing/2014/main" val="10004"/>
                  </a:ext>
                </a:extLst>
              </a:tr>
              <a:tr h="522514">
                <a:tc>
                  <a:txBody>
                    <a:bodyPr/>
                    <a:lstStyle/>
                    <a:p>
                      <a:pPr marL="0" marR="0" lvl="0" indent="0" algn="l" defTabSz="1828709" rtl="0" eaLnBrk="1" fontAlgn="auto" latinLnBrk="0" hangingPunct="1">
                        <a:lnSpc>
                          <a:spcPct val="100000"/>
                        </a:lnSpc>
                        <a:spcBef>
                          <a:spcPts val="0"/>
                        </a:spcBef>
                        <a:spcAft>
                          <a:spcPts val="0"/>
                        </a:spcAft>
                        <a:buClrTx/>
                        <a:buSzTx/>
                        <a:buFontTx/>
                        <a:buNone/>
                        <a:tabLst/>
                        <a:defRPr/>
                      </a:pPr>
                      <a:r>
                        <a:rPr lang="ja-JP" altLang="en-US" sz="2000" b="0" dirty="0">
                          <a:solidFill>
                            <a:srgbClr val="232B34"/>
                          </a:solidFill>
                          <a:latin typeface="Yu Gothic"/>
                        </a:rPr>
                        <a:t>追加比較：</a:t>
                      </a:r>
                      <a:r>
                        <a:rPr lang="en-US" altLang="ja-JP" sz="2000" b="0" dirty="0">
                          <a:solidFill>
                            <a:srgbClr val="232B34"/>
                          </a:solidFill>
                          <a:latin typeface="Yu Gothic"/>
                        </a:rPr>
                        <a:t>thermal truth, </a:t>
                      </a:r>
                      <a:r>
                        <a:rPr lang="ja-JP" altLang="en-US" sz="2000" b="0" dirty="0">
                          <a:solidFill>
                            <a:srgbClr val="232B34"/>
                          </a:solidFill>
                          <a:latin typeface="Yu Gothic"/>
                        </a:rPr>
                        <a:t>理想上限</a:t>
                      </a:r>
                    </a:p>
                  </a:txBody>
                  <a:tcPr marL="64008" marR="64008" marT="27432" marB="27432" anchor="ctr">
                    <a:solidFill>
                      <a:srgbClr val="EBF6FB"/>
                    </a:solidFill>
                  </a:tcPr>
                </a:tc>
                <a:tc>
                  <a:txBody>
                    <a:bodyPr/>
                    <a:lstStyle/>
                    <a:p>
                      <a:pPr algn="l"/>
                      <a:endParaRPr sz="2000" b="0" dirty="0">
                        <a:solidFill>
                          <a:srgbClr val="232B34"/>
                        </a:solidFill>
                        <a:latin typeface="Yu Gothic"/>
                      </a:endParaRPr>
                    </a:p>
                  </a:txBody>
                  <a:tcPr marL="64008" marR="64008" marT="27432" marB="27432" anchor="ctr">
                    <a:solidFill>
                      <a:schemeClr val="bg1"/>
                    </a:solidFill>
                  </a:tcPr>
                </a:tc>
                <a:extLst>
                  <a:ext uri="{0D108BD9-81ED-4DB2-BD59-A6C34878D82A}">
                    <a16:rowId xmlns:a16="http://schemas.microsoft.com/office/drawing/2014/main" val="882949512"/>
                  </a:ext>
                </a:extLst>
              </a:tr>
            </a:tbl>
          </a:graphicData>
        </a:graphic>
      </p:graphicFrame>
      <p:sp>
        <p:nvSpPr>
          <p:cNvPr id="23" name="テキスト ボックス 22">
            <a:extLst>
              <a:ext uri="{FF2B5EF4-FFF2-40B4-BE49-F238E27FC236}">
                <a16:creationId xmlns:a16="http://schemas.microsoft.com/office/drawing/2014/main" id="{2C5084B7-D52A-49F1-3EFC-7865244A461E}"/>
              </a:ext>
            </a:extLst>
          </p:cNvPr>
          <p:cNvSpPr txBox="1"/>
          <p:nvPr/>
        </p:nvSpPr>
        <p:spPr>
          <a:xfrm>
            <a:off x="8231264" y="4526280"/>
            <a:ext cx="3047107" cy="646331"/>
          </a:xfrm>
          <a:prstGeom prst="rect">
            <a:avLst/>
          </a:prstGeom>
          <a:noFill/>
        </p:spPr>
        <p:txBody>
          <a:bodyPr wrap="square">
            <a:spAutoFit/>
          </a:bodyPr>
          <a:lstStyle/>
          <a:p>
            <a:pPr algn="ctr"/>
            <a:r>
              <a:rPr lang="ja-JP" altLang="ja-JP" dirty="0"/>
              <a:t>軌道予測・姿勢決定などの</a:t>
            </a:r>
            <a:endParaRPr lang="en-US" altLang="ja-JP" dirty="0"/>
          </a:p>
          <a:p>
            <a:pPr algn="ctr"/>
            <a:r>
              <a:rPr lang="ja-JP" altLang="ja-JP" dirty="0"/>
              <a:t>非熱誤差</a:t>
            </a:r>
            <a:endParaRPr lang="ja-JP" altLang="en-US" dirty="0"/>
          </a:p>
        </p:txBody>
      </p:sp>
      <p:sp>
        <p:nvSpPr>
          <p:cNvPr id="27" name="テキスト ボックス 26">
            <a:extLst>
              <a:ext uri="{FF2B5EF4-FFF2-40B4-BE49-F238E27FC236}">
                <a16:creationId xmlns:a16="http://schemas.microsoft.com/office/drawing/2014/main" id="{475CC5F6-C4A7-901E-2012-409916E2B0A3}"/>
              </a:ext>
            </a:extLst>
          </p:cNvPr>
          <p:cNvSpPr txBox="1"/>
          <p:nvPr/>
        </p:nvSpPr>
        <p:spPr>
          <a:xfrm>
            <a:off x="11646385" y="4513065"/>
            <a:ext cx="3047107" cy="369332"/>
          </a:xfrm>
          <a:prstGeom prst="rect">
            <a:avLst/>
          </a:prstGeom>
          <a:noFill/>
        </p:spPr>
        <p:txBody>
          <a:bodyPr wrap="square">
            <a:spAutoFit/>
          </a:bodyPr>
          <a:lstStyle/>
          <a:p>
            <a:pPr algn="ctr"/>
            <a:r>
              <a:rPr lang="ja-JP" altLang="en-US" dirty="0"/>
              <a:t>熱</a:t>
            </a:r>
            <a:r>
              <a:rPr lang="en-US" altLang="ja-JP" dirty="0"/>
              <a:t>LOS</a:t>
            </a:r>
            <a:r>
              <a:rPr lang="ja-JP" altLang="en-US" dirty="0"/>
              <a:t>真値</a:t>
            </a:r>
          </a:p>
        </p:txBody>
      </p:sp>
      <p:sp>
        <p:nvSpPr>
          <p:cNvPr id="29" name="テキスト ボックス 28">
            <a:extLst>
              <a:ext uri="{FF2B5EF4-FFF2-40B4-BE49-F238E27FC236}">
                <a16:creationId xmlns:a16="http://schemas.microsoft.com/office/drawing/2014/main" id="{80EE754C-B705-4BAC-5440-55D1A568097F}"/>
              </a:ext>
            </a:extLst>
          </p:cNvPr>
          <p:cNvSpPr txBox="1"/>
          <p:nvPr/>
        </p:nvSpPr>
        <p:spPr>
          <a:xfrm>
            <a:off x="15012614" y="4499702"/>
            <a:ext cx="3603812" cy="369332"/>
          </a:xfrm>
          <a:prstGeom prst="rect">
            <a:avLst/>
          </a:prstGeom>
          <a:noFill/>
        </p:spPr>
        <p:txBody>
          <a:bodyPr wrap="square">
            <a:spAutoFit/>
          </a:bodyPr>
          <a:lstStyle/>
          <a:p>
            <a:r>
              <a:rPr lang="ja-JP" altLang="ja-JP" dirty="0"/>
              <a:t>軽量モデルによる予測熱LOS</a:t>
            </a:r>
            <a:endParaRPr lang="ja-JP" altLang="en-US" dirty="0"/>
          </a:p>
        </p:txBody>
      </p:sp>
      <p:sp>
        <p:nvSpPr>
          <p:cNvPr id="31" name="テキスト ボックス 30">
            <a:extLst>
              <a:ext uri="{FF2B5EF4-FFF2-40B4-BE49-F238E27FC236}">
                <a16:creationId xmlns:a16="http://schemas.microsoft.com/office/drawing/2014/main" id="{AE261220-F486-34F3-8E3D-9EE1CD64AD9C}"/>
              </a:ext>
            </a:extLst>
          </p:cNvPr>
          <p:cNvSpPr txBox="1"/>
          <p:nvPr/>
        </p:nvSpPr>
        <p:spPr>
          <a:xfrm>
            <a:off x="5976476" y="4577073"/>
            <a:ext cx="2463985" cy="369332"/>
          </a:xfrm>
          <a:prstGeom prst="rect">
            <a:avLst/>
          </a:prstGeom>
          <a:noFill/>
        </p:spPr>
        <p:txBody>
          <a:bodyPr wrap="square">
            <a:spAutoFit/>
          </a:bodyPr>
          <a:lstStyle/>
          <a:p>
            <a:r>
              <a:rPr lang="ja-JP" altLang="en-US" dirty="0"/>
              <a:t>スキャン中心誤差</a:t>
            </a:r>
          </a:p>
        </p:txBody>
      </p:sp>
      <p:cxnSp>
        <p:nvCxnSpPr>
          <p:cNvPr id="32" name="Connector 8">
            <a:extLst>
              <a:ext uri="{FF2B5EF4-FFF2-40B4-BE49-F238E27FC236}">
                <a16:creationId xmlns:a16="http://schemas.microsoft.com/office/drawing/2014/main" id="{6F2944A6-54AC-6362-A88C-0405DF9530B4}"/>
              </a:ext>
            </a:extLst>
          </p:cNvPr>
          <p:cNvCxnSpPr>
            <a:cxnSpLocks/>
          </p:cNvCxnSpPr>
          <p:nvPr/>
        </p:nvCxnSpPr>
        <p:spPr>
          <a:xfrm>
            <a:off x="6348263" y="7524682"/>
            <a:ext cx="1600767"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cxnSp>
        <p:nvCxnSpPr>
          <p:cNvPr id="36" name="Connector 8">
            <a:extLst>
              <a:ext uri="{FF2B5EF4-FFF2-40B4-BE49-F238E27FC236}">
                <a16:creationId xmlns:a16="http://schemas.microsoft.com/office/drawing/2014/main" id="{80236EE0-2DD3-39D4-4028-129355C61A8B}"/>
              </a:ext>
            </a:extLst>
          </p:cNvPr>
          <p:cNvCxnSpPr>
            <a:cxnSpLocks/>
          </p:cNvCxnSpPr>
          <p:nvPr/>
        </p:nvCxnSpPr>
        <p:spPr>
          <a:xfrm flipV="1">
            <a:off x="6348263" y="6162770"/>
            <a:ext cx="0" cy="2837901"/>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45" name="テキスト ボックス 44">
            <a:extLst>
              <a:ext uri="{FF2B5EF4-FFF2-40B4-BE49-F238E27FC236}">
                <a16:creationId xmlns:a16="http://schemas.microsoft.com/office/drawing/2014/main" id="{678E8980-C900-DB3E-45EC-7E03ECD4651C}"/>
              </a:ext>
            </a:extLst>
          </p:cNvPr>
          <p:cNvSpPr txBox="1"/>
          <p:nvPr/>
        </p:nvSpPr>
        <p:spPr>
          <a:xfrm>
            <a:off x="10403131" y="8664275"/>
            <a:ext cx="3036104" cy="523220"/>
          </a:xfrm>
          <a:prstGeom prst="rect">
            <a:avLst/>
          </a:prstGeom>
          <a:noFill/>
        </p:spPr>
        <p:txBody>
          <a:bodyPr wrap="square" rtlCol="0">
            <a:spAutoFit/>
          </a:bodyPr>
          <a:lstStyle/>
          <a:p>
            <a:r>
              <a:rPr kumimoji="1" lang="en-US" altLang="ja-JP" sz="2800" dirty="0"/>
              <a:t>PAT</a:t>
            </a:r>
            <a:r>
              <a:rPr kumimoji="1" lang="ja-JP" altLang="en-US" sz="2800" dirty="0"/>
              <a:t>評価の流れ</a:t>
            </a:r>
          </a:p>
        </p:txBody>
      </p:sp>
      <p:sp>
        <p:nvSpPr>
          <p:cNvPr id="47" name="テキスト ボックス 46">
            <a:extLst>
              <a:ext uri="{FF2B5EF4-FFF2-40B4-BE49-F238E27FC236}">
                <a16:creationId xmlns:a16="http://schemas.microsoft.com/office/drawing/2014/main" id="{DC1B411D-A44D-CC38-A81F-BFCA7C60B531}"/>
              </a:ext>
            </a:extLst>
          </p:cNvPr>
          <p:cNvSpPr txBox="1"/>
          <p:nvPr/>
        </p:nvSpPr>
        <p:spPr>
          <a:xfrm>
            <a:off x="10697580" y="5428129"/>
            <a:ext cx="2259552" cy="523220"/>
          </a:xfrm>
          <a:prstGeom prst="rect">
            <a:avLst/>
          </a:prstGeom>
          <a:noFill/>
        </p:spPr>
        <p:txBody>
          <a:bodyPr wrap="square" rtlCol="0">
            <a:spAutoFit/>
          </a:bodyPr>
          <a:lstStyle/>
          <a:p>
            <a:r>
              <a:rPr kumimoji="1" lang="ja-JP" altLang="en-US" sz="2800" dirty="0"/>
              <a:t>残差計算式</a:t>
            </a:r>
          </a:p>
        </p:txBody>
      </p:sp>
      <p:sp>
        <p:nvSpPr>
          <p:cNvPr id="48" name="楕円 47">
            <a:extLst>
              <a:ext uri="{FF2B5EF4-FFF2-40B4-BE49-F238E27FC236}">
                <a16:creationId xmlns:a16="http://schemas.microsoft.com/office/drawing/2014/main" id="{81522D40-88F1-0366-DC15-8612D46AECD4}"/>
              </a:ext>
            </a:extLst>
          </p:cNvPr>
          <p:cNvSpPr/>
          <p:nvPr/>
        </p:nvSpPr>
        <p:spPr>
          <a:xfrm>
            <a:off x="6155871" y="7298876"/>
            <a:ext cx="422097" cy="4208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矢印コネクタ 49">
            <a:extLst>
              <a:ext uri="{FF2B5EF4-FFF2-40B4-BE49-F238E27FC236}">
                <a16:creationId xmlns:a16="http://schemas.microsoft.com/office/drawing/2014/main" id="{F0774505-4EFA-9FEE-0C8B-0F0CB82F422D}"/>
              </a:ext>
            </a:extLst>
          </p:cNvPr>
          <p:cNvCxnSpPr>
            <a:cxnSpLocks/>
          </p:cNvCxnSpPr>
          <p:nvPr/>
        </p:nvCxnSpPr>
        <p:spPr>
          <a:xfrm flipH="1">
            <a:off x="6577968" y="5293725"/>
            <a:ext cx="818875" cy="18504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52" name="テキスト ボックス 51">
            <a:extLst>
              <a:ext uri="{FF2B5EF4-FFF2-40B4-BE49-F238E27FC236}">
                <a16:creationId xmlns:a16="http://schemas.microsoft.com/office/drawing/2014/main" id="{039D2C84-B1D3-6E79-7E98-41F6CB6B2A0D}"/>
              </a:ext>
            </a:extLst>
          </p:cNvPr>
          <p:cNvSpPr txBox="1"/>
          <p:nvPr/>
        </p:nvSpPr>
        <p:spPr>
          <a:xfrm>
            <a:off x="7987690" y="9415568"/>
            <a:ext cx="4290361" cy="523220"/>
          </a:xfrm>
          <a:prstGeom prst="rect">
            <a:avLst/>
          </a:prstGeom>
          <a:noFill/>
        </p:spPr>
        <p:txBody>
          <a:bodyPr wrap="square" rtlCol="0">
            <a:spAutoFit/>
          </a:bodyPr>
          <a:lstStyle/>
          <a:p>
            <a:r>
              <a:rPr kumimoji="1" lang="ja-JP" altLang="en-US" sz="2800" dirty="0"/>
              <a:t>比較する評価条件 一覧</a:t>
            </a:r>
          </a:p>
        </p:txBody>
      </p:sp>
      <p:sp>
        <p:nvSpPr>
          <p:cNvPr id="54" name="Rectangle 9">
            <a:extLst>
              <a:ext uri="{FF2B5EF4-FFF2-40B4-BE49-F238E27FC236}">
                <a16:creationId xmlns:a16="http://schemas.microsoft.com/office/drawing/2014/main" id="{FE085D60-6CD3-6995-2DEE-66C65BF58791}"/>
              </a:ext>
            </a:extLst>
          </p:cNvPr>
          <p:cNvSpPr/>
          <p:nvPr/>
        </p:nvSpPr>
        <p:spPr>
          <a:xfrm>
            <a:off x="1511150" y="8381727"/>
            <a:ext cx="4045305" cy="1088317"/>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10">
            <a:extLst>
              <a:ext uri="{FF2B5EF4-FFF2-40B4-BE49-F238E27FC236}">
                <a16:creationId xmlns:a16="http://schemas.microsoft.com/office/drawing/2014/main" id="{BDC1D837-DBF7-0045-EC3F-3D3F53555A62}"/>
              </a:ext>
            </a:extLst>
          </p:cNvPr>
          <p:cNvSpPr txBox="1"/>
          <p:nvPr/>
        </p:nvSpPr>
        <p:spPr>
          <a:xfrm>
            <a:off x="2406828" y="8602360"/>
            <a:ext cx="2253950" cy="701731"/>
          </a:xfrm>
          <a:prstGeom prst="rect">
            <a:avLst/>
          </a:prstGeom>
          <a:noFill/>
        </p:spPr>
        <p:txBody>
          <a:bodyPr wrap="none" lIns="36576" tIns="27432" rIns="36576" bIns="27432" anchor="ctr">
            <a:spAutoFit/>
          </a:bodyPr>
          <a:lstStyle/>
          <a:p>
            <a:pPr algn="ctr"/>
            <a:r>
              <a:rPr sz="2100" b="1" dirty="0">
                <a:solidFill>
                  <a:srgbClr val="FFFFFF"/>
                </a:solidFill>
                <a:latin typeface="Yu Gothic"/>
              </a:rPr>
              <a:t>Mode</a:t>
            </a:r>
            <a:r>
              <a:rPr lang="en-US" sz="2100" b="1" dirty="0">
                <a:solidFill>
                  <a:srgbClr val="FFFFFF"/>
                </a:solidFill>
                <a:latin typeface="Yu Gothic"/>
              </a:rPr>
              <a:t>l-</a:t>
            </a:r>
            <a:r>
              <a:rPr sz="2100" b="1" dirty="0">
                <a:solidFill>
                  <a:srgbClr val="FFFFFF"/>
                </a:solidFill>
                <a:latin typeface="Yu Gothic"/>
              </a:rPr>
              <a:t>predict</a:t>
            </a:r>
            <a:r>
              <a:rPr lang="en-US" sz="2100" b="1" dirty="0">
                <a:solidFill>
                  <a:srgbClr val="FFFFFF"/>
                </a:solidFill>
                <a:latin typeface="Yu Gothic"/>
              </a:rPr>
              <a:t>ed</a:t>
            </a:r>
          </a:p>
          <a:p>
            <a:pPr algn="ctr"/>
            <a:r>
              <a:rPr lang="en-US" sz="2100" b="1" dirty="0">
                <a:solidFill>
                  <a:srgbClr val="FFFFFF"/>
                </a:solidFill>
                <a:latin typeface="Yu Gothic"/>
              </a:rPr>
              <a:t>Thermal LOS</a:t>
            </a:r>
            <a:endParaRPr sz="2100" b="1" dirty="0">
              <a:solidFill>
                <a:srgbClr val="FFFFFF"/>
              </a:solidFill>
              <a:latin typeface="Yu Gothic"/>
            </a:endParaRPr>
          </a:p>
        </p:txBody>
      </p:sp>
      <p:cxnSp>
        <p:nvCxnSpPr>
          <p:cNvPr id="59" name="Connector 11">
            <a:extLst>
              <a:ext uri="{FF2B5EF4-FFF2-40B4-BE49-F238E27FC236}">
                <a16:creationId xmlns:a16="http://schemas.microsoft.com/office/drawing/2014/main" id="{151DBB24-D977-3F94-369A-48716ED89439}"/>
              </a:ext>
            </a:extLst>
          </p:cNvPr>
          <p:cNvCxnSpPr>
            <a:cxnSpLocks/>
          </p:cNvCxnSpPr>
          <p:nvPr/>
        </p:nvCxnSpPr>
        <p:spPr>
          <a:xfrm>
            <a:off x="5550442" y="8987971"/>
            <a:ext cx="788315"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65" name="テキスト ボックス 64">
            <a:extLst>
              <a:ext uri="{FF2B5EF4-FFF2-40B4-BE49-F238E27FC236}">
                <a16:creationId xmlns:a16="http://schemas.microsoft.com/office/drawing/2014/main" id="{3307B2DC-AFDB-4822-CEA0-E919605B4B7C}"/>
              </a:ext>
            </a:extLst>
          </p:cNvPr>
          <p:cNvSpPr txBox="1"/>
          <p:nvPr/>
        </p:nvSpPr>
        <p:spPr>
          <a:xfrm>
            <a:off x="18805679" y="9847466"/>
            <a:ext cx="4461052" cy="1200329"/>
          </a:xfrm>
          <a:prstGeom prst="rect">
            <a:avLst/>
          </a:prstGeom>
          <a:noFill/>
        </p:spPr>
        <p:txBody>
          <a:bodyPr wrap="square">
            <a:spAutoFit/>
          </a:bodyPr>
          <a:lstStyle/>
          <a:p>
            <a:r>
              <a:rPr lang="ja-JP" altLang="en-US" sz="2400" b="1" dirty="0">
                <a:solidFill>
                  <a:schemeClr val="accent2"/>
                </a:solidFill>
              </a:rPr>
              <a:t>→ </a:t>
            </a:r>
            <a:r>
              <a:rPr lang="ja-JP" altLang="ja-JP" sz="2400" b="1" dirty="0">
                <a:solidFill>
                  <a:schemeClr val="accent2"/>
                </a:solidFill>
              </a:rPr>
              <a:t>LOS予測精度ではなく、残差が粗捕捉時間</a:t>
            </a:r>
            <a:r>
              <a:rPr lang="ja-JP" altLang="en-US" sz="2400" b="1" dirty="0">
                <a:solidFill>
                  <a:schemeClr val="accent2"/>
                </a:solidFill>
              </a:rPr>
              <a:t>・成功率</a:t>
            </a:r>
            <a:r>
              <a:rPr lang="ja-JP" altLang="ja-JP" sz="2400" b="1" dirty="0">
                <a:solidFill>
                  <a:schemeClr val="accent2"/>
                </a:solidFill>
              </a:rPr>
              <a:t>に与える影響を評価</a:t>
            </a:r>
            <a:endParaRPr lang="ja-JP" altLang="en-US" sz="2400" b="1" dirty="0">
              <a:solidFill>
                <a:schemeClr val="accent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PAT simulation conditions</a:t>
            </a:r>
          </a:p>
        </p:txBody>
      </p:sp>
      <p:sp>
        <p:nvSpPr>
          <p:cNvPr id="3" name="TextBox 2"/>
          <p:cNvSpPr txBox="1"/>
          <p:nvPr/>
        </p:nvSpPr>
        <p:spPr>
          <a:xfrm>
            <a:off x="1536192" y="1298448"/>
            <a:ext cx="9922716"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ja-JP" sz="3200" b="1" dirty="0"/>
              <a:t>粗捕捉は矩形スパイラルの離散走査として簡略化する</a:t>
            </a:r>
            <a:endParaRPr lang="ja-JP" altLang="ja-JP" sz="3200" dirty="0"/>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32</a:t>
            </a:r>
          </a:p>
        </p:txBody>
      </p:sp>
      <p:sp>
        <p:nvSpPr>
          <p:cNvPr id="5" name="Rounded Rectangle 4"/>
          <p:cNvSpPr/>
          <p:nvPr/>
        </p:nvSpPr>
        <p:spPr>
          <a:xfrm>
            <a:off x="1097280" y="2834640"/>
            <a:ext cx="9326880" cy="777240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669280" y="6492240"/>
            <a:ext cx="658368"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327648" y="5833872"/>
            <a:ext cx="0" cy="658368"/>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5010912" y="5833872"/>
            <a:ext cx="1316736"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10912" y="5833872"/>
            <a:ext cx="0" cy="1316735"/>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10912" y="7150607"/>
            <a:ext cx="1975104"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86016" y="5175504"/>
            <a:ext cx="0" cy="1975103"/>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352544" y="5175504"/>
            <a:ext cx="2633472"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52544" y="5175504"/>
            <a:ext cx="0" cy="2633471"/>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52544" y="7808975"/>
            <a:ext cx="3291839"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644383" y="4517136"/>
            <a:ext cx="0" cy="3291839"/>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596128"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54496"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254496"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937760"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937760"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912864"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912864"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279392"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279392"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571231"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571231" y="444398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086600" y="4892040"/>
            <a:ext cx="457200" cy="457200"/>
          </a:xfrm>
          <a:prstGeom prst="ellipse">
            <a:avLst/>
          </a:prstGeom>
          <a:solidFill>
            <a:srgbClr val="FEF5E6"/>
          </a:solidFill>
          <a:ln>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8" name="Table 27"/>
          <p:cNvGraphicFramePr>
            <a:graphicFrameLocks noGrp="1"/>
          </p:cNvGraphicFramePr>
          <p:nvPr>
            <p:extLst>
              <p:ext uri="{D42A27DB-BD31-4B8C-83A1-F6EECF244321}">
                <p14:modId xmlns:p14="http://schemas.microsoft.com/office/powerpoint/2010/main" val="2133534431"/>
              </p:ext>
            </p:extLst>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buNone/>
                      </a:pPr>
                      <a:r>
                        <a:rPr lang="ja-JP" sz="2400" dirty="0"/>
                        <a:t>パラメータ</a:t>
                      </a:r>
                    </a:p>
                  </a:txBody>
                  <a:tcPr anchor="ctr">
                    <a:solidFill>
                      <a:srgbClr val="082B52"/>
                    </a:solidFill>
                  </a:tcPr>
                </a:tc>
                <a:tc>
                  <a:txBody>
                    <a:bodyPr/>
                    <a:lstStyle/>
                    <a:p>
                      <a:pPr algn="l">
                        <a:buNone/>
                      </a:pPr>
                      <a:r>
                        <a:rPr lang="ja-JP" sz="2400"/>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buNone/>
                      </a:pPr>
                      <a:r>
                        <a:rPr lang="ja-JP" sz="2400" dirty="0"/>
                        <a:t>走査範囲</a:t>
                      </a:r>
                    </a:p>
                  </a:txBody>
                  <a:tcPr anchor="ctr">
                    <a:solidFill>
                      <a:srgbClr val="FFFFFF"/>
                    </a:solidFill>
                  </a:tcPr>
                </a:tc>
                <a:tc>
                  <a:txBody>
                    <a:bodyPr/>
                    <a:lstStyle/>
                    <a:p>
                      <a:pPr algn="l">
                        <a:buNone/>
                      </a:pPr>
                      <a:r>
                        <a:rPr lang="ja-JP" sz="2400"/>
                        <a:t>±1600 µrad</a:t>
                      </a:r>
                    </a:p>
                  </a:txBody>
                  <a:tcPr anchor="ctr">
                    <a:solidFill>
                      <a:srgbClr val="EBF6FB"/>
                    </a:solidFill>
                  </a:tcPr>
                </a:tc>
                <a:extLst>
                  <a:ext uri="{0D108BD9-81ED-4DB2-BD59-A6C34878D82A}">
                    <a16:rowId xmlns:a16="http://schemas.microsoft.com/office/drawing/2014/main" val="10001"/>
                  </a:ext>
                </a:extLst>
              </a:tr>
              <a:tr h="901337">
                <a:tc>
                  <a:txBody>
                    <a:bodyPr/>
                    <a:lstStyle/>
                    <a:p>
                      <a:pPr algn="l">
                        <a:buNone/>
                      </a:pPr>
                      <a:r>
                        <a:rPr lang="ja-JP" sz="2400" dirty="0"/>
                        <a:t>点間隔</a:t>
                      </a:r>
                    </a:p>
                  </a:txBody>
                  <a:tcPr anchor="ctr">
                    <a:solidFill>
                      <a:srgbClr val="F4F6F8"/>
                    </a:solidFill>
                  </a:tcPr>
                </a:tc>
                <a:tc>
                  <a:txBody>
                    <a:bodyPr/>
                    <a:lstStyle/>
                    <a:p>
                      <a:pPr algn="l">
                        <a:buNone/>
                      </a:pPr>
                      <a:r>
                        <a:rPr lang="ja-JP" sz="2400" dirty="0"/>
                        <a:t>40 µrad</a:t>
                      </a:r>
                    </a:p>
                  </a:txBody>
                  <a:tcPr anchor="ctr">
                    <a:solidFill>
                      <a:srgbClr val="EBF6FB"/>
                    </a:solidFill>
                  </a:tcPr>
                </a:tc>
                <a:extLst>
                  <a:ext uri="{0D108BD9-81ED-4DB2-BD59-A6C34878D82A}">
                    <a16:rowId xmlns:a16="http://schemas.microsoft.com/office/drawing/2014/main" val="10002"/>
                  </a:ext>
                </a:extLst>
              </a:tr>
              <a:tr h="901337">
                <a:tc>
                  <a:txBody>
                    <a:bodyPr/>
                    <a:lstStyle/>
                    <a:p>
                      <a:pPr algn="l">
                        <a:buNone/>
                      </a:pPr>
                      <a:r>
                        <a:rPr lang="ja-JP" sz="2400" dirty="0"/>
                        <a:t>検出半径</a:t>
                      </a:r>
                    </a:p>
                  </a:txBody>
                  <a:tcPr anchor="ctr">
                    <a:solidFill>
                      <a:srgbClr val="FFFFFF"/>
                    </a:solidFill>
                  </a:tcPr>
                </a:tc>
                <a:tc>
                  <a:txBody>
                    <a:bodyPr/>
                    <a:lstStyle/>
                    <a:p>
                      <a:pPr algn="l">
                        <a:buNone/>
                      </a:pPr>
                      <a:r>
                        <a:rPr lang="ja-JP" sz="2400"/>
                        <a:t>25 µrad</a:t>
                      </a:r>
                    </a:p>
                  </a:txBody>
                  <a:tcPr anchor="ctr">
                    <a:solidFill>
                      <a:srgbClr val="EBF6FB"/>
                    </a:solidFill>
                  </a:tcPr>
                </a:tc>
                <a:extLst>
                  <a:ext uri="{0D108BD9-81ED-4DB2-BD59-A6C34878D82A}">
                    <a16:rowId xmlns:a16="http://schemas.microsoft.com/office/drawing/2014/main" val="10003"/>
                  </a:ext>
                </a:extLst>
              </a:tr>
              <a:tr h="901337">
                <a:tc>
                  <a:txBody>
                    <a:bodyPr/>
                    <a:lstStyle/>
                    <a:p>
                      <a:pPr algn="l">
                        <a:buNone/>
                      </a:pPr>
                      <a:r>
                        <a:rPr lang="ja-JP" sz="2400" dirty="0"/>
                        <a:t>滞在時間</a:t>
                      </a:r>
                    </a:p>
                  </a:txBody>
                  <a:tcPr anchor="ctr">
                    <a:solidFill>
                      <a:srgbClr val="F4F6F8"/>
                    </a:solidFill>
                  </a:tcPr>
                </a:tc>
                <a:tc>
                  <a:txBody>
                    <a:bodyPr/>
                    <a:lstStyle/>
                    <a:p>
                      <a:pPr algn="l">
                        <a:buNone/>
                      </a:pPr>
                      <a:r>
                        <a:rPr lang="ja-JP" sz="2400" dirty="0"/>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buNone/>
                      </a:pPr>
                      <a:r>
                        <a:rPr lang="ja-JP" sz="2400"/>
                        <a:t>総走査点数</a:t>
                      </a:r>
                    </a:p>
                  </a:txBody>
                  <a:tcPr anchor="ctr">
                    <a:solidFill>
                      <a:srgbClr val="FFFFFF"/>
                    </a:solidFill>
                  </a:tcPr>
                </a:tc>
                <a:tc>
                  <a:txBody>
                    <a:bodyPr/>
                    <a:lstStyle/>
                    <a:p>
                      <a:pPr algn="l">
                        <a:buNone/>
                      </a:pPr>
                      <a:r>
                        <a:rPr lang="ja-JP" sz="2400" dirty="0"/>
                        <a:t>6561点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buNone/>
                      </a:pPr>
                      <a:r>
                        <a:rPr lang="ja-JP" sz="2400"/>
                        <a:t>最大走査時間</a:t>
                      </a:r>
                    </a:p>
                  </a:txBody>
                  <a:tcPr anchor="ctr">
                    <a:solidFill>
                      <a:srgbClr val="F4F6F8"/>
                    </a:solidFill>
                  </a:tcPr>
                </a:tc>
                <a:tc>
                  <a:txBody>
                    <a:bodyPr/>
                    <a:lstStyle/>
                    <a:p>
                      <a:pPr algn="l">
                        <a:buNone/>
                      </a:pPr>
                      <a:r>
                        <a:rPr lang="ja-JP" sz="2400" dirty="0"/>
                        <a:t>656.1 s</a:t>
                      </a: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rPr>
              <a:t>簡略化：点間移動・整定時間・受光強度の確率変動は考慮しない</a:t>
            </a:r>
            <a:br>
              <a:rPr lang="ja-JP" altLang="ja-JP" sz="2400" dirty="0">
                <a:solidFill>
                  <a:schemeClr val="accent2"/>
                </a:solidFill>
              </a:rPr>
            </a:br>
            <a:r>
              <a:rPr lang="ja-JP" altLang="ja-JP" sz="2400" b="1" dirty="0">
                <a:solidFill>
                  <a:schemeClr val="accent2"/>
                </a:solidFill>
              </a:rPr>
              <a:t>各走査点を独立な捕捉機会として評価する</a:t>
            </a:r>
            <a:endParaRPr sz="2400" b="1" dirty="0">
              <a:solidFill>
                <a:schemeClr val="accent2"/>
              </a:solidFill>
              <a:latin typeface="Yu Gothic"/>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0881359"/>
            <a:ext cx="8437790" cy="954107"/>
          </a:xfrm>
          <a:prstGeom prst="rect">
            <a:avLst/>
          </a:prstGeom>
          <a:noFill/>
        </p:spPr>
        <p:txBody>
          <a:bodyPr wrap="square">
            <a:spAutoFit/>
          </a:bodyPr>
          <a:lstStyle/>
          <a:p>
            <a:r>
              <a:rPr lang="ja-JP" altLang="ja-JP" sz="2800" b="1" dirty="0"/>
              <a:t>真の指向誤差が検出半径内に入った最初の走査点を捕捉時刻とする</a:t>
            </a:r>
            <a:endParaRPr lang="ja-JP" altLang="en-US" sz="2800" b="1" dirty="0"/>
          </a:p>
        </p:txBody>
      </p:sp>
      <p:sp>
        <p:nvSpPr>
          <p:cNvPr id="34" name="テキスト ボックス 33">
            <a:extLst>
              <a:ext uri="{FF2B5EF4-FFF2-40B4-BE49-F238E27FC236}">
                <a16:creationId xmlns:a16="http://schemas.microsoft.com/office/drawing/2014/main" id="{E3A91E62-EA26-8151-3428-B86760823F25}"/>
              </a:ext>
            </a:extLst>
          </p:cNvPr>
          <p:cNvSpPr txBox="1"/>
          <p:nvPr/>
        </p:nvSpPr>
        <p:spPr>
          <a:xfrm>
            <a:off x="12461016" y="9105638"/>
            <a:ext cx="5255484" cy="369332"/>
          </a:xfrm>
          <a:prstGeom prst="rect">
            <a:avLst/>
          </a:prstGeom>
          <a:noFill/>
        </p:spPr>
        <p:txBody>
          <a:bodyPr wrap="square">
            <a:spAutoFit/>
          </a:bodyPr>
          <a:lstStyle/>
          <a:p>
            <a:r>
              <a:rPr lang="en-US" altLang="ja-JP" dirty="0"/>
              <a:t>※</a:t>
            </a:r>
            <a:r>
              <a:rPr lang="ja-JP" altLang="en-US" dirty="0"/>
              <a:t>妥当な</a:t>
            </a:r>
            <a:r>
              <a:rPr lang="ja-JP" altLang="ja-JP" dirty="0"/>
              <a:t>検出半径またはstep</a:t>
            </a:r>
            <a:r>
              <a:rPr lang="ja-JP" altLang="en-US" dirty="0"/>
              <a:t>は</a:t>
            </a:r>
            <a:r>
              <a:rPr lang="ja-JP" altLang="ja-JP" dirty="0"/>
              <a:t>後で再検討する</a:t>
            </a:r>
            <a:endParaRPr lang="ja-JP"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PAT simulation conditions</a:t>
            </a:r>
          </a:p>
        </p:txBody>
      </p:sp>
      <p:sp>
        <p:nvSpPr>
          <p:cNvPr id="3" name="TextBox 2"/>
          <p:cNvSpPr txBox="1"/>
          <p:nvPr/>
        </p:nvSpPr>
        <p:spPr>
          <a:xfrm>
            <a:off x="1536192" y="1298448"/>
            <a:ext cx="11153823"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sz="3200" b="1" dirty="0" err="1">
                <a:solidFill>
                  <a:srgbClr val="082B52"/>
                </a:solidFill>
                <a:latin typeface="Yu Gothic"/>
              </a:rPr>
              <a:t>非熱誤差</a:t>
            </a:r>
            <a:r>
              <a:rPr lang="ja-JP" altLang="en-US" sz="3200" b="1" dirty="0">
                <a:solidFill>
                  <a:srgbClr val="082B52"/>
                </a:solidFill>
                <a:latin typeface="Yu Gothic"/>
              </a:rPr>
              <a:t>：</a:t>
            </a:r>
            <a:r>
              <a:rPr sz="3200" b="1" dirty="0" err="1">
                <a:solidFill>
                  <a:srgbClr val="082B52"/>
                </a:solidFill>
                <a:latin typeface="Yu Gothic"/>
              </a:rPr>
              <a:t>軌道・アライメント・姿勢・ドリフトを合成する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33</a:t>
            </a:r>
          </a:p>
        </p:txBody>
      </p:sp>
      <p:sp>
        <p:nvSpPr>
          <p:cNvPr id="5" name="Rounded Rectangle 4"/>
          <p:cNvSpPr/>
          <p:nvPr/>
        </p:nvSpPr>
        <p:spPr>
          <a:xfrm>
            <a:off x="1280160" y="2834640"/>
            <a:ext cx="21762720" cy="192024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6792071" y="3383280"/>
                <a:ext cx="10738901" cy="64504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500" b="1" i="1" dirty="0" smtClean="0">
                              <a:solidFill>
                                <a:srgbClr val="082B52"/>
                              </a:solidFill>
                              <a:latin typeface="Cambria Math" panose="02040503050406030204" pitchFamily="18" charset="0"/>
                            </a:rPr>
                          </m:ctrlPr>
                        </m:sSubPr>
                        <m:e>
                          <m:r>
                            <a:rPr lang="en-US" sz="3500" b="1" i="1" dirty="0"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𝒏𝒐𝒏𝒕𝒉𝒆𝒓𝒎𝒂𝒍</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𝒐𝒓𝒃𝒊𝒕</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𝒂𝒍𝒊𝒈𝒏𝒎𝒆𝒏𝒕</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𝒂𝒕𝒕𝒊𝒕𝒖𝒅𝒆</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𝒅𝒓𝒊𝒇𝒕</m:t>
                          </m:r>
                        </m:sub>
                      </m:sSub>
                    </m:oMath>
                  </m:oMathPara>
                </a14:m>
                <a:endParaRPr lang="en-US" sz="3500" b="1" i="1" dirty="0" err="1">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792071" y="3383280"/>
                <a:ext cx="10738901" cy="645048"/>
              </a:xfrm>
              <a:prstGeom prst="rect">
                <a:avLst/>
              </a:prstGeom>
              <a:blipFill>
                <a:blip r:embed="rId3"/>
                <a:stretch>
                  <a:fillRect/>
                </a:stretch>
              </a:blipFill>
            </p:spPr>
            <p:txBody>
              <a:bodyPr/>
              <a:lstStyle/>
              <a:p>
                <a:r>
                  <a:rPr lang="ja-JP" altLang="en-US">
                    <a:noFill/>
                  </a:rPr>
                  <a:t> </a:t>
                </a:r>
              </a:p>
            </p:txBody>
          </p:sp>
        </mc:Fallback>
      </mc:AlternateContent>
      <p:graphicFrame>
        <p:nvGraphicFramePr>
          <p:cNvPr id="7" name="Table 6"/>
          <p:cNvGraphicFramePr>
            <a:graphicFrameLocks noGrp="1"/>
          </p:cNvGraphicFramePr>
          <p:nvPr>
            <p:extLst>
              <p:ext uri="{D42A27DB-BD31-4B8C-83A1-F6EECF244321}">
                <p14:modId xmlns:p14="http://schemas.microsoft.com/office/powerpoint/2010/main" val="2534477905"/>
              </p:ext>
            </p:extLst>
          </p:nvPr>
        </p:nvGraphicFramePr>
        <p:xfrm>
          <a:off x="1097280" y="5486400"/>
          <a:ext cx="22128480" cy="4572000"/>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5943600">
                  <a:extLst>
                    <a:ext uri="{9D8B030D-6E8A-4147-A177-3AD203B41FA5}">
                      <a16:colId xmlns:a16="http://schemas.microsoft.com/office/drawing/2014/main" val="20003"/>
                    </a:ext>
                  </a:extLst>
                </a:gridCol>
              </a:tblGrid>
              <a:tr h="914400">
                <a:tc>
                  <a:txBody>
                    <a:bodyPr/>
                    <a:lstStyle/>
                    <a:p>
                      <a:pPr algn="l"/>
                      <a:r>
                        <a:rPr lang="ja-JP" altLang="en-US" sz="2100" b="1" dirty="0">
                          <a:solidFill>
                            <a:srgbClr val="FFFFFF"/>
                          </a:solidFill>
                          <a:latin typeface="Yu Gothic"/>
                        </a:rPr>
                        <a:t>成分</a:t>
                      </a:r>
                      <a:endParaRPr sz="2100" b="1" dirty="0">
                        <a:solidFill>
                          <a:srgbClr val="FFFFFF"/>
                        </a:solidFill>
                        <a:latin typeface="Yu Gothic"/>
                      </a:endParaRPr>
                    </a:p>
                  </a:txBody>
                  <a:tcPr marL="64008" marR="64008" marT="27432" marB="27432" anchor="ctr">
                    <a:solidFill>
                      <a:srgbClr val="082B52"/>
                    </a:solidFill>
                  </a:tcPr>
                </a:tc>
                <a:tc>
                  <a:txBody>
                    <a:bodyPr/>
                    <a:lstStyle/>
                    <a:p>
                      <a:pPr algn="ctr"/>
                      <a:r>
                        <a:rPr sz="2100" b="1">
                          <a:solidFill>
                            <a:srgbClr val="FFFFFF"/>
                          </a:solidFill>
                          <a:latin typeface="Yu Gothic"/>
                        </a:rPr>
                        <a:t>Model</a:t>
                      </a:r>
                    </a:p>
                  </a:txBody>
                  <a:tcPr marL="64008" marR="64008" marT="27432" marB="27432" anchor="ctr">
                    <a:solidFill>
                      <a:srgbClr val="082B52"/>
                    </a:solidFill>
                  </a:tcPr>
                </a:tc>
                <a:tc>
                  <a:txBody>
                    <a:bodyPr/>
                    <a:lstStyle/>
                    <a:p>
                      <a:pPr algn="ctr"/>
                      <a:r>
                        <a:rPr lang="ja-JP" altLang="en-US" sz="2100" b="1" dirty="0">
                          <a:solidFill>
                            <a:srgbClr val="FFFFFF"/>
                          </a:solidFill>
                          <a:latin typeface="Yu Gothic"/>
                        </a:rPr>
                        <a:t>時間特性</a:t>
                      </a:r>
                      <a:endParaRPr sz="2100" b="1" dirty="0">
                        <a:solidFill>
                          <a:srgbClr val="FFFFFF"/>
                        </a:solidFill>
                        <a:latin typeface="Yu Gothic"/>
                      </a:endParaRPr>
                    </a:p>
                  </a:txBody>
                  <a:tcPr marL="64008" marR="64008" marT="27432" marB="27432" anchor="ctr">
                    <a:solidFill>
                      <a:srgbClr val="082B52"/>
                    </a:solidFill>
                  </a:tcPr>
                </a:tc>
                <a:tc>
                  <a:txBody>
                    <a:bodyPr/>
                    <a:lstStyle/>
                    <a:p>
                      <a:pPr algn="ctr"/>
                      <a:r>
                        <a:rPr sz="2100" b="1">
                          <a:solidFill>
                            <a:srgbClr val="FFFFFF"/>
                          </a:solidFill>
                          <a:latin typeface="Yu Gothic"/>
                        </a:rPr>
                        <a:t>Size</a:t>
                      </a:r>
                    </a:p>
                  </a:txBody>
                  <a:tcPr marL="64008" marR="64008" marT="27432" marB="27432" anchor="ctr">
                    <a:solidFill>
                      <a:srgbClr val="082B52"/>
                    </a:solidFill>
                  </a:tcPr>
                </a:tc>
                <a:extLst>
                  <a:ext uri="{0D108BD9-81ED-4DB2-BD59-A6C34878D82A}">
                    <a16:rowId xmlns:a16="http://schemas.microsoft.com/office/drawing/2014/main" val="10000"/>
                  </a:ext>
                </a:extLst>
              </a:tr>
              <a:tr h="914400">
                <a:tc>
                  <a:txBody>
                    <a:bodyPr/>
                    <a:lstStyle/>
                    <a:p>
                      <a:pPr algn="l"/>
                      <a:r>
                        <a:rPr sz="2100" b="0">
                          <a:solidFill>
                            <a:srgbClr val="232B34"/>
                          </a:solidFill>
                          <a:latin typeface="Yu Gothic"/>
                        </a:rPr>
                        <a:t>Orbit prediction</a:t>
                      </a:r>
                    </a:p>
                  </a:txBody>
                  <a:tcPr marL="64008" marR="64008" marT="27432" marB="27432" anchor="ctr">
                    <a:solidFill>
                      <a:srgbClr val="EBF6FB"/>
                    </a:solidFill>
                  </a:tcPr>
                </a:tc>
                <a:tc>
                  <a:txBody>
                    <a:bodyPr/>
                    <a:lstStyle/>
                    <a:p>
                      <a:pPr algn="ctr"/>
                      <a:r>
                        <a:rPr sz="2100" b="0">
                          <a:solidFill>
                            <a:srgbClr val="232B34"/>
                          </a:solidFill>
                          <a:latin typeface="Yu Gothic"/>
                        </a:rPr>
                        <a:t>Sentinel-1 TLE vs POEORB</a:t>
                      </a:r>
                    </a:p>
                  </a:txBody>
                  <a:tcPr marL="64008" marR="64008" marT="27432" marB="27432" anchor="ctr">
                    <a:solidFill>
                      <a:srgbClr val="FFFFFF"/>
                    </a:solidFill>
                  </a:tcPr>
                </a:tc>
                <a:tc>
                  <a:txBody>
                    <a:bodyPr/>
                    <a:lstStyle/>
                    <a:p>
                      <a:pPr algn="ctr"/>
                      <a:r>
                        <a:rPr sz="2100" b="0">
                          <a:solidFill>
                            <a:srgbClr val="232B34"/>
                          </a:solidFill>
                          <a:latin typeface="Yu Gothic"/>
                        </a:rPr>
                        <a:t>orbit-period family</a:t>
                      </a:r>
                    </a:p>
                  </a:txBody>
                  <a:tcPr marL="64008" marR="64008" marT="27432" marB="27432" anchor="ctr">
                    <a:solidFill>
                      <a:srgbClr val="FFFFFF"/>
                    </a:solidFill>
                  </a:tcPr>
                </a:tc>
                <a:tc>
                  <a:txBody>
                    <a:bodyPr/>
                    <a:lstStyle/>
                    <a:p>
                      <a:pPr algn="ctr"/>
                      <a:r>
                        <a:rPr sz="2100" b="0">
                          <a:solidFill>
                            <a:srgbClr val="232B34"/>
                          </a:solidFill>
                          <a:latin typeface="Yu Gothic"/>
                        </a:rPr>
                        <a:t>mean 280–700 µrad</a:t>
                      </a:r>
                    </a:p>
                  </a:txBody>
                  <a:tcPr marL="64008" marR="64008" marT="27432" marB="27432" anchor="ctr">
                    <a:solidFill>
                      <a:srgbClr val="FFFFFF"/>
                    </a:solidFill>
                  </a:tcPr>
                </a:tc>
                <a:extLst>
                  <a:ext uri="{0D108BD9-81ED-4DB2-BD59-A6C34878D82A}">
                    <a16:rowId xmlns:a16="http://schemas.microsoft.com/office/drawing/2014/main" val="10001"/>
                  </a:ext>
                </a:extLst>
              </a:tr>
              <a:tr h="914400">
                <a:tc>
                  <a:txBody>
                    <a:bodyPr/>
                    <a:lstStyle/>
                    <a:p>
                      <a:pPr algn="l"/>
                      <a:r>
                        <a:rPr sz="2100" b="0">
                          <a:solidFill>
                            <a:srgbClr val="232B34"/>
                          </a:solidFill>
                          <a:latin typeface="Yu Gothic"/>
                        </a:rPr>
                        <a:t>Alignment</a:t>
                      </a:r>
                    </a:p>
                  </a:txBody>
                  <a:tcPr marL="64008" marR="64008" marT="27432" marB="27432" anchor="ctr">
                    <a:solidFill>
                      <a:srgbClr val="EBF6FB"/>
                    </a:solidFill>
                  </a:tcPr>
                </a:tc>
                <a:tc>
                  <a:txBody>
                    <a:bodyPr/>
                    <a:lstStyle/>
                    <a:p>
                      <a:pPr algn="ctr"/>
                      <a:r>
                        <a:rPr sz="2100" b="0">
                          <a:solidFill>
                            <a:srgbClr val="232B34"/>
                          </a:solidFill>
                          <a:latin typeface="Yu Gothic"/>
                        </a:rPr>
                        <a:t>Gaussian constant / case</a:t>
                      </a:r>
                    </a:p>
                  </a:txBody>
                  <a:tcPr marL="64008" marR="64008" marT="27432" marB="27432" anchor="ctr">
                    <a:solidFill>
                      <a:srgbClr val="F4F6F8"/>
                    </a:solidFill>
                  </a:tcPr>
                </a:tc>
                <a:tc>
                  <a:txBody>
                    <a:bodyPr/>
                    <a:lstStyle/>
                    <a:p>
                      <a:pPr algn="ctr"/>
                      <a:r>
                        <a:rPr sz="2100" b="0">
                          <a:solidFill>
                            <a:srgbClr val="232B34"/>
                          </a:solidFill>
                          <a:latin typeface="Yu Gothic"/>
                        </a:rPr>
                        <a:t>DC</a:t>
                      </a:r>
                    </a:p>
                  </a:txBody>
                  <a:tcPr marL="64008" marR="64008" marT="27432" marB="27432" anchor="ctr">
                    <a:solidFill>
                      <a:srgbClr val="F4F6F8"/>
                    </a:solidFill>
                  </a:tcPr>
                </a:tc>
                <a:tc>
                  <a:txBody>
                    <a:bodyPr/>
                    <a:lstStyle/>
                    <a:p>
                      <a:pPr algn="ctr"/>
                      <a:r>
                        <a:rPr sz="2100" b="0">
                          <a:solidFill>
                            <a:srgbClr val="232B34"/>
                          </a:solidFill>
                          <a:latin typeface="Yu Gothic"/>
                        </a:rPr>
                        <a:t>50 µrad/axis, 1σ</a:t>
                      </a:r>
                    </a:p>
                  </a:txBody>
                  <a:tcPr marL="64008" marR="64008" marT="27432" marB="27432" anchor="ctr">
                    <a:solidFill>
                      <a:srgbClr val="F4F6F8"/>
                    </a:solidFill>
                  </a:tcPr>
                </a:tc>
                <a:extLst>
                  <a:ext uri="{0D108BD9-81ED-4DB2-BD59-A6C34878D82A}">
                    <a16:rowId xmlns:a16="http://schemas.microsoft.com/office/drawing/2014/main" val="10002"/>
                  </a:ext>
                </a:extLst>
              </a:tr>
              <a:tr h="914400">
                <a:tc>
                  <a:txBody>
                    <a:bodyPr/>
                    <a:lstStyle/>
                    <a:p>
                      <a:pPr algn="l"/>
                      <a:r>
                        <a:rPr sz="2100" b="0">
                          <a:solidFill>
                            <a:srgbClr val="232B34"/>
                          </a:solidFill>
                          <a:latin typeface="Yu Gothic"/>
                        </a:rPr>
                        <a:t>Attitude</a:t>
                      </a:r>
                    </a:p>
                  </a:txBody>
                  <a:tcPr marL="64008" marR="64008" marT="27432" marB="27432" anchor="ctr">
                    <a:solidFill>
                      <a:srgbClr val="EBF6FB"/>
                    </a:solidFill>
                  </a:tcPr>
                </a:tc>
                <a:tc>
                  <a:txBody>
                    <a:bodyPr/>
                    <a:lstStyle/>
                    <a:p>
                      <a:pPr algn="ctr"/>
                      <a:r>
                        <a:rPr sz="2100" b="0">
                          <a:solidFill>
                            <a:srgbClr val="232B34"/>
                          </a:solidFill>
                          <a:latin typeface="Yu Gothic"/>
                        </a:rPr>
                        <a:t>Gaussian / sample</a:t>
                      </a:r>
                    </a:p>
                  </a:txBody>
                  <a:tcPr marL="64008" marR="64008" marT="27432" marB="27432" anchor="ctr">
                    <a:solidFill>
                      <a:srgbClr val="FFFFFF"/>
                    </a:solidFill>
                  </a:tcPr>
                </a:tc>
                <a:tc>
                  <a:txBody>
                    <a:bodyPr/>
                    <a:lstStyle/>
                    <a:p>
                      <a:pPr algn="ctr"/>
                      <a:r>
                        <a:rPr sz="2100" b="0">
                          <a:solidFill>
                            <a:srgbClr val="232B34"/>
                          </a:solidFill>
                          <a:latin typeface="Yu Gothic"/>
                        </a:rPr>
                        <a:t>simplified broadband</a:t>
                      </a:r>
                    </a:p>
                  </a:txBody>
                  <a:tcPr marL="64008" marR="64008" marT="27432" marB="27432" anchor="ctr">
                    <a:solidFill>
                      <a:srgbClr val="FFFFFF"/>
                    </a:solidFill>
                  </a:tcPr>
                </a:tc>
                <a:tc>
                  <a:txBody>
                    <a:bodyPr/>
                    <a:lstStyle/>
                    <a:p>
                      <a:pPr algn="ctr"/>
                      <a:r>
                        <a:rPr sz="2100" b="0">
                          <a:solidFill>
                            <a:srgbClr val="232B34"/>
                          </a:solidFill>
                          <a:latin typeface="Yu Gothic"/>
                        </a:rPr>
                        <a:t>50 µrad/axis, 1σ</a:t>
                      </a:r>
                    </a:p>
                  </a:txBody>
                  <a:tcPr marL="64008" marR="64008" marT="27432" marB="27432" anchor="ctr">
                    <a:solidFill>
                      <a:srgbClr val="FFFFFF"/>
                    </a:solidFill>
                  </a:tcPr>
                </a:tc>
                <a:extLst>
                  <a:ext uri="{0D108BD9-81ED-4DB2-BD59-A6C34878D82A}">
                    <a16:rowId xmlns:a16="http://schemas.microsoft.com/office/drawing/2014/main" val="10003"/>
                  </a:ext>
                </a:extLst>
              </a:tr>
              <a:tr h="914400">
                <a:tc>
                  <a:txBody>
                    <a:bodyPr/>
                    <a:lstStyle/>
                    <a:p>
                      <a:pPr algn="l"/>
                      <a:r>
                        <a:rPr sz="2100" b="0">
                          <a:solidFill>
                            <a:srgbClr val="232B34"/>
                          </a:solidFill>
                          <a:latin typeface="Yu Gothic"/>
                        </a:rPr>
                        <a:t>Drift</a:t>
                      </a:r>
                    </a:p>
                  </a:txBody>
                  <a:tcPr marL="64008" marR="64008" marT="27432" marB="27432" anchor="ctr">
                    <a:solidFill>
                      <a:srgbClr val="EBF6FB"/>
                    </a:solidFill>
                  </a:tcPr>
                </a:tc>
                <a:tc>
                  <a:txBody>
                    <a:bodyPr/>
                    <a:lstStyle/>
                    <a:p>
                      <a:pPr algn="ctr"/>
                      <a:r>
                        <a:rPr lang="en-US" sz="2100" b="0" dirty="0">
                          <a:solidFill>
                            <a:srgbClr val="232B34"/>
                          </a:solidFill>
                          <a:latin typeface="Yu Gothic"/>
                        </a:rPr>
                        <a:t>S</a:t>
                      </a:r>
                      <a:r>
                        <a:rPr sz="2100" b="0" dirty="0">
                          <a:solidFill>
                            <a:srgbClr val="232B34"/>
                          </a:solidFill>
                          <a:latin typeface="Yu Gothic"/>
                        </a:rPr>
                        <a:t>inusoid</a:t>
                      </a:r>
                      <a:r>
                        <a:rPr lang="ja-JP" altLang="en-US" sz="2100" b="0" dirty="0">
                          <a:solidFill>
                            <a:srgbClr val="232B34"/>
                          </a:solidFill>
                          <a:latin typeface="Yu Gothic"/>
                        </a:rPr>
                        <a:t>（</a:t>
                      </a:r>
                      <a:r>
                        <a:rPr lang="en-US" altLang="ja-JP" sz="2100" b="0" dirty="0">
                          <a:solidFill>
                            <a:srgbClr val="232B34"/>
                          </a:solidFill>
                          <a:latin typeface="Yu Gothic"/>
                        </a:rPr>
                        <a:t>sin curve</a:t>
                      </a:r>
                      <a:r>
                        <a:rPr lang="ja-JP" altLang="en-US" sz="2100" b="0" dirty="0">
                          <a:solidFill>
                            <a:srgbClr val="232B34"/>
                          </a:solidFill>
                          <a:latin typeface="Yu Gothic"/>
                        </a:rPr>
                        <a:t>）</a:t>
                      </a:r>
                      <a:endParaRPr sz="2100" b="0" dirty="0">
                        <a:solidFill>
                          <a:srgbClr val="232B34"/>
                        </a:solidFill>
                        <a:latin typeface="Yu Gothic"/>
                      </a:endParaRPr>
                    </a:p>
                  </a:txBody>
                  <a:tcPr marL="64008" marR="64008" marT="27432" marB="27432" anchor="ctr">
                    <a:solidFill>
                      <a:srgbClr val="F4F6F8"/>
                    </a:solidFill>
                  </a:tcPr>
                </a:tc>
                <a:tc>
                  <a:txBody>
                    <a:bodyPr/>
                    <a:lstStyle/>
                    <a:p>
                      <a:pPr algn="ctr"/>
                      <a:r>
                        <a:rPr sz="2100" b="0">
                          <a:solidFill>
                            <a:srgbClr val="232B34"/>
                          </a:solidFill>
                          <a:latin typeface="Yu Gothic"/>
                        </a:rPr>
                        <a:t>900 s</a:t>
                      </a:r>
                    </a:p>
                  </a:txBody>
                  <a:tcPr marL="64008" marR="64008" marT="27432" marB="27432" anchor="ctr">
                    <a:solidFill>
                      <a:srgbClr val="F4F6F8"/>
                    </a:solidFill>
                  </a:tcPr>
                </a:tc>
                <a:tc>
                  <a:txBody>
                    <a:bodyPr/>
                    <a:lstStyle/>
                    <a:p>
                      <a:pPr algn="ctr"/>
                      <a:r>
                        <a:rPr sz="2100" b="0" dirty="0">
                          <a:solidFill>
                            <a:srgbClr val="232B34"/>
                          </a:solidFill>
                          <a:latin typeface="Yu Gothic"/>
                        </a:rPr>
                        <a:t>30 µrad amplitude</a:t>
                      </a:r>
                    </a:p>
                  </a:txBody>
                  <a:tcPr marL="64008" marR="64008" marT="27432" marB="27432" anchor="ctr">
                    <a:solidFill>
                      <a:srgbClr val="F4F6F8"/>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2818606" y="11141964"/>
            <a:ext cx="18745200" cy="594360"/>
          </a:xfrm>
          <a:prstGeom prst="rect">
            <a:avLst/>
          </a:prstGeom>
          <a:noFill/>
        </p:spPr>
        <p:txBody>
          <a:bodyPr wrap="none" lIns="36576" tIns="27432" rIns="36576" bIns="27432" anchor="t">
            <a:spAutoFit/>
          </a:bodyPr>
          <a:lstStyle/>
          <a:p>
            <a:pPr algn="ctr"/>
            <a:r>
              <a:rPr sz="2700" b="1" dirty="0" err="1">
                <a:solidFill>
                  <a:srgbClr val="D03B46"/>
                </a:solidFill>
                <a:latin typeface="Yu Gothic"/>
              </a:rPr>
              <a:t>特定衛星の誤差バジェット再現ではなく、GNSS非搭載LEO小型衛星の共存シナリオ</a:t>
            </a:r>
            <a:endParaRPr sz="2700" b="1" dirty="0">
              <a:solidFill>
                <a:srgbClr val="D03B46"/>
              </a:solidFill>
              <a:latin typeface="Yu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Orbit prediction error</a:t>
            </a:r>
          </a:p>
        </p:txBody>
      </p:sp>
      <p:sp>
        <p:nvSpPr>
          <p:cNvPr id="3" name="TextBox 2"/>
          <p:cNvSpPr txBox="1"/>
          <p:nvPr/>
        </p:nvSpPr>
        <p:spPr>
          <a:xfrm>
            <a:off x="1536192" y="1298448"/>
            <a:ext cx="16559149"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軌道予測誤差：</a:t>
            </a:r>
            <a:r>
              <a:rPr lang="ja-JP" altLang="ja-JP" sz="3200" b="1" dirty="0"/>
              <a:t>最新TLEを伝播し、高精度軌道暦POEORBを真値として位置誤差を算出する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34</a:t>
            </a:r>
          </a:p>
        </p:txBody>
      </p:sp>
      <p:sp>
        <p:nvSpPr>
          <p:cNvPr id="5" name="Rectangle 4"/>
          <p:cNvSpPr/>
          <p:nvPr/>
        </p:nvSpPr>
        <p:spPr>
          <a:xfrm>
            <a:off x="1097280" y="3234690"/>
            <a:ext cx="4118457"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70432" y="3344418"/>
            <a:ext cx="3972153" cy="1014984"/>
          </a:xfrm>
          <a:prstGeom prst="rect">
            <a:avLst/>
          </a:prstGeom>
          <a:noFill/>
        </p:spPr>
        <p:txBody>
          <a:bodyPr wrap="none" lIns="36576" tIns="27432" rIns="36576" bIns="27432" anchor="ctr">
            <a:spAutoFit/>
          </a:bodyPr>
          <a:lstStyle/>
          <a:p>
            <a:pPr algn="ctr"/>
            <a:r>
              <a:rPr sz="2100" b="1">
                <a:solidFill>
                  <a:srgbClr val="FFFFFF"/>
                </a:solidFill>
                <a:latin typeface="Yu Gothic"/>
              </a:rPr>
              <a:t>Sentinel-1
NORAD 39634</a:t>
            </a:r>
          </a:p>
        </p:txBody>
      </p:sp>
      <p:cxnSp>
        <p:nvCxnSpPr>
          <p:cNvPr id="7" name="Connector 6"/>
          <p:cNvCxnSpPr/>
          <p:nvPr/>
        </p:nvCxnSpPr>
        <p:spPr>
          <a:xfrm>
            <a:off x="5270601" y="385191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599785" y="3234690"/>
            <a:ext cx="4118457" cy="123444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72937" y="3344418"/>
            <a:ext cx="3972153" cy="1014984"/>
          </a:xfrm>
          <a:prstGeom prst="rect">
            <a:avLst/>
          </a:prstGeom>
          <a:noFill/>
        </p:spPr>
        <p:txBody>
          <a:bodyPr wrap="none" lIns="36576" tIns="27432" rIns="36576" bIns="27432" anchor="ctr">
            <a:spAutoFit/>
          </a:bodyPr>
          <a:lstStyle/>
          <a:p>
            <a:pPr algn="ctr"/>
            <a:r>
              <a:rPr sz="2100" b="1">
                <a:solidFill>
                  <a:srgbClr val="FFFFFF"/>
                </a:solidFill>
                <a:latin typeface="Yu Gothic"/>
              </a:rPr>
              <a:t>Latest TLE
epoch≤t</a:t>
            </a:r>
          </a:p>
        </p:txBody>
      </p:sp>
      <p:cxnSp>
        <p:nvCxnSpPr>
          <p:cNvPr id="10" name="Connector 9"/>
          <p:cNvCxnSpPr/>
          <p:nvPr/>
        </p:nvCxnSpPr>
        <p:spPr>
          <a:xfrm>
            <a:off x="9773107" y="385191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0102291" y="3234690"/>
            <a:ext cx="4118457"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75443" y="3344418"/>
            <a:ext cx="3972153" cy="1014984"/>
          </a:xfrm>
          <a:prstGeom prst="rect">
            <a:avLst/>
          </a:prstGeom>
          <a:noFill/>
        </p:spPr>
        <p:txBody>
          <a:bodyPr wrap="none" lIns="36576" tIns="27432" rIns="36576" bIns="27432" anchor="ctr">
            <a:spAutoFit/>
          </a:bodyPr>
          <a:lstStyle/>
          <a:p>
            <a:pPr algn="ctr"/>
            <a:r>
              <a:rPr sz="2100" b="1">
                <a:solidFill>
                  <a:srgbClr val="FFFFFF"/>
                </a:solidFill>
                <a:latin typeface="Yu Gothic"/>
              </a:rPr>
              <a:t>SGP4 forward
rpred(t)</a:t>
            </a:r>
          </a:p>
        </p:txBody>
      </p:sp>
      <p:cxnSp>
        <p:nvCxnSpPr>
          <p:cNvPr id="13" name="Connector 12"/>
          <p:cNvCxnSpPr/>
          <p:nvPr/>
        </p:nvCxnSpPr>
        <p:spPr>
          <a:xfrm>
            <a:off x="14275612" y="385191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4604796" y="3234690"/>
            <a:ext cx="4118457"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677948" y="3344418"/>
            <a:ext cx="3972153" cy="1014984"/>
          </a:xfrm>
          <a:prstGeom prst="rect">
            <a:avLst/>
          </a:prstGeom>
          <a:noFill/>
        </p:spPr>
        <p:txBody>
          <a:bodyPr wrap="none" lIns="36576" tIns="27432" rIns="36576" bIns="27432" anchor="ctr">
            <a:spAutoFit/>
          </a:bodyPr>
          <a:lstStyle/>
          <a:p>
            <a:pPr algn="ctr"/>
            <a:r>
              <a:rPr sz="2100" b="1">
                <a:solidFill>
                  <a:srgbClr val="FFFFFF"/>
                </a:solidFill>
                <a:latin typeface="Yu Gothic"/>
              </a:rPr>
              <a:t>AUX_POEORB
rtruth(t)</a:t>
            </a:r>
          </a:p>
        </p:txBody>
      </p:sp>
      <p:cxnSp>
        <p:nvCxnSpPr>
          <p:cNvPr id="16" name="Connector 15"/>
          <p:cNvCxnSpPr/>
          <p:nvPr/>
        </p:nvCxnSpPr>
        <p:spPr>
          <a:xfrm>
            <a:off x="18778118" y="385191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9107302" y="3234690"/>
            <a:ext cx="4118457"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9180454" y="3344418"/>
            <a:ext cx="3972153" cy="1014984"/>
          </a:xfrm>
          <a:prstGeom prst="rect">
            <a:avLst/>
          </a:prstGeom>
          <a:noFill/>
        </p:spPr>
        <p:txBody>
          <a:bodyPr wrap="none" lIns="36576" tIns="27432" rIns="36576" bIns="27432" anchor="ctr">
            <a:spAutoFit/>
          </a:bodyPr>
          <a:lstStyle/>
          <a:p>
            <a:pPr algn="ctr"/>
            <a:r>
              <a:rPr sz="2100" b="1">
                <a:solidFill>
                  <a:srgbClr val="FFFFFF"/>
                </a:solidFill>
                <a:latin typeface="Yu Gothic"/>
              </a:rPr>
              <a:t>δr(t)</a:t>
            </a:r>
          </a:p>
        </p:txBody>
      </p:sp>
      <p:sp>
        <p:nvSpPr>
          <p:cNvPr id="19" name="Rectangle 18"/>
          <p:cNvSpPr/>
          <p:nvPr/>
        </p:nvSpPr>
        <p:spPr>
          <a:xfrm>
            <a:off x="1097280" y="5200650"/>
            <a:ext cx="14081760" cy="62179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orbit_prediction_error_3orbits.png"/>
          <p:cNvPicPr>
            <a:picLocks noChangeAspect="1"/>
          </p:cNvPicPr>
          <p:nvPr/>
        </p:nvPicPr>
        <p:blipFill>
          <a:blip r:embed="rId3"/>
          <a:stretch>
            <a:fillRect/>
          </a:stretch>
        </p:blipFill>
        <p:spPr>
          <a:xfrm>
            <a:off x="5029200" y="5200650"/>
            <a:ext cx="6217920" cy="6217920"/>
          </a:xfrm>
          <a:prstGeom prst="rect">
            <a:avLst/>
          </a:prstGeom>
        </p:spPr>
      </p:pic>
      <p:sp>
        <p:nvSpPr>
          <p:cNvPr id="21" name="Rounded Rectangle 20"/>
          <p:cNvSpPr/>
          <p:nvPr/>
        </p:nvSpPr>
        <p:spPr>
          <a:xfrm>
            <a:off x="15837407" y="5272266"/>
            <a:ext cx="7315200" cy="62179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2" name="TextBox 21"/>
              <p:cNvSpPr txBox="1"/>
              <p:nvPr/>
            </p:nvSpPr>
            <p:spPr>
              <a:xfrm>
                <a:off x="16173450" y="5889485"/>
                <a:ext cx="6975347" cy="3457357"/>
              </a:xfrm>
              <a:prstGeom prst="rect">
                <a:avLst/>
              </a:prstGeom>
              <a:noFill/>
            </p:spPr>
            <p:txBody>
              <a:bodyPr wrap="square" lIns="27432" rIns="27432">
                <a:spAutoFit/>
              </a:bodyPr>
              <a:lstStyle/>
              <a:p>
                <a:r>
                  <a:rPr sz="2300" b="1" dirty="0">
                    <a:solidFill>
                      <a:srgbClr val="1B74AA"/>
                    </a:solidFill>
                    <a:latin typeface="Yu Gothic"/>
                  </a:rPr>
                  <a:t>•</a:t>
                </a:r>
                <a:r>
                  <a:rPr sz="2300" dirty="0">
                    <a:solidFill>
                      <a:srgbClr val="1B74AA"/>
                    </a:solidFill>
                    <a:latin typeface="Yu Gothic"/>
                  </a:rPr>
                  <a:t> </a:t>
                </a:r>
                <a:r>
                  <a:rPr lang="ja-JP" altLang="ja-JP" sz="2400" dirty="0"/>
                  <a:t>Sentinel-1A衛星のGNSS観測データに基づく高精度軌道暦（AUX_POEORB）を軌道真値として使用</a:t>
                </a:r>
              </a:p>
              <a:p>
                <a:pPr>
                  <a:spcAft>
                    <a:spcPts val="800"/>
                  </a:spcAft>
                </a:pPr>
                <a:r>
                  <a:rPr sz="2300" b="1" dirty="0">
                    <a:solidFill>
                      <a:srgbClr val="1B74AA"/>
                    </a:solidFill>
                    <a:latin typeface="Yu Gothic"/>
                  </a:rPr>
                  <a:t>•</a:t>
                </a:r>
                <a:r>
                  <a:rPr lang="ja-JP" altLang="en-US" sz="2300" b="1" dirty="0">
                    <a:solidFill>
                      <a:srgbClr val="1B74AA"/>
                    </a:solidFill>
                    <a:latin typeface="Yu Gothic"/>
                  </a:rPr>
                  <a:t> </a:t>
                </a:r>
                <a:r>
                  <a:rPr lang="ja-JP" altLang="ja-JP" sz="2400" dirty="0"/>
                  <a:t>最新TLEをSGP4で前方伝播 </a:t>
                </a:r>
                <a:endParaRPr lang="en-US" altLang="ja-JP" sz="2400" dirty="0"/>
              </a:p>
              <a:p>
                <a:pPr>
                  <a:spcAft>
                    <a:spcPts val="800"/>
                  </a:spcAft>
                </a:pPr>
                <a:r>
                  <a:rPr lang="en-US" altLang="ja-JP" sz="2400" b="1" dirty="0">
                    <a:solidFill>
                      <a:srgbClr val="1B74AA"/>
                    </a:solidFill>
                    <a:latin typeface="Yu Gothic"/>
                  </a:rPr>
                  <a:t>• </a:t>
                </a:r>
                <a:r>
                  <a:rPr lang="ja-JP" altLang="ja-JP" sz="2400" dirty="0"/>
                  <a:t>POEORBとの差から位置誤差 </a:t>
                </a:r>
                <a14:m>
                  <m:oMath xmlns:m="http://schemas.openxmlformats.org/officeDocument/2006/math">
                    <m:r>
                      <a:rPr lang="ja-JP" altLang="en-US" i="1">
                        <a:latin typeface="Cambria Math" panose="02040503050406030204" pitchFamily="18" charset="0"/>
                      </a:rPr>
                      <m:t>𝛿</m:t>
                    </m:r>
                    <m:r>
                      <a:rPr lang="ja-JP" altLang="en-US" b="1">
                        <a:latin typeface="Cambria Math" panose="02040503050406030204" pitchFamily="18" charset="0"/>
                      </a:rPr>
                      <m:t>𝐫</m:t>
                    </m:r>
                    <m:d>
                      <m:dPr>
                        <m:ctrlPr>
                          <a:rPr lang="ja-JP" altLang="en-US" i="1">
                            <a:latin typeface="Cambria Math" panose="02040503050406030204" pitchFamily="18" charset="0"/>
                          </a:rPr>
                        </m:ctrlPr>
                      </m:dPr>
                      <m:e>
                        <m:r>
                          <a:rPr lang="ja-JP" altLang="en-US" i="1">
                            <a:latin typeface="Cambria Math" panose="02040503050406030204" pitchFamily="18" charset="0"/>
                          </a:rPr>
                          <m:t>𝑡</m:t>
                        </m:r>
                      </m:e>
                    </m:d>
                  </m:oMath>
                </a14:m>
                <a:r>
                  <a:rPr lang="ja-JP" altLang="ja-JP" sz="2400" dirty="0"/>
                  <a:t>を算出 </a:t>
                </a:r>
                <a:endParaRPr lang="en-US" altLang="ja-JP" sz="2400" dirty="0"/>
              </a:p>
              <a:p>
                <a:pPr>
                  <a:spcAft>
                    <a:spcPts val="800"/>
                  </a:spcAft>
                </a:pPr>
                <a:r>
                  <a:rPr lang="en-US" altLang="ja-JP" sz="2400" b="1" dirty="0">
                    <a:solidFill>
                      <a:srgbClr val="1B74AA"/>
                    </a:solidFill>
                    <a:latin typeface="Yu Gothic"/>
                  </a:rPr>
                  <a:t>• </a:t>
                </a:r>
                <a:r>
                  <a:rPr lang="ja-JP" altLang="ja-JP" sz="2400" dirty="0"/>
                  <a:t>60秒間隔で比較 軌道予測誤差の大きさ・時間相関を代表データとして使用</a:t>
                </a:r>
                <a:endParaRPr lang="en-US" altLang="ja-JP" sz="2400" dirty="0"/>
              </a:p>
              <a:p>
                <a:pPr>
                  <a:spcAft>
                    <a:spcPts val="800"/>
                  </a:spcAft>
                </a:pPr>
                <a:endParaRPr lang="en-US" sz="2400" dirty="0">
                  <a:solidFill>
                    <a:srgbClr val="232B34"/>
                  </a:solidFill>
                  <a:latin typeface="Yu Gothic"/>
                </a:endParaRPr>
              </a:p>
              <a:p>
                <a:pPr>
                  <a:spcAft>
                    <a:spcPts val="800"/>
                  </a:spcAft>
                </a:pPr>
                <a:r>
                  <a:rPr lang="ja-JP" altLang="en-US" sz="2400" dirty="0">
                    <a:solidFill>
                      <a:srgbClr val="232B34"/>
                    </a:solidFill>
                    <a:latin typeface="Yu Gothic"/>
                  </a:rPr>
                  <a:t>→衛星側は</a:t>
                </a:r>
                <a:r>
                  <a:rPr lang="en-US" altLang="ja-JP" sz="2400" dirty="0">
                    <a:solidFill>
                      <a:srgbClr val="232B34"/>
                    </a:solidFill>
                    <a:latin typeface="Yu Gothic"/>
                  </a:rPr>
                  <a:t>GNSS</a:t>
                </a:r>
                <a:r>
                  <a:rPr lang="ja-JP" altLang="en-US" sz="2400" dirty="0">
                    <a:solidFill>
                      <a:srgbClr val="232B34"/>
                    </a:solidFill>
                    <a:latin typeface="Yu Gothic"/>
                  </a:rPr>
                  <a:t>非搭載の場合を想定している</a:t>
                </a:r>
                <a:endParaRPr sz="2300" dirty="0">
                  <a:solidFill>
                    <a:srgbClr val="232B34"/>
                  </a:solidFill>
                  <a:latin typeface="Yu Gothic"/>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16173450" y="5889485"/>
                <a:ext cx="6975347" cy="3457357"/>
              </a:xfrm>
              <a:prstGeom prst="rect">
                <a:avLst/>
              </a:prstGeom>
              <a:blipFill>
                <a:blip r:embed="rId4"/>
                <a:stretch>
                  <a:fillRect l="-2273" t="-1411" b="-3175"/>
                </a:stretch>
              </a:blipFill>
            </p:spPr>
            <p:txBody>
              <a:bodyPr/>
              <a:lstStyle/>
              <a:p>
                <a:r>
                  <a:rPr lang="ja-JP"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Orbit prediction error</a:t>
            </a:r>
          </a:p>
        </p:txBody>
      </p:sp>
      <p:sp>
        <p:nvSpPr>
          <p:cNvPr id="3" name="TextBox 2"/>
          <p:cNvSpPr txBox="1"/>
          <p:nvPr/>
        </p:nvSpPr>
        <p:spPr>
          <a:xfrm>
            <a:off x="1536192" y="1298448"/>
            <a:ext cx="18962050"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lang="ja-JP" altLang="en-US" sz="3200" b="1" dirty="0">
                <a:solidFill>
                  <a:srgbClr val="082B52"/>
                </a:solidFill>
                <a:latin typeface="Yu Gothic"/>
              </a:rPr>
              <a:t>軌道予測誤差：自身の</a:t>
            </a:r>
            <a:r>
              <a:rPr sz="3200" b="1" dirty="0" err="1">
                <a:solidFill>
                  <a:srgbClr val="082B52"/>
                </a:solidFill>
                <a:latin typeface="Yu Gothic"/>
              </a:rPr>
              <a:t>位置誤差をリンクLOS横断面へ投影し</a:t>
            </a:r>
            <a:r>
              <a:rPr sz="3200" b="1" dirty="0">
                <a:solidFill>
                  <a:srgbClr val="082B52"/>
                </a:solidFill>
                <a:latin typeface="Yu Gothic"/>
              </a:rPr>
              <a:t>、</a:t>
            </a:r>
            <a:r>
              <a:rPr lang="ja-JP" altLang="en-US" sz="3200" b="1" dirty="0">
                <a:solidFill>
                  <a:srgbClr val="082B52"/>
                </a:solidFill>
                <a:latin typeface="Yu Gothic"/>
              </a:rPr>
              <a:t>衛星の座標系 </a:t>
            </a:r>
            <a:r>
              <a:rPr sz="3200" b="1" dirty="0">
                <a:solidFill>
                  <a:srgbClr val="082B52"/>
                </a:solidFill>
                <a:latin typeface="Yu Gothic"/>
              </a:rPr>
              <a:t>STT/body x–</a:t>
            </a:r>
            <a:r>
              <a:rPr sz="3200" b="1" dirty="0" err="1">
                <a:solidFill>
                  <a:srgbClr val="082B52"/>
                </a:solidFill>
                <a:latin typeface="Yu Gothic"/>
              </a:rPr>
              <a:t>yへ変換する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35</a:t>
            </a: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2468880"/>
          </a:xfrm>
          <a:prstGeom prst="rect">
            <a:avLst/>
          </a:prstGeom>
          <a:noFill/>
        </p:spPr>
        <p:txBody>
          <a:bodyPr wrap="square" lIns="27432" rIns="27432">
            <a:spAutoFit/>
          </a:bodyPr>
          <a:lstStyle/>
          <a:p>
            <a:pPr>
              <a:spcAft>
                <a:spcPts val="800"/>
              </a:spcAft>
            </a:pPr>
            <a:r>
              <a:rPr sz="2400" b="1">
                <a:solidFill>
                  <a:srgbClr val="1B74AA"/>
                </a:solidFill>
                <a:latin typeface="Yu Gothic"/>
              </a:rPr>
              <a:t>• </a:t>
            </a:r>
            <a:r>
              <a:rPr sz="2400">
                <a:solidFill>
                  <a:srgbClr val="232B34"/>
                </a:solidFill>
                <a:latin typeface="Yu Gothic"/>
              </a:rPr>
              <a:t>orbit catalogから姿勢を構成</a:t>
            </a:r>
          </a:p>
          <a:p>
            <a:pPr>
              <a:spcAft>
                <a:spcPts val="800"/>
              </a:spcAft>
            </a:pPr>
            <a:r>
              <a:rPr sz="2400" b="1">
                <a:solidFill>
                  <a:srgbClr val="1B74AA"/>
                </a:solidFill>
                <a:latin typeface="Yu Gothic"/>
              </a:rPr>
              <a:t>• </a:t>
            </a:r>
            <a:r>
              <a:rPr sz="2400">
                <a:solidFill>
                  <a:srgbClr val="232B34"/>
                </a:solidFill>
                <a:latin typeface="Yu Gothic"/>
              </a:rPr>
              <a:t>STT/body x–yへ射影</a:t>
            </a:r>
          </a:p>
          <a:p>
            <a:pPr>
              <a:spcAft>
                <a:spcPts val="800"/>
              </a:spcAft>
            </a:pPr>
            <a:r>
              <a:rPr sz="2400" b="1">
                <a:solidFill>
                  <a:srgbClr val="1B74AA"/>
                </a:solidFill>
                <a:latin typeface="Yu Gothic"/>
              </a:rPr>
              <a:t>• </a:t>
            </a:r>
            <a:r>
              <a:rPr sz="2400">
                <a:solidFill>
                  <a:srgbClr val="232B34"/>
                </a:solidFill>
                <a:latin typeface="Yu Gothic"/>
              </a:rPr>
              <a:t>熱LOSと同じ2成分で加算</a:t>
            </a:r>
          </a:p>
        </p:txBody>
      </p:sp>
      <p:graphicFrame>
        <p:nvGraphicFramePr>
          <p:cNvPr id="9" name="Table 8"/>
          <p:cNvGraphicFramePr>
            <a:graphicFrameLocks noGrp="1"/>
          </p:cNvGraphicFramePr>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r>
                        <a:rPr sz="2100" b="1">
                          <a:solidFill>
                            <a:srgbClr val="FFFFFF"/>
                          </a:solidFill>
                          <a:latin typeface="Yu Gothic"/>
                        </a:rPr>
                        <a:t>Sun</a:t>
                      </a:r>
                    </a:p>
                  </a:txBody>
                  <a:tcPr marL="64008" marR="64008" marT="27432" marB="27432" anchor="ctr">
                    <a:solidFill>
                      <a:srgbClr val="082B52"/>
                    </a:solidFill>
                  </a:tcPr>
                </a:tc>
                <a:tc>
                  <a:txBody>
                    <a:bodyPr/>
                    <a:lstStyle/>
                    <a:p>
                      <a:pPr algn="ctr"/>
                      <a:r>
                        <a:rPr sz="2100" b="1">
                          <a:solidFill>
                            <a:srgbClr val="FFFFFF"/>
                          </a:solidFill>
                          <a:latin typeface="Yu Gothic"/>
                        </a:rPr>
                        <a:t>Partner / link</a:t>
                      </a:r>
                    </a:p>
                  </a:txBody>
                  <a:tcPr marL="64008" marR="64008" marT="27432" marB="27432" anchor="ctr">
                    <a:solidFill>
                      <a:srgbClr val="082B52"/>
                    </a:solidFill>
                  </a:tcPr>
                </a:tc>
                <a:tc>
                  <a:txBody>
                    <a:bodyPr/>
                    <a:lstStyle/>
                    <a:p>
                      <a:pPr algn="ctr"/>
                      <a:r>
                        <a:rPr sz="2100" b="1">
                          <a:solidFill>
                            <a:srgbClr val="FFFFFF"/>
                          </a:solidFill>
                          <a:latin typeface="Yu Gothic"/>
                        </a:rPr>
                        <a:t>Status</a:t>
                      </a: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r>
                        <a:rPr sz="2100" b="0">
                          <a:solidFill>
                            <a:srgbClr val="232B34"/>
                          </a:solidFill>
                          <a:latin typeface="Yu Gothic"/>
                        </a:rPr>
                        <a:t>MY</a:t>
                      </a:r>
                    </a:p>
                  </a:txBody>
                  <a:tcPr marL="64008" marR="64008" marT="27432" marB="27432" anchor="ctr">
                    <a:solidFill>
                      <a:srgbClr val="FFFFFF"/>
                    </a:solidFill>
                  </a:tcPr>
                </a:tc>
                <a:tc>
                  <a:txBody>
                    <a:bodyPr/>
                    <a:lstStyle/>
                    <a:p>
                      <a:pPr algn="ctr"/>
                      <a:r>
                        <a:rPr sz="2100" b="0">
                          <a:solidFill>
                            <a:srgbClr val="232B34"/>
                          </a:solidFill>
                          <a:latin typeface="Yu Gothic"/>
                        </a:rPr>
                        <a:t>along-track ISL 800 km</a:t>
                      </a:r>
                    </a:p>
                  </a:txBody>
                  <a:tcPr marL="64008" marR="64008" marT="27432" marB="27432" anchor="ctr">
                    <a:solidFill>
                      <a:srgbClr val="FFFFFF"/>
                    </a:solidFill>
                  </a:tcPr>
                </a:tc>
                <a:tc>
                  <a:txBody>
                    <a:bodyPr/>
                    <a:lstStyle/>
                    <a:p>
                      <a:pPr algn="ctr"/>
                      <a:r>
                        <a:rPr sz="2100" b="0">
                          <a:solidFill>
                            <a:srgbClr val="232B34"/>
                          </a:solidFill>
                          <a:latin typeface="Yu Gothic"/>
                        </a:rPr>
                        <a:t>ready</a:t>
                      </a: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r>
                        <a:rPr sz="2100" b="0">
                          <a:solidFill>
                            <a:srgbClr val="232B34"/>
                          </a:solidFill>
                          <a:latin typeface="Yu Gothic"/>
                        </a:rPr>
                        <a:t>PY</a:t>
                      </a:r>
                    </a:p>
                  </a:txBody>
                  <a:tcPr marL="64008" marR="64008" marT="27432" marB="27432" anchor="ctr">
                    <a:solidFill>
                      <a:srgbClr val="F4F6F8"/>
                    </a:solidFill>
                  </a:tcPr>
                </a:tc>
                <a:tc>
                  <a:txBody>
                    <a:bodyPr/>
                    <a:lstStyle/>
                    <a:p>
                      <a:pPr algn="ctr"/>
                      <a:r>
                        <a:rPr sz="2100" b="0">
                          <a:solidFill>
                            <a:srgbClr val="232B34"/>
                          </a:solidFill>
                          <a:latin typeface="Yu Gothic"/>
                        </a:rPr>
                        <a:t>anti-along ISL 800 km</a:t>
                      </a:r>
                    </a:p>
                  </a:txBody>
                  <a:tcPr marL="64008" marR="64008" marT="27432" marB="27432" anchor="ctr">
                    <a:solidFill>
                      <a:srgbClr val="F4F6F8"/>
                    </a:solidFill>
                  </a:tcPr>
                </a:tc>
                <a:tc>
                  <a:txBody>
                    <a:bodyPr/>
                    <a:lstStyle/>
                    <a:p>
                      <a:pPr algn="ctr"/>
                      <a:r>
                        <a:rPr sz="2100" b="0">
                          <a:solidFill>
                            <a:srgbClr val="232B34"/>
                          </a:solidFill>
                          <a:latin typeface="Yu Gothic"/>
                        </a:rPr>
                        <a:t>ready</a:t>
                      </a: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r>
                        <a:rPr sz="2100" b="0">
                          <a:solidFill>
                            <a:srgbClr val="232B34"/>
                          </a:solidFill>
                          <a:latin typeface="Yu Gothic"/>
                        </a:rPr>
                        <a:t>PX</a:t>
                      </a:r>
                    </a:p>
                  </a:txBody>
                  <a:tcPr marL="64008" marR="64008" marT="27432" marB="27432" anchor="ctr">
                    <a:solidFill>
                      <a:srgbClr val="FFFFFF"/>
                    </a:solidFill>
                  </a:tcPr>
                </a:tc>
                <a:tc>
                  <a:txBody>
                    <a:bodyPr/>
                    <a:lstStyle/>
                    <a:p>
                      <a:pPr algn="ctr"/>
                      <a:r>
                        <a:rPr sz="2100" b="0">
                          <a:solidFill>
                            <a:srgbClr val="232B34"/>
                          </a:solidFill>
                          <a:latin typeface="Yu Gothic"/>
                        </a:rPr>
                        <a:t>nadir ground ~695 km</a:t>
                      </a:r>
                    </a:p>
                  </a:txBody>
                  <a:tcPr marL="64008" marR="64008" marT="27432" marB="27432" anchor="ctr">
                    <a:solidFill>
                      <a:srgbClr val="FFFFFF"/>
                    </a:solidFill>
                  </a:tcPr>
                </a:tc>
                <a:tc>
                  <a:txBody>
                    <a:bodyPr/>
                    <a:lstStyle/>
                    <a:p>
                      <a:pPr algn="ctr"/>
                      <a:r>
                        <a:rPr sz="2100" b="0">
                          <a:solidFill>
                            <a:srgbClr val="232B34"/>
                          </a:solidFill>
                          <a:latin typeface="Yu Gothic"/>
                        </a:rPr>
                        <a:t>ready</a:t>
                      </a: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r>
                        <a:rPr sz="2100" b="0">
                          <a:solidFill>
                            <a:srgbClr val="232B34"/>
                          </a:solidFill>
                          <a:latin typeface="Yu Gothic"/>
                        </a:rPr>
                        <a:t>MX</a:t>
                      </a:r>
                    </a:p>
                  </a:txBody>
                  <a:tcPr marL="64008" marR="64008" marT="27432" marB="27432" anchor="ctr">
                    <a:solidFill>
                      <a:srgbClr val="F4F6F8"/>
                    </a:solidFill>
                  </a:tcPr>
                </a:tc>
                <a:tc>
                  <a:txBody>
                    <a:bodyPr/>
                    <a:lstStyle/>
                    <a:p>
                      <a:pPr algn="ctr"/>
                      <a:r>
                        <a:rPr sz="2100" b="0">
                          <a:solidFill>
                            <a:srgbClr val="232B34"/>
                          </a:solidFill>
                          <a:latin typeface="Yu Gothic"/>
                        </a:rPr>
                        <a:t>zenith proxy 800 km</a:t>
                      </a:r>
                    </a:p>
                  </a:txBody>
                  <a:tcPr marL="64008" marR="64008" marT="27432" marB="27432" anchor="ctr">
                    <a:solidFill>
                      <a:srgbClr val="F4F6F8"/>
                    </a:solidFill>
                  </a:tcPr>
                </a:tc>
                <a:tc>
                  <a:txBody>
                    <a:bodyPr/>
                    <a:lstStyle/>
                    <a:p>
                      <a:pPr algn="ctr"/>
                      <a:r>
                        <a:rPr sz="2100" b="0">
                          <a:solidFill>
                            <a:srgbClr val="232B34"/>
                          </a:solidFill>
                          <a:latin typeface="Yu Gothic"/>
                        </a:rPr>
                        <a:t>unrealistic</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 </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の指向面ごとに、通信相手は地上局</a:t>
            </a:r>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衛星をそれぞれ設定</a:t>
            </a:r>
            <a:endParaRPr lang="en-US" altLang="ja-JP" sz="2400" dirty="0">
              <a:solidFill>
                <a:schemeClr val="tx2">
                  <a:lumMod val="50000"/>
                </a:schemeClr>
              </a:solidFill>
              <a:latin typeface="Yu Gothic"/>
            </a:endParaRPr>
          </a:p>
          <a:p>
            <a:r>
              <a:rPr lang="en-US" altLang="ja-JP" sz="2400" dirty="0">
                <a:solidFill>
                  <a:schemeClr val="tx2">
                    <a:lumMod val="50000"/>
                  </a:schemeClr>
                </a:solidFill>
                <a:latin typeface="Yu Gothic"/>
              </a:rPr>
              <a:t>※ </a:t>
            </a:r>
            <a:r>
              <a:rPr sz="2400" dirty="0" err="1">
                <a:solidFill>
                  <a:schemeClr val="tx2">
                    <a:lumMod val="50000"/>
                  </a:schemeClr>
                </a:solidFill>
                <a:latin typeface="Yu Gothic"/>
              </a:rPr>
              <a:t>MXは角度計算可能だが</a:t>
            </a:r>
            <a:r>
              <a:rPr lang="ja-JP" altLang="en-US" sz="2400" dirty="0">
                <a:solidFill>
                  <a:schemeClr val="tx2">
                    <a:lumMod val="50000"/>
                  </a:schemeClr>
                </a:solidFill>
                <a:latin typeface="Yu Gothic"/>
              </a:rPr>
              <a:t>、</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が天頂方向のため、</a:t>
            </a:r>
            <a:r>
              <a:rPr sz="2400" dirty="0" err="1">
                <a:solidFill>
                  <a:schemeClr val="tx2">
                    <a:lumMod val="50000"/>
                  </a:schemeClr>
                </a:solidFill>
                <a:latin typeface="Yu Gothic"/>
              </a:rPr>
              <a:t>現実的リンクではない</a:t>
            </a:r>
            <a:endParaRPr sz="2400" dirty="0">
              <a:solidFill>
                <a:schemeClr val="tx2">
                  <a:lumMod val="50000"/>
                </a:schemeClr>
              </a:solidFill>
              <a:latin typeface="Yu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Orbit prediction error</a:t>
            </a:r>
          </a:p>
        </p:txBody>
      </p:sp>
      <p:sp>
        <p:nvSpPr>
          <p:cNvPr id="3" name="TextBox 2"/>
          <p:cNvSpPr txBox="1"/>
          <p:nvPr/>
        </p:nvSpPr>
        <p:spPr>
          <a:xfrm>
            <a:off x="1536192" y="1298448"/>
            <a:ext cx="10525445"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sz="3200" b="1" dirty="0">
                <a:solidFill>
                  <a:srgbClr val="082B52"/>
                </a:solidFill>
                <a:latin typeface="Yu Gothic"/>
              </a:rPr>
              <a:t>熱と軌道予測誤差はともに10⁻⁴ </a:t>
            </a:r>
            <a:r>
              <a:rPr sz="3200" b="1" dirty="0" err="1">
                <a:solidFill>
                  <a:srgbClr val="082B52"/>
                </a:solidFill>
                <a:latin typeface="Yu Gothic"/>
              </a:rPr>
              <a:t>Hz台の軌道周期族となる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36</a:t>
            </a:r>
          </a:p>
        </p:txBody>
      </p:sp>
      <p:sp>
        <p:nvSpPr>
          <p:cNvPr id="5" name="Rectangle 4"/>
          <p:cNvSpPr/>
          <p:nvPr/>
        </p:nvSpPr>
        <p:spPr>
          <a:xfrm>
            <a:off x="914400" y="2743200"/>
            <a:ext cx="14813280" cy="80467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orbit_error_stt_LTAN06_800km_1213COLD_MY_SUN_3orbits.png"/>
          <p:cNvPicPr>
            <a:picLocks noChangeAspect="1"/>
          </p:cNvPicPr>
          <p:nvPr/>
        </p:nvPicPr>
        <p:blipFill>
          <a:blip r:embed="rId3"/>
          <a:stretch>
            <a:fillRect/>
          </a:stretch>
        </p:blipFill>
        <p:spPr>
          <a:xfrm>
            <a:off x="4297679" y="2743200"/>
            <a:ext cx="8046720" cy="8046720"/>
          </a:xfrm>
          <a:prstGeom prst="rect">
            <a:avLst/>
          </a:prstGeom>
        </p:spPr>
      </p:pic>
      <p:graphicFrame>
        <p:nvGraphicFramePr>
          <p:cNvPr id="7" name="Table 6"/>
          <p:cNvGraphicFramePr>
            <a:graphicFrameLocks noGrp="1"/>
          </p:cNvGraphicFramePr>
          <p:nvPr/>
        </p:nvGraphicFramePr>
        <p:xfrm>
          <a:off x="16367759" y="2926080"/>
          <a:ext cx="6583680" cy="475488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950976">
                <a:tc>
                  <a:txBody>
                    <a:bodyPr/>
                    <a:lstStyle/>
                    <a:p>
                      <a:pPr algn="l"/>
                      <a:r>
                        <a:rPr sz="2300" b="1">
                          <a:solidFill>
                            <a:srgbClr val="FFFFFF"/>
                          </a:solidFill>
                          <a:latin typeface="Yu Gothic"/>
                        </a:rPr>
                        <a:t>Case</a:t>
                      </a:r>
                    </a:p>
                  </a:txBody>
                  <a:tcPr marL="64008" marR="64008" marT="27432" marB="27432" anchor="ctr">
                    <a:solidFill>
                      <a:srgbClr val="082B52"/>
                    </a:solidFill>
                  </a:tcPr>
                </a:tc>
                <a:tc>
                  <a:txBody>
                    <a:bodyPr/>
                    <a:lstStyle/>
                    <a:p>
                      <a:pPr algn="ctr"/>
                      <a:r>
                        <a:rPr sz="2300" b="1">
                          <a:solidFill>
                            <a:srgbClr val="FFFFFF"/>
                          </a:solidFill>
                          <a:latin typeface="Yu Gothic"/>
                        </a:rPr>
                        <a:t>mean norm</a:t>
                      </a:r>
                    </a:p>
                  </a:txBody>
                  <a:tcPr marL="64008" marR="64008" marT="27432" marB="27432" anchor="ctr">
                    <a:solidFill>
                      <a:srgbClr val="082B52"/>
                    </a:solidFill>
                  </a:tcPr>
                </a:tc>
                <a:extLst>
                  <a:ext uri="{0D108BD9-81ED-4DB2-BD59-A6C34878D82A}">
                    <a16:rowId xmlns:a16="http://schemas.microsoft.com/office/drawing/2014/main" val="10000"/>
                  </a:ext>
                </a:extLst>
              </a:tr>
              <a:tr h="950976">
                <a:tc>
                  <a:txBody>
                    <a:bodyPr/>
                    <a:lstStyle/>
                    <a:p>
                      <a:pPr algn="l"/>
                      <a:r>
                        <a:rPr sz="2300" b="0">
                          <a:solidFill>
                            <a:srgbClr val="232B34"/>
                          </a:solidFill>
                          <a:latin typeface="Yu Gothic"/>
                        </a:rPr>
                        <a:t>MY ISL</a:t>
                      </a:r>
                    </a:p>
                  </a:txBody>
                  <a:tcPr marL="64008" marR="64008" marT="27432" marB="27432" anchor="ctr">
                    <a:solidFill>
                      <a:srgbClr val="FFFFFF"/>
                    </a:solidFill>
                  </a:tcPr>
                </a:tc>
                <a:tc>
                  <a:txBody>
                    <a:bodyPr/>
                    <a:lstStyle/>
                    <a:p>
                      <a:pPr algn="ctr"/>
                      <a:r>
                        <a:rPr sz="2300" b="0">
                          <a:solidFill>
                            <a:srgbClr val="232B34"/>
                          </a:solidFill>
                          <a:latin typeface="Yu Gothic"/>
                        </a:rPr>
                        <a:t>≈285 µrad</a:t>
                      </a:r>
                    </a:p>
                  </a:txBody>
                  <a:tcPr marL="64008" marR="64008" marT="27432" marB="27432" anchor="ctr">
                    <a:solidFill>
                      <a:srgbClr val="EBF6FB"/>
                    </a:solidFill>
                  </a:tcPr>
                </a:tc>
                <a:extLst>
                  <a:ext uri="{0D108BD9-81ED-4DB2-BD59-A6C34878D82A}">
                    <a16:rowId xmlns:a16="http://schemas.microsoft.com/office/drawing/2014/main" val="10001"/>
                  </a:ext>
                </a:extLst>
              </a:tr>
              <a:tr h="950976">
                <a:tc>
                  <a:txBody>
                    <a:bodyPr/>
                    <a:lstStyle/>
                    <a:p>
                      <a:pPr algn="l"/>
                      <a:r>
                        <a:rPr sz="2300" b="0">
                          <a:solidFill>
                            <a:srgbClr val="232B34"/>
                          </a:solidFill>
                          <a:latin typeface="Yu Gothic"/>
                        </a:rPr>
                        <a:t>PY ISL</a:t>
                      </a:r>
                    </a:p>
                  </a:txBody>
                  <a:tcPr marL="64008" marR="64008" marT="27432" marB="27432" anchor="ctr">
                    <a:solidFill>
                      <a:srgbClr val="F4F6F8"/>
                    </a:solidFill>
                  </a:tcPr>
                </a:tc>
                <a:tc>
                  <a:txBody>
                    <a:bodyPr/>
                    <a:lstStyle/>
                    <a:p>
                      <a:pPr algn="ctr"/>
                      <a:r>
                        <a:rPr sz="2300" b="0">
                          <a:solidFill>
                            <a:srgbClr val="232B34"/>
                          </a:solidFill>
                          <a:latin typeface="Yu Gothic"/>
                        </a:rPr>
                        <a:t>≈285 µrad</a:t>
                      </a:r>
                    </a:p>
                  </a:txBody>
                  <a:tcPr marL="64008" marR="64008" marT="27432" marB="27432" anchor="ctr">
                    <a:solidFill>
                      <a:srgbClr val="EBF6FB"/>
                    </a:solidFill>
                  </a:tcPr>
                </a:tc>
                <a:extLst>
                  <a:ext uri="{0D108BD9-81ED-4DB2-BD59-A6C34878D82A}">
                    <a16:rowId xmlns:a16="http://schemas.microsoft.com/office/drawing/2014/main" val="10002"/>
                  </a:ext>
                </a:extLst>
              </a:tr>
              <a:tr h="950976">
                <a:tc>
                  <a:txBody>
                    <a:bodyPr/>
                    <a:lstStyle/>
                    <a:p>
                      <a:pPr algn="l"/>
                      <a:r>
                        <a:rPr sz="2300" b="0">
                          <a:solidFill>
                            <a:srgbClr val="232B34"/>
                          </a:solidFill>
                          <a:latin typeface="Yu Gothic"/>
                        </a:rPr>
                        <a:t>PX ground</a:t>
                      </a:r>
                    </a:p>
                  </a:txBody>
                  <a:tcPr marL="64008" marR="64008" marT="27432" marB="27432" anchor="ctr">
                    <a:solidFill>
                      <a:srgbClr val="FFFFFF"/>
                    </a:solidFill>
                  </a:tcPr>
                </a:tc>
                <a:tc>
                  <a:txBody>
                    <a:bodyPr/>
                    <a:lstStyle/>
                    <a:p>
                      <a:pPr algn="ctr"/>
                      <a:r>
                        <a:rPr sz="2300" b="0">
                          <a:solidFill>
                            <a:srgbClr val="232B34"/>
                          </a:solidFill>
                          <a:latin typeface="Yu Gothic"/>
                        </a:rPr>
                        <a:t>≈694 µrad</a:t>
                      </a:r>
                    </a:p>
                  </a:txBody>
                  <a:tcPr marL="64008" marR="64008" marT="27432" marB="27432" anchor="ctr">
                    <a:solidFill>
                      <a:srgbClr val="EBF6FB"/>
                    </a:solidFill>
                  </a:tcPr>
                </a:tc>
                <a:extLst>
                  <a:ext uri="{0D108BD9-81ED-4DB2-BD59-A6C34878D82A}">
                    <a16:rowId xmlns:a16="http://schemas.microsoft.com/office/drawing/2014/main" val="10003"/>
                  </a:ext>
                </a:extLst>
              </a:tr>
              <a:tr h="950976">
                <a:tc>
                  <a:txBody>
                    <a:bodyPr/>
                    <a:lstStyle/>
                    <a:p>
                      <a:pPr algn="l"/>
                      <a:r>
                        <a:rPr sz="2300" b="0">
                          <a:solidFill>
                            <a:srgbClr val="232B34"/>
                          </a:solidFill>
                          <a:latin typeface="Yu Gothic"/>
                        </a:rPr>
                        <a:t>MX proxy</a:t>
                      </a:r>
                    </a:p>
                  </a:txBody>
                  <a:tcPr marL="64008" marR="64008" marT="27432" marB="27432" anchor="ctr">
                    <a:solidFill>
                      <a:srgbClr val="F4F6F8"/>
                    </a:solidFill>
                  </a:tcPr>
                </a:tc>
                <a:tc>
                  <a:txBody>
                    <a:bodyPr/>
                    <a:lstStyle/>
                    <a:p>
                      <a:pPr algn="ctr"/>
                      <a:r>
                        <a:rPr sz="2300" b="0">
                          <a:solidFill>
                            <a:srgbClr val="232B34"/>
                          </a:solidFill>
                          <a:latin typeface="Yu Gothic"/>
                        </a:rPr>
                        <a:t>≈612 µrad</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16367759" y="8229600"/>
            <a:ext cx="6583680" cy="2194560"/>
          </a:xfrm>
          <a:prstGeom prst="roundRect">
            <a:avLst/>
          </a:prstGeom>
          <a:solidFill>
            <a:srgbClr val="FEF5E6"/>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733520" y="8641080"/>
            <a:ext cx="5852160" cy="1097280"/>
          </a:xfrm>
          <a:prstGeom prst="rect">
            <a:avLst/>
          </a:prstGeom>
          <a:noFill/>
        </p:spPr>
        <p:txBody>
          <a:bodyPr wrap="none" lIns="36576" tIns="27432" rIns="36576" bIns="27432" anchor="t">
            <a:spAutoFit/>
          </a:bodyPr>
          <a:lstStyle/>
          <a:p>
            <a:pPr algn="ctr"/>
            <a:r>
              <a:rPr sz="2400" b="1">
                <a:solidFill>
                  <a:srgbClr val="EC9427"/>
                </a:solidFill>
                <a:latin typeface="Yu Gothic"/>
              </a:rPr>
              <a:t>Thermal: ~101 min
Orbit norm: ~101 / 50 min</a:t>
            </a:r>
          </a:p>
        </p:txBody>
      </p:sp>
      <p:sp>
        <p:nvSpPr>
          <p:cNvPr id="10" name="TextBox 9"/>
          <p:cNvSpPr txBox="1"/>
          <p:nvPr/>
        </p:nvSpPr>
        <p:spPr>
          <a:xfrm>
            <a:off x="6798914" y="11330940"/>
            <a:ext cx="8999387" cy="947952"/>
          </a:xfrm>
          <a:prstGeom prst="rect">
            <a:avLst/>
          </a:prstGeom>
          <a:noFill/>
        </p:spPr>
        <p:txBody>
          <a:bodyPr wrap="none" lIns="36576" tIns="27432" rIns="36576" bIns="27432" anchor="t">
            <a:spAutoFit/>
          </a:bodyPr>
          <a:lstStyle/>
          <a:p>
            <a:pPr algn="ctr"/>
            <a:r>
              <a:rPr lang="ja-JP" altLang="en-US" sz="2900" b="1" dirty="0">
                <a:solidFill>
                  <a:srgbClr val="D03B46"/>
                </a:solidFill>
                <a:latin typeface="Yu Gothic"/>
              </a:rPr>
              <a:t>熱ひずみと軌道予測誤差はサイズも周波数帯も同程度</a:t>
            </a:r>
            <a:endParaRPr lang="en-US" sz="2900" b="1" dirty="0">
              <a:solidFill>
                <a:srgbClr val="D03B46"/>
              </a:solidFill>
              <a:latin typeface="Yu Gothic"/>
            </a:endParaRPr>
          </a:p>
          <a:p>
            <a:pPr algn="ctr"/>
            <a:r>
              <a:rPr sz="2900" b="1" dirty="0" err="1">
                <a:solidFill>
                  <a:srgbClr val="D03B46"/>
                </a:solidFill>
                <a:latin typeface="Yu Gothic"/>
              </a:rPr>
              <a:t>単純な『低周波＝熱』分離は難しい</a:t>
            </a:r>
            <a:endParaRPr sz="2900" b="1" dirty="0">
              <a:solidFill>
                <a:srgbClr val="D03B46"/>
              </a:solidFill>
              <a:latin typeface="Yu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PAT results</a:t>
            </a:r>
          </a:p>
        </p:txBody>
      </p:sp>
      <p:sp>
        <p:nvSpPr>
          <p:cNvPr id="3" name="TextBox 2"/>
          <p:cNvSpPr txBox="1"/>
          <p:nvPr/>
        </p:nvSpPr>
        <p:spPr>
          <a:xfrm>
            <a:off x="1536192" y="1298448"/>
            <a:ext cx="12444240"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lang="ja-JP" altLang="en-US" sz="3200" b="1" dirty="0">
                <a:solidFill>
                  <a:srgbClr val="082B52"/>
                </a:solidFill>
                <a:latin typeface="Yu Gothic"/>
              </a:rPr>
              <a:t>結果</a:t>
            </a:r>
            <a:r>
              <a:rPr lang="en-US" altLang="ja-JP" sz="3200" b="1" dirty="0">
                <a:solidFill>
                  <a:srgbClr val="082B52"/>
                </a:solidFill>
                <a:latin typeface="Yu Gothic"/>
              </a:rPr>
              <a:t>1</a:t>
            </a:r>
            <a:r>
              <a:rPr lang="ja-JP" altLang="en-US" sz="3200" b="1" dirty="0">
                <a:solidFill>
                  <a:srgbClr val="082B52"/>
                </a:solidFill>
                <a:latin typeface="Yu Gothic"/>
              </a:rPr>
              <a:t>：</a:t>
            </a:r>
            <a:r>
              <a:rPr sz="3200" b="1" dirty="0" err="1">
                <a:solidFill>
                  <a:srgbClr val="082B52"/>
                </a:solidFill>
                <a:latin typeface="Yu Gothic"/>
              </a:rPr>
              <a:t>熱のみでは階層モデルがthermal-truth上界にほぼ到達する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37</a:t>
            </a:r>
          </a:p>
        </p:txBody>
      </p:sp>
      <p:sp>
        <p:nvSpPr>
          <p:cNvPr id="5" name="TextBox 4"/>
          <p:cNvSpPr txBox="1"/>
          <p:nvPr/>
        </p:nvSpPr>
        <p:spPr>
          <a:xfrm>
            <a:off x="1188720" y="3236976"/>
            <a:ext cx="4387291" cy="1412748"/>
          </a:xfrm>
          <a:prstGeom prst="rect">
            <a:avLst/>
          </a:prstGeom>
          <a:noFill/>
        </p:spPr>
        <p:txBody>
          <a:bodyPr wrap="none" lIns="36576" tIns="27432" rIns="36576" bIns="27432" anchor="ctr">
            <a:spAutoFit/>
          </a:bodyPr>
          <a:lstStyle/>
          <a:p>
            <a:pPr algn="l"/>
            <a:r>
              <a:rPr sz="2100" b="0">
                <a:solidFill>
                  <a:srgbClr val="232B34"/>
                </a:solidFill>
                <a:latin typeface="Yu Gothic"/>
              </a:rPr>
              <a:t>No correction</a:t>
            </a:r>
          </a:p>
        </p:txBody>
      </p:sp>
      <p:sp>
        <p:nvSpPr>
          <p:cNvPr id="6" name="Rectangle 5"/>
          <p:cNvSpPr/>
          <p:nvPr/>
        </p:nvSpPr>
        <p:spPr>
          <a:xfrm>
            <a:off x="5667451" y="3337560"/>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7451" y="3337560"/>
            <a:ext cx="8888693" cy="12115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94408" y="3200400"/>
            <a:ext cx="914400" cy="1485900"/>
          </a:xfrm>
          <a:prstGeom prst="rect">
            <a:avLst/>
          </a:prstGeom>
          <a:noFill/>
        </p:spPr>
        <p:txBody>
          <a:bodyPr wrap="none" lIns="36576" tIns="27432" rIns="36576" bIns="27432" anchor="ctr">
            <a:spAutoFit/>
          </a:bodyPr>
          <a:lstStyle/>
          <a:p>
            <a:pPr algn="l"/>
            <a:r>
              <a:rPr sz="2000" b="1">
                <a:solidFill>
                  <a:srgbClr val="D03B46"/>
                </a:solidFill>
                <a:latin typeface="Yu Gothic"/>
              </a:rPr>
              <a:t>124.6 s</a:t>
            </a:r>
          </a:p>
        </p:txBody>
      </p:sp>
      <p:sp>
        <p:nvSpPr>
          <p:cNvPr id="9" name="TextBox 8"/>
          <p:cNvSpPr txBox="1"/>
          <p:nvPr/>
        </p:nvSpPr>
        <p:spPr>
          <a:xfrm>
            <a:off x="1188720" y="4722876"/>
            <a:ext cx="4387291" cy="1412748"/>
          </a:xfrm>
          <a:prstGeom prst="rect">
            <a:avLst/>
          </a:prstGeom>
          <a:noFill/>
        </p:spPr>
        <p:txBody>
          <a:bodyPr wrap="none" lIns="36576" tIns="27432" rIns="36576" bIns="27432" anchor="ctr">
            <a:spAutoFit/>
          </a:bodyPr>
          <a:lstStyle/>
          <a:p>
            <a:pPr algn="l"/>
            <a:r>
              <a:rPr sz="2100" b="0">
                <a:solidFill>
                  <a:srgbClr val="232B34"/>
                </a:solidFill>
                <a:latin typeface="Yu Gothic"/>
              </a:rPr>
              <a:t>Static bias</a:t>
            </a:r>
          </a:p>
        </p:txBody>
      </p:sp>
      <p:sp>
        <p:nvSpPr>
          <p:cNvPr id="10" name="Rectangle 9"/>
          <p:cNvSpPr/>
          <p:nvPr/>
        </p:nvSpPr>
        <p:spPr>
          <a:xfrm>
            <a:off x="5667451" y="4823460"/>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7451" y="4823460"/>
            <a:ext cx="340994" cy="121158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694408" y="4686300"/>
            <a:ext cx="914400" cy="1485900"/>
          </a:xfrm>
          <a:prstGeom prst="rect">
            <a:avLst/>
          </a:prstGeom>
          <a:noFill/>
        </p:spPr>
        <p:txBody>
          <a:bodyPr wrap="none" lIns="36576" tIns="27432" rIns="36576" bIns="27432" anchor="ctr">
            <a:spAutoFit/>
          </a:bodyPr>
          <a:lstStyle/>
          <a:p>
            <a:pPr algn="l"/>
            <a:r>
              <a:rPr sz="2000" b="1">
                <a:solidFill>
                  <a:srgbClr val="EC9427"/>
                </a:solidFill>
                <a:latin typeface="Yu Gothic"/>
              </a:rPr>
              <a:t>4.78 s</a:t>
            </a:r>
          </a:p>
        </p:txBody>
      </p:sp>
      <p:sp>
        <p:nvSpPr>
          <p:cNvPr id="13" name="TextBox 12"/>
          <p:cNvSpPr txBox="1"/>
          <p:nvPr/>
        </p:nvSpPr>
        <p:spPr>
          <a:xfrm>
            <a:off x="1188720" y="6208776"/>
            <a:ext cx="4387291" cy="1412748"/>
          </a:xfrm>
          <a:prstGeom prst="rect">
            <a:avLst/>
          </a:prstGeom>
          <a:noFill/>
        </p:spPr>
        <p:txBody>
          <a:bodyPr wrap="none" lIns="36576" tIns="27432" rIns="36576" bIns="27432" anchor="ctr">
            <a:spAutoFit/>
          </a:bodyPr>
          <a:lstStyle/>
          <a:p>
            <a:pPr algn="l"/>
            <a:r>
              <a:rPr sz="2100" b="0">
                <a:solidFill>
                  <a:srgbClr val="232B34"/>
                </a:solidFill>
                <a:latin typeface="Yu Gothic"/>
              </a:rPr>
              <a:t>Hierarchical bcase</a:t>
            </a:r>
          </a:p>
        </p:txBody>
      </p:sp>
      <p:sp>
        <p:nvSpPr>
          <p:cNvPr id="14" name="Rectangle 13"/>
          <p:cNvSpPr/>
          <p:nvPr/>
        </p:nvSpPr>
        <p:spPr>
          <a:xfrm>
            <a:off x="5667451" y="6309360"/>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7451" y="6309360"/>
            <a:ext cx="73152" cy="12115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694408" y="6172200"/>
            <a:ext cx="914400" cy="1485900"/>
          </a:xfrm>
          <a:prstGeom prst="rect">
            <a:avLst/>
          </a:prstGeom>
          <a:noFill/>
        </p:spPr>
        <p:txBody>
          <a:bodyPr wrap="none" lIns="36576" tIns="27432" rIns="36576" bIns="27432" anchor="ctr">
            <a:spAutoFit/>
          </a:bodyPr>
          <a:lstStyle/>
          <a:p>
            <a:pPr algn="l"/>
            <a:r>
              <a:rPr sz="2000" b="1">
                <a:solidFill>
                  <a:srgbClr val="239571"/>
                </a:solidFill>
                <a:latin typeface="Yu Gothic"/>
              </a:rPr>
              <a:t>0.116 s</a:t>
            </a:r>
          </a:p>
        </p:txBody>
      </p:sp>
      <p:sp>
        <p:nvSpPr>
          <p:cNvPr id="17" name="TextBox 16"/>
          <p:cNvSpPr txBox="1"/>
          <p:nvPr/>
        </p:nvSpPr>
        <p:spPr>
          <a:xfrm>
            <a:off x="1188720" y="7694675"/>
            <a:ext cx="4387291" cy="1412748"/>
          </a:xfrm>
          <a:prstGeom prst="rect">
            <a:avLst/>
          </a:prstGeom>
          <a:noFill/>
        </p:spPr>
        <p:txBody>
          <a:bodyPr wrap="none" lIns="36576" tIns="27432" rIns="36576" bIns="27432" anchor="ctr">
            <a:spAutoFit/>
          </a:bodyPr>
          <a:lstStyle/>
          <a:p>
            <a:pPr algn="l"/>
            <a:r>
              <a:rPr sz="2100" b="0">
                <a:solidFill>
                  <a:srgbClr val="232B34"/>
                </a:solidFill>
                <a:latin typeface="Yu Gothic"/>
              </a:rPr>
              <a:t>Thermal truth</a:t>
            </a:r>
          </a:p>
        </p:txBody>
      </p:sp>
      <p:sp>
        <p:nvSpPr>
          <p:cNvPr id="18" name="Rectangle 17"/>
          <p:cNvSpPr/>
          <p:nvPr/>
        </p:nvSpPr>
        <p:spPr>
          <a:xfrm>
            <a:off x="5667451" y="7795260"/>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7451" y="7795260"/>
            <a:ext cx="73152" cy="121158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694408" y="7658100"/>
            <a:ext cx="914400" cy="1485900"/>
          </a:xfrm>
          <a:prstGeom prst="rect">
            <a:avLst/>
          </a:prstGeom>
          <a:noFill/>
        </p:spPr>
        <p:txBody>
          <a:bodyPr wrap="none" lIns="36576" tIns="27432" rIns="36576" bIns="27432" anchor="ctr">
            <a:spAutoFit/>
          </a:bodyPr>
          <a:lstStyle/>
          <a:p>
            <a:pPr algn="l"/>
            <a:r>
              <a:rPr sz="2000" b="1">
                <a:solidFill>
                  <a:srgbClr val="1B74AA"/>
                </a:solidFill>
                <a:latin typeface="Yu Gothic"/>
              </a:rPr>
              <a:t>0.1 s</a:t>
            </a:r>
          </a:p>
        </p:txBody>
      </p:sp>
      <p:graphicFrame>
        <p:nvGraphicFramePr>
          <p:cNvPr id="21" name="Table 20"/>
          <p:cNvGraphicFramePr>
            <a:graphicFrameLocks noGrp="1"/>
          </p:cNvGraphicFramePr>
          <p:nvPr/>
        </p:nvGraphicFramePr>
        <p:xfrm>
          <a:off x="16276320" y="3017520"/>
          <a:ext cx="6766560" cy="493776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987552">
                <a:tc>
                  <a:txBody>
                    <a:bodyPr/>
                    <a:lstStyle/>
                    <a:p>
                      <a:pPr algn="l"/>
                      <a:r>
                        <a:rPr sz="2000" b="1">
                          <a:solidFill>
                            <a:srgbClr val="FFFFFF"/>
                          </a:solidFill>
                          <a:latin typeface="Yu Gothic"/>
                        </a:rPr>
                        <a:t>Model</a:t>
                      </a:r>
                    </a:p>
                  </a:txBody>
                  <a:tcPr marL="64008" marR="64008" marT="27432" marB="27432" anchor="ctr">
                    <a:solidFill>
                      <a:srgbClr val="082B52"/>
                    </a:solidFill>
                  </a:tcPr>
                </a:tc>
                <a:tc>
                  <a:txBody>
                    <a:bodyPr/>
                    <a:lstStyle/>
                    <a:p>
                      <a:pPr algn="ctr"/>
                      <a:r>
                        <a:rPr sz="2000" b="1">
                          <a:solidFill>
                            <a:srgbClr val="FFFFFF"/>
                          </a:solidFill>
                          <a:latin typeface="Yu Gothic"/>
                        </a:rPr>
                        <a:t>Success</a:t>
                      </a:r>
                    </a:p>
                  </a:txBody>
                  <a:tcPr marL="64008" marR="64008" marT="27432" marB="27432" anchor="ctr">
                    <a:solidFill>
                      <a:srgbClr val="082B52"/>
                    </a:solidFill>
                  </a:tcPr>
                </a:tc>
                <a:tc>
                  <a:txBody>
                    <a:bodyPr/>
                    <a:lstStyle/>
                    <a:p>
                      <a:pPr algn="ctr"/>
                      <a:r>
                        <a:rPr sz="2000" b="1">
                          <a:solidFill>
                            <a:srgbClr val="FFFFFF"/>
                          </a:solidFill>
                          <a:latin typeface="Yu Gothic"/>
                        </a:rPr>
                        <a:t>Mean tacq</a:t>
                      </a:r>
                    </a:p>
                  </a:txBody>
                  <a:tcPr marL="64008" marR="64008" marT="27432" marB="27432" anchor="ctr">
                    <a:solidFill>
                      <a:srgbClr val="082B52"/>
                    </a:solidFill>
                  </a:tcPr>
                </a:tc>
                <a:extLst>
                  <a:ext uri="{0D108BD9-81ED-4DB2-BD59-A6C34878D82A}">
                    <a16:rowId xmlns:a16="http://schemas.microsoft.com/office/drawing/2014/main" val="10000"/>
                  </a:ext>
                </a:extLst>
              </a:tr>
              <a:tr h="987552">
                <a:tc>
                  <a:txBody>
                    <a:bodyPr/>
                    <a:lstStyle/>
                    <a:p>
                      <a:pPr algn="l"/>
                      <a:r>
                        <a:rPr sz="2000" b="0">
                          <a:solidFill>
                            <a:srgbClr val="232B34"/>
                          </a:solidFill>
                          <a:latin typeface="Yu Gothic"/>
                        </a:rPr>
                        <a:t>No correction</a:t>
                      </a:r>
                    </a:p>
                  </a:txBody>
                  <a:tcPr marL="64008" marR="64008" marT="27432" marB="27432" anchor="ctr">
                    <a:solidFill>
                      <a:srgbClr val="FFFFFF"/>
                    </a:solidFill>
                  </a:tcPr>
                </a:tc>
                <a:tc>
                  <a:txBody>
                    <a:bodyPr/>
                    <a:lstStyle/>
                    <a:p>
                      <a:pPr algn="ctr"/>
                      <a:r>
                        <a:rPr sz="2000" b="0">
                          <a:solidFill>
                            <a:srgbClr val="232B34"/>
                          </a:solidFill>
                          <a:latin typeface="Yu Gothic"/>
                        </a:rPr>
                        <a:t>95.9%</a:t>
                      </a:r>
                    </a:p>
                  </a:txBody>
                  <a:tcPr marL="64008" marR="64008" marT="27432" marB="27432" anchor="ctr">
                    <a:solidFill>
                      <a:srgbClr val="FFFFFF"/>
                    </a:solidFill>
                  </a:tcPr>
                </a:tc>
                <a:tc>
                  <a:txBody>
                    <a:bodyPr/>
                    <a:lstStyle/>
                    <a:p>
                      <a:pPr algn="ctr"/>
                      <a:r>
                        <a:rPr sz="2000" b="0">
                          <a:solidFill>
                            <a:srgbClr val="232B34"/>
                          </a:solidFill>
                          <a:latin typeface="Yu Gothic"/>
                        </a:rPr>
                        <a:t>124.6 s</a:t>
                      </a:r>
                    </a:p>
                  </a:txBody>
                  <a:tcPr marL="64008" marR="64008" marT="27432" marB="27432" anchor="ctr">
                    <a:solidFill>
                      <a:srgbClr val="EBF6FB"/>
                    </a:solidFill>
                  </a:tcPr>
                </a:tc>
                <a:extLst>
                  <a:ext uri="{0D108BD9-81ED-4DB2-BD59-A6C34878D82A}">
                    <a16:rowId xmlns:a16="http://schemas.microsoft.com/office/drawing/2014/main" val="10001"/>
                  </a:ext>
                </a:extLst>
              </a:tr>
              <a:tr h="987552">
                <a:tc>
                  <a:txBody>
                    <a:bodyPr/>
                    <a:lstStyle/>
                    <a:p>
                      <a:pPr algn="l"/>
                      <a:r>
                        <a:rPr sz="2000" b="0">
                          <a:solidFill>
                            <a:srgbClr val="232B34"/>
                          </a:solidFill>
                          <a:latin typeface="Yu Gothic"/>
                        </a:rPr>
                        <a:t>Static bias</a:t>
                      </a:r>
                    </a:p>
                  </a:txBody>
                  <a:tcPr marL="64008" marR="64008" marT="27432" marB="27432" anchor="ctr">
                    <a:solidFill>
                      <a:srgbClr val="F4F6F8"/>
                    </a:solidFill>
                  </a:tcPr>
                </a:tc>
                <a:tc>
                  <a:txBody>
                    <a:bodyPr/>
                    <a:lstStyle/>
                    <a:p>
                      <a:pPr algn="ctr"/>
                      <a:r>
                        <a:rPr sz="2000" b="0">
                          <a:solidFill>
                            <a:srgbClr val="232B34"/>
                          </a:solidFill>
                          <a:latin typeface="Yu Gothic"/>
                        </a:rPr>
                        <a:t>99.3%</a:t>
                      </a:r>
                    </a:p>
                  </a:txBody>
                  <a:tcPr marL="64008" marR="64008" marT="27432" marB="27432" anchor="ctr">
                    <a:solidFill>
                      <a:srgbClr val="F4F6F8"/>
                    </a:solidFill>
                  </a:tcPr>
                </a:tc>
                <a:tc>
                  <a:txBody>
                    <a:bodyPr/>
                    <a:lstStyle/>
                    <a:p>
                      <a:pPr algn="ctr"/>
                      <a:r>
                        <a:rPr sz="2000" b="0">
                          <a:solidFill>
                            <a:srgbClr val="232B34"/>
                          </a:solidFill>
                          <a:latin typeface="Yu Gothic"/>
                        </a:rPr>
                        <a:t>4.78 s</a:t>
                      </a:r>
                    </a:p>
                  </a:txBody>
                  <a:tcPr marL="64008" marR="64008" marT="27432" marB="27432" anchor="ctr">
                    <a:solidFill>
                      <a:srgbClr val="EBF6FB"/>
                    </a:solidFill>
                  </a:tcPr>
                </a:tc>
                <a:extLst>
                  <a:ext uri="{0D108BD9-81ED-4DB2-BD59-A6C34878D82A}">
                    <a16:rowId xmlns:a16="http://schemas.microsoft.com/office/drawing/2014/main" val="10002"/>
                  </a:ext>
                </a:extLst>
              </a:tr>
              <a:tr h="987552">
                <a:tc>
                  <a:txBody>
                    <a:bodyPr/>
                    <a:lstStyle/>
                    <a:p>
                      <a:pPr algn="l"/>
                      <a:r>
                        <a:rPr sz="2000" b="0">
                          <a:solidFill>
                            <a:srgbClr val="232B34"/>
                          </a:solidFill>
                          <a:latin typeface="Yu Gothic"/>
                        </a:rPr>
                        <a:t>bcase</a:t>
                      </a:r>
                    </a:p>
                  </a:txBody>
                  <a:tcPr marL="64008" marR="64008" marT="27432" marB="27432" anchor="ctr">
                    <a:solidFill>
                      <a:srgbClr val="FFFFFF"/>
                    </a:solidFill>
                  </a:tcPr>
                </a:tc>
                <a:tc>
                  <a:txBody>
                    <a:bodyPr/>
                    <a:lstStyle/>
                    <a:p>
                      <a:pPr algn="ctr"/>
                      <a:r>
                        <a:rPr sz="2000" b="0">
                          <a:solidFill>
                            <a:srgbClr val="232B34"/>
                          </a:solidFill>
                          <a:latin typeface="Yu Gothic"/>
                        </a:rPr>
                        <a:t>100%</a:t>
                      </a:r>
                    </a:p>
                  </a:txBody>
                  <a:tcPr marL="64008" marR="64008" marT="27432" marB="27432" anchor="ctr">
                    <a:solidFill>
                      <a:srgbClr val="FFFFFF"/>
                    </a:solidFill>
                  </a:tcPr>
                </a:tc>
                <a:tc>
                  <a:txBody>
                    <a:bodyPr/>
                    <a:lstStyle/>
                    <a:p>
                      <a:pPr algn="ctr"/>
                      <a:r>
                        <a:rPr sz="2000" b="0">
                          <a:solidFill>
                            <a:srgbClr val="232B34"/>
                          </a:solidFill>
                          <a:latin typeface="Yu Gothic"/>
                        </a:rPr>
                        <a:t>0.116 s</a:t>
                      </a:r>
                    </a:p>
                  </a:txBody>
                  <a:tcPr marL="64008" marR="64008" marT="27432" marB="27432" anchor="ctr">
                    <a:solidFill>
                      <a:srgbClr val="EBF6FB"/>
                    </a:solidFill>
                  </a:tcPr>
                </a:tc>
                <a:extLst>
                  <a:ext uri="{0D108BD9-81ED-4DB2-BD59-A6C34878D82A}">
                    <a16:rowId xmlns:a16="http://schemas.microsoft.com/office/drawing/2014/main" val="10003"/>
                  </a:ext>
                </a:extLst>
              </a:tr>
              <a:tr h="987552">
                <a:tc>
                  <a:txBody>
                    <a:bodyPr/>
                    <a:lstStyle/>
                    <a:p>
                      <a:pPr algn="l"/>
                      <a:r>
                        <a:rPr sz="2000" b="0">
                          <a:solidFill>
                            <a:srgbClr val="232B34"/>
                          </a:solidFill>
                          <a:latin typeface="Yu Gothic"/>
                        </a:rPr>
                        <a:t>truth</a:t>
                      </a:r>
                    </a:p>
                  </a:txBody>
                  <a:tcPr marL="64008" marR="64008" marT="27432" marB="27432" anchor="ctr">
                    <a:solidFill>
                      <a:srgbClr val="F4F6F8"/>
                    </a:solidFill>
                  </a:tcPr>
                </a:tc>
                <a:tc>
                  <a:txBody>
                    <a:bodyPr/>
                    <a:lstStyle/>
                    <a:p>
                      <a:pPr algn="ctr"/>
                      <a:r>
                        <a:rPr sz="2000" b="0">
                          <a:solidFill>
                            <a:srgbClr val="232B34"/>
                          </a:solidFill>
                          <a:latin typeface="Yu Gothic"/>
                        </a:rPr>
                        <a:t>100%</a:t>
                      </a:r>
                    </a:p>
                  </a:txBody>
                  <a:tcPr marL="64008" marR="64008" marT="27432" marB="27432" anchor="ctr">
                    <a:solidFill>
                      <a:srgbClr val="F4F6F8"/>
                    </a:solidFill>
                  </a:tcPr>
                </a:tc>
                <a:tc>
                  <a:txBody>
                    <a:bodyPr/>
                    <a:lstStyle/>
                    <a:p>
                      <a:pPr algn="ctr"/>
                      <a:r>
                        <a:rPr sz="2000" b="0">
                          <a:solidFill>
                            <a:srgbClr val="232B34"/>
                          </a:solidFill>
                          <a:latin typeface="Yu Gothic"/>
                        </a:rPr>
                        <a:t>0.100 s</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2" name="Rounded Rectangle 21"/>
          <p:cNvSpPr/>
          <p:nvPr/>
        </p:nvSpPr>
        <p:spPr>
          <a:xfrm>
            <a:off x="16367759" y="8412480"/>
            <a:ext cx="658368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0" y="8540496"/>
            <a:ext cx="6400800" cy="566928"/>
          </a:xfrm>
          <a:prstGeom prst="rect">
            <a:avLst/>
          </a:prstGeom>
          <a:noFill/>
        </p:spPr>
        <p:txBody>
          <a:bodyPr wrap="none" lIns="36576" tIns="27432" rIns="36576" bIns="27432" anchor="t">
            <a:spAutoFit/>
          </a:bodyPr>
          <a:lstStyle/>
          <a:p>
            <a:pPr algn="ctr"/>
            <a:r>
              <a:rPr sz="3400" b="1">
                <a:solidFill>
                  <a:srgbClr val="239571"/>
                </a:solidFill>
                <a:latin typeface="Yu Gothic"/>
              </a:rPr>
              <a:t>8.8 µrad</a:t>
            </a:r>
          </a:p>
        </p:txBody>
      </p:sp>
      <p:sp>
        <p:nvSpPr>
          <p:cNvPr id="24" name="TextBox 23"/>
          <p:cNvSpPr txBox="1"/>
          <p:nvPr/>
        </p:nvSpPr>
        <p:spPr>
          <a:xfrm>
            <a:off x="16459200" y="9217152"/>
            <a:ext cx="6400800" cy="365760"/>
          </a:xfrm>
          <a:prstGeom prst="rect">
            <a:avLst/>
          </a:prstGeom>
          <a:noFill/>
        </p:spPr>
        <p:txBody>
          <a:bodyPr wrap="none" lIns="36576" tIns="27432" rIns="36576" bIns="27432" anchor="t">
            <a:spAutoFit/>
          </a:bodyPr>
          <a:lstStyle/>
          <a:p>
            <a:pPr algn="ctr"/>
            <a:r>
              <a:rPr sz="1900" b="0">
                <a:solidFill>
                  <a:srgbClr val="666F79"/>
                </a:solidFill>
                <a:latin typeface="Yu Gothic"/>
              </a:rPr>
              <a:t>mean thermal residual</a:t>
            </a:r>
          </a:p>
        </p:txBody>
      </p:sp>
      <p:sp>
        <p:nvSpPr>
          <p:cNvPr id="25" name="TextBox 24"/>
          <p:cNvSpPr txBox="1"/>
          <p:nvPr/>
        </p:nvSpPr>
        <p:spPr>
          <a:xfrm>
            <a:off x="3840480" y="10881360"/>
            <a:ext cx="16642080" cy="548640"/>
          </a:xfrm>
          <a:prstGeom prst="rect">
            <a:avLst/>
          </a:prstGeom>
          <a:noFill/>
        </p:spPr>
        <p:txBody>
          <a:bodyPr wrap="none" lIns="36576" tIns="27432" rIns="36576" bIns="27432" anchor="t">
            <a:spAutoFit/>
          </a:bodyPr>
          <a:lstStyle/>
          <a:p>
            <a:pPr algn="ctr"/>
            <a:r>
              <a:rPr sz="2500" b="0">
                <a:solidFill>
                  <a:srgbClr val="666F79"/>
                </a:solidFill>
                <a:latin typeface="Yu Gothic"/>
              </a:rPr>
              <a:t>熱モデル自体の能力を見る理想条件。主結果は非熱込み。</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PAT results</a:t>
            </a:r>
          </a:p>
        </p:txBody>
      </p:sp>
      <p:sp>
        <p:nvSpPr>
          <p:cNvPr id="3" name="TextBox 2"/>
          <p:cNvSpPr txBox="1"/>
          <p:nvPr/>
        </p:nvSpPr>
        <p:spPr>
          <a:xfrm>
            <a:off x="1536192" y="1298448"/>
            <a:ext cx="14534556"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lang="ja-JP" altLang="en-US" sz="3200" b="1" dirty="0">
                <a:solidFill>
                  <a:srgbClr val="082B52"/>
                </a:solidFill>
                <a:latin typeface="Yu Gothic"/>
              </a:rPr>
              <a:t>結果</a:t>
            </a:r>
            <a:r>
              <a:rPr lang="en-US" altLang="ja-JP" sz="3200" b="1" dirty="0">
                <a:solidFill>
                  <a:srgbClr val="082B52"/>
                </a:solidFill>
                <a:latin typeface="Yu Gothic"/>
              </a:rPr>
              <a:t>2</a:t>
            </a:r>
            <a:r>
              <a:rPr lang="ja-JP" altLang="en-US" sz="3200" b="1" dirty="0">
                <a:solidFill>
                  <a:srgbClr val="082B52"/>
                </a:solidFill>
                <a:latin typeface="Yu Gothic"/>
              </a:rPr>
              <a:t>：</a:t>
            </a:r>
            <a:r>
              <a:rPr sz="3200" b="1" dirty="0">
                <a:solidFill>
                  <a:srgbClr val="082B52"/>
                </a:solidFill>
                <a:latin typeface="Yu Gothic"/>
              </a:rPr>
              <a:t>非熱込みでも平均捕捉時間156.9→59.6 s、成功率94.0→97.1%となる</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38</a:t>
            </a:r>
          </a:p>
        </p:txBody>
      </p:sp>
      <p:sp>
        <p:nvSpPr>
          <p:cNvPr id="5" name="TextBox 4"/>
          <p:cNvSpPr txBox="1"/>
          <p:nvPr/>
        </p:nvSpPr>
        <p:spPr>
          <a:xfrm>
            <a:off x="1371600" y="3236976"/>
            <a:ext cx="4217212" cy="1755648"/>
          </a:xfrm>
          <a:prstGeom prst="rect">
            <a:avLst/>
          </a:prstGeom>
          <a:noFill/>
        </p:spPr>
        <p:txBody>
          <a:bodyPr wrap="none" lIns="36576" tIns="27432" rIns="36576" bIns="27432" anchor="ctr">
            <a:spAutoFit/>
          </a:bodyPr>
          <a:lstStyle/>
          <a:p>
            <a:pPr algn="l"/>
            <a:r>
              <a:rPr sz="2100" b="0">
                <a:solidFill>
                  <a:srgbClr val="232B34"/>
                </a:solidFill>
                <a:latin typeface="Yu Gothic"/>
              </a:rPr>
              <a:t>No thermal correction</a:t>
            </a:r>
          </a:p>
        </p:txBody>
      </p:sp>
      <p:sp>
        <p:nvSpPr>
          <p:cNvPr id="6" name="Rectangle 5"/>
          <p:cNvSpPr/>
          <p:nvPr/>
        </p:nvSpPr>
        <p:spPr>
          <a:xfrm>
            <a:off x="5680252" y="33375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80252" y="3337560"/>
            <a:ext cx="8373230" cy="15544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328647" y="3200400"/>
            <a:ext cx="914400" cy="1828800"/>
          </a:xfrm>
          <a:prstGeom prst="rect">
            <a:avLst/>
          </a:prstGeom>
          <a:noFill/>
        </p:spPr>
        <p:txBody>
          <a:bodyPr wrap="none" lIns="36576" tIns="27432" rIns="36576" bIns="27432" anchor="ctr">
            <a:spAutoFit/>
          </a:bodyPr>
          <a:lstStyle/>
          <a:p>
            <a:pPr algn="l"/>
            <a:r>
              <a:rPr sz="2000" b="1">
                <a:solidFill>
                  <a:srgbClr val="D03B46"/>
                </a:solidFill>
                <a:latin typeface="Yu Gothic"/>
              </a:rPr>
              <a:t>156.9 s</a:t>
            </a:r>
          </a:p>
        </p:txBody>
      </p:sp>
      <p:sp>
        <p:nvSpPr>
          <p:cNvPr id="9" name="TextBox 8"/>
          <p:cNvSpPr txBox="1"/>
          <p:nvPr/>
        </p:nvSpPr>
        <p:spPr>
          <a:xfrm>
            <a:off x="1371600" y="5065776"/>
            <a:ext cx="4217212" cy="1755648"/>
          </a:xfrm>
          <a:prstGeom prst="rect">
            <a:avLst/>
          </a:prstGeom>
          <a:noFill/>
        </p:spPr>
        <p:txBody>
          <a:bodyPr wrap="none" lIns="36576" tIns="27432" rIns="36576" bIns="27432" anchor="ctr">
            <a:spAutoFit/>
          </a:bodyPr>
          <a:lstStyle/>
          <a:p>
            <a:pPr algn="l"/>
            <a:r>
              <a:rPr sz="2100" b="0">
                <a:solidFill>
                  <a:srgbClr val="232B34"/>
                </a:solidFill>
                <a:latin typeface="Yu Gothic"/>
              </a:rPr>
              <a:t>Hierarchical bcase FF</a:t>
            </a:r>
          </a:p>
        </p:txBody>
      </p:sp>
      <p:sp>
        <p:nvSpPr>
          <p:cNvPr id="10" name="Rectangle 9"/>
          <p:cNvSpPr/>
          <p:nvPr/>
        </p:nvSpPr>
        <p:spPr>
          <a:xfrm>
            <a:off x="5680252" y="51663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80252" y="5166360"/>
            <a:ext cx="3180653" cy="15544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328647" y="5029200"/>
            <a:ext cx="914400" cy="1828800"/>
          </a:xfrm>
          <a:prstGeom prst="rect">
            <a:avLst/>
          </a:prstGeom>
          <a:noFill/>
        </p:spPr>
        <p:txBody>
          <a:bodyPr wrap="none" lIns="36576" tIns="27432" rIns="36576" bIns="27432" anchor="ctr">
            <a:spAutoFit/>
          </a:bodyPr>
          <a:lstStyle/>
          <a:p>
            <a:pPr algn="l"/>
            <a:r>
              <a:rPr sz="2000" b="1">
                <a:solidFill>
                  <a:srgbClr val="239571"/>
                </a:solidFill>
                <a:latin typeface="Yu Gothic"/>
              </a:rPr>
              <a:t>59.6 s</a:t>
            </a:r>
          </a:p>
        </p:txBody>
      </p:sp>
      <p:sp>
        <p:nvSpPr>
          <p:cNvPr id="13" name="Rounded Rectangle 12"/>
          <p:cNvSpPr/>
          <p:nvPr/>
        </p:nvSpPr>
        <p:spPr>
          <a:xfrm>
            <a:off x="16093440" y="3108960"/>
            <a:ext cx="667512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184880" y="3236976"/>
            <a:ext cx="6492240" cy="566928"/>
          </a:xfrm>
          <a:prstGeom prst="rect">
            <a:avLst/>
          </a:prstGeom>
          <a:noFill/>
        </p:spPr>
        <p:txBody>
          <a:bodyPr wrap="none" lIns="36576" tIns="27432" rIns="36576" bIns="27432" anchor="t">
            <a:spAutoFit/>
          </a:bodyPr>
          <a:lstStyle/>
          <a:p>
            <a:pPr algn="ctr"/>
            <a:r>
              <a:rPr sz="3400" b="1">
                <a:solidFill>
                  <a:srgbClr val="239571"/>
                </a:solidFill>
                <a:latin typeface="Yu Gothic"/>
              </a:rPr>
              <a:t>−62%</a:t>
            </a:r>
          </a:p>
        </p:txBody>
      </p:sp>
      <p:sp>
        <p:nvSpPr>
          <p:cNvPr id="15" name="TextBox 14"/>
          <p:cNvSpPr txBox="1"/>
          <p:nvPr/>
        </p:nvSpPr>
        <p:spPr>
          <a:xfrm>
            <a:off x="16184880" y="3913632"/>
            <a:ext cx="6492240" cy="365760"/>
          </a:xfrm>
          <a:prstGeom prst="rect">
            <a:avLst/>
          </a:prstGeom>
          <a:noFill/>
        </p:spPr>
        <p:txBody>
          <a:bodyPr wrap="none" lIns="36576" tIns="27432" rIns="36576" bIns="27432" anchor="t">
            <a:spAutoFit/>
          </a:bodyPr>
          <a:lstStyle/>
          <a:p>
            <a:pPr algn="ctr"/>
            <a:r>
              <a:rPr sz="1900" b="0">
                <a:solidFill>
                  <a:srgbClr val="666F79"/>
                </a:solidFill>
                <a:latin typeface="Yu Gothic"/>
              </a:rPr>
              <a:t>mean acquisition time</a:t>
            </a:r>
          </a:p>
        </p:txBody>
      </p:sp>
      <p:sp>
        <p:nvSpPr>
          <p:cNvPr id="16" name="Rounded Rectangle 15"/>
          <p:cNvSpPr/>
          <p:nvPr/>
        </p:nvSpPr>
        <p:spPr>
          <a:xfrm>
            <a:off x="16093440" y="5257800"/>
            <a:ext cx="6675120" cy="141732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184880" y="5385816"/>
            <a:ext cx="6492240" cy="566928"/>
          </a:xfrm>
          <a:prstGeom prst="rect">
            <a:avLst/>
          </a:prstGeom>
          <a:noFill/>
        </p:spPr>
        <p:txBody>
          <a:bodyPr wrap="none" lIns="36576" tIns="27432" rIns="36576" bIns="27432" anchor="t">
            <a:spAutoFit/>
          </a:bodyPr>
          <a:lstStyle/>
          <a:p>
            <a:pPr algn="ctr"/>
            <a:r>
              <a:rPr sz="3400" b="1">
                <a:solidFill>
                  <a:srgbClr val="1B74AA"/>
                </a:solidFill>
                <a:latin typeface="Yu Gothic"/>
              </a:rPr>
              <a:t>+3.1 pt</a:t>
            </a:r>
          </a:p>
        </p:txBody>
      </p:sp>
      <p:sp>
        <p:nvSpPr>
          <p:cNvPr id="18" name="TextBox 17"/>
          <p:cNvSpPr txBox="1"/>
          <p:nvPr/>
        </p:nvSpPr>
        <p:spPr>
          <a:xfrm>
            <a:off x="16184880" y="6062472"/>
            <a:ext cx="6492240" cy="365760"/>
          </a:xfrm>
          <a:prstGeom prst="rect">
            <a:avLst/>
          </a:prstGeom>
          <a:noFill/>
        </p:spPr>
        <p:txBody>
          <a:bodyPr wrap="none" lIns="36576" tIns="27432" rIns="36576" bIns="27432" anchor="t">
            <a:spAutoFit/>
          </a:bodyPr>
          <a:lstStyle/>
          <a:p>
            <a:pPr algn="ctr"/>
            <a:r>
              <a:rPr sz="1900" b="0">
                <a:solidFill>
                  <a:srgbClr val="666F79"/>
                </a:solidFill>
                <a:latin typeface="Yu Gothic"/>
              </a:rPr>
              <a:t>success rate</a:t>
            </a:r>
          </a:p>
        </p:txBody>
      </p:sp>
      <p:graphicFrame>
        <p:nvGraphicFramePr>
          <p:cNvPr id="19" name="Table 18"/>
          <p:cNvGraphicFramePr>
            <a:graphicFrameLocks noGrp="1"/>
          </p:cNvGraphicFramePr>
          <p:nvPr/>
        </p:nvGraphicFramePr>
        <p:xfrm>
          <a:off x="2743200" y="7635240"/>
          <a:ext cx="18928080" cy="3246120"/>
        </p:xfrm>
        <a:graphic>
          <a:graphicData uri="http://schemas.openxmlformats.org/drawingml/2006/table">
            <a:tbl>
              <a:tblPr firstRow="1" bandRow="1">
                <a:tableStyleId>{5C22544A-7EE6-4342-B048-85BDC9FD1C3A}</a:tableStyleId>
              </a:tblPr>
              <a:tblGrid>
                <a:gridCol w="74066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649224">
                <a:tc>
                  <a:txBody>
                    <a:bodyPr/>
                    <a:lstStyle/>
                    <a:p>
                      <a:pPr algn="l"/>
                      <a:r>
                        <a:rPr sz="2100" b="1">
                          <a:solidFill>
                            <a:srgbClr val="FFFFFF"/>
                          </a:solidFill>
                          <a:latin typeface="Yu Gothic"/>
                        </a:rPr>
                        <a:t>Metric</a:t>
                      </a:r>
                    </a:p>
                  </a:txBody>
                  <a:tcPr marL="64008" marR="64008" marT="27432" marB="27432" anchor="ctr">
                    <a:solidFill>
                      <a:srgbClr val="082B52"/>
                    </a:solidFill>
                  </a:tcPr>
                </a:tc>
                <a:tc>
                  <a:txBody>
                    <a:bodyPr/>
                    <a:lstStyle/>
                    <a:p>
                      <a:pPr algn="ctr"/>
                      <a:r>
                        <a:rPr sz="2100" b="1">
                          <a:solidFill>
                            <a:srgbClr val="FFFFFF"/>
                          </a:solidFill>
                          <a:latin typeface="Yu Gothic"/>
                        </a:rPr>
                        <a:t>No correction</a:t>
                      </a:r>
                    </a:p>
                  </a:txBody>
                  <a:tcPr marL="64008" marR="64008" marT="27432" marB="27432" anchor="ctr">
                    <a:solidFill>
                      <a:srgbClr val="082B52"/>
                    </a:solidFill>
                  </a:tcPr>
                </a:tc>
                <a:tc>
                  <a:txBody>
                    <a:bodyPr/>
                    <a:lstStyle/>
                    <a:p>
                      <a:pPr algn="ctr"/>
                      <a:r>
                        <a:rPr sz="2100" b="1">
                          <a:solidFill>
                            <a:srgbClr val="FFFFFF"/>
                          </a:solidFill>
                          <a:latin typeface="Yu Gothic"/>
                        </a:rPr>
                        <a:t>bcase FF</a:t>
                      </a:r>
                    </a:p>
                  </a:txBody>
                  <a:tcPr marL="64008" marR="64008" marT="27432" marB="27432" anchor="ctr">
                    <a:solidFill>
                      <a:srgbClr val="082B52"/>
                    </a:solidFill>
                  </a:tcPr>
                </a:tc>
                <a:extLst>
                  <a:ext uri="{0D108BD9-81ED-4DB2-BD59-A6C34878D82A}">
                    <a16:rowId xmlns:a16="http://schemas.microsoft.com/office/drawing/2014/main" val="10000"/>
                  </a:ext>
                </a:extLst>
              </a:tr>
              <a:tr h="649224">
                <a:tc>
                  <a:txBody>
                    <a:bodyPr/>
                    <a:lstStyle/>
                    <a:p>
                      <a:pPr algn="l"/>
                      <a:r>
                        <a:rPr sz="2100" b="0">
                          <a:solidFill>
                            <a:srgbClr val="232B34"/>
                          </a:solidFill>
                          <a:latin typeface="Yu Gothic"/>
                        </a:rPr>
                        <a:t>Success</a:t>
                      </a:r>
                    </a:p>
                  </a:txBody>
                  <a:tcPr marL="64008" marR="64008" marT="27432" marB="27432" anchor="ctr">
                    <a:solidFill>
                      <a:srgbClr val="FFFFFF"/>
                    </a:solidFill>
                  </a:tcPr>
                </a:tc>
                <a:tc>
                  <a:txBody>
                    <a:bodyPr/>
                    <a:lstStyle/>
                    <a:p>
                      <a:pPr algn="ctr"/>
                      <a:r>
                        <a:rPr sz="2100" b="0">
                          <a:solidFill>
                            <a:srgbClr val="232B34"/>
                          </a:solidFill>
                          <a:latin typeface="Yu Gothic"/>
                        </a:rPr>
                        <a:t>94.0%</a:t>
                      </a:r>
                    </a:p>
                  </a:txBody>
                  <a:tcPr marL="64008" marR="64008" marT="27432" marB="27432" anchor="ctr">
                    <a:solidFill>
                      <a:srgbClr val="FFFFFF"/>
                    </a:solidFill>
                  </a:tcPr>
                </a:tc>
                <a:tc>
                  <a:txBody>
                    <a:bodyPr/>
                    <a:lstStyle/>
                    <a:p>
                      <a:pPr algn="ctr"/>
                      <a:r>
                        <a:rPr sz="2100" b="0">
                          <a:solidFill>
                            <a:srgbClr val="232B34"/>
                          </a:solidFill>
                          <a:latin typeface="Yu Gothic"/>
                        </a:rPr>
                        <a:t>97.1%</a:t>
                      </a:r>
                    </a:p>
                  </a:txBody>
                  <a:tcPr marL="64008" marR="64008" marT="27432" marB="27432" anchor="ctr">
                    <a:solidFill>
                      <a:srgbClr val="EBF6FB"/>
                    </a:solidFill>
                  </a:tcPr>
                </a:tc>
                <a:extLst>
                  <a:ext uri="{0D108BD9-81ED-4DB2-BD59-A6C34878D82A}">
                    <a16:rowId xmlns:a16="http://schemas.microsoft.com/office/drawing/2014/main" val="10001"/>
                  </a:ext>
                </a:extLst>
              </a:tr>
              <a:tr h="649224">
                <a:tc>
                  <a:txBody>
                    <a:bodyPr/>
                    <a:lstStyle/>
                    <a:p>
                      <a:pPr algn="l"/>
                      <a:r>
                        <a:rPr sz="2100" b="0">
                          <a:solidFill>
                            <a:srgbClr val="232B34"/>
                          </a:solidFill>
                          <a:latin typeface="Yu Gothic"/>
                        </a:rPr>
                        <a:t>Mean tacq</a:t>
                      </a:r>
                    </a:p>
                  </a:txBody>
                  <a:tcPr marL="64008" marR="64008" marT="27432" marB="27432" anchor="ctr">
                    <a:solidFill>
                      <a:srgbClr val="F4F6F8"/>
                    </a:solidFill>
                  </a:tcPr>
                </a:tc>
                <a:tc>
                  <a:txBody>
                    <a:bodyPr/>
                    <a:lstStyle/>
                    <a:p>
                      <a:pPr algn="ctr"/>
                      <a:r>
                        <a:rPr sz="2100" b="0">
                          <a:solidFill>
                            <a:srgbClr val="232B34"/>
                          </a:solidFill>
                          <a:latin typeface="Yu Gothic"/>
                        </a:rPr>
                        <a:t>156.9 s</a:t>
                      </a:r>
                    </a:p>
                  </a:txBody>
                  <a:tcPr marL="64008" marR="64008" marT="27432" marB="27432" anchor="ctr">
                    <a:solidFill>
                      <a:srgbClr val="F4F6F8"/>
                    </a:solidFill>
                  </a:tcPr>
                </a:tc>
                <a:tc>
                  <a:txBody>
                    <a:bodyPr/>
                    <a:lstStyle/>
                    <a:p>
                      <a:pPr algn="ctr"/>
                      <a:r>
                        <a:rPr sz="2100" b="0">
                          <a:solidFill>
                            <a:srgbClr val="232B34"/>
                          </a:solidFill>
                          <a:latin typeface="Yu Gothic"/>
                        </a:rPr>
                        <a:t>59.6 s</a:t>
                      </a:r>
                    </a:p>
                  </a:txBody>
                  <a:tcPr marL="64008" marR="64008" marT="27432" marB="27432" anchor="ctr">
                    <a:solidFill>
                      <a:srgbClr val="EBF6FB"/>
                    </a:solidFill>
                  </a:tcPr>
                </a:tc>
                <a:extLst>
                  <a:ext uri="{0D108BD9-81ED-4DB2-BD59-A6C34878D82A}">
                    <a16:rowId xmlns:a16="http://schemas.microsoft.com/office/drawing/2014/main" val="10002"/>
                  </a:ext>
                </a:extLst>
              </a:tr>
              <a:tr h="649224">
                <a:tc>
                  <a:txBody>
                    <a:bodyPr/>
                    <a:lstStyle/>
                    <a:p>
                      <a:pPr algn="l"/>
                      <a:r>
                        <a:rPr sz="2100" b="0">
                          <a:solidFill>
                            <a:srgbClr val="232B34"/>
                          </a:solidFill>
                          <a:latin typeface="Yu Gothic"/>
                        </a:rPr>
                        <a:t>Median tacq</a:t>
                      </a:r>
                    </a:p>
                  </a:txBody>
                  <a:tcPr marL="64008" marR="64008" marT="27432" marB="27432" anchor="ctr">
                    <a:solidFill>
                      <a:srgbClr val="FFFFFF"/>
                    </a:solidFill>
                  </a:tcPr>
                </a:tc>
                <a:tc>
                  <a:txBody>
                    <a:bodyPr/>
                    <a:lstStyle/>
                    <a:p>
                      <a:pPr algn="ctr"/>
                      <a:r>
                        <a:rPr sz="2100" b="0">
                          <a:solidFill>
                            <a:srgbClr val="232B34"/>
                          </a:solidFill>
                          <a:latin typeface="Yu Gothic"/>
                        </a:rPr>
                        <a:t>150.3 s</a:t>
                      </a:r>
                    </a:p>
                  </a:txBody>
                  <a:tcPr marL="64008" marR="64008" marT="27432" marB="27432" anchor="ctr">
                    <a:solidFill>
                      <a:srgbClr val="FFFFFF"/>
                    </a:solidFill>
                  </a:tcPr>
                </a:tc>
                <a:tc>
                  <a:txBody>
                    <a:bodyPr/>
                    <a:lstStyle/>
                    <a:p>
                      <a:pPr algn="ctr"/>
                      <a:r>
                        <a:rPr sz="2100" b="0">
                          <a:solidFill>
                            <a:srgbClr val="232B34"/>
                          </a:solidFill>
                          <a:latin typeface="Yu Gothic"/>
                        </a:rPr>
                        <a:t>36.2 s</a:t>
                      </a:r>
                    </a:p>
                  </a:txBody>
                  <a:tcPr marL="64008" marR="64008" marT="27432" marB="27432" anchor="ctr">
                    <a:solidFill>
                      <a:srgbClr val="EBF6FB"/>
                    </a:solidFill>
                  </a:tcPr>
                </a:tc>
                <a:extLst>
                  <a:ext uri="{0D108BD9-81ED-4DB2-BD59-A6C34878D82A}">
                    <a16:rowId xmlns:a16="http://schemas.microsoft.com/office/drawing/2014/main" val="10003"/>
                  </a:ext>
                </a:extLst>
              </a:tr>
              <a:tr h="649224">
                <a:tc>
                  <a:txBody>
                    <a:bodyPr/>
                    <a:lstStyle/>
                    <a:p>
                      <a:pPr algn="l"/>
                      <a:r>
                        <a:rPr sz="2100" b="0">
                          <a:solidFill>
                            <a:srgbClr val="232B34"/>
                          </a:solidFill>
                          <a:latin typeface="Yu Gothic"/>
                        </a:rPr>
                        <a:t>Thermal residual</a:t>
                      </a:r>
                    </a:p>
                  </a:txBody>
                  <a:tcPr marL="64008" marR="64008" marT="27432" marB="27432" anchor="ctr">
                    <a:solidFill>
                      <a:srgbClr val="F4F6F8"/>
                    </a:solidFill>
                  </a:tcPr>
                </a:tc>
                <a:tc>
                  <a:txBody>
                    <a:bodyPr/>
                    <a:lstStyle/>
                    <a:p>
                      <a:pPr algn="ctr"/>
                      <a:r>
                        <a:rPr sz="2100" b="0">
                          <a:solidFill>
                            <a:srgbClr val="232B34"/>
                          </a:solidFill>
                          <a:latin typeface="Yu Gothic"/>
                        </a:rPr>
                        <a:t>667 µrad</a:t>
                      </a:r>
                    </a:p>
                  </a:txBody>
                  <a:tcPr marL="64008" marR="64008" marT="27432" marB="27432" anchor="ctr">
                    <a:solidFill>
                      <a:srgbClr val="F4F6F8"/>
                    </a:solidFill>
                  </a:tcPr>
                </a:tc>
                <a:tc>
                  <a:txBody>
                    <a:bodyPr/>
                    <a:lstStyle/>
                    <a:p>
                      <a:pPr algn="ctr"/>
                      <a:r>
                        <a:rPr sz="2100" b="0">
                          <a:solidFill>
                            <a:srgbClr val="232B34"/>
                          </a:solidFill>
                          <a:latin typeface="Yu Gothic"/>
                        </a:rPr>
                        <a:t>8.8 µrad</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4572000" y="11201400"/>
            <a:ext cx="15270480" cy="548640"/>
          </a:xfrm>
          <a:prstGeom prst="rect">
            <a:avLst/>
          </a:prstGeom>
          <a:noFill/>
        </p:spPr>
        <p:txBody>
          <a:bodyPr wrap="none" lIns="36576" tIns="27432" rIns="36576" bIns="27432" anchor="t">
            <a:spAutoFit/>
          </a:bodyPr>
          <a:lstStyle/>
          <a:p>
            <a:pPr algn="ctr"/>
            <a:r>
              <a:rPr sz="2800" b="1">
                <a:solidFill>
                  <a:srgbClr val="082B52"/>
                </a:solidFill>
                <a:latin typeface="Yu Gothic"/>
              </a:rPr>
              <a:t>補正後は非熱、特に軌道予測誤差が性能を支配する</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21786-B4D8-8672-EC7C-6783ED6E52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38FE69-D257-D727-C05C-021E844D5793}"/>
              </a:ext>
            </a:extLst>
          </p:cNvPr>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PAT results</a:t>
            </a:r>
          </a:p>
        </p:txBody>
      </p:sp>
      <p:sp>
        <p:nvSpPr>
          <p:cNvPr id="3" name="TextBox 2">
            <a:extLst>
              <a:ext uri="{FF2B5EF4-FFF2-40B4-BE49-F238E27FC236}">
                <a16:creationId xmlns:a16="http://schemas.microsoft.com/office/drawing/2014/main" id="{76D7C386-09B3-E6C5-BF9C-F8689ABF0AEE}"/>
              </a:ext>
            </a:extLst>
          </p:cNvPr>
          <p:cNvSpPr txBox="1"/>
          <p:nvPr/>
        </p:nvSpPr>
        <p:spPr>
          <a:xfrm>
            <a:off x="1536192" y="1298448"/>
            <a:ext cx="7870873"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sz="3200" b="1" dirty="0" err="1">
                <a:solidFill>
                  <a:srgbClr val="082B52"/>
                </a:solidFill>
                <a:latin typeface="Yu Gothic"/>
              </a:rPr>
              <a:t>改善幅は</a:t>
            </a:r>
            <a:r>
              <a:rPr lang="ja-JP" altLang="en-US" sz="3200" b="1" dirty="0">
                <a:solidFill>
                  <a:srgbClr val="082B52"/>
                </a:solidFill>
                <a:latin typeface="Yu Gothic"/>
              </a:rPr>
              <a:t>バイアス成分のサイズに依存する</a:t>
            </a:r>
            <a:endParaRPr sz="3200" b="1" dirty="0">
              <a:solidFill>
                <a:srgbClr val="082B52"/>
              </a:solidFill>
              <a:latin typeface="Yu Gothic"/>
            </a:endParaRPr>
          </a:p>
        </p:txBody>
      </p:sp>
      <p:sp>
        <p:nvSpPr>
          <p:cNvPr id="4" name="TextBox 3">
            <a:extLst>
              <a:ext uri="{FF2B5EF4-FFF2-40B4-BE49-F238E27FC236}">
                <a16:creationId xmlns:a16="http://schemas.microsoft.com/office/drawing/2014/main" id="{C9F135E6-481D-5D6E-0825-967FC3C20886}"/>
              </a:ext>
            </a:extLst>
          </p:cNvPr>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39</a:t>
            </a:r>
          </a:p>
        </p:txBody>
      </p:sp>
      <p:pic>
        <p:nvPicPr>
          <p:cNvPr id="7" name="図 6">
            <a:extLst>
              <a:ext uri="{FF2B5EF4-FFF2-40B4-BE49-F238E27FC236}">
                <a16:creationId xmlns:a16="http://schemas.microsoft.com/office/drawing/2014/main" id="{209BFF0B-1493-13E6-2082-C275BACD3E94}"/>
              </a:ext>
            </a:extLst>
          </p:cNvPr>
          <p:cNvPicPr>
            <a:picLocks noChangeAspect="1"/>
          </p:cNvPicPr>
          <p:nvPr/>
        </p:nvPicPr>
        <p:blipFill>
          <a:blip r:embed="rId3"/>
          <a:stretch>
            <a:fillRect/>
          </a:stretch>
        </p:blipFill>
        <p:spPr>
          <a:xfrm>
            <a:off x="2677050" y="2275389"/>
            <a:ext cx="8907126" cy="8907126"/>
          </a:xfrm>
          <a:prstGeom prst="rect">
            <a:avLst/>
          </a:prstGeom>
        </p:spPr>
      </p:pic>
      <p:sp>
        <p:nvSpPr>
          <p:cNvPr id="13" name="テキスト ボックス 12">
            <a:extLst>
              <a:ext uri="{FF2B5EF4-FFF2-40B4-BE49-F238E27FC236}">
                <a16:creationId xmlns:a16="http://schemas.microsoft.com/office/drawing/2014/main" id="{09FB2D3C-D37D-4AD4-9850-E60245C69FC4}"/>
              </a:ext>
            </a:extLst>
          </p:cNvPr>
          <p:cNvSpPr txBox="1"/>
          <p:nvPr/>
        </p:nvSpPr>
        <p:spPr>
          <a:xfrm>
            <a:off x="4000500" y="11341773"/>
            <a:ext cx="6172200" cy="369332"/>
          </a:xfrm>
          <a:prstGeom prst="rect">
            <a:avLst/>
          </a:prstGeom>
          <a:noFill/>
        </p:spPr>
        <p:txBody>
          <a:bodyPr wrap="square">
            <a:spAutoFit/>
          </a:bodyPr>
          <a:lstStyle/>
          <a:p>
            <a:r>
              <a:rPr lang="ja-JP" altLang="en-US"/>
              <a:t>04_LTAN06_800km_1213COLD_MY_ALL_HEAT_MY_0p5</a:t>
            </a:r>
            <a:endParaRPr lang="ja-JP" altLang="en-US" dirty="0"/>
          </a:p>
        </p:txBody>
      </p:sp>
      <p:sp>
        <p:nvSpPr>
          <p:cNvPr id="15" name="テキスト ボックス 14">
            <a:extLst>
              <a:ext uri="{FF2B5EF4-FFF2-40B4-BE49-F238E27FC236}">
                <a16:creationId xmlns:a16="http://schemas.microsoft.com/office/drawing/2014/main" id="{5917268A-261C-4861-D7CB-4EAF01912F9F}"/>
              </a:ext>
            </a:extLst>
          </p:cNvPr>
          <p:cNvSpPr txBox="1"/>
          <p:nvPr/>
        </p:nvSpPr>
        <p:spPr>
          <a:xfrm>
            <a:off x="13849350" y="11341773"/>
            <a:ext cx="12192000" cy="369332"/>
          </a:xfrm>
          <a:prstGeom prst="rect">
            <a:avLst/>
          </a:prstGeom>
          <a:noFill/>
        </p:spPr>
        <p:txBody>
          <a:bodyPr wrap="square">
            <a:spAutoFit/>
          </a:bodyPr>
          <a:lstStyle/>
          <a:p>
            <a:r>
              <a:rPr lang="en-US" altLang="ja-JP" dirty="0"/>
              <a:t>16_LTAN06_800km_1213COLD_PY_STTLCT_HEAT_PY_0p5</a:t>
            </a:r>
            <a:endParaRPr lang="ja-JP" altLang="en-US" dirty="0"/>
          </a:p>
        </p:txBody>
      </p:sp>
      <p:pic>
        <p:nvPicPr>
          <p:cNvPr id="17" name="図 16">
            <a:extLst>
              <a:ext uri="{FF2B5EF4-FFF2-40B4-BE49-F238E27FC236}">
                <a16:creationId xmlns:a16="http://schemas.microsoft.com/office/drawing/2014/main" id="{D33134C7-581B-E5F7-1A13-43426E7CEA11}"/>
              </a:ext>
            </a:extLst>
          </p:cNvPr>
          <p:cNvPicPr>
            <a:picLocks noChangeAspect="1"/>
          </p:cNvPicPr>
          <p:nvPr/>
        </p:nvPicPr>
        <p:blipFill>
          <a:blip r:embed="rId4"/>
          <a:stretch>
            <a:fillRect/>
          </a:stretch>
        </p:blipFill>
        <p:spPr>
          <a:xfrm>
            <a:off x="12798236" y="2262478"/>
            <a:ext cx="8907127" cy="8920037"/>
          </a:xfrm>
          <a:prstGeom prst="rect">
            <a:avLst/>
          </a:prstGeom>
        </p:spPr>
      </p:pic>
      <p:sp>
        <p:nvSpPr>
          <p:cNvPr id="18" name="テキスト ボックス 17">
            <a:extLst>
              <a:ext uri="{FF2B5EF4-FFF2-40B4-BE49-F238E27FC236}">
                <a16:creationId xmlns:a16="http://schemas.microsoft.com/office/drawing/2014/main" id="{306559C0-B1E0-8604-1EEE-D803E89D9073}"/>
              </a:ext>
            </a:extLst>
          </p:cNvPr>
          <p:cNvSpPr txBox="1"/>
          <p:nvPr/>
        </p:nvSpPr>
        <p:spPr>
          <a:xfrm>
            <a:off x="13849350" y="12192000"/>
            <a:ext cx="7124700" cy="1200329"/>
          </a:xfrm>
          <a:prstGeom prst="rect">
            <a:avLst/>
          </a:prstGeom>
          <a:noFill/>
        </p:spPr>
        <p:txBody>
          <a:bodyPr wrap="square" rtlCol="0">
            <a:spAutoFit/>
          </a:bodyPr>
          <a:lstStyle/>
          <a:p>
            <a:r>
              <a:rPr kumimoji="1" lang="en-US" altLang="ja-JP" sz="3600" dirty="0">
                <a:solidFill>
                  <a:srgbClr val="FF0000"/>
                </a:solidFill>
              </a:rPr>
              <a:t>DC</a:t>
            </a:r>
            <a:r>
              <a:rPr kumimoji="1" lang="ja-JP" altLang="en-US" sz="3600" dirty="0">
                <a:solidFill>
                  <a:srgbClr val="FF0000"/>
                </a:solidFill>
              </a:rPr>
              <a:t>バイアスが大きいと、改善幅も大きくなる</a:t>
            </a:r>
          </a:p>
        </p:txBody>
      </p:sp>
    </p:spTree>
    <p:extLst>
      <p:ext uri="{BB962C8B-B14F-4D97-AF65-F5344CB8AC3E}">
        <p14:creationId xmlns:p14="http://schemas.microsoft.com/office/powerpoint/2010/main" val="32407536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PAT results</a:t>
            </a:r>
          </a:p>
        </p:txBody>
      </p:sp>
      <p:sp>
        <p:nvSpPr>
          <p:cNvPr id="3" name="TextBox 2"/>
          <p:cNvSpPr txBox="1"/>
          <p:nvPr/>
        </p:nvSpPr>
        <p:spPr>
          <a:xfrm>
            <a:off x="1536192" y="1298448"/>
            <a:ext cx="9122818"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sz="3200" b="1" dirty="0" err="1">
                <a:solidFill>
                  <a:srgbClr val="082B52"/>
                </a:solidFill>
                <a:latin typeface="Yu Gothic"/>
              </a:rPr>
              <a:t>改善幅はリンク幾何と熱LOSの大きさに依存する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39</a:t>
            </a:r>
          </a:p>
        </p:txBody>
      </p:sp>
      <p:graphicFrame>
        <p:nvGraphicFramePr>
          <p:cNvPr id="5" name="Table 4"/>
          <p:cNvGraphicFramePr>
            <a:graphicFrameLocks noGrp="1"/>
          </p:cNvGraphicFramePr>
          <p:nvPr>
            <p:extLst>
              <p:ext uri="{D42A27DB-BD31-4B8C-83A1-F6EECF244321}">
                <p14:modId xmlns:p14="http://schemas.microsoft.com/office/powerpoint/2010/main" val="2508121268"/>
              </p:ext>
            </p:extLst>
          </p:nvPr>
        </p:nvGraphicFramePr>
        <p:xfrm>
          <a:off x="1172686" y="3482340"/>
          <a:ext cx="22037040" cy="640080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7589520">
                  <a:extLst>
                    <a:ext uri="{9D8B030D-6E8A-4147-A177-3AD203B41FA5}">
                      <a16:colId xmlns:a16="http://schemas.microsoft.com/office/drawing/2014/main" val="20003"/>
                    </a:ext>
                  </a:extLst>
                </a:gridCol>
              </a:tblGrid>
              <a:tr h="1066800">
                <a:tc>
                  <a:txBody>
                    <a:bodyPr/>
                    <a:lstStyle/>
                    <a:p>
                      <a:pPr algn="l"/>
                      <a:r>
                        <a:rPr sz="2200" b="1">
                          <a:solidFill>
                            <a:srgbClr val="FFFFFF"/>
                          </a:solidFill>
                          <a:latin typeface="Yu Gothic"/>
                        </a:rPr>
                        <a:t>Case family</a:t>
                      </a:r>
                    </a:p>
                  </a:txBody>
                  <a:tcPr marL="64008" marR="64008" marT="27432" marB="27432" anchor="ctr">
                    <a:solidFill>
                      <a:srgbClr val="082B52"/>
                    </a:solidFill>
                  </a:tcPr>
                </a:tc>
                <a:tc>
                  <a:txBody>
                    <a:bodyPr/>
                    <a:lstStyle/>
                    <a:p>
                      <a:pPr algn="ctr"/>
                      <a:r>
                        <a:rPr sz="2200" b="1" dirty="0">
                          <a:solidFill>
                            <a:srgbClr val="FFFFFF"/>
                          </a:solidFill>
                          <a:latin typeface="Yu Gothic"/>
                        </a:rPr>
                        <a:t>Thermal LOS</a:t>
                      </a:r>
                    </a:p>
                  </a:txBody>
                  <a:tcPr marL="64008" marR="64008" marT="27432" marB="27432" anchor="ctr">
                    <a:solidFill>
                      <a:srgbClr val="082B52"/>
                    </a:solidFill>
                  </a:tcPr>
                </a:tc>
                <a:tc>
                  <a:txBody>
                    <a:bodyPr/>
                    <a:lstStyle/>
                    <a:p>
                      <a:pPr algn="ctr"/>
                      <a:r>
                        <a:rPr sz="2200" b="1">
                          <a:solidFill>
                            <a:srgbClr val="FFFFFF"/>
                          </a:solidFill>
                          <a:latin typeface="Yu Gothic"/>
                        </a:rPr>
                        <a:t>Orbit error</a:t>
                      </a:r>
                    </a:p>
                  </a:txBody>
                  <a:tcPr marL="64008" marR="64008" marT="27432" marB="27432" anchor="ctr">
                    <a:solidFill>
                      <a:srgbClr val="082B52"/>
                    </a:solidFill>
                  </a:tcPr>
                </a:tc>
                <a:tc>
                  <a:txBody>
                    <a:bodyPr/>
                    <a:lstStyle/>
                    <a:p>
                      <a:pPr algn="ctr"/>
                      <a:r>
                        <a:rPr sz="2200" b="1">
                          <a:solidFill>
                            <a:srgbClr val="FFFFFF"/>
                          </a:solidFill>
                          <a:latin typeface="Yu Gothic"/>
                        </a:rPr>
                        <a:t>PAT interpretation</a:t>
                      </a:r>
                    </a:p>
                  </a:txBody>
                  <a:tcPr marL="64008" marR="64008" marT="27432" marB="27432" anchor="ctr">
                    <a:solidFill>
                      <a:srgbClr val="082B52"/>
                    </a:solidFill>
                  </a:tcPr>
                </a:tc>
                <a:extLst>
                  <a:ext uri="{0D108BD9-81ED-4DB2-BD59-A6C34878D82A}">
                    <a16:rowId xmlns:a16="http://schemas.microsoft.com/office/drawing/2014/main" val="10000"/>
                  </a:ext>
                </a:extLst>
              </a:tr>
              <a:tr h="1066800">
                <a:tc>
                  <a:txBody>
                    <a:bodyPr/>
                    <a:lstStyle/>
                    <a:p>
                      <a:pPr algn="l"/>
                      <a:r>
                        <a:rPr sz="2200" b="0">
                          <a:solidFill>
                            <a:srgbClr val="232B34"/>
                          </a:solidFill>
                          <a:latin typeface="Yu Gothic"/>
                        </a:rPr>
                        <a:t>PY</a:t>
                      </a:r>
                    </a:p>
                  </a:txBody>
                  <a:tcPr marL="64008" marR="64008" marT="27432" marB="27432" anchor="ctr">
                    <a:solidFill>
                      <a:srgbClr val="FFFFFF"/>
                    </a:solidFill>
                  </a:tcPr>
                </a:tc>
                <a:tc>
                  <a:txBody>
                    <a:bodyPr/>
                    <a:lstStyle/>
                    <a:p>
                      <a:pPr algn="ctr"/>
                      <a:r>
                        <a:rPr sz="2200" b="0">
                          <a:solidFill>
                            <a:srgbClr val="232B34"/>
                          </a:solidFill>
                          <a:latin typeface="Yu Gothic"/>
                        </a:rPr>
                        <a:t>large (~1.2 mrad)</a:t>
                      </a:r>
                    </a:p>
                  </a:txBody>
                  <a:tcPr marL="64008" marR="64008" marT="27432" marB="27432" anchor="ctr">
                    <a:solidFill>
                      <a:srgbClr val="FFFFFF"/>
                    </a:solidFill>
                  </a:tcPr>
                </a:tc>
                <a:tc>
                  <a:txBody>
                    <a:bodyPr/>
                    <a:lstStyle/>
                    <a:p>
                      <a:pPr algn="ctr"/>
                      <a:r>
                        <a:rPr sz="2200" b="0">
                          <a:solidFill>
                            <a:srgbClr val="232B34"/>
                          </a:solidFill>
                          <a:latin typeface="Yu Gothic"/>
                        </a:rPr>
                        <a:t>~285 µrad</a:t>
                      </a:r>
                    </a:p>
                  </a:txBody>
                  <a:tcPr marL="64008" marR="64008" marT="27432" marB="27432" anchor="ctr">
                    <a:solidFill>
                      <a:srgbClr val="FFFFFF"/>
                    </a:solidFill>
                  </a:tcPr>
                </a:tc>
                <a:tc>
                  <a:txBody>
                    <a:bodyPr/>
                    <a:lstStyle/>
                    <a:p>
                      <a:pPr algn="ctr"/>
                      <a:r>
                        <a:rPr sz="2200" b="0">
                          <a:solidFill>
                            <a:srgbClr val="232B34"/>
                          </a:solidFill>
                          <a:latin typeface="Yu Gothic"/>
                        </a:rPr>
                        <a:t>large improvement</a:t>
                      </a:r>
                    </a:p>
                  </a:txBody>
                  <a:tcPr marL="64008" marR="64008" marT="27432" marB="27432" anchor="ctr">
                    <a:solidFill>
                      <a:srgbClr val="EBF6FB"/>
                    </a:solidFill>
                  </a:tcPr>
                </a:tc>
                <a:extLst>
                  <a:ext uri="{0D108BD9-81ED-4DB2-BD59-A6C34878D82A}">
                    <a16:rowId xmlns:a16="http://schemas.microsoft.com/office/drawing/2014/main" val="10001"/>
                  </a:ext>
                </a:extLst>
              </a:tr>
              <a:tr h="1066800">
                <a:tc>
                  <a:txBody>
                    <a:bodyPr/>
                    <a:lstStyle/>
                    <a:p>
                      <a:pPr algn="l"/>
                      <a:r>
                        <a:rPr sz="2200" b="0">
                          <a:solidFill>
                            <a:srgbClr val="232B34"/>
                          </a:solidFill>
                          <a:latin typeface="Yu Gothic"/>
                        </a:rPr>
                        <a:t>MY</a:t>
                      </a:r>
                    </a:p>
                  </a:txBody>
                  <a:tcPr marL="64008" marR="64008" marT="27432" marB="27432" anchor="ctr">
                    <a:solidFill>
                      <a:srgbClr val="F4F6F8"/>
                    </a:solidFill>
                  </a:tcPr>
                </a:tc>
                <a:tc>
                  <a:txBody>
                    <a:bodyPr/>
                    <a:lstStyle/>
                    <a:p>
                      <a:pPr algn="ctr"/>
                      <a:r>
                        <a:rPr sz="2200" b="0">
                          <a:solidFill>
                            <a:srgbClr val="232B34"/>
                          </a:solidFill>
                          <a:latin typeface="Yu Gothic"/>
                        </a:rPr>
                        <a:t>150–250 µrad</a:t>
                      </a:r>
                    </a:p>
                  </a:txBody>
                  <a:tcPr marL="64008" marR="64008" marT="27432" marB="27432" anchor="ctr">
                    <a:solidFill>
                      <a:srgbClr val="F4F6F8"/>
                    </a:solidFill>
                  </a:tcPr>
                </a:tc>
                <a:tc>
                  <a:txBody>
                    <a:bodyPr/>
                    <a:lstStyle/>
                    <a:p>
                      <a:pPr algn="ctr"/>
                      <a:r>
                        <a:rPr sz="2200" b="0">
                          <a:solidFill>
                            <a:srgbClr val="232B34"/>
                          </a:solidFill>
                          <a:latin typeface="Yu Gothic"/>
                        </a:rPr>
                        <a:t>~285 µrad</a:t>
                      </a:r>
                    </a:p>
                  </a:txBody>
                  <a:tcPr marL="64008" marR="64008" marT="27432" marB="27432" anchor="ctr">
                    <a:solidFill>
                      <a:srgbClr val="F4F6F8"/>
                    </a:solidFill>
                  </a:tcPr>
                </a:tc>
                <a:tc>
                  <a:txBody>
                    <a:bodyPr/>
                    <a:lstStyle/>
                    <a:p>
                      <a:pPr algn="ctr"/>
                      <a:r>
                        <a:rPr sz="2200" b="0">
                          <a:solidFill>
                            <a:srgbClr val="232B34"/>
                          </a:solidFill>
                          <a:latin typeface="Yu Gothic"/>
                        </a:rPr>
                        <a:t>moderate improvement</a:t>
                      </a:r>
                    </a:p>
                  </a:txBody>
                  <a:tcPr marL="64008" marR="64008" marT="27432" marB="27432" anchor="ctr">
                    <a:solidFill>
                      <a:srgbClr val="EBF6FB"/>
                    </a:solidFill>
                  </a:tcPr>
                </a:tc>
                <a:extLst>
                  <a:ext uri="{0D108BD9-81ED-4DB2-BD59-A6C34878D82A}">
                    <a16:rowId xmlns:a16="http://schemas.microsoft.com/office/drawing/2014/main" val="10002"/>
                  </a:ext>
                </a:extLst>
              </a:tr>
              <a:tr h="1066800">
                <a:tc>
                  <a:txBody>
                    <a:bodyPr/>
                    <a:lstStyle/>
                    <a:p>
                      <a:pPr algn="l"/>
                      <a:r>
                        <a:rPr sz="2200" b="0">
                          <a:solidFill>
                            <a:srgbClr val="232B34"/>
                          </a:solidFill>
                          <a:latin typeface="Yu Gothic"/>
                        </a:rPr>
                        <a:t>PX</a:t>
                      </a:r>
                    </a:p>
                  </a:txBody>
                  <a:tcPr marL="64008" marR="64008" marT="27432" marB="27432" anchor="ctr">
                    <a:solidFill>
                      <a:srgbClr val="FFFFFF"/>
                    </a:solidFill>
                  </a:tcPr>
                </a:tc>
                <a:tc>
                  <a:txBody>
                    <a:bodyPr/>
                    <a:lstStyle/>
                    <a:p>
                      <a:pPr algn="ctr"/>
                      <a:r>
                        <a:rPr sz="2200" b="0">
                          <a:solidFill>
                            <a:srgbClr val="232B34"/>
                          </a:solidFill>
                          <a:latin typeface="Yu Gothic"/>
                        </a:rPr>
                        <a:t>~0.9 mrad</a:t>
                      </a:r>
                    </a:p>
                  </a:txBody>
                  <a:tcPr marL="64008" marR="64008" marT="27432" marB="27432" anchor="ctr">
                    <a:solidFill>
                      <a:srgbClr val="FFFFFF"/>
                    </a:solidFill>
                  </a:tcPr>
                </a:tc>
                <a:tc>
                  <a:txBody>
                    <a:bodyPr/>
                    <a:lstStyle/>
                    <a:p>
                      <a:pPr algn="ctr"/>
                      <a:r>
                        <a:rPr sz="2200" b="0">
                          <a:solidFill>
                            <a:srgbClr val="232B34"/>
                          </a:solidFill>
                          <a:latin typeface="Yu Gothic"/>
                        </a:rPr>
                        <a:t>~694 µrad</a:t>
                      </a:r>
                    </a:p>
                  </a:txBody>
                  <a:tcPr marL="64008" marR="64008" marT="27432" marB="27432" anchor="ctr">
                    <a:solidFill>
                      <a:srgbClr val="FFFFFF"/>
                    </a:solidFill>
                  </a:tcPr>
                </a:tc>
                <a:tc>
                  <a:txBody>
                    <a:bodyPr/>
                    <a:lstStyle/>
                    <a:p>
                      <a:pPr algn="ctr"/>
                      <a:r>
                        <a:rPr sz="2200" b="0">
                          <a:solidFill>
                            <a:srgbClr val="232B34"/>
                          </a:solidFill>
                          <a:latin typeface="Yu Gothic"/>
                        </a:rPr>
                        <a:t>orbit remains large</a:t>
                      </a:r>
                    </a:p>
                  </a:txBody>
                  <a:tcPr marL="64008" marR="64008" marT="27432" marB="27432" anchor="ctr">
                    <a:solidFill>
                      <a:srgbClr val="EBF6FB"/>
                    </a:solidFill>
                  </a:tcPr>
                </a:tc>
                <a:extLst>
                  <a:ext uri="{0D108BD9-81ED-4DB2-BD59-A6C34878D82A}">
                    <a16:rowId xmlns:a16="http://schemas.microsoft.com/office/drawing/2014/main" val="10003"/>
                  </a:ext>
                </a:extLst>
              </a:tr>
              <a:tr h="1066800">
                <a:tc>
                  <a:txBody>
                    <a:bodyPr/>
                    <a:lstStyle/>
                    <a:p>
                      <a:pPr algn="l"/>
                      <a:r>
                        <a:rPr sz="2200" b="0">
                          <a:solidFill>
                            <a:srgbClr val="232B34"/>
                          </a:solidFill>
                          <a:latin typeface="Yu Gothic"/>
                        </a:rPr>
                        <a:t>MX</a:t>
                      </a:r>
                    </a:p>
                  </a:txBody>
                  <a:tcPr marL="64008" marR="64008" marT="27432" marB="27432" anchor="ctr">
                    <a:solidFill>
                      <a:srgbClr val="F4F6F8"/>
                    </a:solidFill>
                  </a:tcPr>
                </a:tc>
                <a:tc>
                  <a:txBody>
                    <a:bodyPr/>
                    <a:lstStyle/>
                    <a:p>
                      <a:pPr algn="ctr"/>
                      <a:r>
                        <a:rPr sz="2200" b="0">
                          <a:solidFill>
                            <a:srgbClr val="232B34"/>
                          </a:solidFill>
                          <a:latin typeface="Yu Gothic"/>
                        </a:rPr>
                        <a:t>~0.9 mrad</a:t>
                      </a:r>
                    </a:p>
                  </a:txBody>
                  <a:tcPr marL="64008" marR="64008" marT="27432" marB="27432" anchor="ctr">
                    <a:solidFill>
                      <a:srgbClr val="F4F6F8"/>
                    </a:solidFill>
                  </a:tcPr>
                </a:tc>
                <a:tc>
                  <a:txBody>
                    <a:bodyPr/>
                    <a:lstStyle/>
                    <a:p>
                      <a:pPr algn="ctr"/>
                      <a:r>
                        <a:rPr sz="2200" b="0">
                          <a:solidFill>
                            <a:srgbClr val="232B34"/>
                          </a:solidFill>
                          <a:latin typeface="Yu Gothic"/>
                        </a:rPr>
                        <a:t>~612 µrad proxy</a:t>
                      </a:r>
                    </a:p>
                  </a:txBody>
                  <a:tcPr marL="64008" marR="64008" marT="27432" marB="27432" anchor="ctr">
                    <a:solidFill>
                      <a:srgbClr val="F4F6F8"/>
                    </a:solidFill>
                  </a:tcPr>
                </a:tc>
                <a:tc>
                  <a:txBody>
                    <a:bodyPr/>
                    <a:lstStyle/>
                    <a:p>
                      <a:pPr algn="ctr"/>
                      <a:r>
                        <a:rPr sz="2200" b="0">
                          <a:solidFill>
                            <a:srgbClr val="232B34"/>
                          </a:solidFill>
                          <a:latin typeface="Yu Gothic"/>
                        </a:rPr>
                        <a:t>interpret cautiously</a:t>
                      </a:r>
                    </a:p>
                  </a:txBody>
                  <a:tcPr marL="64008" marR="64008" marT="27432" marB="27432" anchor="ctr">
                    <a:solidFill>
                      <a:srgbClr val="EBF6FB"/>
                    </a:solidFill>
                  </a:tcPr>
                </a:tc>
                <a:extLst>
                  <a:ext uri="{0D108BD9-81ED-4DB2-BD59-A6C34878D82A}">
                    <a16:rowId xmlns:a16="http://schemas.microsoft.com/office/drawing/2014/main" val="10004"/>
                  </a:ext>
                </a:extLst>
              </a:tr>
              <a:tr h="1066800">
                <a:tc>
                  <a:txBody>
                    <a:bodyPr/>
                    <a:lstStyle/>
                    <a:p>
                      <a:pPr algn="l"/>
                      <a:r>
                        <a:rPr sz="2200" b="0">
                          <a:solidFill>
                            <a:srgbClr val="232B34"/>
                          </a:solidFill>
                          <a:latin typeface="Yu Gothic"/>
                        </a:rPr>
                        <a:t>LTAN18 MY</a:t>
                      </a:r>
                    </a:p>
                  </a:txBody>
                  <a:tcPr marL="64008" marR="64008" marT="27432" marB="27432" anchor="ctr">
                    <a:solidFill>
                      <a:srgbClr val="FFFFFF"/>
                    </a:solidFill>
                  </a:tcPr>
                </a:tc>
                <a:tc>
                  <a:txBody>
                    <a:bodyPr/>
                    <a:lstStyle/>
                    <a:p>
                      <a:pPr algn="ctr"/>
                      <a:r>
                        <a:rPr sz="2200" b="0">
                          <a:solidFill>
                            <a:srgbClr val="232B34"/>
                          </a:solidFill>
                          <a:latin typeface="Yu Gothic"/>
                        </a:rPr>
                        <a:t>nearly DC ~150 µrad</a:t>
                      </a:r>
                    </a:p>
                  </a:txBody>
                  <a:tcPr marL="64008" marR="64008" marT="27432" marB="27432" anchor="ctr">
                    <a:solidFill>
                      <a:srgbClr val="FFFFFF"/>
                    </a:solidFill>
                  </a:tcPr>
                </a:tc>
                <a:tc>
                  <a:txBody>
                    <a:bodyPr/>
                    <a:lstStyle/>
                    <a:p>
                      <a:pPr algn="ctr"/>
                      <a:r>
                        <a:rPr sz="2200" b="0">
                          <a:solidFill>
                            <a:srgbClr val="232B34"/>
                          </a:solidFill>
                          <a:latin typeface="Yu Gothic"/>
                        </a:rPr>
                        <a:t>~290 µrad</a:t>
                      </a:r>
                    </a:p>
                  </a:txBody>
                  <a:tcPr marL="64008" marR="64008" marT="27432" marB="27432" anchor="ctr">
                    <a:solidFill>
                      <a:srgbClr val="FFFFFF"/>
                    </a:solidFill>
                  </a:tcPr>
                </a:tc>
                <a:tc>
                  <a:txBody>
                    <a:bodyPr/>
                    <a:lstStyle/>
                    <a:p>
                      <a:pPr algn="ctr"/>
                      <a:r>
                        <a:rPr sz="2200" b="0" dirty="0">
                          <a:solidFill>
                            <a:srgbClr val="232B34"/>
                          </a:solidFill>
                          <a:latin typeface="Yu Gothic"/>
                        </a:rPr>
                        <a:t>small thermal benefit</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05</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806440"/>
            <a:ext cx="20756880" cy="1051560"/>
          </a:xfrm>
          <a:prstGeom prst="rect">
            <a:avLst/>
          </a:prstGeom>
          <a:noFill/>
        </p:spPr>
        <p:txBody>
          <a:bodyPr wrap="none" lIns="36576" tIns="27432" rIns="36576" bIns="27432" anchor="t">
            <a:spAutoFit/>
          </a:bodyPr>
          <a:lstStyle/>
          <a:p>
            <a:pPr algn="ctr"/>
            <a:r>
              <a:rPr sz="3300" b="1">
                <a:solidFill>
                  <a:srgbClr val="FFFFFF"/>
                </a:solidFill>
                <a:latin typeface="Yu Gothic"/>
              </a:rPr>
              <a:t>Discussion</a:t>
            </a:r>
          </a:p>
        </p:txBody>
      </p:sp>
      <p:sp>
        <p:nvSpPr>
          <p:cNvPr id="5" name="TextBox 4"/>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FFFFFF"/>
                </a:solidFill>
                <a:latin typeface="Yu Gothic"/>
              </a:rPr>
              <a:t>40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Discussion</a:t>
            </a:r>
          </a:p>
        </p:txBody>
      </p:sp>
      <p:sp>
        <p:nvSpPr>
          <p:cNvPr id="3" name="TextBox 2"/>
          <p:cNvSpPr txBox="1"/>
          <p:nvPr/>
        </p:nvSpPr>
        <p:spPr>
          <a:xfrm>
            <a:off x="1536192" y="1298448"/>
            <a:ext cx="12703927"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sz="3200" b="1" dirty="0" err="1">
                <a:solidFill>
                  <a:srgbClr val="082B52"/>
                </a:solidFill>
                <a:latin typeface="Yu Gothic"/>
              </a:rPr>
              <a:t>Adaptiveは低周波熱抽出ではなく、主にモデルDC更新として考える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41</a:t>
            </a:r>
          </a:p>
        </p:txBody>
      </p:sp>
      <p:sp>
        <p:nvSpPr>
          <p:cNvPr id="5" name="Rounded Rectangle 4"/>
          <p:cNvSpPr/>
          <p:nvPr/>
        </p:nvSpPr>
        <p:spPr>
          <a:xfrm>
            <a:off x="1097280" y="2834640"/>
            <a:ext cx="10789920" cy="7498079"/>
          </a:xfrm>
          <a:prstGeom prst="roundRect">
            <a:avLst/>
          </a:prstGeom>
          <a:solidFill>
            <a:srgbClr val="EAF8F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3246120"/>
            <a:ext cx="9875520" cy="548640"/>
          </a:xfrm>
          <a:prstGeom prst="rect">
            <a:avLst/>
          </a:prstGeom>
          <a:noFill/>
        </p:spPr>
        <p:txBody>
          <a:bodyPr wrap="none" lIns="36576" tIns="27432" rIns="36576" bIns="27432" anchor="t">
            <a:spAutoFit/>
          </a:bodyPr>
          <a:lstStyle/>
          <a:p>
            <a:pPr algn="ctr"/>
            <a:r>
              <a:rPr sz="2800" b="1">
                <a:solidFill>
                  <a:srgbClr val="239571"/>
                </a:solidFill>
                <a:latin typeface="Yu Gothic"/>
              </a:rPr>
              <a:t>Proposed role</a:t>
            </a:r>
          </a:p>
        </p:txBody>
      </p:sp>
      <mc:AlternateContent xmlns:mc="http://schemas.openxmlformats.org/markup-compatibility/2006" xmlns:a14="http://schemas.microsoft.com/office/drawing/2010/main">
        <mc:Choice Requires="a14">
          <p:sp>
            <p:nvSpPr>
              <p:cNvPr id="7" name="TextBox 6"/>
              <p:cNvSpPr txBox="1"/>
              <p:nvPr/>
            </p:nvSpPr>
            <p:spPr>
              <a:xfrm>
                <a:off x="4536415" y="4343400"/>
                <a:ext cx="3911648" cy="607026"/>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3400" b="1" i="1" dirty="0" smtClean="0">
                              <a:solidFill>
                                <a:srgbClr val="082B52"/>
                              </a:solidFill>
                              <a:latin typeface="Cambria Math" panose="02040503050406030204" pitchFamily="18" charset="0"/>
                            </a:rPr>
                          </m:ctrlPr>
                        </m:sSubPr>
                        <m:e>
                          <m:acc>
                            <m:accPr>
                              <m:chr m:val="̂"/>
                              <m:ctrlPr>
                                <a:rPr lang="ja-JP" altLang="en-US" sz="3400" b="1" i="1" dirty="0" smtClean="0">
                                  <a:solidFill>
                                    <a:srgbClr val="082B52"/>
                                  </a:solidFill>
                                  <a:latin typeface="Cambria Math" panose="02040503050406030204" pitchFamily="18" charset="0"/>
                                </a:rPr>
                              </m:ctrlPr>
                            </m:accPr>
                            <m:e>
                              <m:r>
                                <a:rPr lang="ja-JP" altLang="en-US" sz="3400" b="1" i="1" dirty="0" smtClean="0">
                                  <a:solidFill>
                                    <a:srgbClr val="082B52"/>
                                  </a:solidFill>
                                  <a:latin typeface="Cambria Math" panose="02040503050406030204" pitchFamily="18" charset="0"/>
                                </a:rPr>
                                <m:t>𝒃</m:t>
                              </m:r>
                            </m:e>
                          </m:acc>
                        </m:e>
                        <m:sub>
                          <m:r>
                            <a:rPr lang="ja-JP" altLang="en-US" sz="3400" b="1" i="1" dirty="0" smtClean="0">
                              <a:solidFill>
                                <a:srgbClr val="082B52"/>
                              </a:solidFill>
                              <a:latin typeface="Cambria Math" panose="02040503050406030204" pitchFamily="18" charset="0"/>
                            </a:rPr>
                            <m:t>𝒌</m:t>
                          </m:r>
                          <m:r>
                            <a:rPr lang="en-US" altLang="ja-JP" sz="3400" b="1" i="1" dirty="0" smtClean="0">
                              <a:solidFill>
                                <a:srgbClr val="082B52"/>
                              </a:solidFill>
                              <a:latin typeface="Cambria Math" panose="02040503050406030204" pitchFamily="18" charset="0"/>
                            </a:rPr>
                            <m:t>+</m:t>
                          </m:r>
                          <m:r>
                            <a:rPr lang="en-US" altLang="ja-JP" sz="3400" b="1" i="1" dirty="0" smtClean="0">
                              <a:solidFill>
                                <a:srgbClr val="082B52"/>
                              </a:solidFill>
                              <a:latin typeface="Cambria Math" panose="02040503050406030204" pitchFamily="18" charset="0"/>
                            </a:rPr>
                            <m:t>𝟏</m:t>
                          </m:r>
                        </m:sub>
                      </m:sSub>
                      <m:r>
                        <a:rPr lang="ja-JP" altLang="en-US" sz="3400" b="1" i="1" dirty="0">
                          <a:solidFill>
                            <a:srgbClr val="082B52"/>
                          </a:solidFill>
                          <a:latin typeface="Cambria Math" panose="02040503050406030204" pitchFamily="18" charset="0"/>
                        </a:rPr>
                        <m:t> = </m:t>
                      </m:r>
                      <m:sSub>
                        <m:sSubPr>
                          <m:ctrlPr>
                            <a:rPr lang="ja-JP" altLang="en-US" sz="3400" b="1" i="1" dirty="0" err="1">
                              <a:solidFill>
                                <a:srgbClr val="082B52"/>
                              </a:solidFill>
                              <a:latin typeface="Cambria Math" panose="02040503050406030204" pitchFamily="18" charset="0"/>
                            </a:rPr>
                          </m:ctrlPr>
                        </m:sSubPr>
                        <m:e>
                          <m:acc>
                            <m:accPr>
                              <m:chr m:val="̂"/>
                              <m:ctrlPr>
                                <a:rPr lang="ja-JP" altLang="en-US" sz="3400" b="1" i="1" dirty="0" err="1">
                                  <a:solidFill>
                                    <a:srgbClr val="082B52"/>
                                  </a:solidFill>
                                  <a:latin typeface="Cambria Math" panose="02040503050406030204" pitchFamily="18" charset="0"/>
                                </a:rPr>
                              </m:ctrlPr>
                            </m:accPr>
                            <m:e>
                              <m:r>
                                <a:rPr lang="ja-JP" altLang="en-US" sz="3400" b="1" i="1" dirty="0" err="1">
                                  <a:solidFill>
                                    <a:srgbClr val="082B52"/>
                                  </a:solidFill>
                                  <a:latin typeface="Cambria Math" panose="02040503050406030204" pitchFamily="18" charset="0"/>
                                </a:rPr>
                                <m:t>𝒃</m:t>
                              </m:r>
                            </m:e>
                          </m:acc>
                        </m:e>
                        <m:sub>
                          <m:r>
                            <a:rPr lang="ja-JP" altLang="en-US" sz="3400" b="1" i="1" dirty="0" err="1">
                              <a:solidFill>
                                <a:srgbClr val="082B52"/>
                              </a:solidFill>
                              <a:latin typeface="Cambria Math" panose="02040503050406030204" pitchFamily="18" charset="0"/>
                            </a:rPr>
                            <m:t>𝒌</m:t>
                          </m:r>
                        </m:sub>
                      </m:sSub>
                      <m:r>
                        <a:rPr lang="en-US" altLang="ja-JP" sz="3400" b="1" i="1" dirty="0">
                          <a:solidFill>
                            <a:srgbClr val="082B52"/>
                          </a:solidFill>
                          <a:latin typeface="Cambria Math" panose="02040503050406030204" pitchFamily="18" charset="0"/>
                        </a:rPr>
                        <m:t>+ </m:t>
                      </m:r>
                      <m:sSub>
                        <m:sSubPr>
                          <m:ctrlPr>
                            <a:rPr lang="ja-JP" altLang="en-US" sz="3400" b="1" i="1" dirty="0" err="1">
                              <a:solidFill>
                                <a:srgbClr val="082B52"/>
                              </a:solidFill>
                              <a:latin typeface="Cambria Math" panose="02040503050406030204" pitchFamily="18" charset="0"/>
                            </a:rPr>
                          </m:ctrlPr>
                        </m:sSubPr>
                        <m:e>
                          <m:r>
                            <a:rPr lang="ja-JP" altLang="en-US" sz="3400" b="1" i="1" dirty="0" err="1">
                              <a:solidFill>
                                <a:srgbClr val="082B52"/>
                              </a:solidFill>
                              <a:latin typeface="Cambria Math" panose="02040503050406030204" pitchFamily="18" charset="0"/>
                            </a:rPr>
                            <m:t>𝑲</m:t>
                          </m:r>
                        </m:e>
                        <m:sub>
                          <m:r>
                            <a:rPr lang="ja-JP" altLang="en-US" sz="3400" b="1" i="1" dirty="0" err="1">
                              <a:solidFill>
                                <a:srgbClr val="082B52"/>
                              </a:solidFill>
                              <a:latin typeface="Cambria Math" panose="02040503050406030204" pitchFamily="18" charset="0"/>
                            </a:rPr>
                            <m:t>𝒃</m:t>
                          </m:r>
                        </m:sub>
                      </m:sSub>
                      <m:sSub>
                        <m:sSubPr>
                          <m:ctrlPr>
                            <a:rPr lang="ja-JP" altLang="en-US" sz="3400" b="1" i="1" dirty="0" err="1">
                              <a:solidFill>
                                <a:srgbClr val="082B52"/>
                              </a:solidFill>
                              <a:latin typeface="Cambria Math" panose="02040503050406030204" pitchFamily="18" charset="0"/>
                            </a:rPr>
                          </m:ctrlPr>
                        </m:sSubPr>
                        <m:e>
                          <m:r>
                            <a:rPr lang="ja-JP" altLang="en-US" sz="3400" b="1" i="1" dirty="0" err="1">
                              <a:solidFill>
                                <a:srgbClr val="082B52"/>
                              </a:solidFill>
                              <a:latin typeface="Cambria Math" panose="02040503050406030204" pitchFamily="18" charset="0"/>
                            </a:rPr>
                            <m:t>𝒓</m:t>
                          </m:r>
                        </m:e>
                        <m:sub>
                          <m:r>
                            <a:rPr lang="ja-JP" altLang="en-US" sz="3400" b="1" i="1" dirty="0" err="1">
                              <a:solidFill>
                                <a:srgbClr val="082B52"/>
                              </a:solidFill>
                              <a:latin typeface="Cambria Math" panose="02040503050406030204" pitchFamily="18" charset="0"/>
                            </a:rPr>
                            <m:t>𝒌</m:t>
                          </m:r>
                        </m:sub>
                      </m:sSub>
                    </m:oMath>
                  </m:oMathPara>
                </a14:m>
                <a:endParaRPr lang="en-US" altLang="ja-JP" sz="3400" b="1" i="1" dirty="0">
                  <a:solidFill>
                    <a:srgbClr val="082B52"/>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536415" y="4343400"/>
                <a:ext cx="3911648" cy="607026"/>
              </a:xfrm>
              <a:prstGeom prst="rect">
                <a:avLst/>
              </a:prstGeom>
              <a:blipFill>
                <a:blip r:embed="rId3"/>
                <a:stretch>
                  <a:fillRect/>
                </a:stretch>
              </a:blipFill>
            </p:spPr>
            <p:txBody>
              <a:bodyPr/>
              <a:lstStyle/>
              <a:p>
                <a:r>
                  <a:rPr lang="ja-JP" altLang="en-US">
                    <a:noFill/>
                  </a:rPr>
                  <a:t> </a:t>
                </a:r>
              </a:p>
            </p:txBody>
          </p:sp>
        </mc:Fallback>
      </mc:AlternateContent>
      <p:sp>
        <p:nvSpPr>
          <p:cNvPr id="8" name="TextBox 7"/>
          <p:cNvSpPr txBox="1"/>
          <p:nvPr/>
        </p:nvSpPr>
        <p:spPr>
          <a:xfrm>
            <a:off x="1737360" y="5669280"/>
            <a:ext cx="9418320" cy="3657600"/>
          </a:xfrm>
          <a:prstGeom prst="rect">
            <a:avLst/>
          </a:prstGeom>
          <a:noFill/>
        </p:spPr>
        <p:txBody>
          <a:bodyPr wrap="square" lIns="27432" rIns="27432">
            <a:spAutoFit/>
          </a:bodyPr>
          <a:lstStyle/>
          <a:p>
            <a:pPr>
              <a:spcAft>
                <a:spcPts val="800"/>
              </a:spcAft>
            </a:pPr>
            <a:r>
              <a:rPr sz="2500" b="1">
                <a:solidFill>
                  <a:srgbClr val="239571"/>
                </a:solidFill>
                <a:latin typeface="Yu Gothic"/>
              </a:rPr>
              <a:t>• </a:t>
            </a:r>
            <a:r>
              <a:rPr sz="2500">
                <a:solidFill>
                  <a:srgbClr val="232B34"/>
                </a:solidFill>
                <a:latin typeface="Yu Gothic"/>
              </a:rPr>
              <a:t>a：事前解析／熱真空試験で固定</a:t>
            </a:r>
          </a:p>
          <a:p>
            <a:pPr>
              <a:spcAft>
                <a:spcPts val="800"/>
              </a:spcAft>
            </a:pPr>
            <a:r>
              <a:rPr sz="2500" b="1">
                <a:solidFill>
                  <a:srgbClr val="239571"/>
                </a:solidFill>
                <a:latin typeface="Yu Gothic"/>
              </a:rPr>
              <a:t>• </a:t>
            </a:r>
            <a:r>
              <a:rPr sz="2500">
                <a:solidFill>
                  <a:srgbClr val="232B34"/>
                </a:solidFill>
                <a:latin typeface="Yu Gothic"/>
              </a:rPr>
              <a:t>b_case：捕捉後残差で更新</a:t>
            </a:r>
          </a:p>
          <a:p>
            <a:pPr>
              <a:spcAft>
                <a:spcPts val="800"/>
              </a:spcAft>
            </a:pPr>
            <a:r>
              <a:rPr sz="2500" b="1">
                <a:solidFill>
                  <a:srgbClr val="239571"/>
                </a:solidFill>
                <a:latin typeface="Yu Gothic"/>
              </a:rPr>
              <a:t>• </a:t>
            </a:r>
            <a:r>
              <a:rPr sz="2500">
                <a:solidFill>
                  <a:srgbClr val="232B34"/>
                </a:solidFill>
                <a:latin typeface="Yu Gothic"/>
              </a:rPr>
              <a:t>同一モード・複数パスで平均</a:t>
            </a:r>
          </a:p>
          <a:p>
            <a:pPr>
              <a:spcAft>
                <a:spcPts val="800"/>
              </a:spcAft>
            </a:pPr>
            <a:r>
              <a:rPr sz="2500" b="1">
                <a:solidFill>
                  <a:srgbClr val="239571"/>
                </a:solidFill>
                <a:latin typeface="Yu Gothic"/>
              </a:rPr>
              <a:t>• </a:t>
            </a:r>
            <a:r>
              <a:rPr sz="2500">
                <a:solidFill>
                  <a:srgbClr val="232B34"/>
                </a:solidFill>
                <a:latin typeface="Yu Gothic"/>
              </a:rPr>
              <a:t>orbit/alignmentの吸収を制約</a:t>
            </a:r>
          </a:p>
        </p:txBody>
      </p:sp>
      <p:sp>
        <p:nvSpPr>
          <p:cNvPr id="9" name="Rounded Rectangle 8"/>
          <p:cNvSpPr/>
          <p:nvPr/>
        </p:nvSpPr>
        <p:spPr>
          <a:xfrm>
            <a:off x="12527280" y="2834640"/>
            <a:ext cx="10607040" cy="7498079"/>
          </a:xfrm>
          <a:prstGeom prst="roundRect">
            <a:avLst/>
          </a:prstGeom>
          <a:solidFill>
            <a:srgbClr val="FEF5E6"/>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984480" y="3246120"/>
            <a:ext cx="9692640" cy="548640"/>
          </a:xfrm>
          <a:prstGeom prst="rect">
            <a:avLst/>
          </a:prstGeom>
          <a:noFill/>
        </p:spPr>
        <p:txBody>
          <a:bodyPr wrap="none" lIns="36576" tIns="27432" rIns="36576" bIns="27432" anchor="t">
            <a:spAutoFit/>
          </a:bodyPr>
          <a:lstStyle/>
          <a:p>
            <a:pPr algn="ctr"/>
            <a:r>
              <a:rPr sz="2800" b="1">
                <a:solidFill>
                  <a:srgbClr val="EC9427"/>
                </a:solidFill>
                <a:latin typeface="Yu Gothic"/>
              </a:rPr>
              <a:t>Discussion points</a:t>
            </a:r>
          </a:p>
        </p:txBody>
      </p:sp>
      <p:sp>
        <p:nvSpPr>
          <p:cNvPr id="11" name="TextBox 10"/>
          <p:cNvSpPr txBox="1"/>
          <p:nvPr/>
        </p:nvSpPr>
        <p:spPr>
          <a:xfrm>
            <a:off x="13167360" y="4343400"/>
            <a:ext cx="9326880" cy="4754880"/>
          </a:xfrm>
          <a:prstGeom prst="rect">
            <a:avLst/>
          </a:prstGeom>
          <a:noFill/>
        </p:spPr>
        <p:txBody>
          <a:bodyPr wrap="square" lIns="27432" rIns="27432">
            <a:spAutoFit/>
          </a:bodyPr>
          <a:lstStyle/>
          <a:p>
            <a:pPr>
              <a:spcAft>
                <a:spcPts val="800"/>
              </a:spcAft>
            </a:pPr>
            <a:r>
              <a:rPr sz="2400" b="1" dirty="0">
                <a:solidFill>
                  <a:srgbClr val="EC9427"/>
                </a:solidFill>
                <a:latin typeface="Yu Gothic"/>
              </a:rPr>
              <a:t>• </a:t>
            </a:r>
            <a:r>
              <a:rPr sz="2400" dirty="0" err="1">
                <a:solidFill>
                  <a:srgbClr val="232B34"/>
                </a:solidFill>
                <a:latin typeface="Yu Gothic"/>
              </a:rPr>
              <a:t>a固定・b更新の分担</a:t>
            </a:r>
            <a:endParaRPr sz="2400" dirty="0">
              <a:solidFill>
                <a:srgbClr val="232B34"/>
              </a:solidFill>
              <a:latin typeface="Yu Gothic"/>
            </a:endParaRPr>
          </a:p>
          <a:p>
            <a:pPr>
              <a:spcAft>
                <a:spcPts val="800"/>
              </a:spcAft>
            </a:pPr>
            <a:r>
              <a:rPr sz="2400" b="1" dirty="0">
                <a:solidFill>
                  <a:srgbClr val="EC9427"/>
                </a:solidFill>
                <a:latin typeface="Yu Gothic"/>
              </a:rPr>
              <a:t>• </a:t>
            </a:r>
            <a:r>
              <a:rPr sz="2400" dirty="0" err="1">
                <a:solidFill>
                  <a:srgbClr val="232B34"/>
                </a:solidFill>
                <a:latin typeface="Yu Gothic"/>
              </a:rPr>
              <a:t>同帯域の熱／軌道誤差の識別</a:t>
            </a:r>
            <a:endParaRPr sz="2400" dirty="0">
              <a:solidFill>
                <a:srgbClr val="232B34"/>
              </a:solidFill>
              <a:latin typeface="Yu Gothic"/>
            </a:endParaRPr>
          </a:p>
          <a:p>
            <a:pPr>
              <a:spcAft>
                <a:spcPts val="800"/>
              </a:spcAft>
            </a:pPr>
            <a:r>
              <a:rPr sz="2400" b="1" dirty="0">
                <a:solidFill>
                  <a:srgbClr val="EC9427"/>
                </a:solidFill>
                <a:latin typeface="Yu Gothic"/>
              </a:rPr>
              <a:t>• </a:t>
            </a:r>
            <a:r>
              <a:rPr sz="2400" dirty="0" err="1">
                <a:solidFill>
                  <a:srgbClr val="232B34"/>
                </a:solidFill>
                <a:latin typeface="Yu Gothic"/>
              </a:rPr>
              <a:t>軌道誤差を別状態で同時推定</a:t>
            </a:r>
            <a:endParaRPr sz="2400" dirty="0">
              <a:solidFill>
                <a:srgbClr val="232B34"/>
              </a:solidFill>
              <a:latin typeface="Yu Gothic"/>
            </a:endParaRPr>
          </a:p>
          <a:p>
            <a:pPr>
              <a:spcAft>
                <a:spcPts val="800"/>
              </a:spcAft>
            </a:pPr>
            <a:r>
              <a:rPr sz="2400" b="1" dirty="0">
                <a:solidFill>
                  <a:srgbClr val="EC9427"/>
                </a:solidFill>
                <a:latin typeface="Yu Gothic"/>
              </a:rPr>
              <a:t>• </a:t>
            </a:r>
            <a:r>
              <a:rPr sz="2400" dirty="0" err="1">
                <a:solidFill>
                  <a:srgbClr val="232B34"/>
                </a:solidFill>
                <a:latin typeface="Yu Gothic"/>
              </a:rPr>
              <a:t>現在のscan</a:t>
            </a:r>
            <a:r>
              <a:rPr sz="2400" dirty="0">
                <a:solidFill>
                  <a:srgbClr val="232B34"/>
                </a:solidFill>
                <a:latin typeface="Yu Gothic"/>
              </a:rPr>
              <a:t> </a:t>
            </a:r>
            <a:r>
              <a:rPr sz="2400" dirty="0" err="1">
                <a:solidFill>
                  <a:srgbClr val="232B34"/>
                </a:solidFill>
                <a:latin typeface="Yu Gothic"/>
              </a:rPr>
              <a:t>modelの妥当性</a:t>
            </a:r>
            <a:endParaRPr sz="2400" dirty="0">
              <a:solidFill>
                <a:srgbClr val="232B34"/>
              </a:solidFill>
              <a:latin typeface="Yu Gothic"/>
            </a:endParaRPr>
          </a:p>
          <a:p>
            <a:pPr>
              <a:spcAft>
                <a:spcPts val="800"/>
              </a:spcAft>
            </a:pPr>
            <a:r>
              <a:rPr sz="2400" b="1" dirty="0">
                <a:solidFill>
                  <a:srgbClr val="EC9427"/>
                </a:solidFill>
                <a:latin typeface="Yu Gothic"/>
              </a:rPr>
              <a:t>• </a:t>
            </a:r>
            <a:r>
              <a:rPr sz="2400" dirty="0" err="1">
                <a:solidFill>
                  <a:srgbClr val="232B34"/>
                </a:solidFill>
                <a:latin typeface="Yu Gothic"/>
              </a:rPr>
              <a:t>ICSOまでのAdaptive実装範囲</a:t>
            </a:r>
            <a:endParaRPr sz="2400" dirty="0">
              <a:solidFill>
                <a:srgbClr val="232B34"/>
              </a:solidFill>
              <a:latin typeface="Yu Gothic"/>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Summary</a:t>
            </a:r>
          </a:p>
        </p:txBody>
      </p:sp>
      <p:sp>
        <p:nvSpPr>
          <p:cNvPr id="3" name="TextBox 2"/>
          <p:cNvSpPr txBox="1"/>
          <p:nvPr/>
        </p:nvSpPr>
        <p:spPr>
          <a:xfrm>
            <a:off x="1536192" y="1298448"/>
            <a:ext cx="13818013"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sz="3200" b="1" dirty="0" err="1">
                <a:solidFill>
                  <a:srgbClr val="082B52"/>
                </a:solidFill>
                <a:latin typeface="Yu Gothic"/>
              </a:rPr>
              <a:t>予測可能な熱成分は除去できたため、次はDC校正と非熱共存が課題となる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42</a:t>
            </a:r>
          </a:p>
        </p:txBody>
      </p:sp>
      <p:graphicFrame>
        <p:nvGraphicFramePr>
          <p:cNvPr id="5" name="Table 4"/>
          <p:cNvGraphicFramePr>
            <a:graphicFrameLocks noGrp="1"/>
          </p:cNvGraphicFramePr>
          <p:nvPr/>
        </p:nvGraphicFramePr>
        <p:xfrm>
          <a:off x="1188720" y="2926080"/>
          <a:ext cx="21945600" cy="6675120"/>
        </p:xfrm>
        <a:graphic>
          <a:graphicData uri="http://schemas.openxmlformats.org/drawingml/2006/table">
            <a:tbl>
              <a:tblPr firstRow="1" bandRow="1">
                <a:tableStyleId>{5C22544A-7EE6-4342-B048-85BDC9FD1C3A}</a:tableStyleId>
              </a:tblPr>
              <a:tblGrid>
                <a:gridCol w="10972800">
                  <a:extLst>
                    <a:ext uri="{9D8B030D-6E8A-4147-A177-3AD203B41FA5}">
                      <a16:colId xmlns:a16="http://schemas.microsoft.com/office/drawing/2014/main" val="20000"/>
                    </a:ext>
                  </a:extLst>
                </a:gridCol>
                <a:gridCol w="10972800">
                  <a:extLst>
                    <a:ext uri="{9D8B030D-6E8A-4147-A177-3AD203B41FA5}">
                      <a16:colId xmlns:a16="http://schemas.microsoft.com/office/drawing/2014/main" val="20001"/>
                    </a:ext>
                  </a:extLst>
                </a:gridCol>
              </a:tblGrid>
              <a:tr h="1112520">
                <a:tc>
                  <a:txBody>
                    <a:bodyPr/>
                    <a:lstStyle/>
                    <a:p>
                      <a:pPr algn="l"/>
                      <a:r>
                        <a:rPr sz="2300" b="1">
                          <a:solidFill>
                            <a:srgbClr val="FFFFFF"/>
                          </a:solidFill>
                          <a:latin typeface="Yu Gothic"/>
                        </a:rPr>
                        <a:t>What is established</a:t>
                      </a:r>
                    </a:p>
                  </a:txBody>
                  <a:tcPr marL="64008" marR="64008" marT="27432" marB="27432" anchor="ctr">
                    <a:solidFill>
                      <a:srgbClr val="082B52"/>
                    </a:solidFill>
                  </a:tcPr>
                </a:tc>
                <a:tc>
                  <a:txBody>
                    <a:bodyPr/>
                    <a:lstStyle/>
                    <a:p>
                      <a:pPr algn="ctr"/>
                      <a:r>
                        <a:rPr sz="2300" b="1">
                          <a:solidFill>
                            <a:srgbClr val="FFFFFF"/>
                          </a:solidFill>
                          <a:latin typeface="Yu Gothic"/>
                        </a:rPr>
                        <a:t>What remains</a:t>
                      </a:r>
                    </a:p>
                  </a:txBody>
                  <a:tcPr marL="64008" marR="64008" marT="27432" marB="27432" anchor="ctr">
                    <a:solidFill>
                      <a:srgbClr val="082B52"/>
                    </a:solidFill>
                  </a:tcPr>
                </a:tc>
                <a:extLst>
                  <a:ext uri="{0D108BD9-81ED-4DB2-BD59-A6C34878D82A}">
                    <a16:rowId xmlns:a16="http://schemas.microsoft.com/office/drawing/2014/main" val="10000"/>
                  </a:ext>
                </a:extLst>
              </a:tr>
              <a:tr h="1112520">
                <a:tc>
                  <a:txBody>
                    <a:bodyPr/>
                    <a:lstStyle/>
                    <a:p>
                      <a:pPr algn="l"/>
                      <a:r>
                        <a:rPr sz="2300" b="0" dirty="0">
                          <a:solidFill>
                            <a:srgbClr val="232B34"/>
                          </a:solidFill>
                          <a:latin typeface="Yu Gothic"/>
                        </a:rPr>
                        <a:t>TD/Femap → STT–LCT LOS → PAT</a:t>
                      </a:r>
                    </a:p>
                  </a:txBody>
                  <a:tcPr marL="64008" marR="64008" marT="27432" marB="27432" anchor="ctr">
                    <a:solidFill>
                      <a:srgbClr val="FFFFFF"/>
                    </a:solidFill>
                  </a:tcPr>
                </a:tc>
                <a:tc>
                  <a:txBody>
                    <a:bodyPr/>
                    <a:lstStyle/>
                    <a:p>
                      <a:pPr algn="ctr"/>
                      <a:r>
                        <a:rPr sz="2300" b="0">
                          <a:solidFill>
                            <a:srgbClr val="232B34"/>
                          </a:solidFill>
                          <a:latin typeface="Yu Gothic"/>
                        </a:rPr>
                        <a:t>real spacecraft validation</a:t>
                      </a:r>
                    </a:p>
                  </a:txBody>
                  <a:tcPr marL="64008" marR="64008" marT="27432" marB="27432" anchor="ctr">
                    <a:solidFill>
                      <a:srgbClr val="EBF6FB"/>
                    </a:solidFill>
                  </a:tcPr>
                </a:tc>
                <a:extLst>
                  <a:ext uri="{0D108BD9-81ED-4DB2-BD59-A6C34878D82A}">
                    <a16:rowId xmlns:a16="http://schemas.microsoft.com/office/drawing/2014/main" val="10001"/>
                  </a:ext>
                </a:extLst>
              </a:tr>
              <a:tr h="1112520">
                <a:tc>
                  <a:txBody>
                    <a:bodyPr/>
                    <a:lstStyle/>
                    <a:p>
                      <a:pPr algn="l"/>
                      <a:r>
                        <a:rPr sz="2300" b="0">
                          <a:solidFill>
                            <a:srgbClr val="232B34"/>
                          </a:solidFill>
                          <a:latin typeface="Yu Gothic"/>
                        </a:rPr>
                        <a:t>shared |a|≈28–31 µrad/°C</a:t>
                      </a:r>
                    </a:p>
                  </a:txBody>
                  <a:tcPr marL="64008" marR="64008" marT="27432" marB="27432" anchor="ctr">
                    <a:solidFill>
                      <a:srgbClr val="F4F6F8"/>
                    </a:solidFill>
                  </a:tcPr>
                </a:tc>
                <a:tc>
                  <a:txBody>
                    <a:bodyPr/>
                    <a:lstStyle/>
                    <a:p>
                      <a:pPr algn="ctr"/>
                      <a:r>
                        <a:rPr sz="2300" b="0">
                          <a:solidFill>
                            <a:srgbClr val="232B34"/>
                          </a:solidFill>
                          <a:latin typeface="Yu Gothic"/>
                        </a:rPr>
                        <a:t>MZ / non-dominant axis</a:t>
                      </a:r>
                    </a:p>
                  </a:txBody>
                  <a:tcPr marL="64008" marR="64008" marT="27432" marB="27432" anchor="ctr">
                    <a:solidFill>
                      <a:srgbClr val="EBF6FB"/>
                    </a:solidFill>
                  </a:tcPr>
                </a:tc>
                <a:extLst>
                  <a:ext uri="{0D108BD9-81ED-4DB2-BD59-A6C34878D82A}">
                    <a16:rowId xmlns:a16="http://schemas.microsoft.com/office/drawing/2014/main" val="10002"/>
                  </a:ext>
                </a:extLst>
              </a:tr>
              <a:tr h="1112520">
                <a:tc>
                  <a:txBody>
                    <a:bodyPr/>
                    <a:lstStyle/>
                    <a:p>
                      <a:pPr algn="l"/>
                      <a:r>
                        <a:rPr sz="2300" b="0">
                          <a:solidFill>
                            <a:srgbClr val="232B34"/>
                          </a:solidFill>
                          <a:latin typeface="Yu Gothic"/>
                        </a:rPr>
                        <a:t>LOO thermal residual ≈5.5 µrad</a:t>
                      </a:r>
                    </a:p>
                  </a:txBody>
                  <a:tcPr marL="64008" marR="64008" marT="27432" marB="27432" anchor="ctr">
                    <a:solidFill>
                      <a:srgbClr val="FFFFFF"/>
                    </a:solidFill>
                  </a:tcPr>
                </a:tc>
                <a:tc>
                  <a:txBody>
                    <a:bodyPr/>
                    <a:lstStyle/>
                    <a:p>
                      <a:pPr algn="ctr"/>
                      <a:r>
                        <a:rPr sz="2300" b="0">
                          <a:solidFill>
                            <a:srgbClr val="232B34"/>
                          </a:solidFill>
                          <a:latin typeface="Yu Gothic"/>
                        </a:rPr>
                        <a:t>power-continuous Level 2</a:t>
                      </a:r>
                    </a:p>
                  </a:txBody>
                  <a:tcPr marL="64008" marR="64008" marT="27432" marB="27432" anchor="ctr">
                    <a:solidFill>
                      <a:srgbClr val="EBF6FB"/>
                    </a:solidFill>
                  </a:tcPr>
                </a:tc>
                <a:extLst>
                  <a:ext uri="{0D108BD9-81ED-4DB2-BD59-A6C34878D82A}">
                    <a16:rowId xmlns:a16="http://schemas.microsoft.com/office/drawing/2014/main" val="10003"/>
                  </a:ext>
                </a:extLst>
              </a:tr>
              <a:tr h="1112520">
                <a:tc>
                  <a:txBody>
                    <a:bodyPr/>
                    <a:lstStyle/>
                    <a:p>
                      <a:pPr algn="l"/>
                      <a:r>
                        <a:rPr sz="2300" b="0">
                          <a:solidFill>
                            <a:srgbClr val="232B34"/>
                          </a:solidFill>
                          <a:latin typeface="Yu Gothic"/>
                        </a:rPr>
                        <a:t>nonthermal tacq 156.9→59.6 s</a:t>
                      </a:r>
                    </a:p>
                  </a:txBody>
                  <a:tcPr marL="64008" marR="64008" marT="27432" marB="27432" anchor="ctr">
                    <a:solidFill>
                      <a:srgbClr val="F4F6F8"/>
                    </a:solidFill>
                  </a:tcPr>
                </a:tc>
                <a:tc>
                  <a:txBody>
                    <a:bodyPr/>
                    <a:lstStyle/>
                    <a:p>
                      <a:pPr algn="ctr"/>
                      <a:r>
                        <a:rPr sz="2300" b="0">
                          <a:solidFill>
                            <a:srgbClr val="232B34"/>
                          </a:solidFill>
                          <a:latin typeface="Yu Gothic"/>
                        </a:rPr>
                        <a:t>realistic-link subset / dynamics</a:t>
                      </a:r>
                    </a:p>
                  </a:txBody>
                  <a:tcPr marL="64008" marR="64008" marT="27432" marB="27432" anchor="ctr">
                    <a:solidFill>
                      <a:srgbClr val="EBF6FB"/>
                    </a:solidFill>
                  </a:tcPr>
                </a:tc>
                <a:extLst>
                  <a:ext uri="{0D108BD9-81ED-4DB2-BD59-A6C34878D82A}">
                    <a16:rowId xmlns:a16="http://schemas.microsoft.com/office/drawing/2014/main" val="10004"/>
                  </a:ext>
                </a:extLst>
              </a:tr>
              <a:tr h="1112520">
                <a:tc>
                  <a:txBody>
                    <a:bodyPr/>
                    <a:lstStyle/>
                    <a:p>
                      <a:pPr algn="l"/>
                      <a:r>
                        <a:rPr sz="2300" b="0">
                          <a:solidFill>
                            <a:srgbClr val="232B34"/>
                          </a:solidFill>
                          <a:latin typeface="Yu Gothic"/>
                        </a:rPr>
                        <a:t>orbit and thermal share low-frequency band</a:t>
                      </a:r>
                    </a:p>
                  </a:txBody>
                  <a:tcPr marL="64008" marR="64008" marT="27432" marB="27432" anchor="ctr">
                    <a:solidFill>
                      <a:srgbClr val="FFFFFF"/>
                    </a:solidFill>
                  </a:tcPr>
                </a:tc>
                <a:tc>
                  <a:txBody>
                    <a:bodyPr/>
                    <a:lstStyle/>
                    <a:p>
                      <a:pPr algn="ctr"/>
                      <a:r>
                        <a:rPr sz="2300" b="0">
                          <a:solidFill>
                            <a:srgbClr val="232B34"/>
                          </a:solidFill>
                          <a:latin typeface="Yu Gothic"/>
                        </a:rPr>
                        <a:t>adaptive observability</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1828800" y="10058400"/>
            <a:ext cx="20574000" cy="137160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77440" y="10442448"/>
            <a:ext cx="19476720" cy="548640"/>
          </a:xfrm>
          <a:prstGeom prst="rect">
            <a:avLst/>
          </a:prstGeom>
          <a:noFill/>
        </p:spPr>
        <p:txBody>
          <a:bodyPr wrap="none" lIns="36576" tIns="27432" rIns="36576" bIns="27432" anchor="t">
            <a:spAutoFit/>
          </a:bodyPr>
          <a:lstStyle/>
          <a:p>
            <a:pPr algn="ctr"/>
            <a:r>
              <a:rPr sz="2700" b="1">
                <a:solidFill>
                  <a:srgbClr val="082B52"/>
                </a:solidFill>
                <a:latin typeface="Yu Gothic"/>
              </a:rPr>
              <a:t>ICSOへ：モデル主張を固定し、PAT条件とAdaptiveの必要最小限を詰める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A</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806440"/>
            <a:ext cx="20756880" cy="1051560"/>
          </a:xfrm>
          <a:prstGeom prst="rect">
            <a:avLst/>
          </a:prstGeom>
          <a:noFill/>
        </p:spPr>
        <p:txBody>
          <a:bodyPr wrap="none" lIns="36576" tIns="27432" rIns="36576" bIns="27432" anchor="t">
            <a:spAutoFit/>
          </a:bodyPr>
          <a:lstStyle/>
          <a:p>
            <a:pPr algn="ctr"/>
            <a:r>
              <a:rPr sz="3300" b="1">
                <a:solidFill>
                  <a:srgbClr val="FFFFFF"/>
                </a:solidFill>
                <a:latin typeface="Yu Gothic"/>
              </a:rPr>
              <a:t>Appendix</a:t>
            </a:r>
          </a:p>
        </p:txBody>
      </p:sp>
      <p:sp>
        <p:nvSpPr>
          <p:cNvPr id="5" name="TextBox 4"/>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FFFFFF"/>
                </a:solidFill>
                <a:latin typeface="Yu Gothic"/>
              </a:rPr>
              <a:t>43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Lightweight LOS model</a:t>
            </a:r>
          </a:p>
        </p:txBody>
      </p:sp>
      <p:sp>
        <p:nvSpPr>
          <p:cNvPr id="3" name="TextBox 2"/>
          <p:cNvSpPr txBox="1"/>
          <p:nvPr/>
        </p:nvSpPr>
        <p:spPr>
          <a:xfrm>
            <a:off x="1536192" y="1298448"/>
            <a:ext cx="10390793"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sz="3200" b="1" dirty="0" err="1">
                <a:solidFill>
                  <a:srgbClr val="082B52"/>
                </a:solidFill>
                <a:latin typeface="Yu Gothic"/>
              </a:rPr>
              <a:t>コンポ温度の時系列追加は共線と低SNRで係数が壊れる</a:t>
            </a:r>
            <a:endParaRPr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20</a:t>
            </a:r>
          </a:p>
        </p:txBody>
      </p:sp>
      <p:sp>
        <p:nvSpPr>
          <p:cNvPr id="5" name="Rounded Rectangle 4"/>
          <p:cNvSpPr/>
          <p:nvPr/>
        </p:nvSpPr>
        <p:spPr>
          <a:xfrm>
            <a:off x="1188720" y="2834640"/>
            <a:ext cx="10332720" cy="713232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3291840"/>
            <a:ext cx="9418320" cy="548640"/>
          </a:xfrm>
          <a:prstGeom prst="rect">
            <a:avLst/>
          </a:prstGeom>
          <a:noFill/>
        </p:spPr>
        <p:txBody>
          <a:bodyPr wrap="none" lIns="36576" tIns="27432" rIns="36576" bIns="27432" anchor="t">
            <a:spAutoFit/>
          </a:bodyPr>
          <a:lstStyle/>
          <a:p>
            <a:pPr algn="ctr"/>
            <a:r>
              <a:rPr sz="2800" b="1">
                <a:solidFill>
                  <a:srgbClr val="D03B46"/>
                </a:solidFill>
                <a:latin typeface="Yu Gothic"/>
              </a:rPr>
              <a:t>Attempt</a:t>
            </a:r>
          </a:p>
        </p:txBody>
      </p:sp>
      <p:sp>
        <p:nvSpPr>
          <p:cNvPr id="7" name="TextBox 6"/>
          <p:cNvSpPr txBox="1"/>
          <p:nvPr/>
        </p:nvSpPr>
        <p:spPr>
          <a:xfrm>
            <a:off x="1828800" y="4434840"/>
            <a:ext cx="9052560" cy="1188720"/>
          </a:xfrm>
          <a:prstGeom prst="rect">
            <a:avLst/>
          </a:prstGeom>
          <a:noFill/>
        </p:spPr>
        <p:txBody>
          <a:bodyPr wrap="none" lIns="36576" tIns="27432" rIns="36576" bIns="27432" anchor="t">
            <a:spAutoFit/>
          </a:bodyPr>
          <a:lstStyle/>
          <a:p>
            <a:pPr algn="ctr"/>
            <a:r>
              <a:rPr sz="3100" b="1">
                <a:solidFill>
                  <a:srgbClr val="082B52"/>
                </a:solidFill>
                <a:latin typeface="Yu Gothic"/>
              </a:rPr>
              <a:t>LOS = b + a·ΔT
+ c·(Tattach−Tref)</a:t>
            </a:r>
          </a:p>
        </p:txBody>
      </p:sp>
      <p:sp>
        <p:nvSpPr>
          <p:cNvPr id="8" name="TextBox 7"/>
          <p:cNvSpPr txBox="1"/>
          <p:nvPr/>
        </p:nvSpPr>
        <p:spPr>
          <a:xfrm>
            <a:off x="1828800" y="6217920"/>
            <a:ext cx="9052560" cy="2743200"/>
          </a:xfrm>
          <a:prstGeom prst="rect">
            <a:avLst/>
          </a:prstGeom>
          <a:noFill/>
        </p:spPr>
        <p:txBody>
          <a:bodyPr wrap="square" lIns="27432" rIns="27432">
            <a:spAutoFit/>
          </a:bodyPr>
          <a:lstStyle/>
          <a:p>
            <a:pPr>
              <a:spcAft>
                <a:spcPts val="800"/>
              </a:spcAft>
            </a:pPr>
            <a:r>
              <a:rPr sz="2500" b="1">
                <a:solidFill>
                  <a:srgbClr val="D03B46"/>
                </a:solidFill>
                <a:latin typeface="Yu Gothic"/>
              </a:rPr>
              <a:t>• </a:t>
            </a:r>
            <a:r>
              <a:rPr sz="2500">
                <a:solidFill>
                  <a:srgbClr val="232B34"/>
                </a:solidFill>
                <a:latin typeface="Yu Gothic"/>
              </a:rPr>
              <a:t>corr(ΔT,TPCDU)≈0.995</a:t>
            </a:r>
          </a:p>
          <a:p>
            <a:pPr>
              <a:spcAft>
                <a:spcPts val="800"/>
              </a:spcAft>
            </a:pPr>
            <a:r>
              <a:rPr sz="2500" b="1">
                <a:solidFill>
                  <a:srgbClr val="D03B46"/>
                </a:solidFill>
                <a:latin typeface="Yu Gothic"/>
              </a:rPr>
              <a:t>• </a:t>
            </a:r>
            <a:r>
              <a:rPr sz="2500">
                <a:solidFill>
                  <a:srgbClr val="232B34"/>
                </a:solidFill>
                <a:latin typeface="Yu Gothic"/>
              </a:rPr>
              <a:t>local std≈0.1°C</a:t>
            </a:r>
          </a:p>
          <a:p>
            <a:pPr>
              <a:spcAft>
                <a:spcPts val="800"/>
              </a:spcAft>
            </a:pPr>
            <a:r>
              <a:rPr sz="2500" b="1">
                <a:solidFill>
                  <a:srgbClr val="D03B46"/>
                </a:solidFill>
                <a:latin typeface="Yu Gothic"/>
              </a:rPr>
              <a:t>• </a:t>
            </a:r>
            <a:r>
              <a:rPr sz="2500">
                <a:solidFill>
                  <a:srgbClr val="232B34"/>
                </a:solidFill>
                <a:latin typeface="Yu Gothic"/>
              </a:rPr>
              <a:t>係数が巨大化</a:t>
            </a:r>
          </a:p>
          <a:p>
            <a:pPr>
              <a:spcAft>
                <a:spcPts val="800"/>
              </a:spcAft>
            </a:pPr>
            <a:r>
              <a:rPr sz="2500" b="1">
                <a:solidFill>
                  <a:srgbClr val="D03B46"/>
                </a:solidFill>
                <a:latin typeface="Yu Gothic"/>
              </a:rPr>
              <a:t>• </a:t>
            </a:r>
            <a:r>
              <a:rPr sz="2500">
                <a:solidFill>
                  <a:srgbClr val="232B34"/>
                </a:solidFill>
                <a:latin typeface="Yu Gothic"/>
              </a:rPr>
              <a:t>ケース間で不安定</a:t>
            </a:r>
          </a:p>
        </p:txBody>
      </p:sp>
      <p:cxnSp>
        <p:nvCxnSpPr>
          <p:cNvPr id="9" name="Connector 8"/>
          <p:cNvCxnSpPr/>
          <p:nvPr/>
        </p:nvCxnSpPr>
        <p:spPr>
          <a:xfrm>
            <a:off x="11887200" y="6217920"/>
            <a:ext cx="1280160" cy="0"/>
          </a:xfrm>
          <a:prstGeom prst="line">
            <a:avLst/>
          </a:prstGeom>
          <a:ln w="508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3533120" y="2834640"/>
            <a:ext cx="9509760" cy="7132320"/>
          </a:xfrm>
          <a:prstGeom prst="roundRect">
            <a:avLst/>
          </a:prstGeom>
          <a:solidFill>
            <a:srgbClr val="EAF8F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990320" y="3291840"/>
            <a:ext cx="8595360" cy="548640"/>
          </a:xfrm>
          <a:prstGeom prst="rect">
            <a:avLst/>
          </a:prstGeom>
          <a:noFill/>
        </p:spPr>
        <p:txBody>
          <a:bodyPr wrap="none" lIns="36576" tIns="27432" rIns="36576" bIns="27432" anchor="t">
            <a:spAutoFit/>
          </a:bodyPr>
          <a:lstStyle/>
          <a:p>
            <a:pPr algn="ctr"/>
            <a:r>
              <a:rPr sz="2800" b="1">
                <a:solidFill>
                  <a:srgbClr val="239571"/>
                </a:solidFill>
                <a:latin typeface="Yu Gothic"/>
              </a:rPr>
              <a:t>Interpretation</a:t>
            </a:r>
          </a:p>
        </p:txBody>
      </p:sp>
      <p:sp>
        <p:nvSpPr>
          <p:cNvPr id="12" name="TextBox 11"/>
          <p:cNvSpPr txBox="1"/>
          <p:nvPr/>
        </p:nvSpPr>
        <p:spPr>
          <a:xfrm>
            <a:off x="14356080" y="4572000"/>
            <a:ext cx="7863840" cy="2011680"/>
          </a:xfrm>
          <a:prstGeom prst="rect">
            <a:avLst/>
          </a:prstGeom>
          <a:noFill/>
        </p:spPr>
        <p:txBody>
          <a:bodyPr wrap="none" lIns="36576" tIns="27432" rIns="36576" bIns="27432" anchor="t">
            <a:spAutoFit/>
          </a:bodyPr>
          <a:lstStyle/>
          <a:p>
            <a:pPr algn="ctr"/>
            <a:r>
              <a:rPr sz="3100" b="1">
                <a:solidFill>
                  <a:srgbClr val="082B52"/>
                </a:solidFill>
                <a:latin typeface="Yu Gothic"/>
              </a:rPr>
              <a:t>効いていたのは
軌道内変動ではなく
ケース平均DC</a:t>
            </a:r>
          </a:p>
        </p:txBody>
      </p:sp>
      <p:sp>
        <p:nvSpPr>
          <p:cNvPr id="13" name="TextBox 12"/>
          <p:cNvSpPr txBox="1"/>
          <p:nvPr/>
        </p:nvSpPr>
        <p:spPr>
          <a:xfrm>
            <a:off x="14721840" y="7543800"/>
            <a:ext cx="7132320" cy="594360"/>
          </a:xfrm>
          <a:prstGeom prst="rect">
            <a:avLst/>
          </a:prstGeom>
          <a:noFill/>
        </p:spPr>
        <p:txBody>
          <a:bodyPr wrap="none" lIns="36576" tIns="27432" rIns="36576" bIns="27432" anchor="t">
            <a:spAutoFit/>
          </a:bodyPr>
          <a:lstStyle/>
          <a:p>
            <a:pPr algn="ctr"/>
            <a:r>
              <a:rPr sz="2900" b="1">
                <a:solidFill>
                  <a:srgbClr val="239571"/>
                </a:solidFill>
                <a:latin typeface="Yu Gothic"/>
              </a:rPr>
              <a:t>→ b_case側へ分離</a:t>
            </a:r>
          </a:p>
        </p:txBody>
      </p:sp>
      <p:sp>
        <p:nvSpPr>
          <p:cNvPr id="14" name="TextBox 13"/>
          <p:cNvSpPr txBox="1"/>
          <p:nvPr/>
        </p:nvSpPr>
        <p:spPr>
          <a:xfrm>
            <a:off x="3840480" y="10652760"/>
            <a:ext cx="16642080" cy="640080"/>
          </a:xfrm>
          <a:prstGeom prst="rect">
            <a:avLst/>
          </a:prstGeom>
          <a:noFill/>
        </p:spPr>
        <p:txBody>
          <a:bodyPr wrap="none" lIns="36576" tIns="27432" rIns="36576" bIns="27432" anchor="t">
            <a:spAutoFit/>
          </a:bodyPr>
          <a:lstStyle/>
          <a:p>
            <a:pPr algn="ctr"/>
            <a:r>
              <a:rPr sz="2800" b="1">
                <a:solidFill>
                  <a:srgbClr val="082B52"/>
                </a:solidFill>
                <a:latin typeface="Yu Gothic"/>
              </a:rPr>
              <a:t>RMSEだけでなく、係数の安定性と運用解釈でモデルを選ぶ</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関連研究の位置づけ</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A1</a:t>
            </a:r>
          </a:p>
        </p:txBody>
      </p:sp>
      <p:graphicFrame>
        <p:nvGraphicFramePr>
          <p:cNvPr id="5" name="Table 4"/>
          <p:cNvGraphicFramePr>
            <a:graphicFrameLocks noGrp="1"/>
          </p:cNvGraphicFramePr>
          <p:nvPr/>
        </p:nvGraphicFramePr>
        <p:xfrm>
          <a:off x="1828800" y="2926080"/>
          <a:ext cx="20665440" cy="7360919"/>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59">
                <a:tc>
                  <a:txBody>
                    <a:bodyPr/>
                    <a:lstStyle/>
                    <a:p>
                      <a:pPr algn="l"/>
                      <a:r>
                        <a:rPr sz="2300" b="1">
                          <a:solidFill>
                            <a:srgbClr val="FFFFFF"/>
                          </a:solidFill>
                          <a:latin typeface="Yu Gothic"/>
                        </a:rPr>
                        <a:t>Item</a:t>
                      </a:r>
                    </a:p>
                  </a:txBody>
                  <a:tcPr marL="64008" marR="64008" marT="27432" marB="27432" anchor="ctr">
                    <a:solidFill>
                      <a:srgbClr val="5D4084"/>
                    </a:solidFill>
                  </a:tcPr>
                </a:tc>
                <a:tc>
                  <a:txBody>
                    <a:bodyPr/>
                    <a:lstStyle/>
                    <a:p>
                      <a:pPr algn="ctr"/>
                      <a:r>
                        <a:rPr sz="2300" b="1">
                          <a:solidFill>
                            <a:srgbClr val="FFFFFF"/>
                          </a:solidFill>
                          <a:latin typeface="Yu Gothic"/>
                        </a:rPr>
                        <a:t>Detail</a:t>
                      </a:r>
                    </a:p>
                  </a:txBody>
                  <a:tcPr marL="64008" marR="64008" marT="27432" marB="27432" anchor="ctr">
                    <a:solidFill>
                      <a:srgbClr val="5D4084"/>
                    </a:solidFill>
                  </a:tcPr>
                </a:tc>
                <a:extLst>
                  <a:ext uri="{0D108BD9-81ED-4DB2-BD59-A6C34878D82A}">
                    <a16:rowId xmlns:a16="http://schemas.microsoft.com/office/drawing/2014/main" val="10000"/>
                  </a:ext>
                </a:extLst>
              </a:tr>
              <a:tr h="1051559">
                <a:tc>
                  <a:txBody>
                    <a:bodyPr/>
                    <a:lstStyle/>
                    <a:p>
                      <a:pPr algn="l"/>
                      <a:r>
                        <a:rPr sz="2300" b="0">
                          <a:solidFill>
                            <a:srgbClr val="232B34"/>
                          </a:solidFill>
                          <a:latin typeface="Yu Gothic"/>
                        </a:rPr>
                        <a:t>Badás et al. 2024</a:t>
                      </a:r>
                    </a:p>
                  </a:txBody>
                  <a:tcPr marL="64008" marR="64008" marT="27432" marB="27432" anchor="ctr">
                    <a:solidFill>
                      <a:srgbClr val="FFFFFF"/>
                    </a:solidFill>
                  </a:tcPr>
                </a:tc>
                <a:tc>
                  <a:txBody>
                    <a:bodyPr/>
                    <a:lstStyle/>
                    <a:p>
                      <a:pPr algn="ctr"/>
                      <a:r>
                        <a:rPr sz="2300" b="0">
                          <a:solidFill>
                            <a:srgbClr val="232B34"/>
                          </a:solidFill>
                          <a:latin typeface="Yu Gothic"/>
                        </a:rPr>
                        <a:t>FSOC opto-thermo-mechanical review</a:t>
                      </a:r>
                    </a:p>
                  </a:txBody>
                  <a:tcPr marL="64008" marR="64008" marT="27432" marB="27432" anchor="ctr">
                    <a:solidFill>
                      <a:srgbClr val="EBF6FB"/>
                    </a:solidFill>
                  </a:tcPr>
                </a:tc>
                <a:extLst>
                  <a:ext uri="{0D108BD9-81ED-4DB2-BD59-A6C34878D82A}">
                    <a16:rowId xmlns:a16="http://schemas.microsoft.com/office/drawing/2014/main" val="10001"/>
                  </a:ext>
                </a:extLst>
              </a:tr>
              <a:tr h="1051559">
                <a:tc>
                  <a:txBody>
                    <a:bodyPr/>
                    <a:lstStyle/>
                    <a:p>
                      <a:pPr algn="l"/>
                      <a:r>
                        <a:rPr sz="2300" b="0">
                          <a:solidFill>
                            <a:srgbClr val="232B34"/>
                          </a:solidFill>
                          <a:latin typeface="Yu Gothic"/>
                        </a:rPr>
                        <a:t>Shi et al. 2023</a:t>
                      </a:r>
                    </a:p>
                  </a:txBody>
                  <a:tcPr marL="64008" marR="64008" marT="27432" marB="27432" anchor="ctr">
                    <a:solidFill>
                      <a:srgbClr val="F4F6F8"/>
                    </a:solidFill>
                  </a:tcPr>
                </a:tc>
                <a:tc>
                  <a:txBody>
                    <a:bodyPr/>
                    <a:lstStyle/>
                    <a:p>
                      <a:pPr algn="ctr"/>
                      <a:r>
                        <a:rPr sz="2300" b="0">
                          <a:solidFill>
                            <a:srgbClr val="232B34"/>
                          </a:solidFill>
                          <a:latin typeface="Yu Gothic"/>
                        </a:rPr>
                        <a:t>bus optimization → acquisition time</a:t>
                      </a:r>
                    </a:p>
                  </a:txBody>
                  <a:tcPr marL="64008" marR="64008" marT="27432" marB="27432" anchor="ctr">
                    <a:solidFill>
                      <a:srgbClr val="EBF6FB"/>
                    </a:solidFill>
                  </a:tcPr>
                </a:tc>
                <a:extLst>
                  <a:ext uri="{0D108BD9-81ED-4DB2-BD59-A6C34878D82A}">
                    <a16:rowId xmlns:a16="http://schemas.microsoft.com/office/drawing/2014/main" val="10002"/>
                  </a:ext>
                </a:extLst>
              </a:tr>
              <a:tr h="1051559">
                <a:tc>
                  <a:txBody>
                    <a:bodyPr/>
                    <a:lstStyle/>
                    <a:p>
                      <a:pPr algn="l"/>
                      <a:r>
                        <a:rPr sz="2300" b="0">
                          <a:solidFill>
                            <a:srgbClr val="232B34"/>
                          </a:solidFill>
                          <a:latin typeface="Yu Gothic"/>
                        </a:rPr>
                        <a:t>Hu et al. 2022</a:t>
                      </a:r>
                    </a:p>
                  </a:txBody>
                  <a:tcPr marL="64008" marR="64008" marT="27432" marB="27432" anchor="ctr">
                    <a:solidFill>
                      <a:srgbClr val="FFFFFF"/>
                    </a:solidFill>
                  </a:tcPr>
                </a:tc>
                <a:tc>
                  <a:txBody>
                    <a:bodyPr/>
                    <a:lstStyle/>
                    <a:p>
                      <a:pPr algn="ctr"/>
                      <a:r>
                        <a:rPr sz="2300" b="0">
                          <a:solidFill>
                            <a:srgbClr val="232B34"/>
                          </a:solidFill>
                          <a:latin typeface="Yu Gothic"/>
                        </a:rPr>
                        <a:t>GEO Fourier compensation</a:t>
                      </a:r>
                    </a:p>
                  </a:txBody>
                  <a:tcPr marL="64008" marR="64008" marT="27432" marB="27432" anchor="ctr">
                    <a:solidFill>
                      <a:srgbClr val="EBF6FB"/>
                    </a:solidFill>
                  </a:tcPr>
                </a:tc>
                <a:extLst>
                  <a:ext uri="{0D108BD9-81ED-4DB2-BD59-A6C34878D82A}">
                    <a16:rowId xmlns:a16="http://schemas.microsoft.com/office/drawing/2014/main" val="10003"/>
                  </a:ext>
                </a:extLst>
              </a:tr>
              <a:tr h="1051559">
                <a:tc>
                  <a:txBody>
                    <a:bodyPr/>
                    <a:lstStyle/>
                    <a:p>
                      <a:pPr algn="l"/>
                      <a:r>
                        <a:rPr sz="2300" b="0">
                          <a:solidFill>
                            <a:srgbClr val="232B34"/>
                          </a:solidFill>
                          <a:latin typeface="Yu Gothic"/>
                        </a:rPr>
                        <a:t>Li et al. 2025</a:t>
                      </a:r>
                    </a:p>
                  </a:txBody>
                  <a:tcPr marL="64008" marR="64008" marT="27432" marB="27432" anchor="ctr">
                    <a:solidFill>
                      <a:srgbClr val="F4F6F8"/>
                    </a:solidFill>
                  </a:tcPr>
                </a:tc>
                <a:tc>
                  <a:txBody>
                    <a:bodyPr/>
                    <a:lstStyle/>
                    <a:p>
                      <a:pPr algn="ctr"/>
                      <a:r>
                        <a:rPr sz="2300" b="0">
                          <a:solidFill>
                            <a:srgbClr val="232B34"/>
                          </a:solidFill>
                          <a:latin typeface="Yu Gothic"/>
                        </a:rPr>
                        <a:t>LEO geometry → NN LOS correction</a:t>
                      </a:r>
                    </a:p>
                  </a:txBody>
                  <a:tcPr marL="64008" marR="64008" marT="27432" marB="27432" anchor="ctr">
                    <a:solidFill>
                      <a:srgbClr val="EBF6FB"/>
                    </a:solidFill>
                  </a:tcPr>
                </a:tc>
                <a:extLst>
                  <a:ext uri="{0D108BD9-81ED-4DB2-BD59-A6C34878D82A}">
                    <a16:rowId xmlns:a16="http://schemas.microsoft.com/office/drawing/2014/main" val="10004"/>
                  </a:ext>
                </a:extLst>
              </a:tr>
              <a:tr h="1051559">
                <a:tc>
                  <a:txBody>
                    <a:bodyPr/>
                    <a:lstStyle/>
                    <a:p>
                      <a:pPr algn="l"/>
                      <a:r>
                        <a:rPr sz="2300" b="0">
                          <a:solidFill>
                            <a:srgbClr val="232B34"/>
                          </a:solidFill>
                          <a:latin typeface="Yu Gothic"/>
                        </a:rPr>
                        <a:t>JANUS</a:t>
                      </a:r>
                    </a:p>
                  </a:txBody>
                  <a:tcPr marL="64008" marR="64008" marT="27432" marB="27432" anchor="ctr">
                    <a:solidFill>
                      <a:srgbClr val="FFFFFF"/>
                    </a:solidFill>
                  </a:tcPr>
                </a:tc>
                <a:tc>
                  <a:txBody>
                    <a:bodyPr/>
                    <a:lstStyle/>
                    <a:p>
                      <a:pPr algn="ctr"/>
                      <a:r>
                        <a:rPr sz="2300" b="0">
                          <a:solidFill>
                            <a:srgbClr val="232B34"/>
                          </a:solidFill>
                          <a:latin typeface="Yu Gothic"/>
                        </a:rPr>
                        <a:t>optical-head LOS≈KΔT</a:t>
                      </a:r>
                    </a:p>
                  </a:txBody>
                  <a:tcPr marL="64008" marR="64008" marT="27432" marB="27432" anchor="ctr">
                    <a:solidFill>
                      <a:srgbClr val="EBF6FB"/>
                    </a:solidFill>
                  </a:tcPr>
                </a:tc>
                <a:extLst>
                  <a:ext uri="{0D108BD9-81ED-4DB2-BD59-A6C34878D82A}">
                    <a16:rowId xmlns:a16="http://schemas.microsoft.com/office/drawing/2014/main" val="10005"/>
                  </a:ext>
                </a:extLst>
              </a:tr>
              <a:tr h="1051565">
                <a:tc>
                  <a:txBody>
                    <a:bodyPr/>
                    <a:lstStyle/>
                    <a:p>
                      <a:pPr algn="l"/>
                      <a:r>
                        <a:rPr sz="2300" b="0">
                          <a:solidFill>
                            <a:srgbClr val="232B34"/>
                          </a:solidFill>
                          <a:latin typeface="Yu Gothic"/>
                        </a:rPr>
                        <a:t>Rüddenklau et al.</a:t>
                      </a:r>
                    </a:p>
                  </a:txBody>
                  <a:tcPr marL="64008" marR="64008" marT="27432" marB="27432" anchor="ctr">
                    <a:solidFill>
                      <a:srgbClr val="F4F6F8"/>
                    </a:solidFill>
                  </a:tcPr>
                </a:tc>
                <a:tc>
                  <a:txBody>
                    <a:bodyPr/>
                    <a:lstStyle/>
                    <a:p>
                      <a:pPr algn="ctr"/>
                      <a:r>
                        <a:rPr sz="2300" b="0">
                          <a:solidFill>
                            <a:srgbClr val="232B34"/>
                          </a:solidFill>
                          <a:latin typeface="Yu Gothic"/>
                        </a:rPr>
                        <a:t>body-pointing FF, not thermal</a:t>
                      </a:r>
                    </a:p>
                  </a:txBody>
                  <a:tcPr marL="64008" marR="64008" marT="27432" marB="27432" anchor="ctr">
                    <a:solidFill>
                      <a:srgbClr val="EBF6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全解析ケースの設計</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A2</a:t>
            </a:r>
          </a:p>
        </p:txBody>
      </p:sp>
      <p:graphicFrame>
        <p:nvGraphicFramePr>
          <p:cNvPr id="5" name="Table 4"/>
          <p:cNvGraphicFramePr>
            <a:graphicFrameLocks noGrp="1"/>
          </p:cNvGraphicFramePr>
          <p:nvPr/>
        </p:nvGraphicFramePr>
        <p:xfrm>
          <a:off x="1280160" y="2834640"/>
          <a:ext cx="21762720" cy="7315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4904720">
                  <a:extLst>
                    <a:ext uri="{9D8B030D-6E8A-4147-A177-3AD203B41FA5}">
                      <a16:colId xmlns:a16="http://schemas.microsoft.com/office/drawing/2014/main" val="20002"/>
                    </a:ext>
                  </a:extLst>
                </a:gridCol>
              </a:tblGrid>
              <a:tr h="914400">
                <a:tc>
                  <a:txBody>
                    <a:bodyPr/>
                    <a:lstStyle/>
                    <a:p>
                      <a:pPr algn="l"/>
                      <a:r>
                        <a:rPr sz="2300" b="1">
                          <a:solidFill>
                            <a:srgbClr val="FFFFFF"/>
                          </a:solidFill>
                          <a:latin typeface="Yu Gothic"/>
                        </a:rPr>
                        <a:t>Cases</a:t>
                      </a:r>
                    </a:p>
                  </a:txBody>
                  <a:tcPr marL="64008" marR="64008" marT="27432" marB="27432" anchor="ctr">
                    <a:solidFill>
                      <a:srgbClr val="5D4084"/>
                    </a:solidFill>
                  </a:tcPr>
                </a:tc>
                <a:tc>
                  <a:txBody>
                    <a:bodyPr/>
                    <a:lstStyle/>
                    <a:p>
                      <a:pPr algn="ctr"/>
                      <a:r>
                        <a:rPr sz="2300" b="1">
                          <a:solidFill>
                            <a:srgbClr val="FFFFFF"/>
                          </a:solidFill>
                          <a:latin typeface="Yu Gothic"/>
                        </a:rPr>
                        <a:t>Sun</a:t>
                      </a:r>
                    </a:p>
                  </a:txBody>
                  <a:tcPr marL="64008" marR="64008" marT="27432" marB="27432" anchor="ctr">
                    <a:solidFill>
                      <a:srgbClr val="5D4084"/>
                    </a:solidFill>
                  </a:tcPr>
                </a:tc>
                <a:tc>
                  <a:txBody>
                    <a:bodyPr/>
                    <a:lstStyle/>
                    <a:p>
                      <a:pPr algn="ctr"/>
                      <a:r>
                        <a:rPr sz="2300" b="1">
                          <a:solidFill>
                            <a:srgbClr val="FFFFFF"/>
                          </a:solidFill>
                          <a:latin typeface="Yu Gothic"/>
                        </a:rPr>
                        <a:t>Power / condition</a:t>
                      </a:r>
                    </a:p>
                  </a:txBody>
                  <a:tcPr marL="64008" marR="64008" marT="27432" marB="27432" anchor="ctr">
                    <a:solidFill>
                      <a:srgbClr val="5D4084"/>
                    </a:solidFill>
                  </a:tcPr>
                </a:tc>
                <a:extLst>
                  <a:ext uri="{0D108BD9-81ED-4DB2-BD59-A6C34878D82A}">
                    <a16:rowId xmlns:a16="http://schemas.microsoft.com/office/drawing/2014/main" val="10000"/>
                  </a:ext>
                </a:extLst>
              </a:tr>
              <a:tr h="914400">
                <a:tc>
                  <a:txBody>
                    <a:bodyPr/>
                    <a:lstStyle/>
                    <a:p>
                      <a:pPr algn="l"/>
                      <a:r>
                        <a:rPr sz="2300" b="0">
                          <a:solidFill>
                            <a:srgbClr val="232B34"/>
                          </a:solidFill>
                          <a:latin typeface="Yu Gothic"/>
                        </a:rPr>
                        <a:t>04,13–15</a:t>
                      </a:r>
                    </a:p>
                  </a:txBody>
                  <a:tcPr marL="64008" marR="64008" marT="27432" marB="27432" anchor="ctr">
                    <a:solidFill>
                      <a:srgbClr val="FFFFFF"/>
                    </a:solidFill>
                  </a:tcPr>
                </a:tc>
                <a:tc>
                  <a:txBody>
                    <a:bodyPr/>
                    <a:lstStyle/>
                    <a:p>
                      <a:pPr algn="ctr"/>
                      <a:r>
                        <a:rPr sz="2300" b="0">
                          <a:solidFill>
                            <a:srgbClr val="232B34"/>
                          </a:solidFill>
                          <a:latin typeface="Yu Gothic"/>
                        </a:rPr>
                        <a:t>MY</a:t>
                      </a:r>
                    </a:p>
                  </a:txBody>
                  <a:tcPr marL="64008" marR="64008" marT="27432" marB="27432" anchor="ctr">
                    <a:solidFill>
                      <a:srgbClr val="FFFFFF"/>
                    </a:solidFill>
                  </a:tcPr>
                </a:tc>
                <a:tc>
                  <a:txBody>
                    <a:bodyPr/>
                    <a:lstStyle/>
                    <a:p>
                      <a:pPr algn="ctr"/>
                      <a:r>
                        <a:rPr sz="2300" b="0">
                          <a:solidFill>
                            <a:srgbClr val="232B34"/>
                          </a:solidFill>
                          <a:latin typeface="Yu Gothic"/>
                        </a:rPr>
                        <a:t>ALL / +PROP / +PCDU / STTLCT</a:t>
                      </a:r>
                    </a:p>
                  </a:txBody>
                  <a:tcPr marL="64008" marR="64008" marT="27432" marB="27432" anchor="ctr">
                    <a:solidFill>
                      <a:srgbClr val="EBF6FB"/>
                    </a:solidFill>
                  </a:tcPr>
                </a:tc>
                <a:extLst>
                  <a:ext uri="{0D108BD9-81ED-4DB2-BD59-A6C34878D82A}">
                    <a16:rowId xmlns:a16="http://schemas.microsoft.com/office/drawing/2014/main" val="10001"/>
                  </a:ext>
                </a:extLst>
              </a:tr>
              <a:tr h="914400">
                <a:tc>
                  <a:txBody>
                    <a:bodyPr/>
                    <a:lstStyle/>
                    <a:p>
                      <a:pPr algn="l"/>
                      <a:r>
                        <a:rPr sz="2300" b="0">
                          <a:solidFill>
                            <a:srgbClr val="232B34"/>
                          </a:solidFill>
                          <a:latin typeface="Yu Gothic"/>
                        </a:rPr>
                        <a:t>08,16,18,19</a:t>
                      </a:r>
                    </a:p>
                  </a:txBody>
                  <a:tcPr marL="64008" marR="64008" marT="27432" marB="27432" anchor="ctr">
                    <a:solidFill>
                      <a:srgbClr val="F4F6F8"/>
                    </a:solidFill>
                  </a:tcPr>
                </a:tc>
                <a:tc>
                  <a:txBody>
                    <a:bodyPr/>
                    <a:lstStyle/>
                    <a:p>
                      <a:pPr algn="ctr"/>
                      <a:r>
                        <a:rPr sz="2300" b="0">
                          <a:solidFill>
                            <a:srgbClr val="232B34"/>
                          </a:solidFill>
                          <a:latin typeface="Yu Gothic"/>
                        </a:rPr>
                        <a:t>PY</a:t>
                      </a:r>
                    </a:p>
                  </a:txBody>
                  <a:tcPr marL="64008" marR="64008" marT="27432" marB="27432" anchor="ctr">
                    <a:solidFill>
                      <a:srgbClr val="F4F6F8"/>
                    </a:solidFill>
                  </a:tcPr>
                </a:tc>
                <a:tc>
                  <a:txBody>
                    <a:bodyPr/>
                    <a:lstStyle/>
                    <a:p>
                      <a:pPr algn="ctr"/>
                      <a:r>
                        <a:rPr sz="2300" b="0">
                          <a:solidFill>
                            <a:srgbClr val="232B34"/>
                          </a:solidFill>
                          <a:latin typeface="Yu Gothic"/>
                        </a:rPr>
                        <a:t>ALL / STTLCT / +PROP / +PCDU</a:t>
                      </a:r>
                    </a:p>
                  </a:txBody>
                  <a:tcPr marL="64008" marR="64008" marT="27432" marB="27432" anchor="ctr">
                    <a:solidFill>
                      <a:srgbClr val="EBF6FB"/>
                    </a:solidFill>
                  </a:tcPr>
                </a:tc>
                <a:extLst>
                  <a:ext uri="{0D108BD9-81ED-4DB2-BD59-A6C34878D82A}">
                    <a16:rowId xmlns:a16="http://schemas.microsoft.com/office/drawing/2014/main" val="10002"/>
                  </a:ext>
                </a:extLst>
              </a:tr>
              <a:tr h="914400">
                <a:tc>
                  <a:txBody>
                    <a:bodyPr/>
                    <a:lstStyle/>
                    <a:p>
                      <a:pPr algn="l"/>
                      <a:r>
                        <a:rPr sz="2300" b="0">
                          <a:solidFill>
                            <a:srgbClr val="232B34"/>
                          </a:solidFill>
                          <a:latin typeface="Yu Gothic"/>
                        </a:rPr>
                        <a:t>05,06,20,21</a:t>
                      </a:r>
                    </a:p>
                  </a:txBody>
                  <a:tcPr marL="64008" marR="64008" marT="27432" marB="27432" anchor="ctr">
                    <a:solidFill>
                      <a:srgbClr val="FFFFFF"/>
                    </a:solidFill>
                  </a:tcPr>
                </a:tc>
                <a:tc>
                  <a:txBody>
                    <a:bodyPr/>
                    <a:lstStyle/>
                    <a:p>
                      <a:pPr algn="ctr"/>
                      <a:r>
                        <a:rPr sz="2300" b="0">
                          <a:solidFill>
                            <a:srgbClr val="232B34"/>
                          </a:solidFill>
                          <a:latin typeface="Yu Gothic"/>
                        </a:rPr>
                        <a:t>PX</a:t>
                      </a:r>
                    </a:p>
                  </a:txBody>
                  <a:tcPr marL="64008" marR="64008" marT="27432" marB="27432" anchor="ctr">
                    <a:solidFill>
                      <a:srgbClr val="FFFFFF"/>
                    </a:solidFill>
                  </a:tcPr>
                </a:tc>
                <a:tc>
                  <a:txBody>
                    <a:bodyPr/>
                    <a:lstStyle/>
                    <a:p>
                      <a:pPr algn="ctr"/>
                      <a:r>
                        <a:rPr sz="2300" b="0">
                          <a:solidFill>
                            <a:srgbClr val="232B34"/>
                          </a:solidFill>
                          <a:latin typeface="Yu Gothic"/>
                        </a:rPr>
                        <a:t>ALL / STTLCT / +PROP / +PCDU</a:t>
                      </a:r>
                    </a:p>
                  </a:txBody>
                  <a:tcPr marL="64008" marR="64008" marT="27432" marB="27432" anchor="ctr">
                    <a:solidFill>
                      <a:srgbClr val="EBF6FB"/>
                    </a:solidFill>
                  </a:tcPr>
                </a:tc>
                <a:extLst>
                  <a:ext uri="{0D108BD9-81ED-4DB2-BD59-A6C34878D82A}">
                    <a16:rowId xmlns:a16="http://schemas.microsoft.com/office/drawing/2014/main" val="10003"/>
                  </a:ext>
                </a:extLst>
              </a:tr>
              <a:tr h="914400">
                <a:tc>
                  <a:txBody>
                    <a:bodyPr/>
                    <a:lstStyle/>
                    <a:p>
                      <a:pPr algn="l"/>
                      <a:r>
                        <a:rPr sz="2300" b="0">
                          <a:solidFill>
                            <a:srgbClr val="232B34"/>
                          </a:solidFill>
                          <a:latin typeface="Yu Gothic"/>
                        </a:rPr>
                        <a:t>09,17,23,24</a:t>
                      </a:r>
                    </a:p>
                  </a:txBody>
                  <a:tcPr marL="64008" marR="64008" marT="27432" marB="27432" anchor="ctr">
                    <a:solidFill>
                      <a:srgbClr val="F4F6F8"/>
                    </a:solidFill>
                  </a:tcPr>
                </a:tc>
                <a:tc>
                  <a:txBody>
                    <a:bodyPr/>
                    <a:lstStyle/>
                    <a:p>
                      <a:pPr algn="ctr"/>
                      <a:r>
                        <a:rPr sz="2300" b="0">
                          <a:solidFill>
                            <a:srgbClr val="232B34"/>
                          </a:solidFill>
                          <a:latin typeface="Yu Gothic"/>
                        </a:rPr>
                        <a:t>MX</a:t>
                      </a:r>
                    </a:p>
                  </a:txBody>
                  <a:tcPr marL="64008" marR="64008" marT="27432" marB="27432" anchor="ctr">
                    <a:solidFill>
                      <a:srgbClr val="F4F6F8"/>
                    </a:solidFill>
                  </a:tcPr>
                </a:tc>
                <a:tc>
                  <a:txBody>
                    <a:bodyPr/>
                    <a:lstStyle/>
                    <a:p>
                      <a:pPr algn="ctr"/>
                      <a:r>
                        <a:rPr sz="2300" b="0">
                          <a:solidFill>
                            <a:srgbClr val="232B34"/>
                          </a:solidFill>
                          <a:latin typeface="Yu Gothic"/>
                        </a:rPr>
                        <a:t>ALL / STTLCT / +PROP / +PCDU</a:t>
                      </a:r>
                    </a:p>
                  </a:txBody>
                  <a:tcPr marL="64008" marR="64008" marT="27432" marB="27432" anchor="ctr">
                    <a:solidFill>
                      <a:srgbClr val="EBF6FB"/>
                    </a:solidFill>
                  </a:tcPr>
                </a:tc>
                <a:extLst>
                  <a:ext uri="{0D108BD9-81ED-4DB2-BD59-A6C34878D82A}">
                    <a16:rowId xmlns:a16="http://schemas.microsoft.com/office/drawing/2014/main" val="10004"/>
                  </a:ext>
                </a:extLst>
              </a:tr>
              <a:tr h="914400">
                <a:tc>
                  <a:txBody>
                    <a:bodyPr/>
                    <a:lstStyle/>
                    <a:p>
                      <a:pPr algn="l"/>
                      <a:r>
                        <a:rPr sz="2300" b="0">
                          <a:solidFill>
                            <a:srgbClr val="232B34"/>
                          </a:solidFill>
                          <a:latin typeface="Yu Gothic"/>
                        </a:rPr>
                        <a:t>10–12</a:t>
                      </a:r>
                    </a:p>
                  </a:txBody>
                  <a:tcPr marL="64008" marR="64008" marT="27432" marB="27432" anchor="ctr">
                    <a:solidFill>
                      <a:srgbClr val="FFFFFF"/>
                    </a:solidFill>
                  </a:tcPr>
                </a:tc>
                <a:tc>
                  <a:txBody>
                    <a:bodyPr/>
                    <a:lstStyle/>
                    <a:p>
                      <a:pPr algn="ctr"/>
                      <a:r>
                        <a:rPr sz="2300" b="0">
                          <a:solidFill>
                            <a:srgbClr val="232B34"/>
                          </a:solidFill>
                          <a:latin typeface="Yu Gothic"/>
                        </a:rPr>
                        <a:t>MY</a:t>
                      </a:r>
                    </a:p>
                  </a:txBody>
                  <a:tcPr marL="64008" marR="64008" marT="27432" marB="27432" anchor="ctr">
                    <a:solidFill>
                      <a:srgbClr val="FFFFFF"/>
                    </a:solidFill>
                  </a:tcPr>
                </a:tc>
                <a:tc>
                  <a:txBody>
                    <a:bodyPr/>
                    <a:lstStyle/>
                    <a:p>
                      <a:pPr algn="ctr"/>
                      <a:r>
                        <a:rPr sz="2300" b="0">
                          <a:solidFill>
                            <a:srgbClr val="232B34"/>
                          </a:solidFill>
                          <a:latin typeface="Yu Gothic"/>
                        </a:rPr>
                        <a:t>HOT / Black / Alodine</a:t>
                      </a:r>
                    </a:p>
                  </a:txBody>
                  <a:tcPr marL="64008" marR="64008" marT="27432" marB="27432" anchor="ctr">
                    <a:solidFill>
                      <a:srgbClr val="EBF6FB"/>
                    </a:solidFill>
                  </a:tcPr>
                </a:tc>
                <a:extLst>
                  <a:ext uri="{0D108BD9-81ED-4DB2-BD59-A6C34878D82A}">
                    <a16:rowId xmlns:a16="http://schemas.microsoft.com/office/drawing/2014/main" val="10005"/>
                  </a:ext>
                </a:extLst>
              </a:tr>
              <a:tr h="914400">
                <a:tc>
                  <a:txBody>
                    <a:bodyPr/>
                    <a:lstStyle/>
                    <a:p>
                      <a:pPr algn="l"/>
                      <a:r>
                        <a:rPr sz="2300" b="0">
                          <a:solidFill>
                            <a:srgbClr val="232B34"/>
                          </a:solidFill>
                          <a:latin typeface="Yu Gothic"/>
                        </a:rPr>
                        <a:t>22</a:t>
                      </a:r>
                    </a:p>
                  </a:txBody>
                  <a:tcPr marL="64008" marR="64008" marT="27432" marB="27432" anchor="ctr">
                    <a:solidFill>
                      <a:srgbClr val="F4F6F8"/>
                    </a:solidFill>
                  </a:tcPr>
                </a:tc>
                <a:tc>
                  <a:txBody>
                    <a:bodyPr/>
                    <a:lstStyle/>
                    <a:p>
                      <a:pPr algn="ctr"/>
                      <a:r>
                        <a:rPr sz="2300" b="0">
                          <a:solidFill>
                            <a:srgbClr val="232B34"/>
                          </a:solidFill>
                          <a:latin typeface="Yu Gothic"/>
                        </a:rPr>
                        <a:t>MY</a:t>
                      </a:r>
                    </a:p>
                  </a:txBody>
                  <a:tcPr marL="64008" marR="64008" marT="27432" marB="27432" anchor="ctr">
                    <a:solidFill>
                      <a:srgbClr val="F4F6F8"/>
                    </a:solidFill>
                  </a:tcPr>
                </a:tc>
                <a:tc>
                  <a:txBody>
                    <a:bodyPr/>
                    <a:lstStyle/>
                    <a:p>
                      <a:pPr algn="ctr"/>
                      <a:r>
                        <a:rPr sz="2300" b="0">
                          <a:solidFill>
                            <a:srgbClr val="232B34"/>
                          </a:solidFill>
                          <a:latin typeface="Yu Gothic"/>
                        </a:rPr>
                        <a:t>PROP 12.5 W</a:t>
                      </a:r>
                    </a:p>
                  </a:txBody>
                  <a:tcPr marL="64008" marR="64008" marT="27432" marB="27432" anchor="ctr">
                    <a:solidFill>
                      <a:srgbClr val="EBF6FB"/>
                    </a:solidFill>
                  </a:tcPr>
                </a:tc>
                <a:extLst>
                  <a:ext uri="{0D108BD9-81ED-4DB2-BD59-A6C34878D82A}">
                    <a16:rowId xmlns:a16="http://schemas.microsoft.com/office/drawing/2014/main" val="10006"/>
                  </a:ext>
                </a:extLst>
              </a:tr>
              <a:tr h="914400">
                <a:tc>
                  <a:txBody>
                    <a:bodyPr/>
                    <a:lstStyle/>
                    <a:p>
                      <a:pPr algn="l"/>
                      <a:r>
                        <a:rPr sz="2300" b="0">
                          <a:solidFill>
                            <a:srgbClr val="232B34"/>
                          </a:solidFill>
                          <a:latin typeface="Yu Gothic"/>
                        </a:rPr>
                        <a:t>25</a:t>
                      </a:r>
                    </a:p>
                  </a:txBody>
                  <a:tcPr marL="64008" marR="64008" marT="27432" marB="27432" anchor="ctr">
                    <a:solidFill>
                      <a:srgbClr val="FFFFFF"/>
                    </a:solidFill>
                  </a:tcPr>
                </a:tc>
                <a:tc>
                  <a:txBody>
                    <a:bodyPr/>
                    <a:lstStyle/>
                    <a:p>
                      <a:pPr algn="ctr"/>
                      <a:r>
                        <a:rPr sz="2300" b="0">
                          <a:solidFill>
                            <a:srgbClr val="232B34"/>
                          </a:solidFill>
                          <a:latin typeface="Yu Gothic"/>
                        </a:rPr>
                        <a:t>MY</a:t>
                      </a:r>
                    </a:p>
                  </a:txBody>
                  <a:tcPr marL="64008" marR="64008" marT="27432" marB="27432" anchor="ctr">
                    <a:solidFill>
                      <a:srgbClr val="FFFFFF"/>
                    </a:solidFill>
                  </a:tcPr>
                </a:tc>
                <a:tc>
                  <a:txBody>
                    <a:bodyPr/>
                    <a:lstStyle/>
                    <a:p>
                      <a:pPr algn="ctr"/>
                      <a:r>
                        <a:rPr sz="2300" b="0">
                          <a:solidFill>
                            <a:srgbClr val="232B34"/>
                          </a:solidFill>
                          <a:latin typeface="Yu Gothic"/>
                        </a:rPr>
                        <a:t>LTAN18 / 693 km</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熱光学特性</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A3</a:t>
            </a:r>
          </a:p>
        </p:txBody>
      </p:sp>
      <p:graphicFrame>
        <p:nvGraphicFramePr>
          <p:cNvPr id="5" name="Table 4"/>
          <p:cNvGraphicFramePr>
            <a:graphicFrameLocks noGrp="1"/>
          </p:cNvGraphicFramePr>
          <p:nvPr/>
        </p:nvGraphicFramePr>
        <p:xfrm>
          <a:off x="1828800" y="2926080"/>
          <a:ext cx="20665440" cy="4206240"/>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60">
                <a:tc>
                  <a:txBody>
                    <a:bodyPr/>
                    <a:lstStyle/>
                    <a:p>
                      <a:pPr algn="l"/>
                      <a:r>
                        <a:rPr sz="2300" b="1">
                          <a:solidFill>
                            <a:srgbClr val="FFFFFF"/>
                          </a:solidFill>
                          <a:latin typeface="Yu Gothic"/>
                        </a:rPr>
                        <a:t>Item</a:t>
                      </a:r>
                    </a:p>
                  </a:txBody>
                  <a:tcPr marL="64008" marR="64008" marT="27432" marB="27432" anchor="ctr">
                    <a:solidFill>
                      <a:srgbClr val="5D4084"/>
                    </a:solidFill>
                  </a:tcPr>
                </a:tc>
                <a:tc>
                  <a:txBody>
                    <a:bodyPr/>
                    <a:lstStyle/>
                    <a:p>
                      <a:pPr algn="ctr"/>
                      <a:r>
                        <a:rPr sz="2300" b="1">
                          <a:solidFill>
                            <a:srgbClr val="FFFFFF"/>
                          </a:solidFill>
                          <a:latin typeface="Yu Gothic"/>
                        </a:rPr>
                        <a:t>Detail</a:t>
                      </a:r>
                    </a:p>
                  </a:txBody>
                  <a:tcPr marL="64008" marR="64008" marT="27432" marB="27432" anchor="ctr">
                    <a:solidFill>
                      <a:srgbClr val="5D4084"/>
                    </a:solidFill>
                  </a:tcPr>
                </a:tc>
                <a:extLst>
                  <a:ext uri="{0D108BD9-81ED-4DB2-BD59-A6C34878D82A}">
                    <a16:rowId xmlns:a16="http://schemas.microsoft.com/office/drawing/2014/main" val="10000"/>
                  </a:ext>
                </a:extLst>
              </a:tr>
              <a:tr h="1051560">
                <a:tc>
                  <a:txBody>
                    <a:bodyPr/>
                    <a:lstStyle/>
                    <a:p>
                      <a:pPr algn="l"/>
                      <a:r>
                        <a:rPr sz="2300" b="0">
                          <a:solidFill>
                            <a:srgbClr val="232B34"/>
                          </a:solidFill>
                          <a:latin typeface="Yu Gothic"/>
                        </a:rPr>
                        <a:t>Alodine 1000</a:t>
                      </a:r>
                    </a:p>
                  </a:txBody>
                  <a:tcPr marL="64008" marR="64008" marT="27432" marB="27432" anchor="ctr">
                    <a:solidFill>
                      <a:srgbClr val="FFFFFF"/>
                    </a:solidFill>
                  </a:tcPr>
                </a:tc>
                <a:tc>
                  <a:txBody>
                    <a:bodyPr/>
                    <a:lstStyle/>
                    <a:p>
                      <a:pPr algn="ctr"/>
                      <a:r>
                        <a:rPr sz="2300" b="0">
                          <a:solidFill>
                            <a:srgbClr val="232B34"/>
                          </a:solidFill>
                          <a:latin typeface="Yu Gothic"/>
                        </a:rPr>
                        <a:t>α=0.150, ε=0.038, α/ε=3.947</a:t>
                      </a:r>
                    </a:p>
                  </a:txBody>
                  <a:tcPr marL="64008" marR="64008" marT="27432" marB="27432" anchor="ctr">
                    <a:solidFill>
                      <a:srgbClr val="EBF6FB"/>
                    </a:solidFill>
                  </a:tcPr>
                </a:tc>
                <a:extLst>
                  <a:ext uri="{0D108BD9-81ED-4DB2-BD59-A6C34878D82A}">
                    <a16:rowId xmlns:a16="http://schemas.microsoft.com/office/drawing/2014/main" val="10001"/>
                  </a:ext>
                </a:extLst>
              </a:tr>
              <a:tr h="1051560">
                <a:tc>
                  <a:txBody>
                    <a:bodyPr/>
                    <a:lstStyle/>
                    <a:p>
                      <a:pPr algn="l"/>
                      <a:r>
                        <a:rPr sz="2300" b="0">
                          <a:solidFill>
                            <a:srgbClr val="232B34"/>
                          </a:solidFill>
                          <a:latin typeface="Yu Gothic"/>
                        </a:rPr>
                        <a:t>Black</a:t>
                      </a:r>
                    </a:p>
                  </a:txBody>
                  <a:tcPr marL="64008" marR="64008" marT="27432" marB="27432" anchor="ctr">
                    <a:solidFill>
                      <a:srgbClr val="F4F6F8"/>
                    </a:solidFill>
                  </a:tcPr>
                </a:tc>
                <a:tc>
                  <a:txBody>
                    <a:bodyPr/>
                    <a:lstStyle/>
                    <a:p>
                      <a:pPr algn="ctr"/>
                      <a:r>
                        <a:rPr sz="2300" b="0">
                          <a:solidFill>
                            <a:srgbClr val="232B34"/>
                          </a:solidFill>
                          <a:latin typeface="Yu Gothic"/>
                        </a:rPr>
                        <a:t>α=0.974, ε=0.920, α/ε=1.059</a:t>
                      </a:r>
                    </a:p>
                  </a:txBody>
                  <a:tcPr marL="64008" marR="64008" marT="27432" marB="27432" anchor="ctr">
                    <a:solidFill>
                      <a:srgbClr val="EBF6FB"/>
                    </a:solidFill>
                  </a:tcPr>
                </a:tc>
                <a:extLst>
                  <a:ext uri="{0D108BD9-81ED-4DB2-BD59-A6C34878D82A}">
                    <a16:rowId xmlns:a16="http://schemas.microsoft.com/office/drawing/2014/main" val="10002"/>
                  </a:ext>
                </a:extLst>
              </a:tr>
              <a:tr h="1051560">
                <a:tc>
                  <a:txBody>
                    <a:bodyPr/>
                    <a:lstStyle/>
                    <a:p>
                      <a:pPr algn="l"/>
                      <a:r>
                        <a:rPr sz="2300" b="0">
                          <a:solidFill>
                            <a:srgbClr val="232B34"/>
                          </a:solidFill>
                          <a:latin typeface="Yu Gothic"/>
                        </a:rPr>
                        <a:t>0.5 synthetic</a:t>
                      </a:r>
                    </a:p>
                  </a:txBody>
                  <a:tcPr marL="64008" marR="64008" marT="27432" marB="27432" anchor="ctr">
                    <a:solidFill>
                      <a:srgbClr val="FFFFFF"/>
                    </a:solidFill>
                  </a:tcPr>
                </a:tc>
                <a:tc>
                  <a:txBody>
                    <a:bodyPr/>
                    <a:lstStyle/>
                    <a:p>
                      <a:pPr algn="ctr"/>
                      <a:r>
                        <a:rPr sz="2300" b="0">
                          <a:solidFill>
                            <a:srgbClr val="232B34"/>
                          </a:solidFill>
                          <a:latin typeface="Yu Gothic"/>
                        </a:rPr>
                        <a:t>α=0.500, ε=0.500</a:t>
                      </a:r>
                    </a:p>
                  </a:txBody>
                  <a:tcPr marL="64008" marR="64008" marT="27432" marB="27432" anchor="ctr">
                    <a:solidFill>
                      <a:srgbClr val="EBF6F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LOS定義の比較</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A4</a:t>
            </a:r>
          </a:p>
        </p:txBody>
      </p:sp>
      <p:sp>
        <p:nvSpPr>
          <p:cNvPr id="5" name="Rectangle 4"/>
          <p:cNvSpPr/>
          <p:nvPr/>
        </p:nvSpPr>
        <p:spPr>
          <a:xfrm>
            <a:off x="1097280" y="2743200"/>
            <a:ext cx="21945600" cy="841248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s_definition_comparison.png"/>
          <p:cNvPicPr>
            <a:picLocks noChangeAspect="1"/>
          </p:cNvPicPr>
          <p:nvPr/>
        </p:nvPicPr>
        <p:blipFill>
          <a:blip r:embed="rId3"/>
          <a:stretch>
            <a:fillRect/>
          </a:stretch>
        </p:blipFill>
        <p:spPr>
          <a:xfrm>
            <a:off x="7443216" y="2743200"/>
            <a:ext cx="9253728" cy="841248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Level-2係数と解釈</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A5</a:t>
            </a:r>
          </a:p>
        </p:txBody>
      </p:sp>
      <p:graphicFrame>
        <p:nvGraphicFramePr>
          <p:cNvPr id="5" name="Table 4"/>
          <p:cNvGraphicFramePr>
            <a:graphicFrameLocks noGrp="1"/>
          </p:cNvGraphicFramePr>
          <p:nvPr/>
        </p:nvGraphicFramePr>
        <p:xfrm>
          <a:off x="1828800" y="2926080"/>
          <a:ext cx="20665440" cy="7360919"/>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59">
                <a:tc>
                  <a:txBody>
                    <a:bodyPr/>
                    <a:lstStyle/>
                    <a:p>
                      <a:pPr algn="l"/>
                      <a:r>
                        <a:rPr sz="2300" b="1">
                          <a:solidFill>
                            <a:srgbClr val="FFFFFF"/>
                          </a:solidFill>
                          <a:latin typeface="Yu Gothic"/>
                        </a:rPr>
                        <a:t>Item</a:t>
                      </a:r>
                    </a:p>
                  </a:txBody>
                  <a:tcPr marL="64008" marR="64008" marT="27432" marB="27432" anchor="ctr">
                    <a:solidFill>
                      <a:srgbClr val="5D4084"/>
                    </a:solidFill>
                  </a:tcPr>
                </a:tc>
                <a:tc>
                  <a:txBody>
                    <a:bodyPr/>
                    <a:lstStyle/>
                    <a:p>
                      <a:pPr algn="ctr"/>
                      <a:r>
                        <a:rPr sz="2300" b="1">
                          <a:solidFill>
                            <a:srgbClr val="FFFFFF"/>
                          </a:solidFill>
                          <a:latin typeface="Yu Gothic"/>
                        </a:rPr>
                        <a:t>Detail</a:t>
                      </a:r>
                    </a:p>
                  </a:txBody>
                  <a:tcPr marL="64008" marR="64008" marT="27432" marB="27432" anchor="ctr">
                    <a:solidFill>
                      <a:srgbClr val="5D4084"/>
                    </a:solidFill>
                  </a:tcPr>
                </a:tc>
                <a:extLst>
                  <a:ext uri="{0D108BD9-81ED-4DB2-BD59-A6C34878D82A}">
                    <a16:rowId xmlns:a16="http://schemas.microsoft.com/office/drawing/2014/main" val="10000"/>
                  </a:ext>
                </a:extLst>
              </a:tr>
              <a:tr h="1051559">
                <a:tc>
                  <a:txBody>
                    <a:bodyPr/>
                    <a:lstStyle/>
                    <a:p>
                      <a:pPr algn="l"/>
                      <a:r>
                        <a:rPr sz="2300" b="0">
                          <a:solidFill>
                            <a:srgbClr val="232B34"/>
                          </a:solidFill>
                          <a:latin typeface="Yu Gothic"/>
                        </a:rPr>
                        <a:t>b0_MX</a:t>
                      </a:r>
                    </a:p>
                  </a:txBody>
                  <a:tcPr marL="64008" marR="64008" marT="27432" marB="27432" anchor="ctr">
                    <a:solidFill>
                      <a:srgbClr val="FFFFFF"/>
                    </a:solidFill>
                  </a:tcPr>
                </a:tc>
                <a:tc>
                  <a:txBody>
                    <a:bodyPr/>
                    <a:lstStyle/>
                    <a:p>
                      <a:pPr algn="ctr"/>
                      <a:r>
                        <a:rPr sz="2300" b="0">
                          <a:solidFill>
                            <a:srgbClr val="232B34"/>
                          </a:solidFill>
                          <a:latin typeface="Yu Gothic"/>
                        </a:rPr>
                        <a:t>+15.7 µrad</a:t>
                      </a:r>
                    </a:p>
                  </a:txBody>
                  <a:tcPr marL="64008" marR="64008" marT="27432" marB="27432" anchor="ctr">
                    <a:solidFill>
                      <a:srgbClr val="EBF6FB"/>
                    </a:solidFill>
                  </a:tcPr>
                </a:tc>
                <a:extLst>
                  <a:ext uri="{0D108BD9-81ED-4DB2-BD59-A6C34878D82A}">
                    <a16:rowId xmlns:a16="http://schemas.microsoft.com/office/drawing/2014/main" val="10001"/>
                  </a:ext>
                </a:extLst>
              </a:tr>
              <a:tr h="1051559">
                <a:tc>
                  <a:txBody>
                    <a:bodyPr/>
                    <a:lstStyle/>
                    <a:p>
                      <a:pPr algn="l"/>
                      <a:r>
                        <a:rPr sz="2300" b="0">
                          <a:solidFill>
                            <a:srgbClr val="232B34"/>
                          </a:solidFill>
                          <a:latin typeface="Yu Gothic"/>
                        </a:rPr>
                        <a:t>b0_MY</a:t>
                      </a:r>
                    </a:p>
                  </a:txBody>
                  <a:tcPr marL="64008" marR="64008" marT="27432" marB="27432" anchor="ctr">
                    <a:solidFill>
                      <a:srgbClr val="F4F6F8"/>
                    </a:solidFill>
                  </a:tcPr>
                </a:tc>
                <a:tc>
                  <a:txBody>
                    <a:bodyPr/>
                    <a:lstStyle/>
                    <a:p>
                      <a:pPr algn="ctr"/>
                      <a:r>
                        <a:rPr sz="2300" b="0">
                          <a:solidFill>
                            <a:srgbClr val="232B34"/>
                          </a:solidFill>
                          <a:latin typeface="Yu Gothic"/>
                        </a:rPr>
                        <a:t>+2.8 µrad</a:t>
                      </a:r>
                    </a:p>
                  </a:txBody>
                  <a:tcPr marL="64008" marR="64008" marT="27432" marB="27432" anchor="ctr">
                    <a:solidFill>
                      <a:srgbClr val="EBF6FB"/>
                    </a:solidFill>
                  </a:tcPr>
                </a:tc>
                <a:extLst>
                  <a:ext uri="{0D108BD9-81ED-4DB2-BD59-A6C34878D82A}">
                    <a16:rowId xmlns:a16="http://schemas.microsoft.com/office/drawing/2014/main" val="10002"/>
                  </a:ext>
                </a:extLst>
              </a:tr>
              <a:tr h="1051559">
                <a:tc>
                  <a:txBody>
                    <a:bodyPr/>
                    <a:lstStyle/>
                    <a:p>
                      <a:pPr algn="l"/>
                      <a:r>
                        <a:rPr sz="2300" b="0">
                          <a:solidFill>
                            <a:srgbClr val="232B34"/>
                          </a:solidFill>
                          <a:latin typeface="Yu Gothic"/>
                        </a:rPr>
                        <a:t>b0_PX</a:t>
                      </a:r>
                    </a:p>
                  </a:txBody>
                  <a:tcPr marL="64008" marR="64008" marT="27432" marB="27432" anchor="ctr">
                    <a:solidFill>
                      <a:srgbClr val="FFFFFF"/>
                    </a:solidFill>
                  </a:tcPr>
                </a:tc>
                <a:tc>
                  <a:txBody>
                    <a:bodyPr/>
                    <a:lstStyle/>
                    <a:p>
                      <a:pPr algn="ctr"/>
                      <a:r>
                        <a:rPr sz="2300" b="0">
                          <a:solidFill>
                            <a:srgbClr val="232B34"/>
                          </a:solidFill>
                          <a:latin typeface="Yu Gothic"/>
                        </a:rPr>
                        <a:t>−12.0 µrad</a:t>
                      </a:r>
                    </a:p>
                  </a:txBody>
                  <a:tcPr marL="64008" marR="64008" marT="27432" marB="27432" anchor="ctr">
                    <a:solidFill>
                      <a:srgbClr val="EBF6FB"/>
                    </a:solidFill>
                  </a:tcPr>
                </a:tc>
                <a:extLst>
                  <a:ext uri="{0D108BD9-81ED-4DB2-BD59-A6C34878D82A}">
                    <a16:rowId xmlns:a16="http://schemas.microsoft.com/office/drawing/2014/main" val="10003"/>
                  </a:ext>
                </a:extLst>
              </a:tr>
              <a:tr h="1051559">
                <a:tc>
                  <a:txBody>
                    <a:bodyPr/>
                    <a:lstStyle/>
                    <a:p>
                      <a:pPr algn="l"/>
                      <a:r>
                        <a:rPr sz="2300" b="0">
                          <a:solidFill>
                            <a:srgbClr val="232B34"/>
                          </a:solidFill>
                          <a:latin typeface="Yu Gothic"/>
                        </a:rPr>
                        <a:t>b0_PY</a:t>
                      </a:r>
                    </a:p>
                  </a:txBody>
                  <a:tcPr marL="64008" marR="64008" marT="27432" marB="27432" anchor="ctr">
                    <a:solidFill>
                      <a:srgbClr val="F4F6F8"/>
                    </a:solidFill>
                  </a:tcPr>
                </a:tc>
                <a:tc>
                  <a:txBody>
                    <a:bodyPr/>
                    <a:lstStyle/>
                    <a:p>
                      <a:pPr algn="ctr"/>
                      <a:r>
                        <a:rPr sz="2300" b="0">
                          <a:solidFill>
                            <a:srgbClr val="232B34"/>
                          </a:solidFill>
                          <a:latin typeface="Yu Gothic"/>
                        </a:rPr>
                        <a:t>−24.0 µrad</a:t>
                      </a:r>
                    </a:p>
                  </a:txBody>
                  <a:tcPr marL="64008" marR="64008" marT="27432" marB="27432" anchor="ctr">
                    <a:solidFill>
                      <a:srgbClr val="EBF6FB"/>
                    </a:solidFill>
                  </a:tcPr>
                </a:tc>
                <a:extLst>
                  <a:ext uri="{0D108BD9-81ED-4DB2-BD59-A6C34878D82A}">
                    <a16:rowId xmlns:a16="http://schemas.microsoft.com/office/drawing/2014/main" val="10004"/>
                  </a:ext>
                </a:extLst>
              </a:tr>
              <a:tr h="1051559">
                <a:tc>
                  <a:txBody>
                    <a:bodyPr/>
                    <a:lstStyle/>
                    <a:p>
                      <a:pPr algn="l"/>
                      <a:r>
                        <a:rPr sz="2300" b="0">
                          <a:solidFill>
                            <a:srgbClr val="232B34"/>
                          </a:solidFill>
                          <a:latin typeface="Yu Gothic"/>
                        </a:rPr>
                        <a:t>c_PROP</a:t>
                      </a:r>
                    </a:p>
                  </a:txBody>
                  <a:tcPr marL="64008" marR="64008" marT="27432" marB="27432" anchor="ctr">
                    <a:solidFill>
                      <a:srgbClr val="FFFFFF"/>
                    </a:solidFill>
                  </a:tcPr>
                </a:tc>
                <a:tc>
                  <a:txBody>
                    <a:bodyPr/>
                    <a:lstStyle/>
                    <a:p>
                      <a:pPr algn="ctr"/>
                      <a:r>
                        <a:rPr sz="2300" b="0">
                          <a:solidFill>
                            <a:srgbClr val="232B34"/>
                          </a:solidFill>
                          <a:latin typeface="Yu Gothic"/>
                        </a:rPr>
                        <a:t>−22.9 µrad</a:t>
                      </a:r>
                    </a:p>
                  </a:txBody>
                  <a:tcPr marL="64008" marR="64008" marT="27432" marB="27432" anchor="ctr">
                    <a:solidFill>
                      <a:srgbClr val="EBF6FB"/>
                    </a:solidFill>
                  </a:tcPr>
                </a:tc>
                <a:extLst>
                  <a:ext uri="{0D108BD9-81ED-4DB2-BD59-A6C34878D82A}">
                    <a16:rowId xmlns:a16="http://schemas.microsoft.com/office/drawing/2014/main" val="10005"/>
                  </a:ext>
                </a:extLst>
              </a:tr>
              <a:tr h="1051565">
                <a:tc>
                  <a:txBody>
                    <a:bodyPr/>
                    <a:lstStyle/>
                    <a:p>
                      <a:pPr algn="l"/>
                      <a:r>
                        <a:rPr sz="2300" b="0">
                          <a:solidFill>
                            <a:srgbClr val="232B34"/>
                          </a:solidFill>
                          <a:latin typeface="Yu Gothic"/>
                        </a:rPr>
                        <a:t>c_PCDU</a:t>
                      </a:r>
                    </a:p>
                  </a:txBody>
                  <a:tcPr marL="64008" marR="64008" marT="27432" marB="27432" anchor="ctr">
                    <a:solidFill>
                      <a:srgbClr val="F4F6F8"/>
                    </a:solidFill>
                  </a:tcPr>
                </a:tc>
                <a:tc>
                  <a:txBody>
                    <a:bodyPr/>
                    <a:lstStyle/>
                    <a:p>
                      <a:pPr algn="ctr"/>
                      <a:r>
                        <a:rPr sz="2300" b="0">
                          <a:solidFill>
                            <a:srgbClr val="232B34"/>
                          </a:solidFill>
                          <a:latin typeface="Yu Gothic"/>
                        </a:rPr>
                        <a:t>−10.2 µrad</a:t>
                      </a:r>
                    </a:p>
                  </a:txBody>
                  <a:tcPr marL="64008" marR="64008" marT="27432" marB="27432" anchor="ctr">
                    <a:solidFill>
                      <a:srgbClr val="EBF6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モデルの難しいケース</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A6</a:t>
            </a:r>
          </a:p>
        </p:txBody>
      </p:sp>
      <p:sp>
        <p:nvSpPr>
          <p:cNvPr id="5" name="Rectangle 4"/>
          <p:cNvSpPr/>
          <p:nvPr/>
        </p:nvSpPr>
        <p:spPr>
          <a:xfrm>
            <a:off x="731520" y="2834640"/>
            <a:ext cx="7223760" cy="66751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ase11_bcase_true_vs_pred.png"/>
          <p:cNvPicPr>
            <a:picLocks noChangeAspect="1"/>
          </p:cNvPicPr>
          <p:nvPr/>
        </p:nvPicPr>
        <p:blipFill>
          <a:blip r:embed="rId3"/>
          <a:stretch>
            <a:fillRect/>
          </a:stretch>
        </p:blipFill>
        <p:spPr>
          <a:xfrm>
            <a:off x="731520" y="3420291"/>
            <a:ext cx="7223760" cy="5503817"/>
          </a:xfrm>
          <a:prstGeom prst="rect">
            <a:avLst/>
          </a:prstGeom>
        </p:spPr>
      </p:pic>
      <p:sp>
        <p:nvSpPr>
          <p:cNvPr id="7" name="Rectangle 6"/>
          <p:cNvSpPr/>
          <p:nvPr/>
        </p:nvSpPr>
        <p:spPr>
          <a:xfrm>
            <a:off x="8458200" y="2834640"/>
            <a:ext cx="7223760" cy="66751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ase22_bcase_true_vs_pred.png"/>
          <p:cNvPicPr>
            <a:picLocks noChangeAspect="1"/>
          </p:cNvPicPr>
          <p:nvPr/>
        </p:nvPicPr>
        <p:blipFill>
          <a:blip r:embed="rId4"/>
          <a:stretch>
            <a:fillRect/>
          </a:stretch>
        </p:blipFill>
        <p:spPr>
          <a:xfrm>
            <a:off x="8458200" y="3420291"/>
            <a:ext cx="7223760" cy="5503817"/>
          </a:xfrm>
          <a:prstGeom prst="rect">
            <a:avLst/>
          </a:prstGeom>
        </p:spPr>
      </p:pic>
      <p:sp>
        <p:nvSpPr>
          <p:cNvPr id="9" name="Rectangle 8"/>
          <p:cNvSpPr/>
          <p:nvPr/>
        </p:nvSpPr>
        <p:spPr>
          <a:xfrm>
            <a:off x="16184880" y="2834640"/>
            <a:ext cx="7223760" cy="66751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ase25_bcase_true_vs_pred.png"/>
          <p:cNvPicPr>
            <a:picLocks noChangeAspect="1"/>
          </p:cNvPicPr>
          <p:nvPr/>
        </p:nvPicPr>
        <p:blipFill>
          <a:blip r:embed="rId5"/>
          <a:stretch>
            <a:fillRect/>
          </a:stretch>
        </p:blipFill>
        <p:spPr>
          <a:xfrm>
            <a:off x="16184880" y="3420291"/>
            <a:ext cx="7223760" cy="5503817"/>
          </a:xfrm>
          <a:prstGeom prst="rect">
            <a:avLst/>
          </a:prstGeom>
        </p:spPr>
      </p:pic>
      <p:graphicFrame>
        <p:nvGraphicFramePr>
          <p:cNvPr id="11" name="Table 10"/>
          <p:cNvGraphicFramePr>
            <a:graphicFrameLocks noGrp="1"/>
          </p:cNvGraphicFramePr>
          <p:nvPr/>
        </p:nvGraphicFramePr>
        <p:xfrm>
          <a:off x="2743200" y="9829800"/>
          <a:ext cx="18928080" cy="18288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13441680">
                  <a:extLst>
                    <a:ext uri="{9D8B030D-6E8A-4147-A177-3AD203B41FA5}">
                      <a16:colId xmlns:a16="http://schemas.microsoft.com/office/drawing/2014/main" val="20001"/>
                    </a:ext>
                  </a:extLst>
                </a:gridCol>
              </a:tblGrid>
              <a:tr h="457200">
                <a:tc>
                  <a:txBody>
                    <a:bodyPr/>
                    <a:lstStyle/>
                    <a:p>
                      <a:pPr algn="l"/>
                      <a:r>
                        <a:rPr sz="2100" b="1">
                          <a:solidFill>
                            <a:srgbClr val="FFFFFF"/>
                          </a:solidFill>
                          <a:latin typeface="Yu Gothic"/>
                        </a:rPr>
                        <a:t>Case</a:t>
                      </a:r>
                    </a:p>
                  </a:txBody>
                  <a:tcPr marL="64008" marR="64008" marT="27432" marB="27432" anchor="ctr">
                    <a:solidFill>
                      <a:srgbClr val="082B52"/>
                    </a:solidFill>
                  </a:tcPr>
                </a:tc>
                <a:tc>
                  <a:txBody>
                    <a:bodyPr/>
                    <a:lstStyle/>
                    <a:p>
                      <a:pPr algn="ctr"/>
                      <a:r>
                        <a:rPr sz="2100" b="1">
                          <a:solidFill>
                            <a:srgbClr val="FFFFFF"/>
                          </a:solidFill>
                          <a:latin typeface="Yu Gothic"/>
                        </a:rPr>
                        <a:t>Issue</a:t>
                      </a:r>
                    </a:p>
                  </a:txBody>
                  <a:tcPr marL="64008" marR="64008" marT="27432" marB="27432" anchor="ctr">
                    <a:solidFill>
                      <a:srgbClr val="082B52"/>
                    </a:solidFill>
                  </a:tcPr>
                </a:tc>
                <a:extLst>
                  <a:ext uri="{0D108BD9-81ED-4DB2-BD59-A6C34878D82A}">
                    <a16:rowId xmlns:a16="http://schemas.microsoft.com/office/drawing/2014/main" val="10000"/>
                  </a:ext>
                </a:extLst>
              </a:tr>
              <a:tr h="457200">
                <a:tc>
                  <a:txBody>
                    <a:bodyPr/>
                    <a:lstStyle/>
                    <a:p>
                      <a:pPr algn="l"/>
                      <a:r>
                        <a:rPr sz="2100" b="0">
                          <a:solidFill>
                            <a:srgbClr val="232B34"/>
                          </a:solidFill>
                          <a:latin typeface="Yu Gothic"/>
                        </a:rPr>
                        <a:t>11 Black</a:t>
                      </a:r>
                    </a:p>
                  </a:txBody>
                  <a:tcPr marL="64008" marR="64008" marT="27432" marB="27432" anchor="ctr">
                    <a:solidFill>
                      <a:srgbClr val="FFFFFF"/>
                    </a:solidFill>
                  </a:tcPr>
                </a:tc>
                <a:tc>
                  <a:txBody>
                    <a:bodyPr/>
                    <a:lstStyle/>
                    <a:p>
                      <a:pPr algn="ctr"/>
                      <a:r>
                        <a:rPr sz="2100" b="0">
                          <a:solidFill>
                            <a:srgbClr val="232B34"/>
                          </a:solidFill>
                          <a:latin typeface="Yu Gothic"/>
                        </a:rPr>
                        <a:t>oracle floor ≈13 µrad</a:t>
                      </a:r>
                    </a:p>
                  </a:txBody>
                  <a:tcPr marL="64008" marR="64008" marT="27432" marB="27432" anchor="ctr">
                    <a:solidFill>
                      <a:srgbClr val="EBF6FB"/>
                    </a:solidFill>
                  </a:tcPr>
                </a:tc>
                <a:extLst>
                  <a:ext uri="{0D108BD9-81ED-4DB2-BD59-A6C34878D82A}">
                    <a16:rowId xmlns:a16="http://schemas.microsoft.com/office/drawing/2014/main" val="10001"/>
                  </a:ext>
                </a:extLst>
              </a:tr>
              <a:tr h="457200">
                <a:tc>
                  <a:txBody>
                    <a:bodyPr/>
                    <a:lstStyle/>
                    <a:p>
                      <a:pPr algn="l"/>
                      <a:r>
                        <a:rPr sz="2100" b="0">
                          <a:solidFill>
                            <a:srgbClr val="232B34"/>
                          </a:solidFill>
                          <a:latin typeface="Yu Gothic"/>
                        </a:rPr>
                        <a:t>22 half power</a:t>
                      </a:r>
                    </a:p>
                  </a:txBody>
                  <a:tcPr marL="64008" marR="64008" marT="27432" marB="27432" anchor="ctr">
                    <a:solidFill>
                      <a:srgbClr val="F4F6F8"/>
                    </a:solidFill>
                  </a:tcPr>
                </a:tc>
                <a:tc>
                  <a:txBody>
                    <a:bodyPr/>
                    <a:lstStyle/>
                    <a:p>
                      <a:pPr algn="ctr"/>
                      <a:r>
                        <a:rPr sz="2100" b="0">
                          <a:solidFill>
                            <a:srgbClr val="232B34"/>
                          </a:solidFill>
                          <a:latin typeface="Yu Gothic"/>
                        </a:rPr>
                        <a:t>ON/OFF b mismatch</a:t>
                      </a:r>
                    </a:p>
                  </a:txBody>
                  <a:tcPr marL="64008" marR="64008" marT="27432" marB="27432" anchor="ctr">
                    <a:solidFill>
                      <a:srgbClr val="EBF6FB"/>
                    </a:solidFill>
                  </a:tcPr>
                </a:tc>
                <a:extLst>
                  <a:ext uri="{0D108BD9-81ED-4DB2-BD59-A6C34878D82A}">
                    <a16:rowId xmlns:a16="http://schemas.microsoft.com/office/drawing/2014/main" val="10002"/>
                  </a:ext>
                </a:extLst>
              </a:tr>
              <a:tr h="457200">
                <a:tc>
                  <a:txBody>
                    <a:bodyPr/>
                    <a:lstStyle/>
                    <a:p>
                      <a:pPr algn="l"/>
                      <a:r>
                        <a:rPr sz="2100" b="0">
                          <a:solidFill>
                            <a:srgbClr val="232B34"/>
                          </a:solidFill>
                          <a:latin typeface="Yu Gothic"/>
                        </a:rPr>
                        <a:t>25 all-sun</a:t>
                      </a:r>
                    </a:p>
                  </a:txBody>
                  <a:tcPr marL="64008" marR="64008" marT="27432" marB="27432" anchor="ctr">
                    <a:solidFill>
                      <a:srgbClr val="FFFFFF"/>
                    </a:solidFill>
                  </a:tcPr>
                </a:tc>
                <a:tc>
                  <a:txBody>
                    <a:bodyPr/>
                    <a:lstStyle/>
                    <a:p>
                      <a:pPr algn="ctr"/>
                      <a:r>
                        <a:rPr sz="2100" b="0">
                          <a:solidFill>
                            <a:srgbClr val="232B34"/>
                          </a:solidFill>
                          <a:latin typeface="Yu Gothic"/>
                        </a:rPr>
                        <a:t>thermal LOS nearly DC</a:t>
                      </a:r>
                    </a:p>
                  </a:txBody>
                  <a:tcPr marL="64008" marR="64008" marT="27432" marB="27432" anchor="ctr">
                    <a:solidFill>
                      <a:srgbClr val="EBF6F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軌道予測誤差の仮定</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A7</a:t>
            </a:r>
          </a:p>
        </p:txBody>
      </p:sp>
      <p:graphicFrame>
        <p:nvGraphicFramePr>
          <p:cNvPr id="5" name="Table 4"/>
          <p:cNvGraphicFramePr>
            <a:graphicFrameLocks noGrp="1"/>
          </p:cNvGraphicFramePr>
          <p:nvPr/>
        </p:nvGraphicFramePr>
        <p:xfrm>
          <a:off x="1828800" y="2926080"/>
          <a:ext cx="20665440" cy="6309359"/>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59">
                <a:tc>
                  <a:txBody>
                    <a:bodyPr/>
                    <a:lstStyle/>
                    <a:p>
                      <a:pPr algn="l"/>
                      <a:r>
                        <a:rPr sz="2300" b="1">
                          <a:solidFill>
                            <a:srgbClr val="FFFFFF"/>
                          </a:solidFill>
                          <a:latin typeface="Yu Gothic"/>
                        </a:rPr>
                        <a:t>Item</a:t>
                      </a:r>
                    </a:p>
                  </a:txBody>
                  <a:tcPr marL="64008" marR="64008" marT="27432" marB="27432" anchor="ctr">
                    <a:solidFill>
                      <a:srgbClr val="5D4084"/>
                    </a:solidFill>
                  </a:tcPr>
                </a:tc>
                <a:tc>
                  <a:txBody>
                    <a:bodyPr/>
                    <a:lstStyle/>
                    <a:p>
                      <a:pPr algn="ctr"/>
                      <a:r>
                        <a:rPr sz="2300" b="1">
                          <a:solidFill>
                            <a:srgbClr val="FFFFFF"/>
                          </a:solidFill>
                          <a:latin typeface="Yu Gothic"/>
                        </a:rPr>
                        <a:t>Detail</a:t>
                      </a:r>
                    </a:p>
                  </a:txBody>
                  <a:tcPr marL="64008" marR="64008" marT="27432" marB="27432" anchor="ctr">
                    <a:solidFill>
                      <a:srgbClr val="5D4084"/>
                    </a:solidFill>
                  </a:tcPr>
                </a:tc>
                <a:extLst>
                  <a:ext uri="{0D108BD9-81ED-4DB2-BD59-A6C34878D82A}">
                    <a16:rowId xmlns:a16="http://schemas.microsoft.com/office/drawing/2014/main" val="10000"/>
                  </a:ext>
                </a:extLst>
              </a:tr>
              <a:tr h="1051559">
                <a:tc>
                  <a:txBody>
                    <a:bodyPr/>
                    <a:lstStyle/>
                    <a:p>
                      <a:pPr algn="l"/>
                      <a:r>
                        <a:rPr sz="2300" b="0">
                          <a:solidFill>
                            <a:srgbClr val="232B34"/>
                          </a:solidFill>
                          <a:latin typeface="Yu Gothic"/>
                        </a:rPr>
                        <a:t>Truth</a:t>
                      </a:r>
                    </a:p>
                  </a:txBody>
                  <a:tcPr marL="64008" marR="64008" marT="27432" marB="27432" anchor="ctr">
                    <a:solidFill>
                      <a:srgbClr val="FFFFFF"/>
                    </a:solidFill>
                  </a:tcPr>
                </a:tc>
                <a:tc>
                  <a:txBody>
                    <a:bodyPr/>
                    <a:lstStyle/>
                    <a:p>
                      <a:pPr algn="ctr"/>
                      <a:r>
                        <a:rPr sz="2300" b="0">
                          <a:solidFill>
                            <a:srgbClr val="232B34"/>
                          </a:solidFill>
                          <a:latin typeface="Yu Gothic"/>
                        </a:rPr>
                        <a:t>Sentinel-1 AUX_POEORB</a:t>
                      </a:r>
                    </a:p>
                  </a:txBody>
                  <a:tcPr marL="64008" marR="64008" marT="27432" marB="27432" anchor="ctr">
                    <a:solidFill>
                      <a:srgbClr val="EBF6FB"/>
                    </a:solidFill>
                  </a:tcPr>
                </a:tc>
                <a:extLst>
                  <a:ext uri="{0D108BD9-81ED-4DB2-BD59-A6C34878D82A}">
                    <a16:rowId xmlns:a16="http://schemas.microsoft.com/office/drawing/2014/main" val="10001"/>
                  </a:ext>
                </a:extLst>
              </a:tr>
              <a:tr h="1051559">
                <a:tc>
                  <a:txBody>
                    <a:bodyPr/>
                    <a:lstStyle/>
                    <a:p>
                      <a:pPr algn="l"/>
                      <a:r>
                        <a:rPr sz="2300" b="0">
                          <a:solidFill>
                            <a:srgbClr val="232B34"/>
                          </a:solidFill>
                          <a:latin typeface="Yu Gothic"/>
                        </a:rPr>
                        <a:t>Prediction</a:t>
                      </a:r>
                    </a:p>
                  </a:txBody>
                  <a:tcPr marL="64008" marR="64008" marT="27432" marB="27432" anchor="ctr">
                    <a:solidFill>
                      <a:srgbClr val="F4F6F8"/>
                    </a:solidFill>
                  </a:tcPr>
                </a:tc>
                <a:tc>
                  <a:txBody>
                    <a:bodyPr/>
                    <a:lstStyle/>
                    <a:p>
                      <a:pPr algn="ctr"/>
                      <a:r>
                        <a:rPr sz="2300" b="0">
                          <a:solidFill>
                            <a:srgbClr val="232B34"/>
                          </a:solidFill>
                          <a:latin typeface="Yu Gothic"/>
                        </a:rPr>
                        <a:t>latest TLE + SGP4 forward</a:t>
                      </a:r>
                    </a:p>
                  </a:txBody>
                  <a:tcPr marL="64008" marR="64008" marT="27432" marB="27432" anchor="ctr">
                    <a:solidFill>
                      <a:srgbClr val="EBF6FB"/>
                    </a:solidFill>
                  </a:tcPr>
                </a:tc>
                <a:extLst>
                  <a:ext uri="{0D108BD9-81ED-4DB2-BD59-A6C34878D82A}">
                    <a16:rowId xmlns:a16="http://schemas.microsoft.com/office/drawing/2014/main" val="10002"/>
                  </a:ext>
                </a:extLst>
              </a:tr>
              <a:tr h="1051559">
                <a:tc>
                  <a:txBody>
                    <a:bodyPr/>
                    <a:lstStyle/>
                    <a:p>
                      <a:pPr algn="l"/>
                      <a:r>
                        <a:rPr sz="2300" b="0">
                          <a:solidFill>
                            <a:srgbClr val="232B34"/>
                          </a:solidFill>
                          <a:latin typeface="Yu Gothic"/>
                        </a:rPr>
                        <a:t>Partner</a:t>
                      </a:r>
                    </a:p>
                  </a:txBody>
                  <a:tcPr marL="64008" marR="64008" marT="27432" marB="27432" anchor="ctr">
                    <a:solidFill>
                      <a:srgbClr val="FFFFFF"/>
                    </a:solidFill>
                  </a:tcPr>
                </a:tc>
                <a:tc>
                  <a:txBody>
                    <a:bodyPr/>
                    <a:lstStyle/>
                    <a:p>
                      <a:pPr algn="ctr"/>
                      <a:r>
                        <a:rPr sz="2300" b="0">
                          <a:solidFill>
                            <a:srgbClr val="232B34"/>
                          </a:solidFill>
                          <a:latin typeface="Yu Gothic"/>
                        </a:rPr>
                        <a:t>truth-known, one-sided error</a:t>
                      </a:r>
                    </a:p>
                  </a:txBody>
                  <a:tcPr marL="64008" marR="64008" marT="27432" marB="27432" anchor="ctr">
                    <a:solidFill>
                      <a:srgbClr val="EBF6FB"/>
                    </a:solidFill>
                  </a:tcPr>
                </a:tc>
                <a:extLst>
                  <a:ext uri="{0D108BD9-81ED-4DB2-BD59-A6C34878D82A}">
                    <a16:rowId xmlns:a16="http://schemas.microsoft.com/office/drawing/2014/main" val="10003"/>
                  </a:ext>
                </a:extLst>
              </a:tr>
              <a:tr h="1051559">
                <a:tc>
                  <a:txBody>
                    <a:bodyPr/>
                    <a:lstStyle/>
                    <a:p>
                      <a:pPr algn="l"/>
                      <a:r>
                        <a:rPr sz="2300" b="0">
                          <a:solidFill>
                            <a:srgbClr val="232B34"/>
                          </a:solidFill>
                          <a:latin typeface="Yu Gothic"/>
                        </a:rPr>
                        <a:t>Range</a:t>
                      </a:r>
                    </a:p>
                  </a:txBody>
                  <a:tcPr marL="64008" marR="64008" marT="27432" marB="27432" anchor="ctr">
                    <a:solidFill>
                      <a:srgbClr val="F4F6F8"/>
                    </a:solidFill>
                  </a:tcPr>
                </a:tc>
                <a:tc>
                  <a:txBody>
                    <a:bodyPr/>
                    <a:lstStyle/>
                    <a:p>
                      <a:pPr algn="ctr"/>
                      <a:r>
                        <a:rPr sz="2300" b="0">
                          <a:solidFill>
                            <a:srgbClr val="232B34"/>
                          </a:solidFill>
                          <a:latin typeface="Yu Gothic"/>
                        </a:rPr>
                        <a:t>800 km ISL or nadir altitude</a:t>
                      </a:r>
                    </a:p>
                  </a:txBody>
                  <a:tcPr marL="64008" marR="64008" marT="27432" marB="27432" anchor="ctr">
                    <a:solidFill>
                      <a:srgbClr val="EBF6FB"/>
                    </a:solidFill>
                  </a:tcPr>
                </a:tc>
                <a:extLst>
                  <a:ext uri="{0D108BD9-81ED-4DB2-BD59-A6C34878D82A}">
                    <a16:rowId xmlns:a16="http://schemas.microsoft.com/office/drawing/2014/main" val="10004"/>
                  </a:ext>
                </a:extLst>
              </a:tr>
              <a:tr h="1051564">
                <a:tc>
                  <a:txBody>
                    <a:bodyPr/>
                    <a:lstStyle/>
                    <a:p>
                      <a:pPr algn="l"/>
                      <a:r>
                        <a:rPr sz="2300" b="0">
                          <a:solidFill>
                            <a:srgbClr val="232B34"/>
                          </a:solidFill>
                          <a:latin typeface="Yu Gothic"/>
                        </a:rPr>
                        <a:t>Resampling</a:t>
                      </a:r>
                    </a:p>
                  </a:txBody>
                  <a:tcPr marL="64008" marR="64008" marT="27432" marB="27432" anchor="ctr">
                    <a:solidFill>
                      <a:srgbClr val="FFFFFF"/>
                    </a:solidFill>
                  </a:tcPr>
                </a:tc>
                <a:tc>
                  <a:txBody>
                    <a:bodyPr/>
                    <a:lstStyle/>
                    <a:p>
                      <a:pPr algn="ctr"/>
                      <a:r>
                        <a:rPr sz="2300" b="0" dirty="0">
                          <a:solidFill>
                            <a:srgbClr val="232B34"/>
                          </a:solidFill>
                          <a:latin typeface="Yu Gothic"/>
                        </a:rPr>
                        <a:t>cyclic to TD/Femap time</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STT-frame射影結果</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A8</a:t>
            </a:r>
          </a:p>
        </p:txBody>
      </p:sp>
      <p:graphicFrame>
        <p:nvGraphicFramePr>
          <p:cNvPr id="5" name="Table 4"/>
          <p:cNvGraphicFramePr>
            <a:graphicFrameLocks noGrp="1"/>
          </p:cNvGraphicFramePr>
          <p:nvPr/>
        </p:nvGraphicFramePr>
        <p:xfrm>
          <a:off x="1828800" y="2926080"/>
          <a:ext cx="20665440" cy="5257800"/>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60">
                <a:tc>
                  <a:txBody>
                    <a:bodyPr/>
                    <a:lstStyle/>
                    <a:p>
                      <a:pPr algn="l"/>
                      <a:r>
                        <a:rPr sz="2300" b="1">
                          <a:solidFill>
                            <a:srgbClr val="FFFFFF"/>
                          </a:solidFill>
                          <a:latin typeface="Yu Gothic"/>
                        </a:rPr>
                        <a:t>Item</a:t>
                      </a:r>
                    </a:p>
                  </a:txBody>
                  <a:tcPr marL="64008" marR="64008" marT="27432" marB="27432" anchor="ctr">
                    <a:solidFill>
                      <a:srgbClr val="5D4084"/>
                    </a:solidFill>
                  </a:tcPr>
                </a:tc>
                <a:tc>
                  <a:txBody>
                    <a:bodyPr/>
                    <a:lstStyle/>
                    <a:p>
                      <a:pPr algn="ctr"/>
                      <a:r>
                        <a:rPr sz="2300" b="1">
                          <a:solidFill>
                            <a:srgbClr val="FFFFFF"/>
                          </a:solidFill>
                          <a:latin typeface="Yu Gothic"/>
                        </a:rPr>
                        <a:t>Detail</a:t>
                      </a:r>
                    </a:p>
                  </a:txBody>
                  <a:tcPr marL="64008" marR="64008" marT="27432" marB="27432" anchor="ctr">
                    <a:solidFill>
                      <a:srgbClr val="5D4084"/>
                    </a:solidFill>
                  </a:tcPr>
                </a:tc>
                <a:extLst>
                  <a:ext uri="{0D108BD9-81ED-4DB2-BD59-A6C34878D82A}">
                    <a16:rowId xmlns:a16="http://schemas.microsoft.com/office/drawing/2014/main" val="10000"/>
                  </a:ext>
                </a:extLst>
              </a:tr>
              <a:tr h="1051560">
                <a:tc>
                  <a:txBody>
                    <a:bodyPr/>
                    <a:lstStyle/>
                    <a:p>
                      <a:pPr algn="l"/>
                      <a:r>
                        <a:rPr sz="2300" b="0">
                          <a:solidFill>
                            <a:srgbClr val="232B34"/>
                          </a:solidFill>
                          <a:latin typeface="Yu Gothic"/>
                        </a:rPr>
                        <a:t>MY</a:t>
                      </a:r>
                    </a:p>
                  </a:txBody>
                  <a:tcPr marL="64008" marR="64008" marT="27432" marB="27432" anchor="ctr">
                    <a:solidFill>
                      <a:srgbClr val="FFFFFF"/>
                    </a:solidFill>
                  </a:tcPr>
                </a:tc>
                <a:tc>
                  <a:txBody>
                    <a:bodyPr/>
                    <a:lstStyle/>
                    <a:p>
                      <a:pPr algn="ctr"/>
                      <a:r>
                        <a:rPr sz="2300" b="0">
                          <a:solidFill>
                            <a:srgbClr val="232B34"/>
                          </a:solidFill>
                          <a:latin typeface="Yu Gothic"/>
                        </a:rPr>
                        <a:t>ISL along-track / 285 µrad</a:t>
                      </a:r>
                    </a:p>
                  </a:txBody>
                  <a:tcPr marL="64008" marR="64008" marT="27432" marB="27432" anchor="ctr">
                    <a:solidFill>
                      <a:srgbClr val="EBF6FB"/>
                    </a:solidFill>
                  </a:tcPr>
                </a:tc>
                <a:extLst>
                  <a:ext uri="{0D108BD9-81ED-4DB2-BD59-A6C34878D82A}">
                    <a16:rowId xmlns:a16="http://schemas.microsoft.com/office/drawing/2014/main" val="10001"/>
                  </a:ext>
                </a:extLst>
              </a:tr>
              <a:tr h="1051560">
                <a:tc>
                  <a:txBody>
                    <a:bodyPr/>
                    <a:lstStyle/>
                    <a:p>
                      <a:pPr algn="l"/>
                      <a:r>
                        <a:rPr sz="2300" b="0">
                          <a:solidFill>
                            <a:srgbClr val="232B34"/>
                          </a:solidFill>
                          <a:latin typeface="Yu Gothic"/>
                        </a:rPr>
                        <a:t>PY</a:t>
                      </a:r>
                    </a:p>
                  </a:txBody>
                  <a:tcPr marL="64008" marR="64008" marT="27432" marB="27432" anchor="ctr">
                    <a:solidFill>
                      <a:srgbClr val="F4F6F8"/>
                    </a:solidFill>
                  </a:tcPr>
                </a:tc>
                <a:tc>
                  <a:txBody>
                    <a:bodyPr/>
                    <a:lstStyle/>
                    <a:p>
                      <a:pPr algn="ctr"/>
                      <a:r>
                        <a:rPr sz="2300" b="0">
                          <a:solidFill>
                            <a:srgbClr val="232B34"/>
                          </a:solidFill>
                          <a:latin typeface="Yu Gothic"/>
                        </a:rPr>
                        <a:t>ISL anti-along / 285 µrad</a:t>
                      </a:r>
                    </a:p>
                  </a:txBody>
                  <a:tcPr marL="64008" marR="64008" marT="27432" marB="27432" anchor="ctr">
                    <a:solidFill>
                      <a:srgbClr val="EBF6FB"/>
                    </a:solidFill>
                  </a:tcPr>
                </a:tc>
                <a:extLst>
                  <a:ext uri="{0D108BD9-81ED-4DB2-BD59-A6C34878D82A}">
                    <a16:rowId xmlns:a16="http://schemas.microsoft.com/office/drawing/2014/main" val="10002"/>
                  </a:ext>
                </a:extLst>
              </a:tr>
              <a:tr h="1051560">
                <a:tc>
                  <a:txBody>
                    <a:bodyPr/>
                    <a:lstStyle/>
                    <a:p>
                      <a:pPr algn="l"/>
                      <a:r>
                        <a:rPr sz="2300" b="0">
                          <a:solidFill>
                            <a:srgbClr val="232B34"/>
                          </a:solidFill>
                          <a:latin typeface="Yu Gothic"/>
                        </a:rPr>
                        <a:t>PX</a:t>
                      </a:r>
                    </a:p>
                  </a:txBody>
                  <a:tcPr marL="64008" marR="64008" marT="27432" marB="27432" anchor="ctr">
                    <a:solidFill>
                      <a:srgbClr val="FFFFFF"/>
                    </a:solidFill>
                  </a:tcPr>
                </a:tc>
                <a:tc>
                  <a:txBody>
                    <a:bodyPr/>
                    <a:lstStyle/>
                    <a:p>
                      <a:pPr algn="ctr"/>
                      <a:r>
                        <a:rPr sz="2300" b="0">
                          <a:solidFill>
                            <a:srgbClr val="232B34"/>
                          </a:solidFill>
                          <a:latin typeface="Yu Gothic"/>
                        </a:rPr>
                        <a:t>ground nadir / 694 µrad</a:t>
                      </a:r>
                    </a:p>
                  </a:txBody>
                  <a:tcPr marL="64008" marR="64008" marT="27432" marB="27432" anchor="ctr">
                    <a:solidFill>
                      <a:srgbClr val="EBF6FB"/>
                    </a:solidFill>
                  </a:tcPr>
                </a:tc>
                <a:extLst>
                  <a:ext uri="{0D108BD9-81ED-4DB2-BD59-A6C34878D82A}">
                    <a16:rowId xmlns:a16="http://schemas.microsoft.com/office/drawing/2014/main" val="10003"/>
                  </a:ext>
                </a:extLst>
              </a:tr>
              <a:tr h="1051560">
                <a:tc>
                  <a:txBody>
                    <a:bodyPr/>
                    <a:lstStyle/>
                    <a:p>
                      <a:pPr algn="l"/>
                      <a:r>
                        <a:rPr sz="2300" b="0">
                          <a:solidFill>
                            <a:srgbClr val="232B34"/>
                          </a:solidFill>
                          <a:latin typeface="Yu Gothic"/>
                        </a:rPr>
                        <a:t>MX</a:t>
                      </a:r>
                    </a:p>
                  </a:txBody>
                  <a:tcPr marL="64008" marR="64008" marT="27432" marB="27432" anchor="ctr">
                    <a:solidFill>
                      <a:srgbClr val="F4F6F8"/>
                    </a:solidFill>
                  </a:tcPr>
                </a:tc>
                <a:tc>
                  <a:txBody>
                    <a:bodyPr/>
                    <a:lstStyle/>
                    <a:p>
                      <a:pPr algn="ctr"/>
                      <a:r>
                        <a:rPr sz="2300" b="0">
                          <a:solidFill>
                            <a:srgbClr val="232B34"/>
                          </a:solidFill>
                          <a:latin typeface="Yu Gothic"/>
                        </a:rPr>
                        <a:t>zenith proxy / 612 µrad</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PATスキャンの注意</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A9</a:t>
            </a:r>
          </a:p>
        </p:txBody>
      </p:sp>
      <p:graphicFrame>
        <p:nvGraphicFramePr>
          <p:cNvPr id="5" name="Table 4"/>
          <p:cNvGraphicFramePr>
            <a:graphicFrameLocks noGrp="1"/>
          </p:cNvGraphicFramePr>
          <p:nvPr/>
        </p:nvGraphicFramePr>
        <p:xfrm>
          <a:off x="1828800" y="2926080"/>
          <a:ext cx="20665440" cy="6309359"/>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59">
                <a:tc>
                  <a:txBody>
                    <a:bodyPr/>
                    <a:lstStyle/>
                    <a:p>
                      <a:pPr algn="l"/>
                      <a:r>
                        <a:rPr sz="2300" b="1">
                          <a:solidFill>
                            <a:srgbClr val="FFFFFF"/>
                          </a:solidFill>
                          <a:latin typeface="Yu Gothic"/>
                        </a:rPr>
                        <a:t>Item</a:t>
                      </a:r>
                    </a:p>
                  </a:txBody>
                  <a:tcPr marL="64008" marR="64008" marT="27432" marB="27432" anchor="ctr">
                    <a:solidFill>
                      <a:srgbClr val="5D4084"/>
                    </a:solidFill>
                  </a:tcPr>
                </a:tc>
                <a:tc>
                  <a:txBody>
                    <a:bodyPr/>
                    <a:lstStyle/>
                    <a:p>
                      <a:pPr algn="ctr"/>
                      <a:r>
                        <a:rPr sz="2300" b="1">
                          <a:solidFill>
                            <a:srgbClr val="FFFFFF"/>
                          </a:solidFill>
                          <a:latin typeface="Yu Gothic"/>
                        </a:rPr>
                        <a:t>Detail</a:t>
                      </a:r>
                    </a:p>
                  </a:txBody>
                  <a:tcPr marL="64008" marR="64008" marT="27432" marB="27432" anchor="ctr">
                    <a:solidFill>
                      <a:srgbClr val="5D4084"/>
                    </a:solidFill>
                  </a:tcPr>
                </a:tc>
                <a:extLst>
                  <a:ext uri="{0D108BD9-81ED-4DB2-BD59-A6C34878D82A}">
                    <a16:rowId xmlns:a16="http://schemas.microsoft.com/office/drawing/2014/main" val="10000"/>
                  </a:ext>
                </a:extLst>
              </a:tr>
              <a:tr h="1051559">
                <a:tc>
                  <a:txBody>
                    <a:bodyPr/>
                    <a:lstStyle/>
                    <a:p>
                      <a:pPr algn="l"/>
                      <a:r>
                        <a:rPr sz="2300" b="0">
                          <a:solidFill>
                            <a:srgbClr val="232B34"/>
                          </a:solidFill>
                          <a:latin typeface="Yu Gothic"/>
                        </a:rPr>
                        <a:t>Coverage</a:t>
                      </a:r>
                    </a:p>
                  </a:txBody>
                  <a:tcPr marL="64008" marR="64008" marT="27432" marB="27432" anchor="ctr">
                    <a:solidFill>
                      <a:srgbClr val="FFFFFF"/>
                    </a:solidFill>
                  </a:tcPr>
                </a:tc>
                <a:tc>
                  <a:txBody>
                    <a:bodyPr/>
                    <a:lstStyle/>
                    <a:p>
                      <a:pPr algn="ctr"/>
                      <a:r>
                        <a:rPr sz="2300" b="0">
                          <a:solidFill>
                            <a:srgbClr val="232B34"/>
                          </a:solidFill>
                          <a:latin typeface="Yu Gothic"/>
                        </a:rPr>
                        <a:t>40 µrad grid, 25 µrad radius</a:t>
                      </a:r>
                    </a:p>
                  </a:txBody>
                  <a:tcPr marL="64008" marR="64008" marT="27432" marB="27432" anchor="ctr">
                    <a:solidFill>
                      <a:srgbClr val="EBF6FB"/>
                    </a:solidFill>
                  </a:tcPr>
                </a:tc>
                <a:extLst>
                  <a:ext uri="{0D108BD9-81ED-4DB2-BD59-A6C34878D82A}">
                    <a16:rowId xmlns:a16="http://schemas.microsoft.com/office/drawing/2014/main" val="10001"/>
                  </a:ext>
                </a:extLst>
              </a:tr>
              <a:tr h="1051559">
                <a:tc>
                  <a:txBody>
                    <a:bodyPr/>
                    <a:lstStyle/>
                    <a:p>
                      <a:pPr algn="l"/>
                      <a:r>
                        <a:rPr sz="2300" b="0">
                          <a:solidFill>
                            <a:srgbClr val="232B34"/>
                          </a:solidFill>
                          <a:latin typeface="Yu Gothic"/>
                        </a:rPr>
                        <a:t>Dynamics</a:t>
                      </a:r>
                    </a:p>
                  </a:txBody>
                  <a:tcPr marL="64008" marR="64008" marT="27432" marB="27432" anchor="ctr">
                    <a:solidFill>
                      <a:srgbClr val="F4F6F8"/>
                    </a:solidFill>
                  </a:tcPr>
                </a:tc>
                <a:tc>
                  <a:txBody>
                    <a:bodyPr/>
                    <a:lstStyle/>
                    <a:p>
                      <a:pPr algn="ctr"/>
                      <a:r>
                        <a:rPr sz="2300" b="0">
                          <a:solidFill>
                            <a:srgbClr val="232B34"/>
                          </a:solidFill>
                          <a:latin typeface="Yu Gothic"/>
                        </a:rPr>
                        <a:t>no slew / settling</a:t>
                      </a:r>
                    </a:p>
                  </a:txBody>
                  <a:tcPr marL="64008" marR="64008" marT="27432" marB="27432" anchor="ctr">
                    <a:solidFill>
                      <a:srgbClr val="EBF6FB"/>
                    </a:solidFill>
                  </a:tcPr>
                </a:tc>
                <a:extLst>
                  <a:ext uri="{0D108BD9-81ED-4DB2-BD59-A6C34878D82A}">
                    <a16:rowId xmlns:a16="http://schemas.microsoft.com/office/drawing/2014/main" val="10002"/>
                  </a:ext>
                </a:extLst>
              </a:tr>
              <a:tr h="1051559">
                <a:tc>
                  <a:txBody>
                    <a:bodyPr/>
                    <a:lstStyle/>
                    <a:p>
                      <a:pPr algn="l"/>
                      <a:r>
                        <a:rPr sz="2300" b="0">
                          <a:solidFill>
                            <a:srgbClr val="232B34"/>
                          </a:solidFill>
                          <a:latin typeface="Yu Gothic"/>
                        </a:rPr>
                        <a:t>Target</a:t>
                      </a:r>
                    </a:p>
                  </a:txBody>
                  <a:tcPr marL="64008" marR="64008" marT="27432" marB="27432" anchor="ctr">
                    <a:solidFill>
                      <a:srgbClr val="FFFFFF"/>
                    </a:solidFill>
                  </a:tcPr>
                </a:tc>
                <a:tc>
                  <a:txBody>
                    <a:bodyPr/>
                    <a:lstStyle/>
                    <a:p>
                      <a:pPr algn="ctr"/>
                      <a:r>
                        <a:rPr sz="2300" b="0">
                          <a:solidFill>
                            <a:srgbClr val="232B34"/>
                          </a:solidFill>
                          <a:latin typeface="Yu Gothic"/>
                        </a:rPr>
                        <a:t>constant during one scan</a:t>
                      </a:r>
                    </a:p>
                  </a:txBody>
                  <a:tcPr marL="64008" marR="64008" marT="27432" marB="27432" anchor="ctr">
                    <a:solidFill>
                      <a:srgbClr val="EBF6FB"/>
                    </a:solidFill>
                  </a:tcPr>
                </a:tc>
                <a:extLst>
                  <a:ext uri="{0D108BD9-81ED-4DB2-BD59-A6C34878D82A}">
                    <a16:rowId xmlns:a16="http://schemas.microsoft.com/office/drawing/2014/main" val="10003"/>
                  </a:ext>
                </a:extLst>
              </a:tr>
              <a:tr h="1051559">
                <a:tc>
                  <a:txBody>
                    <a:bodyPr/>
                    <a:lstStyle/>
                    <a:p>
                      <a:pPr algn="l"/>
                      <a:r>
                        <a:rPr sz="2300" b="0">
                          <a:solidFill>
                            <a:srgbClr val="232B34"/>
                          </a:solidFill>
                          <a:latin typeface="Yu Gothic"/>
                        </a:rPr>
                        <a:t>Statistics</a:t>
                      </a:r>
                    </a:p>
                  </a:txBody>
                  <a:tcPr marL="64008" marR="64008" marT="27432" marB="27432" anchor="ctr">
                    <a:solidFill>
                      <a:srgbClr val="F4F6F8"/>
                    </a:solidFill>
                  </a:tcPr>
                </a:tc>
                <a:tc>
                  <a:txBody>
                    <a:bodyPr/>
                    <a:lstStyle/>
                    <a:p>
                      <a:pPr algn="ctr"/>
                      <a:r>
                        <a:rPr sz="2300" b="0">
                          <a:solidFill>
                            <a:srgbClr val="232B34"/>
                          </a:solidFill>
                          <a:latin typeface="Yu Gothic"/>
                        </a:rPr>
                        <a:t>mean tacq conditional on success</a:t>
                      </a:r>
                    </a:p>
                  </a:txBody>
                  <a:tcPr marL="64008" marR="64008" marT="27432" marB="27432" anchor="ctr">
                    <a:solidFill>
                      <a:srgbClr val="EBF6FB"/>
                    </a:solidFill>
                  </a:tcPr>
                </a:tc>
                <a:extLst>
                  <a:ext uri="{0D108BD9-81ED-4DB2-BD59-A6C34878D82A}">
                    <a16:rowId xmlns:a16="http://schemas.microsoft.com/office/drawing/2014/main" val="10004"/>
                  </a:ext>
                </a:extLst>
              </a:tr>
              <a:tr h="1051564">
                <a:tc>
                  <a:txBody>
                    <a:bodyPr/>
                    <a:lstStyle/>
                    <a:p>
                      <a:pPr algn="l"/>
                      <a:r>
                        <a:rPr sz="2300" b="0">
                          <a:solidFill>
                            <a:srgbClr val="232B34"/>
                          </a:solidFill>
                          <a:latin typeface="Yu Gothic"/>
                        </a:rPr>
                        <a:t>Opportunities</a:t>
                      </a:r>
                    </a:p>
                  </a:txBody>
                  <a:tcPr marL="64008" marR="64008" marT="27432" marB="27432" anchor="ctr">
                    <a:solidFill>
                      <a:srgbClr val="FFFFFF"/>
                    </a:solidFill>
                  </a:tcPr>
                </a:tc>
                <a:tc>
                  <a:txBody>
                    <a:bodyPr/>
                    <a:lstStyle/>
                    <a:p>
                      <a:pPr algn="ctr"/>
                      <a:r>
                        <a:rPr sz="2300" b="0">
                          <a:solidFill>
                            <a:srgbClr val="232B34"/>
                          </a:solidFill>
                          <a:latin typeface="Yu Gothic"/>
                        </a:rPr>
                        <a:t>each sample independent</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Adaptive候補</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A10</a:t>
            </a:r>
          </a:p>
        </p:txBody>
      </p:sp>
      <p:graphicFrame>
        <p:nvGraphicFramePr>
          <p:cNvPr id="5" name="Table 4"/>
          <p:cNvGraphicFramePr>
            <a:graphicFrameLocks noGrp="1"/>
          </p:cNvGraphicFramePr>
          <p:nvPr/>
        </p:nvGraphicFramePr>
        <p:xfrm>
          <a:off x="1828800" y="2926080"/>
          <a:ext cx="20665440" cy="5257800"/>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60">
                <a:tc>
                  <a:txBody>
                    <a:bodyPr/>
                    <a:lstStyle/>
                    <a:p>
                      <a:pPr algn="l"/>
                      <a:r>
                        <a:rPr sz="2300" b="1">
                          <a:solidFill>
                            <a:srgbClr val="FFFFFF"/>
                          </a:solidFill>
                          <a:latin typeface="Yu Gothic"/>
                        </a:rPr>
                        <a:t>Item</a:t>
                      </a:r>
                    </a:p>
                  </a:txBody>
                  <a:tcPr marL="64008" marR="64008" marT="27432" marB="27432" anchor="ctr">
                    <a:solidFill>
                      <a:srgbClr val="5D4084"/>
                    </a:solidFill>
                  </a:tcPr>
                </a:tc>
                <a:tc>
                  <a:txBody>
                    <a:bodyPr/>
                    <a:lstStyle/>
                    <a:p>
                      <a:pPr algn="ctr"/>
                      <a:r>
                        <a:rPr sz="2300" b="1">
                          <a:solidFill>
                            <a:srgbClr val="FFFFFF"/>
                          </a:solidFill>
                          <a:latin typeface="Yu Gothic"/>
                        </a:rPr>
                        <a:t>Detail</a:t>
                      </a:r>
                    </a:p>
                  </a:txBody>
                  <a:tcPr marL="64008" marR="64008" marT="27432" marB="27432" anchor="ctr">
                    <a:solidFill>
                      <a:srgbClr val="5D4084"/>
                    </a:solidFill>
                  </a:tcPr>
                </a:tc>
                <a:extLst>
                  <a:ext uri="{0D108BD9-81ED-4DB2-BD59-A6C34878D82A}">
                    <a16:rowId xmlns:a16="http://schemas.microsoft.com/office/drawing/2014/main" val="10000"/>
                  </a:ext>
                </a:extLst>
              </a:tr>
              <a:tr h="1051560">
                <a:tc>
                  <a:txBody>
                    <a:bodyPr/>
                    <a:lstStyle/>
                    <a:p>
                      <a:pPr algn="l"/>
                      <a:r>
                        <a:rPr sz="2300" b="0">
                          <a:solidFill>
                            <a:srgbClr val="232B34"/>
                          </a:solidFill>
                          <a:latin typeface="Yu Gothic"/>
                        </a:rPr>
                        <a:t>Scalar EWMA</a:t>
                      </a:r>
                    </a:p>
                  </a:txBody>
                  <a:tcPr marL="64008" marR="64008" marT="27432" marB="27432" anchor="ctr">
                    <a:solidFill>
                      <a:srgbClr val="FFFFFF"/>
                    </a:solidFill>
                  </a:tcPr>
                </a:tc>
                <a:tc>
                  <a:txBody>
                    <a:bodyPr/>
                    <a:lstStyle/>
                    <a:p>
                      <a:pPr algn="ctr"/>
                      <a:r>
                        <a:rPr sz="2300" b="0">
                          <a:solidFill>
                            <a:srgbClr val="232B34"/>
                          </a:solidFill>
                          <a:latin typeface="Yu Gothic"/>
                        </a:rPr>
                        <a:t>b only; simplest</a:t>
                      </a:r>
                    </a:p>
                  </a:txBody>
                  <a:tcPr marL="64008" marR="64008" marT="27432" marB="27432" anchor="ctr">
                    <a:solidFill>
                      <a:srgbClr val="EBF6FB"/>
                    </a:solidFill>
                  </a:tcPr>
                </a:tc>
                <a:extLst>
                  <a:ext uri="{0D108BD9-81ED-4DB2-BD59-A6C34878D82A}">
                    <a16:rowId xmlns:a16="http://schemas.microsoft.com/office/drawing/2014/main" val="10001"/>
                  </a:ext>
                </a:extLst>
              </a:tr>
              <a:tr h="1051560">
                <a:tc>
                  <a:txBody>
                    <a:bodyPr/>
                    <a:lstStyle/>
                    <a:p>
                      <a:pPr algn="l"/>
                      <a:r>
                        <a:rPr sz="2300" b="0">
                          <a:solidFill>
                            <a:srgbClr val="232B34"/>
                          </a:solidFill>
                          <a:latin typeface="Yu Gothic"/>
                        </a:rPr>
                        <a:t>Kalman filter</a:t>
                      </a:r>
                    </a:p>
                  </a:txBody>
                  <a:tcPr marL="64008" marR="64008" marT="27432" marB="27432" anchor="ctr">
                    <a:solidFill>
                      <a:srgbClr val="F4F6F8"/>
                    </a:solidFill>
                  </a:tcPr>
                </a:tc>
                <a:tc>
                  <a:txBody>
                    <a:bodyPr/>
                    <a:lstStyle/>
                    <a:p>
                      <a:pPr algn="ctr"/>
                      <a:r>
                        <a:rPr sz="2300" b="0">
                          <a:solidFill>
                            <a:srgbClr val="232B34"/>
                          </a:solidFill>
                          <a:latin typeface="Yu Gothic"/>
                        </a:rPr>
                        <a:t>b + orbit/alignment states</a:t>
                      </a:r>
                    </a:p>
                  </a:txBody>
                  <a:tcPr marL="64008" marR="64008" marT="27432" marB="27432" anchor="ctr">
                    <a:solidFill>
                      <a:srgbClr val="EBF6FB"/>
                    </a:solidFill>
                  </a:tcPr>
                </a:tc>
                <a:extLst>
                  <a:ext uri="{0D108BD9-81ED-4DB2-BD59-A6C34878D82A}">
                    <a16:rowId xmlns:a16="http://schemas.microsoft.com/office/drawing/2014/main" val="10002"/>
                  </a:ext>
                </a:extLst>
              </a:tr>
              <a:tr h="1051560">
                <a:tc>
                  <a:txBody>
                    <a:bodyPr/>
                    <a:lstStyle/>
                    <a:p>
                      <a:pPr algn="l"/>
                      <a:r>
                        <a:rPr sz="2300" b="0">
                          <a:solidFill>
                            <a:srgbClr val="232B34"/>
                          </a:solidFill>
                          <a:latin typeface="Yu Gothic"/>
                        </a:rPr>
                        <a:t>Mode-conditioned table</a:t>
                      </a:r>
                    </a:p>
                  </a:txBody>
                  <a:tcPr marL="64008" marR="64008" marT="27432" marB="27432" anchor="ctr">
                    <a:solidFill>
                      <a:srgbClr val="FFFFFF"/>
                    </a:solidFill>
                  </a:tcPr>
                </a:tc>
                <a:tc>
                  <a:txBody>
                    <a:bodyPr/>
                    <a:lstStyle/>
                    <a:p>
                      <a:pPr algn="ctr"/>
                      <a:r>
                        <a:rPr sz="2300" b="0">
                          <a:solidFill>
                            <a:srgbClr val="232B34"/>
                          </a:solidFill>
                          <a:latin typeface="Yu Gothic"/>
                        </a:rPr>
                        <a:t>sun face × power mode</a:t>
                      </a:r>
                    </a:p>
                  </a:txBody>
                  <a:tcPr marL="64008" marR="64008" marT="27432" marB="27432" anchor="ctr">
                    <a:solidFill>
                      <a:srgbClr val="EBF6FB"/>
                    </a:solidFill>
                  </a:tcPr>
                </a:tc>
                <a:extLst>
                  <a:ext uri="{0D108BD9-81ED-4DB2-BD59-A6C34878D82A}">
                    <a16:rowId xmlns:a16="http://schemas.microsoft.com/office/drawing/2014/main" val="10003"/>
                  </a:ext>
                </a:extLst>
              </a:tr>
              <a:tr h="1051560">
                <a:tc>
                  <a:txBody>
                    <a:bodyPr/>
                    <a:lstStyle/>
                    <a:p>
                      <a:pPr algn="l"/>
                      <a:r>
                        <a:rPr sz="2300" b="0">
                          <a:solidFill>
                            <a:srgbClr val="232B34"/>
                          </a:solidFill>
                          <a:latin typeface="Yu Gothic"/>
                        </a:rPr>
                        <a:t>Batch pass update</a:t>
                      </a:r>
                    </a:p>
                  </a:txBody>
                  <a:tcPr marL="64008" marR="64008" marT="27432" marB="27432" anchor="ctr">
                    <a:solidFill>
                      <a:srgbClr val="F4F6F8"/>
                    </a:solidFill>
                  </a:tcPr>
                </a:tc>
                <a:tc>
                  <a:txBody>
                    <a:bodyPr/>
                    <a:lstStyle/>
                    <a:p>
                      <a:pPr algn="ctr"/>
                      <a:r>
                        <a:rPr sz="2300" b="0">
                          <a:solidFill>
                            <a:srgbClr val="232B34"/>
                          </a:solidFill>
                          <a:latin typeface="Yu Gothic"/>
                        </a:rPr>
                        <a:t>avoid single-acquisition contamination</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Appendix</a:t>
            </a:r>
          </a:p>
        </p:txBody>
      </p:sp>
      <p:sp>
        <p:nvSpPr>
          <p:cNvPr id="3" name="TextBox 2"/>
          <p:cNvSpPr txBox="1"/>
          <p:nvPr/>
        </p:nvSpPr>
        <p:spPr>
          <a:xfrm>
            <a:off x="1536192" y="1298448"/>
            <a:ext cx="22037040" cy="960120"/>
          </a:xfrm>
          <a:prstGeom prst="rect">
            <a:avLst/>
          </a:prstGeom>
          <a:noFill/>
        </p:spPr>
        <p:txBody>
          <a:bodyPr wrap="none" lIns="36576" tIns="27432" rIns="36576" bIns="27432" anchor="t">
            <a:spAutoFit/>
          </a:bodyPr>
          <a:lstStyle/>
          <a:p>
            <a:pPr algn="l"/>
            <a:r>
              <a:rPr sz="3200" b="1">
                <a:solidFill>
                  <a:srgbClr val="082B52"/>
                </a:solidFill>
                <a:latin typeface="Yu Gothic"/>
              </a:rPr>
              <a:t>主要参考文献</a:t>
            </a:r>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A11</a:t>
            </a:r>
          </a:p>
        </p:txBody>
      </p:sp>
      <p:sp>
        <p:nvSpPr>
          <p:cNvPr id="5" name="TextBox 4"/>
          <p:cNvSpPr txBox="1"/>
          <p:nvPr/>
        </p:nvSpPr>
        <p:spPr>
          <a:xfrm>
            <a:off x="1280160" y="2834640"/>
            <a:ext cx="21671280" cy="3400931"/>
          </a:xfrm>
          <a:prstGeom prst="rect">
            <a:avLst/>
          </a:prstGeom>
          <a:noFill/>
        </p:spPr>
        <p:txBody>
          <a:bodyPr wrap="square" lIns="27432" rIns="27432">
            <a:spAutoFit/>
          </a:bodyPr>
          <a:lstStyle/>
          <a:p>
            <a:pPr>
              <a:spcAft>
                <a:spcPts val="800"/>
              </a:spcAft>
            </a:pPr>
            <a:r>
              <a:rPr sz="2400" b="1" dirty="0">
                <a:solidFill>
                  <a:schemeClr val="tx2">
                    <a:lumMod val="50000"/>
                  </a:schemeClr>
                </a:solidFill>
                <a:latin typeface="Yu Gothic"/>
              </a:rPr>
              <a:t>• </a:t>
            </a:r>
            <a:r>
              <a:rPr sz="2400" b="1" dirty="0" err="1">
                <a:solidFill>
                  <a:schemeClr val="tx2">
                    <a:lumMod val="50000"/>
                  </a:schemeClr>
                </a:solidFill>
                <a:latin typeface="Yu Gothic"/>
              </a:rPr>
              <a:t>Riesing</a:t>
            </a:r>
            <a:r>
              <a:rPr sz="2400" b="1" dirty="0">
                <a:solidFill>
                  <a:schemeClr val="tx2">
                    <a:lumMod val="50000"/>
                  </a:schemeClr>
                </a:solidFill>
                <a:latin typeface="Yu Gothic"/>
              </a:rPr>
              <a:t> et al., TBIRD PAT on-orbit results, SPIE 2023</a:t>
            </a:r>
          </a:p>
          <a:p>
            <a:pPr>
              <a:spcAft>
                <a:spcPts val="800"/>
              </a:spcAft>
            </a:pPr>
            <a:r>
              <a:rPr sz="2400" b="1" dirty="0">
                <a:solidFill>
                  <a:schemeClr val="tx2">
                    <a:lumMod val="50000"/>
                  </a:schemeClr>
                </a:solidFill>
                <a:latin typeface="Yu Gothic"/>
              </a:rPr>
              <a:t>• Shi et al., Thermal Deformation Stability Optimization, 2023</a:t>
            </a:r>
          </a:p>
          <a:p>
            <a:pPr>
              <a:spcAft>
                <a:spcPts val="800"/>
              </a:spcAft>
            </a:pPr>
            <a:r>
              <a:rPr sz="2400" b="1" dirty="0">
                <a:solidFill>
                  <a:schemeClr val="tx2">
                    <a:lumMod val="50000"/>
                  </a:schemeClr>
                </a:solidFill>
                <a:latin typeface="Yu Gothic"/>
              </a:rPr>
              <a:t>• </a:t>
            </a:r>
            <a:r>
              <a:rPr sz="2400" b="1" dirty="0" err="1">
                <a:solidFill>
                  <a:schemeClr val="tx2">
                    <a:lumMod val="50000"/>
                  </a:schemeClr>
                </a:solidFill>
                <a:latin typeface="Yu Gothic"/>
              </a:rPr>
              <a:t>Badás</a:t>
            </a:r>
            <a:r>
              <a:rPr sz="2400" b="1" dirty="0">
                <a:solidFill>
                  <a:schemeClr val="tx2">
                    <a:lumMod val="50000"/>
                  </a:schemeClr>
                </a:solidFill>
                <a:latin typeface="Yu Gothic"/>
              </a:rPr>
              <a:t> et al., Opto-thermo-mechanical phenomena in satellite FSOC, 2024</a:t>
            </a:r>
          </a:p>
          <a:p>
            <a:pPr>
              <a:spcAft>
                <a:spcPts val="800"/>
              </a:spcAft>
            </a:pPr>
            <a:r>
              <a:rPr sz="2400" b="1" dirty="0">
                <a:solidFill>
                  <a:schemeClr val="tx2">
                    <a:lumMod val="50000"/>
                  </a:schemeClr>
                </a:solidFill>
                <a:latin typeface="Yu Gothic"/>
              </a:rPr>
              <a:t>• Hu et al., On-Board Thermal Motion Compensation, 2022</a:t>
            </a:r>
          </a:p>
          <a:p>
            <a:pPr>
              <a:spcAft>
                <a:spcPts val="800"/>
              </a:spcAft>
            </a:pPr>
            <a:r>
              <a:rPr sz="2400" b="1" dirty="0">
                <a:solidFill>
                  <a:schemeClr val="tx2">
                    <a:lumMod val="50000"/>
                  </a:schemeClr>
                </a:solidFill>
                <a:latin typeface="Yu Gothic"/>
              </a:rPr>
              <a:t>• Li et al., Thermal Deformation LOS Correction in LEO, 2025</a:t>
            </a:r>
          </a:p>
          <a:p>
            <a:pPr>
              <a:spcAft>
                <a:spcPts val="800"/>
              </a:spcAft>
            </a:pPr>
            <a:r>
              <a:rPr sz="2400" b="1" dirty="0">
                <a:solidFill>
                  <a:schemeClr val="tx2">
                    <a:lumMod val="50000"/>
                  </a:schemeClr>
                </a:solidFill>
                <a:latin typeface="+mn-ea"/>
              </a:rPr>
              <a:t>• </a:t>
            </a:r>
            <a:r>
              <a:rPr sz="2400" b="1" dirty="0" err="1">
                <a:solidFill>
                  <a:schemeClr val="tx2">
                    <a:lumMod val="50000"/>
                  </a:schemeClr>
                </a:solidFill>
                <a:latin typeface="+mn-ea"/>
              </a:rPr>
              <a:t>Rüddenklau</a:t>
            </a:r>
            <a:r>
              <a:rPr sz="2400" b="1" dirty="0">
                <a:solidFill>
                  <a:schemeClr val="tx2">
                    <a:lumMod val="50000"/>
                  </a:schemeClr>
                </a:solidFill>
                <a:latin typeface="+mn-ea"/>
              </a:rPr>
              <a:t> et al., Feed-Forward Body-Pointing Compensation, 2024</a:t>
            </a:r>
          </a:p>
          <a:p>
            <a:r>
              <a:rPr sz="2400" b="1" dirty="0">
                <a:solidFill>
                  <a:schemeClr val="tx2">
                    <a:lumMod val="50000"/>
                  </a:schemeClr>
                </a:solidFill>
                <a:latin typeface="+mn-ea"/>
              </a:rPr>
              <a:t>• </a:t>
            </a:r>
            <a:r>
              <a:rPr lang="en-US" sz="2400" b="1" dirty="0" err="1">
                <a:solidFill>
                  <a:schemeClr val="tx2">
                    <a:lumMod val="50000"/>
                  </a:schemeClr>
                </a:solidFill>
                <a:latin typeface="+mn-ea"/>
              </a:rPr>
              <a:t>Turella</a:t>
            </a:r>
            <a:r>
              <a:rPr lang="en-US" sz="2400" b="1" dirty="0">
                <a:solidFill>
                  <a:schemeClr val="tx2">
                    <a:lumMod val="50000"/>
                  </a:schemeClr>
                </a:solidFill>
                <a:latin typeface="+mn-ea"/>
              </a:rPr>
              <a:t> et al., </a:t>
            </a:r>
            <a:r>
              <a:rPr lang="en-US" altLang="ja-JP" sz="2400" b="1" dirty="0">
                <a:solidFill>
                  <a:schemeClr val="tx2">
                    <a:lumMod val="50000"/>
                  </a:schemeClr>
                </a:solidFill>
                <a:latin typeface="+mn-ea"/>
              </a:rPr>
              <a:t>JANUS Optical Head Line of Sight Temperature</a:t>
            </a:r>
            <a:r>
              <a:rPr lang="ja-JP" altLang="en-US" sz="2400" b="1" dirty="0">
                <a:solidFill>
                  <a:schemeClr val="tx2">
                    <a:lumMod val="50000"/>
                  </a:schemeClr>
                </a:solidFill>
                <a:latin typeface="+mn-ea"/>
              </a:rPr>
              <a:t> </a:t>
            </a:r>
            <a:r>
              <a:rPr lang="en-US" altLang="ja-JP" sz="2400" b="1" dirty="0">
                <a:solidFill>
                  <a:schemeClr val="tx2">
                    <a:lumMod val="50000"/>
                  </a:schemeClr>
                </a:solidFill>
                <a:latin typeface="+mn-ea"/>
              </a:rPr>
              <a:t>dependence Characterization and Validation by on ground test, 2021</a:t>
            </a:r>
            <a:endParaRPr sz="2400" b="1" dirty="0">
              <a:solidFill>
                <a:schemeClr val="tx2">
                  <a:lumMod val="50000"/>
                </a:schemeClr>
              </a:solidFill>
              <a:latin typeface="+mn-ea"/>
            </a:endParaRPr>
          </a:p>
        </p:txBody>
      </p:sp>
    </p:spTree>
  </p:cSld>
  <p:clrMapOvr>
    <a:masterClrMapping/>
  </p:clrMapOvr>
</p:sld>
</file>

<file path=ppt/theme/theme1.xml><?xml version="1.0" encoding="utf-8"?>
<a:theme xmlns:a="http://schemas.openxmlformats.org/drawingml/2006/main" name="Office テーマ">
  <a:themeElements>
    <a:clrScheme name="ISSL true">
      <a:dk1>
        <a:srgbClr val="062654"/>
      </a:dk1>
      <a:lt1>
        <a:srgbClr val="FFFFFF"/>
      </a:lt1>
      <a:dk2>
        <a:srgbClr val="4B4B4B"/>
      </a:dk2>
      <a:lt2>
        <a:srgbClr val="8D8D8D"/>
      </a:lt2>
      <a:accent1>
        <a:srgbClr val="067BCA"/>
      </a:accent1>
      <a:accent2>
        <a:srgbClr val="C95656"/>
      </a:accent2>
      <a:accent3>
        <a:srgbClr val="EBA123"/>
      </a:accent3>
      <a:accent4>
        <a:srgbClr val="87AC70"/>
      </a:accent4>
      <a:accent5>
        <a:srgbClr val="B3618D"/>
      </a:accent5>
      <a:accent6>
        <a:srgbClr val="D16449"/>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ssl-template-ja-16-9" id="{4C5265F7-3B2E-5145-B81F-B8693CA354B3}" vid="{5C8F6914-05D8-EA47-8853-1E6EC34679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issl-template-ja-16-9</Template>
  <TotalTime>3100</TotalTime>
  <Words>4950</Words>
  <Application>Microsoft Office PowerPoint</Application>
  <PresentationFormat>ユーザー設定</PresentationFormat>
  <Paragraphs>1015</Paragraphs>
  <Slides>54</Slides>
  <Notes>54</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54</vt:i4>
      </vt:variant>
    </vt:vector>
  </HeadingPairs>
  <TitlesOfParts>
    <vt:vector size="61" baseType="lpstr">
      <vt:lpstr>游ゴシック</vt:lpstr>
      <vt:lpstr>游ゴシック</vt:lpstr>
      <vt:lpstr>Yu Gothic Medium</vt:lpstr>
      <vt:lpstr>Aptos</vt:lpstr>
      <vt:lpstr>Arial</vt:lpstr>
      <vt:lpstr>Cambria Math</vt:lpstr>
      <vt:lpstr>Office テーマ</vt:lpstr>
      <vt:lpstr>Feedforward and Adaptive Correction of Time-Varying Thermal Bias for Coarse Acquisition in Optical Communication Systems</vt:lpstr>
      <vt:lpstr>01</vt:lpstr>
      <vt:lpstr>本日の目標：熱ひずみ予測モデルをレビューしてもらう</vt:lpstr>
      <vt:lpstr>やりたいこと：熱ひずみによる粗捕捉開始時の scan-center error を運用側で改善</vt:lpstr>
      <vt:lpstr>進捗：2か月で熱LOS真値生成・軽量モデル構築・PAT統合評価まで進んだ</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高本　英熙</dc:creator>
  <cp:lastModifiedBy>高本　英熙</cp:lastModifiedBy>
  <cp:revision>23</cp:revision>
  <cp:lastPrinted>2026-07-21T04:01:32Z</cp:lastPrinted>
  <dcterms:created xsi:type="dcterms:W3CDTF">2026-05-11T08:23:04Z</dcterms:created>
  <dcterms:modified xsi:type="dcterms:W3CDTF">2026-09-28T02:47:55Z</dcterms:modified>
</cp:coreProperties>
</file>