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55"/>
  </p:notesMasterIdLst>
  <p:sldIdLst>
    <p:sldId id="263" r:id="rId2"/>
    <p:sldId id="257" r:id="rId3"/>
    <p:sldId id="258" r:id="rId4"/>
    <p:sldId id="282" r:id="rId5"/>
    <p:sldId id="264" r:id="rId6"/>
    <p:sldId id="266" r:id="rId7"/>
    <p:sldId id="277" r:id="rId8"/>
    <p:sldId id="283" r:id="rId9"/>
    <p:sldId id="268" r:id="rId10"/>
    <p:sldId id="270" r:id="rId11"/>
    <p:sldId id="269" r:id="rId12"/>
    <p:sldId id="275" r:id="rId13"/>
    <p:sldId id="271" r:id="rId14"/>
    <p:sldId id="272" r:id="rId15"/>
    <p:sldId id="321" r:id="rId16"/>
    <p:sldId id="273" r:id="rId17"/>
    <p:sldId id="285" r:id="rId18"/>
    <p:sldId id="287" r:id="rId19"/>
    <p:sldId id="322" r:id="rId20"/>
    <p:sldId id="288" r:id="rId21"/>
    <p:sldId id="289" r:id="rId22"/>
    <p:sldId id="290" r:id="rId23"/>
    <p:sldId id="291" r:id="rId24"/>
    <p:sldId id="292" r:id="rId25"/>
    <p:sldId id="293" r:id="rId26"/>
    <p:sldId id="294" r:id="rId27"/>
    <p:sldId id="295" r:id="rId28"/>
    <p:sldId id="296" r:id="rId29"/>
    <p:sldId id="297" r:id="rId30"/>
    <p:sldId id="298" r:id="rId31"/>
    <p:sldId id="299" r:id="rId32"/>
    <p:sldId id="300" r:id="rId33"/>
    <p:sldId id="301" r:id="rId34"/>
    <p:sldId id="302" r:id="rId35"/>
    <p:sldId id="303" r:id="rId36"/>
    <p:sldId id="304" r:id="rId37"/>
    <p:sldId id="305" r:id="rId38"/>
    <p:sldId id="306" r:id="rId39"/>
    <p:sldId id="307" r:id="rId40"/>
    <p:sldId id="308" r:id="rId41"/>
    <p:sldId id="309" r:id="rId42"/>
    <p:sldId id="286" r:id="rId43"/>
    <p:sldId id="310" r:id="rId44"/>
    <p:sldId id="311" r:id="rId45"/>
    <p:sldId id="312" r:id="rId46"/>
    <p:sldId id="313" r:id="rId47"/>
    <p:sldId id="314" r:id="rId48"/>
    <p:sldId id="315" r:id="rId49"/>
    <p:sldId id="316" r:id="rId50"/>
    <p:sldId id="317" r:id="rId51"/>
    <p:sldId id="318" r:id="rId52"/>
    <p:sldId id="319" r:id="rId53"/>
    <p:sldId id="320" r:id="rId54"/>
  </p:sldIdLst>
  <p:sldSz cx="24382413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25D7"/>
    <a:srgbClr val="66A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1" autoAdjust="0"/>
    <p:restoredTop sz="91484" autoAdjust="0"/>
  </p:normalViewPr>
  <p:slideViewPr>
    <p:cSldViewPr snapToGrid="0">
      <p:cViewPr varScale="1">
        <p:scale>
          <a:sx n="34" d="100"/>
          <a:sy n="34" d="100"/>
        </p:scale>
        <p:origin x="6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F80C97-2400-5344-89F3-3CED47A68B44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C54EC6-2177-1447-9798-A1A3B80469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3627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7月6日の発表以降の進捗として、階層ΔTモデル、PAT評価、軌道予測誤差の導入を報告する。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冒頭で前回までの位置づけと今回のゴールを共有する。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本日は完成報告ではなく設計レビュー。モデル、PAT、Adaptiveの3点についてフィードバックをもらいたい。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光RG向けの復習。熱変形自体ではなくSTT基準とLCT光軸の差が粗捕捉開始時のscan-center errorになる。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7月6日との違いを一枚で示す。当時の25.8秒は条件が異なる予備結果なので今回とは直接比較しない。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全体フロー。TD/Femapは高忠実度参照で、軌道上では軽量モデルのみを使う。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02: Thermo-structural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簡略shell衛星。LCTはMZ、STTはPZ、PROP</a:t>
            </a:r>
            <a:r>
              <a:rPr dirty="0"/>
              <a:t>/</a:t>
            </a:r>
            <a:r>
              <a:rPr dirty="0" err="1"/>
              <a:t>PCDUは±Y側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基本3軌道。先頭1軌道をモデル同定、残り2軌道をtestに用いる。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発熱モードはLevel 2の説明変数。半電力case22はON/OFFフラグの限界を確認する。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実機詳細モデルではない。構造・拘束条件依存性が残る点を明示する。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PAT主入力はfar-field relative rotation。並進成分を含む角度は診断用。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21ケースはいずれも同じ基本構造の感度ケースで、別機体への汎化ではない。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光学特性未反映やmapper混線を経験し、ケースID管理を強化した。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02541-F1A3-D1BA-31E3-AEDFAF8D0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983E82-966C-7F11-55A4-B9E813E6A9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36858-E9C3-BFD0-3D28-CF5344F9C2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Fourierよりも物理入力で軌道条件の変化を扱いたい。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8FFD8-2563-0C26-AF09-06CC675A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787874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03: Lightweight LOS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Fourierよりも物理入力で軌道条件の変化を扱いたい。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Level 1は支配軸のみ。非支配軸は現状モデル外。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B42EA-D360-34D6-60C7-03B28469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2F6A70-B226-B8D0-76C5-5C29EF4183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2AF636-D9A0-B111-F11B-3033CC3C42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Level 1は支配軸のみ。非支配軸は現状モデル外。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4A3804-A38E-981D-0A3F-5E89C2E6D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906083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現在は発熱フラグをMY/PYで有効化し、MX/PXでは差が小さいため無効。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bはLOOだがa_sharedは対象ケースを含む中央値で完全LOOではない。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aの安定性がモデルの核心。Adaptiveで毎回aを学ぶ必要性は低そう。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最大LOO残差は半電力case22で13.2 µrad。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半電力ではaは合うが、ON/OFF Level 2では中間bを表せない。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モデル精度の主数字。統計量の違いを明示する。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ΔT一次関係はJANUSにある。差分はバス相対LOS、階層DC、粗捕捉性能への接続。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モデル結果からAdaptiveの対象を再整理する。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04: PAT evaluation and orbit error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非熱誤差は補正対象外で残る。熱モデル能力とシステム性能を分けて読む。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平均捕捉時間は成功試行のみの条件付き平均。成功率を併記する。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軌道のみ実データ根拠が強く、他は代表値の簡易モデル。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予測時刻より未来のTLEを使わない。現状は代表外乱としてcyclicに載せる。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以前の任意ECEF-Z基底からSTT/bodyへ接続。MX proxyに注意。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熱も軌道も軌道位相依存。低周波残差を熱として取り込む説明は修正する。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Staticが良いのはDC支配ケースが多いから。平均時間は成功試行条件付き。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21ケース単純平均。MY/PYで大幅改善、PX/MXは軌道誤差支配。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全平均だけでなくケース依存性を見せる。MXをどう扱うか議論したい。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05: Discussion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ここから議論。周波数分離ではなく事前情報を使う状態推定が必要。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本編まとめ。ここで議論へ移る。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A: Appendix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見かけのRMSE改善より、共線で係数解釈が壊れることを問題視した。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関連研究の位置づけ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全解析ケースの設計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熱光学特性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LOS定義の比較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Level-2係数と解釈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モデルの難しいケース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軌道予測誤差の仮定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STT-frame射影結果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PATスキャンの注意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Adaptive候補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主要参考文献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77201" y="7340600"/>
            <a:ext cx="12431685" cy="2125436"/>
          </a:xfrm>
        </p:spPr>
        <p:txBody>
          <a:bodyPr anchor="b"/>
          <a:lstStyle>
            <a:lvl1pPr algn="l">
              <a:defRPr sz="4800" spc="3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77201" y="9794966"/>
            <a:ext cx="12431684" cy="2351314"/>
          </a:xfrm>
        </p:spPr>
        <p:txBody>
          <a:bodyPr/>
          <a:lstStyle>
            <a:lvl1pPr marL="0" indent="0" algn="l">
              <a:lnSpc>
                <a:spcPct val="50000"/>
              </a:lnSpc>
              <a:buNone/>
              <a:defRPr sz="3600" b="0">
                <a:solidFill>
                  <a:schemeClr val="tx2"/>
                </a:solidFill>
              </a:defRPr>
            </a:lvl1pPr>
            <a:lvl2pPr marL="914354" indent="0" algn="ctr">
              <a:buNone/>
              <a:defRPr sz="4000"/>
            </a:lvl2pPr>
            <a:lvl3pPr marL="1828709" indent="0" algn="ctr">
              <a:buNone/>
              <a:defRPr sz="3600"/>
            </a:lvl3pPr>
            <a:lvl4pPr marL="2743063" indent="0" algn="ctr">
              <a:buNone/>
              <a:defRPr sz="3200"/>
            </a:lvl4pPr>
            <a:lvl5pPr marL="3657417" indent="0" algn="ctr">
              <a:buNone/>
              <a:defRPr sz="3200"/>
            </a:lvl5pPr>
            <a:lvl6pPr marL="4571771" indent="0" algn="ctr">
              <a:buNone/>
              <a:defRPr sz="3200"/>
            </a:lvl6pPr>
            <a:lvl7pPr marL="5486126" indent="0" algn="ctr">
              <a:buNone/>
              <a:defRPr sz="3200"/>
            </a:lvl7pPr>
            <a:lvl8pPr marL="6400480" indent="0" algn="ctr">
              <a:buNone/>
              <a:defRPr sz="3200"/>
            </a:lvl8pPr>
            <a:lvl9pPr marL="7314834" indent="0" algn="ctr">
              <a:buNone/>
              <a:defRPr sz="3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E69BD-F0A9-D945-85B5-A92D8C4A6243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ADAD6F10-9E3C-081C-FAC9-2F96D835D9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483539" y="6261101"/>
            <a:ext cx="5625347" cy="698499"/>
          </a:xfrm>
        </p:spPr>
        <p:txBody>
          <a:bodyPr/>
          <a:lstStyle>
            <a:lvl1pPr algn="r">
              <a:buNone/>
              <a:defRPr sz="4000" b="0">
                <a:solidFill>
                  <a:schemeClr val="tx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0" name="テキスト プレースホルダー 8">
            <a:extLst>
              <a:ext uri="{FF2B5EF4-FFF2-40B4-BE49-F238E27FC236}">
                <a16:creationId xmlns:a16="http://schemas.microsoft.com/office/drawing/2014/main" id="{3A47DA29-0B22-B527-E246-85A23FDB43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677201" y="6261101"/>
            <a:ext cx="5625347" cy="698499"/>
          </a:xfrm>
        </p:spPr>
        <p:txBody>
          <a:bodyPr/>
          <a:lstStyle>
            <a:lvl1pPr algn="l">
              <a:buNone/>
              <a:defRPr sz="4000" b="0">
                <a:solidFill>
                  <a:schemeClr val="tx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テキスト プレースホルダー 8">
            <a:extLst>
              <a:ext uri="{FF2B5EF4-FFF2-40B4-BE49-F238E27FC236}">
                <a16:creationId xmlns:a16="http://schemas.microsoft.com/office/drawing/2014/main" id="{3ABD93C0-C51C-2948-0F33-2EF4B6841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6483538" y="5413377"/>
            <a:ext cx="5625347" cy="698499"/>
          </a:xfrm>
        </p:spPr>
        <p:txBody>
          <a:bodyPr/>
          <a:lstStyle>
            <a:lvl1pPr algn="r">
              <a:buNone/>
              <a:defRPr sz="4000" b="0">
                <a:solidFill>
                  <a:schemeClr val="tx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99124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08300" y="4192765"/>
            <a:ext cx="4965808" cy="1795335"/>
          </a:xfrm>
        </p:spPr>
        <p:txBody>
          <a:bodyPr anchor="b"/>
          <a:lstStyle>
            <a:lvl1pPr algn="ctr">
              <a:defRPr sz="5600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89" y="7727900"/>
            <a:ext cx="21029831" cy="3000374"/>
          </a:xfrm>
        </p:spPr>
        <p:txBody>
          <a:bodyPr/>
          <a:lstStyle>
            <a:lvl1pPr marL="0" indent="0" algn="ctr">
              <a:buNone/>
              <a:defRPr sz="5600" spc="300">
                <a:solidFill>
                  <a:schemeClr val="bg1"/>
                </a:solidFill>
              </a:defRPr>
            </a:lvl1pPr>
            <a:lvl2pPr marL="914354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709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063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417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1771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126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48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4834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E95FB-2235-2F42-91D0-8B9F16BE7B80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872E8AAC-513B-BB73-EF3E-6F21C4AF6A77}"/>
              </a:ext>
            </a:extLst>
          </p:cNvPr>
          <p:cNvCxnSpPr>
            <a:cxnSpLocks/>
          </p:cNvCxnSpPr>
          <p:nvPr userDrawn="1"/>
        </p:nvCxnSpPr>
        <p:spPr>
          <a:xfrm>
            <a:off x="11254952" y="6858000"/>
            <a:ext cx="1872509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003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378" y="3104147"/>
            <a:ext cx="23020980" cy="924977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ED544-ACEE-1142-A4DF-052F81DCAF13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1B145F9-61C6-1870-CE50-37506B7E4EF4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7968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A8DA76-1C10-5547-91CE-253BD16E32D7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3182735"/>
            <a:ext cx="11364543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AF5EC9B8-55A0-1456-F399-6D313F6D26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71815" y="3182735"/>
            <a:ext cx="11364543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D7CF2C5-496E-3F41-87A5-8BF20107D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D55661E-ACB1-18CB-79CA-CE03DAB48599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148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3E895-CCE5-A241-A85F-670DB4C916C8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4092833"/>
            <a:ext cx="11364543" cy="8377768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AF5EC9B8-55A0-1456-F399-6D313F6D26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71815" y="4092833"/>
            <a:ext cx="11364543" cy="8377768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685F9C02-29EC-4168-A599-AFD3B71ED2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4114" y="3213462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2" name="テキスト プレースホルダー 10">
            <a:extLst>
              <a:ext uri="{FF2B5EF4-FFF2-40B4-BE49-F238E27FC236}">
                <a16:creationId xmlns:a16="http://schemas.microsoft.com/office/drawing/2014/main" id="{6165EC21-36B4-4CED-0569-C34ACFFC9B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429459" y="3213462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D06260A-761F-95EE-B2CA-F7236CCF8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685353A-F7C6-F829-267C-FA087B7BBA8F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6196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4C7F2-45E9-0742-99C2-D62F245DFEC9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81" y="3198393"/>
            <a:ext cx="7448868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C0F6B-7CC3-BA66-8706-C8D1A03DEF88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466772" y="3198393"/>
            <a:ext cx="7448868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8965DEA-F2AC-C400-E7ED-BAFF867547B1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16387489" y="3198393"/>
            <a:ext cx="7448868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D0E9647-9028-AEF2-D4FC-0AC5B2CFA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3A54D1E-D7CD-DFE1-2E29-70A06AFEC982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1782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9897-8C2A-CB44-93BE-9BFBC7559B74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81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テキスト プレースホルダー 10">
            <a:extLst>
              <a:ext uri="{FF2B5EF4-FFF2-40B4-BE49-F238E27FC236}">
                <a16:creationId xmlns:a16="http://schemas.microsoft.com/office/drawing/2014/main" id="{2D417ACA-1B7B-F655-60FA-EDD80F82E67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114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98EEB2B-456E-ACC0-29AE-C347BAE7F46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449492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テキスト プレースホルダー 10">
            <a:extLst>
              <a:ext uri="{FF2B5EF4-FFF2-40B4-BE49-F238E27FC236}">
                <a16:creationId xmlns:a16="http://schemas.microsoft.com/office/drawing/2014/main" id="{6F409C7A-D2E8-2D36-6086-331B6DCB40D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404925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06D87F6-15FE-35D7-1017-BB745C23F61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16350303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7" name="テキスト プレースホルダー 10">
            <a:extLst>
              <a:ext uri="{FF2B5EF4-FFF2-40B4-BE49-F238E27FC236}">
                <a16:creationId xmlns:a16="http://schemas.microsoft.com/office/drawing/2014/main" id="{3B277172-6A10-80CC-49F6-E3A8C945839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6305736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194081A-47C8-EFEA-0CF4-1F31377C0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4DF2C9F-ACE0-585B-AAD3-3DD14251BADD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5884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09540-48D4-DC4E-A020-784E13A6C686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3283060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DAFEE08-A81F-707C-4BA0-7BC8776B90F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2474291" y="3283060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329A85-E9A3-6153-8937-4627CC5A7E6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546055" y="8184309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569A398-229E-518C-A2F8-E87AC7FEABC2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12474291" y="8184309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F385C3C-D291-ECD3-9330-C9FEFA38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AA52CC1-C979-7DAC-F8FF-07CEF0898376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493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09540-48D4-DC4E-A020-784E13A6C686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4063353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2" name="テキスト プレースホルダー 10">
            <a:extLst>
              <a:ext uri="{FF2B5EF4-FFF2-40B4-BE49-F238E27FC236}">
                <a16:creationId xmlns:a16="http://schemas.microsoft.com/office/drawing/2014/main" id="{C9B2C448-12D1-42AE-F7D0-C8AED70F60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114" y="3176140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DAFEE08-A81F-707C-4BA0-7BC8776B90F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2474291" y="4063353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4" name="テキスト プレースホルダー 10">
            <a:extLst>
              <a:ext uri="{FF2B5EF4-FFF2-40B4-BE49-F238E27FC236}">
                <a16:creationId xmlns:a16="http://schemas.microsoft.com/office/drawing/2014/main" id="{C1871C9F-CBB5-6510-4C84-37F671317ED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432350" y="3176140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329A85-E9A3-6153-8937-4627CC5A7E6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546055" y="8964602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6" name="テキスト プレースホルダー 10">
            <a:extLst>
              <a:ext uri="{FF2B5EF4-FFF2-40B4-BE49-F238E27FC236}">
                <a16:creationId xmlns:a16="http://schemas.microsoft.com/office/drawing/2014/main" id="{E5E7CD5A-D74B-3BF3-1D34-C6BC3F85556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04114" y="8077389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569A398-229E-518C-A2F8-E87AC7FEABC2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12474291" y="8964602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8" name="テキスト プレースホルダー 10">
            <a:extLst>
              <a:ext uri="{FF2B5EF4-FFF2-40B4-BE49-F238E27FC236}">
                <a16:creationId xmlns:a16="http://schemas.microsoft.com/office/drawing/2014/main" id="{2F9C9DEC-0751-3E49-640C-C623BA98351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2432350" y="8077389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428B87E-4E5C-BD4A-B7B9-5CD017C23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7564866-3642-1515-F78F-EBC63CFFFD78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096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セクション見出し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5357813"/>
            <a:ext cx="21029831" cy="3000374"/>
          </a:xfrm>
        </p:spPr>
        <p:txBody>
          <a:bodyPr anchor="ctr"/>
          <a:lstStyle>
            <a:lvl1pPr marL="0" indent="0" algn="ctr">
              <a:buNone/>
              <a:defRPr sz="5600" spc="300">
                <a:solidFill>
                  <a:schemeClr val="bg1"/>
                </a:solidFill>
              </a:defRPr>
            </a:lvl1pPr>
            <a:lvl2pPr marL="914354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709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063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417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1771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126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48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4834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96E1F-697B-864D-A8BC-B9F203AEA5AC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1924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052" y="1391479"/>
            <a:ext cx="23290306" cy="1096244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846FE-1092-FD42-9AC0-B69E5809E0EF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084573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1A28FF6-6ABD-05E0-14A5-3CA8FD766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230E5-DC19-8048-9011-93E4E558FEAD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FB69A14-0AF9-A649-3ABB-D4052E786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06DBC31-6D39-6C3E-5F31-00E86E0A2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pPr/>
              <a:t>‹#›</a:t>
            </a:fld>
            <a:endParaRPr kumimoji="1" lang="ja-JP" altLang="en-US" sz="3600"/>
          </a:p>
        </p:txBody>
      </p:sp>
    </p:spTree>
    <p:extLst>
      <p:ext uri="{BB962C8B-B14F-4D97-AF65-F5344CB8AC3E}">
        <p14:creationId xmlns:p14="http://schemas.microsoft.com/office/powerpoint/2010/main" val="2870487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 dirty="0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 dirty="0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 dirty="0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 dirty="0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5492" y="12744452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6230E5-DC19-8048-9011-93E4E558FEAD}" type="datetime1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6675" y="12712701"/>
            <a:ext cx="822906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85408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7BFEE9-6A35-CF42-A39A-CD481C3507E3}" type="slidenum">
              <a:rPr kumimoji="1" lang="ja-JP" altLang="en-US" smtClean="0"/>
              <a:pPr/>
              <a:t>‹#›</a:t>
            </a:fld>
            <a:endParaRPr kumimoji="1" lang="ja-JP" altLang="en-US" sz="3600"/>
          </a:p>
        </p:txBody>
      </p:sp>
    </p:spTree>
    <p:extLst>
      <p:ext uri="{BB962C8B-B14F-4D97-AF65-F5344CB8AC3E}">
        <p14:creationId xmlns:p14="http://schemas.microsoft.com/office/powerpoint/2010/main" val="616459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4" r:id="rId3"/>
    <p:sldLayoutId id="2147483679" r:id="rId4"/>
    <p:sldLayoutId id="2147483683" r:id="rId5"/>
    <p:sldLayoutId id="2147483684" r:id="rId6"/>
    <p:sldLayoutId id="2147483680" r:id="rId7"/>
    <p:sldLayoutId id="2147483681" r:id="rId8"/>
    <p:sldLayoutId id="2147483686" r:id="rId9"/>
    <p:sldLayoutId id="2147483685" r:id="rId10"/>
    <p:sldLayoutId id="2147483682" r:id="rId11"/>
    <p:sldLayoutId id="2147483687" r:id="rId12"/>
  </p:sldLayoutIdLst>
  <p:hf hdr="0" ftr="0" dt="0"/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6400" b="1" kern="1200" spc="3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4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9.png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EF8D53-DFAD-2781-7D58-CDDA68ED3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sz="3200" b="1" dirty="0">
                <a:solidFill>
                  <a:srgbClr val="082B52"/>
                </a:solidFill>
                <a:latin typeface="Yu Gothic"/>
              </a:rPr>
              <a:t>Feedforward and Adaptive Correction of</a:t>
            </a:r>
          </a:p>
          <a:p>
            <a:r>
              <a:rPr sz="3200" b="1" dirty="0">
                <a:solidFill>
                  <a:srgbClr val="082B52"/>
                </a:solidFill>
                <a:latin typeface="Yu Gothic"/>
              </a:rPr>
              <a:t>Time-Varying Thermal Bias for Coarse Acquisition</a:t>
            </a:r>
          </a:p>
          <a:p>
            <a:r>
              <a:rPr sz="3200" b="1" dirty="0">
                <a:solidFill>
                  <a:srgbClr val="082B52"/>
                </a:solidFill>
                <a:latin typeface="Yu Gothic"/>
              </a:rPr>
              <a:t>in Optical Communication Systems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1102AA9-45EB-C4FA-A1D0-A77A903D26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74352" y="11955999"/>
            <a:ext cx="8562463" cy="730249"/>
          </a:xfrm>
        </p:spPr>
        <p:txBody>
          <a:bodyPr>
            <a:normAutofit/>
          </a:bodyPr>
          <a:lstStyle/>
          <a:p>
            <a:r>
              <a:rPr sz="2800" b="1" dirty="0">
                <a:solidFill>
                  <a:srgbClr val="232B34"/>
                </a:solidFill>
                <a:latin typeface="Yu Gothic"/>
              </a:rPr>
              <a:t>Hideki Takamoto (The University of Tokyo)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9D366E8-10A6-FE33-D7F0-BCE65C677E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483539" y="7705724"/>
            <a:ext cx="5625347" cy="698499"/>
          </a:xfrm>
        </p:spPr>
        <p:txBody>
          <a:bodyPr/>
          <a:lstStyle/>
          <a:p>
            <a:r>
              <a:rPr sz="2200" b="0">
                <a:solidFill>
                  <a:srgbClr val="666F79"/>
                </a:solidFill>
                <a:latin typeface="Yu Gothic"/>
              </a:rPr>
              <a:t>2026/07/21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23D87D9-D745-888C-4D05-FF267342E0C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674352" y="6888226"/>
            <a:ext cx="5625347" cy="698499"/>
          </a:xfrm>
        </p:spPr>
        <p:txBody>
          <a:bodyPr/>
          <a:lstStyle/>
          <a:p>
            <a:endParaRPr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FB66ACC2-84FB-08AA-2D48-20C1AB8643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6483538" y="7042558"/>
            <a:ext cx="5625347" cy="698499"/>
          </a:xfrm>
        </p:spPr>
        <p:txBody>
          <a:bodyPr/>
          <a:lstStyle/>
          <a:p>
            <a:r>
              <a:rPr sz="2200" b="0">
                <a:solidFill>
                  <a:srgbClr val="666F79"/>
                </a:solidFill>
                <a:latin typeface="Yu Gothic"/>
              </a:rPr>
              <a:t>Optical Communication Research Group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D1A49C-D906-D56C-8B01-F4742C0F4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8" name="TextBox 7"/>
          <p:cNvSpPr txBox="1"/>
          <p:nvPr/>
        </p:nvSpPr>
        <p:spPr>
          <a:xfrm>
            <a:off x="9674352" y="10076688"/>
            <a:ext cx="11153823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 dirty="0" err="1">
                <a:solidFill>
                  <a:srgbClr val="1B74AA"/>
                </a:solidFill>
                <a:latin typeface="Yu Gothic"/>
              </a:rPr>
              <a:t>熱ひずみ予測と適応補正による光通信粗捕捉性能向上の検討</a:t>
            </a:r>
            <a:endParaRPr sz="3200" b="1" dirty="0">
              <a:solidFill>
                <a:srgbClr val="1B74AA"/>
              </a:solidFill>
              <a:latin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4103417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635D3E-6BA3-A5CE-2210-317DCBD6F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0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4F4820-6A4B-21DF-1929-82AC7C54B2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Yu Gothic"/>
              </a:rPr>
              <a:t>Overview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15B39E-8BAD-5C9C-E46E-51EE9D9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5895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F44572-0BF9-86FC-9CEA-DB05D75E6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本日の目標：熱ひずみ予測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モデルをレビューしてもらう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A03A934-1390-EADF-E03B-F076611056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000" b="0">
                <a:solidFill>
                  <a:srgbClr val="666F79"/>
                </a:solidFill>
                <a:latin typeface="Yu Gothic"/>
              </a:rPr>
              <a:t>Overview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C65DDDE-896C-98BD-4236-523603EB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sz="1800" b="0">
                <a:solidFill>
                  <a:srgbClr val="666F79"/>
                </a:solidFill>
                <a:latin typeface="Yu Gothic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920490"/>
            <a:ext cx="1097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100" b="1" dirty="0">
                <a:solidFill>
                  <a:srgbClr val="1B74AA"/>
                </a:solidFill>
                <a:latin typeface="Yu Gothic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351020"/>
            <a:ext cx="6720840" cy="3977639"/>
          </a:xfrm>
          <a:prstGeom prst="rect">
            <a:avLst/>
          </a:prstGeom>
          <a:solidFill>
            <a:srgbClr val="FFFFFF"/>
          </a:solidFill>
          <a:ln w="2540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3000" y="4351020"/>
            <a:ext cx="6720840" cy="621792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29308" y="5265420"/>
            <a:ext cx="4748223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階層型 熱ひずみ予測モデル</a:t>
            </a:r>
            <a:endParaRPr sz="29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26906" y="6271260"/>
            <a:ext cx="4753031" cy="130189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衛星の構造や配置で変わる層</a:t>
            </a:r>
            <a:endParaRPr lang="en-US" altLang="ja-JP" sz="2700" dirty="0">
              <a:solidFill>
                <a:srgbClr val="232B34"/>
              </a:solidFill>
              <a:latin typeface="Yu Gothic"/>
            </a:endParaRPr>
          </a:p>
          <a:p>
            <a:pPr algn="ctr"/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軌道・熱環境で変わる層</a:t>
            </a:r>
            <a:endParaRPr lang="en-US" altLang="ja-JP" sz="2700" dirty="0">
              <a:solidFill>
                <a:srgbClr val="232B34"/>
              </a:solidFill>
              <a:latin typeface="Yu Gothic"/>
            </a:endParaRPr>
          </a:p>
          <a:p>
            <a:pPr algn="ctr"/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の</a:t>
            </a:r>
            <a:r>
              <a:rPr lang="en-US" altLang="ja-JP" sz="2700" dirty="0">
                <a:solidFill>
                  <a:srgbClr val="232B34"/>
                </a:solidFill>
                <a:latin typeface="Yu Gothic"/>
              </a:rPr>
              <a:t>2</a:t>
            </a:r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層に分けて</a:t>
            </a:r>
            <a:r>
              <a:rPr lang="en-US" altLang="ja-JP" sz="2700" dirty="0">
                <a:solidFill>
                  <a:srgbClr val="232B34"/>
                </a:solidFill>
                <a:latin typeface="Yu Gothic"/>
              </a:rPr>
              <a:t>LOS</a:t>
            </a:r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誤差を予測</a:t>
            </a:r>
            <a:endParaRPr lang="en-US" altLang="ja-JP" sz="27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0" y="3920490"/>
            <a:ext cx="1097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100" b="1">
                <a:solidFill>
                  <a:srgbClr val="239571"/>
                </a:solidFill>
                <a:latin typeface="Yu Gothic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4351020"/>
            <a:ext cx="6720840" cy="3977639"/>
          </a:xfrm>
          <a:prstGeom prst="rect">
            <a:avLst/>
          </a:prstGeom>
          <a:solidFill>
            <a:srgbClr val="FFFFFF"/>
          </a:solidFill>
          <a:ln w="2540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686800" y="4351020"/>
            <a:ext cx="6720840" cy="621792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07009" y="5265420"/>
            <a:ext cx="5280420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非熱誤差も含めた捕捉性能評価</a:t>
            </a:r>
            <a:endParaRPr sz="29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625292" y="6271260"/>
            <a:ext cx="2843855" cy="130189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700" b="0" dirty="0">
                <a:solidFill>
                  <a:srgbClr val="232B34"/>
                </a:solidFill>
                <a:latin typeface="Yu Gothic"/>
              </a:rPr>
              <a:t>軌道予測誤差等、</a:t>
            </a:r>
            <a:endParaRPr lang="en-US" altLang="ja-JP" sz="2700" b="0" dirty="0">
              <a:solidFill>
                <a:srgbClr val="232B34"/>
              </a:solidFill>
              <a:latin typeface="Yu Gothic"/>
            </a:endParaRPr>
          </a:p>
          <a:p>
            <a:pPr algn="ctr"/>
            <a:r>
              <a:rPr sz="2700" b="0" dirty="0" err="1">
                <a:solidFill>
                  <a:srgbClr val="232B34"/>
                </a:solidFill>
                <a:latin typeface="Yu Gothic"/>
              </a:rPr>
              <a:t>非熱誤差込みの</a:t>
            </a:r>
            <a:r>
              <a:rPr sz="2700" b="0" dirty="0">
                <a:solidFill>
                  <a:srgbClr val="232B34"/>
                </a:solidFill>
                <a:latin typeface="Yu Gothic"/>
              </a:rPr>
              <a:t>
</a:t>
            </a:r>
            <a:r>
              <a:rPr sz="2700" b="0" dirty="0" err="1">
                <a:solidFill>
                  <a:srgbClr val="232B34"/>
                </a:solidFill>
                <a:latin typeface="Yu Gothic"/>
              </a:rPr>
              <a:t>捕捉性能</a:t>
            </a:r>
            <a:r>
              <a:rPr lang="ja-JP" altLang="en-US" sz="2700" b="0" dirty="0">
                <a:solidFill>
                  <a:srgbClr val="232B34"/>
                </a:solidFill>
                <a:latin typeface="Yu Gothic"/>
              </a:rPr>
              <a:t>の評価</a:t>
            </a:r>
            <a:endParaRPr sz="2700" b="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230600" y="3920490"/>
            <a:ext cx="1097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100" b="1">
                <a:solidFill>
                  <a:srgbClr val="EC9427"/>
                </a:solidFill>
                <a:latin typeface="Yu Gothic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230600" y="4351020"/>
            <a:ext cx="6720840" cy="3977639"/>
          </a:xfrm>
          <a:prstGeom prst="rect">
            <a:avLst/>
          </a:prstGeom>
          <a:solidFill>
            <a:srgbClr val="FFFFFF"/>
          </a:solidFill>
          <a:ln w="2540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6230600" y="4351020"/>
            <a:ext cx="6720840" cy="621792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508658" y="5265420"/>
            <a:ext cx="4164730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モデルの事後的適応補正</a:t>
            </a:r>
            <a:endParaRPr sz="29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7005408" y="6271260"/>
            <a:ext cx="5171224" cy="88639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ja-JP" sz="2700" dirty="0"/>
              <a:t>軌道上で</a:t>
            </a:r>
            <a:r>
              <a:rPr lang="ja-JP" altLang="en-US" sz="2700" dirty="0"/>
              <a:t>熱ひずみ予測モデルの</a:t>
            </a:r>
            <a:endParaRPr lang="en-US" altLang="ja-JP" sz="2700" dirty="0"/>
          </a:p>
          <a:p>
            <a:pPr algn="ctr"/>
            <a:r>
              <a:rPr lang="ja-JP" altLang="en-US" sz="2700" dirty="0"/>
              <a:t>パラメータを</a:t>
            </a:r>
            <a:r>
              <a:rPr lang="en-US" altLang="ja-JP" sz="2700" dirty="0"/>
              <a:t>adaptive</a:t>
            </a:r>
            <a:r>
              <a:rPr lang="ja-JP" altLang="en-US" sz="2700" dirty="0"/>
              <a:t>に更新する</a:t>
            </a:r>
            <a:endParaRPr lang="en-US" altLang="ja-JP" sz="2700" dirty="0"/>
          </a:p>
        </p:txBody>
      </p:sp>
      <p:sp>
        <p:nvSpPr>
          <p:cNvPr id="21" name="TextBox 20"/>
          <p:cNvSpPr txBox="1"/>
          <p:nvPr/>
        </p:nvSpPr>
        <p:spPr>
          <a:xfrm>
            <a:off x="1143000" y="9921240"/>
            <a:ext cx="548640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500" b="1" dirty="0" err="1">
                <a:solidFill>
                  <a:srgbClr val="082B52"/>
                </a:solidFill>
                <a:latin typeface="Yu Gothic"/>
              </a:rPr>
              <a:t>今日特に議論したいこと</a:t>
            </a:r>
            <a:endParaRPr sz="25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43000" y="10561320"/>
            <a:ext cx="21762720" cy="1959511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lang="en-US" altLang="ja-JP" sz="3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600" dirty="0">
                <a:solidFill>
                  <a:srgbClr val="232B34"/>
                </a:solidFill>
                <a:latin typeface="Yu Gothic"/>
              </a:rPr>
              <a:t>現在の解析で用いている、捕捉スキャンモデル・誤差条件の妥当性</a:t>
            </a:r>
            <a:endParaRPr sz="3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3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3600" dirty="0" err="1">
                <a:solidFill>
                  <a:srgbClr val="232B34"/>
                </a:solidFill>
                <a:latin typeface="Yu Gothic"/>
              </a:rPr>
              <a:t>熱と軌道誤差が同帯域にある場合の</a:t>
            </a:r>
            <a:r>
              <a:rPr lang="ja-JP" altLang="en-US" sz="3600" dirty="0">
                <a:solidFill>
                  <a:srgbClr val="232B34"/>
                </a:solidFill>
                <a:latin typeface="Yu Gothic"/>
              </a:rPr>
              <a:t>分離可能性</a:t>
            </a:r>
            <a:endParaRPr lang="en-US" altLang="ja-JP" sz="3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3600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600" dirty="0">
                <a:solidFill>
                  <a:srgbClr val="232B34"/>
                </a:solidFill>
                <a:latin typeface="Yu Gothic"/>
              </a:rPr>
              <a:t>どのパラメータを軌道上で更新するか</a:t>
            </a:r>
          </a:p>
        </p:txBody>
      </p:sp>
      <p:sp>
        <p:nvSpPr>
          <p:cNvPr id="23" name="TextBox 20">
            <a:extLst>
              <a:ext uri="{FF2B5EF4-FFF2-40B4-BE49-F238E27FC236}">
                <a16:creationId xmlns:a16="http://schemas.microsoft.com/office/drawing/2014/main" id="{76313DB0-74A4-FFBF-75DA-353AE459DCB1}"/>
              </a:ext>
            </a:extLst>
          </p:cNvPr>
          <p:cNvSpPr txBox="1"/>
          <p:nvPr/>
        </p:nvSpPr>
        <p:spPr>
          <a:xfrm>
            <a:off x="1143000" y="3313988"/>
            <a:ext cx="1676869" cy="44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lang="ja-JP" altLang="en-US" sz="2500" b="1" dirty="0">
                <a:solidFill>
                  <a:srgbClr val="082B52"/>
                </a:solidFill>
                <a:latin typeface="Yu Gothic"/>
              </a:rPr>
              <a:t>研究の内容</a:t>
            </a:r>
            <a:endParaRPr sz="2500" b="1" dirty="0">
              <a:solidFill>
                <a:srgbClr val="082B52"/>
              </a:solidFill>
              <a:latin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827016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12755A-CE30-29D5-66D8-858C1044B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やりたいこと：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熱ひずみ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による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粗捕捉開始時の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 scan-center error </a:t>
            </a:r>
            <a:r>
              <a:rPr lang="ja-JP" altLang="en-US" sz="3200" dirty="0">
                <a:solidFill>
                  <a:srgbClr val="082B52"/>
                </a:solidFill>
                <a:latin typeface="Yu Gothic"/>
              </a:rPr>
              <a:t>を運用側で改善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335B153-B47B-237D-12A8-7E5DB7762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sz="1800" b="0">
                <a:solidFill>
                  <a:srgbClr val="666F79"/>
                </a:solidFill>
                <a:latin typeface="Yu Gothic"/>
              </a:rPr>
              <a:t>4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906C556-D817-34D8-3FEC-80F456E48C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000" b="0">
                <a:solidFill>
                  <a:srgbClr val="666F79"/>
                </a:solidFill>
                <a:latin typeface="Yu Gothic"/>
              </a:rPr>
              <a:t>Background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383280"/>
            <a:ext cx="6492240" cy="3200398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3886200"/>
            <a:ext cx="594360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1B74AA"/>
                </a:solidFill>
                <a:latin typeface="Yu Gothic"/>
              </a:rPr>
              <a:t>光フィードバック前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5074920"/>
            <a:ext cx="5760720" cy="1508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0">
                <a:solidFill>
                  <a:srgbClr val="232B34"/>
                </a:solidFill>
                <a:latin typeface="Yu Gothic"/>
              </a:rPr>
              <a:t>姿勢・軌道・熱LOSを含む
不確定領域を探索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18119" y="5852160"/>
            <a:ext cx="640081" cy="0"/>
          </a:xfrm>
          <a:prstGeom prst="line">
            <a:avLst/>
          </a:prstGeom>
          <a:ln w="381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732519" y="3383280"/>
            <a:ext cx="6492240" cy="3200398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006840" y="3886200"/>
            <a:ext cx="594360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EC9427"/>
                </a:solidFill>
                <a:latin typeface="Yu Gothic"/>
              </a:rPr>
              <a:t>日照・蝕／機器発熱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97444" y="4638382"/>
            <a:ext cx="3408112" cy="85561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0" dirty="0" err="1">
                <a:solidFill>
                  <a:srgbClr val="232B34"/>
                </a:solidFill>
                <a:latin typeface="Yu Gothic"/>
              </a:rPr>
              <a:t>温度場</a:t>
            </a:r>
            <a:r>
              <a:rPr sz="2600" b="0" dirty="0">
                <a:solidFill>
                  <a:srgbClr val="232B34"/>
                </a:solidFill>
                <a:latin typeface="Yu Gothic"/>
              </a:rPr>
              <a:t> → </a:t>
            </a:r>
            <a:r>
              <a:rPr sz="2600" b="0" dirty="0" err="1">
                <a:solidFill>
                  <a:srgbClr val="232B34"/>
                </a:solidFill>
                <a:latin typeface="Yu Gothic"/>
              </a:rPr>
              <a:t>差動膨張</a:t>
            </a:r>
            <a:r>
              <a:rPr sz="2600" b="0" dirty="0">
                <a:solidFill>
                  <a:srgbClr val="232B34"/>
                </a:solidFill>
                <a:latin typeface="Yu Gothic"/>
              </a:rPr>
              <a:t> →
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衛星筐体のねじれ</a:t>
            </a:r>
            <a:endParaRPr sz="2600" b="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899794" y="5766266"/>
            <a:ext cx="4196790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 dirty="0">
                <a:solidFill>
                  <a:srgbClr val="D03B46"/>
                </a:solidFill>
                <a:latin typeface="Yu Gothic"/>
              </a:rPr>
              <a:t>10²–10³ µrad</a:t>
            </a:r>
            <a:r>
              <a:rPr lang="ja-JP" altLang="en-US" sz="2900" b="1" dirty="0">
                <a:solidFill>
                  <a:srgbClr val="D03B46"/>
                </a:solidFill>
                <a:latin typeface="Yu Gothic"/>
              </a:rPr>
              <a:t>の</a:t>
            </a:r>
            <a:r>
              <a:rPr lang="en-US" altLang="ja-JP" sz="2900" b="1" dirty="0">
                <a:solidFill>
                  <a:srgbClr val="D03B46"/>
                </a:solidFill>
                <a:latin typeface="Yu Gothic"/>
              </a:rPr>
              <a:t>LOS</a:t>
            </a:r>
            <a:r>
              <a:rPr lang="ja-JP" altLang="en-US" sz="2900" b="1" dirty="0">
                <a:solidFill>
                  <a:srgbClr val="D03B46"/>
                </a:solidFill>
                <a:latin typeface="Yu Gothic"/>
              </a:rPr>
              <a:t>誤差</a:t>
            </a:r>
            <a:endParaRPr sz="2900" b="1" dirty="0">
              <a:solidFill>
                <a:srgbClr val="D03B46"/>
              </a:solidFill>
              <a:latin typeface="Yu Gothic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15453359" y="5852160"/>
            <a:ext cx="640081" cy="0"/>
          </a:xfrm>
          <a:prstGeom prst="line">
            <a:avLst/>
          </a:prstGeom>
          <a:ln w="381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6367759" y="3383280"/>
            <a:ext cx="6492240" cy="3200395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763150" y="3886200"/>
            <a:ext cx="3701463" cy="47089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 dirty="0" err="1">
                <a:solidFill>
                  <a:srgbClr val="239571"/>
                </a:solidFill>
                <a:latin typeface="Yu Gothic"/>
              </a:rPr>
              <a:t>予測</a:t>
            </a:r>
            <a:r>
              <a:rPr lang="en-US" sz="2700" b="1" dirty="0" err="1">
                <a:solidFill>
                  <a:srgbClr val="239571"/>
                </a:solidFill>
                <a:latin typeface="Yu Gothic"/>
              </a:rPr>
              <a:t>FeedForward</a:t>
            </a:r>
            <a:r>
              <a:rPr sz="2700" b="1" dirty="0" err="1">
                <a:solidFill>
                  <a:srgbClr val="239571"/>
                </a:solidFill>
                <a:latin typeface="Yu Gothic"/>
              </a:rPr>
              <a:t>補正</a:t>
            </a:r>
            <a:endParaRPr sz="2700" b="1" dirty="0">
              <a:solidFill>
                <a:srgbClr val="239571"/>
              </a:solidFill>
              <a:latin typeface="Yu Gothi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733519" y="5074920"/>
            <a:ext cx="5760720" cy="1508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0">
                <a:solidFill>
                  <a:srgbClr val="232B34"/>
                </a:solidFill>
                <a:latin typeface="Yu Gothic"/>
              </a:rPr>
              <a:t>熱LOSをscan centerから引き
探索域・捕捉時間を低減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1741" y="12321036"/>
            <a:ext cx="18578933" cy="532453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衛星</a:t>
            </a:r>
            <a:r>
              <a:rPr lang="en-US" altLang="ja-JP" sz="3100" b="1" dirty="0">
                <a:solidFill>
                  <a:srgbClr val="082B52"/>
                </a:solidFill>
                <a:latin typeface="Yu Gothic"/>
              </a:rPr>
              <a:t>/LCT</a:t>
            </a:r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の</a:t>
            </a:r>
            <a:r>
              <a:rPr sz="3100" b="1" dirty="0" err="1">
                <a:solidFill>
                  <a:srgbClr val="082B52"/>
                </a:solidFill>
                <a:latin typeface="Yu Gothic"/>
              </a:rPr>
              <a:t>構造を変更せず</a:t>
            </a:r>
            <a:r>
              <a:rPr sz="3100" b="1" dirty="0">
                <a:solidFill>
                  <a:srgbClr val="082B52"/>
                </a:solidFill>
                <a:latin typeface="Yu Gothic"/>
              </a:rPr>
              <a:t>、</a:t>
            </a:r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粗捕捉開始時の</a:t>
            </a:r>
            <a:r>
              <a:rPr lang="en-US" sz="3100" b="1" dirty="0">
                <a:solidFill>
                  <a:srgbClr val="082B52"/>
                </a:solidFill>
                <a:latin typeface="Yu Gothic"/>
              </a:rPr>
              <a:t>LOS</a:t>
            </a:r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誤差の中で</a:t>
            </a:r>
            <a:r>
              <a:rPr sz="3100" b="1" dirty="0" err="1">
                <a:solidFill>
                  <a:srgbClr val="082B52"/>
                </a:solidFill>
                <a:latin typeface="Yu Gothic"/>
              </a:rPr>
              <a:t>予測可能な熱成分だけを運用側で除去する</a:t>
            </a:r>
            <a:endParaRPr sz="3100" b="1" dirty="0">
              <a:solidFill>
                <a:srgbClr val="082B52"/>
              </a:solidFill>
              <a:latin typeface="Yu Gothic"/>
            </a:endParaRP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191BBC5C-178E-661F-128A-D617E934A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232" y="7065665"/>
            <a:ext cx="5487986" cy="4615305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498CF50A-5A18-B28F-3BD0-637684E7A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50" y="6893807"/>
            <a:ext cx="5985510" cy="5210337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0A9CA252-8827-F5D6-2FFC-9FEB887111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2107" y="7164886"/>
            <a:ext cx="6056967" cy="3389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7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68C4D-195B-8495-7268-573CDB8EC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655CE6-31D2-9766-C410-BC789D604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進捗：</a:t>
            </a:r>
            <a:r>
              <a:rPr lang="en-US" altLang="ja-JP" sz="3200" dirty="0">
                <a:solidFill>
                  <a:srgbClr val="082B52"/>
                </a:solidFill>
                <a:latin typeface="Yu Gothic"/>
              </a:rPr>
              <a:t>2</a:t>
            </a:r>
            <a:r>
              <a:rPr lang="ja-JP" altLang="en-US" sz="3200" dirty="0">
                <a:solidFill>
                  <a:srgbClr val="082B52"/>
                </a:solidFill>
                <a:latin typeface="Yu Gothic"/>
              </a:rPr>
              <a:t>か月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で</a:t>
            </a:r>
            <a:r>
              <a:rPr lang="ja-JP" altLang="ja-JP" sz="3200" dirty="0"/>
              <a:t>熱LOS真値生成・軽量モデル構築・PAT統合評価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まで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進んだ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819AD32-0E73-61BA-5B7C-EFE1060541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000" b="0">
                <a:solidFill>
                  <a:srgbClr val="666F79"/>
                </a:solidFill>
                <a:latin typeface="Yu Gothic"/>
              </a:rPr>
              <a:t>Progress since 7/6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1629B45-DF56-B122-2C34-9A5A5A87D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sz="1800" b="0">
                <a:solidFill>
                  <a:srgbClr val="666F79"/>
                </a:solidFill>
                <a:latin typeface="Yu Gothi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05443" y="3063240"/>
            <a:ext cx="2407839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2800" b="1" dirty="0">
                <a:solidFill>
                  <a:srgbClr val="666F79"/>
                </a:solidFill>
                <a:latin typeface="Yu Gothic"/>
              </a:rPr>
              <a:t>5</a:t>
            </a:r>
            <a:r>
              <a:rPr sz="2800" b="1" dirty="0">
                <a:solidFill>
                  <a:srgbClr val="666F79"/>
                </a:solidFill>
                <a:latin typeface="Yu Gothic"/>
              </a:rPr>
              <a:t>/</a:t>
            </a:r>
            <a:r>
              <a:rPr lang="en-US" sz="2800" b="1" dirty="0">
                <a:solidFill>
                  <a:srgbClr val="666F79"/>
                </a:solidFill>
                <a:latin typeface="Yu Gothic"/>
              </a:rPr>
              <a:t>26</a:t>
            </a:r>
            <a:r>
              <a:rPr lang="ja-JP" altLang="en-US" sz="2800" b="1" dirty="0">
                <a:solidFill>
                  <a:srgbClr val="666F79"/>
                </a:solidFill>
                <a:latin typeface="Yu Gothic"/>
              </a:rPr>
              <a:t> 輪講発表</a:t>
            </a:r>
            <a:endParaRPr sz="2800" b="1" dirty="0">
              <a:solidFill>
                <a:srgbClr val="666F79"/>
              </a:solidFill>
              <a:latin typeface="Yu 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168835" y="3063240"/>
            <a:ext cx="1689693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 dirty="0">
                <a:solidFill>
                  <a:srgbClr val="1B74AA"/>
                </a:solidFill>
                <a:latin typeface="Yu Gothic"/>
              </a:rPr>
              <a:t>7/21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本日</a:t>
            </a:r>
            <a:endParaRPr sz="2800" b="1" dirty="0">
              <a:solidFill>
                <a:srgbClr val="1B74AA"/>
              </a:solidFill>
              <a:latin typeface="Yu Goth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188720" y="3840480"/>
            <a:ext cx="10241280" cy="6217920"/>
          </a:xfrm>
          <a:prstGeom prst="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2893040" y="3840480"/>
            <a:ext cx="10241280" cy="6217920"/>
          </a:xfrm>
          <a:prstGeom prst="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28800" y="4434840"/>
            <a:ext cx="9052560" cy="315983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lang="ja-JP" altLang="en-US" sz="2600" b="1" dirty="0">
                <a:solidFill>
                  <a:srgbClr val="666F79"/>
                </a:solidFill>
                <a:latin typeface="Yu Gothic"/>
              </a:rPr>
              <a:t>研究構想</a:t>
            </a:r>
            <a:r>
              <a:rPr sz="26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en-US" sz="2600" b="1" dirty="0">
                <a:solidFill>
                  <a:srgbClr val="666F79"/>
                </a:solidFill>
                <a:latin typeface="Yu Gothic"/>
              </a:rPr>
              <a:t>評価枠組みの提案</a:t>
            </a:r>
            <a:endParaRPr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ja-JP" sz="2800" dirty="0"/>
              <a:t>熱ひずみを時間変動LOSバイアスとして定式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TD/Femapを高精度参照とする解析フローを提案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軽量補正モデルの候補を整理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FF補正＋Adaptive補正の二層構造を構想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mock熱LOS</a:t>
            </a:r>
            <a:r>
              <a:rPr lang="ja-JP" altLang="en-US" sz="2800" dirty="0"/>
              <a:t>モデル</a:t>
            </a:r>
            <a:r>
              <a:rPr lang="ja-JP" altLang="ja-JP" sz="2800" dirty="0"/>
              <a:t>による予備PAT評価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533120" y="4434840"/>
            <a:ext cx="9052560" cy="369331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lang="ja-JP" altLang="en-US" sz="2600" b="1" dirty="0">
                <a:solidFill>
                  <a:srgbClr val="1B74AA"/>
                </a:solidFill>
                <a:latin typeface="Yu Gothic"/>
              </a:rPr>
              <a:t>実データ生成</a:t>
            </a:r>
            <a:r>
              <a:rPr sz="26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600" b="1" dirty="0">
                <a:solidFill>
                  <a:srgbClr val="1B74AA"/>
                </a:solidFill>
                <a:latin typeface="Yu Gothic"/>
              </a:rPr>
              <a:t>モデル構築・統合評価</a:t>
            </a:r>
            <a:endParaRPr lang="en-US" sz="2600" b="1" dirty="0">
              <a:solidFill>
                <a:srgbClr val="1B74AA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TD/Femapにより21ケースの熱LOS真値を生成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温度差に基づく階層型熱ひずみ予測モデルを構築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ja-JP" sz="2800" dirty="0"/>
              <a:t>太陽面・発熱・被覆・軌道を横断して評価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Sentinel-1実軌道誤差を導入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熱誤差と非熱誤差を統合したPAT性能評価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666F79"/>
                </a:solidFill>
                <a:latin typeface="Yu Gothic"/>
              </a:rPr>
              <a:t> </a:t>
            </a:r>
            <a:r>
              <a:rPr lang="ja-JP" altLang="ja-JP" sz="2800" dirty="0"/>
              <a:t>軌道上更新対象をケースDC成分として再定義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11658600" y="6858000"/>
            <a:ext cx="822960" cy="0"/>
          </a:xfrm>
          <a:prstGeom prst="line">
            <a:avLst/>
          </a:prstGeom>
          <a:ln w="508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68116" y="10744200"/>
            <a:ext cx="16078248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200" b="1" dirty="0" err="1">
                <a:solidFill>
                  <a:srgbClr val="082B52"/>
                </a:solidFill>
                <a:latin typeface="Yu Gothic"/>
              </a:rPr>
              <a:t>現在の問い：同帯域の非熱誤差と共存しても、軽量熱モデルで捕捉性能を改善できるか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30906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66188-687C-CACF-8E62-FDA47B4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810512"/>
            <a:ext cx="11153823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ja-JP" altLang="en-US" sz="3200" b="1" dirty="0"/>
              <a:t>中身：</a:t>
            </a:r>
            <a:r>
              <a:rPr lang="ja-JP" altLang="ja-JP" sz="3200" b="1" dirty="0"/>
              <a:t>熱ひずみ予測モデルの構築から軌道上補正までの流れ</a:t>
            </a:r>
            <a:endParaRPr lang="ja-JP" altLang="ja-JP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63240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Orbit / attitude
heat &amp; coating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13503" y="36804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742688" y="3063240"/>
            <a:ext cx="3444239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15840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Thermal Desktop
temperature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41792" y="36804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70976" y="3063240"/>
            <a:ext cx="3444239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4128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Femap / Nastran
rotation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070080" y="3680460"/>
            <a:ext cx="274319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2399263" y="3063240"/>
            <a:ext cx="3444239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472415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STT–LCT
thermal LOS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898367" y="3680460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6227552" y="3063240"/>
            <a:ext cx="3444239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300703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Lightweight
model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726655" y="3680460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0055840" y="3063240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128992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PAT
scan center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7188743"/>
            <a:ext cx="15700443" cy="3959156"/>
          </a:xfrm>
          <a:prstGeom prst="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12457" y="7600223"/>
            <a:ext cx="3305520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ja-JP" altLang="en-US" sz="2800" b="1" dirty="0"/>
              <a:t>地上でのモデル構築</a:t>
            </a:r>
            <a:endParaRPr sz="27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95337" y="8560343"/>
            <a:ext cx="9052560" cy="212365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6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2800" dirty="0"/>
              <a:t>軌道・姿勢・熱環境を入力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2800" dirty="0"/>
              <a:t>TD/Femapで温度場・熱変形を計算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2800" dirty="0"/>
              <a:t>STT–LCT相対LOSの参照時系列を生成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ja-JP" sz="2800" dirty="0"/>
              <a:t>軽量モデルの学習・評価に使用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6848306" y="7188743"/>
            <a:ext cx="6651773" cy="3959154"/>
          </a:xfrm>
          <a:prstGeom prst="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7151000" y="7600223"/>
            <a:ext cx="6085786" cy="47095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r>
              <a:rPr lang="ja-JP" altLang="en-US" sz="2700" b="1" dirty="0">
                <a:solidFill>
                  <a:srgbClr val="1B74AA"/>
                </a:solidFill>
                <a:latin typeface="Yu Gothic"/>
              </a:rPr>
              <a:t>軌道上でのモデル運用および補正</a:t>
            </a:r>
            <a:endParaRPr sz="2700" b="1" dirty="0">
              <a:solidFill>
                <a:srgbClr val="1B74AA"/>
              </a:solidFill>
              <a:latin typeface="Yu Gothic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7225771" y="8560343"/>
            <a:ext cx="5806441" cy="200054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温度センサ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・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運用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情報を入力</a:t>
            </a:r>
            <a:endParaRPr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軽量モデルで熱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LOSを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予測</a:t>
            </a:r>
            <a:endParaRPr lang="en-US" altLang="ja-JP"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en-US" sz="2600" dirty="0">
                <a:solidFill>
                  <a:srgbClr val="232B34"/>
                </a:solidFill>
                <a:latin typeface="Yu Gothic"/>
              </a:rPr>
              <a:t>Scan center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を補正</a:t>
            </a:r>
            <a:endParaRPr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捕捉後残差でモデル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を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更新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052664" y="11835849"/>
            <a:ext cx="19931675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32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3200" b="1" dirty="0"/>
              <a:t>TD/Femapは地上での教師データ生成・妥当性評価にのみ使用</a:t>
            </a:r>
            <a:r>
              <a:rPr lang="ja-JP" altLang="en-US" sz="3200" b="1" dirty="0"/>
              <a:t>し、軌道上では軽量モデルのみを使用する</a:t>
            </a:r>
            <a:endParaRPr lang="en-US" altLang="ja-JP" sz="3200" b="1" dirty="0"/>
          </a:p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32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3200" b="1" dirty="0"/>
              <a:t>モデル性能は、</a:t>
            </a:r>
            <a:r>
              <a:rPr lang="en-US" altLang="ja-JP" sz="3200" b="1" dirty="0"/>
              <a:t>LOS</a:t>
            </a:r>
            <a:r>
              <a:rPr lang="ja-JP" altLang="en-US" sz="3200" b="1" dirty="0"/>
              <a:t>予測誤差だけでなく、捕捉成功率・捕捉時間でも評価する</a:t>
            </a:r>
            <a:endParaRPr lang="ja-JP" altLang="ja-JP" sz="3200" b="1" dirty="0"/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715A86D-4060-9A30-BCAB-A905AF7390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987" b="12995"/>
          <a:stretch>
            <a:fillRect/>
          </a:stretch>
        </p:blipFill>
        <p:spPr>
          <a:xfrm>
            <a:off x="4668368" y="4428721"/>
            <a:ext cx="3295472" cy="2714577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F956818A-24FB-86DE-EFEF-CDBD09D72D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33"/>
          <a:stretch>
            <a:fillRect/>
          </a:stretch>
        </p:blipFill>
        <p:spPr>
          <a:xfrm rot="5400000">
            <a:off x="8975763" y="4844559"/>
            <a:ext cx="2594268" cy="1769750"/>
          </a:xfrm>
          <a:prstGeom prst="rect">
            <a:avLst/>
          </a:prstGeom>
        </p:spPr>
      </p:pic>
      <p:pic>
        <p:nvPicPr>
          <p:cNvPr id="36" name="図 35">
            <a:extLst>
              <a:ext uri="{FF2B5EF4-FFF2-40B4-BE49-F238E27FC236}">
                <a16:creationId xmlns:a16="http://schemas.microsoft.com/office/drawing/2014/main" id="{B1265DB7-31F5-CC78-C1BC-05964DD7F4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83949" y="4442117"/>
            <a:ext cx="2674866" cy="258508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C89755C7-CE55-00F5-650C-D30D48A9F5CB}"/>
                  </a:ext>
                </a:extLst>
              </p:cNvPr>
              <p:cNvSpPr txBox="1"/>
              <p:nvPr/>
            </p:nvSpPr>
            <p:spPr>
              <a:xfrm>
                <a:off x="16227552" y="5285419"/>
                <a:ext cx="3499103" cy="1097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3200" i="1" smtClean="0">
                          <a:latin typeface="Cambria Math" panose="02040503050406030204" pitchFamily="18" charset="0"/>
                        </a:rPr>
                        <m:t>𝛥</m:t>
                      </m:r>
                      <m:acc>
                        <m:accPr>
                          <m:chr m:val="̂"/>
                          <m:ctrlPr>
                            <a:rPr kumimoji="1" lang="en-US" altLang="ja-JP" sz="3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  <m:t>𝑐𝑎𝑠𝑒</m:t>
                          </m:r>
                        </m:sub>
                      </m:sSub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ja-JP" sz="3200" i="1">
                          <a:latin typeface="Cambria Math" panose="02040503050406030204" pitchFamily="18" charset="0"/>
                        </a:rPr>
                        <m:t>𝛥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kumimoji="1" lang="en-US" altLang="ja-JP" sz="3200" b="0" i="1" dirty="0"/>
              </a:p>
              <a:p>
                <a:endParaRPr kumimoji="1" lang="ja-JP" altLang="en-US" sz="3200" i="1" dirty="0"/>
              </a:p>
            </p:txBody>
          </p:sp>
        </mc:Choice>
        <mc:Fallback xmlns="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C89755C7-CE55-00F5-650C-D30D48A9F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7552" y="5285419"/>
                <a:ext cx="3499103" cy="1097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8A071E9D-0A17-5410-CA66-EB4C2E4AC8F6}"/>
              </a:ext>
            </a:extLst>
          </p:cNvPr>
          <p:cNvSpPr txBox="1"/>
          <p:nvPr/>
        </p:nvSpPr>
        <p:spPr>
          <a:xfrm>
            <a:off x="914400" y="4611231"/>
            <a:ext cx="3444239" cy="2246769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・軌道</a:t>
            </a:r>
            <a:endParaRPr kumimoji="1" lang="en-US" altLang="ja-JP" sz="2800" dirty="0"/>
          </a:p>
          <a:p>
            <a:r>
              <a:rPr kumimoji="1" lang="ja-JP" altLang="en-US" sz="2800" dirty="0"/>
              <a:t>・姿勢</a:t>
            </a:r>
            <a:endParaRPr kumimoji="1" lang="en-US" altLang="ja-JP" sz="2800" dirty="0"/>
          </a:p>
          <a:p>
            <a:r>
              <a:rPr kumimoji="1" lang="ja-JP" altLang="en-US" sz="2800" dirty="0"/>
              <a:t>・コンポ構造配置</a:t>
            </a:r>
            <a:endParaRPr kumimoji="1" lang="en-US" altLang="ja-JP" sz="2800" dirty="0"/>
          </a:p>
          <a:p>
            <a:r>
              <a:rPr kumimoji="1" lang="ja-JP" altLang="en-US" sz="2800" dirty="0"/>
              <a:t>・衛星表面特性</a:t>
            </a:r>
            <a:endParaRPr kumimoji="1" lang="en-US" altLang="ja-JP" sz="2800" dirty="0"/>
          </a:p>
          <a:p>
            <a:r>
              <a:rPr kumimoji="1" lang="ja-JP" altLang="en-US" sz="2800" dirty="0"/>
              <a:t>・内部発熱位置</a:t>
            </a:r>
            <a:r>
              <a:rPr kumimoji="1" lang="en-US" altLang="ja-JP" sz="2800" dirty="0"/>
              <a:t>/</a:t>
            </a:r>
            <a:r>
              <a:rPr kumimoji="1" lang="ja-JP" altLang="en-US" sz="2800" dirty="0"/>
              <a:t>量</a:t>
            </a:r>
            <a:endParaRPr kumimoji="1" lang="en-US" altLang="ja-JP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6F7F0EF8-C4CA-F7FC-D1B9-80BBC6B4DBEE}"/>
                  </a:ext>
                </a:extLst>
              </p:cNvPr>
              <p:cNvSpPr txBox="1"/>
              <p:nvPr/>
            </p:nvSpPr>
            <p:spPr>
              <a:xfrm>
                <a:off x="20097212" y="5262967"/>
                <a:ext cx="3499103" cy="1097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32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kumimoji="1" lang="en-US" altLang="ja-JP" sz="3200" i="1">
                          <a:latin typeface="Cambria Math" panose="02040503050406030204" pitchFamily="18" charset="0"/>
                        </a:rPr>
                        <m:t>𝛥</m:t>
                      </m:r>
                      <m:acc>
                        <m:accPr>
                          <m:chr m:val="̂"/>
                          <m:ctrlP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kumimoji="1" lang="en-US" altLang="ja-JP" sz="3200" b="0" i="1" dirty="0"/>
              </a:p>
              <a:p>
                <a:endParaRPr kumimoji="1" lang="ja-JP" altLang="en-US" sz="3200" i="1" dirty="0"/>
              </a:p>
            </p:txBody>
          </p:sp>
        </mc:Choice>
        <mc:Fallback xmlns=""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6F7F0EF8-C4CA-F7FC-D1B9-80BBC6B4D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7212" y="5262967"/>
                <a:ext cx="3499103" cy="10979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2855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2FDC0-C27B-B493-3C2D-059C292E5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721775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095109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7460504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小型衛星を模した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箱型衛星モデル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を作成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9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678763"/>
              </p:ext>
            </p:extLst>
          </p:nvPr>
        </p:nvGraphicFramePr>
        <p:xfrm>
          <a:off x="17411701" y="3764280"/>
          <a:ext cx="6362700" cy="7193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15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 dirty="0">
                          <a:solidFill>
                            <a:srgbClr val="FFFFFF"/>
                          </a:solidFill>
                          <a:latin typeface="Yu Gothic"/>
                        </a:rPr>
                        <a:t>Setting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Bus size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590 × 600 × 990 mm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Panels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10 mm shell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Material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A5052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LCT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MZ center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STT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PZ center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0705306" y="11654265"/>
            <a:ext cx="5753893" cy="104028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r>
              <a:rPr lang="en-US" sz="3200" b="1" dirty="0">
                <a:solidFill>
                  <a:srgbClr val="082B52"/>
                </a:solidFill>
                <a:latin typeface="Yu Gothic"/>
              </a:rPr>
              <a:t>Thermal Desktop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と</a:t>
            </a:r>
            <a:r>
              <a:rPr lang="en-US" altLang="ja-JP" sz="3200" b="1" dirty="0" err="1">
                <a:solidFill>
                  <a:srgbClr val="082B52"/>
                </a:solidFill>
                <a:latin typeface="Yu Gothic"/>
              </a:rPr>
              <a:t>Femap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で</a:t>
            </a:r>
            <a:endParaRPr lang="en-US" altLang="ja-JP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同じ衛星モデルを作成する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CCEF93ED-B9FC-B970-0B05-59AC1CDB4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093" y="3764280"/>
            <a:ext cx="4377691" cy="6995395"/>
          </a:xfrm>
          <a:prstGeom prst="rect">
            <a:avLst/>
          </a:prstGeom>
        </p:spPr>
      </p:pic>
      <p:sp>
        <p:nvSpPr>
          <p:cNvPr id="18" name="TextBox 6"/>
          <p:cNvSpPr txBox="1"/>
          <p:nvPr/>
        </p:nvSpPr>
        <p:spPr>
          <a:xfrm>
            <a:off x="2646962" y="3261360"/>
            <a:ext cx="1274516" cy="42473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FF0000"/>
                </a:solidFill>
                <a:latin typeface="Yu Gothic"/>
              </a:rPr>
              <a:t>PZ: STT</a:t>
            </a:r>
          </a:p>
        </p:txBody>
      </p:sp>
      <p:sp>
        <p:nvSpPr>
          <p:cNvPr id="19" name="TextBox 7"/>
          <p:cNvSpPr txBox="1"/>
          <p:nvPr/>
        </p:nvSpPr>
        <p:spPr>
          <a:xfrm>
            <a:off x="2729050" y="10894945"/>
            <a:ext cx="1468479" cy="45550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 dirty="0">
                <a:solidFill>
                  <a:srgbClr val="082B52"/>
                </a:solidFill>
                <a:latin typeface="Yu Gothic"/>
              </a:rPr>
              <a:t>MZ: LCT</a:t>
            </a:r>
          </a:p>
        </p:txBody>
      </p:sp>
      <p:sp>
        <p:nvSpPr>
          <p:cNvPr id="20" name="TextBox 8"/>
          <p:cNvSpPr txBox="1"/>
          <p:nvPr/>
        </p:nvSpPr>
        <p:spPr>
          <a:xfrm>
            <a:off x="3507104" y="5259118"/>
            <a:ext cx="201168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200" b="1" dirty="0">
                <a:solidFill>
                  <a:srgbClr val="EC9427"/>
                </a:solidFill>
                <a:latin typeface="Yu Gothic"/>
              </a:rPr>
              <a:t>MY: PCDU</a:t>
            </a:r>
          </a:p>
        </p:txBody>
      </p:sp>
      <p:sp>
        <p:nvSpPr>
          <p:cNvPr id="21" name="TextBox 9"/>
          <p:cNvSpPr txBox="1"/>
          <p:nvPr/>
        </p:nvSpPr>
        <p:spPr>
          <a:xfrm>
            <a:off x="1929554" y="8298180"/>
            <a:ext cx="1434816" cy="393954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200" b="1" dirty="0">
                <a:solidFill>
                  <a:srgbClr val="EF25D7"/>
                </a:solidFill>
                <a:latin typeface="Yu Gothic"/>
              </a:rPr>
              <a:t>PY: PROP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F82260-522D-6761-0595-3DE00DE7B20B}"/>
              </a:ext>
            </a:extLst>
          </p:cNvPr>
          <p:cNvSpPr txBox="1"/>
          <p:nvPr/>
        </p:nvSpPr>
        <p:spPr>
          <a:xfrm>
            <a:off x="3921478" y="11736067"/>
            <a:ext cx="302736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600" b="1" dirty="0">
                <a:solidFill>
                  <a:srgbClr val="082B52"/>
                </a:solidFill>
                <a:latin typeface="Yu Gothic"/>
              </a:rPr>
              <a:t>LOS</a:t>
            </a:r>
          </a:p>
          <a:p>
            <a:r>
              <a:rPr lang="en-US" altLang="ja-JP" sz="2600" b="1" dirty="0">
                <a:solidFill>
                  <a:srgbClr val="082B52"/>
                </a:solidFill>
                <a:latin typeface="Yu Gothic"/>
              </a:rPr>
              <a:t>boresight ≈ −Z</a:t>
            </a:r>
            <a:endParaRPr lang="ja-JP" altLang="en-US" dirty="0"/>
          </a:p>
        </p:txBody>
      </p:sp>
      <p:sp>
        <p:nvSpPr>
          <p:cNvPr id="27" name="矢印: 下 26">
            <a:extLst>
              <a:ext uri="{FF2B5EF4-FFF2-40B4-BE49-F238E27FC236}">
                <a16:creationId xmlns:a16="http://schemas.microsoft.com/office/drawing/2014/main" id="{3ABEA4DE-C3B5-7BEA-4021-0D8E1D0BB0E3}"/>
              </a:ext>
            </a:extLst>
          </p:cNvPr>
          <p:cNvSpPr/>
          <p:nvPr/>
        </p:nvSpPr>
        <p:spPr>
          <a:xfrm>
            <a:off x="2893199" y="11612814"/>
            <a:ext cx="873478" cy="1123188"/>
          </a:xfrm>
          <a:prstGeom prst="down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757886C6-D7F5-0F38-ACF6-8EA5310D4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235" y="3766102"/>
            <a:ext cx="4658580" cy="6944390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02DA67B2-8B68-27F3-69F6-53903FB72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8621" y="3764280"/>
            <a:ext cx="5428009" cy="6395069"/>
          </a:xfrm>
          <a:prstGeom prst="rect">
            <a:avLst/>
          </a:prstGeom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598F395-2105-83B7-C6FD-2BE0EC3D3A1F}"/>
              </a:ext>
            </a:extLst>
          </p:cNvPr>
          <p:cNvSpPr txBox="1"/>
          <p:nvPr/>
        </p:nvSpPr>
        <p:spPr>
          <a:xfrm>
            <a:off x="7569857" y="3275705"/>
            <a:ext cx="3202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Thermal Desktop</a:t>
            </a:r>
            <a:endParaRPr kumimoji="1" lang="ja-JP" altLang="en-US" sz="2800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A6373989-AC26-4AC6-D467-74D9A3AB9AD8}"/>
              </a:ext>
            </a:extLst>
          </p:cNvPr>
          <p:cNvSpPr txBox="1"/>
          <p:nvPr/>
        </p:nvSpPr>
        <p:spPr>
          <a:xfrm>
            <a:off x="14922114" y="3275705"/>
            <a:ext cx="12745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 err="1"/>
              <a:t>Femap</a:t>
            </a:r>
            <a:endParaRPr kumimoji="1" lang="ja-JP" altLang="en-US" sz="2800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74E08F0-D963-68BA-D4B8-F9D37A3BD261}"/>
              </a:ext>
            </a:extLst>
          </p:cNvPr>
          <p:cNvSpPr txBox="1"/>
          <p:nvPr/>
        </p:nvSpPr>
        <p:spPr>
          <a:xfrm>
            <a:off x="19544059" y="3261360"/>
            <a:ext cx="2514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Configuration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36690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8718394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lang="en-US" sz="3200" b="1" dirty="0">
                <a:solidFill>
                  <a:srgbClr val="082B52"/>
                </a:solidFill>
                <a:latin typeface="Yu Gothic"/>
              </a:rPr>
              <a:t>TD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での解析：軌道・姿勢・コンポ電源・表面特性を入力として、各ケースにおける温度場を出力する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444052" y="12819888"/>
            <a:ext cx="330348" cy="33239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 dirty="0">
                <a:solidFill>
                  <a:srgbClr val="666F79"/>
                </a:solidFill>
                <a:latin typeface="Yu Gothic"/>
              </a:rPr>
              <a:t>1</a:t>
            </a:r>
            <a:r>
              <a:rPr lang="en-US" sz="1800" b="0" dirty="0">
                <a:solidFill>
                  <a:srgbClr val="666F79"/>
                </a:solidFill>
                <a:latin typeface="Yu Gothic"/>
              </a:rPr>
              <a:t>0</a:t>
            </a:r>
            <a:endParaRPr sz="1800" b="0" dirty="0">
              <a:solidFill>
                <a:srgbClr val="666F79"/>
              </a:solidFill>
              <a:latin typeface="Yu Gothic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911599"/>
              </p:ext>
            </p:extLst>
          </p:nvPr>
        </p:nvGraphicFramePr>
        <p:xfrm>
          <a:off x="1339533" y="3597098"/>
          <a:ext cx="10789920" cy="8255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Setting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Orbit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SSO </a:t>
                      </a:r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LTAN06 / 800 km / COLD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Period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≈6050 s (101 min)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Duration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≈18157 s (3 orbits)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Sampling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≈60.5 s / 301 samples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Eclipse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蝕あり</a:t>
                      </a:r>
                      <a:r>
                        <a:rPr lang="en-US" altLang="ja-JP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/</a:t>
                      </a:r>
                      <a:r>
                        <a:rPr lang="ja-JP" alt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全日照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31970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Sun face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MX / MY / PX / PY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31970">
                <a:tc>
                  <a:txBody>
                    <a:bodyPr/>
                    <a:lstStyle/>
                    <a:p>
                      <a:pPr algn="l"/>
                      <a:r>
                        <a:rPr lang="en-US" altLang="ja-JP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Node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125 Nodes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4285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2618720" y="3608070"/>
            <a:ext cx="10424160" cy="324993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030200" y="4065270"/>
            <a:ext cx="960120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 dirty="0">
                <a:solidFill>
                  <a:srgbClr val="1B74AA"/>
                </a:solidFill>
                <a:latin typeface="Yu Gothic"/>
              </a:rPr>
              <a:t>Additional environments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0" y="5162550"/>
            <a:ext cx="9052560" cy="149784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内部のコンポの電源切り替え</a:t>
            </a:r>
            <a:endParaRPr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衛星パネルの表面特性：</a:t>
            </a:r>
            <a:r>
              <a:rPr lang="en-US" altLang="ja-JP" sz="2600" dirty="0">
                <a:solidFill>
                  <a:srgbClr val="232B34"/>
                </a:solidFill>
                <a:latin typeface="Yu Gothic"/>
              </a:rPr>
              <a:t>B</a:t>
            </a:r>
            <a:r>
              <a:rPr sz="2600" dirty="0">
                <a:solidFill>
                  <a:srgbClr val="232B34"/>
                </a:solidFill>
                <a:latin typeface="Yu Gothic"/>
              </a:rPr>
              <a:t>lack / Alodine / α=ε=0.5</a:t>
            </a: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軌道の種類：</a:t>
            </a:r>
            <a:r>
              <a:rPr lang="en-US" altLang="ja-JP" sz="2600" dirty="0">
                <a:solidFill>
                  <a:srgbClr val="232B34"/>
                </a:solidFill>
                <a:latin typeface="Yu Gothic"/>
              </a:rPr>
              <a:t>L</a:t>
            </a:r>
            <a:r>
              <a:rPr sz="2600" dirty="0">
                <a:solidFill>
                  <a:srgbClr val="232B34"/>
                </a:solidFill>
                <a:latin typeface="Yu Gothic"/>
              </a:rPr>
              <a:t>TAN18 / 693 km Sentinel-1 proxy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5385EA07-7CC6-CA16-E9A6-96A7DDD83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2613" y="7209036"/>
            <a:ext cx="5106287" cy="576025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1BA4D21-78E8-44D2-D440-0C5D426F9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8011" y="7209035"/>
            <a:ext cx="4845671" cy="5760251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A0CDADD-D375-9200-9F52-3AD6FA1CF093}"/>
              </a:ext>
            </a:extLst>
          </p:cNvPr>
          <p:cNvSpPr txBox="1"/>
          <p:nvPr/>
        </p:nvSpPr>
        <p:spPr>
          <a:xfrm>
            <a:off x="4891132" y="3073878"/>
            <a:ext cx="3686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TD Configuration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490187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536079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内部発熱設定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444052" y="12819888"/>
            <a:ext cx="330348" cy="33239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 dirty="0">
                <a:solidFill>
                  <a:srgbClr val="666F79"/>
                </a:solidFill>
                <a:latin typeface="Yu Gothic"/>
              </a:rPr>
              <a:t>1</a:t>
            </a:r>
            <a:r>
              <a:rPr lang="en-US" sz="1800" b="0" dirty="0">
                <a:solidFill>
                  <a:srgbClr val="666F79"/>
                </a:solidFill>
                <a:latin typeface="Yu Gothic"/>
              </a:rPr>
              <a:t>1</a:t>
            </a:r>
            <a:endParaRPr sz="1800" b="0" dirty="0">
              <a:solidFill>
                <a:srgbClr val="666F79"/>
              </a:solidFill>
              <a:latin typeface="Yu Gothic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2315414"/>
              </p:ext>
            </p:extLst>
          </p:nvPr>
        </p:nvGraphicFramePr>
        <p:xfrm>
          <a:off x="1200150" y="3863340"/>
          <a:ext cx="95097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Component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Heat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 dirty="0">
                          <a:solidFill>
                            <a:srgbClr val="FFFFFF"/>
                          </a:solidFill>
                          <a:latin typeface="Yu Gothic"/>
                        </a:rPr>
                        <a:t>Location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MZ center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1.5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PZ center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PROP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25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 side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PCDU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MY side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10613"/>
              </p:ext>
            </p:extLst>
          </p:nvPr>
        </p:nvGraphicFramePr>
        <p:xfrm>
          <a:off x="11624310" y="3863340"/>
          <a:ext cx="1170432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Mode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LCT/STT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PROP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PCDU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STTLCT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 dirty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+PROP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 dirty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25 W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 dirty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ALL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 dirty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25 W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Half power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 dirty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12.5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 dirty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43747" y="11268432"/>
            <a:ext cx="7894918" cy="94795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通信時を想定して、</a:t>
            </a:r>
            <a:r>
              <a:rPr lang="en-US" altLang="ja-JP" sz="2900" b="1" dirty="0">
                <a:solidFill>
                  <a:srgbClr val="082B52"/>
                </a:solidFill>
                <a:latin typeface="Yu Gothic"/>
              </a:rPr>
              <a:t>STT/LCT</a:t>
            </a:r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は基本的に</a:t>
            </a:r>
            <a:r>
              <a:rPr lang="en-US" altLang="ja-JP" sz="2900" b="1" dirty="0">
                <a:solidFill>
                  <a:srgbClr val="082B52"/>
                </a:solidFill>
                <a:latin typeface="Yu Gothic"/>
              </a:rPr>
              <a:t>ON</a:t>
            </a:r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。</a:t>
            </a:r>
            <a:endParaRPr lang="en-US" altLang="ja-JP" sz="2900" b="1" dirty="0">
              <a:solidFill>
                <a:srgbClr val="082B52"/>
              </a:solidFill>
              <a:latin typeface="Yu Gothic"/>
            </a:endParaRPr>
          </a:p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他はケースごとに</a:t>
            </a:r>
            <a:r>
              <a:rPr lang="en-US" altLang="ja-JP" sz="2900" b="1" dirty="0">
                <a:solidFill>
                  <a:srgbClr val="082B52"/>
                </a:solidFill>
                <a:latin typeface="Yu Gothic"/>
              </a:rPr>
              <a:t>ON/OFF</a:t>
            </a:r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。</a:t>
            </a:r>
            <a:endParaRPr sz="29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C7BA0A9-972C-3DA4-EB3A-96E0ED75455E}"/>
              </a:ext>
            </a:extLst>
          </p:cNvPr>
          <p:cNvSpPr txBox="1"/>
          <p:nvPr/>
        </p:nvSpPr>
        <p:spPr>
          <a:xfrm>
            <a:off x="4111668" y="3340120"/>
            <a:ext cx="41750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各コンポの発熱量と位置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7767B65-50FF-AF7B-5E10-2A0AA9953E5B}"/>
              </a:ext>
            </a:extLst>
          </p:cNvPr>
          <p:cNvSpPr txBox="1"/>
          <p:nvPr/>
        </p:nvSpPr>
        <p:spPr>
          <a:xfrm>
            <a:off x="15388929" y="3340120"/>
            <a:ext cx="41750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内部発熱パターン</a:t>
            </a:r>
          </a:p>
        </p:txBody>
      </p:sp>
    </p:spTree>
    <p:extLst>
      <p:ext uri="{BB962C8B-B14F-4D97-AF65-F5344CB8AC3E}">
        <p14:creationId xmlns:p14="http://schemas.microsoft.com/office/powerpoint/2010/main" val="4130144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8208639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lang="en-US" sz="3200" b="1" dirty="0" err="1">
                <a:solidFill>
                  <a:srgbClr val="082B52"/>
                </a:solidFill>
                <a:latin typeface="Yu Gothic"/>
              </a:rPr>
              <a:t>Femap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での解析：温度場・拘束条件を入力として、各点のひずみ（並進・回転 </a:t>
            </a:r>
            <a:r>
              <a:rPr lang="en-US" altLang="ja-JP" sz="3200" b="1" dirty="0">
                <a:solidFill>
                  <a:srgbClr val="082B52"/>
                </a:solidFill>
                <a:latin typeface="Yu Gothic"/>
              </a:rPr>
              <a:t>6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成分）を算出する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497403"/>
              </p:ext>
            </p:extLst>
          </p:nvPr>
        </p:nvGraphicFramePr>
        <p:xfrm>
          <a:off x="1197699" y="3836670"/>
          <a:ext cx="10881360" cy="777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Structural 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 dirty="0">
                          <a:solidFill>
                            <a:srgbClr val="FFFFFF"/>
                          </a:solidFill>
                          <a:latin typeface="Yu Gothic"/>
                        </a:rPr>
                        <a:t>Value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Material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Aluminum 5052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Young's modulus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70.327 GPa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Poisson ratio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0.33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CTE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2.376×10⁻⁵ /°C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Density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2685 kg/m³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Reference temperature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23.9°C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Constraint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>
                            <a:srgbClr val="232B34"/>
                          </a:solidFill>
                          <a:latin typeface="Yu Gothic"/>
                        </a:rPr>
                        <a:t>small region near STT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1" name="図 10">
            <a:extLst>
              <a:ext uri="{FF2B5EF4-FFF2-40B4-BE49-F238E27FC236}">
                <a16:creationId xmlns:a16="http://schemas.microsoft.com/office/drawing/2014/main" id="{33EA1EC9-3A8D-5610-E95D-DAD2EA5D3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1942" y="3905404"/>
            <a:ext cx="5432458" cy="539460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819C62F-71DC-7E63-A5D1-87F199B58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5704" y="3905404"/>
            <a:ext cx="4858544" cy="5394601"/>
          </a:xfrm>
          <a:prstGeom prst="rect">
            <a:avLst/>
          </a:prstGeom>
        </p:spPr>
      </p:pic>
      <p:sp>
        <p:nvSpPr>
          <p:cNvPr id="14" name="矢印: 右 13">
            <a:extLst>
              <a:ext uri="{FF2B5EF4-FFF2-40B4-BE49-F238E27FC236}">
                <a16:creationId xmlns:a16="http://schemas.microsoft.com/office/drawing/2014/main" id="{274F2E0C-AA92-CDB0-DFC5-34073207F1FB}"/>
              </a:ext>
            </a:extLst>
          </p:cNvPr>
          <p:cNvSpPr/>
          <p:nvPr/>
        </p:nvSpPr>
        <p:spPr>
          <a:xfrm>
            <a:off x="17681719" y="6406172"/>
            <a:ext cx="549242" cy="82679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926A544-E0FB-FDB4-1194-CFA22C5E6846}"/>
              </a:ext>
            </a:extLst>
          </p:cNvPr>
          <p:cNvSpPr txBox="1"/>
          <p:nvPr/>
        </p:nvSpPr>
        <p:spPr>
          <a:xfrm>
            <a:off x="4795018" y="3382184"/>
            <a:ext cx="3686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 err="1"/>
              <a:t>Femap</a:t>
            </a:r>
            <a:r>
              <a:rPr kumimoji="1" lang="en-US" altLang="ja-JP" sz="2800" dirty="0"/>
              <a:t> Configuration</a:t>
            </a:r>
            <a:endParaRPr kumimoji="1" lang="ja-JP" altLang="en-US" sz="2800" dirty="0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041DF615-0588-9513-FBA8-0B01D88C40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94545" y="10012017"/>
            <a:ext cx="2523589" cy="2999895"/>
          </a:xfrm>
          <a:prstGeom prst="rect">
            <a:avLst/>
          </a:prstGeom>
        </p:spPr>
      </p:pic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DB910861-8EB1-0B83-13D2-A55697BCFD48}"/>
              </a:ext>
            </a:extLst>
          </p:cNvPr>
          <p:cNvCxnSpPr/>
          <p:nvPr/>
        </p:nvCxnSpPr>
        <p:spPr>
          <a:xfrm flipV="1">
            <a:off x="17956339" y="7524750"/>
            <a:ext cx="0" cy="22669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A8BC2C95-4E51-07EA-299C-28233B3B7BA8}"/>
              </a:ext>
            </a:extLst>
          </p:cNvPr>
          <p:cNvSpPr txBox="1"/>
          <p:nvPr/>
        </p:nvSpPr>
        <p:spPr>
          <a:xfrm>
            <a:off x="19491981" y="12280232"/>
            <a:ext cx="25235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/>
              <a:t>TD</a:t>
            </a:r>
            <a:r>
              <a:rPr kumimoji="1" lang="ja-JP" altLang="en-US" sz="3200" dirty="0"/>
              <a:t>：温度場</a:t>
            </a:r>
          </a:p>
        </p:txBody>
      </p:sp>
    </p:spTree>
    <p:extLst>
      <p:ext uri="{BB962C8B-B14F-4D97-AF65-F5344CB8AC3E}">
        <p14:creationId xmlns:p14="http://schemas.microsoft.com/office/powerpoint/2010/main" val="4083775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1193513" cy="153272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ja-JP" sz="3200" b="1" dirty="0"/>
              <a:t>LOS真値はSTT基準で見たLCT光軸の相対回転として定義する</a:t>
            </a:r>
            <a:endParaRPr lang="ja-JP" altLang="ja-JP" sz="3200" dirty="0"/>
          </a:p>
          <a:p>
            <a:pPr algn="l"/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444052" y="12819888"/>
            <a:ext cx="330348" cy="33239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 dirty="0">
                <a:solidFill>
                  <a:srgbClr val="666F79"/>
                </a:solidFill>
                <a:latin typeface="Yu Gothic"/>
              </a:rPr>
              <a:t>1</a:t>
            </a:r>
            <a:r>
              <a:rPr lang="en-US" sz="1800" b="0" dirty="0">
                <a:solidFill>
                  <a:srgbClr val="666F79"/>
                </a:solidFill>
                <a:latin typeface="Yu Gothic"/>
              </a:rPr>
              <a:t>3</a:t>
            </a:r>
            <a:endParaRPr sz="1800" b="0" dirty="0">
              <a:solidFill>
                <a:srgbClr val="666F79"/>
              </a:solidFill>
              <a:latin typeface="Yu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5544800" y="2788920"/>
            <a:ext cx="7753350" cy="822960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518978" y="3246120"/>
            <a:ext cx="5549725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2800" b="1" dirty="0">
                <a:solidFill>
                  <a:srgbClr val="1B74AA"/>
                </a:solidFill>
                <a:latin typeface="Yu Gothic"/>
              </a:rPr>
              <a:t>LOS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誤差 </a:t>
            </a:r>
            <a:r>
              <a:rPr sz="2800" b="1" dirty="0" err="1">
                <a:solidFill>
                  <a:srgbClr val="1B74AA"/>
                </a:solidFill>
                <a:latin typeface="Yu Gothic"/>
              </a:rPr>
              <a:t>採用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指標</a:t>
            </a:r>
            <a:r>
              <a:rPr sz="2800" b="1" dirty="0">
                <a:solidFill>
                  <a:srgbClr val="1B74AA"/>
                </a:solidFill>
                <a:latin typeface="Yu Gothic"/>
              </a:rPr>
              <a:t>：</a:t>
            </a:r>
            <a:r>
              <a:rPr sz="2800" b="1" dirty="0" err="1">
                <a:solidFill>
                  <a:srgbClr val="1B74AA"/>
                </a:solidFill>
                <a:latin typeface="Yu Gothic"/>
              </a:rPr>
              <a:t>far_field_los</a:t>
            </a:r>
            <a:endParaRPr sz="2800" b="1" dirty="0">
              <a:solidFill>
                <a:srgbClr val="1B74AA"/>
              </a:solidFill>
              <a:latin typeface="Yu 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001999" y="4389120"/>
            <a:ext cx="7040879" cy="1877437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400" dirty="0" err="1">
                <a:solidFill>
                  <a:srgbClr val="232B34"/>
                </a:solidFill>
                <a:latin typeface="Yu Gothic"/>
              </a:rPr>
              <a:t>LCT光軸回転</a:t>
            </a:r>
            <a:r>
              <a:rPr sz="2400" dirty="0">
                <a:solidFill>
                  <a:srgbClr val="232B34"/>
                </a:solidFill>
                <a:latin typeface="Yu Gothic"/>
              </a:rPr>
              <a:t> − </a:t>
            </a:r>
            <a:r>
              <a:rPr sz="2400" dirty="0" err="1">
                <a:solidFill>
                  <a:srgbClr val="232B34"/>
                </a:solidFill>
                <a:latin typeface="Yu Gothic"/>
              </a:rPr>
              <a:t>STT姿勢基準回転</a:t>
            </a:r>
            <a:endParaRPr lang="en-US" sz="24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24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en-US" sz="2400" dirty="0">
                <a:solidFill>
                  <a:srgbClr val="232B34"/>
                </a:solidFill>
                <a:latin typeface="Yu Gothic"/>
              </a:rPr>
              <a:t>STT</a:t>
            </a:r>
            <a:r>
              <a:rPr lang="ja-JP" altLang="en-US" sz="2400" dirty="0">
                <a:solidFill>
                  <a:srgbClr val="232B34"/>
                </a:solidFill>
                <a:latin typeface="Yu Gothic"/>
              </a:rPr>
              <a:t>は姿勢系の標準であるとしてそこからの誤差</a:t>
            </a:r>
            <a:endParaRPr sz="24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400" dirty="0" err="1">
                <a:solidFill>
                  <a:srgbClr val="232B34"/>
                </a:solidFill>
                <a:latin typeface="Yu Gothic"/>
              </a:rPr>
              <a:t>遠方通信のscan</a:t>
            </a:r>
            <a:r>
              <a:rPr sz="2400" dirty="0">
                <a:solidFill>
                  <a:srgbClr val="232B34"/>
                </a:solidFill>
                <a:latin typeface="Yu Gothic"/>
              </a:rPr>
              <a:t> center</a:t>
            </a:r>
            <a:r>
              <a:rPr lang="ja-JP" altLang="en-US" sz="2400" dirty="0">
                <a:solidFill>
                  <a:srgbClr val="232B34"/>
                </a:solidFill>
                <a:latin typeface="Yu Gothic"/>
              </a:rPr>
              <a:t>誤差に直接対応</a:t>
            </a:r>
            <a:endParaRPr sz="24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400" dirty="0" err="1">
                <a:solidFill>
                  <a:srgbClr val="232B34"/>
                </a:solidFill>
                <a:latin typeface="Yu Gothic"/>
              </a:rPr>
              <a:t>代表点間並進</a:t>
            </a:r>
            <a:r>
              <a:rPr lang="ja-JP" altLang="en-US" sz="2400" dirty="0">
                <a:solidFill>
                  <a:srgbClr val="232B34"/>
                </a:solidFill>
                <a:latin typeface="Yu Gothic"/>
              </a:rPr>
              <a:t>による</a:t>
            </a:r>
            <a:r>
              <a:rPr sz="2400" dirty="0">
                <a:solidFill>
                  <a:srgbClr val="232B34"/>
                </a:solidFill>
                <a:latin typeface="Yu Gothic"/>
              </a:rPr>
              <a:t>centerline tilt</a:t>
            </a:r>
            <a:r>
              <a:rPr lang="ja-JP" altLang="en-US" sz="2400" dirty="0">
                <a:solidFill>
                  <a:srgbClr val="232B34"/>
                </a:solidFill>
                <a:latin typeface="Yu Gothic"/>
              </a:rPr>
              <a:t>は含めない</a:t>
            </a:r>
            <a:endParaRPr sz="2400" dirty="0">
              <a:solidFill>
                <a:srgbClr val="232B34"/>
              </a:solidFill>
              <a:latin typeface="Yu Gothic"/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3B09D20F-F818-E6BB-4A04-9D0C10968E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534" y="3840480"/>
            <a:ext cx="4959858" cy="4925293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A31CA026-7B2F-08ED-6CF7-FE54FD7082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815" r="9648"/>
          <a:stretch>
            <a:fillRect/>
          </a:stretch>
        </p:blipFill>
        <p:spPr>
          <a:xfrm>
            <a:off x="8140796" y="3611867"/>
            <a:ext cx="6134100" cy="6400813"/>
          </a:xfrm>
          <a:prstGeom prst="rect">
            <a:avLst/>
          </a:prstGeom>
        </p:spPr>
      </p:pic>
      <p:sp>
        <p:nvSpPr>
          <p:cNvPr id="18" name="矢印: 右 17">
            <a:extLst>
              <a:ext uri="{FF2B5EF4-FFF2-40B4-BE49-F238E27FC236}">
                <a16:creationId xmlns:a16="http://schemas.microsoft.com/office/drawing/2014/main" id="{E8A036E3-901B-13D6-50ED-4213CF64C986}"/>
              </a:ext>
            </a:extLst>
          </p:cNvPr>
          <p:cNvSpPr/>
          <p:nvPr/>
        </p:nvSpPr>
        <p:spPr>
          <a:xfrm>
            <a:off x="6956602" y="6031204"/>
            <a:ext cx="549242" cy="82679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DFCAD75C-E1E5-BAB9-ED79-8FB22B4FA1E6}"/>
              </a:ext>
            </a:extLst>
          </p:cNvPr>
          <p:cNvCxnSpPr/>
          <p:nvPr/>
        </p:nvCxnSpPr>
        <p:spPr>
          <a:xfrm>
            <a:off x="5162550" y="8096250"/>
            <a:ext cx="209550" cy="164211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79843408-97F9-6B75-249B-559F34913E3D}"/>
              </a:ext>
            </a:extLst>
          </p:cNvPr>
          <p:cNvCxnSpPr>
            <a:cxnSpLocks/>
          </p:cNvCxnSpPr>
          <p:nvPr/>
        </p:nvCxnSpPr>
        <p:spPr>
          <a:xfrm flipH="1">
            <a:off x="3009900" y="3246120"/>
            <a:ext cx="1123950" cy="131079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184EC83-A793-1DED-82CE-9E07315E52C8}"/>
              </a:ext>
            </a:extLst>
          </p:cNvPr>
          <p:cNvSpPr txBox="1"/>
          <p:nvPr/>
        </p:nvSpPr>
        <p:spPr>
          <a:xfrm>
            <a:off x="4133850" y="2856893"/>
            <a:ext cx="2381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/>
              <a:t>STT</a:t>
            </a:r>
            <a:endParaRPr kumimoji="1" lang="ja-JP" altLang="en-US" sz="3200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4993092-E9AF-32CC-CA46-5B89D3B7856E}"/>
              </a:ext>
            </a:extLst>
          </p:cNvPr>
          <p:cNvSpPr txBox="1"/>
          <p:nvPr/>
        </p:nvSpPr>
        <p:spPr>
          <a:xfrm>
            <a:off x="5267325" y="9738360"/>
            <a:ext cx="2381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/>
              <a:t>LCT</a:t>
            </a:r>
            <a:endParaRPr kumimoji="1" lang="ja-JP" altLang="en-US" sz="3200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BF1EEF1-B803-E3EF-7B07-EF16B7C0DEB8}"/>
              </a:ext>
            </a:extLst>
          </p:cNvPr>
          <p:cNvSpPr txBox="1"/>
          <p:nvPr/>
        </p:nvSpPr>
        <p:spPr>
          <a:xfrm>
            <a:off x="1339534" y="10607040"/>
            <a:ext cx="1219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altLang="ja-JP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ja-JP" sz="3200" b="1" dirty="0"/>
              <a:t>並進ではなく、遠方通信に効く</a:t>
            </a:r>
            <a:r>
              <a:rPr lang="en-US" altLang="ja-JP" sz="3200" b="1" dirty="0"/>
              <a:t>STT/LCT</a:t>
            </a:r>
            <a:r>
              <a:rPr lang="ja-JP" altLang="en-US" sz="3200" b="1" dirty="0"/>
              <a:t>の</a:t>
            </a:r>
            <a:r>
              <a:rPr lang="ja-JP" altLang="ja-JP" sz="3200" b="1" dirty="0"/>
              <a:t>相対光軸回転を</a:t>
            </a:r>
            <a:r>
              <a:rPr lang="en-US" altLang="ja-JP" sz="3200" b="1" dirty="0"/>
              <a:t>LOS</a:t>
            </a:r>
            <a:r>
              <a:rPr lang="ja-JP" altLang="en-US" sz="3200" b="1" dirty="0"/>
              <a:t>誤差とする</a:t>
            </a:r>
            <a:endParaRPr lang="ja-JP" altLang="ja-JP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9">
                <a:extLst>
                  <a:ext uri="{FF2B5EF4-FFF2-40B4-BE49-F238E27FC236}">
                    <a16:creationId xmlns:a16="http://schemas.microsoft.com/office/drawing/2014/main" id="{1D5E19C6-D5A3-C347-891E-06621B675036}"/>
                  </a:ext>
                </a:extLst>
              </p:cNvPr>
              <p:cNvSpPr txBox="1"/>
              <p:nvPr/>
            </p:nvSpPr>
            <p:spPr>
              <a:xfrm>
                <a:off x="16004709" y="7034356"/>
                <a:ext cx="6833537" cy="1187761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:r>
                  <a:rPr lang="en-US" sz="3600" b="1" i="1" dirty="0">
                    <a:solidFill>
                      <a:srgbClr val="082B52"/>
                    </a:solidFill>
                    <a:latin typeface="Yu Gothic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𝒕𝒉𝒆𝒓𝒎𝒂𝒍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𝒕𝒓𝒖𝒆</m:t>
                        </m:r>
                      </m:sub>
                    </m:sSub>
                    <m:r>
                      <a:rPr lang="en-US" altLang="ja-JP" sz="36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𝑳𝑪𝑻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𝒓𝒐𝒕</m:t>
                        </m:r>
                      </m:sub>
                    </m:sSub>
                    <m:r>
                      <a:rPr lang="en-US" altLang="ja-JP" sz="36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𝑺𝑻𝑻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𝒓𝒐𝒕</m:t>
                        </m:r>
                      </m:sub>
                    </m:sSub>
                  </m:oMath>
                </a14:m>
                <a:endParaRPr lang="en-US" altLang="ja-JP" sz="3600" b="1" i="1" dirty="0">
                  <a:solidFill>
                    <a:srgbClr val="082B52"/>
                  </a:solidFill>
                  <a:latin typeface="Yu Gothic"/>
                </a:endParaRPr>
              </a:p>
              <a:p>
                <a:pPr algn="ctr"/>
                <a:r>
                  <a:rPr lang="en-US" sz="3600" b="1" i="1" dirty="0">
                    <a:solidFill>
                      <a:srgbClr val="082B52"/>
                    </a:solidFill>
                    <a:latin typeface="Yu Gothic"/>
                  </a:rPr>
                  <a:t> </a:t>
                </a:r>
                <a:endParaRPr sz="3600" b="1" i="1" dirty="0">
                  <a:solidFill>
                    <a:srgbClr val="082B52"/>
                  </a:solidFill>
                  <a:latin typeface="Yu Gothic"/>
                </a:endParaRPr>
              </a:p>
            </p:txBody>
          </p:sp>
        </mc:Choice>
        <mc:Fallback xmlns="">
          <p:sp>
            <p:nvSpPr>
              <p:cNvPr id="31" name="TextBox 9">
                <a:extLst>
                  <a:ext uri="{FF2B5EF4-FFF2-40B4-BE49-F238E27FC236}">
                    <a16:creationId xmlns:a16="http://schemas.microsoft.com/office/drawing/2014/main" id="{1D5E19C6-D5A3-C347-891E-06621B675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4709" y="7034356"/>
                <a:ext cx="6833537" cy="118776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">
                <a:extLst>
                  <a:ext uri="{FF2B5EF4-FFF2-40B4-BE49-F238E27FC236}">
                    <a16:creationId xmlns:a16="http://schemas.microsoft.com/office/drawing/2014/main" id="{C6979E3C-0BB9-6EF7-CE62-35CD169FE964}"/>
                  </a:ext>
                </a:extLst>
              </p:cNvPr>
              <p:cNvSpPr txBox="1"/>
              <p:nvPr/>
            </p:nvSpPr>
            <p:spPr>
              <a:xfrm>
                <a:off x="17297234" y="7976871"/>
                <a:ext cx="4259051" cy="1577804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:r>
                  <a:rPr lang="en-US" sz="3200" b="1" i="1" dirty="0">
                    <a:solidFill>
                      <a:srgbClr val="082B52"/>
                    </a:solidFill>
                    <a:latin typeface="Yu Gothic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2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𝒕𝒉𝒆𝒓𝒎𝒂𝒍</m:t>
                        </m:r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𝒕𝒓𝒖𝒆</m:t>
                        </m:r>
                      </m:sub>
                    </m:sSub>
                    <m:r>
                      <a:rPr lang="en-US" altLang="ja-JP" sz="32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ja-JP" sz="32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altLang="ja-JP" sz="32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2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altLang="ja-JP" sz="32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ja-JP" sz="3200" b="1" i="1" dirty="0">
                  <a:solidFill>
                    <a:srgbClr val="082B52"/>
                  </a:solidFill>
                  <a:latin typeface="Yu Gothic"/>
                </a:endParaRPr>
              </a:p>
              <a:p>
                <a:pPr algn="ctr"/>
                <a:endParaRPr lang="en-US" altLang="ja-JP" sz="3200" b="1" i="1" dirty="0">
                  <a:solidFill>
                    <a:srgbClr val="082B52"/>
                  </a:solidFill>
                  <a:latin typeface="Yu Gothic"/>
                </a:endParaRPr>
              </a:p>
              <a:p>
                <a:pPr algn="ctr"/>
                <a:r>
                  <a:rPr lang="en-US" sz="3200" b="1" i="1" dirty="0">
                    <a:solidFill>
                      <a:srgbClr val="082B52"/>
                    </a:solidFill>
                    <a:latin typeface="Yu Gothic"/>
                  </a:rPr>
                  <a:t> </a:t>
                </a:r>
                <a:endParaRPr sz="3200" b="1" i="1" dirty="0">
                  <a:solidFill>
                    <a:srgbClr val="082B52"/>
                  </a:solidFill>
                  <a:latin typeface="Yu Gothic"/>
                </a:endParaRPr>
              </a:p>
            </p:txBody>
          </p:sp>
        </mc:Choice>
        <mc:Fallback xmlns="">
          <p:sp>
            <p:nvSpPr>
              <p:cNvPr id="33" name="TextBox 9">
                <a:extLst>
                  <a:ext uri="{FF2B5EF4-FFF2-40B4-BE49-F238E27FC236}">
                    <a16:creationId xmlns:a16="http://schemas.microsoft.com/office/drawing/2014/main" id="{C6979E3C-0BB9-6EF7-CE62-35CD169FE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97234" y="7976871"/>
                <a:ext cx="4259051" cy="1577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856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2856212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sz="3200" b="1" dirty="0">
                <a:solidFill>
                  <a:srgbClr val="082B52"/>
                </a:solidFill>
                <a:latin typeface="Yu Gothic"/>
              </a:rPr>
              <a:t>21ケースで太陽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指向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面・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内部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発熱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・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表面特性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・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軌道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を横断評価する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921897"/>
              </p:ext>
            </p:extLst>
          </p:nvPr>
        </p:nvGraphicFramePr>
        <p:xfrm>
          <a:off x="1097280" y="3665220"/>
          <a:ext cx="21945600" cy="704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5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95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Varied factor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Cases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Purpose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Sun face</a:t>
                      </a:r>
                      <a:r>
                        <a:rPr lang="ja-JP" alt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 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 / MY / PX / 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太陽入射方向に対する支配軸・符号の変化を確認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Power mode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STTLCT / +PROP / +PCDU / ALL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内部発熱配置が熱LOS</a:t>
                      </a:r>
                      <a:r>
                        <a:rPr lang="ja-JP" altLang="en-US" sz="2400" dirty="0"/>
                        <a:t>のバイアス</a:t>
                      </a:r>
                      <a:r>
                        <a:rPr lang="ja-JP" altLang="ja-JP" sz="2400" dirty="0"/>
                        <a:t>成分に与える影響を確認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Coating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0.5 / Black / Alodine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表面特性による熱応答振幅・定常レベルの変化を確認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Environment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蝕あり</a:t>
                      </a:r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 / </a:t>
                      </a:r>
                      <a:r>
                        <a:rPr lang="ja-JP" alt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全日照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熱環境レベルによるケース間</a:t>
                      </a:r>
                      <a:r>
                        <a:rPr lang="ja-JP" altLang="en-US" sz="2400" dirty="0"/>
                        <a:t>バイアス</a:t>
                      </a:r>
                      <a:r>
                        <a:rPr lang="ja-JP" altLang="ja-JP" sz="2400" dirty="0"/>
                        <a:t>変動を確認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Power level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PROP 25 / 12.5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ON/OFF近似が部分負荷時にも成立するか確認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Orbit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LTAN06 / LTAN18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軌道条件・熱履歴に対するモデルの適用性を確認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785972" y="12032587"/>
            <a:ext cx="14568220" cy="45550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altLang="ja-JP" sz="2600" b="1" dirty="0">
                <a:solidFill>
                  <a:srgbClr val="D03B46"/>
                </a:solidFill>
                <a:latin typeface="Yu Gothic"/>
              </a:rPr>
              <a:t>※ Sun face</a:t>
            </a:r>
            <a:r>
              <a:rPr lang="ja-JP" altLang="en-US" sz="2600" b="1" dirty="0">
                <a:solidFill>
                  <a:srgbClr val="D03B46"/>
                </a:solidFill>
                <a:latin typeface="Yu Gothic"/>
              </a:rPr>
              <a:t>に関して、</a:t>
            </a:r>
            <a:r>
              <a:rPr lang="en-US" altLang="ja-JP" sz="2600" b="1" dirty="0">
                <a:solidFill>
                  <a:srgbClr val="D03B46"/>
                </a:solidFill>
                <a:latin typeface="Yu Gothic"/>
              </a:rPr>
              <a:t>PZ/MZ</a:t>
            </a:r>
            <a:r>
              <a:rPr lang="ja-JP" altLang="en-US" sz="2600" b="1" dirty="0">
                <a:solidFill>
                  <a:srgbClr val="D03B46"/>
                </a:solidFill>
                <a:latin typeface="Yu Gothic"/>
              </a:rPr>
              <a:t>太陽指向は</a:t>
            </a:r>
            <a:r>
              <a:rPr lang="en-US" altLang="ja-JP" sz="2600" b="1" dirty="0">
                <a:solidFill>
                  <a:srgbClr val="D03B46"/>
                </a:solidFill>
                <a:latin typeface="Yu Gothic"/>
              </a:rPr>
              <a:t>LCT/STT</a:t>
            </a:r>
            <a:r>
              <a:rPr lang="ja-JP" altLang="en-US" sz="2600" b="1" dirty="0">
                <a:solidFill>
                  <a:srgbClr val="D03B46"/>
                </a:solidFill>
                <a:latin typeface="Yu Gothic"/>
              </a:rPr>
              <a:t>がいる面に太陽が当たることはないので除外</a:t>
            </a:r>
            <a:endParaRPr sz="2600" b="1" dirty="0">
              <a:solidFill>
                <a:srgbClr val="D03B46"/>
              </a:solidFill>
              <a:latin typeface="Yu Gothic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6ED6B3C-14BA-01A2-9F51-A8D5EC699EB3}"/>
              </a:ext>
            </a:extLst>
          </p:cNvPr>
          <p:cNvSpPr txBox="1"/>
          <p:nvPr/>
        </p:nvSpPr>
        <p:spPr>
          <a:xfrm>
            <a:off x="10195444" y="3134017"/>
            <a:ext cx="47207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ケースで振るパラメータ</a:t>
            </a:r>
          </a:p>
        </p:txBody>
      </p:sp>
    </p:spTree>
    <p:extLst>
      <p:ext uri="{BB962C8B-B14F-4D97-AF65-F5344CB8AC3E}">
        <p14:creationId xmlns:p14="http://schemas.microsoft.com/office/powerpoint/2010/main" val="23853237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6412057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解析管理の工夫：</a:t>
            </a:r>
            <a:r>
              <a:rPr lang="ja-JP" altLang="ja-JP" sz="3200" b="1" dirty="0"/>
              <a:t>全解析条件をmatrixで一元定義し、共通case IDでAPI処理を自動化する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684836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54240" y="3951190"/>
            <a:ext cx="2364558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 dirty="0">
                <a:solidFill>
                  <a:srgbClr val="FFFFFF"/>
                </a:solidFill>
                <a:latin typeface="Yu Gothic"/>
              </a:rPr>
              <a:t>case_matrix.xlsx
orbit_catalog</a:t>
            </a:r>
            <a:r>
              <a:rPr lang="en-US" sz="2100" b="1" dirty="0">
                <a:solidFill>
                  <a:srgbClr val="FFFFFF"/>
                </a:solidFill>
                <a:latin typeface="Yu Gothic"/>
              </a:rPr>
              <a:t>.xlsx</a:t>
            </a:r>
            <a:endParaRPr sz="2100" b="1" dirty="0">
              <a:solidFill>
                <a:srgbClr val="FFFFFF"/>
              </a:solidFill>
              <a:latin typeface="Yu Gothic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4413503" y="4302056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742688" y="3684836"/>
            <a:ext cx="3444239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25434" y="3951190"/>
            <a:ext cx="2678747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 dirty="0">
                <a:solidFill>
                  <a:srgbClr val="FFFFFF"/>
                </a:solidFill>
                <a:latin typeface="Yu Gothic"/>
              </a:rPr>
              <a:t>TD temperature
LOGIC_SUN</a:t>
            </a:r>
            <a:r>
              <a:rPr lang="en-US" sz="2100" b="1" dirty="0">
                <a:solidFill>
                  <a:srgbClr val="FFFFFF"/>
                </a:solidFill>
                <a:latin typeface="Yu Gothic"/>
              </a:rPr>
              <a:t> symbol</a:t>
            </a:r>
            <a:endParaRPr sz="2100" b="1" dirty="0">
              <a:solidFill>
                <a:srgbClr val="FFFFFF"/>
              </a:solidFill>
              <a:latin typeface="Yu Gothic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8241792" y="4302056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70976" y="3684836"/>
            <a:ext cx="3444239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4128" y="3794564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mapper
output.dat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070080" y="4302056"/>
            <a:ext cx="274319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2399263" y="3684836"/>
            <a:ext cx="3444239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75734" y="3951190"/>
            <a:ext cx="1691297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 dirty="0" err="1">
                <a:solidFill>
                  <a:srgbClr val="FFFFFF"/>
                </a:solidFill>
                <a:latin typeface="Yu Gothic"/>
              </a:rPr>
              <a:t>Femap</a:t>
            </a:r>
            <a:r>
              <a:rPr sz="2100" b="1" dirty="0">
                <a:solidFill>
                  <a:srgbClr val="FFFFFF"/>
                </a:solidFill>
                <a:latin typeface="Yu Gothic"/>
              </a:rPr>
              <a:t>
rotation</a:t>
            </a:r>
            <a:r>
              <a:rPr lang="en-US" sz="2100" b="1" dirty="0">
                <a:solidFill>
                  <a:srgbClr val="FFFFFF"/>
                </a:solidFill>
                <a:latin typeface="Yu Gothic"/>
              </a:rPr>
              <a:t>.xlsx</a:t>
            </a:r>
            <a:endParaRPr sz="2100" b="1" dirty="0">
              <a:solidFill>
                <a:srgbClr val="FFFFFF"/>
              </a:solidFill>
              <a:latin typeface="Yu Gothic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15898367" y="4302056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6227552" y="3684836"/>
            <a:ext cx="3444239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967767" y="3951190"/>
            <a:ext cx="1963807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lang="en-US" sz="2100" b="1" dirty="0">
                <a:solidFill>
                  <a:srgbClr val="FFFFFF"/>
                </a:solidFill>
                <a:latin typeface="Yu Gothic"/>
              </a:rPr>
              <a:t>LOS Angle</a:t>
            </a:r>
          </a:p>
          <a:p>
            <a:pPr algn="ctr"/>
            <a:r>
              <a:rPr sz="2100" b="1" dirty="0">
                <a:solidFill>
                  <a:srgbClr val="FFFFFF"/>
                </a:solidFill>
                <a:latin typeface="Yu Gothic"/>
              </a:rPr>
              <a:t>los_angles.csv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726655" y="4302056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0055840" y="3684836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990821" y="3951190"/>
            <a:ext cx="1574277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 dirty="0">
                <a:solidFill>
                  <a:srgbClr val="FFFFFF"/>
                </a:solidFill>
                <a:latin typeface="Yu Gothic"/>
              </a:rPr>
              <a:t>lightweight
dataset</a:t>
            </a:r>
            <a:r>
              <a:rPr lang="en-US" sz="2100" b="1" dirty="0">
                <a:solidFill>
                  <a:srgbClr val="FFFFFF"/>
                </a:solidFill>
                <a:latin typeface="Yu Gothic"/>
              </a:rPr>
              <a:t>.csv</a:t>
            </a:r>
            <a:endParaRPr sz="2100" b="1" dirty="0">
              <a:solidFill>
                <a:srgbClr val="FFFFFF"/>
              </a:solidFill>
              <a:latin typeface="Yu Gothic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1188720" y="6044280"/>
            <a:ext cx="12896931" cy="4954531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26590" y="6265379"/>
            <a:ext cx="4382738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ja-JP" altLang="ja-JP" sz="2800" b="1" dirty="0"/>
              <a:t>条件管理・自動化・再現性</a:t>
            </a:r>
            <a:endParaRPr sz="27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728214" y="7017628"/>
            <a:ext cx="12221250" cy="425757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8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800" dirty="0"/>
              <a:t>最上流の</a:t>
            </a:r>
            <a:r>
              <a:rPr lang="en-US" altLang="ja-JP" sz="2800" dirty="0"/>
              <a:t>c</a:t>
            </a:r>
            <a:r>
              <a:rPr lang="ja-JP" altLang="ja-JP" sz="2800" dirty="0"/>
              <a:t>ase matrixに姿勢・発熱・表面特性などを集約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2800" dirty="0"/>
              <a:t>同じく最上流の</a:t>
            </a:r>
            <a:r>
              <a:rPr lang="en-US" altLang="ja-JP" sz="2800" dirty="0"/>
              <a:t>orbit catalog</a:t>
            </a:r>
            <a:r>
              <a:rPr lang="ja-JP" altLang="en-US" sz="2800" dirty="0"/>
              <a:t>に軌道条件を集約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2800" dirty="0"/>
              <a:t>両</a:t>
            </a:r>
            <a:r>
              <a:rPr lang="en-US" altLang="ja-JP" sz="2800" dirty="0"/>
              <a:t>matrix</a:t>
            </a:r>
            <a:r>
              <a:rPr lang="ja-JP" altLang="en-US" sz="2800" dirty="0"/>
              <a:t>から各解析ケースとケース名（</a:t>
            </a:r>
            <a:r>
              <a:rPr lang="en-US" altLang="ja-JP" sz="2800" dirty="0"/>
              <a:t>case ID</a:t>
            </a:r>
            <a:r>
              <a:rPr lang="ja-JP" altLang="en-US" sz="2800" dirty="0"/>
              <a:t>）を定義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2800" dirty="0"/>
              <a:t>各ソフトの生成ファイル群は、</a:t>
            </a:r>
            <a:r>
              <a:rPr lang="en-US" altLang="ja-JP" sz="2800" dirty="0"/>
              <a:t>case ID</a:t>
            </a:r>
            <a:r>
              <a:rPr lang="ja-JP" altLang="en-US" sz="2800" dirty="0"/>
              <a:t>でフォルダ分けして一括管理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2800" dirty="0"/>
              <a:t>共通の</a:t>
            </a:r>
            <a:r>
              <a:rPr lang="en-US" altLang="ja-JP" sz="2800" dirty="0"/>
              <a:t>case ID</a:t>
            </a:r>
            <a:r>
              <a:rPr lang="ja-JP" altLang="en-US" sz="2800" dirty="0"/>
              <a:t>で</a:t>
            </a:r>
            <a:r>
              <a:rPr lang="en-US" altLang="ja-JP" sz="2800" dirty="0"/>
              <a:t>TD</a:t>
            </a:r>
            <a:r>
              <a:rPr lang="ja-JP" altLang="en-US" sz="2800" dirty="0"/>
              <a:t>・</a:t>
            </a:r>
            <a:r>
              <a:rPr lang="en-US" altLang="ja-JP" sz="2800" dirty="0" err="1"/>
              <a:t>Femap</a:t>
            </a:r>
            <a:r>
              <a:rPr lang="ja-JP" altLang="en-US" sz="2800" dirty="0"/>
              <a:t>・</a:t>
            </a:r>
            <a:r>
              <a:rPr lang="en-US" altLang="ja-JP" sz="2800" dirty="0"/>
              <a:t>LOS</a:t>
            </a:r>
            <a:r>
              <a:rPr lang="ja-JP" altLang="en-US" sz="2800" dirty="0"/>
              <a:t>・</a:t>
            </a:r>
            <a:r>
              <a:rPr lang="en-US" altLang="ja-JP" sz="2800" dirty="0"/>
              <a:t>PAT</a:t>
            </a:r>
            <a:r>
              <a:rPr lang="ja-JP" altLang="en-US" sz="2800" dirty="0"/>
              <a:t>を接続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en-US" altLang="ja-JP" sz="2800" dirty="0" err="1"/>
              <a:t>OpenTD</a:t>
            </a:r>
            <a:r>
              <a:rPr lang="en-US" altLang="ja-JP" sz="2800" dirty="0"/>
              <a:t> / </a:t>
            </a:r>
            <a:r>
              <a:rPr lang="en-US" altLang="ja-JP" sz="2800" dirty="0" err="1"/>
              <a:t>Femap</a:t>
            </a:r>
            <a:r>
              <a:rPr lang="en-US" altLang="ja-JP" sz="2800" dirty="0"/>
              <a:t> API</a:t>
            </a:r>
            <a:r>
              <a:rPr lang="ja-JP" altLang="en-US" sz="2800" dirty="0"/>
              <a:t>で解析・出力を自動化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2800" dirty="0"/>
              <a:t>入力条件から中間生成物・最終成果物まで追跡・再実行可能</a:t>
            </a:r>
            <a:endParaRPr lang="en-US" sz="28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endParaRPr sz="28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18484" y="12123815"/>
            <a:ext cx="13437401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/>
            <a:r>
              <a:rPr lang="ja-JP" altLang="ja-JP" sz="2800" b="1" dirty="0"/>
              <a:t>全条件をmatrixで先に固定し、同じcase ID・同じAPI手順で再現可能な比較を行う</a:t>
            </a:r>
            <a:endParaRPr lang="ja-JP" altLang="ja-JP" sz="2800" dirty="0"/>
          </a:p>
        </p:txBody>
      </p:sp>
      <p:pic>
        <p:nvPicPr>
          <p:cNvPr id="27" name="図 26">
            <a:extLst>
              <a:ext uri="{FF2B5EF4-FFF2-40B4-BE49-F238E27FC236}">
                <a16:creationId xmlns:a16="http://schemas.microsoft.com/office/drawing/2014/main" id="{FAC80EE7-DF42-99DB-1769-1AFA8BC467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6065" r="39991"/>
          <a:stretch>
            <a:fillRect/>
          </a:stretch>
        </p:blipFill>
        <p:spPr>
          <a:xfrm>
            <a:off x="14896037" y="9779123"/>
            <a:ext cx="7012926" cy="3156082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C35414D-D052-3810-4229-417F16553F1C}"/>
              </a:ext>
            </a:extLst>
          </p:cNvPr>
          <p:cNvSpPr txBox="1"/>
          <p:nvPr/>
        </p:nvSpPr>
        <p:spPr>
          <a:xfrm>
            <a:off x="9165465" y="5103437"/>
            <a:ext cx="60514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各ソフトにおける解析出力ファイル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0AB8114-0307-8798-6551-D64DE69A75EC}"/>
              </a:ext>
            </a:extLst>
          </p:cNvPr>
          <p:cNvSpPr txBox="1"/>
          <p:nvPr/>
        </p:nvSpPr>
        <p:spPr>
          <a:xfrm>
            <a:off x="16459199" y="12973324"/>
            <a:ext cx="47207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 err="1"/>
              <a:t>Femap</a:t>
            </a:r>
            <a:r>
              <a:rPr kumimoji="1" lang="ja-JP" altLang="en-US" sz="2800" dirty="0"/>
              <a:t>解析フォルダ内</a:t>
            </a: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B7C0CCBA-B5A2-4EE7-271D-A8DB1459F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2429" y="6058654"/>
            <a:ext cx="7740142" cy="3177912"/>
          </a:xfrm>
          <a:prstGeom prst="rect">
            <a:avLst/>
          </a:prstGeom>
        </p:spPr>
      </p:pic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5119F46-14D4-E340-209A-AF0E41AECCF6}"/>
              </a:ext>
            </a:extLst>
          </p:cNvPr>
          <p:cNvSpPr txBox="1"/>
          <p:nvPr/>
        </p:nvSpPr>
        <p:spPr>
          <a:xfrm>
            <a:off x="16227552" y="9214736"/>
            <a:ext cx="47207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Case matrix.xlsx</a:t>
            </a:r>
            <a:r>
              <a:rPr kumimoji="1" lang="ja-JP" altLang="en-US" sz="2800" dirty="0"/>
              <a:t>の中身</a:t>
            </a:r>
          </a:p>
        </p:txBody>
      </p:sp>
    </p:spTree>
    <p:extLst>
      <p:ext uri="{BB962C8B-B14F-4D97-AF65-F5344CB8AC3E}">
        <p14:creationId xmlns:p14="http://schemas.microsoft.com/office/powerpoint/2010/main" val="26599559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463AB-B8F3-8DC8-987F-A486F27B8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>
            <a:extLst>
              <a:ext uri="{FF2B5EF4-FFF2-40B4-BE49-F238E27FC236}">
                <a16:creationId xmlns:a16="http://schemas.microsoft.com/office/drawing/2014/main" id="{0A998D34-F3DB-DCDE-1A40-4253D0693565}"/>
              </a:ext>
            </a:extLst>
          </p:cNvPr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results</a:t>
            </a: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DF026E16-6558-6EEA-9100-74BFD8FDF688}"/>
              </a:ext>
            </a:extLst>
          </p:cNvPr>
          <p:cNvSpPr txBox="1"/>
          <p:nvPr/>
        </p:nvSpPr>
        <p:spPr>
          <a:xfrm>
            <a:off x="1536192" y="1298448"/>
            <a:ext cx="9850774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解析結果：</a:t>
            </a:r>
            <a:r>
              <a:rPr lang="ja-JP" altLang="ja-JP" sz="3200" b="1" dirty="0"/>
              <a:t>温度場と熱LOSは同じ軌道周期で変動する</a:t>
            </a:r>
            <a:endParaRPr lang="ja-JP" altLang="ja-JP" sz="3200" dirty="0"/>
          </a:p>
        </p:txBody>
      </p:sp>
      <p:sp>
        <p:nvSpPr>
          <p:cNvPr id="15" name="TextBox 3">
            <a:extLst>
              <a:ext uri="{FF2B5EF4-FFF2-40B4-BE49-F238E27FC236}">
                <a16:creationId xmlns:a16="http://schemas.microsoft.com/office/drawing/2014/main" id="{3FDE0B2A-84AF-B318-D633-0F7FDE84BD98}"/>
              </a:ext>
            </a:extLst>
          </p:cNvPr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16</a:t>
            </a:r>
          </a:p>
        </p:txBody>
      </p:sp>
      <p:pic>
        <p:nvPicPr>
          <p:cNvPr id="17" name="Picture 7" descr="04_LTAN06_800km_1213COLD_MY_ALL_HEAT_MY_0p5_far_field_los_angle_budget.png">
            <a:extLst>
              <a:ext uri="{FF2B5EF4-FFF2-40B4-BE49-F238E27FC236}">
                <a16:creationId xmlns:a16="http://schemas.microsoft.com/office/drawing/2014/main" id="{EF6173D2-A246-1BCD-BC6A-F5B628313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619" y="2988426"/>
            <a:ext cx="11781048" cy="8568034"/>
          </a:xfrm>
          <a:prstGeom prst="rect">
            <a:avLst/>
          </a:prstGeom>
        </p:spPr>
      </p:pic>
      <p:sp>
        <p:nvSpPr>
          <p:cNvPr id="19" name="TextBox 8">
            <a:extLst>
              <a:ext uri="{FF2B5EF4-FFF2-40B4-BE49-F238E27FC236}">
                <a16:creationId xmlns:a16="http://schemas.microsoft.com/office/drawing/2014/main" id="{E5AE464D-DFE6-09C6-65DA-8D2CC851F626}"/>
              </a:ext>
            </a:extLst>
          </p:cNvPr>
          <p:cNvSpPr txBox="1"/>
          <p:nvPr/>
        </p:nvSpPr>
        <p:spPr>
          <a:xfrm>
            <a:off x="16222193" y="11639319"/>
            <a:ext cx="4294574" cy="409343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300" b="1" dirty="0">
                <a:solidFill>
                  <a:srgbClr val="1B74AA"/>
                </a:solidFill>
                <a:latin typeface="Yu Gothic"/>
              </a:rPr>
              <a:t>各衛星パネル上の</a:t>
            </a:r>
            <a:r>
              <a:rPr sz="2300" b="1" dirty="0">
                <a:solidFill>
                  <a:srgbClr val="1B74AA"/>
                </a:solidFill>
                <a:latin typeface="Yu Gothic"/>
              </a:rPr>
              <a:t>Temperature</a:t>
            </a:r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E830988C-07D9-F5B9-9874-7C1D60418F77}"/>
              </a:ext>
            </a:extLst>
          </p:cNvPr>
          <p:cNvSpPr txBox="1"/>
          <p:nvPr/>
        </p:nvSpPr>
        <p:spPr>
          <a:xfrm>
            <a:off x="4424133" y="11777355"/>
            <a:ext cx="5786970" cy="409343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2300" b="1" dirty="0">
                <a:solidFill>
                  <a:srgbClr val="239571"/>
                </a:solidFill>
                <a:latin typeface="Yu Gothic"/>
              </a:rPr>
              <a:t>Case 04 (MY</a:t>
            </a:r>
            <a:r>
              <a:rPr lang="ja-JP" altLang="en-US" sz="2300" b="1" dirty="0">
                <a:solidFill>
                  <a:srgbClr val="239571"/>
                </a:solidFill>
                <a:latin typeface="Yu Gothic"/>
              </a:rPr>
              <a:t>太陽</a:t>
            </a:r>
            <a:r>
              <a:rPr lang="en-US" sz="2300" b="1" dirty="0">
                <a:solidFill>
                  <a:srgbClr val="239571"/>
                </a:solidFill>
                <a:latin typeface="Yu Gothic"/>
              </a:rPr>
              <a:t>)</a:t>
            </a:r>
            <a:r>
              <a:rPr lang="ja-JP" altLang="en-US" sz="2300" b="1" dirty="0">
                <a:solidFill>
                  <a:srgbClr val="239571"/>
                </a:solidFill>
                <a:latin typeface="Yu Gothic"/>
              </a:rPr>
              <a:t>における </a:t>
            </a:r>
            <a:r>
              <a:rPr sz="2300" b="1" dirty="0">
                <a:solidFill>
                  <a:srgbClr val="239571"/>
                </a:solidFill>
                <a:latin typeface="Yu Gothic"/>
              </a:rPr>
              <a:t>Far-field LOS</a:t>
            </a: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B2B2B61-04B6-BD30-69A8-D3793BED63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47667" y="3089848"/>
            <a:ext cx="11043623" cy="7696091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19AF93F-1049-8626-F574-E8F86249A9BE}"/>
              </a:ext>
            </a:extLst>
          </p:cNvPr>
          <p:cNvSpPr txBox="1"/>
          <p:nvPr/>
        </p:nvSpPr>
        <p:spPr>
          <a:xfrm>
            <a:off x="1747735" y="12281279"/>
            <a:ext cx="147114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32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大きく熱</a:t>
            </a:r>
            <a:r>
              <a:rPr kumimoji="1" lang="en-US" altLang="ja-JP" sz="3200" b="1" dirty="0">
                <a:solidFill>
                  <a:srgbClr val="FF0000"/>
                </a:solidFill>
              </a:rPr>
              <a:t>LOS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が出るのは太陽方向（</a:t>
            </a:r>
            <a:r>
              <a:rPr kumimoji="1" lang="en-US" altLang="ja-JP" sz="3200" b="1" dirty="0">
                <a:solidFill>
                  <a:srgbClr val="FF0000"/>
                </a:solidFill>
              </a:rPr>
              <a:t>Y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軸）</a:t>
            </a:r>
            <a:endParaRPr kumimoji="1" lang="en-US" altLang="ja-JP" sz="3200" b="1" dirty="0">
              <a:solidFill>
                <a:srgbClr val="FF0000"/>
              </a:solidFill>
            </a:endParaRPr>
          </a:p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さらに、</a:t>
            </a:r>
            <a:r>
              <a:rPr kumimoji="1" lang="en-US" altLang="ja-JP" sz="3200" b="1" dirty="0">
                <a:solidFill>
                  <a:srgbClr val="FF0000"/>
                </a:solidFill>
              </a:rPr>
              <a:t>LOS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誤差の</a:t>
            </a:r>
            <a:r>
              <a:rPr kumimoji="1" lang="en-US" altLang="ja-JP" sz="3200" b="1" dirty="0">
                <a:solidFill>
                  <a:srgbClr val="FF0000"/>
                </a:solidFill>
              </a:rPr>
              <a:t>Y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方向の変化と</a:t>
            </a:r>
            <a:r>
              <a:rPr kumimoji="1" lang="en-US" altLang="ja-JP" sz="3200" b="1" dirty="0">
                <a:solidFill>
                  <a:srgbClr val="FF0000"/>
                </a:solidFill>
              </a:rPr>
              <a:t>MY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面の温度変化が似ていることがわかる</a:t>
            </a:r>
          </a:p>
        </p:txBody>
      </p:sp>
    </p:spTree>
    <p:extLst>
      <p:ext uri="{BB962C8B-B14F-4D97-AF65-F5344CB8AC3E}">
        <p14:creationId xmlns:p14="http://schemas.microsoft.com/office/powerpoint/2010/main" val="13791333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Lightweight LOS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18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43F79B8D-4952-6D22-DF2C-D92288E556C1}"/>
              </a:ext>
            </a:extLst>
          </p:cNvPr>
          <p:cNvSpPr/>
          <p:nvPr/>
        </p:nvSpPr>
        <p:spPr>
          <a:xfrm>
            <a:off x="11099800" y="6857999"/>
            <a:ext cx="2209800" cy="45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648671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Lightweight LOS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2312986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ja-JP" sz="3200" b="1" dirty="0"/>
              <a:t>軌道上実装には、少数入力で熱LOSを直接予測できるモデルが必要</a:t>
            </a:r>
            <a:endParaRPr lang="ja-JP" altLang="ja-JP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7315200" cy="713232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54913" y="3246120"/>
            <a:ext cx="1599925" cy="47089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2700" b="1" dirty="0">
                <a:solidFill>
                  <a:srgbClr val="082B52"/>
                </a:solidFill>
                <a:latin typeface="Yu Gothic"/>
              </a:rPr>
              <a:t>Required</a:t>
            </a:r>
            <a:endParaRPr sz="27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0" y="4251960"/>
            <a:ext cx="6217920" cy="291361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500" dirty="0">
                <a:solidFill>
                  <a:srgbClr val="232B34"/>
                </a:solidFill>
                <a:latin typeface="Yu Gothic"/>
              </a:rPr>
              <a:t>TD/</a:t>
            </a:r>
            <a:r>
              <a:rPr sz="2500" dirty="0" err="1">
                <a:solidFill>
                  <a:srgbClr val="232B34"/>
                </a:solidFill>
                <a:latin typeface="Yu Gothic"/>
              </a:rPr>
              <a:t>Femapをオンボードで回さない</a:t>
            </a:r>
            <a:r>
              <a:rPr lang="ja-JP" altLang="en-US" sz="2500" dirty="0">
                <a:solidFill>
                  <a:srgbClr val="232B34"/>
                </a:solidFill>
                <a:latin typeface="Yu Gothic"/>
              </a:rPr>
              <a:t>軽さ</a:t>
            </a:r>
            <a:endParaRPr sz="25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500" dirty="0" err="1">
                <a:solidFill>
                  <a:srgbClr val="232B34"/>
                </a:solidFill>
                <a:latin typeface="Yu Gothic"/>
              </a:rPr>
              <a:t>少数温度センサ</a:t>
            </a:r>
            <a:r>
              <a:rPr lang="ja-JP" altLang="en-US" sz="2500" dirty="0">
                <a:solidFill>
                  <a:srgbClr val="232B34"/>
                </a:solidFill>
                <a:latin typeface="Yu Gothic"/>
              </a:rPr>
              <a:t>と運用情報だけで計算</a:t>
            </a:r>
            <a:endParaRPr sz="25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500" dirty="0">
                <a:solidFill>
                  <a:srgbClr val="232B34"/>
                </a:solidFill>
                <a:latin typeface="Yu Gothic"/>
              </a:rPr>
              <a:t>ケース</a:t>
            </a:r>
            <a:r>
              <a:rPr sz="2500" dirty="0" err="1">
                <a:solidFill>
                  <a:srgbClr val="232B34"/>
                </a:solidFill>
                <a:latin typeface="Yu Gothic"/>
              </a:rPr>
              <a:t>変更に対応</a:t>
            </a:r>
            <a:endParaRPr sz="25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500" dirty="0" err="1">
                <a:solidFill>
                  <a:srgbClr val="232B34"/>
                </a:solidFill>
                <a:latin typeface="Yu Gothic"/>
              </a:rPr>
              <a:t>固定少数係数</a:t>
            </a:r>
            <a:endParaRPr sz="25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500" dirty="0">
                <a:solidFill>
                  <a:srgbClr val="232B34"/>
                </a:solidFill>
                <a:latin typeface="Yu Gothic"/>
              </a:rPr>
              <a:t>scan-</a:t>
            </a:r>
            <a:r>
              <a:rPr sz="2500" dirty="0" err="1">
                <a:solidFill>
                  <a:srgbClr val="232B34"/>
                </a:solidFill>
                <a:latin typeface="Yu Gothic"/>
              </a:rPr>
              <a:t>center補正を直接出力</a:t>
            </a:r>
            <a:endParaRPr lang="en-US" sz="25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500" dirty="0">
                <a:solidFill>
                  <a:srgbClr val="232B34"/>
                </a:solidFill>
                <a:latin typeface="Yu Gothic"/>
              </a:rPr>
              <a:t>係数の物理的解釈が可能</a:t>
            </a:r>
            <a:endParaRPr sz="2500" dirty="0">
              <a:solidFill>
                <a:srgbClr val="232B34"/>
              </a:solidFill>
              <a:latin typeface="Yu Gothic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606022"/>
              </p:ext>
            </p:extLst>
          </p:nvPr>
        </p:nvGraphicFramePr>
        <p:xfrm>
          <a:off x="9144000" y="2834640"/>
          <a:ext cx="13898880" cy="832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Candidate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Pros / cons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Static bias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lightweight / no dynamics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Fourier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periodic / orbit dependent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altLang="ja-JP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Multi-point </a:t>
                      </a:r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temperature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flexible / collinear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0" dirty="0" err="1">
                          <a:solidFill>
                            <a:srgbClr val="232B34"/>
                          </a:solidFill>
                          <a:latin typeface="Yu Gothic"/>
                        </a:rPr>
                        <a:t>Sunface</a:t>
                      </a:r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 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physical / </a:t>
                      </a:r>
                      <a:r>
                        <a:rPr 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not follow perfectly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2300" b="0" dirty="0" err="1">
                          <a:solidFill>
                            <a:srgbClr val="232B34"/>
                          </a:solidFill>
                          <a:latin typeface="Yu Gothic"/>
                        </a:rPr>
                        <a:t>Sunface</a:t>
                      </a:r>
                      <a:r>
                        <a:rPr 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 </a:t>
                      </a:r>
                      <a:r>
                        <a:rPr lang="en-US" altLang="ja-JP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ΔT 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physical / not explain DC offset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2857465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232B34"/>
                          </a:solidFill>
                          <a:latin typeface="Yu Gothic"/>
                        </a:rPr>
                        <a:t>Hierarchical ΔT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b="1" dirty="0">
                          <a:solidFill>
                            <a:srgbClr val="232B34"/>
                          </a:solidFill>
                          <a:latin typeface="Yu Gothic"/>
                        </a:rPr>
                        <a:t>Physical </a:t>
                      </a:r>
                      <a:r>
                        <a:rPr sz="2300" b="1" dirty="0">
                          <a:solidFill>
                            <a:srgbClr val="232B34"/>
                          </a:solidFill>
                          <a:latin typeface="Yu Gothic"/>
                        </a:rPr>
                        <a:t>dynamics + case DC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954913" y="11862122"/>
            <a:ext cx="18458707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ja-JP" altLang="en-US" sz="3200" b="1" dirty="0"/>
              <a:t>→ 試行錯誤の結果、</a:t>
            </a:r>
            <a:r>
              <a:rPr lang="ja-JP" altLang="ja-JP" sz="3200" b="1" dirty="0"/>
              <a:t>太陽面–反対面温度差 ΔT とケース</a:t>
            </a:r>
            <a:r>
              <a:rPr lang="ja-JP" altLang="en-US" sz="3200" b="1" dirty="0"/>
              <a:t>間差分の寄与</a:t>
            </a:r>
            <a:r>
              <a:rPr lang="ja-JP" altLang="ja-JP" sz="3200" b="1" dirty="0"/>
              <a:t>を分離する階層型モデル</a:t>
            </a:r>
            <a:r>
              <a:rPr lang="ja-JP" altLang="en-US" sz="3200" b="1" dirty="0"/>
              <a:t>を採用</a:t>
            </a:r>
            <a:endParaRPr lang="ja-JP" altLang="ja-JP" sz="3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5355486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en-US" sz="3200" b="1" dirty="0"/>
              <a:t>採用の過程：</a:t>
            </a:r>
            <a:r>
              <a:rPr lang="ja-JP" altLang="ja-JP" sz="3200" b="1" dirty="0"/>
              <a:t>観察結果から、熱LOSを「軌道内時変」と「ケース間DC」に分ける</a:t>
            </a:r>
            <a:endParaRPr lang="ja-JP" altLang="ja-JP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23444052" y="12819888"/>
            <a:ext cx="330348" cy="33239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lang="en-US" dirty="0">
                <a:solidFill>
                  <a:srgbClr val="666F79"/>
                </a:solidFill>
                <a:latin typeface="Yu Gothic"/>
              </a:rPr>
              <a:t>20</a:t>
            </a:r>
            <a:endParaRPr sz="1800" b="0" dirty="0">
              <a:solidFill>
                <a:srgbClr val="666F79"/>
              </a:solidFill>
              <a:latin typeface="Yu Gothi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598011" y="3657599"/>
            <a:ext cx="9729605" cy="5389123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872331" y="4069079"/>
            <a:ext cx="8342765" cy="54784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/>
            <a:r>
              <a:rPr lang="ja-JP" altLang="en-US" sz="3200" b="1" dirty="0"/>
              <a:t>各ケースの</a:t>
            </a:r>
            <a:r>
              <a:rPr lang="ja-JP" altLang="ja-JP" sz="3200" b="1" dirty="0"/>
              <a:t>軌道内で変わる成分</a:t>
            </a:r>
            <a:endParaRPr sz="3200" b="1" dirty="0">
              <a:solidFill>
                <a:srgbClr val="1B74AA"/>
              </a:solidFill>
              <a:latin typeface="Yu Gothi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2603884" y="3657600"/>
            <a:ext cx="9729605" cy="538912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81260" y="3978497"/>
            <a:ext cx="7917377" cy="104028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/>
            <a:r>
              <a:rPr lang="ja-JP" altLang="ja-JP" sz="3200" b="1" dirty="0">
                <a:solidFill>
                  <a:srgbClr val="FFC000"/>
                </a:solidFill>
              </a:rPr>
              <a:t>ケースごとに変わる成分</a:t>
            </a:r>
            <a:endParaRPr lang="ja-JP" altLang="ja-JP" sz="3200" dirty="0">
              <a:solidFill>
                <a:srgbClr val="FFC000"/>
              </a:solidFill>
            </a:endParaRPr>
          </a:p>
          <a:p>
            <a:pPr algn="ctr"/>
            <a:endParaRPr sz="3200" b="1" dirty="0">
              <a:solidFill>
                <a:srgbClr val="EC9427"/>
              </a:solidFill>
              <a:latin typeface="Yu Gothic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2">
                <a:extLst>
                  <a:ext uri="{FF2B5EF4-FFF2-40B4-BE49-F238E27FC236}">
                    <a16:creationId xmlns:a16="http://schemas.microsoft.com/office/drawing/2014/main" id="{01774876-A617-FBC3-32CA-D647D3A87AE9}"/>
                  </a:ext>
                </a:extLst>
              </p:cNvPr>
              <p:cNvSpPr txBox="1"/>
              <p:nvPr/>
            </p:nvSpPr>
            <p:spPr>
              <a:xfrm>
                <a:off x="1965619" y="4966846"/>
                <a:ext cx="9197681" cy="1532727"/>
              </a:xfrm>
              <a:prstGeom prst="rect">
                <a:avLst/>
              </a:prstGeom>
              <a:noFill/>
            </p:spPr>
            <p:txBody>
              <a:bodyPr wrap="square" lIns="36576" tIns="27432" rIns="36576" bIns="27432" anchor="t">
                <a:spAutoFit/>
              </a:bodyPr>
              <a:lstStyle/>
              <a:p>
                <a:r>
                  <a:rPr lang="en-US" altLang="ja-JP" sz="3200" b="1" dirty="0">
                    <a:solidFill>
                      <a:srgbClr val="1B74AA"/>
                    </a:solidFill>
                    <a:latin typeface="Yu Gothic"/>
                  </a:rPr>
                  <a:t>• </a:t>
                </a:r>
                <a:r>
                  <a:rPr lang="en-US" altLang="ja-JP" sz="3200" dirty="0">
                    <a:solidFill>
                      <a:srgbClr val="232B34"/>
                    </a:solidFill>
                    <a:latin typeface="Yu Gothic"/>
                  </a:rPr>
                  <a:t>TD</a:t>
                </a:r>
                <a:r>
                  <a:rPr lang="ja-JP" altLang="en-US" sz="3200" dirty="0">
                    <a:solidFill>
                      <a:srgbClr val="232B34"/>
                    </a:solidFill>
                    <a:latin typeface="Yu Gothic"/>
                  </a:rPr>
                  <a:t>太陽面 </a:t>
                </a:r>
                <a:r>
                  <a:rPr lang="en-US" altLang="ja-JP" sz="3200" dirty="0">
                    <a:solidFill>
                      <a:srgbClr val="232B34"/>
                    </a:solidFill>
                    <a:latin typeface="Yu Gothic"/>
                  </a:rPr>
                  <a:t>– </a:t>
                </a:r>
                <a:r>
                  <a:rPr lang="ja-JP" altLang="en-US" sz="3200" dirty="0">
                    <a:solidFill>
                      <a:srgbClr val="232B34"/>
                    </a:solidFill>
                    <a:latin typeface="Yu Gothic"/>
                  </a:rPr>
                  <a:t>反対面温度差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3200" i="0" dirty="0" smtClean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ja-JP" sz="3200" i="1" dirty="0" smtClean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ja-JP" sz="3200" i="1" dirty="0" smtClean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3200" i="1" dirty="0" smtClean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3200" i="1" dirty="0" smtClean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3200" dirty="0">
                  <a:solidFill>
                    <a:srgbClr val="232B34"/>
                  </a:solidFill>
                  <a:latin typeface="Yu Gothic"/>
                </a:endParaRPr>
              </a:p>
              <a:p>
                <a:r>
                  <a:rPr lang="en-US" altLang="ja-JP" sz="3200" b="1" dirty="0">
                    <a:solidFill>
                      <a:srgbClr val="1B74AA"/>
                    </a:solidFill>
                    <a:latin typeface="Yu Gothic"/>
                  </a:rPr>
                  <a:t>• </a:t>
                </a:r>
                <a:r>
                  <a:rPr lang="en-US" altLang="ja-JP" sz="3200" dirty="0">
                    <a:solidFill>
                      <a:srgbClr val="232B34"/>
                    </a:solidFill>
                    <a:latin typeface="Yu Gothic"/>
                  </a:rPr>
                  <a:t>T</a:t>
                </a:r>
                <a:r>
                  <a:rPr lang="ja-JP" altLang="en-US" sz="3200" dirty="0">
                    <a:solidFill>
                      <a:srgbClr val="232B34"/>
                    </a:solidFill>
                    <a:latin typeface="Yu Gothic"/>
                  </a:rPr>
                  <a:t>太陽指向面で支配軸・符号が決まる</a:t>
                </a:r>
                <a:endParaRPr lang="en-US" altLang="ja-JP" sz="3200" dirty="0">
                  <a:solidFill>
                    <a:srgbClr val="232B34"/>
                  </a:solidFill>
                  <a:latin typeface="Yu Gothic"/>
                </a:endParaRPr>
              </a:p>
              <a:p>
                <a:r>
                  <a:rPr lang="en-US" altLang="ja-JP" sz="3200" b="1" dirty="0">
                    <a:solidFill>
                      <a:srgbClr val="1B74AA"/>
                    </a:solidFill>
                    <a:latin typeface="Yu Gothic"/>
                  </a:rPr>
                  <a:t>• </a:t>
                </a:r>
                <a:r>
                  <a:rPr lang="ja-JP" altLang="en-US" sz="3200" b="1" dirty="0">
                    <a:solidFill>
                      <a:srgbClr val="232B34"/>
                    </a:solidFill>
                    <a:latin typeface="Yu Gothic"/>
                  </a:rPr>
                  <a:t>温度差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3200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ja-JP" sz="3200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ja-JP" sz="3200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3200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3200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3200" b="1" dirty="0">
                    <a:solidFill>
                      <a:srgbClr val="232B34"/>
                    </a:solidFill>
                    <a:latin typeface="Yu Gothic"/>
                  </a:rPr>
                  <a:t>に対する感度はケース間で概ね共通</a:t>
                </a:r>
                <a:endParaRPr sz="3200" b="0" dirty="0">
                  <a:solidFill>
                    <a:srgbClr val="232B34"/>
                  </a:solidFill>
                  <a:latin typeface="Yu Gothic"/>
                </a:endParaRPr>
              </a:p>
            </p:txBody>
          </p:sp>
        </mc:Choice>
        <mc:Fallback>
          <p:sp>
            <p:nvSpPr>
              <p:cNvPr id="18" name="TextBox 12">
                <a:extLst>
                  <a:ext uri="{FF2B5EF4-FFF2-40B4-BE49-F238E27FC236}">
                    <a16:creationId xmlns:a16="http://schemas.microsoft.com/office/drawing/2014/main" id="{01774876-A617-FBC3-32CA-D647D3A87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619" y="4966846"/>
                <a:ext cx="9197681" cy="1532727"/>
              </a:xfrm>
              <a:prstGeom prst="rect">
                <a:avLst/>
              </a:prstGeom>
              <a:blipFill>
                <a:blip r:embed="rId3"/>
                <a:stretch>
                  <a:fillRect l="-2253" t="-5976" r="-1193" b="-1394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2">
            <a:extLst>
              <a:ext uri="{FF2B5EF4-FFF2-40B4-BE49-F238E27FC236}">
                <a16:creationId xmlns:a16="http://schemas.microsoft.com/office/drawing/2014/main" id="{00194618-F9DA-A636-5ABB-3A3483F2CB95}"/>
              </a:ext>
            </a:extLst>
          </p:cNvPr>
          <p:cNvSpPr txBox="1"/>
          <p:nvPr/>
        </p:nvSpPr>
        <p:spPr>
          <a:xfrm>
            <a:off x="13161846" y="4819433"/>
            <a:ext cx="2821413" cy="153272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200" dirty="0">
                <a:solidFill>
                  <a:srgbClr val="232B34"/>
                </a:solidFill>
                <a:latin typeface="Yu Gothic"/>
              </a:rPr>
              <a:t>内部発熱</a:t>
            </a:r>
            <a:endParaRPr lang="en-US" altLang="ja-JP" sz="3200" dirty="0">
              <a:solidFill>
                <a:srgbClr val="232B34"/>
              </a:solidFill>
              <a:latin typeface="Yu Gothic"/>
            </a:endParaRPr>
          </a:p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200" dirty="0">
                <a:solidFill>
                  <a:srgbClr val="232B34"/>
                </a:solidFill>
                <a:latin typeface="Yu Gothic"/>
              </a:rPr>
              <a:t>表面特性</a:t>
            </a:r>
            <a:endParaRPr lang="en-US" altLang="ja-JP" sz="3200" dirty="0">
              <a:solidFill>
                <a:srgbClr val="232B34"/>
              </a:solidFill>
              <a:latin typeface="Yu Gothic"/>
            </a:endParaRPr>
          </a:p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200" b="1" dirty="0">
                <a:solidFill>
                  <a:srgbClr val="232B34"/>
                </a:solidFill>
                <a:latin typeface="Yu Gothic"/>
              </a:rPr>
              <a:t>軌道・熱履歴</a:t>
            </a:r>
            <a:endParaRPr sz="3200" b="0" dirty="0">
              <a:solidFill>
                <a:srgbClr val="232B34"/>
              </a:solidFill>
              <a:latin typeface="Yu Gothic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8">
                <a:extLst>
                  <a:ext uri="{FF2B5EF4-FFF2-40B4-BE49-F238E27FC236}">
                    <a16:creationId xmlns:a16="http://schemas.microsoft.com/office/drawing/2014/main" id="{7B8D8841-0F45-0DD0-7E72-5F3A55624ED9}"/>
                  </a:ext>
                </a:extLst>
              </p:cNvPr>
              <p:cNvSpPr txBox="1"/>
              <p:nvPr/>
            </p:nvSpPr>
            <p:spPr>
              <a:xfrm>
                <a:off x="5735015" y="10741480"/>
                <a:ext cx="12912381" cy="1040285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r>
                  <a:rPr lang="ja-JP" altLang="en-US" sz="3200" b="1" dirty="0"/>
                  <a:t>→ したがって、時変項は</a:t>
                </a:r>
                <a14:m>
                  <m:oMath xmlns:m="http://schemas.openxmlformats.org/officeDocument/2006/math">
                    <m:r>
                      <a:rPr lang="en-US" altLang="ja-JP" sz="3200" b="1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altLang="ja-JP" sz="3200" b="1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altLang="ja-JP" sz="3200" b="1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3200" b="1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altLang="ja-JP" sz="3200" b="1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3200" b="1" dirty="0">
                    <a:solidFill>
                      <a:srgbClr val="232B34"/>
                    </a:solidFill>
                    <a:latin typeface="Yu Gothic"/>
                  </a:rPr>
                  <a:t>、ケース間の差は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3200" b="1" i="1" smtClean="0">
                            <a:solidFill>
                              <a:srgbClr val="232B3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200" b="1" i="1" smtClean="0">
                            <a:solidFill>
                              <a:srgbClr val="232B34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ja-JP" sz="3200" b="1" i="1" smtClean="0">
                            <a:solidFill>
                              <a:srgbClr val="232B34"/>
                            </a:solidFill>
                            <a:latin typeface="Cambria Math" panose="02040503050406030204" pitchFamily="18" charset="0"/>
                          </a:rPr>
                          <m:t>𝒄𝒂𝒔𝒆</m:t>
                        </m:r>
                      </m:sub>
                    </m:sSub>
                    <m:r>
                      <a:rPr lang="ja-JP" altLang="en-US" sz="3200" b="1" i="1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として</m:t>
                    </m:r>
                  </m:oMath>
                </a14:m>
                <a:r>
                  <a:rPr lang="ja-JP" altLang="en-US" sz="3200" b="1" dirty="0">
                    <a:solidFill>
                      <a:srgbClr val="232B34"/>
                    </a:solidFill>
                    <a:latin typeface="Yu Gothic"/>
                  </a:rPr>
                  <a:t>分離する</a:t>
                </a:r>
                <a:endParaRPr lang="en-US" altLang="ja-JP" sz="3200" b="1" dirty="0">
                  <a:solidFill>
                    <a:srgbClr val="232B34"/>
                  </a:solidFill>
                  <a:latin typeface="Yu Gothic"/>
                </a:endParaRPr>
              </a:p>
              <a:p>
                <a:endParaRPr lang="en-US" altLang="ja-JP" sz="3200" b="1" dirty="0">
                  <a:solidFill>
                    <a:srgbClr val="232B34"/>
                  </a:solidFill>
                  <a:latin typeface="Yu Gothic"/>
                </a:endParaRPr>
              </a:p>
            </p:txBody>
          </p:sp>
        </mc:Choice>
        <mc:Fallback>
          <p:sp>
            <p:nvSpPr>
              <p:cNvPr id="22" name="TextBox 8">
                <a:extLst>
                  <a:ext uri="{FF2B5EF4-FFF2-40B4-BE49-F238E27FC236}">
                    <a16:creationId xmlns:a16="http://schemas.microsoft.com/office/drawing/2014/main" id="{7B8D8841-0F45-0DD0-7E72-5F3A55624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5015" y="10741480"/>
                <a:ext cx="12912381" cy="1040285"/>
              </a:xfrm>
              <a:prstGeom prst="rect">
                <a:avLst/>
              </a:prstGeom>
              <a:blipFill>
                <a:blip r:embed="rId4"/>
                <a:stretch>
                  <a:fillRect l="-1653" t="-877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1498A-D134-1DB7-BEEC-89F4ACDAB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132FC5-CEFF-682E-12E1-776DF31BA0AA}"/>
              </a:ext>
            </a:extLst>
          </p:cNvPr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06BBAA-7C1E-6C59-0838-394848810869}"/>
              </a:ext>
            </a:extLst>
          </p:cNvPr>
          <p:cNvSpPr txBox="1"/>
          <p:nvPr/>
        </p:nvSpPr>
        <p:spPr>
          <a:xfrm>
            <a:off x="1536192" y="1298448"/>
            <a:ext cx="6992427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階層型 熱ひずみ予測モデル（階層</a:t>
            </a:r>
            <a:r>
              <a:rPr lang="en-US" altLang="ja-JP" sz="3200" b="1" dirty="0">
                <a:solidFill>
                  <a:srgbClr val="082B52"/>
                </a:solidFill>
                <a:latin typeface="Yu Gothic"/>
              </a:rPr>
              <a:t>1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C37490-C33E-76CF-2AD2-84281E463F88}"/>
              </a:ext>
            </a:extLst>
          </p:cNvPr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AE6B36D-D351-9081-078E-979D1A977FE8}"/>
              </a:ext>
            </a:extLst>
          </p:cNvPr>
          <p:cNvSpPr/>
          <p:nvPr/>
        </p:nvSpPr>
        <p:spPr>
          <a:xfrm>
            <a:off x="1280160" y="2880360"/>
            <a:ext cx="21762720" cy="246888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4E91D8-1988-F135-C79D-012F2C7E199F}"/>
                  </a:ext>
                </a:extLst>
              </p:cNvPr>
              <p:cNvSpPr txBox="1"/>
              <p:nvPr/>
            </p:nvSpPr>
            <p:spPr>
              <a:xfrm>
                <a:off x="5700017" y="5593080"/>
                <a:ext cx="13014460" cy="1039002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ja-JP" altLang="en-US" sz="3200" b="1" i="0" dirty="0" smtClean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𝚫</m:t>
                      </m:r>
                      <m:r>
                        <a:rPr lang="ja-JP" altLang="en-US" sz="3200" b="1" i="1" dirty="0" smtClean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  <m:d>
                        <m:dPr>
                          <m:ctrlPr>
                            <a:rPr lang="en-US" altLang="ja-JP" sz="32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32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altLang="ja-JP" sz="32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ja-JP" sz="3200" b="1" i="1" dirty="0" smtClean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32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ja-JP" altLang="en-US" sz="32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𝒔𝒖𝒏𝒇𝒂𝒄𝒆</m:t>
                          </m:r>
                        </m:sub>
                      </m:sSub>
                      <m:d>
                        <m:dPr>
                          <m:ctrlPr>
                            <a:rPr lang="en-US" altLang="ja-JP" sz="32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32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altLang="ja-JP" sz="32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altLang="ja-JP" sz="3200" b="1" i="1" dirty="0" smtClean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32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ja-JP" altLang="en-US" sz="32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𝒐𝒑𝒑𝒐𝒔𝒊𝒕𝒆</m:t>
                          </m:r>
                        </m:sub>
                      </m:sSub>
                      <m:d>
                        <m:dPr>
                          <m:ctrlPr>
                            <a:rPr lang="en-US" altLang="ja-JP" sz="32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32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ja-JP" altLang="en-US" sz="32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：</m:t>
                      </m:r>
                      <m:r>
                        <a:rPr lang="ja-JP" altLang="en-US" sz="32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太陽指向面</m:t>
                      </m:r>
                      <m:r>
                        <a:rPr lang="ja-JP" altLang="en-US" sz="32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と</m:t>
                      </m:r>
                      <m:r>
                        <a:rPr lang="ja-JP" altLang="en-US" sz="32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その</m:t>
                      </m:r>
                      <m:r>
                        <a:rPr lang="ja-JP" altLang="en-US" sz="32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反対面</m:t>
                      </m:r>
                      <m:r>
                        <a:rPr lang="ja-JP" altLang="en-US" sz="32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の</m:t>
                      </m:r>
                      <m:r>
                        <a:rPr lang="ja-JP" altLang="en-US" sz="32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温度差</m:t>
                      </m:r>
                    </m:oMath>
                  </m:oMathPara>
                </a14:m>
                <a:endParaRPr lang="en-US" altLang="ja-JP" sz="3200" b="1" i="1" dirty="0">
                  <a:solidFill>
                    <a:srgbClr val="1B74AA"/>
                  </a:solidFill>
                  <a:latin typeface="Cambria Math" panose="02040503050406030204" pitchFamily="18" charset="0"/>
                </a:endParaRPr>
              </a:p>
              <a:p>
                <a:pPr algn="r"/>
                <a:r>
                  <a:rPr lang="en-US" altLang="ja-JP" sz="2800" b="1" dirty="0">
                    <a:solidFill>
                      <a:srgbClr val="1B74AA"/>
                    </a:solidFill>
                  </a:rPr>
                  <a:t>※</a:t>
                </a:r>
                <a14:m>
                  <m:oMath xmlns:m="http://schemas.openxmlformats.org/officeDocument/2006/math">
                    <m:r>
                      <a:rPr lang="ja-JP" altLang="en-US" sz="2800" b="1" i="1" dirty="0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各面</m:t>
                    </m:r>
                    <m:r>
                      <a:rPr lang="ja-JP" altLang="en-US" sz="2800" b="1" i="1" dirty="0" smtClean="0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の</m:t>
                    </m:r>
                    <m:r>
                      <a:rPr lang="ja-JP" altLang="en-US" sz="2800" b="1" i="1" dirty="0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中央</m:t>
                    </m:r>
                    <m:r>
                      <a:rPr lang="ja-JP" altLang="en-US" sz="2800" b="1" i="1" dirty="0" smtClean="0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の</m:t>
                    </m:r>
                    <m:r>
                      <a:rPr lang="ja-JP" altLang="en-US" sz="2800" b="1" i="1" dirty="0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温度</m:t>
                    </m:r>
                    <m:r>
                      <a:rPr lang="ja-JP" altLang="en-US" sz="2800" b="1" i="1" dirty="0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は</m:t>
                    </m:r>
                    <m:r>
                      <a:rPr lang="ja-JP" altLang="en-US" sz="2800" b="1" i="1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軌道</m:t>
                    </m:r>
                    <m:r>
                      <a:rPr lang="ja-JP" altLang="en-US" sz="2800" b="1" i="1" smtClean="0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上</m:t>
                    </m:r>
                    <m:r>
                      <a:rPr lang="ja-JP" altLang="en-US" sz="2800" b="1" i="1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の</m:t>
                    </m:r>
                    <m:r>
                      <a:rPr lang="ja-JP" altLang="en-US" sz="2800" b="1" i="1" smtClean="0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熱電対</m:t>
                    </m:r>
                    <m:r>
                      <a:rPr lang="ja-JP" altLang="en-US" sz="2800" b="1" i="1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で</m:t>
                    </m:r>
                    <m:r>
                      <a:rPr lang="ja-JP" altLang="en-US" sz="2800" b="1" i="1" smtClean="0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逐次</m:t>
                    </m:r>
                    <m:r>
                      <a:rPr lang="ja-JP" altLang="en-US" sz="2800" b="1" i="1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計測</m:t>
                    </m:r>
                    <m:r>
                      <a:rPr lang="ja-JP" altLang="en-US" sz="2800" b="1" i="1" smtClean="0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する</m:t>
                    </m:r>
                    <m:r>
                      <a:rPr lang="ja-JP" altLang="en-US" sz="2800" b="1" i="1" smtClean="0">
                        <a:solidFill>
                          <a:srgbClr val="1B74AA"/>
                        </a:solidFill>
                        <a:latin typeface="Cambria Math" panose="02040503050406030204" pitchFamily="18" charset="0"/>
                      </a:rPr>
                      <m:t>想定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4E91D8-1988-F135-C79D-012F2C7E1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017" y="5593080"/>
                <a:ext cx="13014460" cy="1039002"/>
              </a:xfrm>
              <a:prstGeom prst="rect">
                <a:avLst/>
              </a:prstGeom>
              <a:blipFill>
                <a:blip r:embed="rId3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BDC2FA1-7516-AF2E-394D-574ACF7DA736}"/>
              </a:ext>
            </a:extLst>
          </p:cNvPr>
          <p:cNvSpPr/>
          <p:nvPr/>
        </p:nvSpPr>
        <p:spPr>
          <a:xfrm>
            <a:off x="8530590" y="7315200"/>
            <a:ext cx="6583680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7563C52-2DD6-EEAB-89C3-C3793595F8A1}"/>
                  </a:ext>
                </a:extLst>
              </p:cNvPr>
              <p:cNvSpPr txBox="1"/>
              <p:nvPr/>
            </p:nvSpPr>
            <p:spPr>
              <a:xfrm>
                <a:off x="10903077" y="7726679"/>
                <a:ext cx="1838708" cy="661912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1" i="1" dirty="0" smtClean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1" i="1" dirty="0" smtClean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3600" b="1" i="1" dirty="0" err="1" smtClean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𝒔𝒖𝒏</m:t>
                          </m:r>
                          <m:r>
                            <a:rPr lang="en-US" sz="3600" b="1" i="1" dirty="0" err="1" smtClean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𝒇𝒂𝒄</m:t>
                          </m:r>
                          <m:r>
                            <a:rPr lang="en-US" sz="36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3600" b="1" i="1" dirty="0" err="1">
                  <a:solidFill>
                    <a:srgbClr val="1B74AA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7563C52-2DD6-EEAB-89C3-C3793595F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3077" y="7726679"/>
                <a:ext cx="1838708" cy="6619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6D94D195-5AC4-9EAF-E1D4-8CFD8D03EBBB}"/>
              </a:ext>
            </a:extLst>
          </p:cNvPr>
          <p:cNvSpPr txBox="1"/>
          <p:nvPr/>
        </p:nvSpPr>
        <p:spPr>
          <a:xfrm>
            <a:off x="9092451" y="8641080"/>
            <a:ext cx="5459957" cy="917174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ja-JP" sz="2800" b="1" dirty="0"/>
              <a:t>太陽指向面ごとの熱感度</a:t>
            </a:r>
            <a:br>
              <a:rPr lang="ja-JP" altLang="ja-JP" sz="2800" dirty="0"/>
            </a:br>
            <a:r>
              <a:rPr lang="ja-JP" altLang="ja-JP" sz="2800" dirty="0"/>
              <a:t>同じ太陽指向面のケース間で共有</a:t>
            </a:r>
            <a:endParaRPr sz="2500" b="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9FF712A-A518-82E8-7D7C-FB6543EC27BC}"/>
              </a:ext>
            </a:extLst>
          </p:cNvPr>
          <p:cNvSpPr/>
          <p:nvPr/>
        </p:nvSpPr>
        <p:spPr>
          <a:xfrm>
            <a:off x="15475749" y="7315200"/>
            <a:ext cx="7357727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0338C20-CC3D-53A2-DDD6-C3FA8C6CD90C}"/>
                  </a:ext>
                </a:extLst>
              </p:cNvPr>
              <p:cNvSpPr txBox="1"/>
              <p:nvPr/>
            </p:nvSpPr>
            <p:spPr>
              <a:xfrm>
                <a:off x="18625506" y="7726679"/>
                <a:ext cx="1207125" cy="609398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3600" b="1" i="1" dirty="0" smtClean="0">
                              <a:solidFill>
                                <a:srgbClr val="EC942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3600" b="1" i="1" dirty="0" smtClean="0">
                              <a:solidFill>
                                <a:srgbClr val="EC9427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ja-JP" altLang="en-US" sz="3600" b="1" i="1" dirty="0" err="1">
                              <a:solidFill>
                                <a:srgbClr val="EC9427"/>
                              </a:solidFill>
                              <a:latin typeface="Cambria Math" panose="02040503050406030204" pitchFamily="18" charset="0"/>
                            </a:rPr>
                            <m:t>𝒄𝒂𝒔𝒆</m:t>
                          </m:r>
                        </m:sub>
                      </m:sSub>
                    </m:oMath>
                  </m:oMathPara>
                </a14:m>
                <a:endParaRPr lang="en-US" altLang="ja-JP" sz="3600" b="1" i="1" dirty="0" err="1">
                  <a:solidFill>
                    <a:srgbClr val="EC942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0338C20-CC3D-53A2-DDD6-C3FA8C6CD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25506" y="7726679"/>
                <a:ext cx="1207125" cy="6093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156C1A6A-C13A-DA49-FEA6-1393DCCF2BBD}"/>
              </a:ext>
            </a:extLst>
          </p:cNvPr>
          <p:cNvSpPr txBox="1"/>
          <p:nvPr/>
        </p:nvSpPr>
        <p:spPr>
          <a:xfrm>
            <a:off x="15780947" y="8641080"/>
            <a:ext cx="6896247" cy="1348061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ja-JP" sz="2800" b="1" dirty="0"/>
              <a:t>ケース依存のDCオフセット</a:t>
            </a:r>
            <a:br>
              <a:rPr lang="ja-JP" altLang="ja-JP" sz="2800" dirty="0"/>
            </a:br>
            <a:r>
              <a:rPr lang="ja-JP" altLang="ja-JP" sz="2800" dirty="0"/>
              <a:t>発熱・被覆・軌道条件による平均差を吸収</a:t>
            </a:r>
            <a:endParaRPr lang="en-US" altLang="ja-JP" sz="2800" dirty="0"/>
          </a:p>
          <a:p>
            <a:pPr algn="ctr"/>
            <a:r>
              <a:rPr lang="ja-JP" altLang="en-US" sz="2800" b="0" dirty="0">
                <a:solidFill>
                  <a:srgbClr val="232B34"/>
                </a:solidFill>
                <a:latin typeface="Yu Gothic"/>
              </a:rPr>
              <a:t>階層</a:t>
            </a:r>
            <a:r>
              <a:rPr lang="en-US" altLang="ja-JP" sz="2800" dirty="0">
                <a:solidFill>
                  <a:srgbClr val="232B34"/>
                </a:solidFill>
                <a:latin typeface="Yu Gothic"/>
              </a:rPr>
              <a:t>2</a:t>
            </a:r>
            <a:r>
              <a:rPr lang="ja-JP" altLang="en-US" sz="2800" dirty="0">
                <a:solidFill>
                  <a:srgbClr val="232B34"/>
                </a:solidFill>
                <a:latin typeface="Yu Gothic"/>
              </a:rPr>
              <a:t>でさらに分解</a:t>
            </a:r>
            <a:endParaRPr sz="2500" b="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5A4E42-AE1F-F8B8-A7C8-8D643A29AC71}"/>
              </a:ext>
            </a:extLst>
          </p:cNvPr>
          <p:cNvSpPr/>
          <p:nvPr/>
        </p:nvSpPr>
        <p:spPr>
          <a:xfrm>
            <a:off x="1585431" y="7274142"/>
            <a:ext cx="6583680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5CEC31-2070-52D1-E5A1-354CA8687420}"/>
              </a:ext>
            </a:extLst>
          </p:cNvPr>
          <p:cNvSpPr txBox="1"/>
          <p:nvPr/>
        </p:nvSpPr>
        <p:spPr>
          <a:xfrm>
            <a:off x="3265387" y="7685621"/>
            <a:ext cx="3223767" cy="60939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600" b="1">
                <a:solidFill>
                  <a:srgbClr val="239571"/>
                </a:solidFill>
                <a:latin typeface="Yu Gothic"/>
              </a:rPr>
              <a:t>dominant axis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4DD618-4F56-C1E8-95A4-7C8FFA3DB2AB}"/>
              </a:ext>
            </a:extLst>
          </p:cNvPr>
          <p:cNvSpPr txBox="1"/>
          <p:nvPr/>
        </p:nvSpPr>
        <p:spPr>
          <a:xfrm>
            <a:off x="2506367" y="8600022"/>
            <a:ext cx="4741812" cy="1348061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ja-JP" sz="2800" b="1" dirty="0"/>
              <a:t>太陽指向面から予測軸を選択</a:t>
            </a:r>
            <a:br>
              <a:rPr lang="ja-JP" altLang="ja-JP" sz="2800" dirty="0"/>
            </a:br>
            <a:r>
              <a:rPr lang="ja-JP" altLang="ja-JP" sz="2800" dirty="0"/>
              <a:t>MX/PX → X軸，MY/PY → Y軸</a:t>
            </a:r>
            <a:br>
              <a:rPr lang="ja-JP" altLang="ja-JP" sz="2800" dirty="0"/>
            </a:br>
            <a:r>
              <a:rPr lang="ja-JP" altLang="ja-JP" sz="2800" dirty="0"/>
              <a:t>非支配軸はstatic biasで扱う</a:t>
            </a:r>
            <a:endParaRPr sz="2500" b="0" dirty="0">
              <a:solidFill>
                <a:srgbClr val="232B34"/>
              </a:solidFill>
              <a:latin typeface="Yu Gothic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5">
                <a:extLst>
                  <a:ext uri="{FF2B5EF4-FFF2-40B4-BE49-F238E27FC236}">
                    <a16:creationId xmlns:a16="http://schemas.microsoft.com/office/drawing/2014/main" id="{03E6F5D4-430D-507D-6683-A2B6E9E55979}"/>
                  </a:ext>
                </a:extLst>
              </p:cNvPr>
              <p:cNvSpPr txBox="1"/>
              <p:nvPr/>
            </p:nvSpPr>
            <p:spPr>
              <a:xfrm>
                <a:off x="7654202" y="3741421"/>
                <a:ext cx="9197518" cy="796628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ja-JP" alt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𝒅𝒐𝒎</m:t>
                          </m:r>
                        </m:sub>
                      </m:sSub>
                      <m:d>
                        <m:dPr>
                          <m:ctrlPr>
                            <a:rPr lang="en-US" altLang="ja-JP" sz="4400" b="1" i="1" dirty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4400" b="1" i="1" dirty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altLang="ja-JP" sz="44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≈ </m:t>
                      </m:r>
                      <m:sSub>
                        <m:sSubPr>
                          <m:ctrlPr>
                            <a:rPr lang="en-US" altLang="ja-JP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4400" b="1" i="1" dirty="0" err="1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ja-JP" altLang="en-US" sz="4400" b="1" i="1" dirty="0" err="1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𝒔𝒖𝒏𝒇𝒂𝒄𝒆</m:t>
                          </m:r>
                        </m:sub>
                      </m:sSub>
                      <m:r>
                        <a:rPr lang="ja-JP" altLang="en-US" sz="44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ja-JP" sz="44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· </m:t>
                      </m:r>
                      <m:r>
                        <a:rPr lang="ja-JP" altLang="en-US" sz="4400" b="1" i="0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𝚫</m:t>
                      </m:r>
                      <m:r>
                        <a:rPr lang="ja-JP" altLang="en-US" sz="44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  <m:d>
                        <m:dPr>
                          <m:ctrlPr>
                            <a:rPr lang="en-US" altLang="ja-JP" sz="4400" b="1" i="1" dirty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4400" b="1" i="1" dirty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altLang="ja-JP" sz="4400" b="1" i="1" dirty="0" smtClean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ja-JP" sz="4400" b="1" i="1" dirty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4400" b="1" i="1" dirty="0" err="1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ja-JP" altLang="en-US" sz="4400" b="1" i="1" dirty="0" err="1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𝒄𝒂𝒔𝒆</m:t>
                          </m:r>
                        </m:sub>
                      </m:sSub>
                      <m:r>
                        <a:rPr lang="ja-JP" altLang="en-US" sz="44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0" name="TextBox 5">
                <a:extLst>
                  <a:ext uri="{FF2B5EF4-FFF2-40B4-BE49-F238E27FC236}">
                    <a16:creationId xmlns:a16="http://schemas.microsoft.com/office/drawing/2014/main" id="{03E6F5D4-430D-507D-6683-A2B6E9E55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202" y="3741421"/>
                <a:ext cx="9197518" cy="7966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2252EB3-5D48-3FDD-0ECE-F0B0AEE1F399}"/>
              </a:ext>
            </a:extLst>
          </p:cNvPr>
          <p:cNvSpPr txBox="1"/>
          <p:nvPr/>
        </p:nvSpPr>
        <p:spPr>
          <a:xfrm>
            <a:off x="6156961" y="11549092"/>
            <a:ext cx="1219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ja-JP" sz="3200" b="1" dirty="0"/>
              <a:t>時間変動は面間温度差で、ケースごとの差はDCオフセットで表す</a:t>
            </a:r>
            <a:endParaRPr lang="ja-JP" altLang="ja-JP" sz="3200" dirty="0"/>
          </a:p>
        </p:txBody>
      </p:sp>
    </p:spTree>
    <p:extLst>
      <p:ext uri="{BB962C8B-B14F-4D97-AF65-F5344CB8AC3E}">
        <p14:creationId xmlns:p14="http://schemas.microsoft.com/office/powerpoint/2010/main" val="3462377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4901" y="11393823"/>
            <a:ext cx="18192609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ja-JP" altLang="en-US" sz="3200" b="1" dirty="0"/>
              <a:t>階層</a:t>
            </a:r>
            <a:r>
              <a:rPr lang="ja-JP" altLang="ja-JP" sz="3200" b="1" dirty="0"/>
              <a:t> 2では、ケースごとのDCを個別に持たず、太陽指向面と発熱モードから</a:t>
            </a:r>
            <a:r>
              <a:rPr lang="ja-JP" altLang="en-US" sz="3200" b="1" dirty="0"/>
              <a:t>パラメータを</a:t>
            </a:r>
            <a:r>
              <a:rPr lang="ja-JP" altLang="ja-JP" sz="3200" b="1" dirty="0"/>
              <a:t>推定する</a:t>
            </a:r>
            <a:endParaRPr lang="ja-JP" altLang="ja-JP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880360"/>
            <a:ext cx="21762720" cy="2468880"/>
          </a:xfrm>
          <a:prstGeom prst="roundRect">
            <a:avLst/>
          </a:prstGeom>
          <a:solidFill>
            <a:srgbClr val="FEF5E6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5955368" y="3821430"/>
                <a:ext cx="12412309" cy="796628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sz="44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𝒄𝒂𝒔𝒆</m:t>
                          </m:r>
                        </m:sub>
                      </m:sSub>
                      <m:r>
                        <a:rPr lang="en-US" sz="4400" b="1" i="1" dirty="0" smtClean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≈ </m:t>
                      </m:r>
                      <m:sSub>
                        <m:sSubPr>
                          <m:ctrlP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𝒔𝒖𝒏𝒇𝒂𝒄𝒆</m:t>
                          </m:r>
                        </m:sub>
                      </m:sSub>
                      <m:r>
                        <a:rPr lang="en-US" sz="4400" b="1" i="1" dirty="0" smtClean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44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44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𝑷𝑹𝑶𝑷</m:t>
                          </m:r>
                        </m:sub>
                      </m:sSub>
                      <m:sSub>
                        <m:sSubPr>
                          <m:ctrlP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𝑷𝑹𝑶𝑷</m:t>
                          </m:r>
                        </m:sub>
                      </m:sSub>
                      <m:r>
                        <a:rPr lang="en-US" sz="4400" b="1" i="1" dirty="0" smtClean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44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44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𝑷𝑪𝑫𝑼</m:t>
                          </m:r>
                        </m:sub>
                      </m:sSub>
                      <m:sSub>
                        <m:sSubPr>
                          <m:ctrlP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sz="44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𝑷𝑪𝑫𝑼</m:t>
                          </m:r>
                        </m:sub>
                      </m:sSub>
                    </m:oMath>
                  </m:oMathPara>
                </a14:m>
                <a:endParaRPr lang="en-US" sz="4400" b="1" i="1" dirty="0">
                  <a:solidFill>
                    <a:srgbClr val="082B5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5368" y="3821430"/>
                <a:ext cx="12412309" cy="7966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2">
            <a:extLst>
              <a:ext uri="{FF2B5EF4-FFF2-40B4-BE49-F238E27FC236}">
                <a16:creationId xmlns:a16="http://schemas.microsoft.com/office/drawing/2014/main" id="{B7CD32FD-27E6-6495-9E63-C7DD0FB625E9}"/>
              </a:ext>
            </a:extLst>
          </p:cNvPr>
          <p:cNvSpPr txBox="1"/>
          <p:nvPr/>
        </p:nvSpPr>
        <p:spPr>
          <a:xfrm>
            <a:off x="1536192" y="1298448"/>
            <a:ext cx="6992427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階層型 熱ひずみ予測モデル（階層</a:t>
            </a:r>
            <a:r>
              <a:rPr lang="en-US" altLang="ja-JP" sz="3200" b="1" dirty="0">
                <a:solidFill>
                  <a:srgbClr val="082B52"/>
                </a:solidFill>
                <a:latin typeface="Yu Gothic"/>
              </a:rPr>
              <a:t>2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5">
                <a:extLst>
                  <a:ext uri="{FF2B5EF4-FFF2-40B4-BE49-F238E27FC236}">
                    <a16:creationId xmlns:a16="http://schemas.microsoft.com/office/drawing/2014/main" id="{A28FCEFF-F875-B726-D1A6-C77C2341848B}"/>
                  </a:ext>
                </a:extLst>
              </p:cNvPr>
              <p:cNvSpPr txBox="1"/>
              <p:nvPr/>
            </p:nvSpPr>
            <p:spPr>
              <a:xfrm>
                <a:off x="1420725" y="2971124"/>
                <a:ext cx="5988884" cy="520784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ja-JP" sz="280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ar-AE" sz="2800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ja-JP" altLang="ar-AE" sz="2800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𝑑𝑜𝑚</m:t>
                          </m:r>
                        </m:sub>
                      </m:sSub>
                      <m:d>
                        <m:dPr>
                          <m:ctrlPr>
                            <a:rPr lang="ar-AE" altLang="ja-JP" sz="280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ar-AE" sz="2800" b="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 altLang="ja-JP" sz="2800" b="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≈ </m:t>
                      </m:r>
                      <m:sSub>
                        <m:sSubPr>
                          <m:ctrlPr>
                            <a:rPr lang="ar-AE" altLang="ja-JP" sz="280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ar-AE" sz="2800" b="0" i="1" dirty="0" err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ja-JP" altLang="ar-AE" sz="2800" b="0" i="1" dirty="0" err="1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𝑠𝑢𝑛𝑓𝑎𝑐𝑒</m:t>
                          </m:r>
                        </m:sub>
                      </m:sSub>
                      <m:r>
                        <a:rPr lang="ar-AE" altLang="ja-JP" sz="2800" b="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r>
                        <m:rPr>
                          <m:sty m:val="p"/>
                        </m:rPr>
                        <a:rPr lang="ja-JP" altLang="ar-AE" sz="2800" b="0" i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ja-JP" altLang="ar-AE" sz="2800" b="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ar-AE" altLang="ja-JP" sz="280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ar-AE" sz="2800" b="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 altLang="ja-JP" sz="2800" b="0" i="1" dirty="0" smtClean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altLang="ja-JP" sz="2800" b="1" i="1" dirty="0" smtClean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ar-AE" sz="2800" b="1" i="1" dirty="0" err="1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ja-JP" altLang="ar-AE" sz="2800" b="1" i="1" dirty="0" err="1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𝒄𝒂𝒔𝒆</m:t>
                          </m:r>
                        </m:sub>
                      </m:sSub>
                      <m:r>
                        <a:rPr lang="en-US" altLang="ja-JP" sz="2800" b="0" i="1" dirty="0" smtClean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altLang="ja-JP" sz="2800" b="0" i="1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ar-AE" sz="2800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TextBox 5">
                <a:extLst>
                  <a:ext uri="{FF2B5EF4-FFF2-40B4-BE49-F238E27FC236}">
                    <a16:creationId xmlns:a16="http://schemas.microsoft.com/office/drawing/2014/main" id="{A28FCEFF-F875-B726-D1A6-C77C23418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0725" y="2971124"/>
                <a:ext cx="5988884" cy="5207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7">
            <a:extLst>
              <a:ext uri="{FF2B5EF4-FFF2-40B4-BE49-F238E27FC236}">
                <a16:creationId xmlns:a16="http://schemas.microsoft.com/office/drawing/2014/main" id="{A90963F6-3FA2-506C-2E09-B7E02E8BF98B}"/>
              </a:ext>
            </a:extLst>
          </p:cNvPr>
          <p:cNvSpPr/>
          <p:nvPr/>
        </p:nvSpPr>
        <p:spPr>
          <a:xfrm>
            <a:off x="8530590" y="7315200"/>
            <a:ext cx="6583680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8">
                <a:extLst>
                  <a:ext uri="{FF2B5EF4-FFF2-40B4-BE49-F238E27FC236}">
                    <a16:creationId xmlns:a16="http://schemas.microsoft.com/office/drawing/2014/main" id="{1409AF15-31B8-FE4F-F15B-276B2B34E0F9}"/>
                  </a:ext>
                </a:extLst>
              </p:cNvPr>
              <p:cNvSpPr txBox="1"/>
              <p:nvPr/>
            </p:nvSpPr>
            <p:spPr>
              <a:xfrm>
                <a:off x="10557662" y="7726679"/>
                <a:ext cx="2529539" cy="609398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3600" b="1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1" i="1" dirty="0" err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ja-JP" sz="3600" b="1" i="1" dirty="0" err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𝑷𝑹𝑶𝑷</m:t>
                          </m:r>
                        </m:sub>
                      </m:sSub>
                      <m:sSub>
                        <m:sSubPr>
                          <m:ctrlPr>
                            <a:rPr lang="en-US" altLang="ja-JP" sz="3600" b="1" i="1" dirty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1" i="1" dirty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altLang="ja-JP" sz="3600" b="1" i="1" dirty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𝑷𝑹𝑶𝑷</m:t>
                          </m:r>
                        </m:sub>
                      </m:sSub>
                    </m:oMath>
                  </m:oMathPara>
                </a14:m>
                <a:endParaRPr lang="en-US" sz="3600" b="1" i="1" dirty="0" err="1">
                  <a:solidFill>
                    <a:srgbClr val="0070C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" name="TextBox 8">
                <a:extLst>
                  <a:ext uri="{FF2B5EF4-FFF2-40B4-BE49-F238E27FC236}">
                    <a16:creationId xmlns:a16="http://schemas.microsoft.com/office/drawing/2014/main" id="{1409AF15-31B8-FE4F-F15B-276B2B34E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7662" y="7726679"/>
                <a:ext cx="2529539" cy="6093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9">
                <a:extLst>
                  <a:ext uri="{FF2B5EF4-FFF2-40B4-BE49-F238E27FC236}">
                    <a16:creationId xmlns:a16="http://schemas.microsoft.com/office/drawing/2014/main" id="{2F7F5DE6-BF34-767A-0199-A4E7711568CC}"/>
                  </a:ext>
                </a:extLst>
              </p:cNvPr>
              <p:cNvSpPr txBox="1"/>
              <p:nvPr/>
            </p:nvSpPr>
            <p:spPr>
              <a:xfrm>
                <a:off x="9092451" y="8641080"/>
                <a:ext cx="5754268" cy="1348061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:r>
                  <a:rPr lang="ja-JP" altLang="ja-JP" sz="2800" b="1" dirty="0"/>
                  <a:t>PROP発熱によるDC補正</a:t>
                </a:r>
                <a:endParaRPr lang="ja-JP" altLang="ja-JP" sz="2800" dirty="0"/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ja-JP" altLang="en-US"/>
                        </m:ctrlPr>
                      </m:sSubPr>
                      <m:e>
                        <m:r>
                          <a:rPr lang="ja-JP" altLang="en-US" i="1"/>
                          <m:t>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/>
                          <m:t>PROP</m:t>
                        </m:r>
                      </m:sub>
                    </m:sSub>
                  </m:oMath>
                </a14:m>
                <a:r>
                  <a:rPr lang="ja-JP" altLang="ja-JP" sz="2800" dirty="0"/>
                  <a:t>：PROPのON/OFFフラグ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ja-JP" altLang="en-US"/>
                        </m:ctrlPr>
                      </m:sSubPr>
                      <m:e>
                        <m:r>
                          <a:rPr lang="ja-JP" altLang="en-US" i="1"/>
                          <m:t>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/>
                          <m:t>PROP</m:t>
                        </m:r>
                      </m:sub>
                    </m:sSub>
                  </m:oMath>
                </a14:m>
                <a:r>
                  <a:rPr lang="ja-JP" altLang="ja-JP" sz="2800" dirty="0"/>
                  <a:t>：PROP発熱による平均LOS変化</a:t>
                </a:r>
              </a:p>
            </p:txBody>
          </p:sp>
        </mc:Choice>
        <mc:Fallback>
          <p:sp>
            <p:nvSpPr>
              <p:cNvPr id="18" name="TextBox 9">
                <a:extLst>
                  <a:ext uri="{FF2B5EF4-FFF2-40B4-BE49-F238E27FC236}">
                    <a16:creationId xmlns:a16="http://schemas.microsoft.com/office/drawing/2014/main" id="{2F7F5DE6-BF34-767A-0199-A4E7711568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2451" y="8641080"/>
                <a:ext cx="5754268" cy="1348061"/>
              </a:xfrm>
              <a:prstGeom prst="rect">
                <a:avLst/>
              </a:prstGeom>
              <a:blipFill>
                <a:blip r:embed="rId6"/>
                <a:stretch>
                  <a:fillRect t="-6335" r="-2439" b="-1312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ounded Rectangle 10">
            <a:extLst>
              <a:ext uri="{FF2B5EF4-FFF2-40B4-BE49-F238E27FC236}">
                <a16:creationId xmlns:a16="http://schemas.microsoft.com/office/drawing/2014/main" id="{F0AEC11E-62AC-2CBC-6172-65B5E89CFE46}"/>
              </a:ext>
            </a:extLst>
          </p:cNvPr>
          <p:cNvSpPr/>
          <p:nvPr/>
        </p:nvSpPr>
        <p:spPr>
          <a:xfrm>
            <a:off x="15475749" y="7315200"/>
            <a:ext cx="7357727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11">
                <a:extLst>
                  <a:ext uri="{FF2B5EF4-FFF2-40B4-BE49-F238E27FC236}">
                    <a16:creationId xmlns:a16="http://schemas.microsoft.com/office/drawing/2014/main" id="{AB1F0E2F-F40E-5B38-2C98-C248628BDC53}"/>
                  </a:ext>
                </a:extLst>
              </p:cNvPr>
              <p:cNvSpPr txBox="1"/>
              <p:nvPr/>
            </p:nvSpPr>
            <p:spPr>
              <a:xfrm>
                <a:off x="17965902" y="7726679"/>
                <a:ext cx="2526333" cy="609398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3600" b="1" i="1" dirty="0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1" i="1" dirty="0" err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ja-JP" sz="3600" b="1" i="1" dirty="0" err="1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𝑷𝑪𝑫𝑼</m:t>
                          </m:r>
                        </m:sub>
                      </m:sSub>
                      <m:sSub>
                        <m:sSubPr>
                          <m:ctrlPr>
                            <a:rPr lang="en-US" altLang="ja-JP" sz="3600" b="1" i="1" dirty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1" i="1" dirty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altLang="ja-JP" sz="3600" b="1" i="1" dirty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𝑷𝑪𝑫𝑼</m:t>
                          </m:r>
                        </m:sub>
                      </m:sSub>
                    </m:oMath>
                  </m:oMathPara>
                </a14:m>
                <a:endParaRPr lang="en-US" altLang="ja-JP" sz="3600" b="1" i="1" dirty="0" err="1">
                  <a:solidFill>
                    <a:schemeClr val="accent3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2" name="TextBox 11">
                <a:extLst>
                  <a:ext uri="{FF2B5EF4-FFF2-40B4-BE49-F238E27FC236}">
                    <a16:creationId xmlns:a16="http://schemas.microsoft.com/office/drawing/2014/main" id="{AB1F0E2F-F40E-5B38-2C98-C248628BDC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65902" y="7726679"/>
                <a:ext cx="2526333" cy="6093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12">
                <a:extLst>
                  <a:ext uri="{FF2B5EF4-FFF2-40B4-BE49-F238E27FC236}">
                    <a16:creationId xmlns:a16="http://schemas.microsoft.com/office/drawing/2014/main" id="{A65BCCBD-7FE8-390D-DD78-B2A588716069}"/>
                  </a:ext>
                </a:extLst>
              </p:cNvPr>
              <p:cNvSpPr txBox="1"/>
              <p:nvPr/>
            </p:nvSpPr>
            <p:spPr>
              <a:xfrm>
                <a:off x="15780947" y="8641080"/>
                <a:ext cx="5816336" cy="1348061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:r>
                  <a:rPr lang="ja-JP" altLang="ja-JP" sz="2800" b="1" dirty="0"/>
                  <a:t>PCDU発熱によるDC補正</a:t>
                </a:r>
                <a:endParaRPr lang="ja-JP" altLang="ja-JP" sz="2800" dirty="0"/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ja-JP" altLang="en-US"/>
                        </m:ctrlPr>
                      </m:sSubPr>
                      <m:e>
                        <m:r>
                          <a:rPr lang="ja-JP" altLang="en-US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mtClean="0">
                            <a:latin typeface="Cambria Math" panose="02040503050406030204" pitchFamily="18" charset="0"/>
                          </a:rPr>
                          <m:t>PCDU</m:t>
                        </m:r>
                      </m:sub>
                    </m:sSub>
                  </m:oMath>
                </a14:m>
                <a:r>
                  <a:rPr lang="ja-JP" altLang="ja-JP" sz="2800" dirty="0"/>
                  <a:t>：PCDUのON/OFFフラグ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ja-JP" altLang="en-US"/>
                        </m:ctrlPr>
                      </m:sSubPr>
                      <m:e>
                        <m:r>
                          <a:rPr lang="ja-JP" altLang="en-US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mtClean="0">
                            <a:latin typeface="Cambria Math" panose="02040503050406030204" pitchFamily="18" charset="0"/>
                          </a:rPr>
                          <m:t>PCDU</m:t>
                        </m:r>
                      </m:sub>
                    </m:sSub>
                  </m:oMath>
                </a14:m>
                <a:r>
                  <a:rPr lang="ja-JP" altLang="ja-JP" sz="2800" dirty="0"/>
                  <a:t>：PCDU発熱による平均LOS変化</a:t>
                </a:r>
              </a:p>
            </p:txBody>
          </p:sp>
        </mc:Choice>
        <mc:Fallback>
          <p:sp>
            <p:nvSpPr>
              <p:cNvPr id="24" name="TextBox 12">
                <a:extLst>
                  <a:ext uri="{FF2B5EF4-FFF2-40B4-BE49-F238E27FC236}">
                    <a16:creationId xmlns:a16="http://schemas.microsoft.com/office/drawing/2014/main" id="{A65BCCBD-7FE8-390D-DD78-B2A5887160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0947" y="8641080"/>
                <a:ext cx="5816336" cy="1348061"/>
              </a:xfrm>
              <a:prstGeom prst="rect">
                <a:avLst/>
              </a:prstGeom>
              <a:blipFill>
                <a:blip r:embed="rId8"/>
                <a:stretch>
                  <a:fillRect t="-6335" r="-2306" b="-1312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ounded Rectangle 13">
            <a:extLst>
              <a:ext uri="{FF2B5EF4-FFF2-40B4-BE49-F238E27FC236}">
                <a16:creationId xmlns:a16="http://schemas.microsoft.com/office/drawing/2014/main" id="{E1AAF8C5-33D7-88B4-6AA7-AC236F23090A}"/>
              </a:ext>
            </a:extLst>
          </p:cNvPr>
          <p:cNvSpPr/>
          <p:nvPr/>
        </p:nvSpPr>
        <p:spPr>
          <a:xfrm>
            <a:off x="1585431" y="7274142"/>
            <a:ext cx="6583680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14">
                <a:extLst>
                  <a:ext uri="{FF2B5EF4-FFF2-40B4-BE49-F238E27FC236}">
                    <a16:creationId xmlns:a16="http://schemas.microsoft.com/office/drawing/2014/main" id="{3A1A37D2-028D-9A8C-A190-71C613AFCB1B}"/>
                  </a:ext>
                </a:extLst>
              </p:cNvPr>
              <p:cNvSpPr txBox="1"/>
              <p:nvPr/>
            </p:nvSpPr>
            <p:spPr>
              <a:xfrm>
                <a:off x="3809638" y="7685621"/>
                <a:ext cx="2135265" cy="661912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ja-JP" sz="3600" b="1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ar-AE" sz="3600" b="1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ja-JP" altLang="ar-AE" sz="3600" b="1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ar-AE" altLang="ja-JP" sz="3600" b="1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ja-JP" altLang="ar-AE" sz="3600" b="1" i="1" dirty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𝒔𝒖𝒏𝒇𝒂𝒄𝒆</m:t>
                          </m:r>
                        </m:sub>
                      </m:sSub>
                    </m:oMath>
                  </m:oMathPara>
                </a14:m>
                <a:endParaRPr lang="ar-AE" sz="3600" b="1" dirty="0">
                  <a:solidFill>
                    <a:srgbClr val="00B050"/>
                  </a:solidFill>
                  <a:latin typeface="Yu Gothic"/>
                </a:endParaRPr>
              </a:p>
            </p:txBody>
          </p:sp>
        </mc:Choice>
        <mc:Fallback>
          <p:sp>
            <p:nvSpPr>
              <p:cNvPr id="28" name="TextBox 14">
                <a:extLst>
                  <a:ext uri="{FF2B5EF4-FFF2-40B4-BE49-F238E27FC236}">
                    <a16:creationId xmlns:a16="http://schemas.microsoft.com/office/drawing/2014/main" id="{3A1A37D2-028D-9A8C-A190-71C613AFC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638" y="7685621"/>
                <a:ext cx="2135265" cy="66191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15">
            <a:extLst>
              <a:ext uri="{FF2B5EF4-FFF2-40B4-BE49-F238E27FC236}">
                <a16:creationId xmlns:a16="http://schemas.microsoft.com/office/drawing/2014/main" id="{74A937E2-0334-D7F5-D002-BA0204F29158}"/>
              </a:ext>
            </a:extLst>
          </p:cNvPr>
          <p:cNvSpPr txBox="1"/>
          <p:nvPr/>
        </p:nvSpPr>
        <p:spPr>
          <a:xfrm>
            <a:off x="2110427" y="8600022"/>
            <a:ext cx="5533694" cy="1348061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ja-JP" sz="2800" b="1" dirty="0"/>
              <a:t>太陽指向面ごとの基準DC</a:t>
            </a:r>
            <a:br>
              <a:rPr lang="ja-JP" altLang="ja-JP" sz="2800" dirty="0"/>
            </a:br>
            <a:r>
              <a:rPr lang="ja-JP" altLang="ja-JP" sz="2800" dirty="0"/>
              <a:t>MX / MY / PX / PYごとに設定</a:t>
            </a:r>
            <a:endParaRPr lang="en-US" altLang="ja-JP" sz="2800" dirty="0"/>
          </a:p>
          <a:p>
            <a:pPr algn="ctr"/>
            <a:r>
              <a:rPr lang="ja-JP" altLang="ja-JP" sz="2800" dirty="0"/>
              <a:t> 同じ太陽指向面のケース間で共有</a:t>
            </a:r>
            <a:endParaRPr sz="2500" b="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32" name="TextBox 6">
            <a:extLst>
              <a:ext uri="{FF2B5EF4-FFF2-40B4-BE49-F238E27FC236}">
                <a16:creationId xmlns:a16="http://schemas.microsoft.com/office/drawing/2014/main" id="{DC45C657-F199-658B-9ABD-8A96C29F83D6}"/>
              </a:ext>
            </a:extLst>
          </p:cNvPr>
          <p:cNvSpPr txBox="1"/>
          <p:nvPr/>
        </p:nvSpPr>
        <p:spPr>
          <a:xfrm>
            <a:off x="8485875" y="5471687"/>
            <a:ext cx="6360844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lang="en-US" altLang="ja-JP" sz="2800" dirty="0">
                <a:solidFill>
                  <a:srgbClr val="1B74AA"/>
                </a:solidFill>
              </a:rPr>
              <a:t>※ </a:t>
            </a:r>
            <a:r>
              <a:rPr lang="ja-JP" altLang="en-US" sz="2800" dirty="0">
                <a:solidFill>
                  <a:srgbClr val="1B74AA"/>
                </a:solidFill>
              </a:rPr>
              <a:t>コンポが増えたら</a:t>
            </a:r>
            <a:r>
              <a:rPr lang="en-US" altLang="ja-JP" sz="2800" dirty="0">
                <a:solidFill>
                  <a:srgbClr val="1B74AA"/>
                </a:solidFill>
              </a:rPr>
              <a:t>c*I</a:t>
            </a:r>
            <a:r>
              <a:rPr lang="ja-JP" altLang="en-US" sz="2800" dirty="0">
                <a:solidFill>
                  <a:srgbClr val="1B74AA"/>
                </a:solidFill>
              </a:rPr>
              <a:t>の項は増加する</a:t>
            </a:r>
            <a:endParaRPr lang="en-US" altLang="ja-JP" sz="2800" dirty="0">
              <a:solidFill>
                <a:srgbClr val="1B74AA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先頭1軌道で時変、ケース横断LOOでDCを評価する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926080"/>
            <a:ext cx="4173321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8992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Per case
first orbit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234025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563209" y="2926080"/>
            <a:ext cx="4173321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6361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Fit aemp,bemp
Ridge≈OLS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91395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0120579" y="2926080"/>
            <a:ext cx="4173321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193731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Median aemp
per face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348764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4677948" y="2926080"/>
            <a:ext cx="4173321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51100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Level-2 fit
across cases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906134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9235318" y="2926080"/>
            <a:ext cx="4173321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9308470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LOO bpred
next 2 orbits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645920" y="5577840"/>
          <a:ext cx="210312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Layer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Train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Test / validation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Level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first orbit / case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next 2 orbits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Level 2 b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other 20 cases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leave-one-case-out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Shared 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median of all aemp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not full LOO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2011680" y="10149840"/>
            <a:ext cx="20299680" cy="123444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468880" y="10497312"/>
            <a:ext cx="19385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>
                <a:solidFill>
                  <a:srgbClr val="D03B46"/>
                </a:solidFill>
                <a:latin typeface="Yu Gothic"/>
              </a:rPr>
              <a:t>同一基本構造の感度ケース：別機体への汎化を示す評価ではない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4946528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結果＜階層</a:t>
            </a:r>
            <a:r>
              <a:rPr lang="en-US" altLang="ja-JP" sz="3200" b="1" dirty="0">
                <a:solidFill>
                  <a:srgbClr val="082B52"/>
                </a:solidFill>
                <a:latin typeface="Yu Gothic"/>
              </a:rPr>
              <a:t>1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＞：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共有感度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 a は21ケース追加後も ±28–31 µrad/°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Cで安定する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743200"/>
            <a:ext cx="14813280" cy="80467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case_a_emp_by_sun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291" y="2743200"/>
            <a:ext cx="13794377" cy="80467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459200" y="2926080"/>
          <a:ext cx="658367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Yu Gothic"/>
                        </a:rPr>
                        <a:t>Sun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Yu Gothic"/>
                        </a:rPr>
                        <a:t>a_shared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+30.6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+28.6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−28.1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−28.7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459200" y="8229600"/>
            <a:ext cx="6583680" cy="2194560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824960" y="8641080"/>
            <a:ext cx="58521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>
                <a:solidFill>
                  <a:srgbClr val="239571"/>
                </a:solidFill>
                <a:latin typeface="Yu Gothic"/>
              </a:rPr>
              <a:t>事前解析・熱真空試験で
固定できる可能性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5550860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結果＜階層</a:t>
            </a:r>
            <a:r>
              <a:rPr lang="en-US" altLang="ja-JP" sz="3200" b="1" dirty="0">
                <a:solidFill>
                  <a:srgbClr val="082B52"/>
                </a:solidFill>
                <a:latin typeface="Yu Gothic"/>
              </a:rPr>
              <a:t>2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＞：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ケースDC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 b 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は太陽面＋発熱フラグで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 LOO RMSE 3.8 µ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radとなる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4630400" cy="7955279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case_b_emp_vs_b_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877" y="2743200"/>
            <a:ext cx="13855445" cy="795527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093440" y="2880360"/>
          <a:ext cx="6949439" cy="612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Feature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µrad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b0_MX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+15.7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+2.8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−12.0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−24.0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c_PROP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−22.9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75214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c_PCDU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−10.2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184880" y="9372600"/>
            <a:ext cx="676656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276320" y="9500616"/>
            <a:ext cx="658368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3.80 µrad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0" y="10177272"/>
            <a:ext cx="658368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LOO b RMSE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標準ケースは数µradまで予測し、半電力ケースでDCずれが残る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1064240" cy="777240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se08_bcase_true_vs_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5882" y="2743200"/>
            <a:ext cx="10201275" cy="7772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390120" y="2743200"/>
            <a:ext cx="11064240" cy="777240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ase22_bcase_true_vs_p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602" y="2743200"/>
            <a:ext cx="10201275" cy="777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0" y="10744200"/>
            <a:ext cx="786384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200" b="1">
                <a:solidFill>
                  <a:srgbClr val="239571"/>
                </a:solidFill>
                <a:latin typeface="Yu Gothic"/>
              </a:rPr>
              <a:t>Case 08: standard / large swing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0" y="10744200"/>
            <a:ext cx="685800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200" b="1">
                <a:solidFill>
                  <a:srgbClr val="EC9427"/>
                </a:solidFill>
                <a:latin typeface="Yu Gothic"/>
              </a:rPr>
              <a:t>Case 22: PROP 12.5 W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生LOS数百µradに対し、LOO test残差は平均約5.5 µradとなる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6733520" cy="80467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case_raw_vs_model_rm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2743200"/>
            <a:ext cx="15544800" cy="8046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8105120" y="3108960"/>
            <a:ext cx="48463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196560" y="3236976"/>
            <a:ext cx="46634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1B74AA"/>
                </a:solidFill>
                <a:latin typeface="Yu Gothic"/>
              </a:rPr>
              <a:t>615 µrad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0" y="3913632"/>
            <a:ext cx="46634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median raw RMS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105120" y="5303520"/>
            <a:ext cx="48463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196560" y="5431536"/>
            <a:ext cx="46634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5.5 µrad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96560" y="6108192"/>
            <a:ext cx="46634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mean LOO test RMSE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0" y="7498079"/>
            <a:ext cx="48463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196560" y="7626096"/>
            <a:ext cx="46634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EC9427"/>
                </a:solidFill>
                <a:latin typeface="Yu Gothic"/>
              </a:rPr>
              <a:t>1–2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96560" y="8302752"/>
            <a:ext cx="46634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thermal reduction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1109960"/>
            <a:ext cx="1709928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300" b="0">
                <a:solidFill>
                  <a:srgbClr val="666F79"/>
                </a:solidFill>
                <a:latin typeface="Yu Gothic"/>
              </a:rPr>
              <a:t>raw RMSとprediction RMSEは異なる統計量：オーダー比較として表示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Positioning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5688718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先行研究の存在：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新規性は式形ではなく、衛星バス相対LOSと粗捕捉への接続にある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10698480" cy="7498079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3246120"/>
            <a:ext cx="97840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082B52"/>
                </a:solidFill>
                <a:latin typeface="Yu Gothic"/>
              </a:rPr>
              <a:t>JANUS / prior 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389120"/>
            <a:ext cx="9326880" cy="2926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Optical head内で LOS≈KΔT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温度センサによる一次補正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比例関係自体は既知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7955279"/>
            <a:ext cx="8961120" cy="10972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>
                <a:solidFill>
                  <a:srgbClr val="D03B46"/>
                </a:solidFill>
                <a:latin typeface="Yu Gothic"/>
              </a:rPr>
              <a:t>式に切片を足すこと自体を
新規性とは主張しない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481560" y="2834640"/>
            <a:ext cx="10698480" cy="7498079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38760" y="3246120"/>
            <a:ext cx="97840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1B74AA"/>
                </a:solidFill>
                <a:latin typeface="Yu Gothic"/>
              </a:rPr>
              <a:t>This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21640" y="4389120"/>
            <a:ext cx="9326880" cy="3840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STT–LCTの衛星バス相対LOS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太陽面−反対面ΔTの共有感度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発熱DCの階層モデル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scan-center FFと捕捉時間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0927080"/>
            <a:ext cx="1691640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D03B46"/>
                </a:solidFill>
                <a:latin typeface="Yu Gothic"/>
              </a:rPr>
              <a:t>限界：MZ・非支配軸・別構造・飛行実証は未評価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Operational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aは事前同定、b_caseは運用条件・軌道上残差で更新する価値が高い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926080"/>
          <a:ext cx="21945600" cy="658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4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Observed behavior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Operational treatment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a(sun)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stable across cases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ground analysis / thermal-vac test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b_case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changes with heat mode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mode table + online update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time-varying residual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few to 10+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slow correction if observable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nonthermal error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same orbit-frequency family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separate state / prior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103120" y="10104120"/>
            <a:ext cx="20116800" cy="1280160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0" y="10469880"/>
            <a:ext cx="1883664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239571"/>
                </a:solidFill>
                <a:latin typeface="Yu Gothic"/>
              </a:rPr>
              <a:t>Adaptiveの第一候補は a ではなく b_case / model DC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PAT evaluation and orbit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予測LOSをscan centerから引き、残差をスキャン対象とする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834640"/>
            <a:ext cx="21762720" cy="214884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737360" y="3456432"/>
            <a:ext cx="2084832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600" b="1" dirty="0" err="1">
                <a:solidFill>
                  <a:srgbClr val="082B52"/>
                </a:solidFill>
                <a:latin typeface="Yu Gothic"/>
              </a:rPr>
              <a:t>escan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 = </a:t>
            </a:r>
            <a:r>
              <a:rPr sz="3600" b="1" dirty="0" err="1">
                <a:solidFill>
                  <a:srgbClr val="082B52"/>
                </a:solidFill>
                <a:latin typeface="Yu Gothic"/>
              </a:rPr>
              <a:t>enonthermal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 + </a:t>
            </a:r>
            <a:r>
              <a:rPr sz="3600" b="1" dirty="0" err="1">
                <a:solidFill>
                  <a:srgbClr val="082B52"/>
                </a:solidFill>
                <a:latin typeface="Yu Gothic"/>
              </a:rPr>
              <a:t>θthermal,true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 − </a:t>
            </a:r>
            <a:r>
              <a:rPr sz="3600" b="1" dirty="0" err="1">
                <a:solidFill>
                  <a:srgbClr val="082B52"/>
                </a:solidFill>
                <a:latin typeface="Yu Gothic"/>
              </a:rPr>
              <a:t>θ̂thermal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5486400"/>
            <a:ext cx="4045305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53312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Thermal LOS
truth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80329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709513" y="5486400"/>
            <a:ext cx="4045305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2665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Model
prediction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809683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0138867" y="5486400"/>
            <a:ext cx="4045305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12019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Scan-center
residual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239036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568220" y="5486400"/>
            <a:ext cx="4045305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641372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Rectangular
spiral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8668390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8997574" y="5486400"/>
            <a:ext cx="4045305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9070726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Acquisition
time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91840" y="7680960"/>
          <a:ext cx="17739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69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Comparison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Purpose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no correction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thermal baseline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static bias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DC baseline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bcase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proposed model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thermal truth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ideal upper bound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thermal+nonthermal, no corr.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realism baseline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bcase+nonthermal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main result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simulation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粗捕捉は矩形スパイラルを離散点で抽象化する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9326880" cy="777240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5669280" y="6492240"/>
            <a:ext cx="658368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6327648" y="5833872"/>
            <a:ext cx="0" cy="658368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010912" y="5833872"/>
            <a:ext cx="1316736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010912" y="5833872"/>
            <a:ext cx="0" cy="1316735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10912" y="7150607"/>
            <a:ext cx="1975104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986016" y="5175504"/>
            <a:ext cx="0" cy="1975103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352544" y="5175504"/>
            <a:ext cx="2633472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52544" y="5175504"/>
            <a:ext cx="0" cy="2633471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352544" y="7808975"/>
            <a:ext cx="3291839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644383" y="4517136"/>
            <a:ext cx="0" cy="3291839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596128" y="6419088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254496" y="6419088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254496" y="5760720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37760" y="5760720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937760" y="7077455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912864" y="7077455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912864" y="5102352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279392" y="5102352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79392" y="7735823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571231" y="7735823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571231" y="4443983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086600" y="4892040"/>
            <a:ext cx="457200" cy="457200"/>
          </a:xfrm>
          <a:prstGeom prst="ellipse">
            <a:avLst/>
          </a:prstGeom>
          <a:solidFill>
            <a:srgbClr val="FEF5E6"/>
          </a:solidFill>
          <a:ln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1155680" y="2834640"/>
          <a:ext cx="11887200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Value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Range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±1600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Step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40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Detection radius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Dwell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0.1 s / point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Points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6561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1338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Max nominal time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656.1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11155680" y="9464040"/>
            <a:ext cx="11887200" cy="182880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612880" y="9829800"/>
            <a:ext cx="10972800" cy="10058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D03B46"/>
                </a:solidFill>
                <a:latin typeface="Yu Gothic"/>
              </a:rPr>
              <a:t>点間移動・settling・光強度確率なし
各時刻を独立な捕捉機会として評価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simulation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非熱誤差は軌道・アライメント・姿勢・ドリフトを合成する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834640"/>
            <a:ext cx="21762720" cy="192024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3383280"/>
            <a:ext cx="2066544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500" b="1">
                <a:solidFill>
                  <a:srgbClr val="082B52"/>
                </a:solidFill>
                <a:latin typeface="Yu Gothic"/>
              </a:rPr>
              <a:t>enonthermal = eorbit + ealignment + eattitude + edrift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97280" y="5486400"/>
          <a:ext cx="2212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Component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Model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Timescale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Size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Orbit prediction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Sentinel-1 TLE vs POEORB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orbit-period family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mean 280–700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Alignment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Gaussian constant / case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DC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50 µrad/axis, 1σ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Attitude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Gaussian / sample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simplified broadband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50 µrad/axis, 1σ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Drift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sinusoid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900 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30 µrad amplitude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834640" y="10744200"/>
            <a:ext cx="1874520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D03B46"/>
                </a:solidFill>
                <a:latin typeface="Yu Gothic"/>
              </a:rPr>
              <a:t>特定衛星の誤差バジェット再現ではなく、GNSS非搭載LEO小型衛星の共存シナリオ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Orbit prediction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利用可能な最新TLEをforward propagationし、PODと比較する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834640"/>
            <a:ext cx="4118457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Sentinel-1
NORAD 39634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270601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599785" y="2834640"/>
            <a:ext cx="4118457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72937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Latest TLE
epoch≤t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73107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0102291" y="2834640"/>
            <a:ext cx="4118457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175443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SGP4 forward
rpred(t)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75612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4604796" y="2834640"/>
            <a:ext cx="4118457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77948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AUX_POEORB
rtruth(t)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778118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9107302" y="2834640"/>
            <a:ext cx="4118457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9180454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δr(t)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4800600"/>
            <a:ext cx="14081760" cy="62179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orbit_prediction_error_3orb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4800600"/>
            <a:ext cx="6217920" cy="621792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5727680" y="4800600"/>
            <a:ext cx="7315200" cy="621792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139159" y="5303520"/>
            <a:ext cx="6492240" cy="43891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POEORBをtruth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未来TLEのbackward伝搬なし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60 s sampling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相手機は片側truth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TD時刻へcyclic resample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0" y="9966960"/>
            <a:ext cx="640080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100" b="1">
                <a:solidFill>
                  <a:srgbClr val="D03B46"/>
                </a:solidFill>
                <a:latin typeface="Yu Gothic"/>
              </a:rPr>
              <a:t>2026 S1データとTD軌道時刻は位相不一致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Orbit prediction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位置誤差をリンクLOS横断面へ投影し、STT/body x–yへ変換する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9692640" cy="758952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3931920"/>
            <a:ext cx="859536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000" b="1">
                <a:solidFill>
                  <a:srgbClr val="082B52"/>
                </a:solidFill>
                <a:latin typeface="Yu Gothic"/>
              </a:rPr>
              <a:t>δr⊥ = δr − (δr·ℓ̂)ℓ̂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303520"/>
            <a:ext cx="786384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200" b="1">
                <a:solidFill>
                  <a:srgbClr val="1B74AA"/>
                </a:solidFill>
                <a:latin typeface="Yu Gothic"/>
              </a:rPr>
              <a:t>θ ≈ δr⊥ / Rlink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6766560"/>
            <a:ext cx="8412480" cy="24688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orbit catalogから姿勢を構成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STT/body x–yへ射影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熱LOSと同じ2成分で加算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1430000" y="2834640"/>
          <a:ext cx="11704320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Sun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Partner / link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Status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along-track ISL 800 km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ready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anti-along ISL 800 km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ready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nadir ground ~695 km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ready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zenith proxy 800 km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unrealistic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11430000" y="9509760"/>
            <a:ext cx="11704320" cy="164592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0" y="9966960"/>
            <a:ext cx="1078992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D03B46"/>
                </a:solidFill>
                <a:latin typeface="Yu Gothic"/>
              </a:rPr>
              <a:t>MXは角度計算可能だが現実的リンクではない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Orbit prediction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熱と軌道予測誤差はともに10⁻⁴ Hz台の軌道周期族となる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4813280" cy="80467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orbit_error_stt_LTAN06_800km_1213COLD_MY_SUN_3orb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743200"/>
            <a:ext cx="8046720" cy="80467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367759" y="2926080"/>
          <a:ext cx="6583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mean norm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 ISL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 ISL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PX ground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≈694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 proxy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≈612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367759" y="8229600"/>
            <a:ext cx="6583680" cy="2194560"/>
          </a:xfrm>
          <a:prstGeom prst="roundRect">
            <a:avLst/>
          </a:prstGeom>
          <a:solidFill>
            <a:srgbClr val="FEF5E6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733520" y="8641080"/>
            <a:ext cx="5852160" cy="10972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EC9427"/>
                </a:solidFill>
                <a:latin typeface="Yu Gothic"/>
              </a:rPr>
              <a:t>Thermal: ~101 min
Orbit norm: ~101 / 50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1064240"/>
            <a:ext cx="152704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D03B46"/>
                </a:solidFill>
                <a:latin typeface="Yu Gothic"/>
              </a:rPr>
              <a:t>単純な『低周波＝熱』分離は難しい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熱のみでは階層モデルがthermal-truth上界にほぼ到達する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36976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No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7451" y="33375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67451" y="3337560"/>
            <a:ext cx="8888693" cy="1211580"/>
          </a:xfrm>
          <a:prstGeom prst="rect">
            <a:avLst/>
          </a:prstGeom>
          <a:solidFill>
            <a:srgbClr val="D03B46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94408" y="32004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D03B46"/>
                </a:solidFill>
                <a:latin typeface="Yu Gothic"/>
              </a:rPr>
              <a:t>124.6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722876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Static bias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7451" y="48234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67451" y="4823460"/>
            <a:ext cx="340994" cy="121158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694408" y="46863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EC9427"/>
                </a:solidFill>
                <a:latin typeface="Yu Gothic"/>
              </a:rPr>
              <a:t>4.78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6208776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Hierarchical bcase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7451" y="63093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67451" y="6309360"/>
            <a:ext cx="73152" cy="121158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94408" y="61722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239571"/>
                </a:solidFill>
                <a:latin typeface="Yu Gothic"/>
              </a:rPr>
              <a:t>0.116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7694675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Thermal truth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7451" y="77952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67451" y="7795260"/>
            <a:ext cx="73152" cy="121158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4694408" y="76581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1B74AA"/>
                </a:solidFill>
                <a:latin typeface="Yu Gothic"/>
              </a:rPr>
              <a:t>0.1 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6276320" y="3017520"/>
          <a:ext cx="67665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Model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Success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Mean tacq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No correction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95.9%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124.6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Static bias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99.3%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4.78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bcase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100%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0.116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truth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100%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0.100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16367759" y="8412480"/>
            <a:ext cx="658368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0" y="8540496"/>
            <a:ext cx="640080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8.8 µrad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0" y="9217152"/>
            <a:ext cx="640080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mean thermal residual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10881360"/>
            <a:ext cx="166420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500" b="0">
                <a:solidFill>
                  <a:srgbClr val="666F79"/>
                </a:solidFill>
                <a:latin typeface="Yu Gothic"/>
              </a:rPr>
              <a:t>熱モデル自体の能力を見る理想条件。主結果は非熱込み。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非熱込みでも平均捕捉時間156.9→59.6 s、成功率94.0→97.1%となる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36976"/>
            <a:ext cx="4217212" cy="17556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No thermal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0252" y="3337560"/>
            <a:ext cx="8538667" cy="15544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80252" y="3337560"/>
            <a:ext cx="8373230" cy="1554480"/>
          </a:xfrm>
          <a:prstGeom prst="rect">
            <a:avLst/>
          </a:prstGeom>
          <a:solidFill>
            <a:srgbClr val="D03B46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328647" y="3200400"/>
            <a:ext cx="914400" cy="18288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D03B46"/>
                </a:solidFill>
                <a:latin typeface="Yu Gothic"/>
              </a:rPr>
              <a:t>156.9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65776"/>
            <a:ext cx="4217212" cy="17556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Hierarchical bcase 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0252" y="5166360"/>
            <a:ext cx="8538667" cy="15544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80252" y="5166360"/>
            <a:ext cx="3180653" cy="155448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328647" y="5029200"/>
            <a:ext cx="914400" cy="18288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239571"/>
                </a:solidFill>
                <a:latin typeface="Yu Gothic"/>
              </a:rPr>
              <a:t>59.6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93440" y="3108960"/>
            <a:ext cx="66751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184880" y="3236976"/>
            <a:ext cx="64922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−62%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84880" y="3913632"/>
            <a:ext cx="64922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mean acquisition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093440" y="5257800"/>
            <a:ext cx="66751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6184880" y="5385816"/>
            <a:ext cx="64922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1B74AA"/>
                </a:solidFill>
                <a:latin typeface="Yu Gothic"/>
              </a:rPr>
              <a:t>+3.1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4880" y="6062472"/>
            <a:ext cx="64922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success rate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2743200" y="7635240"/>
          <a:ext cx="189280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6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Metric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No correction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bcase FF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Success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94.0%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97.1%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Mean tacq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156.9 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59.6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Median tacq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150.3 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36.2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Thermal residual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667 µrad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8.8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572000" y="11201400"/>
            <a:ext cx="152704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082B52"/>
                </a:solidFill>
                <a:latin typeface="Yu Gothic"/>
              </a:rPr>
              <a:t>補正後は非熱、特に軌道予測誤差が性能を支配する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改善幅はリンク幾何と熱LOSの大きさに依存する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834640"/>
          <a:ext cx="2203704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Case family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Thermal LOS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Orbit error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PAT interpretation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large (~1.2 mrad)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~285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large improvement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150–250 µrad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~285 µrad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moderate improvement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~0.9 mrad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~694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orbit remains large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~0.9 mrad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~612 µrad proxy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interpret cautiously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LTAN18 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nearly DC ~150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~290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small thermal benefit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0" y="9829800"/>
            <a:ext cx="20574000" cy="155448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0" y="10131552"/>
            <a:ext cx="19476720" cy="9144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D03B46"/>
                </a:solidFill>
                <a:latin typeface="Yu Gothic"/>
              </a:rPr>
              <a:t>全21ケース平均にはMXの非現実的zenith proxyが含まれる
論文ではrealistic-link subsetも併記する候補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Adaptiveは低周波熱抽出ではなく、主にモデルDC更新として考える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10789920" cy="7498079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3246120"/>
            <a:ext cx="987552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239571"/>
                </a:solidFill>
                <a:latin typeface="Yu Gothic"/>
              </a:rPr>
              <a:t>Proposed 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343400"/>
            <a:ext cx="9144000" cy="7315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 dirty="0">
                <a:solidFill>
                  <a:srgbClr val="082B52"/>
                </a:solidFill>
                <a:latin typeface="Yu Gothic"/>
              </a:rPr>
              <a:t>b̂k+1 = </a:t>
            </a:r>
            <a:r>
              <a:rPr sz="3400" b="1" dirty="0" err="1">
                <a:solidFill>
                  <a:srgbClr val="082B52"/>
                </a:solidFill>
                <a:latin typeface="Yu Gothic"/>
              </a:rPr>
              <a:t>b̂k</a:t>
            </a:r>
            <a:r>
              <a:rPr sz="3400" b="1" dirty="0">
                <a:solidFill>
                  <a:srgbClr val="082B52"/>
                </a:solidFill>
                <a:latin typeface="Yu Gothic"/>
              </a:rPr>
              <a:t> + </a:t>
            </a:r>
            <a:r>
              <a:rPr sz="3400" b="1" dirty="0" err="1">
                <a:solidFill>
                  <a:srgbClr val="082B52"/>
                </a:solidFill>
                <a:latin typeface="Yu Gothic"/>
              </a:rPr>
              <a:t>Kb</a:t>
            </a:r>
            <a:r>
              <a:rPr sz="3400" b="1" dirty="0">
                <a:solidFill>
                  <a:srgbClr val="082B52"/>
                </a:solidFill>
                <a:latin typeface="Yu Gothic"/>
              </a:rPr>
              <a:t> </a:t>
            </a:r>
            <a:r>
              <a:rPr sz="3400" b="1" dirty="0" err="1">
                <a:solidFill>
                  <a:srgbClr val="082B52"/>
                </a:solidFill>
                <a:latin typeface="Yu Gothic"/>
              </a:rPr>
              <a:t>rk</a:t>
            </a:r>
            <a:endParaRPr sz="34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37360" y="5669280"/>
            <a:ext cx="9418320" cy="3657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a：事前解析／熱真空試験で固定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b_case：捕捉後残差で更新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同一モード・複数パスで平均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orbit/alignmentの吸収を制約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527280" y="2834640"/>
            <a:ext cx="10607040" cy="7498079"/>
          </a:xfrm>
          <a:prstGeom prst="roundRect">
            <a:avLst/>
          </a:prstGeom>
          <a:solidFill>
            <a:srgbClr val="FEF5E6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84480" y="3246120"/>
            <a:ext cx="969264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EC9427"/>
                </a:solidFill>
                <a:latin typeface="Yu Gothic"/>
              </a:rPr>
              <a:t>Discussion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0" y="4343400"/>
            <a:ext cx="9326880" cy="47548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a固定・b更新の分担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同帯域の熱／軌道誤差の識別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軌道誤差を別状態で同時推定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現在のscan modelの妥当性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ICSOまでのAdaptive実装範囲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予測可能な熱成分は除去できたため、次はDC校正と非熱共存が課題となる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88720" y="2926080"/>
          <a:ext cx="21945600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What is established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What remains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TD/Femap → STT–LCT LOS → PAT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real spacecraft validation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shared |a|≈28–31 µrad/°C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MZ / non-dominant axis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LOO thermal residual ≈5.5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power-continuous Level 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nonthermal tacq 156.9→59.6 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realistic-link subset / dynamics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orbit and thermal share low-frequency band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adaptive observability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0" y="10058400"/>
            <a:ext cx="20574000" cy="137160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0" y="10442448"/>
            <a:ext cx="1947672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082B52"/>
                </a:solidFill>
                <a:latin typeface="Yu Gothic"/>
              </a:rPr>
              <a:t>ICSOへ：モデル主張を固定し、PAT条件とAdaptiveの必要最小限を詰める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Lightweight LOS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0390793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sz="3200" b="1" dirty="0" err="1">
                <a:solidFill>
                  <a:srgbClr val="082B52"/>
                </a:solidFill>
                <a:latin typeface="Yu Gothic"/>
              </a:rPr>
              <a:t>コンポ温度の時系列追加は共線と低SNRで係数が壊れる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834640"/>
            <a:ext cx="10332720" cy="713232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3291840"/>
            <a:ext cx="941832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D03B46"/>
                </a:solidFill>
                <a:latin typeface="Yu Gothic"/>
              </a:rPr>
              <a:t>Attempt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434840"/>
            <a:ext cx="90525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100" b="1">
                <a:solidFill>
                  <a:srgbClr val="082B52"/>
                </a:solidFill>
                <a:latin typeface="Yu Gothic"/>
              </a:rPr>
              <a:t>LOS = b + a·ΔT
+ c·(Tattach−Tref)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217920"/>
            <a:ext cx="9052560" cy="2743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corr(ΔT,TPCDU)≈0.995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local std≈0.1°C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係数が巨大化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ケース間で不安定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887200" y="6217920"/>
            <a:ext cx="1280160" cy="0"/>
          </a:xfrm>
          <a:prstGeom prst="line">
            <a:avLst/>
          </a:prstGeom>
          <a:ln w="508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533120" y="2834640"/>
            <a:ext cx="9509760" cy="7132320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990320" y="3291840"/>
            <a:ext cx="859536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239571"/>
                </a:solidFill>
                <a:latin typeface="Yu Gothic"/>
              </a:rPr>
              <a:t>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80" y="4572000"/>
            <a:ext cx="7863840" cy="20116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100" b="1">
                <a:solidFill>
                  <a:srgbClr val="082B52"/>
                </a:solidFill>
                <a:latin typeface="Yu Gothic"/>
              </a:rPr>
              <a:t>効いていたのは
軌道内変動ではなく
ケース平均DC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0" y="7543800"/>
            <a:ext cx="713232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239571"/>
                </a:solidFill>
                <a:latin typeface="Yu Gothic"/>
              </a:rPr>
              <a:t>→ b_case側へ分離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0652760"/>
            <a:ext cx="16642080" cy="6400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082B52"/>
                </a:solidFill>
                <a:latin typeface="Yu Gothic"/>
              </a:rPr>
              <a:t>RMSEだけでなく、係数の安定性と運用解釈でモデルを選ぶ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関連研究の位置づけ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7360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Badás et al. 2024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FSOC opto-thermo-mechanical review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Shi et al. 2023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bus optimization → acquisition time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Hu et al. 2022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GEO Fourier compensation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Li et al. 2025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LEO geometry → NN LOS correction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JANUS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optical-head LOS≈KΔT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Rüddenklau et al.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body-pointing FF, not thermal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全解析ケースの設計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2834640"/>
          <a:ext cx="21762720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0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Cases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Sun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Power / condition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04,13–15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+PROP / +PCDU / STTLCT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08,16,18,19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STTLCT / +PROP / 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05,06,20,21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STTLCT / +PROP / 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09,17,23,24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STTLCT / +PROP / 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10–12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HOT / Black / Alodine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22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PROP 12.5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25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LTAN18 / 693 km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熱光学特性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Alodine 1000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α=0.150, ε=0.038, α/ε=3.947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Black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α=0.974, ε=0.920, α/ε=1.059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0.5 synthetic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α=0.500, ε=0.500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LOS定義の比較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21945600" cy="841248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s_definitio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2743200"/>
            <a:ext cx="9253728" cy="84124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Level-2係数と解釈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7360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b0_MX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+15.7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+2.8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−12.0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−24.0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c_PROP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−22.9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c_PCDU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−10.2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モデルの難しいケース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834640"/>
            <a:ext cx="7223760" cy="66751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se11_bcase_true_vs_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420291"/>
            <a:ext cx="7223760" cy="5503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58200" y="2834640"/>
            <a:ext cx="7223760" cy="66751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ase22_bcase_true_vs_p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3420291"/>
            <a:ext cx="7223760" cy="550381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6184880" y="2834640"/>
            <a:ext cx="7223760" cy="66751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ase25_bcase_true_vs_p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4880" y="3420291"/>
            <a:ext cx="7223760" cy="5503817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0" y="9829800"/>
          <a:ext cx="1892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4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Case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Issue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11 Black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oracle floor ≈13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22 half power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ON/OFF b mismatch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25 all-sun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thermal LOS nearly DC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軌道予測誤差の仮定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63093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Truth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Sentinel-1 AUX_POEORB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Prediction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latest TLE + SGP4 forward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Partner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truth-known, one-sided error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Range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800 km ISL or nadir altitude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4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Resampling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cyclic to TD/Femap time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STT-frame射影結果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ISL along-track / 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ISL anti-along / 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ground nadir / 694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zenith proxy / 612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PATスキャンの注意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63093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Coverage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40 µrad grid, 25 µrad radius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Dynamics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 slew / settling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Target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constant during one scan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Statistics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mean tacq conditional on success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4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Opportunities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each sample independent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Adaptive候補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Scalar EWMA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 only; simplest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Kalman filter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 + orbit/alignment states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Mode-conditioned table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sun face × power mode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Batch pass update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avoid single-acquisition contamination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主要参考文献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34640"/>
            <a:ext cx="21671280" cy="795527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Riesing et al., TBIRD PAT on-orbit results, SPIE 2023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Shi et al., Thermal Deformation Stability Optimization, 2023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Badás et al., Opto-thermo-mechanical phenomena in satellite FSOC, 2024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Hu et al., On-Board Thermal Motion Compensation, 2022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Li et al., Thermal Deformation LOS Correction in LEO, 2025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Rüddenklau et al., Feed-Forward Body-Pointing Compensation, 2024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JANUS optical-head thermo-elastic LOS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ISSL true">
      <a:dk1>
        <a:srgbClr val="062654"/>
      </a:dk1>
      <a:lt1>
        <a:srgbClr val="FFFFFF"/>
      </a:lt1>
      <a:dk2>
        <a:srgbClr val="4B4B4B"/>
      </a:dk2>
      <a:lt2>
        <a:srgbClr val="8D8D8D"/>
      </a:lt2>
      <a:accent1>
        <a:srgbClr val="067BCA"/>
      </a:accent1>
      <a:accent2>
        <a:srgbClr val="C95656"/>
      </a:accent2>
      <a:accent3>
        <a:srgbClr val="EBA123"/>
      </a:accent3>
      <a:accent4>
        <a:srgbClr val="87AC70"/>
      </a:accent4>
      <a:accent5>
        <a:srgbClr val="B3618D"/>
      </a:accent5>
      <a:accent6>
        <a:srgbClr val="D16449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issl-template-ja-16-9" id="{4C5265F7-3B2E-5145-B81F-B8693CA354B3}" vid="{5C8F6914-05D8-EA47-8853-1E6EC346794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issl-template-ja-16-9</Template>
  <TotalTime>696</TotalTime>
  <Words>3977</Words>
  <Application>Microsoft Office PowerPoint</Application>
  <PresentationFormat>ユーザー設定</PresentationFormat>
  <Paragraphs>933</Paragraphs>
  <Slides>53</Slides>
  <Notes>53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53</vt:i4>
      </vt:variant>
    </vt:vector>
  </HeadingPairs>
  <TitlesOfParts>
    <vt:vector size="60" baseType="lpstr">
      <vt:lpstr>Yu Gothic</vt:lpstr>
      <vt:lpstr>Yu Gothic</vt:lpstr>
      <vt:lpstr>Yu Gothic Medium</vt:lpstr>
      <vt:lpstr>Aptos</vt:lpstr>
      <vt:lpstr>Arial</vt:lpstr>
      <vt:lpstr>Cambria Math</vt:lpstr>
      <vt:lpstr>Office テーマ</vt:lpstr>
      <vt:lpstr>Feedforward and Adaptive Correction of Time-Varying Thermal Bias for Coarse Acquisition in Optical Communication Systems</vt:lpstr>
      <vt:lpstr>01</vt:lpstr>
      <vt:lpstr>本日の目標：熱ひずみ予測モデルをレビューしてもらう</vt:lpstr>
      <vt:lpstr>やりたいこと：熱ひずみによる粗捕捉開始時の scan-center error を運用側で改善</vt:lpstr>
      <vt:lpstr>進捗：2か月で熱LOS真値生成・軽量モデル構築・PAT統合評価まで進んだ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高本　英熙</dc:creator>
  <cp:lastModifiedBy>高本　英熙</cp:lastModifiedBy>
  <cp:revision>14</cp:revision>
  <dcterms:created xsi:type="dcterms:W3CDTF">2026-05-11T08:23:04Z</dcterms:created>
  <dcterms:modified xsi:type="dcterms:W3CDTF">2026-07-21T00:17:48Z</dcterms:modified>
</cp:coreProperties>
</file>