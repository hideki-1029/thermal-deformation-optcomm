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55"/>
  </p:notesMasterIdLst>
  <p:sldIdLst>
    <p:sldId id="263" r:id="rId2"/>
    <p:sldId id="257" r:id="rId3"/>
    <p:sldId id="258" r:id="rId4"/>
    <p:sldId id="282" r:id="rId5"/>
    <p:sldId id="264" r:id="rId6"/>
    <p:sldId id="266" r:id="rId7"/>
    <p:sldId id="277" r:id="rId8"/>
    <p:sldId id="283" r:id="rId9"/>
    <p:sldId id="268" r:id="rId10"/>
    <p:sldId id="270" r:id="rId11"/>
    <p:sldId id="269" r:id="rId12"/>
    <p:sldId id="275" r:id="rId13"/>
    <p:sldId id="271" r:id="rId14"/>
    <p:sldId id="272" r:id="rId15"/>
    <p:sldId id="321" r:id="rId16"/>
    <p:sldId id="273" r:id="rId17"/>
    <p:sldId id="285" r:id="rId18"/>
    <p:sldId id="287" r:id="rId19"/>
    <p:sldId id="322" r:id="rId20"/>
    <p:sldId id="288" r:id="rId21"/>
    <p:sldId id="289" r:id="rId22"/>
    <p:sldId id="290" r:id="rId23"/>
    <p:sldId id="291" r:id="rId24"/>
    <p:sldId id="292" r:id="rId25"/>
    <p:sldId id="293" r:id="rId26"/>
    <p:sldId id="294" r:id="rId27"/>
    <p:sldId id="295" r:id="rId28"/>
    <p:sldId id="296" r:id="rId29"/>
    <p:sldId id="297" r:id="rId30"/>
    <p:sldId id="298" r:id="rId31"/>
    <p:sldId id="299" r:id="rId32"/>
    <p:sldId id="300" r:id="rId33"/>
    <p:sldId id="301" r:id="rId34"/>
    <p:sldId id="302" r:id="rId35"/>
    <p:sldId id="303" r:id="rId36"/>
    <p:sldId id="304" r:id="rId37"/>
    <p:sldId id="305" r:id="rId38"/>
    <p:sldId id="306" r:id="rId39"/>
    <p:sldId id="307" r:id="rId40"/>
    <p:sldId id="308" r:id="rId41"/>
    <p:sldId id="309" r:id="rId42"/>
    <p:sldId id="286" r:id="rId43"/>
    <p:sldId id="310" r:id="rId44"/>
    <p:sldId id="311" r:id="rId45"/>
    <p:sldId id="312" r:id="rId46"/>
    <p:sldId id="313" r:id="rId47"/>
    <p:sldId id="314" r:id="rId48"/>
    <p:sldId id="315" r:id="rId49"/>
    <p:sldId id="316" r:id="rId50"/>
    <p:sldId id="317" r:id="rId51"/>
    <p:sldId id="318" r:id="rId52"/>
    <p:sldId id="319" r:id="rId53"/>
    <p:sldId id="320" r:id="rId54"/>
  </p:sldIdLst>
  <p:sldSz cx="24382413" cy="13716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F25D7"/>
    <a:srgbClr val="66A8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01" autoAdjust="0"/>
    <p:restoredTop sz="91484" autoAdjust="0"/>
  </p:normalViewPr>
  <p:slideViewPr>
    <p:cSldViewPr snapToGrid="0">
      <p:cViewPr>
        <p:scale>
          <a:sx n="33" d="100"/>
          <a:sy n="33" d="100"/>
        </p:scale>
        <p:origin x="68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F80C97-2400-5344-89F3-3CED47A68B44}" type="datetimeFigureOut">
              <a:rPr kumimoji="1" lang="ja-JP" altLang="en-US" smtClean="0"/>
              <a:t>2026/7/20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C54EC6-2177-1447-9798-A1A3B804694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536270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7月6日の発表以降の進捗として、階層ΔTモデル、PAT評価、軌道予測誤差の導入を報告する。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冒頭で前回までの位置づけと今回のゴールを共有する。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本日は完成報告ではなく設計レビュー。モデル、PAT、Adaptiveの3点についてフィードバックをもらいたい。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光RG向けの復習。熱変形自体ではなくSTT基準とLCT光軸の差が粗捕捉開始時のscan-center errorになる。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7月6日との違いを一枚で示す。当時の25.8秒は条件が異なる予備結果なので今回とは直接比較しない。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全体フロー。TD/Femapは高忠実度参照で、軌道上では軽量モデルのみを使う。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Section 02: Thermo-structural analysis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簡略shell衛星。LCTはMZ、STTはPZ、PROP</a:t>
            </a:r>
            <a:r>
              <a:rPr dirty="0"/>
              <a:t>/</a:t>
            </a:r>
            <a:r>
              <a:rPr dirty="0" err="1"/>
              <a:t>PCDUは±Y側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基本3軌道。先頭1軌道をモデル同定、残り2軌道をtestに用いる。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発熱モードはLevel 2の説明変数。半電力case22はON/OFFフラグの限界を確認する。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実機詳細モデルではない。構造・拘束条件依存性が残る点を明示する。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PAT主入力はfar-field relative rotation。並進成分を含む角度は診断用。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21ケースはいずれも同じ基本構造の感度ケースで、別機体への汎化ではない。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光学特性未反映やmapper混線を経験し、ケースID管理を強化した。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A02541-F1A3-D1BA-31E3-AEDFAF8D0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983E82-966C-7F11-55A4-B9E813E6A9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536858-E9C3-BFD0-3D28-CF5344F9C22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Fourierよりも物理入力で軌道条件の変化を扱いたい。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88FFD8-2563-0C26-AF09-06CC675A61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7878745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Section 03: Lightweight LOS model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Fourierよりも物理入力で軌道条件の変化を扱いたい。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Level 1は支配軸のみ。非支配軸は現状モデル外。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B42EA-D360-34D6-60C7-03B284699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2F6A70-B226-B8D0-76C5-5C29EF41831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2AF636-D9A0-B111-F11B-3033CC3C42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Level 1は支配軸のみ。非支配軸は現状モデル外。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4A3804-A38E-981D-0A3F-5E89C2E6D8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79060836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現在は発熱フラグをMY/PYで有効化し、MX/PXでは差が小さいため無効。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bはLOOだがa_sharedは対象ケースを含む中央値で完全LOOではない。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aの安定性がモデルの核心。Adaptiveで毎回aを学ぶ必要性は低そう。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最大LOO残差は半電力case22で13.2 µrad。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半電力ではaは合うが、ON/OFF Level 2では中間bを表せない。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モデル精度の主数字。統計量の違いを明示する。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ΔT一次関係はJANUSにある。差分はバス相対LOS、階層DC、粗捕捉性能への接続。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モデル結果からAdaptiveの対象を再整理する。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Section 04: PAT evaluation and orbit error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非熱誤差は補正対象外で残る。熱モデル能力とシステム性能を分けて読む。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平均捕捉時間は成功試行のみの条件付き平均。成功率を併記する。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軌道のみ実データ根拠が強く、他は代表値の簡易モデル。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予測時刻より未来のTLEを使わない。現状は代表外乱としてcyclicに載せる。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以前の任意ECEF-Z基底からSTT/bodyへ接続。MX proxyに注意。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熱も軌道も軌道位相依存。低周波残差を熱として取り込む説明は修正する。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Staticが良いのはDC支配ケースが多いから。平均時間は成功試行条件付き。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21ケース単純平均。MY/PYで大幅改善、PX/MXは軌道誤差支配。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全平均だけでなくケース依存性を見せる。MXをどう扱うか議論したい。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Section 05: Discussion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ここから議論。周波数分離ではなく事前情報を使う状態推定が必要。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本編まとめ。ここで議論へ移る。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Section A: Appendix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見かけのRMSE改善より、共線で係数解釈が壊れることを問題視した。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Appendix: 関連研究の位置づけ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Appendix: 全解析ケースの設計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Appendix: 熱光学特性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Appendix: LOS定義の比較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Appendix: Level-2係数と解釈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Appendix: モデルの難しいケース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Appendix: 軌道予測誤差の仮定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Appendix: STT-frame射影結果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Appendix: PATスキャンの注意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Appendix: Adaptive候補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Appendix: 主要参考文献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77201" y="7340600"/>
            <a:ext cx="12431685" cy="2125436"/>
          </a:xfrm>
        </p:spPr>
        <p:txBody>
          <a:bodyPr anchor="b"/>
          <a:lstStyle>
            <a:lvl1pPr algn="l">
              <a:defRPr sz="4800" spc="3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677201" y="9794966"/>
            <a:ext cx="12431684" cy="2351314"/>
          </a:xfrm>
        </p:spPr>
        <p:txBody>
          <a:bodyPr/>
          <a:lstStyle>
            <a:lvl1pPr marL="0" indent="0" algn="l">
              <a:lnSpc>
                <a:spcPct val="50000"/>
              </a:lnSpc>
              <a:buNone/>
              <a:defRPr sz="3600" b="0">
                <a:solidFill>
                  <a:schemeClr val="tx2"/>
                </a:solidFill>
              </a:defRPr>
            </a:lvl1pPr>
            <a:lvl2pPr marL="914354" indent="0" algn="ctr">
              <a:buNone/>
              <a:defRPr sz="4000"/>
            </a:lvl2pPr>
            <a:lvl3pPr marL="1828709" indent="0" algn="ctr">
              <a:buNone/>
              <a:defRPr sz="3600"/>
            </a:lvl3pPr>
            <a:lvl4pPr marL="2743063" indent="0" algn="ctr">
              <a:buNone/>
              <a:defRPr sz="3200"/>
            </a:lvl4pPr>
            <a:lvl5pPr marL="3657417" indent="0" algn="ctr">
              <a:buNone/>
              <a:defRPr sz="3200"/>
            </a:lvl5pPr>
            <a:lvl6pPr marL="4571771" indent="0" algn="ctr">
              <a:buNone/>
              <a:defRPr sz="3200"/>
            </a:lvl6pPr>
            <a:lvl7pPr marL="5486126" indent="0" algn="ctr">
              <a:buNone/>
              <a:defRPr sz="3200"/>
            </a:lvl7pPr>
            <a:lvl8pPr marL="6400480" indent="0" algn="ctr">
              <a:buNone/>
              <a:defRPr sz="3200"/>
            </a:lvl8pPr>
            <a:lvl9pPr marL="7314834" indent="0" algn="ctr">
              <a:buNone/>
              <a:defRPr sz="32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E69BD-F0A9-D945-85B5-A92D8C4A6243}" type="datetime1">
              <a:rPr kumimoji="1" lang="ja-JP" altLang="en-US" smtClean="0"/>
              <a:t>2026/7/20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7BFEE9-6A35-CF42-A39A-CD481C3507E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9" name="テキスト プレースホルダー 8">
            <a:extLst>
              <a:ext uri="{FF2B5EF4-FFF2-40B4-BE49-F238E27FC236}">
                <a16:creationId xmlns:a16="http://schemas.microsoft.com/office/drawing/2014/main" id="{ADAD6F10-9E3C-081C-FAC9-2F96D835D9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6483539" y="6261101"/>
            <a:ext cx="5625347" cy="698499"/>
          </a:xfrm>
        </p:spPr>
        <p:txBody>
          <a:bodyPr/>
          <a:lstStyle>
            <a:lvl1pPr algn="r">
              <a:buNone/>
              <a:defRPr sz="4000" b="0">
                <a:solidFill>
                  <a:schemeClr val="tx2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0" name="テキスト プレースホルダー 8">
            <a:extLst>
              <a:ext uri="{FF2B5EF4-FFF2-40B4-BE49-F238E27FC236}">
                <a16:creationId xmlns:a16="http://schemas.microsoft.com/office/drawing/2014/main" id="{3A47DA29-0B22-B527-E246-85A23FDB432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677201" y="6261101"/>
            <a:ext cx="5625347" cy="698499"/>
          </a:xfrm>
        </p:spPr>
        <p:txBody>
          <a:bodyPr/>
          <a:lstStyle>
            <a:lvl1pPr algn="l">
              <a:buNone/>
              <a:defRPr sz="4000" b="0">
                <a:solidFill>
                  <a:schemeClr val="tx2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1" name="テキスト プレースホルダー 8">
            <a:extLst>
              <a:ext uri="{FF2B5EF4-FFF2-40B4-BE49-F238E27FC236}">
                <a16:creationId xmlns:a16="http://schemas.microsoft.com/office/drawing/2014/main" id="{3ABD93C0-C51C-2948-0F33-2EF4B6841AE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6483538" y="5413377"/>
            <a:ext cx="5625347" cy="698499"/>
          </a:xfrm>
        </p:spPr>
        <p:txBody>
          <a:bodyPr/>
          <a:lstStyle>
            <a:lvl1pPr algn="r">
              <a:buNone/>
              <a:defRPr sz="4000" b="0">
                <a:solidFill>
                  <a:schemeClr val="tx2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991240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08300" y="4192765"/>
            <a:ext cx="4965808" cy="1795335"/>
          </a:xfrm>
        </p:spPr>
        <p:txBody>
          <a:bodyPr anchor="b"/>
          <a:lstStyle>
            <a:lvl1pPr algn="ctr">
              <a:defRPr sz="5600">
                <a:solidFill>
                  <a:schemeClr val="bg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89" y="7727900"/>
            <a:ext cx="21029831" cy="3000374"/>
          </a:xfrm>
        </p:spPr>
        <p:txBody>
          <a:bodyPr/>
          <a:lstStyle>
            <a:lvl1pPr marL="0" indent="0" algn="ctr">
              <a:buNone/>
              <a:defRPr sz="5600" spc="300">
                <a:solidFill>
                  <a:schemeClr val="bg1"/>
                </a:solidFill>
              </a:defRPr>
            </a:lvl1pPr>
            <a:lvl2pPr marL="914354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2pPr>
            <a:lvl3pPr marL="1828709" indent="0">
              <a:buNone/>
              <a:defRPr sz="3600">
                <a:solidFill>
                  <a:schemeClr val="tx1">
                    <a:tint val="82000"/>
                  </a:schemeClr>
                </a:solidFill>
              </a:defRPr>
            </a:lvl3pPr>
            <a:lvl4pPr marL="2743063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4pPr>
            <a:lvl5pPr marL="3657417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5pPr>
            <a:lvl6pPr marL="4571771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6pPr>
            <a:lvl7pPr marL="5486126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7pPr>
            <a:lvl8pPr marL="640048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8pPr>
            <a:lvl9pPr marL="7314834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E95FB-2235-2F42-91D0-8B9F16BE7B80}" type="datetime1">
              <a:rPr kumimoji="1" lang="ja-JP" altLang="en-US" smtClean="0"/>
              <a:t>2026/7/20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7BFEE9-6A35-CF42-A39A-CD481C3507E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872E8AAC-513B-BB73-EF3E-6F21C4AF6A77}"/>
              </a:ext>
            </a:extLst>
          </p:cNvPr>
          <p:cNvCxnSpPr>
            <a:cxnSpLocks/>
          </p:cNvCxnSpPr>
          <p:nvPr userDrawn="1"/>
        </p:nvCxnSpPr>
        <p:spPr>
          <a:xfrm>
            <a:off x="11254952" y="6858000"/>
            <a:ext cx="1872509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00035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1620" y="1358425"/>
            <a:ext cx="22304738" cy="1550459"/>
          </a:xfrm>
        </p:spPr>
        <p:txBody>
          <a:bodyPr/>
          <a:lstStyle>
            <a:lvl1pPr>
              <a:defRPr b="1" i="0"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5378" y="3104147"/>
            <a:ext cx="23020980" cy="9249779"/>
          </a:xfrm>
        </p:spPr>
        <p:txBody>
          <a:bodyPr/>
          <a:lstStyle>
            <a:lvl1pPr>
              <a:defRPr b="1" i="0"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8ED544-ACEE-1142-A4DF-052F81DCAF13}" type="datetime1">
              <a:rPr kumimoji="1" lang="ja-JP" altLang="en-US" smtClean="0"/>
              <a:t>2026/7/20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7BFEE9-6A35-CF42-A39A-CD481C3507E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8" name="テキスト プレースホルダー 7">
            <a:extLst>
              <a:ext uri="{FF2B5EF4-FFF2-40B4-BE49-F238E27FC236}">
                <a16:creationId xmlns:a16="http://schemas.microsoft.com/office/drawing/2014/main" id="{6157C110-7517-0494-8AD1-7267A24661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6052" y="239182"/>
            <a:ext cx="15916804" cy="745067"/>
          </a:xfrm>
        </p:spPr>
        <p:txBody>
          <a:bodyPr anchor="ctr"/>
          <a:lstStyle>
            <a:lvl1pPr>
              <a:buNone/>
              <a:defRPr sz="4000">
                <a:solidFill>
                  <a:schemeClr val="bg2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1B145F9-61C6-1870-CE50-37506B7E4EF4}"/>
              </a:ext>
            </a:extLst>
          </p:cNvPr>
          <p:cNvSpPr/>
          <p:nvPr userDrawn="1"/>
        </p:nvSpPr>
        <p:spPr>
          <a:xfrm>
            <a:off x="815378" y="1358424"/>
            <a:ext cx="409074" cy="155045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579682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タイトルとコンテンツ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A8DA76-1C10-5547-91CE-253BD16E32D7}" type="datetime1">
              <a:rPr kumimoji="1" lang="ja-JP" altLang="en-US" smtClean="0"/>
              <a:t>2026/7/20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7BFEE9-6A35-CF42-A39A-CD481C3507E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8" name="テキスト プレースホルダー 7">
            <a:extLst>
              <a:ext uri="{FF2B5EF4-FFF2-40B4-BE49-F238E27FC236}">
                <a16:creationId xmlns:a16="http://schemas.microsoft.com/office/drawing/2014/main" id="{6157C110-7517-0494-8AD1-7267A24661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6052" y="239182"/>
            <a:ext cx="15916804" cy="745067"/>
          </a:xfrm>
        </p:spPr>
        <p:txBody>
          <a:bodyPr anchor="ctr"/>
          <a:lstStyle>
            <a:lvl1pPr>
              <a:buNone/>
              <a:defRPr sz="4000">
                <a:solidFill>
                  <a:schemeClr val="bg2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140CB54-3189-CA43-FFF0-6B6D5F85C9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46055" y="3182735"/>
            <a:ext cx="11364543" cy="928786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AF5EC9B8-55A0-1456-F399-6D313F6D26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471815" y="3182735"/>
            <a:ext cx="11364543" cy="928786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D7CF2C5-496E-3F41-87A5-8BF20107D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1620" y="1358425"/>
            <a:ext cx="22304738" cy="1550459"/>
          </a:xfrm>
        </p:spPr>
        <p:txBody>
          <a:bodyPr/>
          <a:lstStyle>
            <a:lvl1pPr>
              <a:defRPr b="1" i="0"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8D55661E-ACB1-18CB-79CA-CE03DAB48599}"/>
              </a:ext>
            </a:extLst>
          </p:cNvPr>
          <p:cNvSpPr/>
          <p:nvPr userDrawn="1"/>
        </p:nvSpPr>
        <p:spPr>
          <a:xfrm>
            <a:off x="815378" y="1358424"/>
            <a:ext cx="409074" cy="155045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71480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タイトルとコンテンツ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3E895-CCE5-A241-A85F-670DB4C916C8}" type="datetime1">
              <a:rPr kumimoji="1" lang="ja-JP" altLang="en-US" smtClean="0"/>
              <a:t>2026/7/20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7BFEE9-6A35-CF42-A39A-CD481C3507E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8" name="テキスト プレースホルダー 7">
            <a:extLst>
              <a:ext uri="{FF2B5EF4-FFF2-40B4-BE49-F238E27FC236}">
                <a16:creationId xmlns:a16="http://schemas.microsoft.com/office/drawing/2014/main" id="{6157C110-7517-0494-8AD1-7267A24661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6052" y="239182"/>
            <a:ext cx="15916804" cy="745067"/>
          </a:xfrm>
        </p:spPr>
        <p:txBody>
          <a:bodyPr anchor="ctr"/>
          <a:lstStyle>
            <a:lvl1pPr>
              <a:buNone/>
              <a:defRPr sz="4000">
                <a:solidFill>
                  <a:schemeClr val="bg2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140CB54-3189-CA43-FFF0-6B6D5F85C9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46055" y="4092833"/>
            <a:ext cx="11364543" cy="8377768"/>
          </a:xfrm>
          <a:ln w="63500">
            <a:solidFill>
              <a:srgbClr val="66A8D4"/>
            </a:solidFill>
          </a:ln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AF5EC9B8-55A0-1456-F399-6D313F6D26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471815" y="4092833"/>
            <a:ext cx="11364543" cy="8377768"/>
          </a:xfrm>
          <a:ln w="63500">
            <a:solidFill>
              <a:srgbClr val="66A8D4"/>
            </a:solidFill>
          </a:ln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1" name="テキスト プレースホルダー 10">
            <a:extLst>
              <a:ext uri="{FF2B5EF4-FFF2-40B4-BE49-F238E27FC236}">
                <a16:creationId xmlns:a16="http://schemas.microsoft.com/office/drawing/2014/main" id="{685F9C02-29EC-4168-A599-AFD3B71ED2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4114" y="3213462"/>
            <a:ext cx="11445949" cy="906463"/>
          </a:xfrm>
          <a:solidFill>
            <a:schemeClr val="tx1"/>
          </a:solidFill>
        </p:spPr>
        <p:txBody>
          <a:bodyPr anchor="ctr"/>
          <a:lstStyle>
            <a:lvl1pPr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2" name="テキスト プレースホルダー 10">
            <a:extLst>
              <a:ext uri="{FF2B5EF4-FFF2-40B4-BE49-F238E27FC236}">
                <a16:creationId xmlns:a16="http://schemas.microsoft.com/office/drawing/2014/main" id="{6165EC21-36B4-4CED-0569-C34ACFFC9B2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429459" y="3213462"/>
            <a:ext cx="11445949" cy="906463"/>
          </a:xfrm>
          <a:solidFill>
            <a:schemeClr val="tx1"/>
          </a:solidFill>
        </p:spPr>
        <p:txBody>
          <a:bodyPr anchor="ctr"/>
          <a:lstStyle>
            <a:lvl1pPr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BD06260A-761F-95EE-B2CA-F7236CCF8A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1620" y="1358425"/>
            <a:ext cx="22304738" cy="1550459"/>
          </a:xfrm>
        </p:spPr>
        <p:txBody>
          <a:bodyPr/>
          <a:lstStyle>
            <a:lvl1pPr>
              <a:defRPr b="1" i="0"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3685353A-F7C6-F829-267C-FA087B7BBA8F}"/>
              </a:ext>
            </a:extLst>
          </p:cNvPr>
          <p:cNvSpPr/>
          <p:nvPr userDrawn="1"/>
        </p:nvSpPr>
        <p:spPr>
          <a:xfrm>
            <a:off x="815378" y="1358424"/>
            <a:ext cx="409074" cy="155045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061960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タイトルとコンテンツ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F4C7F2-45E9-0742-99C2-D62F245DFEC9}" type="datetime1">
              <a:rPr kumimoji="1" lang="ja-JP" altLang="en-US" smtClean="0"/>
              <a:t>2026/7/20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7BFEE9-6A35-CF42-A39A-CD481C3507E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8" name="テキスト プレースホルダー 7">
            <a:extLst>
              <a:ext uri="{FF2B5EF4-FFF2-40B4-BE49-F238E27FC236}">
                <a16:creationId xmlns:a16="http://schemas.microsoft.com/office/drawing/2014/main" id="{6157C110-7517-0494-8AD1-7267A24661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6052" y="239182"/>
            <a:ext cx="15916804" cy="745067"/>
          </a:xfrm>
        </p:spPr>
        <p:txBody>
          <a:bodyPr anchor="ctr"/>
          <a:lstStyle>
            <a:lvl1pPr>
              <a:buNone/>
              <a:defRPr sz="4000">
                <a:solidFill>
                  <a:schemeClr val="bg2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140CB54-3189-CA43-FFF0-6B6D5F85C9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48681" y="3198393"/>
            <a:ext cx="7448868" cy="928786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8C0F6B-7CC3-BA66-8706-C8D1A03DEF88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8466772" y="3198393"/>
            <a:ext cx="7448868" cy="928786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E8965DEA-F2AC-C400-E7ED-BAFF867547B1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16387489" y="3198393"/>
            <a:ext cx="7448868" cy="928786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BD0E9647-9028-AEF2-D4FC-0AC5B2CFAF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1620" y="1358425"/>
            <a:ext cx="22304738" cy="1550459"/>
          </a:xfrm>
        </p:spPr>
        <p:txBody>
          <a:bodyPr/>
          <a:lstStyle>
            <a:lvl1pPr>
              <a:defRPr b="1" i="0"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93A54D1E-D7CD-DFE1-2E29-70A06AFEC982}"/>
              </a:ext>
            </a:extLst>
          </p:cNvPr>
          <p:cNvSpPr/>
          <p:nvPr userDrawn="1"/>
        </p:nvSpPr>
        <p:spPr>
          <a:xfrm>
            <a:off x="815378" y="1358424"/>
            <a:ext cx="409074" cy="155045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817824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タイトルとコンテンツ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9897-8C2A-CB44-93BE-9BFBC7559B74}" type="datetime1">
              <a:rPr kumimoji="1" lang="ja-JP" altLang="en-US" smtClean="0"/>
              <a:t>2026/7/20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7BFEE9-6A35-CF42-A39A-CD481C3507E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8" name="テキスト プレースホルダー 7">
            <a:extLst>
              <a:ext uri="{FF2B5EF4-FFF2-40B4-BE49-F238E27FC236}">
                <a16:creationId xmlns:a16="http://schemas.microsoft.com/office/drawing/2014/main" id="{6157C110-7517-0494-8AD1-7267A24661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6052" y="239182"/>
            <a:ext cx="15916804" cy="745067"/>
          </a:xfrm>
        </p:spPr>
        <p:txBody>
          <a:bodyPr anchor="ctr"/>
          <a:lstStyle>
            <a:lvl1pPr>
              <a:buNone/>
              <a:defRPr sz="4000">
                <a:solidFill>
                  <a:schemeClr val="bg2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140CB54-3189-CA43-FFF0-6B6D5F85C9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48681" y="4119925"/>
            <a:ext cx="7448868" cy="8366333"/>
          </a:xfrm>
          <a:ln w="63500">
            <a:solidFill>
              <a:srgbClr val="66A8D4"/>
            </a:solidFill>
          </a:ln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3" name="テキスト プレースホルダー 10">
            <a:extLst>
              <a:ext uri="{FF2B5EF4-FFF2-40B4-BE49-F238E27FC236}">
                <a16:creationId xmlns:a16="http://schemas.microsoft.com/office/drawing/2014/main" id="{2D417ACA-1B7B-F655-60FA-EDD80F82E67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04114" y="3234978"/>
            <a:ext cx="7572561" cy="906463"/>
          </a:xfrm>
          <a:solidFill>
            <a:schemeClr val="tx1"/>
          </a:solidFill>
        </p:spPr>
        <p:txBody>
          <a:bodyPr anchor="ctr"/>
          <a:lstStyle>
            <a:lvl1pPr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98EEB2B-456E-ACC0-29AE-C347BAE7F46F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8449492" y="4119925"/>
            <a:ext cx="7448868" cy="8366333"/>
          </a:xfrm>
          <a:ln w="63500">
            <a:solidFill>
              <a:srgbClr val="66A8D4"/>
            </a:solidFill>
          </a:ln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5" name="テキスト プレースホルダー 10">
            <a:extLst>
              <a:ext uri="{FF2B5EF4-FFF2-40B4-BE49-F238E27FC236}">
                <a16:creationId xmlns:a16="http://schemas.microsoft.com/office/drawing/2014/main" id="{6F409C7A-D2E8-2D36-6086-331B6DCB40D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404925" y="3234978"/>
            <a:ext cx="7572561" cy="906463"/>
          </a:xfrm>
          <a:solidFill>
            <a:schemeClr val="tx1"/>
          </a:solidFill>
        </p:spPr>
        <p:txBody>
          <a:bodyPr anchor="ctr"/>
          <a:lstStyle>
            <a:lvl1pPr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206D87F6-15FE-35D7-1017-BB745C23F612}"/>
              </a:ext>
            </a:extLst>
          </p:cNvPr>
          <p:cNvSpPr>
            <a:spLocks noGrp="1"/>
          </p:cNvSpPr>
          <p:nvPr>
            <p:ph sz="half" idx="19"/>
          </p:nvPr>
        </p:nvSpPr>
        <p:spPr>
          <a:xfrm>
            <a:off x="16350303" y="4119925"/>
            <a:ext cx="7448868" cy="8366333"/>
          </a:xfrm>
          <a:ln w="63500">
            <a:solidFill>
              <a:srgbClr val="66A8D4"/>
            </a:solidFill>
          </a:ln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7" name="テキスト プレースホルダー 10">
            <a:extLst>
              <a:ext uri="{FF2B5EF4-FFF2-40B4-BE49-F238E27FC236}">
                <a16:creationId xmlns:a16="http://schemas.microsoft.com/office/drawing/2014/main" id="{3B277172-6A10-80CC-49F6-E3A8C945839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6305736" y="3234978"/>
            <a:ext cx="7572561" cy="906463"/>
          </a:xfrm>
          <a:solidFill>
            <a:schemeClr val="tx1"/>
          </a:solidFill>
        </p:spPr>
        <p:txBody>
          <a:bodyPr anchor="ctr"/>
          <a:lstStyle>
            <a:lvl1pPr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194081A-47C8-EFEA-0CF4-1F31377C09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1620" y="1358425"/>
            <a:ext cx="22304738" cy="1550459"/>
          </a:xfrm>
        </p:spPr>
        <p:txBody>
          <a:bodyPr/>
          <a:lstStyle>
            <a:lvl1pPr>
              <a:defRPr b="1" i="0"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34DF2C9F-ACE0-585B-AAD3-3DD14251BADD}"/>
              </a:ext>
            </a:extLst>
          </p:cNvPr>
          <p:cNvSpPr/>
          <p:nvPr userDrawn="1"/>
        </p:nvSpPr>
        <p:spPr>
          <a:xfrm>
            <a:off x="815378" y="1358424"/>
            <a:ext cx="409074" cy="155045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558843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タイトルとコンテンツ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09540-48D4-DC4E-A020-784E13A6C686}" type="datetime1">
              <a:rPr kumimoji="1" lang="ja-JP" altLang="en-US" smtClean="0"/>
              <a:t>2026/7/20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7BFEE9-6A35-CF42-A39A-CD481C3507E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8" name="テキスト プレースホルダー 7">
            <a:extLst>
              <a:ext uri="{FF2B5EF4-FFF2-40B4-BE49-F238E27FC236}">
                <a16:creationId xmlns:a16="http://schemas.microsoft.com/office/drawing/2014/main" id="{6157C110-7517-0494-8AD1-7267A24661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6052" y="239182"/>
            <a:ext cx="15916804" cy="745067"/>
          </a:xfrm>
        </p:spPr>
        <p:txBody>
          <a:bodyPr anchor="ctr"/>
          <a:lstStyle>
            <a:lvl1pPr>
              <a:buNone/>
              <a:defRPr sz="4000">
                <a:solidFill>
                  <a:schemeClr val="bg2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140CB54-3189-CA43-FFF0-6B6D5F85C9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46055" y="3283060"/>
            <a:ext cx="11364543" cy="4306755"/>
          </a:xfrm>
          <a:ln w="63500">
            <a:solidFill>
              <a:srgbClr val="66A8D4"/>
            </a:solidFill>
          </a:ln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DAFEE08-A81F-707C-4BA0-7BC8776B90FF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12474291" y="3283060"/>
            <a:ext cx="11364543" cy="4306755"/>
          </a:xfrm>
          <a:ln w="63500">
            <a:solidFill>
              <a:srgbClr val="66A8D4"/>
            </a:solidFill>
          </a:ln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8A329A85-E9A3-6153-8937-4627CC5A7E62}"/>
              </a:ext>
            </a:extLst>
          </p:cNvPr>
          <p:cNvSpPr>
            <a:spLocks noGrp="1"/>
          </p:cNvSpPr>
          <p:nvPr>
            <p:ph sz="half" idx="19"/>
          </p:nvPr>
        </p:nvSpPr>
        <p:spPr>
          <a:xfrm>
            <a:off x="546055" y="8184309"/>
            <a:ext cx="11364543" cy="4306755"/>
          </a:xfrm>
          <a:ln w="63500">
            <a:solidFill>
              <a:srgbClr val="66A8D4"/>
            </a:solidFill>
          </a:ln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A569A398-229E-518C-A2F8-E87AC7FEABC2}"/>
              </a:ext>
            </a:extLst>
          </p:cNvPr>
          <p:cNvSpPr>
            <a:spLocks noGrp="1"/>
          </p:cNvSpPr>
          <p:nvPr>
            <p:ph sz="half" idx="21"/>
          </p:nvPr>
        </p:nvSpPr>
        <p:spPr>
          <a:xfrm>
            <a:off x="12474291" y="8184309"/>
            <a:ext cx="11364543" cy="4306755"/>
          </a:xfrm>
          <a:ln w="63500">
            <a:solidFill>
              <a:srgbClr val="66A8D4"/>
            </a:solidFill>
          </a:ln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F385C3C-D291-ECD3-9330-C9FEFA38FA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1620" y="1358425"/>
            <a:ext cx="22304738" cy="1550459"/>
          </a:xfrm>
        </p:spPr>
        <p:txBody>
          <a:bodyPr/>
          <a:lstStyle>
            <a:lvl1pPr>
              <a:defRPr b="1" i="0"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2AA52CC1-C979-7DAC-F8FF-07CEF0898376}"/>
              </a:ext>
            </a:extLst>
          </p:cNvPr>
          <p:cNvSpPr/>
          <p:nvPr userDrawn="1"/>
        </p:nvSpPr>
        <p:spPr>
          <a:xfrm>
            <a:off x="815378" y="1358424"/>
            <a:ext cx="409074" cy="155045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749365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タイトルとコンテンツ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09540-48D4-DC4E-A020-784E13A6C686}" type="datetime1">
              <a:rPr kumimoji="1" lang="ja-JP" altLang="en-US" smtClean="0"/>
              <a:t>2026/7/20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7BFEE9-6A35-CF42-A39A-CD481C3507E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8" name="テキスト プレースホルダー 7">
            <a:extLst>
              <a:ext uri="{FF2B5EF4-FFF2-40B4-BE49-F238E27FC236}">
                <a16:creationId xmlns:a16="http://schemas.microsoft.com/office/drawing/2014/main" id="{6157C110-7517-0494-8AD1-7267A24661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6052" y="239182"/>
            <a:ext cx="15916804" cy="745067"/>
          </a:xfrm>
        </p:spPr>
        <p:txBody>
          <a:bodyPr anchor="ctr"/>
          <a:lstStyle>
            <a:lvl1pPr>
              <a:buNone/>
              <a:defRPr sz="4000">
                <a:solidFill>
                  <a:schemeClr val="bg2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140CB54-3189-CA43-FFF0-6B6D5F85C9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46055" y="4063353"/>
            <a:ext cx="11364543" cy="3526461"/>
          </a:xfrm>
          <a:ln w="63500">
            <a:solidFill>
              <a:srgbClr val="66A8D4"/>
            </a:solidFill>
          </a:ln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2" name="テキスト プレースホルダー 10">
            <a:extLst>
              <a:ext uri="{FF2B5EF4-FFF2-40B4-BE49-F238E27FC236}">
                <a16:creationId xmlns:a16="http://schemas.microsoft.com/office/drawing/2014/main" id="{C9B2C448-12D1-42AE-F7D0-C8AED70F60C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04114" y="3176140"/>
            <a:ext cx="11445949" cy="906463"/>
          </a:xfrm>
          <a:solidFill>
            <a:schemeClr val="tx1"/>
          </a:solidFill>
        </p:spPr>
        <p:txBody>
          <a:bodyPr anchor="ctr"/>
          <a:lstStyle>
            <a:lvl1pPr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DAFEE08-A81F-707C-4BA0-7BC8776B90FF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12474291" y="4063353"/>
            <a:ext cx="11364543" cy="3526461"/>
          </a:xfrm>
          <a:ln w="63500">
            <a:solidFill>
              <a:srgbClr val="66A8D4"/>
            </a:solidFill>
          </a:ln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4" name="テキスト プレースホルダー 10">
            <a:extLst>
              <a:ext uri="{FF2B5EF4-FFF2-40B4-BE49-F238E27FC236}">
                <a16:creationId xmlns:a16="http://schemas.microsoft.com/office/drawing/2014/main" id="{C1871C9F-CBB5-6510-4C84-37F671317ED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2432350" y="3176140"/>
            <a:ext cx="11445949" cy="906463"/>
          </a:xfrm>
          <a:solidFill>
            <a:schemeClr val="tx1"/>
          </a:solidFill>
        </p:spPr>
        <p:txBody>
          <a:bodyPr anchor="ctr"/>
          <a:lstStyle>
            <a:lvl1pPr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8A329A85-E9A3-6153-8937-4627CC5A7E62}"/>
              </a:ext>
            </a:extLst>
          </p:cNvPr>
          <p:cNvSpPr>
            <a:spLocks noGrp="1"/>
          </p:cNvSpPr>
          <p:nvPr>
            <p:ph sz="half" idx="19"/>
          </p:nvPr>
        </p:nvSpPr>
        <p:spPr>
          <a:xfrm>
            <a:off x="546055" y="8964602"/>
            <a:ext cx="11364543" cy="3526461"/>
          </a:xfrm>
          <a:ln w="63500">
            <a:solidFill>
              <a:srgbClr val="66A8D4"/>
            </a:solidFill>
          </a:ln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6" name="テキスト プレースホルダー 10">
            <a:extLst>
              <a:ext uri="{FF2B5EF4-FFF2-40B4-BE49-F238E27FC236}">
                <a16:creationId xmlns:a16="http://schemas.microsoft.com/office/drawing/2014/main" id="{E5E7CD5A-D74B-3BF3-1D34-C6BC3F85556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04114" y="8077389"/>
            <a:ext cx="11445949" cy="906463"/>
          </a:xfrm>
          <a:solidFill>
            <a:schemeClr val="tx1"/>
          </a:solidFill>
        </p:spPr>
        <p:txBody>
          <a:bodyPr anchor="ctr"/>
          <a:lstStyle>
            <a:lvl1pPr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A569A398-229E-518C-A2F8-E87AC7FEABC2}"/>
              </a:ext>
            </a:extLst>
          </p:cNvPr>
          <p:cNvSpPr>
            <a:spLocks noGrp="1"/>
          </p:cNvSpPr>
          <p:nvPr>
            <p:ph sz="half" idx="21"/>
          </p:nvPr>
        </p:nvSpPr>
        <p:spPr>
          <a:xfrm>
            <a:off x="12474291" y="8964602"/>
            <a:ext cx="11364543" cy="3526461"/>
          </a:xfrm>
          <a:ln w="63500">
            <a:solidFill>
              <a:srgbClr val="66A8D4"/>
            </a:solidFill>
          </a:ln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8" name="テキスト プレースホルダー 10">
            <a:extLst>
              <a:ext uri="{FF2B5EF4-FFF2-40B4-BE49-F238E27FC236}">
                <a16:creationId xmlns:a16="http://schemas.microsoft.com/office/drawing/2014/main" id="{2F9C9DEC-0751-3E49-640C-C623BA98351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2432350" y="8077389"/>
            <a:ext cx="11445949" cy="906463"/>
          </a:xfrm>
          <a:solidFill>
            <a:schemeClr val="tx1"/>
          </a:solidFill>
        </p:spPr>
        <p:txBody>
          <a:bodyPr anchor="ctr"/>
          <a:lstStyle>
            <a:lvl1pPr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4428B87E-4E5C-BD4A-B7B9-5CD017C23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1620" y="1358425"/>
            <a:ext cx="22304738" cy="1550459"/>
          </a:xfrm>
        </p:spPr>
        <p:txBody>
          <a:bodyPr/>
          <a:lstStyle>
            <a:lvl1pPr>
              <a:defRPr b="1" i="0"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67564866-3642-1515-F78F-EBC63CFFFD78}"/>
              </a:ext>
            </a:extLst>
          </p:cNvPr>
          <p:cNvSpPr/>
          <p:nvPr userDrawn="1"/>
        </p:nvSpPr>
        <p:spPr>
          <a:xfrm>
            <a:off x="815378" y="1358424"/>
            <a:ext cx="409074" cy="155045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80967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セクション見出し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5357813"/>
            <a:ext cx="21029831" cy="3000374"/>
          </a:xfrm>
        </p:spPr>
        <p:txBody>
          <a:bodyPr anchor="ctr"/>
          <a:lstStyle>
            <a:lvl1pPr marL="0" indent="0" algn="ctr">
              <a:buNone/>
              <a:defRPr sz="5600" spc="300">
                <a:solidFill>
                  <a:schemeClr val="bg1"/>
                </a:solidFill>
              </a:defRPr>
            </a:lvl1pPr>
            <a:lvl2pPr marL="914354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2pPr>
            <a:lvl3pPr marL="1828709" indent="0">
              <a:buNone/>
              <a:defRPr sz="3600">
                <a:solidFill>
                  <a:schemeClr val="tx1">
                    <a:tint val="82000"/>
                  </a:schemeClr>
                </a:solidFill>
              </a:defRPr>
            </a:lvl3pPr>
            <a:lvl4pPr marL="2743063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4pPr>
            <a:lvl5pPr marL="3657417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5pPr>
            <a:lvl6pPr marL="4571771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6pPr>
            <a:lvl7pPr marL="5486126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7pPr>
            <a:lvl8pPr marL="640048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8pPr>
            <a:lvl9pPr marL="7314834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D96E1F-697B-864D-A8BC-B9F203AEA5AC}" type="datetime1">
              <a:rPr kumimoji="1" lang="ja-JP" altLang="en-US" smtClean="0"/>
              <a:t>2026/7/20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7BFEE9-6A35-CF42-A39A-CD481C3507E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419247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タイトルとコンテンツ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052" y="1391479"/>
            <a:ext cx="23290306" cy="1096244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846FE-1092-FD42-9AC0-B69E5809E0EF}" type="datetime1">
              <a:rPr kumimoji="1" lang="ja-JP" altLang="en-US" smtClean="0"/>
              <a:t>2026/7/20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7BFEE9-6A35-CF42-A39A-CD481C3507E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8" name="テキスト プレースホルダー 7">
            <a:extLst>
              <a:ext uri="{FF2B5EF4-FFF2-40B4-BE49-F238E27FC236}">
                <a16:creationId xmlns:a16="http://schemas.microsoft.com/office/drawing/2014/main" id="{6157C110-7517-0494-8AD1-7267A24661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6052" y="239182"/>
            <a:ext cx="15916804" cy="745067"/>
          </a:xfrm>
        </p:spPr>
        <p:txBody>
          <a:bodyPr anchor="ctr"/>
          <a:lstStyle>
            <a:lvl1pPr>
              <a:buNone/>
              <a:defRPr sz="4000">
                <a:solidFill>
                  <a:schemeClr val="bg2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9084573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1A28FF6-6ABD-05E0-14A5-3CA8FD766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6230E5-DC19-8048-9011-93E4E558FEAD}" type="datetime1">
              <a:rPr kumimoji="1" lang="ja-JP" altLang="en-US" smtClean="0"/>
              <a:t>2026/7/20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FB69A14-0AF9-A649-3ABB-D4052E786C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06DBC31-6D39-6C3E-5F31-00E86E0A2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7BFEE9-6A35-CF42-A39A-CD481C3507E3}" type="slidenum">
              <a:rPr kumimoji="1" lang="ja-JP" altLang="en-US" smtClean="0"/>
              <a:pPr/>
              <a:t>‹#›</a:t>
            </a:fld>
            <a:endParaRPr kumimoji="1" lang="ja-JP" altLang="en-US" sz="3600"/>
          </a:p>
        </p:txBody>
      </p:sp>
    </p:spTree>
    <p:extLst>
      <p:ext uri="{BB962C8B-B14F-4D97-AF65-F5344CB8AC3E}">
        <p14:creationId xmlns:p14="http://schemas.microsoft.com/office/powerpoint/2010/main" val="28704873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291" y="730251"/>
            <a:ext cx="21029831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3651250"/>
            <a:ext cx="21029831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 dirty="0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 dirty="0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 dirty="0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 dirty="0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55492" y="12744452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6230E5-DC19-8048-9011-93E4E558FEAD}" type="datetime1">
              <a:rPr kumimoji="1" lang="ja-JP" altLang="en-US" smtClean="0"/>
              <a:t>2026/7/20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076675" y="12712701"/>
            <a:ext cx="8229064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8540879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7BFEE9-6A35-CF42-A39A-CD481C3507E3}" type="slidenum">
              <a:rPr kumimoji="1" lang="ja-JP" altLang="en-US" smtClean="0"/>
              <a:pPr/>
              <a:t>‹#›</a:t>
            </a:fld>
            <a:endParaRPr kumimoji="1" lang="ja-JP" altLang="en-US" sz="3600"/>
          </a:p>
        </p:txBody>
      </p:sp>
    </p:spTree>
    <p:extLst>
      <p:ext uri="{BB962C8B-B14F-4D97-AF65-F5344CB8AC3E}">
        <p14:creationId xmlns:p14="http://schemas.microsoft.com/office/powerpoint/2010/main" val="616459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5" r:id="rId2"/>
    <p:sldLayoutId id="2147483674" r:id="rId3"/>
    <p:sldLayoutId id="2147483679" r:id="rId4"/>
    <p:sldLayoutId id="2147483683" r:id="rId5"/>
    <p:sldLayoutId id="2147483684" r:id="rId6"/>
    <p:sldLayoutId id="2147483680" r:id="rId7"/>
    <p:sldLayoutId id="2147483681" r:id="rId8"/>
    <p:sldLayoutId id="2147483686" r:id="rId9"/>
    <p:sldLayoutId id="2147483685" r:id="rId10"/>
    <p:sldLayoutId id="2147483682" r:id="rId11"/>
    <p:sldLayoutId id="2147483687" r:id="rId12"/>
  </p:sldLayoutIdLst>
  <p:hf hdr="0" ftr="0" dt="0"/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kumimoji="1" sz="6400" b="1" kern="1200" spc="300">
          <a:solidFill>
            <a:schemeClr val="tx1"/>
          </a:solidFill>
          <a:latin typeface="+mn-ea"/>
          <a:ea typeface="+mn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48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b="0" i="0" kern="1200">
          <a:solidFill>
            <a:schemeClr val="tx2"/>
          </a:solidFill>
          <a:latin typeface="Yu Gothic Medium" panose="020B0400000000000000" pitchFamily="34" charset="-128"/>
          <a:ea typeface="Yu Gothic Medium" panose="020B0400000000000000" pitchFamily="34" charset="-128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b="0" i="0" kern="1200">
          <a:solidFill>
            <a:schemeClr val="tx2"/>
          </a:solidFill>
          <a:latin typeface="Yu Gothic Medium" panose="020B0400000000000000" pitchFamily="34" charset="-128"/>
          <a:ea typeface="Yu Gothic Medium" panose="020B0400000000000000" pitchFamily="34" charset="-128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b="0" i="0" kern="1200">
          <a:solidFill>
            <a:schemeClr val="tx2"/>
          </a:solidFill>
          <a:latin typeface="Yu Gothic Medium" panose="020B0400000000000000" pitchFamily="34" charset="-128"/>
          <a:ea typeface="Yu Gothic Medium" panose="020B0400000000000000" pitchFamily="34" charset="-128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b="0" i="0" kern="1200">
          <a:solidFill>
            <a:schemeClr val="tx2"/>
          </a:solidFill>
          <a:latin typeface="Yu Gothic Medium" panose="020B0400000000000000" pitchFamily="34" charset="-128"/>
          <a:ea typeface="Yu Gothic Medium" panose="020B0400000000000000" pitchFamily="34" charset="-128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7.png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8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8.png"/><Relationship Id="rId4" Type="http://schemas.openxmlformats.org/officeDocument/2006/relationships/image" Target="../media/image32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BEF8D53-DFAD-2781-7D58-CDDA68ED305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sz="3200" b="1" dirty="0">
                <a:solidFill>
                  <a:srgbClr val="082B52"/>
                </a:solidFill>
                <a:latin typeface="Yu Gothic"/>
              </a:rPr>
              <a:t>Feedforward and Adaptive Correction of</a:t>
            </a:r>
          </a:p>
          <a:p>
            <a:r>
              <a:rPr sz="3200" b="1" dirty="0">
                <a:solidFill>
                  <a:srgbClr val="082B52"/>
                </a:solidFill>
                <a:latin typeface="Yu Gothic"/>
              </a:rPr>
              <a:t>Time-Varying Thermal Bias for Coarse Acquisition</a:t>
            </a:r>
          </a:p>
          <a:p>
            <a:r>
              <a:rPr sz="3200" b="1" dirty="0">
                <a:solidFill>
                  <a:srgbClr val="082B52"/>
                </a:solidFill>
                <a:latin typeface="Yu Gothic"/>
              </a:rPr>
              <a:t>in Optical Communication Systems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1102AA9-45EB-C4FA-A1D0-A77A903D26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74352" y="11955999"/>
            <a:ext cx="8562463" cy="730249"/>
          </a:xfrm>
        </p:spPr>
        <p:txBody>
          <a:bodyPr>
            <a:normAutofit/>
          </a:bodyPr>
          <a:lstStyle/>
          <a:p>
            <a:r>
              <a:rPr sz="2800" b="1" dirty="0">
                <a:solidFill>
                  <a:srgbClr val="232B34"/>
                </a:solidFill>
                <a:latin typeface="Yu Gothic"/>
              </a:rPr>
              <a:t>Hideki Takamoto (The University of Tokyo)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9D366E8-10A6-FE33-D7F0-BCE65C677E1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6483539" y="7705724"/>
            <a:ext cx="5625347" cy="698499"/>
          </a:xfrm>
        </p:spPr>
        <p:txBody>
          <a:bodyPr/>
          <a:lstStyle/>
          <a:p>
            <a:r>
              <a:rPr sz="2200" b="0">
                <a:solidFill>
                  <a:srgbClr val="666F79"/>
                </a:solidFill>
                <a:latin typeface="Yu Gothic"/>
              </a:rPr>
              <a:t>2026/07/21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223D87D9-D745-888C-4D05-FF267342E0C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674352" y="6888226"/>
            <a:ext cx="5625347" cy="698499"/>
          </a:xfrm>
        </p:spPr>
        <p:txBody>
          <a:bodyPr/>
          <a:lstStyle/>
          <a:p>
            <a:endParaRPr/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FB66ACC2-84FB-08AA-2D48-20C1AB8643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6483538" y="7042558"/>
            <a:ext cx="5625347" cy="698499"/>
          </a:xfrm>
        </p:spPr>
        <p:txBody>
          <a:bodyPr/>
          <a:lstStyle/>
          <a:p>
            <a:r>
              <a:rPr sz="2200" b="0">
                <a:solidFill>
                  <a:srgbClr val="666F79"/>
                </a:solidFill>
                <a:latin typeface="Yu Gothic"/>
              </a:rPr>
              <a:t>Optical Communication Research Group</a:t>
            </a: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FD1A49C-D906-D56C-8B01-F4742C0F4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7BFEE9-6A35-CF42-A39A-CD481C3507E3}" type="slidenum">
              <a:rPr kumimoji="1" lang="ja-JP" altLang="en-US" smtClean="0"/>
              <a:t>1</a:t>
            </a:fld>
            <a:endParaRPr kumimoji="1" lang="ja-JP" altLang="en-US"/>
          </a:p>
        </p:txBody>
      </p:sp>
      <p:sp>
        <p:nvSpPr>
          <p:cNvPr id="8" name="TextBox 7"/>
          <p:cNvSpPr txBox="1"/>
          <p:nvPr/>
        </p:nvSpPr>
        <p:spPr>
          <a:xfrm>
            <a:off x="9674352" y="10076688"/>
            <a:ext cx="11153823" cy="547842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 dirty="0" err="1">
                <a:solidFill>
                  <a:srgbClr val="1B74AA"/>
                </a:solidFill>
                <a:latin typeface="Yu Gothic"/>
              </a:rPr>
              <a:t>熱ひずみ予測と適応補正による光通信粗捕捉性能向上の検討</a:t>
            </a:r>
            <a:endParaRPr sz="3200" b="1" dirty="0">
              <a:solidFill>
                <a:srgbClr val="1B74AA"/>
              </a:solidFill>
              <a:latin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41034179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3635D3E-6BA3-A5CE-2210-317DCBD6F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0">
                <a:solidFill>
                  <a:srgbClr val="FFFFFF"/>
                </a:solidFill>
                <a:latin typeface="Yu Gothic"/>
              </a:rPr>
              <a:t>01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C4F4820-6A4B-21DF-1929-82AC7C54B2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3200" b="1">
                <a:solidFill>
                  <a:srgbClr val="FFFFFF"/>
                </a:solidFill>
                <a:latin typeface="Yu Gothic"/>
              </a:rPr>
              <a:t>Overview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915B39E-8BAD-5C9C-E46E-51EE9D910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7BFEE9-6A35-CF42-A39A-CD481C3507E3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458954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5F44572-0BF9-86FC-9CEA-DB05D75E6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z="3200" b="1" dirty="0">
                <a:solidFill>
                  <a:srgbClr val="082B52"/>
                </a:solidFill>
                <a:latin typeface="Yu Gothic"/>
              </a:rPr>
              <a:t>本日の目標：熱ひずみ予測</a:t>
            </a:r>
            <a:r>
              <a:rPr sz="3200" b="1" dirty="0" err="1">
                <a:solidFill>
                  <a:srgbClr val="082B52"/>
                </a:solidFill>
                <a:latin typeface="Yu Gothic"/>
              </a:rPr>
              <a:t>モデルをレビューしてもらう</a:t>
            </a:r>
            <a:endParaRPr sz="3200" b="1" dirty="0">
              <a:solidFill>
                <a:srgbClr val="082B52"/>
              </a:solidFill>
              <a:latin typeface="Yu Gothic"/>
            </a:endParaRP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A03A934-1390-EADF-E03B-F076611056D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2000" b="0">
                <a:solidFill>
                  <a:srgbClr val="666F79"/>
                </a:solidFill>
                <a:latin typeface="Yu Gothic"/>
              </a:rPr>
              <a:t>Overview</a:t>
            </a:r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C65DDDE-896C-98BD-4236-523603EB34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sz="1800" b="0">
                <a:solidFill>
                  <a:srgbClr val="666F79"/>
                </a:solidFill>
                <a:latin typeface="Yu Gothic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920490"/>
            <a:ext cx="1097280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100" b="1" dirty="0">
                <a:solidFill>
                  <a:srgbClr val="1B74AA"/>
                </a:solidFill>
                <a:latin typeface="Yu Gothic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4351020"/>
            <a:ext cx="6720840" cy="3977639"/>
          </a:xfrm>
          <a:prstGeom prst="rect">
            <a:avLst/>
          </a:prstGeom>
          <a:solidFill>
            <a:srgbClr val="FFFFFF"/>
          </a:solidFill>
          <a:ln w="25400">
            <a:solidFill>
              <a:srgbClr val="1B7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43000" y="4351020"/>
            <a:ext cx="6720840" cy="621792"/>
          </a:xfrm>
          <a:prstGeom prst="rect">
            <a:avLst/>
          </a:prstGeom>
          <a:solidFill>
            <a:srgbClr val="1B74AA"/>
          </a:solidFill>
          <a:ln w="16510">
            <a:solidFill>
              <a:srgbClr val="1B7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129308" y="5265420"/>
            <a:ext cx="4748223" cy="501676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lang="ja-JP" altLang="en-US" sz="2900" b="1" dirty="0">
                <a:solidFill>
                  <a:srgbClr val="082B52"/>
                </a:solidFill>
                <a:latin typeface="Yu Gothic"/>
              </a:rPr>
              <a:t>階層型 熱ひずみ予測モデル</a:t>
            </a:r>
            <a:endParaRPr sz="2900" b="1" dirty="0">
              <a:solidFill>
                <a:srgbClr val="082B52"/>
              </a:solidFill>
              <a:latin typeface="Yu Gothic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126906" y="6271260"/>
            <a:ext cx="4753031" cy="1301895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lang="ja-JP" altLang="en-US" sz="2700" dirty="0">
                <a:solidFill>
                  <a:srgbClr val="232B34"/>
                </a:solidFill>
                <a:latin typeface="Yu Gothic"/>
              </a:rPr>
              <a:t>衛星の構造や配置で変わる層</a:t>
            </a:r>
            <a:endParaRPr lang="en-US" altLang="ja-JP" sz="2700" dirty="0">
              <a:solidFill>
                <a:srgbClr val="232B34"/>
              </a:solidFill>
              <a:latin typeface="Yu Gothic"/>
            </a:endParaRPr>
          </a:p>
          <a:p>
            <a:pPr algn="ctr"/>
            <a:r>
              <a:rPr lang="ja-JP" altLang="en-US" sz="2700" dirty="0">
                <a:solidFill>
                  <a:srgbClr val="232B34"/>
                </a:solidFill>
                <a:latin typeface="Yu Gothic"/>
              </a:rPr>
              <a:t>軌道・熱環境で変わる層</a:t>
            </a:r>
            <a:endParaRPr lang="en-US" altLang="ja-JP" sz="2700" dirty="0">
              <a:solidFill>
                <a:srgbClr val="232B34"/>
              </a:solidFill>
              <a:latin typeface="Yu Gothic"/>
            </a:endParaRPr>
          </a:p>
          <a:p>
            <a:pPr algn="ctr"/>
            <a:r>
              <a:rPr lang="ja-JP" altLang="en-US" sz="2700" dirty="0">
                <a:solidFill>
                  <a:srgbClr val="232B34"/>
                </a:solidFill>
                <a:latin typeface="Yu Gothic"/>
              </a:rPr>
              <a:t>の</a:t>
            </a:r>
            <a:r>
              <a:rPr lang="en-US" altLang="ja-JP" sz="2700" dirty="0">
                <a:solidFill>
                  <a:srgbClr val="232B34"/>
                </a:solidFill>
                <a:latin typeface="Yu Gothic"/>
              </a:rPr>
              <a:t>2</a:t>
            </a:r>
            <a:r>
              <a:rPr lang="ja-JP" altLang="en-US" sz="2700" dirty="0">
                <a:solidFill>
                  <a:srgbClr val="232B34"/>
                </a:solidFill>
                <a:latin typeface="Yu Gothic"/>
              </a:rPr>
              <a:t>層に分けて</a:t>
            </a:r>
            <a:r>
              <a:rPr lang="en-US" altLang="ja-JP" sz="2700" dirty="0">
                <a:solidFill>
                  <a:srgbClr val="232B34"/>
                </a:solidFill>
                <a:latin typeface="Yu Gothic"/>
              </a:rPr>
              <a:t>LOS</a:t>
            </a:r>
            <a:r>
              <a:rPr lang="ja-JP" altLang="en-US" sz="2700" dirty="0">
                <a:solidFill>
                  <a:srgbClr val="232B34"/>
                </a:solidFill>
                <a:latin typeface="Yu Gothic"/>
              </a:rPr>
              <a:t>誤差を予測</a:t>
            </a:r>
            <a:endParaRPr lang="en-US" altLang="ja-JP" sz="2700" dirty="0">
              <a:solidFill>
                <a:srgbClr val="232B34"/>
              </a:solidFill>
              <a:latin typeface="Yu Gothic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686800" y="3920490"/>
            <a:ext cx="1097280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100" b="1">
                <a:solidFill>
                  <a:srgbClr val="239571"/>
                </a:solidFill>
                <a:latin typeface="Yu Gothic"/>
              </a:rP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4351020"/>
            <a:ext cx="6720840" cy="3977639"/>
          </a:xfrm>
          <a:prstGeom prst="rect">
            <a:avLst/>
          </a:prstGeom>
          <a:solidFill>
            <a:srgbClr val="FFFFFF"/>
          </a:solidFill>
          <a:ln w="2540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686800" y="4351020"/>
            <a:ext cx="6720840" cy="621792"/>
          </a:xfrm>
          <a:prstGeom prst="rect">
            <a:avLst/>
          </a:prstGeom>
          <a:solidFill>
            <a:srgbClr val="239571"/>
          </a:solidFill>
          <a:ln w="1651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407009" y="5265420"/>
            <a:ext cx="5280420" cy="501676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lang="ja-JP" altLang="en-US" sz="2900" b="1" dirty="0">
                <a:solidFill>
                  <a:srgbClr val="082B52"/>
                </a:solidFill>
                <a:latin typeface="Yu Gothic"/>
              </a:rPr>
              <a:t>非熱誤差も含めた捕捉性能評価</a:t>
            </a:r>
            <a:endParaRPr sz="2900" b="1" dirty="0">
              <a:solidFill>
                <a:srgbClr val="082B52"/>
              </a:solidFill>
              <a:latin typeface="Yu Gothic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0625292" y="6271260"/>
            <a:ext cx="2843855" cy="1301895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lang="ja-JP" altLang="en-US" sz="2700" b="0" dirty="0">
                <a:solidFill>
                  <a:srgbClr val="232B34"/>
                </a:solidFill>
                <a:latin typeface="Yu Gothic"/>
              </a:rPr>
              <a:t>軌道予測誤差等、</a:t>
            </a:r>
            <a:endParaRPr lang="en-US" altLang="ja-JP" sz="2700" b="0" dirty="0">
              <a:solidFill>
                <a:srgbClr val="232B34"/>
              </a:solidFill>
              <a:latin typeface="Yu Gothic"/>
            </a:endParaRPr>
          </a:p>
          <a:p>
            <a:pPr algn="ctr"/>
            <a:r>
              <a:rPr sz="2700" b="0" dirty="0" err="1">
                <a:solidFill>
                  <a:srgbClr val="232B34"/>
                </a:solidFill>
                <a:latin typeface="Yu Gothic"/>
              </a:rPr>
              <a:t>非熱誤差込みの</a:t>
            </a:r>
            <a:r>
              <a:rPr sz="2700" b="0" dirty="0">
                <a:solidFill>
                  <a:srgbClr val="232B34"/>
                </a:solidFill>
                <a:latin typeface="Yu Gothic"/>
              </a:rPr>
              <a:t>
</a:t>
            </a:r>
            <a:r>
              <a:rPr sz="2700" b="0" dirty="0" err="1">
                <a:solidFill>
                  <a:srgbClr val="232B34"/>
                </a:solidFill>
                <a:latin typeface="Yu Gothic"/>
              </a:rPr>
              <a:t>捕捉性能</a:t>
            </a:r>
            <a:r>
              <a:rPr lang="ja-JP" altLang="en-US" sz="2700" b="0" dirty="0">
                <a:solidFill>
                  <a:srgbClr val="232B34"/>
                </a:solidFill>
                <a:latin typeface="Yu Gothic"/>
              </a:rPr>
              <a:t>の評価</a:t>
            </a:r>
            <a:endParaRPr sz="2700" b="0" dirty="0">
              <a:solidFill>
                <a:srgbClr val="232B34"/>
              </a:solidFill>
              <a:latin typeface="Yu Gothic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6230600" y="3920490"/>
            <a:ext cx="1097280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100" b="1">
                <a:solidFill>
                  <a:srgbClr val="EC9427"/>
                </a:solidFill>
                <a:latin typeface="Yu Gothic"/>
              </a:rPr>
              <a:t>03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230600" y="4351020"/>
            <a:ext cx="6720840" cy="3977639"/>
          </a:xfrm>
          <a:prstGeom prst="rect">
            <a:avLst/>
          </a:prstGeom>
          <a:solidFill>
            <a:srgbClr val="FFFFFF"/>
          </a:solidFill>
          <a:ln w="25400">
            <a:solidFill>
              <a:srgbClr val="EC94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6230600" y="4351020"/>
            <a:ext cx="6720840" cy="621792"/>
          </a:xfrm>
          <a:prstGeom prst="rect">
            <a:avLst/>
          </a:prstGeom>
          <a:solidFill>
            <a:srgbClr val="EC9427"/>
          </a:solidFill>
          <a:ln w="16510">
            <a:solidFill>
              <a:srgbClr val="EC94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7508658" y="5265420"/>
            <a:ext cx="4164730" cy="501676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lang="ja-JP" altLang="en-US" sz="2900" b="1" dirty="0">
                <a:solidFill>
                  <a:srgbClr val="082B52"/>
                </a:solidFill>
                <a:latin typeface="Yu Gothic"/>
              </a:rPr>
              <a:t>モデルの事後的適応補正</a:t>
            </a:r>
            <a:endParaRPr sz="2900" b="1" dirty="0">
              <a:solidFill>
                <a:srgbClr val="082B52"/>
              </a:solidFill>
              <a:latin typeface="Yu Gothic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7005408" y="6271260"/>
            <a:ext cx="5171224" cy="886397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lang="ja-JP" altLang="ja-JP" sz="2700" dirty="0"/>
              <a:t>軌道上で</a:t>
            </a:r>
            <a:r>
              <a:rPr lang="ja-JP" altLang="en-US" sz="2700" dirty="0"/>
              <a:t>熱ひずみ予測モデルの</a:t>
            </a:r>
            <a:endParaRPr lang="en-US" altLang="ja-JP" sz="2700" dirty="0"/>
          </a:p>
          <a:p>
            <a:pPr algn="ctr"/>
            <a:r>
              <a:rPr lang="ja-JP" altLang="en-US" sz="2700" dirty="0"/>
              <a:t>パラメータを</a:t>
            </a:r>
            <a:r>
              <a:rPr lang="en-US" altLang="ja-JP" sz="2700" dirty="0"/>
              <a:t>adaptive</a:t>
            </a:r>
            <a:r>
              <a:rPr lang="ja-JP" altLang="en-US" sz="2700" dirty="0"/>
              <a:t>に更新する</a:t>
            </a:r>
            <a:endParaRPr lang="en-US" altLang="ja-JP" sz="2700" dirty="0"/>
          </a:p>
        </p:txBody>
      </p:sp>
      <p:sp>
        <p:nvSpPr>
          <p:cNvPr id="21" name="TextBox 20"/>
          <p:cNvSpPr txBox="1"/>
          <p:nvPr/>
        </p:nvSpPr>
        <p:spPr>
          <a:xfrm>
            <a:off x="1143000" y="9921240"/>
            <a:ext cx="5486400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500" b="1" dirty="0" err="1">
                <a:solidFill>
                  <a:srgbClr val="082B52"/>
                </a:solidFill>
                <a:latin typeface="Yu Gothic"/>
              </a:rPr>
              <a:t>今日特に議論したいこと</a:t>
            </a:r>
            <a:endParaRPr sz="2500" b="1" dirty="0">
              <a:solidFill>
                <a:srgbClr val="082B52"/>
              </a:solidFill>
              <a:latin typeface="Yu Gothic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143000" y="10561320"/>
            <a:ext cx="21762720" cy="1959511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800"/>
              </a:spcAft>
            </a:pPr>
            <a:r>
              <a:rPr lang="en-US" altLang="ja-JP" sz="3600" b="1" dirty="0">
                <a:solidFill>
                  <a:srgbClr val="1B74AA"/>
                </a:solidFill>
                <a:latin typeface="Yu Gothic"/>
              </a:rPr>
              <a:t>• </a:t>
            </a:r>
            <a:r>
              <a:rPr lang="ja-JP" altLang="en-US" sz="3600" dirty="0">
                <a:solidFill>
                  <a:srgbClr val="232B34"/>
                </a:solidFill>
                <a:latin typeface="Yu Gothic"/>
              </a:rPr>
              <a:t>現在の解析で用いている、捕捉スキャンモデル・誤差条件の妥当性</a:t>
            </a:r>
            <a:endParaRPr sz="3600" dirty="0">
              <a:solidFill>
                <a:srgbClr val="232B34"/>
              </a:solidFill>
              <a:latin typeface="Yu Gothic"/>
            </a:endParaRPr>
          </a:p>
          <a:p>
            <a:pPr>
              <a:spcAft>
                <a:spcPts val="800"/>
              </a:spcAft>
            </a:pPr>
            <a:r>
              <a:rPr sz="3600" b="1" dirty="0">
                <a:solidFill>
                  <a:srgbClr val="1B74AA"/>
                </a:solidFill>
                <a:latin typeface="Yu Gothic"/>
              </a:rPr>
              <a:t>• </a:t>
            </a:r>
            <a:r>
              <a:rPr sz="3600" dirty="0" err="1">
                <a:solidFill>
                  <a:srgbClr val="232B34"/>
                </a:solidFill>
                <a:latin typeface="Yu Gothic"/>
              </a:rPr>
              <a:t>熱と軌道誤差が同帯域にある場合の</a:t>
            </a:r>
            <a:r>
              <a:rPr lang="ja-JP" altLang="en-US" sz="3600" dirty="0">
                <a:solidFill>
                  <a:srgbClr val="232B34"/>
                </a:solidFill>
                <a:latin typeface="Yu Gothic"/>
              </a:rPr>
              <a:t>分離可能性</a:t>
            </a:r>
            <a:endParaRPr lang="en-US" altLang="ja-JP" sz="3600" dirty="0">
              <a:solidFill>
                <a:srgbClr val="232B34"/>
              </a:solidFill>
              <a:latin typeface="Yu Gothic"/>
            </a:endParaRPr>
          </a:p>
          <a:p>
            <a:pPr>
              <a:spcAft>
                <a:spcPts val="800"/>
              </a:spcAft>
            </a:pPr>
            <a:r>
              <a:rPr lang="en-US" altLang="ja-JP" sz="3600" dirty="0">
                <a:solidFill>
                  <a:srgbClr val="1B74AA"/>
                </a:solidFill>
                <a:latin typeface="Yu Gothic"/>
              </a:rPr>
              <a:t>• </a:t>
            </a:r>
            <a:r>
              <a:rPr lang="ja-JP" altLang="en-US" sz="3600" dirty="0">
                <a:solidFill>
                  <a:srgbClr val="232B34"/>
                </a:solidFill>
                <a:latin typeface="Yu Gothic"/>
              </a:rPr>
              <a:t>どのパラメータを軌道上で更新するか</a:t>
            </a:r>
          </a:p>
        </p:txBody>
      </p:sp>
      <p:sp>
        <p:nvSpPr>
          <p:cNvPr id="23" name="TextBox 20">
            <a:extLst>
              <a:ext uri="{FF2B5EF4-FFF2-40B4-BE49-F238E27FC236}">
                <a16:creationId xmlns:a16="http://schemas.microsoft.com/office/drawing/2014/main" id="{76313DB0-74A4-FFBF-75DA-353AE459DCB1}"/>
              </a:ext>
            </a:extLst>
          </p:cNvPr>
          <p:cNvSpPr txBox="1"/>
          <p:nvPr/>
        </p:nvSpPr>
        <p:spPr>
          <a:xfrm>
            <a:off x="1143000" y="3313988"/>
            <a:ext cx="1676869" cy="44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lang="ja-JP" altLang="en-US" sz="2500" b="1" dirty="0">
                <a:solidFill>
                  <a:srgbClr val="082B52"/>
                </a:solidFill>
                <a:latin typeface="Yu Gothic"/>
              </a:rPr>
              <a:t>研究の内容</a:t>
            </a:r>
            <a:endParaRPr sz="2500" b="1" dirty="0">
              <a:solidFill>
                <a:srgbClr val="082B52"/>
              </a:solidFill>
              <a:latin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28270160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412755A-CE30-29D5-66D8-858C1044B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z="3200" b="1" dirty="0">
                <a:solidFill>
                  <a:srgbClr val="082B52"/>
                </a:solidFill>
                <a:latin typeface="Yu Gothic"/>
              </a:rPr>
              <a:t>やりたいこと：</a:t>
            </a:r>
            <a:r>
              <a:rPr sz="3200" b="1" dirty="0" err="1">
                <a:solidFill>
                  <a:srgbClr val="082B52"/>
                </a:solidFill>
                <a:latin typeface="Yu Gothic"/>
              </a:rPr>
              <a:t>熱ひずみ</a:t>
            </a:r>
            <a:r>
              <a:rPr lang="ja-JP" altLang="en-US" sz="3200" b="1" dirty="0">
                <a:solidFill>
                  <a:srgbClr val="082B52"/>
                </a:solidFill>
                <a:latin typeface="Yu Gothic"/>
              </a:rPr>
              <a:t>による</a:t>
            </a:r>
            <a:r>
              <a:rPr sz="3200" b="1" dirty="0" err="1">
                <a:solidFill>
                  <a:srgbClr val="082B52"/>
                </a:solidFill>
                <a:latin typeface="Yu Gothic"/>
              </a:rPr>
              <a:t>粗捕捉開始時の</a:t>
            </a:r>
            <a:r>
              <a:rPr sz="3200" b="1" dirty="0">
                <a:solidFill>
                  <a:srgbClr val="082B52"/>
                </a:solidFill>
                <a:latin typeface="Yu Gothic"/>
              </a:rPr>
              <a:t> scan-center error </a:t>
            </a:r>
            <a:r>
              <a:rPr lang="ja-JP" altLang="en-US" sz="3200" dirty="0">
                <a:solidFill>
                  <a:srgbClr val="082B52"/>
                </a:solidFill>
                <a:latin typeface="Yu Gothic"/>
              </a:rPr>
              <a:t>を運用側で改善</a:t>
            </a:r>
            <a:endParaRPr sz="3200" b="1" dirty="0">
              <a:solidFill>
                <a:srgbClr val="082B52"/>
              </a:solidFill>
              <a:latin typeface="Yu Gothic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335B153-B47B-237D-12A8-7E5DB7762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sz="1800" b="0">
                <a:solidFill>
                  <a:srgbClr val="666F79"/>
                </a:solidFill>
                <a:latin typeface="Yu Gothic"/>
              </a:rPr>
              <a:t>4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906C556-D817-34D8-3FEC-80F456E48C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2000" b="0">
                <a:solidFill>
                  <a:srgbClr val="666F79"/>
                </a:solidFill>
                <a:latin typeface="Yu Gothic"/>
              </a:rPr>
              <a:t>Background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383280"/>
            <a:ext cx="6492240" cy="3200398"/>
          </a:xfrm>
          <a:prstGeom prst="roundRect">
            <a:avLst/>
          </a:prstGeom>
          <a:solidFill>
            <a:srgbClr val="F4F6F8"/>
          </a:solidFill>
          <a:ln w="25400">
            <a:solidFill>
              <a:srgbClr val="1B7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71600" y="3886200"/>
            <a:ext cx="5943600" cy="5943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700" b="1">
                <a:solidFill>
                  <a:srgbClr val="1B74AA"/>
                </a:solidFill>
                <a:latin typeface="Yu Gothic"/>
              </a:rPr>
              <a:t>光フィードバック前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5074920"/>
            <a:ext cx="5760720" cy="15087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600" b="0">
                <a:solidFill>
                  <a:srgbClr val="232B34"/>
                </a:solidFill>
                <a:latin typeface="Yu Gothic"/>
              </a:rPr>
              <a:t>姿勢・軌道・熱LOSを含む
不確定領域を探索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18119" y="5852160"/>
            <a:ext cx="640081" cy="0"/>
          </a:xfrm>
          <a:prstGeom prst="line">
            <a:avLst/>
          </a:prstGeom>
          <a:ln w="381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732519" y="3383280"/>
            <a:ext cx="6492240" cy="3200398"/>
          </a:xfrm>
          <a:prstGeom prst="roundRect">
            <a:avLst/>
          </a:prstGeom>
          <a:solidFill>
            <a:srgbClr val="F4F6F8"/>
          </a:solidFill>
          <a:ln w="25400">
            <a:solidFill>
              <a:srgbClr val="EC94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006840" y="3886200"/>
            <a:ext cx="5943600" cy="5943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700" b="1">
                <a:solidFill>
                  <a:srgbClr val="EC9427"/>
                </a:solidFill>
                <a:latin typeface="Yu Gothic"/>
              </a:rPr>
              <a:t>日照・蝕／機器発熱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97444" y="4638382"/>
            <a:ext cx="3408112" cy="855619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600" b="0" dirty="0" err="1">
                <a:solidFill>
                  <a:srgbClr val="232B34"/>
                </a:solidFill>
                <a:latin typeface="Yu Gothic"/>
              </a:rPr>
              <a:t>温度場</a:t>
            </a:r>
            <a:r>
              <a:rPr sz="2600" b="0" dirty="0">
                <a:solidFill>
                  <a:srgbClr val="232B34"/>
                </a:solidFill>
                <a:latin typeface="Yu Gothic"/>
              </a:rPr>
              <a:t> → </a:t>
            </a:r>
            <a:r>
              <a:rPr sz="2600" b="0" dirty="0" err="1">
                <a:solidFill>
                  <a:srgbClr val="232B34"/>
                </a:solidFill>
                <a:latin typeface="Yu Gothic"/>
              </a:rPr>
              <a:t>差動膨張</a:t>
            </a:r>
            <a:r>
              <a:rPr sz="2600" b="0" dirty="0">
                <a:solidFill>
                  <a:srgbClr val="232B34"/>
                </a:solidFill>
                <a:latin typeface="Yu Gothic"/>
              </a:rPr>
              <a:t> →
</a:t>
            </a:r>
            <a:r>
              <a:rPr lang="ja-JP" altLang="en-US" sz="2600" dirty="0">
                <a:solidFill>
                  <a:srgbClr val="232B34"/>
                </a:solidFill>
                <a:latin typeface="Yu Gothic"/>
              </a:rPr>
              <a:t>衛星筐体のねじれ</a:t>
            </a:r>
            <a:endParaRPr sz="2600" b="0" dirty="0">
              <a:solidFill>
                <a:srgbClr val="232B34"/>
              </a:solidFill>
              <a:latin typeface="Yu Gothic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899794" y="5766266"/>
            <a:ext cx="4196790" cy="501676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900" b="1" dirty="0">
                <a:solidFill>
                  <a:srgbClr val="D03B46"/>
                </a:solidFill>
                <a:latin typeface="Yu Gothic"/>
              </a:rPr>
              <a:t>10²–10³ µrad</a:t>
            </a:r>
            <a:r>
              <a:rPr lang="ja-JP" altLang="en-US" sz="2900" b="1" dirty="0">
                <a:solidFill>
                  <a:srgbClr val="D03B46"/>
                </a:solidFill>
                <a:latin typeface="Yu Gothic"/>
              </a:rPr>
              <a:t>の</a:t>
            </a:r>
            <a:r>
              <a:rPr lang="en-US" altLang="ja-JP" sz="2900" b="1" dirty="0">
                <a:solidFill>
                  <a:srgbClr val="D03B46"/>
                </a:solidFill>
                <a:latin typeface="Yu Gothic"/>
              </a:rPr>
              <a:t>LOS</a:t>
            </a:r>
            <a:r>
              <a:rPr lang="ja-JP" altLang="en-US" sz="2900" b="1" dirty="0">
                <a:solidFill>
                  <a:srgbClr val="D03B46"/>
                </a:solidFill>
                <a:latin typeface="Yu Gothic"/>
              </a:rPr>
              <a:t>誤差</a:t>
            </a:r>
            <a:endParaRPr sz="2900" b="1" dirty="0">
              <a:solidFill>
                <a:srgbClr val="D03B46"/>
              </a:solidFill>
              <a:latin typeface="Yu Gothic"/>
            </a:endParaRPr>
          </a:p>
        </p:txBody>
      </p:sp>
      <p:cxnSp>
        <p:nvCxnSpPr>
          <p:cNvPr id="14" name="Connector 13"/>
          <p:cNvCxnSpPr/>
          <p:nvPr/>
        </p:nvCxnSpPr>
        <p:spPr>
          <a:xfrm>
            <a:off x="15453359" y="5852160"/>
            <a:ext cx="640081" cy="0"/>
          </a:xfrm>
          <a:prstGeom prst="line">
            <a:avLst/>
          </a:prstGeom>
          <a:ln w="381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6367759" y="3383280"/>
            <a:ext cx="6492240" cy="3200395"/>
          </a:xfrm>
          <a:prstGeom prst="roundRect">
            <a:avLst/>
          </a:prstGeom>
          <a:solidFill>
            <a:srgbClr val="F4F6F8"/>
          </a:solidFill>
          <a:ln w="2540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7763150" y="3886200"/>
            <a:ext cx="3701463" cy="47089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700" b="1" dirty="0" err="1">
                <a:solidFill>
                  <a:srgbClr val="239571"/>
                </a:solidFill>
                <a:latin typeface="Yu Gothic"/>
              </a:rPr>
              <a:t>予測</a:t>
            </a:r>
            <a:r>
              <a:rPr lang="en-US" sz="2700" b="1" dirty="0" err="1">
                <a:solidFill>
                  <a:srgbClr val="239571"/>
                </a:solidFill>
                <a:latin typeface="Yu Gothic"/>
              </a:rPr>
              <a:t>FeedForward</a:t>
            </a:r>
            <a:r>
              <a:rPr sz="2700" b="1" dirty="0" err="1">
                <a:solidFill>
                  <a:srgbClr val="239571"/>
                </a:solidFill>
                <a:latin typeface="Yu Gothic"/>
              </a:rPr>
              <a:t>補正</a:t>
            </a:r>
            <a:endParaRPr sz="2700" b="1" dirty="0">
              <a:solidFill>
                <a:srgbClr val="239571"/>
              </a:solidFill>
              <a:latin typeface="Yu Gothic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6733519" y="5074920"/>
            <a:ext cx="5760720" cy="15087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600" b="0">
                <a:solidFill>
                  <a:srgbClr val="232B34"/>
                </a:solidFill>
                <a:latin typeface="Yu Gothic"/>
              </a:rPr>
              <a:t>熱LOSをscan centerから引き
探索域・捕捉時間を低減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01741" y="12321036"/>
            <a:ext cx="18578933" cy="532453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lang="ja-JP" altLang="en-US" sz="3100" b="1" dirty="0">
                <a:solidFill>
                  <a:srgbClr val="082B52"/>
                </a:solidFill>
                <a:latin typeface="Yu Gothic"/>
              </a:rPr>
              <a:t>衛星</a:t>
            </a:r>
            <a:r>
              <a:rPr lang="en-US" altLang="ja-JP" sz="3100" b="1" dirty="0">
                <a:solidFill>
                  <a:srgbClr val="082B52"/>
                </a:solidFill>
                <a:latin typeface="Yu Gothic"/>
              </a:rPr>
              <a:t>/LCT</a:t>
            </a:r>
            <a:r>
              <a:rPr lang="ja-JP" altLang="en-US" sz="3100" b="1" dirty="0">
                <a:solidFill>
                  <a:srgbClr val="082B52"/>
                </a:solidFill>
                <a:latin typeface="Yu Gothic"/>
              </a:rPr>
              <a:t>の</a:t>
            </a:r>
            <a:r>
              <a:rPr sz="3100" b="1" dirty="0" err="1">
                <a:solidFill>
                  <a:srgbClr val="082B52"/>
                </a:solidFill>
                <a:latin typeface="Yu Gothic"/>
              </a:rPr>
              <a:t>構造を変更せず</a:t>
            </a:r>
            <a:r>
              <a:rPr sz="3100" b="1" dirty="0">
                <a:solidFill>
                  <a:srgbClr val="082B52"/>
                </a:solidFill>
                <a:latin typeface="Yu Gothic"/>
              </a:rPr>
              <a:t>、</a:t>
            </a:r>
            <a:r>
              <a:rPr lang="ja-JP" altLang="en-US" sz="3100" b="1" dirty="0">
                <a:solidFill>
                  <a:srgbClr val="082B52"/>
                </a:solidFill>
                <a:latin typeface="Yu Gothic"/>
              </a:rPr>
              <a:t>粗捕捉開始時の</a:t>
            </a:r>
            <a:r>
              <a:rPr lang="en-US" sz="3100" b="1" dirty="0">
                <a:solidFill>
                  <a:srgbClr val="082B52"/>
                </a:solidFill>
                <a:latin typeface="Yu Gothic"/>
              </a:rPr>
              <a:t>LOS</a:t>
            </a:r>
            <a:r>
              <a:rPr lang="ja-JP" altLang="en-US" sz="3100" b="1" dirty="0">
                <a:solidFill>
                  <a:srgbClr val="082B52"/>
                </a:solidFill>
                <a:latin typeface="Yu Gothic"/>
              </a:rPr>
              <a:t>誤差の中で</a:t>
            </a:r>
            <a:r>
              <a:rPr sz="3100" b="1" dirty="0" err="1">
                <a:solidFill>
                  <a:srgbClr val="082B52"/>
                </a:solidFill>
                <a:latin typeface="Yu Gothic"/>
              </a:rPr>
              <a:t>予測可能な熱成分だけを運用側で除去する</a:t>
            </a:r>
            <a:endParaRPr sz="3100" b="1" dirty="0">
              <a:solidFill>
                <a:srgbClr val="082B52"/>
              </a:solidFill>
              <a:latin typeface="Yu Gothic"/>
            </a:endParaRPr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191BBC5C-178E-661F-128A-D617E934A2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16232" y="7065665"/>
            <a:ext cx="5487986" cy="4615305"/>
          </a:xfrm>
          <a:prstGeom prst="rect">
            <a:avLst/>
          </a:prstGeom>
        </p:spPr>
      </p:pic>
      <p:pic>
        <p:nvPicPr>
          <p:cNvPr id="22" name="図 21">
            <a:extLst>
              <a:ext uri="{FF2B5EF4-FFF2-40B4-BE49-F238E27FC236}">
                <a16:creationId xmlns:a16="http://schemas.microsoft.com/office/drawing/2014/main" id="{498CF50A-5A18-B28F-3BD0-637684E7A9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8250" y="6893807"/>
            <a:ext cx="5985510" cy="5210337"/>
          </a:xfrm>
          <a:prstGeom prst="rect">
            <a:avLst/>
          </a:prstGeom>
        </p:spPr>
      </p:pic>
      <p:pic>
        <p:nvPicPr>
          <p:cNvPr id="24" name="図 23">
            <a:extLst>
              <a:ext uri="{FF2B5EF4-FFF2-40B4-BE49-F238E27FC236}">
                <a16:creationId xmlns:a16="http://schemas.microsoft.com/office/drawing/2014/main" id="{0A9CA252-8827-F5D6-2FFC-9FEB887111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2107" y="7164886"/>
            <a:ext cx="6056967" cy="3389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71720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68C4D-195B-8495-7268-573CDB8EC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8655CE6-31D2-9766-C410-BC789D6041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z="3200" b="1" dirty="0">
                <a:solidFill>
                  <a:srgbClr val="082B52"/>
                </a:solidFill>
                <a:latin typeface="Yu Gothic"/>
              </a:rPr>
              <a:t>進捗：</a:t>
            </a:r>
            <a:r>
              <a:rPr lang="en-US" altLang="ja-JP" sz="3200" dirty="0">
                <a:solidFill>
                  <a:srgbClr val="082B52"/>
                </a:solidFill>
                <a:latin typeface="Yu Gothic"/>
              </a:rPr>
              <a:t>2</a:t>
            </a:r>
            <a:r>
              <a:rPr lang="ja-JP" altLang="en-US" sz="3200" dirty="0">
                <a:solidFill>
                  <a:srgbClr val="082B52"/>
                </a:solidFill>
                <a:latin typeface="Yu Gothic"/>
              </a:rPr>
              <a:t>か月</a:t>
            </a:r>
            <a:r>
              <a:rPr sz="3200" b="1" dirty="0">
                <a:solidFill>
                  <a:srgbClr val="082B52"/>
                </a:solidFill>
                <a:latin typeface="Yu Gothic"/>
              </a:rPr>
              <a:t>で</a:t>
            </a:r>
            <a:r>
              <a:rPr lang="ja-JP" altLang="ja-JP" sz="3200" dirty="0"/>
              <a:t>熱LOS真値生成・軽量モデル構築・PAT統合評価</a:t>
            </a:r>
            <a:r>
              <a:rPr lang="ja-JP" altLang="en-US" sz="3200" b="1" dirty="0">
                <a:solidFill>
                  <a:srgbClr val="082B52"/>
                </a:solidFill>
                <a:latin typeface="Yu Gothic"/>
              </a:rPr>
              <a:t>まで</a:t>
            </a:r>
            <a:r>
              <a:rPr sz="3200" b="1" dirty="0" err="1">
                <a:solidFill>
                  <a:srgbClr val="082B52"/>
                </a:solidFill>
                <a:latin typeface="Yu Gothic"/>
              </a:rPr>
              <a:t>進んだ</a:t>
            </a:r>
            <a:endParaRPr sz="3200" b="1" dirty="0">
              <a:solidFill>
                <a:srgbClr val="082B52"/>
              </a:solidFill>
              <a:latin typeface="Yu Gothic"/>
            </a:endParaRP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819AD32-0E73-61BA-5B7C-EFE1060541C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2000" b="0">
                <a:solidFill>
                  <a:srgbClr val="666F79"/>
                </a:solidFill>
                <a:latin typeface="Yu Gothic"/>
              </a:rPr>
              <a:t>Progress since 7/6</a:t>
            </a:r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1629B45-DF56-B122-2C34-9A5A5A87D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sz="1800" b="0">
                <a:solidFill>
                  <a:srgbClr val="666F79"/>
                </a:solidFill>
                <a:latin typeface="Yu Gothic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05443" y="3063240"/>
            <a:ext cx="2407839" cy="486287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lang="en-US" sz="2800" b="1" dirty="0">
                <a:solidFill>
                  <a:srgbClr val="666F79"/>
                </a:solidFill>
                <a:latin typeface="Yu Gothic"/>
              </a:rPr>
              <a:t>5</a:t>
            </a:r>
            <a:r>
              <a:rPr sz="2800" b="1" dirty="0">
                <a:solidFill>
                  <a:srgbClr val="666F79"/>
                </a:solidFill>
                <a:latin typeface="Yu Gothic"/>
              </a:rPr>
              <a:t>/</a:t>
            </a:r>
            <a:r>
              <a:rPr lang="en-US" sz="2800" b="1" dirty="0">
                <a:solidFill>
                  <a:srgbClr val="666F79"/>
                </a:solidFill>
                <a:latin typeface="Yu Gothic"/>
              </a:rPr>
              <a:t>26</a:t>
            </a:r>
            <a:r>
              <a:rPr lang="ja-JP" altLang="en-US" sz="2800" b="1" dirty="0">
                <a:solidFill>
                  <a:srgbClr val="666F79"/>
                </a:solidFill>
                <a:latin typeface="Yu Gothic"/>
              </a:rPr>
              <a:t> 輪講発表</a:t>
            </a:r>
            <a:endParaRPr sz="2800" b="1" dirty="0">
              <a:solidFill>
                <a:srgbClr val="666F79"/>
              </a:solidFill>
              <a:latin typeface="Yu Gothic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7168835" y="3063240"/>
            <a:ext cx="1689693" cy="486287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800" b="1" dirty="0">
                <a:solidFill>
                  <a:srgbClr val="1B74AA"/>
                </a:solidFill>
                <a:latin typeface="Yu Gothic"/>
              </a:rPr>
              <a:t>7/21</a:t>
            </a:r>
            <a:r>
              <a:rPr lang="ja-JP" altLang="en-US" sz="2800" b="1" dirty="0">
                <a:solidFill>
                  <a:srgbClr val="1B74AA"/>
                </a:solidFill>
                <a:latin typeface="Yu Gothic"/>
              </a:rPr>
              <a:t> 本日</a:t>
            </a:r>
            <a:endParaRPr sz="2800" b="1" dirty="0">
              <a:solidFill>
                <a:srgbClr val="1B74AA"/>
              </a:solidFill>
              <a:latin typeface="Yu Gothic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1188720" y="3840480"/>
            <a:ext cx="10241280" cy="6217920"/>
          </a:xfrm>
          <a:prstGeom prst="rect">
            <a:avLst/>
          </a:prstGeom>
          <a:solidFill>
            <a:srgbClr val="F4F6F8"/>
          </a:solidFill>
          <a:ln w="1651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2893040" y="3840480"/>
            <a:ext cx="10241280" cy="6217920"/>
          </a:xfrm>
          <a:prstGeom prst="rect">
            <a:avLst/>
          </a:prstGeom>
          <a:solidFill>
            <a:srgbClr val="EBF6FB"/>
          </a:solidFill>
          <a:ln w="16510">
            <a:solidFill>
              <a:srgbClr val="5BB5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828800" y="4434840"/>
            <a:ext cx="9052560" cy="3159839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800"/>
              </a:spcAft>
            </a:pPr>
            <a:r>
              <a:rPr lang="ja-JP" altLang="en-US" sz="2600" b="1" dirty="0">
                <a:solidFill>
                  <a:srgbClr val="666F79"/>
                </a:solidFill>
                <a:latin typeface="Yu Gothic"/>
              </a:rPr>
              <a:t>研究構想</a:t>
            </a:r>
            <a:r>
              <a:rPr sz="2600" b="1" dirty="0">
                <a:solidFill>
                  <a:srgbClr val="666F79"/>
                </a:solidFill>
                <a:latin typeface="Yu Gothic"/>
              </a:rPr>
              <a:t>•</a:t>
            </a:r>
            <a:r>
              <a:rPr lang="ja-JP" altLang="en-US" sz="2600" b="1" dirty="0">
                <a:solidFill>
                  <a:srgbClr val="666F79"/>
                </a:solidFill>
                <a:latin typeface="Yu Gothic"/>
              </a:rPr>
              <a:t>評価枠組みの提案</a:t>
            </a:r>
            <a:endParaRPr sz="2600" dirty="0">
              <a:solidFill>
                <a:srgbClr val="232B34"/>
              </a:solidFill>
              <a:latin typeface="Yu Gothic"/>
            </a:endParaRPr>
          </a:p>
          <a:p>
            <a:pPr>
              <a:spcAft>
                <a:spcPts val="800"/>
              </a:spcAft>
            </a:pPr>
            <a:r>
              <a:rPr sz="2600" b="1" dirty="0">
                <a:solidFill>
                  <a:srgbClr val="666F79"/>
                </a:solidFill>
                <a:latin typeface="Yu Gothic"/>
              </a:rPr>
              <a:t>•</a:t>
            </a:r>
            <a:r>
              <a:rPr lang="ja-JP" altLang="ja-JP" sz="2800" dirty="0"/>
              <a:t>熱ひずみを時間変動LOSバイアスとして定式</a:t>
            </a:r>
            <a:endParaRPr lang="en-US" altLang="ja-JP" sz="2800" dirty="0"/>
          </a:p>
          <a:p>
            <a:pPr>
              <a:spcAft>
                <a:spcPts val="800"/>
              </a:spcAft>
            </a:pPr>
            <a:r>
              <a:rPr lang="en-US" altLang="ja-JP" sz="2800" b="1" dirty="0">
                <a:solidFill>
                  <a:srgbClr val="666F79"/>
                </a:solidFill>
                <a:latin typeface="Yu Gothic"/>
              </a:rPr>
              <a:t>• </a:t>
            </a:r>
            <a:r>
              <a:rPr lang="ja-JP" altLang="ja-JP" sz="2800" dirty="0"/>
              <a:t>TD/Femapを高精度参照とする解析フローを提案 </a:t>
            </a:r>
            <a:endParaRPr lang="en-US" altLang="ja-JP" sz="2800" dirty="0"/>
          </a:p>
          <a:p>
            <a:pPr>
              <a:spcAft>
                <a:spcPts val="800"/>
              </a:spcAft>
            </a:pPr>
            <a:r>
              <a:rPr lang="en-US" altLang="ja-JP" sz="2800" b="1" dirty="0">
                <a:solidFill>
                  <a:srgbClr val="666F79"/>
                </a:solidFill>
                <a:latin typeface="Yu Gothic"/>
              </a:rPr>
              <a:t>• </a:t>
            </a:r>
            <a:r>
              <a:rPr lang="ja-JP" altLang="ja-JP" sz="2800" dirty="0"/>
              <a:t>軽量補正モデルの候補を整理</a:t>
            </a:r>
            <a:endParaRPr lang="en-US" altLang="ja-JP" sz="2800" dirty="0"/>
          </a:p>
          <a:p>
            <a:pPr>
              <a:spcAft>
                <a:spcPts val="800"/>
              </a:spcAft>
            </a:pPr>
            <a:r>
              <a:rPr lang="en-US" altLang="ja-JP" sz="2800" b="1" dirty="0">
                <a:solidFill>
                  <a:srgbClr val="666F79"/>
                </a:solidFill>
                <a:latin typeface="Yu Gothic"/>
              </a:rPr>
              <a:t>• </a:t>
            </a:r>
            <a:r>
              <a:rPr lang="ja-JP" altLang="ja-JP" sz="2800" dirty="0"/>
              <a:t>FF補正＋Adaptive補正の二層構造を構想 </a:t>
            </a:r>
            <a:endParaRPr lang="en-US" altLang="ja-JP" sz="2800" dirty="0"/>
          </a:p>
          <a:p>
            <a:pPr>
              <a:spcAft>
                <a:spcPts val="800"/>
              </a:spcAft>
            </a:pPr>
            <a:r>
              <a:rPr lang="en-US" altLang="ja-JP" sz="2800" b="1" dirty="0">
                <a:solidFill>
                  <a:srgbClr val="666F79"/>
                </a:solidFill>
                <a:latin typeface="Yu Gothic"/>
              </a:rPr>
              <a:t>• </a:t>
            </a:r>
            <a:r>
              <a:rPr lang="ja-JP" altLang="ja-JP" sz="2800" dirty="0"/>
              <a:t>mock熱LOS</a:t>
            </a:r>
            <a:r>
              <a:rPr lang="ja-JP" altLang="en-US" sz="2800" dirty="0"/>
              <a:t>モデル</a:t>
            </a:r>
            <a:r>
              <a:rPr lang="ja-JP" altLang="ja-JP" sz="2800" dirty="0"/>
              <a:t>による予備PAT評価</a:t>
            </a:r>
            <a:endParaRPr sz="2600" dirty="0">
              <a:solidFill>
                <a:srgbClr val="232B34"/>
              </a:solidFill>
              <a:latin typeface="Yu Gothic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3533120" y="4434840"/>
            <a:ext cx="9052560" cy="3693319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800"/>
              </a:spcAft>
            </a:pPr>
            <a:r>
              <a:rPr lang="ja-JP" altLang="en-US" sz="2600" b="1" dirty="0">
                <a:solidFill>
                  <a:srgbClr val="1B74AA"/>
                </a:solidFill>
                <a:latin typeface="Yu Gothic"/>
              </a:rPr>
              <a:t>実データ生成</a:t>
            </a:r>
            <a:r>
              <a:rPr sz="2600" b="1" dirty="0">
                <a:solidFill>
                  <a:srgbClr val="1B74AA"/>
                </a:solidFill>
                <a:latin typeface="Yu Gothic"/>
              </a:rPr>
              <a:t>•</a:t>
            </a:r>
            <a:r>
              <a:rPr lang="ja-JP" altLang="en-US" sz="2600" b="1" dirty="0">
                <a:solidFill>
                  <a:srgbClr val="1B74AA"/>
                </a:solidFill>
                <a:latin typeface="Yu Gothic"/>
              </a:rPr>
              <a:t>モデル構築・統合評価</a:t>
            </a:r>
            <a:endParaRPr lang="en-US" sz="2600" b="1" dirty="0">
              <a:solidFill>
                <a:srgbClr val="1B74AA"/>
              </a:solidFill>
              <a:latin typeface="Yu Gothic"/>
            </a:endParaRPr>
          </a:p>
          <a:p>
            <a:pPr>
              <a:spcAft>
                <a:spcPts val="800"/>
              </a:spcAft>
            </a:pPr>
            <a:r>
              <a:rPr lang="en-US" altLang="ja-JP" sz="2800" b="1" dirty="0">
                <a:solidFill>
                  <a:srgbClr val="666F79"/>
                </a:solidFill>
                <a:latin typeface="Yu Gothic"/>
              </a:rPr>
              <a:t>• </a:t>
            </a:r>
            <a:r>
              <a:rPr lang="ja-JP" altLang="ja-JP" sz="2800" dirty="0"/>
              <a:t>TD/Femapにより21ケースの熱LOS真値を生成 </a:t>
            </a:r>
            <a:endParaRPr lang="en-US" altLang="ja-JP" sz="2800" dirty="0"/>
          </a:p>
          <a:p>
            <a:pPr>
              <a:spcAft>
                <a:spcPts val="800"/>
              </a:spcAft>
            </a:pPr>
            <a:r>
              <a:rPr lang="en-US" altLang="ja-JP" sz="2800" b="1" dirty="0">
                <a:solidFill>
                  <a:srgbClr val="666F79"/>
                </a:solidFill>
                <a:latin typeface="Yu Gothic"/>
              </a:rPr>
              <a:t>• </a:t>
            </a:r>
            <a:r>
              <a:rPr lang="ja-JP" altLang="ja-JP" sz="2800" dirty="0"/>
              <a:t>温度差に基づく階層型熱ひずみ予測モデルを構築 </a:t>
            </a:r>
            <a:endParaRPr lang="en-US" altLang="ja-JP" sz="2800" dirty="0"/>
          </a:p>
          <a:p>
            <a:pPr>
              <a:spcAft>
                <a:spcPts val="800"/>
              </a:spcAft>
            </a:pPr>
            <a:r>
              <a:rPr lang="en-US" altLang="ja-JP" sz="2800" b="1" dirty="0">
                <a:solidFill>
                  <a:srgbClr val="666F79"/>
                </a:solidFill>
                <a:latin typeface="Yu Gothic"/>
              </a:rPr>
              <a:t>•</a:t>
            </a:r>
            <a:r>
              <a:rPr lang="ja-JP" altLang="ja-JP" sz="2800" dirty="0"/>
              <a:t>太陽面・発熱・被覆・軌道を横断して評価 </a:t>
            </a:r>
            <a:endParaRPr lang="en-US" altLang="ja-JP" sz="2800" dirty="0"/>
          </a:p>
          <a:p>
            <a:pPr>
              <a:spcAft>
                <a:spcPts val="800"/>
              </a:spcAft>
            </a:pPr>
            <a:r>
              <a:rPr lang="en-US" altLang="ja-JP" sz="2800" b="1" dirty="0">
                <a:solidFill>
                  <a:srgbClr val="666F79"/>
                </a:solidFill>
                <a:latin typeface="Yu Gothic"/>
              </a:rPr>
              <a:t>• </a:t>
            </a:r>
            <a:r>
              <a:rPr lang="ja-JP" altLang="ja-JP" sz="2800" dirty="0"/>
              <a:t>Sentinel-1実軌道誤差を導入 </a:t>
            </a:r>
            <a:endParaRPr lang="en-US" altLang="ja-JP" sz="2800" dirty="0"/>
          </a:p>
          <a:p>
            <a:pPr>
              <a:spcAft>
                <a:spcPts val="800"/>
              </a:spcAft>
            </a:pPr>
            <a:r>
              <a:rPr lang="en-US" altLang="ja-JP" sz="2800" b="1" dirty="0">
                <a:solidFill>
                  <a:srgbClr val="666F79"/>
                </a:solidFill>
                <a:latin typeface="Yu Gothic"/>
              </a:rPr>
              <a:t>• </a:t>
            </a:r>
            <a:r>
              <a:rPr lang="ja-JP" altLang="ja-JP" sz="2800" dirty="0"/>
              <a:t>熱誤差と非熱誤差を統合したPAT性能評価 </a:t>
            </a:r>
            <a:endParaRPr lang="en-US" altLang="ja-JP" sz="2800" dirty="0"/>
          </a:p>
          <a:p>
            <a:pPr>
              <a:spcAft>
                <a:spcPts val="800"/>
              </a:spcAft>
            </a:pPr>
            <a:r>
              <a:rPr lang="en-US" altLang="ja-JP" sz="2800" b="1" dirty="0">
                <a:solidFill>
                  <a:srgbClr val="666F79"/>
                </a:solidFill>
                <a:latin typeface="Yu Gothic"/>
              </a:rPr>
              <a:t>•</a:t>
            </a:r>
            <a:r>
              <a:rPr lang="ja-JP" altLang="en-US" sz="2800" b="1" dirty="0">
                <a:solidFill>
                  <a:srgbClr val="666F79"/>
                </a:solidFill>
                <a:latin typeface="Yu Gothic"/>
              </a:rPr>
              <a:t> </a:t>
            </a:r>
            <a:r>
              <a:rPr lang="ja-JP" altLang="ja-JP" sz="2800" dirty="0"/>
              <a:t>軌道上更新対象をケースDC成分として再定義</a:t>
            </a:r>
            <a:endParaRPr sz="2600" dirty="0">
              <a:solidFill>
                <a:srgbClr val="232B34"/>
              </a:solidFill>
              <a:latin typeface="Yu Gothic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11658600" y="6858000"/>
            <a:ext cx="822960" cy="0"/>
          </a:xfrm>
          <a:prstGeom prst="line">
            <a:avLst/>
          </a:prstGeom>
          <a:ln w="508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168116" y="10744200"/>
            <a:ext cx="16078248" cy="547842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200" b="1" dirty="0" err="1">
                <a:solidFill>
                  <a:srgbClr val="082B52"/>
                </a:solidFill>
                <a:latin typeface="Yu Gothic"/>
              </a:rPr>
              <a:t>現在の問い：同帯域の非熱誤差と共存しても、軽量熱モデルで捕捉性能を改善できるか</a:t>
            </a:r>
            <a:endParaRPr sz="3200" b="1" dirty="0">
              <a:solidFill>
                <a:srgbClr val="082B52"/>
              </a:solidFill>
              <a:latin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3309065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766188-687C-CACF-8E62-FDA47B400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810512"/>
            <a:ext cx="11153823" cy="547842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r>
              <a:rPr lang="ja-JP" altLang="en-US" sz="3200" b="1" dirty="0"/>
              <a:t>中身：</a:t>
            </a:r>
            <a:r>
              <a:rPr lang="ja-JP" altLang="ja-JP" sz="3200" b="1" dirty="0"/>
              <a:t>熱ひずみ予測モデルの構築から軌道上補正までの流れ</a:t>
            </a:r>
            <a:endParaRPr lang="ja-JP" altLang="ja-JP" sz="3200" dirty="0"/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063240"/>
            <a:ext cx="3444239" cy="1234440"/>
          </a:xfrm>
          <a:prstGeom prst="rect">
            <a:avLst/>
          </a:prstGeom>
          <a:solidFill>
            <a:srgbClr val="082B52"/>
          </a:solidFill>
          <a:ln w="16510">
            <a:solidFill>
              <a:srgbClr val="082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87552" y="3172968"/>
            <a:ext cx="3297935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Orbit / attitude
heat &amp; coating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413503" y="3680460"/>
            <a:ext cx="274320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4742688" y="3063240"/>
            <a:ext cx="3444239" cy="1234440"/>
          </a:xfrm>
          <a:prstGeom prst="rect">
            <a:avLst/>
          </a:prstGeom>
          <a:solidFill>
            <a:srgbClr val="1B74AA"/>
          </a:solidFill>
          <a:ln w="16510">
            <a:solidFill>
              <a:srgbClr val="1B7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815840" y="3172968"/>
            <a:ext cx="3297935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Thermal Desktop
temperature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241792" y="3680460"/>
            <a:ext cx="274320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8570976" y="3063240"/>
            <a:ext cx="3444239" cy="1234440"/>
          </a:xfrm>
          <a:prstGeom prst="rect">
            <a:avLst/>
          </a:prstGeom>
          <a:solidFill>
            <a:srgbClr val="239571"/>
          </a:solidFill>
          <a:ln w="1651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44128" y="3172968"/>
            <a:ext cx="3297935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Femap / Nastran
rotation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2070080" y="3680460"/>
            <a:ext cx="274319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12399263" y="3063240"/>
            <a:ext cx="3444239" cy="1234440"/>
          </a:xfrm>
          <a:prstGeom prst="rect">
            <a:avLst/>
          </a:prstGeom>
          <a:solidFill>
            <a:srgbClr val="EC9427"/>
          </a:solidFill>
          <a:ln w="16510">
            <a:solidFill>
              <a:srgbClr val="EC94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2472415" y="3172968"/>
            <a:ext cx="3297935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STT–LCT
thermal LOS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5898367" y="3680460"/>
            <a:ext cx="274321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6227552" y="3063240"/>
            <a:ext cx="3444239" cy="1234440"/>
          </a:xfrm>
          <a:prstGeom prst="rect">
            <a:avLst/>
          </a:prstGeom>
          <a:solidFill>
            <a:srgbClr val="5D4084"/>
          </a:solidFill>
          <a:ln w="16510">
            <a:solidFill>
              <a:srgbClr val="5D40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6300703" y="3172968"/>
            <a:ext cx="3297935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Lightweight
model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9726655" y="3680460"/>
            <a:ext cx="274321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20055840" y="3063240"/>
            <a:ext cx="3444239" cy="1234440"/>
          </a:xfrm>
          <a:prstGeom prst="rect">
            <a:avLst/>
          </a:prstGeom>
          <a:solidFill>
            <a:srgbClr val="082B52"/>
          </a:solidFill>
          <a:ln w="16510">
            <a:solidFill>
              <a:srgbClr val="082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0128992" y="3172968"/>
            <a:ext cx="3297935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PAT
scan center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7188743"/>
            <a:ext cx="15700443" cy="3959156"/>
          </a:xfrm>
          <a:prstGeom prst="rect">
            <a:avLst/>
          </a:prstGeom>
          <a:solidFill>
            <a:srgbClr val="F4F6F8"/>
          </a:solidFill>
          <a:ln w="1651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412457" y="7600223"/>
            <a:ext cx="3305520" cy="486287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r>
              <a:rPr lang="ja-JP" altLang="en-US" sz="2800" b="1" dirty="0"/>
              <a:t>地上でのモデル構築</a:t>
            </a:r>
            <a:endParaRPr sz="2700" b="1" dirty="0">
              <a:solidFill>
                <a:srgbClr val="082B52"/>
              </a:solidFill>
              <a:latin typeface="Yu Gothic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595337" y="8560343"/>
            <a:ext cx="9052560" cy="2123658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800"/>
              </a:spcAft>
            </a:pPr>
            <a:r>
              <a:rPr sz="2600" b="1" dirty="0">
                <a:solidFill>
                  <a:srgbClr val="1B74AA"/>
                </a:solidFill>
                <a:latin typeface="Yu Gothic"/>
              </a:rPr>
              <a:t>•</a:t>
            </a:r>
            <a:r>
              <a:rPr lang="ja-JP" altLang="en-US" sz="2600" b="1" dirty="0">
                <a:solidFill>
                  <a:srgbClr val="1B74AA"/>
                </a:solidFill>
                <a:latin typeface="Yu Gothic"/>
              </a:rPr>
              <a:t> </a:t>
            </a:r>
            <a:r>
              <a:rPr lang="ja-JP" altLang="ja-JP" sz="2800" dirty="0"/>
              <a:t>軌道・姿勢・熱環境を入力 </a:t>
            </a:r>
            <a:endParaRPr lang="en-US" altLang="ja-JP" sz="2800" dirty="0"/>
          </a:p>
          <a:p>
            <a:pPr>
              <a:spcAft>
                <a:spcPts val="800"/>
              </a:spcAft>
            </a:pPr>
            <a:r>
              <a:rPr lang="en-US" altLang="ja-JP" sz="2800" b="1" dirty="0">
                <a:solidFill>
                  <a:srgbClr val="1B74AA"/>
                </a:solidFill>
                <a:latin typeface="Yu Gothic"/>
              </a:rPr>
              <a:t>•</a:t>
            </a:r>
            <a:r>
              <a:rPr lang="ja-JP" altLang="en-US" sz="2800" b="1" dirty="0">
                <a:solidFill>
                  <a:srgbClr val="1B74AA"/>
                </a:solidFill>
                <a:latin typeface="Yu Gothic"/>
              </a:rPr>
              <a:t> </a:t>
            </a:r>
            <a:r>
              <a:rPr lang="ja-JP" altLang="ja-JP" sz="2800" dirty="0"/>
              <a:t>TD/Femapで温度場・熱変形を計算</a:t>
            </a:r>
            <a:endParaRPr lang="en-US" altLang="ja-JP" sz="2800" dirty="0"/>
          </a:p>
          <a:p>
            <a:pPr>
              <a:spcAft>
                <a:spcPts val="800"/>
              </a:spcAft>
            </a:pPr>
            <a:r>
              <a:rPr lang="en-US" altLang="ja-JP" sz="2800" b="1" dirty="0">
                <a:solidFill>
                  <a:srgbClr val="1B74AA"/>
                </a:solidFill>
                <a:latin typeface="Yu Gothic"/>
              </a:rPr>
              <a:t>•</a:t>
            </a:r>
            <a:r>
              <a:rPr lang="ja-JP" altLang="en-US" sz="2800" b="1" dirty="0">
                <a:solidFill>
                  <a:srgbClr val="1B74AA"/>
                </a:solidFill>
                <a:latin typeface="Yu Gothic"/>
              </a:rPr>
              <a:t> </a:t>
            </a:r>
            <a:r>
              <a:rPr lang="ja-JP" altLang="ja-JP" sz="2800" dirty="0"/>
              <a:t>STT–LCT相対LOSの参照時系列を生成</a:t>
            </a:r>
            <a:endParaRPr lang="en-US" altLang="ja-JP" sz="2800" dirty="0"/>
          </a:p>
          <a:p>
            <a:pPr>
              <a:spcAft>
                <a:spcPts val="800"/>
              </a:spcAft>
            </a:pPr>
            <a:r>
              <a:rPr lang="en-US" altLang="ja-JP" sz="2800" b="1" dirty="0">
                <a:solidFill>
                  <a:srgbClr val="1B74AA"/>
                </a:solidFill>
                <a:latin typeface="Yu Gothic"/>
              </a:rPr>
              <a:t>• </a:t>
            </a:r>
            <a:r>
              <a:rPr lang="ja-JP" altLang="ja-JP" sz="2800" dirty="0"/>
              <a:t>軽量モデルの学習・評価に使用</a:t>
            </a:r>
            <a:endParaRPr sz="2600" dirty="0">
              <a:solidFill>
                <a:srgbClr val="232B34"/>
              </a:solidFill>
              <a:latin typeface="Yu Gothic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16848306" y="7188743"/>
            <a:ext cx="6651773" cy="3959154"/>
          </a:xfrm>
          <a:prstGeom prst="rect">
            <a:avLst/>
          </a:prstGeom>
          <a:solidFill>
            <a:srgbClr val="EBF6FB"/>
          </a:solidFill>
          <a:ln w="16510">
            <a:solidFill>
              <a:srgbClr val="5BB5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7151000" y="7600223"/>
            <a:ext cx="6085786" cy="470956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r>
              <a:rPr lang="ja-JP" altLang="en-US" sz="2700" b="1" dirty="0">
                <a:solidFill>
                  <a:srgbClr val="1B74AA"/>
                </a:solidFill>
                <a:latin typeface="Yu Gothic"/>
              </a:rPr>
              <a:t>軌道上でのモデル運用および補正</a:t>
            </a:r>
            <a:endParaRPr sz="2700" b="1" dirty="0">
              <a:solidFill>
                <a:srgbClr val="1B74AA"/>
              </a:solidFill>
              <a:latin typeface="Yu Gothic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7225771" y="8560343"/>
            <a:ext cx="5806441" cy="2000548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800"/>
              </a:spcAft>
            </a:pPr>
            <a:r>
              <a:rPr sz="2600" b="1" dirty="0">
                <a:solidFill>
                  <a:srgbClr val="1B74AA"/>
                </a:solidFill>
                <a:latin typeface="Yu Gothic"/>
              </a:rPr>
              <a:t>• </a:t>
            </a:r>
            <a:r>
              <a:rPr sz="2600" dirty="0" err="1">
                <a:solidFill>
                  <a:srgbClr val="232B34"/>
                </a:solidFill>
                <a:latin typeface="Yu Gothic"/>
              </a:rPr>
              <a:t>温度センサ</a:t>
            </a:r>
            <a:r>
              <a:rPr lang="ja-JP" altLang="en-US" sz="2600" dirty="0">
                <a:solidFill>
                  <a:srgbClr val="232B34"/>
                </a:solidFill>
                <a:latin typeface="Yu Gothic"/>
              </a:rPr>
              <a:t>・</a:t>
            </a:r>
            <a:r>
              <a:rPr sz="2600" dirty="0" err="1">
                <a:solidFill>
                  <a:srgbClr val="232B34"/>
                </a:solidFill>
                <a:latin typeface="Yu Gothic"/>
              </a:rPr>
              <a:t>運用</a:t>
            </a:r>
            <a:r>
              <a:rPr lang="ja-JP" altLang="en-US" sz="2600" dirty="0">
                <a:solidFill>
                  <a:srgbClr val="232B34"/>
                </a:solidFill>
                <a:latin typeface="Yu Gothic"/>
              </a:rPr>
              <a:t>情報を入力</a:t>
            </a:r>
            <a:endParaRPr sz="2600" dirty="0">
              <a:solidFill>
                <a:srgbClr val="232B34"/>
              </a:solidFill>
              <a:latin typeface="Yu Gothic"/>
            </a:endParaRPr>
          </a:p>
          <a:p>
            <a:pPr>
              <a:spcAft>
                <a:spcPts val="800"/>
              </a:spcAft>
            </a:pPr>
            <a:r>
              <a:rPr sz="2600" b="1" dirty="0">
                <a:solidFill>
                  <a:srgbClr val="1B74AA"/>
                </a:solidFill>
                <a:latin typeface="Yu Gothic"/>
              </a:rPr>
              <a:t>• </a:t>
            </a:r>
            <a:r>
              <a:rPr lang="ja-JP" altLang="en-US" sz="2600" dirty="0">
                <a:solidFill>
                  <a:srgbClr val="232B34"/>
                </a:solidFill>
                <a:latin typeface="Yu Gothic"/>
              </a:rPr>
              <a:t>軽量モデルで熱</a:t>
            </a:r>
            <a:r>
              <a:rPr sz="2600" dirty="0" err="1">
                <a:solidFill>
                  <a:srgbClr val="232B34"/>
                </a:solidFill>
                <a:latin typeface="Yu Gothic"/>
              </a:rPr>
              <a:t>LOSを</a:t>
            </a:r>
            <a:r>
              <a:rPr lang="ja-JP" altLang="en-US" sz="2600" dirty="0">
                <a:solidFill>
                  <a:srgbClr val="232B34"/>
                </a:solidFill>
                <a:latin typeface="Yu Gothic"/>
              </a:rPr>
              <a:t>予測</a:t>
            </a:r>
            <a:endParaRPr lang="en-US" altLang="ja-JP" sz="2600" dirty="0">
              <a:solidFill>
                <a:srgbClr val="232B34"/>
              </a:solidFill>
              <a:latin typeface="Yu Gothic"/>
            </a:endParaRPr>
          </a:p>
          <a:p>
            <a:pPr>
              <a:spcAft>
                <a:spcPts val="800"/>
              </a:spcAft>
            </a:pPr>
            <a:r>
              <a:rPr lang="en-US" altLang="ja-JP" sz="2600" b="1" dirty="0">
                <a:solidFill>
                  <a:srgbClr val="1B74AA"/>
                </a:solidFill>
                <a:latin typeface="Yu Gothic"/>
              </a:rPr>
              <a:t>• </a:t>
            </a:r>
            <a:r>
              <a:rPr lang="en-US" sz="2600" dirty="0">
                <a:solidFill>
                  <a:srgbClr val="232B34"/>
                </a:solidFill>
                <a:latin typeface="Yu Gothic"/>
              </a:rPr>
              <a:t>Scan center</a:t>
            </a:r>
            <a:r>
              <a:rPr lang="ja-JP" altLang="en-US" sz="2600" dirty="0">
                <a:solidFill>
                  <a:srgbClr val="232B34"/>
                </a:solidFill>
                <a:latin typeface="Yu Gothic"/>
              </a:rPr>
              <a:t>を補正</a:t>
            </a:r>
            <a:endParaRPr sz="2600" dirty="0">
              <a:solidFill>
                <a:srgbClr val="232B34"/>
              </a:solidFill>
              <a:latin typeface="Yu Gothic"/>
            </a:endParaRPr>
          </a:p>
          <a:p>
            <a:pPr>
              <a:spcAft>
                <a:spcPts val="800"/>
              </a:spcAft>
            </a:pPr>
            <a:r>
              <a:rPr sz="2600" b="1" dirty="0">
                <a:solidFill>
                  <a:srgbClr val="1B74AA"/>
                </a:solidFill>
                <a:latin typeface="Yu Gothic"/>
              </a:rPr>
              <a:t>• </a:t>
            </a:r>
            <a:r>
              <a:rPr sz="2600" dirty="0" err="1">
                <a:solidFill>
                  <a:srgbClr val="232B34"/>
                </a:solidFill>
                <a:latin typeface="Yu Gothic"/>
              </a:rPr>
              <a:t>捕捉後残差でモデル</a:t>
            </a:r>
            <a:r>
              <a:rPr lang="ja-JP" altLang="en-US" sz="2600" dirty="0">
                <a:solidFill>
                  <a:srgbClr val="232B34"/>
                </a:solidFill>
                <a:latin typeface="Yu Gothic"/>
              </a:rPr>
              <a:t>を</a:t>
            </a:r>
            <a:r>
              <a:rPr sz="2600" dirty="0" err="1">
                <a:solidFill>
                  <a:srgbClr val="232B34"/>
                </a:solidFill>
                <a:latin typeface="Yu Gothic"/>
              </a:rPr>
              <a:t>更新</a:t>
            </a:r>
            <a:endParaRPr sz="2600" dirty="0">
              <a:solidFill>
                <a:srgbClr val="232B34"/>
              </a:solidFill>
              <a:latin typeface="Yu Gothic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052664" y="11835849"/>
            <a:ext cx="19931675" cy="1040285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r>
              <a:rPr lang="en-US" altLang="ja-JP" sz="3200" b="1" dirty="0">
                <a:solidFill>
                  <a:srgbClr val="1B74AA"/>
                </a:solidFill>
                <a:latin typeface="Yu Gothic"/>
              </a:rPr>
              <a:t>•</a:t>
            </a:r>
            <a:r>
              <a:rPr lang="ja-JP" altLang="en-US" sz="3200" b="1" dirty="0">
                <a:solidFill>
                  <a:srgbClr val="1B74AA"/>
                </a:solidFill>
                <a:latin typeface="Yu Gothic"/>
              </a:rPr>
              <a:t> </a:t>
            </a:r>
            <a:r>
              <a:rPr lang="ja-JP" altLang="ja-JP" sz="3200" b="1" dirty="0"/>
              <a:t>TD/Femapは地上での教師データ生成・妥当性評価にのみ使用</a:t>
            </a:r>
            <a:r>
              <a:rPr lang="ja-JP" altLang="en-US" sz="3200" b="1" dirty="0"/>
              <a:t>し、軌道上では軽量モデルのみを使用する</a:t>
            </a:r>
            <a:endParaRPr lang="en-US" altLang="ja-JP" sz="3200" b="1" dirty="0"/>
          </a:p>
          <a:p>
            <a:r>
              <a:rPr lang="en-US" altLang="ja-JP" sz="3200" b="1" dirty="0">
                <a:solidFill>
                  <a:srgbClr val="1B74AA"/>
                </a:solidFill>
                <a:latin typeface="Yu Gothic"/>
              </a:rPr>
              <a:t>•</a:t>
            </a:r>
            <a:r>
              <a:rPr lang="ja-JP" altLang="en-US" sz="3200" b="1" dirty="0">
                <a:solidFill>
                  <a:srgbClr val="1B74AA"/>
                </a:solidFill>
                <a:latin typeface="Yu Gothic"/>
              </a:rPr>
              <a:t> </a:t>
            </a:r>
            <a:r>
              <a:rPr lang="ja-JP" altLang="en-US" sz="3200" b="1" dirty="0"/>
              <a:t>モデル性能は、</a:t>
            </a:r>
            <a:r>
              <a:rPr lang="en-US" altLang="ja-JP" sz="3200" b="1" dirty="0"/>
              <a:t>LOS</a:t>
            </a:r>
            <a:r>
              <a:rPr lang="ja-JP" altLang="en-US" sz="3200" b="1" dirty="0"/>
              <a:t>予測誤差だけでなく、捕捉成功率・捕捉時間でも評価する</a:t>
            </a:r>
            <a:endParaRPr lang="ja-JP" altLang="ja-JP" sz="3200" b="1" dirty="0"/>
          </a:p>
        </p:txBody>
      </p:sp>
      <p:pic>
        <p:nvPicPr>
          <p:cNvPr id="32" name="図 31">
            <a:extLst>
              <a:ext uri="{FF2B5EF4-FFF2-40B4-BE49-F238E27FC236}">
                <a16:creationId xmlns:a16="http://schemas.microsoft.com/office/drawing/2014/main" id="{3715A86D-4060-9A30-BCAB-A905AF73905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987" b="12995"/>
          <a:stretch>
            <a:fillRect/>
          </a:stretch>
        </p:blipFill>
        <p:spPr>
          <a:xfrm>
            <a:off x="4668368" y="4428721"/>
            <a:ext cx="3295472" cy="2714577"/>
          </a:xfrm>
          <a:prstGeom prst="rect">
            <a:avLst/>
          </a:prstGeom>
        </p:spPr>
      </p:pic>
      <p:pic>
        <p:nvPicPr>
          <p:cNvPr id="34" name="図 33">
            <a:extLst>
              <a:ext uri="{FF2B5EF4-FFF2-40B4-BE49-F238E27FC236}">
                <a16:creationId xmlns:a16="http://schemas.microsoft.com/office/drawing/2014/main" id="{F956818A-24FB-86DE-EFEF-CDBD09D72D2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933"/>
          <a:stretch>
            <a:fillRect/>
          </a:stretch>
        </p:blipFill>
        <p:spPr>
          <a:xfrm rot="5400000">
            <a:off x="8975763" y="4844559"/>
            <a:ext cx="2594268" cy="1769750"/>
          </a:xfrm>
          <a:prstGeom prst="rect">
            <a:avLst/>
          </a:prstGeom>
        </p:spPr>
      </p:pic>
      <p:pic>
        <p:nvPicPr>
          <p:cNvPr id="36" name="図 35">
            <a:extLst>
              <a:ext uri="{FF2B5EF4-FFF2-40B4-BE49-F238E27FC236}">
                <a16:creationId xmlns:a16="http://schemas.microsoft.com/office/drawing/2014/main" id="{B1265DB7-31F5-CC78-C1BC-05964DD7F4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83949" y="4442117"/>
            <a:ext cx="2674866" cy="258508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9" name="テキスト ボックス 38">
                <a:extLst>
                  <a:ext uri="{FF2B5EF4-FFF2-40B4-BE49-F238E27FC236}">
                    <a16:creationId xmlns:a16="http://schemas.microsoft.com/office/drawing/2014/main" id="{C89755C7-CE55-00F5-650C-D30D48A9F5CB}"/>
                  </a:ext>
                </a:extLst>
              </p:cNvPr>
              <p:cNvSpPr txBox="1"/>
              <p:nvPr/>
            </p:nvSpPr>
            <p:spPr>
              <a:xfrm>
                <a:off x="16227552" y="5285419"/>
                <a:ext cx="3499103" cy="10979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3200" i="1" smtClean="0">
                          <a:latin typeface="Cambria Math" panose="02040503050406030204" pitchFamily="18" charset="0"/>
                        </a:rPr>
                        <m:t>𝛥</m:t>
                      </m:r>
                      <m:acc>
                        <m:accPr>
                          <m:chr m:val="̂"/>
                          <m:ctrlPr>
                            <a:rPr kumimoji="1" lang="en-US" altLang="ja-JP" sz="32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kumimoji="1" lang="en-US" altLang="ja-JP" sz="3200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  <m:r>
                        <a:rPr kumimoji="1" lang="en-US" altLang="ja-JP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kumimoji="1" lang="en-US" altLang="ja-JP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32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sz="3200" b="0" i="1" smtClean="0">
                              <a:latin typeface="Cambria Math" panose="02040503050406030204" pitchFamily="18" charset="0"/>
                            </a:rPr>
                            <m:t>𝑐𝑎𝑠𝑒</m:t>
                          </m:r>
                        </m:sub>
                      </m:sSub>
                      <m:r>
                        <a:rPr kumimoji="1" lang="en-US" altLang="ja-JP" sz="32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kumimoji="1" lang="en-US" altLang="ja-JP" sz="32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kumimoji="1" lang="en-US" altLang="ja-JP" sz="32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ja-JP" sz="3200" i="1">
                          <a:latin typeface="Cambria Math" panose="02040503050406030204" pitchFamily="18" charset="0"/>
                        </a:rPr>
                        <m:t>𝛥</m:t>
                      </m:r>
                      <m:r>
                        <a:rPr kumimoji="1" lang="en-US" altLang="ja-JP" sz="3200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kumimoji="1" lang="en-US" altLang="ja-JP" sz="32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kumimoji="1" lang="en-US" altLang="ja-JP" sz="3200" b="0" i="1" dirty="0"/>
              </a:p>
              <a:p>
                <a:endParaRPr kumimoji="1" lang="ja-JP" altLang="en-US" sz="3200" i="1" dirty="0"/>
              </a:p>
            </p:txBody>
          </p:sp>
        </mc:Choice>
        <mc:Fallback xmlns="">
          <p:sp>
            <p:nvSpPr>
              <p:cNvPr id="39" name="テキスト ボックス 38">
                <a:extLst>
                  <a:ext uri="{FF2B5EF4-FFF2-40B4-BE49-F238E27FC236}">
                    <a16:creationId xmlns:a16="http://schemas.microsoft.com/office/drawing/2014/main" id="{C89755C7-CE55-00F5-650C-D30D48A9F5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27552" y="5285419"/>
                <a:ext cx="3499103" cy="109799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8A071E9D-0A17-5410-CA66-EB4C2E4AC8F6}"/>
              </a:ext>
            </a:extLst>
          </p:cNvPr>
          <p:cNvSpPr txBox="1"/>
          <p:nvPr/>
        </p:nvSpPr>
        <p:spPr>
          <a:xfrm>
            <a:off x="914400" y="4611231"/>
            <a:ext cx="3444239" cy="2246769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2800" dirty="0"/>
              <a:t>・軌道</a:t>
            </a:r>
            <a:endParaRPr kumimoji="1" lang="en-US" altLang="ja-JP" sz="2800" dirty="0"/>
          </a:p>
          <a:p>
            <a:r>
              <a:rPr kumimoji="1" lang="ja-JP" altLang="en-US" sz="2800" dirty="0"/>
              <a:t>・姿勢</a:t>
            </a:r>
            <a:endParaRPr kumimoji="1" lang="en-US" altLang="ja-JP" sz="2800" dirty="0"/>
          </a:p>
          <a:p>
            <a:r>
              <a:rPr kumimoji="1" lang="ja-JP" altLang="en-US" sz="2800" dirty="0"/>
              <a:t>・コンポ構造配置</a:t>
            </a:r>
            <a:endParaRPr kumimoji="1" lang="en-US" altLang="ja-JP" sz="2800" dirty="0"/>
          </a:p>
          <a:p>
            <a:r>
              <a:rPr kumimoji="1" lang="ja-JP" altLang="en-US" sz="2800" dirty="0"/>
              <a:t>・衛星表面特性</a:t>
            </a:r>
            <a:endParaRPr kumimoji="1" lang="en-US" altLang="ja-JP" sz="2800" dirty="0"/>
          </a:p>
          <a:p>
            <a:r>
              <a:rPr kumimoji="1" lang="ja-JP" altLang="en-US" sz="2800" dirty="0"/>
              <a:t>・内部発熱位置</a:t>
            </a:r>
            <a:r>
              <a:rPr kumimoji="1" lang="en-US" altLang="ja-JP" sz="2800" dirty="0"/>
              <a:t>/</a:t>
            </a:r>
            <a:r>
              <a:rPr kumimoji="1" lang="ja-JP" altLang="en-US" sz="2800" dirty="0"/>
              <a:t>量</a:t>
            </a:r>
            <a:endParaRPr kumimoji="1" lang="en-US" altLang="ja-JP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テキスト ボックス 45">
                <a:extLst>
                  <a:ext uri="{FF2B5EF4-FFF2-40B4-BE49-F238E27FC236}">
                    <a16:creationId xmlns:a16="http://schemas.microsoft.com/office/drawing/2014/main" id="{6F7F0EF8-C4CA-F7FC-D1B9-80BBC6B4DBEE}"/>
                  </a:ext>
                </a:extLst>
              </p:cNvPr>
              <p:cNvSpPr txBox="1"/>
              <p:nvPr/>
            </p:nvSpPr>
            <p:spPr>
              <a:xfrm>
                <a:off x="20097212" y="5262967"/>
                <a:ext cx="3499103" cy="10979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320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kumimoji="1" lang="en-US" altLang="ja-JP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kumimoji="1" lang="en-US" altLang="ja-JP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3200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kumimoji="1" lang="en-US" altLang="ja-JP" sz="32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kumimoji="1" lang="en-US" altLang="ja-JP" sz="3200" b="0" i="1" smtClean="0"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kumimoji="1" lang="en-US" altLang="ja-JP" sz="3200" i="1">
                          <a:latin typeface="Cambria Math" panose="02040503050406030204" pitchFamily="18" charset="0"/>
                        </a:rPr>
                        <m:t>𝛥</m:t>
                      </m:r>
                      <m:acc>
                        <m:accPr>
                          <m:chr m:val="̂"/>
                          <m:ctrlPr>
                            <a:rPr kumimoji="1" lang="en-US" altLang="ja-JP" sz="32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kumimoji="1" lang="en-US" altLang="ja-JP" sz="3200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</m:oMath>
                  </m:oMathPara>
                </a14:m>
                <a:endParaRPr kumimoji="1" lang="en-US" altLang="ja-JP" sz="3200" b="0" i="1" dirty="0"/>
              </a:p>
              <a:p>
                <a:endParaRPr kumimoji="1" lang="ja-JP" altLang="en-US" sz="3200" i="1" dirty="0"/>
              </a:p>
            </p:txBody>
          </p:sp>
        </mc:Choice>
        <mc:Fallback xmlns="">
          <p:sp>
            <p:nvSpPr>
              <p:cNvPr id="46" name="テキスト ボックス 45">
                <a:extLst>
                  <a:ext uri="{FF2B5EF4-FFF2-40B4-BE49-F238E27FC236}">
                    <a16:creationId xmlns:a16="http://schemas.microsoft.com/office/drawing/2014/main" id="{6F7F0EF8-C4CA-F7FC-D1B9-80BBC6B4DB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97212" y="5262967"/>
                <a:ext cx="3499103" cy="109799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328558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2FDC0-C27B-B493-3C2D-059C292E5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692640" y="4114800"/>
            <a:ext cx="4937760" cy="5943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700" b="0">
                <a:solidFill>
                  <a:srgbClr val="FFFFFF"/>
                </a:solidFill>
                <a:latin typeface="Yu Gothic"/>
              </a:rPr>
              <a:t>02</a:t>
            </a:r>
          </a:p>
        </p:txBody>
      </p:sp>
      <p:sp>
        <p:nvSpPr>
          <p:cNvPr id="3" name="Rectangle 2"/>
          <p:cNvSpPr/>
          <p:nvPr/>
        </p:nvSpPr>
        <p:spPr>
          <a:xfrm>
            <a:off x="10469880" y="5230368"/>
            <a:ext cx="338328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28800" y="5721775"/>
            <a:ext cx="20756880" cy="10515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300" b="1">
                <a:solidFill>
                  <a:srgbClr val="FFFFFF"/>
                </a:solidFill>
                <a:latin typeface="Yu Gothic"/>
              </a:rPr>
              <a:t>Thermo-structural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FFFFFF"/>
                </a:solidFill>
                <a:latin typeface="Yu Gothic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2095109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Thermo-structural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7460504" cy="1040285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endParaRPr lang="en-US" sz="3200" b="1" dirty="0">
              <a:solidFill>
                <a:srgbClr val="082B52"/>
              </a:solidFill>
              <a:latin typeface="Yu Gothic"/>
            </a:endParaRPr>
          </a:p>
          <a:p>
            <a:pPr algn="l"/>
            <a:r>
              <a:rPr lang="ja-JP" altLang="en-US" sz="3200" b="1" dirty="0">
                <a:solidFill>
                  <a:srgbClr val="082B52"/>
                </a:solidFill>
                <a:latin typeface="Yu Gothic"/>
              </a:rPr>
              <a:t>小型衛星を模した</a:t>
            </a:r>
            <a:r>
              <a:rPr sz="3200" b="1" dirty="0" err="1">
                <a:solidFill>
                  <a:srgbClr val="082B52"/>
                </a:solidFill>
                <a:latin typeface="Yu Gothic"/>
              </a:rPr>
              <a:t>箱型衛星モデル</a:t>
            </a:r>
            <a:r>
              <a:rPr lang="ja-JP" altLang="en-US" sz="3200" b="1" dirty="0">
                <a:solidFill>
                  <a:srgbClr val="082B52"/>
                </a:solidFill>
                <a:latin typeface="Yu Gothic"/>
              </a:rPr>
              <a:t>を作成</a:t>
            </a:r>
            <a:endParaRPr sz="3200" b="1" dirty="0">
              <a:solidFill>
                <a:srgbClr val="082B52"/>
              </a:solidFill>
              <a:latin typeface="Yu Gothic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9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2678763"/>
              </p:ext>
            </p:extLst>
          </p:nvPr>
        </p:nvGraphicFramePr>
        <p:xfrm>
          <a:off x="17411701" y="3764280"/>
          <a:ext cx="6362700" cy="71935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11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015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98919">
                <a:tc>
                  <a:txBody>
                    <a:bodyPr/>
                    <a:lstStyle/>
                    <a:p>
                      <a:pPr algn="l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Item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 dirty="0">
                          <a:solidFill>
                            <a:srgbClr val="FFFFFF"/>
                          </a:solidFill>
                          <a:latin typeface="Yu Gothic"/>
                        </a:rPr>
                        <a:t>Setting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9891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Bus size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590 × 600 × 990 mm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9891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Panels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10 mm shell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9891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Material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A5052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98919">
                <a:tc>
                  <a:txBody>
                    <a:bodyPr/>
                    <a:lstStyle/>
                    <a:p>
                      <a:pPr algn="l"/>
                      <a:r>
                        <a:rPr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LCT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MZ center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98919">
                <a:tc>
                  <a:txBody>
                    <a:bodyPr/>
                    <a:lstStyle/>
                    <a:p>
                      <a:pPr algn="l"/>
                      <a:r>
                        <a:rPr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STT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PZ center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0705306" y="11654265"/>
            <a:ext cx="5753893" cy="1040285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r>
              <a:rPr lang="en-US" sz="3200" b="1" dirty="0">
                <a:solidFill>
                  <a:srgbClr val="082B52"/>
                </a:solidFill>
                <a:latin typeface="Yu Gothic"/>
              </a:rPr>
              <a:t>Thermal Desktop</a:t>
            </a:r>
            <a:r>
              <a:rPr lang="ja-JP" altLang="en-US" sz="3200" b="1" dirty="0">
                <a:solidFill>
                  <a:srgbClr val="082B52"/>
                </a:solidFill>
                <a:latin typeface="Yu Gothic"/>
              </a:rPr>
              <a:t>と</a:t>
            </a:r>
            <a:r>
              <a:rPr lang="en-US" altLang="ja-JP" sz="3200" b="1" dirty="0" err="1">
                <a:solidFill>
                  <a:srgbClr val="082B52"/>
                </a:solidFill>
                <a:latin typeface="Yu Gothic"/>
              </a:rPr>
              <a:t>Femap</a:t>
            </a:r>
            <a:r>
              <a:rPr lang="ja-JP" altLang="en-US" sz="3200" b="1" dirty="0">
                <a:solidFill>
                  <a:srgbClr val="082B52"/>
                </a:solidFill>
                <a:latin typeface="Yu Gothic"/>
              </a:rPr>
              <a:t>で</a:t>
            </a:r>
            <a:endParaRPr lang="en-US" altLang="ja-JP" sz="3200" b="1" dirty="0">
              <a:solidFill>
                <a:srgbClr val="082B52"/>
              </a:solidFill>
              <a:latin typeface="Yu Gothic"/>
            </a:endParaRPr>
          </a:p>
          <a:p>
            <a:r>
              <a:rPr lang="ja-JP" altLang="en-US" sz="3200" b="1" dirty="0">
                <a:solidFill>
                  <a:srgbClr val="082B52"/>
                </a:solidFill>
                <a:latin typeface="Yu Gothic"/>
              </a:rPr>
              <a:t>同じ衛星モデルを作成する</a:t>
            </a:r>
            <a:endParaRPr sz="3200" b="1" dirty="0">
              <a:solidFill>
                <a:srgbClr val="082B52"/>
              </a:solidFill>
              <a:latin typeface="Yu Gothic"/>
            </a:endParaRPr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CCEF93ED-B9FC-B970-0B05-59AC1CDB4F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093" y="3764280"/>
            <a:ext cx="4377691" cy="6995395"/>
          </a:xfrm>
          <a:prstGeom prst="rect">
            <a:avLst/>
          </a:prstGeom>
        </p:spPr>
      </p:pic>
      <p:sp>
        <p:nvSpPr>
          <p:cNvPr id="18" name="TextBox 6"/>
          <p:cNvSpPr txBox="1"/>
          <p:nvPr/>
        </p:nvSpPr>
        <p:spPr>
          <a:xfrm>
            <a:off x="2646962" y="3261360"/>
            <a:ext cx="1274516" cy="424732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400" b="1">
                <a:solidFill>
                  <a:srgbClr val="FF0000"/>
                </a:solidFill>
                <a:latin typeface="Yu Gothic"/>
              </a:rPr>
              <a:t>PZ: STT</a:t>
            </a:r>
          </a:p>
        </p:txBody>
      </p:sp>
      <p:sp>
        <p:nvSpPr>
          <p:cNvPr id="19" name="TextBox 7"/>
          <p:cNvSpPr txBox="1"/>
          <p:nvPr/>
        </p:nvSpPr>
        <p:spPr>
          <a:xfrm>
            <a:off x="2729050" y="10894945"/>
            <a:ext cx="1468479" cy="455509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600" b="1" dirty="0">
                <a:solidFill>
                  <a:srgbClr val="082B52"/>
                </a:solidFill>
                <a:latin typeface="Yu Gothic"/>
              </a:rPr>
              <a:t>MZ: LCT</a:t>
            </a:r>
          </a:p>
        </p:txBody>
      </p:sp>
      <p:sp>
        <p:nvSpPr>
          <p:cNvPr id="20" name="TextBox 8"/>
          <p:cNvSpPr txBox="1"/>
          <p:nvPr/>
        </p:nvSpPr>
        <p:spPr>
          <a:xfrm>
            <a:off x="3507104" y="5259118"/>
            <a:ext cx="2011680" cy="45720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200" b="1" dirty="0">
                <a:solidFill>
                  <a:srgbClr val="EC9427"/>
                </a:solidFill>
                <a:latin typeface="Yu Gothic"/>
              </a:rPr>
              <a:t>MY: PCDU</a:t>
            </a:r>
          </a:p>
        </p:txBody>
      </p:sp>
      <p:sp>
        <p:nvSpPr>
          <p:cNvPr id="21" name="TextBox 9"/>
          <p:cNvSpPr txBox="1"/>
          <p:nvPr/>
        </p:nvSpPr>
        <p:spPr>
          <a:xfrm>
            <a:off x="1929554" y="8298180"/>
            <a:ext cx="1434816" cy="393954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200" b="1" dirty="0">
                <a:solidFill>
                  <a:srgbClr val="EF25D7"/>
                </a:solidFill>
                <a:latin typeface="Yu Gothic"/>
              </a:rPr>
              <a:t>PY: PROP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59F82260-522D-6761-0595-3DE00DE7B20B}"/>
              </a:ext>
            </a:extLst>
          </p:cNvPr>
          <p:cNvSpPr txBox="1"/>
          <p:nvPr/>
        </p:nvSpPr>
        <p:spPr>
          <a:xfrm>
            <a:off x="3921478" y="11736067"/>
            <a:ext cx="3027363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2600" b="1" dirty="0">
                <a:solidFill>
                  <a:srgbClr val="082B52"/>
                </a:solidFill>
                <a:latin typeface="Yu Gothic"/>
              </a:rPr>
              <a:t>LOS</a:t>
            </a:r>
          </a:p>
          <a:p>
            <a:r>
              <a:rPr lang="en-US" altLang="ja-JP" sz="2600" b="1" dirty="0">
                <a:solidFill>
                  <a:srgbClr val="082B52"/>
                </a:solidFill>
                <a:latin typeface="Yu Gothic"/>
              </a:rPr>
              <a:t>boresight ≈ −Z</a:t>
            </a:r>
            <a:endParaRPr lang="ja-JP" altLang="en-US" dirty="0"/>
          </a:p>
        </p:txBody>
      </p:sp>
      <p:sp>
        <p:nvSpPr>
          <p:cNvPr id="27" name="矢印: 下 26">
            <a:extLst>
              <a:ext uri="{FF2B5EF4-FFF2-40B4-BE49-F238E27FC236}">
                <a16:creationId xmlns:a16="http://schemas.microsoft.com/office/drawing/2014/main" id="{3ABEA4DE-C3B5-7BEA-4021-0D8E1D0BB0E3}"/>
              </a:ext>
            </a:extLst>
          </p:cNvPr>
          <p:cNvSpPr/>
          <p:nvPr/>
        </p:nvSpPr>
        <p:spPr>
          <a:xfrm>
            <a:off x="2893199" y="11612814"/>
            <a:ext cx="873478" cy="1123188"/>
          </a:xfrm>
          <a:prstGeom prst="downArrow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9" name="図 28">
            <a:extLst>
              <a:ext uri="{FF2B5EF4-FFF2-40B4-BE49-F238E27FC236}">
                <a16:creationId xmlns:a16="http://schemas.microsoft.com/office/drawing/2014/main" id="{757886C6-D7F5-0F38-ACF6-8EA5310D4B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5235" y="3766102"/>
            <a:ext cx="4658580" cy="6944390"/>
          </a:xfrm>
          <a:prstGeom prst="rect">
            <a:avLst/>
          </a:prstGeom>
        </p:spPr>
      </p:pic>
      <p:pic>
        <p:nvPicPr>
          <p:cNvPr id="31" name="図 30">
            <a:extLst>
              <a:ext uri="{FF2B5EF4-FFF2-40B4-BE49-F238E27FC236}">
                <a16:creationId xmlns:a16="http://schemas.microsoft.com/office/drawing/2014/main" id="{02DA67B2-8B68-27F3-69F6-53903FB726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68621" y="3764280"/>
            <a:ext cx="5428009" cy="6395069"/>
          </a:xfrm>
          <a:prstGeom prst="rect">
            <a:avLst/>
          </a:prstGeom>
        </p:spPr>
      </p:pic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8598F395-2105-83B7-C6FD-2BE0EC3D3A1F}"/>
              </a:ext>
            </a:extLst>
          </p:cNvPr>
          <p:cNvSpPr txBox="1"/>
          <p:nvPr/>
        </p:nvSpPr>
        <p:spPr>
          <a:xfrm>
            <a:off x="7569857" y="3275705"/>
            <a:ext cx="32029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dirty="0"/>
              <a:t>Thermal Desktop</a:t>
            </a:r>
            <a:endParaRPr kumimoji="1" lang="ja-JP" altLang="en-US" sz="2800" dirty="0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A6373989-AC26-4AC6-D467-74D9A3AB9AD8}"/>
              </a:ext>
            </a:extLst>
          </p:cNvPr>
          <p:cNvSpPr txBox="1"/>
          <p:nvPr/>
        </p:nvSpPr>
        <p:spPr>
          <a:xfrm>
            <a:off x="14922114" y="3275705"/>
            <a:ext cx="12745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dirty="0" err="1"/>
              <a:t>Femap</a:t>
            </a:r>
            <a:endParaRPr kumimoji="1" lang="ja-JP" altLang="en-US" sz="2800" dirty="0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674E08F0-D963-68BA-D4B8-F9D37A3BD261}"/>
              </a:ext>
            </a:extLst>
          </p:cNvPr>
          <p:cNvSpPr txBox="1"/>
          <p:nvPr/>
        </p:nvSpPr>
        <p:spPr>
          <a:xfrm>
            <a:off x="19544059" y="3261360"/>
            <a:ext cx="2514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dirty="0"/>
              <a:t>Configuration</a:t>
            </a:r>
            <a:endParaRPr kumimoji="1" lang="ja-JP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366903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Thermo-structural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18718394" cy="1040285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endParaRPr lang="en-US" sz="3200" b="1" dirty="0">
              <a:solidFill>
                <a:srgbClr val="082B52"/>
              </a:solidFill>
              <a:latin typeface="Yu Gothic"/>
            </a:endParaRPr>
          </a:p>
          <a:p>
            <a:pPr algn="l"/>
            <a:r>
              <a:rPr lang="en-US" sz="3200" b="1" dirty="0">
                <a:solidFill>
                  <a:srgbClr val="082B52"/>
                </a:solidFill>
                <a:latin typeface="Yu Gothic"/>
              </a:rPr>
              <a:t>TD</a:t>
            </a:r>
            <a:r>
              <a:rPr lang="ja-JP" altLang="en-US" sz="3200" b="1" dirty="0">
                <a:solidFill>
                  <a:srgbClr val="082B52"/>
                </a:solidFill>
                <a:latin typeface="Yu Gothic"/>
              </a:rPr>
              <a:t>での解析：軌道・姿勢・コンポ電源・表面特性を入力として、各ケースにおける温度場を出力する</a:t>
            </a:r>
            <a:endParaRPr sz="3200" b="1" dirty="0">
              <a:solidFill>
                <a:srgbClr val="082B52"/>
              </a:solidFill>
              <a:latin typeface="Yu Gothic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3444052" y="12819888"/>
            <a:ext cx="330348" cy="332399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 dirty="0">
                <a:solidFill>
                  <a:srgbClr val="666F79"/>
                </a:solidFill>
                <a:latin typeface="Yu Gothic"/>
              </a:rPr>
              <a:t>1</a:t>
            </a:r>
            <a:r>
              <a:rPr lang="en-US" sz="1800" b="0" dirty="0">
                <a:solidFill>
                  <a:srgbClr val="666F79"/>
                </a:solidFill>
                <a:latin typeface="Yu Gothic"/>
              </a:rPr>
              <a:t>0</a:t>
            </a:r>
            <a:endParaRPr sz="1800" b="0" dirty="0">
              <a:solidFill>
                <a:srgbClr val="666F79"/>
              </a:solidFill>
              <a:latin typeface="Yu Gothic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5911599"/>
              </p:ext>
            </p:extLst>
          </p:nvPr>
        </p:nvGraphicFramePr>
        <p:xfrm>
          <a:off x="1339533" y="3597098"/>
          <a:ext cx="10789920" cy="82557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31965">
                <a:tc>
                  <a:txBody>
                    <a:bodyPr/>
                    <a:lstStyle/>
                    <a:p>
                      <a:pPr algn="l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Parameter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Setting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31965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Orbit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SSO </a:t>
                      </a:r>
                      <a:r>
                        <a:rPr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LTAN06 / 800 km / COLD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31965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Period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≈6050 s (101 min)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31965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Duration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≈18157 s (3 orbits)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31965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Sampling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≈60.5 s / 301 samples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31965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Eclipse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蝕あり</a:t>
                      </a:r>
                      <a:r>
                        <a:rPr lang="en-US" altLang="ja-JP"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/</a:t>
                      </a:r>
                      <a:r>
                        <a:rPr lang="ja-JP" altLang="en-US"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全日照</a:t>
                      </a:r>
                      <a:endParaRPr sz="2300" b="0" dirty="0">
                        <a:solidFill>
                          <a:srgbClr val="232B34"/>
                        </a:solidFill>
                        <a:latin typeface="Yu Gothic"/>
                      </a:endParaRP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31970">
                <a:tc>
                  <a:txBody>
                    <a:bodyPr/>
                    <a:lstStyle/>
                    <a:p>
                      <a:pPr algn="l"/>
                      <a:r>
                        <a:rPr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Sun face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MX / MY / PX / PY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31970">
                <a:tc>
                  <a:txBody>
                    <a:bodyPr/>
                    <a:lstStyle/>
                    <a:p>
                      <a:pPr algn="l"/>
                      <a:r>
                        <a:rPr lang="en-US" altLang="ja-JP"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Node</a:t>
                      </a:r>
                      <a:endParaRPr sz="2300" b="0" dirty="0">
                        <a:solidFill>
                          <a:srgbClr val="232B34"/>
                        </a:solidFill>
                        <a:latin typeface="Yu Gothic"/>
                      </a:endParaRPr>
                    </a:p>
                  </a:txBody>
                  <a:tcPr marL="64008" marR="64008" marT="27432" marB="27432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125 Nodes</a:t>
                      </a:r>
                      <a:endParaRPr sz="2300" b="0" dirty="0">
                        <a:solidFill>
                          <a:srgbClr val="232B34"/>
                        </a:solidFill>
                        <a:latin typeface="Yu Gothic"/>
                      </a:endParaRP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6942852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12618720" y="3608070"/>
            <a:ext cx="10424160" cy="3249930"/>
          </a:xfrm>
          <a:prstGeom prst="roundRect">
            <a:avLst/>
          </a:prstGeom>
          <a:solidFill>
            <a:srgbClr val="EBF6FB"/>
          </a:solidFill>
          <a:ln w="16510">
            <a:solidFill>
              <a:srgbClr val="5BB5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030200" y="4065270"/>
            <a:ext cx="9601200" cy="54864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700" b="1" dirty="0">
                <a:solidFill>
                  <a:srgbClr val="1B74AA"/>
                </a:solidFill>
                <a:latin typeface="Yu Gothic"/>
              </a:rPr>
              <a:t>Additional environments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0" y="5162550"/>
            <a:ext cx="9052560" cy="1497846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800"/>
              </a:spcAft>
            </a:pPr>
            <a:r>
              <a:rPr sz="2600" b="1" dirty="0">
                <a:solidFill>
                  <a:srgbClr val="1B74AA"/>
                </a:solidFill>
                <a:latin typeface="Yu Gothic"/>
              </a:rPr>
              <a:t>• </a:t>
            </a:r>
            <a:r>
              <a:rPr lang="ja-JP" altLang="en-US" sz="2600" dirty="0">
                <a:solidFill>
                  <a:srgbClr val="232B34"/>
                </a:solidFill>
                <a:latin typeface="Yu Gothic"/>
              </a:rPr>
              <a:t>内部のコンポの電源切り替え</a:t>
            </a:r>
            <a:endParaRPr sz="2600" dirty="0">
              <a:solidFill>
                <a:srgbClr val="232B34"/>
              </a:solidFill>
              <a:latin typeface="Yu Gothic"/>
            </a:endParaRPr>
          </a:p>
          <a:p>
            <a:pPr>
              <a:spcAft>
                <a:spcPts val="800"/>
              </a:spcAft>
            </a:pPr>
            <a:r>
              <a:rPr sz="2600" b="1" dirty="0">
                <a:solidFill>
                  <a:srgbClr val="1B74AA"/>
                </a:solidFill>
                <a:latin typeface="Yu Gothic"/>
              </a:rPr>
              <a:t>• </a:t>
            </a:r>
            <a:r>
              <a:rPr lang="ja-JP" altLang="en-US" sz="2600" dirty="0">
                <a:solidFill>
                  <a:srgbClr val="232B34"/>
                </a:solidFill>
                <a:latin typeface="Yu Gothic"/>
              </a:rPr>
              <a:t>衛星パネルの表面特性：</a:t>
            </a:r>
            <a:r>
              <a:rPr lang="en-US" altLang="ja-JP" sz="2600" dirty="0">
                <a:solidFill>
                  <a:srgbClr val="232B34"/>
                </a:solidFill>
                <a:latin typeface="Yu Gothic"/>
              </a:rPr>
              <a:t>B</a:t>
            </a:r>
            <a:r>
              <a:rPr sz="2600" dirty="0">
                <a:solidFill>
                  <a:srgbClr val="232B34"/>
                </a:solidFill>
                <a:latin typeface="Yu Gothic"/>
              </a:rPr>
              <a:t>lack / Alodine / α=ε=0.5</a:t>
            </a:r>
          </a:p>
          <a:p>
            <a:pPr>
              <a:spcAft>
                <a:spcPts val="800"/>
              </a:spcAft>
            </a:pPr>
            <a:r>
              <a:rPr sz="2600" b="1" dirty="0">
                <a:solidFill>
                  <a:srgbClr val="1B74AA"/>
                </a:solidFill>
                <a:latin typeface="Yu Gothic"/>
              </a:rPr>
              <a:t>• </a:t>
            </a:r>
            <a:r>
              <a:rPr lang="ja-JP" altLang="en-US" sz="2600" dirty="0">
                <a:solidFill>
                  <a:srgbClr val="232B34"/>
                </a:solidFill>
                <a:latin typeface="Yu Gothic"/>
              </a:rPr>
              <a:t>軌道の種類：</a:t>
            </a:r>
            <a:r>
              <a:rPr lang="en-US" altLang="ja-JP" sz="2600" dirty="0">
                <a:solidFill>
                  <a:srgbClr val="232B34"/>
                </a:solidFill>
                <a:latin typeface="Yu Gothic"/>
              </a:rPr>
              <a:t>L</a:t>
            </a:r>
            <a:r>
              <a:rPr sz="2600" dirty="0">
                <a:solidFill>
                  <a:srgbClr val="232B34"/>
                </a:solidFill>
                <a:latin typeface="Yu Gothic"/>
              </a:rPr>
              <a:t>TAN18 / 693 km Sentinel-1 proxy</a:t>
            </a: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5385EA07-7CC6-CA16-E9A6-96A7DDD83B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62613" y="7209036"/>
            <a:ext cx="5106287" cy="5760251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11BA4D21-78E8-44D2-D440-0C5D426F96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98011" y="7209035"/>
            <a:ext cx="4845671" cy="5760251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0A0CDADD-D375-9200-9F52-3AD6FA1CF093}"/>
              </a:ext>
            </a:extLst>
          </p:cNvPr>
          <p:cNvSpPr txBox="1"/>
          <p:nvPr/>
        </p:nvSpPr>
        <p:spPr>
          <a:xfrm>
            <a:off x="4891132" y="3073878"/>
            <a:ext cx="36867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dirty="0"/>
              <a:t>TD Configuration</a:t>
            </a:r>
            <a:endParaRPr kumimoji="1" lang="ja-JP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4901872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Thermo-structural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536079" cy="1040285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endParaRPr lang="en-US" sz="3200" b="1" dirty="0">
              <a:solidFill>
                <a:srgbClr val="082B52"/>
              </a:solidFill>
              <a:latin typeface="Yu Gothic"/>
            </a:endParaRPr>
          </a:p>
          <a:p>
            <a:pPr algn="l"/>
            <a:r>
              <a:rPr lang="ja-JP" altLang="en-US" sz="3200" b="1" dirty="0">
                <a:solidFill>
                  <a:srgbClr val="082B52"/>
                </a:solidFill>
                <a:latin typeface="Yu Gothic"/>
              </a:rPr>
              <a:t>内部発熱設定</a:t>
            </a:r>
            <a:endParaRPr sz="3200" b="1" dirty="0">
              <a:solidFill>
                <a:srgbClr val="082B52"/>
              </a:solidFill>
              <a:latin typeface="Yu Gothic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3444052" y="12819888"/>
            <a:ext cx="330348" cy="332399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 dirty="0">
                <a:solidFill>
                  <a:srgbClr val="666F79"/>
                </a:solidFill>
                <a:latin typeface="Yu Gothic"/>
              </a:rPr>
              <a:t>1</a:t>
            </a:r>
            <a:r>
              <a:rPr lang="en-US" sz="1800" b="0" dirty="0">
                <a:solidFill>
                  <a:srgbClr val="666F79"/>
                </a:solidFill>
                <a:latin typeface="Yu Gothic"/>
              </a:rPr>
              <a:t>1</a:t>
            </a:r>
            <a:endParaRPr sz="1800" b="0" dirty="0">
              <a:solidFill>
                <a:srgbClr val="666F79"/>
              </a:solidFill>
              <a:latin typeface="Yu Gothic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2315414"/>
              </p:ext>
            </p:extLst>
          </p:nvPr>
        </p:nvGraphicFramePr>
        <p:xfrm>
          <a:off x="1200150" y="3863340"/>
          <a:ext cx="950976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42416">
                <a:tc>
                  <a:txBody>
                    <a:bodyPr/>
                    <a:lstStyle/>
                    <a:p>
                      <a:pPr algn="l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Component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Heat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 dirty="0">
                          <a:solidFill>
                            <a:srgbClr val="FFFFFF"/>
                          </a:solidFill>
                          <a:latin typeface="Yu Gothic"/>
                        </a:rPr>
                        <a:t>Location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42416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LCT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10 W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MZ center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42416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STT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1.5 W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PZ center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42416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PROP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25 W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PY side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42416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PCDU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10 W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MY side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510613"/>
              </p:ext>
            </p:extLst>
          </p:nvPr>
        </p:nvGraphicFramePr>
        <p:xfrm>
          <a:off x="11624310" y="3863340"/>
          <a:ext cx="11704320" cy="603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05840">
                <a:tc>
                  <a:txBody>
                    <a:bodyPr/>
                    <a:lstStyle/>
                    <a:p>
                      <a:pPr algn="l"/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</a:rPr>
                        <a:t>Mode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</a:rPr>
                        <a:t>LCT/STT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</a:rPr>
                        <a:t>PROP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</a:rPr>
                        <a:t>PCDU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STTLCT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 dirty="0">
                          <a:solidFill>
                            <a:srgbClr val="232B34"/>
                          </a:solidFill>
                          <a:latin typeface="Yu Gothic"/>
                        </a:rPr>
                        <a:t>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OFF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OFF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+PROP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 dirty="0">
                          <a:solidFill>
                            <a:srgbClr val="232B34"/>
                          </a:solidFill>
                          <a:latin typeface="Yu Gothic"/>
                        </a:rPr>
                        <a:t>ON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25 W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OFF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+PCDU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 dirty="0">
                          <a:solidFill>
                            <a:srgbClr val="232B34"/>
                          </a:solidFill>
                          <a:latin typeface="Yu Gothic"/>
                        </a:rPr>
                        <a:t>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OFF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10 W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ALL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 dirty="0">
                          <a:solidFill>
                            <a:srgbClr val="232B34"/>
                          </a:solidFill>
                          <a:latin typeface="Yu Gothic"/>
                        </a:rPr>
                        <a:t>ON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25 W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10 W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Half power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 dirty="0">
                          <a:solidFill>
                            <a:srgbClr val="232B34"/>
                          </a:solidFill>
                          <a:latin typeface="Yu Gothic"/>
                        </a:rPr>
                        <a:t>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12.5 W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 dirty="0">
                          <a:solidFill>
                            <a:srgbClr val="232B34"/>
                          </a:solidFill>
                          <a:latin typeface="Yu Gothic"/>
                        </a:rPr>
                        <a:t>10 W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43747" y="11268432"/>
            <a:ext cx="7894918" cy="947952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lang="ja-JP" altLang="en-US" sz="2900" b="1" dirty="0">
                <a:solidFill>
                  <a:srgbClr val="082B52"/>
                </a:solidFill>
                <a:latin typeface="Yu Gothic"/>
              </a:rPr>
              <a:t>通信時を想定して、</a:t>
            </a:r>
            <a:r>
              <a:rPr lang="en-US" altLang="ja-JP" sz="2900" b="1" dirty="0">
                <a:solidFill>
                  <a:srgbClr val="082B52"/>
                </a:solidFill>
                <a:latin typeface="Yu Gothic"/>
              </a:rPr>
              <a:t>STT/LCT</a:t>
            </a:r>
            <a:r>
              <a:rPr lang="ja-JP" altLang="en-US" sz="2900" b="1" dirty="0">
                <a:solidFill>
                  <a:srgbClr val="082B52"/>
                </a:solidFill>
                <a:latin typeface="Yu Gothic"/>
              </a:rPr>
              <a:t>は基本的に</a:t>
            </a:r>
            <a:r>
              <a:rPr lang="en-US" altLang="ja-JP" sz="2900" b="1" dirty="0">
                <a:solidFill>
                  <a:srgbClr val="082B52"/>
                </a:solidFill>
                <a:latin typeface="Yu Gothic"/>
              </a:rPr>
              <a:t>ON</a:t>
            </a:r>
            <a:r>
              <a:rPr lang="ja-JP" altLang="en-US" sz="2900" b="1" dirty="0">
                <a:solidFill>
                  <a:srgbClr val="082B52"/>
                </a:solidFill>
                <a:latin typeface="Yu Gothic"/>
              </a:rPr>
              <a:t>。</a:t>
            </a:r>
            <a:endParaRPr lang="en-US" altLang="ja-JP" sz="2900" b="1" dirty="0">
              <a:solidFill>
                <a:srgbClr val="082B52"/>
              </a:solidFill>
              <a:latin typeface="Yu Gothic"/>
            </a:endParaRPr>
          </a:p>
          <a:p>
            <a:pPr algn="ctr"/>
            <a:r>
              <a:rPr lang="ja-JP" altLang="en-US" sz="2900" b="1" dirty="0">
                <a:solidFill>
                  <a:srgbClr val="082B52"/>
                </a:solidFill>
                <a:latin typeface="Yu Gothic"/>
              </a:rPr>
              <a:t>他はケースごとに</a:t>
            </a:r>
            <a:r>
              <a:rPr lang="en-US" altLang="ja-JP" sz="2900" b="1" dirty="0">
                <a:solidFill>
                  <a:srgbClr val="082B52"/>
                </a:solidFill>
                <a:latin typeface="Yu Gothic"/>
              </a:rPr>
              <a:t>ON/OFF</a:t>
            </a:r>
            <a:r>
              <a:rPr lang="ja-JP" altLang="en-US" sz="2900" b="1" dirty="0">
                <a:solidFill>
                  <a:srgbClr val="082B52"/>
                </a:solidFill>
                <a:latin typeface="Yu Gothic"/>
              </a:rPr>
              <a:t>。</a:t>
            </a:r>
            <a:endParaRPr sz="2900" b="1" dirty="0">
              <a:solidFill>
                <a:srgbClr val="082B52"/>
              </a:solidFill>
              <a:latin typeface="Yu Gothic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2C7BA0A9-972C-3DA4-EB3A-96E0ED75455E}"/>
              </a:ext>
            </a:extLst>
          </p:cNvPr>
          <p:cNvSpPr txBox="1"/>
          <p:nvPr/>
        </p:nvSpPr>
        <p:spPr>
          <a:xfrm>
            <a:off x="4111668" y="3340120"/>
            <a:ext cx="41750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/>
              <a:t>各コンポの発熱量と位置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A7767B65-50FF-AF7B-5E10-2A0AA9953E5B}"/>
              </a:ext>
            </a:extLst>
          </p:cNvPr>
          <p:cNvSpPr txBox="1"/>
          <p:nvPr/>
        </p:nvSpPr>
        <p:spPr>
          <a:xfrm>
            <a:off x="15388929" y="3340120"/>
            <a:ext cx="41750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/>
              <a:t>内部発熱パターン</a:t>
            </a:r>
          </a:p>
        </p:txBody>
      </p:sp>
    </p:spTree>
    <p:extLst>
      <p:ext uri="{BB962C8B-B14F-4D97-AF65-F5344CB8AC3E}">
        <p14:creationId xmlns:p14="http://schemas.microsoft.com/office/powerpoint/2010/main" val="41301449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Thermo-structural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18208639" cy="1040285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endParaRPr lang="en-US" sz="3200" b="1" dirty="0">
              <a:solidFill>
                <a:srgbClr val="082B52"/>
              </a:solidFill>
              <a:latin typeface="Yu Gothic"/>
            </a:endParaRPr>
          </a:p>
          <a:p>
            <a:pPr algn="l"/>
            <a:r>
              <a:rPr lang="en-US" sz="3200" b="1" dirty="0" err="1">
                <a:solidFill>
                  <a:srgbClr val="082B52"/>
                </a:solidFill>
                <a:latin typeface="Yu Gothic"/>
              </a:rPr>
              <a:t>Femap</a:t>
            </a:r>
            <a:r>
              <a:rPr lang="ja-JP" altLang="en-US" sz="3200" b="1" dirty="0">
                <a:solidFill>
                  <a:srgbClr val="082B52"/>
                </a:solidFill>
                <a:latin typeface="Yu Gothic"/>
              </a:rPr>
              <a:t>での解析：温度場・拘束条件を入力として、各点のひずみ（並進・回転 </a:t>
            </a:r>
            <a:r>
              <a:rPr lang="en-US" altLang="ja-JP" sz="3200" b="1" dirty="0">
                <a:solidFill>
                  <a:srgbClr val="082B52"/>
                </a:solidFill>
                <a:latin typeface="Yu Gothic"/>
              </a:rPr>
              <a:t>6</a:t>
            </a:r>
            <a:r>
              <a:rPr lang="ja-JP" altLang="en-US" sz="3200" b="1" dirty="0">
                <a:solidFill>
                  <a:srgbClr val="082B52"/>
                </a:solidFill>
                <a:latin typeface="Yu Gothic"/>
              </a:rPr>
              <a:t>成分）を算出する</a:t>
            </a:r>
            <a:endParaRPr sz="3200" b="1" dirty="0">
              <a:solidFill>
                <a:srgbClr val="082B52"/>
              </a:solidFill>
              <a:latin typeface="Yu Gothic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4497403"/>
              </p:ext>
            </p:extLst>
          </p:nvPr>
        </p:nvGraphicFramePr>
        <p:xfrm>
          <a:off x="1197699" y="3836670"/>
          <a:ext cx="10881360" cy="7772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63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17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71550">
                <a:tc>
                  <a:txBody>
                    <a:bodyPr/>
                    <a:lstStyle/>
                    <a:p>
                      <a:pPr algn="l"/>
                      <a:r>
                        <a:rPr sz="2200" b="1">
                          <a:solidFill>
                            <a:srgbClr val="FFFFFF"/>
                          </a:solidFill>
                          <a:latin typeface="Yu Gothic"/>
                        </a:rPr>
                        <a:t>Structural parameter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 dirty="0">
                          <a:solidFill>
                            <a:srgbClr val="FFFFFF"/>
                          </a:solidFill>
                          <a:latin typeface="Yu Gothic"/>
                        </a:rPr>
                        <a:t>Value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7155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Material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Aluminum 5052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7155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Young's modulus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70.327 GPa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7155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Poisson ratio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0.33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7155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CTE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2.376×10⁻⁵ /°C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7155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Density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2685 kg/m³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7155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Reference temperature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23.9°C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97155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Constraint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 dirty="0">
                          <a:solidFill>
                            <a:srgbClr val="232B34"/>
                          </a:solidFill>
                          <a:latin typeface="Yu Gothic"/>
                        </a:rPr>
                        <a:t>small region near STT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11" name="図 10">
            <a:extLst>
              <a:ext uri="{FF2B5EF4-FFF2-40B4-BE49-F238E27FC236}">
                <a16:creationId xmlns:a16="http://schemas.microsoft.com/office/drawing/2014/main" id="{33EA1EC9-3A8D-5610-E95D-DAD2EA5D39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41942" y="3905404"/>
            <a:ext cx="5432458" cy="5394601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9819C62F-71DC-7E63-A5D1-87F199B583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05704" y="3905404"/>
            <a:ext cx="4858544" cy="5394601"/>
          </a:xfrm>
          <a:prstGeom prst="rect">
            <a:avLst/>
          </a:prstGeom>
        </p:spPr>
      </p:pic>
      <p:sp>
        <p:nvSpPr>
          <p:cNvPr id="14" name="矢印: 右 13">
            <a:extLst>
              <a:ext uri="{FF2B5EF4-FFF2-40B4-BE49-F238E27FC236}">
                <a16:creationId xmlns:a16="http://schemas.microsoft.com/office/drawing/2014/main" id="{274F2E0C-AA92-CDB0-DFC5-34073207F1FB}"/>
              </a:ext>
            </a:extLst>
          </p:cNvPr>
          <p:cNvSpPr/>
          <p:nvPr/>
        </p:nvSpPr>
        <p:spPr>
          <a:xfrm>
            <a:off x="17681719" y="6406172"/>
            <a:ext cx="549242" cy="82679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1926A544-E0FB-FDB4-1194-CFA22C5E6846}"/>
              </a:ext>
            </a:extLst>
          </p:cNvPr>
          <p:cNvSpPr txBox="1"/>
          <p:nvPr/>
        </p:nvSpPr>
        <p:spPr>
          <a:xfrm>
            <a:off x="4795018" y="3382184"/>
            <a:ext cx="36867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dirty="0" err="1"/>
              <a:t>Femap</a:t>
            </a:r>
            <a:r>
              <a:rPr kumimoji="1" lang="en-US" altLang="ja-JP" sz="2800" dirty="0"/>
              <a:t> Configuration</a:t>
            </a:r>
            <a:endParaRPr kumimoji="1" lang="ja-JP" altLang="en-US" sz="2800" dirty="0"/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041DF615-0588-9513-FBA8-0B01D88C40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694545" y="10012017"/>
            <a:ext cx="2523589" cy="2999895"/>
          </a:xfrm>
          <a:prstGeom prst="rect">
            <a:avLst/>
          </a:prstGeom>
        </p:spPr>
      </p:pic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DB910861-8EB1-0B83-13D2-A55697BCFD48}"/>
              </a:ext>
            </a:extLst>
          </p:cNvPr>
          <p:cNvCxnSpPr/>
          <p:nvPr/>
        </p:nvCxnSpPr>
        <p:spPr>
          <a:xfrm flipV="1">
            <a:off x="17956339" y="7524750"/>
            <a:ext cx="0" cy="226695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A8BC2C95-4E51-07EA-299C-28233B3B7BA8}"/>
              </a:ext>
            </a:extLst>
          </p:cNvPr>
          <p:cNvSpPr txBox="1"/>
          <p:nvPr/>
        </p:nvSpPr>
        <p:spPr>
          <a:xfrm>
            <a:off x="19491981" y="12280232"/>
            <a:ext cx="252358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3200" dirty="0"/>
              <a:t>TD</a:t>
            </a:r>
            <a:r>
              <a:rPr kumimoji="1" lang="ja-JP" altLang="en-US" sz="3200" dirty="0"/>
              <a:t>：温度場</a:t>
            </a:r>
          </a:p>
        </p:txBody>
      </p:sp>
    </p:spTree>
    <p:extLst>
      <p:ext uri="{BB962C8B-B14F-4D97-AF65-F5344CB8AC3E}">
        <p14:creationId xmlns:p14="http://schemas.microsoft.com/office/powerpoint/2010/main" val="40837759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Thermo-structural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11193513" cy="1532727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endParaRPr lang="en-US" sz="3200" b="1" dirty="0">
              <a:solidFill>
                <a:srgbClr val="082B52"/>
              </a:solidFill>
              <a:latin typeface="Yu Gothic"/>
            </a:endParaRPr>
          </a:p>
          <a:p>
            <a:r>
              <a:rPr lang="ja-JP" altLang="ja-JP" sz="3200" b="1" dirty="0"/>
              <a:t>LOS真値はSTT基準で見たLCT光軸の相対回転として定義する</a:t>
            </a:r>
            <a:endParaRPr lang="ja-JP" altLang="ja-JP" sz="3200" dirty="0"/>
          </a:p>
          <a:p>
            <a:pPr algn="l"/>
            <a:endParaRPr sz="3200" b="1" dirty="0">
              <a:solidFill>
                <a:srgbClr val="082B52"/>
              </a:solidFill>
              <a:latin typeface="Yu Gothic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3444052" y="12819888"/>
            <a:ext cx="330348" cy="332399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 dirty="0">
                <a:solidFill>
                  <a:srgbClr val="666F79"/>
                </a:solidFill>
                <a:latin typeface="Yu Gothic"/>
              </a:rPr>
              <a:t>1</a:t>
            </a:r>
            <a:r>
              <a:rPr lang="en-US" sz="1800" b="0" dirty="0">
                <a:solidFill>
                  <a:srgbClr val="666F79"/>
                </a:solidFill>
                <a:latin typeface="Yu Gothic"/>
              </a:rPr>
              <a:t>3</a:t>
            </a:r>
            <a:endParaRPr sz="1800" b="0" dirty="0">
              <a:solidFill>
                <a:srgbClr val="666F79"/>
              </a:solidFill>
              <a:latin typeface="Yu Gothic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5544800" y="2788920"/>
            <a:ext cx="7753350" cy="8229600"/>
          </a:xfrm>
          <a:prstGeom prst="roundRect">
            <a:avLst/>
          </a:prstGeom>
          <a:solidFill>
            <a:srgbClr val="EBF6FB"/>
          </a:solidFill>
          <a:ln w="16510">
            <a:solidFill>
              <a:srgbClr val="5BB5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6518978" y="3246120"/>
            <a:ext cx="5549725" cy="486287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lang="en-US" sz="2800" b="1" dirty="0">
                <a:solidFill>
                  <a:srgbClr val="1B74AA"/>
                </a:solidFill>
                <a:latin typeface="Yu Gothic"/>
              </a:rPr>
              <a:t>LOS</a:t>
            </a:r>
            <a:r>
              <a:rPr lang="ja-JP" altLang="en-US" sz="2800" b="1" dirty="0">
                <a:solidFill>
                  <a:srgbClr val="1B74AA"/>
                </a:solidFill>
                <a:latin typeface="Yu Gothic"/>
              </a:rPr>
              <a:t>誤差 </a:t>
            </a:r>
            <a:r>
              <a:rPr sz="2800" b="1" dirty="0" err="1">
                <a:solidFill>
                  <a:srgbClr val="1B74AA"/>
                </a:solidFill>
                <a:latin typeface="Yu Gothic"/>
              </a:rPr>
              <a:t>採用</a:t>
            </a:r>
            <a:r>
              <a:rPr lang="ja-JP" altLang="en-US" sz="2800" b="1" dirty="0">
                <a:solidFill>
                  <a:srgbClr val="1B74AA"/>
                </a:solidFill>
                <a:latin typeface="Yu Gothic"/>
              </a:rPr>
              <a:t>指標</a:t>
            </a:r>
            <a:r>
              <a:rPr sz="2800" b="1" dirty="0">
                <a:solidFill>
                  <a:srgbClr val="1B74AA"/>
                </a:solidFill>
                <a:latin typeface="Yu Gothic"/>
              </a:rPr>
              <a:t>：</a:t>
            </a:r>
            <a:r>
              <a:rPr sz="2800" b="1" dirty="0" err="1">
                <a:solidFill>
                  <a:srgbClr val="1B74AA"/>
                </a:solidFill>
                <a:latin typeface="Yu Gothic"/>
              </a:rPr>
              <a:t>far_field_los</a:t>
            </a:r>
            <a:endParaRPr sz="2800" b="1" dirty="0">
              <a:solidFill>
                <a:srgbClr val="1B74AA"/>
              </a:solidFill>
              <a:latin typeface="Yu Gothic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6001999" y="4389120"/>
            <a:ext cx="7040879" cy="1877437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800"/>
              </a:spcAft>
            </a:pPr>
            <a:r>
              <a:rPr sz="2400" b="1" dirty="0">
                <a:solidFill>
                  <a:srgbClr val="1B74AA"/>
                </a:solidFill>
                <a:latin typeface="Yu Gothic"/>
              </a:rPr>
              <a:t>• </a:t>
            </a:r>
            <a:r>
              <a:rPr sz="2400" dirty="0" err="1">
                <a:solidFill>
                  <a:srgbClr val="232B34"/>
                </a:solidFill>
                <a:latin typeface="Yu Gothic"/>
              </a:rPr>
              <a:t>LCT光軸回転</a:t>
            </a:r>
            <a:r>
              <a:rPr sz="2400" dirty="0">
                <a:solidFill>
                  <a:srgbClr val="232B34"/>
                </a:solidFill>
                <a:latin typeface="Yu Gothic"/>
              </a:rPr>
              <a:t> − </a:t>
            </a:r>
            <a:r>
              <a:rPr sz="2400" dirty="0" err="1">
                <a:solidFill>
                  <a:srgbClr val="232B34"/>
                </a:solidFill>
                <a:latin typeface="Yu Gothic"/>
              </a:rPr>
              <a:t>STT姿勢基準回転</a:t>
            </a:r>
            <a:endParaRPr lang="en-US" sz="2400" dirty="0">
              <a:solidFill>
                <a:srgbClr val="232B34"/>
              </a:solidFill>
              <a:latin typeface="Yu Gothic"/>
            </a:endParaRPr>
          </a:p>
          <a:p>
            <a:pPr>
              <a:spcAft>
                <a:spcPts val="800"/>
              </a:spcAft>
            </a:pPr>
            <a:r>
              <a:rPr lang="en-US" altLang="ja-JP" sz="2400" b="1" dirty="0">
                <a:solidFill>
                  <a:srgbClr val="1B74AA"/>
                </a:solidFill>
                <a:latin typeface="Yu Gothic"/>
              </a:rPr>
              <a:t>• </a:t>
            </a:r>
            <a:r>
              <a:rPr lang="en-US" sz="2400" dirty="0">
                <a:solidFill>
                  <a:srgbClr val="232B34"/>
                </a:solidFill>
                <a:latin typeface="Yu Gothic"/>
              </a:rPr>
              <a:t>STT</a:t>
            </a:r>
            <a:r>
              <a:rPr lang="ja-JP" altLang="en-US" sz="2400" dirty="0">
                <a:solidFill>
                  <a:srgbClr val="232B34"/>
                </a:solidFill>
                <a:latin typeface="Yu Gothic"/>
              </a:rPr>
              <a:t>は姿勢系の標準であるとしてそこからの誤差</a:t>
            </a:r>
            <a:endParaRPr sz="2400" dirty="0">
              <a:solidFill>
                <a:srgbClr val="232B34"/>
              </a:solidFill>
              <a:latin typeface="Yu Gothic"/>
            </a:endParaRP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1B74AA"/>
                </a:solidFill>
                <a:latin typeface="Yu Gothic"/>
              </a:rPr>
              <a:t>• </a:t>
            </a:r>
            <a:r>
              <a:rPr sz="2400" dirty="0" err="1">
                <a:solidFill>
                  <a:srgbClr val="232B34"/>
                </a:solidFill>
                <a:latin typeface="Yu Gothic"/>
              </a:rPr>
              <a:t>遠方通信のscan</a:t>
            </a:r>
            <a:r>
              <a:rPr sz="2400" dirty="0">
                <a:solidFill>
                  <a:srgbClr val="232B34"/>
                </a:solidFill>
                <a:latin typeface="Yu Gothic"/>
              </a:rPr>
              <a:t> center</a:t>
            </a:r>
            <a:r>
              <a:rPr lang="ja-JP" altLang="en-US" sz="2400" dirty="0">
                <a:solidFill>
                  <a:srgbClr val="232B34"/>
                </a:solidFill>
                <a:latin typeface="Yu Gothic"/>
              </a:rPr>
              <a:t>誤差に直接対応</a:t>
            </a:r>
            <a:endParaRPr sz="2400" dirty="0">
              <a:solidFill>
                <a:srgbClr val="232B34"/>
              </a:solidFill>
              <a:latin typeface="Yu Gothic"/>
            </a:endParaRP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1B74AA"/>
                </a:solidFill>
                <a:latin typeface="Yu Gothic"/>
              </a:rPr>
              <a:t>• </a:t>
            </a:r>
            <a:r>
              <a:rPr sz="2400" dirty="0" err="1">
                <a:solidFill>
                  <a:srgbClr val="232B34"/>
                </a:solidFill>
                <a:latin typeface="Yu Gothic"/>
              </a:rPr>
              <a:t>代表点間並進</a:t>
            </a:r>
            <a:r>
              <a:rPr lang="ja-JP" altLang="en-US" sz="2400" dirty="0">
                <a:solidFill>
                  <a:srgbClr val="232B34"/>
                </a:solidFill>
                <a:latin typeface="Yu Gothic"/>
              </a:rPr>
              <a:t>による</a:t>
            </a:r>
            <a:r>
              <a:rPr sz="2400" dirty="0">
                <a:solidFill>
                  <a:srgbClr val="232B34"/>
                </a:solidFill>
                <a:latin typeface="Yu Gothic"/>
              </a:rPr>
              <a:t>centerline tilt</a:t>
            </a:r>
            <a:r>
              <a:rPr lang="ja-JP" altLang="en-US" sz="2400" dirty="0">
                <a:solidFill>
                  <a:srgbClr val="232B34"/>
                </a:solidFill>
                <a:latin typeface="Yu Gothic"/>
              </a:rPr>
              <a:t>は含めない</a:t>
            </a:r>
            <a:endParaRPr sz="2400" dirty="0">
              <a:solidFill>
                <a:srgbClr val="232B34"/>
              </a:solidFill>
              <a:latin typeface="Yu Gothic"/>
            </a:endParaRP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3B09D20F-F818-E6BB-4A04-9D0C10968E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9534" y="3840480"/>
            <a:ext cx="4959858" cy="4925293"/>
          </a:xfrm>
          <a:prstGeom prst="rect">
            <a:avLst/>
          </a:prstGeom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A31CA026-7B2F-08ED-6CF7-FE54FD7082E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5815" r="9648"/>
          <a:stretch>
            <a:fillRect/>
          </a:stretch>
        </p:blipFill>
        <p:spPr>
          <a:xfrm>
            <a:off x="8140796" y="3611867"/>
            <a:ext cx="6134100" cy="6400813"/>
          </a:xfrm>
          <a:prstGeom prst="rect">
            <a:avLst/>
          </a:prstGeom>
        </p:spPr>
      </p:pic>
      <p:sp>
        <p:nvSpPr>
          <p:cNvPr id="18" name="矢印: 右 17">
            <a:extLst>
              <a:ext uri="{FF2B5EF4-FFF2-40B4-BE49-F238E27FC236}">
                <a16:creationId xmlns:a16="http://schemas.microsoft.com/office/drawing/2014/main" id="{E8A036E3-901B-13D6-50ED-4213CF64C986}"/>
              </a:ext>
            </a:extLst>
          </p:cNvPr>
          <p:cNvSpPr/>
          <p:nvPr/>
        </p:nvSpPr>
        <p:spPr>
          <a:xfrm>
            <a:off x="6956602" y="6031204"/>
            <a:ext cx="549242" cy="82679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DFCAD75C-E1E5-BAB9-ED79-8FB22B4FA1E6}"/>
              </a:ext>
            </a:extLst>
          </p:cNvPr>
          <p:cNvCxnSpPr/>
          <p:nvPr/>
        </p:nvCxnSpPr>
        <p:spPr>
          <a:xfrm>
            <a:off x="5162550" y="8096250"/>
            <a:ext cx="209550" cy="164211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79843408-97F9-6B75-249B-559F34913E3D}"/>
              </a:ext>
            </a:extLst>
          </p:cNvPr>
          <p:cNvCxnSpPr>
            <a:cxnSpLocks/>
          </p:cNvCxnSpPr>
          <p:nvPr/>
        </p:nvCxnSpPr>
        <p:spPr>
          <a:xfrm flipH="1">
            <a:off x="3009900" y="3246120"/>
            <a:ext cx="1123950" cy="1310795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B184EC83-A793-1DED-82CE-9E07315E52C8}"/>
              </a:ext>
            </a:extLst>
          </p:cNvPr>
          <p:cNvSpPr txBox="1"/>
          <p:nvPr/>
        </p:nvSpPr>
        <p:spPr>
          <a:xfrm>
            <a:off x="4133850" y="2856893"/>
            <a:ext cx="23812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3200" dirty="0"/>
              <a:t>STT</a:t>
            </a:r>
            <a:endParaRPr kumimoji="1" lang="ja-JP" altLang="en-US" sz="3200" dirty="0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84993092-E9AF-32CC-CA46-5B89D3B7856E}"/>
              </a:ext>
            </a:extLst>
          </p:cNvPr>
          <p:cNvSpPr txBox="1"/>
          <p:nvPr/>
        </p:nvSpPr>
        <p:spPr>
          <a:xfrm>
            <a:off x="5267325" y="9738360"/>
            <a:ext cx="23812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3200" dirty="0"/>
              <a:t>LCT</a:t>
            </a:r>
            <a:endParaRPr kumimoji="1" lang="ja-JP" altLang="en-US" sz="3200" dirty="0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EBF1EEF1-B803-E3EF-7B07-EF16B7C0DEB8}"/>
              </a:ext>
            </a:extLst>
          </p:cNvPr>
          <p:cNvSpPr txBox="1"/>
          <p:nvPr/>
        </p:nvSpPr>
        <p:spPr>
          <a:xfrm>
            <a:off x="1339534" y="10607040"/>
            <a:ext cx="12192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altLang="ja-JP" sz="3200" b="1" dirty="0">
              <a:solidFill>
                <a:srgbClr val="082B52"/>
              </a:solidFill>
              <a:latin typeface="Yu Gothic"/>
            </a:endParaRPr>
          </a:p>
          <a:p>
            <a:r>
              <a:rPr lang="ja-JP" altLang="ja-JP" sz="3200" b="1" dirty="0"/>
              <a:t>並進ではなく、遠方通信に効く</a:t>
            </a:r>
            <a:r>
              <a:rPr lang="en-US" altLang="ja-JP" sz="3200" b="1" dirty="0"/>
              <a:t>STT/LCT</a:t>
            </a:r>
            <a:r>
              <a:rPr lang="ja-JP" altLang="en-US" sz="3200" b="1" dirty="0"/>
              <a:t>の</a:t>
            </a:r>
            <a:r>
              <a:rPr lang="ja-JP" altLang="ja-JP" sz="3200" b="1" dirty="0"/>
              <a:t>相対光軸回転を</a:t>
            </a:r>
            <a:r>
              <a:rPr lang="en-US" altLang="ja-JP" sz="3200" b="1" dirty="0"/>
              <a:t>LOS</a:t>
            </a:r>
            <a:r>
              <a:rPr lang="ja-JP" altLang="en-US" sz="3200" b="1" dirty="0"/>
              <a:t>誤差とする</a:t>
            </a:r>
            <a:endParaRPr lang="ja-JP" altLang="ja-JP" sz="3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9">
                <a:extLst>
                  <a:ext uri="{FF2B5EF4-FFF2-40B4-BE49-F238E27FC236}">
                    <a16:creationId xmlns:a16="http://schemas.microsoft.com/office/drawing/2014/main" id="{1D5E19C6-D5A3-C347-891E-06621B675036}"/>
                  </a:ext>
                </a:extLst>
              </p:cNvPr>
              <p:cNvSpPr txBox="1"/>
              <p:nvPr/>
            </p:nvSpPr>
            <p:spPr>
              <a:xfrm>
                <a:off x="16004709" y="7034356"/>
                <a:ext cx="6833537" cy="1187761"/>
              </a:xfrm>
              <a:prstGeom prst="rect">
                <a:avLst/>
              </a:prstGeom>
              <a:noFill/>
            </p:spPr>
            <p:txBody>
              <a:bodyPr wrap="none" lIns="36576" tIns="27432" rIns="36576" bIns="27432" anchor="t">
                <a:spAutoFit/>
              </a:bodyPr>
              <a:lstStyle/>
              <a:p>
                <a:pPr algn="ctr"/>
                <a:r>
                  <a:rPr lang="en-US" sz="3600" b="1" i="1" dirty="0">
                    <a:solidFill>
                      <a:srgbClr val="082B52"/>
                    </a:solidFill>
                    <a:latin typeface="Yu Gothic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3600" b="1" i="1" smtClean="0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3600" b="1" i="1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altLang="ja-JP" sz="3600" b="1" i="1" smtClean="0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𝒕𝒉𝒆𝒓𝒎𝒂𝒍</m:t>
                        </m:r>
                        <m:r>
                          <a:rPr lang="en-US" altLang="ja-JP" sz="3600" b="1" i="1" smtClean="0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ja-JP" sz="3600" b="1" i="1" smtClean="0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𝒕𝒓𝒖𝒆</m:t>
                        </m:r>
                      </m:sub>
                    </m:sSub>
                    <m:r>
                      <a:rPr lang="en-US" altLang="ja-JP" sz="3600" b="1" i="1" smtClean="0">
                        <a:solidFill>
                          <a:srgbClr val="082B52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ja-JP" sz="3600" b="1" i="1" smtClean="0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3600" b="1" i="1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altLang="ja-JP" sz="3600" b="1" i="1" smtClean="0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𝑳𝑪𝑻</m:t>
                        </m:r>
                        <m:r>
                          <a:rPr lang="en-US" altLang="ja-JP" sz="3600" b="1" i="1" smtClean="0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ja-JP" sz="3600" b="1" i="1" smtClean="0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𝒓𝒐𝒕</m:t>
                        </m:r>
                      </m:sub>
                    </m:sSub>
                    <m:r>
                      <a:rPr lang="en-US" altLang="ja-JP" sz="3600" b="1" i="1" smtClean="0">
                        <a:solidFill>
                          <a:srgbClr val="082B52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ja-JP" sz="3600" b="1" i="1" smtClean="0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3600" b="1" i="1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altLang="ja-JP" sz="3600" b="1" i="1" smtClean="0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𝑺𝑻𝑻</m:t>
                        </m:r>
                        <m:r>
                          <a:rPr lang="en-US" altLang="ja-JP" sz="3600" b="1" i="1" smtClean="0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ja-JP" sz="3600" b="1" i="1" smtClean="0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𝒓𝒐𝒕</m:t>
                        </m:r>
                      </m:sub>
                    </m:sSub>
                  </m:oMath>
                </a14:m>
                <a:endParaRPr lang="en-US" altLang="ja-JP" sz="3600" b="1" i="1" dirty="0">
                  <a:solidFill>
                    <a:srgbClr val="082B52"/>
                  </a:solidFill>
                  <a:latin typeface="Yu Gothic"/>
                </a:endParaRPr>
              </a:p>
              <a:p>
                <a:pPr algn="ctr"/>
                <a:r>
                  <a:rPr lang="en-US" sz="3600" b="1" i="1" dirty="0">
                    <a:solidFill>
                      <a:srgbClr val="082B52"/>
                    </a:solidFill>
                    <a:latin typeface="Yu Gothic"/>
                  </a:rPr>
                  <a:t> </a:t>
                </a:r>
                <a:endParaRPr sz="3600" b="1" i="1" dirty="0">
                  <a:solidFill>
                    <a:srgbClr val="082B52"/>
                  </a:solidFill>
                  <a:latin typeface="Yu Gothic"/>
                </a:endParaRPr>
              </a:p>
            </p:txBody>
          </p:sp>
        </mc:Choice>
        <mc:Fallback>
          <p:sp>
            <p:nvSpPr>
              <p:cNvPr id="31" name="TextBox 9">
                <a:extLst>
                  <a:ext uri="{FF2B5EF4-FFF2-40B4-BE49-F238E27FC236}">
                    <a16:creationId xmlns:a16="http://schemas.microsoft.com/office/drawing/2014/main" id="{1D5E19C6-D5A3-C347-891E-06621B6750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04709" y="7034356"/>
                <a:ext cx="6833537" cy="118776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9">
                <a:extLst>
                  <a:ext uri="{FF2B5EF4-FFF2-40B4-BE49-F238E27FC236}">
                    <a16:creationId xmlns:a16="http://schemas.microsoft.com/office/drawing/2014/main" id="{C6979E3C-0BB9-6EF7-CE62-35CD169FE964}"/>
                  </a:ext>
                </a:extLst>
              </p:cNvPr>
              <p:cNvSpPr txBox="1"/>
              <p:nvPr/>
            </p:nvSpPr>
            <p:spPr>
              <a:xfrm>
                <a:off x="17297234" y="7976871"/>
                <a:ext cx="4259051" cy="1577804"/>
              </a:xfrm>
              <a:prstGeom prst="rect">
                <a:avLst/>
              </a:prstGeom>
              <a:noFill/>
            </p:spPr>
            <p:txBody>
              <a:bodyPr wrap="none" lIns="36576" tIns="27432" rIns="36576" bIns="27432" anchor="t">
                <a:spAutoFit/>
              </a:bodyPr>
              <a:lstStyle/>
              <a:p>
                <a:pPr algn="ctr"/>
                <a:r>
                  <a:rPr lang="en-US" sz="3200" b="1" i="1" dirty="0">
                    <a:solidFill>
                      <a:srgbClr val="082B52"/>
                    </a:solidFill>
                    <a:latin typeface="Yu Gothic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3200" b="1" i="1" smtClean="0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3200" b="1" i="1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altLang="ja-JP" sz="3200" b="1" i="1" smtClean="0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𝒕𝒉𝒆𝒓𝒎𝒂𝒍</m:t>
                        </m:r>
                        <m:r>
                          <a:rPr lang="en-US" altLang="ja-JP" sz="3200" b="1" i="1" smtClean="0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ja-JP" sz="3200" b="1" i="1" smtClean="0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𝒕𝒓𝒖𝒆</m:t>
                        </m:r>
                      </m:sub>
                    </m:sSub>
                    <m:r>
                      <a:rPr lang="en-US" altLang="ja-JP" sz="3200" b="1" i="1" smtClean="0">
                        <a:solidFill>
                          <a:srgbClr val="082B52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ja-JP" sz="3200" b="1" i="1" smtClean="0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3200" b="1" i="1" smtClean="0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altLang="ja-JP" sz="3200" b="1" i="1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altLang="ja-JP" sz="3200" b="1" i="1" smtClean="0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sub>
                    </m:sSub>
                    <m:r>
                      <a:rPr lang="en-US" altLang="ja-JP" sz="3200" b="1" i="1" smtClean="0">
                        <a:solidFill>
                          <a:srgbClr val="082B52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altLang="ja-JP" sz="3200" b="1" i="1" smtClean="0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3200" b="1" i="1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altLang="ja-JP" sz="3200" b="1" i="1" smtClean="0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</m:sub>
                    </m:sSub>
                    <m:r>
                      <a:rPr lang="en-US" altLang="ja-JP" sz="3200" b="1" i="1" smtClean="0">
                        <a:solidFill>
                          <a:srgbClr val="082B52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altLang="ja-JP" sz="3200" b="1" i="1" dirty="0">
                  <a:solidFill>
                    <a:srgbClr val="082B52"/>
                  </a:solidFill>
                  <a:latin typeface="Yu Gothic"/>
                </a:endParaRPr>
              </a:p>
              <a:p>
                <a:pPr algn="ctr"/>
                <a:endParaRPr lang="en-US" altLang="ja-JP" sz="3200" b="1" i="1" dirty="0">
                  <a:solidFill>
                    <a:srgbClr val="082B52"/>
                  </a:solidFill>
                  <a:latin typeface="Yu Gothic"/>
                </a:endParaRPr>
              </a:p>
              <a:p>
                <a:pPr algn="ctr"/>
                <a:r>
                  <a:rPr lang="en-US" sz="3200" b="1" i="1" dirty="0">
                    <a:solidFill>
                      <a:srgbClr val="082B52"/>
                    </a:solidFill>
                    <a:latin typeface="Yu Gothic"/>
                  </a:rPr>
                  <a:t> </a:t>
                </a:r>
                <a:endParaRPr sz="3200" b="1" i="1" dirty="0">
                  <a:solidFill>
                    <a:srgbClr val="082B52"/>
                  </a:solidFill>
                  <a:latin typeface="Yu Gothic"/>
                </a:endParaRPr>
              </a:p>
            </p:txBody>
          </p:sp>
        </mc:Choice>
        <mc:Fallback>
          <p:sp>
            <p:nvSpPr>
              <p:cNvPr id="33" name="TextBox 9">
                <a:extLst>
                  <a:ext uri="{FF2B5EF4-FFF2-40B4-BE49-F238E27FC236}">
                    <a16:creationId xmlns:a16="http://schemas.microsoft.com/office/drawing/2014/main" id="{C6979E3C-0BB9-6EF7-CE62-35CD169FE9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97234" y="7976871"/>
                <a:ext cx="4259051" cy="157780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18561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Thermo-structural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12856212" cy="1040285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endParaRPr lang="en-US" sz="3200" b="1" dirty="0">
              <a:solidFill>
                <a:srgbClr val="082B52"/>
              </a:solidFill>
              <a:latin typeface="Yu Gothic"/>
            </a:endParaRPr>
          </a:p>
          <a:p>
            <a:pPr algn="l"/>
            <a:r>
              <a:rPr sz="3200" b="1" dirty="0">
                <a:solidFill>
                  <a:srgbClr val="082B52"/>
                </a:solidFill>
                <a:latin typeface="Yu Gothic"/>
              </a:rPr>
              <a:t>21ケースで太陽</a:t>
            </a:r>
            <a:r>
              <a:rPr lang="ja-JP" altLang="en-US" sz="3200" b="1" dirty="0">
                <a:solidFill>
                  <a:srgbClr val="082B52"/>
                </a:solidFill>
                <a:latin typeface="Yu Gothic"/>
              </a:rPr>
              <a:t>指向</a:t>
            </a:r>
            <a:r>
              <a:rPr sz="3200" b="1" dirty="0">
                <a:solidFill>
                  <a:srgbClr val="082B52"/>
                </a:solidFill>
                <a:latin typeface="Yu Gothic"/>
              </a:rPr>
              <a:t>面・</a:t>
            </a:r>
            <a:r>
              <a:rPr lang="ja-JP" altLang="en-US" sz="3200" b="1" dirty="0">
                <a:solidFill>
                  <a:srgbClr val="082B52"/>
                </a:solidFill>
                <a:latin typeface="Yu Gothic"/>
              </a:rPr>
              <a:t>内部</a:t>
            </a:r>
            <a:r>
              <a:rPr sz="3200" b="1" dirty="0" err="1">
                <a:solidFill>
                  <a:srgbClr val="082B52"/>
                </a:solidFill>
                <a:latin typeface="Yu Gothic"/>
              </a:rPr>
              <a:t>発熱</a:t>
            </a:r>
            <a:r>
              <a:rPr sz="3200" b="1" dirty="0">
                <a:solidFill>
                  <a:srgbClr val="082B52"/>
                </a:solidFill>
                <a:latin typeface="Yu Gothic"/>
              </a:rPr>
              <a:t>・</a:t>
            </a:r>
            <a:r>
              <a:rPr lang="ja-JP" altLang="en-US" sz="3200" b="1" dirty="0">
                <a:solidFill>
                  <a:srgbClr val="082B52"/>
                </a:solidFill>
                <a:latin typeface="Yu Gothic"/>
              </a:rPr>
              <a:t>表面特性</a:t>
            </a:r>
            <a:r>
              <a:rPr sz="3200" b="1" dirty="0">
                <a:solidFill>
                  <a:srgbClr val="082B52"/>
                </a:solidFill>
                <a:latin typeface="Yu Gothic"/>
              </a:rPr>
              <a:t>・</a:t>
            </a:r>
            <a:r>
              <a:rPr lang="ja-JP" altLang="en-US" sz="3200" b="1" dirty="0">
                <a:solidFill>
                  <a:srgbClr val="082B52"/>
                </a:solidFill>
                <a:latin typeface="Yu Gothic"/>
              </a:rPr>
              <a:t>軌道</a:t>
            </a:r>
            <a:r>
              <a:rPr sz="3200" b="1" dirty="0" err="1">
                <a:solidFill>
                  <a:srgbClr val="082B52"/>
                </a:solidFill>
                <a:latin typeface="Yu Gothic"/>
              </a:rPr>
              <a:t>を横断評価する</a:t>
            </a:r>
            <a:endParaRPr sz="3200" b="1" dirty="0">
              <a:solidFill>
                <a:srgbClr val="082B52"/>
              </a:solidFill>
              <a:latin typeface="Yu Gothic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1921897"/>
              </p:ext>
            </p:extLst>
          </p:nvPr>
        </p:nvGraphicFramePr>
        <p:xfrm>
          <a:off x="1097280" y="3665220"/>
          <a:ext cx="21945600" cy="7040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35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95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05840">
                <a:tc>
                  <a:txBody>
                    <a:bodyPr/>
                    <a:lstStyle/>
                    <a:p>
                      <a:pPr algn="l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Varied factor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Cases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Purpose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l"/>
                      <a:r>
                        <a:rPr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Sun face</a:t>
                      </a:r>
                      <a:r>
                        <a:rPr lang="ja-JP" altLang="en-US"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 </a:t>
                      </a:r>
                      <a:endParaRPr sz="2300" b="0" dirty="0">
                        <a:solidFill>
                          <a:srgbClr val="232B34"/>
                        </a:solidFill>
                        <a:latin typeface="Yu Gothic"/>
                      </a:endParaRP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MX / MY / PX / PY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ja-JP" sz="2400" dirty="0"/>
                        <a:t>太陽入射方向に対する支配軸・符号の変化を確認</a:t>
                      </a:r>
                      <a:endParaRPr sz="2300" b="0" dirty="0">
                        <a:solidFill>
                          <a:srgbClr val="232B34"/>
                        </a:solidFill>
                        <a:latin typeface="Yu Gothic"/>
                      </a:endParaRP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Power mode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STTLCT / +PROP / +PCDU / ALL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ja-JP" sz="2400" dirty="0"/>
                        <a:t>内部発熱配置が熱LOS</a:t>
                      </a:r>
                      <a:r>
                        <a:rPr lang="ja-JP" altLang="en-US" sz="2400" dirty="0"/>
                        <a:t>のバイアス</a:t>
                      </a:r>
                      <a:r>
                        <a:rPr lang="ja-JP" altLang="ja-JP" sz="2400" dirty="0"/>
                        <a:t>成分に与える影響を確認</a:t>
                      </a:r>
                      <a:endParaRPr sz="2300" b="0" dirty="0">
                        <a:solidFill>
                          <a:srgbClr val="232B34"/>
                        </a:solidFill>
                        <a:latin typeface="Yu Gothic"/>
                      </a:endParaRP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Coating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0.5 / Black / Alodine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ja-JP" sz="2400" dirty="0"/>
                        <a:t>表面特性による熱応答振幅・定常レベルの変化を確認</a:t>
                      </a:r>
                      <a:endParaRPr sz="2300" b="0" dirty="0">
                        <a:solidFill>
                          <a:srgbClr val="232B34"/>
                        </a:solidFill>
                        <a:latin typeface="Yu Gothic"/>
                      </a:endParaRP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l"/>
                      <a:r>
                        <a:rPr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Environment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蝕あり</a:t>
                      </a:r>
                      <a:r>
                        <a:rPr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 / </a:t>
                      </a:r>
                      <a:r>
                        <a:rPr lang="ja-JP" altLang="en-US"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全日照</a:t>
                      </a:r>
                      <a:endParaRPr sz="2300" b="0" dirty="0">
                        <a:solidFill>
                          <a:srgbClr val="232B34"/>
                        </a:solidFill>
                        <a:latin typeface="Yu Gothic"/>
                      </a:endParaRP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ja-JP" sz="2400" dirty="0"/>
                        <a:t>熱環境レベルによるケース間</a:t>
                      </a:r>
                      <a:r>
                        <a:rPr lang="ja-JP" altLang="en-US" sz="2400" dirty="0"/>
                        <a:t>バイアス</a:t>
                      </a:r>
                      <a:r>
                        <a:rPr lang="ja-JP" altLang="ja-JP" sz="2400" dirty="0"/>
                        <a:t>変動を確認</a:t>
                      </a:r>
                      <a:endParaRPr sz="2300" b="0" dirty="0">
                        <a:solidFill>
                          <a:srgbClr val="232B34"/>
                        </a:solidFill>
                        <a:latin typeface="Yu Gothic"/>
                      </a:endParaRP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l"/>
                      <a:r>
                        <a:rPr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Power level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PROP 25 / 12.5 W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ja-JP" sz="2400" dirty="0"/>
                        <a:t>ON/OFF近似が部分負荷時にも成立するか確認</a:t>
                      </a:r>
                      <a:endParaRPr sz="2300" b="0" dirty="0">
                        <a:solidFill>
                          <a:srgbClr val="232B34"/>
                        </a:solidFill>
                        <a:latin typeface="Yu Gothic"/>
                      </a:endParaRP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Orbit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LTAN06 / LTAN18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ja-JP" sz="2400" dirty="0"/>
                        <a:t>軌道条件・熱履歴に対するモデルの適用性を確認</a:t>
                      </a:r>
                      <a:endParaRPr sz="2300" b="0" dirty="0">
                        <a:solidFill>
                          <a:srgbClr val="232B34"/>
                        </a:solidFill>
                        <a:latin typeface="Yu Gothic"/>
                      </a:endParaRP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785972" y="12032587"/>
            <a:ext cx="14568220" cy="455509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lang="en-US" altLang="ja-JP" sz="2600" b="1" dirty="0">
                <a:solidFill>
                  <a:srgbClr val="D03B46"/>
                </a:solidFill>
                <a:latin typeface="Yu Gothic"/>
              </a:rPr>
              <a:t>※ Sun face</a:t>
            </a:r>
            <a:r>
              <a:rPr lang="ja-JP" altLang="en-US" sz="2600" b="1" dirty="0">
                <a:solidFill>
                  <a:srgbClr val="D03B46"/>
                </a:solidFill>
                <a:latin typeface="Yu Gothic"/>
              </a:rPr>
              <a:t>に関して、</a:t>
            </a:r>
            <a:r>
              <a:rPr lang="en-US" altLang="ja-JP" sz="2600" b="1" dirty="0">
                <a:solidFill>
                  <a:srgbClr val="D03B46"/>
                </a:solidFill>
                <a:latin typeface="Yu Gothic"/>
              </a:rPr>
              <a:t>PZ/MZ</a:t>
            </a:r>
            <a:r>
              <a:rPr lang="ja-JP" altLang="en-US" sz="2600" b="1" dirty="0">
                <a:solidFill>
                  <a:srgbClr val="D03B46"/>
                </a:solidFill>
                <a:latin typeface="Yu Gothic"/>
              </a:rPr>
              <a:t>太陽指向は</a:t>
            </a:r>
            <a:r>
              <a:rPr lang="en-US" altLang="ja-JP" sz="2600" b="1" dirty="0">
                <a:solidFill>
                  <a:srgbClr val="D03B46"/>
                </a:solidFill>
                <a:latin typeface="Yu Gothic"/>
              </a:rPr>
              <a:t>LCT/STT</a:t>
            </a:r>
            <a:r>
              <a:rPr lang="ja-JP" altLang="en-US" sz="2600" b="1" dirty="0">
                <a:solidFill>
                  <a:srgbClr val="D03B46"/>
                </a:solidFill>
                <a:latin typeface="Yu Gothic"/>
              </a:rPr>
              <a:t>がいる面に太陽が当たることはないので除外</a:t>
            </a:r>
            <a:endParaRPr sz="2600" b="1" dirty="0">
              <a:solidFill>
                <a:srgbClr val="D03B46"/>
              </a:solidFill>
              <a:latin typeface="Yu Gothic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6ED6B3C-14BA-01A2-9F51-A8D5EC699EB3}"/>
              </a:ext>
            </a:extLst>
          </p:cNvPr>
          <p:cNvSpPr txBox="1"/>
          <p:nvPr/>
        </p:nvSpPr>
        <p:spPr>
          <a:xfrm>
            <a:off x="10195444" y="3134017"/>
            <a:ext cx="47207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/>
              <a:t>ケースで振るパラメータ</a:t>
            </a:r>
          </a:p>
        </p:txBody>
      </p:sp>
    </p:spTree>
    <p:extLst>
      <p:ext uri="{BB962C8B-B14F-4D97-AF65-F5344CB8AC3E}">
        <p14:creationId xmlns:p14="http://schemas.microsoft.com/office/powerpoint/2010/main" val="23853237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Thermo-structural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16412057" cy="1040285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endParaRPr lang="en-US" sz="3200" b="1" dirty="0">
              <a:solidFill>
                <a:srgbClr val="082B52"/>
              </a:solidFill>
              <a:latin typeface="Yu Gothic"/>
            </a:endParaRPr>
          </a:p>
          <a:p>
            <a:r>
              <a:rPr lang="ja-JP" altLang="en-US" sz="3200" b="1" dirty="0">
                <a:solidFill>
                  <a:srgbClr val="082B52"/>
                </a:solidFill>
                <a:latin typeface="Yu Gothic"/>
              </a:rPr>
              <a:t>解析管理の工夫：</a:t>
            </a:r>
            <a:r>
              <a:rPr lang="ja-JP" altLang="ja-JP" sz="3200" b="1" dirty="0"/>
              <a:t>全解析条件をmatrixで一元定義し、共通case IDでAPI処理を自動化する</a:t>
            </a:r>
            <a:endParaRPr sz="3200" b="1" dirty="0">
              <a:solidFill>
                <a:srgbClr val="082B52"/>
              </a:solidFill>
              <a:latin typeface="Yu Gothic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684836"/>
            <a:ext cx="3444239" cy="1234440"/>
          </a:xfrm>
          <a:prstGeom prst="rect">
            <a:avLst/>
          </a:prstGeom>
          <a:solidFill>
            <a:srgbClr val="082B52"/>
          </a:solidFill>
          <a:ln w="16510">
            <a:solidFill>
              <a:srgbClr val="082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454240" y="3951190"/>
            <a:ext cx="2364558" cy="701731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 dirty="0">
                <a:solidFill>
                  <a:srgbClr val="FFFFFF"/>
                </a:solidFill>
                <a:latin typeface="Yu Gothic"/>
              </a:rPr>
              <a:t>case_matrix.xlsx
orbit_catalog</a:t>
            </a:r>
            <a:r>
              <a:rPr lang="en-US" sz="2100" b="1" dirty="0">
                <a:solidFill>
                  <a:srgbClr val="FFFFFF"/>
                </a:solidFill>
                <a:latin typeface="Yu Gothic"/>
              </a:rPr>
              <a:t>.xlsx</a:t>
            </a:r>
            <a:endParaRPr sz="2100" b="1" dirty="0">
              <a:solidFill>
                <a:srgbClr val="FFFFFF"/>
              </a:solidFill>
              <a:latin typeface="Yu Gothic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4413503" y="4302056"/>
            <a:ext cx="274320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4742688" y="3684836"/>
            <a:ext cx="3444239" cy="1234440"/>
          </a:xfrm>
          <a:prstGeom prst="rect">
            <a:avLst/>
          </a:prstGeom>
          <a:solidFill>
            <a:srgbClr val="1B74AA"/>
          </a:solidFill>
          <a:ln w="16510">
            <a:solidFill>
              <a:srgbClr val="1B7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125434" y="3951190"/>
            <a:ext cx="2678747" cy="701731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 dirty="0">
                <a:solidFill>
                  <a:srgbClr val="FFFFFF"/>
                </a:solidFill>
                <a:latin typeface="Yu Gothic"/>
              </a:rPr>
              <a:t>TD temperature
LOGIC_SUN</a:t>
            </a:r>
            <a:r>
              <a:rPr lang="en-US" sz="2100" b="1" dirty="0">
                <a:solidFill>
                  <a:srgbClr val="FFFFFF"/>
                </a:solidFill>
                <a:latin typeface="Yu Gothic"/>
              </a:rPr>
              <a:t> symbol</a:t>
            </a:r>
            <a:endParaRPr sz="2100" b="1" dirty="0">
              <a:solidFill>
                <a:srgbClr val="FFFFFF"/>
              </a:solidFill>
              <a:latin typeface="Yu Gothic"/>
            </a:endParaRPr>
          </a:p>
        </p:txBody>
      </p:sp>
      <p:cxnSp>
        <p:nvCxnSpPr>
          <p:cNvPr id="10" name="Connector 9"/>
          <p:cNvCxnSpPr/>
          <p:nvPr/>
        </p:nvCxnSpPr>
        <p:spPr>
          <a:xfrm>
            <a:off x="8241792" y="4302056"/>
            <a:ext cx="274320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8570976" y="3684836"/>
            <a:ext cx="3444239" cy="1234440"/>
          </a:xfrm>
          <a:prstGeom prst="rect">
            <a:avLst/>
          </a:prstGeom>
          <a:solidFill>
            <a:srgbClr val="239571"/>
          </a:solidFill>
          <a:ln w="1651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44128" y="3794564"/>
            <a:ext cx="3297935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mapper
output.dat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2070080" y="4302056"/>
            <a:ext cx="274319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12399263" y="3684836"/>
            <a:ext cx="3444239" cy="1234440"/>
          </a:xfrm>
          <a:prstGeom prst="rect">
            <a:avLst/>
          </a:prstGeom>
          <a:solidFill>
            <a:srgbClr val="EC9427"/>
          </a:solidFill>
          <a:ln w="16510">
            <a:solidFill>
              <a:srgbClr val="EC94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3275734" y="3951190"/>
            <a:ext cx="1691297" cy="701731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 dirty="0" err="1">
                <a:solidFill>
                  <a:srgbClr val="FFFFFF"/>
                </a:solidFill>
                <a:latin typeface="Yu Gothic"/>
              </a:rPr>
              <a:t>Femap</a:t>
            </a:r>
            <a:r>
              <a:rPr sz="2100" b="1" dirty="0">
                <a:solidFill>
                  <a:srgbClr val="FFFFFF"/>
                </a:solidFill>
                <a:latin typeface="Yu Gothic"/>
              </a:rPr>
              <a:t>
rotation</a:t>
            </a:r>
            <a:r>
              <a:rPr lang="en-US" sz="2100" b="1" dirty="0">
                <a:solidFill>
                  <a:srgbClr val="FFFFFF"/>
                </a:solidFill>
                <a:latin typeface="Yu Gothic"/>
              </a:rPr>
              <a:t>.xlsx</a:t>
            </a:r>
            <a:endParaRPr sz="2100" b="1" dirty="0">
              <a:solidFill>
                <a:srgbClr val="FFFFFF"/>
              </a:solidFill>
              <a:latin typeface="Yu Gothic"/>
            </a:endParaRPr>
          </a:p>
        </p:txBody>
      </p:sp>
      <p:cxnSp>
        <p:nvCxnSpPr>
          <p:cNvPr id="16" name="Connector 15"/>
          <p:cNvCxnSpPr/>
          <p:nvPr/>
        </p:nvCxnSpPr>
        <p:spPr>
          <a:xfrm>
            <a:off x="15898367" y="4302056"/>
            <a:ext cx="274321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6227552" y="3684836"/>
            <a:ext cx="3444239" cy="1234440"/>
          </a:xfrm>
          <a:prstGeom prst="rect">
            <a:avLst/>
          </a:prstGeom>
          <a:solidFill>
            <a:srgbClr val="5D4084"/>
          </a:solidFill>
          <a:ln w="16510">
            <a:solidFill>
              <a:srgbClr val="5D40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6967767" y="3951190"/>
            <a:ext cx="1963807" cy="701731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lang="en-US" sz="2100" b="1" dirty="0">
                <a:solidFill>
                  <a:srgbClr val="FFFFFF"/>
                </a:solidFill>
                <a:latin typeface="Yu Gothic"/>
              </a:rPr>
              <a:t>LOS Angle</a:t>
            </a:r>
          </a:p>
          <a:p>
            <a:pPr algn="ctr"/>
            <a:r>
              <a:rPr sz="2100" b="1" dirty="0">
                <a:solidFill>
                  <a:srgbClr val="FFFFFF"/>
                </a:solidFill>
                <a:latin typeface="Yu Gothic"/>
              </a:rPr>
              <a:t>los_angles.csv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9726655" y="4302056"/>
            <a:ext cx="274321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20055840" y="3684836"/>
            <a:ext cx="3444239" cy="1234440"/>
          </a:xfrm>
          <a:prstGeom prst="rect">
            <a:avLst/>
          </a:prstGeom>
          <a:solidFill>
            <a:srgbClr val="082B52"/>
          </a:solidFill>
          <a:ln w="16510">
            <a:solidFill>
              <a:srgbClr val="082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0990821" y="3951190"/>
            <a:ext cx="1574277" cy="701731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 dirty="0">
                <a:solidFill>
                  <a:srgbClr val="FFFFFF"/>
                </a:solidFill>
                <a:latin typeface="Yu Gothic"/>
              </a:rPr>
              <a:t>lightweight
dataset</a:t>
            </a:r>
            <a:r>
              <a:rPr lang="en-US" sz="2100" b="1" dirty="0">
                <a:solidFill>
                  <a:srgbClr val="FFFFFF"/>
                </a:solidFill>
                <a:latin typeface="Yu Gothic"/>
              </a:rPr>
              <a:t>.csv</a:t>
            </a:r>
            <a:endParaRPr sz="2100" b="1" dirty="0">
              <a:solidFill>
                <a:srgbClr val="FFFFFF"/>
              </a:solidFill>
              <a:latin typeface="Yu Gothic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1188720" y="6044280"/>
            <a:ext cx="12896931" cy="4954531"/>
          </a:xfrm>
          <a:prstGeom prst="roundRect">
            <a:avLst/>
          </a:prstGeom>
          <a:solidFill>
            <a:srgbClr val="F4F6F8"/>
          </a:solidFill>
          <a:ln w="1651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726590" y="6265379"/>
            <a:ext cx="4382738" cy="486287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r>
              <a:rPr lang="ja-JP" altLang="ja-JP" sz="2800" b="1" dirty="0"/>
              <a:t>条件管理・自動化・再現性</a:t>
            </a:r>
            <a:endParaRPr sz="2700" b="1" dirty="0">
              <a:solidFill>
                <a:srgbClr val="082B52"/>
              </a:solidFill>
              <a:latin typeface="Yu Gothic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728214" y="7017628"/>
            <a:ext cx="12221250" cy="4257576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800"/>
              </a:spcAft>
            </a:pPr>
            <a:r>
              <a:rPr sz="2800" b="1" dirty="0">
                <a:solidFill>
                  <a:srgbClr val="1B74AA"/>
                </a:solidFill>
                <a:latin typeface="Yu Gothic"/>
              </a:rPr>
              <a:t>• </a:t>
            </a:r>
            <a:r>
              <a:rPr lang="ja-JP" altLang="en-US" sz="2800" dirty="0"/>
              <a:t>最上流の</a:t>
            </a:r>
            <a:r>
              <a:rPr lang="en-US" altLang="ja-JP" sz="2800" dirty="0"/>
              <a:t>c</a:t>
            </a:r>
            <a:r>
              <a:rPr lang="ja-JP" altLang="ja-JP" sz="2800" dirty="0"/>
              <a:t>ase matrixに姿勢・発熱・表面特性などを集約</a:t>
            </a:r>
            <a:endParaRPr lang="en-US" altLang="ja-JP" sz="2800" dirty="0"/>
          </a:p>
          <a:p>
            <a:pPr>
              <a:spcAft>
                <a:spcPts val="800"/>
              </a:spcAft>
            </a:pPr>
            <a:r>
              <a:rPr lang="en-US" altLang="ja-JP" sz="2800" b="1" dirty="0">
                <a:solidFill>
                  <a:srgbClr val="1B74AA"/>
                </a:solidFill>
                <a:latin typeface="Yu Gothic"/>
              </a:rPr>
              <a:t>•</a:t>
            </a:r>
            <a:r>
              <a:rPr lang="ja-JP" altLang="en-US" sz="2800" b="1" dirty="0">
                <a:solidFill>
                  <a:srgbClr val="1B74AA"/>
                </a:solidFill>
                <a:latin typeface="Yu Gothic"/>
              </a:rPr>
              <a:t> </a:t>
            </a:r>
            <a:r>
              <a:rPr lang="ja-JP" altLang="en-US" sz="2800" dirty="0"/>
              <a:t>同じく最上流の</a:t>
            </a:r>
            <a:r>
              <a:rPr lang="en-US" altLang="ja-JP" sz="2800" dirty="0"/>
              <a:t>orbit catalog</a:t>
            </a:r>
            <a:r>
              <a:rPr lang="ja-JP" altLang="en-US" sz="2800" dirty="0"/>
              <a:t>に軌道条件を集約</a:t>
            </a:r>
            <a:endParaRPr lang="en-US" altLang="ja-JP" sz="2800" dirty="0"/>
          </a:p>
          <a:p>
            <a:pPr>
              <a:spcAft>
                <a:spcPts val="800"/>
              </a:spcAft>
            </a:pPr>
            <a:r>
              <a:rPr lang="en-US" altLang="ja-JP" sz="2800" b="1" dirty="0">
                <a:solidFill>
                  <a:srgbClr val="1B74AA"/>
                </a:solidFill>
                <a:latin typeface="Yu Gothic"/>
              </a:rPr>
              <a:t>•</a:t>
            </a:r>
            <a:r>
              <a:rPr lang="ja-JP" altLang="en-US" sz="2800" b="1" dirty="0">
                <a:solidFill>
                  <a:srgbClr val="1B74AA"/>
                </a:solidFill>
                <a:latin typeface="Yu Gothic"/>
              </a:rPr>
              <a:t> </a:t>
            </a:r>
            <a:r>
              <a:rPr lang="ja-JP" altLang="en-US" sz="2800" dirty="0"/>
              <a:t>両</a:t>
            </a:r>
            <a:r>
              <a:rPr lang="en-US" altLang="ja-JP" sz="2800" dirty="0"/>
              <a:t>matrix</a:t>
            </a:r>
            <a:r>
              <a:rPr lang="ja-JP" altLang="en-US" sz="2800" dirty="0"/>
              <a:t>から各解析ケースとケース名（</a:t>
            </a:r>
            <a:r>
              <a:rPr lang="en-US" altLang="ja-JP" sz="2800" dirty="0"/>
              <a:t>case ID</a:t>
            </a:r>
            <a:r>
              <a:rPr lang="ja-JP" altLang="en-US" sz="2800" dirty="0"/>
              <a:t>）を定義</a:t>
            </a:r>
            <a:endParaRPr lang="en-US" altLang="ja-JP" sz="2800" dirty="0"/>
          </a:p>
          <a:p>
            <a:pPr>
              <a:spcAft>
                <a:spcPts val="800"/>
              </a:spcAft>
            </a:pPr>
            <a:r>
              <a:rPr lang="en-US" altLang="ja-JP" sz="2800" b="1" dirty="0">
                <a:solidFill>
                  <a:srgbClr val="1B74AA"/>
                </a:solidFill>
                <a:latin typeface="Yu Gothic"/>
              </a:rPr>
              <a:t>•</a:t>
            </a:r>
            <a:r>
              <a:rPr lang="ja-JP" altLang="en-US" sz="2800" b="1" dirty="0">
                <a:solidFill>
                  <a:srgbClr val="1B74AA"/>
                </a:solidFill>
                <a:latin typeface="Yu Gothic"/>
              </a:rPr>
              <a:t> </a:t>
            </a:r>
            <a:r>
              <a:rPr lang="ja-JP" altLang="en-US" sz="2800" dirty="0"/>
              <a:t>各ソフトの生成ファイル群は、</a:t>
            </a:r>
            <a:r>
              <a:rPr lang="en-US" altLang="ja-JP" sz="2800" dirty="0"/>
              <a:t>case ID</a:t>
            </a:r>
            <a:r>
              <a:rPr lang="ja-JP" altLang="en-US" sz="2800" dirty="0"/>
              <a:t>でフォルダ分けして一括管理</a:t>
            </a:r>
            <a:endParaRPr lang="en-US" altLang="ja-JP" sz="2800" dirty="0"/>
          </a:p>
          <a:p>
            <a:pPr>
              <a:spcAft>
                <a:spcPts val="800"/>
              </a:spcAft>
            </a:pPr>
            <a:r>
              <a:rPr lang="en-US" altLang="ja-JP" sz="2800" b="1" dirty="0">
                <a:solidFill>
                  <a:srgbClr val="1B74AA"/>
                </a:solidFill>
                <a:latin typeface="Yu Gothic"/>
              </a:rPr>
              <a:t>•</a:t>
            </a:r>
            <a:r>
              <a:rPr lang="ja-JP" altLang="en-US" sz="2800" b="1" dirty="0">
                <a:solidFill>
                  <a:srgbClr val="1B74AA"/>
                </a:solidFill>
                <a:latin typeface="Yu Gothic"/>
              </a:rPr>
              <a:t> </a:t>
            </a:r>
            <a:r>
              <a:rPr lang="ja-JP" altLang="en-US" sz="2800" dirty="0"/>
              <a:t>共通の</a:t>
            </a:r>
            <a:r>
              <a:rPr lang="en-US" altLang="ja-JP" sz="2800" dirty="0"/>
              <a:t>case ID</a:t>
            </a:r>
            <a:r>
              <a:rPr lang="ja-JP" altLang="en-US" sz="2800" dirty="0"/>
              <a:t>で</a:t>
            </a:r>
            <a:r>
              <a:rPr lang="en-US" altLang="ja-JP" sz="2800" dirty="0"/>
              <a:t>TD</a:t>
            </a:r>
            <a:r>
              <a:rPr lang="ja-JP" altLang="en-US" sz="2800" dirty="0"/>
              <a:t>・</a:t>
            </a:r>
            <a:r>
              <a:rPr lang="en-US" altLang="ja-JP" sz="2800" dirty="0" err="1"/>
              <a:t>Femap</a:t>
            </a:r>
            <a:r>
              <a:rPr lang="ja-JP" altLang="en-US" sz="2800" dirty="0"/>
              <a:t>・</a:t>
            </a:r>
            <a:r>
              <a:rPr lang="en-US" altLang="ja-JP" sz="2800" dirty="0"/>
              <a:t>LOS</a:t>
            </a:r>
            <a:r>
              <a:rPr lang="ja-JP" altLang="en-US" sz="2800" dirty="0"/>
              <a:t>・</a:t>
            </a:r>
            <a:r>
              <a:rPr lang="en-US" altLang="ja-JP" sz="2800" dirty="0"/>
              <a:t>PAT</a:t>
            </a:r>
            <a:r>
              <a:rPr lang="ja-JP" altLang="en-US" sz="2800" dirty="0"/>
              <a:t>を接続</a:t>
            </a:r>
            <a:endParaRPr lang="en-US" altLang="ja-JP" sz="2800" dirty="0"/>
          </a:p>
          <a:p>
            <a:pPr>
              <a:spcAft>
                <a:spcPts val="800"/>
              </a:spcAft>
            </a:pPr>
            <a:r>
              <a:rPr lang="en-US" altLang="ja-JP" sz="2800" b="1" dirty="0">
                <a:solidFill>
                  <a:srgbClr val="1B74AA"/>
                </a:solidFill>
                <a:latin typeface="Yu Gothic"/>
              </a:rPr>
              <a:t>•</a:t>
            </a:r>
            <a:r>
              <a:rPr lang="ja-JP" altLang="en-US" sz="2800" b="1" dirty="0">
                <a:solidFill>
                  <a:srgbClr val="1B74AA"/>
                </a:solidFill>
                <a:latin typeface="Yu Gothic"/>
              </a:rPr>
              <a:t> </a:t>
            </a:r>
            <a:r>
              <a:rPr lang="en-US" altLang="ja-JP" sz="2800" dirty="0" err="1"/>
              <a:t>OpenTD</a:t>
            </a:r>
            <a:r>
              <a:rPr lang="en-US" altLang="ja-JP" sz="2800" dirty="0"/>
              <a:t> / </a:t>
            </a:r>
            <a:r>
              <a:rPr lang="en-US" altLang="ja-JP" sz="2800" dirty="0" err="1"/>
              <a:t>Femap</a:t>
            </a:r>
            <a:r>
              <a:rPr lang="en-US" altLang="ja-JP" sz="2800" dirty="0"/>
              <a:t> API</a:t>
            </a:r>
            <a:r>
              <a:rPr lang="ja-JP" altLang="en-US" sz="2800" dirty="0"/>
              <a:t>で解析・出力を自動化</a:t>
            </a:r>
            <a:endParaRPr lang="en-US" altLang="ja-JP" sz="2800" dirty="0"/>
          </a:p>
          <a:p>
            <a:pPr>
              <a:spcAft>
                <a:spcPts val="800"/>
              </a:spcAft>
            </a:pPr>
            <a:r>
              <a:rPr lang="en-US" altLang="ja-JP" sz="2800" b="1" dirty="0">
                <a:solidFill>
                  <a:srgbClr val="1B74AA"/>
                </a:solidFill>
                <a:latin typeface="Yu Gothic"/>
              </a:rPr>
              <a:t>•</a:t>
            </a:r>
            <a:r>
              <a:rPr lang="ja-JP" altLang="en-US" sz="2800" b="1" dirty="0">
                <a:solidFill>
                  <a:srgbClr val="1B74AA"/>
                </a:solidFill>
                <a:latin typeface="Yu Gothic"/>
              </a:rPr>
              <a:t> </a:t>
            </a:r>
            <a:r>
              <a:rPr lang="ja-JP" altLang="en-US" sz="2800" dirty="0"/>
              <a:t>入力条件から中間生成物・最終成果物まで追跡・再実行可能</a:t>
            </a:r>
            <a:endParaRPr lang="en-US" sz="2800" dirty="0">
              <a:solidFill>
                <a:srgbClr val="232B34"/>
              </a:solidFill>
              <a:latin typeface="Yu Gothic"/>
            </a:endParaRPr>
          </a:p>
          <a:p>
            <a:pPr>
              <a:spcAft>
                <a:spcPts val="800"/>
              </a:spcAft>
            </a:pPr>
            <a:endParaRPr sz="2800" dirty="0">
              <a:solidFill>
                <a:srgbClr val="232B34"/>
              </a:solidFill>
              <a:latin typeface="Yu Gothic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18484" y="12123815"/>
            <a:ext cx="13437401" cy="486287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ctr"/>
            <a:r>
              <a:rPr lang="ja-JP" altLang="ja-JP" sz="2800" b="1" dirty="0"/>
              <a:t>全条件をmatrixで先に固定し、同じcase ID・同じAPI手順で再現可能な比較を行う</a:t>
            </a:r>
            <a:endParaRPr lang="ja-JP" altLang="ja-JP" sz="2800" dirty="0"/>
          </a:p>
        </p:txBody>
      </p:sp>
      <p:pic>
        <p:nvPicPr>
          <p:cNvPr id="27" name="図 26">
            <a:extLst>
              <a:ext uri="{FF2B5EF4-FFF2-40B4-BE49-F238E27FC236}">
                <a16:creationId xmlns:a16="http://schemas.microsoft.com/office/drawing/2014/main" id="{FAC80EE7-DF42-99DB-1769-1AFA8BC4672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6065" r="39991"/>
          <a:stretch>
            <a:fillRect/>
          </a:stretch>
        </p:blipFill>
        <p:spPr>
          <a:xfrm>
            <a:off x="14896037" y="9779123"/>
            <a:ext cx="7012926" cy="3156082"/>
          </a:xfrm>
          <a:prstGeom prst="rect">
            <a:avLst/>
          </a:prstGeom>
        </p:spPr>
      </p:pic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EC35414D-D052-3810-4229-417F16553F1C}"/>
              </a:ext>
            </a:extLst>
          </p:cNvPr>
          <p:cNvSpPr txBox="1"/>
          <p:nvPr/>
        </p:nvSpPr>
        <p:spPr>
          <a:xfrm>
            <a:off x="9165465" y="5103437"/>
            <a:ext cx="60514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/>
              <a:t>各ソフトにおける解析出力ファイル</a:t>
            </a: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10AB8114-0307-8798-6551-D64DE69A75EC}"/>
              </a:ext>
            </a:extLst>
          </p:cNvPr>
          <p:cNvSpPr txBox="1"/>
          <p:nvPr/>
        </p:nvSpPr>
        <p:spPr>
          <a:xfrm>
            <a:off x="16459199" y="12973324"/>
            <a:ext cx="47207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dirty="0" err="1"/>
              <a:t>Femap</a:t>
            </a:r>
            <a:r>
              <a:rPr kumimoji="1" lang="ja-JP" altLang="en-US" sz="2800" dirty="0"/>
              <a:t>解析フォルダ内</a:t>
            </a:r>
          </a:p>
        </p:txBody>
      </p:sp>
      <p:pic>
        <p:nvPicPr>
          <p:cNvPr id="37" name="図 36">
            <a:extLst>
              <a:ext uri="{FF2B5EF4-FFF2-40B4-BE49-F238E27FC236}">
                <a16:creationId xmlns:a16="http://schemas.microsoft.com/office/drawing/2014/main" id="{B7C0CCBA-B5A2-4EE7-271D-A8DB1459F0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32429" y="6058654"/>
            <a:ext cx="7740142" cy="3177912"/>
          </a:xfrm>
          <a:prstGeom prst="rect">
            <a:avLst/>
          </a:prstGeom>
        </p:spPr>
      </p:pic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E5119F46-14D4-E340-209A-AF0E41AECCF6}"/>
              </a:ext>
            </a:extLst>
          </p:cNvPr>
          <p:cNvSpPr txBox="1"/>
          <p:nvPr/>
        </p:nvSpPr>
        <p:spPr>
          <a:xfrm>
            <a:off x="16227552" y="9214736"/>
            <a:ext cx="47207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dirty="0"/>
              <a:t>Case matrix.xlsx</a:t>
            </a:r>
            <a:r>
              <a:rPr kumimoji="1" lang="ja-JP" altLang="en-US" sz="2800" dirty="0"/>
              <a:t>の中身</a:t>
            </a:r>
          </a:p>
        </p:txBody>
      </p:sp>
    </p:spTree>
    <p:extLst>
      <p:ext uri="{BB962C8B-B14F-4D97-AF65-F5344CB8AC3E}">
        <p14:creationId xmlns:p14="http://schemas.microsoft.com/office/powerpoint/2010/main" val="26599559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463AB-B8F3-8DC8-987F-A486F27B8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">
            <a:extLst>
              <a:ext uri="{FF2B5EF4-FFF2-40B4-BE49-F238E27FC236}">
                <a16:creationId xmlns:a16="http://schemas.microsoft.com/office/drawing/2014/main" id="{0A998D34-F3DB-DCDE-1A40-4253D0693565}"/>
              </a:ext>
            </a:extLst>
          </p:cNvPr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Thermo-structural results</a:t>
            </a:r>
          </a:p>
        </p:txBody>
      </p:sp>
      <p:sp>
        <p:nvSpPr>
          <p:cNvPr id="13" name="TextBox 2">
            <a:extLst>
              <a:ext uri="{FF2B5EF4-FFF2-40B4-BE49-F238E27FC236}">
                <a16:creationId xmlns:a16="http://schemas.microsoft.com/office/drawing/2014/main" id="{DF026E16-6558-6EEA-9100-74BFD8FDF688}"/>
              </a:ext>
            </a:extLst>
          </p:cNvPr>
          <p:cNvSpPr txBox="1"/>
          <p:nvPr/>
        </p:nvSpPr>
        <p:spPr>
          <a:xfrm>
            <a:off x="1536192" y="1298448"/>
            <a:ext cx="9850774" cy="1040285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endParaRPr lang="en-US" sz="3200" b="1" dirty="0">
              <a:solidFill>
                <a:srgbClr val="082B52"/>
              </a:solidFill>
              <a:latin typeface="Yu Gothic"/>
            </a:endParaRPr>
          </a:p>
          <a:p>
            <a:r>
              <a:rPr lang="ja-JP" altLang="en-US" sz="3200" b="1" dirty="0">
                <a:solidFill>
                  <a:srgbClr val="082B52"/>
                </a:solidFill>
                <a:latin typeface="Yu Gothic"/>
              </a:rPr>
              <a:t>解析結果：</a:t>
            </a:r>
            <a:r>
              <a:rPr lang="ja-JP" altLang="ja-JP" sz="3200" b="1" dirty="0"/>
              <a:t>温度場と熱LOSは同じ軌道周期で変動する</a:t>
            </a:r>
            <a:endParaRPr lang="ja-JP" altLang="ja-JP" sz="3200" dirty="0"/>
          </a:p>
        </p:txBody>
      </p:sp>
      <p:sp>
        <p:nvSpPr>
          <p:cNvPr id="15" name="TextBox 3">
            <a:extLst>
              <a:ext uri="{FF2B5EF4-FFF2-40B4-BE49-F238E27FC236}">
                <a16:creationId xmlns:a16="http://schemas.microsoft.com/office/drawing/2014/main" id="{3FDE0B2A-84AF-B318-D633-0F7FDE84BD98}"/>
              </a:ext>
            </a:extLst>
          </p:cNvPr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16</a:t>
            </a:r>
          </a:p>
        </p:txBody>
      </p:sp>
      <p:pic>
        <p:nvPicPr>
          <p:cNvPr id="17" name="Picture 7" descr="04_LTAN06_800km_1213COLD_MY_ALL_HEAT_MY_0p5_far_field_los_angle_budget.png">
            <a:extLst>
              <a:ext uri="{FF2B5EF4-FFF2-40B4-BE49-F238E27FC236}">
                <a16:creationId xmlns:a16="http://schemas.microsoft.com/office/drawing/2014/main" id="{EF6173D2-A246-1BCD-BC6A-F5B628313A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619" y="2988426"/>
            <a:ext cx="11781048" cy="8568034"/>
          </a:xfrm>
          <a:prstGeom prst="rect">
            <a:avLst/>
          </a:prstGeom>
        </p:spPr>
      </p:pic>
      <p:sp>
        <p:nvSpPr>
          <p:cNvPr id="19" name="TextBox 8">
            <a:extLst>
              <a:ext uri="{FF2B5EF4-FFF2-40B4-BE49-F238E27FC236}">
                <a16:creationId xmlns:a16="http://schemas.microsoft.com/office/drawing/2014/main" id="{E5AE464D-DFE6-09C6-65DA-8D2CC851F626}"/>
              </a:ext>
            </a:extLst>
          </p:cNvPr>
          <p:cNvSpPr txBox="1"/>
          <p:nvPr/>
        </p:nvSpPr>
        <p:spPr>
          <a:xfrm>
            <a:off x="16222193" y="11639319"/>
            <a:ext cx="4294574" cy="409343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lang="ja-JP" altLang="en-US" sz="2300" b="1" dirty="0">
                <a:solidFill>
                  <a:srgbClr val="1B74AA"/>
                </a:solidFill>
                <a:latin typeface="Yu Gothic"/>
              </a:rPr>
              <a:t>各衛星パネル上の</a:t>
            </a:r>
            <a:r>
              <a:rPr sz="2300" b="1" dirty="0">
                <a:solidFill>
                  <a:srgbClr val="1B74AA"/>
                </a:solidFill>
                <a:latin typeface="Yu Gothic"/>
              </a:rPr>
              <a:t>Temperature</a:t>
            </a:r>
          </a:p>
        </p:txBody>
      </p:sp>
      <p:sp>
        <p:nvSpPr>
          <p:cNvPr id="21" name="TextBox 9">
            <a:extLst>
              <a:ext uri="{FF2B5EF4-FFF2-40B4-BE49-F238E27FC236}">
                <a16:creationId xmlns:a16="http://schemas.microsoft.com/office/drawing/2014/main" id="{E830988C-07D9-F5B9-9874-7C1D60418F77}"/>
              </a:ext>
            </a:extLst>
          </p:cNvPr>
          <p:cNvSpPr txBox="1"/>
          <p:nvPr/>
        </p:nvSpPr>
        <p:spPr>
          <a:xfrm>
            <a:off x="4424133" y="11777355"/>
            <a:ext cx="5786970" cy="409343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lang="en-US" sz="2300" b="1" dirty="0">
                <a:solidFill>
                  <a:srgbClr val="239571"/>
                </a:solidFill>
                <a:latin typeface="Yu Gothic"/>
              </a:rPr>
              <a:t>Case 04 (MY</a:t>
            </a:r>
            <a:r>
              <a:rPr lang="ja-JP" altLang="en-US" sz="2300" b="1" dirty="0">
                <a:solidFill>
                  <a:srgbClr val="239571"/>
                </a:solidFill>
                <a:latin typeface="Yu Gothic"/>
              </a:rPr>
              <a:t>太陽</a:t>
            </a:r>
            <a:r>
              <a:rPr lang="en-US" sz="2300" b="1" dirty="0">
                <a:solidFill>
                  <a:srgbClr val="239571"/>
                </a:solidFill>
                <a:latin typeface="Yu Gothic"/>
              </a:rPr>
              <a:t>)</a:t>
            </a:r>
            <a:r>
              <a:rPr lang="ja-JP" altLang="en-US" sz="2300" b="1" dirty="0">
                <a:solidFill>
                  <a:srgbClr val="239571"/>
                </a:solidFill>
                <a:latin typeface="Yu Gothic"/>
              </a:rPr>
              <a:t>における </a:t>
            </a:r>
            <a:r>
              <a:rPr sz="2300" b="1" dirty="0">
                <a:solidFill>
                  <a:srgbClr val="239571"/>
                </a:solidFill>
                <a:latin typeface="Yu Gothic"/>
              </a:rPr>
              <a:t>Far-field LOS</a:t>
            </a:r>
          </a:p>
        </p:txBody>
      </p:sp>
      <p:pic>
        <p:nvPicPr>
          <p:cNvPr id="25" name="図 24">
            <a:extLst>
              <a:ext uri="{FF2B5EF4-FFF2-40B4-BE49-F238E27FC236}">
                <a16:creationId xmlns:a16="http://schemas.microsoft.com/office/drawing/2014/main" id="{5B2B2B61-04B6-BD30-69A8-D3793BED63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47667" y="3089848"/>
            <a:ext cx="11043623" cy="7696091"/>
          </a:xfrm>
          <a:prstGeom prst="rect">
            <a:avLst/>
          </a:prstGeom>
        </p:spPr>
      </p:pic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E19AF93F-1049-8626-F574-E8F86249A9BE}"/>
              </a:ext>
            </a:extLst>
          </p:cNvPr>
          <p:cNvSpPr txBox="1"/>
          <p:nvPr/>
        </p:nvSpPr>
        <p:spPr>
          <a:xfrm>
            <a:off x="9202365" y="12625835"/>
            <a:ext cx="141829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solidFill>
                  <a:srgbClr val="FF0000"/>
                </a:solidFill>
              </a:rPr>
              <a:t>さらに、</a:t>
            </a:r>
            <a:r>
              <a:rPr kumimoji="1" lang="en-US" altLang="ja-JP" sz="3200" b="1" dirty="0">
                <a:solidFill>
                  <a:srgbClr val="FF0000"/>
                </a:solidFill>
              </a:rPr>
              <a:t>LOS</a:t>
            </a:r>
            <a:r>
              <a:rPr kumimoji="1" lang="ja-JP" altLang="en-US" sz="3200" b="1" dirty="0">
                <a:solidFill>
                  <a:srgbClr val="FF0000"/>
                </a:solidFill>
              </a:rPr>
              <a:t>誤差の</a:t>
            </a:r>
            <a:r>
              <a:rPr kumimoji="1" lang="en-US" altLang="ja-JP" sz="3200" b="1" dirty="0">
                <a:solidFill>
                  <a:srgbClr val="FF0000"/>
                </a:solidFill>
              </a:rPr>
              <a:t>Y</a:t>
            </a:r>
            <a:r>
              <a:rPr kumimoji="1" lang="ja-JP" altLang="en-US" sz="3200" b="1" dirty="0">
                <a:solidFill>
                  <a:srgbClr val="FF0000"/>
                </a:solidFill>
              </a:rPr>
              <a:t>方向の変化と</a:t>
            </a:r>
            <a:r>
              <a:rPr kumimoji="1" lang="en-US" altLang="ja-JP" sz="3200" b="1" dirty="0">
                <a:solidFill>
                  <a:srgbClr val="FF0000"/>
                </a:solidFill>
              </a:rPr>
              <a:t>MY</a:t>
            </a:r>
            <a:r>
              <a:rPr kumimoji="1" lang="ja-JP" altLang="en-US" sz="3200" b="1" dirty="0">
                <a:solidFill>
                  <a:srgbClr val="FF0000"/>
                </a:solidFill>
              </a:rPr>
              <a:t>面の温度変化が似ていることがわかる</a:t>
            </a:r>
          </a:p>
        </p:txBody>
      </p:sp>
    </p:spTree>
    <p:extLst>
      <p:ext uri="{BB962C8B-B14F-4D97-AF65-F5344CB8AC3E}">
        <p14:creationId xmlns:p14="http://schemas.microsoft.com/office/powerpoint/2010/main" val="13791333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692640" y="4114800"/>
            <a:ext cx="4937760" cy="5943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700" b="0">
                <a:solidFill>
                  <a:srgbClr val="FFFFFF"/>
                </a:solidFill>
                <a:latin typeface="Yu Gothic"/>
              </a:rPr>
              <a:t>03</a:t>
            </a:r>
          </a:p>
        </p:txBody>
      </p:sp>
      <p:sp>
        <p:nvSpPr>
          <p:cNvPr id="3" name="Rectangle 2"/>
          <p:cNvSpPr/>
          <p:nvPr/>
        </p:nvSpPr>
        <p:spPr>
          <a:xfrm>
            <a:off x="10469880" y="5230368"/>
            <a:ext cx="338328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28800" y="5806440"/>
            <a:ext cx="20756880" cy="10515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300" b="1">
                <a:solidFill>
                  <a:srgbClr val="FFFFFF"/>
                </a:solidFill>
                <a:latin typeface="Yu Gothic"/>
              </a:rPr>
              <a:t>Lightweight LOS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FFFFFF"/>
                </a:solidFill>
                <a:latin typeface="Yu Gothic"/>
              </a:rPr>
              <a:t>18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43F79B8D-4952-6D22-DF2C-D92288E556C1}"/>
              </a:ext>
            </a:extLst>
          </p:cNvPr>
          <p:cNvSpPr/>
          <p:nvPr/>
        </p:nvSpPr>
        <p:spPr>
          <a:xfrm>
            <a:off x="11099800" y="6857999"/>
            <a:ext cx="2209800" cy="45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648671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Lightweight LOS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12312986" cy="1040285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endParaRPr lang="en-US" sz="3200" b="1" dirty="0">
              <a:solidFill>
                <a:srgbClr val="082B52"/>
              </a:solidFill>
              <a:latin typeface="Yu Gothic"/>
            </a:endParaRPr>
          </a:p>
          <a:p>
            <a:r>
              <a:rPr lang="ja-JP" altLang="ja-JP" sz="3200" b="1" dirty="0"/>
              <a:t>軌道上実装には、少数入力で熱LOSを直接予測できるモデルが必要</a:t>
            </a:r>
            <a:endParaRPr lang="ja-JP" altLang="ja-JP" sz="3200" dirty="0"/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19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834640"/>
            <a:ext cx="7315200" cy="7132320"/>
          </a:xfrm>
          <a:prstGeom prst="roundRect">
            <a:avLst/>
          </a:prstGeom>
          <a:solidFill>
            <a:srgbClr val="F4F6F8"/>
          </a:solidFill>
          <a:ln w="1651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954913" y="3246120"/>
            <a:ext cx="1599925" cy="47089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lang="en-US" sz="2700" b="1" dirty="0">
                <a:solidFill>
                  <a:srgbClr val="082B52"/>
                </a:solidFill>
                <a:latin typeface="Yu Gothic"/>
              </a:rPr>
              <a:t>Required</a:t>
            </a:r>
            <a:endParaRPr sz="2700" b="1" dirty="0">
              <a:solidFill>
                <a:srgbClr val="082B52"/>
              </a:solidFill>
              <a:latin typeface="Yu Gothic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45920" y="4251960"/>
            <a:ext cx="6217920" cy="2913618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800"/>
              </a:spcAft>
            </a:pPr>
            <a:r>
              <a:rPr sz="2500" b="1" dirty="0">
                <a:solidFill>
                  <a:srgbClr val="1B74AA"/>
                </a:solidFill>
                <a:latin typeface="Yu Gothic"/>
              </a:rPr>
              <a:t>• </a:t>
            </a:r>
            <a:r>
              <a:rPr sz="2500" dirty="0">
                <a:solidFill>
                  <a:srgbClr val="232B34"/>
                </a:solidFill>
                <a:latin typeface="Yu Gothic"/>
              </a:rPr>
              <a:t>TD/</a:t>
            </a:r>
            <a:r>
              <a:rPr sz="2500" dirty="0" err="1">
                <a:solidFill>
                  <a:srgbClr val="232B34"/>
                </a:solidFill>
                <a:latin typeface="Yu Gothic"/>
              </a:rPr>
              <a:t>Femapをオンボードで回さない</a:t>
            </a:r>
            <a:r>
              <a:rPr lang="ja-JP" altLang="en-US" sz="2500" dirty="0">
                <a:solidFill>
                  <a:srgbClr val="232B34"/>
                </a:solidFill>
                <a:latin typeface="Yu Gothic"/>
              </a:rPr>
              <a:t>軽さ</a:t>
            </a:r>
            <a:endParaRPr sz="2500" dirty="0">
              <a:solidFill>
                <a:srgbClr val="232B34"/>
              </a:solidFill>
              <a:latin typeface="Yu Gothic"/>
            </a:endParaRPr>
          </a:p>
          <a:p>
            <a:pPr>
              <a:spcAft>
                <a:spcPts val="800"/>
              </a:spcAft>
            </a:pPr>
            <a:r>
              <a:rPr sz="2500" b="1" dirty="0">
                <a:solidFill>
                  <a:srgbClr val="1B74AA"/>
                </a:solidFill>
                <a:latin typeface="Yu Gothic"/>
              </a:rPr>
              <a:t>• </a:t>
            </a:r>
            <a:r>
              <a:rPr sz="2500" dirty="0" err="1">
                <a:solidFill>
                  <a:srgbClr val="232B34"/>
                </a:solidFill>
                <a:latin typeface="Yu Gothic"/>
              </a:rPr>
              <a:t>少数温度センサ</a:t>
            </a:r>
            <a:r>
              <a:rPr lang="ja-JP" altLang="en-US" sz="2500" dirty="0">
                <a:solidFill>
                  <a:srgbClr val="232B34"/>
                </a:solidFill>
                <a:latin typeface="Yu Gothic"/>
              </a:rPr>
              <a:t>と運用情報だけで計算</a:t>
            </a:r>
            <a:endParaRPr sz="2500" dirty="0">
              <a:solidFill>
                <a:srgbClr val="232B34"/>
              </a:solidFill>
              <a:latin typeface="Yu Gothic"/>
            </a:endParaRPr>
          </a:p>
          <a:p>
            <a:pPr>
              <a:spcAft>
                <a:spcPts val="800"/>
              </a:spcAft>
            </a:pPr>
            <a:r>
              <a:rPr sz="2500" b="1" dirty="0">
                <a:solidFill>
                  <a:srgbClr val="1B74AA"/>
                </a:solidFill>
                <a:latin typeface="Yu Gothic"/>
              </a:rPr>
              <a:t>• </a:t>
            </a:r>
            <a:r>
              <a:rPr lang="ja-JP" altLang="en-US" sz="2500" dirty="0">
                <a:solidFill>
                  <a:srgbClr val="232B34"/>
                </a:solidFill>
                <a:latin typeface="Yu Gothic"/>
              </a:rPr>
              <a:t>ケース</a:t>
            </a:r>
            <a:r>
              <a:rPr sz="2500" dirty="0" err="1">
                <a:solidFill>
                  <a:srgbClr val="232B34"/>
                </a:solidFill>
                <a:latin typeface="Yu Gothic"/>
              </a:rPr>
              <a:t>変更に対応</a:t>
            </a:r>
            <a:endParaRPr sz="2500" dirty="0">
              <a:solidFill>
                <a:srgbClr val="232B34"/>
              </a:solidFill>
              <a:latin typeface="Yu Gothic"/>
            </a:endParaRPr>
          </a:p>
          <a:p>
            <a:pPr>
              <a:spcAft>
                <a:spcPts val="800"/>
              </a:spcAft>
            </a:pPr>
            <a:r>
              <a:rPr sz="2500" b="1" dirty="0">
                <a:solidFill>
                  <a:srgbClr val="1B74AA"/>
                </a:solidFill>
                <a:latin typeface="Yu Gothic"/>
              </a:rPr>
              <a:t>• </a:t>
            </a:r>
            <a:r>
              <a:rPr sz="2500" dirty="0" err="1">
                <a:solidFill>
                  <a:srgbClr val="232B34"/>
                </a:solidFill>
                <a:latin typeface="Yu Gothic"/>
              </a:rPr>
              <a:t>固定少数係数</a:t>
            </a:r>
            <a:endParaRPr sz="2500" dirty="0">
              <a:solidFill>
                <a:srgbClr val="232B34"/>
              </a:solidFill>
              <a:latin typeface="Yu Gothic"/>
            </a:endParaRPr>
          </a:p>
          <a:p>
            <a:pPr>
              <a:spcAft>
                <a:spcPts val="800"/>
              </a:spcAft>
            </a:pPr>
            <a:r>
              <a:rPr sz="2500" b="1" dirty="0">
                <a:solidFill>
                  <a:srgbClr val="1B74AA"/>
                </a:solidFill>
                <a:latin typeface="Yu Gothic"/>
              </a:rPr>
              <a:t>• </a:t>
            </a:r>
            <a:r>
              <a:rPr sz="2500" dirty="0">
                <a:solidFill>
                  <a:srgbClr val="232B34"/>
                </a:solidFill>
                <a:latin typeface="Yu Gothic"/>
              </a:rPr>
              <a:t>scan-</a:t>
            </a:r>
            <a:r>
              <a:rPr sz="2500" dirty="0" err="1">
                <a:solidFill>
                  <a:srgbClr val="232B34"/>
                </a:solidFill>
                <a:latin typeface="Yu Gothic"/>
              </a:rPr>
              <a:t>center補正を直接出力</a:t>
            </a:r>
            <a:endParaRPr lang="en-US" sz="2500" dirty="0">
              <a:solidFill>
                <a:srgbClr val="232B34"/>
              </a:solidFill>
              <a:latin typeface="Yu Gothic"/>
            </a:endParaRPr>
          </a:p>
          <a:p>
            <a:pPr>
              <a:spcAft>
                <a:spcPts val="800"/>
              </a:spcAft>
            </a:pPr>
            <a:r>
              <a:rPr lang="en-US" altLang="ja-JP" sz="2500" b="1" dirty="0">
                <a:solidFill>
                  <a:srgbClr val="1B74AA"/>
                </a:solidFill>
                <a:latin typeface="Yu Gothic"/>
              </a:rPr>
              <a:t>• </a:t>
            </a:r>
            <a:r>
              <a:rPr lang="ja-JP" altLang="en-US" sz="2500" dirty="0">
                <a:solidFill>
                  <a:srgbClr val="232B34"/>
                </a:solidFill>
                <a:latin typeface="Yu Gothic"/>
              </a:rPr>
              <a:t>係数の物理的解釈が可能</a:t>
            </a:r>
            <a:endParaRPr sz="2500" dirty="0">
              <a:solidFill>
                <a:srgbClr val="232B34"/>
              </a:solidFill>
              <a:latin typeface="Yu Gothic"/>
            </a:endParaRP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1606022"/>
              </p:ext>
            </p:extLst>
          </p:nvPr>
        </p:nvGraphicFramePr>
        <p:xfrm>
          <a:off x="9144000" y="2834640"/>
          <a:ext cx="13898880" cy="8321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2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88720">
                <a:tc>
                  <a:txBody>
                    <a:bodyPr/>
                    <a:lstStyle/>
                    <a:p>
                      <a:pPr algn="l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Candidate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Pros / cons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872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Static bias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lightweight / no dynamics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8872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Fourier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periodic / orbit dependent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8720">
                <a:tc>
                  <a:txBody>
                    <a:bodyPr/>
                    <a:lstStyle/>
                    <a:p>
                      <a:pPr algn="l"/>
                      <a:r>
                        <a:rPr lang="en-US" altLang="ja-JP"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Multi-point </a:t>
                      </a:r>
                      <a:r>
                        <a:rPr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temperature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flexible / collinear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88720">
                <a:tc>
                  <a:txBody>
                    <a:bodyPr/>
                    <a:lstStyle/>
                    <a:p>
                      <a:pPr algn="l"/>
                      <a:r>
                        <a:rPr sz="2300" b="0" dirty="0" err="1">
                          <a:solidFill>
                            <a:srgbClr val="232B34"/>
                          </a:solidFill>
                          <a:latin typeface="Yu Gothic"/>
                        </a:rPr>
                        <a:t>Sunface</a:t>
                      </a:r>
                      <a:r>
                        <a:rPr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 T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physical / </a:t>
                      </a:r>
                      <a:r>
                        <a:rPr lang="en-US"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not follow perfectly</a:t>
                      </a:r>
                      <a:endParaRPr sz="2300" b="0" dirty="0">
                        <a:solidFill>
                          <a:srgbClr val="232B34"/>
                        </a:solidFill>
                        <a:latin typeface="Yu Gothic"/>
                      </a:endParaRP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88720">
                <a:tc>
                  <a:txBody>
                    <a:bodyPr/>
                    <a:lstStyle/>
                    <a:p>
                      <a:pPr algn="l"/>
                      <a:r>
                        <a:rPr lang="en-US" sz="2300" b="0" dirty="0" err="1">
                          <a:solidFill>
                            <a:srgbClr val="232B34"/>
                          </a:solidFill>
                          <a:latin typeface="Yu Gothic"/>
                        </a:rPr>
                        <a:t>Sunface</a:t>
                      </a:r>
                      <a:r>
                        <a:rPr lang="en-US"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 </a:t>
                      </a:r>
                      <a:r>
                        <a:rPr lang="en-US" altLang="ja-JP"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ΔT </a:t>
                      </a:r>
                      <a:endParaRPr sz="2300" b="0" dirty="0">
                        <a:solidFill>
                          <a:srgbClr val="232B34"/>
                        </a:solidFill>
                        <a:latin typeface="Yu Gothic"/>
                      </a:endParaRP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300" b="0" dirty="0">
                          <a:solidFill>
                            <a:srgbClr val="232B34"/>
                          </a:solidFill>
                          <a:latin typeface="Yu Gothic"/>
                        </a:rPr>
                        <a:t>physical / not explain DC offset</a:t>
                      </a:r>
                      <a:endParaRPr sz="2300" b="0" dirty="0">
                        <a:solidFill>
                          <a:srgbClr val="232B34"/>
                        </a:solidFill>
                        <a:latin typeface="Yu Gothic"/>
                      </a:endParaRP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2857465"/>
                  </a:ext>
                </a:extLst>
              </a:tr>
              <a:tr h="1188720">
                <a:tc>
                  <a:txBody>
                    <a:bodyPr/>
                    <a:lstStyle/>
                    <a:p>
                      <a:pPr algn="l"/>
                      <a:r>
                        <a:rPr sz="2300" b="1">
                          <a:solidFill>
                            <a:srgbClr val="232B34"/>
                          </a:solidFill>
                          <a:latin typeface="Yu Gothic"/>
                        </a:rPr>
                        <a:t>Hierarchical ΔT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300" b="1" dirty="0">
                          <a:solidFill>
                            <a:srgbClr val="232B34"/>
                          </a:solidFill>
                          <a:latin typeface="Yu Gothic"/>
                        </a:rPr>
                        <a:t>Physical </a:t>
                      </a:r>
                      <a:r>
                        <a:rPr sz="2300" b="1" dirty="0">
                          <a:solidFill>
                            <a:srgbClr val="232B34"/>
                          </a:solidFill>
                          <a:latin typeface="Yu Gothic"/>
                        </a:rPr>
                        <a:t>dynamics + case DC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954913" y="11862122"/>
            <a:ext cx="18458707" cy="547842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r>
              <a:rPr lang="ja-JP" altLang="en-US" sz="3200" b="1" dirty="0"/>
              <a:t>→ 試行錯誤の結果、</a:t>
            </a:r>
            <a:r>
              <a:rPr lang="ja-JP" altLang="ja-JP" sz="3200" b="1" dirty="0"/>
              <a:t>太陽面–反対面温度差 ΔT とケース</a:t>
            </a:r>
            <a:r>
              <a:rPr lang="ja-JP" altLang="en-US" sz="3200" b="1" dirty="0"/>
              <a:t>間差分の寄与</a:t>
            </a:r>
            <a:r>
              <a:rPr lang="ja-JP" altLang="ja-JP" sz="3200" b="1" dirty="0"/>
              <a:t>を分離する階層型モデル</a:t>
            </a:r>
            <a:r>
              <a:rPr lang="ja-JP" altLang="en-US" sz="3200" b="1" dirty="0"/>
              <a:t>を採用</a:t>
            </a:r>
            <a:endParaRPr lang="ja-JP" altLang="ja-JP" sz="3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Hierarchical ΔT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15355486" cy="1040285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endParaRPr lang="en-US" sz="3200" b="1" dirty="0">
              <a:solidFill>
                <a:srgbClr val="082B52"/>
              </a:solidFill>
              <a:latin typeface="Yu Gothic"/>
            </a:endParaRPr>
          </a:p>
          <a:p>
            <a:r>
              <a:rPr lang="ja-JP" altLang="en-US" sz="3200" b="1" dirty="0"/>
              <a:t>採用の過程：</a:t>
            </a:r>
            <a:r>
              <a:rPr lang="ja-JP" altLang="ja-JP" sz="3200" b="1" dirty="0"/>
              <a:t>観察結果から、熱LOSを「軌道内時変」と「ケース間DC」に分ける</a:t>
            </a:r>
            <a:endParaRPr lang="ja-JP" altLang="ja-JP" sz="3200" dirty="0"/>
          </a:p>
        </p:txBody>
      </p:sp>
      <p:sp>
        <p:nvSpPr>
          <p:cNvPr id="4" name="TextBox 3"/>
          <p:cNvSpPr txBox="1"/>
          <p:nvPr/>
        </p:nvSpPr>
        <p:spPr>
          <a:xfrm>
            <a:off x="23444052" y="12819888"/>
            <a:ext cx="330348" cy="332399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lang="en-US" dirty="0">
                <a:solidFill>
                  <a:srgbClr val="666F79"/>
                </a:solidFill>
                <a:latin typeface="Yu Gothic"/>
              </a:rPr>
              <a:t>20</a:t>
            </a:r>
            <a:endParaRPr sz="1800" b="0" dirty="0">
              <a:solidFill>
                <a:srgbClr val="666F79"/>
              </a:solidFill>
              <a:latin typeface="Yu Gothic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2455262" y="3657599"/>
            <a:ext cx="9101198" cy="5389123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B7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2729581" y="4069079"/>
            <a:ext cx="8342765" cy="547842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ctr"/>
            <a:r>
              <a:rPr lang="ja-JP" altLang="en-US" sz="3200" b="1" dirty="0"/>
              <a:t>各ケースの</a:t>
            </a:r>
            <a:r>
              <a:rPr lang="ja-JP" altLang="ja-JP" sz="3200" b="1" dirty="0"/>
              <a:t>軌道内で変わる成分</a:t>
            </a:r>
            <a:endParaRPr sz="3200" b="1" dirty="0">
              <a:solidFill>
                <a:srgbClr val="1B74AA"/>
              </a:solidFill>
              <a:latin typeface="Yu Gothic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13461134" y="3657600"/>
            <a:ext cx="9729605" cy="538912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EC94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4138510" y="3978497"/>
            <a:ext cx="7917377" cy="1040285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ctr"/>
            <a:r>
              <a:rPr lang="ja-JP" altLang="ja-JP" sz="3200" b="1" dirty="0">
                <a:solidFill>
                  <a:srgbClr val="FFC000"/>
                </a:solidFill>
              </a:rPr>
              <a:t>ケースごとに変わる成分</a:t>
            </a:r>
            <a:endParaRPr lang="ja-JP" altLang="ja-JP" sz="3200" dirty="0">
              <a:solidFill>
                <a:srgbClr val="FFC000"/>
              </a:solidFill>
            </a:endParaRPr>
          </a:p>
          <a:p>
            <a:pPr algn="ctr"/>
            <a:endParaRPr sz="3200" b="1" dirty="0">
              <a:solidFill>
                <a:srgbClr val="EC9427"/>
              </a:solidFill>
              <a:latin typeface="Yu Gothic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2">
                <a:extLst>
                  <a:ext uri="{FF2B5EF4-FFF2-40B4-BE49-F238E27FC236}">
                    <a16:creationId xmlns:a16="http://schemas.microsoft.com/office/drawing/2014/main" id="{01774876-A617-FBC3-32CA-D647D3A87AE9}"/>
                  </a:ext>
                </a:extLst>
              </p:cNvPr>
              <p:cNvSpPr txBox="1"/>
              <p:nvPr/>
            </p:nvSpPr>
            <p:spPr>
              <a:xfrm>
                <a:off x="2822869" y="4966846"/>
                <a:ext cx="8156207" cy="1532727"/>
              </a:xfrm>
              <a:prstGeom prst="rect">
                <a:avLst/>
              </a:prstGeom>
              <a:noFill/>
            </p:spPr>
            <p:txBody>
              <a:bodyPr wrap="none" lIns="36576" tIns="27432" rIns="36576" bIns="27432" anchor="t">
                <a:spAutoFit/>
              </a:bodyPr>
              <a:lstStyle/>
              <a:p>
                <a:r>
                  <a:rPr lang="en-US" altLang="ja-JP" sz="3200" b="1" dirty="0">
                    <a:solidFill>
                      <a:srgbClr val="1B74AA"/>
                    </a:solidFill>
                    <a:latin typeface="Yu Gothic"/>
                  </a:rPr>
                  <a:t>• </a:t>
                </a:r>
                <a:r>
                  <a:rPr lang="en-US" altLang="ja-JP" sz="3200" dirty="0">
                    <a:solidFill>
                      <a:srgbClr val="232B34"/>
                    </a:solidFill>
                    <a:latin typeface="Yu Gothic"/>
                  </a:rPr>
                  <a:t>TD</a:t>
                </a:r>
                <a:r>
                  <a:rPr lang="ja-JP" altLang="en-US" sz="3200" dirty="0">
                    <a:solidFill>
                      <a:srgbClr val="232B34"/>
                    </a:solidFill>
                    <a:latin typeface="Yu Gothic"/>
                  </a:rPr>
                  <a:t>太陽面 </a:t>
                </a:r>
                <a:r>
                  <a:rPr lang="en-US" altLang="ja-JP" sz="3200" dirty="0">
                    <a:solidFill>
                      <a:srgbClr val="232B34"/>
                    </a:solidFill>
                    <a:latin typeface="Yu Gothic"/>
                  </a:rPr>
                  <a:t>– </a:t>
                </a:r>
                <a:r>
                  <a:rPr lang="ja-JP" altLang="en-US" sz="3200" dirty="0">
                    <a:solidFill>
                      <a:srgbClr val="232B34"/>
                    </a:solidFill>
                    <a:latin typeface="Yu Gothic"/>
                  </a:rPr>
                  <a:t>反対面温度差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3200" i="0" dirty="0" smtClean="0">
                        <a:solidFill>
                          <a:srgbClr val="232B34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altLang="ja-JP" sz="3200" i="1" dirty="0" smtClean="0">
                        <a:solidFill>
                          <a:srgbClr val="232B34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altLang="ja-JP" sz="3200" i="1" dirty="0" smtClean="0">
                        <a:solidFill>
                          <a:srgbClr val="232B34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ja-JP" sz="3200" i="1" dirty="0" smtClean="0">
                        <a:solidFill>
                          <a:srgbClr val="232B34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ja-JP" sz="3200" i="1" dirty="0" smtClean="0">
                        <a:solidFill>
                          <a:srgbClr val="232B34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ja-JP" sz="3200" dirty="0">
                  <a:solidFill>
                    <a:srgbClr val="232B34"/>
                  </a:solidFill>
                  <a:latin typeface="Yu Gothic"/>
                </a:endParaRPr>
              </a:p>
              <a:p>
                <a:r>
                  <a:rPr lang="en-US" altLang="ja-JP" sz="3200" b="1" dirty="0">
                    <a:solidFill>
                      <a:srgbClr val="1B74AA"/>
                    </a:solidFill>
                    <a:latin typeface="Yu Gothic"/>
                  </a:rPr>
                  <a:t>• </a:t>
                </a:r>
                <a:r>
                  <a:rPr lang="en-US" altLang="ja-JP" sz="3200" dirty="0">
                    <a:solidFill>
                      <a:srgbClr val="232B34"/>
                    </a:solidFill>
                    <a:latin typeface="Yu Gothic"/>
                  </a:rPr>
                  <a:t>T</a:t>
                </a:r>
                <a:r>
                  <a:rPr lang="ja-JP" altLang="en-US" sz="3200" dirty="0">
                    <a:solidFill>
                      <a:srgbClr val="232B34"/>
                    </a:solidFill>
                    <a:latin typeface="Yu Gothic"/>
                  </a:rPr>
                  <a:t>太陽指向面で支配軸・符号が決まる</a:t>
                </a:r>
                <a:endParaRPr lang="en-US" altLang="ja-JP" sz="3200" dirty="0">
                  <a:solidFill>
                    <a:srgbClr val="232B34"/>
                  </a:solidFill>
                  <a:latin typeface="Yu Gothic"/>
                </a:endParaRPr>
              </a:p>
              <a:p>
                <a:r>
                  <a:rPr lang="en-US" altLang="ja-JP" sz="3200" b="1" dirty="0">
                    <a:solidFill>
                      <a:srgbClr val="1B74AA"/>
                    </a:solidFill>
                    <a:latin typeface="Yu Gothic"/>
                  </a:rPr>
                  <a:t>• </a:t>
                </a:r>
                <a:r>
                  <a:rPr lang="ja-JP" altLang="en-US" sz="3200" b="1" dirty="0">
                    <a:solidFill>
                      <a:srgbClr val="232B34"/>
                    </a:solidFill>
                    <a:latin typeface="Yu Gothic"/>
                  </a:rPr>
                  <a:t>温度差に対する感度はケース間で概ね共通</a:t>
                </a:r>
                <a:endParaRPr sz="3200" b="0" dirty="0">
                  <a:solidFill>
                    <a:srgbClr val="232B34"/>
                  </a:solidFill>
                  <a:latin typeface="Yu Gothic"/>
                </a:endParaRPr>
              </a:p>
            </p:txBody>
          </p:sp>
        </mc:Choice>
        <mc:Fallback>
          <p:sp>
            <p:nvSpPr>
              <p:cNvPr id="18" name="TextBox 12">
                <a:extLst>
                  <a:ext uri="{FF2B5EF4-FFF2-40B4-BE49-F238E27FC236}">
                    <a16:creationId xmlns:a16="http://schemas.microsoft.com/office/drawing/2014/main" id="{01774876-A617-FBC3-32CA-D647D3A87A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2869" y="4966846"/>
                <a:ext cx="8156207" cy="1532727"/>
              </a:xfrm>
              <a:prstGeom prst="rect">
                <a:avLst/>
              </a:prstGeom>
              <a:blipFill>
                <a:blip r:embed="rId3"/>
                <a:stretch>
                  <a:fillRect l="-2541" t="-5976" r="-1868" b="-1354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2">
            <a:extLst>
              <a:ext uri="{FF2B5EF4-FFF2-40B4-BE49-F238E27FC236}">
                <a16:creationId xmlns:a16="http://schemas.microsoft.com/office/drawing/2014/main" id="{00194618-F9DA-A636-5ABB-3A3483F2CB95}"/>
              </a:ext>
            </a:extLst>
          </p:cNvPr>
          <p:cNvSpPr txBox="1"/>
          <p:nvPr/>
        </p:nvSpPr>
        <p:spPr>
          <a:xfrm>
            <a:off x="14019096" y="4819433"/>
            <a:ext cx="2821413" cy="1532727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r>
              <a:rPr lang="en-US" altLang="ja-JP" sz="3200" b="1" dirty="0">
                <a:solidFill>
                  <a:srgbClr val="1B74AA"/>
                </a:solidFill>
                <a:latin typeface="Yu Gothic"/>
              </a:rPr>
              <a:t>• </a:t>
            </a:r>
            <a:r>
              <a:rPr lang="ja-JP" altLang="en-US" sz="3200" dirty="0">
                <a:solidFill>
                  <a:srgbClr val="232B34"/>
                </a:solidFill>
                <a:latin typeface="Yu Gothic"/>
              </a:rPr>
              <a:t>内部発熱</a:t>
            </a:r>
            <a:endParaRPr lang="en-US" altLang="ja-JP" sz="3200" dirty="0">
              <a:solidFill>
                <a:srgbClr val="232B34"/>
              </a:solidFill>
              <a:latin typeface="Yu Gothic"/>
            </a:endParaRPr>
          </a:p>
          <a:p>
            <a:r>
              <a:rPr lang="en-US" altLang="ja-JP" sz="3200" b="1" dirty="0">
                <a:solidFill>
                  <a:srgbClr val="1B74AA"/>
                </a:solidFill>
                <a:latin typeface="Yu Gothic"/>
              </a:rPr>
              <a:t>• </a:t>
            </a:r>
            <a:r>
              <a:rPr lang="ja-JP" altLang="en-US" sz="3200" dirty="0">
                <a:solidFill>
                  <a:srgbClr val="232B34"/>
                </a:solidFill>
                <a:latin typeface="Yu Gothic"/>
              </a:rPr>
              <a:t>表面特性</a:t>
            </a:r>
            <a:endParaRPr lang="en-US" altLang="ja-JP" sz="3200" dirty="0">
              <a:solidFill>
                <a:srgbClr val="232B34"/>
              </a:solidFill>
              <a:latin typeface="Yu Gothic"/>
            </a:endParaRPr>
          </a:p>
          <a:p>
            <a:r>
              <a:rPr lang="en-US" altLang="ja-JP" sz="3200" b="1" dirty="0">
                <a:solidFill>
                  <a:srgbClr val="1B74AA"/>
                </a:solidFill>
                <a:latin typeface="Yu Gothic"/>
              </a:rPr>
              <a:t>• </a:t>
            </a:r>
            <a:r>
              <a:rPr lang="ja-JP" altLang="en-US" sz="3200" b="1" dirty="0">
                <a:solidFill>
                  <a:srgbClr val="232B34"/>
                </a:solidFill>
                <a:latin typeface="Yu Gothic"/>
              </a:rPr>
              <a:t>軌道・熱履歴</a:t>
            </a:r>
            <a:endParaRPr sz="3200" b="0" dirty="0">
              <a:solidFill>
                <a:srgbClr val="232B34"/>
              </a:solidFill>
              <a:latin typeface="Yu Gothic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8">
                <a:extLst>
                  <a:ext uri="{FF2B5EF4-FFF2-40B4-BE49-F238E27FC236}">
                    <a16:creationId xmlns:a16="http://schemas.microsoft.com/office/drawing/2014/main" id="{7B8D8841-0F45-0DD0-7E72-5F3A55624ED9}"/>
                  </a:ext>
                </a:extLst>
              </p:cNvPr>
              <p:cNvSpPr txBox="1"/>
              <p:nvPr/>
            </p:nvSpPr>
            <p:spPr>
              <a:xfrm>
                <a:off x="6143577" y="10955488"/>
                <a:ext cx="12912381" cy="1040285"/>
              </a:xfrm>
              <a:prstGeom prst="rect">
                <a:avLst/>
              </a:prstGeom>
              <a:noFill/>
            </p:spPr>
            <p:txBody>
              <a:bodyPr wrap="none" lIns="36576" tIns="27432" rIns="36576" bIns="27432" anchor="t">
                <a:spAutoFit/>
              </a:bodyPr>
              <a:lstStyle/>
              <a:p>
                <a:r>
                  <a:rPr lang="ja-JP" altLang="en-US" sz="3200" b="1" dirty="0"/>
                  <a:t>→ したがって、時変項は</a:t>
                </a:r>
                <a14:m>
                  <m:oMath xmlns:m="http://schemas.openxmlformats.org/officeDocument/2006/math">
                    <m:r>
                      <a:rPr lang="en-US" altLang="ja-JP" sz="3200" b="1" i="1" dirty="0">
                        <a:solidFill>
                          <a:srgbClr val="232B34"/>
                        </a:solidFill>
                        <a:latin typeface="Cambria Math" panose="02040503050406030204" pitchFamily="18" charset="0"/>
                      </a:rPr>
                      <m:t>𝜟</m:t>
                    </m:r>
                    <m:r>
                      <a:rPr lang="en-US" altLang="ja-JP" sz="3200" b="1" i="1" dirty="0">
                        <a:solidFill>
                          <a:srgbClr val="232B34"/>
                        </a:solidFill>
                        <a:latin typeface="Cambria Math" panose="02040503050406030204" pitchFamily="18" charset="0"/>
                      </a:rPr>
                      <m:t>𝑻</m:t>
                    </m:r>
                    <m:r>
                      <a:rPr lang="en-US" altLang="ja-JP" sz="3200" b="1" i="1" dirty="0">
                        <a:solidFill>
                          <a:srgbClr val="232B34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ja-JP" sz="3200" b="1" i="1" dirty="0">
                        <a:solidFill>
                          <a:srgbClr val="232B34"/>
                        </a:solidFill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altLang="ja-JP" sz="3200" b="1" i="1" dirty="0">
                        <a:solidFill>
                          <a:srgbClr val="232B34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ja-JP" altLang="en-US" sz="3200" b="1" dirty="0">
                    <a:solidFill>
                      <a:srgbClr val="232B34"/>
                    </a:solidFill>
                    <a:latin typeface="Yu Gothic"/>
                  </a:rPr>
                  <a:t>、ケース間の差は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3200" b="1" i="1" smtClean="0">
                            <a:solidFill>
                              <a:srgbClr val="232B3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3200" b="1" i="1" smtClean="0">
                            <a:solidFill>
                              <a:srgbClr val="232B34"/>
                            </a:solidFill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en-US" altLang="ja-JP" sz="3200" b="1" i="1" smtClean="0">
                            <a:solidFill>
                              <a:srgbClr val="232B34"/>
                            </a:solidFill>
                            <a:latin typeface="Cambria Math" panose="02040503050406030204" pitchFamily="18" charset="0"/>
                          </a:rPr>
                          <m:t>𝒄𝒂𝒔𝒆</m:t>
                        </m:r>
                      </m:sub>
                    </m:sSub>
                    <m:r>
                      <a:rPr lang="ja-JP" altLang="en-US" sz="3200" b="1" i="1">
                        <a:solidFill>
                          <a:srgbClr val="232B34"/>
                        </a:solidFill>
                        <a:latin typeface="Cambria Math" panose="02040503050406030204" pitchFamily="18" charset="0"/>
                      </a:rPr>
                      <m:t>として</m:t>
                    </m:r>
                  </m:oMath>
                </a14:m>
                <a:r>
                  <a:rPr lang="ja-JP" altLang="en-US" sz="3200" b="1" dirty="0">
                    <a:solidFill>
                      <a:srgbClr val="232B34"/>
                    </a:solidFill>
                    <a:latin typeface="Yu Gothic"/>
                  </a:rPr>
                  <a:t>分離する</a:t>
                </a:r>
                <a:endParaRPr lang="en-US" altLang="ja-JP" sz="3200" b="1" dirty="0">
                  <a:solidFill>
                    <a:srgbClr val="232B34"/>
                  </a:solidFill>
                  <a:latin typeface="Yu Gothic"/>
                </a:endParaRPr>
              </a:p>
              <a:p>
                <a:endParaRPr lang="en-US" altLang="ja-JP" sz="3200" b="1" dirty="0">
                  <a:solidFill>
                    <a:srgbClr val="232B34"/>
                  </a:solidFill>
                  <a:latin typeface="Yu Gothic"/>
                </a:endParaRPr>
              </a:p>
            </p:txBody>
          </p:sp>
        </mc:Choice>
        <mc:Fallback>
          <p:sp>
            <p:nvSpPr>
              <p:cNvPr id="22" name="TextBox 8">
                <a:extLst>
                  <a:ext uri="{FF2B5EF4-FFF2-40B4-BE49-F238E27FC236}">
                    <a16:creationId xmlns:a16="http://schemas.microsoft.com/office/drawing/2014/main" id="{7B8D8841-0F45-0DD0-7E72-5F3A55624E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3577" y="10955488"/>
                <a:ext cx="12912381" cy="1040285"/>
              </a:xfrm>
              <a:prstGeom prst="rect">
                <a:avLst/>
              </a:prstGeom>
              <a:blipFill>
                <a:blip r:embed="rId4"/>
                <a:stretch>
                  <a:fillRect l="-1653" t="-877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B1498A-D134-1DB7-BEEC-89F4ACDAB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E132FC5-CEFF-682E-12E1-776DF31BA0AA}"/>
              </a:ext>
            </a:extLst>
          </p:cNvPr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Hierarchical ΔT model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06BBAA-7C1E-6C59-0838-394848810869}"/>
              </a:ext>
            </a:extLst>
          </p:cNvPr>
          <p:cNvSpPr txBox="1"/>
          <p:nvPr/>
        </p:nvSpPr>
        <p:spPr>
          <a:xfrm>
            <a:off x="1536192" y="1298448"/>
            <a:ext cx="13360965" cy="1040285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endParaRPr lang="en-US" sz="3200" b="1" dirty="0">
              <a:solidFill>
                <a:srgbClr val="082B52"/>
              </a:solidFill>
              <a:latin typeface="Yu Gothic"/>
            </a:endParaRPr>
          </a:p>
          <a:p>
            <a:r>
              <a:rPr lang="ja-JP" altLang="ja-JP" sz="3200" b="1" dirty="0"/>
              <a:t>Level 1では、軌道内変動を面間温度差、ケース差をDCオフセットで表す</a:t>
            </a:r>
            <a:endParaRPr sz="3200" b="1" dirty="0">
              <a:solidFill>
                <a:srgbClr val="082B52"/>
              </a:solidFill>
              <a:latin typeface="Yu Gothic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C37490-C33E-76CF-2AD2-84281E463F88}"/>
              </a:ext>
            </a:extLst>
          </p:cNvPr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21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AE6B36D-D351-9081-078E-979D1A977FE8}"/>
              </a:ext>
            </a:extLst>
          </p:cNvPr>
          <p:cNvSpPr/>
          <p:nvPr/>
        </p:nvSpPr>
        <p:spPr>
          <a:xfrm>
            <a:off x="1280160" y="2880360"/>
            <a:ext cx="21762720" cy="2468880"/>
          </a:xfrm>
          <a:prstGeom prst="roundRect">
            <a:avLst/>
          </a:prstGeom>
          <a:solidFill>
            <a:srgbClr val="EBF6FB"/>
          </a:solidFill>
          <a:ln w="16510">
            <a:solidFill>
              <a:srgbClr val="5BB5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9CF6A0-96D2-1F8C-2CA8-187529577BA5}"/>
              </a:ext>
            </a:extLst>
          </p:cNvPr>
          <p:cNvSpPr txBox="1"/>
          <p:nvPr/>
        </p:nvSpPr>
        <p:spPr>
          <a:xfrm>
            <a:off x="1828800" y="3611880"/>
            <a:ext cx="20665440" cy="8229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900" b="1" dirty="0" err="1">
                <a:solidFill>
                  <a:srgbClr val="082B52"/>
                </a:solidFill>
                <a:latin typeface="Yu Gothic"/>
              </a:rPr>
              <a:t>θdom</a:t>
            </a:r>
            <a:r>
              <a:rPr sz="3900" b="1" dirty="0">
                <a:solidFill>
                  <a:srgbClr val="082B52"/>
                </a:solidFill>
                <a:latin typeface="Yu Gothic"/>
              </a:rPr>
              <a:t>(t) ≈ </a:t>
            </a:r>
            <a:r>
              <a:rPr sz="3900" b="1" dirty="0" err="1">
                <a:solidFill>
                  <a:srgbClr val="082B52"/>
                </a:solidFill>
                <a:latin typeface="Yu Gothic"/>
              </a:rPr>
              <a:t>bcase</a:t>
            </a:r>
            <a:r>
              <a:rPr sz="3900" b="1" dirty="0">
                <a:solidFill>
                  <a:srgbClr val="082B52"/>
                </a:solidFill>
                <a:latin typeface="Yu Gothic"/>
              </a:rPr>
              <a:t> + </a:t>
            </a:r>
            <a:r>
              <a:rPr sz="3900" b="1" dirty="0" err="1">
                <a:solidFill>
                  <a:srgbClr val="082B52"/>
                </a:solidFill>
                <a:latin typeface="Yu Gothic"/>
              </a:rPr>
              <a:t>asunface</a:t>
            </a:r>
            <a:r>
              <a:rPr sz="3900" b="1" dirty="0">
                <a:solidFill>
                  <a:srgbClr val="082B52"/>
                </a:solidFill>
                <a:latin typeface="Yu Gothic"/>
              </a:rPr>
              <a:t> · ΔT(t)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4E91D8-1988-F135-C79D-012F2C7E199F}"/>
              </a:ext>
            </a:extLst>
          </p:cNvPr>
          <p:cNvSpPr txBox="1"/>
          <p:nvPr/>
        </p:nvSpPr>
        <p:spPr>
          <a:xfrm>
            <a:off x="4754880" y="5897880"/>
            <a:ext cx="14904720" cy="5943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900" b="1">
                <a:solidFill>
                  <a:srgbClr val="1B74AA"/>
                </a:solidFill>
                <a:latin typeface="Yu Gothic"/>
              </a:rPr>
              <a:t>ΔT(t) = Tsunface(t) − Topposite(t)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BDC2FA1-7516-AF2E-394D-574ACF7DA736}"/>
              </a:ext>
            </a:extLst>
          </p:cNvPr>
          <p:cNvSpPr/>
          <p:nvPr/>
        </p:nvSpPr>
        <p:spPr>
          <a:xfrm>
            <a:off x="1463040" y="7315200"/>
            <a:ext cx="6583680" cy="3200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B7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563C52-2DD6-EEAB-89C3-C3793595F8A1}"/>
              </a:ext>
            </a:extLst>
          </p:cNvPr>
          <p:cNvSpPr txBox="1"/>
          <p:nvPr/>
        </p:nvSpPr>
        <p:spPr>
          <a:xfrm>
            <a:off x="1737360" y="7726679"/>
            <a:ext cx="6035040" cy="54864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800" b="1">
                <a:solidFill>
                  <a:srgbClr val="1B74AA"/>
                </a:solidFill>
                <a:latin typeface="Yu Gothic"/>
              </a:rPr>
              <a:t>a(sun)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94D195-5AC4-9EAF-E1D4-8CFD8D03EBBB}"/>
              </a:ext>
            </a:extLst>
          </p:cNvPr>
          <p:cNvSpPr txBox="1"/>
          <p:nvPr/>
        </p:nvSpPr>
        <p:spPr>
          <a:xfrm>
            <a:off x="1828800" y="8641080"/>
            <a:ext cx="5852160" cy="11887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500" b="0">
                <a:solidFill>
                  <a:srgbClr val="232B34"/>
                </a:solidFill>
                <a:latin typeface="Yu Gothic"/>
              </a:rPr>
              <a:t>差動膨張・曲げ感度
面ごとに共有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99FF712A-A518-82E8-7D7C-FB6543EC27BC}"/>
              </a:ext>
            </a:extLst>
          </p:cNvPr>
          <p:cNvSpPr/>
          <p:nvPr/>
        </p:nvSpPr>
        <p:spPr>
          <a:xfrm>
            <a:off x="8869680" y="7315200"/>
            <a:ext cx="6583680" cy="3200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EC94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0338C20-CC3D-53A2-DDD6-C3FA8C6CD90C}"/>
              </a:ext>
            </a:extLst>
          </p:cNvPr>
          <p:cNvSpPr txBox="1"/>
          <p:nvPr/>
        </p:nvSpPr>
        <p:spPr>
          <a:xfrm>
            <a:off x="9144000" y="7726679"/>
            <a:ext cx="6035040" cy="54864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800" b="1">
                <a:solidFill>
                  <a:srgbClr val="EC9427"/>
                </a:solidFill>
                <a:latin typeface="Yu Gothic"/>
              </a:rPr>
              <a:t>b_case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6C1A6A-C13A-DA49-FEA6-1393DCCF2BBD}"/>
              </a:ext>
            </a:extLst>
          </p:cNvPr>
          <p:cNvSpPr txBox="1"/>
          <p:nvPr/>
        </p:nvSpPr>
        <p:spPr>
          <a:xfrm>
            <a:off x="9235440" y="8641080"/>
            <a:ext cx="5852160" cy="11887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500" b="0">
                <a:solidFill>
                  <a:srgbClr val="232B34"/>
                </a:solidFill>
                <a:latin typeface="Yu Gothic"/>
              </a:rPr>
              <a:t>ΔTに入りきらない
ケース内定数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95A4E42-AE1F-F8B8-A7C8-8D643A29AC71}"/>
              </a:ext>
            </a:extLst>
          </p:cNvPr>
          <p:cNvSpPr/>
          <p:nvPr/>
        </p:nvSpPr>
        <p:spPr>
          <a:xfrm>
            <a:off x="16276320" y="7315200"/>
            <a:ext cx="6583680" cy="3200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F5CEC31-2070-52D1-E5A1-354CA8687420}"/>
              </a:ext>
            </a:extLst>
          </p:cNvPr>
          <p:cNvSpPr txBox="1"/>
          <p:nvPr/>
        </p:nvSpPr>
        <p:spPr>
          <a:xfrm>
            <a:off x="16550640" y="7726679"/>
            <a:ext cx="6035040" cy="54864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800" b="1">
                <a:solidFill>
                  <a:srgbClr val="239571"/>
                </a:solidFill>
                <a:latin typeface="Yu Gothic"/>
              </a:rPr>
              <a:t>dominant axis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24DD618-4F56-C1E8-95A4-7C8FFA3DB2AB}"/>
              </a:ext>
            </a:extLst>
          </p:cNvPr>
          <p:cNvSpPr txBox="1"/>
          <p:nvPr/>
        </p:nvSpPr>
        <p:spPr>
          <a:xfrm>
            <a:off x="16642080" y="8641080"/>
            <a:ext cx="5852160" cy="11887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500" b="0">
                <a:solidFill>
                  <a:srgbClr val="232B34"/>
                </a:solidFill>
                <a:latin typeface="Yu Gothic"/>
              </a:rPr>
              <a:t>MX/PX→X
MY/PY→Y</a:t>
            </a:r>
          </a:p>
        </p:txBody>
      </p:sp>
    </p:spTree>
    <p:extLst>
      <p:ext uri="{BB962C8B-B14F-4D97-AF65-F5344CB8AC3E}">
        <p14:creationId xmlns:p14="http://schemas.microsoft.com/office/powerpoint/2010/main" val="34623773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Hierarchical ΔT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Level 2ではケースDCを太陽面と発熱モードで説明する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22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2880360"/>
            <a:ext cx="21762720" cy="2468880"/>
          </a:xfrm>
          <a:prstGeom prst="roundRect">
            <a:avLst/>
          </a:prstGeom>
          <a:solidFill>
            <a:srgbClr val="FEF5E6"/>
          </a:solidFill>
          <a:ln w="16510">
            <a:solidFill>
              <a:srgbClr val="EC94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737360" y="3611880"/>
            <a:ext cx="20848320" cy="8229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600" b="1">
                <a:solidFill>
                  <a:srgbClr val="082B52"/>
                </a:solidFill>
                <a:latin typeface="Yu Gothic"/>
              </a:rPr>
              <a:t>bcase ≈ b0(sunface) + cPROP IPROP + cPCDU IPCDU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828800" y="6217920"/>
          <a:ext cx="206654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32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32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2400" b="1">
                          <a:solidFill>
                            <a:srgbClr val="FFFFFF"/>
                          </a:solidFill>
                          <a:latin typeface="Yu Gothic"/>
                        </a:rPr>
                        <a:t>Case-dependent input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Yu Gothic"/>
                        </a:rPr>
                        <a:t>Cross-case fixed parameter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2400" b="0">
                          <a:solidFill>
                            <a:srgbClr val="232B34"/>
                          </a:solidFill>
                          <a:latin typeface="Yu Gothic"/>
                        </a:rPr>
                        <a:t>ΔT(t) timeseries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232B34"/>
                          </a:solidFill>
                          <a:latin typeface="Yu Gothic"/>
                        </a:rPr>
                        <a:t>a(MX/MY/PX/PY) ×4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2400" b="0">
                          <a:solidFill>
                            <a:srgbClr val="232B34"/>
                          </a:solidFill>
                          <a:latin typeface="Yu Gothic"/>
                        </a:rPr>
                        <a:t>sun_face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232B34"/>
                          </a:solidFill>
                          <a:latin typeface="Yu Gothic"/>
                        </a:rPr>
                        <a:t>b0(MX/MY/PX/PY) ×4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2400" b="0">
                          <a:solidFill>
                            <a:srgbClr val="232B34"/>
                          </a:solidFill>
                          <a:latin typeface="Yu Gothic"/>
                        </a:rPr>
                        <a:t>PROP/PCDU ON/OFF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232B34"/>
                          </a:solidFill>
                          <a:latin typeface="Yu Gothic"/>
                        </a:rPr>
                        <a:t>cPROP, cPCDU ×2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754880" y="10652760"/>
            <a:ext cx="14904720" cy="64008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000" b="1">
                <a:solidFill>
                  <a:srgbClr val="1B74AA"/>
                </a:solidFill>
                <a:latin typeface="Yu Gothic"/>
              </a:rPr>
              <a:t>合計10個のスカラー係数で21ケースを表現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Hierarchical ΔT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先頭1軌道で時変、ケース横断LOOでDCを評価する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23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2926080"/>
            <a:ext cx="4173321" cy="1234440"/>
          </a:xfrm>
          <a:prstGeom prst="rect">
            <a:avLst/>
          </a:prstGeom>
          <a:solidFill>
            <a:srgbClr val="082B52"/>
          </a:solidFill>
          <a:ln w="16510">
            <a:solidFill>
              <a:srgbClr val="082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78992" y="3035808"/>
            <a:ext cx="4027017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Per case
first orbit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234025" y="3543300"/>
            <a:ext cx="274320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563209" y="2926080"/>
            <a:ext cx="4173321" cy="1234440"/>
          </a:xfrm>
          <a:prstGeom prst="rect">
            <a:avLst/>
          </a:prstGeom>
          <a:solidFill>
            <a:srgbClr val="1B74AA"/>
          </a:solidFill>
          <a:ln w="16510">
            <a:solidFill>
              <a:srgbClr val="1B7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36361" y="3035808"/>
            <a:ext cx="4027017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Fit aemp,bemp
Ridge≈OLS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791395" y="3543300"/>
            <a:ext cx="274320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10120579" y="2926080"/>
            <a:ext cx="4173321" cy="1234440"/>
          </a:xfrm>
          <a:prstGeom prst="rect">
            <a:avLst/>
          </a:prstGeom>
          <a:solidFill>
            <a:srgbClr val="239571"/>
          </a:solidFill>
          <a:ln w="1651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193731" y="3035808"/>
            <a:ext cx="4027017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Median aemp
per face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348764" y="3543300"/>
            <a:ext cx="274320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14677948" y="2926080"/>
            <a:ext cx="4173321" cy="1234440"/>
          </a:xfrm>
          <a:prstGeom prst="rect">
            <a:avLst/>
          </a:prstGeom>
          <a:solidFill>
            <a:srgbClr val="EC9427"/>
          </a:solidFill>
          <a:ln w="16510">
            <a:solidFill>
              <a:srgbClr val="EC94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4751100" y="3035808"/>
            <a:ext cx="4027017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Level-2 fit
across cases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8906134" y="3543300"/>
            <a:ext cx="274320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9235318" y="2926080"/>
            <a:ext cx="4173321" cy="1234440"/>
          </a:xfrm>
          <a:prstGeom prst="rect">
            <a:avLst/>
          </a:prstGeom>
          <a:solidFill>
            <a:srgbClr val="5D4084"/>
          </a:solidFill>
          <a:ln w="16510">
            <a:solidFill>
              <a:srgbClr val="5D40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9308470" y="3035808"/>
            <a:ext cx="4027017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LOO bpred
next 2 orbits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645920" y="5577840"/>
          <a:ext cx="210312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961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Layer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Train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Test / validation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Level 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first orbit / case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next 2 orbits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Level 2 b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other 20 cases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leave-one-case-out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Shared a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median of all aemp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not full LOO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0" name="Rounded Rectangle 19"/>
          <p:cNvSpPr/>
          <p:nvPr/>
        </p:nvSpPr>
        <p:spPr>
          <a:xfrm>
            <a:off x="2011680" y="10149840"/>
            <a:ext cx="20299680" cy="1234440"/>
          </a:xfrm>
          <a:prstGeom prst="roundRect">
            <a:avLst/>
          </a:prstGeom>
          <a:solidFill>
            <a:srgbClr val="FDEFF0"/>
          </a:solidFill>
          <a:ln w="16510">
            <a:solidFill>
              <a:srgbClr val="D03B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468880" y="10497312"/>
            <a:ext cx="19385280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600" b="1">
                <a:solidFill>
                  <a:srgbClr val="D03B46"/>
                </a:solidFill>
                <a:latin typeface="Yu Gothic"/>
              </a:rPr>
              <a:t>同一基本構造の感度ケース：別機体への汎化を示す評価ではない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Hierarchical ΔT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共有感度 a は21ケース追加後も ±28–31 µrad/°Cで安定する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2743200"/>
            <a:ext cx="14813280" cy="8046720"/>
          </a:xfrm>
          <a:prstGeom prst="rect">
            <a:avLst/>
          </a:prstGeom>
          <a:noFill/>
          <a:ln w="1270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bcase_a_emp_by_sunf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5291" y="2743200"/>
            <a:ext cx="13794377" cy="804672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6459200" y="2926080"/>
          <a:ext cx="6583679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50976">
                <a:tc>
                  <a:txBody>
                    <a:bodyPr/>
                    <a:lstStyle/>
                    <a:p>
                      <a:pPr algn="l"/>
                      <a:r>
                        <a:rPr sz="2400" b="1">
                          <a:solidFill>
                            <a:srgbClr val="FFFFFF"/>
                          </a:solidFill>
                          <a:latin typeface="Yu Gothic"/>
                        </a:rPr>
                        <a:t>Sun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Yu Gothic"/>
                        </a:rPr>
                        <a:t>a_shared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 algn="l"/>
                      <a:r>
                        <a:rPr sz="2400" b="0">
                          <a:solidFill>
                            <a:srgbClr val="232B34"/>
                          </a:solidFill>
                          <a:latin typeface="Yu Gothic"/>
                        </a:rPr>
                        <a:t>MX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232B34"/>
                          </a:solidFill>
                          <a:latin typeface="Yu Gothic"/>
                        </a:rPr>
                        <a:t>+30.6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 algn="l"/>
                      <a:r>
                        <a:rPr sz="2400" b="0">
                          <a:solidFill>
                            <a:srgbClr val="232B34"/>
                          </a:solidFill>
                          <a:latin typeface="Yu Gothic"/>
                        </a:rPr>
                        <a:t>MY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232B34"/>
                          </a:solidFill>
                          <a:latin typeface="Yu Gothic"/>
                        </a:rPr>
                        <a:t>+28.6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 algn="l"/>
                      <a:r>
                        <a:rPr sz="2400" b="0">
                          <a:solidFill>
                            <a:srgbClr val="232B34"/>
                          </a:solidFill>
                          <a:latin typeface="Yu Gothic"/>
                        </a:rPr>
                        <a:t>PX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232B34"/>
                          </a:solidFill>
                          <a:latin typeface="Yu Gothic"/>
                        </a:rPr>
                        <a:t>−28.1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 algn="l"/>
                      <a:r>
                        <a:rPr sz="2400" b="0">
                          <a:solidFill>
                            <a:srgbClr val="232B34"/>
                          </a:solidFill>
                          <a:latin typeface="Yu Gothic"/>
                        </a:rPr>
                        <a:t>PY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232B34"/>
                          </a:solidFill>
                          <a:latin typeface="Yu Gothic"/>
                        </a:rPr>
                        <a:t>−28.7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16459200" y="8229600"/>
            <a:ext cx="6583680" cy="2194560"/>
          </a:xfrm>
          <a:prstGeom prst="roundRect">
            <a:avLst/>
          </a:prstGeom>
          <a:solidFill>
            <a:srgbClr val="EAF8F1"/>
          </a:solidFill>
          <a:ln w="1651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6824960" y="8641080"/>
            <a:ext cx="5852160" cy="11887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600" b="1">
                <a:solidFill>
                  <a:srgbClr val="239571"/>
                </a:solidFill>
                <a:latin typeface="Yu Gothic"/>
              </a:rPr>
              <a:t>事前解析・熱真空試験で
固定できる可能性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Hierarchical ΔT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ケースDC b は太陽面＋発熱フラグで LOO RMSE 3.8 µradとなる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743200"/>
            <a:ext cx="14630400" cy="7955279"/>
          </a:xfrm>
          <a:prstGeom prst="rect">
            <a:avLst/>
          </a:prstGeom>
          <a:noFill/>
          <a:ln w="1270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bcase_b_emp_vs_b_p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1877" y="2743200"/>
            <a:ext cx="13855445" cy="7955279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6093440" y="2880360"/>
          <a:ext cx="6949439" cy="612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75211">
                <a:tc>
                  <a:txBody>
                    <a:bodyPr/>
                    <a:lstStyle/>
                    <a:p>
                      <a:pPr algn="l"/>
                      <a:r>
                        <a:rPr sz="2200" b="1">
                          <a:solidFill>
                            <a:srgbClr val="FFFFFF"/>
                          </a:solidFill>
                          <a:latin typeface="Yu Gothic"/>
                        </a:rPr>
                        <a:t>Feature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Yu Gothic"/>
                        </a:rPr>
                        <a:t>µrad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75211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b0_MX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+15.7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75211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b0_MY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+2.8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75211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b0_PX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−12.0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75211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b0_PY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−24.0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75211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c_PROP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−22.9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875214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c_PCDU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−10.2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16184880" y="9372600"/>
            <a:ext cx="6766560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6276320" y="9500616"/>
            <a:ext cx="6583680" cy="56692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400" b="1">
                <a:solidFill>
                  <a:srgbClr val="239571"/>
                </a:solidFill>
                <a:latin typeface="Yu Gothic"/>
              </a:rPr>
              <a:t>3.80 µrad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76320" y="10177272"/>
            <a:ext cx="6583680" cy="3657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1900" b="0">
                <a:solidFill>
                  <a:srgbClr val="666F79"/>
                </a:solidFill>
                <a:latin typeface="Yu Gothic"/>
              </a:rPr>
              <a:t>LOO b RMSE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Hierarchical ΔT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標準ケースは数µradまで予測し、半電力ケースでDCずれが残る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26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743200"/>
            <a:ext cx="11064240" cy="7772400"/>
          </a:xfrm>
          <a:prstGeom prst="rect">
            <a:avLst/>
          </a:prstGeom>
          <a:noFill/>
          <a:ln w="1270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case08_bcase_true_vs_p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5882" y="2743200"/>
            <a:ext cx="10201275" cy="7772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2390120" y="2743200"/>
            <a:ext cx="11064240" cy="7772400"/>
          </a:xfrm>
          <a:prstGeom prst="rect">
            <a:avLst/>
          </a:prstGeom>
          <a:noFill/>
          <a:ln w="1270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case22_bcase_true_vs_p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21602" y="2743200"/>
            <a:ext cx="10201275" cy="7772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60320" y="10744200"/>
            <a:ext cx="7863840" cy="45720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200" b="1">
                <a:solidFill>
                  <a:srgbClr val="239571"/>
                </a:solidFill>
                <a:latin typeface="Yu Gothic"/>
              </a:rPr>
              <a:t>Case 08: standard / large swing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0" y="10744200"/>
            <a:ext cx="6858000" cy="45720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200" b="1">
                <a:solidFill>
                  <a:srgbClr val="EC9427"/>
                </a:solidFill>
                <a:latin typeface="Yu Gothic"/>
              </a:rPr>
              <a:t>Case 22: PROP 12.5 W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Hierarchical ΔT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生LOS数百µradに対し、LOO test残差は平均約5.5 µradとなる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27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743200"/>
            <a:ext cx="16733520" cy="8046720"/>
          </a:xfrm>
          <a:prstGeom prst="rect">
            <a:avLst/>
          </a:prstGeom>
          <a:noFill/>
          <a:ln w="1270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bcase_raw_vs_model_rm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8760" y="2743200"/>
            <a:ext cx="15544800" cy="8046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18105120" y="3108960"/>
            <a:ext cx="4846320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B7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8196560" y="3236976"/>
            <a:ext cx="4663440" cy="56692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400" b="1">
                <a:solidFill>
                  <a:srgbClr val="1B74AA"/>
                </a:solidFill>
                <a:latin typeface="Yu Gothic"/>
              </a:rPr>
              <a:t>615 µrad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96560" y="3913632"/>
            <a:ext cx="4663440" cy="3657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1900" b="0">
                <a:solidFill>
                  <a:srgbClr val="666F79"/>
                </a:solidFill>
                <a:latin typeface="Yu Gothic"/>
              </a:rPr>
              <a:t>median raw RMS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105120" y="5303520"/>
            <a:ext cx="4846320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8196560" y="5431536"/>
            <a:ext cx="4663440" cy="56692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400" b="1">
                <a:solidFill>
                  <a:srgbClr val="239571"/>
                </a:solidFill>
                <a:latin typeface="Yu Gothic"/>
              </a:rPr>
              <a:t>5.5 µrad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196560" y="6108192"/>
            <a:ext cx="4663440" cy="3657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1900" b="0">
                <a:solidFill>
                  <a:srgbClr val="666F79"/>
                </a:solidFill>
                <a:latin typeface="Yu Gothic"/>
              </a:rPr>
              <a:t>mean LOO test RMSE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105120" y="7498079"/>
            <a:ext cx="4846320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EC94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8196560" y="7626096"/>
            <a:ext cx="4663440" cy="56692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400" b="1">
                <a:solidFill>
                  <a:srgbClr val="EC9427"/>
                </a:solidFill>
                <a:latin typeface="Yu Gothic"/>
              </a:rPr>
              <a:t>1–2 orders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196560" y="8302752"/>
            <a:ext cx="4663440" cy="3657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1900" b="0">
                <a:solidFill>
                  <a:srgbClr val="666F79"/>
                </a:solidFill>
                <a:latin typeface="Yu Gothic"/>
              </a:rPr>
              <a:t>thermal reduction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11109960"/>
            <a:ext cx="17099280" cy="45720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300" b="0">
                <a:solidFill>
                  <a:srgbClr val="666F79"/>
                </a:solidFill>
                <a:latin typeface="Yu Gothic"/>
              </a:rPr>
              <a:t>raw RMSとprediction RMSEは異なる統計量：オーダー比較として表示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Positioning &amp;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新規性は式形ではなく、衛星バス相対LOSと粗捕捉への接続にある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28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834640"/>
            <a:ext cx="10698480" cy="7498079"/>
          </a:xfrm>
          <a:prstGeom prst="roundRect">
            <a:avLst/>
          </a:prstGeom>
          <a:solidFill>
            <a:srgbClr val="F4F6F8"/>
          </a:solidFill>
          <a:ln w="1651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554480" y="3246120"/>
            <a:ext cx="9784080" cy="54864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800" b="1">
                <a:solidFill>
                  <a:srgbClr val="082B52"/>
                </a:solidFill>
                <a:latin typeface="Yu Gothic"/>
              </a:rPr>
              <a:t>JANUS / prior 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4389120"/>
            <a:ext cx="9326880" cy="29260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600">
                <a:solidFill>
                  <a:srgbClr val="232B34"/>
                </a:solidFill>
                <a:latin typeface="Yu Gothic"/>
              </a:rPr>
              <a:t>Optical head内で LOS≈KΔT</a:t>
            </a:r>
          </a:p>
          <a:p>
            <a:pPr>
              <a:spcAft>
                <a:spcPts val="800"/>
              </a:spcAft>
            </a:pPr>
            <a:r>
              <a:rPr sz="26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600">
                <a:solidFill>
                  <a:srgbClr val="232B34"/>
                </a:solidFill>
                <a:latin typeface="Yu Gothic"/>
              </a:rPr>
              <a:t>温度センサによる一次補正</a:t>
            </a:r>
          </a:p>
          <a:p>
            <a:pPr>
              <a:spcAft>
                <a:spcPts val="800"/>
              </a:spcAft>
            </a:pPr>
            <a:r>
              <a:rPr sz="26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600">
                <a:solidFill>
                  <a:srgbClr val="232B34"/>
                </a:solidFill>
                <a:latin typeface="Yu Gothic"/>
              </a:rPr>
              <a:t>比例関係自体は既知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7955279"/>
            <a:ext cx="8961120" cy="109728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600" b="1">
                <a:solidFill>
                  <a:srgbClr val="D03B46"/>
                </a:solidFill>
                <a:latin typeface="Yu Gothic"/>
              </a:rPr>
              <a:t>式に切片を足すこと自体を
新規性とは主張しない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481560" y="2834640"/>
            <a:ext cx="10698480" cy="7498079"/>
          </a:xfrm>
          <a:prstGeom prst="roundRect">
            <a:avLst/>
          </a:prstGeom>
          <a:solidFill>
            <a:srgbClr val="EBF6FB"/>
          </a:solidFill>
          <a:ln w="16510">
            <a:solidFill>
              <a:srgbClr val="5BB5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938760" y="3246120"/>
            <a:ext cx="9784080" cy="54864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800" b="1">
                <a:solidFill>
                  <a:srgbClr val="1B74AA"/>
                </a:solidFill>
                <a:latin typeface="Yu Gothic"/>
              </a:rPr>
              <a:t>This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21640" y="4389120"/>
            <a:ext cx="9326880" cy="38404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600">
                <a:solidFill>
                  <a:srgbClr val="232B34"/>
                </a:solidFill>
                <a:latin typeface="Yu Gothic"/>
              </a:rPr>
              <a:t>STT–LCTの衛星バス相対LOS</a:t>
            </a:r>
          </a:p>
          <a:p>
            <a:pPr>
              <a:spcAft>
                <a:spcPts val="800"/>
              </a:spcAft>
            </a:pPr>
            <a:r>
              <a:rPr sz="26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600">
                <a:solidFill>
                  <a:srgbClr val="232B34"/>
                </a:solidFill>
                <a:latin typeface="Yu Gothic"/>
              </a:rPr>
              <a:t>太陽面−反対面ΔTの共有感度</a:t>
            </a:r>
          </a:p>
          <a:p>
            <a:pPr>
              <a:spcAft>
                <a:spcPts val="800"/>
              </a:spcAft>
            </a:pPr>
            <a:r>
              <a:rPr sz="26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600">
                <a:solidFill>
                  <a:srgbClr val="232B34"/>
                </a:solidFill>
                <a:latin typeface="Yu Gothic"/>
              </a:rPr>
              <a:t>発熱DCの階層モデル</a:t>
            </a:r>
          </a:p>
          <a:p>
            <a:pPr>
              <a:spcAft>
                <a:spcPts val="800"/>
              </a:spcAft>
            </a:pPr>
            <a:r>
              <a:rPr sz="26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600">
                <a:solidFill>
                  <a:srgbClr val="232B34"/>
                </a:solidFill>
                <a:latin typeface="Yu Gothic"/>
              </a:rPr>
              <a:t>scan-center FFと捕捉時間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0927080"/>
            <a:ext cx="16916400" cy="54864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700" b="1">
                <a:solidFill>
                  <a:srgbClr val="D03B46"/>
                </a:solidFill>
                <a:latin typeface="Yu Gothic"/>
              </a:rPr>
              <a:t>限界：MZ・非支配軸・別構造・飛行実証は未評価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Operational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aは事前同定、b_caseは運用条件・軌道上残差で更新する価値が高い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29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097280" y="2926080"/>
          <a:ext cx="21945600" cy="6583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89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84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316736">
                <a:tc>
                  <a:txBody>
                    <a:bodyPr/>
                    <a:lstStyle/>
                    <a:p>
                      <a:pPr algn="l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Parameter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Observed behavior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Operational treatment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16736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a(sun)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stable across cases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ground analysis / thermal-vac test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16736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b_case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changes with heat mode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mode table + online update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16736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time-varying residual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few to 10+ µrad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slow correction if observable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16736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nonthermal error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same orbit-frequency family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separate state / prior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2103120" y="10104120"/>
            <a:ext cx="20116800" cy="1280160"/>
          </a:xfrm>
          <a:prstGeom prst="roundRect">
            <a:avLst/>
          </a:prstGeom>
          <a:solidFill>
            <a:srgbClr val="EAF8F1"/>
          </a:solidFill>
          <a:ln w="1651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0" y="10469880"/>
            <a:ext cx="18836640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800" b="1">
                <a:solidFill>
                  <a:srgbClr val="239571"/>
                </a:solidFill>
                <a:latin typeface="Yu Gothic"/>
              </a:rPr>
              <a:t>Adaptiveの第一候補は a ではなく b_case / model DC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692640" y="4114800"/>
            <a:ext cx="4937760" cy="5943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700" b="0">
                <a:solidFill>
                  <a:srgbClr val="FFFFFF"/>
                </a:solidFill>
                <a:latin typeface="Yu Gothic"/>
              </a:rPr>
              <a:t>04</a:t>
            </a:r>
          </a:p>
        </p:txBody>
      </p:sp>
      <p:sp>
        <p:nvSpPr>
          <p:cNvPr id="3" name="Rectangle 2"/>
          <p:cNvSpPr/>
          <p:nvPr/>
        </p:nvSpPr>
        <p:spPr>
          <a:xfrm>
            <a:off x="10469880" y="5230368"/>
            <a:ext cx="338328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28800" y="5806440"/>
            <a:ext cx="20756880" cy="10515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300" b="1">
                <a:solidFill>
                  <a:srgbClr val="FFFFFF"/>
                </a:solidFill>
                <a:latin typeface="Yu Gothic"/>
              </a:rPr>
              <a:t>PAT evaluation and orbit error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FFFFFF"/>
                </a:solidFill>
                <a:latin typeface="Yu Gothic"/>
              </a:rPr>
              <a:t>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PAT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予測LOSをscan centerから引き、残差をスキャン対象とする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31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2834640"/>
            <a:ext cx="21762720" cy="2148840"/>
          </a:xfrm>
          <a:prstGeom prst="roundRect">
            <a:avLst/>
          </a:prstGeom>
          <a:solidFill>
            <a:srgbClr val="EBF6FB"/>
          </a:solidFill>
          <a:ln w="16510">
            <a:solidFill>
              <a:srgbClr val="5BB5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737360" y="3456432"/>
            <a:ext cx="20848320" cy="68580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600" b="1" dirty="0" err="1">
                <a:solidFill>
                  <a:srgbClr val="082B52"/>
                </a:solidFill>
                <a:latin typeface="Yu Gothic"/>
              </a:rPr>
              <a:t>escan</a:t>
            </a:r>
            <a:r>
              <a:rPr sz="3600" b="1" dirty="0">
                <a:solidFill>
                  <a:srgbClr val="082B52"/>
                </a:solidFill>
                <a:latin typeface="Yu Gothic"/>
              </a:rPr>
              <a:t>(t) = </a:t>
            </a:r>
            <a:r>
              <a:rPr sz="3600" b="1" dirty="0" err="1">
                <a:solidFill>
                  <a:srgbClr val="082B52"/>
                </a:solidFill>
                <a:latin typeface="Yu Gothic"/>
              </a:rPr>
              <a:t>enonthermal</a:t>
            </a:r>
            <a:r>
              <a:rPr sz="3600" b="1" dirty="0">
                <a:solidFill>
                  <a:srgbClr val="082B52"/>
                </a:solidFill>
                <a:latin typeface="Yu Gothic"/>
              </a:rPr>
              <a:t>(t) + </a:t>
            </a:r>
            <a:r>
              <a:rPr sz="3600" b="1" dirty="0" err="1">
                <a:solidFill>
                  <a:srgbClr val="082B52"/>
                </a:solidFill>
                <a:latin typeface="Yu Gothic"/>
              </a:rPr>
              <a:t>θthermal,true</a:t>
            </a:r>
            <a:r>
              <a:rPr sz="3600" b="1" dirty="0">
                <a:solidFill>
                  <a:srgbClr val="082B52"/>
                </a:solidFill>
                <a:latin typeface="Yu Gothic"/>
              </a:rPr>
              <a:t>(t) − </a:t>
            </a:r>
            <a:r>
              <a:rPr sz="3600" b="1" dirty="0" err="1">
                <a:solidFill>
                  <a:srgbClr val="082B52"/>
                </a:solidFill>
                <a:latin typeface="Yu Gothic"/>
              </a:rPr>
              <a:t>θ̂thermal</a:t>
            </a:r>
            <a:r>
              <a:rPr sz="3600" b="1" dirty="0">
                <a:solidFill>
                  <a:srgbClr val="082B52"/>
                </a:solidFill>
                <a:latin typeface="Yu Gothic"/>
              </a:rPr>
              <a:t>(t)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5486400"/>
            <a:ext cx="4045305" cy="1234440"/>
          </a:xfrm>
          <a:prstGeom prst="rect">
            <a:avLst/>
          </a:prstGeom>
          <a:solidFill>
            <a:srgbClr val="082B52"/>
          </a:solidFill>
          <a:ln w="16510">
            <a:solidFill>
              <a:srgbClr val="082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53312" y="5596128"/>
            <a:ext cx="3899001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Thermal LOS
truth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380329" y="6103620"/>
            <a:ext cx="274320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5709513" y="5486400"/>
            <a:ext cx="4045305" cy="1234440"/>
          </a:xfrm>
          <a:prstGeom prst="rect">
            <a:avLst/>
          </a:prstGeom>
          <a:solidFill>
            <a:srgbClr val="1B74AA"/>
          </a:solidFill>
          <a:ln w="16510">
            <a:solidFill>
              <a:srgbClr val="1B7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782665" y="5596128"/>
            <a:ext cx="3899001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Model
prediction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809683" y="6103620"/>
            <a:ext cx="274320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10138867" y="5486400"/>
            <a:ext cx="4045305" cy="1234440"/>
          </a:xfrm>
          <a:prstGeom prst="rect">
            <a:avLst/>
          </a:prstGeom>
          <a:solidFill>
            <a:srgbClr val="239571"/>
          </a:solidFill>
          <a:ln w="1651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212019" y="5596128"/>
            <a:ext cx="3899001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Scan-center
residual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239036" y="6103620"/>
            <a:ext cx="274320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4568220" y="5486400"/>
            <a:ext cx="4045305" cy="1234440"/>
          </a:xfrm>
          <a:prstGeom prst="rect">
            <a:avLst/>
          </a:prstGeom>
          <a:solidFill>
            <a:srgbClr val="EC9427"/>
          </a:solidFill>
          <a:ln w="16510">
            <a:solidFill>
              <a:srgbClr val="EC94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4641372" y="5596128"/>
            <a:ext cx="3899001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Rectangular
spiral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8668390" y="6103620"/>
            <a:ext cx="274320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18997574" y="5486400"/>
            <a:ext cx="4045305" cy="1234440"/>
          </a:xfrm>
          <a:prstGeom prst="rect">
            <a:avLst/>
          </a:prstGeom>
          <a:solidFill>
            <a:srgbClr val="5D4084"/>
          </a:solidFill>
          <a:ln w="16510">
            <a:solidFill>
              <a:srgbClr val="5D40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9070726" y="5596128"/>
            <a:ext cx="3899001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Acquisition
time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91840" y="7680960"/>
          <a:ext cx="177393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69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69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Yu Gothic"/>
                        </a:rPr>
                        <a:t>Comparison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Yu Gothic"/>
                        </a:rPr>
                        <a:t>Purpose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no correction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thermal baseline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static bias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DC baseline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bcase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proposed model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thermal truth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ideal upper bound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thermal+nonthermal, no corr.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realism baseline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2516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bcase+nonthermal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main result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PAT simulation conditions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粗捕捉は矩形スパイラルを離散点で抽象化する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32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834640"/>
            <a:ext cx="9326880" cy="7772400"/>
          </a:xfrm>
          <a:prstGeom prst="roundRect">
            <a:avLst/>
          </a:prstGeom>
          <a:solidFill>
            <a:srgbClr val="F4F6F8"/>
          </a:solidFill>
          <a:ln w="1651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5669280" y="6492240"/>
            <a:ext cx="658368" cy="0"/>
          </a:xfrm>
          <a:prstGeom prst="line">
            <a:avLst/>
          </a:prstGeom>
          <a:ln w="25400">
            <a:solidFill>
              <a:srgbClr val="1B74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6327648" y="5833872"/>
            <a:ext cx="0" cy="658368"/>
          </a:xfrm>
          <a:prstGeom prst="line">
            <a:avLst/>
          </a:prstGeom>
          <a:ln w="25400">
            <a:solidFill>
              <a:srgbClr val="1B74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5010912" y="5833872"/>
            <a:ext cx="1316736" cy="0"/>
          </a:xfrm>
          <a:prstGeom prst="line">
            <a:avLst/>
          </a:prstGeom>
          <a:ln w="25400">
            <a:solidFill>
              <a:srgbClr val="1B74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010912" y="5833872"/>
            <a:ext cx="0" cy="1316735"/>
          </a:xfrm>
          <a:prstGeom prst="line">
            <a:avLst/>
          </a:prstGeom>
          <a:ln w="25400">
            <a:solidFill>
              <a:srgbClr val="1B74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010912" y="7150607"/>
            <a:ext cx="1975104" cy="0"/>
          </a:xfrm>
          <a:prstGeom prst="line">
            <a:avLst/>
          </a:prstGeom>
          <a:ln w="25400">
            <a:solidFill>
              <a:srgbClr val="1B74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986016" y="5175504"/>
            <a:ext cx="0" cy="1975103"/>
          </a:xfrm>
          <a:prstGeom prst="line">
            <a:avLst/>
          </a:prstGeom>
          <a:ln w="25400">
            <a:solidFill>
              <a:srgbClr val="1B74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352544" y="5175504"/>
            <a:ext cx="2633472" cy="0"/>
          </a:xfrm>
          <a:prstGeom prst="line">
            <a:avLst/>
          </a:prstGeom>
          <a:ln w="25400">
            <a:solidFill>
              <a:srgbClr val="1B74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352544" y="5175504"/>
            <a:ext cx="0" cy="2633471"/>
          </a:xfrm>
          <a:prstGeom prst="line">
            <a:avLst/>
          </a:prstGeom>
          <a:ln w="25400">
            <a:solidFill>
              <a:srgbClr val="1B74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352544" y="7808975"/>
            <a:ext cx="3291839" cy="0"/>
          </a:xfrm>
          <a:prstGeom prst="line">
            <a:avLst/>
          </a:prstGeom>
          <a:ln w="25400">
            <a:solidFill>
              <a:srgbClr val="1B74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7644383" y="4517136"/>
            <a:ext cx="0" cy="3291839"/>
          </a:xfrm>
          <a:prstGeom prst="line">
            <a:avLst/>
          </a:prstGeom>
          <a:ln w="25400">
            <a:solidFill>
              <a:srgbClr val="1B74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5596128" y="6419088"/>
            <a:ext cx="146304" cy="146304"/>
          </a:xfrm>
          <a:prstGeom prst="ellipse">
            <a:avLst/>
          </a:prstGeom>
          <a:solidFill>
            <a:srgbClr val="1B7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6254496" y="6419088"/>
            <a:ext cx="146304" cy="146304"/>
          </a:xfrm>
          <a:prstGeom prst="ellipse">
            <a:avLst/>
          </a:prstGeom>
          <a:solidFill>
            <a:srgbClr val="1B7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254496" y="5760720"/>
            <a:ext cx="146304" cy="146304"/>
          </a:xfrm>
          <a:prstGeom prst="ellipse">
            <a:avLst/>
          </a:prstGeom>
          <a:solidFill>
            <a:srgbClr val="1B7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4937760" y="5760720"/>
            <a:ext cx="146304" cy="146304"/>
          </a:xfrm>
          <a:prstGeom prst="ellipse">
            <a:avLst/>
          </a:prstGeom>
          <a:solidFill>
            <a:srgbClr val="1B7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4937760" y="7077455"/>
            <a:ext cx="146304" cy="146304"/>
          </a:xfrm>
          <a:prstGeom prst="ellipse">
            <a:avLst/>
          </a:prstGeom>
          <a:solidFill>
            <a:srgbClr val="1B7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6912864" y="7077455"/>
            <a:ext cx="146304" cy="146304"/>
          </a:xfrm>
          <a:prstGeom prst="ellipse">
            <a:avLst/>
          </a:prstGeom>
          <a:solidFill>
            <a:srgbClr val="1B7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912864" y="5102352"/>
            <a:ext cx="146304" cy="146304"/>
          </a:xfrm>
          <a:prstGeom prst="ellipse">
            <a:avLst/>
          </a:prstGeom>
          <a:solidFill>
            <a:srgbClr val="1B7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4279392" y="5102352"/>
            <a:ext cx="146304" cy="146304"/>
          </a:xfrm>
          <a:prstGeom prst="ellipse">
            <a:avLst/>
          </a:prstGeom>
          <a:solidFill>
            <a:srgbClr val="1B7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4279392" y="7735823"/>
            <a:ext cx="146304" cy="146304"/>
          </a:xfrm>
          <a:prstGeom prst="ellipse">
            <a:avLst/>
          </a:prstGeom>
          <a:solidFill>
            <a:srgbClr val="1B7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7571231" y="7735823"/>
            <a:ext cx="146304" cy="146304"/>
          </a:xfrm>
          <a:prstGeom prst="ellipse">
            <a:avLst/>
          </a:prstGeom>
          <a:solidFill>
            <a:srgbClr val="1B7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7571231" y="4443983"/>
            <a:ext cx="146304" cy="146304"/>
          </a:xfrm>
          <a:prstGeom prst="ellipse">
            <a:avLst/>
          </a:prstGeom>
          <a:solidFill>
            <a:srgbClr val="1B7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7086600" y="4892040"/>
            <a:ext cx="457200" cy="457200"/>
          </a:xfrm>
          <a:prstGeom prst="ellipse">
            <a:avLst/>
          </a:prstGeom>
          <a:solidFill>
            <a:srgbClr val="FEF5E6"/>
          </a:solidFill>
          <a:ln>
            <a:solidFill>
              <a:srgbClr val="EC94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11155680" y="2834640"/>
          <a:ext cx="11887200" cy="630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17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69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01337">
                <a:tc>
                  <a:txBody>
                    <a:bodyPr/>
                    <a:lstStyle/>
                    <a:p>
                      <a:pPr algn="l"/>
                      <a:r>
                        <a:rPr sz="2200" b="1">
                          <a:solidFill>
                            <a:srgbClr val="FFFFFF"/>
                          </a:solidFill>
                          <a:latin typeface="Yu Gothic"/>
                        </a:rPr>
                        <a:t>Parameter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Yu Gothic"/>
                        </a:rPr>
                        <a:t>Value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1337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Range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±1600 µrad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1337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Step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40 µrad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1337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Detection radius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25 µrad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1337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Dwell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0.1 s / point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01337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Points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6561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01338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Max nominal time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656.1 s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11155680" y="9464040"/>
            <a:ext cx="11887200" cy="1828800"/>
          </a:xfrm>
          <a:prstGeom prst="roundRect">
            <a:avLst/>
          </a:prstGeom>
          <a:solidFill>
            <a:srgbClr val="FDEFF0"/>
          </a:solidFill>
          <a:ln w="16510">
            <a:solidFill>
              <a:srgbClr val="D03B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1612880" y="9829800"/>
            <a:ext cx="10972800" cy="100584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400" b="1">
                <a:solidFill>
                  <a:srgbClr val="D03B46"/>
                </a:solidFill>
                <a:latin typeface="Yu Gothic"/>
              </a:rPr>
              <a:t>点間移動・settling・光強度確率なし
各時刻を独立な捕捉機会として評価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PAT simulation conditions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非熱誤差は軌道・アライメント・姿勢・ドリフトを合成する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33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2834640"/>
            <a:ext cx="21762720" cy="1920240"/>
          </a:xfrm>
          <a:prstGeom prst="roundRect">
            <a:avLst/>
          </a:prstGeom>
          <a:solidFill>
            <a:srgbClr val="EBF6FB"/>
          </a:solidFill>
          <a:ln w="16510">
            <a:solidFill>
              <a:srgbClr val="5BB5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0" y="3383280"/>
            <a:ext cx="20665440" cy="68580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500" b="1">
                <a:solidFill>
                  <a:srgbClr val="082B52"/>
                </a:solidFill>
                <a:latin typeface="Yu Gothic"/>
              </a:rPr>
              <a:t>enonthermal = eorbit + ealignment + eattitude + edrift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097280" y="5486400"/>
          <a:ext cx="221284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9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37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43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</a:rPr>
                        <a:t>Component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</a:rPr>
                        <a:t>Model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</a:rPr>
                        <a:t>Timescale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</a:rPr>
                        <a:t>Size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Orbit prediction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Sentinel-1 TLE vs POEORB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orbit-period family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mean 280–700 µrad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Alignment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Gaussian constant / case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DC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50 µrad/axis, 1σ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Attitude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Gaussian / sample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simplified broadband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50 µrad/axis, 1σ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Drift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sinusoid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900 s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30 µrad amplitude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834640" y="10744200"/>
            <a:ext cx="18745200" cy="5943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700" b="1">
                <a:solidFill>
                  <a:srgbClr val="D03B46"/>
                </a:solidFill>
                <a:latin typeface="Yu Gothic"/>
              </a:rPr>
              <a:t>特定衛星の誤差バジェット再現ではなく、GNSS非搭載LEO小型衛星の共存シナリオ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Orbit prediction error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利用可能な最新TLEをforward propagationし、PODと比較する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34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834640"/>
            <a:ext cx="4118457" cy="1234440"/>
          </a:xfrm>
          <a:prstGeom prst="rect">
            <a:avLst/>
          </a:prstGeom>
          <a:solidFill>
            <a:srgbClr val="082B52"/>
          </a:solidFill>
          <a:ln w="16510">
            <a:solidFill>
              <a:srgbClr val="082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70432" y="2944368"/>
            <a:ext cx="3972153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Sentinel-1
NORAD 39634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270601" y="3451860"/>
            <a:ext cx="274320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599785" y="2834640"/>
            <a:ext cx="4118457" cy="1234440"/>
          </a:xfrm>
          <a:prstGeom prst="rect">
            <a:avLst/>
          </a:prstGeom>
          <a:solidFill>
            <a:srgbClr val="1B74AA"/>
          </a:solidFill>
          <a:ln w="16510">
            <a:solidFill>
              <a:srgbClr val="1B7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72937" y="2944368"/>
            <a:ext cx="3972153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Latest TLE
epoch≤t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773107" y="3451860"/>
            <a:ext cx="274320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10102291" y="2834640"/>
            <a:ext cx="4118457" cy="1234440"/>
          </a:xfrm>
          <a:prstGeom prst="rect">
            <a:avLst/>
          </a:prstGeom>
          <a:solidFill>
            <a:srgbClr val="239571"/>
          </a:solidFill>
          <a:ln w="1651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175443" y="2944368"/>
            <a:ext cx="3972153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SGP4 forward
rpred(t)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275612" y="3451860"/>
            <a:ext cx="274320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14604796" y="2834640"/>
            <a:ext cx="4118457" cy="1234440"/>
          </a:xfrm>
          <a:prstGeom prst="rect">
            <a:avLst/>
          </a:prstGeom>
          <a:solidFill>
            <a:srgbClr val="EC9427"/>
          </a:solidFill>
          <a:ln w="16510">
            <a:solidFill>
              <a:srgbClr val="EC94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4677948" y="2944368"/>
            <a:ext cx="3972153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AUX_POEORB
rtruth(t)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8778118" y="3451860"/>
            <a:ext cx="274320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9107302" y="2834640"/>
            <a:ext cx="4118457" cy="1234440"/>
          </a:xfrm>
          <a:prstGeom prst="rect">
            <a:avLst/>
          </a:prstGeom>
          <a:solidFill>
            <a:srgbClr val="5D4084"/>
          </a:solidFill>
          <a:ln w="16510">
            <a:solidFill>
              <a:srgbClr val="5D40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9180454" y="2944368"/>
            <a:ext cx="3972153" cy="1014984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δr(t)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97280" y="4800600"/>
            <a:ext cx="14081760" cy="6217920"/>
          </a:xfrm>
          <a:prstGeom prst="rect">
            <a:avLst/>
          </a:prstGeom>
          <a:noFill/>
          <a:ln w="1270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orbit_prediction_error_3orbi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4800600"/>
            <a:ext cx="6217920" cy="621792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15727680" y="4800600"/>
            <a:ext cx="7315200" cy="6217920"/>
          </a:xfrm>
          <a:prstGeom prst="roundRect">
            <a:avLst/>
          </a:prstGeom>
          <a:solidFill>
            <a:srgbClr val="F4F6F8"/>
          </a:solidFill>
          <a:ln w="1651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6139159" y="5303520"/>
            <a:ext cx="6492240" cy="438912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800"/>
              </a:spcAft>
            </a:pPr>
            <a:r>
              <a:rPr sz="23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300">
                <a:solidFill>
                  <a:srgbClr val="232B34"/>
                </a:solidFill>
                <a:latin typeface="Yu Gothic"/>
              </a:rPr>
              <a:t>POEORBをtruth</a:t>
            </a:r>
          </a:p>
          <a:p>
            <a:pPr>
              <a:spcAft>
                <a:spcPts val="800"/>
              </a:spcAft>
            </a:pPr>
            <a:r>
              <a:rPr sz="23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300">
                <a:solidFill>
                  <a:srgbClr val="232B34"/>
                </a:solidFill>
                <a:latin typeface="Yu Gothic"/>
              </a:rPr>
              <a:t>未来TLEのbackward伝搬なし</a:t>
            </a:r>
          </a:p>
          <a:p>
            <a:pPr>
              <a:spcAft>
                <a:spcPts val="800"/>
              </a:spcAft>
            </a:pPr>
            <a:r>
              <a:rPr sz="23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300">
                <a:solidFill>
                  <a:srgbClr val="232B34"/>
                </a:solidFill>
                <a:latin typeface="Yu Gothic"/>
              </a:rPr>
              <a:t>60 s sampling</a:t>
            </a:r>
          </a:p>
          <a:p>
            <a:pPr>
              <a:spcAft>
                <a:spcPts val="800"/>
              </a:spcAft>
            </a:pPr>
            <a:r>
              <a:rPr sz="23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300">
                <a:solidFill>
                  <a:srgbClr val="232B34"/>
                </a:solidFill>
                <a:latin typeface="Yu Gothic"/>
              </a:rPr>
              <a:t>相手機は片側truth</a:t>
            </a:r>
          </a:p>
          <a:p>
            <a:pPr>
              <a:spcAft>
                <a:spcPts val="800"/>
              </a:spcAft>
            </a:pPr>
            <a:r>
              <a:rPr sz="23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300">
                <a:solidFill>
                  <a:srgbClr val="232B34"/>
                </a:solidFill>
                <a:latin typeface="Yu Gothic"/>
              </a:rPr>
              <a:t>TD時刻へcyclic resample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184880" y="9966960"/>
            <a:ext cx="6400800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100" b="1">
                <a:solidFill>
                  <a:srgbClr val="D03B46"/>
                </a:solidFill>
                <a:latin typeface="Yu Gothic"/>
              </a:rPr>
              <a:t>2026 S1データとTD軌道時刻は位相不一致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Orbit prediction error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位置誤差をリンクLOS横断面へ投影し、STT/body x–yへ変換する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35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834640"/>
            <a:ext cx="9692640" cy="7589520"/>
          </a:xfrm>
          <a:prstGeom prst="roundRect">
            <a:avLst/>
          </a:prstGeom>
          <a:solidFill>
            <a:srgbClr val="F4F6F8"/>
          </a:solidFill>
          <a:ln w="1651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645920" y="3931920"/>
            <a:ext cx="8595360" cy="68580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000" b="1">
                <a:solidFill>
                  <a:srgbClr val="082B52"/>
                </a:solidFill>
                <a:latin typeface="Yu Gothic"/>
              </a:rPr>
              <a:t>δr⊥ = δr − (δr·ℓ̂)ℓ̂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303520"/>
            <a:ext cx="7863840" cy="68580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200" b="1">
                <a:solidFill>
                  <a:srgbClr val="1B74AA"/>
                </a:solidFill>
                <a:latin typeface="Yu Gothic"/>
              </a:rPr>
              <a:t>θ ≈ δr⊥ / Rlink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6766560"/>
            <a:ext cx="8412480" cy="24688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400">
                <a:solidFill>
                  <a:srgbClr val="232B34"/>
                </a:solidFill>
                <a:latin typeface="Yu Gothic"/>
              </a:rPr>
              <a:t>orbit catalogから姿勢を構成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400">
                <a:solidFill>
                  <a:srgbClr val="232B34"/>
                </a:solidFill>
                <a:latin typeface="Yu Gothic"/>
              </a:rPr>
              <a:t>STT/body x–yへ射影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1B74AA"/>
                </a:solidFill>
                <a:latin typeface="Yu Gothic"/>
              </a:rPr>
              <a:t>• </a:t>
            </a:r>
            <a:r>
              <a:rPr sz="2400">
                <a:solidFill>
                  <a:srgbClr val="232B34"/>
                </a:solidFill>
                <a:latin typeface="Yu Gothic"/>
              </a:rPr>
              <a:t>熱LOSと同じ2成分で加算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1430000" y="2834640"/>
          <a:ext cx="11704320" cy="630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9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61872">
                <a:tc>
                  <a:txBody>
                    <a:bodyPr/>
                    <a:lstStyle/>
                    <a:p>
                      <a:pPr algn="l"/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</a:rPr>
                        <a:t>Sun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</a:rPr>
                        <a:t>Partner / link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</a:rPr>
                        <a:t>Status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61872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MY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along-track ISL 800 km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ready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61872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PY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anti-along ISL 800 km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ready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61872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PX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nadir ground ~695 km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ready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61872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MX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zenith proxy 800 km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unrealistic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11430000" y="9509760"/>
            <a:ext cx="11704320" cy="1645920"/>
          </a:xfrm>
          <a:prstGeom prst="roundRect">
            <a:avLst/>
          </a:prstGeom>
          <a:solidFill>
            <a:srgbClr val="FDEFF0"/>
          </a:solidFill>
          <a:ln w="16510">
            <a:solidFill>
              <a:srgbClr val="D03B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887200" y="9966960"/>
            <a:ext cx="10789920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400" b="1">
                <a:solidFill>
                  <a:srgbClr val="D03B46"/>
                </a:solidFill>
                <a:latin typeface="Yu Gothic"/>
              </a:rPr>
              <a:t>MXは角度計算可能だが現実的リンクではない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Orbit prediction error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熱と軌道予測誤差はともに10⁻⁴ Hz台の軌道周期族となる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36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743200"/>
            <a:ext cx="14813280" cy="8046720"/>
          </a:xfrm>
          <a:prstGeom prst="rect">
            <a:avLst/>
          </a:prstGeom>
          <a:noFill/>
          <a:ln w="1270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orbit_error_stt_LTAN06_800km_1213COLD_MY_SUN_3orbi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79" y="2743200"/>
            <a:ext cx="8046720" cy="804672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6367759" y="2926080"/>
          <a:ext cx="65836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50976">
                <a:tc>
                  <a:txBody>
                    <a:bodyPr/>
                    <a:lstStyle/>
                    <a:p>
                      <a:pPr algn="l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Case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mean norm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MY ISL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≈285 µrad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PY ISL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≈285 µrad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PX ground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≈694 µrad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MX proxy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≈612 µrad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16367759" y="8229600"/>
            <a:ext cx="6583680" cy="2194560"/>
          </a:xfrm>
          <a:prstGeom prst="roundRect">
            <a:avLst/>
          </a:prstGeom>
          <a:solidFill>
            <a:srgbClr val="FEF5E6"/>
          </a:solidFill>
          <a:ln w="16510">
            <a:solidFill>
              <a:srgbClr val="EC94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6733520" y="8641080"/>
            <a:ext cx="5852160" cy="109728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400" b="1">
                <a:solidFill>
                  <a:srgbClr val="EC9427"/>
                </a:solidFill>
                <a:latin typeface="Yu Gothic"/>
              </a:rPr>
              <a:t>Thermal: ~101 min
Orbit norm: ~101 / 50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1064240"/>
            <a:ext cx="15270480" cy="54864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900" b="1">
                <a:solidFill>
                  <a:srgbClr val="D03B46"/>
                </a:solidFill>
                <a:latin typeface="Yu Gothic"/>
              </a:rPr>
              <a:t>単純な『低周波＝熱』分離は難しい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PAT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熱のみでは階層モデルがthermal-truth上界にほぼ到達する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236976"/>
            <a:ext cx="4387291" cy="1412748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l"/>
            <a:r>
              <a:rPr sz="2100" b="0">
                <a:solidFill>
                  <a:srgbClr val="232B34"/>
                </a:solidFill>
                <a:latin typeface="Yu Gothic"/>
              </a:rPr>
              <a:t>No correction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7451" y="3337560"/>
            <a:ext cx="8917228" cy="1211580"/>
          </a:xfrm>
          <a:prstGeom prst="rect">
            <a:avLst/>
          </a:prstGeom>
          <a:solidFill>
            <a:srgbClr val="F4F6F8"/>
          </a:solidFill>
          <a:ln w="16510">
            <a:solidFill>
              <a:srgbClr val="F4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667451" y="3337560"/>
            <a:ext cx="8888693" cy="1211580"/>
          </a:xfrm>
          <a:prstGeom prst="rect">
            <a:avLst/>
          </a:prstGeom>
          <a:solidFill>
            <a:srgbClr val="D03B46"/>
          </a:solidFill>
          <a:ln w="16510">
            <a:solidFill>
              <a:srgbClr val="D03B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4694408" y="3200400"/>
            <a:ext cx="914400" cy="1485900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l"/>
            <a:r>
              <a:rPr sz="2000" b="1">
                <a:solidFill>
                  <a:srgbClr val="D03B46"/>
                </a:solidFill>
                <a:latin typeface="Yu Gothic"/>
              </a:rPr>
              <a:t>124.6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4722876"/>
            <a:ext cx="4387291" cy="1412748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l"/>
            <a:r>
              <a:rPr sz="2100" b="0">
                <a:solidFill>
                  <a:srgbClr val="232B34"/>
                </a:solidFill>
                <a:latin typeface="Yu Gothic"/>
              </a:rPr>
              <a:t>Static bias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7451" y="4823460"/>
            <a:ext cx="8917228" cy="1211580"/>
          </a:xfrm>
          <a:prstGeom prst="rect">
            <a:avLst/>
          </a:prstGeom>
          <a:solidFill>
            <a:srgbClr val="F4F6F8"/>
          </a:solidFill>
          <a:ln w="16510">
            <a:solidFill>
              <a:srgbClr val="F4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667451" y="4823460"/>
            <a:ext cx="340994" cy="1211580"/>
          </a:xfrm>
          <a:prstGeom prst="rect">
            <a:avLst/>
          </a:prstGeom>
          <a:solidFill>
            <a:srgbClr val="EC9427"/>
          </a:solidFill>
          <a:ln w="16510">
            <a:solidFill>
              <a:srgbClr val="EC94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4694408" y="4686300"/>
            <a:ext cx="914400" cy="1485900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l"/>
            <a:r>
              <a:rPr sz="2000" b="1">
                <a:solidFill>
                  <a:srgbClr val="EC9427"/>
                </a:solidFill>
                <a:latin typeface="Yu Gothic"/>
              </a:rPr>
              <a:t>4.78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6208776"/>
            <a:ext cx="4387291" cy="1412748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l"/>
            <a:r>
              <a:rPr sz="2100" b="0">
                <a:solidFill>
                  <a:srgbClr val="232B34"/>
                </a:solidFill>
                <a:latin typeface="Yu Gothic"/>
              </a:rPr>
              <a:t>Hierarchical bcase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7451" y="6309360"/>
            <a:ext cx="8917228" cy="1211580"/>
          </a:xfrm>
          <a:prstGeom prst="rect">
            <a:avLst/>
          </a:prstGeom>
          <a:solidFill>
            <a:srgbClr val="F4F6F8"/>
          </a:solidFill>
          <a:ln w="16510">
            <a:solidFill>
              <a:srgbClr val="F4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667451" y="6309360"/>
            <a:ext cx="73152" cy="1211580"/>
          </a:xfrm>
          <a:prstGeom prst="rect">
            <a:avLst/>
          </a:prstGeom>
          <a:solidFill>
            <a:srgbClr val="239571"/>
          </a:solidFill>
          <a:ln w="1651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4694408" y="6172200"/>
            <a:ext cx="914400" cy="1485900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l"/>
            <a:r>
              <a:rPr sz="2000" b="1">
                <a:solidFill>
                  <a:srgbClr val="239571"/>
                </a:solidFill>
                <a:latin typeface="Yu Gothic"/>
              </a:rPr>
              <a:t>0.116 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7694675"/>
            <a:ext cx="4387291" cy="1412748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l"/>
            <a:r>
              <a:rPr sz="2100" b="0">
                <a:solidFill>
                  <a:srgbClr val="232B34"/>
                </a:solidFill>
                <a:latin typeface="Yu Gothic"/>
              </a:rPr>
              <a:t>Thermal truth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7451" y="7795260"/>
            <a:ext cx="8917228" cy="1211580"/>
          </a:xfrm>
          <a:prstGeom prst="rect">
            <a:avLst/>
          </a:prstGeom>
          <a:solidFill>
            <a:srgbClr val="F4F6F8"/>
          </a:solidFill>
          <a:ln w="16510">
            <a:solidFill>
              <a:srgbClr val="F4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667451" y="7795260"/>
            <a:ext cx="73152" cy="1211580"/>
          </a:xfrm>
          <a:prstGeom prst="rect">
            <a:avLst/>
          </a:prstGeom>
          <a:solidFill>
            <a:srgbClr val="1B74AA"/>
          </a:solidFill>
          <a:ln w="16510">
            <a:solidFill>
              <a:srgbClr val="1B7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4694408" y="7658100"/>
            <a:ext cx="914400" cy="1485900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l"/>
            <a:r>
              <a:rPr sz="2000" b="1">
                <a:solidFill>
                  <a:srgbClr val="1B74AA"/>
                </a:solidFill>
                <a:latin typeface="Yu Gothic"/>
              </a:rPr>
              <a:t>0.1 s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6276320" y="3017520"/>
          <a:ext cx="676656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87552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Yu Gothic"/>
                        </a:rPr>
                        <a:t>Model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Yu Gothic"/>
                        </a:rPr>
                        <a:t>Success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Yu Gothic"/>
                        </a:rPr>
                        <a:t>Mean tacq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87552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No correction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95.9%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124.6 s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87552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Static bias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99.3%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4.78 s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87552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bcase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100%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0.116 s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87552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truth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100%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232B34"/>
                          </a:solidFill>
                          <a:latin typeface="Yu Gothic"/>
                        </a:rPr>
                        <a:t>0.100 s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16367759" y="8412480"/>
            <a:ext cx="6583680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6459200" y="8540496"/>
            <a:ext cx="6400800" cy="56692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400" b="1">
                <a:solidFill>
                  <a:srgbClr val="239571"/>
                </a:solidFill>
                <a:latin typeface="Yu Gothic"/>
              </a:rPr>
              <a:t>8.8 µrad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0" y="9217152"/>
            <a:ext cx="6400800" cy="3657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1900" b="0">
                <a:solidFill>
                  <a:srgbClr val="666F79"/>
                </a:solidFill>
                <a:latin typeface="Yu Gothic"/>
              </a:rPr>
              <a:t>mean thermal residual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0" y="10881360"/>
            <a:ext cx="16642080" cy="54864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500" b="0">
                <a:solidFill>
                  <a:srgbClr val="666F79"/>
                </a:solidFill>
                <a:latin typeface="Yu Gothic"/>
              </a:rPr>
              <a:t>熱モデル自体の能力を見る理想条件。主結果は非熱込み。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PAT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非熱込みでも平均捕捉時間156.9→59.6 s、成功率94.0→97.1%となる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236976"/>
            <a:ext cx="4217212" cy="1755648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l"/>
            <a:r>
              <a:rPr sz="2100" b="0">
                <a:solidFill>
                  <a:srgbClr val="232B34"/>
                </a:solidFill>
                <a:latin typeface="Yu Gothic"/>
              </a:rPr>
              <a:t>No thermal correction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0252" y="3337560"/>
            <a:ext cx="8538667" cy="1554480"/>
          </a:xfrm>
          <a:prstGeom prst="rect">
            <a:avLst/>
          </a:prstGeom>
          <a:solidFill>
            <a:srgbClr val="F4F6F8"/>
          </a:solidFill>
          <a:ln w="16510">
            <a:solidFill>
              <a:srgbClr val="F4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680252" y="3337560"/>
            <a:ext cx="8373230" cy="1554480"/>
          </a:xfrm>
          <a:prstGeom prst="rect">
            <a:avLst/>
          </a:prstGeom>
          <a:solidFill>
            <a:srgbClr val="D03B46"/>
          </a:solidFill>
          <a:ln w="16510">
            <a:solidFill>
              <a:srgbClr val="D03B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4328647" y="3200400"/>
            <a:ext cx="914400" cy="1828800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l"/>
            <a:r>
              <a:rPr sz="2000" b="1">
                <a:solidFill>
                  <a:srgbClr val="D03B46"/>
                </a:solidFill>
                <a:latin typeface="Yu Gothic"/>
              </a:rPr>
              <a:t>156.9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065776"/>
            <a:ext cx="4217212" cy="1755648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l"/>
            <a:r>
              <a:rPr sz="2100" b="0">
                <a:solidFill>
                  <a:srgbClr val="232B34"/>
                </a:solidFill>
                <a:latin typeface="Yu Gothic"/>
              </a:rPr>
              <a:t>Hierarchical bcase FF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80252" y="5166360"/>
            <a:ext cx="8538667" cy="1554480"/>
          </a:xfrm>
          <a:prstGeom prst="rect">
            <a:avLst/>
          </a:prstGeom>
          <a:solidFill>
            <a:srgbClr val="F4F6F8"/>
          </a:solidFill>
          <a:ln w="16510">
            <a:solidFill>
              <a:srgbClr val="F4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680252" y="5166360"/>
            <a:ext cx="3180653" cy="1554480"/>
          </a:xfrm>
          <a:prstGeom prst="rect">
            <a:avLst/>
          </a:prstGeom>
          <a:solidFill>
            <a:srgbClr val="239571"/>
          </a:solidFill>
          <a:ln w="1651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4328647" y="5029200"/>
            <a:ext cx="914400" cy="1828800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l"/>
            <a:r>
              <a:rPr sz="2000" b="1">
                <a:solidFill>
                  <a:srgbClr val="239571"/>
                </a:solidFill>
                <a:latin typeface="Yu Gothic"/>
              </a:rPr>
              <a:t>59.6 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093440" y="3108960"/>
            <a:ext cx="6675120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6184880" y="3236976"/>
            <a:ext cx="6492240" cy="56692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400" b="1">
                <a:solidFill>
                  <a:srgbClr val="239571"/>
                </a:solidFill>
                <a:latin typeface="Yu Gothic"/>
              </a:rPr>
              <a:t>−62%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184880" y="3913632"/>
            <a:ext cx="6492240" cy="3657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1900" b="0">
                <a:solidFill>
                  <a:srgbClr val="666F79"/>
                </a:solidFill>
                <a:latin typeface="Yu Gothic"/>
              </a:rPr>
              <a:t>mean acquisition time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093440" y="5257800"/>
            <a:ext cx="6675120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B7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6184880" y="5385816"/>
            <a:ext cx="6492240" cy="56692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400" b="1">
                <a:solidFill>
                  <a:srgbClr val="1B74AA"/>
                </a:solidFill>
                <a:latin typeface="Yu Gothic"/>
              </a:rPr>
              <a:t>+3.1 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184880" y="6062472"/>
            <a:ext cx="6492240" cy="3657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1900" b="0">
                <a:solidFill>
                  <a:srgbClr val="666F79"/>
                </a:solidFill>
                <a:latin typeface="Yu Gothic"/>
              </a:rPr>
              <a:t>success rate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2743200" y="7635240"/>
          <a:ext cx="1892808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06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60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60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9224">
                <a:tc>
                  <a:txBody>
                    <a:bodyPr/>
                    <a:lstStyle/>
                    <a:p>
                      <a:pPr algn="l"/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</a:rPr>
                        <a:t>Metric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</a:rPr>
                        <a:t>No correction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</a:rPr>
                        <a:t>bcase FF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9224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Success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94.0%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97.1%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9224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Mean tacq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156.9 s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59.6 s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9224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Median tacq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150.3 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36.2 s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9224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Thermal residual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667 µrad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8.8 µrad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4572000" y="11201400"/>
            <a:ext cx="15270480" cy="54864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800" b="1">
                <a:solidFill>
                  <a:srgbClr val="082B52"/>
                </a:solidFill>
                <a:latin typeface="Yu Gothic"/>
              </a:rPr>
              <a:t>補正後は非熱、特に軌道予測誤差が性能を支配する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PAT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改善幅はリンク幾何と熱LOSの大きさに依存する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39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097280" y="2834640"/>
          <a:ext cx="22037040" cy="640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77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89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66800">
                <a:tc>
                  <a:txBody>
                    <a:bodyPr/>
                    <a:lstStyle/>
                    <a:p>
                      <a:pPr algn="l"/>
                      <a:r>
                        <a:rPr sz="2200" b="1">
                          <a:solidFill>
                            <a:srgbClr val="FFFFFF"/>
                          </a:solidFill>
                          <a:latin typeface="Yu Gothic"/>
                        </a:rPr>
                        <a:t>Case family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Yu Gothic"/>
                        </a:rPr>
                        <a:t>Thermal LOS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Yu Gothic"/>
                        </a:rPr>
                        <a:t>Orbit error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Yu Gothic"/>
                        </a:rPr>
                        <a:t>PAT interpretation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6680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PY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large (~1.2 mrad)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~285 µrad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large improvement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6680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MY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150–250 µrad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~285 µrad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moderate improvement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6680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PX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~0.9 mrad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~694 µrad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orbit remains large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6680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MX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~0.9 mrad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~612 µrad proxy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interpret cautiously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6680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LTAN18 MY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nearly DC ~150 µrad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~290 µrad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232B34"/>
                          </a:solidFill>
                          <a:latin typeface="Yu Gothic"/>
                        </a:rPr>
                        <a:t>small thermal benefit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1828800" y="9829800"/>
            <a:ext cx="20574000" cy="1554480"/>
          </a:xfrm>
          <a:prstGeom prst="roundRect">
            <a:avLst/>
          </a:prstGeom>
          <a:solidFill>
            <a:srgbClr val="FDEFF0"/>
          </a:solidFill>
          <a:ln w="16510">
            <a:solidFill>
              <a:srgbClr val="D03B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377440" y="10131552"/>
            <a:ext cx="19476720" cy="91440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400" b="1">
                <a:solidFill>
                  <a:srgbClr val="D03B46"/>
                </a:solidFill>
                <a:latin typeface="Yu Gothic"/>
              </a:rPr>
              <a:t>全21ケース平均にはMXの非現実的zenith proxyが含まれる
論文ではrealistic-link subsetも併記する候補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692640" y="4114800"/>
            <a:ext cx="4937760" cy="5943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700" b="0">
                <a:solidFill>
                  <a:srgbClr val="FFFFFF"/>
                </a:solidFill>
                <a:latin typeface="Yu Gothic"/>
              </a:rPr>
              <a:t>05</a:t>
            </a:r>
          </a:p>
        </p:txBody>
      </p:sp>
      <p:sp>
        <p:nvSpPr>
          <p:cNvPr id="3" name="Rectangle 2"/>
          <p:cNvSpPr/>
          <p:nvPr/>
        </p:nvSpPr>
        <p:spPr>
          <a:xfrm>
            <a:off x="10469880" y="5230368"/>
            <a:ext cx="338328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28800" y="5806440"/>
            <a:ext cx="20756880" cy="10515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300" b="1">
                <a:solidFill>
                  <a:srgbClr val="FFFFFF"/>
                </a:solidFill>
                <a:latin typeface="Yu Gothic"/>
              </a:rPr>
              <a:t>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FFFFFF"/>
                </a:solidFill>
                <a:latin typeface="Yu Gothic"/>
              </a:rPr>
              <a:t>40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Adaptiveは低周波熱抽出ではなく、主にモデルDC更新として考える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41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834640"/>
            <a:ext cx="10789920" cy="7498079"/>
          </a:xfrm>
          <a:prstGeom prst="roundRect">
            <a:avLst/>
          </a:prstGeom>
          <a:solidFill>
            <a:srgbClr val="EAF8F1"/>
          </a:solidFill>
          <a:ln w="1651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554480" y="3246120"/>
            <a:ext cx="9875520" cy="54864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800" b="1">
                <a:solidFill>
                  <a:srgbClr val="239571"/>
                </a:solidFill>
                <a:latin typeface="Yu Gothic"/>
              </a:rPr>
              <a:t>Proposed role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4343400"/>
            <a:ext cx="9144000" cy="7315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400" b="1" dirty="0">
                <a:solidFill>
                  <a:srgbClr val="082B52"/>
                </a:solidFill>
                <a:latin typeface="Yu Gothic"/>
              </a:rPr>
              <a:t>b̂k+1 = </a:t>
            </a:r>
            <a:r>
              <a:rPr sz="3400" b="1" dirty="0" err="1">
                <a:solidFill>
                  <a:srgbClr val="082B52"/>
                </a:solidFill>
                <a:latin typeface="Yu Gothic"/>
              </a:rPr>
              <a:t>b̂k</a:t>
            </a:r>
            <a:r>
              <a:rPr sz="3400" b="1" dirty="0">
                <a:solidFill>
                  <a:srgbClr val="082B52"/>
                </a:solidFill>
                <a:latin typeface="Yu Gothic"/>
              </a:rPr>
              <a:t> + </a:t>
            </a:r>
            <a:r>
              <a:rPr sz="3400" b="1" dirty="0" err="1">
                <a:solidFill>
                  <a:srgbClr val="082B52"/>
                </a:solidFill>
                <a:latin typeface="Yu Gothic"/>
              </a:rPr>
              <a:t>Kb</a:t>
            </a:r>
            <a:r>
              <a:rPr sz="3400" b="1" dirty="0">
                <a:solidFill>
                  <a:srgbClr val="082B52"/>
                </a:solidFill>
                <a:latin typeface="Yu Gothic"/>
              </a:rPr>
              <a:t> </a:t>
            </a:r>
            <a:r>
              <a:rPr sz="3400" b="1" dirty="0" err="1">
                <a:solidFill>
                  <a:srgbClr val="082B52"/>
                </a:solidFill>
                <a:latin typeface="Yu Gothic"/>
              </a:rPr>
              <a:t>rk</a:t>
            </a:r>
            <a:endParaRPr sz="3400" b="1" dirty="0">
              <a:solidFill>
                <a:srgbClr val="082B52"/>
              </a:solidFill>
              <a:latin typeface="Yu Gothic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737360" y="5669280"/>
            <a:ext cx="9418320" cy="365760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239571"/>
                </a:solidFill>
                <a:latin typeface="Yu Gothic"/>
              </a:rPr>
              <a:t>• </a:t>
            </a:r>
            <a:r>
              <a:rPr sz="2500">
                <a:solidFill>
                  <a:srgbClr val="232B34"/>
                </a:solidFill>
                <a:latin typeface="Yu Gothic"/>
              </a:rPr>
              <a:t>a：事前解析／熱真空試験で固定</a:t>
            </a:r>
          </a:p>
          <a:p>
            <a:pPr>
              <a:spcAft>
                <a:spcPts val="800"/>
              </a:spcAft>
            </a:pPr>
            <a:r>
              <a:rPr sz="2500" b="1">
                <a:solidFill>
                  <a:srgbClr val="239571"/>
                </a:solidFill>
                <a:latin typeface="Yu Gothic"/>
              </a:rPr>
              <a:t>• </a:t>
            </a:r>
            <a:r>
              <a:rPr sz="2500">
                <a:solidFill>
                  <a:srgbClr val="232B34"/>
                </a:solidFill>
                <a:latin typeface="Yu Gothic"/>
              </a:rPr>
              <a:t>b_case：捕捉後残差で更新</a:t>
            </a:r>
          </a:p>
          <a:p>
            <a:pPr>
              <a:spcAft>
                <a:spcPts val="800"/>
              </a:spcAft>
            </a:pPr>
            <a:r>
              <a:rPr sz="2500" b="1">
                <a:solidFill>
                  <a:srgbClr val="239571"/>
                </a:solidFill>
                <a:latin typeface="Yu Gothic"/>
              </a:rPr>
              <a:t>• </a:t>
            </a:r>
            <a:r>
              <a:rPr sz="2500">
                <a:solidFill>
                  <a:srgbClr val="232B34"/>
                </a:solidFill>
                <a:latin typeface="Yu Gothic"/>
              </a:rPr>
              <a:t>同一モード・複数パスで平均</a:t>
            </a:r>
          </a:p>
          <a:p>
            <a:pPr>
              <a:spcAft>
                <a:spcPts val="800"/>
              </a:spcAft>
            </a:pPr>
            <a:r>
              <a:rPr sz="2500" b="1">
                <a:solidFill>
                  <a:srgbClr val="239571"/>
                </a:solidFill>
                <a:latin typeface="Yu Gothic"/>
              </a:rPr>
              <a:t>• </a:t>
            </a:r>
            <a:r>
              <a:rPr sz="2500">
                <a:solidFill>
                  <a:srgbClr val="232B34"/>
                </a:solidFill>
                <a:latin typeface="Yu Gothic"/>
              </a:rPr>
              <a:t>orbit/alignmentの吸収を制約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527280" y="2834640"/>
            <a:ext cx="10607040" cy="7498079"/>
          </a:xfrm>
          <a:prstGeom prst="roundRect">
            <a:avLst/>
          </a:prstGeom>
          <a:solidFill>
            <a:srgbClr val="FEF5E6"/>
          </a:solidFill>
          <a:ln w="16510">
            <a:solidFill>
              <a:srgbClr val="EC94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984480" y="3246120"/>
            <a:ext cx="9692640" cy="54864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800" b="1">
                <a:solidFill>
                  <a:srgbClr val="EC9427"/>
                </a:solidFill>
                <a:latin typeface="Yu Gothic"/>
              </a:rPr>
              <a:t>Discussion points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67360" y="4343400"/>
            <a:ext cx="9326880" cy="47548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EC9427"/>
                </a:solidFill>
                <a:latin typeface="Yu Gothic"/>
              </a:rPr>
              <a:t>• </a:t>
            </a:r>
            <a:r>
              <a:rPr sz="2400">
                <a:solidFill>
                  <a:srgbClr val="232B34"/>
                </a:solidFill>
                <a:latin typeface="Yu Gothic"/>
              </a:rPr>
              <a:t>a固定・b更新の分担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EC9427"/>
                </a:solidFill>
                <a:latin typeface="Yu Gothic"/>
              </a:rPr>
              <a:t>• </a:t>
            </a:r>
            <a:r>
              <a:rPr sz="2400">
                <a:solidFill>
                  <a:srgbClr val="232B34"/>
                </a:solidFill>
                <a:latin typeface="Yu Gothic"/>
              </a:rPr>
              <a:t>同帯域の熱／軌道誤差の識別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EC9427"/>
                </a:solidFill>
                <a:latin typeface="Yu Gothic"/>
              </a:rPr>
              <a:t>• </a:t>
            </a:r>
            <a:r>
              <a:rPr sz="2400">
                <a:solidFill>
                  <a:srgbClr val="232B34"/>
                </a:solidFill>
                <a:latin typeface="Yu Gothic"/>
              </a:rPr>
              <a:t>軌道誤差を別状態で同時推定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EC9427"/>
                </a:solidFill>
                <a:latin typeface="Yu Gothic"/>
              </a:rPr>
              <a:t>• </a:t>
            </a:r>
            <a:r>
              <a:rPr sz="2400">
                <a:solidFill>
                  <a:srgbClr val="232B34"/>
                </a:solidFill>
                <a:latin typeface="Yu Gothic"/>
              </a:rPr>
              <a:t>現在のscan modelの妥当性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EC9427"/>
                </a:solidFill>
                <a:latin typeface="Yu Gothic"/>
              </a:rPr>
              <a:t>• </a:t>
            </a:r>
            <a:r>
              <a:rPr sz="2400">
                <a:solidFill>
                  <a:srgbClr val="232B34"/>
                </a:solidFill>
                <a:latin typeface="Yu Gothic"/>
              </a:rPr>
              <a:t>ICSOまでのAdaptive実装範囲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予測可能な熱成分は除去できたため、次はDC校正と非熱共存が課題となる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42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188720" y="2926080"/>
          <a:ext cx="21945600" cy="6675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12520">
                <a:tc>
                  <a:txBody>
                    <a:bodyPr/>
                    <a:lstStyle/>
                    <a:p>
                      <a:pPr algn="l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What is established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What remains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1252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TD/Femap → STT–LCT LOS → PAT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real spacecraft validation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1252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shared |a|≈28–31 µrad/°C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MZ / non-dominant axis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1252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LOO thermal residual ≈5.5 µrad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power-continuous Level 2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1252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nonthermal tacq 156.9→59.6 s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realistic-link subset / dynamics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1252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orbit and thermal share low-frequency band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adaptive observability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1828800" y="10058400"/>
            <a:ext cx="20574000" cy="1371600"/>
          </a:xfrm>
          <a:prstGeom prst="roundRect">
            <a:avLst/>
          </a:prstGeom>
          <a:solidFill>
            <a:srgbClr val="EBF6FB"/>
          </a:solidFill>
          <a:ln w="16510">
            <a:solidFill>
              <a:srgbClr val="5BB5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377440" y="10442448"/>
            <a:ext cx="19476720" cy="54864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700" b="1">
                <a:solidFill>
                  <a:srgbClr val="082B52"/>
                </a:solidFill>
                <a:latin typeface="Yu Gothic"/>
              </a:rPr>
              <a:t>ICSOへ：モデル主張を固定し、PAT条件とAdaptiveの必要最小限を詰める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692640" y="4114800"/>
            <a:ext cx="4937760" cy="5943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700" b="0">
                <a:solidFill>
                  <a:srgbClr val="FFFFFF"/>
                </a:solidFill>
                <a:latin typeface="Yu Gothic"/>
              </a:rPr>
              <a:t>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469880" y="5230368"/>
            <a:ext cx="338328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28800" y="5806440"/>
            <a:ext cx="20756880" cy="10515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300" b="1">
                <a:solidFill>
                  <a:srgbClr val="FFFFFF"/>
                </a:solidFill>
                <a:latin typeface="Yu Gothic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FFFFFF"/>
                </a:solidFill>
                <a:latin typeface="Yu Gothic"/>
              </a:rPr>
              <a:t>43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Lightweight LOS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10390793" cy="1040285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endParaRPr lang="en-US" sz="3200" b="1" dirty="0">
              <a:solidFill>
                <a:srgbClr val="082B52"/>
              </a:solidFill>
              <a:latin typeface="Yu Gothic"/>
            </a:endParaRPr>
          </a:p>
          <a:p>
            <a:pPr algn="l"/>
            <a:r>
              <a:rPr sz="3200" b="1" dirty="0" err="1">
                <a:solidFill>
                  <a:srgbClr val="082B52"/>
                </a:solidFill>
                <a:latin typeface="Yu Gothic"/>
              </a:rPr>
              <a:t>コンポ温度の時系列追加は共線と低SNRで係数が壊れる</a:t>
            </a:r>
            <a:endParaRPr sz="3200" b="1" dirty="0">
              <a:solidFill>
                <a:srgbClr val="082B52"/>
              </a:solidFill>
              <a:latin typeface="Yu Gothic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88720" y="2834640"/>
            <a:ext cx="10332720" cy="7132320"/>
          </a:xfrm>
          <a:prstGeom prst="roundRect">
            <a:avLst/>
          </a:prstGeom>
          <a:solidFill>
            <a:srgbClr val="FDEFF0"/>
          </a:solidFill>
          <a:ln w="16510">
            <a:solidFill>
              <a:srgbClr val="D03B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645920" y="3291840"/>
            <a:ext cx="9418320" cy="54864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800" b="1">
                <a:solidFill>
                  <a:srgbClr val="D03B46"/>
                </a:solidFill>
                <a:latin typeface="Yu Gothic"/>
              </a:rPr>
              <a:t>Attempt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434840"/>
            <a:ext cx="9052560" cy="11887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100" b="1">
                <a:solidFill>
                  <a:srgbClr val="082B52"/>
                </a:solidFill>
                <a:latin typeface="Yu Gothic"/>
              </a:rPr>
              <a:t>LOS = b + a·ΔT
+ c·(Tattach−Tref)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6217920"/>
            <a:ext cx="9052560" cy="274320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D03B46"/>
                </a:solidFill>
                <a:latin typeface="Yu Gothic"/>
              </a:rPr>
              <a:t>• </a:t>
            </a:r>
            <a:r>
              <a:rPr sz="2500">
                <a:solidFill>
                  <a:srgbClr val="232B34"/>
                </a:solidFill>
                <a:latin typeface="Yu Gothic"/>
              </a:rPr>
              <a:t>corr(ΔT,TPCDU)≈0.995</a:t>
            </a:r>
          </a:p>
          <a:p>
            <a:pPr>
              <a:spcAft>
                <a:spcPts val="800"/>
              </a:spcAft>
            </a:pPr>
            <a:r>
              <a:rPr sz="2500" b="1">
                <a:solidFill>
                  <a:srgbClr val="D03B46"/>
                </a:solidFill>
                <a:latin typeface="Yu Gothic"/>
              </a:rPr>
              <a:t>• </a:t>
            </a:r>
            <a:r>
              <a:rPr sz="2500">
                <a:solidFill>
                  <a:srgbClr val="232B34"/>
                </a:solidFill>
                <a:latin typeface="Yu Gothic"/>
              </a:rPr>
              <a:t>local std≈0.1°C</a:t>
            </a:r>
          </a:p>
          <a:p>
            <a:pPr>
              <a:spcAft>
                <a:spcPts val="800"/>
              </a:spcAft>
            </a:pPr>
            <a:r>
              <a:rPr sz="2500" b="1">
                <a:solidFill>
                  <a:srgbClr val="D03B46"/>
                </a:solidFill>
                <a:latin typeface="Yu Gothic"/>
              </a:rPr>
              <a:t>• </a:t>
            </a:r>
            <a:r>
              <a:rPr sz="2500">
                <a:solidFill>
                  <a:srgbClr val="232B34"/>
                </a:solidFill>
                <a:latin typeface="Yu Gothic"/>
              </a:rPr>
              <a:t>係数が巨大化</a:t>
            </a:r>
          </a:p>
          <a:p>
            <a:pPr>
              <a:spcAft>
                <a:spcPts val="800"/>
              </a:spcAft>
            </a:pPr>
            <a:r>
              <a:rPr sz="2500" b="1">
                <a:solidFill>
                  <a:srgbClr val="D03B46"/>
                </a:solidFill>
                <a:latin typeface="Yu Gothic"/>
              </a:rPr>
              <a:t>• </a:t>
            </a:r>
            <a:r>
              <a:rPr sz="2500">
                <a:solidFill>
                  <a:srgbClr val="232B34"/>
                </a:solidFill>
                <a:latin typeface="Yu Gothic"/>
              </a:rPr>
              <a:t>ケース間で不安定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1887200" y="6217920"/>
            <a:ext cx="1280160" cy="0"/>
          </a:xfrm>
          <a:prstGeom prst="line">
            <a:avLst/>
          </a:prstGeom>
          <a:ln w="508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3533120" y="2834640"/>
            <a:ext cx="9509760" cy="7132320"/>
          </a:xfrm>
          <a:prstGeom prst="roundRect">
            <a:avLst/>
          </a:prstGeom>
          <a:solidFill>
            <a:srgbClr val="EAF8F1"/>
          </a:solidFill>
          <a:ln w="1651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3990320" y="3291840"/>
            <a:ext cx="8595360" cy="54864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800" b="1">
                <a:solidFill>
                  <a:srgbClr val="239571"/>
                </a:solidFill>
                <a:latin typeface="Yu Gothic"/>
              </a:rPr>
              <a:t>Interpretation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356080" y="4572000"/>
            <a:ext cx="7863840" cy="201168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3100" b="1">
                <a:solidFill>
                  <a:srgbClr val="082B52"/>
                </a:solidFill>
                <a:latin typeface="Yu Gothic"/>
              </a:rPr>
              <a:t>効いていたのは
軌道内変動ではなく
ケース平均DC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721840" y="7543800"/>
            <a:ext cx="7132320" cy="59436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900" b="1">
                <a:solidFill>
                  <a:srgbClr val="239571"/>
                </a:solidFill>
                <a:latin typeface="Yu Gothic"/>
              </a:rPr>
              <a:t>→ b_case側へ分離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10652760"/>
            <a:ext cx="16642080" cy="64008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sz="2800" b="1">
                <a:solidFill>
                  <a:srgbClr val="082B52"/>
                </a:solidFill>
                <a:latin typeface="Yu Gothic"/>
              </a:rPr>
              <a:t>RMSEだけでなく、係数の安定性と運用解釈でモデルを選ぶ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関連研究の位置づけ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A1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0" y="2926080"/>
          <a:ext cx="20665440" cy="7360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6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Item</a:t>
                      </a:r>
                    </a:p>
                  </a:txBody>
                  <a:tcPr marL="64008" marR="64008" marT="27432" marB="27432" anchor="ctr">
                    <a:solidFill>
                      <a:srgbClr val="5D408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Detail</a:t>
                      </a:r>
                    </a:p>
                  </a:txBody>
                  <a:tcPr marL="64008" marR="64008" marT="27432" marB="27432" anchor="ctr">
                    <a:solidFill>
                      <a:srgbClr val="5D408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Badás et al. 2024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FSOC opto-thermo-mechanical review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Shi et al. 2023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bus optimization → acquisition time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Hu et al. 2022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GEO Fourier compensation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Li et al. 2025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LEO geometry → NN LOS correction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JANUS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optical-head LOS≈KΔT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51565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Rüddenklau et al.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body-pointing FF, not thermal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全解析ケースの設計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A2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280160" y="2834640"/>
          <a:ext cx="21762720" cy="731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904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Cases</a:t>
                      </a:r>
                    </a:p>
                  </a:txBody>
                  <a:tcPr marL="64008" marR="64008" marT="27432" marB="27432" anchor="ctr">
                    <a:solidFill>
                      <a:srgbClr val="5D408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Sun</a:t>
                      </a:r>
                    </a:p>
                  </a:txBody>
                  <a:tcPr marL="64008" marR="64008" marT="27432" marB="27432" anchor="ctr">
                    <a:solidFill>
                      <a:srgbClr val="5D408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Power / condition</a:t>
                      </a:r>
                    </a:p>
                  </a:txBody>
                  <a:tcPr marL="64008" marR="64008" marT="27432" marB="27432" anchor="ctr">
                    <a:solidFill>
                      <a:srgbClr val="5D408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04,13–15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MY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ALL / +PROP / +PCDU / STTLCT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08,16,18,19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PY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ALL / STTLCT / +PROP / +PCDU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05,06,20,21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PX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ALL / STTLCT / +PROP / +PCDU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09,17,23,24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MX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ALL / STTLCT / +PROP / +PCDU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10–12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MY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HOT / Black / Alodine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22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MY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PROP 12.5 W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25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MY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LTAN18 / 693 km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熱光学特性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A3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0" y="2926080"/>
          <a:ext cx="206654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6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51560">
                <a:tc>
                  <a:txBody>
                    <a:bodyPr/>
                    <a:lstStyle/>
                    <a:p>
                      <a:pPr algn="l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Item</a:t>
                      </a:r>
                    </a:p>
                  </a:txBody>
                  <a:tcPr marL="64008" marR="64008" marT="27432" marB="27432" anchor="ctr">
                    <a:solidFill>
                      <a:srgbClr val="5D408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Detail</a:t>
                      </a:r>
                    </a:p>
                  </a:txBody>
                  <a:tcPr marL="64008" marR="64008" marT="27432" marB="27432" anchor="ctr">
                    <a:solidFill>
                      <a:srgbClr val="5D408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Alodine 1000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α=0.150, ε=0.038, α/ε=3.947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Black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α=0.974, ε=0.920, α/ε=1.059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0.5 synthetic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α=0.500, ε=0.500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LOS定義の比較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A4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743200"/>
            <a:ext cx="21945600" cy="8412480"/>
          </a:xfrm>
          <a:prstGeom prst="rect">
            <a:avLst/>
          </a:prstGeom>
          <a:noFill/>
          <a:ln w="1270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los_definition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3216" y="2743200"/>
            <a:ext cx="9253728" cy="841248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Level-2係数と解釈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A5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0" y="2926080"/>
          <a:ext cx="20665440" cy="7360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6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Item</a:t>
                      </a:r>
                    </a:p>
                  </a:txBody>
                  <a:tcPr marL="64008" marR="64008" marT="27432" marB="27432" anchor="ctr">
                    <a:solidFill>
                      <a:srgbClr val="5D408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Detail</a:t>
                      </a:r>
                    </a:p>
                  </a:txBody>
                  <a:tcPr marL="64008" marR="64008" marT="27432" marB="27432" anchor="ctr">
                    <a:solidFill>
                      <a:srgbClr val="5D408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b0_MX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+15.7 µrad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b0_MY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+2.8 µrad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b0_PX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−12.0 µrad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b0_PY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−24.0 µrad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c_PROP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−22.9 µrad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51565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c_PCDU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−10.2 µrad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モデルの難しいケース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A6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834640"/>
            <a:ext cx="7223760" cy="6675120"/>
          </a:xfrm>
          <a:prstGeom prst="rect">
            <a:avLst/>
          </a:prstGeom>
          <a:noFill/>
          <a:ln w="1270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case11_bcase_true_vs_p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420291"/>
            <a:ext cx="7223760" cy="550381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458200" y="2834640"/>
            <a:ext cx="7223760" cy="6675120"/>
          </a:xfrm>
          <a:prstGeom prst="rect">
            <a:avLst/>
          </a:prstGeom>
          <a:noFill/>
          <a:ln w="1270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case22_bcase_true_vs_p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3420291"/>
            <a:ext cx="7223760" cy="5503817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6184880" y="2834640"/>
            <a:ext cx="7223760" cy="6675120"/>
          </a:xfrm>
          <a:prstGeom prst="rect">
            <a:avLst/>
          </a:prstGeom>
          <a:noFill/>
          <a:ln w="1270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case25_bcase_true_vs_pr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184880" y="3420291"/>
            <a:ext cx="7223760" cy="5503817"/>
          </a:xfrm>
          <a:prstGeom prst="rect">
            <a:avLst/>
          </a:prstGeom>
        </p:spPr>
      </p:pic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743200" y="9829800"/>
          <a:ext cx="189280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4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</a:rPr>
                        <a:t>Case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>
                          <a:solidFill>
                            <a:srgbClr val="FFFFFF"/>
                          </a:solidFill>
                          <a:latin typeface="Yu Gothic"/>
                        </a:rPr>
                        <a:t>Issue</a:t>
                      </a: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11 Black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oracle floor ≈13 µrad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22 half power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ON/OFF b mismatch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25 all-sun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32B34"/>
                          </a:solidFill>
                          <a:latin typeface="Yu Gothic"/>
                        </a:rPr>
                        <a:t>thermal LOS nearly DC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軌道予測誤差の仮定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A7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0" y="2926080"/>
          <a:ext cx="20665440" cy="63093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6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Item</a:t>
                      </a:r>
                    </a:p>
                  </a:txBody>
                  <a:tcPr marL="64008" marR="64008" marT="27432" marB="27432" anchor="ctr">
                    <a:solidFill>
                      <a:srgbClr val="5D408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Detail</a:t>
                      </a:r>
                    </a:p>
                  </a:txBody>
                  <a:tcPr marL="64008" marR="64008" marT="27432" marB="27432" anchor="ctr">
                    <a:solidFill>
                      <a:srgbClr val="5D408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Truth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Sentinel-1 AUX_POEORB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Prediction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latest TLE + SGP4 forward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Partner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truth-known, one-sided error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Range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800 km ISL or nadir altitude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51564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Resampling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cyclic to TD/Femap time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STT-frame射影結果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A8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0" y="2926080"/>
          <a:ext cx="20665440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6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51560">
                <a:tc>
                  <a:txBody>
                    <a:bodyPr/>
                    <a:lstStyle/>
                    <a:p>
                      <a:pPr algn="l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Item</a:t>
                      </a:r>
                    </a:p>
                  </a:txBody>
                  <a:tcPr marL="64008" marR="64008" marT="27432" marB="27432" anchor="ctr">
                    <a:solidFill>
                      <a:srgbClr val="5D408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Detail</a:t>
                      </a:r>
                    </a:p>
                  </a:txBody>
                  <a:tcPr marL="64008" marR="64008" marT="27432" marB="27432" anchor="ctr">
                    <a:solidFill>
                      <a:srgbClr val="5D408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MY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ISL along-track / 285 µrad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PY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ISL anti-along / 285 µrad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PX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ground nadir / 694 µrad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MX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zenith proxy / 612 µrad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PATスキャンの注意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A9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0" y="2926080"/>
          <a:ext cx="20665440" cy="63093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6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Item</a:t>
                      </a:r>
                    </a:p>
                  </a:txBody>
                  <a:tcPr marL="64008" marR="64008" marT="27432" marB="27432" anchor="ctr">
                    <a:solidFill>
                      <a:srgbClr val="5D408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Detail</a:t>
                      </a:r>
                    </a:p>
                  </a:txBody>
                  <a:tcPr marL="64008" marR="64008" marT="27432" marB="27432" anchor="ctr">
                    <a:solidFill>
                      <a:srgbClr val="5D408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Coverage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40 µrad grid, 25 µrad radius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Dynamics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no slew / settling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Target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constant during one scan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51559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Statistics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mean tacq conditional on success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51564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Opportunities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each sample independent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Adaptive候補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A10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0" y="2926080"/>
          <a:ext cx="20665440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6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51560">
                <a:tc>
                  <a:txBody>
                    <a:bodyPr/>
                    <a:lstStyle/>
                    <a:p>
                      <a:pPr algn="l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Item</a:t>
                      </a:r>
                    </a:p>
                  </a:txBody>
                  <a:tcPr marL="64008" marR="64008" marT="27432" marB="27432" anchor="ctr">
                    <a:solidFill>
                      <a:srgbClr val="5D408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Yu Gothic"/>
                        </a:rPr>
                        <a:t>Detail</a:t>
                      </a:r>
                    </a:p>
                  </a:txBody>
                  <a:tcPr marL="64008" marR="64008" marT="27432" marB="27432" anchor="ctr">
                    <a:solidFill>
                      <a:srgbClr val="5D408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Scalar EWMA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b only; simplest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Kalman filter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b + orbit/alignment states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Mode-conditioned table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sun face × power mode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algn="l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Batch pass update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0">
                          <a:solidFill>
                            <a:srgbClr val="232B34"/>
                          </a:solidFill>
                          <a:latin typeface="Yu Gothic"/>
                        </a:rPr>
                        <a:t>avoid single-acquisition contamination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5029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2000" b="0">
                <a:solidFill>
                  <a:srgbClr val="666F79"/>
                </a:solidFill>
                <a:latin typeface="Yu Gothic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960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3200" b="1">
                <a:solidFill>
                  <a:srgbClr val="082B52"/>
                </a:solidFill>
                <a:latin typeface="Yu Gothic"/>
              </a:rPr>
              <a:t>主要参考文献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0" y="12819888"/>
            <a:ext cx="2011680" cy="384048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sz="1800" b="0">
                <a:solidFill>
                  <a:srgbClr val="666F79"/>
                </a:solidFill>
                <a:latin typeface="Yu Gothic"/>
              </a:rPr>
              <a:t>A11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834640"/>
            <a:ext cx="21671280" cy="7955279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800"/>
              </a:spcAft>
            </a:pPr>
            <a:r>
              <a:rPr sz="2500" b="1">
                <a:solidFill>
                  <a:srgbClr val="5D4084"/>
                </a:solidFill>
                <a:latin typeface="Yu Gothic"/>
              </a:rPr>
              <a:t>• </a:t>
            </a:r>
            <a:r>
              <a:rPr sz="2500">
                <a:solidFill>
                  <a:srgbClr val="232B34"/>
                </a:solidFill>
                <a:latin typeface="Yu Gothic"/>
              </a:rPr>
              <a:t>Riesing et al., TBIRD PAT on-orbit results, SPIE 2023</a:t>
            </a:r>
          </a:p>
          <a:p>
            <a:pPr>
              <a:spcAft>
                <a:spcPts val="800"/>
              </a:spcAft>
            </a:pPr>
            <a:r>
              <a:rPr sz="2500" b="1">
                <a:solidFill>
                  <a:srgbClr val="5D4084"/>
                </a:solidFill>
                <a:latin typeface="Yu Gothic"/>
              </a:rPr>
              <a:t>• </a:t>
            </a:r>
            <a:r>
              <a:rPr sz="2500">
                <a:solidFill>
                  <a:srgbClr val="232B34"/>
                </a:solidFill>
                <a:latin typeface="Yu Gothic"/>
              </a:rPr>
              <a:t>Shi et al., Thermal Deformation Stability Optimization, 2023</a:t>
            </a:r>
          </a:p>
          <a:p>
            <a:pPr>
              <a:spcAft>
                <a:spcPts val="800"/>
              </a:spcAft>
            </a:pPr>
            <a:r>
              <a:rPr sz="2500" b="1">
                <a:solidFill>
                  <a:srgbClr val="5D4084"/>
                </a:solidFill>
                <a:latin typeface="Yu Gothic"/>
              </a:rPr>
              <a:t>• </a:t>
            </a:r>
            <a:r>
              <a:rPr sz="2500">
                <a:solidFill>
                  <a:srgbClr val="232B34"/>
                </a:solidFill>
                <a:latin typeface="Yu Gothic"/>
              </a:rPr>
              <a:t>Badás et al., Opto-thermo-mechanical phenomena in satellite FSOC, 2024</a:t>
            </a:r>
          </a:p>
          <a:p>
            <a:pPr>
              <a:spcAft>
                <a:spcPts val="800"/>
              </a:spcAft>
            </a:pPr>
            <a:r>
              <a:rPr sz="2500" b="1">
                <a:solidFill>
                  <a:srgbClr val="5D4084"/>
                </a:solidFill>
                <a:latin typeface="Yu Gothic"/>
              </a:rPr>
              <a:t>• </a:t>
            </a:r>
            <a:r>
              <a:rPr sz="2500">
                <a:solidFill>
                  <a:srgbClr val="232B34"/>
                </a:solidFill>
                <a:latin typeface="Yu Gothic"/>
              </a:rPr>
              <a:t>Hu et al., On-Board Thermal Motion Compensation, 2022</a:t>
            </a:r>
          </a:p>
          <a:p>
            <a:pPr>
              <a:spcAft>
                <a:spcPts val="800"/>
              </a:spcAft>
            </a:pPr>
            <a:r>
              <a:rPr sz="2500" b="1">
                <a:solidFill>
                  <a:srgbClr val="5D4084"/>
                </a:solidFill>
                <a:latin typeface="Yu Gothic"/>
              </a:rPr>
              <a:t>• </a:t>
            </a:r>
            <a:r>
              <a:rPr sz="2500">
                <a:solidFill>
                  <a:srgbClr val="232B34"/>
                </a:solidFill>
                <a:latin typeface="Yu Gothic"/>
              </a:rPr>
              <a:t>Li et al., Thermal Deformation LOS Correction in LEO, 2025</a:t>
            </a:r>
          </a:p>
          <a:p>
            <a:pPr>
              <a:spcAft>
                <a:spcPts val="800"/>
              </a:spcAft>
            </a:pPr>
            <a:r>
              <a:rPr sz="2500" b="1">
                <a:solidFill>
                  <a:srgbClr val="5D4084"/>
                </a:solidFill>
                <a:latin typeface="Yu Gothic"/>
              </a:rPr>
              <a:t>• </a:t>
            </a:r>
            <a:r>
              <a:rPr sz="2500">
                <a:solidFill>
                  <a:srgbClr val="232B34"/>
                </a:solidFill>
                <a:latin typeface="Yu Gothic"/>
              </a:rPr>
              <a:t>Rüddenklau et al., Feed-Forward Body-Pointing Compensation, 2024</a:t>
            </a:r>
          </a:p>
          <a:p>
            <a:pPr>
              <a:spcAft>
                <a:spcPts val="800"/>
              </a:spcAft>
            </a:pPr>
            <a:r>
              <a:rPr sz="2500" b="1">
                <a:solidFill>
                  <a:srgbClr val="5D4084"/>
                </a:solidFill>
                <a:latin typeface="Yu Gothic"/>
              </a:rPr>
              <a:t>• </a:t>
            </a:r>
            <a:r>
              <a:rPr sz="2500">
                <a:solidFill>
                  <a:srgbClr val="232B34"/>
                </a:solidFill>
                <a:latin typeface="Yu Gothic"/>
              </a:rPr>
              <a:t>JANUS optical-head thermo-elastic LOS model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ISSL true">
      <a:dk1>
        <a:srgbClr val="062654"/>
      </a:dk1>
      <a:lt1>
        <a:srgbClr val="FFFFFF"/>
      </a:lt1>
      <a:dk2>
        <a:srgbClr val="4B4B4B"/>
      </a:dk2>
      <a:lt2>
        <a:srgbClr val="8D8D8D"/>
      </a:lt2>
      <a:accent1>
        <a:srgbClr val="067BCA"/>
      </a:accent1>
      <a:accent2>
        <a:srgbClr val="C95656"/>
      </a:accent2>
      <a:accent3>
        <a:srgbClr val="EBA123"/>
      </a:accent3>
      <a:accent4>
        <a:srgbClr val="87AC70"/>
      </a:accent4>
      <a:accent5>
        <a:srgbClr val="B3618D"/>
      </a:accent5>
      <a:accent6>
        <a:srgbClr val="D16449"/>
      </a:accent6>
      <a:hlink>
        <a:srgbClr val="467886"/>
      </a:hlink>
      <a:folHlink>
        <a:srgbClr val="96607D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issl-template-ja-16-9" id="{4C5265F7-3B2E-5145-B81F-B8693CA354B3}" vid="{5C8F6914-05D8-EA47-8853-1E6EC346794D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issl-template-ja-16-9</Template>
  <TotalTime>597</TotalTime>
  <Words>3815</Words>
  <Application>Microsoft Office PowerPoint</Application>
  <PresentationFormat>ユーザー設定</PresentationFormat>
  <Paragraphs>920</Paragraphs>
  <Slides>53</Slides>
  <Notes>53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53</vt:i4>
      </vt:variant>
    </vt:vector>
  </HeadingPairs>
  <TitlesOfParts>
    <vt:vector size="60" baseType="lpstr">
      <vt:lpstr>游ゴシック</vt:lpstr>
      <vt:lpstr>游ゴシック</vt:lpstr>
      <vt:lpstr>Yu Gothic Medium</vt:lpstr>
      <vt:lpstr>Aptos</vt:lpstr>
      <vt:lpstr>Arial</vt:lpstr>
      <vt:lpstr>Cambria Math</vt:lpstr>
      <vt:lpstr>Office テーマ</vt:lpstr>
      <vt:lpstr>Feedforward and Adaptive Correction of Time-Varying Thermal Bias for Coarse Acquisition in Optical Communication Systems</vt:lpstr>
      <vt:lpstr>01</vt:lpstr>
      <vt:lpstr>本日の目標：熱ひずみ予測モデルをレビューしてもらう</vt:lpstr>
      <vt:lpstr>やりたいこと：熱ひずみによる粗捕捉開始時の scan-center error を運用側で改善</vt:lpstr>
      <vt:lpstr>進捗：2か月で熱LOS真値生成・軽量モデル構築・PAT統合評価まで進んだ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高本　英熙</dc:creator>
  <cp:lastModifiedBy>高本　英熙</cp:lastModifiedBy>
  <cp:revision>12</cp:revision>
  <dcterms:created xsi:type="dcterms:W3CDTF">2026-05-11T08:23:04Z</dcterms:created>
  <dcterms:modified xsi:type="dcterms:W3CDTF">2026-07-20T14:16:34Z</dcterms:modified>
</cp:coreProperties>
</file>