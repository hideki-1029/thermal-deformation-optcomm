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6"/>
  </p:notesMasterIdLst>
  <p:sldIdLst>
    <p:sldId id="263" r:id="rId2"/>
    <p:sldId id="257" r:id="rId3"/>
    <p:sldId id="258" r:id="rId4"/>
    <p:sldId id="282" r:id="rId5"/>
    <p:sldId id="264" r:id="rId6"/>
    <p:sldId id="266" r:id="rId7"/>
    <p:sldId id="276" r:id="rId8"/>
    <p:sldId id="277" r:id="rId9"/>
    <p:sldId id="283" r:id="rId10"/>
    <p:sldId id="275" r:id="rId11"/>
    <p:sldId id="268" r:id="rId12"/>
    <p:sldId id="269" r:id="rId13"/>
    <p:sldId id="270" r:id="rId14"/>
    <p:sldId id="271" r:id="rId15"/>
    <p:sldId id="272" r:id="rId16"/>
    <p:sldId id="274" r:id="rId17"/>
    <p:sldId id="284" r:id="rId18"/>
    <p:sldId id="273" r:id="rId19"/>
    <p:sldId id="285" r:id="rId20"/>
    <p:sldId id="286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A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484" autoAdjust="0"/>
  </p:normalViewPr>
  <p:slideViewPr>
    <p:cSldViewPr snapToGrid="0">
      <p:cViewPr>
        <p:scale>
          <a:sx n="33" d="100"/>
          <a:sy n="33" d="100"/>
        </p:scale>
        <p:origin x="-39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80C97-2400-5344-89F3-3CED47A68B44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C54EC6-2177-1447-9798-A1A3B80469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3627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7月6日の発表以降の進捗として、階層ΔTモデル、PAT評価、軌道予測誤差の導入を報告する。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冒頭で前回までの位置づけと今回のゴールを共有する。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本日は完成報告ではなく設計レビュー。モデル、PAT、Adaptiveの3点についてフィードバックをもらいたい。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光RG向けの復習。熱変形自体ではなくSTT基準とLCT光軸の差が粗捕捉開始時のscan-center errorになる。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7月6日との違いを一枚で示す。当時の25.8秒は条件が異なる予備結果なので今回とは直接比較しない。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全体フロー。TD/Femapは高忠実度参照で、軌道上では軽量モデルのみを使う。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研究の主張を3段階で示す。最終評価はLOS RMSEだけでなく捕捉時間。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02: Thermo-structural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簡略shell衛星。LCTはMZ、STTはPZ、PROP/PCDUは±Y側。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PAT主入力はfar-field relative rotation。並進成分を含む角度は診断用。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基本3軌道。先頭1軌道をモデル同定、残り2軌道をtestに用いる。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実機詳細モデルではない。構造・拘束条件依存性が残る点を明示する。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発熱モードはLevel 2の説明変数。半電力case22はON/OFFフラグの限界を確認する。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21ケースはいずれも同じ基本構造の感度ケースで、別機体への汎化ではない。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光学特性未反映やmapper混線を経験し、ケースID管理を強化した。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case04。太陽面と反対面の温度差が支配軸LOSを説明できそうだと分かった。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対向面で符号反転。被覆は残差床、発熱はΔTとDC、軌道条件は時変量を変える。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03: Lightweight LOS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Fourierよりも物理入力で軌道条件の変化を扱いたい。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見かけのRMSE改善より、共線で係数解釈が壊れることを問題視した。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Level 1は支配軸のみ。非支配軸は現状モデル外。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現在は発熱フラグをMY/PYで有効化し、MX/PXでは差が小さいため無効。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bはLOOだがa_sharedは対象ケースを含む中央値で完全LOOではない。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aの安定性がモデルの核心。Adaptiveで毎回aを学ぶ必要性は低そう。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最大LOO残差は半電力case22で13.2 µrad。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半電力ではaは合うが、ON/OFF Level 2では中間bを表せない。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モデル精度の主数字。統計量の違いを明示する。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ΔT一次関係はJANUSにある。差分はバス相対LOS、階層DC、粗捕捉性能への接続。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モデル結果からAdaptiveの対象を再整理する。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04: PAT evaluation and orbit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非熱誤差は補正対象外で残る。熱モデル能力とシステム性能を分けて読む。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平均捕捉時間は成功試行のみの条件付き平均。成功率を併記する。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軌道のみ実データ根拠が強く、他は代表値の簡易モデル。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予測時刻より未来のTLEを使わない。現状は代表外乱としてcyclicに載せる。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以前の任意ECEF-Z基底からSTT/bodyへ接続。MX proxyに注意。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熱も軌道も軌道位相依存。低周波残差を熱として取り込む説明は修正する。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Staticが良いのはDC支配ケースが多いから。平均時間は成功試行条件付き。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21ケース単純平均。MY/PYで大幅改善、PX/MXは軌道誤差支配。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全平均だけでなくケース依存性を見せる。MXをどう扱うか議論したい。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05: Discussion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ここから議論。周波数分離ではなく事前情報を使う状態推定が必要。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本編まとめ。ここで議論へ移る。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A: Appendix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関連研究の位置づけ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全解析ケースの設計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熱光学特性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LOS定義の比較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Level-2係数と解釈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モデルの難しいケース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軌道予測誤差の仮定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STT-frame射影結果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PATスキャンの注意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Adaptive候補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主要参考文献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77201" y="7340600"/>
            <a:ext cx="12431685" cy="2125436"/>
          </a:xfrm>
        </p:spPr>
        <p:txBody>
          <a:bodyPr anchor="b"/>
          <a:lstStyle>
            <a:lvl1pPr algn="l">
              <a:defRPr sz="4800" spc="3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7201" y="9794966"/>
            <a:ext cx="12431684" cy="2351314"/>
          </a:xfrm>
        </p:spPr>
        <p:txBody>
          <a:bodyPr/>
          <a:lstStyle>
            <a:lvl1pPr marL="0" indent="0" algn="l">
              <a:lnSpc>
                <a:spcPct val="50000"/>
              </a:lnSpc>
              <a:buNone/>
              <a:defRPr sz="3600" b="0">
                <a:solidFill>
                  <a:schemeClr val="tx2"/>
                </a:solidFill>
              </a:defRPr>
            </a:lvl1pPr>
            <a:lvl2pPr marL="914354" indent="0" algn="ctr">
              <a:buNone/>
              <a:defRPr sz="4000"/>
            </a:lvl2pPr>
            <a:lvl3pPr marL="1828709" indent="0" algn="ctr">
              <a:buNone/>
              <a:defRPr sz="3600"/>
            </a:lvl3pPr>
            <a:lvl4pPr marL="2743063" indent="0" algn="ctr">
              <a:buNone/>
              <a:defRPr sz="3200"/>
            </a:lvl4pPr>
            <a:lvl5pPr marL="3657417" indent="0" algn="ctr">
              <a:buNone/>
              <a:defRPr sz="3200"/>
            </a:lvl5pPr>
            <a:lvl6pPr marL="4571771" indent="0" algn="ctr">
              <a:buNone/>
              <a:defRPr sz="3200"/>
            </a:lvl6pPr>
            <a:lvl7pPr marL="5486126" indent="0" algn="ctr">
              <a:buNone/>
              <a:defRPr sz="3200"/>
            </a:lvl7pPr>
            <a:lvl8pPr marL="6400480" indent="0" algn="ctr">
              <a:buNone/>
              <a:defRPr sz="3200"/>
            </a:lvl8pPr>
            <a:lvl9pPr marL="7314834" indent="0" algn="ctr">
              <a:buNone/>
              <a:defRPr sz="3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E69BD-F0A9-D945-85B5-A92D8C4A6243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DAD6F10-9E3C-081C-FAC9-2F96D835D9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483539" y="6261101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プレースホルダー 8">
            <a:extLst>
              <a:ext uri="{FF2B5EF4-FFF2-40B4-BE49-F238E27FC236}">
                <a16:creationId xmlns:a16="http://schemas.microsoft.com/office/drawing/2014/main" id="{3A47DA29-0B22-B527-E246-85A23FDB4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677201" y="6261101"/>
            <a:ext cx="5625347" cy="698499"/>
          </a:xfrm>
        </p:spPr>
        <p:txBody>
          <a:bodyPr/>
          <a:lstStyle>
            <a:lvl1pPr algn="l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テキスト プレースホルダー 8">
            <a:extLst>
              <a:ext uri="{FF2B5EF4-FFF2-40B4-BE49-F238E27FC236}">
                <a16:creationId xmlns:a16="http://schemas.microsoft.com/office/drawing/2014/main" id="{3ABD93C0-C51C-2948-0F33-2EF4B6841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83538" y="5413377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99124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8300" y="4192765"/>
            <a:ext cx="4965808" cy="1795335"/>
          </a:xfrm>
        </p:spPr>
        <p:txBody>
          <a:bodyPr anchor="b"/>
          <a:lstStyle>
            <a:lvl1pPr algn="ctr">
              <a:defRPr sz="5600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89" y="7727900"/>
            <a:ext cx="21029831" cy="3000374"/>
          </a:xfrm>
        </p:spPr>
        <p:txBody>
          <a:bodyPr/>
          <a:lstStyle>
            <a:lvl1pPr marL="0" indent="0" algn="ctr">
              <a:buNone/>
              <a:defRPr sz="5600" spc="300">
                <a:solidFill>
                  <a:schemeClr val="bg1"/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E95FB-2235-2F42-91D0-8B9F16BE7B80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872E8AAC-513B-BB73-EF3E-6F21C4AF6A77}"/>
              </a:ext>
            </a:extLst>
          </p:cNvPr>
          <p:cNvCxnSpPr>
            <a:cxnSpLocks/>
          </p:cNvCxnSpPr>
          <p:nvPr userDrawn="1"/>
        </p:nvCxnSpPr>
        <p:spPr>
          <a:xfrm>
            <a:off x="11254952" y="6858000"/>
            <a:ext cx="1872509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003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378" y="3104147"/>
            <a:ext cx="23020980" cy="924977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ED544-ACEE-1142-A4DF-052F81DCAF13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1B145F9-61C6-1870-CE50-37506B7E4EF4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968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A8DA76-1C10-5547-91CE-253BD16E32D7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182735"/>
            <a:ext cx="11364543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3182735"/>
            <a:ext cx="11364543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D7CF2C5-496E-3F41-87A5-8BF20107D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D55661E-ACB1-18CB-79CA-CE03DAB48599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48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3E895-CCE5-A241-A85F-670DB4C916C8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685F9C02-29EC-4168-A599-AFD3B71ED2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4114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6165EC21-36B4-4CED-0569-C34ACFFC9B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429459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D06260A-761F-95EE-B2CA-F7236CCF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685353A-F7C6-F829-267C-FA087B7BBA8F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6196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4C7F2-45E9-0742-99C2-D62F245DFEC9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0F6B-7CC3-BA66-8706-C8D1A03DEF88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466772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8965DEA-F2AC-C400-E7ED-BAFF867547B1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6387489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D0E9647-9028-AEF2-D4FC-0AC5B2CFA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3A54D1E-D7CD-DFE1-2E29-70A06AFEC982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7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9897-8C2A-CB44-93BE-9BFBC7559B74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テキスト プレースホルダー 10">
            <a:extLst>
              <a:ext uri="{FF2B5EF4-FFF2-40B4-BE49-F238E27FC236}">
                <a16:creationId xmlns:a16="http://schemas.microsoft.com/office/drawing/2014/main" id="{2D417ACA-1B7B-F655-60FA-EDD80F82E6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98EEB2B-456E-ACC0-29AE-C347BAE7F46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449492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テキスト プレースホルダー 10">
            <a:extLst>
              <a:ext uri="{FF2B5EF4-FFF2-40B4-BE49-F238E27FC236}">
                <a16:creationId xmlns:a16="http://schemas.microsoft.com/office/drawing/2014/main" id="{6F409C7A-D2E8-2D36-6086-331B6DCB40D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404925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06D87F6-15FE-35D7-1017-BB745C23F61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16350303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テキスト プレースホルダー 10">
            <a:extLst>
              <a:ext uri="{FF2B5EF4-FFF2-40B4-BE49-F238E27FC236}">
                <a16:creationId xmlns:a16="http://schemas.microsoft.com/office/drawing/2014/main" id="{3B277172-6A10-80CC-49F6-E3A8C94583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6305736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194081A-47C8-EFEA-0CF4-1F31377C0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4DF2C9F-ACE0-585B-AAD3-3DD14251BADD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5884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09540-48D4-DC4E-A020-784E13A6C686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F385C3C-D291-ECD3-9330-C9FEFA3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AA52CC1-C979-7DAC-F8FF-07CEF0898376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93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09540-48D4-DC4E-A020-784E13A6C686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C9B2C448-12D1-42AE-F7D0-C8AED70F60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4" name="テキスト プレースホルダー 10">
            <a:extLst>
              <a:ext uri="{FF2B5EF4-FFF2-40B4-BE49-F238E27FC236}">
                <a16:creationId xmlns:a16="http://schemas.microsoft.com/office/drawing/2014/main" id="{C1871C9F-CBB5-6510-4C84-37F671317ED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432350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6" name="テキスト プレースホルダー 10">
            <a:extLst>
              <a:ext uri="{FF2B5EF4-FFF2-40B4-BE49-F238E27FC236}">
                <a16:creationId xmlns:a16="http://schemas.microsoft.com/office/drawing/2014/main" id="{E5E7CD5A-D74B-3BF3-1D34-C6BC3F85556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4114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8" name="テキスト プレースホルダー 10">
            <a:extLst>
              <a:ext uri="{FF2B5EF4-FFF2-40B4-BE49-F238E27FC236}">
                <a16:creationId xmlns:a16="http://schemas.microsoft.com/office/drawing/2014/main" id="{2F9C9DEC-0751-3E49-640C-C623BA98351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2432350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428B87E-4E5C-BD4A-B7B9-5CD017C23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564866-3642-1515-F78F-EBC63CFFFD78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96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5357813"/>
            <a:ext cx="21029831" cy="3000374"/>
          </a:xfrm>
        </p:spPr>
        <p:txBody>
          <a:bodyPr anchor="ctr"/>
          <a:lstStyle>
            <a:lvl1pPr marL="0" indent="0" algn="ctr">
              <a:buNone/>
              <a:defRPr sz="5600" spc="300">
                <a:solidFill>
                  <a:schemeClr val="bg1"/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96E1F-697B-864D-A8BC-B9F203AEA5AC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1924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052" y="1391479"/>
            <a:ext cx="23290306" cy="1096244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846FE-1092-FD42-9AC0-B69E5809E0EF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084573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1A28FF6-6ABD-05E0-14A5-3CA8FD766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230E5-DC19-8048-9011-93E4E558FEAD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B69A14-0AF9-A649-3ABB-D4052E786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6DBC31-6D39-6C3E-5F31-00E86E0A2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pPr/>
              <a:t>‹#›</a:t>
            </a:fld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2870487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 dirty="0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 dirty="0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 dirty="0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 dirty="0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5492" y="12744452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6230E5-DC19-8048-9011-93E4E558FEAD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85408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7BFEE9-6A35-CF42-A39A-CD481C3507E3}" type="slidenum">
              <a:rPr kumimoji="1" lang="ja-JP" altLang="en-US" smtClean="0"/>
              <a:pPr/>
              <a:t>‹#›</a:t>
            </a:fld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61645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4" r:id="rId3"/>
    <p:sldLayoutId id="2147483679" r:id="rId4"/>
    <p:sldLayoutId id="2147483683" r:id="rId5"/>
    <p:sldLayoutId id="2147483684" r:id="rId6"/>
    <p:sldLayoutId id="2147483680" r:id="rId7"/>
    <p:sldLayoutId id="2147483681" r:id="rId8"/>
    <p:sldLayoutId id="2147483686" r:id="rId9"/>
    <p:sldLayoutId id="2147483685" r:id="rId10"/>
    <p:sldLayoutId id="2147483682" r:id="rId11"/>
    <p:sldLayoutId id="2147483687" r:id="rId12"/>
  </p:sldLayoutIdLst>
  <p:hf hdr="0" ft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6400" b="1" kern="1200" spc="3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4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0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EF8D53-DFAD-2781-7D58-CDDA68ED3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sz="3200" b="1" dirty="0">
                <a:solidFill>
                  <a:srgbClr val="082B52"/>
                </a:solidFill>
                <a:latin typeface="Yu Gothic"/>
              </a:rPr>
              <a:t>Feedforward and Adaptive Correction of</a:t>
            </a:r>
          </a:p>
          <a:p>
            <a:r>
              <a:rPr sz="3200" b="1" dirty="0">
                <a:solidFill>
                  <a:srgbClr val="082B52"/>
                </a:solidFill>
                <a:latin typeface="Yu Gothic"/>
              </a:rPr>
              <a:t>Time-Varying Thermal Bias for Coarse Acquisition</a:t>
            </a:r>
          </a:p>
          <a:p>
            <a:r>
              <a:rPr sz="3200" b="1" dirty="0">
                <a:solidFill>
                  <a:srgbClr val="082B52"/>
                </a:solidFill>
                <a:latin typeface="Yu Gothic"/>
              </a:rPr>
              <a:t>in Optical Communication Systems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1102AA9-45EB-C4FA-A1D0-A77A903D2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74352" y="11955999"/>
            <a:ext cx="8562463" cy="730249"/>
          </a:xfrm>
        </p:spPr>
        <p:txBody>
          <a:bodyPr>
            <a:normAutofit/>
          </a:bodyPr>
          <a:lstStyle/>
          <a:p>
            <a:r>
              <a:rPr sz="2800" b="1" dirty="0">
                <a:solidFill>
                  <a:srgbClr val="232B34"/>
                </a:solidFill>
                <a:latin typeface="Yu Gothic"/>
              </a:rPr>
              <a:t>Hideki Takamoto (The University of Tokyo)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9D366E8-10A6-FE33-D7F0-BCE65C677E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483539" y="7705724"/>
            <a:ext cx="5625347" cy="698499"/>
          </a:xfrm>
        </p:spPr>
        <p:txBody>
          <a:bodyPr/>
          <a:lstStyle/>
          <a:p>
            <a:r>
              <a:rPr sz="2200" b="0">
                <a:solidFill>
                  <a:srgbClr val="666F79"/>
                </a:solidFill>
                <a:latin typeface="Yu Gothic"/>
              </a:rPr>
              <a:t>2026/07/21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23D87D9-D745-888C-4D05-FF267342E0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674352" y="6888226"/>
            <a:ext cx="5625347" cy="698499"/>
          </a:xfrm>
        </p:spPr>
        <p:txBody>
          <a:bodyPr/>
          <a:lstStyle/>
          <a:p>
            <a:endParaRPr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B66ACC2-84FB-08AA-2D48-20C1AB8643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83538" y="7042558"/>
            <a:ext cx="5625347" cy="698499"/>
          </a:xfrm>
        </p:spPr>
        <p:txBody>
          <a:bodyPr/>
          <a:lstStyle/>
          <a:p>
            <a:r>
              <a:rPr sz="2200" b="0">
                <a:solidFill>
                  <a:srgbClr val="666F79"/>
                </a:solidFill>
                <a:latin typeface="Yu Gothic"/>
              </a:rPr>
              <a:t>Optical Communication Research Group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D1A49C-D906-D56C-8B01-F4742C0F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9674352" y="10076688"/>
            <a:ext cx="11153823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 dirty="0" err="1">
                <a:solidFill>
                  <a:srgbClr val="1B74AA"/>
                </a:solidFill>
                <a:latin typeface="Yu Gothic"/>
              </a:rPr>
              <a:t>熱ひずみ予測と適応補正による光通信粗捕捉性能向上の検討</a:t>
            </a:r>
            <a:endParaRPr sz="3200" b="1" dirty="0">
              <a:solidFill>
                <a:srgbClr val="1B74AA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103417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35D3E-6BA3-A5CE-2210-317DCBD6F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0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4F4820-6A4B-21DF-1929-82AC7C54B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Yu Gothic"/>
              </a:rPr>
              <a:t>Overview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15B39E-8BAD-5C9C-E46E-51EE9D9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589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F44572-0BF9-86FC-9CEA-DB05D75E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本日の目標：熱ひずみ予測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モデルをレビューしてもらう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03A934-1390-EADF-E03B-F076611056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Overview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C65DDDE-896C-98BD-4236-523603EB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 dirty="0">
                <a:solidFill>
                  <a:srgbClr val="1B74AA"/>
                </a:solidFill>
                <a:latin typeface="Yu Gothic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3000" y="4351020"/>
            <a:ext cx="6720840" cy="621792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29308" y="5265420"/>
            <a:ext cx="4748223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階層型 熱ひずみ予測モデル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26906" y="6271260"/>
            <a:ext cx="4753031" cy="130189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衛星の構造や配置で変わる層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軌道・熱環境で変わる層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の</a:t>
            </a:r>
            <a:r>
              <a:rPr lang="en-US" altLang="ja-JP" sz="2700" dirty="0">
                <a:solidFill>
                  <a:srgbClr val="232B34"/>
                </a:solidFill>
                <a:latin typeface="Yu Gothic"/>
              </a:rPr>
              <a:t>2</a:t>
            </a:r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層に分けて</a:t>
            </a:r>
            <a:r>
              <a:rPr lang="en-US" altLang="ja-JP" sz="2700" dirty="0">
                <a:solidFill>
                  <a:srgbClr val="232B34"/>
                </a:solidFill>
                <a:latin typeface="Yu Gothic"/>
              </a:rPr>
              <a:t>LOS</a:t>
            </a:r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誤差を予測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>
                <a:solidFill>
                  <a:srgbClr val="239571"/>
                </a:solidFill>
                <a:latin typeface="Yu Gothic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686800" y="4351020"/>
            <a:ext cx="6720840" cy="621792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07009" y="5265420"/>
            <a:ext cx="528042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非熱誤差も含めた捕捉性能評価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625292" y="6271260"/>
            <a:ext cx="2843855" cy="130189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700" b="0" dirty="0">
                <a:solidFill>
                  <a:srgbClr val="232B34"/>
                </a:solidFill>
                <a:latin typeface="Yu Gothic"/>
              </a:rPr>
              <a:t>軌道予測誤差等、</a:t>
            </a:r>
            <a:endParaRPr lang="en-US" altLang="ja-JP" sz="2700" b="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sz="2700" b="0" dirty="0" err="1">
                <a:solidFill>
                  <a:srgbClr val="232B34"/>
                </a:solidFill>
                <a:latin typeface="Yu Gothic"/>
              </a:rPr>
              <a:t>非熱誤差込みの</a:t>
            </a:r>
            <a:r>
              <a:rPr sz="2700" b="0" dirty="0">
                <a:solidFill>
                  <a:srgbClr val="232B34"/>
                </a:solidFill>
                <a:latin typeface="Yu Gothic"/>
              </a:rPr>
              <a:t>
</a:t>
            </a:r>
            <a:r>
              <a:rPr sz="2700" b="0" dirty="0" err="1">
                <a:solidFill>
                  <a:srgbClr val="232B34"/>
                </a:solidFill>
                <a:latin typeface="Yu Gothic"/>
              </a:rPr>
              <a:t>捕捉性能</a:t>
            </a:r>
            <a:r>
              <a:rPr lang="ja-JP" altLang="en-US" sz="2700" b="0" dirty="0">
                <a:solidFill>
                  <a:srgbClr val="232B34"/>
                </a:solidFill>
                <a:latin typeface="Yu Gothic"/>
              </a:rPr>
              <a:t>の評価</a:t>
            </a:r>
            <a:endParaRPr sz="27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2306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>
                <a:solidFill>
                  <a:srgbClr val="EC9427"/>
                </a:solidFill>
                <a:latin typeface="Yu Gothic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2306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230600" y="4351020"/>
            <a:ext cx="6720840" cy="621792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508658" y="5265420"/>
            <a:ext cx="416473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モデルの事後的適応補正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7005408" y="6271260"/>
            <a:ext cx="5171224" cy="88639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ja-JP" sz="2700" dirty="0"/>
              <a:t>軌道上で</a:t>
            </a:r>
            <a:r>
              <a:rPr lang="ja-JP" altLang="en-US" sz="2700" dirty="0"/>
              <a:t>熱ひずみ予測モデルの</a:t>
            </a:r>
            <a:endParaRPr lang="en-US" altLang="ja-JP" sz="2700" dirty="0"/>
          </a:p>
          <a:p>
            <a:pPr algn="ctr"/>
            <a:r>
              <a:rPr lang="ja-JP" altLang="en-US" sz="2700" dirty="0"/>
              <a:t>パラメータを</a:t>
            </a:r>
            <a:r>
              <a:rPr lang="en-US" altLang="ja-JP" sz="2700" dirty="0"/>
              <a:t>adaptive</a:t>
            </a:r>
            <a:r>
              <a:rPr lang="ja-JP" altLang="en-US" sz="2700" dirty="0"/>
              <a:t>に更新する</a:t>
            </a:r>
            <a:endParaRPr lang="en-US" altLang="ja-JP" sz="2700" dirty="0"/>
          </a:p>
        </p:txBody>
      </p:sp>
      <p:sp>
        <p:nvSpPr>
          <p:cNvPr id="21" name="TextBox 20"/>
          <p:cNvSpPr txBox="1"/>
          <p:nvPr/>
        </p:nvSpPr>
        <p:spPr>
          <a:xfrm>
            <a:off x="1143000" y="9921240"/>
            <a:ext cx="548640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82B52"/>
                </a:solidFill>
                <a:latin typeface="Yu Gothic"/>
              </a:rPr>
              <a:t>今日特に議論したいこと</a:t>
            </a:r>
            <a:endParaRPr sz="25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10561320"/>
            <a:ext cx="21762720" cy="1959511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ja-JP" sz="3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現在の解析で用いている、捕捉スキャンモデル・誤差条件の妥当性</a:t>
            </a:r>
            <a:endParaRPr sz="3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3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3600" dirty="0" err="1">
                <a:solidFill>
                  <a:srgbClr val="232B34"/>
                </a:solidFill>
                <a:latin typeface="Yu Gothic"/>
              </a:rPr>
              <a:t>熱と軌道誤差が同帯域にある場合の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分離可能性</a:t>
            </a:r>
            <a:endParaRPr lang="en-US" altLang="ja-JP" sz="3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3600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どのパラメータを軌道上で更新するか</a:t>
            </a:r>
          </a:p>
        </p:txBody>
      </p:sp>
      <p:sp>
        <p:nvSpPr>
          <p:cNvPr id="23" name="TextBox 20">
            <a:extLst>
              <a:ext uri="{FF2B5EF4-FFF2-40B4-BE49-F238E27FC236}">
                <a16:creationId xmlns:a16="http://schemas.microsoft.com/office/drawing/2014/main" id="{76313DB0-74A4-FFBF-75DA-353AE459DCB1}"/>
              </a:ext>
            </a:extLst>
          </p:cNvPr>
          <p:cNvSpPr txBox="1"/>
          <p:nvPr/>
        </p:nvSpPr>
        <p:spPr>
          <a:xfrm>
            <a:off x="1143000" y="3313988"/>
            <a:ext cx="1676869" cy="44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lang="ja-JP" altLang="en-US" sz="2500" b="1" dirty="0">
                <a:solidFill>
                  <a:srgbClr val="082B52"/>
                </a:solidFill>
                <a:latin typeface="Yu Gothic"/>
              </a:rPr>
              <a:t>研究の内容</a:t>
            </a:r>
            <a:endParaRPr sz="2500" b="1" dirty="0">
              <a:solidFill>
                <a:srgbClr val="082B52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27016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12755A-CE30-29D5-66D8-858C1044B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やりたいこと：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熱ひずみ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による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粗捕捉開始時の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 scan-center error </a:t>
            </a:r>
            <a:r>
              <a:rPr lang="ja-JP" altLang="en-US" sz="3200" dirty="0">
                <a:solidFill>
                  <a:srgbClr val="082B52"/>
                </a:solidFill>
                <a:latin typeface="Yu Gothic"/>
              </a:rPr>
              <a:t>を運用側で改善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35B153-B47B-237D-12A8-7E5DB776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4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06C556-D817-34D8-3FEC-80F456E48C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Background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6492240" cy="3200398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886200"/>
            <a:ext cx="59436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1B74AA"/>
                </a:solidFill>
                <a:latin typeface="Yu Gothic"/>
              </a:rPr>
              <a:t>光フィードバック前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5074920"/>
            <a:ext cx="5760720" cy="1508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>
                <a:solidFill>
                  <a:srgbClr val="232B34"/>
                </a:solidFill>
                <a:latin typeface="Yu Gothic"/>
              </a:rPr>
              <a:t>姿勢・軌道・熱LOSを含む
不確定領域を探索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18119" y="5852160"/>
            <a:ext cx="640081" cy="0"/>
          </a:xfrm>
          <a:prstGeom prst="line">
            <a:avLst/>
          </a:prstGeom>
          <a:ln w="381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32519" y="3383280"/>
            <a:ext cx="6492240" cy="3200398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06840" y="3886200"/>
            <a:ext cx="59436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EC9427"/>
                </a:solidFill>
                <a:latin typeface="Yu Gothic"/>
              </a:rPr>
              <a:t>日照・蝕／機器発熱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97444" y="4638382"/>
            <a:ext cx="3408112" cy="85561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 dirty="0" err="1">
                <a:solidFill>
                  <a:srgbClr val="232B34"/>
                </a:solidFill>
                <a:latin typeface="Yu Gothic"/>
              </a:rPr>
              <a:t>温度場</a:t>
            </a:r>
            <a:r>
              <a:rPr sz="2600" b="0" dirty="0">
                <a:solidFill>
                  <a:srgbClr val="232B34"/>
                </a:solidFill>
                <a:latin typeface="Yu Gothic"/>
              </a:rPr>
              <a:t> → </a:t>
            </a:r>
            <a:r>
              <a:rPr sz="2600" b="0" dirty="0" err="1">
                <a:solidFill>
                  <a:srgbClr val="232B34"/>
                </a:solidFill>
                <a:latin typeface="Yu Gothic"/>
              </a:rPr>
              <a:t>差動膨張</a:t>
            </a:r>
            <a:r>
              <a:rPr sz="2600" b="0" dirty="0">
                <a:solidFill>
                  <a:srgbClr val="232B34"/>
                </a:solidFill>
                <a:latin typeface="Yu Gothic"/>
              </a:rPr>
              <a:t> →
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衛星筐体のねじれ</a:t>
            </a:r>
            <a:endParaRPr sz="26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899794" y="5766266"/>
            <a:ext cx="419679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 dirty="0">
                <a:solidFill>
                  <a:srgbClr val="D03B46"/>
                </a:solidFill>
                <a:latin typeface="Yu Gothic"/>
              </a:rPr>
              <a:t>10²–10³ µrad</a:t>
            </a:r>
            <a:r>
              <a:rPr lang="ja-JP" altLang="en-US" sz="2900" b="1" dirty="0">
                <a:solidFill>
                  <a:srgbClr val="D03B46"/>
                </a:solidFill>
                <a:latin typeface="Yu Gothic"/>
              </a:rPr>
              <a:t>の</a:t>
            </a:r>
            <a:r>
              <a:rPr lang="en-US" altLang="ja-JP" sz="2900" b="1" dirty="0">
                <a:solidFill>
                  <a:srgbClr val="D03B46"/>
                </a:solidFill>
                <a:latin typeface="Yu Gothic"/>
              </a:rPr>
              <a:t>LOS</a:t>
            </a:r>
            <a:r>
              <a:rPr lang="ja-JP" altLang="en-US" sz="2900" b="1" dirty="0">
                <a:solidFill>
                  <a:srgbClr val="D03B46"/>
                </a:solidFill>
                <a:latin typeface="Yu Gothic"/>
              </a:rPr>
              <a:t>誤差</a:t>
            </a:r>
            <a:endParaRPr sz="2900" b="1" dirty="0">
              <a:solidFill>
                <a:srgbClr val="D03B46"/>
              </a:solidFill>
              <a:latin typeface="Yu Gothic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15453359" y="5852160"/>
            <a:ext cx="640081" cy="0"/>
          </a:xfrm>
          <a:prstGeom prst="line">
            <a:avLst/>
          </a:prstGeom>
          <a:ln w="381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6367759" y="3383280"/>
            <a:ext cx="6492240" cy="3200395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763150" y="3886200"/>
            <a:ext cx="3701463" cy="47089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 dirty="0" err="1">
                <a:solidFill>
                  <a:srgbClr val="239571"/>
                </a:solidFill>
                <a:latin typeface="Yu Gothic"/>
              </a:rPr>
              <a:t>予測</a:t>
            </a:r>
            <a:r>
              <a:rPr lang="en-US" sz="2700" b="1" dirty="0" err="1">
                <a:solidFill>
                  <a:srgbClr val="239571"/>
                </a:solidFill>
                <a:latin typeface="Yu Gothic"/>
              </a:rPr>
              <a:t>FeedForward</a:t>
            </a:r>
            <a:r>
              <a:rPr sz="2700" b="1" dirty="0" err="1">
                <a:solidFill>
                  <a:srgbClr val="239571"/>
                </a:solidFill>
                <a:latin typeface="Yu Gothic"/>
              </a:rPr>
              <a:t>補正</a:t>
            </a:r>
            <a:endParaRPr sz="2700" b="1" dirty="0">
              <a:solidFill>
                <a:srgbClr val="239571"/>
              </a:solidFill>
              <a:latin typeface="Yu Goth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733519" y="5074920"/>
            <a:ext cx="5760720" cy="1508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>
                <a:solidFill>
                  <a:srgbClr val="232B34"/>
                </a:solidFill>
                <a:latin typeface="Yu Gothic"/>
              </a:rPr>
              <a:t>熱LOSをscan centerから引き
探索域・捕捉時間を低減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1741" y="12321036"/>
            <a:ext cx="18578933" cy="532453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衛星</a:t>
            </a:r>
            <a:r>
              <a:rPr lang="en-US" altLang="ja-JP" sz="3100" b="1" dirty="0">
                <a:solidFill>
                  <a:srgbClr val="082B52"/>
                </a:solidFill>
                <a:latin typeface="Yu Gothic"/>
              </a:rPr>
              <a:t>/LCT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の</a:t>
            </a:r>
            <a:r>
              <a:rPr sz="3100" b="1" dirty="0" err="1">
                <a:solidFill>
                  <a:srgbClr val="082B52"/>
                </a:solidFill>
                <a:latin typeface="Yu Gothic"/>
              </a:rPr>
              <a:t>構造を変更せず</a:t>
            </a:r>
            <a:r>
              <a:rPr sz="3100" b="1" dirty="0">
                <a:solidFill>
                  <a:srgbClr val="082B52"/>
                </a:solidFill>
                <a:latin typeface="Yu Gothic"/>
              </a:rPr>
              <a:t>、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粗捕捉開始時の</a:t>
            </a:r>
            <a:r>
              <a:rPr lang="en-US" sz="3100" b="1" dirty="0">
                <a:solidFill>
                  <a:srgbClr val="082B52"/>
                </a:solidFill>
                <a:latin typeface="Yu Gothic"/>
              </a:rPr>
              <a:t>LOS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誤差の中で</a:t>
            </a:r>
            <a:r>
              <a:rPr sz="3100" b="1" dirty="0" err="1">
                <a:solidFill>
                  <a:srgbClr val="082B52"/>
                </a:solidFill>
                <a:latin typeface="Yu Gothic"/>
              </a:rPr>
              <a:t>予測可能な熱成分だけを運用側で除去する</a:t>
            </a:r>
            <a:endParaRPr sz="3100" b="1" dirty="0">
              <a:solidFill>
                <a:srgbClr val="082B52"/>
              </a:solidFill>
              <a:latin typeface="Yu Gothic"/>
            </a:endParaRP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191BBC5C-178E-661F-128A-D617E934A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232" y="7065665"/>
            <a:ext cx="5487986" cy="461530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98CF50A-5A18-B28F-3BD0-637684E7A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6893807"/>
            <a:ext cx="5985510" cy="5210337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0A9CA252-8827-F5D6-2FFC-9FEB887111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107" y="7164886"/>
            <a:ext cx="6056967" cy="338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7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68C4D-195B-8495-7268-573CDB8EC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655CE6-31D2-9766-C410-BC789D604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進捗：</a:t>
            </a:r>
            <a:r>
              <a:rPr lang="en-US" altLang="ja-JP" sz="3200" dirty="0">
                <a:solidFill>
                  <a:srgbClr val="082B52"/>
                </a:solidFill>
                <a:latin typeface="Yu Gothic"/>
              </a:rPr>
              <a:t>2</a:t>
            </a:r>
            <a:r>
              <a:rPr lang="ja-JP" altLang="en-US" sz="3200" dirty="0">
                <a:solidFill>
                  <a:srgbClr val="082B52"/>
                </a:solidFill>
                <a:latin typeface="Yu Gothic"/>
              </a:rPr>
              <a:t>か月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で</a:t>
            </a:r>
            <a:r>
              <a:rPr lang="ja-JP" altLang="ja-JP" sz="3200" dirty="0"/>
              <a:t>熱LOS真値生成・軽量モデル構築・PAT統合評価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まで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進んだ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819AD32-0E73-61BA-5B7C-EFE1060541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Progress since 7/6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1629B45-DF56-B122-2C34-9A5A5A87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05443" y="3063240"/>
            <a:ext cx="2407839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800" b="1" dirty="0">
                <a:solidFill>
                  <a:srgbClr val="666F79"/>
                </a:solidFill>
                <a:latin typeface="Yu Gothic"/>
              </a:rPr>
              <a:t>5</a:t>
            </a:r>
            <a:r>
              <a:rPr sz="2800" b="1" dirty="0">
                <a:solidFill>
                  <a:srgbClr val="666F79"/>
                </a:solidFill>
                <a:latin typeface="Yu Gothic"/>
              </a:rPr>
              <a:t>/</a:t>
            </a:r>
            <a:r>
              <a:rPr lang="en-US" sz="2800" b="1" dirty="0">
                <a:solidFill>
                  <a:srgbClr val="666F79"/>
                </a:solidFill>
                <a:latin typeface="Yu Gothic"/>
              </a:rPr>
              <a:t>26</a:t>
            </a:r>
            <a:r>
              <a:rPr lang="ja-JP" altLang="en-US" sz="2800" b="1" dirty="0">
                <a:solidFill>
                  <a:srgbClr val="666F79"/>
                </a:solidFill>
                <a:latin typeface="Yu Gothic"/>
              </a:rPr>
              <a:t> 輪講発表</a:t>
            </a:r>
            <a:endParaRPr sz="2800" b="1" dirty="0">
              <a:solidFill>
                <a:srgbClr val="666F79"/>
              </a:solidFill>
              <a:latin typeface="Yu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168835" y="3063240"/>
            <a:ext cx="1689693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 dirty="0">
                <a:solidFill>
                  <a:srgbClr val="1B74AA"/>
                </a:solidFill>
                <a:latin typeface="Yu Gothic"/>
              </a:rPr>
              <a:t>7/21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本日</a:t>
            </a:r>
            <a:endParaRPr sz="28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88720" y="3840480"/>
            <a:ext cx="10241280" cy="6217920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893040" y="3840480"/>
            <a:ext cx="10241280" cy="6217920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4434840"/>
            <a:ext cx="9052560" cy="315983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ja-JP" altLang="en-US" sz="2600" b="1" dirty="0">
                <a:solidFill>
                  <a:srgbClr val="666F79"/>
                </a:solidFill>
                <a:latin typeface="Yu Gothic"/>
              </a:rPr>
              <a:t>研究構想</a:t>
            </a:r>
            <a:r>
              <a:rPr sz="26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666F79"/>
                </a:solidFill>
                <a:latin typeface="Yu Gothic"/>
              </a:rPr>
              <a:t>評価枠組みの提案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ja-JP" sz="2800" dirty="0"/>
              <a:t>熱ひずみを時間変動LOSバイアスとして定式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TD/Femapを高精度参照とする解析フローを提案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軽量補正モデルの候補を整理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FF補正＋Adaptive補正の二層構造を構想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mock熱LOS</a:t>
            </a:r>
            <a:r>
              <a:rPr lang="ja-JP" altLang="en-US" sz="2800" dirty="0"/>
              <a:t>モデル</a:t>
            </a:r>
            <a:r>
              <a:rPr lang="ja-JP" altLang="ja-JP" sz="2800" dirty="0"/>
              <a:t>による予備PAT評価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533120" y="4434840"/>
            <a:ext cx="9052560" cy="369331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実データ生成</a:t>
            </a:r>
            <a:r>
              <a:rPr sz="26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モデル構築・統合評価</a:t>
            </a:r>
            <a:endParaRPr lang="en-US" sz="2600" b="1" dirty="0">
              <a:solidFill>
                <a:srgbClr val="1B74AA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TD/Femapにより21ケースの熱LOS真値を生成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温度差に基づく階層型熱ひずみ予測モデルを構築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ja-JP" sz="2800" dirty="0"/>
              <a:t>太陽面・発熱・被覆・軌道を横断して評価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Sentinel-1実軌道誤差を導入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熱誤差と非熱誤差を統合したPAT性能評価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666F79"/>
                </a:solidFill>
                <a:latin typeface="Yu Gothic"/>
              </a:rPr>
              <a:t> </a:t>
            </a:r>
            <a:r>
              <a:rPr lang="ja-JP" altLang="ja-JP" sz="2800" dirty="0"/>
              <a:t>軌道上更新対象をケースDC成分として再定義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1658600" y="6858000"/>
            <a:ext cx="822960" cy="0"/>
          </a:xfrm>
          <a:prstGeom prst="line">
            <a:avLst/>
          </a:prstGeom>
          <a:ln w="508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68116" y="10744200"/>
            <a:ext cx="16078248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 dirty="0" err="1">
                <a:solidFill>
                  <a:srgbClr val="082B52"/>
                </a:solidFill>
                <a:latin typeface="Yu Gothic"/>
              </a:rPr>
              <a:t>現在の問い：同帯域の非熱誤差と共存しても、軽量熱モデルで捕捉性能を改善できるか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0906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66188-687C-CACF-8E62-FDA47B4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810512"/>
            <a:ext cx="11153823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3200" b="1" dirty="0"/>
              <a:t>中身：</a:t>
            </a:r>
            <a:r>
              <a:rPr lang="ja-JP" altLang="ja-JP" sz="3200" b="1" dirty="0"/>
              <a:t>熱ひずみ予測モデルの構築から軌道上補正までの流れ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Orbit / attitude
heat &amp; coating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13503" y="36804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742688" y="3063240"/>
            <a:ext cx="3444239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840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Thermal Desktop
temperature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41792" y="36804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70976" y="3063240"/>
            <a:ext cx="3444239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4128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Femap / Nastran
rotation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70080" y="3680460"/>
            <a:ext cx="274319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2399263" y="3063240"/>
            <a:ext cx="3444239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472415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STT–LCT
thermal LOS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898367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227552" y="3063240"/>
            <a:ext cx="3444239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300703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Lightweight
model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726655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05584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128992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PAT
scan center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188743"/>
            <a:ext cx="15700443" cy="3959156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12457" y="7600223"/>
            <a:ext cx="5768567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ja-JP" sz="2800" b="1" dirty="0"/>
              <a:t>Ground-based model development</a:t>
            </a:r>
            <a:endParaRPr sz="27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95337" y="8560343"/>
            <a:ext cx="9052560" cy="212365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軌道・姿勢・熱環境を入力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TD/Femapで温度場・熱変形を計算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STT–LCT相対LOSの参照時系列を生成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ja-JP" sz="2800" dirty="0"/>
              <a:t>軽量モデルの学習・評価に使用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6848306" y="7188743"/>
            <a:ext cx="6651773" cy="3959154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803265" y="7600281"/>
            <a:ext cx="6395421" cy="47089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sz="2700" b="1" dirty="0">
                <a:solidFill>
                  <a:srgbClr val="1B74AA"/>
                </a:solidFill>
                <a:latin typeface="Yu Gothic"/>
              </a:rPr>
              <a:t>O</a:t>
            </a:r>
            <a:r>
              <a:rPr lang="en-US" sz="2700" b="1" dirty="0">
                <a:solidFill>
                  <a:srgbClr val="1B74AA"/>
                </a:solidFill>
                <a:latin typeface="Yu Gothic"/>
              </a:rPr>
              <a:t>nboard prediction and correction</a:t>
            </a:r>
            <a:endParaRPr sz="27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7225771" y="8560343"/>
            <a:ext cx="5806441" cy="200054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温度センサ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・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運用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情報を入力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軽量モデルで熱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LOSを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予測</a:t>
            </a:r>
            <a:endParaRPr lang="en-US" altLang="ja-JP"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en-US" sz="2600" dirty="0">
                <a:solidFill>
                  <a:srgbClr val="232B34"/>
                </a:solidFill>
                <a:latin typeface="Yu Gothic"/>
              </a:rPr>
              <a:t>Scan center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を補正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捕捉後残差でモデル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を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更新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433664" y="11835849"/>
            <a:ext cx="19521306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32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3200" b="1" dirty="0"/>
              <a:t>TD/Femapは地上での教師データ生成・妥当性評価にのみ使用</a:t>
            </a:r>
            <a:r>
              <a:rPr lang="ja-JP" altLang="en-US" sz="3200" b="1" dirty="0"/>
              <a:t>し、軌道上では軽量モデルのみを使用する</a:t>
            </a:r>
            <a:endParaRPr lang="en-US" altLang="ja-JP" sz="3200" b="1" dirty="0"/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32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3200" b="1" dirty="0"/>
              <a:t>モデル性能は、</a:t>
            </a:r>
            <a:r>
              <a:rPr lang="en-US" altLang="ja-JP" sz="3200" b="1" dirty="0"/>
              <a:t>LOS</a:t>
            </a:r>
            <a:r>
              <a:rPr lang="ja-JP" altLang="en-US" sz="3200" b="1" dirty="0"/>
              <a:t>予測誤差だけでなく、捕捉成功率・捕捉時間でも評価する</a:t>
            </a:r>
            <a:endParaRPr lang="ja-JP" altLang="ja-JP" sz="3200" b="1" dirty="0"/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715A86D-4060-9A30-BCAB-A905AF7390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87" b="12995"/>
          <a:stretch>
            <a:fillRect/>
          </a:stretch>
        </p:blipFill>
        <p:spPr>
          <a:xfrm>
            <a:off x="4668368" y="4428721"/>
            <a:ext cx="3295472" cy="2714577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F956818A-24FB-86DE-EFEF-CDBD09D7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33"/>
          <a:stretch>
            <a:fillRect/>
          </a:stretch>
        </p:blipFill>
        <p:spPr>
          <a:xfrm rot="5400000">
            <a:off x="8975763" y="4844559"/>
            <a:ext cx="2594268" cy="1769750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B1265DB7-31F5-CC78-C1BC-05964DD7F4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83949" y="4442117"/>
            <a:ext cx="2674866" cy="25850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/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𝑐𝑎𝑠𝑒</m:t>
                          </m:r>
                        </m:sub>
                      </m:sSub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kumimoji="1" lang="en-US" altLang="ja-JP" sz="3200" b="0" i="1" dirty="0"/>
              </a:p>
              <a:p>
                <a:endParaRPr kumimoji="1" lang="ja-JP" altLang="en-US" sz="3200" i="1" dirty="0"/>
              </a:p>
            </p:txBody>
          </p:sp>
        </mc:Choice>
        <mc:Fallback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A071E9D-0A17-5410-CA66-EB4C2E4AC8F6}"/>
              </a:ext>
            </a:extLst>
          </p:cNvPr>
          <p:cNvSpPr txBox="1"/>
          <p:nvPr/>
        </p:nvSpPr>
        <p:spPr>
          <a:xfrm>
            <a:off x="914400" y="4611231"/>
            <a:ext cx="3444239" cy="224676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・軌道</a:t>
            </a:r>
            <a:endParaRPr kumimoji="1" lang="en-US" altLang="ja-JP" sz="2800" dirty="0"/>
          </a:p>
          <a:p>
            <a:r>
              <a:rPr kumimoji="1" lang="ja-JP" altLang="en-US" sz="2800" dirty="0"/>
              <a:t>・姿勢</a:t>
            </a:r>
            <a:endParaRPr kumimoji="1" lang="en-US" altLang="ja-JP" sz="2800" dirty="0"/>
          </a:p>
          <a:p>
            <a:r>
              <a:rPr kumimoji="1" lang="ja-JP" altLang="en-US" sz="2800" dirty="0"/>
              <a:t>・コンポ構造配置</a:t>
            </a:r>
            <a:endParaRPr kumimoji="1" lang="en-US" altLang="ja-JP" sz="2800" dirty="0"/>
          </a:p>
          <a:p>
            <a:r>
              <a:rPr kumimoji="1" lang="ja-JP" altLang="en-US" sz="2800" dirty="0"/>
              <a:t>・衛星表面特性</a:t>
            </a:r>
            <a:endParaRPr kumimoji="1" lang="en-US" altLang="ja-JP" sz="2800" dirty="0"/>
          </a:p>
          <a:p>
            <a:r>
              <a:rPr kumimoji="1" lang="ja-JP" altLang="en-US" sz="2800" dirty="0"/>
              <a:t>・内部発熱位置</a:t>
            </a:r>
            <a:r>
              <a:rPr kumimoji="1" lang="en-US" altLang="ja-JP" sz="2800" dirty="0"/>
              <a:t>/</a:t>
            </a:r>
            <a:r>
              <a:rPr kumimoji="1" lang="ja-JP" altLang="en-US" sz="2800" dirty="0"/>
              <a:t>量</a:t>
            </a:r>
            <a:endParaRPr kumimoji="1" lang="en-US" altLang="ja-JP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/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kumimoji="1" lang="en-US" altLang="ja-JP" sz="3200" b="0" i="1" dirty="0"/>
              </a:p>
              <a:p>
                <a:endParaRPr kumimoji="1" lang="ja-JP" altLang="en-US" sz="3200" i="1" dirty="0"/>
              </a:p>
            </p:txBody>
          </p:sp>
        </mc:Choice>
        <mc:Fallback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855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78D0B-6B7B-20A9-4804-B6D3C7DE8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熱の予測精度ではなく、粗捕捉性能の改善までを主張する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063240"/>
            <a:ext cx="6675120" cy="6217920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00200" y="3429000"/>
            <a:ext cx="9144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500" b="1">
                <a:solidFill>
                  <a:srgbClr val="1B74AA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160520"/>
            <a:ext cx="52120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082B52"/>
                </a:solidFill>
                <a:latin typeface="Yu Gothic"/>
              </a:rPr>
              <a:t>Quantify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577840"/>
            <a:ext cx="5394960" cy="12801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232B34"/>
                </a:solidFill>
                <a:latin typeface="Yu Gothic"/>
              </a:rPr>
              <a:t>熱構造解析による
STT–LCT相対LOS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8823960" y="3063240"/>
            <a:ext cx="6675120" cy="6217920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0" y="3429000"/>
            <a:ext cx="9144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500" b="1">
                <a:solidFill>
                  <a:srgbClr val="1B74AA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4160520"/>
            <a:ext cx="52120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082B52"/>
                </a:solidFill>
                <a:latin typeface="Yu Gothic"/>
              </a:rPr>
              <a:t>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5577840"/>
            <a:ext cx="5394960" cy="12801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232B34"/>
                </a:solidFill>
                <a:latin typeface="Yu Gothic"/>
              </a:rPr>
              <a:t>共有感度＋ケースDCの
階層ΔTモデル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0" y="3063240"/>
            <a:ext cx="6675120" cy="6217920"/>
          </a:xfrm>
          <a:prstGeom prst="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870680" y="3429000"/>
            <a:ext cx="9144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500" b="1">
                <a:solidFill>
                  <a:srgbClr val="239571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0" y="4160520"/>
            <a:ext cx="52120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082B52"/>
                </a:solidFill>
                <a:latin typeface="Yu Gothic"/>
              </a:rPr>
              <a:t>Improve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0" y="5577840"/>
            <a:ext cx="5394960" cy="12801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232B34"/>
                </a:solidFill>
                <a:latin typeface="Yu Gothic"/>
              </a:rPr>
              <a:t>scan center補正による
成功率・捕捉時間改善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0424160"/>
            <a:ext cx="1645920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D03B46"/>
                </a:solidFill>
                <a:latin typeface="Yu Gothic"/>
              </a:rPr>
              <a:t>すべての指向誤差ではなく、予測可能な熱成分を除去する</a:t>
            </a:r>
          </a:p>
        </p:txBody>
      </p:sp>
    </p:spTree>
    <p:extLst>
      <p:ext uri="{BB962C8B-B14F-4D97-AF65-F5344CB8AC3E}">
        <p14:creationId xmlns:p14="http://schemas.microsoft.com/office/powerpoint/2010/main" val="809958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2FDC0-C27B-B493-3C2D-059C292E5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0951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箱型衛星モデルで STT–LCT間の熱変形を評価する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2971800"/>
            <a:ext cx="10058400" cy="6949440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0" y="4572000"/>
            <a:ext cx="5212080" cy="3383280"/>
          </a:xfrm>
          <a:prstGeom prst="rect">
            <a:avLst/>
          </a:prstGeom>
          <a:solidFill>
            <a:srgbClr val="EBF6FB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0" y="3794760"/>
            <a:ext cx="29260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1B74AA"/>
                </a:solidFill>
                <a:latin typeface="Yu Gothic"/>
              </a:rPr>
              <a:t>PZ: STT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5486400"/>
            <a:ext cx="3749039" cy="10058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082B52"/>
                </a:solidFill>
                <a:latin typeface="Yu Gothic"/>
              </a:rPr>
              <a:t>MZ: LCT
boresight ≈ −Z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5486400"/>
            <a:ext cx="201168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200" b="1">
                <a:solidFill>
                  <a:srgbClr val="EC9427"/>
                </a:solidFill>
                <a:latin typeface="Yu Gothic"/>
              </a:rPr>
              <a:t>MY: PCDU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5486400"/>
            <a:ext cx="201168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200" b="1">
                <a:solidFill>
                  <a:srgbClr val="EC9427"/>
                </a:solidFill>
                <a:latin typeface="Yu Gothic"/>
              </a:rPr>
              <a:t>PY: PROP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7315200"/>
            <a:ext cx="0" cy="1463040"/>
          </a:xfrm>
          <a:prstGeom prst="line">
            <a:avLst/>
          </a:prstGeom>
          <a:ln w="50800">
            <a:solidFill>
              <a:srgbClr val="2395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1978640" y="2971800"/>
          <a:ext cx="11064240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Bus size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590 × 600 × 990 mm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Panels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 mm shell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Material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A5052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LCT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center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PZ center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108960" y="10652760"/>
            <a:ext cx="181051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太陽面 MX / MY / PX / PY によって支配軸と符号が変わる</a:t>
            </a:r>
          </a:p>
        </p:txBody>
      </p:sp>
    </p:spTree>
    <p:extLst>
      <p:ext uri="{BB962C8B-B14F-4D97-AF65-F5344CB8AC3E}">
        <p14:creationId xmlns:p14="http://schemas.microsoft.com/office/powerpoint/2010/main" val="236690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PAT入力には STT基準で見たLCT光軸の相対回転を用いる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788920"/>
            <a:ext cx="13898880" cy="82296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s_defini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788920"/>
            <a:ext cx="9052559" cy="8229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5544800" y="2788920"/>
            <a:ext cx="7498079" cy="822960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910559" y="3246120"/>
            <a:ext cx="67665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1B74AA"/>
                </a:solidFill>
                <a:latin typeface="Yu Gothic"/>
              </a:rPr>
              <a:t>採用：far_field_los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0" y="4389120"/>
            <a:ext cx="6400800" cy="42976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LCT光軸回転 − STT姿勢基準回転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遠方通信のscan centerへ直接寄与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代表点間並進のcenterline tiltは加えない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stt_relative_losは診断用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0" y="9464040"/>
            <a:ext cx="630936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1">
                <a:solidFill>
                  <a:srgbClr val="082B52"/>
                </a:solidFill>
                <a:latin typeface="Yu Gothic"/>
              </a:rPr>
              <a:t>θthermal,true(t) = [θx, θy]</a:t>
            </a:r>
          </a:p>
        </p:txBody>
      </p:sp>
    </p:spTree>
    <p:extLst>
      <p:ext uri="{BB962C8B-B14F-4D97-AF65-F5344CB8AC3E}">
        <p14:creationId xmlns:p14="http://schemas.microsoft.com/office/powerpoint/2010/main" val="3691856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基本ケースは LTAN06・800 kmを3軌道、約60秒刻みで解析する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43000" y="2788920"/>
          <a:ext cx="10789920" cy="722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LTAN06 / 800 km / COLD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Period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≈6050 s (101 min)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Duration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≈18157 s (3 orbits)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Sampling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≈60.5 s / 301 samples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Eclipse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TD LOGIC_SUN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3197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Sun face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 / MY / PX / PY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2618720" y="2788920"/>
            <a:ext cx="10424160" cy="722376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030200" y="3246120"/>
            <a:ext cx="96012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1B74AA"/>
                </a:solidFill>
                <a:latin typeface="Yu Gothic"/>
              </a:rPr>
              <a:t>Additional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0" y="4343400"/>
            <a:ext cx="9052560" cy="39319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HOT thermal environment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Black / Alodine / α=ε=0.5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LTAN18 / 693 km Sentinel-1 proxy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case25: nearly all-sun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0652760"/>
            <a:ext cx="157276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蝕入り・蝕明けはTD出力LOGIC_SUNを正本とする</a:t>
            </a:r>
          </a:p>
        </p:txBody>
      </p:sp>
    </p:spTree>
    <p:extLst>
      <p:ext uri="{BB962C8B-B14F-4D97-AF65-F5344CB8AC3E}">
        <p14:creationId xmlns:p14="http://schemas.microsoft.com/office/powerpoint/2010/main" val="3490187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簡略shellモデルを軽量モデル評価用の高忠実度参照とする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43000" y="2788920"/>
          <a:ext cx="10881360" cy="777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Structural 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Material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Aluminum 5052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Young's modulus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70.327 GPa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Poisson ratio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0.33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CTE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2.376×10⁻⁵ /°C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Density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2685 kg/m³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Reference temperature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23.9°C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Constraint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small region near STT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2618720" y="2788920"/>
            <a:ext cx="10424160" cy="77724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tt_lct_motion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5980" y="2788920"/>
            <a:ext cx="8549640" cy="777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0" y="10972800"/>
            <a:ext cx="1883664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082B52"/>
                </a:solidFill>
                <a:latin typeface="Yu Gothic"/>
              </a:rPr>
              <a:t>TD mapper温度 → 各時刻の熱荷重 → STT/LCT基準面の変位・回転</a:t>
            </a:r>
          </a:p>
        </p:txBody>
      </p:sp>
    </p:spTree>
    <p:extLst>
      <p:ext uri="{BB962C8B-B14F-4D97-AF65-F5344CB8AC3E}">
        <p14:creationId xmlns:p14="http://schemas.microsoft.com/office/powerpoint/2010/main" val="4083775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内部発熱は面間温度差とケースDCの両方を変える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43000" y="2834640"/>
          <a:ext cx="95097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Component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Heat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Location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center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1.5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PZ center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 side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 side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338560" y="2834640"/>
          <a:ext cx="1170432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Mode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LCT/STT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PROP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PCDU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STTLCT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+PROP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Half power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12.5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1920240" y="9555480"/>
            <a:ext cx="20391120" cy="1645920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77440" y="10012680"/>
            <a:ext cx="194767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082B52"/>
                </a:solidFill>
                <a:latin typeface="Yu Gothic"/>
              </a:rPr>
              <a:t>発熱の主効果はΔTへ、ΔTに入りきらない残差DCは b_caseへ</a:t>
            </a:r>
          </a:p>
        </p:txBody>
      </p:sp>
    </p:spTree>
    <p:extLst>
      <p:ext uri="{BB962C8B-B14F-4D97-AF65-F5344CB8AC3E}">
        <p14:creationId xmlns:p14="http://schemas.microsoft.com/office/powerpoint/2010/main" val="4130144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21ケースで太陽面・発熱・被覆・軌道を横断評価する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788920"/>
          <a:ext cx="21945600" cy="704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Varied factor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Sun face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 / MY / PX / 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axis &amp; sign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Power mode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STTLCT / +PROP / +PCDU / ALL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ΔT &amp; DC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Coating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0.5 / Black / Alodine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amplitude &amp; floor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Environment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COLD / HOT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case DC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Power level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PROP 25 / 12.5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ON/OFF limit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LTAN06 / LTAN18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thermal history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0" y="10287000"/>
            <a:ext cx="20574000" cy="123444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0" y="10625328"/>
            <a:ext cx="1965960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D03B46"/>
                </a:solidFill>
                <a:latin typeface="Yu Gothic"/>
              </a:rPr>
              <a:t>除外：01–03, 07（MZ太陽指向）— 現在の1軸sunfaceモデル対象外</a:t>
            </a:r>
          </a:p>
        </p:txBody>
      </p:sp>
    </p:spTree>
    <p:extLst>
      <p:ext uri="{BB962C8B-B14F-4D97-AF65-F5344CB8AC3E}">
        <p14:creationId xmlns:p14="http://schemas.microsoft.com/office/powerpoint/2010/main" val="23853237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case_idを軸に解析条件と成果物を一貫管理する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92608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303580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case_matrix.xlsx
orbit_catalog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13503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742688" y="2926080"/>
            <a:ext cx="3444239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840" y="303580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TD temperature
LOGIC_SUN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41792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70976" y="2926080"/>
            <a:ext cx="3444239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4128" y="303580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mapper
output.dat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70080" y="3543300"/>
            <a:ext cx="274319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2399263" y="2926080"/>
            <a:ext cx="3444239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472415" y="303580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Femap
rotation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898367" y="354330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227552" y="2926080"/>
            <a:ext cx="3444239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300703" y="303580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los_angles.csv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726655" y="354330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055840" y="292608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128992" y="303580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lightweight
dataset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5074920"/>
            <a:ext cx="21945600" cy="480060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5486400"/>
            <a:ext cx="45720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700" b="1">
                <a:solidFill>
                  <a:srgbClr val="082B52"/>
                </a:solidFill>
                <a:latin typeface="Yu Gothic"/>
              </a:rPr>
              <a:t>自動化・再現性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6400800"/>
            <a:ext cx="20574000" cy="2743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case_idから下流パスを規則解決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温度場チェック後にFemap・LOSへ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同じIDで温度・LOS・PATを追跡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cases 4–25を同一手順で再評価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10652760"/>
            <a:ext cx="1627632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1B74AA"/>
                </a:solidFill>
                <a:latin typeface="Yu Gothic"/>
              </a:rPr>
              <a:t>ケース数より、同じ条件を再現して比較できることを優先</a:t>
            </a:r>
          </a:p>
        </p:txBody>
      </p:sp>
    </p:spTree>
    <p:extLst>
      <p:ext uri="{BB962C8B-B14F-4D97-AF65-F5344CB8AC3E}">
        <p14:creationId xmlns:p14="http://schemas.microsoft.com/office/powerpoint/2010/main" val="2659955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代表ケースでは面間温度差と熱LOSが同じ軌道周期で変動する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743200"/>
            <a:ext cx="10789920" cy="786384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efault_surface_9points_temperature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351" y="2743200"/>
            <a:ext cx="5462896" cy="7863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435840" y="2743200"/>
            <a:ext cx="10789920" cy="786384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4_LTAN06_800km_1213COLD_MY_ALL_HEAT_MY_0p5_far_field_los_angle_bud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0" y="2751512"/>
            <a:ext cx="10789920" cy="78472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9039" y="10835640"/>
            <a:ext cx="530352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1">
                <a:solidFill>
                  <a:srgbClr val="1B74AA"/>
                </a:solidFill>
                <a:latin typeface="Yu 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0" y="10835640"/>
            <a:ext cx="530352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1">
                <a:solidFill>
                  <a:srgbClr val="239571"/>
                </a:solidFill>
                <a:latin typeface="Yu Gothic"/>
              </a:rPr>
              <a:t>Far-field LOS</a:t>
            </a:r>
          </a:p>
        </p:txBody>
      </p:sp>
    </p:spTree>
    <p:extLst>
      <p:ext uri="{BB962C8B-B14F-4D97-AF65-F5344CB8AC3E}">
        <p14:creationId xmlns:p14="http://schemas.microsoft.com/office/powerpoint/2010/main" val="33060103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太陽面で支配軸と符号が決まり、被覆・発熱は振幅とDCを変える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80360"/>
            <a:ext cx="49834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3246120"/>
            <a:ext cx="46177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>
                <a:solidFill>
                  <a:srgbClr val="082B52"/>
                </a:solidFill>
                <a:latin typeface="Yu Gothic"/>
              </a:rPr>
              <a:t>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443484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0">
                <a:solidFill>
                  <a:srgbClr val="666F79"/>
                </a:solidFill>
                <a:latin typeface="Yu Gothic"/>
              </a:rPr>
              <a:t>dominant X-axis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4892040"/>
            <a:ext cx="224028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4300" b="1">
                <a:solidFill>
                  <a:srgbClr val="239571"/>
                </a:solidFill>
                <a:latin typeface="Yu Gothic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6080760"/>
            <a:ext cx="4526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1">
                <a:solidFill>
                  <a:srgbClr val="232B34"/>
                </a:solidFill>
                <a:latin typeface="Yu Gothic"/>
              </a:rPr>
              <a:t>|a|≈30.6 µrad/°C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880360"/>
            <a:ext cx="49834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03720" y="3246120"/>
            <a:ext cx="46177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>
                <a:solidFill>
                  <a:srgbClr val="082B52"/>
                </a:solidFill>
                <a:latin typeface="Yu Gothic"/>
              </a:rPr>
              <a:t>PX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4206240"/>
            <a:ext cx="443484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0">
                <a:solidFill>
                  <a:srgbClr val="666F79"/>
                </a:solidFill>
                <a:latin typeface="Yu Gothic"/>
              </a:rPr>
              <a:t>dominant X-axis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892040"/>
            <a:ext cx="224028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4300" b="1">
                <a:solidFill>
                  <a:srgbClr val="1B74AA"/>
                </a:solidFill>
                <a:latin typeface="Yu Gothic"/>
              </a:rPr>
              <a:t>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6080760"/>
            <a:ext cx="4526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1">
                <a:solidFill>
                  <a:srgbClr val="232B34"/>
                </a:solidFill>
                <a:latin typeface="Yu Gothic"/>
              </a:rPr>
              <a:t>|a|≈28.1 µrad/°C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0" y="2880360"/>
            <a:ext cx="49834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0" y="3246120"/>
            <a:ext cx="46177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>
                <a:solidFill>
                  <a:srgbClr val="082B52"/>
                </a:solidFill>
                <a:latin typeface="Yu Gothic"/>
              </a:rPr>
              <a:t>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0" y="4206240"/>
            <a:ext cx="443484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0">
                <a:solidFill>
                  <a:srgbClr val="666F79"/>
                </a:solidFill>
                <a:latin typeface="Yu Gothic"/>
              </a:rPr>
              <a:t>dominant Y-axis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0" y="4892040"/>
            <a:ext cx="224028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4300" b="1">
                <a:solidFill>
                  <a:srgbClr val="EC9427"/>
                </a:solidFill>
                <a:latin typeface="Yu Gothic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0" y="6080760"/>
            <a:ext cx="4526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1">
                <a:solidFill>
                  <a:srgbClr val="232B34"/>
                </a:solidFill>
                <a:latin typeface="Yu Gothic"/>
              </a:rPr>
              <a:t>|a|≈28.6 µrad/°C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967960" y="2880360"/>
            <a:ext cx="49834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150840" y="3246120"/>
            <a:ext cx="46177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>
                <a:solidFill>
                  <a:srgbClr val="082B52"/>
                </a:solidFill>
                <a:latin typeface="Yu Gothic"/>
              </a:rPr>
              <a:t>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42280" y="4206240"/>
            <a:ext cx="443484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0">
                <a:solidFill>
                  <a:srgbClr val="666F79"/>
                </a:solidFill>
                <a:latin typeface="Yu Gothic"/>
              </a:rPr>
              <a:t>dominant Y-axis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39560" y="4892040"/>
            <a:ext cx="224028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4300" b="1">
                <a:solidFill>
                  <a:srgbClr val="D03B46"/>
                </a:solidFill>
                <a:latin typeface="Yu Gothic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96560" y="6080760"/>
            <a:ext cx="4526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1">
                <a:solidFill>
                  <a:srgbClr val="232B34"/>
                </a:solidFill>
                <a:latin typeface="Yu Gothic"/>
              </a:rPr>
              <a:t>|a|≈28.7 µrad/°C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2926080" y="8001000"/>
          <a:ext cx="18470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Factor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Observed effect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Black coating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time-varying floor ↑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PROP / 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ΔT + case DC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HOT / all-sun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nearly static LOS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Half power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intermediate b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25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Lightweight LOS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4867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Lightweight LOS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軌道上モデルには少数入力・解釈可能性・PAT直結性が必要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7315200" cy="71323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3246120"/>
            <a:ext cx="65836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082B52"/>
                </a:solidFill>
                <a:latin typeface="Yu Gothic"/>
              </a:rPr>
              <a:t>Operational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4251960"/>
            <a:ext cx="6217920" cy="4754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TD/Femapをオンボードで回さない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少数温度センサ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運用モード変更に対応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固定少数係数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scan-center補正を直接出力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0" y="2834640"/>
          <a:ext cx="13898880" cy="713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Candidate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Pros / cons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lightweight / no dynamics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Fourier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periodic / orbit dependent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Generic temperature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flexible / collinear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Sunface ΔT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physical / few inputs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Hierarchical ΔT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dynamics + case DC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0" y="10607040"/>
            <a:ext cx="166420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1B74AA"/>
                </a:solidFill>
                <a:latin typeface="Yu Gothic"/>
              </a:rPr>
              <a:t>本命：太陽面−反対面温度差 ΔT と運用フラグ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Lightweight LOS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コンポ温度の時系列追加は共線と低SNRで係数が壊れる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834640"/>
            <a:ext cx="10332720" cy="713232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3291840"/>
            <a:ext cx="94183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D03B46"/>
                </a:solidFill>
                <a:latin typeface="Yu Gothic"/>
              </a:rPr>
              <a:t>Attempt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434840"/>
            <a:ext cx="90525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100" b="1">
                <a:solidFill>
                  <a:srgbClr val="082B52"/>
                </a:solidFill>
                <a:latin typeface="Yu Gothic"/>
              </a:rPr>
              <a:t>LOS = b + a·ΔT
+ c·(Tattach−Tref)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217920"/>
            <a:ext cx="9052560" cy="2743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corr(ΔT,TPCDU)≈0.995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local std≈0.1°C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係数が巨大化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ケース間で不安定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887200" y="6217920"/>
            <a:ext cx="1280160" cy="0"/>
          </a:xfrm>
          <a:prstGeom prst="line">
            <a:avLst/>
          </a:prstGeom>
          <a:ln w="508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533120" y="2834640"/>
            <a:ext cx="9509760" cy="713232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990320" y="3291840"/>
            <a:ext cx="859536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0" y="4572000"/>
            <a:ext cx="7863840" cy="20116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100" b="1">
                <a:solidFill>
                  <a:srgbClr val="082B52"/>
                </a:solidFill>
                <a:latin typeface="Yu Gothic"/>
              </a:rPr>
              <a:t>効いていたのは
軌道内変動ではなく
ケース平均DC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0" y="7543800"/>
            <a:ext cx="71323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239571"/>
                </a:solidFill>
                <a:latin typeface="Yu Gothic"/>
              </a:rPr>
              <a:t>→ b_case側へ分離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0652760"/>
            <a:ext cx="166420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RMSEだけでなく、係数の安定性と運用解釈でモデルを選ぶ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Level 1では軌道内時変を面間温度差一本で表す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80360"/>
            <a:ext cx="21762720" cy="246888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3611880"/>
            <a:ext cx="20665440" cy="8229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900" b="1" dirty="0" err="1">
                <a:solidFill>
                  <a:srgbClr val="082B52"/>
                </a:solidFill>
                <a:latin typeface="Yu Gothic"/>
              </a:rPr>
              <a:t>θdom</a:t>
            </a:r>
            <a:r>
              <a:rPr sz="3900" b="1" dirty="0">
                <a:solidFill>
                  <a:srgbClr val="082B52"/>
                </a:solidFill>
                <a:latin typeface="Yu Gothic"/>
              </a:rPr>
              <a:t>(t) ≈ </a:t>
            </a:r>
            <a:r>
              <a:rPr sz="3900" b="1" dirty="0" err="1">
                <a:solidFill>
                  <a:srgbClr val="082B52"/>
                </a:solidFill>
                <a:latin typeface="Yu Gothic"/>
              </a:rPr>
              <a:t>bcase</a:t>
            </a:r>
            <a:r>
              <a:rPr sz="3900" b="1" dirty="0">
                <a:solidFill>
                  <a:srgbClr val="082B52"/>
                </a:solidFill>
                <a:latin typeface="Yu Gothic"/>
              </a:rPr>
              <a:t> + </a:t>
            </a:r>
            <a:r>
              <a:rPr sz="3900" b="1" dirty="0" err="1">
                <a:solidFill>
                  <a:srgbClr val="082B52"/>
                </a:solidFill>
                <a:latin typeface="Yu Gothic"/>
              </a:rPr>
              <a:t>asunface</a:t>
            </a:r>
            <a:r>
              <a:rPr sz="3900" b="1" dirty="0">
                <a:solidFill>
                  <a:srgbClr val="082B52"/>
                </a:solidFill>
                <a:latin typeface="Yu Gothic"/>
              </a:rPr>
              <a:t> · ΔT(t)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5897880"/>
            <a:ext cx="149047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1B74AA"/>
                </a:solidFill>
                <a:latin typeface="Yu Gothic"/>
              </a:rPr>
              <a:t>ΔT(t) = Tsunface(t) − Topposite(t)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7726679"/>
            <a:ext cx="60350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1B74AA"/>
                </a:solidFill>
                <a:latin typeface="Yu Gothic"/>
              </a:rPr>
              <a:t>a(sun)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232B34"/>
                </a:solidFill>
                <a:latin typeface="Yu Gothic"/>
              </a:rPr>
              <a:t>差動膨張・曲げ感度
面ごとに共有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0" y="7726679"/>
            <a:ext cx="60350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EC9427"/>
                </a:solidFill>
                <a:latin typeface="Yu Gothic"/>
              </a:rPr>
              <a:t>b_case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232B34"/>
                </a:solidFill>
                <a:latin typeface="Yu Gothic"/>
              </a:rPr>
              <a:t>ΔTに入りきらない
ケース内定数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6550640" y="7726679"/>
            <a:ext cx="60350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dominant axis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232B34"/>
                </a:solidFill>
                <a:latin typeface="Yu Gothic"/>
              </a:rPr>
              <a:t>MX/PX→X
MY/PY→Y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Level 2ではケースDCを太陽面と発熱モードで説明する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80360"/>
            <a:ext cx="21762720" cy="2468880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37360" y="3611880"/>
            <a:ext cx="20848320" cy="8229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600" b="1">
                <a:solidFill>
                  <a:srgbClr val="082B52"/>
                </a:solidFill>
                <a:latin typeface="Yu Gothic"/>
              </a:rPr>
              <a:t>bcase ≈ b0(sunface) + cPROP IPROP + cPCDU IPCDU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6217920"/>
          <a:ext cx="20665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2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Case-dependent input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Cross-case fixed 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ΔT(t) timeseries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a(MX/MY/PX/PY) ×4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sun_face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b0(MX/MY/PX/PY) ×4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PROP/PCDU ON/OFF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cPROP, cPCDU ×2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54880" y="10652760"/>
            <a:ext cx="1490472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000" b="1">
                <a:solidFill>
                  <a:srgbClr val="1B74AA"/>
                </a:solidFill>
                <a:latin typeface="Yu Gothic"/>
              </a:rPr>
              <a:t>合計10個のスカラー係数で21ケースを表現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先頭1軌道で時変、ケース横断LOOでDCを評価する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926080"/>
            <a:ext cx="4173321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8992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Per case
first orbit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34025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563209" y="2926080"/>
            <a:ext cx="4173321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6361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Fit aemp,bemp
Ridge≈OLS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91395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120579" y="2926080"/>
            <a:ext cx="4173321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193731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Median aemp
per face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348764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4677948" y="2926080"/>
            <a:ext cx="4173321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51100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Level-2 fit
across cases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906134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9235318" y="2926080"/>
            <a:ext cx="4173321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308470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LOO bpred
next 2 orbits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645920" y="5577840"/>
          <a:ext cx="21031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Layer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Train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Test / validation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Level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first orbit / case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next 2 orbits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Level 2 b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other 20 cases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leave-one-case-out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Shared 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median of all aemp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not full LOO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2011680" y="10149840"/>
            <a:ext cx="20299680" cy="123444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68880" y="10497312"/>
            <a:ext cx="19385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D03B46"/>
                </a:solidFill>
                <a:latin typeface="Yu Gothic"/>
              </a:rPr>
              <a:t>同一基本構造の感度ケース：別機体への汎化を示す評価ではない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共有感度 a は21ケース追加後も ±28–31 µrad/°Cで安定する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743200"/>
            <a:ext cx="1481328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a_emp_by_sun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291" y="2743200"/>
            <a:ext cx="13794377" cy="8046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459200" y="2926080"/>
          <a:ext cx="658367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a_shared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+30.6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+28.6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−28.1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−28.7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459200" y="8229600"/>
            <a:ext cx="6583680" cy="219456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82496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239571"/>
                </a:solidFill>
                <a:latin typeface="Yu Gothic"/>
              </a:rPr>
              <a:t>事前解析・熱真空試験で
固定できる可能性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ケースDC b は太陽面＋発熱フラグで LOO RMSE 3.8 µradとなる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4630400" cy="7955279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b_emp_vs_b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877" y="2743200"/>
            <a:ext cx="13855445" cy="795527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93440" y="2880360"/>
          <a:ext cx="6949439" cy="612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Feature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µrad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+15.7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+2.8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−12.0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−24.0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c_PROP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−22.9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75214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c_PCDU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−10.2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184880" y="9372600"/>
            <a:ext cx="676656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276320" y="9500616"/>
            <a:ext cx="658368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3.80 µrad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0" y="10177272"/>
            <a:ext cx="658368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LOO b RMSE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標準ケースは数µradまで予測し、半電力ケースでDCずれが残る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1064240" cy="77724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se08_bcase_true_vs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882" y="2743200"/>
            <a:ext cx="10201275" cy="7772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390120" y="2743200"/>
            <a:ext cx="11064240" cy="77724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ase22_bcase_true_vs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602" y="2743200"/>
            <a:ext cx="10201275" cy="777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0" y="10744200"/>
            <a:ext cx="786384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1">
                <a:solidFill>
                  <a:srgbClr val="239571"/>
                </a:solidFill>
                <a:latin typeface="Yu Gothic"/>
              </a:rPr>
              <a:t>Case 08: standard / large swing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0" y="10744200"/>
            <a:ext cx="685800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1">
                <a:solidFill>
                  <a:srgbClr val="EC9427"/>
                </a:solidFill>
                <a:latin typeface="Yu Gothic"/>
              </a:rPr>
              <a:t>Case 22: PROP 12.5 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生LOS数百µradに対し、LOO test残差は平均約5.5 µradとなる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673352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raw_vs_model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2743200"/>
            <a:ext cx="15544800" cy="8046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8105120" y="3108960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196560" y="323697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1B74AA"/>
                </a:solidFill>
                <a:latin typeface="Yu Gothic"/>
              </a:rPr>
              <a:t>615 µrad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0" y="391363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median raw 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0" y="5303520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196560" y="543153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5.5 µrad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0" y="610819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LOO test RMSE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0" y="7498079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196560" y="762609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EC9427"/>
                </a:solidFill>
                <a:latin typeface="Yu Gothic"/>
              </a:rPr>
              <a:t>1–2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0" y="830275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thermal reduction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1109960"/>
            <a:ext cx="1709928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0">
                <a:solidFill>
                  <a:srgbClr val="666F79"/>
                </a:solidFill>
                <a:latin typeface="Yu Gothic"/>
              </a:rPr>
              <a:t>raw RMSとprediction RMSEは異なる統計量：オーダー比較として表示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Positioning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新規性は式形ではなく、衛星バス相対LOSと粗捕捉への接続にある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10698480" cy="7498079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3246120"/>
            <a:ext cx="9784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JANUS / prior 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389120"/>
            <a:ext cx="9326880" cy="2926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Optical head内で LOS≈KΔT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温度センサによる一次補正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比例関係自体は既知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7955279"/>
            <a:ext cx="8961120" cy="10972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D03B46"/>
                </a:solidFill>
                <a:latin typeface="Yu Gothic"/>
              </a:rPr>
              <a:t>式に切片を足すこと自体を
新規性とは主張しない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481560" y="2834640"/>
            <a:ext cx="10698480" cy="7498079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38760" y="3246120"/>
            <a:ext cx="9784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1B74AA"/>
                </a:solidFill>
                <a:latin typeface="Yu Gothic"/>
              </a:rPr>
              <a:t>This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21640" y="4389120"/>
            <a:ext cx="932688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STT–LCTの衛星バス相対LOS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太陽面−反対面ΔTの共有感度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発熱DCの階層モデル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scan-center FFと捕捉時間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0927080"/>
            <a:ext cx="169164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D03B46"/>
                </a:solidFill>
                <a:latin typeface="Yu Gothic"/>
              </a:rPr>
              <a:t>限界：MZ・非支配軸・別構造・飛行実証は未評価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Operational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aは事前同定、b_caseは運用条件・軌道上残差で更新する価値が高い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926080"/>
          <a:ext cx="21945600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Observed behavior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Operational treatment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a(sun)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stable across cases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ground analysis / thermal-vac test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b_case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changes with heat mode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mode table + online update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time-varying residual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few to 10+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slow correction if observable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nonthermal error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same orbit-frequency family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separate state / prior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103120" y="10104120"/>
            <a:ext cx="20116800" cy="128016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0" y="10469880"/>
            <a:ext cx="1883664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Adaptiveの第一候補は a ではなく b_case / model DC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PAT evaluation and orbit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予測LOSをscan centerから引き、残差をスキャン対象とする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34640"/>
            <a:ext cx="21762720" cy="214884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37360" y="3456432"/>
            <a:ext cx="2084832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600" b="1" dirty="0" err="1">
                <a:solidFill>
                  <a:srgbClr val="082B52"/>
                </a:solidFill>
                <a:latin typeface="Yu Gothic"/>
              </a:rPr>
              <a:t>escan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=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enonthermal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+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θthermal,true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−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θ̂thermal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5486400"/>
            <a:ext cx="4045305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Thermal LOS
truth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80329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709513" y="5486400"/>
            <a:ext cx="4045305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2665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Model
prediction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809683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0138867" y="5486400"/>
            <a:ext cx="4045305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12019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Scan-center
residual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239036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568220" y="5486400"/>
            <a:ext cx="4045305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641372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Rectangular
spiral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668390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8997574" y="5486400"/>
            <a:ext cx="4045305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070726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Acquisition
time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7680960"/>
          <a:ext cx="17739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9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Comparison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 baseline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DC baseline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proposed model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 truth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ideal upper bound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thermal+nonthermal, no corr.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realism baseline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bcase+nonthermal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main result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simulation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粗捕捉は矩形スパイラルを離散点で抽象化する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9326880" cy="777240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5669280" y="6492240"/>
            <a:ext cx="658368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6327648" y="5833872"/>
            <a:ext cx="0" cy="658368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010912" y="5833872"/>
            <a:ext cx="1316736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10912" y="5833872"/>
            <a:ext cx="0" cy="1316735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10912" y="7150607"/>
            <a:ext cx="1975104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986016" y="5175504"/>
            <a:ext cx="0" cy="1975103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52544" y="5175504"/>
            <a:ext cx="2633472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52544" y="5175504"/>
            <a:ext cx="0" cy="2633471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352544" y="7808975"/>
            <a:ext cx="3291839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644383" y="4517136"/>
            <a:ext cx="0" cy="3291839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596128" y="6419088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254496" y="6419088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254496" y="5760720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37760" y="5760720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60" y="7077455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912864" y="7077455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912864" y="5102352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279392" y="5102352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392" y="773582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571231" y="773582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71231" y="444398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086600" y="4892040"/>
            <a:ext cx="457200" cy="457200"/>
          </a:xfrm>
          <a:prstGeom prst="ellipse">
            <a:avLst/>
          </a:prstGeom>
          <a:solidFill>
            <a:srgbClr val="FEF5E6"/>
          </a:solidFill>
          <a:ln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1155680" y="2834640"/>
          <a:ext cx="11887200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Range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±1600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Step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40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Detection radius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Dwell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0.1 s / point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Points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6561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1338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Max nominal time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656.1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11155680" y="9464040"/>
            <a:ext cx="11887200" cy="182880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612880" y="9829800"/>
            <a:ext cx="10972800" cy="10058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点間移動・settling・光強度確率なし
各時刻を独立な捕捉機会として評価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simulation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非熱誤差は軌道・アライメント・姿勢・ドリフトを合成する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34640"/>
            <a:ext cx="21762720" cy="192024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3383280"/>
            <a:ext cx="2066544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500" b="1">
                <a:solidFill>
                  <a:srgbClr val="082B52"/>
                </a:solidFill>
                <a:latin typeface="Yu Gothic"/>
              </a:rPr>
              <a:t>enonthermal = eorbit + ealignment + eattitude + edrift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5486400"/>
          <a:ext cx="2212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Component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Timescale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Size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Orbit prediction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Sentinel-1 TLE vs POEORB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orbit-period family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mean 280–700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Alignment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Gaussian constant / case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DC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50 µrad/axis, 1σ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Attitude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Gaussian / sample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simplified broadband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50 µrad/axis, 1σ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Drift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sinusoid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900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30 µrad amplitude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834640" y="10744200"/>
            <a:ext cx="187452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D03B46"/>
                </a:solidFill>
                <a:latin typeface="Yu Gothic"/>
              </a:rPr>
              <a:t>特定衛星の誤差バジェット再現ではなく、GNSS非搭載LEO小型衛星の共存シナリオ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利用可能な最新TLEをforward propagationし、PODと比較する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834640"/>
            <a:ext cx="4118457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Sentinel-1
NORAD 39634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70601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599785" y="2834640"/>
            <a:ext cx="4118457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72937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Latest TLE
epoch≤t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73107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102291" y="2834640"/>
            <a:ext cx="4118457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175443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SGP4 forward
rpred(t)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75612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4604796" y="2834640"/>
            <a:ext cx="4118457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77948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AUX_POEORB
rtruth(t)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778118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9107302" y="2834640"/>
            <a:ext cx="4118457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180454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δr(t)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800600"/>
            <a:ext cx="14081760" cy="62179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orbit_prediction_error_3orb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800600"/>
            <a:ext cx="6217920" cy="621792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5727680" y="4800600"/>
            <a:ext cx="7315200" cy="62179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139159" y="5303520"/>
            <a:ext cx="6492240" cy="43891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POEORBをtruth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未来TLEのbackward伝搬なし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60 s sampling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相手機は片側truth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TD時刻へcyclic resample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0" y="9966960"/>
            <a:ext cx="640080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100" b="1">
                <a:solidFill>
                  <a:srgbClr val="D03B46"/>
                </a:solidFill>
                <a:latin typeface="Yu Gothic"/>
              </a:rPr>
              <a:t>2026 S1データとTD軌道時刻は位相不一致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位置誤差をリンクLOS横断面へ投影し、STT/body x–yへ変換する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9692640" cy="75895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3931920"/>
            <a:ext cx="859536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000" b="1">
                <a:solidFill>
                  <a:srgbClr val="082B52"/>
                </a:solidFill>
                <a:latin typeface="Yu Gothic"/>
              </a:rPr>
              <a:t>δr⊥ = δr − (δr·ℓ̂)ℓ̂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03520"/>
            <a:ext cx="786384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>
                <a:solidFill>
                  <a:srgbClr val="1B74AA"/>
                </a:solidFill>
                <a:latin typeface="Yu Gothic"/>
              </a:rPr>
              <a:t>θ ≈ δr⊥ / Rlink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6766560"/>
            <a:ext cx="8412480" cy="2468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orbit catalogから姿勢を構成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STT/body x–yへ射影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熱LOSと同じ2成分で加算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1430000" y="2834640"/>
          <a:ext cx="11704320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Partner / link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Status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along-track ISL 800 km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anti-along ISL 800 km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nadir ground ~695 km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zenith proxy 800 km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unrealistic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1430000" y="9509760"/>
            <a:ext cx="11704320" cy="164592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0" y="9966960"/>
            <a:ext cx="1078992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MXは角度計算可能だが現実的リンクではない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熱と軌道予測誤差はともに10⁻⁴ Hz台の軌道周期族となる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481328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rbit_error_stt_LTAN06_800km_1213COLD_MY_SUN_3orb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743200"/>
            <a:ext cx="8046720" cy="8046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67759" y="2926080"/>
          <a:ext cx="6583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mean norm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 ISL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 ISL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 ground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≈694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 proxy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≈612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367759" y="8229600"/>
            <a:ext cx="6583680" cy="2194560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733520" y="8641080"/>
            <a:ext cx="5852160" cy="10972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EC9427"/>
                </a:solidFill>
                <a:latin typeface="Yu Gothic"/>
              </a:rPr>
              <a:t>Thermal: ~101 min
Orbit norm: ~101 /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064240"/>
            <a:ext cx="152704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D03B46"/>
                </a:solidFill>
                <a:latin typeface="Yu Gothic"/>
              </a:rPr>
              <a:t>単純な『低周波＝熱』分離は難しい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熱のみでは階層モデルがthermal-truth上界にほぼ到達する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369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No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7451" y="33375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7451" y="3337560"/>
            <a:ext cx="8888693" cy="1211580"/>
          </a:xfrm>
          <a:prstGeom prst="rect">
            <a:avLst/>
          </a:prstGeom>
          <a:solidFill>
            <a:srgbClr val="D03B46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94408" y="32004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D03B46"/>
                </a:solidFill>
                <a:latin typeface="Yu Gothic"/>
              </a:rPr>
              <a:t>124.6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228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Static bias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7451" y="48234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67451" y="4823460"/>
            <a:ext cx="340994" cy="121158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94408" y="46863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EC9427"/>
                </a:solidFill>
                <a:latin typeface="Yu Gothic"/>
              </a:rPr>
              <a:t>4.78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62087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Hierarchical bcase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7451" y="63093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7451" y="6309360"/>
            <a:ext cx="73152" cy="121158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94408" y="61722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239571"/>
                </a:solidFill>
                <a:latin typeface="Yu Gothic"/>
              </a:rPr>
              <a:t>0.116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7694675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Thermal truth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7451" y="77952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67451" y="7795260"/>
            <a:ext cx="73152" cy="121158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694408" y="76581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1B74AA"/>
                </a:solidFill>
                <a:latin typeface="Yu Gothic"/>
              </a:rPr>
              <a:t>0.1 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6276320" y="3017520"/>
          <a:ext cx="67665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Success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Mean tacq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95.9%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124.6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99.3%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4.78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100%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0.116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truth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100%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0.100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16367759" y="8412480"/>
            <a:ext cx="658368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0" y="8540496"/>
            <a:ext cx="640080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8.8 µrad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0" y="9217152"/>
            <a:ext cx="640080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thermal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10881360"/>
            <a:ext cx="16642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666F79"/>
                </a:solidFill>
                <a:latin typeface="Yu Gothic"/>
              </a:rPr>
              <a:t>熱モデル自体の能力を見る理想条件。主結果は非熱込み。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非熱込みでも平均捕捉時間156.9→59.6 s、成功率94.0→97.1%となる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36976"/>
            <a:ext cx="4217212" cy="17556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No thermal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0252" y="3337560"/>
            <a:ext cx="8538667" cy="15544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80252" y="3337560"/>
            <a:ext cx="8373230" cy="1554480"/>
          </a:xfrm>
          <a:prstGeom prst="rect">
            <a:avLst/>
          </a:prstGeom>
          <a:solidFill>
            <a:srgbClr val="D03B46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328647" y="3200400"/>
            <a:ext cx="914400" cy="18288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D03B46"/>
                </a:solidFill>
                <a:latin typeface="Yu Gothic"/>
              </a:rPr>
              <a:t>156.9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65776"/>
            <a:ext cx="4217212" cy="17556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Hierarchical bcase 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0252" y="5166360"/>
            <a:ext cx="8538667" cy="15544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80252" y="5166360"/>
            <a:ext cx="3180653" cy="155448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328647" y="5029200"/>
            <a:ext cx="914400" cy="18288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239571"/>
                </a:solidFill>
                <a:latin typeface="Yu Gothic"/>
              </a:rPr>
              <a:t>59.6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93440" y="3108960"/>
            <a:ext cx="66751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184880" y="3236976"/>
            <a:ext cx="64922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−62%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0" y="3913632"/>
            <a:ext cx="64922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acquisition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93440" y="5257800"/>
            <a:ext cx="66751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184880" y="5385816"/>
            <a:ext cx="64922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1B74AA"/>
                </a:solidFill>
                <a:latin typeface="Yu Gothic"/>
              </a:rPr>
              <a:t>+3.1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0" y="6062472"/>
            <a:ext cx="64922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success rate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2743200" y="7635240"/>
          <a:ext cx="189280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Metric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bcase FF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Success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94.0%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97.1%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Mean tacq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156.9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59.6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Median tacq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150.3 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36.2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Thermal residual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667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8.8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572000" y="11201400"/>
            <a:ext cx="152704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補正後は非熱、特に軌道予測誤差が性能を支配する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改善幅はリンク幾何と熱LOSの大きさに依存する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834640"/>
          <a:ext cx="2203704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Case family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Thermal LOS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Orbit error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PAT interpretation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large (~1.2 mrad)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~285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large improvement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150–250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~285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moderate improvement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~0.9 mrad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~694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orbit remains large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~0.9 mrad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~612 µrad proxy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interpret cautiously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LTAN18 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nearly DC ~150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~290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small thermal benefit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0" y="9829800"/>
            <a:ext cx="20574000" cy="155448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0" y="10131552"/>
            <a:ext cx="19476720" cy="9144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全21ケース平均にはMXの非現実的zenith proxyが含まれる
論文ではrealistic-link subsetも併記する候補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Adaptiveは低周波熱抽出ではなく、主にモデルDC更新として考える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10789920" cy="7498079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3246120"/>
            <a:ext cx="98755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Proposed 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343400"/>
            <a:ext cx="914400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 dirty="0">
                <a:solidFill>
                  <a:srgbClr val="082B52"/>
                </a:solidFill>
                <a:latin typeface="Yu Gothic"/>
              </a:rPr>
              <a:t>b̂k+1 =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b̂k</a:t>
            </a:r>
            <a:r>
              <a:rPr sz="3400" b="1" dirty="0">
                <a:solidFill>
                  <a:srgbClr val="082B52"/>
                </a:solidFill>
                <a:latin typeface="Yu Gothic"/>
              </a:rPr>
              <a:t> +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Kb</a:t>
            </a:r>
            <a:r>
              <a:rPr sz="3400" b="1" dirty="0">
                <a:solidFill>
                  <a:srgbClr val="082B52"/>
                </a:solidFill>
                <a:latin typeface="Yu Gothic"/>
              </a:rPr>
              <a:t>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rk</a:t>
            </a:r>
            <a:endParaRPr sz="34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37360" y="5669280"/>
            <a:ext cx="941832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a：事前解析／熱真空試験で固定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b_case：捕捉後残差で更新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同一モード・複数パスで平均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orbit/alignmentの吸収を制約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527280" y="2834640"/>
            <a:ext cx="10607040" cy="7498079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84480" y="3246120"/>
            <a:ext cx="96926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EC9427"/>
                </a:solidFill>
                <a:latin typeface="Yu Gothic"/>
              </a:rPr>
              <a:t>Discussion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0" y="4343400"/>
            <a:ext cx="9326880" cy="4754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a固定・b更新の分担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同帯域の熱／軌道誤差の識別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軌道誤差を別状態で同時推定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現在のscan modelの妥当性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ICSOまでのAdaptive実装範囲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予測可能な熱成分は除去できたため、次はDC校正と非熱共存が課題となる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926080"/>
          <a:ext cx="21945600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What is established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What remains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TD/Femap → STT–LCT LOS → PAT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real spacecraft validation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shared |a|≈28–31 µrad/°C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/ non-dominant axis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LOO thermal residual ≈5.5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power-continuous Level 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nonthermal tacq 156.9→59.6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realistic-link subset / dynamics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 and thermal share low-frequency band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adaptive observability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0" y="10058400"/>
            <a:ext cx="20574000" cy="137160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0" y="10442448"/>
            <a:ext cx="194767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082B52"/>
                </a:solidFill>
                <a:latin typeface="Yu Gothic"/>
              </a:rPr>
              <a:t>ICSOへ：モデル主張を固定し、PAT条件とAdaptiveの必要最小限を詰める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関連研究の位置づけ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7360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Badás et al. 2024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FSOC opto-thermo-mechanical review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Shi et al. 2023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bus optimization → acquisition time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Hu et al. 2022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GEO Fourier compensation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Li et al. 2025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LEO geometry → NN LOS correction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JANUS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optical-head LOS≈KΔT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Rüddenklau et al.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body-pointing FF, not thermal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全解析ケースの設計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2834640"/>
          <a:ext cx="21762720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0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Cases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Power / condition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04,13–15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+PROP / +PCDU / STTLCT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08,16,18,19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05,06,20,21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09,17,23,24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10–12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HOT / Black / Alodine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22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PROP 12.5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LTAN18 / 693 km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熱光学特性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Alodine 1000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α=0.150, ε=0.038, α/ε=3.947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Black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α=0.974, ε=0.920, α/ε=1.059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0.5 synthetic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α=0.500, ε=0.500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LOS定義の比較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21945600" cy="841248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s_defini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2743200"/>
            <a:ext cx="9253728" cy="84124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Level-2係数と解釈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7360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+15.7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+2.8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−12.0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−24.0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c_PROP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−22.9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c_PCDU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−10.2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モデルの難しいケース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se11_bcase_true_vs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20291"/>
            <a:ext cx="7223760" cy="5503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ase22_bcase_true_vs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3420291"/>
            <a:ext cx="7223760" cy="55038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618488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ase25_bcase_true_vs_p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4880" y="3420291"/>
            <a:ext cx="7223760" cy="5503817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0" y="9829800"/>
          <a:ext cx="1892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Issue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11 Black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oracle floor ≈13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22 half power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ON/OFF b mismatch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all-sun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thermal LOS nearly DC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軌道予測誤差の仮定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63093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Truth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Sentinel-1 AUX_POEORB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Prediction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latest TLE + SGP4 forward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Partner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truth-known, one-sided error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Range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800 km ISL or nadir altitude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4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Resampling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cyclic to TD/Femap time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STT-frame射影結果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ISL along-track / 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ISL anti-along / 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ground nadir / 694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zenith proxy / 612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PATスキャンの注意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63093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Coverage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40 µrad grid, 25 µrad radius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Dynamics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 slew / settling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Target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constant during one scan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Statistics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mean tacq conditional on success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4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Opportunities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each sample independent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Adaptive候補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Scalar EWMA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 only; simplest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Kalman filter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 + orbit/alignment states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Mode-conditioned table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sun face × power mode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Batch pass update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avoid single-acquisition contamination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主要参考文献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34640"/>
            <a:ext cx="21671280" cy="795527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Riesing et al., TBIRD PAT on-orbit results, SPIE 2023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Shi et al., Thermal Deformation Stability Optimization, 2023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Badás et al., Opto-thermo-mechanical phenomena in satellite FSOC, 2024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Hu et al., On-Board Thermal Motion Compensation, 2022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Li et al., Thermal Deformation LOS Correction in LEO, 2025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Rüddenklau et al., Feed-Forward Body-Pointing Compensation, 2024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JANUS optical-head thermo-elastic LOS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ISSL true">
      <a:dk1>
        <a:srgbClr val="062654"/>
      </a:dk1>
      <a:lt1>
        <a:srgbClr val="FFFFFF"/>
      </a:lt1>
      <a:dk2>
        <a:srgbClr val="4B4B4B"/>
      </a:dk2>
      <a:lt2>
        <a:srgbClr val="8D8D8D"/>
      </a:lt2>
      <a:accent1>
        <a:srgbClr val="067BCA"/>
      </a:accent1>
      <a:accent2>
        <a:srgbClr val="C95656"/>
      </a:accent2>
      <a:accent3>
        <a:srgbClr val="EBA123"/>
      </a:accent3>
      <a:accent4>
        <a:srgbClr val="87AC70"/>
      </a:accent4>
      <a:accent5>
        <a:srgbClr val="B3618D"/>
      </a:accent5>
      <a:accent6>
        <a:srgbClr val="D16449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ssl-template-ja-16-9" id="{4C5265F7-3B2E-5145-B81F-B8693CA354B3}" vid="{5C8F6914-05D8-EA47-8853-1E6EC346794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issl-template-ja-16-9</Template>
  <TotalTime>296</TotalTime>
  <Words>3402</Words>
  <Application>Microsoft Office PowerPoint</Application>
  <PresentationFormat>ユーザー設定</PresentationFormat>
  <Paragraphs>908</Paragraphs>
  <Slides>54</Slides>
  <Notes>54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54</vt:i4>
      </vt:variant>
    </vt:vector>
  </HeadingPairs>
  <TitlesOfParts>
    <vt:vector size="61" baseType="lpstr">
      <vt:lpstr>Yu Gothic</vt:lpstr>
      <vt:lpstr>Yu Gothic</vt:lpstr>
      <vt:lpstr>Yu Gothic Medium</vt:lpstr>
      <vt:lpstr>Aptos</vt:lpstr>
      <vt:lpstr>Arial</vt:lpstr>
      <vt:lpstr>Cambria Math</vt:lpstr>
      <vt:lpstr>Office テーマ</vt:lpstr>
      <vt:lpstr>Feedforward and Adaptive Correction of Time-Varying Thermal Bias for Coarse Acquisition in Optical Communication Systems</vt:lpstr>
      <vt:lpstr>01</vt:lpstr>
      <vt:lpstr>本日の目標：熱ひずみ予測モデルをレビューしてもらう</vt:lpstr>
      <vt:lpstr>やりたいこと：熱ひずみによる粗捕捉開始時の scan-center error を運用側で改善</vt:lpstr>
      <vt:lpstr>進捗：2か月で熱LOS真値生成・軽量モデル構築・PAT統合評価まで進んだ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高本　英熙</dc:creator>
  <cp:lastModifiedBy>高本　英熙</cp:lastModifiedBy>
  <cp:revision>6</cp:revision>
  <dcterms:created xsi:type="dcterms:W3CDTF">2026-05-11T08:23:04Z</dcterms:created>
  <dcterms:modified xsi:type="dcterms:W3CDTF">2026-07-20T09:09:21Z</dcterms:modified>
</cp:coreProperties>
</file>