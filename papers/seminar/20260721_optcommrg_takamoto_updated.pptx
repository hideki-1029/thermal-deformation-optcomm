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24382413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本日は前回7月6日の発表以降の進捗を中心に話す。特に、21ケースを共通係数で説明する階層ΔTモデル、TLE–POD軌道予測誤差を含めたPAT評価、Adaptiveを何に使うべきかを議論したい。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今日は完成報告ではなく設計レビューに近い。前半で解析条件を再確認し、後半で軌道誤差とAdaptiveの論点に時間を残す。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光RGには基本説明なので短く。熱変形そのものではなく、STT基準とLCT光軸の差がscan center errorになる点だけ再確認する。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25.8秒という数字を更新前の予備結果として位置づける。今回の評価系はケース集合も非熱誤差も変わっているので、改善率の直接比較をしない。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ここが進捗の要約。以降はこの表の各項目を順に説明する。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解析パイプライン全体。今回のhigh-fidelityは設計用であり、オンボードではΔTモデルだけを使う。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箱型の簡略衛星モデル。LCTはMZ、STTはPZ、発熱コンポは±Y側に配置。支配軸と太陽面の対応を見るため座標を確認する。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LOS定義の混乱を避ける。PATの主入力はfar-field relative rotation。並進由来のcenterline tiltを重ねた量は診断用に残している。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基本は3軌道。モデル同定に最初の1軌道、残り2軌道を時系列testに使う。case25は異なる軌道条件の確認。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高忠実度という言葉は相対的。実機詳細構造ではなく、熱変形メカニズムと軽量モデル評価の参照となる簡略shellモデル。拘束条件依存性も残る。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発熱モードはLevel 2の説明変数になる。PROP/PCDUを足した効果の多くはΔTへ吸収され、残差DCだけがbに残る。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ケース設計の全体像。21ケースはいずれも基本構造が同じ感度解析で、独立機体への汎化試験ではない。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ケース増加で最も大きかった作業は自動化と妥当性チェック。過去に光学特性未反映やmapper混線を経験したため、ケースID管理を強化した。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代表ケース04。温度時系列とLOS時系列を対応づけ、太陽面と反対面の温度差が支配軸LOSを説明できそうだと分かった。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ここでは後で示す共有aの結果を物理発見として先に見せる。太陽面の対称性と符号反転がモデルの根拠。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感度解析の結論。時系列の時変と運用モード間のDCを分けることが階層モデルの動機。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Fourierも候補だったが、物理入力で軌道条件の変化を扱いたい。ΔTモデルは温度センサと運用情報で実装可能。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失敗結果を明示する。コンポ温度時系列を入れると見かけのRMSEは改善するが、ΔTとの共線で係数が解釈不能になった。これが階層化の直接の動機。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1は支配軸だけを対象とする。非支配軸は現状モデル外。aは構造感度、bはケースDC。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2は運用モード間のDCを予測する。現在の実装では発熱フラグをMY/PY太陽面で有効とし、MX/PXでは差が小さいため無効化。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過大評価を避けるため評価分割を明示。bはLOOだがa_sharedは対象ケースを含む中央値で、完全LOOではない。ただしケース追加後もほぼ不変。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共有aの安定性がモデルの核心。符号は太陽面、絶対値はほぼ同じ。Adaptiveでaを毎回学習する必要性は低そう。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発熱効果はほぼ足し算。最大LOO残差は半電力case22で13.2 µrad。ON/OFFモデルの限界が明確。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良いケースと限界ケースを並べる。半電力では時変aは合うがbがずれるため、将来は発熱W比例へ拡張する。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モデル精度の主数字。raw RMSとRMSEを同じ意味で比較しないことを注記する。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新規性を慎重に置く。ΔT一次関係はJANUSにある。本研究の差分はバス相対LOS、階層DC、粗捕捉性能への接続。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PATへ入れる式。非熱誤差は補正対象外で残る。比較armは熱モデル能力とシステム性能を分けて読む。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モデルの単純化を丁寧に説明。平均捕捉時間は成功試行のみの条件付き平均で、成功率を必ず併記する。40 µrad格子と半径25 µradでは格子間に小さな未被覆領域もある。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軌道だけ実データ根拠が強い。姿勢・アライメント・ドリフトは代表オーダーの簡易モデル。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軌道誤差の作り方。予測として未来TLEを使わない。TDと実データ時刻は一致しないため、現状は代表外乱としてcyclicに載せている。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以前の任意ECEF-Z基底ではなくSTT/body座標に接続した。MXだけLCTが天頂向きとなりリンクproxyが非現実的。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五十里先生の指摘への回答。熱も軌道も軌道位相依存で帯域が重なる。従来の低周波成分を熱として取り込むAdaptive説明は修正が必要。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Staticが非常に良いのは多くのケースでDC支配だから。ただし捕捉時刻や条件変化へは時変モデルが安定。平均時間は成功試行条件付き。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主結果。21ケース単純平均。MY/PYでは大幅改善、PX/MXは軌道誤差が大きく改善率が小さい。MX proxyを含むため平均の解釈に注意。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ここから30分の議論へ。周波数分離が難しいので、運用モード、温度センサ、軌道予測の事前情報を使った状態推定が必要。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関連研究の位置づけ.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全解析ケースの設計.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熱光学特性.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LOS定義の比較.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Level-2係数と解釈.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モデルの難しいケース.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軌道予測誤差の仮定.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STT-frame射影結果.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PATスキャンの注意.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Adaptive候補.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主要参考文献. 質疑時の補足用。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863840" cy="137160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5943600" cy="1554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55BEC6"/>
                </a:solidFill>
                <a:latin typeface="Yu Gothic"/>
              </a:rPr>
              <a:t>OPTICAL COMMUNICATION
RESEARCH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1338560"/>
            <a:ext cx="45720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Yu Gothic"/>
              </a:rPr>
              <a:t>2026 / 07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24360"/>
            <a:ext cx="57607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Yu Gothic"/>
              </a:rPr>
              <a:t>Hideki Takamoto
The University of Tokyo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743200"/>
            <a:ext cx="14173200" cy="3108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Feedforward and Adaptive Correction of
Time-Varying Thermal Bias for Coarse Acquisition
in Optical Communication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583680"/>
            <a:ext cx="13533120" cy="1828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08E96"/>
                </a:solidFill>
                <a:latin typeface="Yu Gothic"/>
              </a:rPr>
              <a:t>熱ひずみ予測と適応補正による
光通信粗捕捉性能向上の検討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9326880"/>
            <a:ext cx="1353312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5C6773"/>
                </a:solidFill>
                <a:latin typeface="Yu Gothic"/>
              </a:rPr>
              <a:t>Progress update: hierarchical ΔT model, PAT evaluation,
and orbit-prediction-error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今日のゴール：モデルを見せ、仮定をレビューしてもらう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4926330" cy="1143000"/>
          </a:xfrm>
          <a:prstGeom prst="roundRect">
            <a:avLst/>
          </a:prstGeom>
          <a:solidFill>
            <a:srgbClr val="183153"/>
          </a:solidFill>
          <a:ln w="1524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2852928"/>
            <a:ext cx="478002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Thermo-structural
analysis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71082" y="331927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00850" y="2743200"/>
            <a:ext cx="4926330" cy="114300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4002" y="2852928"/>
            <a:ext cx="478002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Hierarchical
ΔT 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00332" y="331927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230100" y="2743200"/>
            <a:ext cx="4926330" cy="114300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03252" y="2852928"/>
            <a:ext cx="478002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PAT + orbit
error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229581" y="3319272"/>
            <a:ext cx="356617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659350" y="2743200"/>
            <a:ext cx="4926330" cy="1143000"/>
          </a:xfrm>
          <a:prstGeom prst="roundRect">
            <a:avLst/>
          </a:prstGeom>
          <a:solidFill>
            <a:srgbClr val="319161"/>
          </a:solidFill>
          <a:ln w="15240">
            <a:solidFill>
              <a:srgbClr val="31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32502" y="2852928"/>
            <a:ext cx="478002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Adaptive
discussion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754880"/>
            <a:ext cx="21214080" cy="539496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166360"/>
            <a:ext cx="73152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83153"/>
                </a:solidFill>
                <a:latin typeface="Yu Gothic"/>
              </a:rPr>
              <a:t>今日特に議論したいこと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943600"/>
            <a:ext cx="19842480" cy="34747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500">
                <a:solidFill>
                  <a:srgbClr val="008E96"/>
                </a:solidFill>
                <a:latin typeface="Yu Gothic"/>
              </a:rPr>
              <a:t>●  </a:t>
            </a:r>
            <a:r>
              <a:rPr sz="2900">
                <a:solidFill>
                  <a:srgbClr val="232B34"/>
                </a:solidFill>
                <a:latin typeface="Yu Gothic"/>
              </a:rPr>
              <a:t>温度差感度 a を事前同定し、ケースDC b_case を軌道上更新する分担は妥当か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500">
                <a:solidFill>
                  <a:srgbClr val="008E96"/>
                </a:solidFill>
                <a:latin typeface="Yu Gothic"/>
              </a:rPr>
              <a:t>●  </a:t>
            </a:r>
            <a:r>
              <a:rPr sz="2900">
                <a:solidFill>
                  <a:srgbClr val="232B34"/>
                </a:solidFill>
                <a:latin typeface="Yu Gothic"/>
              </a:rPr>
              <a:t>熱と軌道予測誤差が同じ軌道周期帯にあるとき、何を観測可能と考えるべきか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500">
                <a:solidFill>
                  <a:srgbClr val="008E96"/>
                </a:solidFill>
                <a:latin typeface="Yu Gothic"/>
              </a:rPr>
              <a:t>●  </a:t>
            </a:r>
            <a:r>
              <a:rPr sz="2900">
                <a:solidFill>
                  <a:srgbClr val="232B34"/>
                </a:solidFill>
                <a:latin typeface="Yu Gothic"/>
              </a:rPr>
              <a:t>現在の粗捕捉スキャン・誤差バジェットは、通信性能評価として十分か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熱ひずみは粗捕捉開始時の scan-center error として残る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6400800" cy="694944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154680"/>
            <a:ext cx="56692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2A68AA"/>
                </a:solidFill>
                <a:latin typeface="Yu Gothic"/>
              </a:rPr>
              <a:t>光フィードバック前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572000"/>
            <a:ext cx="5486400" cy="1645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232B34"/>
                </a:solidFill>
                <a:latin typeface="Yu Gothic"/>
              </a:rPr>
              <a:t>姿勢・軌道・アライメント・
熱LOSを含む不確定領域を探索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7315200"/>
            <a:ext cx="34747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2A68AA"/>
                </a:solidFill>
                <a:latin typeface="Yu Gothic"/>
              </a:rPr>
              <a:t>SCAN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6217920"/>
            <a:ext cx="2011680" cy="0"/>
          </a:xfrm>
          <a:prstGeom prst="line">
            <a:avLst/>
          </a:prstGeom>
          <a:ln w="50800">
            <a:solidFill>
              <a:srgbClr val="00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332720" y="2743200"/>
            <a:ext cx="5486400" cy="694944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3154680"/>
            <a:ext cx="47548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E78530"/>
                </a:solidFill>
                <a:latin typeface="Yu Gothic"/>
              </a:rPr>
              <a:t>日照・蝕／機器発熱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4572000"/>
            <a:ext cx="4572000" cy="1645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232B34"/>
                </a:solidFill>
                <a:latin typeface="Yu Gothic"/>
              </a:rPr>
              <a:t>温度場 → 差動膨張 →
STT–LCT相対回転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7315200"/>
            <a:ext cx="402336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E78530"/>
                </a:solidFill>
                <a:latin typeface="Yu Gothic"/>
              </a:rPr>
              <a:t>10²–10³ µrad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184880" y="6217920"/>
            <a:ext cx="2011680" cy="0"/>
          </a:xfrm>
          <a:prstGeom prst="line">
            <a:avLst/>
          </a:prstGeom>
          <a:ln w="50800">
            <a:solidFill>
              <a:srgbClr val="00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379440" y="2743200"/>
            <a:ext cx="4663440" cy="694944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36640" y="3154680"/>
            <a:ext cx="3749039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8E96"/>
                </a:solidFill>
                <a:latin typeface="Yu Gothic"/>
              </a:rPr>
              <a:t>本研究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90920" y="4572000"/>
            <a:ext cx="3840480" cy="2011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232B34"/>
                </a:solidFill>
                <a:latin typeface="Yu Gothic"/>
              </a:rPr>
              <a:t>予測可能な熱成分を
scan centerから事前に引く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0" y="7406640"/>
            <a:ext cx="393192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08E96"/>
                </a:solidFill>
                <a:latin typeface="Yu Gothic"/>
              </a:rPr>
              <a:t>探索域・捕捉時間↓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0972800"/>
            <a:ext cx="1554480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83153"/>
                </a:solidFill>
                <a:latin typeface="Yu Gothic"/>
              </a:rPr>
              <a:t>構造を変えず、運用側から粗捕捉性能を改善する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Progress since 7/6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前回7/6：熱補正が効くことは確認、軽量モデルは未確立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4754880" cy="50292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761488"/>
            <a:ext cx="475488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</a:rPr>
              <a:t>7/6 preliminary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235440" cy="53035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400">
                <a:solidFill>
                  <a:srgbClr val="E78530"/>
                </a:solidFill>
                <a:latin typeface="Yu Gothic"/>
              </a:rPr>
              <a:t>●  </a:t>
            </a:r>
            <a:r>
              <a:rPr sz="2800">
                <a:solidFill>
                  <a:srgbClr val="232B34"/>
                </a:solidFill>
                <a:latin typeface="Yu Gothic"/>
              </a:rPr>
              <a:t>TD/Femap LOSをPATへ接続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400">
                <a:solidFill>
                  <a:srgbClr val="E78530"/>
                </a:solidFill>
                <a:latin typeface="Yu Gothic"/>
              </a:rPr>
              <a:t>●  </a:t>
            </a:r>
            <a:r>
              <a:rPr sz="2800">
                <a:solidFill>
                  <a:srgbClr val="232B34"/>
                </a:solidFill>
                <a:latin typeface="Yu Gothic"/>
              </a:rPr>
              <a:t>熱真値に近いFF補正で捕捉改善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400">
                <a:solidFill>
                  <a:srgbClr val="E78530"/>
                </a:solidFill>
                <a:latin typeface="Yu Gothic"/>
              </a:rPr>
              <a:t>●  </a:t>
            </a:r>
            <a:r>
              <a:rPr sz="2800">
                <a:solidFill>
                  <a:srgbClr val="232B34"/>
                </a:solidFill>
                <a:latin typeface="Yu Gothic"/>
              </a:rPr>
              <a:t>非熱誤差は簡易仮定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400">
                <a:solidFill>
                  <a:srgbClr val="E78530"/>
                </a:solidFill>
                <a:latin typeface="Yu Gothic"/>
              </a:rPr>
              <a:t>●  </a:t>
            </a:r>
            <a:r>
              <a:rPr sz="2800">
                <a:solidFill>
                  <a:srgbClr val="232B34"/>
                </a:solidFill>
                <a:latin typeface="Yu Gothic"/>
              </a:rPr>
              <a:t>Adaptiveは概念ブロックのみ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38560" y="2743200"/>
            <a:ext cx="11704320" cy="704088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0" y="3246120"/>
            <a:ext cx="45720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83153"/>
                </a:solidFill>
                <a:latin typeface="Yu Gothic"/>
              </a:rPr>
              <a:t>当時の予備結果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0" y="4389120"/>
            <a:ext cx="4572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0" y="4498848"/>
            <a:ext cx="43891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E78530"/>
                </a:solidFill>
                <a:latin typeface="Yu Gothic"/>
              </a:rPr>
              <a:t>25.8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0" y="5221224"/>
            <a:ext cx="43891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mean acquisition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465040" y="4389120"/>
            <a:ext cx="4572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0" y="4498848"/>
            <a:ext cx="43891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8E96"/>
                </a:solidFill>
                <a:latin typeface="Yu Gothic"/>
              </a:rPr>
              <a:t>−70%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0" y="5221224"/>
            <a:ext cx="43891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vs. no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6629400"/>
            <a:ext cx="10241280" cy="1463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BE3840"/>
                </a:solidFill>
                <a:latin typeface="Yu Gothic"/>
              </a:rPr>
              <a:t>注意：ケース・非熱条件・集計方法が現在と異なるため、今回結果とは直接比較しない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0698480"/>
            <a:ext cx="1892808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83153"/>
                </a:solidFill>
                <a:latin typeface="Yu Gothic"/>
              </a:rPr>
              <a:t>今回の問い：truth correctionではなく、運用可能な軽量モデルでどこまで近づけるか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Progress since 7/6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2週間で『理想補正』から『ケース横断モデル＋現実的外乱』へ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4440" y="2788920"/>
          <a:ext cx="21854160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680960"/>
                <a:gridCol w="10332720"/>
              </a:tblGrid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7/6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7/21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熱LOSモデル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thermal truth / Fourier候補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階層 ΔT：共有 a + b_case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解析ケース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数ケース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21ケース（太陽面・発熱・被覆・軌道）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検証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within-case中心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LOO b + 後続2軌道test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軌道誤差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Gaussian placeholder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Sentinel-1 TLE vs POEORB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座標系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任意LOS横断2軸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orbit catalogからSTT/bodyへ射影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3197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Adaptive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低周波残差を学習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主にb_case/DC更新へ再定義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10744200"/>
            <a:ext cx="20665440" cy="1280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83153"/>
                </a:solidFill>
                <a:latin typeface="Yu Gothic"/>
              </a:rPr>
              <a:t>現在の主張：固定少数係数＋温度差で熱主成分を落とし、同帯域の非熱誤差と共存しても捕捉を改善できる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解析からPATまでの一気通貫パイプライン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926080"/>
            <a:ext cx="3314700" cy="1143000"/>
          </a:xfrm>
          <a:prstGeom prst="roundRect">
            <a:avLst/>
          </a:prstGeom>
          <a:solidFill>
            <a:srgbClr val="183153"/>
          </a:solidFill>
          <a:ln w="1524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035808"/>
            <a:ext cx="316839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Orbit / attitude
heat &amp; coating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93692" y="3502152"/>
            <a:ext cx="356615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23460" y="2926080"/>
            <a:ext cx="3314700" cy="114300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6612" y="3035808"/>
            <a:ext cx="316839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Thermal Desktop
temperature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1131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2926080"/>
            <a:ext cx="3314700" cy="114300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3035808"/>
            <a:ext cx="316839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Femap / Nastran
rotation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2893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458699" y="2926080"/>
            <a:ext cx="3314700" cy="1143000"/>
          </a:xfrm>
          <a:prstGeom prst="roundRect">
            <a:avLst/>
          </a:prstGeom>
          <a:solidFill>
            <a:srgbClr val="319161"/>
          </a:solidFill>
          <a:ln w="15240">
            <a:solidFill>
              <a:srgbClr val="31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31851" y="3035808"/>
            <a:ext cx="316839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STT–LCT
thermal LOS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846551" y="3502152"/>
            <a:ext cx="356617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6276320" y="2926080"/>
            <a:ext cx="3314700" cy="114300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49472" y="3035808"/>
            <a:ext cx="316839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Lightweight
model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6417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0093940" y="2926080"/>
            <a:ext cx="3314700" cy="1143000"/>
          </a:xfrm>
          <a:prstGeom prst="roundRect">
            <a:avLst/>
          </a:prstGeom>
          <a:solidFill>
            <a:srgbClr val="684F91"/>
          </a:solidFill>
          <a:ln w="15240">
            <a:solidFill>
              <a:srgbClr val="68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67092" y="3035808"/>
            <a:ext cx="316839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PAT
scan center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5029200"/>
            <a:ext cx="9875520" cy="493776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5394960"/>
            <a:ext cx="91440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2A68AA"/>
                </a:solidFill>
                <a:latin typeface="Yu Gothic"/>
              </a:rPr>
              <a:t>High-fidelity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6309360"/>
            <a:ext cx="8778240" cy="292608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2A68AA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軌道熱環境・日照/蝕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2A68AA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温度場・熱変形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2A68AA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STTとLCTの相対回転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0" y="5029200"/>
            <a:ext cx="9875520" cy="493776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67360" y="5394960"/>
            <a:ext cx="91440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08E96"/>
                </a:solidFill>
                <a:latin typeface="Yu Gothic"/>
              </a:rPr>
              <a:t>Operational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0" y="6309360"/>
            <a:ext cx="8778240" cy="292608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温度センサ＋運用フラグ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予測LOSをscan centerへ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捕捉後残差でモデル更新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0972800"/>
            <a:ext cx="1627632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TD/Femapはオンボード実装ではなく、軽量モデルの教師・評価用真値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衛星モデル・コンポ配置・座標系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10972800" cy="786384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063240"/>
            <a:ext cx="36576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Baseline bus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572000"/>
            <a:ext cx="5760720" cy="3931920"/>
          </a:xfrm>
          <a:prstGeom prst="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3794760"/>
            <a:ext cx="28346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2A68AA"/>
                </a:solidFill>
                <a:latin typeface="Yu Gothic"/>
              </a:rPr>
              <a:t>PZ: STT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577840"/>
            <a:ext cx="365760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83153"/>
                </a:solidFill>
                <a:latin typeface="Yu Gothic"/>
              </a:rPr>
              <a:t>MZ: LCT
boresight ≈ −Z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486400"/>
            <a:ext cx="19202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78530"/>
                </a:solidFill>
                <a:latin typeface="Yu Gothic"/>
              </a:rPr>
              <a:t>MY: PCDU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5486400"/>
            <a:ext cx="20116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78530"/>
                </a:solidFill>
                <a:latin typeface="Yu Gothic"/>
              </a:rPr>
              <a:t>PY: PROP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92240" y="7315200"/>
            <a:ext cx="0" cy="2011680"/>
          </a:xfrm>
          <a:prstGeom prst="line">
            <a:avLst/>
          </a:prstGeom>
          <a:ln w="50800">
            <a:solidFill>
              <a:srgbClr val="00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12080" y="9281160"/>
            <a:ext cx="25603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008E96"/>
                </a:solidFill>
                <a:latin typeface="Yu Gothic"/>
              </a:rPr>
              <a:t>LCT LOS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2984480" y="2926080"/>
          <a:ext cx="996696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6492240"/>
              </a:tblGrid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値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外形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590 × 600 × 990 mm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パネル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10 mm shell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材料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A5052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LCT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MZ center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STT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PZ center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26080" y="11109960"/>
            <a:ext cx="186537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83153"/>
                </a:solidFill>
                <a:latin typeface="Yu Gothic"/>
              </a:rPr>
              <a:t>太陽面 MX / MY / PX / PY によって、熱変形の支配軸と符号が変わる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PAT入力には STT基準で見たLCT光軸の相対回転を用いる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743200"/>
            <a:ext cx="12801600" cy="80467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s_defin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743200"/>
            <a:ext cx="8851392" cy="8046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4630400" y="2743200"/>
            <a:ext cx="8321040" cy="80467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0" y="3200400"/>
            <a:ext cx="74066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8E96"/>
                </a:solidFill>
                <a:latin typeface="Yu Gothic"/>
              </a:rPr>
              <a:t>採用：far_field_los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33320" y="4297680"/>
            <a:ext cx="7315200" cy="411480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LCT光軸回転 − STT姿勢基準回転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遠方通信でscan centerへ効く角度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代表点間並進によるcenterline tiltは加えない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stt_relative_losは角度バジェット確認用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0" y="9235440"/>
            <a:ext cx="68580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183153"/>
                </a:solidFill>
                <a:latin typeface="Yu Gothic"/>
              </a:rPr>
              <a:t>θthermal,true(t) = [θx(t), θy(t)]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軌道熱解析は基本3軌道・約60秒刻み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2743200"/>
          <a:ext cx="10424160" cy="722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583680"/>
              </a:tblGrid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Setting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Baseline orbit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LTAN06 / 800 km / COLD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Orbit period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≈ 6050 s (101 min)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Duration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≈ 18157 s (3 orbits)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Sampling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≈ 60.5 s / 301 samples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3196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Eclipse history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TD LOGIC_SUN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3197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Sun-facing panels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MX / MY / PX / 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527280" y="2743200"/>
            <a:ext cx="10424160" cy="722376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0" y="3154680"/>
            <a:ext cx="9509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2A68AA"/>
                </a:solidFill>
                <a:latin typeface="Yu Gothic"/>
              </a:rPr>
              <a:t>Additional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0" y="4206240"/>
            <a:ext cx="9144000" cy="411480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2A68AA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HOT thermal environment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2A68AA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Black / Alodine / synthetic α=ε=0.5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2A68AA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LTAN18 / 693 km Sentinel-1 proxy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2A68AA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case25: nearly all-sun, thermal LOS nearly 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0972800"/>
            <a:ext cx="1865376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83153"/>
                </a:solidFill>
                <a:latin typeface="Yu Gothic"/>
              </a:rPr>
              <a:t>蝕入り・蝕明けは時刻表ではなく、TDが出力したLOGIC_SUN時系列を正本とする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Femap構造解析条件：簡略shellモデルを高忠実度参照として用いる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2743200"/>
          <a:ext cx="10515600" cy="7955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760720"/>
              </a:tblGrid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Structural parameter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Material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Aluminum 5052 Annealed Wrought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Young's modulus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70.327 GPa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Poisson ratio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0.33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CTE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2.376×10⁻⁵ /°C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Density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2685 kg/m³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Reference temperature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23.9 °C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99441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Constraint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small region near STT reference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2527280" y="2743200"/>
            <a:ext cx="10515600" cy="7955279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t_lct_mo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6" y="2743200"/>
            <a:ext cx="8750807" cy="7955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1247120"/>
            <a:ext cx="180136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TD mapper温度 → 各時刻の熱荷重 → STT/LCT基準面の変位・回転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内部発熱モードで ΔT とケースDCの両方を変化させる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2743200"/>
          <a:ext cx="9326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  <a:gridCol w="3566160"/>
              </a:tblGrid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Nominal heat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Location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MZ center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STT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1.5 W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PZ center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PROP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25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PY side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PCDU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 side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155680" y="2743200"/>
          <a:ext cx="1188720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560320"/>
                <a:gridCol w="2560320"/>
                <a:gridCol w="2560320"/>
              </a:tblGrid>
              <a:tr h="102108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Power mode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LCT/STT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PROP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PCDU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STTLCT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+PROP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25 W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+PCDU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ALL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25 W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Half-power test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12.5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10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103120" y="9509760"/>
            <a:ext cx="19933920" cy="201168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012680"/>
            <a:ext cx="1865376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3100" b="1">
                <a:solidFill>
                  <a:srgbClr val="E78530"/>
                </a:solidFill>
                <a:latin typeface="Yu Gothic"/>
              </a:rPr>
              <a:t>発熱の主効果</a:t>
            </a:r>
            <a:r>
              <a:rPr sz="3100" b="0">
                <a:solidFill>
                  <a:srgbClr val="232B34"/>
                </a:solidFill>
                <a:latin typeface="Yu Gothic"/>
              </a:rPr>
              <a:t>は面間温度差 ΔT に入る一方、</a:t>
            </a:r>
            <a:r>
              <a:rPr sz="3100" b="1">
                <a:solidFill>
                  <a:srgbClr val="BE3840"/>
                </a:solidFill>
                <a:latin typeface="Yu Gothic"/>
              </a:rPr>
              <a:t>残りのDC</a:t>
            </a:r>
            <a:r>
              <a:rPr sz="3100" b="0">
                <a:solidFill>
                  <a:srgbClr val="232B34"/>
                </a:solidFill>
                <a:latin typeface="Yu Gothic"/>
              </a:rPr>
              <a:t>が b_case に現れる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21ケースで太陽面・発熱・被覆・軌道の感度を横断評価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4440" y="2743200"/>
          <a:ext cx="21854160" cy="704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8229600"/>
                <a:gridCol w="960120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Varied factor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Cases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What it tests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Sun face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MX / MY / PX / PY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支配軸・符号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Power mode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STTLCT / +PROP / +PCDU / ALL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ΔT・DC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Coating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0.5 / Black / Alodine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時変振幅・残差床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Environment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COLD / HOT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ケースDC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Power level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PROP 25 / 12.5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ON/OFFモデル限界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Orbit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LTAN06 / LTAN18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別熱履歴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828800" y="10332720"/>
            <a:ext cx="20665440" cy="1371600"/>
          </a:xfrm>
          <a:prstGeom prst="roundRect">
            <a:avLst/>
          </a:prstGeom>
          <a:solidFill>
            <a:srgbClr val="FAE8EA"/>
          </a:solidFill>
          <a:ln w="15240">
            <a:solidFill>
              <a:srgbClr val="BE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0698480"/>
            <a:ext cx="19933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BE3840"/>
                </a:solidFill>
                <a:latin typeface="Yu Gothic"/>
              </a:rPr>
              <a:t>除外：01–03, 07（MZ太陽指向）— 現在の1軸sunfaceモデルの対象外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ケースIDを軸に解析条件と成果物を一貫管理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345180" cy="1143000"/>
          </a:xfrm>
          <a:prstGeom prst="roundRect">
            <a:avLst/>
          </a:prstGeom>
          <a:solidFill>
            <a:srgbClr val="183153"/>
          </a:solidFill>
          <a:ln w="1524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035808"/>
            <a:ext cx="3198875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case_matrix.xlsx
orbit_catalog.xlsx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3273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62500" y="2926080"/>
            <a:ext cx="3345180" cy="114300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5652" y="3035808"/>
            <a:ext cx="3198875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TD temperature
LOGIC_SUN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083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10600" y="2926080"/>
            <a:ext cx="3345180" cy="114300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3752" y="3035808"/>
            <a:ext cx="3198875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mapper
output.dat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2893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458700" y="2926080"/>
            <a:ext cx="3345180" cy="1143000"/>
          </a:xfrm>
          <a:prstGeom prst="roundRect">
            <a:avLst/>
          </a:prstGeom>
          <a:solidFill>
            <a:srgbClr val="319161"/>
          </a:solidFill>
          <a:ln w="15240">
            <a:solidFill>
              <a:srgbClr val="31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31852" y="3035808"/>
            <a:ext cx="3198875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Femap
rotation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877031" y="3502152"/>
            <a:ext cx="356617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6306799" y="2926080"/>
            <a:ext cx="3345180" cy="114300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79951" y="3035808"/>
            <a:ext cx="3198875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los_angles.csv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725132" y="350215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0154899" y="2926080"/>
            <a:ext cx="3345180" cy="1143000"/>
          </a:xfrm>
          <a:prstGeom prst="roundRect">
            <a:avLst/>
          </a:prstGeom>
          <a:solidFill>
            <a:srgbClr val="684F91"/>
          </a:solidFill>
          <a:ln w="15240">
            <a:solidFill>
              <a:srgbClr val="68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28051" y="3035808"/>
            <a:ext cx="3198875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lightweight
dataset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029200"/>
            <a:ext cx="21671280" cy="493776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5440680"/>
            <a:ext cx="64008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自動化・再現性のポイント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6309360"/>
            <a:ext cx="20116800" cy="292608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008E96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case_idから下流パスを規則解決し、Excelの手書きパス列を廃止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008E96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TD温度場の妥当性チェック後にFemap・LOSへ流す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008E96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同じcase_idで温度・LOS・モデル・PAT結果を追跡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200">
                <a:solidFill>
                  <a:srgbClr val="008E96"/>
                </a:solidFill>
                <a:latin typeface="Yu Gothic"/>
              </a:rPr>
              <a:t>●  </a:t>
            </a:r>
            <a:r>
              <a:rPr sz="2600">
                <a:solidFill>
                  <a:srgbClr val="232B34"/>
                </a:solidFill>
                <a:latin typeface="Yu Gothic"/>
              </a:rPr>
              <a:t>cases 4–25を同一コマンドで再評価可能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10972800"/>
            <a:ext cx="170992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08E96"/>
                </a:solidFill>
                <a:latin typeface="Yu Gothic"/>
              </a:rPr>
              <a:t>解析数を増やすことより、同じ条件を再現し比較できることを優先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代表ケース：面間温度差と熱LOSが同じ軌道周期で変動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43200"/>
            <a:ext cx="10881360" cy="75895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fault_surface_9points_tempera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14" y="2743200"/>
            <a:ext cx="5272330" cy="7589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344400" y="2743200"/>
            <a:ext cx="10881360" cy="75895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LTAN06_800km_1213COLD_MY_ALL_HEAT_MY_0p5_far_field_los_angle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284" y="2743200"/>
            <a:ext cx="10435590" cy="7589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0" y="10561320"/>
            <a:ext cx="4389120" cy="50292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0579608"/>
            <a:ext cx="43891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0" y="10561320"/>
            <a:ext cx="4389120" cy="50292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0" y="10579608"/>
            <a:ext cx="43891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</a:rPr>
              <a:t>Far-field 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75720"/>
            <a:ext cx="170992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5C6773"/>
                </a:solidFill>
                <a:latin typeface="Yu Gothic"/>
              </a:rPr>
              <a:t>Case 04: LTAN06 / MY sun / ALL heat / MY α=ε=0.5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太陽面で支配軸と符号が決まり、感度の絶対値はほぼ共通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926080"/>
            <a:ext cx="4846320" cy="621792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39" y="3337560"/>
            <a:ext cx="44805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>
                <a:solidFill>
                  <a:srgbClr val="183153"/>
                </a:solidFill>
                <a:latin typeface="Yu Gothic"/>
              </a:rPr>
              <a:t>MX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572000"/>
            <a:ext cx="4389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5C6773"/>
                </a:solidFill>
                <a:latin typeface="Yu Gothic"/>
              </a:rPr>
              <a:t>dominant X-axis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5486400"/>
            <a:ext cx="246888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008E96"/>
                </a:solidFill>
                <a:latin typeface="Yu Gothic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6903720"/>
            <a:ext cx="4114800" cy="1371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32B34"/>
                </a:solidFill>
                <a:latin typeface="Yu Gothic"/>
              </a:rPr>
              <a:t>|a| ≈ 30.6
µrad/°C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926080"/>
            <a:ext cx="4846320" cy="621792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3337560"/>
            <a:ext cx="44805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>
                <a:solidFill>
                  <a:srgbClr val="183153"/>
                </a:solidFill>
                <a:latin typeface="Yu Gothic"/>
              </a:rPr>
              <a:t>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572000"/>
            <a:ext cx="4389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5C6773"/>
                </a:solidFill>
                <a:latin typeface="Yu Gothic"/>
              </a:rPr>
              <a:t>dominant X-axis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5486400"/>
            <a:ext cx="246888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A68AA"/>
                </a:solidFill>
                <a:latin typeface="Yu Gothic"/>
              </a:rP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903720"/>
            <a:ext cx="4114800" cy="1371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32B34"/>
                </a:solidFill>
                <a:latin typeface="Yu Gothic"/>
              </a:rPr>
              <a:t>|a| ≈ 28.1
µrad/°C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52960" y="2926080"/>
            <a:ext cx="4846320" cy="621792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0" y="3337560"/>
            <a:ext cx="44805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>
                <a:solidFill>
                  <a:srgbClr val="183153"/>
                </a:solidFill>
                <a:latin typeface="Yu Gothic"/>
              </a:rPr>
              <a:t>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81560" y="4572000"/>
            <a:ext cx="4389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5C6773"/>
                </a:solidFill>
                <a:latin typeface="Yu Gothic"/>
              </a:rPr>
              <a:t>dominant Y-axis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0" y="5486400"/>
            <a:ext cx="246888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008E96"/>
                </a:solidFill>
                <a:latin typeface="Yu Gothic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0" y="6903720"/>
            <a:ext cx="4114800" cy="1371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32B34"/>
                </a:solidFill>
                <a:latin typeface="Yu Gothic"/>
              </a:rPr>
              <a:t>|a| ≈ 28.6
µrad/°C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739360" y="2926080"/>
            <a:ext cx="4846320" cy="6217920"/>
          </a:xfrm>
          <a:prstGeom prst="roundRect">
            <a:avLst/>
          </a:prstGeom>
          <a:solidFill>
            <a:srgbClr val="FAE8E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922239" y="3337560"/>
            <a:ext cx="44805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>
                <a:solidFill>
                  <a:srgbClr val="183153"/>
                </a:solidFill>
                <a:latin typeface="Yu Gothic"/>
              </a:rPr>
              <a:t>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0" y="4572000"/>
            <a:ext cx="43891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5C6773"/>
                </a:solidFill>
                <a:latin typeface="Yu Gothic"/>
              </a:rPr>
              <a:t>dominant Y-axis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0" y="5486400"/>
            <a:ext cx="246888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A68AA"/>
                </a:solidFill>
                <a:latin typeface="Yu Gothic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05119" y="6903720"/>
            <a:ext cx="4114800" cy="1371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32B34"/>
                </a:solidFill>
                <a:latin typeface="Yu Gothic"/>
              </a:rPr>
              <a:t>|a| ≈ 28.7
µrad/°C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10287000"/>
            <a:ext cx="2029968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83153"/>
                </a:solidFill>
                <a:latin typeface="Yu Gothic"/>
              </a:rPr>
              <a:t>対向面で符号反転、MX/PXはX軸、MY/PYはY軸支配 — 構造対称性と整合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Thermo-structural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被覆・発熱・軌道条件は振幅とケースDCを異なる形で変える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2743200"/>
          <a:ext cx="2176272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8321040"/>
                <a:gridCol w="8869680"/>
              </a:tblGrid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Factor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Observed effect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Model implication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Coating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Blackで時変振幅・残差床が増加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Level 1の限界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PROP/PCDU heat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平均値とΔTが変化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ΔT + b_case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HOT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時変が小さくほぼDC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Level 2の環境拡張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LTAN18 all-sun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熱LOSがほぼ一定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Staticでも十分な場合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Half PROP power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aは不変、bが中間値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0/1フラグの限界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011680" y="10195560"/>
            <a:ext cx="20299680" cy="155448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652760"/>
            <a:ext cx="193852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8E96"/>
                </a:solidFill>
                <a:latin typeface="Yu Gothic"/>
              </a:rPr>
              <a:t>時変とケース間DCを同じ回帰に押し込まず、階層分離する必要がある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Lightweight LOS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軌道上モデルは少数入力・解釈可能・PATへ直結できることが必要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7315200" cy="713232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154680"/>
            <a:ext cx="64008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A68AA"/>
                </a:solidFill>
                <a:latin typeface="Yu Gothic"/>
              </a:rPr>
              <a:t>Operational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6217920" cy="475488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2A68AA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TD/Femapをオンボードで回さない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2A68AA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少数温度センサ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2A68AA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太陽面・運用モード変更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2A68AA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固定少数係数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2A68AA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scan-center correctionを直接出力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326880" y="2743200"/>
          <a:ext cx="13716000" cy="713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8686800"/>
              </a:tblGrid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Candidate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Pros / cons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Static bias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軽量 / 時変を追えない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Fourier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周期を表現 / 軌道条件依存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Generic temperature regression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柔軟 / 共線・解釈性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Sunface ΔT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物理的・少数入力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Hierarchical ΔT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時変＋運用DC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0" y="10744200"/>
            <a:ext cx="1664208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8E96"/>
                </a:solidFill>
                <a:latin typeface="Yu Gothic"/>
              </a:rPr>
              <a:t>本命：太陽面−反対面温度差 ΔT と運用フラグ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Lightweight LOS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失敗：コンポ温度を時系列特徴に足すと、共線と低SNRで係数が壊れる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10332720" cy="7040880"/>
          </a:xfrm>
          <a:prstGeom prst="roundRect">
            <a:avLst/>
          </a:prstGeom>
          <a:solidFill>
            <a:srgbClr val="FAE8EA"/>
          </a:solidFill>
          <a:ln w="15240">
            <a:solidFill>
              <a:srgbClr val="BE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154680"/>
            <a:ext cx="27432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BE3840"/>
                </a:solidFill>
                <a:latin typeface="Yu Gothic"/>
              </a:rPr>
              <a:t>Attempt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297680"/>
            <a:ext cx="8595360" cy="1645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83153"/>
                </a:solidFill>
                <a:latin typeface="Yu Gothic"/>
              </a:rPr>
              <a:t>LOS = b + a·ΔT
      + c·(Tattach−Tref)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492240"/>
            <a:ext cx="8961120" cy="274320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BE384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corr(ΔT, TPCDU) ≈ 0.995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BE384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局所差の軌道内std ≈ 0.1°C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BE384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RMSEは下がっても係数が巨大化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BE384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ケース間で係数が不安定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070080" y="6217920"/>
            <a:ext cx="1737360" cy="0"/>
          </a:xfrm>
          <a:prstGeom prst="line">
            <a:avLst/>
          </a:prstGeom>
          <a:ln w="50800">
            <a:solidFill>
              <a:srgbClr val="008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4081760" y="2743200"/>
            <a:ext cx="8961120" cy="704088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0" y="3154680"/>
            <a:ext cx="80467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08E96"/>
                </a:solidFill>
                <a:latin typeface="Yu Gothic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0" y="4572000"/>
            <a:ext cx="7315200" cy="2194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83153"/>
                </a:solidFill>
                <a:latin typeface="Yu Gothic"/>
              </a:rPr>
              <a:t>効いていたのは
軌道内の微小変動ではなく
ケース平均DC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0" y="7543800"/>
            <a:ext cx="73152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08E96"/>
                </a:solidFill>
                <a:latin typeface="Yu Gothic"/>
              </a:rPr>
              <a:t>→ コンポ効果を b_case 側へ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0744200"/>
            <a:ext cx="1783080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モデル選定はRMSEだけでなく、係数の安定性と運用解釈で判断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Level 1：軌道内の時変は面間温度差一本で表す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926080"/>
            <a:ext cx="21396960" cy="283464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703320"/>
            <a:ext cx="2048256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300" b="1">
                <a:solidFill>
                  <a:srgbClr val="183153"/>
                </a:solidFill>
                <a:latin typeface="Yu Gothic"/>
              </a:rPr>
              <a:t>θdom(t)  ≈  bcase  +  asunface · ΔT(t)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263640"/>
            <a:ext cx="1527048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08E96"/>
                </a:solidFill>
                <a:latin typeface="Yu Gothic"/>
              </a:rPr>
              <a:t>ΔT(t) = Tsunface(t) − Topposite(t)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7680960"/>
            <a:ext cx="6400800" cy="292608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8046720"/>
            <a:ext cx="54864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A68AA"/>
                </a:solidFill>
                <a:latin typeface="Yu Gothic"/>
              </a:rPr>
              <a:t>a(sun)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8869680"/>
            <a:ext cx="530352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32B34"/>
                </a:solidFill>
                <a:latin typeface="Yu Gothic"/>
              </a:rPr>
              <a:t>差動膨張・曲げ感度
面ごとに共有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7680960"/>
            <a:ext cx="6400800" cy="292608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8046720"/>
            <a:ext cx="54864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78530"/>
                </a:solidFill>
                <a:latin typeface="Yu Gothic"/>
              </a:rPr>
              <a:t>bcase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8869680"/>
            <a:ext cx="530352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32B34"/>
                </a:solidFill>
                <a:latin typeface="Yu Gothic"/>
              </a:rPr>
              <a:t>ΔTに入りきらない
ケース内定数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276320" y="7680960"/>
            <a:ext cx="6400800" cy="292608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733520" y="8046720"/>
            <a:ext cx="54864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dominant axis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0" y="8869680"/>
            <a:ext cx="530352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232B34"/>
                </a:solidFill>
                <a:latin typeface="Yu Gothic"/>
              </a:rPr>
              <a:t>MX/PX→X
MY/PY→Y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Level 2：ケースDCを太陽面と発熱モードで説明する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926080"/>
            <a:ext cx="21396960" cy="283464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03320"/>
            <a:ext cx="2066544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83153"/>
                </a:solidFill>
                <a:latin typeface="Yu Gothic"/>
              </a:rPr>
              <a:t>bcase  ≈  b0(sunface) + cprop Iprop + cpcdu Ipcdu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0" y="6400800"/>
          <a:ext cx="20665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0"/>
                <a:gridCol w="103327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500" b="1">
                          <a:solidFill>
                            <a:srgbClr val="FFFFFF"/>
                          </a:solidFill>
                          <a:latin typeface="Yu Gothic"/>
                        </a:rPr>
                        <a:t>Case-dependent input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FFFFFF"/>
                          </a:solidFill>
                          <a:latin typeface="Yu Gothic"/>
                        </a:rPr>
                        <a:t>Cross-case fixed parameter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ΔT(t) timeseries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a(MX/MY/PX/PY) × 4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sun_face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b0(MX/MY/PX/PY) × 4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PROP/PCDU ON/OFF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cprop, cpcdu × 2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54880" y="11018520"/>
            <a:ext cx="1490472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08E96"/>
                </a:solidFill>
                <a:latin typeface="Yu Gothic"/>
              </a:rPr>
              <a:t>合計10個のスカラー係数で21ケースを表現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係数同定：先頭1軌道で時変、ケース横断LOOでDCを評価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80360"/>
            <a:ext cx="4023360" cy="1143000"/>
          </a:xfrm>
          <a:prstGeom prst="roundRect">
            <a:avLst/>
          </a:prstGeom>
          <a:solidFill>
            <a:srgbClr val="183153"/>
          </a:solidFill>
          <a:ln w="1524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990088"/>
            <a:ext cx="387705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Per case
first orbit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93792" y="34564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23560" y="2880360"/>
            <a:ext cx="4023360" cy="114300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96712" y="2990088"/>
            <a:ext cx="387705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Fit aemp, bemp
Ridge ≈ OLS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20072" y="34564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49840" y="2880360"/>
            <a:ext cx="4023360" cy="114300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22992" y="2990088"/>
            <a:ext cx="387705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Median aemp
per sun face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246352" y="34564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76120" y="2880360"/>
            <a:ext cx="4023360" cy="1143000"/>
          </a:xfrm>
          <a:prstGeom prst="roundRect">
            <a:avLst/>
          </a:prstGeom>
          <a:solidFill>
            <a:srgbClr val="319161"/>
          </a:solidFill>
          <a:ln w="15240">
            <a:solidFill>
              <a:srgbClr val="31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49272" y="2990088"/>
            <a:ext cx="387705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Level-2 fit
across cases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72632" y="34564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202400" y="2880360"/>
            <a:ext cx="4023360" cy="114300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75552" y="2990088"/>
            <a:ext cx="3877056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LOO bpred
+ next 2 orbits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074920"/>
            <a:ext cx="21671280" cy="521208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440680"/>
            <a:ext cx="45720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評価の切り分け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828800" y="6309360"/>
          <a:ext cx="20665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772400"/>
                <a:gridCol w="9052560"/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Layer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Train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Test / validation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Level 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各ケース先頭1軌道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残り2軌道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Level 2 b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他20ケース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Leave-one-case-out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Shared 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面ごとの全aemp中央値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完全LOOではない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926080" y="10835640"/>
            <a:ext cx="186537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BE3840"/>
                </a:solidFill>
                <a:latin typeface="Yu Gothic"/>
              </a:rPr>
              <a:t>21ケースは同一基本構造の感度ケース：別機体への汎化を示すものではない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共有感度 a は 21ケース追加後も ±28–31 µrad/°Cで安定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43200"/>
            <a:ext cx="14630400" cy="786384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case_a_emp_by_sun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765" y="2743200"/>
            <a:ext cx="13480868" cy="7863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0" y="292608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500" b="1">
                          <a:solidFill>
                            <a:srgbClr val="FFFFFF"/>
                          </a:solidFill>
                          <a:latin typeface="Yu Gothic"/>
                        </a:rPr>
                        <a:t>Sun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FFFFFF"/>
                          </a:solidFill>
                          <a:latin typeface="Yu Gothic"/>
                        </a:rPr>
                        <a:t>a_shared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+30.6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+28.6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−28.1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232B34"/>
                          </a:solidFill>
                          <a:latin typeface="Yu Gothic"/>
                        </a:rPr>
                        <a:t>−28.7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6459200" y="8412480"/>
            <a:ext cx="6400800" cy="219456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70680" y="8823960"/>
            <a:ext cx="557784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008E96"/>
                </a:solidFill>
                <a:latin typeface="Yu Gothic"/>
              </a:rPr>
              <a:t>事前解析・熱真空試験で
固定できる可能性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ケースDC b は太陽面＋発熱フラグで LOO RMSE 3.8 µrad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43200"/>
            <a:ext cx="14173200" cy="786384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case_b_emp_vs_b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86" y="2743200"/>
            <a:ext cx="13696188" cy="7863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910559" y="2880360"/>
          <a:ext cx="7040879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291840"/>
              </a:tblGrid>
              <a:tr h="888274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µrad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b0_MX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+15.7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b0_MY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+2.8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−12.0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b0_PY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−24.0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88274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c_PROP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−22.9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888276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c_PCDU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−10.2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6002000" y="9372600"/>
            <a:ext cx="6858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0" y="9482328"/>
            <a:ext cx="66751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8E96"/>
                </a:solidFill>
                <a:latin typeface="Yu Gothic"/>
              </a:rPr>
              <a:t>3.80 µrad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0" y="10204704"/>
            <a:ext cx="66751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LOO b RMSE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標準ケースは数µradまで予測、半電力ケースでDCずれが残る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43200"/>
            <a:ext cx="10881360" cy="75895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se08_bcase_true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57" y="2743200"/>
            <a:ext cx="9961245" cy="7589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344400" y="2743200"/>
            <a:ext cx="10881360" cy="75895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22_bcase_true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4457" y="2743200"/>
            <a:ext cx="9961245" cy="7589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60320" y="10561320"/>
            <a:ext cx="8046720" cy="50292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0579608"/>
            <a:ext cx="804672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</a:rPr>
              <a:t>Case 08: standard / large swing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0" y="10561320"/>
            <a:ext cx="7040880" cy="50292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64640" y="10579608"/>
            <a:ext cx="704088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</a:rPr>
              <a:t>Case 22: PROP 12.5 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1567160"/>
            <a:ext cx="186537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183153"/>
                </a:solidFill>
                <a:latin typeface="Yu Gothic"/>
              </a:rPr>
              <a:t>Level 1の傾きは維持されるが、ON/OFF Level 2では中間電力のbを表現できない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Hierarchical ΔT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生LOS数百µradに対し、LOO test残差は平均約5.5 µrad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43200"/>
            <a:ext cx="16459200" cy="7955279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case_raw_vs_model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02" y="2743200"/>
            <a:ext cx="15368154" cy="79552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8013680" y="3200400"/>
            <a:ext cx="48463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05120" y="3310128"/>
            <a:ext cx="466344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2A68AA"/>
                </a:solidFill>
                <a:latin typeface="Yu Gothic"/>
              </a:rPr>
              <a:t>615 µrad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0" y="4032504"/>
            <a:ext cx="4663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median raw 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13680" y="5486400"/>
            <a:ext cx="48463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0" y="5596128"/>
            <a:ext cx="466344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8E96"/>
                </a:solidFill>
                <a:latin typeface="Yu Gothic"/>
              </a:rPr>
              <a:t>5.5 µrad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0" y="6318504"/>
            <a:ext cx="4663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mean LOO test RMSE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13680" y="7772400"/>
            <a:ext cx="48463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105120" y="7882127"/>
            <a:ext cx="466344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E78530"/>
                </a:solidFill>
                <a:latin typeface="Yu Gothic"/>
              </a:rPr>
              <a:t>1–2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0" y="8604504"/>
            <a:ext cx="466344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thermal-bias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1201400"/>
            <a:ext cx="1783080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5C6773"/>
                </a:solidFill>
                <a:latin typeface="Yu Gothic"/>
              </a:rPr>
              <a:t>raw RMSとprediction RMSEは異なる統計量：オーダー比較として表示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Positioning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新規性は式形ではなく、衛星バス相対LOSと粗捕捉への接続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743200"/>
            <a:ext cx="10698480" cy="758952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154680"/>
            <a:ext cx="97840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A68AA"/>
                </a:solidFill>
                <a:latin typeface="Yu Gothic"/>
              </a:rPr>
              <a:t>JANUS / prior 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9326880" cy="310896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2A68AA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Optical head内で LOS ≈ K·ΔT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2A68AA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温度センサによる一次補正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2A68AA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比例関係自体は既知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7955279"/>
            <a:ext cx="914400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BE3840"/>
                </a:solidFill>
                <a:latin typeface="Yu Gothic"/>
              </a:rPr>
              <a:t>式に切片を足すこと自体を
新規性とは主張しない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35840" y="2743200"/>
            <a:ext cx="10698480" cy="758952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93040" y="3154680"/>
            <a:ext cx="97840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8E96"/>
                </a:solidFill>
                <a:latin typeface="Yu Gothic"/>
              </a:rPr>
              <a:t>This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0" y="4297680"/>
            <a:ext cx="9326880" cy="411480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STT–LCTの衛星バス相対LOS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太陽面−反対面ΔTの共有感度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発熱DCを階層モデル化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300">
                <a:solidFill>
                  <a:srgbClr val="008E96"/>
                </a:solidFill>
                <a:latin typeface="Yu Gothic"/>
              </a:rPr>
              <a:t>●  </a:t>
            </a:r>
            <a:r>
              <a:rPr sz="2700">
                <a:solidFill>
                  <a:srgbClr val="232B34"/>
                </a:solidFill>
                <a:latin typeface="Yu Gothic"/>
              </a:rPr>
              <a:t>scan-center FFと捕捉時間へ接続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1064240"/>
            <a:ext cx="1746504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E3840"/>
                </a:solidFill>
                <a:latin typeface="Yu Gothic"/>
              </a:rPr>
              <a:t>限界：MZ・非支配軸・別構造・飛行実証は未評価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PAT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予測LOSを scan centerから引き、残差をスキャン対象とする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834640"/>
            <a:ext cx="21579840" cy="237744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20440"/>
            <a:ext cx="2066544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83153"/>
                </a:solidFill>
                <a:latin typeface="Yu Gothic"/>
              </a:rPr>
              <a:t>escan(t) = enonthermal(t) + θthermal,true(t) − θ̂thermal(t)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852160"/>
            <a:ext cx="3913632" cy="1143000"/>
          </a:xfrm>
          <a:prstGeom prst="roundRect">
            <a:avLst/>
          </a:prstGeom>
          <a:solidFill>
            <a:srgbClr val="183153"/>
          </a:solidFill>
          <a:ln w="1524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5961888"/>
            <a:ext cx="3767328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Thermal LOS
truth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58384" y="64282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88152" y="5852160"/>
            <a:ext cx="3913632" cy="114300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1304" y="5961888"/>
            <a:ext cx="3767328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Model
prediction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4936" y="64282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04704" y="5852160"/>
            <a:ext cx="3913632" cy="114300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7856" y="5961888"/>
            <a:ext cx="3767328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Scan-center
residual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91488" y="642823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621256" y="5852160"/>
            <a:ext cx="3913632" cy="1143000"/>
          </a:xfrm>
          <a:prstGeom prst="roundRect">
            <a:avLst/>
          </a:prstGeom>
          <a:solidFill>
            <a:srgbClr val="319161"/>
          </a:solidFill>
          <a:ln w="15240">
            <a:solidFill>
              <a:srgbClr val="31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94408" y="5961888"/>
            <a:ext cx="3767328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Rectangular
spiral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608039" y="6428232"/>
            <a:ext cx="356617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037808" y="5852160"/>
            <a:ext cx="3913632" cy="114300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110960" y="5961888"/>
            <a:ext cx="3767328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Acquisition
time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749039" y="8229600"/>
          <a:ext cx="17007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0"/>
                <a:gridCol w="850392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Comparison arm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Purpose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no correction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thermal baseline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static bias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DC-only baseline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bcase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proposed thermal 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thermal truth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ideal upper bound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thermal+nonthermal, no corr.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realism baseline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bcase+nonthermal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32B34"/>
                          </a:solidFill>
                          <a:latin typeface="Yu Gothic"/>
                        </a:rPr>
                        <a:t>main result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PAT simulation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粗捕捉は矩形スパイラルを離散点で抽象化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9144000" cy="777240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852160" y="6583680"/>
            <a:ext cx="685800" cy="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537960" y="5897880"/>
            <a:ext cx="0" cy="68580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166360" y="5897880"/>
            <a:ext cx="1371600" cy="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66360" y="5897880"/>
            <a:ext cx="0" cy="137160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66360" y="7269480"/>
            <a:ext cx="2057400" cy="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223760" y="5212080"/>
            <a:ext cx="0" cy="205740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480560" y="5212080"/>
            <a:ext cx="2743200" cy="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80560" y="5212080"/>
            <a:ext cx="0" cy="2743199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80560" y="7955279"/>
            <a:ext cx="3429000" cy="0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9560" y="4526280"/>
            <a:ext cx="0" cy="3428999"/>
          </a:xfrm>
          <a:prstGeom prst="line">
            <a:avLst/>
          </a:prstGeom>
          <a:ln w="25400">
            <a:solidFill>
              <a:srgbClr val="2A6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769864" y="65013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55664" y="65013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55664" y="58155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84064" y="58155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84064" y="71871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41464" y="71871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41464" y="51297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98264" y="51297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98264" y="7872983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27264" y="7872983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27264" y="4443984"/>
            <a:ext cx="164592" cy="164592"/>
          </a:xfrm>
          <a:prstGeom prst="ellipse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0" y="4937760"/>
            <a:ext cx="502920" cy="502920"/>
          </a:xfrm>
          <a:prstGeom prst="ellipse">
            <a:avLst/>
          </a:prstGeom>
          <a:solidFill>
            <a:srgbClr val="FBEFE0"/>
          </a:solidFill>
          <a:ln w="2540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892040"/>
            <a:ext cx="12801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78530"/>
                </a:solidFill>
                <a:latin typeface="Yu Gothic"/>
              </a:rPr>
              <a:t>target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1155680" y="2743200"/>
          <a:ext cx="1179576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5669280"/>
              </a:tblGrid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Parameter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Value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Range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±1600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Step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40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Detection radius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25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Dwell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0.1 s / point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01337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Points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6561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01338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Max nominal time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656.1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11155680" y="9418320"/>
            <a:ext cx="11795760" cy="2103120"/>
          </a:xfrm>
          <a:prstGeom prst="roundRect">
            <a:avLst/>
          </a:prstGeom>
          <a:solidFill>
            <a:srgbClr val="FAE8EA"/>
          </a:solidFill>
          <a:ln w="15240">
            <a:solidFill>
              <a:srgbClr val="BE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9829800"/>
            <a:ext cx="1088136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BE3840"/>
                </a:solidFill>
                <a:latin typeface="Yu Gothic"/>
              </a:rPr>
              <a:t>仮定：点間移動・settling・光強度確率なし
各時刻を独立な捕捉機会として評価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PAT simulation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非熱誤差は軌道・アライメント・姿勢・ドリフトを合成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21579840" cy="210312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337560"/>
            <a:ext cx="2066544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900" b="1">
                <a:solidFill>
                  <a:srgbClr val="183153"/>
                </a:solidFill>
                <a:latin typeface="Yu Gothic"/>
              </a:rPr>
              <a:t>enonthermal = eorbit + ealignment + eattitude + edrift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5486400"/>
          <a:ext cx="217627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6675120"/>
                <a:gridCol w="4846320"/>
                <a:gridCol w="5943600"/>
              </a:tblGrid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Timescale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Size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Orbit prediction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Sentinel-1 TLE vs POEORB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orbit-period family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mean 280–700 µrad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Alignment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Gaussian constant / case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DC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50 µrad/axis, 1σ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Attitude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Gaussian / sample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simplified broadband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50 µrad/axis, 1σ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Low-frequency drift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sinusoid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900 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30 µrad amplitude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834640" y="11018520"/>
            <a:ext cx="1874520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E3840"/>
                </a:solidFill>
                <a:latin typeface="Yu Gothic"/>
              </a:rPr>
              <a:t>特定衛星の誤差バジェット再現ではなく、GNSS非搭載LEO小型衛星の共存シナリオ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Orbit prediction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軌道誤差：利用可能な最新TLEをforward propagationし、PODと比較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834640"/>
            <a:ext cx="3986784" cy="1143000"/>
          </a:xfrm>
          <a:prstGeom prst="roundRect">
            <a:avLst/>
          </a:prstGeom>
          <a:solidFill>
            <a:srgbClr val="183153"/>
          </a:solidFill>
          <a:ln w="1524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944368"/>
            <a:ext cx="3840480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Sentinel-1
NORAD 39634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48656" y="341071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78424" y="2834640"/>
            <a:ext cx="3986784" cy="1143000"/>
          </a:xfrm>
          <a:prstGeom prst="round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51576" y="2944368"/>
            <a:ext cx="3840480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Latest TLE
epoch ≤ 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341071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68128" y="2834640"/>
            <a:ext cx="3986784" cy="1143000"/>
          </a:xfrm>
          <a:prstGeom prst="round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2944368"/>
            <a:ext cx="3840480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SGP4 forward
rpred(t)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228064" y="341071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57832" y="2834640"/>
            <a:ext cx="3986784" cy="1143000"/>
          </a:xfrm>
          <a:prstGeom prst="roundRect">
            <a:avLst/>
          </a:prstGeom>
          <a:solidFill>
            <a:srgbClr val="319161"/>
          </a:solidFill>
          <a:ln w="15240">
            <a:solidFill>
              <a:srgbClr val="319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30984" y="2944368"/>
            <a:ext cx="3840480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AUX_POEORB
rtruth(t)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17768" y="3410712"/>
            <a:ext cx="356616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147536" y="2834640"/>
            <a:ext cx="3986784" cy="1143000"/>
          </a:xfrm>
          <a:prstGeom prst="round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20688" y="2944368"/>
            <a:ext cx="3840480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Yu Gothic"/>
              </a:rPr>
              <a:t>δr(t)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937760"/>
            <a:ext cx="13898880" cy="62179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rbit_prediction_error_3or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9" y="4937760"/>
            <a:ext cx="6217920" cy="62179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5727680" y="4937760"/>
            <a:ext cx="7223760" cy="62179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139159" y="5440680"/>
            <a:ext cx="6400800" cy="420624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2A68AA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POEORBをtruth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2A68AA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未来TLEのbackward伝搬は不使用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2A68AA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60 s sampling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2A68AA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相手機は片側truth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2A68AA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熱解析時刻へcyclic resample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0" y="9921240"/>
            <a:ext cx="63093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BE3840"/>
                </a:solidFill>
                <a:latin typeface="Yu Gothic"/>
              </a:rPr>
              <a:t>2026 S1データとTD軌道時刻は位相一致していない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Orbit prediction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位置誤差をリンクLOS横断面へ投影し、STT/body x–yへ変換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43200"/>
            <a:ext cx="9418320" cy="7680960"/>
          </a:xfrm>
          <a:prstGeom prst="roundRect">
            <a:avLst/>
          </a:prstGeom>
          <a:solidFill>
            <a:srgbClr val="E6F0F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154680"/>
            <a:ext cx="85039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A68AA"/>
                </a:solidFill>
                <a:latin typeface="Yu Gothic"/>
              </a:rPr>
              <a:t>Geometry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572000"/>
            <a:ext cx="813816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83153"/>
                </a:solidFill>
                <a:latin typeface="Yu Gothic"/>
              </a:rPr>
              <a:t>δr⊥ = δr − (δr·ℓ̂)ℓ̂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943600"/>
            <a:ext cx="740664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>
                <a:solidFill>
                  <a:srgbClr val="008E96"/>
                </a:solidFill>
                <a:latin typeface="Yu Gothic"/>
              </a:rPr>
              <a:t>θ ≈ δr⊥ / Rlink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7315200"/>
            <a:ext cx="8412480" cy="25603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>
                <a:solidFill>
                  <a:srgbClr val="2A68AA"/>
                </a:solidFill>
                <a:latin typeface="Yu Gothic"/>
              </a:rPr>
              <a:t>●  </a:t>
            </a:r>
            <a:r>
              <a:rPr sz="2300">
                <a:solidFill>
                  <a:srgbClr val="232B34"/>
                </a:solidFill>
                <a:latin typeface="Yu Gothic"/>
              </a:rPr>
              <a:t>orbit catalogの太陽面＋第二軸から姿勢を構成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>
                <a:solidFill>
                  <a:srgbClr val="2A68AA"/>
                </a:solidFill>
                <a:latin typeface="Yu Gothic"/>
              </a:rPr>
              <a:t>●  </a:t>
            </a:r>
            <a:r>
              <a:rPr sz="2300">
                <a:solidFill>
                  <a:srgbClr val="232B34"/>
                </a:solidFill>
                <a:latin typeface="Yu Gothic"/>
              </a:rPr>
              <a:t>LOS横断誤差をSTT/body x–yへ射影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>
                <a:solidFill>
                  <a:srgbClr val="2A68AA"/>
                </a:solidFill>
                <a:latin typeface="Yu Gothic"/>
              </a:rPr>
              <a:t>●  </a:t>
            </a:r>
            <a:r>
              <a:rPr sz="2300">
                <a:solidFill>
                  <a:srgbClr val="232B34"/>
                </a:solidFill>
                <a:latin typeface="Yu Gothic"/>
              </a:rPr>
              <a:t>熱LOSと同じ2成分としてPATへ加算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338560" y="2743200"/>
          <a:ext cx="1170432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217920"/>
                <a:gridCol w="2926080"/>
              </a:tblGrid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Sun case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Partner / link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Realism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along-track ISL, 800 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ready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anti-along-track ISL, 800 km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ready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nadir ground, ~695 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ready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zenith proxy, 800 km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unrealistic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1338560" y="9509760"/>
            <a:ext cx="11704320" cy="1828800"/>
          </a:xfrm>
          <a:prstGeom prst="roundRect">
            <a:avLst/>
          </a:prstGeom>
          <a:solidFill>
            <a:srgbClr val="FAE8EA"/>
          </a:solidFill>
          <a:ln w="15240">
            <a:solidFill>
              <a:srgbClr val="BE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0" y="9857232"/>
            <a:ext cx="10789920" cy="10972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BE3840"/>
                </a:solidFill>
                <a:latin typeface="Yu Gothic"/>
              </a:rPr>
              <a:t>MXは角度計算は可能だが現実的リンクではない
→ 全ケース平均の解釈に注意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Orbit prediction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熱と軌道予測誤差はともに 10⁻⁴ Hz台の軌道周期族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43200"/>
            <a:ext cx="14356080" cy="786384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bit_error_stt_LTAN06_800km_1213COLD_MY_SUN_3or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743200"/>
            <a:ext cx="7863840" cy="7863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093440" y="2926080"/>
          <a:ext cx="6766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91840"/>
              </a:tblGrid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mean norm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MY ISL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≈285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PY ISL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≈285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PX ground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≈694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MX proxy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232B34"/>
                          </a:solidFill>
                          <a:latin typeface="Yu Gothic"/>
                        </a:rPr>
                        <a:t>≈612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6093440" y="8229600"/>
            <a:ext cx="6766560" cy="237744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0" y="8641080"/>
            <a:ext cx="603504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E78530"/>
                </a:solidFill>
                <a:latin typeface="Yu Gothic"/>
              </a:rPr>
              <a:t>Thermal: ~101 min
Orbit norm: ~101 / 50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1109960"/>
            <a:ext cx="1645920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BE3840"/>
                </a:solidFill>
                <a:latin typeface="Yu Gothic"/>
              </a:rPr>
              <a:t>単純な『低周波＝熱』分離は難しい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PAT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熱のみ：階層モデルは thermal-truth上界にほぼ到達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163824"/>
            <a:ext cx="4215384" cy="13761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No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9864" y="3246120"/>
            <a:ext cx="9226295" cy="1211580"/>
          </a:xfrm>
          <a:prstGeom prst="rect">
            <a:avLst/>
          </a:prstGeom>
          <a:solidFill>
            <a:srgbClr val="EEF3F7"/>
          </a:solidFill>
          <a:ln w="15240"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9864" y="3246120"/>
            <a:ext cx="9196771" cy="1211580"/>
          </a:xfrm>
          <a:prstGeom prst="rect">
            <a:avLst/>
          </a:prstGeom>
          <a:solidFill>
            <a:srgbClr val="BE3840"/>
          </a:solidFill>
          <a:ln w="15240">
            <a:solidFill>
              <a:srgbClr val="BE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05888" y="3154679"/>
            <a:ext cx="685800" cy="13944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E3840"/>
                </a:solidFill>
                <a:latin typeface="Yu Gothic"/>
              </a:rPr>
              <a:t>124.6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649724"/>
            <a:ext cx="4215384" cy="13761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Static bias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9864" y="4732020"/>
            <a:ext cx="9226295" cy="1211580"/>
          </a:xfrm>
          <a:prstGeom prst="rect">
            <a:avLst/>
          </a:prstGeom>
          <a:solidFill>
            <a:srgbClr val="EEF3F7"/>
          </a:solidFill>
          <a:ln w="15240"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9864" y="4732020"/>
            <a:ext cx="352813" cy="1211580"/>
          </a:xfrm>
          <a:prstGeom prst="rect">
            <a:avLst/>
          </a:prstGeom>
          <a:solidFill>
            <a:srgbClr val="E7853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05888" y="4640580"/>
            <a:ext cx="685800" cy="13944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78530"/>
                </a:solidFill>
                <a:latin typeface="Yu Gothic"/>
              </a:rPr>
              <a:t>4.78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6135624"/>
            <a:ext cx="4215384" cy="13761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Hierarchical bcase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9864" y="6217920"/>
            <a:ext cx="9226295" cy="1211580"/>
          </a:xfrm>
          <a:prstGeom prst="rect">
            <a:avLst/>
          </a:prstGeom>
          <a:solidFill>
            <a:srgbClr val="EEF3F7"/>
          </a:solidFill>
          <a:ln w="15240"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9864" y="6217920"/>
            <a:ext cx="73152" cy="1211580"/>
          </a:xfrm>
          <a:prstGeom prst="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05888" y="6126480"/>
            <a:ext cx="685800" cy="13944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0.116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7621524"/>
            <a:ext cx="4215384" cy="13761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Thermal truth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9864" y="7703820"/>
            <a:ext cx="9226295" cy="1211580"/>
          </a:xfrm>
          <a:prstGeom prst="rect">
            <a:avLst/>
          </a:prstGeom>
          <a:solidFill>
            <a:srgbClr val="EEF3F7"/>
          </a:solidFill>
          <a:ln w="15240"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9864" y="7703820"/>
            <a:ext cx="73152" cy="1211580"/>
          </a:xfrm>
          <a:prstGeom prst="rect">
            <a:avLst/>
          </a:prstGeom>
          <a:solidFill>
            <a:srgbClr val="2A68AA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05888" y="7612380"/>
            <a:ext cx="685800" cy="13944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A68AA"/>
                </a:solidFill>
                <a:latin typeface="Yu Gothic"/>
              </a:rPr>
              <a:t>0.1 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6459200" y="3017520"/>
          <a:ext cx="6492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737360"/>
              </a:tblGrid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Success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Mean tacq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No correction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95.9%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124.6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Static bias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99.3%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4.78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bcase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0.116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truth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0.100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6459200" y="8321040"/>
            <a:ext cx="6492240" cy="246888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824960" y="8732520"/>
            <a:ext cx="5760720" cy="12801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8E96"/>
                </a:solidFill>
                <a:latin typeface="Yu Gothic"/>
              </a:rPr>
              <a:t>熱残差平均
8.8 µrad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1292840"/>
            <a:ext cx="189280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>
                <a:solidFill>
                  <a:srgbClr val="5C6773"/>
                </a:solidFill>
                <a:latin typeface="Yu Gothic"/>
              </a:rPr>
              <a:t>熱モデル自体の能力を見る理想条件。システム主結果は次ページの非熱込み。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PAT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非熱込み：平均捕捉時間156.9→59.6 s、成功率94.0→97.1%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255264"/>
            <a:ext cx="3968496" cy="18105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No thermal correction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14416" y="3337560"/>
            <a:ext cx="8650224" cy="1645920"/>
          </a:xfrm>
          <a:prstGeom prst="rect">
            <a:avLst/>
          </a:prstGeom>
          <a:solidFill>
            <a:srgbClr val="EEF3F7"/>
          </a:solidFill>
          <a:ln w="15240"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4416" y="3337560"/>
            <a:ext cx="8482625" cy="1645920"/>
          </a:xfrm>
          <a:prstGeom prst="rect">
            <a:avLst/>
          </a:prstGeom>
          <a:solidFill>
            <a:srgbClr val="BE3840"/>
          </a:solidFill>
          <a:ln w="15240">
            <a:solidFill>
              <a:srgbClr val="BE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74367" y="3246120"/>
            <a:ext cx="685800" cy="1828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E3840"/>
                </a:solidFill>
                <a:latin typeface="Yu Gothic"/>
              </a:rPr>
              <a:t>156.9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175503"/>
            <a:ext cx="3968496" cy="18105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32B34"/>
                </a:solidFill>
                <a:latin typeface="Yu Gothic"/>
              </a:rPr>
              <a:t>Hierarchical bcase 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4416" y="5257800"/>
            <a:ext cx="8650224" cy="1645920"/>
          </a:xfrm>
          <a:prstGeom prst="rect">
            <a:avLst/>
          </a:prstGeom>
          <a:solidFill>
            <a:srgbClr val="EEF3F7"/>
          </a:solidFill>
          <a:ln w="15240"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14416" y="5257800"/>
            <a:ext cx="3222208" cy="1645920"/>
          </a:xfrm>
          <a:prstGeom prst="rect">
            <a:avLst/>
          </a:prstGeom>
          <a:solidFill>
            <a:srgbClr val="008E96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74367" y="5166359"/>
            <a:ext cx="685800" cy="18288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59.6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0" y="3108960"/>
            <a:ext cx="65836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93440" y="3218688"/>
            <a:ext cx="64008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008E96"/>
                </a:solidFill>
                <a:latin typeface="Yu Gothic"/>
              </a:rPr>
              <a:t>−62%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0" y="3941063"/>
            <a:ext cx="640080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mean acquisition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0" y="5303520"/>
            <a:ext cx="65836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93440" y="5413248"/>
            <a:ext cx="64008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2A68AA"/>
                </a:solidFill>
                <a:latin typeface="Yu Gothic"/>
              </a:rPr>
              <a:t>+3.1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0" y="6135624"/>
            <a:ext cx="640080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C6773"/>
                </a:solidFill>
                <a:latin typeface="Yu Gothic"/>
              </a:rPr>
              <a:t>success rate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834640" y="7680960"/>
          <a:ext cx="1874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5715000"/>
                <a:gridCol w="57150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No correction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bcase FF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Success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94.0%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97.1%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Mean tacq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156.9 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59.6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Median tacq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150.3 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36.2 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Mean thermal residual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667 µrad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232B34"/>
                          </a:solidFill>
                          <a:latin typeface="Yu Gothic"/>
                        </a:rPr>
                        <a:t>8.8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0" y="11475720"/>
            <a:ext cx="152704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83153"/>
                </a:solidFill>
                <a:latin typeface="Yu Gothic"/>
              </a:rPr>
              <a:t>補正後は非熱、特に軌道予測誤差が性能を支配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Adaptiveは『低周波熱抽出』ではなく、主にモデルDC更新として考える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00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743200"/>
            <a:ext cx="10789920" cy="7589520"/>
          </a:xfrm>
          <a:prstGeom prst="roundRect">
            <a:avLst/>
          </a:prstGeom>
          <a:solidFill>
            <a:srgbClr val="E1F5F4"/>
          </a:solidFill>
          <a:ln w="15240"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154680"/>
            <a:ext cx="98755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8E96"/>
                </a:solidFill>
                <a:latin typeface="Yu Gothic"/>
              </a:rPr>
              <a:t>Proposed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434840"/>
            <a:ext cx="932688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183153"/>
                </a:solidFill>
                <a:latin typeface="Yu Gothic"/>
              </a:rPr>
              <a:t>b̂k+1 = b̂k + Kb 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9418320" cy="3749039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a：事前解析／熱真空試験で固定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b_case：捕捉後残差で更新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同一運用モード・複数パスで平均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100">
                <a:solidFill>
                  <a:srgbClr val="008E96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軌道誤差やalignmentの吸収を制約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2743200"/>
            <a:ext cx="10607040" cy="7589520"/>
          </a:xfrm>
          <a:prstGeom prst="roundRect">
            <a:avLst/>
          </a:prstGeom>
          <a:solidFill>
            <a:srgbClr val="FBEFE0"/>
          </a:solidFill>
          <a:ln w="15240">
            <a:solidFill>
              <a:srgbClr val="E7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0" y="3154680"/>
            <a:ext cx="969264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78530"/>
                </a:solidFill>
                <a:latin typeface="Yu Gothic"/>
              </a:rPr>
              <a:t>Discussion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0" y="4297680"/>
            <a:ext cx="9326880" cy="521208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E7853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a固定・b更新の分担は妥当か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E7853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同帯域の熱／軌道誤差を何で識別するか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E7853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軌道誤差を別状態として同時推定すべきか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E7853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現在のscan modelで十分か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>
                <a:solidFill>
                  <a:srgbClr val="E78530"/>
                </a:solidFill>
                <a:latin typeface="Yu Gothic"/>
              </a:rPr>
              <a:t>●  </a:t>
            </a:r>
            <a:r>
              <a:rPr sz="2400">
                <a:solidFill>
                  <a:srgbClr val="232B34"/>
                </a:solidFill>
                <a:latin typeface="Yu Gothic"/>
              </a:rPr>
              <a:t>ICSOまでにAdaptiveをどこまで実装するか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1018520"/>
            <a:ext cx="205740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83153"/>
                </a:solidFill>
                <a:latin typeface="Yu Gothic"/>
              </a:rPr>
              <a:t>予測可能な熱成分はかなり除去できた。次は軌道上でDCをどう校正し、非熱誤差と共存させるか。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関連研究の位置づけ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704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Badás et al. 2024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FSOC opto-thermo-mechanical review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Shi et al. 2023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bus structure optimization → acquisition time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Hu et al. 2022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GEO thermal-motion Fourier compensation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Li et al. 2025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LEO geometry → NN LOS correction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JANUS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optical-head LOS ≈ KΔT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Rüddenklau et al.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body-pointing FF, not thermal deformation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全解析ケースの設計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743200"/>
          <a:ext cx="214884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1508760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Cases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Sun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Power / condition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04, 13–15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ALL / +PROP / +PCDU / STTLCT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08, 16, 18, 19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ALL / STTLCT / +PROP / +PCDU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05, 06, 20, 21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ALL / STTLCT / +PROP / +PCDU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09, 17, 23, 24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ALL / STTLCT / +PROP / +PCDU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10–12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HOT / Black / Alodine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22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PROP 12.5 W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LTAN18 / 693 km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熱光学特性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Alodine 1000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α=0.150, ε=0.038, α/ε=3.947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Black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α=0.974, ε=0.920, α/ε=1.059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0.5 synthetic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α=0.500, ε=0.500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LOS定義の比較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A4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743200"/>
            <a:ext cx="21762720" cy="850392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s_defini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64" y="2743200"/>
            <a:ext cx="9354312" cy="85039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Level-2係数と解釈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704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b0_MX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+15.7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b0_MY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+2.8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b0_PX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−12.0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b0_PY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−24.0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c_PROP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−22.9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c_PCDU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−10.2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モデルの難しいケース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7132320" cy="658368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se11_bcase_true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09405"/>
            <a:ext cx="7132320" cy="54341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2834640"/>
            <a:ext cx="7132320" cy="658368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22_bcase_true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409405"/>
            <a:ext cx="7132320" cy="54341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276320" y="2834640"/>
            <a:ext cx="7132320" cy="6583680"/>
          </a:xfrm>
          <a:prstGeom prst="rect">
            <a:avLst/>
          </a:prstGeom>
          <a:noFill/>
          <a:ln w="1270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se25_bcase_true_vs_p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0" y="3409405"/>
            <a:ext cx="7132320" cy="543414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0" y="9875520"/>
          <a:ext cx="18836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335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Issue</a:t>
                      </a:r>
                    </a:p>
                  </a:txBody>
                  <a:tcPr marL="73152" marR="73152" marT="36576" marB="36576" anchor="ctr">
                    <a:solidFill>
                      <a:srgbClr val="1831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11 Black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oracle floor ≈13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22 half power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ON/OFF b mismatch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25 all-sun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32B34"/>
                          </a:solidFill>
                          <a:latin typeface="Yu Gothic"/>
                        </a:rPr>
                        <a:t>thermal LOS nearly DC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軌道予測誤差の仮定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Truth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Sentinel-1 AUX_POEORB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Prediction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latest TLE + SGP4 forward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Partner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truth-known, one-sided error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Range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800 km ISL or nadir altitude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Resampling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cyclic to TD/Femap time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STT-frame射影結果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ISL along-track / 285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PY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ISL anti-along-track / 285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PX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ground nadir / 694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MX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zenith proxy / 612 µrad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PATスキャンの注意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Coverage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40 µrad grid, 25 µrad detect radius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Dynamics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no slew / settling model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Target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constant during one scan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Statistics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mean tacq conditional on success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Opportunities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each thermal time sample independent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Adaptive候補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926080"/>
          <a:ext cx="20665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426464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Yu Gothic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solidFill>
                      <a:srgbClr val="684F9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Scalar EWMA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 only; simplest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Kalman filter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 + orbit/alignment states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Mode-conditioned 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sun face × power mode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Batch pass update</a:t>
                      </a:r>
                    </a:p>
                  </a:txBody>
                  <a:tcPr marL="73152" marR="73152" marT="36576" marB="36576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32B34"/>
                          </a:solidFill>
                          <a:latin typeface="Yu Gothic"/>
                        </a:rPr>
                        <a:t>avoid single-acquisition contamination</a:t>
                      </a:r>
                    </a:p>
                  </a:txBody>
                  <a:tcPr marL="73152" marR="73152" marT="36576" marB="36576" anchor="ctr">
                    <a:solidFill>
                      <a:srgbClr val="E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41732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8E96"/>
                </a:solidFill>
                <a:latin typeface="Yu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051560"/>
            <a:ext cx="22219920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83153"/>
                </a:solidFill>
                <a:latin typeface="Yu Gothic"/>
              </a:rPr>
              <a:t>主要参考文献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039112"/>
            <a:ext cx="22219920" cy="50292"/>
          </a:xfrm>
          <a:prstGeom prst="rect">
            <a:avLst/>
          </a:prstGeom>
          <a:solidFill>
            <a:srgbClr val="68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0" y="13030200"/>
            <a:ext cx="1508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>
                <a:solidFill>
                  <a:srgbClr val="5C6773"/>
                </a:solidFill>
                <a:latin typeface="Yu Gothic"/>
              </a:rPr>
              <a:t>A11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21396960" cy="8046720"/>
          </a:xfrm>
          <a:prstGeom prst="rect">
            <a:avLst/>
          </a:prstGeom>
          <a:noFill/>
        </p:spPr>
        <p:txBody>
          <a:bodyPr wrap="square" lIns="45720" rIns="36576" tIns="27432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[1] Riesing et al., On-orbit results of PAT for TBIRD, Proc. SPIE, 2023.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[2] Shi et al., Thermal Deformation Stability Optimization..., Applied Sciences, 2023.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[3] Badás et al., Opto-thermo-mechanical phenomena in satellite FSOC, Optical Engineering, 2024.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[4] Hu et al., On-Board Thermal Motion Compensation..., IEEE GRSL, 2022.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[5] Li et al., Correction Method for Thermal Deformation LOS Errors..., Remote Sensing, 2025.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[6] Rüddenklau et al., Feed-Forward Compensation of Body-Pointing Uncertainties..., 2024.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100">
                <a:solidFill>
                  <a:srgbClr val="684F91"/>
                </a:solidFill>
                <a:latin typeface="Yu Gothic"/>
              </a:rPr>
              <a:t>●  </a:t>
            </a:r>
            <a:r>
              <a:rPr sz="2500">
                <a:solidFill>
                  <a:srgbClr val="232B34"/>
                </a:solidFill>
                <a:latin typeface="Yu Gothic"/>
              </a:rPr>
              <a:t>[7] JANUS optical-head thermo-elastic LOS model documentation /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